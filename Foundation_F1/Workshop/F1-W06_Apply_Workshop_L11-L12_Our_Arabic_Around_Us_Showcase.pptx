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F1-L11 · Learn F1-L12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F1-L11 (Arabic Around Us) and F1-L12 (Show What You Know: F1 Review &amp; Assessment).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F1-L11 and F1-L12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WHAT WE LEARNT (3 min, main room). Ask: “What can you say after F1-L11? After F1-L12?” Take two answers in the chat for each lesson (one word or one sentence is enough). Then read objective 3 — today’s new situation that needs BOTH lessons. Students tick their route goals at the end of the lesson.
F1-L11 language: three different questions — which SCRIPT? which LANGUAGE? what MEANING?; one language, many voices (al-fuṣḥā for writing and news · dialects at home); three calligraphy styles with three jobs (naskh · ruqʿa · thuluth); Arabic in everyday life (food, shops, travel, screens); careful claims (“in many countries”, not “all Arabs”)
F1-L12 language: F1 review: the 28 letters and their families; four positions and the six breakers; the marks (fatḥa · ḍamma · kasra · sukūn · shadda · tanwīn · madda · hamza); long vowels; sun and moon letters; numerals ٠–٢٠ in the right order; R-E-A-D for vowelled words and SCOPE for signs; fair dictation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(5 min). A NEW dialogue that joins F1-L11 and F1-L12. Teacher reads it once with a confident student; then pairs. Ask: “Which lines are from F1-L11? Which from F1-L12?” Signs, calligraphy styles and “which script?” come from F1-L11; reading without vowels, breakers and marks revise F1-L12. Invite students to bring (or show on screen) one real item with Arabic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(7 min). One NEW situation that needs both lessons: Arabic in everyday life and calligraphy styles (F1-L11) with every F1 script skill under review (F1-L12). SUPPORTED: the plan column gives the first words, not the full answer. To a girl Partner A says: the feminine forms (-ki / -īna).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F1-L11 and F1-L12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F1-L11 and F1-L12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(13 words). CHECK YOURSELF (2 min). Find each bullet point in the model, and one phrase from F1-L11 and one from F1-L12.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F1  ·  F1-L11 + F1-L12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F1-W06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Our Arabic-Around-Us Showcase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مَعْرِضُ العَرَبِيَّةِ حَوْلَنَا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use all of F1 for one real purpose: they build a class showcase of Arabic they find in everyday life — a food packet, a shop sign, a screen, a calligraphy panel — read each item (with or without vowels), explain the script, and copy and label their exhibits.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F1-L11 + F1-L12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end of unit F1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F1 › F1-L12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F1-L11 and F1-L12.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mini-dialogue · point-and-say cards · reading card · read-aloud race.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build the word · spot the slip · copy, listen and write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F1-L11 + F1-L12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F1-L11: Arabic Around Us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F1-L12: Show What You Know: F1 Review &amp; Assessment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showcase exhibits · Copy, label and write: my exhibits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Say the sounds and read the words of both lessons.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Copy and write with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Read every item on the card without stopping.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dictation without looking.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Read new words with the same letters and marks.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Write extra words of your own.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Letter race: two lessons, one race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Say it, find it —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letters and words from F1-L11 and F1-L12. Partner A says a letter name, sound or word; Partner B finds it and reads it.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Find the letter and say its sound.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whole word aloud.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another word with the same letter.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F1-L11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F1-L11 · Arabic Around Us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 ·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language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lugha · pl. lughāt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لُغَاتٌ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 · m.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عَالَمٌ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world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ʿālam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4416552" y="36210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العَالَمُ العَرَبِيُّ</a:t>
            </a:r>
            <a:pPr algn="l" indent="0" marL="0">
              <a:buNone/>
            </a:pPr>
            <a:r>
              <a:rPr lang="en-US" sz="100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 = the Arab world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 · m.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فَنٌّ</a:t>
            </a:r>
            <a:endParaRPr lang="ar-SA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fann · pl. funūn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فَنٌّ</a:t>
            </a:r>
            <a:endParaRPr lang="ar-SA" sz="1500" dirty="0"/>
          </a:p>
        </p:txBody>
      </p:sp>
      <p:sp>
        <p:nvSpPr>
          <p:cNvPr id="50" name="Shape 4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فُنُونٌ</a:t>
            </a:r>
            <a:endParaRPr lang="ar-SA" sz="1500" dirty="0"/>
          </a:p>
        </p:txBody>
      </p:sp>
      <p:sp>
        <p:nvSpPr>
          <p:cNvPr id="53" name="Shape 5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الفُصْحَى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Modern Standard Arabic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al-fuṣ-ḥā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خَطٌّ</a:t>
            </a:r>
            <a:endParaRPr lang="ar-SA" sz="3000" dirty="0"/>
          </a:p>
        </p:txBody>
      </p:sp>
      <p:sp>
        <p:nvSpPr>
          <p:cNvPr id="66" name="Text 63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calligraphy / handwriting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khaṭ-ṭun</a:t>
            </a:r>
            <a:endParaRPr lang="en-US" sz="1350" dirty="0"/>
          </a:p>
        </p:txBody>
      </p:sp>
      <p:sp>
        <p:nvSpPr>
          <p:cNvPr id="67" name="Shape 6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2" name="Text 69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الرُّقْعَةُ</a:t>
            </a:r>
            <a:endParaRPr lang="ar-SA" sz="3000" dirty="0"/>
          </a:p>
        </p:txBody>
      </p:sp>
      <p:sp>
        <p:nvSpPr>
          <p:cNvPr id="73" name="Text 70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Ruqʿah — quick handwriting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ar-ruq-ʿa-tu</a:t>
            </a:r>
            <a:endParaRPr lang="en-US" sz="1350" dirty="0"/>
          </a:p>
        </p:txBody>
      </p:sp>
      <p:sp>
        <p:nvSpPr>
          <p:cNvPr id="74" name="Text 7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F1-L12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F1-L12 · Show What You Know: F1 Review &amp; Assessment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مُرَاجَعَةٌ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alphabet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 ت ث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one shape, different dots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letter family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forms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ʿayn in the middle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closed loop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marks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ـّ ـٌ آ ء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shadda · tanwīn · madda · hamza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double · -n · ʾā · catch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al-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sun — a sun letter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ash-shams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moon letter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القَمَرُ</a:t>
            </a:r>
            <a:endParaRPr lang="ar-SA" sz="1350" dirty="0"/>
          </a:p>
        </p:txBody>
      </p:sp>
      <p:sp>
        <p:nvSpPr>
          <p:cNvPr id="54" name="Shape 5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reading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school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mad-ra-sa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reading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سُؤَالٌ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su-ʾāl</a:t>
            </a:r>
            <a:endParaRPr lang="en-US" sz="1350" dirty="0"/>
          </a:p>
        </p:txBody>
      </p:sp>
      <p:sp>
        <p:nvSpPr>
          <p:cNvPr id="72" name="Text 6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Script skill or Arabic around us?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 ت ث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الفُصْحَى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شَدَّةٌ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خَطُّ الثُّلُثِ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وصول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Script: letters and marks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Arabic around us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Script: letters and marks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 ت ث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شَدَّةٌ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Arabic around us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الفُصْحَى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خَطُّ الثُّلُثِ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وصول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MINI-DIALOGUE · BOTH LESSONS IN ONE CONVERSATION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Exhibit number one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المَعْرُوضُ الأَوَّلُ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this?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هٰذَا؟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a bakery sign: (bakery, no vowels).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لَافِتَةُ مَخْبَزٍ: مخبز.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it have vowel marks?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فِيهَا حَرَكَاتٌ؟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signs are usually without vowel marks: makhbaz.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اللَّافِتَاتُ عَادَةً بِدُونِ حَرَكَاتٍ: مَخْبَزٌ.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this one?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Thuluth script — large and beautiful.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خَطُّ الثُّلُثِ، كَبِيرٌ وَجَمِيلٌ.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pairs. Round 2: swap letters. Round 3: A points to a NEW letter or word from either lesson; B reads it and explains one thing about it (dots, a mark, a position).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POINT-AND-SAY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Point, say, check — both lessons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Then read (Develop)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 says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3251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points to / says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مَطْعَم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مَخْبَز</a:t>
            </a:r>
            <a:endParaRPr lang="ar-SA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3616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business · bakery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مَخْبَز</a:t>
            </a:r>
            <a:endParaRPr lang="ar-SA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 ت ث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جِيمٌ · حَاءٌ · خَاءٌ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3616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alphabet · name them, count the dots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 ح خ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مُغَادَرَة</a:t>
            </a:r>
            <a:endParaRPr lang="ar-SA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وُصُول</a:t>
            </a:r>
            <a:endParaRPr lang="ar-SA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43616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travel · arrivals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وُصُول</a:t>
            </a:r>
            <a:endParaRPr lang="ar-SA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وَرْدٌ</a:t>
            </a:r>
            <a:endParaRPr lang="ar-SA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43616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joins · why is every letter alone?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وَرْدٌ</a:t>
            </a:r>
            <a:endParaRPr lang="ar-SA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صَحِيفَة</a:t>
            </a:r>
            <a:endParaRPr lang="ar-SA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أَخْبَار</a:t>
            </a:r>
            <a:endParaRPr lang="ar-SA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43616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media · news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أَخْبَار</a:t>
            </a:r>
            <a:endParaRPr lang="ar-SA" sz="20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أُمٌّ</a:t>
            </a:r>
            <a:endParaRPr lang="ar-SA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كَسْرَةٌ · شَدَّةٌ</a:t>
            </a:r>
            <a:endParaRPr lang="ar-SA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43616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marks · name them all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قِطَّةٌ</a:t>
            </a:r>
            <a:endParaRPr lang="ar-SA" sz="20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the first lesson, even numbers from the second. Core: say the sound or read the word. Develop: do the “then” part. Stretch: give your own example. Swap after each card.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READING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 — the showcase exhibits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القِرَاءَةِ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shows /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shop sign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sign; give the vowelled form.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</a:t>
            </a:r>
            <a:endParaRPr lang="ar-SA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airport screen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see these words?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وصول · مغادرة</a:t>
            </a:r>
            <a:endParaRPr lang="ar-SA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shadda · breakers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both; name one mark and one breaker.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قِطَّةٌ · وَرْدٌ</a:t>
            </a:r>
            <a:endParaRPr lang="ar-SA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left to right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 numbers — careful with the order!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 · ٢١</a:t>
            </a:r>
            <a:endParaRPr lang="ar-SA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l silent?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both; which one has a sun letter?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 · القَمَرُ</a:t>
            </a:r>
            <a:endParaRPr lang="ar-SA" sz="20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guide · Partner A = a visitor to the showcase. Read from RIGHT to left. Task ! is a surprise — Partner A asks it without warning.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READ-ALOUD RACE · 30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Showcase tour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جَوْلَةُ المَعْرِضِ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Read aloud for 30 seconds — as many as you can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30 seconds, read as many showcase items as you can from the Step 1 slides and the reading card: letters, vowelled words, signs without vowels and numbers. The partner counts the correct ones.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points to the list on the slide (or in your book).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Speaker reads aloud for 30 seconds; the Coach counts the correct ones.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one sound that was perfect + one to practise.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try to beat your own score, not your partner’s.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ten letters and two words.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four vowelled words and two signs.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every item and say which script style or mark it shows.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more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بِبُطْءٍ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slowly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BUILD THE WORD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more words from their parts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culture — thaqāfa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فَةٌ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قَةٌ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— madrasa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مَدَ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سَةٌ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صَةٌ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— lugha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ةٌ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هٌ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the word: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culture — thaqāfa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 (three dots) · q (two dots) · f (one dot).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ثَقَافَةٌ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school — madrasa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sukūn closes “mad” · r has no dot · plain s.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— lugha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 has a dot above;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ة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at the end.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لُغَةٌ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THE SLIP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العَرَبِ يَتَكَلَّمُونَ لَهْجَةً وَاحِدَةً.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this a careful claim?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تَابٌ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“door” — check the dots.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الثُّلُثُ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style for quick everyday handwriting is …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كُلُّ العَرَبِ يَتَكَلَّمُونَ لَهْجَةً وَاحِدَةً.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لِكُلِّ بَلَدٍ لَهْجَتُهُ، وَالفُصْحَى لِلْكِتَابَةِ.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Many dialects — one shared written language.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تَابٌ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Alphabet: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one dot below.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الثُّلُثُ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الرُّقْعَةُ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Ruqʿah = quick handwriting; Thuluth = buildings.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١ ______ ٢ ______ ٣ ______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Dictation: four review items.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 ______ القَمَرُ ______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Copy, then circle the sun letter.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 ← مَخْبَزٌ ______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sign and its vowelled form.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وصول ← وُصُولٌ ______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sign and its vowelled form.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قِطَّةٌ · وَرْدٌ ______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two vowelled words.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 · ٢١ ______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two numbers.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 · مَخْبَزٌ  ·  وصول · مغادرة  ·  أخبار · بحث  ·  قِطَّةٌ · وَرْدٌ  ·  سُؤَالٌ · مُعَلِّمٌ  ·  الشَّمْسُ · القَمَرُ  ·  ١٢ · ١٥ · ٢١  ·  النَّسْخُ · الثُّلُثُ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ONE CONNECTED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Copy, label and write: my exhibits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أَكْتُبُ مَعْرُوضَاتِي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SCRIPT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your book: • copy three showcase items — a sign without vowels, a vowelled word and a number • label each one: where you see it, and one script feature (a mark, a breaker, a position) • DICTATION: your buddy reads four items from the F1 review — write them without looking • check with a buddy and fix one thing.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Words and countries copied with every mark.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Sun letters doubled after al- (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السُّودَان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Dictation without looking (Develop).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Three REAL examples of Arabic around you (Stretch).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 · مَخْبَزٌ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sign · the same word with vowels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النَّسْخُ · الرُّقْعَةُ · الثُّلُثُ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calligraphy styles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الفُصْحَى · لَهْجَةٌ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standard Arabic · a dialect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ـّ · ـٌ · آ · ء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shadda · tanwīn · madda · hamza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every letter from RIGHT to left?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put the dots in the right place, with the right number?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 letters correctly — and leave a gap after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the short-vowel marks in the right place?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the dictation words without looking at the slide?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READING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card: compare with a strong answer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مَخْبَزٌ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makhbaz — bakery.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وُصُولٌ · مُغَادَرَةٌ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arrivals · departures — on an airport screen.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وصول · مغادرة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قِطَّةٌ — ـّ · وَرْدٌ — و ر د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qiṭṭa has a shadda; ward has three breakers.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قِطَّةٌ · وَرْدٌ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 · ٢١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twelve · twenty-one.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١٢ · ٢١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ash-shams — </a:t>
            </a:r>
            <a:pPr algn="ctr" indent="0" marL="0">
              <a:buNone/>
            </a:pPr>
            <a:r>
              <a:rPr lang="ar-SA" altLang="en-US" sz="12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</a:t>
            </a:r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a sun letter.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 · القَمَرُ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COPY, LISTEN AND WRITE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مخبز ← مَخْبَزٌ · وصول ← وُصُولٌ · ١٥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قِطَّةٌ · وَرْدٌ · الشَّمْسُ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سُؤَالٌ · مُعَلِّمٌ · مستشفى · ٢١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Line 1: two signs with their vowelled forms, and a number — labels: a bakery sign (shop), an airport screen, a price. Line 2: three vowelled words — a shadda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قِطَّة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, three breakers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وَرْد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, a sun letter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Line 3: a dictation of four review items.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مَخْبَزٌ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وُصُولٌ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سُؤَالٌ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F1-W06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F1-W06 · Apply workshop (F1-L11 + F1-L12)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the sounds and read the words of both lessons.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copied every letter from right to left with the dots in the right place.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read the card aloud without stopping.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writing and I fixed one thing.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the dictation and extra words without looking.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F1-W06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F1 complete · Well done — the unit is complete</a:t>
            </a:r>
            <a:endParaRPr lang="en-US" sz="2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unit’s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F1-W06 · Apply Workshop — Our Arabic-Around-Us Showcase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2026-10-26T15:17:15Z</dcterms:created>
  <dcterms:modified xsi:type="dcterms:W3CDTF">2026-10-26T15:17:15Z</dcterms:modified>
</cp:coreProperties>
</file>