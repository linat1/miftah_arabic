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embeddedFontLst>
    <p:embeddedFont>
      <p:font typeface="Amiri" pitchFamily="2" charset="-78"/>
      <p:regular r:id="rIdFont1"/>
      <p:bold r:id="rIdFont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APPLY WORKSHOP AT A GLANCE — the third lesson of the week (Learn F1-L11 · Learn F1-L12 · Apply). 60 minutes on Teams: teacher-led in the main room for the short whole-class steps, pairs or breakout rooms of two or three for speaking, individual writing.
0–3 Welcome + plan · 3–6 What we learnt this week · PART 1 REMEMBER: word race (4) · which lesson? sort (4) · PART 2 SPEAK: new dialogue (5) · mixed question cards (6) · role-play card (7) · 30 seconds talk (4) · PART 3 WRITE: sentence builder (3) · spot and fix (3) · connected writing (12) + buddy check (3) · CHECK YOURSELF: models + self-check (5).
PURPOSE: students APPLY the language of BOTH lessons in new contexts — the question cards, builder and common mistakes come from the two practice rooms; the dialogue, role-play, talk and writing task are new and join the lessons together.
CONTENT: F1-L11 (Arabic Around Us) and F1-L12 (Show What You Know: F1 Review &amp; Assessment).
SET-UP: share this deck or its PDF in the chat. Pairs or breakout rooms for Part 2 (same-level rooms keep the routes simple). Everyone writes in their own book or document in Part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WELCOME (1 min) — while students join.
• Greet each student by name as they arrive: السَّلَامُ عَلَيْكُمْ. Take the register (Pastoral Tracker: attendance 0/1).
• 2-MINUTE CHECK-IN (SEND training): a private chat to any student who seemed unsettled last lesson — “Are you okay today? 👍 / 👎”.
• Point to the four expectations — brief and positive: this is our class agreement.
• Talk code: “I will always give you thinking and practice time before I ask anyone.” Reading aloud is by invitation — a student may say “pass” and you return to them later.
• Follow-up on preparation: who learnt the five words? Quick private reminder to anyone who did not (Flipped Learning: follow up every time).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 (1 min). Apply = use what you learnt in F1-L11 and F1-L12 in a NEW situation. Point out the step number in the top-left of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WHAT WE LEARNT (3 min, main room). Ask: “What can you say after F1-L11? After F1-L12?” Take two answers in the chat for each lesson (one word or one sentence is enough). Then read objective 3 — today’s new situation that needs BOTH lessons. Students tick their route goals at the end of the lesson.
F1-L11 language: three different questions — which SCRIPT? which LANGUAGE? what MEANING?; one language, many voices (al-fuṣḥā for writing and news · dialects at home); three calligraphy styles with three jobs (naskh · ruqʿa · thuluth); Arabic in everyday life (food, shops, travel, screens); careful claims (“in many countries”, not “all Arabs”)
F1-L12 language: F1 review: the 28 letters and their families; four positions and the six breakers; the marks (fatḥa · ḍamma · kasra · sukūn · shadda · tanwīn · madda · hamza); long vowels; sun and moon letters; numerals ٠–٢٠ in the right order; R-E-A-D for vowelled words and SCOPE for signs; fair dictation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1 (4 min). Quick, energetic retrieval. Model one round with a student, then pairs race. Collect the best score in the chat. Listen for words students hesitate over and revisit them in Part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1 reference — six words from F1-L11.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1 reference — six words from F1-L12.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2 (4 min). Students read each card ALOUD (by invitation), then type its number in the chat with 1 or 2 (for example “card 3 → 2”). Then check the answer slide. Ask: “Which card could you use in BOTH lessons?” — this links the two lessons before Part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2 (4 min). Students read each card ALOUD (by invitation), then type its number in the chat with 1 or 2 (for example “card 3 → 2”). Then check the answer slide. Ask: “Which card could you use in BOTH lessons?” — this links the two lessons before Part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3 (5 min). A NEW dialogue that joins F1-L11 and F1-L12. Teacher reads it once with a confident student; then pairs. Ask: “Which lines are from F1-L11? Which from F1-L12?” Signs, calligraphy styles and “which script?” come from F1-L11; reading without vowels, breakers and marks revise F1-L12. Invite students to bring (or show on screen) one real item with Arabic on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4 (6 min, pairs or rooms). The questions come from the two practice rooms, now mixed so students switch between the lessons. Teacher: visit rooms and ask one Stretch follow-up question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5 (7 min). One NEW situation that needs both lessons: Arabic in everyday life and calligraphy styles (F1-L11) with every F1 script skill under review (F1-L12). SUPPORTED: the plan column gives the first words, not the full answer. To a girl Partner A says: the feminine forms (-ki / -īna).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6 (4 min). Fluency: one talk that uses BOTH lessons. Two volunteers speak to the whole class at the end (open mic).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7 (3 min). Rows come from the F1-L11 and F1-L12 practice rooms. Read the English, choose the correct part from each column (start on the RIGHT). Pairs agree, then check. Students copy the correct words — they help in Step 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7 (3 min). Rows come from the F1-L11 and F1-L12 practice rooms. Read the English, choose the correct part from each column (start on the RIGHT). Pairs agree, then check. Students copy the correct words — they help in Step 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8 (3 min). Common mistakes from both lessons. Students type the corrected version in the chat before the answer slide. These are the mistakes to look for in the buddy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8 (3 min). Common mistakes from both lessons. Students type the corrected version in the chat before the answer slide. These are the mistakes to look for in the buddy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9 support. Core: use the Core frames for every bullet. Develop: use the Develop frames only if stuck. Stretch: no frames — add reasons, a time phrase and an extra detail.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9 (10 min writing, everyone on their own). Core: frames for every bullet (30–40 words). Develop: 40–70 words, frames only if stuck. Stretch: no frames, add reasons. Teacher reads ONE sentence per student (in the chat or the shared document) and gives one live correction.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BUDDY CHECK (3 min). Pairs swap texts (or share screens). Then everyone returns to the main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CHECK YOURSELF (2 min, main room). Each student finds one task they answered less fully and says it again using the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 (13 words). CHECK YOURSELF (2 min). Find each bullet point in the model, and one phrase from F1-L11 and one from F1-L12. Then each student copies ONE phrase from the model into their own 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SELF-CHECK (1 min) against the website success criteria. Students tick privately, then type one WWW and one EBI in the chat (English is fine).
Teacher: one whole-class feedback point from live feedback. Pastoral: Curiosity &amp; Growth for honest reflection and a harder target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— thank students, dismiss calmly. After the lesson: complete the Pastoral Tracker (attendance, character, self-management, curiosity; demerits only for the five listed concerns). Note any student below 2/3 on the exit ticket for a Do Now check-in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cs typeface="Amiri" pitchFamily="2" charset="-78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cs typeface="Amiri" pitchFamily="2" charset="-78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cs typeface="Amiri" pitchFamily="2" charset="-78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cs typeface="Amiri" pitchFamily="2" charset="-78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cs typeface="Amiri" pitchFamily="2" charset="-78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cs typeface="Amiri" pitchFamily="2" charset="-78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-548640"/>
            <a:ext cx="4023360" cy="40233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2680" y="685800"/>
            <a:ext cx="1554480" cy="1554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11480"/>
            <a:ext cx="502920" cy="502920"/>
          </a:xfrm>
          <a:prstGeom prst="ellipse">
            <a:avLst/>
          </a:prstGeom>
          <a:solidFill>
            <a:srgbClr val="1B3B6F"/>
          </a:solidFill>
          <a:ln w="15875">
            <a:solidFill>
              <a:srgbClr val="D4AF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3931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78992" y="38404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400" dirty="0"/>
          </a:p>
          <a:p>
            <a:pPr indent="0" marL="0">
              <a:buNone/>
            </a:pPr>
            <a:r>
              <a:rPr lang="en-US" sz="8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ARABIC DEPARTMENT · MIFTAH ARABIC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6002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CAMBRIDGE IGCSE ARABIC 0544  ·  YEAR 7  ·  FOUNDATION F1  ·  F1-L11 + F1-L12 · APPLY WORKSHOP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965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FB3D1"/>
                </a:solidFill>
                <a:latin typeface="Cambria" pitchFamily="34" charset="0"/>
                <a:cs typeface="Amiri" pitchFamily="2" charset="-78"/>
              </a:rPr>
              <a:t>F1-W06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48716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Apply Workshop — Our Arabic-Around-Us Showcase</a:t>
            </a:r>
            <a:endParaRPr lang="en-US" sz="26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31012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36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وَرْشَةُ التَّطْبِيقِ — مَعْرِضُ العَرَبِيَّةِ حَوْلَنَا</a:t>
            </a:r>
            <a:endParaRPr lang="ar-SA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22452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Students use all of F1 for one real purpose: they build a class showcase of Arabic they find in everyday life — a food packet, a shop sign, a screen, a calligraphy panel — read each item (with or without vowels), explain the script, and copy and label their exhibits.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LESSON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Apply workshop · F1-L11 + F1-L12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273552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438144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DURATION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60 minutes · Teams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089904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54496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LEVEL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Foundation · end of unit F1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8906256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70848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ON THE WEBSITE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Pathways › Foundation › F1 › F1-L12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F1-W06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BEFORE WE BEGIN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Our online classroom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آدَابُ الصَّفِّ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F1-W06 · Apply workshop (F1-L11 + F1-L12)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2002536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39696"/>
            <a:ext cx="310896" cy="310896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371600" y="1901952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Camera on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 I can see you learning and help you quickly.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907792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0080" y="3081528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18688"/>
            <a:ext cx="310896" cy="31089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371600" y="2980944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Mic muted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Unmute only when invited to speak.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457200" y="3986784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40080" y="4160520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297680"/>
            <a:ext cx="310896" cy="31089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371600" y="4059936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Chat for learning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Answers, questions and Arabic only.</a:t>
            </a:r>
            <a:endParaRPr lang="en-US" sz="1500" dirty="0"/>
          </a:p>
        </p:txBody>
      </p:sp>
      <p:sp>
        <p:nvSpPr>
          <p:cNvPr id="27" name="Shape 21"/>
          <p:cNvSpPr/>
          <p:nvPr/>
        </p:nvSpPr>
        <p:spPr>
          <a:xfrm>
            <a:off x="457200" y="5065776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640080" y="5239512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376672"/>
            <a:ext cx="310896" cy="31089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371600" y="5138928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Raise your hand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the hand button to ask for help.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6172200" y="1828800"/>
            <a:ext cx="5559552" cy="4169664"/>
          </a:xfrm>
          <a:prstGeom prst="roundRect">
            <a:avLst>
              <a:gd name="adj" fmla="val 1754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Text 25"/>
          <p:cNvSpPr txBox="1"/>
          <p:nvPr/>
        </p:nvSpPr>
        <p:spPr>
          <a:xfrm>
            <a:off x="6400800" y="1938528"/>
            <a:ext cx="5102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HOW WE TALK — THE ORACY CODE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6400800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6400800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●</a:t>
            </a:r>
            <a:endParaRPr lang="en-US" sz="1800" dirty="0"/>
          </a:p>
        </p:txBody>
      </p:sp>
      <p:sp>
        <p:nvSpPr>
          <p:cNvPr id="35" name="Text 28"/>
          <p:cNvSpPr txBox="1"/>
          <p:nvPr/>
        </p:nvSpPr>
        <p:spPr>
          <a:xfrm>
            <a:off x="7059168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Think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silent preparation</a:t>
            </a:r>
            <a:endParaRPr lang="en-US" sz="1400" dirty="0"/>
          </a:p>
        </p:txBody>
      </p:sp>
      <p:sp>
        <p:nvSpPr>
          <p:cNvPr id="36" name="Shape 29"/>
          <p:cNvSpPr/>
          <p:nvPr/>
        </p:nvSpPr>
        <p:spPr>
          <a:xfrm>
            <a:off x="8997696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8997696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↔</a:t>
            </a:r>
            <a:endParaRPr lang="en-US" sz="1800" dirty="0"/>
          </a:p>
        </p:txBody>
      </p:sp>
      <p:sp>
        <p:nvSpPr>
          <p:cNvPr id="38" name="Text 31"/>
          <p:cNvSpPr txBox="1"/>
          <p:nvPr/>
        </p:nvSpPr>
        <p:spPr>
          <a:xfrm>
            <a:off x="9656064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Rehearse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both partners speak</a:t>
            </a:r>
            <a:endParaRPr lang="en-US" sz="1400" dirty="0"/>
          </a:p>
        </p:txBody>
      </p:sp>
      <p:sp>
        <p:nvSpPr>
          <p:cNvPr id="39" name="Shape 32"/>
          <p:cNvSpPr/>
          <p:nvPr/>
        </p:nvSpPr>
        <p:spPr>
          <a:xfrm>
            <a:off x="6400800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6400800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+</a:t>
            </a:r>
            <a:endParaRPr lang="en-US" sz="1800" dirty="0"/>
          </a:p>
        </p:txBody>
      </p:sp>
      <p:sp>
        <p:nvSpPr>
          <p:cNvPr id="41" name="Text 34"/>
          <p:cNvSpPr txBox="1"/>
          <p:nvPr/>
        </p:nvSpPr>
        <p:spPr>
          <a:xfrm>
            <a:off x="7059168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Build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a reason or detail</a:t>
            </a:r>
            <a:endParaRPr lang="en-US" sz="1400" dirty="0"/>
          </a:p>
        </p:txBody>
      </p:sp>
      <p:sp>
        <p:nvSpPr>
          <p:cNvPr id="42" name="Shape 35"/>
          <p:cNvSpPr/>
          <p:nvPr/>
        </p:nvSpPr>
        <p:spPr>
          <a:xfrm>
            <a:off x="8997696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8997696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?</a:t>
            </a:r>
            <a:endParaRPr lang="en-US" sz="1800" dirty="0"/>
          </a:p>
        </p:txBody>
      </p:sp>
      <p:sp>
        <p:nvSpPr>
          <p:cNvPr id="44" name="Text 37"/>
          <p:cNvSpPr txBox="1"/>
          <p:nvPr/>
        </p:nvSpPr>
        <p:spPr>
          <a:xfrm>
            <a:off x="9656064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Challenge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question respectfully</a:t>
            </a:r>
            <a:endParaRPr lang="en-US" sz="1400" dirty="0"/>
          </a:p>
        </p:txBody>
      </p:sp>
      <p:sp>
        <p:nvSpPr>
          <p:cNvPr id="45" name="Shape 38"/>
          <p:cNvSpPr/>
          <p:nvPr/>
        </p:nvSpPr>
        <p:spPr>
          <a:xfrm>
            <a:off x="6400800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64008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◎</a:t>
            </a:r>
            <a:endParaRPr lang="en-US" sz="1800" dirty="0"/>
          </a:p>
        </p:txBody>
      </p:sp>
      <p:sp>
        <p:nvSpPr>
          <p:cNvPr id="47" name="Text 40"/>
          <p:cNvSpPr txBox="1"/>
          <p:nvPr/>
        </p:nvSpPr>
        <p:spPr>
          <a:xfrm>
            <a:off x="7059168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Share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anyone may be invited</a:t>
            </a:r>
            <a:endParaRPr lang="en-US" sz="1400" dirty="0"/>
          </a:p>
        </p:txBody>
      </p:sp>
      <p:sp>
        <p:nvSpPr>
          <p:cNvPr id="48" name="Shape 41"/>
          <p:cNvSpPr/>
          <p:nvPr/>
        </p:nvSpPr>
        <p:spPr>
          <a:xfrm>
            <a:off x="8997696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8997696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↺</a:t>
            </a:r>
            <a:endParaRPr lang="en-US" sz="1800" dirty="0"/>
          </a:p>
        </p:txBody>
      </p:sp>
      <p:sp>
        <p:nvSpPr>
          <p:cNvPr id="50" name="Text 43"/>
          <p:cNvSpPr txBox="1"/>
          <p:nvPr/>
        </p:nvSpPr>
        <p:spPr>
          <a:xfrm>
            <a:off x="9656064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Summarise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it more precisely</a:t>
            </a:r>
            <a:endParaRPr lang="en-US" sz="1400" dirty="0"/>
          </a:p>
        </p:txBody>
      </p:sp>
      <p:sp>
        <p:nvSpPr>
          <p:cNvPr id="51" name="Text 44"/>
          <p:cNvSpPr txBox="1"/>
          <p:nvPr/>
        </p:nvSpPr>
        <p:spPr>
          <a:xfrm>
            <a:off x="6400800" y="5230368"/>
            <a:ext cx="51023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will always give you thinking and practice time before I ask anyone. Reading aloud is by invitation — you can always say “pass, please come back to me”.</a:t>
            </a:r>
            <a:endParaRPr lang="en-US" sz="1150" dirty="0"/>
          </a:p>
        </p:txBody>
      </p:sp>
      <p:sp>
        <p:nvSpPr>
          <p:cNvPr id="52" name="Text 4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 / 24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F1-W06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88352" y="27432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88352" y="2743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TODAY’S PLAN · LEARN, LEARN, APPLY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Two lessons — now use them together</a:t>
            </a:r>
            <a:endParaRPr lang="en-US" sz="25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خُطُوَاتُ الوَرْشَةِ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F1-W06 · Apply workshop (F1-L11 + F1-L12)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66928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03504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6 min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1332281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32281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85216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 learnt: F1-L11 and F1-L12.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تَعَلَّمْنَا؟</a:t>
            </a:r>
            <a:endParaRPr lang="ar-SA" sz="1500" dirty="0"/>
          </a:p>
        </p:txBody>
      </p:sp>
      <p:sp>
        <p:nvSpPr>
          <p:cNvPr id="23" name="Shape 20"/>
          <p:cNvSpPr/>
          <p:nvPr/>
        </p:nvSpPr>
        <p:spPr>
          <a:xfrm>
            <a:off x="273771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284744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88401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288401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8 min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612794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12794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286573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Part 1 · Remember: word race and “which lesson?” sort.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282915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2F6FB0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تَذَكَّرْ</a:t>
            </a:r>
            <a:endParaRPr lang="ar-SA" sz="1500" dirty="0"/>
          </a:p>
        </p:txBody>
      </p:sp>
      <p:sp>
        <p:nvSpPr>
          <p:cNvPr id="31" name="Shape 28"/>
          <p:cNvSpPr/>
          <p:nvPr/>
        </p:nvSpPr>
        <p:spPr>
          <a:xfrm>
            <a:off x="5018227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127955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164531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5164531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22 min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893308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93308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5146243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Part 2 · Speak: say the mini-dialogue · point-and-say cards · reading card · read-aloud race.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5109667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تَكَلَّمْ</a:t>
            </a:r>
            <a:endParaRPr lang="ar-SA" sz="1500" dirty="0"/>
          </a:p>
        </p:txBody>
      </p:sp>
      <p:sp>
        <p:nvSpPr>
          <p:cNvPr id="39" name="Shape 36"/>
          <p:cNvSpPr/>
          <p:nvPr/>
        </p:nvSpPr>
        <p:spPr>
          <a:xfrm>
            <a:off x="7298741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408469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445045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7445045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19 min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8173822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173822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7426757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Part 3 · Write: build the word · spot the slip · copy, listen and write · buddy check.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7390181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اكْتُبْ</a:t>
            </a:r>
            <a:endParaRPr lang="ar-SA" sz="1500" dirty="0"/>
          </a:p>
        </p:txBody>
      </p:sp>
      <p:sp>
        <p:nvSpPr>
          <p:cNvPr id="47" name="Shape 44"/>
          <p:cNvSpPr/>
          <p:nvPr/>
        </p:nvSpPr>
        <p:spPr>
          <a:xfrm>
            <a:off x="957925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968898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72555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972555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5 min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10454335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0454335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970727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Check yourself with the models.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967069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قَارِنْ</a:t>
            </a:r>
            <a:endParaRPr lang="ar-SA" sz="1500" dirty="0"/>
          </a:p>
        </p:txBody>
      </p:sp>
      <p:sp>
        <p:nvSpPr>
          <p:cNvPr id="55" name="Shape 52"/>
          <p:cNvSpPr/>
          <p:nvPr/>
        </p:nvSpPr>
        <p:spPr>
          <a:xfrm>
            <a:off x="457200" y="5285232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6" name="Text 53"/>
          <p:cNvSpPr txBox="1"/>
          <p:nvPr/>
        </p:nvSpPr>
        <p:spPr>
          <a:xfrm>
            <a:off x="685800" y="53583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HOW THE WORKSHOP RUNS</a:t>
            </a:r>
            <a:endParaRPr lang="en-US" sz="1000" dirty="0"/>
          </a:p>
        </p:txBody>
      </p:sp>
      <p:sp>
        <p:nvSpPr>
          <p:cNvPr id="57" name="Text 54"/>
          <p:cNvSpPr txBox="1"/>
          <p:nvPr/>
        </p:nvSpPr>
        <p:spPr>
          <a:xfrm>
            <a:off x="685800" y="563270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Today there is no new language: you USE the words and structures of the last two lessons together. Everybody speaks in every step and everybody writes their own text. Choose your route — Core, Develop or Stretch — and move up when you are ready.</a:t>
            </a:r>
            <a:endParaRPr lang="en-US" sz="1250" dirty="0"/>
          </a:p>
        </p:txBody>
      </p:sp>
      <p:sp>
        <p:nvSpPr>
          <p:cNvPr id="58" name="Text 5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3 / 24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F1-W06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WHAT WE LEARNT THIS WEEK · F1-L11 + F1-L12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This week’s two lessons — and today’s goal</a:t>
            </a:r>
            <a:endParaRPr lang="en-US" sz="22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نُطَبِّقُ مَا تَعَلَّمْنَا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F1-W06 · Apply workshop (F1-L11 + F1-L12)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4663440" cy="4315968"/>
          </a:xfrm>
          <a:prstGeom prst="roundRect">
            <a:avLst>
              <a:gd name="adj" fmla="val 1695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85800" y="192024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TODAY YOU WILL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2834640" y="18745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سَتَتَعَلَّمُ اليَوْمَ</a:t>
            </a:r>
            <a:endParaRPr lang="ar-SA" sz="1600" dirty="0"/>
          </a:p>
        </p:txBody>
      </p:sp>
      <p:sp>
        <p:nvSpPr>
          <p:cNvPr id="18" name="Shape 15"/>
          <p:cNvSpPr/>
          <p:nvPr/>
        </p:nvSpPr>
        <p:spPr>
          <a:xfrm>
            <a:off x="685800" y="2395728"/>
            <a:ext cx="365760" cy="3657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85800" y="23957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1188720" y="2286000"/>
            <a:ext cx="3749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F1-L11: Arabic Around Us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685800" y="3291840"/>
            <a:ext cx="365760" cy="3657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85800" y="3291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1188720" y="3182112"/>
            <a:ext cx="3749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F1-L12: Show What You Know: F1 Review &amp; Assessment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685800" y="4187952"/>
            <a:ext cx="365760" cy="3657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85800" y="41879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1188720" y="4078224"/>
            <a:ext cx="3749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Apply both: the showcase exhibits · Copy, label and write: my exhibits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349240" y="1810512"/>
            <a:ext cx="6382512" cy="1353312"/>
          </a:xfrm>
          <a:prstGeom prst="roundRect">
            <a:avLst>
              <a:gd name="adj" fmla="val 5405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5532120" y="1947672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5532120" y="1947672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6766560" y="194767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i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Everyone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5532120" y="228600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☐  Say the sounds and read the words of both lessons.</a:t>
            </a:r>
            <a:endParaRPr lang="en-US" sz="1300" dirty="0"/>
          </a:p>
        </p:txBody>
      </p:sp>
      <p:sp>
        <p:nvSpPr>
          <p:cNvPr id="32" name="Text 29"/>
          <p:cNvSpPr txBox="1"/>
          <p:nvPr/>
        </p:nvSpPr>
        <p:spPr>
          <a:xfrm>
            <a:off x="5532120" y="269748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☐  Copy and write with the frames.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5349240" y="3273552"/>
            <a:ext cx="6382512" cy="1353312"/>
          </a:xfrm>
          <a:prstGeom prst="roundRect">
            <a:avLst>
              <a:gd name="adj" fmla="val 5405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532120" y="3410712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5532120" y="3410712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950" dirty="0"/>
          </a:p>
        </p:txBody>
      </p:sp>
      <p:sp>
        <p:nvSpPr>
          <p:cNvPr id="36" name="Text 33"/>
          <p:cNvSpPr txBox="1"/>
          <p:nvPr/>
        </p:nvSpPr>
        <p:spPr>
          <a:xfrm>
            <a:off x="6766560" y="341071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i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Most of us</a:t>
            </a:r>
            <a:endParaRPr lang="en-US" sz="1050" dirty="0"/>
          </a:p>
        </p:txBody>
      </p:sp>
      <p:sp>
        <p:nvSpPr>
          <p:cNvPr id="37" name="Text 34"/>
          <p:cNvSpPr txBox="1"/>
          <p:nvPr/>
        </p:nvSpPr>
        <p:spPr>
          <a:xfrm>
            <a:off x="5532120" y="374904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☐  Read every item on the card without stopping.</a:t>
            </a:r>
            <a:endParaRPr lang="en-US" sz="1300" dirty="0"/>
          </a:p>
        </p:txBody>
      </p:sp>
      <p:sp>
        <p:nvSpPr>
          <p:cNvPr id="38" name="Text 35"/>
          <p:cNvSpPr txBox="1"/>
          <p:nvPr/>
        </p:nvSpPr>
        <p:spPr>
          <a:xfrm>
            <a:off x="5532120" y="416052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☐  Write the dictation without looking.</a:t>
            </a:r>
            <a:endParaRPr lang="en-US" sz="1300" dirty="0"/>
          </a:p>
        </p:txBody>
      </p:sp>
      <p:sp>
        <p:nvSpPr>
          <p:cNvPr id="39" name="Shape 36"/>
          <p:cNvSpPr/>
          <p:nvPr/>
        </p:nvSpPr>
        <p:spPr>
          <a:xfrm>
            <a:off x="5349240" y="4736592"/>
            <a:ext cx="6382512" cy="1353312"/>
          </a:xfrm>
          <a:prstGeom prst="roundRect">
            <a:avLst>
              <a:gd name="adj" fmla="val 5405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5532120" y="4873752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5532120" y="4873752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6766560" y="48737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i="1" dirty="0">
                <a:solidFill>
                  <a:srgbClr val="B83227"/>
                </a:solidFill>
                <a:latin typeface="Calibri" pitchFamily="34" charset="0"/>
                <a:cs typeface="Amiri" pitchFamily="2" charset="-78"/>
              </a:rPr>
              <a:t>Aim high</a:t>
            </a:r>
            <a:endParaRPr lang="en-US" sz="1050" dirty="0"/>
          </a:p>
        </p:txBody>
      </p:sp>
      <p:sp>
        <p:nvSpPr>
          <p:cNvPr id="43" name="Text 40"/>
          <p:cNvSpPr txBox="1"/>
          <p:nvPr/>
        </p:nvSpPr>
        <p:spPr>
          <a:xfrm>
            <a:off x="5532120" y="521208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B83227"/>
                </a:solidFill>
                <a:latin typeface="Calibri" pitchFamily="34" charset="0"/>
                <a:cs typeface="Amiri" pitchFamily="2" charset="-78"/>
              </a:rPr>
              <a:t>☐  Read new words with the same letters and marks.</a:t>
            </a:r>
            <a:endParaRPr lang="en-US" sz="1300" dirty="0"/>
          </a:p>
        </p:txBody>
      </p:sp>
      <p:sp>
        <p:nvSpPr>
          <p:cNvPr id="44" name="Text 41"/>
          <p:cNvSpPr txBox="1"/>
          <p:nvPr/>
        </p:nvSpPr>
        <p:spPr>
          <a:xfrm>
            <a:off x="5532120" y="562356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B83227"/>
                </a:solidFill>
                <a:latin typeface="Calibri" pitchFamily="34" charset="0"/>
                <a:cs typeface="Amiri" pitchFamily="2" charset="-78"/>
              </a:rPr>
              <a:t>☐  Write extra words of your own.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4 / 24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F1-W06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70978" y="274320"/>
            <a:ext cx="1388974" cy="329184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70978" y="274320"/>
            <a:ext cx="13889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 · 4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PART 1 · STEP 1 · WORD RACE · 4 MINUTES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Letter race: two lessons, one race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سِبَاقُ الكَلِمَاتِ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F1-W06 · Apply workshop (F1-L11 + F1-L12)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STEP 1 · PAIRS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🏁  Say it, find it — from both lessons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The next two slides show letters and words from F1-L11 and F1-L12. Partner A says a letter name, sound or word; Partner B finds it and reads it. One point for every correct answer in 90 seconds — then swap.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Teacher: first round together (3 words from each slide).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Pairs: 90 seconds each, as many as you can.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Mix the lessons: one word from slide 1, one from slide 2.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Last round: use two words — one from each lesson — in ONE sentence.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Find the letter and say its sound.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Read the whole word aloud.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Say another word with the same letter.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دَوْرُكَ! / دَوْرُكِ!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your turn! (m. / f.)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صَحِيحٌ!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correct!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حَاوِلْ مَرَّةً أُخْرَى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try again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نُقْطَةٌ لَكَ / لَكِ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 point for you (m. / f.)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5 / 24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F1-W06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STEP 1 · WORDS FROM F1-L11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F1-L11 · Arabic Around Us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كَلِمَاتُ الدَّرْسِ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F1-W06 · Apply workshop (F1-L11 + F1-L12)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83393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8339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noun · f.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لُغَةٌ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language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lugha · pl. lughāt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99669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0218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</a:t>
            </a:r>
            <a:endParaRPr lang="en-US" sz="750" dirty="0"/>
          </a:p>
        </p:txBody>
      </p:sp>
      <p:sp>
        <p:nvSpPr>
          <p:cNvPr id="26" name="Text 23"/>
          <p:cNvSpPr txBox="1"/>
          <p:nvPr/>
        </p:nvSpPr>
        <p:spPr>
          <a:xfrm>
            <a:off x="10012680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لُغَةٌ</a:t>
            </a:r>
            <a:endParaRPr lang="ar-SA" sz="1500" dirty="0"/>
          </a:p>
        </p:txBody>
      </p:sp>
      <p:sp>
        <p:nvSpPr>
          <p:cNvPr id="27" name="Shape 24"/>
          <p:cNvSpPr/>
          <p:nvPr/>
        </p:nvSpPr>
        <p:spPr>
          <a:xfrm>
            <a:off x="8238744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93608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29" name="Text 26"/>
          <p:cNvSpPr txBox="1"/>
          <p:nvPr/>
        </p:nvSpPr>
        <p:spPr>
          <a:xfrm>
            <a:off x="8284464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لُغَاتٌ</a:t>
            </a:r>
            <a:endParaRPr lang="ar-SA" sz="1500" dirty="0"/>
          </a:p>
        </p:txBody>
      </p:sp>
      <p:sp>
        <p:nvSpPr>
          <p:cNvPr id="30" name="Shape 27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782312" y="1938528"/>
            <a:ext cx="83393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782312" y="1938528"/>
            <a:ext cx="8339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noun · m.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7" name="Text 34"/>
          <p:cNvSpPr txBox="1"/>
          <p:nvPr/>
        </p:nvSpPr>
        <p:spPr>
          <a:xfrm>
            <a:off x="4389120" y="2212848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عَالَمٌ</a:t>
            </a:r>
            <a:endParaRPr lang="ar-SA" sz="3000" dirty="0"/>
          </a:p>
        </p:txBody>
      </p:sp>
      <p:sp>
        <p:nvSpPr>
          <p:cNvPr id="38" name="Text 35"/>
          <p:cNvSpPr txBox="1"/>
          <p:nvPr/>
        </p:nvSpPr>
        <p:spPr>
          <a:xfrm>
            <a:off x="4416552" y="3127248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world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ʿālam</a:t>
            </a:r>
            <a:endParaRPr lang="en-US" sz="1350" dirty="0"/>
          </a:p>
        </p:txBody>
      </p:sp>
      <p:sp>
        <p:nvSpPr>
          <p:cNvPr id="39" name="Text 36"/>
          <p:cNvSpPr txBox="1"/>
          <p:nvPr/>
        </p:nvSpPr>
        <p:spPr>
          <a:xfrm>
            <a:off x="4416552" y="3621024"/>
            <a:ext cx="3364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ar-SA" altLang="en-US" sz="1300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العَالَمُ العَرَبِيُّ</a:t>
            </a:r>
            <a:pPr algn="l" indent="0" marL="0">
              <a:buNone/>
            </a:pPr>
            <a:r>
              <a:rPr lang="en-US" sz="1000" i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 = the Arab world</a:t>
            </a:r>
            <a:endParaRPr lang="en-US" sz="1000" dirty="0"/>
          </a:p>
        </p:txBody>
      </p:sp>
      <p:sp>
        <p:nvSpPr>
          <p:cNvPr id="40" name="Shape 37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Shape 38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960120" y="1938528"/>
            <a:ext cx="83393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960120" y="1938528"/>
            <a:ext cx="8339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noun · m.</a:t>
            </a:r>
            <a:endParaRPr lang="en-US" sz="8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فَنٌّ</a:t>
            </a:r>
            <a:endParaRPr lang="ar-SA" sz="3000" dirty="0"/>
          </a:p>
        </p:txBody>
      </p:sp>
      <p:sp>
        <p:nvSpPr>
          <p:cNvPr id="46" name="Text 43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art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fann · pl. funūn</a:t>
            </a:r>
            <a:endParaRPr lang="en-US" sz="1350" dirty="0"/>
          </a:p>
        </p:txBody>
      </p:sp>
      <p:sp>
        <p:nvSpPr>
          <p:cNvPr id="47" name="Shape 44"/>
          <p:cNvSpPr/>
          <p:nvPr/>
        </p:nvSpPr>
        <p:spPr>
          <a:xfrm>
            <a:off x="2322576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2377440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</a:t>
            </a:r>
            <a:endParaRPr lang="en-US" sz="750" dirty="0"/>
          </a:p>
        </p:txBody>
      </p:sp>
      <p:sp>
        <p:nvSpPr>
          <p:cNvPr id="49" name="Text 46"/>
          <p:cNvSpPr txBox="1"/>
          <p:nvPr/>
        </p:nvSpPr>
        <p:spPr>
          <a:xfrm>
            <a:off x="2368296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فَنٌّ</a:t>
            </a:r>
            <a:endParaRPr lang="ar-SA" sz="1500" dirty="0"/>
          </a:p>
        </p:txBody>
      </p:sp>
      <p:sp>
        <p:nvSpPr>
          <p:cNvPr id="50" name="Shape 47"/>
          <p:cNvSpPr/>
          <p:nvPr/>
        </p:nvSpPr>
        <p:spPr>
          <a:xfrm>
            <a:off x="5943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6492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52" name="Text 49"/>
          <p:cNvSpPr txBox="1"/>
          <p:nvPr/>
        </p:nvSpPr>
        <p:spPr>
          <a:xfrm>
            <a:off x="640080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فُنُونٌ</a:t>
            </a:r>
            <a:endParaRPr lang="ar-SA" sz="1500" dirty="0"/>
          </a:p>
        </p:txBody>
      </p:sp>
      <p:sp>
        <p:nvSpPr>
          <p:cNvPr id="53" name="Shape 50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4" name="Shape 51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56" name="Shape 53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8" name="Text 55"/>
          <p:cNvSpPr txBox="1"/>
          <p:nvPr/>
        </p:nvSpPr>
        <p:spPr>
          <a:xfrm>
            <a:off x="8211312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الفُصْحَى</a:t>
            </a:r>
            <a:endParaRPr lang="ar-SA" sz="3000" dirty="0"/>
          </a:p>
        </p:txBody>
      </p:sp>
      <p:sp>
        <p:nvSpPr>
          <p:cNvPr id="59" name="Text 56"/>
          <p:cNvSpPr txBox="1"/>
          <p:nvPr/>
        </p:nvSpPr>
        <p:spPr>
          <a:xfrm>
            <a:off x="8238744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Modern Standard Arabic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al-fuṣ-ḥā</a:t>
            </a:r>
            <a:endParaRPr lang="en-US" sz="1350" dirty="0"/>
          </a:p>
        </p:txBody>
      </p:sp>
      <p:sp>
        <p:nvSpPr>
          <p:cNvPr id="60" name="Shape 57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000" dirty="0"/>
          </a:p>
        </p:txBody>
      </p:sp>
      <p:sp>
        <p:nvSpPr>
          <p:cNvPr id="63" name="Shape 60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5" name="Text 62"/>
          <p:cNvSpPr txBox="1"/>
          <p:nvPr/>
        </p:nvSpPr>
        <p:spPr>
          <a:xfrm>
            <a:off x="4389120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خَطٌّ</a:t>
            </a:r>
            <a:endParaRPr lang="ar-SA" sz="3000" dirty="0"/>
          </a:p>
        </p:txBody>
      </p:sp>
      <p:sp>
        <p:nvSpPr>
          <p:cNvPr id="66" name="Text 63"/>
          <p:cNvSpPr txBox="1"/>
          <p:nvPr/>
        </p:nvSpPr>
        <p:spPr>
          <a:xfrm>
            <a:off x="4416552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calligraphy / handwriting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khaṭ-ṭun</a:t>
            </a:r>
            <a:endParaRPr lang="en-US" sz="1350" dirty="0"/>
          </a:p>
        </p:txBody>
      </p:sp>
      <p:sp>
        <p:nvSpPr>
          <p:cNvPr id="67" name="Shape 64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8" name="Shape 65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9" name="Text 66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000" dirty="0"/>
          </a:p>
        </p:txBody>
      </p:sp>
      <p:sp>
        <p:nvSpPr>
          <p:cNvPr id="70" name="Shape 67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71" name="Text 68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72" name="Text 69"/>
          <p:cNvSpPr txBox="1"/>
          <p:nvPr/>
        </p:nvSpPr>
        <p:spPr>
          <a:xfrm>
            <a:off x="566928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الرُّقْعَةُ</a:t>
            </a:r>
            <a:endParaRPr lang="ar-SA" sz="3000" dirty="0"/>
          </a:p>
        </p:txBody>
      </p:sp>
      <p:sp>
        <p:nvSpPr>
          <p:cNvPr id="73" name="Text 70"/>
          <p:cNvSpPr txBox="1"/>
          <p:nvPr/>
        </p:nvSpPr>
        <p:spPr>
          <a:xfrm>
            <a:off x="594360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Ruqʿah — quick handwriting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ar-ruq-ʿa-tu</a:t>
            </a:r>
            <a:endParaRPr lang="en-US" sz="1350" dirty="0"/>
          </a:p>
        </p:txBody>
      </p:sp>
      <p:sp>
        <p:nvSpPr>
          <p:cNvPr id="74" name="Text 7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6 / 24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F1-W06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STEP 1 · WORDS FROM F1-L12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F1-L12 · Show What You Know: F1 Review &amp; Assessment</a:t>
            </a:r>
            <a:endParaRPr lang="en-US" sz="17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مُرَاجَعَةٌ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F1-W06 · Apply workshop (F1-L11 + F1-L12)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7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77175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7717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alphabet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 ت ث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3127248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one shape, different dots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 letter family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8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4782312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4782312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forms</a:t>
            </a:r>
            <a:endParaRPr lang="en-US" sz="800" dirty="0"/>
          </a:p>
        </p:txBody>
      </p:sp>
      <p:sp>
        <p:nvSpPr>
          <p:cNvPr id="29" name="Shape 26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1" name="Text 28"/>
          <p:cNvSpPr txBox="1"/>
          <p:nvPr/>
        </p:nvSpPr>
        <p:spPr>
          <a:xfrm>
            <a:off x="4389120" y="2212848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ـعـ</a:t>
            </a:r>
            <a:endParaRPr lang="ar-SA" sz="3000" dirty="0"/>
          </a:p>
        </p:txBody>
      </p:sp>
      <p:sp>
        <p:nvSpPr>
          <p:cNvPr id="32" name="Text 29"/>
          <p:cNvSpPr txBox="1"/>
          <p:nvPr/>
        </p:nvSpPr>
        <p:spPr>
          <a:xfrm>
            <a:off x="4416552" y="3127248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ʿayn in the middle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 closed loop</a:t>
            </a:r>
            <a:endParaRPr lang="en-US" sz="1350" dirty="0"/>
          </a:p>
        </p:txBody>
      </p:sp>
      <p:sp>
        <p:nvSpPr>
          <p:cNvPr id="33" name="Shape 30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9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960120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960120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marks</a:t>
            </a:r>
            <a:endParaRPr lang="en-US" sz="800" dirty="0"/>
          </a:p>
        </p:txBody>
      </p:sp>
      <p:sp>
        <p:nvSpPr>
          <p:cNvPr id="38" name="Shape 35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0" name="Text 37"/>
          <p:cNvSpPr txBox="1"/>
          <p:nvPr/>
        </p:nvSpPr>
        <p:spPr>
          <a:xfrm>
            <a:off x="566928" y="2212848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ـّ ـٌ آ ء</a:t>
            </a:r>
            <a:endParaRPr lang="ar-SA" sz="3000" dirty="0"/>
          </a:p>
        </p:txBody>
      </p:sp>
      <p:sp>
        <p:nvSpPr>
          <p:cNvPr id="41" name="Text 38"/>
          <p:cNvSpPr txBox="1"/>
          <p:nvPr/>
        </p:nvSpPr>
        <p:spPr>
          <a:xfrm>
            <a:off x="594360" y="3127248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shadda · tanwīn · madda · hamza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double · -n · ʾā · catch</a:t>
            </a:r>
            <a:endParaRPr lang="en-US" sz="1350" dirty="0"/>
          </a:p>
        </p:txBody>
      </p:sp>
      <p:sp>
        <p:nvSpPr>
          <p:cNvPr id="42" name="Shape 39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Shape 40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10</a:t>
            </a:r>
            <a:endParaRPr lang="en-US" sz="1000" dirty="0"/>
          </a:p>
        </p:txBody>
      </p:sp>
      <p:sp>
        <p:nvSpPr>
          <p:cNvPr id="45" name="Shape 42"/>
          <p:cNvSpPr/>
          <p:nvPr/>
        </p:nvSpPr>
        <p:spPr>
          <a:xfrm>
            <a:off x="8604504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8604504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al-</a:t>
            </a:r>
            <a:endParaRPr lang="en-US" sz="800" dirty="0"/>
          </a:p>
        </p:txBody>
      </p:sp>
      <p:sp>
        <p:nvSpPr>
          <p:cNvPr id="47" name="Shape 44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9" name="Text 46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الشَّمْسُ</a:t>
            </a:r>
            <a:endParaRPr lang="ar-SA" sz="3000" dirty="0"/>
          </a:p>
        </p:txBody>
      </p:sp>
      <p:sp>
        <p:nvSpPr>
          <p:cNvPr id="50" name="Text 47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the sun — a sun letter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ash-shams</a:t>
            </a:r>
            <a:endParaRPr lang="en-US" sz="1350" dirty="0"/>
          </a:p>
        </p:txBody>
      </p:sp>
      <p:sp>
        <p:nvSpPr>
          <p:cNvPr id="51" name="Shape 48"/>
          <p:cNvSpPr/>
          <p:nvPr/>
        </p:nvSpPr>
        <p:spPr>
          <a:xfrm>
            <a:off x="8238744" y="5779008"/>
            <a:ext cx="3364992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8293608" y="5788152"/>
            <a:ext cx="3255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moon letter</a:t>
            </a:r>
            <a:endParaRPr lang="en-US" sz="700" dirty="0"/>
          </a:p>
        </p:txBody>
      </p:sp>
      <p:sp>
        <p:nvSpPr>
          <p:cNvPr id="53" name="Text 50"/>
          <p:cNvSpPr txBox="1"/>
          <p:nvPr/>
        </p:nvSpPr>
        <p:spPr>
          <a:xfrm>
            <a:off x="8284464" y="5916168"/>
            <a:ext cx="3273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القَمَرُ</a:t>
            </a:r>
            <a:endParaRPr lang="ar-SA" sz="1350" dirty="0"/>
          </a:p>
        </p:txBody>
      </p:sp>
      <p:sp>
        <p:nvSpPr>
          <p:cNvPr id="54" name="Shape 51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5" name="Shape 52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11</a:t>
            </a:r>
            <a:endParaRPr lang="en-US" sz="1000" dirty="0"/>
          </a:p>
        </p:txBody>
      </p:sp>
      <p:sp>
        <p:nvSpPr>
          <p:cNvPr id="57" name="Shape 54"/>
          <p:cNvSpPr/>
          <p:nvPr/>
        </p:nvSpPr>
        <p:spPr>
          <a:xfrm>
            <a:off x="4782312" y="4279392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4782312" y="4279392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reading</a:t>
            </a:r>
            <a:endParaRPr lang="en-US" sz="800" dirty="0"/>
          </a:p>
        </p:txBody>
      </p:sp>
      <p:sp>
        <p:nvSpPr>
          <p:cNvPr id="59" name="Shape 56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1" name="Text 58"/>
          <p:cNvSpPr txBox="1"/>
          <p:nvPr/>
        </p:nvSpPr>
        <p:spPr>
          <a:xfrm>
            <a:off x="4389120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مَدْرَسَةٌ</a:t>
            </a:r>
            <a:endParaRPr lang="ar-SA" sz="3000" dirty="0"/>
          </a:p>
        </p:txBody>
      </p:sp>
      <p:sp>
        <p:nvSpPr>
          <p:cNvPr id="62" name="Text 59"/>
          <p:cNvSpPr txBox="1"/>
          <p:nvPr/>
        </p:nvSpPr>
        <p:spPr>
          <a:xfrm>
            <a:off x="4416552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school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mad-ra-sa</a:t>
            </a:r>
            <a:endParaRPr lang="en-US" sz="1350" dirty="0"/>
          </a:p>
        </p:txBody>
      </p:sp>
      <p:sp>
        <p:nvSpPr>
          <p:cNvPr id="63" name="Shape 60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4" name="Shape 61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5" name="Text 62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12</a:t>
            </a:r>
            <a:endParaRPr lang="en-US" sz="1000" dirty="0"/>
          </a:p>
        </p:txBody>
      </p:sp>
      <p:sp>
        <p:nvSpPr>
          <p:cNvPr id="66" name="Shape 63"/>
          <p:cNvSpPr/>
          <p:nvPr/>
        </p:nvSpPr>
        <p:spPr>
          <a:xfrm>
            <a:off x="960120" y="4279392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960120" y="4279392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reading</a:t>
            </a:r>
            <a:endParaRPr lang="en-US" sz="800" dirty="0"/>
          </a:p>
        </p:txBody>
      </p:sp>
      <p:sp>
        <p:nvSpPr>
          <p:cNvPr id="68" name="Shape 65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9" name="Text 66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70" name="Text 67"/>
          <p:cNvSpPr txBox="1"/>
          <p:nvPr/>
        </p:nvSpPr>
        <p:spPr>
          <a:xfrm>
            <a:off x="566928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سُؤَالٌ</a:t>
            </a:r>
            <a:endParaRPr lang="ar-SA" sz="3000" dirty="0"/>
          </a:p>
        </p:txBody>
      </p:sp>
      <p:sp>
        <p:nvSpPr>
          <p:cNvPr id="71" name="Text 68"/>
          <p:cNvSpPr txBox="1"/>
          <p:nvPr/>
        </p:nvSpPr>
        <p:spPr>
          <a:xfrm>
            <a:off x="594360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su-ʾāl</a:t>
            </a:r>
            <a:endParaRPr lang="en-US" sz="1350" dirty="0"/>
          </a:p>
        </p:txBody>
      </p:sp>
      <p:sp>
        <p:nvSpPr>
          <p:cNvPr id="72" name="Text 69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7 / 24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F1-W06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70978" y="274320"/>
            <a:ext cx="1388974" cy="329184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70978" y="274320"/>
            <a:ext cx="13889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 · 4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PART 1 · STEP 2 · SORT IT · READ EACH CARD, THEN SORT IT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Script skill or Arabic around us?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صَنِّفِ البِطَاقَاتِ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F1-W06 · Apply workshop (F1-L11 + F1-L12)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9015984" y="1810512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9107424" y="1810512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 ت ث</a:t>
            </a:r>
            <a:endParaRPr lang="ar-SA" sz="1800" dirty="0"/>
          </a:p>
        </p:txBody>
      </p:sp>
      <p:sp>
        <p:nvSpPr>
          <p:cNvPr id="17" name="Shape 14"/>
          <p:cNvSpPr/>
          <p:nvPr/>
        </p:nvSpPr>
        <p:spPr>
          <a:xfrm>
            <a:off x="6163056" y="1810512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6254496" y="1810512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مخبز</a:t>
            </a:r>
            <a:endParaRPr lang="ar-SA" sz="1800" dirty="0"/>
          </a:p>
        </p:txBody>
      </p:sp>
      <p:sp>
        <p:nvSpPr>
          <p:cNvPr id="19" name="Shape 16"/>
          <p:cNvSpPr/>
          <p:nvPr/>
        </p:nvSpPr>
        <p:spPr>
          <a:xfrm>
            <a:off x="3310128" y="1810512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3401568" y="1810512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الفُصْحَى</a:t>
            </a:r>
            <a:endParaRPr lang="ar-SA" sz="1800" dirty="0"/>
          </a:p>
        </p:txBody>
      </p:sp>
      <p:sp>
        <p:nvSpPr>
          <p:cNvPr id="21" name="Shape 18"/>
          <p:cNvSpPr/>
          <p:nvPr/>
        </p:nvSpPr>
        <p:spPr>
          <a:xfrm>
            <a:off x="457200" y="1810512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548640" y="1810512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ـعـ</a:t>
            </a:r>
            <a:endParaRPr lang="ar-SA" sz="1800" dirty="0"/>
          </a:p>
        </p:txBody>
      </p:sp>
      <p:sp>
        <p:nvSpPr>
          <p:cNvPr id="23" name="Shape 20"/>
          <p:cNvSpPr/>
          <p:nvPr/>
        </p:nvSpPr>
        <p:spPr>
          <a:xfrm>
            <a:off x="9015984" y="2322576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9107424" y="2322576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شَدَّةٌ</a:t>
            </a:r>
            <a:endParaRPr lang="ar-SA" sz="1800" dirty="0"/>
          </a:p>
        </p:txBody>
      </p:sp>
      <p:sp>
        <p:nvSpPr>
          <p:cNvPr id="25" name="Shape 22"/>
          <p:cNvSpPr/>
          <p:nvPr/>
        </p:nvSpPr>
        <p:spPr>
          <a:xfrm>
            <a:off x="6163056" y="2322576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6254496" y="2322576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خَطُّ الثُّلُثِ</a:t>
            </a:r>
            <a:endParaRPr lang="ar-SA" sz="1800" dirty="0"/>
          </a:p>
        </p:txBody>
      </p:sp>
      <p:sp>
        <p:nvSpPr>
          <p:cNvPr id="27" name="Shape 24"/>
          <p:cNvSpPr/>
          <p:nvPr/>
        </p:nvSpPr>
        <p:spPr>
          <a:xfrm>
            <a:off x="3310128" y="2322576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3401568" y="2322576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وصول</a:t>
            </a:r>
            <a:endParaRPr lang="ar-SA" sz="1800" dirty="0"/>
          </a:p>
        </p:txBody>
      </p:sp>
      <p:sp>
        <p:nvSpPr>
          <p:cNvPr id="29" name="Shape 26"/>
          <p:cNvSpPr/>
          <p:nvPr/>
        </p:nvSpPr>
        <p:spPr>
          <a:xfrm>
            <a:off x="457200" y="2322576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548640" y="2322576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 د ذ ر ز و</a:t>
            </a:r>
            <a:endParaRPr lang="ar-SA" sz="1800" dirty="0"/>
          </a:p>
        </p:txBody>
      </p:sp>
      <p:sp>
        <p:nvSpPr>
          <p:cNvPr id="31" name="Shape 28"/>
          <p:cNvSpPr/>
          <p:nvPr/>
        </p:nvSpPr>
        <p:spPr>
          <a:xfrm>
            <a:off x="6185916" y="3017520"/>
            <a:ext cx="5545836" cy="3291840"/>
          </a:xfrm>
          <a:prstGeom prst="roundRect">
            <a:avLst>
              <a:gd name="adj" fmla="val 2222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6323076" y="3127248"/>
            <a:ext cx="5271516" cy="310896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323076" y="3127248"/>
            <a:ext cx="52715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 · Script: letters and marks</a:t>
            </a:r>
            <a:endParaRPr lang="en-US" sz="950" dirty="0"/>
          </a:p>
        </p:txBody>
      </p:sp>
      <p:sp>
        <p:nvSpPr>
          <p:cNvPr id="34" name="Shape 31"/>
          <p:cNvSpPr/>
          <p:nvPr/>
        </p:nvSpPr>
        <p:spPr>
          <a:xfrm>
            <a:off x="457200" y="3017520"/>
            <a:ext cx="5545836" cy="3291840"/>
          </a:xfrm>
          <a:prstGeom prst="roundRect">
            <a:avLst>
              <a:gd name="adj" fmla="val 2222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594360" y="3127248"/>
            <a:ext cx="5271516" cy="310896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94360" y="3127248"/>
            <a:ext cx="52715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 · Arabic around us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8 / 24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F1-W06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STEP 2 · ANSWERS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Sort: answers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صَنِّفِ البِطَاقَاتِ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F1-W06 · Apply workshop (F1-L11 + F1-L12)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6185916" y="1810512"/>
            <a:ext cx="5545836" cy="4498848"/>
          </a:xfrm>
          <a:prstGeom prst="roundRect">
            <a:avLst>
              <a:gd name="adj" fmla="val 1626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323076" y="1920240"/>
            <a:ext cx="5271516" cy="310896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323076" y="1920240"/>
            <a:ext cx="52715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 · Script: letters and marks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6323076" y="2377440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414516" y="2377440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 ت ث</a:t>
            </a:r>
            <a:endParaRPr lang="ar-SA" sz="1800" dirty="0"/>
          </a:p>
        </p:txBody>
      </p:sp>
      <p:sp>
        <p:nvSpPr>
          <p:cNvPr id="20" name="Shape 17"/>
          <p:cNvSpPr/>
          <p:nvPr/>
        </p:nvSpPr>
        <p:spPr>
          <a:xfrm>
            <a:off x="6323076" y="2889504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414516" y="2889504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ـعـ</a:t>
            </a:r>
            <a:endParaRPr lang="ar-SA" sz="1800" dirty="0"/>
          </a:p>
        </p:txBody>
      </p:sp>
      <p:sp>
        <p:nvSpPr>
          <p:cNvPr id="22" name="Shape 19"/>
          <p:cNvSpPr/>
          <p:nvPr/>
        </p:nvSpPr>
        <p:spPr>
          <a:xfrm>
            <a:off x="6323076" y="3401568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414516" y="3401568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شَدَّةٌ</a:t>
            </a:r>
            <a:endParaRPr lang="ar-SA" sz="1800" dirty="0"/>
          </a:p>
        </p:txBody>
      </p:sp>
      <p:sp>
        <p:nvSpPr>
          <p:cNvPr id="24" name="Shape 21"/>
          <p:cNvSpPr/>
          <p:nvPr/>
        </p:nvSpPr>
        <p:spPr>
          <a:xfrm>
            <a:off x="6323076" y="3913632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414516" y="3913632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 د ذ ر ز و</a:t>
            </a:r>
            <a:endParaRPr lang="ar-SA" sz="1800" dirty="0"/>
          </a:p>
        </p:txBody>
      </p:sp>
      <p:sp>
        <p:nvSpPr>
          <p:cNvPr id="26" name="Shape 23"/>
          <p:cNvSpPr/>
          <p:nvPr/>
        </p:nvSpPr>
        <p:spPr>
          <a:xfrm>
            <a:off x="457200" y="1810512"/>
            <a:ext cx="5545836" cy="4498848"/>
          </a:xfrm>
          <a:prstGeom prst="roundRect">
            <a:avLst>
              <a:gd name="adj" fmla="val 1626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94360" y="1920240"/>
            <a:ext cx="5271516" cy="310896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94360" y="1920240"/>
            <a:ext cx="52715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 · Arabic around us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594360" y="2377440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85800" y="2377440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مخبز</a:t>
            </a:r>
            <a:endParaRPr lang="ar-SA" sz="1800" dirty="0"/>
          </a:p>
        </p:txBody>
      </p:sp>
      <p:sp>
        <p:nvSpPr>
          <p:cNvPr id="31" name="Shape 28"/>
          <p:cNvSpPr/>
          <p:nvPr/>
        </p:nvSpPr>
        <p:spPr>
          <a:xfrm>
            <a:off x="594360" y="2889504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85800" y="2889504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الفُصْحَى</a:t>
            </a:r>
            <a:endParaRPr lang="ar-SA" sz="1800" dirty="0"/>
          </a:p>
        </p:txBody>
      </p:sp>
      <p:sp>
        <p:nvSpPr>
          <p:cNvPr id="33" name="Shape 30"/>
          <p:cNvSpPr/>
          <p:nvPr/>
        </p:nvSpPr>
        <p:spPr>
          <a:xfrm>
            <a:off x="594360" y="3401568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85800" y="3401568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خَطُّ الثُّلُثِ</a:t>
            </a:r>
            <a:endParaRPr lang="ar-SA" sz="1800" dirty="0"/>
          </a:p>
        </p:txBody>
      </p:sp>
      <p:sp>
        <p:nvSpPr>
          <p:cNvPr id="35" name="Shape 32"/>
          <p:cNvSpPr/>
          <p:nvPr/>
        </p:nvSpPr>
        <p:spPr>
          <a:xfrm>
            <a:off x="594360" y="3913632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685800" y="3913632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وصول</a:t>
            </a:r>
            <a:endParaRPr lang="ar-SA" sz="1800" dirty="0"/>
          </a:p>
        </p:txBody>
      </p:sp>
      <p:sp>
        <p:nvSpPr>
          <p:cNvPr id="37" name="Text 34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9 / 24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F1-W06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70978" y="274320"/>
            <a:ext cx="1388974" cy="329184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70978" y="274320"/>
            <a:ext cx="13889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150" kern="0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PART 2 · STEP 3 · SAY THE MINI-DIALOGUE · BOTH LESSONS IN ONE CONVERSATION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Exhibit number one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المَعْرُوضُ الأَوَّلُ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F1-W06 · Apply workshop (F1-L11 + F1-L12)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754112" y="1810512"/>
            <a:ext cx="3904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444752" y="1810512"/>
            <a:ext cx="6163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Say it in Arabic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Who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790688" y="2267712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this?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1463040" y="2267712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هٰذَا؟</a:t>
            </a:r>
            <a:endParaRPr lang="ar-SA" sz="1900" dirty="0"/>
          </a:p>
        </p:txBody>
      </p:sp>
      <p:sp>
        <p:nvSpPr>
          <p:cNvPr id="22" name="Text 19"/>
          <p:cNvSpPr txBox="1"/>
          <p:nvPr/>
        </p:nvSpPr>
        <p:spPr>
          <a:xfrm>
            <a:off x="566928" y="2267712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790688" y="2881884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This is a bakery sign: (bakery, no vowels).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463040" y="2881884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هٰذِهِ لَافِتَةُ مَخْبَزٍ: مخبز.</a:t>
            </a:r>
            <a:endParaRPr lang="ar-SA" sz="1900" dirty="0"/>
          </a:p>
        </p:txBody>
      </p:sp>
      <p:sp>
        <p:nvSpPr>
          <p:cNvPr id="26" name="Text 23"/>
          <p:cNvSpPr txBox="1"/>
          <p:nvPr/>
        </p:nvSpPr>
        <p:spPr>
          <a:xfrm>
            <a:off x="566928" y="2881884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790688" y="3496056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Does it have vowel marks?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1463040" y="3496056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فِيهَا حَرَكَاتٌ؟</a:t>
            </a:r>
            <a:endParaRPr lang="ar-SA" sz="1900" dirty="0"/>
          </a:p>
        </p:txBody>
      </p:sp>
      <p:sp>
        <p:nvSpPr>
          <p:cNvPr id="30" name="Text 27"/>
          <p:cNvSpPr txBox="1"/>
          <p:nvPr/>
        </p:nvSpPr>
        <p:spPr>
          <a:xfrm>
            <a:off x="566928" y="3496056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790688" y="4110228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No, signs are usually without vowel marks: makhbaz.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463040" y="4110228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لَا، اللَّافِتَاتُ عَادَةً بِدُونِ حَرَكَاتٍ: مَخْبَزٌ.</a:t>
            </a:r>
            <a:endParaRPr lang="ar-SA" sz="19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4110228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790688" y="4724400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And this one?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463040" y="4724400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وَهٰذِهِ؟</a:t>
            </a:r>
            <a:endParaRPr lang="ar-SA" sz="19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724400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790688" y="5338572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This is Thuluth script — large and beautiful.</a:t>
            </a: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1463040" y="5338572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هٰذَا خَطُّ الثُّلُثِ، كَبِيرٌ وَجَمِيلٌ.</a:t>
            </a:r>
            <a:endParaRPr lang="ar-SA" sz="1900" dirty="0"/>
          </a:p>
        </p:txBody>
      </p:sp>
      <p:sp>
        <p:nvSpPr>
          <p:cNvPr id="42" name="Text 39"/>
          <p:cNvSpPr txBox="1"/>
          <p:nvPr/>
        </p:nvSpPr>
        <p:spPr>
          <a:xfrm>
            <a:off x="566928" y="5338572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Round 1: read it in pairs. Round 2: swap letters. Round 3: A points to a NEW letter or word from either lesson; B reads it and explains one thing about it (dots, a mark, a position).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10 / 24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F1-W06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5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4 · POINT-AND-SAY CARDS · QUESTIONS FROM BOTH LESSONS, MIXED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Point, say, check — both lessons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أَسْئِلَةٌ مِنَ الدَّرْسَيْنِ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F1-W06 · Apply workshop (F1-L11 + F1-L12)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720072" y="1810512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Then read (Develop)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6976872" y="1810512"/>
            <a:ext cx="2596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Speaker says (Core)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432511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Hint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Leader points to / says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9738360" y="2267712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مَطْعَم</a:t>
            </a:r>
            <a:endParaRPr lang="ar-SA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6995160" y="2267712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مَخْبَز</a:t>
            </a:r>
            <a:endParaRPr lang="ar-SA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4361688" y="2267712"/>
            <a:ext cx="24688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business · bakery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051560" y="2267712"/>
            <a:ext cx="31089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مَخْبَز</a:t>
            </a:r>
            <a:endParaRPr lang="ar-SA" sz="2000" dirty="0"/>
          </a:p>
        </p:txBody>
      </p:sp>
      <p:sp>
        <p:nvSpPr>
          <p:cNvPr id="26" name="Text 23"/>
          <p:cNvSpPr txBox="1"/>
          <p:nvPr/>
        </p:nvSpPr>
        <p:spPr>
          <a:xfrm>
            <a:off x="566928" y="2267712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9" name="Shape 26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9738360" y="2881884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 ت ث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6995160" y="2881884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جِيمٌ · حَاءٌ · خَاءٌ</a:t>
            </a:r>
            <a:endParaRPr lang="ar-SA" sz="1800" dirty="0"/>
          </a:p>
        </p:txBody>
      </p:sp>
      <p:sp>
        <p:nvSpPr>
          <p:cNvPr id="32" name="Text 29"/>
          <p:cNvSpPr txBox="1"/>
          <p:nvPr/>
        </p:nvSpPr>
        <p:spPr>
          <a:xfrm>
            <a:off x="4361688" y="2881884"/>
            <a:ext cx="24688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alphabet · name them, count the dots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2881884"/>
            <a:ext cx="31089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ج ح خ</a:t>
            </a:r>
            <a:endParaRPr lang="ar-SA" sz="20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2881884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11091672" y="2927604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11091672" y="292760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7" name="Shape 34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9738360" y="3496056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مُغَادَرَة</a:t>
            </a:r>
            <a:endParaRPr lang="ar-SA" sz="1800" dirty="0"/>
          </a:p>
        </p:txBody>
      </p:sp>
      <p:sp>
        <p:nvSpPr>
          <p:cNvPr id="39" name="Text 36"/>
          <p:cNvSpPr txBox="1"/>
          <p:nvPr/>
        </p:nvSpPr>
        <p:spPr>
          <a:xfrm>
            <a:off x="6995160" y="3496056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وُصُول</a:t>
            </a:r>
            <a:endParaRPr lang="ar-SA" sz="1800" dirty="0"/>
          </a:p>
        </p:txBody>
      </p:sp>
      <p:sp>
        <p:nvSpPr>
          <p:cNvPr id="40" name="Text 37"/>
          <p:cNvSpPr txBox="1"/>
          <p:nvPr/>
        </p:nvSpPr>
        <p:spPr>
          <a:xfrm>
            <a:off x="4361688" y="3496056"/>
            <a:ext cx="24688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travel · arrivals</a:t>
            </a: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1051560" y="3496056"/>
            <a:ext cx="31089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وُصُول</a:t>
            </a:r>
            <a:endParaRPr lang="ar-SA" sz="2000" dirty="0"/>
          </a:p>
        </p:txBody>
      </p:sp>
      <p:sp>
        <p:nvSpPr>
          <p:cNvPr id="42" name="Text 39"/>
          <p:cNvSpPr txBox="1"/>
          <p:nvPr/>
        </p:nvSpPr>
        <p:spPr>
          <a:xfrm>
            <a:off x="566928" y="3496056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43" name="Shape 40"/>
          <p:cNvSpPr/>
          <p:nvPr/>
        </p:nvSpPr>
        <p:spPr>
          <a:xfrm>
            <a:off x="11091672" y="3541776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11091672" y="354177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5" name="Shape 42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9738360" y="4110228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دَرْسٌ</a:t>
            </a:r>
            <a:endParaRPr lang="ar-SA" sz="1800" dirty="0"/>
          </a:p>
        </p:txBody>
      </p:sp>
      <p:sp>
        <p:nvSpPr>
          <p:cNvPr id="47" name="Text 44"/>
          <p:cNvSpPr txBox="1"/>
          <p:nvPr/>
        </p:nvSpPr>
        <p:spPr>
          <a:xfrm>
            <a:off x="6995160" y="4110228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وَرْدٌ</a:t>
            </a:r>
            <a:endParaRPr lang="ar-SA" sz="1800" dirty="0"/>
          </a:p>
        </p:txBody>
      </p:sp>
      <p:sp>
        <p:nvSpPr>
          <p:cNvPr id="48" name="Text 45"/>
          <p:cNvSpPr txBox="1"/>
          <p:nvPr/>
        </p:nvSpPr>
        <p:spPr>
          <a:xfrm>
            <a:off x="4361688" y="4110228"/>
            <a:ext cx="24688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joins · why is every letter alone?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1051560" y="4110228"/>
            <a:ext cx="31089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وَرْدٌ</a:t>
            </a:r>
            <a:endParaRPr lang="ar-SA" sz="2000" dirty="0"/>
          </a:p>
        </p:txBody>
      </p:sp>
      <p:sp>
        <p:nvSpPr>
          <p:cNvPr id="50" name="Text 47"/>
          <p:cNvSpPr txBox="1"/>
          <p:nvPr/>
        </p:nvSpPr>
        <p:spPr>
          <a:xfrm>
            <a:off x="566928" y="4110228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51" name="Shape 48"/>
          <p:cNvSpPr/>
          <p:nvPr/>
        </p:nvSpPr>
        <p:spPr>
          <a:xfrm>
            <a:off x="11091672" y="415594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1091672" y="415594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3" name="Shape 50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9738360" y="4724400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صَحِيفَة</a:t>
            </a:r>
            <a:endParaRPr lang="ar-SA" sz="1800" dirty="0"/>
          </a:p>
        </p:txBody>
      </p:sp>
      <p:sp>
        <p:nvSpPr>
          <p:cNvPr id="55" name="Text 52"/>
          <p:cNvSpPr txBox="1"/>
          <p:nvPr/>
        </p:nvSpPr>
        <p:spPr>
          <a:xfrm>
            <a:off x="6995160" y="4724400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أَخْبَار</a:t>
            </a:r>
            <a:endParaRPr lang="ar-SA" sz="1800" dirty="0"/>
          </a:p>
        </p:txBody>
      </p:sp>
      <p:sp>
        <p:nvSpPr>
          <p:cNvPr id="56" name="Text 53"/>
          <p:cNvSpPr txBox="1"/>
          <p:nvPr/>
        </p:nvSpPr>
        <p:spPr>
          <a:xfrm>
            <a:off x="4361688" y="4724400"/>
            <a:ext cx="24688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media · news</a:t>
            </a:r>
            <a:endParaRPr lang="en-US" sz="1100" dirty="0"/>
          </a:p>
        </p:txBody>
      </p:sp>
      <p:sp>
        <p:nvSpPr>
          <p:cNvPr id="57" name="Text 54"/>
          <p:cNvSpPr txBox="1"/>
          <p:nvPr/>
        </p:nvSpPr>
        <p:spPr>
          <a:xfrm>
            <a:off x="1051560" y="4724400"/>
            <a:ext cx="31089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أَخْبَار</a:t>
            </a:r>
            <a:endParaRPr lang="ar-SA" sz="2000" dirty="0"/>
          </a:p>
        </p:txBody>
      </p:sp>
      <p:sp>
        <p:nvSpPr>
          <p:cNvPr id="58" name="Text 55"/>
          <p:cNvSpPr txBox="1"/>
          <p:nvPr/>
        </p:nvSpPr>
        <p:spPr>
          <a:xfrm>
            <a:off x="566928" y="4724400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59" name="Shape 5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9738360" y="5338572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أُمٌّ</a:t>
            </a:r>
            <a:endParaRPr lang="ar-SA" sz="1800" dirty="0"/>
          </a:p>
        </p:txBody>
      </p:sp>
      <p:sp>
        <p:nvSpPr>
          <p:cNvPr id="61" name="Text 58"/>
          <p:cNvSpPr txBox="1"/>
          <p:nvPr/>
        </p:nvSpPr>
        <p:spPr>
          <a:xfrm>
            <a:off x="6995160" y="5338572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كَسْرَةٌ · شَدَّةٌ</a:t>
            </a:r>
            <a:endParaRPr lang="ar-SA" sz="1800" dirty="0"/>
          </a:p>
        </p:txBody>
      </p:sp>
      <p:sp>
        <p:nvSpPr>
          <p:cNvPr id="62" name="Text 59"/>
          <p:cNvSpPr txBox="1"/>
          <p:nvPr/>
        </p:nvSpPr>
        <p:spPr>
          <a:xfrm>
            <a:off x="4361688" y="5338572"/>
            <a:ext cx="24688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marks · name them all</a:t>
            </a:r>
            <a:endParaRPr lang="en-US" sz="1100" dirty="0"/>
          </a:p>
        </p:txBody>
      </p:sp>
      <p:sp>
        <p:nvSpPr>
          <p:cNvPr id="63" name="Text 60"/>
          <p:cNvSpPr txBox="1"/>
          <p:nvPr/>
        </p:nvSpPr>
        <p:spPr>
          <a:xfrm>
            <a:off x="1051560" y="5338572"/>
            <a:ext cx="31089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قِطَّةٌ</a:t>
            </a:r>
            <a:endParaRPr lang="ar-SA" sz="2000" dirty="0"/>
          </a:p>
        </p:txBody>
      </p:sp>
      <p:sp>
        <p:nvSpPr>
          <p:cNvPr id="64" name="Text 61"/>
          <p:cNvSpPr txBox="1"/>
          <p:nvPr/>
        </p:nvSpPr>
        <p:spPr>
          <a:xfrm>
            <a:off x="566928" y="5338572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100" dirty="0"/>
          </a:p>
        </p:txBody>
      </p:sp>
      <p:sp>
        <p:nvSpPr>
          <p:cNvPr id="65" name="Text 6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Odd numbers come from the first lesson, even numbers from the second. Core: say the sound or read the word. Develop: do the “then” part. Stretch: give your own example. Swap after each card.</a:t>
            </a:r>
            <a:endParaRPr lang="en-US" sz="1100" dirty="0"/>
          </a:p>
        </p:txBody>
      </p:sp>
      <p:sp>
        <p:nvSpPr>
          <p:cNvPr id="66" name="Text 6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11 / 24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F1-W06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7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5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5 · READING CARD · USE THE PLAN, THEN HIDE IT AND SPEAK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Reading card — the showcase exhibits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بِطَاقَةُ القِرَاءَةِ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F1-W06 · Apply workshop (F1-L11 + F1-L12)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257032" y="1810512"/>
            <a:ext cx="3401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Hint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496519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Speaker’s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785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Leader shows / reads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93608" y="2267712"/>
            <a:ext cx="336499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 shop sign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5001768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Read the sign; give the vowelled form.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749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مخبز</a:t>
            </a:r>
            <a:endParaRPr lang="ar-SA" sz="20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93608" y="3004718"/>
            <a:ext cx="336499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 airport screen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5001768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Where do you see these words?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749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وصول · مغادرة</a:t>
            </a:r>
            <a:endParaRPr lang="ar-SA" sz="20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293608" y="3741725"/>
            <a:ext cx="336499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shadda · breakers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5001768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Read both; name one mark and one breaker.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749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قِطَّةٌ · وَرْدٌ</a:t>
            </a:r>
            <a:endParaRPr lang="ar-SA" sz="20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293608" y="4478731"/>
            <a:ext cx="336499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left to right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001768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Read both numbers — careful with the order!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3749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١٢ · ٢١</a:t>
            </a:r>
            <a:endParaRPr lang="ar-SA" sz="20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293608" y="5215738"/>
            <a:ext cx="336499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is the l silent?</a:t>
            </a:r>
            <a:endParaRPr lang="en-US" sz="1100" dirty="0"/>
          </a:p>
        </p:txBody>
      </p:sp>
      <p:sp>
        <p:nvSpPr>
          <p:cNvPr id="50" name="Text 47"/>
          <p:cNvSpPr txBox="1"/>
          <p:nvPr/>
        </p:nvSpPr>
        <p:spPr>
          <a:xfrm>
            <a:off x="5001768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Read both; which one has a sun letter?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3749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الشَّمْسُ · القَمَرُ</a:t>
            </a:r>
            <a:endParaRPr lang="ar-SA" sz="20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Speaker = the guide · Partner A = a visitor to the showcase. Read from RIGHT to left. Task ! is a surprise — Partner A asks it without warning. Then swap roles.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12 / 24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F1-W06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4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6 · READ-ALOUD RACE · 30 SECONDS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Showcase tour race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جَوْلَةُ المَعْرِضِ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F1-W06 · Apply workshop (F1-L11 + F1-L12)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STEP 6 · PAIRS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⏱  Read aloud for 30 seconds — as many as you can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 30 seconds, read as many showcase items as you can from the Step 1 slides and the reading card: letters, vowelled words, signs without vowels and numbers. The partner counts the correct ones.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The Leader points to the list on the slide (or in your book).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The Speaker reads aloud for 30 seconds; the Coach counts the correct ones.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Coach: one sound that was perfect + one to practise.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Swap — try to beat your own score, not your partner’s.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Read ten letters and two words.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Read four vowelled words and two signs.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Read every item and say which script style or mark it shows.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دَوْرُكَ! / دَوْرُكِ!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your turn! (m. / f.)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أَحْسَنْتَ! / أَحْسَنْتِ!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well done! (m. / f.)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مَرَّةً أُخْرَى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once more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بِبُطْءٍ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slowly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13 / 24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F1-W06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70978" y="274320"/>
            <a:ext cx="1388974" cy="329184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70978" y="274320"/>
            <a:ext cx="13889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PART 3 · STEP 7 · BUILD THE WORD · FROM BOTH LESSONS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Build three more words from their parts</a:t>
            </a:r>
            <a:endParaRPr lang="en-US" sz="23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ابْنِ الكَلِمَةَ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F1-W06 · Apply workshop (F1-L11 + F1-L12)</a:t>
            </a:r>
            <a:endParaRPr lang="en-US" sz="850" dirty="0"/>
          </a:p>
        </p:txBody>
      </p:sp>
      <p:sp>
        <p:nvSpPr>
          <p:cNvPr id="15" name="Text 12"/>
          <p:cNvSpPr txBox="1"/>
          <p:nvPr/>
        </p:nvSpPr>
        <p:spPr>
          <a:xfrm>
            <a:off x="9180576" y="1700784"/>
            <a:ext cx="241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Column 1 · start here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6624828" y="1700784"/>
            <a:ext cx="241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Column 2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4069080" y="1700784"/>
            <a:ext cx="241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Column 3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457200" y="2011680"/>
            <a:ext cx="11274552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594360" y="2148840"/>
            <a:ext cx="365760" cy="365760"/>
          </a:xfrm>
          <a:prstGeom prst="ellipse">
            <a:avLst/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94360" y="2148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1051560" y="2121408"/>
            <a:ext cx="28346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culture — thaqāfa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9180576" y="2103120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235440" y="2103120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9500616" y="2103120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ثَ</a:t>
            </a:r>
            <a:endParaRPr lang="ar-SA" sz="1800" dirty="0"/>
          </a:p>
        </p:txBody>
      </p:sp>
      <p:sp>
        <p:nvSpPr>
          <p:cNvPr id="25" name="Shape 22"/>
          <p:cNvSpPr/>
          <p:nvPr/>
        </p:nvSpPr>
        <p:spPr>
          <a:xfrm>
            <a:off x="9180576" y="267004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235440" y="267004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9500616" y="267004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</a:t>
            </a:r>
            <a:endParaRPr lang="ar-SA" sz="1800" dirty="0"/>
          </a:p>
        </p:txBody>
      </p:sp>
      <p:sp>
        <p:nvSpPr>
          <p:cNvPr id="28" name="Shape 25"/>
          <p:cNvSpPr/>
          <p:nvPr/>
        </p:nvSpPr>
        <p:spPr>
          <a:xfrm>
            <a:off x="6624828" y="2103120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679692" y="2103120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6944868" y="2103120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قَا</a:t>
            </a:r>
            <a:endParaRPr lang="ar-SA" sz="1800" dirty="0"/>
          </a:p>
        </p:txBody>
      </p:sp>
      <p:sp>
        <p:nvSpPr>
          <p:cNvPr id="31" name="Shape 28"/>
          <p:cNvSpPr/>
          <p:nvPr/>
        </p:nvSpPr>
        <p:spPr>
          <a:xfrm>
            <a:off x="6624828" y="267004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679692" y="267004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33" name="Text 30"/>
          <p:cNvSpPr txBox="1"/>
          <p:nvPr/>
        </p:nvSpPr>
        <p:spPr>
          <a:xfrm>
            <a:off x="6944868" y="267004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</a:t>
            </a:r>
            <a:endParaRPr lang="ar-SA" sz="1800" dirty="0"/>
          </a:p>
        </p:txBody>
      </p:sp>
      <p:sp>
        <p:nvSpPr>
          <p:cNvPr id="34" name="Shape 31"/>
          <p:cNvSpPr/>
          <p:nvPr/>
        </p:nvSpPr>
        <p:spPr>
          <a:xfrm>
            <a:off x="4069080" y="2103120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123944" y="2103120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36" name="Text 33"/>
          <p:cNvSpPr txBox="1"/>
          <p:nvPr/>
        </p:nvSpPr>
        <p:spPr>
          <a:xfrm>
            <a:off x="4389120" y="2103120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فَةٌ</a:t>
            </a:r>
            <a:endParaRPr lang="ar-SA" sz="1800" dirty="0"/>
          </a:p>
        </p:txBody>
      </p:sp>
      <p:sp>
        <p:nvSpPr>
          <p:cNvPr id="37" name="Shape 34"/>
          <p:cNvSpPr/>
          <p:nvPr/>
        </p:nvSpPr>
        <p:spPr>
          <a:xfrm>
            <a:off x="4069080" y="267004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4123944" y="267004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39" name="Text 36"/>
          <p:cNvSpPr txBox="1"/>
          <p:nvPr/>
        </p:nvSpPr>
        <p:spPr>
          <a:xfrm>
            <a:off x="4389120" y="267004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قَةٌ</a:t>
            </a:r>
            <a:endParaRPr lang="ar-SA" sz="1800" dirty="0"/>
          </a:p>
        </p:txBody>
      </p:sp>
      <p:sp>
        <p:nvSpPr>
          <p:cNvPr id="40" name="Shape 37"/>
          <p:cNvSpPr/>
          <p:nvPr/>
        </p:nvSpPr>
        <p:spPr>
          <a:xfrm>
            <a:off x="457200" y="3392424"/>
            <a:ext cx="11274552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Shape 38"/>
          <p:cNvSpPr/>
          <p:nvPr/>
        </p:nvSpPr>
        <p:spPr>
          <a:xfrm>
            <a:off x="594360" y="3529584"/>
            <a:ext cx="365760" cy="365760"/>
          </a:xfrm>
          <a:prstGeom prst="ellipse">
            <a:avLst/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594360" y="35295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2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3502152"/>
            <a:ext cx="28346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school — madrasa</a:t>
            </a:r>
            <a:endParaRPr lang="en-US" sz="1400" dirty="0"/>
          </a:p>
        </p:txBody>
      </p:sp>
      <p:sp>
        <p:nvSpPr>
          <p:cNvPr id="44" name="Shape 41"/>
          <p:cNvSpPr/>
          <p:nvPr/>
        </p:nvSpPr>
        <p:spPr>
          <a:xfrm>
            <a:off x="9180576" y="3483864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9235440" y="3483864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46" name="Text 43"/>
          <p:cNvSpPr txBox="1"/>
          <p:nvPr/>
        </p:nvSpPr>
        <p:spPr>
          <a:xfrm>
            <a:off x="9500616" y="3483864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مَدْ</a:t>
            </a:r>
            <a:endParaRPr lang="ar-SA" sz="1800" dirty="0"/>
          </a:p>
        </p:txBody>
      </p:sp>
      <p:sp>
        <p:nvSpPr>
          <p:cNvPr id="47" name="Shape 44"/>
          <p:cNvSpPr/>
          <p:nvPr/>
        </p:nvSpPr>
        <p:spPr>
          <a:xfrm>
            <a:off x="9180576" y="4050792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9235440" y="4050792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9500616" y="4050792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مَدَ</a:t>
            </a:r>
            <a:endParaRPr lang="ar-SA" sz="1800" dirty="0"/>
          </a:p>
        </p:txBody>
      </p:sp>
      <p:sp>
        <p:nvSpPr>
          <p:cNvPr id="50" name="Shape 47"/>
          <p:cNvSpPr/>
          <p:nvPr/>
        </p:nvSpPr>
        <p:spPr>
          <a:xfrm>
            <a:off x="6624828" y="3483864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6679692" y="3483864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52" name="Text 49"/>
          <p:cNvSpPr txBox="1"/>
          <p:nvPr/>
        </p:nvSpPr>
        <p:spPr>
          <a:xfrm>
            <a:off x="6944868" y="3483864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رَ</a:t>
            </a:r>
            <a:endParaRPr lang="ar-SA" sz="1800" dirty="0"/>
          </a:p>
        </p:txBody>
      </p:sp>
      <p:sp>
        <p:nvSpPr>
          <p:cNvPr id="53" name="Shape 50"/>
          <p:cNvSpPr/>
          <p:nvPr/>
        </p:nvSpPr>
        <p:spPr>
          <a:xfrm>
            <a:off x="6624828" y="4050792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6679692" y="4050792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6944868" y="4050792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زَ</a:t>
            </a:r>
            <a:endParaRPr lang="ar-SA" sz="1800" dirty="0"/>
          </a:p>
        </p:txBody>
      </p:sp>
      <p:sp>
        <p:nvSpPr>
          <p:cNvPr id="56" name="Shape 53"/>
          <p:cNvSpPr/>
          <p:nvPr/>
        </p:nvSpPr>
        <p:spPr>
          <a:xfrm>
            <a:off x="4069080" y="3483864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4123944" y="3483864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58" name="Text 55"/>
          <p:cNvSpPr txBox="1"/>
          <p:nvPr/>
        </p:nvSpPr>
        <p:spPr>
          <a:xfrm>
            <a:off x="4389120" y="3483864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سَةٌ</a:t>
            </a:r>
            <a:endParaRPr lang="ar-SA" sz="1800" dirty="0"/>
          </a:p>
        </p:txBody>
      </p:sp>
      <p:sp>
        <p:nvSpPr>
          <p:cNvPr id="59" name="Shape 56"/>
          <p:cNvSpPr/>
          <p:nvPr/>
        </p:nvSpPr>
        <p:spPr>
          <a:xfrm>
            <a:off x="4069080" y="4050792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4123944" y="4050792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61" name="Text 58"/>
          <p:cNvSpPr txBox="1"/>
          <p:nvPr/>
        </p:nvSpPr>
        <p:spPr>
          <a:xfrm>
            <a:off x="4389120" y="4050792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صَةٌ</a:t>
            </a:r>
            <a:endParaRPr lang="ar-SA" sz="1800" dirty="0"/>
          </a:p>
        </p:txBody>
      </p:sp>
      <p:sp>
        <p:nvSpPr>
          <p:cNvPr id="62" name="Shape 59"/>
          <p:cNvSpPr/>
          <p:nvPr/>
        </p:nvSpPr>
        <p:spPr>
          <a:xfrm>
            <a:off x="457200" y="4773168"/>
            <a:ext cx="11274552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3" name="Shape 60"/>
          <p:cNvSpPr/>
          <p:nvPr/>
        </p:nvSpPr>
        <p:spPr>
          <a:xfrm>
            <a:off x="594360" y="4910328"/>
            <a:ext cx="365760" cy="365760"/>
          </a:xfrm>
          <a:prstGeom prst="ellipse">
            <a:avLst/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594360" y="4910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200" dirty="0"/>
          </a:p>
        </p:txBody>
      </p:sp>
      <p:sp>
        <p:nvSpPr>
          <p:cNvPr id="65" name="Text 62"/>
          <p:cNvSpPr txBox="1"/>
          <p:nvPr/>
        </p:nvSpPr>
        <p:spPr>
          <a:xfrm>
            <a:off x="1051560" y="4882896"/>
            <a:ext cx="28346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— lugha</a:t>
            </a:r>
            <a:endParaRPr lang="en-US" sz="1400" dirty="0"/>
          </a:p>
        </p:txBody>
      </p:sp>
      <p:sp>
        <p:nvSpPr>
          <p:cNvPr id="66" name="Shape 63"/>
          <p:cNvSpPr/>
          <p:nvPr/>
        </p:nvSpPr>
        <p:spPr>
          <a:xfrm>
            <a:off x="9180576" y="486460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9235440" y="486460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68" name="Text 65"/>
          <p:cNvSpPr txBox="1"/>
          <p:nvPr/>
        </p:nvSpPr>
        <p:spPr>
          <a:xfrm>
            <a:off x="9500616" y="486460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لُ</a:t>
            </a:r>
            <a:endParaRPr lang="ar-SA" sz="1800" dirty="0"/>
          </a:p>
        </p:txBody>
      </p:sp>
      <p:sp>
        <p:nvSpPr>
          <p:cNvPr id="69" name="Shape 66"/>
          <p:cNvSpPr/>
          <p:nvPr/>
        </p:nvSpPr>
        <p:spPr>
          <a:xfrm>
            <a:off x="9180576" y="5431536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9235440" y="5431536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71" name="Text 68"/>
          <p:cNvSpPr txBox="1"/>
          <p:nvPr/>
        </p:nvSpPr>
        <p:spPr>
          <a:xfrm>
            <a:off x="9500616" y="5431536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</a:t>
            </a:r>
            <a:endParaRPr lang="ar-SA" sz="1800" dirty="0"/>
          </a:p>
        </p:txBody>
      </p:sp>
      <p:sp>
        <p:nvSpPr>
          <p:cNvPr id="72" name="Shape 69"/>
          <p:cNvSpPr/>
          <p:nvPr/>
        </p:nvSpPr>
        <p:spPr>
          <a:xfrm>
            <a:off x="6624828" y="486460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6679692" y="486460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74" name="Text 71"/>
          <p:cNvSpPr txBox="1"/>
          <p:nvPr/>
        </p:nvSpPr>
        <p:spPr>
          <a:xfrm>
            <a:off x="6944868" y="486460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غَ</a:t>
            </a:r>
            <a:endParaRPr lang="ar-SA" sz="1800" dirty="0"/>
          </a:p>
        </p:txBody>
      </p:sp>
      <p:sp>
        <p:nvSpPr>
          <p:cNvPr id="75" name="Shape 72"/>
          <p:cNvSpPr/>
          <p:nvPr/>
        </p:nvSpPr>
        <p:spPr>
          <a:xfrm>
            <a:off x="6624828" y="5431536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76" name="Text 73"/>
          <p:cNvSpPr txBox="1"/>
          <p:nvPr/>
        </p:nvSpPr>
        <p:spPr>
          <a:xfrm>
            <a:off x="6679692" y="5431536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77" name="Text 74"/>
          <p:cNvSpPr txBox="1"/>
          <p:nvPr/>
        </p:nvSpPr>
        <p:spPr>
          <a:xfrm>
            <a:off x="6944868" y="5431536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</a:t>
            </a:r>
            <a:endParaRPr lang="ar-SA" sz="1800" dirty="0"/>
          </a:p>
        </p:txBody>
      </p:sp>
      <p:sp>
        <p:nvSpPr>
          <p:cNvPr id="78" name="Shape 75"/>
          <p:cNvSpPr/>
          <p:nvPr/>
        </p:nvSpPr>
        <p:spPr>
          <a:xfrm>
            <a:off x="4069080" y="486460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4123944" y="486460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80" name="Text 77"/>
          <p:cNvSpPr txBox="1"/>
          <p:nvPr/>
        </p:nvSpPr>
        <p:spPr>
          <a:xfrm>
            <a:off x="4389120" y="486460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ةٌ</a:t>
            </a:r>
            <a:endParaRPr lang="ar-SA" sz="1800" dirty="0"/>
          </a:p>
        </p:txBody>
      </p:sp>
      <p:sp>
        <p:nvSpPr>
          <p:cNvPr id="81" name="Shape 78"/>
          <p:cNvSpPr/>
          <p:nvPr/>
        </p:nvSpPr>
        <p:spPr>
          <a:xfrm>
            <a:off x="4069080" y="5431536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82" name="Text 79"/>
          <p:cNvSpPr txBox="1"/>
          <p:nvPr/>
        </p:nvSpPr>
        <p:spPr>
          <a:xfrm>
            <a:off x="4123944" y="5431536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83" name="Text 80"/>
          <p:cNvSpPr txBox="1"/>
          <p:nvPr/>
        </p:nvSpPr>
        <p:spPr>
          <a:xfrm>
            <a:off x="4389120" y="5431536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هٌ</a:t>
            </a:r>
            <a:endParaRPr lang="ar-SA" sz="1800" dirty="0"/>
          </a:p>
        </p:txBody>
      </p:sp>
      <p:sp>
        <p:nvSpPr>
          <p:cNvPr id="84" name="Text 8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14 / 24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F1-W06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STEP 7 · CHECK YOUR WORDS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Build the word: answers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ابْنِ الكَلِمَةَ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F1-W06 · Apply workshop (F1-L11 + F1-L12)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1353312"/>
          </a:xfrm>
          <a:prstGeom prst="roundRect">
            <a:avLst>
              <a:gd name="adj" fmla="val 5405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47672"/>
            <a:ext cx="365760" cy="36576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476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1143000" y="190195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culture — thaqāfa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1143000" y="235915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Columns = A · A · A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1143000" y="2633472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 (three dots) · q (two dots) · f (one dot).</a:t>
            </a:r>
            <a:endParaRPr lang="en-US" sz="1050" dirty="0"/>
          </a:p>
        </p:txBody>
      </p:sp>
      <p:sp>
        <p:nvSpPr>
          <p:cNvPr id="21" name="Text 18"/>
          <p:cNvSpPr txBox="1"/>
          <p:nvPr/>
        </p:nvSpPr>
        <p:spPr>
          <a:xfrm>
            <a:off x="4572000" y="1901952"/>
            <a:ext cx="694944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ثَقَافَةٌ</a:t>
            </a:r>
            <a:endParaRPr lang="ar-SA" sz="2800" dirty="0"/>
          </a:p>
        </p:txBody>
      </p:sp>
      <p:sp>
        <p:nvSpPr>
          <p:cNvPr id="22" name="Shape 19"/>
          <p:cNvSpPr/>
          <p:nvPr/>
        </p:nvSpPr>
        <p:spPr>
          <a:xfrm>
            <a:off x="457200" y="3291840"/>
            <a:ext cx="11274552" cy="1353312"/>
          </a:xfrm>
          <a:prstGeom prst="roundRect">
            <a:avLst>
              <a:gd name="adj" fmla="val 5405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640080" y="3429000"/>
            <a:ext cx="365760" cy="36576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40080" y="3429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1143000" y="33832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school — madrasa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1143000" y="384048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Columns = A · A · A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1143000" y="4114800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sukūn closes “mad” · r has no dot · plain s.</a:t>
            </a:r>
            <a:endParaRPr lang="en-US" sz="1050" dirty="0"/>
          </a:p>
        </p:txBody>
      </p:sp>
      <p:sp>
        <p:nvSpPr>
          <p:cNvPr id="28" name="Text 25"/>
          <p:cNvSpPr txBox="1"/>
          <p:nvPr/>
        </p:nvSpPr>
        <p:spPr>
          <a:xfrm>
            <a:off x="4572000" y="3383280"/>
            <a:ext cx="694944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مَدْرَسَةٌ</a:t>
            </a:r>
            <a:endParaRPr lang="ar-SA" sz="2800" dirty="0"/>
          </a:p>
        </p:txBody>
      </p:sp>
      <p:sp>
        <p:nvSpPr>
          <p:cNvPr id="29" name="Shape 26"/>
          <p:cNvSpPr/>
          <p:nvPr/>
        </p:nvSpPr>
        <p:spPr>
          <a:xfrm>
            <a:off x="457200" y="4773168"/>
            <a:ext cx="11274552" cy="1353312"/>
          </a:xfrm>
          <a:prstGeom prst="roundRect">
            <a:avLst>
              <a:gd name="adj" fmla="val 5405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640080" y="4910328"/>
            <a:ext cx="365760" cy="36576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40080" y="4910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1143000" y="486460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— lugha</a:t>
            </a:r>
            <a:endParaRPr lang="en-US" sz="1300" dirty="0"/>
          </a:p>
        </p:txBody>
      </p:sp>
      <p:sp>
        <p:nvSpPr>
          <p:cNvPr id="33" name="Text 30"/>
          <p:cNvSpPr txBox="1"/>
          <p:nvPr/>
        </p:nvSpPr>
        <p:spPr>
          <a:xfrm>
            <a:off x="1143000" y="532180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Columns = A · A · A</a:t>
            </a:r>
            <a:endParaRPr lang="en-US" sz="1050" dirty="0"/>
          </a:p>
        </p:txBody>
      </p:sp>
      <p:sp>
        <p:nvSpPr>
          <p:cNvPr id="34" name="Text 31"/>
          <p:cNvSpPr txBox="1"/>
          <p:nvPr/>
        </p:nvSpPr>
        <p:spPr>
          <a:xfrm>
            <a:off x="1143000" y="5596128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gh has a dot above; </a:t>
            </a:r>
            <a:pPr algn="l" indent="0" marL="0">
              <a:buNone/>
            </a:pPr>
            <a:r>
              <a:rPr lang="ar-SA" altLang="en-US" sz="13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ة</a:t>
            </a:r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at the end.</a:t>
            </a:r>
            <a:endParaRPr lang="en-US" sz="1050" dirty="0"/>
          </a:p>
        </p:txBody>
      </p:sp>
      <p:sp>
        <p:nvSpPr>
          <p:cNvPr id="35" name="Text 32"/>
          <p:cNvSpPr txBox="1"/>
          <p:nvPr/>
        </p:nvSpPr>
        <p:spPr>
          <a:xfrm>
            <a:off x="4572000" y="4864608"/>
            <a:ext cx="694944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لُغَةٌ</a:t>
            </a:r>
            <a:endParaRPr lang="ar-SA" sz="2800" dirty="0"/>
          </a:p>
        </p:txBody>
      </p:sp>
      <p:sp>
        <p:nvSpPr>
          <p:cNvPr id="36" name="Text 3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15 / 24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F1-W06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70978" y="274320"/>
            <a:ext cx="1388974" cy="329184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70978" y="274320"/>
            <a:ext cx="13889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STEP 8 · SPOT THE SLIP · MISTAKES FROM BOTH LESSONS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Find the mistake, fix it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اكْتَشِفِ الخَطَأَ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F1-W06 · Apply workshop (F1-L11 + F1-L12)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FBEAEA"/>
          </a:solidFill>
          <a:ln w="9525">
            <a:solidFill>
              <a:srgbClr val="E3B4AE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11183112" y="2249424"/>
            <a:ext cx="402336" cy="402336"/>
          </a:xfrm>
          <a:prstGeom prst="ellipse">
            <a:avLst/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1183112" y="22494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4023360" y="1901952"/>
            <a:ext cx="69768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كُلُّ العَرَبِ يَتَكَلَّمُونَ لَهْجَةً وَاحِدَةً.</a:t>
            </a:r>
            <a:endParaRPr lang="ar-SA" sz="3000" dirty="0"/>
          </a:p>
        </p:txBody>
      </p:sp>
      <p:sp>
        <p:nvSpPr>
          <p:cNvPr id="19" name="Text 16"/>
          <p:cNvSpPr txBox="1"/>
          <p:nvPr/>
        </p:nvSpPr>
        <p:spPr>
          <a:xfrm>
            <a:off x="731520" y="1901952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Is this a careful claim?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457200" y="3255264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FBEAEA"/>
          </a:solidFill>
          <a:ln w="9525">
            <a:solidFill>
              <a:srgbClr val="E3B4AE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11183112" y="3694176"/>
            <a:ext cx="402336" cy="402336"/>
          </a:xfrm>
          <a:prstGeom prst="ellipse">
            <a:avLst/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1183112" y="36941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4023360" y="3346704"/>
            <a:ext cx="69768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تَابٌ</a:t>
            </a:r>
            <a:endParaRPr lang="ar-SA" sz="3000" dirty="0"/>
          </a:p>
        </p:txBody>
      </p:sp>
      <p:sp>
        <p:nvSpPr>
          <p:cNvPr id="24" name="Text 21"/>
          <p:cNvSpPr txBox="1"/>
          <p:nvPr/>
        </p:nvSpPr>
        <p:spPr>
          <a:xfrm>
            <a:off x="731520" y="3346704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“door” — check the dots.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457200" y="4700016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FBEAEA"/>
          </a:solidFill>
          <a:ln w="9525">
            <a:solidFill>
              <a:srgbClr val="E3B4AE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11183112" y="5138928"/>
            <a:ext cx="402336" cy="402336"/>
          </a:xfrm>
          <a:prstGeom prst="ellipse">
            <a:avLst/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1183112" y="51389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4023360" y="4791456"/>
            <a:ext cx="69768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الثُّلُثُ</a:t>
            </a:r>
            <a:endParaRPr lang="ar-SA" sz="3000" dirty="0"/>
          </a:p>
        </p:txBody>
      </p:sp>
      <p:sp>
        <p:nvSpPr>
          <p:cNvPr id="29" name="Text 26"/>
          <p:cNvSpPr txBox="1"/>
          <p:nvPr/>
        </p:nvSpPr>
        <p:spPr>
          <a:xfrm>
            <a:off x="731520" y="4791456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style for quick everyday handwriting is …</a:t>
            </a:r>
            <a:endParaRPr lang="en-US" sz="1300" dirty="0"/>
          </a:p>
        </p:txBody>
      </p:sp>
      <p:sp>
        <p:nvSpPr>
          <p:cNvPr id="30" name="Text 2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16 / 24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F1-W06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STEP 8 · CORRECTIONS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Spot and fix: corrections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اكْتَشِفِ الخَطَأَ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F1-W06 · Apply workshop (F1-L11 + F1-L12)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8503920" y="1901952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كُلُّ العَرَبِ يَتَكَلَّمُونَ لَهْجَةً وَاحِدَةً.</a:t>
            </a:r>
            <a:endParaRPr lang="ar-SA" sz="1800" dirty="0"/>
          </a:p>
        </p:txBody>
      </p:sp>
      <p:sp>
        <p:nvSpPr>
          <p:cNvPr id="17" name="Shape 14"/>
          <p:cNvSpPr/>
          <p:nvPr/>
        </p:nvSpPr>
        <p:spPr>
          <a:xfrm>
            <a:off x="8641080" y="2459736"/>
            <a:ext cx="2834640" cy="0"/>
          </a:xfrm>
          <a:prstGeom prst="line">
            <a:avLst/>
          </a:prstGeom>
          <a:noFill/>
          <a:ln w="15875">
            <a:solidFill>
              <a:srgbClr val="B83227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138160" y="1901952"/>
            <a:ext cx="365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←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3566160" y="1901952"/>
            <a:ext cx="4526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لِكُلِّ بَلَدٍ لَهْجَتُهُ، وَالفُصْحَى لِلْكِتَابَةِ.</a:t>
            </a:r>
            <a:endParaRPr lang="ar-SA" sz="2400" dirty="0"/>
          </a:p>
        </p:txBody>
      </p:sp>
      <p:sp>
        <p:nvSpPr>
          <p:cNvPr id="20" name="Text 17"/>
          <p:cNvSpPr txBox="1"/>
          <p:nvPr/>
        </p:nvSpPr>
        <p:spPr>
          <a:xfrm>
            <a:off x="685800" y="1901952"/>
            <a:ext cx="2788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Many dialects — one shared written language.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457200" y="3255264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8503920" y="3346704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تَابٌ</a:t>
            </a:r>
            <a:endParaRPr lang="ar-SA" sz="1800" dirty="0"/>
          </a:p>
        </p:txBody>
      </p:sp>
      <p:sp>
        <p:nvSpPr>
          <p:cNvPr id="23" name="Shape 20"/>
          <p:cNvSpPr/>
          <p:nvPr/>
        </p:nvSpPr>
        <p:spPr>
          <a:xfrm>
            <a:off x="8641080" y="3904488"/>
            <a:ext cx="2834640" cy="0"/>
          </a:xfrm>
          <a:prstGeom prst="line">
            <a:avLst/>
          </a:prstGeom>
          <a:noFill/>
          <a:ln w="15875">
            <a:solidFill>
              <a:srgbClr val="B8322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138160" y="3346704"/>
            <a:ext cx="365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←</a:t>
            </a:r>
            <a:endParaRPr lang="en-US" sz="2000" dirty="0"/>
          </a:p>
        </p:txBody>
      </p:sp>
      <p:sp>
        <p:nvSpPr>
          <p:cNvPr id="25" name="Text 22"/>
          <p:cNvSpPr txBox="1"/>
          <p:nvPr/>
        </p:nvSpPr>
        <p:spPr>
          <a:xfrm>
            <a:off x="3566160" y="3346704"/>
            <a:ext cx="4526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بَابٌ</a:t>
            </a:r>
            <a:endParaRPr lang="ar-SA" sz="2400" dirty="0"/>
          </a:p>
        </p:txBody>
      </p:sp>
      <p:sp>
        <p:nvSpPr>
          <p:cNvPr id="26" name="Text 23"/>
          <p:cNvSpPr txBox="1"/>
          <p:nvPr/>
        </p:nvSpPr>
        <p:spPr>
          <a:xfrm>
            <a:off x="685800" y="3346704"/>
            <a:ext cx="2788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Alphabet: 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</a:t>
            </a:r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 one dot below.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457200" y="4700016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8503920" y="4791456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الثُّلُثُ</a:t>
            </a:r>
            <a:endParaRPr lang="ar-SA" sz="1800" dirty="0"/>
          </a:p>
        </p:txBody>
      </p:sp>
      <p:sp>
        <p:nvSpPr>
          <p:cNvPr id="29" name="Shape 26"/>
          <p:cNvSpPr/>
          <p:nvPr/>
        </p:nvSpPr>
        <p:spPr>
          <a:xfrm>
            <a:off x="8641080" y="5349240"/>
            <a:ext cx="2834640" cy="0"/>
          </a:xfrm>
          <a:prstGeom prst="line">
            <a:avLst/>
          </a:prstGeom>
          <a:noFill/>
          <a:ln w="15875">
            <a:solidFill>
              <a:srgbClr val="B83227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8138160" y="4791456"/>
            <a:ext cx="365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←</a:t>
            </a:r>
            <a:endParaRPr lang="en-US" sz="2000" dirty="0"/>
          </a:p>
        </p:txBody>
      </p:sp>
      <p:sp>
        <p:nvSpPr>
          <p:cNvPr id="31" name="Text 28"/>
          <p:cNvSpPr txBox="1"/>
          <p:nvPr/>
        </p:nvSpPr>
        <p:spPr>
          <a:xfrm>
            <a:off x="3566160" y="4791456"/>
            <a:ext cx="4526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الرُّقْعَةُ</a:t>
            </a:r>
            <a:endParaRPr lang="ar-SA" sz="2400" dirty="0"/>
          </a:p>
        </p:txBody>
      </p:sp>
      <p:sp>
        <p:nvSpPr>
          <p:cNvPr id="32" name="Text 29"/>
          <p:cNvSpPr txBox="1"/>
          <p:nvPr/>
        </p:nvSpPr>
        <p:spPr>
          <a:xfrm>
            <a:off x="685800" y="4791456"/>
            <a:ext cx="2788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Ruqʿah = quick handwriting; Thuluth = buildings.</a:t>
            </a:r>
            <a:endParaRPr lang="en-US" sz="1150" dirty="0"/>
          </a:p>
        </p:txBody>
      </p:sp>
      <p:sp>
        <p:nvSpPr>
          <p:cNvPr id="33" name="Text 30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17 / 24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F1-W06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9 · COPY, LISTEN AND WRITE · FRAMES IF YOU NEED THEM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Your writing frames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قَوَالِبُ الكِتَابَةِ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F1-W06 · Apply workshop (F1-L11 + F1-L12)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541264" cy="3566160"/>
          </a:xfrm>
          <a:prstGeom prst="roundRect">
            <a:avLst>
              <a:gd name="adj" fmla="val 2051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94360" y="1901952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94360" y="190195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18" name="Text 15"/>
          <p:cNvSpPr txBox="1"/>
          <p:nvPr/>
        </p:nvSpPr>
        <p:spPr>
          <a:xfrm>
            <a:off x="2468880" y="2249424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إِمْلَاءٌ: ١ ______ ٢ ______ ٣ ______</a:t>
            </a:r>
            <a:endParaRPr lang="ar-SA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594360" y="2249424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Dictation: four review items.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2468880" y="2816352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الشَّمْسُ ______ القَمَرُ ______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594360" y="2816352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Copy, then circle the sun letter.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6190488" y="1810512"/>
            <a:ext cx="5541264" cy="3566160"/>
          </a:xfrm>
          <a:prstGeom prst="roundRect">
            <a:avLst>
              <a:gd name="adj" fmla="val 2051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10543032" y="1901952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10543032" y="190195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25" name="Text 22"/>
          <p:cNvSpPr txBox="1"/>
          <p:nvPr/>
        </p:nvSpPr>
        <p:spPr>
          <a:xfrm>
            <a:off x="8202168" y="2249424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مخبز ← مَخْبَزٌ ______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6327648" y="2249424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Copy the sign and its vowelled form.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8202168" y="2816352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وصول ← وُصُولٌ ______</a:t>
            </a:r>
            <a:endParaRPr lang="ar-SA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6327648" y="2816352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Copy the sign and its vowelled form.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8202168" y="3383280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قِطَّةٌ · وَرْدٌ ______</a:t>
            </a:r>
            <a:endParaRPr lang="ar-SA" sz="1800" dirty="0"/>
          </a:p>
        </p:txBody>
      </p:sp>
      <p:sp>
        <p:nvSpPr>
          <p:cNvPr id="30" name="Text 27"/>
          <p:cNvSpPr txBox="1"/>
          <p:nvPr/>
        </p:nvSpPr>
        <p:spPr>
          <a:xfrm>
            <a:off x="6327648" y="3383280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Copy two vowelled words.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8202168" y="3950208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١٢ · ٢١ ______</a:t>
            </a:r>
            <a:endParaRPr lang="ar-SA" sz="1800" dirty="0"/>
          </a:p>
        </p:txBody>
      </p:sp>
      <p:sp>
        <p:nvSpPr>
          <p:cNvPr id="32" name="Text 29"/>
          <p:cNvSpPr txBox="1"/>
          <p:nvPr/>
        </p:nvSpPr>
        <p:spPr>
          <a:xfrm>
            <a:off x="6327648" y="3950208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Copy the two numbers.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457200" y="5504688"/>
            <a:ext cx="11274552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Text 31"/>
          <p:cNvSpPr txBox="1"/>
          <p:nvPr/>
        </p:nvSpPr>
        <p:spPr>
          <a:xfrm>
            <a:off x="640080" y="5541264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WORD BANK</a:t>
            </a:r>
            <a:endParaRPr lang="en-US" sz="950" dirty="0"/>
          </a:p>
        </p:txBody>
      </p:sp>
      <p:sp>
        <p:nvSpPr>
          <p:cNvPr id="35" name="Text 32"/>
          <p:cNvSpPr txBox="1"/>
          <p:nvPr/>
        </p:nvSpPr>
        <p:spPr>
          <a:xfrm>
            <a:off x="640080" y="5760720"/>
            <a:ext cx="109087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مخبز · مَخْبَزٌ  ·  وصول · مغادرة  ·  أخبار · بحث  ·  قِطَّةٌ · وَرْدٌ  ·  سُؤَالٌ · مُعَلِّمٌ  ·  الشَّمْسُ · القَمَرُ  ·  ١٢ · ١٥ · ٢١  ·  النَّسْخُ · الثُّلُثُ</a:t>
            </a:r>
            <a:endParaRPr lang="ar-SA" sz="1600" dirty="0"/>
          </a:p>
        </p:txBody>
      </p:sp>
      <p:sp>
        <p:nvSpPr>
          <p:cNvPr id="36" name="Text 3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18 / 24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F1-W06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10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9 · COPY, LISTEN AND WRITE · ONE CONNECTED TEXT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Copy, label and write: my exhibits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أَكْتُبُ مَعْرُوضَاتِي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F1-W06 · Apply workshop (F1-L11 + F1-L12)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577840" cy="4498848"/>
          </a:xfrm>
          <a:prstGeom prst="roundRect">
            <a:avLst>
              <a:gd name="adj" fmla="val 1626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38528"/>
            <a:ext cx="1517904" cy="292608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38528"/>
            <a:ext cx="151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WRITING · SCRIPT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331720"/>
            <a:ext cx="5212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 your book: • copy three showcase items — a sign without vowels, a vowelled word and a number • label each one: where you see it, and one script feature (a mark, a breaker, a position) • DICTATION: your buddy reads four items from the F1 review — write them without looking • check with a buddy and fix one thing.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685800" y="3310128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☐  Words and countries copied with every mark.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685800" y="3840480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☐  Sun letters doubled after al- (</a:t>
            </a:r>
            <a:pPr algn="l" indent="0" marL="0">
              <a:buNone/>
            </a:pPr>
            <a:r>
              <a:rPr lang="ar-SA" altLang="en-US" sz="155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السُّودَان</a:t>
            </a:r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).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685800" y="4370832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☐  Dictation without looking (Develop).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685800" y="4901184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☐  Three REAL examples of Arabic around you (Stretch).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685800" y="5431536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☐  Buddy check, then fix one thing.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6217920" y="1810512"/>
            <a:ext cx="5513832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5" name="Text 22"/>
          <p:cNvSpPr txBox="1"/>
          <p:nvPr/>
        </p:nvSpPr>
        <p:spPr>
          <a:xfrm>
            <a:off x="6400800" y="190195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1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8412480" y="2231136"/>
            <a:ext cx="3154680" cy="408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مخبز · مَخْبَزٌ</a:t>
            </a:r>
            <a:endParaRPr lang="ar-SA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6400800" y="2560320"/>
            <a:ext cx="5166360" cy="2765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 sign · the same word with vowels</a:t>
            </a:r>
            <a:endParaRPr lang="en-US" sz="1050" dirty="0"/>
          </a:p>
        </p:txBody>
      </p:sp>
      <p:sp>
        <p:nvSpPr>
          <p:cNvPr id="28" name="Text 25"/>
          <p:cNvSpPr txBox="1"/>
          <p:nvPr/>
        </p:nvSpPr>
        <p:spPr>
          <a:xfrm>
            <a:off x="8412480" y="2889504"/>
            <a:ext cx="3154680" cy="408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النَّسْخُ · الرُّقْعَةُ · الثُّلُثُ</a:t>
            </a:r>
            <a:endParaRPr lang="ar-SA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6400800" y="3218688"/>
            <a:ext cx="5166360" cy="2765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three calligraphy styles</a:t>
            </a:r>
            <a:endParaRPr lang="en-US" sz="1050" dirty="0"/>
          </a:p>
        </p:txBody>
      </p:sp>
      <p:sp>
        <p:nvSpPr>
          <p:cNvPr id="30" name="Text 27"/>
          <p:cNvSpPr txBox="1"/>
          <p:nvPr/>
        </p:nvSpPr>
        <p:spPr>
          <a:xfrm>
            <a:off x="8412480" y="3547872"/>
            <a:ext cx="3154680" cy="408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الفُصْحَى · لَهْجَةٌ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6400800" y="3877056"/>
            <a:ext cx="5166360" cy="2765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standard Arabic · a dialect</a:t>
            </a:r>
            <a:endParaRPr lang="en-US" sz="1050" dirty="0"/>
          </a:p>
        </p:txBody>
      </p:sp>
      <p:sp>
        <p:nvSpPr>
          <p:cNvPr id="32" name="Text 29"/>
          <p:cNvSpPr txBox="1"/>
          <p:nvPr/>
        </p:nvSpPr>
        <p:spPr>
          <a:xfrm>
            <a:off x="8412480" y="4206240"/>
            <a:ext cx="3154680" cy="408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ـّ · ـٌ · آ · ء</a:t>
            </a:r>
            <a:endParaRPr lang="ar-SA" sz="1800" dirty="0"/>
          </a:p>
        </p:txBody>
      </p:sp>
      <p:sp>
        <p:nvSpPr>
          <p:cNvPr id="33" name="Text 30"/>
          <p:cNvSpPr txBox="1"/>
          <p:nvPr/>
        </p:nvSpPr>
        <p:spPr>
          <a:xfrm>
            <a:off x="6400800" y="4535424"/>
            <a:ext cx="5166360" cy="2765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shadda · tanwīn · madda · hamza</a:t>
            </a:r>
            <a:endParaRPr lang="en-US" sz="1050" dirty="0"/>
          </a:p>
        </p:txBody>
      </p:sp>
      <p:sp>
        <p:nvSpPr>
          <p:cNvPr id="34" name="Text 3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19 / 24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F1-W06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9 · BUDDY CHECK · SWAP AND READ YOUR BUDDY’S TEXT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Buddy check: five points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رَاجِعْ مَعَ زَمِيلِكَ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F1-W06 · Apply workshop (F1-L11 + F1-L12)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759952" y="1810512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Line / example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845552" y="181051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✓ / ✗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565392" y="1810512"/>
            <a:ext cx="1133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Route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5888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Did the writer …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96528" y="2267712"/>
            <a:ext cx="286207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882128" y="2267712"/>
            <a:ext cx="73152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601968" y="2267712"/>
            <a:ext cx="1097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5852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write every letter from RIGHT to left?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796528" y="3004718"/>
            <a:ext cx="286207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7882128" y="3004718"/>
            <a:ext cx="73152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601968" y="3004718"/>
            <a:ext cx="1097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5852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put the dots in the right place, with the right number?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796528" y="3741725"/>
            <a:ext cx="286207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7882128" y="3741725"/>
            <a:ext cx="73152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601968" y="3741725"/>
            <a:ext cx="1097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5852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join letters correctly — and leave a gap after </a:t>
            </a:r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 د ذ ر ز و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?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796528" y="4478731"/>
            <a:ext cx="286207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882128" y="4478731"/>
            <a:ext cx="73152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601968" y="4478731"/>
            <a:ext cx="1097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478731"/>
            <a:ext cx="5852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the short-vowel marks in the right place?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796528" y="5215738"/>
            <a:ext cx="286207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882128" y="5215738"/>
            <a:ext cx="73152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6601968" y="5215738"/>
            <a:ext cx="1097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5215738"/>
            <a:ext cx="5852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write the dictation words without looking at the slide?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Give back: one thing that went well + one thing to improve. The writer fixes ONE thing straight away.</a:t>
            </a:r>
            <a:endParaRPr lang="en-US" sz="1150" dirty="0"/>
          </a:p>
        </p:txBody>
      </p:sp>
      <p:sp>
        <p:nvSpPr>
          <p:cNvPr id="50" name="Text 4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20 / 24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F1-W06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CHECK YOURSELF · READING CARD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Reading card: compare with a strong answer</a:t>
            </a:r>
            <a:endParaRPr lang="en-US" sz="21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قَارِنْ إِجَابَتَكَ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F1-W06 · Apply workshop (F1-L11 + F1-L12)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 strong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Partner A reads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مَخْبَزٌ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makhbaz — bakery.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مخبز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وُصُولٌ · مُغَادَرَةٌ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arrivals · departures — on an airport screen.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وصول · مغادرة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قِطَّةٌ — ـّ · وَرْدٌ — و ر د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qiṭṭa has a shadda; ward has three breakers.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قِطَّةٌ · وَرْدٌ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١٢ · ٢١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twelve · twenty-one.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١٢ · ٢١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الشَّمْسُ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ash-shams — </a:t>
            </a:r>
            <a:pPr algn="ctr" indent="0" marL="0">
              <a:buNone/>
            </a:pPr>
            <a:r>
              <a:rPr lang="ar-SA" altLang="en-US" sz="12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ش</a:t>
            </a:r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is a sun letter.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الشَّمْسُ · القَمَرُ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Did you answer every task in a full sentence? Find one phrase from each lesson in the models and say it aloud.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21 / 24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F1-W06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CHECK YOURSELF · COPY, LISTEN AND WRITE · A STRONG ANSWER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Writing: compare with a strong answer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قَارِنْ إِجَابَتَكَ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F1-W06 · Apply workshop (F1-L11 + F1-L12)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24612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85800" y="1938528"/>
            <a:ext cx="10817352" cy="2990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26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مخبز ← مَخْبَزٌ · وصول ← وُصُولٌ · ١٥</a:t>
            </a:r>
            <a:endParaRPr lang="ar-SA" sz="2600" dirty="0"/>
          </a:p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26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قِطَّةٌ · وَرْدٌ · الشَّمْسُ</a:t>
            </a:r>
            <a:endParaRPr lang="ar-SA" sz="2600" dirty="0"/>
          </a:p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26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إِمْلَاءٌ: سُؤَالٌ · مُعَلِّمٌ · مستشفى · ٢١</a:t>
            </a:r>
            <a:endParaRPr lang="ar-SA" sz="2600" dirty="0"/>
          </a:p>
        </p:txBody>
      </p:sp>
      <p:sp>
        <p:nvSpPr>
          <p:cNvPr id="17" name="Shape 14"/>
          <p:cNvSpPr/>
          <p:nvPr/>
        </p:nvSpPr>
        <p:spPr>
          <a:xfrm>
            <a:off x="457200" y="5166360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40080" y="5202936"/>
            <a:ext cx="1090879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Line 1: two signs with their vowelled forms, and a number — labels: a bakery sign (shop), an airport screen, a price. Line 2: three vowelled words — a shadda in </a:t>
            </a:r>
            <a:pPr algn="l" indent="0" marL="0">
              <a:buNone/>
            </a:pPr>
            <a:r>
              <a:rPr lang="ar-SA" altLang="en-US" sz="150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قِطَّة</a:t>
            </a:r>
            <a:pPr algn="l" indent="0" marL="0">
              <a:buNone/>
            </a:pPr>
            <a:r>
              <a:rPr lang="en-US" sz="11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, three breakers in </a:t>
            </a:r>
            <a:pPr algn="l" indent="0" marL="0">
              <a:buNone/>
            </a:pPr>
            <a:r>
              <a:rPr lang="ar-SA" altLang="en-US" sz="150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وَرْد</a:t>
            </a:r>
            <a:pPr algn="l" indent="0" marL="0">
              <a:buNone/>
            </a:pPr>
            <a:r>
              <a:rPr lang="en-US" sz="11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, a sun letter in </a:t>
            </a:r>
            <a:pPr algn="l" indent="0" marL="0">
              <a:buNone/>
            </a:pPr>
            <a:r>
              <a:rPr lang="ar-SA" altLang="en-US" sz="150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الشَّمْس</a:t>
            </a:r>
            <a:pPr algn="l" indent="0" marL="0">
              <a:buNone/>
            </a:pPr>
            <a:r>
              <a:rPr lang="en-US" sz="11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. Line 3: a dictation of four review items.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457200" y="605332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FIND IN THE MODEL: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2697480" y="6035040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1D5FBF"/>
          </a:solidFill>
          <a:ln w="12700">
            <a:solidFill>
              <a:srgbClr val="1D5F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2697480" y="60350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sz="95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مَخْبَزٌ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4983480" y="6035040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983480" y="60350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sz="95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وُصُولٌ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7269480" y="6035040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C77700"/>
          </a:solidFill>
          <a:ln w="12700">
            <a:solidFill>
              <a:srgbClr val="C77700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269480" y="60350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sz="95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الشَّمْسُ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9555480" y="6035040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7B3FA0"/>
          </a:solidFill>
          <a:ln w="12700">
            <a:solidFill>
              <a:srgbClr val="7B3FA0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9555480" y="60350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sz="95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سُؤَالٌ</a:t>
            </a:r>
            <a:endParaRPr lang="en-US" sz="950" dirty="0"/>
          </a:p>
        </p:txBody>
      </p:sp>
      <p:sp>
        <p:nvSpPr>
          <p:cNvPr id="28" name="Text 2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22 / 24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F1-W06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FEEDBACK · SUCCESS CRITERIA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Check your work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قَيِّمْ عَمَلَكَ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F1-W06 · Apply workshop (F1-L11 + F1-L12)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85800" y="2086661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97280" y="181051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said the sounds and read the words of both lessons.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583680" y="2068373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068373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457200" y="271028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85800" y="298643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97280" y="271028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copied every letter from right to left with the dots in the right place.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0" y="296814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0" y="296814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457200" y="361005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85800" y="388620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97280" y="361005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read the card aloud without stopping.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583680" y="386791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83680" y="38679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57200" y="450982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85800" y="478597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97280" y="450982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My buddy checked my writing and I fixed one thing.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583680" y="476768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583680" y="476768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457200" y="5409590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85800" y="5685739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097280" y="5409590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wrote the dictation and extra words without looking.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6583680" y="5667451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583680" y="5667451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8092440" y="1810512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8275320" y="1920240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WWW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went well? One thing you did accurately.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8092440" y="4041648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FF4E0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Text 40"/>
          <p:cNvSpPr txBox="1"/>
          <p:nvPr/>
        </p:nvSpPr>
        <p:spPr>
          <a:xfrm>
            <a:off x="8275320" y="4151376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EBI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Even better if… One thing you will fix or add.</a:t>
            </a:r>
            <a:endParaRPr lang="en-US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23 / 24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06040"/>
            <a:ext cx="1737360" cy="173736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2944368"/>
            <a:ext cx="1060704" cy="10607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F1-W06 COMPLETE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6916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400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أَحْسَنْتُمْ! إِلَى اللِّقَاءِ</a:t>
            </a:r>
            <a:endParaRPr lang="ar-SA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060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Well done — you used two lessons together!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NEXT LESSON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886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F1 complete · Well done — the unit is complete</a:t>
            </a:r>
            <a:endParaRPr lang="en-US" sz="2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34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24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أَحْسَنْتُمْ</a:t>
            </a:r>
            <a:endParaRPr lang="ar-SA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303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Remember: keep using this unit’s language — say it, then write it.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Amiri" pitchFamily="2" charset="-78"/>
        <a:cs typeface="Amiri" pitchFamily="2" charset="-78"/>
        <a:font script="Arab" typeface="Amiri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Amiri" pitchFamily="2" charset="-78"/>
        <a:cs typeface="Amiri" pitchFamily="2" charset="-78"/>
        <a:font script="Arab" typeface="Amir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Al Madina Online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F1-W06 · Apply Workshop — Our Arabic-Around-Us Showcase</dc:title>
  <dc:subject>PptxGenJS Presentation</dc:subject>
  <dc:creator>Al Madina Online School · Arabic Department</dc:creator>
  <cp:lastModifiedBy>Al Madina Online School · Arabic Department</cp:lastModifiedBy>
  <cp:revision>1</cp:revision>
  <dcterms:created xsi:type="dcterms:W3CDTF">2026-10-26T15:16:56Z</dcterms:created>
  <dcterms:modified xsi:type="dcterms:W3CDTF">2026-10-26T15:16:56Z</dcterms:modified>
</cp:coreProperties>
</file>