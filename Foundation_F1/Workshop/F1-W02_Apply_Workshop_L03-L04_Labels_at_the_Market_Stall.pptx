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F1-L03 · Learn F1-L04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F1-L03 (Powerful Sounds &amp; Long Vowels) and F1-L04 (Complete the Alphabet &amp; Read Short Vowels).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F1-L03 and F1-L04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WHAT WE LEARNT (3 min, main room). Ask: “What can you say after F1-L03? After F1-L04?” Take two answers in the chat for each lesson (one word or one sentence is enough). Then read objective 3 — today’s new situation that needs BOTH lessons. Students tick their route goals at the end of the lesson.
F1-L03 language: eight new letters (ḍād · ṭāʾ · ẓāʾ · ʿayn · ghayn · fāʾ · qāf · kāf); plain vs emphatic pairs (د/ض · ت/ط · ذ/ظ · س/ص · ك/ق); the three long vowels made with ا و ي (bā · bū · bī)
F1-L04 language: the last six letters (lām · mīm · nūn · hāʾ · wāw · yāʾ); و is the sixth breaker; the four marks: fatḥa (a) · ḍamma (u) · kasra (i) · sukūn (no vowel); reading first fully vowelled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F1-L03.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F1-L04.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F1-L03 and F1-L04. Teacher reads it once with a confident student; then pairs. Ask: “Which lines are from F1-L03? Which from F1-L04?” ق and the long vowel و (sūq) come from F1-L03; م and the fatḥa (mawz) from F1-L04. Ask: which word has a long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(7 min). One NEW situation that needs both lessons: powerful sounds and long vowels (F1-L03) with the last six letters and the four short-vowel marks (F1-L04). SUPPORTED: the plan column gives the first words, not the full answer. To a girl Partner A says: the feminine forms (-ki / -īna).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F1-L03 and F1-L04 practice rooms. Read the English, choose the correct part from each column (start on the RIGHT). Pairs agree, then check. Students copy the correct words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F1-L03 and F1-L04 practice rooms. Read the English, choose the correct part from each column (start on the RIGHT). Pairs agree, then check. Students copy the correct words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(26 words). CHECK YOURSELF (2 min). Find each bullet point in the model, and one phrase from F1-L03 and one from F1-L04.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F1-L03 + F1-L04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Labels at the Market Stall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لَافِتَاتُ السُّوقِ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use the whole alphabet with long and short vowels: at a pretend market stall they read and say word labels, hear the difference between plain and powerful sounds, read short and long vowels, race to read the labels and copy and take dictation of them.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F1-L03 + F1-L04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F1-L03 and F1-L04.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mini-dialogue · point-and-say cards · reading card · read-aloud race.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build the word · spot the slip ·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F1-L03 + F1-L04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F1-L03: Powerful Sounds &amp; Long Vowels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F1-L04: Complete the Alphabet &amp; Read Short Vowels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market labels · Copy, listen and write: the market labels</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Say the sounds and read the words of both lessons.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Copy and write with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Read every item on the card without stopping.</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dictation without looking.</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Read new words with the same letters and marks.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Write extra words of your own.</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Letter race: two lessons, one race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Say it, find it —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letters and words from F1-L03 and F1-L04. Partner A says a letter name, sound or word; Partner B finds it and reads it.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letter and say its sound.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whole word aloud.</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another word with the same letter.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F1-L03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F1-L03 · Powerful Sounds &amp; Long Vowels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ض</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ḍād — emphatic /dˤ/</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ضَادٌ</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ظ</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ẓāʾ — emphatic /ðˤ/</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ظَاءٌ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ʿayn family</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غ</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ghayn — /ɣ/ (like a voiced خ)</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غَيْنٌ</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fāʾ / qāf</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ق</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qāf — /q/ (deep k)</a:t>
            </a:r>
            <a:endParaRPr lang="en-US" sz="1350" dirty="0"/>
          </a:p>
          <a:p>
            <a:pPr indent="0" marL="0">
              <a:buNone/>
            </a:pPr>
            <a:r>
              <a:rPr lang="en-US" sz="1100" i="1" dirty="0">
                <a:solidFill>
                  <a:srgbClr val="5A6472"/>
                </a:solidFill>
                <a:latin typeface="Calibri" pitchFamily="34" charset="0"/>
                <a:cs typeface="Amiri" pitchFamily="2" charset="-78"/>
              </a:rPr>
              <a:t>TWO dots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قَافٌ</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كِتَابٌ</a:t>
            </a:r>
            <a:endParaRPr lang="ar-SA" sz="405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ki-tā-bun</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3" name="Shape 7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صَدِيقٌ</a:t>
            </a:r>
            <a:endParaRPr lang="ar-SA" sz="405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a:t>
            </a:r>
            <a:endParaRPr lang="en-US" sz="1350" dirty="0"/>
          </a:p>
          <a:p>
            <a:pPr indent="0" marL="0">
              <a:buNone/>
            </a:pPr>
            <a:r>
              <a:rPr lang="en-US" sz="1100" i="1" dirty="0">
                <a:solidFill>
                  <a:srgbClr val="5A6472"/>
                </a:solidFill>
                <a:latin typeface="Calibri" pitchFamily="34" charset="0"/>
                <a:cs typeface="Amiri" pitchFamily="2" charset="-78"/>
              </a:rPr>
              <a:t>ṣa-dī-qun</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F1-L04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F1-L04 · Complete the Alphabet &amp; Read Short Vowels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23</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ل</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lām — /l/</a:t>
            </a:r>
            <a:endParaRPr lang="en-US" sz="1350" dirty="0"/>
          </a:p>
          <a:p>
            <a:pPr indent="0" marL="0">
              <a:buNone/>
            </a:pPr>
            <a:r>
              <a:rPr lang="en-US" sz="1100" i="1" dirty="0">
                <a:solidFill>
                  <a:srgbClr val="5A6472"/>
                </a:solidFill>
                <a:latin typeface="Calibri" pitchFamily="34" charset="0"/>
                <a:cs typeface="Amiri" pitchFamily="2" charset="-78"/>
              </a:rPr>
              <a:t>tall stem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لَامٌ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25</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ن</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nūn — /n/</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نُونٌ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27</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و</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wāw — /w/ or long ū</a:t>
            </a:r>
            <a:endParaRPr lang="en-US" sz="1350" dirty="0"/>
          </a:p>
          <a:p>
            <a:pPr indent="0" marL="0">
              <a:buNone/>
            </a:pPr>
            <a:r>
              <a:rPr lang="en-US" sz="1100" i="1" dirty="0">
                <a:solidFill>
                  <a:srgbClr val="5A6472"/>
                </a:solidFill>
                <a:latin typeface="Calibri" pitchFamily="34" charset="0"/>
                <a:cs typeface="Amiri" pitchFamily="2" charset="-78"/>
              </a:rPr>
              <a:t>BREAKER</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وَاوٌ</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قَلَمٌ</a:t>
            </a:r>
            <a:endParaRPr lang="ar-SA" sz="405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a:t>
            </a:r>
            <a:endParaRPr lang="en-US" sz="1350" dirty="0"/>
          </a:p>
          <a:p>
            <a:pPr indent="0" marL="0">
              <a:buNone/>
            </a:pPr>
            <a:r>
              <a:rPr lang="en-US" sz="1100" i="1" dirty="0">
                <a:solidFill>
                  <a:srgbClr val="5A6472"/>
                </a:solidFill>
                <a:latin typeface="Calibri" pitchFamily="34" charset="0"/>
                <a:cs typeface="Amiri" pitchFamily="2" charset="-78"/>
              </a:rPr>
              <a:t>qa-la-mun</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وَلَدٌ</a:t>
            </a:r>
            <a:endParaRPr lang="ar-SA" sz="405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boy</a:t>
            </a:r>
            <a:endParaRPr lang="en-US" sz="1350" dirty="0"/>
          </a:p>
          <a:p>
            <a:pPr indent="0" marL="0">
              <a:buNone/>
            </a:pPr>
            <a:r>
              <a:rPr lang="en-US" sz="1100" i="1" dirty="0">
                <a:solidFill>
                  <a:srgbClr val="5A6472"/>
                </a:solidFill>
                <a:latin typeface="Calibri" pitchFamily="34" charset="0"/>
                <a:cs typeface="Amiri" pitchFamily="2" charset="-78"/>
              </a:rPr>
              <a:t>wa-la-dun</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يَدٌ</a:t>
            </a:r>
            <a:endParaRPr lang="ar-SA" sz="405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hand</a:t>
            </a:r>
            <a:endParaRPr lang="en-US" sz="1350" dirty="0"/>
          </a:p>
          <a:p>
            <a:pPr indent="0" marL="0">
              <a:buNone/>
            </a:pPr>
            <a:r>
              <a:rPr lang="en-US" sz="1100" i="1" dirty="0">
                <a:solidFill>
                  <a:srgbClr val="5A6472"/>
                </a:solidFill>
                <a:latin typeface="Calibri" pitchFamily="34" charset="0"/>
                <a:cs typeface="Amiri" pitchFamily="2" charset="-78"/>
              </a:rPr>
              <a:t>ya-dun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 · بُ · بِ · 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 · بُو · بِي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F1-L03 · Powerful Sounds &amp; Long Vowels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F1-L04 · Complete the Alphabet &amp; Read Short Vowels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F1-L03 · Powerful Sounds &amp; Long Vowels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 · بُو · بِي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F1-L04 · Complete the Alphabet &amp; Read Short Vowels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 · بُ · بِ · 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2F6FB0"/>
                </a:solidFill>
                <a:latin typeface="Calibri" pitchFamily="34" charset="0"/>
                <a:cs typeface="Amiri" pitchFamily="2" charset="-78"/>
              </a:rPr>
              <a:t>PART 2 · STEP 3 · SAY THE MINI-DIALOGUE · BOTH LESSONS IN ONE CONVERSATION</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the label say?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عَلَى اللَّافِتَةِ؟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label, please.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اقْرَأِ اللَّافِتَةَ، مِنْ فَضْلِكَ.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mawz (bananas).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مَوْزٌ.</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first letter?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أَوَّلُ حَرْفٍ؟</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mīm, with a fatḥa on it: ma.</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مِيمٌ، وَعَلَيْهِ فَتْحَةٌ: مَ.</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this one? (sūq)</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وَهٰذِهِ؟ (سُوقٌ)</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sūq — sīn, then a long wāw, then qāf.</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سُوقٌ — السِّينُ، ثُمَّ وَاوٌ طَوِيلَةٌ، ثُمَّ قَافٌ.</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Round 2: swap letters. Round 3: A points to a NEW letter or word from either lesson; B reads it and explains one thing about it (dots, a mark, a position).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POINT-AND-SAY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Point, say, check — both lessons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طَبِيبٌ</a:t>
            </a:r>
            <a:endParaRPr lang="ar-SA" sz="18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طَاءٌ</a:t>
            </a:r>
            <a:endParaRPr lang="ar-SA" sz="1800" dirty="0"/>
          </a:p>
        </p:txBody>
      </p:sp>
      <p:sp>
        <p:nvSpPr>
          <p:cNvPr id="24" name="Text 21"/>
          <p:cNvSpPr txBox="1"/>
          <p:nvPr/>
        </p:nvSpPr>
        <p:spPr>
          <a:xfrm>
            <a:off x="4361688" y="2267712"/>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heavy t · compare ‏</a:t>
            </a:r>
            <a:pPr algn="l" indent="0" marL="0">
              <a:buNone/>
            </a:pPr>
            <a:r>
              <a:rPr lang="ar-SA" altLang="en-US" sz="1450" dirty="0">
                <a:solidFill>
                  <a:srgbClr val="5A6472"/>
                </a:solidFill>
                <a:latin typeface="Amiri" pitchFamily="2" charset="-78"/>
                <a:ea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5" name="Text 22"/>
          <p:cNvSpPr txBox="1"/>
          <p:nvPr/>
        </p:nvSpPr>
        <p:spPr>
          <a:xfrm>
            <a:off x="1051560" y="226771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a:t>
            </a:r>
            <a:endParaRPr lang="ar-SA" sz="20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لَامٌ</a:t>
            </a:r>
            <a:endParaRPr lang="ar-SA" sz="1800" dirty="0"/>
          </a:p>
        </p:txBody>
      </p:sp>
      <p:sp>
        <p:nvSpPr>
          <p:cNvPr id="32" name="Text 29"/>
          <p:cNvSpPr txBox="1"/>
          <p:nvPr/>
        </p:nvSpPr>
        <p:spPr>
          <a:xfrm>
            <a:off x="4361688" y="2881884"/>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lām · /l/</a:t>
            </a:r>
            <a:endParaRPr lang="en-US" sz="1100" dirty="0"/>
          </a:p>
        </p:txBody>
      </p:sp>
      <p:sp>
        <p:nvSpPr>
          <p:cNvPr id="33" name="Text 30"/>
          <p:cNvSpPr txBox="1"/>
          <p:nvPr/>
        </p:nvSpPr>
        <p:spPr>
          <a:xfrm>
            <a:off x="1051560" y="2881884"/>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a:t>
            </a:r>
            <a:endParaRPr lang="ar-SA" sz="20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a:t>
            </a:r>
            <a:endParaRPr lang="ar-SA" sz="1800" dirty="0"/>
          </a:p>
        </p:txBody>
      </p:sp>
      <p:sp>
        <p:nvSpPr>
          <p:cNvPr id="40" name="Text 37"/>
          <p:cNvSpPr txBox="1"/>
          <p:nvPr/>
        </p:nvSpPr>
        <p:spPr>
          <a:xfrm>
            <a:off x="4361688" y="3496056"/>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the throat · no English sound (word: juice)</a:t>
            </a:r>
            <a:endParaRPr lang="en-US" sz="1100" dirty="0"/>
          </a:p>
        </p:txBody>
      </p:sp>
      <p:sp>
        <p:nvSpPr>
          <p:cNvPr id="41" name="Text 38"/>
          <p:cNvSpPr txBox="1"/>
          <p:nvPr/>
        </p:nvSpPr>
        <p:spPr>
          <a:xfrm>
            <a:off x="1051560" y="3496056"/>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a:t>
            </a:r>
            <a:endParaRPr lang="ar-SA" sz="20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بِنْتٌ</a:t>
            </a:r>
            <a:endParaRPr lang="ar-SA" sz="18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نُونٌ</a:t>
            </a:r>
            <a:endParaRPr lang="ar-SA" sz="1800" dirty="0"/>
          </a:p>
        </p:txBody>
      </p:sp>
      <p:sp>
        <p:nvSpPr>
          <p:cNvPr id="48" name="Text 45"/>
          <p:cNvSpPr txBox="1"/>
          <p:nvPr/>
        </p:nvSpPr>
        <p:spPr>
          <a:xfrm>
            <a:off x="4361688" y="4110228"/>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 one dot above · /n/</a:t>
            </a:r>
            <a:endParaRPr lang="en-US" sz="1100" dirty="0"/>
          </a:p>
        </p:txBody>
      </p:sp>
      <p:sp>
        <p:nvSpPr>
          <p:cNvPr id="49" name="Text 46"/>
          <p:cNvSpPr txBox="1"/>
          <p:nvPr/>
        </p:nvSpPr>
        <p:spPr>
          <a:xfrm>
            <a:off x="1051560" y="4110228"/>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a:t>
            </a:r>
            <a:endParaRPr lang="ar-SA" sz="20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غَابَ</a:t>
            </a:r>
            <a:endParaRPr lang="ar-SA" sz="18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غَيْنٌ</a:t>
            </a:r>
            <a:endParaRPr lang="ar-SA" sz="1800" dirty="0"/>
          </a:p>
        </p:txBody>
      </p:sp>
      <p:sp>
        <p:nvSpPr>
          <p:cNvPr id="56" name="Text 53"/>
          <p:cNvSpPr txBox="1"/>
          <p:nvPr/>
        </p:nvSpPr>
        <p:spPr>
          <a:xfrm>
            <a:off x="4361688" y="4724400"/>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like a gargled r · dot above (word: he was absent)</a:t>
            </a:r>
            <a:endParaRPr lang="en-US" sz="1100" dirty="0"/>
          </a:p>
        </p:txBody>
      </p:sp>
      <p:sp>
        <p:nvSpPr>
          <p:cNvPr id="57" name="Text 54"/>
          <p:cNvSpPr txBox="1"/>
          <p:nvPr/>
        </p:nvSpPr>
        <p:spPr>
          <a:xfrm>
            <a:off x="1051560" y="4724400"/>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a:t>
            </a:r>
            <a:endParaRPr lang="ar-SA" sz="20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نَهْرٌ</a:t>
            </a:r>
            <a:endParaRPr lang="ar-SA" sz="18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هَاءٌ</a:t>
            </a:r>
            <a:endParaRPr lang="ar-SA" sz="1800" dirty="0"/>
          </a:p>
        </p:txBody>
      </p:sp>
      <p:sp>
        <p:nvSpPr>
          <p:cNvPr id="62" name="Text 59"/>
          <p:cNvSpPr txBox="1"/>
          <p:nvPr/>
        </p:nvSpPr>
        <p:spPr>
          <a:xfrm>
            <a:off x="4361688" y="5338572"/>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hāʾ · a light h, as in hat</a:t>
            </a:r>
            <a:endParaRPr lang="en-US" sz="1100" dirty="0"/>
          </a:p>
        </p:txBody>
      </p:sp>
      <p:sp>
        <p:nvSpPr>
          <p:cNvPr id="63" name="Text 60"/>
          <p:cNvSpPr txBox="1"/>
          <p:nvPr/>
        </p:nvSpPr>
        <p:spPr>
          <a:xfrm>
            <a:off x="1051560" y="533857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a:t>
            </a:r>
            <a:endParaRPr lang="ar-SA" sz="20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the first lesson, even numbers from the second. Core: say the sound or read the word. Develop: do the “then” part. Stretch: give your own example. Swap after each card.</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card — the market labels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93608" y="2267712"/>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ṭa · sa · ṣa</a:t>
            </a:r>
            <a:endParaRPr lang="en-US" sz="11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them: plain, then powerful.</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 · طَ · سَ · صَ</a:t>
            </a:r>
            <a:endParaRPr lang="ar-SA" sz="20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93608" y="300471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bā · bū · bī</a:t>
            </a:r>
            <a:endParaRPr lang="en-US" sz="11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long vowels.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 · بُو · بِي</a:t>
            </a:r>
            <a:endParaRPr lang="ar-SA" sz="20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qalam · mawz · nahr</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labels.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قَلَمٌ · مَوْزٌ · نَهْرٌ</a:t>
            </a:r>
            <a:endParaRPr lang="ar-SA" sz="20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 in kitāb · ī in ṭabīb</a:t>
            </a:r>
            <a:endParaRPr lang="en-US" sz="11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say where the long vowels are.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كِتَابٌ · طَبِيبٌ</a:t>
            </a:r>
            <a:endParaRPr lang="ar-SA" sz="20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small circle</a:t>
            </a:r>
            <a:endParaRPr lang="en-US" sz="11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mark means “no vowel”? Point to it.</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بِنْتٌ</a:t>
            </a:r>
            <a:endParaRPr lang="ar-SA" sz="20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Partner A = the stall keeper. Read from RIGHT to left. Task ! is a surprise — Partner A asks it without warning.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Label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اللَّافِتَاتِ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as many labels as you can from the two Step 1 word slides — letters, then words. The partner counts the correct ones and listens for the powerful sounds and the long vowels.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fourteen new letter names.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sounds with a fatḥa, then four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every word, then say which ones have a long vowel.</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BUILD THE WORD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Build three more words from their parts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book — kitāb</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pen — qalam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doctor — ṭabīb</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بُو</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book — kitāb</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plain k and plain t; long ā = alif.</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كِتَابٌ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pen — qalam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qa · la · mun — fatḥa twice, then tanwīn.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قَلَمٌ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doctor — ṭabīb</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heavy ṭ; long ī = yāʾ.</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طَبِيبٌ</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THE SLIP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تَبِيبٌ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“doctor” starts with a HEAVY 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بَنْتٌ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“girl” = bint.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“book” has a LONG 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تَبِيبٌ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طَبِيبٌ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ط</a:t>
            </a:r>
            <a:pPr algn="l" indent="0" marL="0">
              <a:buNone/>
            </a:pPr>
            <a:r>
              <a:rPr lang="en-US" sz="1150" b="1" dirty="0">
                <a:solidFill>
                  <a:srgbClr val="1B3B6F"/>
                </a:solidFill>
                <a:latin typeface="Calibri" pitchFamily="34" charset="0"/>
                <a:cs typeface="Amiri" pitchFamily="2" charset="-78"/>
              </a:rPr>
              <a:t>‏ is the emphatic 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بَنْتٌ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بِنْتٌ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 kasra, BELOW the letter.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Long ā needs an alif.</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write it with the marks.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طَبِيبٌ ______ وَلَدٌ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then underline the long vowel.</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ض ط ظ ع غ ف ق ك</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eight letters of lesson 1.</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 م ن ه و ي</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six letters of lesson 2.</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كِتَابٌ ______ سُوقٌ ______</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labels from lesson 1.</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قَلَمٌ ______ مَوْزٌ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labels from lesson 2.</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 ط ظ  ·  ع غ · ف ق ك  ·  ل م ن ه و ي  ·  بَا · بُو · بِي  ·  كِتَابٌ · سُوقٌ  ·  طَبِيبٌ · صَدِيقٌ  ·  قَلَمٌ · مَوْزٌ  ·  بِنْتٌ · وَلَدٌ</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COPY, LISTEN AND WRITE · ONE CONNECTED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Copy, listen and write: the market labels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لَافِتَاتِ السُّوقِ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In your book: • copy the fourteen new letters from both lessons, right to left • copy six market labels, three from each lesson • DICTATION: your buddy reads five sounds or words — write them without looking, with the marks • underline every long vowel.</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letter from right to left.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Dots: right number, right place (‏</a:t>
            </a:r>
            <a:pPr algn="l" indent="0" marL="0">
              <a:buNone/>
            </a:pPr>
            <a:r>
              <a:rPr lang="ar-SA" altLang="en-US" sz="1550" dirty="0">
                <a:solidFill>
                  <a:srgbClr val="1F2A37"/>
                </a:solidFill>
                <a:latin typeface="Amiri" pitchFamily="2" charset="-78"/>
                <a:ea typeface="Amiri" pitchFamily="2" charset="-78"/>
                <a:cs typeface="Amiri" pitchFamily="2" charset="-78"/>
              </a:rPr>
              <a:t>ف</a:t>
            </a:r>
            <a:pPr algn="l" indent="0" marL="0">
              <a:buNone/>
            </a:pPr>
            <a:r>
              <a:rPr lang="en-US" sz="1200" dirty="0">
                <a:solidFill>
                  <a:srgbClr val="1F2A37"/>
                </a:solidFill>
                <a:latin typeface="Calibri" pitchFamily="34" charset="0"/>
                <a:cs typeface="Amiri" pitchFamily="2" charset="-78"/>
              </a:rPr>
              <a:t>‏ one · ‏</a:t>
            </a:r>
            <a:pPr algn="l" indent="0" marL="0">
              <a:buNone/>
            </a:pPr>
            <a:r>
              <a:rPr lang="ar-SA" altLang="en-US" sz="1550" dirty="0">
                <a:solidFill>
                  <a:srgbClr val="1F2A37"/>
                </a:solidFill>
                <a:latin typeface="Amiri" pitchFamily="2" charset="-78"/>
                <a:ea typeface="Amiri" pitchFamily="2" charset="-78"/>
                <a:cs typeface="Amiri" pitchFamily="2" charset="-78"/>
              </a:rPr>
              <a:t>ق</a:t>
            </a:r>
            <a:pPr algn="l" indent="0" marL="0">
              <a:buNone/>
            </a:pPr>
            <a:r>
              <a:rPr lang="en-US" sz="1200" dirty="0">
                <a:solidFill>
                  <a:srgbClr val="1F2A37"/>
                </a:solidFill>
                <a:latin typeface="Calibri" pitchFamily="34" charset="0"/>
                <a:cs typeface="Amiri" pitchFamily="2" charset="-78"/>
              </a:rPr>
              <a:t>‏ two).</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Long vowels written with ‏</a:t>
            </a:r>
            <a:pPr algn="l" indent="0" marL="0">
              <a:buNone/>
            </a:pPr>
            <a:r>
              <a:rPr lang="ar-SA" altLang="en-US" sz="1550" dirty="0">
                <a:solidFill>
                  <a:srgbClr val="1F2A37"/>
                </a:solidFill>
                <a:latin typeface="Amiri" pitchFamily="2" charset="-78"/>
                <a:ea typeface="Amiri" pitchFamily="2" charset="-78"/>
                <a:cs typeface="Amiri" pitchFamily="2" charset="-78"/>
              </a:rPr>
              <a:t>ا</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five items without looking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 · ض · ص · ظ</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powerful (emphatic) sounds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 · بُو · بِي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long ā · ū · ī</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ـَ ـُ ـِ ـْ</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fatḥa · ḍamma · kasra · sukūn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 م ن ه و 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last six letters</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 · طَ · سَ · صَ</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 (plain) · ṭa (powerful) · sa (plain) · ṣa (powerful).</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 · طَ · سَ · صَ</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 · بُو · بِي</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bā · bū · bī — </a:t>
            </a:r>
            <a:pPr algn="ctr" indent="0" marL="0">
              <a:buNone/>
            </a:pPr>
            <a:r>
              <a:rPr lang="ar-SA" altLang="en-US" sz="1250" dirty="0">
                <a:solidFill>
                  <a:srgbClr val="5A6472"/>
                </a:solidFill>
                <a:latin typeface="Amiri" pitchFamily="2" charset="-78"/>
                <a:ea typeface="Amiri" pitchFamily="2" charset="-78"/>
                <a:cs typeface="Amiri" pitchFamily="2" charset="-78"/>
              </a:rPr>
              <a:t>ا و ي</a:t>
            </a:r>
            <a:pPr algn="ctr" indent="0" marL="0">
              <a:buNone/>
            </a:pPr>
            <a:r>
              <a:rPr lang="en-US" sz="950" i="1" dirty="0">
                <a:solidFill>
                  <a:srgbClr val="5A6472"/>
                </a:solidFill>
                <a:latin typeface="Calibri" pitchFamily="34" charset="0"/>
                <a:cs typeface="Amiri" pitchFamily="2" charset="-78"/>
              </a:rPr>
              <a:t> make the vowel long.</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بَا · بُو · بِي</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 · مَوْزٌ · نَهْرٌ</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pen · bananas · river.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قَلَمٌ · مَوْزٌ · نَهْرٌ</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 طَبِيبٌ</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kitāb (long ā) · ṭabīb (long ī).</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كِتَابٌ · طَبِيبٌ</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 — سُكُونٌ</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sukūn on the nūn: bint.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بِنْتٌ</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ض ط ظ ع غ ف ق ك ل م ن ه و ي</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كِتَابٌ · سُوقٌ · طَبِيبٌ · قَلَمٌ · مَوْزٌ · وَلَدٌ</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طَ · بُو · نَهْرٌ · بِنْتٌ · صَدِيقٌ</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fourteen new letters. Line 2: six market labels (three from each lesson). Line 3: a dictation of five items with marks. Long vowels: </a:t>
            </a:r>
            <a:pPr algn="l" indent="0" marL="0">
              <a:buNone/>
            </a:pPr>
            <a:r>
              <a:rPr lang="ar-SA" altLang="en-US" sz="1500" dirty="0">
                <a:solidFill>
                  <a:srgbClr val="5A6472"/>
                </a:solidFill>
                <a:latin typeface="Amiri" pitchFamily="2" charset="-78"/>
                <a:ea typeface="Amiri" pitchFamily="2" charset="-78"/>
                <a:cs typeface="Amiri" pitchFamily="2" charset="-78"/>
              </a:rPr>
              <a:t>كِتَاب</a:t>
            </a:r>
            <a:pPr algn="l" indent="0" marL="0">
              <a:buNone/>
            </a:pPr>
            <a:r>
              <a:rPr lang="en-US" sz="1150" i="1" dirty="0">
                <a:solidFill>
                  <a:srgbClr val="5A6472"/>
                </a:solidFill>
                <a:latin typeface="Calibri" pitchFamily="34" charset="0"/>
                <a:cs typeface="Amiri" pitchFamily="2" charset="-78"/>
              </a:rPr>
              <a:t> (ā) · </a:t>
            </a:r>
            <a:pPr algn="l" indent="0" marL="0">
              <a:buNone/>
            </a:pPr>
            <a:r>
              <a:rPr lang="ar-SA" altLang="en-US" sz="1500" dirty="0">
                <a:solidFill>
                  <a:srgbClr val="5A6472"/>
                </a:solidFill>
                <a:latin typeface="Amiri" pitchFamily="2" charset="-78"/>
                <a:ea typeface="Amiri" pitchFamily="2" charset="-78"/>
                <a:cs typeface="Amiri" pitchFamily="2" charset="-78"/>
              </a:rPr>
              <a:t>سُوق</a:t>
            </a:r>
            <a:pPr algn="l" indent="0" marL="0">
              <a:buNone/>
            </a:pPr>
            <a:r>
              <a:rPr lang="en-US" sz="1150" i="1" dirty="0">
                <a:solidFill>
                  <a:srgbClr val="5A6472"/>
                </a:solidFill>
                <a:latin typeface="Calibri" pitchFamily="34" charset="0"/>
                <a:cs typeface="Amiri" pitchFamily="2" charset="-78"/>
              </a:rPr>
              <a:t> (ū) · </a:t>
            </a:r>
            <a:pPr algn="l" indent="0" marL="0">
              <a:buNone/>
            </a:pPr>
            <a:r>
              <a:rPr lang="ar-SA" altLang="en-US" sz="1500" dirty="0">
                <a:solidFill>
                  <a:srgbClr val="5A6472"/>
                </a:solidFill>
                <a:latin typeface="Amiri" pitchFamily="2" charset="-78"/>
                <a:ea typeface="Amiri" pitchFamily="2" charset="-78"/>
                <a:cs typeface="Amiri" pitchFamily="2" charset="-78"/>
              </a:rPr>
              <a:t>طَبِيب</a:t>
            </a:r>
            <a:pPr algn="l" indent="0" marL="0">
              <a:buNone/>
            </a:pPr>
            <a:r>
              <a:rPr lang="en-US" sz="1150" i="1" dirty="0">
                <a:solidFill>
                  <a:srgbClr val="5A6472"/>
                </a:solidFill>
                <a:latin typeface="Calibri" pitchFamily="34" charset="0"/>
                <a:cs typeface="Amiri" pitchFamily="2" charset="-78"/>
              </a:rPr>
              <a:t> (ī) · </a:t>
            </a:r>
            <a:pPr algn="l" indent="0" marL="0">
              <a:buNone/>
            </a:pPr>
            <a:r>
              <a:rPr lang="ar-SA" altLang="en-US" sz="1500" dirty="0">
                <a:solidFill>
                  <a:srgbClr val="5A6472"/>
                </a:solidFill>
                <a:latin typeface="Amiri" pitchFamily="2" charset="-78"/>
                <a:ea typeface="Amiri" pitchFamily="2" charset="-78"/>
                <a:cs typeface="Amiri" pitchFamily="2" charset="-78"/>
              </a:rPr>
              <a:t>صَدِيق</a:t>
            </a:r>
            <a:pPr algn="l" indent="0" marL="0">
              <a:buNone/>
            </a:pPr>
            <a:r>
              <a:rPr lang="en-US" sz="1150" i="1" dirty="0">
                <a:solidFill>
                  <a:srgbClr val="5A6472"/>
                </a:solidFill>
                <a:latin typeface="Calibri" pitchFamily="34" charset="0"/>
                <a:cs typeface="Amiri" pitchFamily="2" charset="-78"/>
              </a:rPr>
              <a:t> (ī).</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ض ط ظ</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سُوقٌ</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مَوْزٌ</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صَدِيقٌ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F1-W02 · Apply workshop (F1-L03 + F1-L04)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and read the words of both lessons.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the card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and extra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F1-L05 · One Letter, Four Positions</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أَشْكَالُ الحُرُوفِ فِي الكَلِمَةِ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F1-W02 · Apply Workshop — Labels at the Market Stall</dc:title>
  <dc:subject>PptxGenJS Presentation</dc:subject>
  <dc:creator>Al Madina Online School · Arabic Department</dc:creator>
  <cp:lastModifiedBy>Al Madina Online School · Arabic Department</cp:lastModifiedBy>
  <cp:revision>1</cp:revision>
  <dcterms:created xsi:type="dcterms:W3CDTF">2026-10-26T15:47:18Z</dcterms:created>
  <dcterms:modified xsi:type="dcterms:W3CDTF">2026-10-26T15:47:18Z</dcterms:modified>
</cp:coreProperties>
</file>