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F1-L03 · Learn F1-L04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30 seconds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F1-L03 (Powerful Sounds &amp; Long Vowels) and F1-L04 (Complete the Alphabet &amp; Read Short Vowels).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F1-L03 and F1-L04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WHAT WE LEARNT (3 min, main room). Ask: “What can you say after F1-L03? After F1-L04?” Take two answers in the chat for each lesson (one word or one sentence is enough). Then read objective 3 — today’s new situation that needs BOTH lessons. Students tick their route goals at the end of the lesson.
F1-L03 language: eight new letters (ḍād · ṭāʾ · ẓāʾ · ʿayn · ghayn · fāʾ · qāf · kāf); plain vs emphatic pairs (د/ض · ت/ط · ذ/ظ · س/ص · ك/ق); the three long vowels made with ا و ي (bā · bū · bī)
F1-L04 language: the last six letters (lām · mīm · nūn · hāʾ · wāw · yāʾ); و is the sixth breaker; the four marks: fatḥa (a) · ḍamma (u) · kasra (i) · sukūn (no vowel); reading first fully vowelled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F1-L03.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F1-L04.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F1-L03 and F1-L04. Teacher reads it once with a confident student; then pairs. Ask: “Which lines are from F1-L03? Which from F1-L04?” ق and the long vowel و (sūq) come from F1-L03; م and the fatḥa (mawz) from F1-L04. Ask: which word has a long vowel?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5 (7 min). One NEW situation that needs both lessons: powerful sounds and long vowels (F1-L03) with the last six letters and the four short-vowel marks (F1-L04). SUPPORTED: the plan column gives the first words, not the full answer. To a girl Partner A says: the feminine forms (-ki / -īna).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F1-L03 and F1-L04 practice rooms. Read the English, choose the correct part from each column (start on the RIGHT). Pairs agree, then check. Students copy the correct words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F1-L03 and F1-L04 practice rooms. Read the English, choose the correct part from each column (start on the RIGHT). Pairs agree, then check. Students copy the correct words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(30–40 words). Develop: 40–70 words, frames only if stuck. Stretch: no frames, add reasons.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(26 words). CHECK YOURSELF (2 min). Find each bullet point in the model, and one phrase from F1-L03 and one from F1-L04.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F1  ·  F1-L03 + F1-L04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F1-W02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Apply Workshop — Labels at the Market Stall</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لَافِتَاتُ السُّوقِ</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Students use the whole alphabet with long and short vowels: at a pretend market stall they read and say word labels, hear the difference between plain and powerful sounds, read short and long vowels, race to read the labels and copy and take dictation of them.</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F1-L03 + F1-L04</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complete beginner</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F1 › F1-L04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F1-W02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F1-W02 · Apply workshop (F1-L03 + F1-L04)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F1-W02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F1-W02 · Apply workshop (F1-L03 + F1-L04)</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F1-L03 and F1-L04.</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mini-dialogue · point-and-say cards · reading card · read-aloud race.</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build the word · spot the slip · copy, listen and write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F1-W02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F1-L03 + F1-L04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F1-W02 · Apply workshop (F1-L03 + F1-L04)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F1-L03: Powerful Sounds &amp; Long Vowels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F1-L04: Complete the Alphabet &amp; Read Short Vowels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the market labels · Copy, listen and write: the market labels</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Say the sounds and read the words of both lessons.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Copy and write with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Read every item on the card without stopping.</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dictation without looking.</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Read new words with the same letters and marks.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Write extra words of your own.</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Letter race: two lessons, one race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F1-W02 · Apply workshop (F1-L03 + F1-L04)</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Say it, find it —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letters and words from F1-L03 and F1-L04. Partner A says a letter name, sound or word; Partner B finds it and reads it.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Find the letter and say its sound.</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Read the whole word aloud.</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another word with the same letter.</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F1-W02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F1-L03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F1-L03 · Powerful Sounds &amp; Long Vowels</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حُرُوفُ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F1-W02 · Apply workshop (F1-L03 + F1-L04)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emphatic</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ea typeface="Amiri" pitchFamily="2" charset="-78"/>
                <a:cs typeface="Amiri" pitchFamily="2" charset="-78"/>
              </a:rPr>
              <a:t>ض</a:t>
            </a:r>
            <a:endParaRPr lang="ar-SA" sz="33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ḍād — emphatic /dˤ/</a:t>
            </a:r>
            <a:endParaRPr lang="en-US" sz="1350" dirty="0"/>
          </a:p>
          <a:p>
            <a:pPr indent="0" marL="0">
              <a:buNone/>
            </a:pPr>
            <a:r>
              <a:rPr lang="en-US" sz="1100" i="1" dirty="0">
                <a:solidFill>
                  <a:srgbClr val="5A6472"/>
                </a:solidFill>
                <a:latin typeface="Calibri" pitchFamily="34" charset="0"/>
                <a:cs typeface="Amiri" pitchFamily="2" charset="-78"/>
              </a:rPr>
              <a:t>ONE dot above · connector</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ضَادٌ</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4782312" y="1938528"/>
            <a:ext cx="77175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emphatic</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ea typeface="Amiri" pitchFamily="2" charset="-78"/>
                <a:cs typeface="Amiri" pitchFamily="2" charset="-78"/>
              </a:rPr>
              <a:t>ظ</a:t>
            </a:r>
            <a:endParaRPr lang="ar-SA" sz="33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ẓāʾ — emphatic /ðˤ/</a:t>
            </a:r>
            <a:endParaRPr lang="en-US" sz="1350" dirty="0"/>
          </a:p>
          <a:p>
            <a:pPr indent="0" marL="0">
              <a:buNone/>
            </a:pPr>
            <a:r>
              <a:rPr lang="en-US" sz="1100" i="1" dirty="0">
                <a:solidFill>
                  <a:srgbClr val="5A6472"/>
                </a:solidFill>
                <a:latin typeface="Calibri" pitchFamily="34" charset="0"/>
                <a:cs typeface="Amiri" pitchFamily="2" charset="-78"/>
              </a:rPr>
              <a:t>ONE dot above · connector</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ظَاءٌ</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2" name="Shape 39"/>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ʿayn family</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ea typeface="Amiri" pitchFamily="2" charset="-78"/>
                <a:cs typeface="Amiri" pitchFamily="2" charset="-78"/>
              </a:rPr>
              <a:t>غ</a:t>
            </a:r>
            <a:endParaRPr lang="ar-SA" sz="33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ar-SA" sz="1350" b="1" dirty="0">
                <a:solidFill>
                  <a:srgbClr val="1F2A37"/>
                </a:solidFill>
                <a:latin typeface="Calibri" pitchFamily="34" charset="0"/>
                <a:ea typeface="Amiri" pitchFamily="2" charset="-78"/>
                <a:cs typeface="Amiri" pitchFamily="2" charset="-78"/>
              </a:rPr>
              <a:t>ghayn — /ɣ/ (like a voiced خ)</a:t>
            </a:r>
            <a:endParaRPr lang="en-US" sz="1350" dirty="0"/>
          </a:p>
          <a:p>
            <a:pPr indent="0" marL="0">
              <a:buNone/>
            </a:pPr>
            <a:r>
              <a:rPr lang="en-US" sz="1100" i="1" dirty="0">
                <a:solidFill>
                  <a:srgbClr val="5A6472"/>
                </a:solidFill>
                <a:latin typeface="Calibri" pitchFamily="34" charset="0"/>
                <a:cs typeface="Amiri" pitchFamily="2" charset="-78"/>
              </a:rPr>
              <a:t>ONE dot above</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50" name="Text 47"/>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غَيْنٌ</a:t>
            </a:r>
            <a:endParaRPr lang="ar-SA" sz="135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4" name="Shape 51"/>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fāʾ / qāf</a:t>
            </a:r>
            <a:endParaRPr lang="en-US" sz="800" dirty="0"/>
          </a:p>
        </p:txBody>
      </p:sp>
      <p:sp>
        <p:nvSpPr>
          <p:cNvPr id="56" name="Shape 5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ea typeface="Amiri" pitchFamily="2" charset="-78"/>
                <a:cs typeface="Amiri" pitchFamily="2" charset="-78"/>
              </a:rPr>
              <a:t>ق</a:t>
            </a:r>
            <a:endParaRPr lang="ar-SA" sz="33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qāf — /q/ (deep k)</a:t>
            </a:r>
            <a:endParaRPr lang="en-US" sz="1350" dirty="0"/>
          </a:p>
          <a:p>
            <a:pPr indent="0" marL="0">
              <a:buNone/>
            </a:pPr>
            <a:r>
              <a:rPr lang="en-US" sz="1100" i="1" dirty="0">
                <a:solidFill>
                  <a:srgbClr val="5A6472"/>
                </a:solidFill>
                <a:latin typeface="Calibri" pitchFamily="34" charset="0"/>
                <a:cs typeface="Amiri" pitchFamily="2" charset="-78"/>
              </a:rPr>
              <a:t>TWO dots above</a:t>
            </a:r>
            <a:endParaRPr lang="en-US" sz="1350" dirty="0"/>
          </a:p>
        </p:txBody>
      </p:sp>
      <p:sp>
        <p:nvSpPr>
          <p:cNvPr id="60" name="Shape 5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62" name="Text 59"/>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قَافٌ</a:t>
            </a:r>
            <a:endParaRPr lang="ar-SA" sz="135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6" name="Shape 6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7" name="Text 6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8" name="Text 6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4050" b="1" dirty="0">
                <a:solidFill>
                  <a:srgbClr val="1B3B6F"/>
                </a:solidFill>
                <a:latin typeface="Amiri" pitchFamily="2" charset="-78"/>
                <a:ea typeface="Amiri" pitchFamily="2" charset="-78"/>
                <a:cs typeface="Amiri" pitchFamily="2" charset="-78"/>
              </a:rPr>
              <a:t>كِتَابٌ</a:t>
            </a:r>
            <a:endParaRPr lang="ar-SA" sz="4050" dirty="0"/>
          </a:p>
        </p:txBody>
      </p:sp>
      <p:sp>
        <p:nvSpPr>
          <p:cNvPr id="69" name="Text 6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book</a:t>
            </a:r>
            <a:endParaRPr lang="en-US" sz="1350" dirty="0"/>
          </a:p>
          <a:p>
            <a:pPr indent="0" marL="0">
              <a:buNone/>
            </a:pPr>
            <a:r>
              <a:rPr lang="en-US" sz="1100" i="1" dirty="0">
                <a:solidFill>
                  <a:srgbClr val="5A6472"/>
                </a:solidFill>
                <a:latin typeface="Calibri" pitchFamily="34" charset="0"/>
                <a:cs typeface="Amiri" pitchFamily="2" charset="-78"/>
              </a:rPr>
              <a:t>ki-tā-bun</a:t>
            </a:r>
            <a:endParaRPr lang="en-US" sz="1350" dirty="0"/>
          </a:p>
        </p:txBody>
      </p:sp>
      <p:sp>
        <p:nvSpPr>
          <p:cNvPr id="70" name="Shape 6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566928" y="4261104"/>
            <a:ext cx="310896" cy="310896"/>
          </a:xfrm>
          <a:prstGeom prst="ellipse">
            <a:avLst/>
          </a:prstGeom>
          <a:solidFill>
            <a:srgbClr val="F4F1EA"/>
          </a:solidFill>
          <a:ln w="12700">
            <a:solidFill>
              <a:srgbClr val="F4F1EA"/>
            </a:solidFill>
            <a:prstDash val="solid"/>
          </a:ln>
        </p:spPr>
      </p:sp>
      <p:sp>
        <p:nvSpPr>
          <p:cNvPr id="72" name="Text 6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3" name="Shape 7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74" name="Text 7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5" name="Text 7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4050" b="1" dirty="0">
                <a:solidFill>
                  <a:srgbClr val="1B3B6F"/>
                </a:solidFill>
                <a:latin typeface="Amiri" pitchFamily="2" charset="-78"/>
                <a:ea typeface="Amiri" pitchFamily="2" charset="-78"/>
                <a:cs typeface="Amiri" pitchFamily="2" charset="-78"/>
              </a:rPr>
              <a:t>صَدِيقٌ</a:t>
            </a:r>
            <a:endParaRPr lang="ar-SA" sz="4050" dirty="0"/>
          </a:p>
        </p:txBody>
      </p:sp>
      <p:sp>
        <p:nvSpPr>
          <p:cNvPr id="76" name="Text 7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friend</a:t>
            </a:r>
            <a:endParaRPr lang="en-US" sz="1350" dirty="0"/>
          </a:p>
          <a:p>
            <a:pPr indent="0" marL="0">
              <a:buNone/>
            </a:pPr>
            <a:r>
              <a:rPr lang="en-US" sz="1100" i="1" dirty="0">
                <a:solidFill>
                  <a:srgbClr val="5A6472"/>
                </a:solidFill>
                <a:latin typeface="Calibri" pitchFamily="34" charset="0"/>
                <a:cs typeface="Amiri" pitchFamily="2" charset="-78"/>
              </a:rPr>
              <a:t>ṣa-dī-qun</a:t>
            </a:r>
            <a:endParaRPr lang="en-US" sz="13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F1-W02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F1-L04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F1-L04 · Complete the Alphabet &amp; Read Short Vowels</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حُرُوفُ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F1-W02 · Apply workshop (F1-L03 + F1-L04)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letter 23</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ea typeface="Amiri" pitchFamily="2" charset="-78"/>
                <a:cs typeface="Amiri" pitchFamily="2" charset="-78"/>
              </a:rPr>
              <a:t>ل</a:t>
            </a:r>
            <a:endParaRPr lang="ar-SA" sz="33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lām — /l/</a:t>
            </a:r>
            <a:endParaRPr lang="en-US" sz="1350" dirty="0"/>
          </a:p>
          <a:p>
            <a:pPr indent="0" marL="0">
              <a:buNone/>
            </a:pPr>
            <a:r>
              <a:rPr lang="en-US" sz="1100" i="1" dirty="0">
                <a:solidFill>
                  <a:srgbClr val="5A6472"/>
                </a:solidFill>
                <a:latin typeface="Calibri" pitchFamily="34" charset="0"/>
                <a:cs typeface="Amiri" pitchFamily="2" charset="-78"/>
              </a:rPr>
              <a:t>tall stem · connector</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لَامٌ</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0" name="Shape 27"/>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letter 25</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ea typeface="Amiri" pitchFamily="2" charset="-78"/>
                <a:cs typeface="Amiri" pitchFamily="2" charset="-78"/>
              </a:rPr>
              <a:t>ن</a:t>
            </a:r>
            <a:endParaRPr lang="ar-SA" sz="33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nūn — /n/</a:t>
            </a:r>
            <a:endParaRPr lang="en-US" sz="1350" dirty="0"/>
          </a:p>
          <a:p>
            <a:pPr indent="0" marL="0">
              <a:buNone/>
            </a:pPr>
            <a:r>
              <a:rPr lang="en-US" sz="1100" i="1" dirty="0">
                <a:solidFill>
                  <a:srgbClr val="5A6472"/>
                </a:solidFill>
                <a:latin typeface="Calibri" pitchFamily="34" charset="0"/>
                <a:cs typeface="Amiri" pitchFamily="2" charset="-78"/>
              </a:rPr>
              <a:t>ONE dot above · connector</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نُونٌ</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2" name="Shape 39"/>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letter 27</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ea typeface="Amiri" pitchFamily="2" charset="-78"/>
                <a:cs typeface="Amiri" pitchFamily="2" charset="-78"/>
              </a:rPr>
              <a:t>و</a:t>
            </a:r>
            <a:endParaRPr lang="ar-SA" sz="33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wāw — /w/ or long ū</a:t>
            </a:r>
            <a:endParaRPr lang="en-US" sz="1350" dirty="0"/>
          </a:p>
          <a:p>
            <a:pPr indent="0" marL="0">
              <a:buNone/>
            </a:pPr>
            <a:r>
              <a:rPr lang="en-US" sz="1100" i="1" dirty="0">
                <a:solidFill>
                  <a:srgbClr val="5A6472"/>
                </a:solidFill>
                <a:latin typeface="Calibri" pitchFamily="34" charset="0"/>
                <a:cs typeface="Amiri" pitchFamily="2" charset="-78"/>
              </a:rPr>
              <a:t>BREAKER</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50" name="Text 47"/>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وَاوٌ</a:t>
            </a:r>
            <a:endParaRPr lang="ar-SA" sz="135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4" name="Shape 5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4050" b="1" dirty="0">
                <a:solidFill>
                  <a:srgbClr val="1B3B6F"/>
                </a:solidFill>
                <a:latin typeface="Amiri" pitchFamily="2" charset="-78"/>
                <a:ea typeface="Amiri" pitchFamily="2" charset="-78"/>
                <a:cs typeface="Amiri" pitchFamily="2" charset="-78"/>
              </a:rPr>
              <a:t>قَلَمٌ</a:t>
            </a:r>
            <a:endParaRPr lang="ar-SA" sz="4050" dirty="0"/>
          </a:p>
        </p:txBody>
      </p:sp>
      <p:sp>
        <p:nvSpPr>
          <p:cNvPr id="57" name="Text 5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pen</a:t>
            </a:r>
            <a:endParaRPr lang="en-US" sz="1350" dirty="0"/>
          </a:p>
          <a:p>
            <a:pPr indent="0" marL="0">
              <a:buNone/>
            </a:pPr>
            <a:r>
              <a:rPr lang="en-US" sz="1100" i="1" dirty="0">
                <a:solidFill>
                  <a:srgbClr val="5A6472"/>
                </a:solidFill>
                <a:latin typeface="Calibri" pitchFamily="34" charset="0"/>
                <a:cs typeface="Amiri" pitchFamily="2" charset="-78"/>
              </a:rPr>
              <a:t>qa-la-mun</a:t>
            </a:r>
            <a:endParaRPr lang="en-US" sz="1350" dirty="0"/>
          </a:p>
        </p:txBody>
      </p:sp>
      <p:sp>
        <p:nvSpPr>
          <p:cNvPr id="58" name="Shape 5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4389120"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61" name="Shape 58"/>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3" name="Text 60"/>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4050" b="1" dirty="0">
                <a:solidFill>
                  <a:srgbClr val="1B3B6F"/>
                </a:solidFill>
                <a:latin typeface="Amiri" pitchFamily="2" charset="-78"/>
                <a:ea typeface="Amiri" pitchFamily="2" charset="-78"/>
                <a:cs typeface="Amiri" pitchFamily="2" charset="-78"/>
              </a:rPr>
              <a:t>وَلَدٌ</a:t>
            </a:r>
            <a:endParaRPr lang="ar-SA" sz="4050" dirty="0"/>
          </a:p>
        </p:txBody>
      </p:sp>
      <p:sp>
        <p:nvSpPr>
          <p:cNvPr id="64" name="Text 61"/>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boy</a:t>
            </a:r>
            <a:endParaRPr lang="en-US" sz="1350" dirty="0"/>
          </a:p>
          <a:p>
            <a:pPr indent="0" marL="0">
              <a:buNone/>
            </a:pPr>
            <a:r>
              <a:rPr lang="en-US" sz="1100" i="1" dirty="0">
                <a:solidFill>
                  <a:srgbClr val="5A6472"/>
                </a:solidFill>
                <a:latin typeface="Calibri" pitchFamily="34" charset="0"/>
                <a:cs typeface="Amiri" pitchFamily="2" charset="-78"/>
              </a:rPr>
              <a:t>wa-la-dun</a:t>
            </a:r>
            <a:endParaRPr lang="en-US" sz="1350" dirty="0"/>
          </a:p>
        </p:txBody>
      </p:sp>
      <p:sp>
        <p:nvSpPr>
          <p:cNvPr id="65" name="Shape 6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566928"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68" name="Shape 6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0" name="Text 6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4050" b="1" dirty="0">
                <a:solidFill>
                  <a:srgbClr val="1B3B6F"/>
                </a:solidFill>
                <a:latin typeface="Amiri" pitchFamily="2" charset="-78"/>
                <a:ea typeface="Amiri" pitchFamily="2" charset="-78"/>
                <a:cs typeface="Amiri" pitchFamily="2" charset="-78"/>
              </a:rPr>
              <a:t>يَدٌ</a:t>
            </a:r>
            <a:endParaRPr lang="ar-SA" sz="4050" dirty="0"/>
          </a:p>
        </p:txBody>
      </p:sp>
      <p:sp>
        <p:nvSpPr>
          <p:cNvPr id="71" name="Text 6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hand</a:t>
            </a:r>
            <a:endParaRPr lang="en-US" sz="1350" dirty="0"/>
          </a:p>
          <a:p>
            <a:pPr indent="0" marL="0">
              <a:buNone/>
            </a:pPr>
            <a:r>
              <a:rPr lang="en-US" sz="1100" i="1" dirty="0">
                <a:solidFill>
                  <a:srgbClr val="5A6472"/>
                </a:solidFill>
                <a:latin typeface="Calibri" pitchFamily="34" charset="0"/>
                <a:cs typeface="Amiri" pitchFamily="2" charset="-78"/>
              </a:rPr>
              <a:t>ya-dun</a:t>
            </a:r>
            <a:endParaRPr lang="en-US" sz="13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1 · STEP 2 · WHICH LESSON?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does it come from?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F1-W02 · Apply workshop (F1-L03 + F1-L04)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 · بُ · بِ · بْ</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 · بُو · بِي</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F1-L03 · Powerful Sounds &amp; Long Vowels</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F1-L04 · Complete the Alphabet &amp; Read Short Vowels</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F1-W02 · Apply workshop (F1-L03 + F1-L04)</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F1-L03 · Powerful Sounds &amp; Long Vowels</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 · بُو · بِي</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F1-L04 · Complete the Alphabet &amp; Read Short Vowels</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 · بُ · بِ · بْ</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2F6FB0"/>
                </a:solidFill>
                <a:latin typeface="Calibri" pitchFamily="34" charset="0"/>
                <a:cs typeface="Amiri" pitchFamily="2" charset="-78"/>
              </a:rPr>
              <a:t>PART 2 · STEP 3 · SAY THE MINI-DIALOGUE · BOTH LESSONS IN ONE CONVERSATION</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does the label say?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مَاذَا عَلَى اللَّافِتَةِ؟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F1-W02 · Apply workshop (F1-L03 + F1-L04)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Read the label, please.</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اقْرَأِ اللَّافِتَةَ، مِنْ فَضْلِكَ.</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mawz (bananas).</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مَوْزٌ.</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the first letter?</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مَا أَوَّلُ حَرْفٍ؟</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mīm, with a fatḥa on it: ma.</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مِيمٌ، وَعَلَيْهِ فَتْحَةٌ: مَ.</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this one? (sūq)</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وَهٰذِهِ؟ (سُوقٌ)</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sūq — sīn, then a long wāw, then qāf.</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سُوقٌ — السِّينُ، ثُمَّ وَاوٌ طَوِيلَةٌ، ثُمَّ قَافٌ.</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Round 2: swap letters. Round 3: A points to a NEW letter or word from either lesson; B reads it and explains one thing about it (dots, a mark, a position).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POINT-AND-SAY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Point, say, check — both lessons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F1-W02 · Apply workshop (F1-L03 + F1-L04)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Then read (Develop)</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 says (Core)</a:t>
            </a:r>
            <a:endParaRPr lang="en-US" sz="1100" dirty="0"/>
          </a:p>
        </p:txBody>
      </p:sp>
      <p:sp>
        <p:nvSpPr>
          <p:cNvPr id="18" name="Text 15"/>
          <p:cNvSpPr txBox="1"/>
          <p:nvPr/>
        </p:nvSpPr>
        <p:spPr>
          <a:xfrm>
            <a:off x="432511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Hint</a:t>
            </a:r>
            <a:endParaRPr lang="en-US" sz="1100" dirty="0"/>
          </a:p>
        </p:txBody>
      </p:sp>
      <p:sp>
        <p:nvSpPr>
          <p:cNvPr id="19" name="Text 16"/>
          <p:cNvSpPr txBox="1"/>
          <p:nvPr/>
        </p:nvSpPr>
        <p:spPr>
          <a:xfrm>
            <a:off x="1033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points to / says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طَبِيبٌ</a:t>
            </a:r>
            <a:endParaRPr lang="ar-SA" sz="18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طَاءٌ</a:t>
            </a:r>
            <a:endParaRPr lang="ar-SA" sz="1800" dirty="0"/>
          </a:p>
        </p:txBody>
      </p:sp>
      <p:sp>
        <p:nvSpPr>
          <p:cNvPr id="24" name="Text 21"/>
          <p:cNvSpPr txBox="1"/>
          <p:nvPr/>
        </p:nvSpPr>
        <p:spPr>
          <a:xfrm>
            <a:off x="4361688" y="2267712"/>
            <a:ext cx="24688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heavy t · compare </a:t>
            </a:r>
            <a:pPr algn="l" indent="0" marL="0">
              <a:buNone/>
            </a:pPr>
            <a:r>
              <a:rPr lang="ar-SA" altLang="en-US" sz="1450" dirty="0">
                <a:solidFill>
                  <a:srgbClr val="5A6472"/>
                </a:solidFill>
                <a:latin typeface="Amiri" pitchFamily="2" charset="-78"/>
                <a:ea typeface="Amiri" pitchFamily="2" charset="-78"/>
                <a:cs typeface="Amiri" pitchFamily="2" charset="-78"/>
              </a:rPr>
              <a:t>ت</a:t>
            </a:r>
            <a:endParaRPr lang="en-US" sz="1100" dirty="0"/>
          </a:p>
        </p:txBody>
      </p:sp>
      <p:sp>
        <p:nvSpPr>
          <p:cNvPr id="25" name="Text 22"/>
          <p:cNvSpPr txBox="1"/>
          <p:nvPr/>
        </p:nvSpPr>
        <p:spPr>
          <a:xfrm>
            <a:off x="1051560" y="2267712"/>
            <a:ext cx="31089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ط</a:t>
            </a:r>
            <a:endParaRPr lang="ar-SA" sz="20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قَلَمٌ</a:t>
            </a:r>
            <a:endParaRPr lang="ar-SA" sz="18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لَامٌ</a:t>
            </a:r>
            <a:endParaRPr lang="ar-SA" sz="1800" dirty="0"/>
          </a:p>
        </p:txBody>
      </p:sp>
      <p:sp>
        <p:nvSpPr>
          <p:cNvPr id="32" name="Text 29"/>
          <p:cNvSpPr txBox="1"/>
          <p:nvPr/>
        </p:nvSpPr>
        <p:spPr>
          <a:xfrm>
            <a:off x="4361688" y="2881884"/>
            <a:ext cx="24688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lām · /l/</a:t>
            </a:r>
            <a:endParaRPr lang="en-US" sz="1100" dirty="0"/>
          </a:p>
        </p:txBody>
      </p:sp>
      <p:sp>
        <p:nvSpPr>
          <p:cNvPr id="33" name="Text 30"/>
          <p:cNvSpPr txBox="1"/>
          <p:nvPr/>
        </p:nvSpPr>
        <p:spPr>
          <a:xfrm>
            <a:off x="1051560" y="2881884"/>
            <a:ext cx="31089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ل</a:t>
            </a:r>
            <a:endParaRPr lang="ar-SA" sz="20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عَصِيرٌ</a:t>
            </a:r>
            <a:endParaRPr lang="ar-SA" sz="18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عَيْنٌ</a:t>
            </a:r>
            <a:endParaRPr lang="ar-SA" sz="1800" dirty="0"/>
          </a:p>
        </p:txBody>
      </p:sp>
      <p:sp>
        <p:nvSpPr>
          <p:cNvPr id="40" name="Text 37"/>
          <p:cNvSpPr txBox="1"/>
          <p:nvPr/>
        </p:nvSpPr>
        <p:spPr>
          <a:xfrm>
            <a:off x="4361688" y="3496056"/>
            <a:ext cx="24688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from the throat · no English sound (word: juice)</a:t>
            </a:r>
            <a:endParaRPr lang="en-US" sz="1100" dirty="0"/>
          </a:p>
        </p:txBody>
      </p:sp>
      <p:sp>
        <p:nvSpPr>
          <p:cNvPr id="41" name="Text 38"/>
          <p:cNvSpPr txBox="1"/>
          <p:nvPr/>
        </p:nvSpPr>
        <p:spPr>
          <a:xfrm>
            <a:off x="1051560" y="3496056"/>
            <a:ext cx="31089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ع</a:t>
            </a:r>
            <a:endParaRPr lang="ar-SA" sz="20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بِنْتٌ</a:t>
            </a:r>
            <a:endParaRPr lang="ar-SA" sz="18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نُونٌ</a:t>
            </a:r>
            <a:endParaRPr lang="ar-SA" sz="1800" dirty="0"/>
          </a:p>
        </p:txBody>
      </p:sp>
      <p:sp>
        <p:nvSpPr>
          <p:cNvPr id="48" name="Text 45"/>
          <p:cNvSpPr txBox="1"/>
          <p:nvPr/>
        </p:nvSpPr>
        <p:spPr>
          <a:xfrm>
            <a:off x="4361688" y="4110228"/>
            <a:ext cx="24688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nūn · one dot above · /n/</a:t>
            </a:r>
            <a:endParaRPr lang="en-US" sz="1100" dirty="0"/>
          </a:p>
        </p:txBody>
      </p:sp>
      <p:sp>
        <p:nvSpPr>
          <p:cNvPr id="49" name="Text 46"/>
          <p:cNvSpPr txBox="1"/>
          <p:nvPr/>
        </p:nvSpPr>
        <p:spPr>
          <a:xfrm>
            <a:off x="1051560" y="4110228"/>
            <a:ext cx="31089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ن</a:t>
            </a:r>
            <a:endParaRPr lang="ar-SA" sz="20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غَابَ</a:t>
            </a:r>
            <a:endParaRPr lang="ar-SA" sz="18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غَيْنٌ</a:t>
            </a:r>
            <a:endParaRPr lang="ar-SA" sz="1800" dirty="0"/>
          </a:p>
        </p:txBody>
      </p:sp>
      <p:sp>
        <p:nvSpPr>
          <p:cNvPr id="56" name="Text 53"/>
          <p:cNvSpPr txBox="1"/>
          <p:nvPr/>
        </p:nvSpPr>
        <p:spPr>
          <a:xfrm>
            <a:off x="4361688" y="4724400"/>
            <a:ext cx="24688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like a gargled r · dot above (word: he was absent)</a:t>
            </a:r>
            <a:endParaRPr lang="en-US" sz="1100" dirty="0"/>
          </a:p>
        </p:txBody>
      </p:sp>
      <p:sp>
        <p:nvSpPr>
          <p:cNvPr id="57" name="Text 54"/>
          <p:cNvSpPr txBox="1"/>
          <p:nvPr/>
        </p:nvSpPr>
        <p:spPr>
          <a:xfrm>
            <a:off x="1051560" y="4724400"/>
            <a:ext cx="31089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غ</a:t>
            </a:r>
            <a:endParaRPr lang="ar-SA" sz="20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نَهْرٌ</a:t>
            </a:r>
            <a:endParaRPr lang="ar-SA" sz="18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هَاءٌ</a:t>
            </a:r>
            <a:endParaRPr lang="ar-SA" sz="1800" dirty="0"/>
          </a:p>
        </p:txBody>
      </p:sp>
      <p:sp>
        <p:nvSpPr>
          <p:cNvPr id="62" name="Text 59"/>
          <p:cNvSpPr txBox="1"/>
          <p:nvPr/>
        </p:nvSpPr>
        <p:spPr>
          <a:xfrm>
            <a:off x="4361688" y="5338572"/>
            <a:ext cx="24688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hāʾ · a light h, as in hat</a:t>
            </a:r>
            <a:endParaRPr lang="en-US" sz="1100" dirty="0"/>
          </a:p>
        </p:txBody>
      </p:sp>
      <p:sp>
        <p:nvSpPr>
          <p:cNvPr id="63" name="Text 60"/>
          <p:cNvSpPr txBox="1"/>
          <p:nvPr/>
        </p:nvSpPr>
        <p:spPr>
          <a:xfrm>
            <a:off x="1051560" y="5338572"/>
            <a:ext cx="31089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ه</a:t>
            </a:r>
            <a:endParaRPr lang="ar-SA" sz="20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the first lesson, even numbers from the second. Core: say the sound or read the word. Develop: do the “then” part. Stretch: give your own example. Swap after each card.</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5 · READING CARD · USE THE PLAN, THEN HIDE IT AND SPEAK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card — the market labels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بِطَاقَةُ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F1-W02 · Apply workshop (F1-L03 + F1-L04)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Hint</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shows /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93608" y="2267712"/>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 · ṭa · sa · ṣa</a:t>
            </a:r>
            <a:endParaRPr lang="en-US" sz="11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Read them: plain, then powerful.</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 · طَ · سَ · صَ</a:t>
            </a:r>
            <a:endParaRPr lang="ar-SA" sz="20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93608" y="3004718"/>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bā · bū · bī</a:t>
            </a:r>
            <a:endParaRPr lang="en-US" sz="11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Read the three long vowels.</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بَا · بُو · بِي</a:t>
            </a:r>
            <a:endParaRPr lang="ar-SA" sz="20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93608" y="3741725"/>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qalam · mawz · nahr</a:t>
            </a:r>
            <a:endParaRPr lang="en-US" sz="11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Read the three labels.</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قَلَمٌ · مَوْزٌ · نَهْرٌ</a:t>
            </a:r>
            <a:endParaRPr lang="ar-SA" sz="20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293608" y="4478731"/>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ā in kitāb · ī in ṭabīb</a:t>
            </a:r>
            <a:endParaRPr lang="en-US" sz="1100" dirty="0"/>
          </a:p>
        </p:txBody>
      </p:sp>
      <p:sp>
        <p:nvSpPr>
          <p:cNvPr id="43" name="Text 40"/>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Read both; say where the long vowels are.</a:t>
            </a:r>
            <a:endParaRPr lang="en-US" sz="1100" dirty="0"/>
          </a:p>
        </p:txBody>
      </p:sp>
      <p:sp>
        <p:nvSpPr>
          <p:cNvPr id="44" name="Text 41"/>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كِتَابٌ · طَبِيبٌ</a:t>
            </a:r>
            <a:endParaRPr lang="ar-SA" sz="2000" dirty="0"/>
          </a:p>
        </p:txBody>
      </p:sp>
      <p:sp>
        <p:nvSpPr>
          <p:cNvPr id="45" name="Text 42"/>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293608" y="5215738"/>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small circle</a:t>
            </a:r>
            <a:endParaRPr lang="en-US" sz="1100" dirty="0"/>
          </a:p>
        </p:txBody>
      </p:sp>
      <p:sp>
        <p:nvSpPr>
          <p:cNvPr id="50" name="Text 47"/>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mark means “no vowel”? Point to it.</a:t>
            </a:r>
            <a:endParaRPr lang="en-US" sz="1100" dirty="0"/>
          </a:p>
        </p:txBody>
      </p:sp>
      <p:sp>
        <p:nvSpPr>
          <p:cNvPr id="51" name="Text 48"/>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بِنْتٌ</a:t>
            </a:r>
            <a:endParaRPr lang="ar-SA" sz="2000" dirty="0"/>
          </a:p>
        </p:txBody>
      </p:sp>
      <p:sp>
        <p:nvSpPr>
          <p:cNvPr id="52" name="Text 49"/>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Speaker = the reader · Partner A = the stall keeper. Read from RIGHT to left. Task ! is a surprise — Partner A asks it without warning. Then swap roles.</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READ-ALOUD RACE · 30 SECONDS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Label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اللَّافِتَاتِ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F1-W02 · Apply workshop (F1-L03 + F1-L04)</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1800" b="1" dirty="0">
                <a:solidFill>
                  <a:srgbClr val="1B3B6F"/>
                </a:solidFill>
                <a:latin typeface="Calibri" pitchFamily="34" charset="0"/>
                <a:cs typeface="Amiri" pitchFamily="2" charset="-78"/>
              </a:rPr>
              <a:t>⏱  Read aloud for 30 seconds — as many as you can</a:t>
            </a:r>
            <a:endParaRPr lang="en-US" sz="18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In 30 seconds, read as many labels as you can from the two Step 1 word slides — letters, then words. The partner counts the correct ones and listens for the powerful sounds and the long vowels.</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Leader points to the list on the slide (or in your book).</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Speaker reads aloud for 30 seconds; the Coach counts the correct ones.</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Coach: one sound that was perfect + one to practise.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try to beat your own score, not your partner’s.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Read the fourteen new letter names.</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Read the sounds with a fatḥa, then four words.</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Read every word, then say which ones have a long vowel.</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أَحْسَنْتَ! / أَحْسَنْتِ!</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well done! (m. / f.)</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once more</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بِبُطْءٍ</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slowly</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BUILD THE WORD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Build three more words from their parts</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الكَلِمَةَ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F1-W02 · Apply workshop (F1-L03 + F1-L04)</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book — kitāb</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كِ</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قِ</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تَا</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طَا</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pen — qalam</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قَ</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كَ</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نٌ</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doctor — ṭabīb</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طَ</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بِي</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بُو</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ثٌ</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the word: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الكَلِمَةَ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F1-W02 · Apply workshop (F1-L03 + F1-L04)</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book — kitāb</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plain k and plain t; long ā = alif.</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كِتَابٌ</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pen — qalam</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qa · la · mun — fatḥa twice, then tanwīn.</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قَلَمٌ</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doctor — ṭabīb</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heavy ṭ; long ī = yāʾ.</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طَبِيبٌ</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THE SLIP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F1-W02 · Apply workshop (F1-L03 + F1-L04)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تَبِيبٌ</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“doctor” starts with a HEAVY 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بَنْتٌ</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“girl” = bint.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كِتَبٌ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“book” has a LONG ā.</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F1-W02 · Apply workshop (F1-L03 + F1-L04)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تَبِيبٌ</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طَبِيبٌ</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ط</a:t>
            </a:r>
            <a:pPr algn="l" indent="0" marL="0">
              <a:buNone/>
            </a:pPr>
            <a:r>
              <a:rPr lang="en-US" sz="1150" b="1" dirty="0">
                <a:solidFill>
                  <a:srgbClr val="1B3B6F"/>
                </a:solidFill>
                <a:latin typeface="Calibri" pitchFamily="34" charset="0"/>
                <a:cs typeface="Amiri" pitchFamily="2" charset="-78"/>
              </a:rPr>
              <a:t> is the emphatic 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بَنْتٌ</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بِنْتٌ</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 = kasra, BELOW the letter.</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كِتَبٌ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كِتَابٌ</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Long ā needs an alif.</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COPY, LISTEN AND WRITE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F1-W02 · Apply workshop (F1-L03 + F1-L04)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إِمْلَاءٌ: ١ ______ ٢ ______ ٣ ______</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Dictation: write it with the marks.</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طَبِيبٌ ______ وَلَدٌ ______</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Copy, then underline the long vowel.</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ض ط ظ ع غ ف ق ك</a:t>
            </a:r>
            <a:endParaRPr lang="ar-SA" sz="180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Copy the eight letters of lesson 1.</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 م ن ه و ي</a:t>
            </a:r>
            <a:endParaRPr lang="ar-SA" sz="180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Copy the six letters of lesson 2.</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كِتَابٌ ______ سُوقٌ ______</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Copy two labels from lesson 1.</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قَلَمٌ ______ مَوْزٌ ______</a:t>
            </a:r>
            <a:endParaRPr lang="ar-SA" sz="18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Copy two labels from lesson 2.</a:t>
            </a:r>
            <a:endParaRPr lang="en-US" sz="1050" dirty="0"/>
          </a:p>
        </p:txBody>
      </p:sp>
      <p:sp>
        <p:nvSpPr>
          <p:cNvPr id="33" name="Shape 30"/>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5" name="Text 32"/>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ض ط ظ  ·  ع غ · ف ق ك  ·  ل م ن ه و ي  ·  بَا · بُو · بِي  ·  كِتَابٌ · سُوقٌ  ·  طَبِيبٌ · صَدِيقٌ  ·  قَلَمٌ · مَوْزٌ  ·  بِنْتٌ · وَلَدٌ</a:t>
            </a:r>
            <a:endParaRPr lang="ar-SA" sz="16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F1-W02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COPY, LISTEN AND WRITE · ONE CONNECTED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Copy, listen and write: the market labels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أَكْتُبُ لَافِتَاتِ السُّوقِ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F1-W02 · Apply workshop (F1-L03 + F1-L04)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51790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51790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SCRIPT</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00" b="1" dirty="0">
                <a:solidFill>
                  <a:srgbClr val="1F2A37"/>
                </a:solidFill>
                <a:latin typeface="Calibri" pitchFamily="34" charset="0"/>
                <a:cs typeface="Amiri" pitchFamily="2" charset="-78"/>
              </a:rPr>
              <a:t>In your book: • copy the fourteen new letters from both lessons, right to left • copy six market labels, three from each lesson • DICTATION: your buddy reads five sounds or words — write them without looking, with the marks • underline every long vowel.</a:t>
            </a:r>
            <a:endParaRPr lang="en-US" sz="13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letter from right to left.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Dots: right number, right place (</a:t>
            </a:r>
            <a:pPr algn="l" indent="0" marL="0">
              <a:buNone/>
            </a:pPr>
            <a:r>
              <a:rPr lang="ar-SA" altLang="en-US" sz="1550" dirty="0">
                <a:solidFill>
                  <a:srgbClr val="1F2A37"/>
                </a:solidFill>
                <a:latin typeface="Amiri" pitchFamily="2" charset="-78"/>
                <a:ea typeface="Amiri" pitchFamily="2" charset="-78"/>
                <a:cs typeface="Amiri" pitchFamily="2" charset="-78"/>
              </a:rPr>
              <a:t>ف</a:t>
            </a:r>
            <a:pPr algn="l" indent="0" marL="0">
              <a:buNone/>
            </a:pPr>
            <a:r>
              <a:rPr lang="en-US" sz="1200" dirty="0">
                <a:solidFill>
                  <a:srgbClr val="1F2A37"/>
                </a:solidFill>
                <a:latin typeface="Calibri" pitchFamily="34" charset="0"/>
                <a:cs typeface="Amiri" pitchFamily="2" charset="-78"/>
              </a:rPr>
              <a:t> one · </a:t>
            </a:r>
            <a:pPr algn="l" indent="0" marL="0">
              <a:buNone/>
            </a:pPr>
            <a:r>
              <a:rPr lang="ar-SA" altLang="en-US" sz="1550" dirty="0">
                <a:solidFill>
                  <a:srgbClr val="1F2A37"/>
                </a:solidFill>
                <a:latin typeface="Amiri" pitchFamily="2" charset="-78"/>
                <a:ea typeface="Amiri" pitchFamily="2" charset="-78"/>
                <a:cs typeface="Amiri" pitchFamily="2" charset="-78"/>
              </a:rPr>
              <a:t>ق</a:t>
            </a:r>
            <a:pPr algn="l" indent="0" marL="0">
              <a:buNone/>
            </a:pPr>
            <a:r>
              <a:rPr lang="en-US" sz="1200" dirty="0">
                <a:solidFill>
                  <a:srgbClr val="1F2A37"/>
                </a:solidFill>
                <a:latin typeface="Calibri" pitchFamily="34" charset="0"/>
                <a:cs typeface="Amiri" pitchFamily="2" charset="-78"/>
              </a:rPr>
              <a:t> two).</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Long vowels written with </a:t>
            </a:r>
            <a:pPr algn="l" indent="0" marL="0">
              <a:buNone/>
            </a:pPr>
            <a:r>
              <a:rPr lang="ar-SA" altLang="en-US" sz="1550" dirty="0">
                <a:solidFill>
                  <a:srgbClr val="1F2A37"/>
                </a:solidFill>
                <a:latin typeface="Amiri" pitchFamily="2" charset="-78"/>
                <a:ea typeface="Amiri" pitchFamily="2" charset="-78"/>
                <a:cs typeface="Amiri" pitchFamily="2" charset="-78"/>
              </a:rPr>
              <a:t>ا</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ي</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Dictation: five items without looking (Develop).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ط · ض · ص · ظ</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powerful (emphatic) sounds</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بَا · بُو · بِي</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long ā · ū · ī</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ـَ ـُ ـِ ـْ</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fatḥa · ḍamma · kasra · sukūn</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 م ن ه و ي</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last six letters</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F1-W02 · Apply workshop (F1-L03 + F1-L04)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 every letter from RIGHT to left?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put the dots in the right place, with the right number?</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join letters correctly — and leave a gap after </a:t>
            </a:r>
            <a:pPr algn="l" indent="0" marL="0">
              <a:buNone/>
            </a:pPr>
            <a:r>
              <a:rPr lang="ar-SA" altLang="en-US" sz="1450" dirty="0">
                <a:solidFill>
                  <a:srgbClr val="5A6472"/>
                </a:solidFill>
                <a:latin typeface="Amiri" pitchFamily="2" charset="-78"/>
                <a:ea typeface="Amiri" pitchFamily="2" charset="-78"/>
                <a:cs typeface="Amiri" pitchFamily="2" charset="-78"/>
              </a:rPr>
              <a:t>ا د ذ ر ز و</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the short-vowel marks in the right place?</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 the dictation words without looking at the slide?</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READING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Reading card: compare with a strong answer</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F1-W02 · Apply workshop (F1-L03 + F1-L04)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 · طَ · سَ · صَ</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ta (plain) · ṭa (powerful) · sa (plain) · ṣa (powerful).</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تَ · طَ · سَ · صَ</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 · بُو · بِي</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bā · bū · bī — </a:t>
            </a:r>
            <a:pPr algn="ctr" indent="0" marL="0">
              <a:buNone/>
            </a:pPr>
            <a:r>
              <a:rPr lang="ar-SA" altLang="en-US" sz="1250" dirty="0">
                <a:solidFill>
                  <a:srgbClr val="5A6472"/>
                </a:solidFill>
                <a:latin typeface="Amiri" pitchFamily="2" charset="-78"/>
                <a:ea typeface="Amiri" pitchFamily="2" charset="-78"/>
                <a:cs typeface="Amiri" pitchFamily="2" charset="-78"/>
              </a:rPr>
              <a:t>ا و ي</a:t>
            </a:r>
            <a:pPr algn="ctr" indent="0" marL="0">
              <a:buNone/>
            </a:pPr>
            <a:r>
              <a:rPr lang="en-US" sz="950" i="1" dirty="0">
                <a:solidFill>
                  <a:srgbClr val="5A6472"/>
                </a:solidFill>
                <a:latin typeface="Calibri" pitchFamily="34" charset="0"/>
                <a:cs typeface="Amiri" pitchFamily="2" charset="-78"/>
              </a:rPr>
              <a:t> make the vowel long.</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بَا · بُو · بِي</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قَلَمٌ · مَوْزٌ · نَهْرٌ</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pen · bananas · river.</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قَلَمٌ · مَوْزٌ · نَهْرٌ</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كِتَابٌ · طَبِيبٌ</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kitāb (long ā) · ṭabīb (long ī).</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كِتَابٌ · طَبِيبٌ</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 — سُكُونٌ</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sukūn on the nūn: bint.</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بِنْتٌ</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COPY, LISTEN AND WRITE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F1-W02 · Apply workshop (F1-L03 + F1-L04)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ض ط ظ ع غ ف ق ك ل م ن ه و ي</a:t>
            </a:r>
            <a:endParaRPr lang="ar-SA" sz="2600" dirty="0"/>
          </a:p>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كِتَابٌ · سُوقٌ · طَبِيبٌ · قَلَمٌ · مَوْزٌ · وَلَدٌ</a:t>
            </a:r>
            <a:endParaRPr lang="ar-SA" sz="2600" dirty="0"/>
          </a:p>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إِمْلَاءٌ: طَ · بُو · نَهْرٌ · بِنْتٌ · صَدِيقٌ</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Line 1: the fourteen new letters. Line 2: six market labels (three from each lesson). Line 3: a dictation of five items with marks. Long vowels: </a:t>
            </a:r>
            <a:pPr algn="l" indent="0" marL="0">
              <a:buNone/>
            </a:pPr>
            <a:r>
              <a:rPr lang="ar-SA" altLang="en-US" sz="1500" dirty="0">
                <a:solidFill>
                  <a:srgbClr val="5A6472"/>
                </a:solidFill>
                <a:latin typeface="Amiri" pitchFamily="2" charset="-78"/>
                <a:ea typeface="Amiri" pitchFamily="2" charset="-78"/>
                <a:cs typeface="Amiri" pitchFamily="2" charset="-78"/>
              </a:rPr>
              <a:t>كِتَاب</a:t>
            </a:r>
            <a:pPr algn="l" indent="0" marL="0">
              <a:buNone/>
            </a:pPr>
            <a:r>
              <a:rPr lang="en-US" sz="1150" i="1" dirty="0">
                <a:solidFill>
                  <a:srgbClr val="5A6472"/>
                </a:solidFill>
                <a:latin typeface="Calibri" pitchFamily="34" charset="0"/>
                <a:cs typeface="Amiri" pitchFamily="2" charset="-78"/>
              </a:rPr>
              <a:t> (ā) · </a:t>
            </a:r>
            <a:pPr algn="l" indent="0" marL="0">
              <a:buNone/>
            </a:pPr>
            <a:r>
              <a:rPr lang="ar-SA" altLang="en-US" sz="1500" dirty="0">
                <a:solidFill>
                  <a:srgbClr val="5A6472"/>
                </a:solidFill>
                <a:latin typeface="Amiri" pitchFamily="2" charset="-78"/>
                <a:ea typeface="Amiri" pitchFamily="2" charset="-78"/>
                <a:cs typeface="Amiri" pitchFamily="2" charset="-78"/>
              </a:rPr>
              <a:t>سُوق</a:t>
            </a:r>
            <a:pPr algn="l" indent="0" marL="0">
              <a:buNone/>
            </a:pPr>
            <a:r>
              <a:rPr lang="en-US" sz="1150" i="1" dirty="0">
                <a:solidFill>
                  <a:srgbClr val="5A6472"/>
                </a:solidFill>
                <a:latin typeface="Calibri" pitchFamily="34" charset="0"/>
                <a:cs typeface="Amiri" pitchFamily="2" charset="-78"/>
              </a:rPr>
              <a:t> (ū) · </a:t>
            </a:r>
            <a:pPr algn="l" indent="0" marL="0">
              <a:buNone/>
            </a:pPr>
            <a:r>
              <a:rPr lang="ar-SA" altLang="en-US" sz="1500" dirty="0">
                <a:solidFill>
                  <a:srgbClr val="5A6472"/>
                </a:solidFill>
                <a:latin typeface="Amiri" pitchFamily="2" charset="-78"/>
                <a:ea typeface="Amiri" pitchFamily="2" charset="-78"/>
                <a:cs typeface="Amiri" pitchFamily="2" charset="-78"/>
              </a:rPr>
              <a:t>طَبِيب</a:t>
            </a:r>
            <a:pPr algn="l" indent="0" marL="0">
              <a:buNone/>
            </a:pPr>
            <a:r>
              <a:rPr lang="en-US" sz="1150" i="1" dirty="0">
                <a:solidFill>
                  <a:srgbClr val="5A6472"/>
                </a:solidFill>
                <a:latin typeface="Calibri" pitchFamily="34" charset="0"/>
                <a:cs typeface="Amiri" pitchFamily="2" charset="-78"/>
              </a:rPr>
              <a:t> (ī) · </a:t>
            </a:r>
            <a:pPr algn="l" indent="0" marL="0">
              <a:buNone/>
            </a:pPr>
            <a:r>
              <a:rPr lang="ar-SA" altLang="en-US" sz="1500" dirty="0">
                <a:solidFill>
                  <a:srgbClr val="5A6472"/>
                </a:solidFill>
                <a:latin typeface="Amiri" pitchFamily="2" charset="-78"/>
                <a:ea typeface="Amiri" pitchFamily="2" charset="-78"/>
                <a:cs typeface="Amiri" pitchFamily="2" charset="-78"/>
              </a:rPr>
              <a:t>صَدِيق</a:t>
            </a:r>
            <a:pPr algn="l" indent="0" marL="0">
              <a:buNone/>
            </a:pPr>
            <a:r>
              <a:rPr lang="en-US" sz="1150" i="1" dirty="0">
                <a:solidFill>
                  <a:srgbClr val="5A6472"/>
                </a:solidFill>
                <a:latin typeface="Calibri" pitchFamily="34" charset="0"/>
                <a:cs typeface="Amiri" pitchFamily="2" charset="-78"/>
              </a:rPr>
              <a:t> (ī).</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ض ط ظ</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سُوقٌ</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مَوْزٌ</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صَدِيقٌ</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F1-W02 · Apply workshop (F1-L03 + F1-L04)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said the sounds and read the words of both lessons.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copied every letter from right to left with the dots in the right place.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read the card aloud without stopping.</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writing and I fixed one thing.</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the dictation and extra words without looking.</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F1-W02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700" b="1" dirty="0">
                <a:solidFill>
                  <a:srgbClr val="FFFFFF"/>
                </a:solidFill>
                <a:latin typeface="Cambria" pitchFamily="34" charset="0"/>
                <a:cs typeface="Amiri" pitchFamily="2" charset="-78"/>
              </a:rPr>
              <a:t>F1-L05 · One Letter, Four Positions</a:t>
            </a:r>
            <a:endParaRPr lang="en-US" sz="27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أَشْكَالُ الحُرُوفِ فِي الكَلِمَةِ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week’s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F1-W02 · Apply Workshop — Labels at the Market Stall</dc:title>
  <dc:subject>PptxGenJS Presentation</dc:subject>
  <dc:creator>Al Madina Online School · Arabic Department</dc:creator>
  <cp:lastModifiedBy>Al Madina Online School · Arabic Department</cp:lastModifiedBy>
  <cp:revision>1</cp:revision>
  <dcterms:created xsi:type="dcterms:W3CDTF">2026-10-26T15:17:12Z</dcterms:created>
  <dcterms:modified xsi:type="dcterms:W3CDTF">2026-10-26T15:17:12Z</dcterms:modified>
</cp:coreProperties>
</file>