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F1-L01 · Learn F1-L02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F1-L01 (Welcome to Arabic — The Alphabet Family) and F1-L02 (New Letter Families &amp; Connection Breakers).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F1-L01 and F1-L02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WHAT WE LEARNT (3 min, main room). Ask: “What can you say after F1-L01? After F1-L02?” Take two answers in the chat for each lesson (one word or one sentence is enough). Then read objective 3 — today’s new situation that needs BOTH lessons. Students tick their route goals at the end of the lesson.
F1-L01 language: letter names and sounds (alif · bāʾ · tāʾ · thāʾ · jīm · ḥāʾ · khāʾ); families that share one shape and differ only in dots (ب ت ث · ج ح خ); dot number and position (fawqa / taḥta); writing from right to left
F1-L02 language: seven new letters (dāl · dhāl · rāʾ · zāy · sīn · shīn · ṣād); pairs that differ only by a dot (د ذ · ر ز · س ش); the connection breakers ا د ذ ر ز never join to the next letter; after al-, a sun letter is doubled (al-shams → ash-shams) and a moon letter keeps the l (al-qamar)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F1-L01 and F1-L02. Teacher reads it once with a confident student; then pairs. Ask: “Which lines are from F1-L01? Which from F1-L02?” ث and the ب family come from F1-L01; ش, ر and the breakers from F1-L02. Ask: which two letters have three dots above? (ث · 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(7 min). One NEW situation that needs both lessons: letters, dots and first words from F1-L01 with the breakers and sun / moon letters from F1-L02. SUPPORTED: the plan column gives the first words, not the full answer. To a girl Partner A says: the feminine forms (-ki / -īna).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F1-L01 and F1-L02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F1-L01 and F1-L02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(26 words). CHECK YOURSELF (2 min). Find each bullet point in the model, and one phrase from F1-L01 and one from F1-L02.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F1  ·  F1-L01 + F1-L02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F1-W01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Our Class Word Wall</a:t>
            </a:r>
            <a:endParaRPr lang="en-US" sz="2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جِدَارُ الكَلِمَاتِ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use the first fourteen letters together: they sort letters by family and dots, read and build short words for a class word wall, spot the connection breakers and the sun letters, race to read the word wall and copy and take dictation of its words.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F1-L01 + F1-L02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complete beginner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F1 › F1-L02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F1-L01 and F1-L02.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mini-dialogue · point-and-say cards · reading card · read-aloud race.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build the word · spot the slip · copy, listen and write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F1-L01 + F1-L02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F1-L01: Welcome to Arabic — The Alphabet Family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F1-L02: New Letter Families &amp; Connection Breakers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the class word wall · Copy, listen and write: our word wall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Say the sounds and read the words of both lessons.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Copy and write with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Read every item on the card without stopping.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dictation without looking.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Read new words with the same letters and marks.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Write extra words of your own.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Letter race: two lessons, one race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Say it, find it —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letters and words from F1-L01 and F1-L02. Partner A says a letter name, sound or word; Partner B finds it and reads it.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Find the letter and say its sound.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the whole word aloud.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another word with the same letter.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F1-L01 · Welcome to Arabic — The Alphabet Family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حُرُوفُ الدَّرْسِ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first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</a:t>
            </a:r>
            <a:endParaRPr lang="ar-SA" sz="33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alif — the first letter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stands alone · no dots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أَلِفٌ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Family 1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</a:t>
            </a:r>
            <a:endParaRPr lang="ar-SA" sz="33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tāʾ — sound /t/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dots ABOVE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تَاءٌ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Family 2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</a:t>
            </a:r>
            <a:endParaRPr lang="ar-SA" sz="33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jīm — sound /dʒ/ (jam)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dot INSIDE / below the bowl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جِيمٌ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Family 2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</a:t>
            </a:r>
            <a:endParaRPr lang="ar-SA" sz="33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khāʾ — sound /x/ (loch)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dot ABOVE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8284464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خَاءٌ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8" name="Text 6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</a:t>
            </a:r>
            <a:endParaRPr lang="ar-SA" sz="4050" dirty="0"/>
          </a:p>
        </p:txBody>
      </p:sp>
      <p:sp>
        <p:nvSpPr>
          <p:cNvPr id="69" name="Text 6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door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bā-bun</a:t>
            </a:r>
            <a:endParaRPr lang="en-US" sz="1350" dirty="0"/>
          </a:p>
        </p:txBody>
      </p:sp>
      <p:sp>
        <p:nvSpPr>
          <p:cNvPr id="70" name="Shape 6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5" name="Text 7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حَبٌّ</a:t>
            </a:r>
            <a:endParaRPr lang="ar-SA" sz="4050" dirty="0"/>
          </a:p>
        </p:txBody>
      </p:sp>
      <p:sp>
        <p:nvSpPr>
          <p:cNvPr id="76" name="Text 7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seeds / grain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ḥab-bun</a:t>
            </a:r>
            <a:endParaRPr lang="en-US" sz="1350" dirty="0"/>
          </a:p>
        </p:txBody>
      </p:sp>
      <p:sp>
        <p:nvSpPr>
          <p:cNvPr id="77" name="Text 7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F1-L02 · New Letter Families &amp; Connection Breakers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حُرُوفُ الدَّرْسِ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pair 1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</a:t>
            </a:r>
            <a:endParaRPr lang="ar-SA" sz="33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dāl — sound /d/ (door)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dot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دَالٌ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pair 2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</a:t>
            </a:r>
            <a:endParaRPr lang="ar-SA" sz="33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rāʾ — sound /r/ (tapped r)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dot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رَاءٌ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tooth family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</a:t>
            </a:r>
            <a:endParaRPr lang="ar-SA" sz="33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sīn — sound /s/ (sun)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 “teeth” · no dots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سِينٌ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emphatic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</a:t>
            </a:r>
            <a:endParaRPr lang="ar-SA" sz="33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ṣād — emphatic /sˤ/ (dark s)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dot · a loop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8284464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صَادٌ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8" name="Text 6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بَحْرٌ</a:t>
            </a:r>
            <a:endParaRPr lang="ar-SA" sz="4050" dirty="0"/>
          </a:p>
        </p:txBody>
      </p:sp>
      <p:sp>
        <p:nvSpPr>
          <p:cNvPr id="69" name="Text 6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sea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baḥ-run</a:t>
            </a:r>
            <a:endParaRPr lang="en-US" sz="1350" dirty="0"/>
          </a:p>
        </p:txBody>
      </p:sp>
      <p:sp>
        <p:nvSpPr>
          <p:cNvPr id="70" name="Shape 6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5" name="Text 72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شَجَرٌ</a:t>
            </a:r>
            <a:endParaRPr lang="ar-SA" sz="4050" dirty="0"/>
          </a:p>
        </p:txBody>
      </p:sp>
      <p:sp>
        <p:nvSpPr>
          <p:cNvPr id="76" name="Text 73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trees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sha-ja-run</a:t>
            </a:r>
            <a:endParaRPr lang="en-US" sz="1350" dirty="0"/>
          </a:p>
        </p:txBody>
      </p:sp>
      <p:sp>
        <p:nvSpPr>
          <p:cNvPr id="77" name="Text 7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WHICH LESSON?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 does it come from?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تَاجٌ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F1-L01 · Welcome to Arabic — The Alphabet Family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F1-L02 · New Letter Families &amp; Connection Breakers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lesson?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F1-L01 · Welcome to Arabic — The Alphabet Family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تَاجٌ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F1-L02 · New Letter Families &amp; Connection Breakers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MINI-DIALOGUE · BOTH LESSONS IN ONE CONVERSATION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letter? Which family?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حَرْفٍ؟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this letter? (points to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هٰذَا الحَرْفُ؟ (ش)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shīn — three dots above.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شِينٌ — ثَلَاثُ نُقَاطٍ فَوْقَ.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this? (points to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وَهٰذَا؟ (ث)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is thāʾ — three dots above too!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ثَاءٌ — ثَلَاثُ نُقَاطٍ فَوْقَ أَيْضًا!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Read: baḥr (sea).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اقْرَأْ: بَحْرٌ.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baḥr — bāʾ, ḥāʾ, rāʾ.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بَحْرٌ — بَاءٌ، حَاءٌ، رَاءٌ.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pairs. Round 2: swap letters. Round 3: A points to ANY letter from both lessons; B names it, says the dots, then reads a word with it.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POINT-AND-SAY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Point, say, check — both lessons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Then read (Develop)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 says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3251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points to / says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بَاءٌ</a:t>
            </a:r>
            <a:endParaRPr lang="ar-SA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3616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dot BELOW · sound /b/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</a:t>
            </a:r>
            <a:endParaRPr lang="ar-SA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دَالٌ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3616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 dot · /d/ · a breaker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تَاجٌ</a:t>
            </a:r>
            <a:endParaRPr lang="ar-SA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تَاءٌ</a:t>
            </a:r>
            <a:endParaRPr lang="ar-SA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43616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dots ABOVE · sound /t/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</a:t>
            </a:r>
            <a:endParaRPr lang="ar-SA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ذُرَةٌ</a:t>
            </a:r>
            <a:endParaRPr lang="ar-SA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ذَالٌ</a:t>
            </a:r>
            <a:endParaRPr lang="ar-SA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43616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dot above · /ð/ as in this (word: corn)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</a:t>
            </a:r>
            <a:endParaRPr lang="ar-SA" sz="20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ثَلَاثَةٌ</a:t>
            </a:r>
            <a:endParaRPr lang="ar-SA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ثَاءٌ</a:t>
            </a:r>
            <a:endParaRPr lang="ar-SA" sz="1800" dirty="0"/>
          </a:p>
        </p:txBody>
      </p:sp>
      <p:sp>
        <p:nvSpPr>
          <p:cNvPr id="56" name="Text 53"/>
          <p:cNvSpPr txBox="1"/>
          <p:nvPr/>
        </p:nvSpPr>
        <p:spPr>
          <a:xfrm>
            <a:off x="43616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three dots above · /θ/ as in thin (word: three)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</a:t>
            </a:r>
            <a:endParaRPr lang="ar-SA" sz="20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خُبْزٌ</a:t>
            </a:r>
            <a:endParaRPr lang="ar-SA" sz="18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زَايٌ</a:t>
            </a:r>
            <a:endParaRPr lang="ar-SA" sz="1800" dirty="0"/>
          </a:p>
        </p:txBody>
      </p:sp>
      <p:sp>
        <p:nvSpPr>
          <p:cNvPr id="62" name="Text 59"/>
          <p:cNvSpPr txBox="1"/>
          <p:nvPr/>
        </p:nvSpPr>
        <p:spPr>
          <a:xfrm>
            <a:off x="43616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dot above · /z/ as in zoo · a breaker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</a:t>
            </a:r>
            <a:endParaRPr lang="ar-SA" sz="20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the first lesson, even numbers from the second. Core: say the sound or read the word. Develop: do the “then” part. Stretch: give your own example. Swap after each card.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READING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 — the class word wall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بِطَاقَةُ القِرَاءَةِ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shows /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 · ta · tha · da · dha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the five sounds.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 · تَ · ثَ · دَ · ذَ</a:t>
            </a:r>
            <a:endParaRPr lang="ar-SA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bāb · baḥr · khubz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the three words; say one meaning.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 · بَحْرٌ · خُبْزٌ</a:t>
            </a:r>
            <a:endParaRPr lang="ar-SA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look for a gap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letter does not join to the next one?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</a:t>
            </a:r>
            <a:endParaRPr lang="ar-SA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 / al-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both; which has a sun letter?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الشَّجَرُ · الحَبُّ</a:t>
            </a:r>
            <a:endParaRPr lang="ar-SA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shape, not dots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Point to the letter that is NOT in the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family.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 · ح · خ · ز</a:t>
            </a:r>
            <a:endParaRPr lang="ar-SA" sz="20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reader · Partner A = the card holder. Read from RIGHT to left. Task ! is a surprise — Partner A asks it without warning.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READ-ALOUD RACE · 30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Word-wall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الجِدَارِ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Read aloud for 30 seconds — as many as you can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30 seconds, read the fourteen letters in order (names or sounds), then as many words from the two Step 1 word slides as you can. The partner counts the correct ones.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points to the list on the slide (or in your book).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Speaker reads aloud for 30 seconds; the Coach counts the correct ones.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one sound that was perfect + one to practise.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try to beat your own score, not your partner’s.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the fourteen letter names in order.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the sounds, then four words.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all seven words, then say which letters in them are breakers.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once more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بِبُطْءٍ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slowly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BUILD THE WORD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more words from their parts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الكَلِمَةَ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door — bāb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بٌ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ثٌ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lesson — dars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رْ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زْ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سٌ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شٌ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crown — tāj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جٌ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خٌ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the word: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الكَلِمَةَ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door — bāb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 + ā + b: one dot below, twice.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lesson — dars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 + r + s — no dots at all; the word breaks after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crown — tāj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dots above (t); j has its dot below.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تَاجٌ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THE SLIP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تَابٌ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“door” starts with ONE dot below.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دَرْشٌ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“lesson” ends in plain 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أَجٌ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“brother” has “kh” as in loch …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تَابٌ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= one dot below;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= two dots above.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دَرْشٌ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has no dots;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has three.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أَجٌ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أَخٌ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has its dot ABOVE;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has it below.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١ ______ ٢ ______ ٣ ______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Dictation: write what your buddy says.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خُبْزٌ ______ شَجَرٌ ______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Copy, then circle the breakers.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ب ت ث ج ح خ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first seven letters.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 ذ ر ز س ش ص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the next seven letters.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 ______ تَاجٌ ______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two words from lesson 1.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 ______ بَحْرٌ ______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two words from lesson 2.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 ت ث  ·  ج ح خ  ·  د ذ · ر ز  ·  س ش ص  ·  بَابٌ · تَاجٌ  ·  أَخٌ · حَبٌّ  ·  دَرْسٌ · بَحْرٌ  ·  خُبْزٌ · شَجَرٌ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ONE CONNECTED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Copy, listen and write: our word wall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أَكْتُبُ جِدَارَ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SCRIPT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your book: • copy the fourteen letters in order, from right to left • copy six word-wall words, three from each lesson • DICTATION: your buddy reads five letters or words — write them without looking • circle the breakers in your words • label each letter in one word.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Every letter written from right to left.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Dots: the right number, in the right place.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Each letter labelled with its name.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Dictation: five items without looking (Develop).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 · ت · ث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shape, 1 · 2 · 3 dots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 · ح · خ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dot below · no dot · dot above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never join to the next letter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الشَّمْسُ · القَمَرُ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sun letter · moon letter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every letter from RIGHT to left?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put the dots in the right place, with the right number?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join letters correctly — and leave a gap after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 و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the short-vowel marks in the right place?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the dictation words without looking at the slide?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READING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card: compare with a strong answer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 · تَ · ثَ · دَ · ذَ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 · ta · tha · da · dha — count the dots.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 · تَ · ثَ · دَ · ذَ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 · بَحْرٌ · خُبْزٌ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door · sea · bread.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 · بَحْرٌ · خُبْزٌ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 — دَالٌ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dāl — a connection breaker.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الشَّجَرُ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ash-shajar — </a:t>
            </a:r>
            <a:pPr algn="ctr" indent="0" marL="0">
              <a:buNone/>
            </a:pPr>
            <a:r>
              <a:rPr lang="ar-SA" altLang="en-US" sz="12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</a:t>
            </a:r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a sun letter (the l is silent).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الشَّجَرُ · الحَبُّ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 — زَايٌ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zāy — a different shape (and a breaker).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 · ح · خ · ز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COPY, LISTEN AND WRITE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ب ت ث ج ح خ د ذ ر ز س ش ص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 · تَاجٌ · أَخٌ · دَرْسٌ · بَحْرٌ · خُبْزٌ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ش · ذَ · حَبٌّ · سَبْتٌ · شَجَرٌ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Line 1: the fourteen letters in order. Line 2: six word-wall words (three from each lesson). Line 3: a dictation of five items. Breakers in the words: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تَاج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بَحْر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خُبْز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ب ت ث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دَرْسٌ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خُبْزٌ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شَجَرٌ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F1-W01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F1-W01 · Apply workshop (F1-L01 + F1-L02)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the sounds and read the words of both lessons.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copied every letter from right to left with the dots in the right place.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read the card aloud without stopping.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writing and I fixed one thing.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the dictation and extra words without looking.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F1-W01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F1-L03 · Powerful Sounds &amp; Long Vowels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الحُرُوفُ مِنْ ١٥ إِلَى ٢٢ وَالمَدُّ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F1-W01 · Apply Workshop — Our Class Word Wall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2026-10-26T15:17:11Z</dcterms:created>
  <dcterms:modified xsi:type="dcterms:W3CDTF">2026-10-26T15:17:11Z</dcterms:modified>
</cp:coreProperties>
</file>