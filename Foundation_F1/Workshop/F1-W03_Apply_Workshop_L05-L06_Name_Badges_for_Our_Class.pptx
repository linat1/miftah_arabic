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APPLY WORKSHOP AT A GLANCE — the third lesson of the week (Learn F1-L05 · Learn F1-L06 · Apply). 60 minutes on Teams: teacher-led in the main room for the short whole-class steps, pairs or breakout rooms of two or three for speaking, individual writing.
0–3 Welcome + plan · 3–6 What we learnt this week · PART 1 REMEMBER: word race (4) · which lesson? sort (4) · PART 2 SPEAK: new dialogue (5) · mixed question cards (6) · role-play card (7) · 30 seconds talk (4) · PART 3 WRITE: sentence builder (3) · spot and fix (3) · connected writing (12) + buddy check (3) · CHECK YOURSELF: models + self-check (5).
PURPOSE: students APPLY the language of BOTH lessons in new contexts — the question cards, builder and common mistakes come from the two practice rooms; the dialogue, role-play, talk and writing task are new and join the lessons together.
CONTENT: F1-L05 (One Letter, Four Positions) and F1-L06 (Small Marks, Big Changes).
SET-UP: share this deck or its PDF in the chat. Pairs or breakout rooms for Part 2 (same-level rooms keep the routes simple). Everyone writes in their own book or document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min). Apply = use what you learnt in F1-L05 and F1-L06 in a NEW situation. Point out the step number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WHAT WE LEARNT (3 min, main room). Ask: “What can you say after F1-L05? After F1-L06?” Take two answers in the chat for each lesson (one word or one sentence is enough). Then read objective 3 — today’s new situation that needs BOTH lessons. Students tick their route goals at the end of the lesson.
F1-L05 language: a letter keeps its identity (dots and main stroke) but changes its joining strokes: alone · start · middle · end; the six breakers (ا د ذ ر ز و) join only from the right, so the next letter takes a start or alone form
F1-L06 language: shadda doubles a letter (darasa → darrasa); tanwīn adds -n (kitābun · kitāban · kitābin); alif madda says ʾā (ādam); hamza is a catch in the throat and sits on ا · و · ي or alone (suʾāl · māʾ); routine: see the mark → name its job → read the word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(4 min). Quick, energetic retrieval. Model one round with a student, then pairs race. Collect the best score in the chat. Listen for words students hesitate over and revisit them in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F1-L05.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six words from F1-L06.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(4 min). Students read each card ALOUD (by invitation), then type its number in the chat with 1 or 2 (for example “card 3 → 2”). Then check the answer slide. Ask: “Which card could you use in BOTH lessons?” — this links the two lessons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(5 min). A NEW dialogue that joins F1-L05 and F1-L06. Teacher reads it once with a confident student; then pairs. Ask: “Which lines are from F1-L05? Which from F1-L06?” Letter positions (the ḥāʾ in the middle) come from F1-L05; shadda and madda from F1-L06. Names give a real reason to read carefully.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min, pairs or rooms). The questions come from the two practice rooms, now mixed so students switch between the lessons. Teacher: visit rooms and ask one Stretch follow-up question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(7 min). One NEW situation that needs both lessons: letter forms in four positions and the six breakers (F1-L05) with shadda, tanwīn, madda and hamza (F1-L06). SUPPORTED: the plan column gives the first words, not the full answer. To a girl Partner A says: the feminine forms (-ki / -īna).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(4 min). Fluency: one talk that uses BOTH lessons. Two volunteers speak to the whole class at the end (open mic).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F1-L05 and F1-L06 practice rooms. Read the English, choose the correct part from each column (start on the RIGHT). Pairs agree, then check. Students copy the correct words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(3 min). Rows come from the F1-L05 and F1-L06 practice rooms. Read the English, choose the correct part from each column (start on the RIGHT). Pairs agree, then check. Students copy the correct words — they help in Step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8 (3 min). Common mistakes from both lessons. Students type the corrected version in the chat before the answer slide. These are the mistakes to look for in the buddy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support. Core: use the Core frames for every bullet. Develop: use the Develop frames only if stuck. Stretch: no frames — add reasons, a time phrase and an extra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9 (10 min writing, everyone on their own). Core: frames for every bullet (30–40 words). Develop: 40–70 words, frames only if stuck. Stretch: no frames, add reasons. Teacher reads ONE sentence per student (in the chat or the shared document) and gives one live correction.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BUDDY CHECK (3 min). Pairs swap texts (or share screens). Then everyone returns to the main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Each student finds one task they answered less fully and says it again using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 (13 words). CHECK YOURSELF (2 min). Find each bullet point in the model, and one phrase from F1-L05 and one from F1-L06. Then each student copies ONE phrase from the model into their own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YEAR 7  ·  FOUNDATION F1  ·  F1-L05 + F1-L06 · APPLY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F1-W03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Apply Workshop — Name Badges for Our Class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التَّطْبِيقِ — بِطَاقَاتُ الأَسْمَاءِ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join letter positions with the small marks: they read and write name badges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مُحَمَّدٌ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آدَمُ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سَعِيدٌ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هُدَى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…), say which form each letter takes, find the shadda, madda, hamza and tanwīn, race to read the badges and copy and take dictation of names.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Apply workshop · F1-L05 + F1-L06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Foundation · beginner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Pathways › Foundation › F1 › F1-L06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PLAN · LEARN, LEARN, APPLY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Two lessons — now use them together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 learnt: F1-L05 and F1-L06.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تَعَلَّمْنَا؟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1 · Remember: word race and “which lesson?” sort.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تَذَكَّرْ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22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2 · Speak: say the mini-dialogue · point-and-say cards · reading card · read-aloud race.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19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Part 3 · Write: build the word · spot the slip · copy, listen and write · buddy check.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اكْتُبْ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WORKSHOP RUNS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Today there is no new language: you USE the words and structures of the last two lessons together. Everybody speaks in every step and everybody writes their own text. Choose your route — Core, Develop or Stretch — and move up when you are ready.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WHAT WE LEARNT THIS WEEK · F1-L05 + F1-L06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This week’s two lessons — and today’s goal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نُطَبِّقُ مَا تَعَلَّمْنَا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4663440" cy="4315968"/>
          </a:xfrm>
          <a:prstGeom prst="roundRect">
            <a:avLst>
              <a:gd name="adj" fmla="val 1695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20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TODAY YOU WILL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8346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سَتَتَعَلَّمُ اليَوْمَ</a:t>
            </a:r>
            <a:endParaRPr lang="ar-SA" sz="1600" dirty="0"/>
          </a:p>
        </p:txBody>
      </p:sp>
      <p:sp>
        <p:nvSpPr>
          <p:cNvPr id="18" name="Shape 15"/>
          <p:cNvSpPr/>
          <p:nvPr/>
        </p:nvSpPr>
        <p:spPr>
          <a:xfrm>
            <a:off x="685800" y="2395728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2286000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F1-L05: One Letter, Four Positions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88720" y="3182112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F1-L06: Small Marks, Big Changes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187952"/>
            <a:ext cx="365760" cy="3657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4078224"/>
            <a:ext cx="3749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Apply both: the name badges · Copy, listen and write: name badges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49240" y="181051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32120" y="19476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32120" y="19476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1947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Everyone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532120" y="228600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Say the sounds and read the words of both lessons.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532120" y="26974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☐  Copy and write with the frames.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349240" y="327355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32120" y="34107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32120" y="34107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6766560" y="3410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Most of us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532120" y="374904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Read every item on the card without stopping.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5532120" y="416052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☐  Write the dictation without looking.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349240" y="4736592"/>
            <a:ext cx="6382512" cy="1353312"/>
          </a:xfrm>
          <a:prstGeom prst="roundRect">
            <a:avLst>
              <a:gd name="adj" fmla="val 5405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532120" y="48737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32120" y="48737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766560" y="4873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i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Aim high</a:t>
            </a:r>
            <a:endParaRPr lang="en-US" sz="1050" dirty="0"/>
          </a:p>
        </p:txBody>
      </p:sp>
      <p:sp>
        <p:nvSpPr>
          <p:cNvPr id="43" name="Text 40"/>
          <p:cNvSpPr txBox="1"/>
          <p:nvPr/>
        </p:nvSpPr>
        <p:spPr>
          <a:xfrm>
            <a:off x="5532120" y="521208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Read new words with the same letters and marks.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5532120" y="5623560"/>
            <a:ext cx="60167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83227"/>
                </a:solidFill>
                <a:latin typeface="Calibri" pitchFamily="34" charset="0"/>
                <a:cs typeface="Amiri" pitchFamily="2" charset="-78"/>
              </a:rPr>
              <a:t>☐  Write extra words of your own.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1 · WORD RACE · 4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Letter race: two lessons, one race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الكَلِمَاتِ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🏁  Say it, find it — from both lessons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next two slides show letters and words from F1-L05 and F1-L06. Partner A says a letter name, sound or word; Partner B finds it and reads it. One point for every correct answer in 90 seconds — then swap.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Teacher: first round together (3 words from each slide).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Pairs: 90 seconds each, as many as you can.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Mix the lessons: one word from slide 1, one from slide 2.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use two words — one from each lesson — in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Find the letter and say its sound.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the whole word aloud.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another word with the same letter.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correct!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حَاوِلْ 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try again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نُقْطَةٌ لَكَ / لَكِ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point for you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F1-L05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F1-L05 · One Letter, Four Positions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أَشْكَالُ الحَرْفِ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alone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</a:t>
            </a:r>
            <a:endParaRPr lang="ar-SA" sz="405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bāʾ — alone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isolated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middle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ـبـ</a:t>
            </a:r>
            <a:endParaRPr lang="ar-SA" sz="4050" dirty="0"/>
          </a:p>
        </p:txBody>
      </p:sp>
      <p:sp>
        <p:nvSpPr>
          <p:cNvPr id="32" name="Text 29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bāʾ — in the middle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joins both sides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alone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566928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</a:t>
            </a:r>
            <a:endParaRPr lang="ar-SA" sz="4050" dirty="0"/>
          </a:p>
        </p:txBody>
      </p:sp>
      <p:sp>
        <p:nvSpPr>
          <p:cNvPr id="41" name="Text 38"/>
          <p:cNvSpPr txBox="1"/>
          <p:nvPr/>
        </p:nvSpPr>
        <p:spPr>
          <a:xfrm>
            <a:off x="594360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ʿayn — alone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isolated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middle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9" name="Text 46"/>
          <p:cNvSpPr txBox="1"/>
          <p:nvPr/>
        </p:nvSpPr>
        <p:spPr>
          <a:xfrm>
            <a:off x="8211312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ـعـ</a:t>
            </a:r>
            <a:endParaRPr lang="ar-SA" sz="4050" dirty="0"/>
          </a:p>
        </p:txBody>
      </p:sp>
      <p:sp>
        <p:nvSpPr>
          <p:cNvPr id="50" name="Text 47"/>
          <p:cNvSpPr txBox="1"/>
          <p:nvPr/>
        </p:nvSpPr>
        <p:spPr>
          <a:xfrm>
            <a:off x="8238744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ʿayn — in the middle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closed loop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alone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</a:t>
            </a:r>
            <a:endParaRPr lang="ar-SA" sz="4050" dirty="0"/>
          </a:p>
        </p:txBody>
      </p:sp>
      <p:sp>
        <p:nvSpPr>
          <p:cNvPr id="59" name="Text 56"/>
          <p:cNvSpPr txBox="1"/>
          <p:nvPr/>
        </p:nvSpPr>
        <p:spPr>
          <a:xfrm>
            <a:off x="4416552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hāʾ — alone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isolated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middle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ـهـ</a:t>
            </a:r>
            <a:endParaRPr lang="ar-SA" sz="4050" dirty="0"/>
          </a:p>
        </p:txBody>
      </p:sp>
      <p:sp>
        <p:nvSpPr>
          <p:cNvPr id="68" name="Text 65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hāʾ — in the middle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loop through the line</a:t>
            </a:r>
            <a:endParaRPr lang="en-US" sz="1350" dirty="0"/>
          </a:p>
        </p:txBody>
      </p:sp>
      <p:sp>
        <p:nvSpPr>
          <p:cNvPr id="69" name="Text 6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WORDS FROM F1-L06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F1-L06 · Small Marks, Big Changes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عَلَامَاتُ الدَّرْسِ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shadda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shadda — doubles the letter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small “w” on top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8238744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93608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name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8284464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شَدَّةٌ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shadda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4389120" y="2212848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أُمٌّ</a:t>
            </a:r>
            <a:endParaRPr lang="ar-SA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4416552" y="3127248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mother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umm-un</a:t>
            </a:r>
            <a:endParaRPr lang="en-US" sz="1350" dirty="0"/>
          </a:p>
        </p:txBody>
      </p:sp>
      <p:sp>
        <p:nvSpPr>
          <p:cNvPr id="36" name="Shape 33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tanwīn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كِتَابٌ</a:t>
            </a:r>
            <a:endParaRPr lang="ar-SA" sz="3000" dirty="0"/>
          </a:p>
        </p:txBody>
      </p:sp>
      <p:sp>
        <p:nvSpPr>
          <p:cNvPr id="44" name="Text 41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book (-un)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kitābun</a:t>
            </a:r>
            <a:endParaRPr lang="en-US" sz="1350" dirty="0"/>
          </a:p>
        </p:txBody>
      </p:sp>
      <p:sp>
        <p:nvSpPr>
          <p:cNvPr id="45" name="Shape 42"/>
          <p:cNvSpPr/>
          <p:nvPr/>
        </p:nvSpPr>
        <p:spPr>
          <a:xfrm>
            <a:off x="594360" y="3438144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649224" y="3447288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also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640080" y="3575304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كِتَابًا · كِتَابٍ</a:t>
            </a:r>
            <a:endParaRPr lang="ar-SA" sz="1350" dirty="0"/>
          </a:p>
        </p:txBody>
      </p:sp>
      <p:sp>
        <p:nvSpPr>
          <p:cNvPr id="48" name="Shape 45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madda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alif madda — says ʾā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wave on alif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name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8284464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مَدَّةٌ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hamza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ء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hamza — a catch in the throat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alone, or on ا · و · ي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name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4462272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هَمْزَةٌ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960120" y="4279392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960120" y="4279392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hamza alone</a:t>
            </a:r>
            <a:endParaRPr lang="en-US" sz="800" dirty="0"/>
          </a:p>
        </p:txBody>
      </p:sp>
      <p:sp>
        <p:nvSpPr>
          <p:cNvPr id="77" name="Shape 7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9" name="Text 76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مَاءٌ</a:t>
            </a:r>
            <a:endParaRPr lang="ar-SA" sz="3000" dirty="0"/>
          </a:p>
        </p:txBody>
      </p:sp>
      <p:sp>
        <p:nvSpPr>
          <p:cNvPr id="80" name="Text 77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water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māʾ-un</a:t>
            </a:r>
            <a:endParaRPr lang="en-US" sz="1350" dirty="0"/>
          </a:p>
        </p:txBody>
      </p:sp>
      <p:sp>
        <p:nvSpPr>
          <p:cNvPr id="81" name="Text 7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1 · STEP 2 · WHICH LESSON? · READ EACH CARD, THEN SORT 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 does it come from?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9015984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9107424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بـ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6163056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254496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شَدَّةٌ</a:t>
            </a:r>
            <a:endParaRPr lang="ar-SA" sz="1800" dirty="0"/>
          </a:p>
        </p:txBody>
      </p:sp>
      <p:sp>
        <p:nvSpPr>
          <p:cNvPr id="19" name="Shape 16"/>
          <p:cNvSpPr/>
          <p:nvPr/>
        </p:nvSpPr>
        <p:spPr>
          <a:xfrm>
            <a:off x="3310128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401568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</a:t>
            </a:r>
            <a:endParaRPr lang="ar-SA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1810512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48640" y="1810512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ـعـ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9015984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9107424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ـه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6163056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54496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ء</a:t>
            </a:r>
            <a:endParaRPr lang="ar-SA" sz="1800" dirty="0"/>
          </a:p>
        </p:txBody>
      </p:sp>
      <p:sp>
        <p:nvSpPr>
          <p:cNvPr id="27" name="Shape 24"/>
          <p:cNvSpPr/>
          <p:nvPr/>
        </p:nvSpPr>
        <p:spPr>
          <a:xfrm>
            <a:off x="3310128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401568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كِتَابًا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457200" y="2322576"/>
            <a:ext cx="2715768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48640" y="2322576"/>
            <a:ext cx="2532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د ذ ر ز و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185916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23076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323076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F1-L05 · One Letter, Four Positions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017520"/>
            <a:ext cx="5545836" cy="3291840"/>
          </a:xfrm>
          <a:prstGeom prst="roundRect">
            <a:avLst>
              <a:gd name="adj" fmla="val 2222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94360" y="3127248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94360" y="3127248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F1-L06 · Small Marks, Big Changes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2 · ANSWERS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Which lesson?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دَرْسٍ؟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85916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23076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3076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 · F1-L05 · One Letter, Four Positions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323076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14516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بـ</a:t>
            </a:r>
            <a:endParaRPr lang="ar-SA" sz="1800" dirty="0"/>
          </a:p>
        </p:txBody>
      </p:sp>
      <p:sp>
        <p:nvSpPr>
          <p:cNvPr id="20" name="Shape 17"/>
          <p:cNvSpPr/>
          <p:nvPr/>
        </p:nvSpPr>
        <p:spPr>
          <a:xfrm>
            <a:off x="6323076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14516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ـعـ</a:t>
            </a:r>
            <a:endParaRPr lang="ar-SA" sz="1800" dirty="0"/>
          </a:p>
        </p:txBody>
      </p:sp>
      <p:sp>
        <p:nvSpPr>
          <p:cNvPr id="22" name="Shape 19"/>
          <p:cNvSpPr/>
          <p:nvPr/>
        </p:nvSpPr>
        <p:spPr>
          <a:xfrm>
            <a:off x="6323076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14516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ـه</a:t>
            </a:r>
            <a:endParaRPr lang="ar-SA" sz="1800" dirty="0"/>
          </a:p>
        </p:txBody>
      </p:sp>
      <p:sp>
        <p:nvSpPr>
          <p:cNvPr id="24" name="Shape 21"/>
          <p:cNvSpPr/>
          <p:nvPr/>
        </p:nvSpPr>
        <p:spPr>
          <a:xfrm>
            <a:off x="6323076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14516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د ذ ر ز و</a:t>
            </a:r>
            <a:endParaRPr lang="ar-SA" sz="1800" dirty="0"/>
          </a:p>
        </p:txBody>
      </p:sp>
      <p:sp>
        <p:nvSpPr>
          <p:cNvPr id="26" name="Shape 23"/>
          <p:cNvSpPr/>
          <p:nvPr/>
        </p:nvSpPr>
        <p:spPr>
          <a:xfrm>
            <a:off x="457200" y="1810512"/>
            <a:ext cx="5545836" cy="4498848"/>
          </a:xfrm>
          <a:prstGeom prst="roundRect">
            <a:avLst>
              <a:gd name="adj" fmla="val 1626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94360" y="1920240"/>
            <a:ext cx="527151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4360" y="1920240"/>
            <a:ext cx="52715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 · F1-L06 · Small Marks, Big Changes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94360" y="2377440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2377440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شَدَّةٌ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594360" y="2889504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85800" y="2889504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</a:t>
            </a:r>
            <a:endParaRPr lang="ar-SA" sz="1800" dirty="0"/>
          </a:p>
        </p:txBody>
      </p:sp>
      <p:sp>
        <p:nvSpPr>
          <p:cNvPr id="33" name="Shape 30"/>
          <p:cNvSpPr/>
          <p:nvPr/>
        </p:nvSpPr>
        <p:spPr>
          <a:xfrm>
            <a:off x="594360" y="3401568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85800" y="3401568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ء</a:t>
            </a:r>
            <a:endParaRPr lang="ar-SA" sz="1800" dirty="0"/>
          </a:p>
        </p:txBody>
      </p:sp>
      <p:sp>
        <p:nvSpPr>
          <p:cNvPr id="35" name="Shape 32"/>
          <p:cNvSpPr/>
          <p:nvPr/>
        </p:nvSpPr>
        <p:spPr>
          <a:xfrm>
            <a:off x="594360" y="3913632"/>
            <a:ext cx="5271516" cy="438912"/>
          </a:xfrm>
          <a:prstGeom prst="roundRect">
            <a:avLst>
              <a:gd name="adj" fmla="val 12500"/>
            </a:avLst>
          </a:prstGeom>
          <a:solidFill>
            <a:srgbClr val="FFF4DC"/>
          </a:solidFill>
          <a:ln w="9525">
            <a:solidFill>
              <a:srgbClr val="E6C98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5800" y="3913632"/>
            <a:ext cx="50886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كِتَابًا</a:t>
            </a:r>
            <a:endParaRPr lang="ar-SA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2 · STEP 3 · SAY THE MINI-DIALOGUE · BOTH LESSONS IN ONE CONVERSATION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 my badge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اقْرَأْ بِطَاقَتِي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4112" y="1810512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444752" y="1810512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Say it in Arabic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Who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90688" y="226771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my badge: Muḥammad.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226771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اقْرَأْ بِطَاقَتِي: مُحَمَّدٌ.</a:t>
            </a:r>
            <a:endParaRPr lang="ar-SA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26771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90688" y="2881884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Muḥammad — there is a shadda on the mīm: mm.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2881884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مُحَمَّدٌ — عَلَى المِيمِ شَدَّةٌ: مَّ.</a:t>
            </a:r>
            <a:endParaRPr lang="ar-SA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881884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90688" y="3496056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where is the ḥāʾ?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463040" y="3496056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وَأَيْنَ الحَاءُ؟</a:t>
            </a:r>
            <a:endParaRPr lang="ar-SA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566928" y="3496056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90688" y="4110228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middle: (middle form).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4110228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الوَسَطِ: ـحـ.</a:t>
            </a:r>
            <a:endParaRPr lang="ar-SA" sz="19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4110228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790688" y="4724400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this is my sister’s badge: Āmina.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463040" y="4724400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وَهٰذِهِ بِطَاقَةُ أُخْتِي: آمِنَةُ.</a:t>
            </a:r>
            <a:endParaRPr lang="ar-SA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724400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790688" y="5338572"/>
            <a:ext cx="386791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Āmina — at the start there is a madda: ʾā.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463040" y="5338572"/>
            <a:ext cx="61264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آمِنَةُ — فِي أَوَّلِهَا مَدَّةٌ: آ.</a:t>
            </a:r>
            <a:endParaRPr lang="ar-SA" sz="19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5338572"/>
            <a:ext cx="7315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Round 1: read it in pairs. Round 2: swap letters. Round 3: A points to a NEW letter or word from either lesson; B reads it and explains one thing about it (dots, a mark, a position).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POINT-AND-SAY CARDS · QUESTIONS FROM BOTH LESSONS, MIXED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Point, say, check — both lessons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أَسْئِلَةٌ مِنَ الدَّرْسَيْنِ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20072" y="1810512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Then read (Develop)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76872" y="1810512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 says (Core)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3251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Hint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points to / says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738360" y="226771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كِتَابٌ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995160" y="226771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بـ · ب</a:t>
            </a:r>
            <a:endParaRPr lang="ar-SA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43616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find both bāʾs · why is the second alone?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بَابٌ</a:t>
            </a:r>
            <a:endParaRPr lang="ar-SA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738360" y="2881884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مُدَرِّسَةٌ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995160" y="2881884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شَدَّةٌ</a:t>
            </a:r>
            <a:endParaRPr lang="ar-SA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43616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shadda on r · teacher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مُدَرِّسٌ</a:t>
            </a:r>
            <a:endParaRPr lang="ar-SA" sz="20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738360" y="3496056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بَعِيدٌ</a:t>
            </a:r>
            <a:endParaRPr lang="ar-SA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6995160" y="3496056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ـعـ</a:t>
            </a:r>
            <a:endParaRPr lang="ar-SA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43616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ʿayn in the middle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سَعِيدٌ</a:t>
            </a:r>
            <a:endParaRPr lang="ar-SA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11091672" y="354177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1091672" y="354177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5" name="Shape 42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738360" y="4110228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بَيْتًا</a:t>
            </a:r>
            <a:endParaRPr lang="ar-SA" sz="1800" dirty="0"/>
          </a:p>
        </p:txBody>
      </p:sp>
      <p:sp>
        <p:nvSpPr>
          <p:cNvPr id="47" name="Text 44"/>
          <p:cNvSpPr txBox="1"/>
          <p:nvPr/>
        </p:nvSpPr>
        <p:spPr>
          <a:xfrm>
            <a:off x="6995160" y="4110228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تَنْوِينٌ</a:t>
            </a:r>
            <a:endParaRPr lang="ar-SA" sz="1800" dirty="0"/>
          </a:p>
        </p:txBody>
      </p:sp>
      <p:sp>
        <p:nvSpPr>
          <p:cNvPr id="48" name="Text 45"/>
          <p:cNvSpPr txBox="1"/>
          <p:nvPr/>
        </p:nvSpPr>
        <p:spPr>
          <a:xfrm>
            <a:off x="43616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tanwīn -an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1051560" y="4110228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كِتَابًا</a:t>
            </a:r>
            <a:endParaRPr lang="ar-SA" sz="2000" dirty="0"/>
          </a:p>
        </p:txBody>
      </p:sp>
      <p:sp>
        <p:nvSpPr>
          <p:cNvPr id="50" name="Text 47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11091672" y="415594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1091672" y="41559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3" name="Shape 50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738360" y="4724400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رَبِيعٌ</a:t>
            </a:r>
            <a:endParaRPr lang="ar-SA" sz="1800" dirty="0"/>
          </a:p>
        </p:txBody>
      </p:sp>
      <p:sp>
        <p:nvSpPr>
          <p:cNvPr id="55" name="Text 52"/>
          <p:cNvSpPr txBox="1"/>
          <p:nvPr/>
        </p:nvSpPr>
        <p:spPr>
          <a:xfrm>
            <a:off x="6995160" y="4724400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</a:t>
            </a:r>
            <a:endParaRPr lang="ar-SA" sz="1800" dirty="0"/>
          </a:p>
        </p:txBody>
      </p:sp>
      <p:sp>
        <p:nvSpPr>
          <p:cNvPr id="56" name="Text 53"/>
          <p:cNvSpPr txBox="1"/>
          <p:nvPr/>
        </p:nvSpPr>
        <p:spPr>
          <a:xfrm>
            <a:off x="43616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ʿayn at the end — after a breaker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1051560" y="4724400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شَارِعٌ</a:t>
            </a:r>
            <a:endParaRPr lang="ar-SA" sz="20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9738360" y="5338572"/>
            <a:ext cx="19019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آدَمُ</a:t>
            </a:r>
            <a:endParaRPr lang="ar-SA" sz="1800" dirty="0"/>
          </a:p>
        </p:txBody>
      </p:sp>
      <p:sp>
        <p:nvSpPr>
          <p:cNvPr id="61" name="Text 58"/>
          <p:cNvSpPr txBox="1"/>
          <p:nvPr/>
        </p:nvSpPr>
        <p:spPr>
          <a:xfrm>
            <a:off x="6995160" y="5338572"/>
            <a:ext cx="25603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مَدَّةٌ</a:t>
            </a:r>
            <a:endParaRPr lang="ar-SA" sz="1800" dirty="0"/>
          </a:p>
        </p:txBody>
      </p:sp>
      <p:sp>
        <p:nvSpPr>
          <p:cNvPr id="62" name="Text 59"/>
          <p:cNvSpPr txBox="1"/>
          <p:nvPr/>
        </p:nvSpPr>
        <p:spPr>
          <a:xfrm>
            <a:off x="43616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madda · safe</a:t>
            </a:r>
            <a:endParaRPr lang="en-US" sz="1100" dirty="0"/>
          </a:p>
        </p:txBody>
      </p:sp>
      <p:sp>
        <p:nvSpPr>
          <p:cNvPr id="63" name="Text 60"/>
          <p:cNvSpPr txBox="1"/>
          <p:nvPr/>
        </p:nvSpPr>
        <p:spPr>
          <a:xfrm>
            <a:off x="1051560" y="5338572"/>
            <a:ext cx="3108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آمِنٌ</a:t>
            </a:r>
            <a:endParaRPr lang="ar-SA" sz="2000" dirty="0"/>
          </a:p>
        </p:txBody>
      </p:sp>
      <p:sp>
        <p:nvSpPr>
          <p:cNvPr id="64" name="Text 61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5" name="Text 6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Odd numbers come from the first lesson, even numbers from the second. Core: say the sound or read the word. Develop: do the “then” part. Stretch: give your own example. Swap after each card.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7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READING CARD · USE THE PLAN, THEN HIDE IT AND SPEAK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Reading card — the name badges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بِطَاقَةُ القِرَاءَةِ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Hint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shows / reads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start · middle · end?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it; which form is the ʿayn?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سَعِيدٌ</a:t>
            </a:r>
            <a:endParaRPr lang="ar-SA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doubled m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it; find the shadda.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مُحَمَّدٌ</a:t>
            </a:r>
            <a:endParaRPr lang="ar-SA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ʾā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both; which one starts with a madda?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آدَمُ · مَرْيَمُ</a:t>
            </a:r>
            <a:endParaRPr lang="ar-SA" sz="20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look at the joins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Read both; is the hāʾ at the start or alone?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هُدَى · هِنْدٌ</a:t>
            </a:r>
            <a:endParaRPr lang="ar-SA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د ذ ر ز و</a:t>
            </a:r>
            <a:endParaRPr lang="ar-SA" sz="16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Count the breakers in this name.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دَاوُدُ</a:t>
            </a:r>
            <a:endParaRPr lang="ar-SA" sz="20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the reader · Partner A = the badge maker. Read from RIGHT to left. Task ! is a surprise — Partner A asks it without warning. Then swap roles.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4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6 · READ-ALOUD RACE · 30 SECONDS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Badge race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سِبَاقُ البِطَاقَاتِ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6 · PAIRS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Read aloud for 30 seconds — as many as you can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30 seconds, read as many name badges as you can from the reading card and the word bank. For every name, say one thing: a letter position or a mark. The partner counts.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points to the list on the slide (or in your book).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Speaker reads aloud for 30 seconds; the Coach counts the correct ones.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one sound that was perfect + one to practise.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— try to beat your own score, not your partner’s.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four names clearly.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six names and name one mark in each.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Read every name and say the position of one letter in each.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مَرَّةً أُخْرَى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once more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بِبُطْءٍ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slowly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PART 3 · STEP 7 · BUILD THE WORD ·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Join the parts into one word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الكَلِمَةَ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9180576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1 · start here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24828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1700784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Column 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011680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4360" y="2148840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051560" y="2121408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happy — saʿīd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80576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9500616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</a:t>
            </a:r>
            <a:endParaRPr lang="ar-SA" sz="1800" dirty="0"/>
          </a:p>
        </p:txBody>
      </p:sp>
      <p:sp>
        <p:nvSpPr>
          <p:cNvPr id="25" name="Shape 22"/>
          <p:cNvSpPr/>
          <p:nvPr/>
        </p:nvSpPr>
        <p:spPr>
          <a:xfrm>
            <a:off x="9180576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235440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9500616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</a:t>
            </a:r>
            <a:endParaRPr lang="ar-SA" sz="1800" dirty="0"/>
          </a:p>
        </p:txBody>
      </p:sp>
      <p:sp>
        <p:nvSpPr>
          <p:cNvPr id="28" name="Shape 25"/>
          <p:cNvSpPr/>
          <p:nvPr/>
        </p:nvSpPr>
        <p:spPr>
          <a:xfrm>
            <a:off x="6624828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9692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944868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عِي</a:t>
            </a:r>
            <a:endParaRPr lang="ar-SA" sz="1800" dirty="0"/>
          </a:p>
        </p:txBody>
      </p:sp>
      <p:sp>
        <p:nvSpPr>
          <p:cNvPr id="31" name="Shape 28"/>
          <p:cNvSpPr/>
          <p:nvPr/>
        </p:nvSpPr>
        <p:spPr>
          <a:xfrm>
            <a:off x="6624828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9692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944868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غِي</a:t>
            </a:r>
            <a:endParaRPr lang="ar-SA" sz="1800" dirty="0"/>
          </a:p>
        </p:txBody>
      </p:sp>
      <p:sp>
        <p:nvSpPr>
          <p:cNvPr id="34" name="Shape 31"/>
          <p:cNvSpPr/>
          <p:nvPr/>
        </p:nvSpPr>
        <p:spPr>
          <a:xfrm>
            <a:off x="4069080" y="2103120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23944" y="21031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2103120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دٌ</a:t>
            </a:r>
            <a:endParaRPr lang="ar-SA" sz="1800" dirty="0"/>
          </a:p>
        </p:txBody>
      </p:sp>
      <p:sp>
        <p:nvSpPr>
          <p:cNvPr id="37" name="Shape 34"/>
          <p:cNvSpPr/>
          <p:nvPr/>
        </p:nvSpPr>
        <p:spPr>
          <a:xfrm>
            <a:off x="4069080" y="267004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23944" y="267004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4389120" y="267004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ذٌ</a:t>
            </a:r>
            <a:endParaRPr lang="ar-SA" sz="1800" dirty="0"/>
          </a:p>
        </p:txBody>
      </p:sp>
      <p:sp>
        <p:nvSpPr>
          <p:cNvPr id="40" name="Shape 37"/>
          <p:cNvSpPr/>
          <p:nvPr/>
        </p:nvSpPr>
        <p:spPr>
          <a:xfrm>
            <a:off x="457200" y="3392424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" y="3529584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3502152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teacher (m.) — mudarris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9180576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235440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9500616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</a:t>
            </a:r>
            <a:endParaRPr lang="ar-SA" sz="1800" dirty="0"/>
          </a:p>
        </p:txBody>
      </p:sp>
      <p:sp>
        <p:nvSpPr>
          <p:cNvPr id="47" name="Shape 44"/>
          <p:cNvSpPr/>
          <p:nvPr/>
        </p:nvSpPr>
        <p:spPr>
          <a:xfrm>
            <a:off x="9180576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235440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500616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</a:t>
            </a:r>
            <a:endParaRPr lang="ar-SA" sz="1800" dirty="0"/>
          </a:p>
        </p:txBody>
      </p:sp>
      <p:sp>
        <p:nvSpPr>
          <p:cNvPr id="50" name="Shape 47"/>
          <p:cNvSpPr/>
          <p:nvPr/>
        </p:nvSpPr>
        <p:spPr>
          <a:xfrm>
            <a:off x="6624828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679692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6944868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</a:t>
            </a:r>
            <a:endParaRPr lang="ar-SA" sz="1800" dirty="0"/>
          </a:p>
        </p:txBody>
      </p:sp>
      <p:sp>
        <p:nvSpPr>
          <p:cNvPr id="53" name="Shape 50"/>
          <p:cNvSpPr/>
          <p:nvPr/>
        </p:nvSpPr>
        <p:spPr>
          <a:xfrm>
            <a:off x="6624828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6679692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6944868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</a:t>
            </a:r>
            <a:endParaRPr lang="ar-SA" sz="1800" dirty="0"/>
          </a:p>
        </p:txBody>
      </p:sp>
      <p:sp>
        <p:nvSpPr>
          <p:cNvPr id="56" name="Shape 53"/>
          <p:cNvSpPr/>
          <p:nvPr/>
        </p:nvSpPr>
        <p:spPr>
          <a:xfrm>
            <a:off x="4069080" y="3483864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123944" y="348386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4389120" y="3483864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رِّسٌ</a:t>
            </a:r>
            <a:endParaRPr lang="ar-SA" sz="1800" dirty="0"/>
          </a:p>
        </p:txBody>
      </p:sp>
      <p:sp>
        <p:nvSpPr>
          <p:cNvPr id="59" name="Shape 56"/>
          <p:cNvSpPr/>
          <p:nvPr/>
        </p:nvSpPr>
        <p:spPr>
          <a:xfrm>
            <a:off x="4069080" y="4050792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4123944" y="4050792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4389120" y="4050792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رِسٌ</a:t>
            </a:r>
            <a:endParaRPr lang="ar-SA" sz="1800" dirty="0"/>
          </a:p>
        </p:txBody>
      </p:sp>
      <p:sp>
        <p:nvSpPr>
          <p:cNvPr id="62" name="Shape 59"/>
          <p:cNvSpPr/>
          <p:nvPr/>
        </p:nvSpPr>
        <p:spPr>
          <a:xfrm>
            <a:off x="457200" y="4773168"/>
            <a:ext cx="1127455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594360" y="4910328"/>
            <a:ext cx="365760" cy="365760"/>
          </a:xfrm>
          <a:prstGeom prst="ellipse">
            <a:avLst/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9436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1051560" y="4882896"/>
            <a:ext cx="2834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street — shāriʿ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9180576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235440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9500616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</a:t>
            </a:r>
            <a:endParaRPr lang="ar-SA" sz="1800" dirty="0"/>
          </a:p>
        </p:txBody>
      </p:sp>
      <p:sp>
        <p:nvSpPr>
          <p:cNvPr id="69" name="Shape 66"/>
          <p:cNvSpPr/>
          <p:nvPr/>
        </p:nvSpPr>
        <p:spPr>
          <a:xfrm>
            <a:off x="9180576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9235440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9500616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سَا</a:t>
            </a:r>
            <a:endParaRPr lang="ar-SA" sz="1800" dirty="0"/>
          </a:p>
        </p:txBody>
      </p:sp>
      <p:sp>
        <p:nvSpPr>
          <p:cNvPr id="72" name="Shape 69"/>
          <p:cNvSpPr/>
          <p:nvPr/>
        </p:nvSpPr>
        <p:spPr>
          <a:xfrm>
            <a:off x="6624828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679692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74" name="Text 71"/>
          <p:cNvSpPr txBox="1"/>
          <p:nvPr/>
        </p:nvSpPr>
        <p:spPr>
          <a:xfrm>
            <a:off x="6944868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</a:t>
            </a:r>
            <a:endParaRPr lang="ar-SA" sz="1800" dirty="0"/>
          </a:p>
        </p:txBody>
      </p:sp>
      <p:sp>
        <p:nvSpPr>
          <p:cNvPr id="75" name="Shape 72"/>
          <p:cNvSpPr/>
          <p:nvPr/>
        </p:nvSpPr>
        <p:spPr>
          <a:xfrm>
            <a:off x="6624828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679692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6944868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زِ</a:t>
            </a:r>
            <a:endParaRPr lang="ar-SA" sz="1800" dirty="0"/>
          </a:p>
        </p:txBody>
      </p:sp>
      <p:sp>
        <p:nvSpPr>
          <p:cNvPr id="78" name="Shape 75"/>
          <p:cNvSpPr/>
          <p:nvPr/>
        </p:nvSpPr>
        <p:spPr>
          <a:xfrm>
            <a:off x="4069080" y="4864608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123944" y="4864608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A</a:t>
            </a:r>
            <a:endParaRPr lang="en-US" sz="1000" dirty="0"/>
          </a:p>
        </p:txBody>
      </p:sp>
      <p:sp>
        <p:nvSpPr>
          <p:cNvPr id="80" name="Text 77"/>
          <p:cNvSpPr txBox="1"/>
          <p:nvPr/>
        </p:nvSpPr>
        <p:spPr>
          <a:xfrm>
            <a:off x="4389120" y="4864608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عٌ</a:t>
            </a:r>
            <a:endParaRPr lang="ar-SA" sz="1800" dirty="0"/>
          </a:p>
        </p:txBody>
      </p:sp>
      <p:sp>
        <p:nvSpPr>
          <p:cNvPr id="81" name="Shape 78"/>
          <p:cNvSpPr/>
          <p:nvPr/>
        </p:nvSpPr>
        <p:spPr>
          <a:xfrm>
            <a:off x="4069080" y="5431536"/>
            <a:ext cx="2414016" cy="512064"/>
          </a:xfrm>
          <a:prstGeom prst="roundRect">
            <a:avLst>
              <a:gd name="adj" fmla="val 10714"/>
            </a:avLst>
          </a:prstGeom>
          <a:solidFill>
            <a:srgbClr val="EEF3FA"/>
          </a:solidFill>
          <a:ln w="9525">
            <a:solidFill>
              <a:srgbClr val="C9D6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123944" y="543153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B</a:t>
            </a:r>
            <a:endParaRPr lang="en-US" sz="1000" dirty="0"/>
          </a:p>
        </p:txBody>
      </p:sp>
      <p:sp>
        <p:nvSpPr>
          <p:cNvPr id="83" name="Text 80"/>
          <p:cNvSpPr txBox="1"/>
          <p:nvPr/>
        </p:nvSpPr>
        <p:spPr>
          <a:xfrm>
            <a:off x="4389120" y="5431536"/>
            <a:ext cx="2002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غٌ</a:t>
            </a:r>
            <a:endParaRPr lang="ar-SA" sz="1800" dirty="0"/>
          </a:p>
        </p:txBody>
      </p:sp>
      <p:sp>
        <p:nvSpPr>
          <p:cNvPr id="84" name="Text 8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7 · CHECK YOUR WORDS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Build the word: answers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ابْنِ الكَلِمَةَ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4767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1901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happy — saʿīd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2359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263347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Joined: ʿayn takes its closed middle form.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901952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سَعِيدٌ</a:t>
            </a:r>
            <a:endParaRPr lang="ar-SA" sz="2800" dirty="0"/>
          </a:p>
        </p:txBody>
      </p:sp>
      <p:sp>
        <p:nvSpPr>
          <p:cNvPr id="22" name="Shape 19"/>
          <p:cNvSpPr/>
          <p:nvPr/>
        </p:nvSpPr>
        <p:spPr>
          <a:xfrm>
            <a:off x="457200" y="3291840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30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teacher (m.) — mudarris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" y="411480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Shadda doubles the r: mu-dar-ris.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83280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مُدَرِّسٌ</a:t>
            </a:r>
            <a:endParaRPr lang="ar-SA" sz="2800" dirty="0"/>
          </a:p>
        </p:txBody>
      </p:sp>
      <p:sp>
        <p:nvSpPr>
          <p:cNvPr id="29" name="Shape 26"/>
          <p:cNvSpPr/>
          <p:nvPr/>
        </p:nvSpPr>
        <p:spPr>
          <a:xfrm>
            <a:off x="457200" y="4773168"/>
            <a:ext cx="11274552" cy="1353312"/>
          </a:xfrm>
          <a:prstGeom prst="roundRect">
            <a:avLst>
              <a:gd name="adj" fmla="val 5405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40080" y="4910328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street — shāriʿ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1143000" y="53218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Columns = A · A · A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143000" y="559612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After the breaker </a:t>
            </a:r>
            <a:pPr algn="l" indent="0" marL="0">
              <a:buNone/>
            </a:pPr>
            <a:r>
              <a:rPr lang="ar-SA" altLang="en-US" sz="13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</a:t>
            </a:r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, ʿayn stands alone.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4572000" y="4864608"/>
            <a:ext cx="6949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شَارِعٌ</a:t>
            </a:r>
            <a:endParaRPr lang="ar-SA" sz="2800" dirty="0"/>
          </a:p>
        </p:txBody>
      </p:sp>
      <p:sp>
        <p:nvSpPr>
          <p:cNvPr id="36" name="Text 3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8 · SPOT THE SLIP · MISTAKES FROM BOTH LESSONS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Find the mistake, fix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183112" y="2249424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183112" y="2249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023360" y="1901952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ـعـ</a:t>
            </a:r>
            <a:endParaRPr lang="ar-SA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1901952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This should be ʿayn at the END — the end form has a tail.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183112" y="3694176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183112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3360" y="3346704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أُمٌ</a:t>
            </a:r>
            <a:endParaRPr lang="ar-SA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346704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“mother” has a doubled m.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BEAEA"/>
          </a:solidFill>
          <a:ln w="9525">
            <a:solidFill>
              <a:srgbClr val="E3B4A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83112" y="5138928"/>
            <a:ext cx="402336" cy="402336"/>
          </a:xfrm>
          <a:prstGeom prst="ellipse">
            <a:avLst/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83112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23360" y="4791456"/>
            <a:ext cx="6976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وـرد</a:t>
            </a:r>
            <a:endParaRPr lang="ar-SA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4791456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</a:t>
            </a:r>
            <a:pPr algn="l" indent="0" marL="0">
              <a:buNone/>
            </a:pPr>
            <a:r>
              <a:rPr lang="ar-SA" altLang="en-US" sz="17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</a:t>
            </a:r>
            <a:pPr algn="l"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join to the left?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24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STEP 8 · CORRECTIONS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Spot and fix: corrections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اكْتَشِفِ الخَطَأَ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1901952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ـعـ</a:t>
            </a:r>
            <a:endParaRPr lang="ar-SA" sz="1800" dirty="0"/>
          </a:p>
        </p:txBody>
      </p:sp>
      <p:sp>
        <p:nvSpPr>
          <p:cNvPr id="17" name="Shape 14"/>
          <p:cNvSpPr/>
          <p:nvPr/>
        </p:nvSpPr>
        <p:spPr>
          <a:xfrm>
            <a:off x="8641080" y="2459736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38160" y="1901952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566160" y="1901952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ـع</a:t>
            </a:r>
            <a:endParaRPr lang="ar-SA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190195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Middle = closed loop; end = loop + tail.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57200" y="3255264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503920" y="3346704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أُمٌ</a:t>
            </a:r>
            <a:endParaRPr lang="ar-SA" sz="1800" dirty="0"/>
          </a:p>
        </p:txBody>
      </p:sp>
      <p:sp>
        <p:nvSpPr>
          <p:cNvPr id="23" name="Shape 20"/>
          <p:cNvSpPr/>
          <p:nvPr/>
        </p:nvSpPr>
        <p:spPr>
          <a:xfrm>
            <a:off x="8641080" y="3904488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38160" y="3346704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66160" y="3346704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أُمٌّ</a:t>
            </a:r>
            <a:endParaRPr lang="ar-SA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3346704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Shadda on mīm: umm.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57200" y="470001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E6F4EC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503920" y="4791456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B8322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وـرد</a:t>
            </a:r>
            <a:endParaRPr lang="ar-SA" sz="1800" dirty="0"/>
          </a:p>
        </p:txBody>
      </p:sp>
      <p:sp>
        <p:nvSpPr>
          <p:cNvPr id="29" name="Shape 26"/>
          <p:cNvSpPr/>
          <p:nvPr/>
        </p:nvSpPr>
        <p:spPr>
          <a:xfrm>
            <a:off x="8641080" y="5349240"/>
            <a:ext cx="2834640" cy="0"/>
          </a:xfrm>
          <a:prstGeom prst="line">
            <a:avLst/>
          </a:prstGeom>
          <a:noFill/>
          <a:ln w="15875">
            <a:solidFill>
              <a:srgbClr val="B8322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38160" y="4791456"/>
            <a:ext cx="365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←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3566160" y="4791456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وَرْدٌ</a:t>
            </a:r>
            <a:endParaRPr lang="ar-SA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479145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 ر د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are breakers: no joining line after them.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COPY, LISTEN AND WRITE · FRAMES IF YOU NEED THEM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writing frames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قَوَالِبُ الكِتَابَةِ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468880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إِمْلَاءٌ: ١ ______ ٢ ______ ٣ ______</a:t>
            </a:r>
            <a:endParaRPr lang="ar-SA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4360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Dictation: four names.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2468880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آمِنَةُ ______ دَاوُدُ ______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Copy, then circle the marks and box the breakers.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190488" y="1810512"/>
            <a:ext cx="5541264" cy="3566160"/>
          </a:xfrm>
          <a:prstGeom prst="roundRect">
            <a:avLst>
              <a:gd name="adj" fmla="val 2051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543032" y="190195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0543032" y="19019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202168" y="2249424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 · عـ · ـعـ · ـع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327648" y="2249424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ʿayn in four positions.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202168" y="2816352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مُحَمَّدٌ ______ آدَمُ ______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2816352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two badges with their marks.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8202168" y="3383280"/>
            <a:ext cx="338328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سَعِيدٌ ______ هُدَى ______</a:t>
            </a:r>
            <a:endParaRPr lang="ar-SA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327648" y="3383280"/>
            <a:ext cx="18288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Copy two more badges.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57200" y="5504688"/>
            <a:ext cx="112745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40080" y="55412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WORD BANK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5760720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مُحَمَّدٌ  ·  آدَمُ · آمِنَةُ  ·  سَعِيدٌ · عَلِيٌّ  ·  هُدَى · هِنْدٌ  ·  مَرْيَمُ · دَاوُدُ  ·  ـّ · آ · ء  ·  بـ · ـبـ · ـب  ·  ا د ذ ر ز و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24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10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COPY, LISTEN AND WRITE · ONE CONNECTED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Copy, listen and write: name badges</a:t>
            </a:r>
            <a:endParaRPr lang="en-US" sz="26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أَكْتُبُ بِطَاقَاتِ الأَسْمَاءِ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57784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38528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38528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WRITING · SCRIPT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3317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your book: • copy one letter in all four positions • make three name badges from the word bank, copying every mark • DICTATION: your buddy reads four names — write them without looking • circle each shadda, madda and hamza, and box each breaker.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31012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Four forms for each letter, in order.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85800" y="384048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Dots stay the same in every position.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70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No joining line after a breaker.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011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Dictation words joined correctly (Develop).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43153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☐  Buddy check, then fix one thing.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17920" y="1810512"/>
            <a:ext cx="551383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00800" y="19019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412480" y="2231136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بـ · ـبـ · ـب · ب</a:t>
            </a:r>
            <a:endParaRPr lang="ar-SA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560320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start · middle · end · alone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8412480" y="2889504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د ذ ر ز و</a:t>
            </a:r>
            <a:endParaRPr lang="ar-SA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3218688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six breakers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8412480" y="3547872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ـّ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0" y="3877056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shadda — say the letter twice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8412480" y="4206240"/>
            <a:ext cx="3154680" cy="408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 · ء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4535424"/>
            <a:ext cx="5166360" cy="276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madda (ʾā) · hamza (a catch)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24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9 · BUDDY CHECK · SWAP AND READ YOUR BUDDY’S TEXT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Buddy check: five points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رَاجِعْ مَعَ زَمِيلِكَ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Line / example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45552" y="1810512"/>
            <a:ext cx="768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65392" y="18105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888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Did the writer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882128" y="2267712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01968" y="2267712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every letter from RIGHT to left?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300471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300471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01968" y="300471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put the dots in the right place, with the right number?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741725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741725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601968" y="3741725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join letters correctly — and leave a gap after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 د ذ ر ز و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478731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478731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601968" y="4478731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the short-vowel marks in the right place?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5215738"/>
            <a:ext cx="286207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882128" y="5215738"/>
            <a:ext cx="73152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601968" y="5215738"/>
            <a:ext cx="1097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5852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write the dictation words without looking at the slide?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Give back: one thing that went well + one thing to improve. The writer fixes ONE thing straight away.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24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READING CARD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Reading card: compare with a strong answer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Partner A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سَعِيدٌ — ـعـ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saʿīd — the ʿayn is in the middle form.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سَعِيدٌ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مُحَمَّدٌ — مَّ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Muḥammad — the shadda doubles the mīm.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مُحَمَّدٌ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آدَمُ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Ādam — the madda says ʾā.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آدَمُ · مَرْيَمُ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هُدَى · هِنْدٌ — هـ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names start with </a:t>
            </a:r>
            <a:pPr algn="ctr" indent="0" marL="0">
              <a:buNone/>
            </a:pPr>
            <a:r>
              <a:rPr lang="ar-SA" altLang="en-US" sz="12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هـ</a:t>
            </a:r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(the start form).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هُدَى · هِنْدٌ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 · ا · و · د — أَرْبَعَةٌ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Four breakers: d · ā · w · d — so no letters join!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دَاوُدُ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Did you answer every task in a full sentence? Find one phrase from each lesson in the models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24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COPY, LISTEN AND WRITE · A STRONG ANSWER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Writing: compare with a strong answer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85800" y="1938528"/>
            <a:ext cx="10817352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 · عـ · ـعـ · ـع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مُحَمَّدٌ · آدَمُ · سَعِيدٌ · هُدَى</a:t>
            </a:r>
            <a:endParaRPr lang="ar-SA" sz="2600" dirty="0"/>
          </a:p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6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إِمْلَاءٌ: عَلِيٌّ · آمِنَةُ · مَرْيَمُ · دَاوُدُ</a:t>
            </a:r>
            <a:endParaRPr lang="ar-SA" sz="2600" dirty="0"/>
          </a:p>
        </p:txBody>
      </p:sp>
      <p:sp>
        <p:nvSpPr>
          <p:cNvPr id="17" name="Shape 14"/>
          <p:cNvSpPr/>
          <p:nvPr/>
        </p:nvSpPr>
        <p:spPr>
          <a:xfrm>
            <a:off x="457200" y="5166360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02936"/>
            <a:ext cx="1090879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Line 1: ʿayn in four positions. Line 2: four name badges with every mark. Line 3: a dictation of four names. Marks: the shaddas in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مُحَمَّد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عَلِيّ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the maddas in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آدَم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and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آمِنَة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. Breakers in </a:t>
            </a:r>
            <a:pPr algn="l" indent="0" marL="0">
              <a:buNone/>
            </a:pPr>
            <a:r>
              <a:rPr lang="ar-SA" altLang="en-US" sz="150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دَاوُد</a:t>
            </a:r>
            <a:pPr algn="l"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: all four letters.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053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FIND IN THE MODEL: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697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D5FBF"/>
          </a:solidFill>
          <a:ln w="12700">
            <a:solidFill>
              <a:srgbClr val="1D5F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697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سَعِيدٌ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983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83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مُحَمَّدٌ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269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69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آدَمُ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555480" y="603504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B3FA0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555480" y="6035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A" sz="95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دَاوُدُ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24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F1-W03 · Apply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Foundation F1 · Arabic Script &amp; Sounds · F1-W03 · Apply workshop (F1-L05 + F1-L06)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the sounds and read the words of both lessons.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copied every letter from right to left with the dots in the right place.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read the card aloud without stopping.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My buddy checked my writing and I fixed one thing.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wrote the dictation and extra words without looking.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24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F1-W03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used two lessons together!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LESSON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F1-L07 · Read the Number, Keep the Order</a:t>
            </a:r>
            <a:endParaRPr lang="en-US" sz="2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الأَرْقَامُ الهِنْدِيَّةُ مِنْ ٠ إِلَى ١٠٠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keep using this week’s language — say it, then write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F1-W03 · Apply Workshop — Name Badges for Our Class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2026-10-26T15:16:54Z</dcterms:created>
  <dcterms:modified xsi:type="dcterms:W3CDTF">2026-10-26T15:16:54Z</dcterms:modified>
</cp:coreProperties>
</file>