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F1-L05 · Learn F1-L06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F1-L05 (One Letter, Four Positions) and F1-L06 (Small Marks, Big Changes).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F1-L05 and F1-L06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WHAT WE LEARNT (3 min, main room). Ask: “What can you say after F1-L05? After F1-L06?” Take two answers in the chat for each lesson (one word or one sentence is enough). Then read objective 3 — today’s new situation that needs BOTH lessons. Students tick their route goals at the end of the lesson.
F1-L05 language: a letter keeps its identity (dots and main stroke) but changes its joining strokes: alone · start · middle · end; the six breakers (ا د ذ ر ز و) join only from the right, so the next letter takes a start or alone form
F1-L06 language: shadda doubles a letter (darasa → darrasa); tanwīn adds -n (kitābun · kitāban · kitābin); alif madda says ʾā (ādam); hamza is a catch in the throat and sits on ا · و · ي or alone (suʾāl · māʾ); routine: see the mark → name its job → read the word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F1-L05.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F1-L06.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(5 min). A NEW dialogue that joins F1-L05 and F1-L06. Teacher reads it once with a confident student; then pairs. Ask: “Which lines are from F1-L05? Which from F1-L06?” Letter positions (the ḥāʾ in the middle) come from F1-L05; shadda and madda from F1-L06. Names give a real reason to read carefully.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(7 min). One NEW situation that needs both lessons: letter forms in four positions and the six breakers (F1-L05) with shadda, tanwīn, madda and hamza (F1-L06). SUPPORTED: the plan column gives the first words, not the full answer. To a girl Partner A says: the feminine forms (-ki / -īna).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F1-L05 and F1-L06 practice rooms. Read the English, choose the correct part from each column (start on the RIGHT). Pairs agree, then check. Students copy the correct words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F1-L05 and F1-L06 practice rooms. Read the English, choose the correct part from each column (start on the RIGHT). Pairs agree, then check. Students copy the correct words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(13 words). CHECK YOURSELF (2 min). Find each bullet point in the model, and one phrase from F1-L05 and one from F1-L06.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F1  ·  F1-L05 + F1-L06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F1-W03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Name Badges for Our Class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بِطَاقَاتُ الأَسْمَاءِ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join letter positions with the small marks: they read and write name badges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مُحَمَّدٌ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آدَمُ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سَعِيدٌ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هُدَى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…), say which form each letter takes, find the shadda, madda, hamza and tanwīn, race to read the badges and copy and take dictation of names.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F1-L05 + F1-L06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beginner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F1 › F1-L06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F1-L05 and F1-L06.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mini-dialogue · point-and-say cards · reading card · read-aloud race.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build the word · spot the slip · copy, listen and write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F1-L05 + F1-L06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F1-L05: One Letter, Four Positions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F1-L06: Small Marks, Big Changes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the name badges · Copy, listen and write: name badges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Say the sounds and read the words of both lessons.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Copy and write with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Read every item on the card without stopping.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dictation without looking.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Read new words with the same letters and marks.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Write extra words of your own.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Letter race: two lessons, one race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Say it, find it —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letters and words from F1-L05 and F1-L06. Partner A says a letter name, sound or word; Partner B finds it and reads it.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Find the letter and say its sound.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the whole word aloud.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another word with the same letter.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F1-L05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F1-L05 · One Letter, Four Positions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أَشْكَالُ الحَرْفِ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alone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</a:t>
            </a:r>
            <a:endParaRPr lang="ar-SA" sz="405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bāʾ — alone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isolated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middle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ـبـ</a:t>
            </a:r>
            <a:endParaRPr lang="ar-SA" sz="4050" dirty="0"/>
          </a:p>
        </p:txBody>
      </p:sp>
      <p:sp>
        <p:nvSpPr>
          <p:cNvPr id="32" name="Text 29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bāʾ — in the middle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joins both sides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alone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</a:t>
            </a:r>
            <a:endParaRPr lang="ar-SA" sz="405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ʿayn — alone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isolated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middle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ـعـ</a:t>
            </a:r>
            <a:endParaRPr lang="ar-SA" sz="4050" dirty="0"/>
          </a:p>
        </p:txBody>
      </p:sp>
      <p:sp>
        <p:nvSpPr>
          <p:cNvPr id="50" name="Text 47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ʿayn — in the middle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closed loop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alone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</a:t>
            </a:r>
            <a:endParaRPr lang="ar-SA" sz="4050" dirty="0"/>
          </a:p>
        </p:txBody>
      </p:sp>
      <p:sp>
        <p:nvSpPr>
          <p:cNvPr id="59" name="Text 5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hāʾ — alone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isolated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middle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ـهـ</a:t>
            </a:r>
            <a:endParaRPr lang="ar-SA" sz="4050" dirty="0"/>
          </a:p>
        </p:txBody>
      </p:sp>
      <p:sp>
        <p:nvSpPr>
          <p:cNvPr id="68" name="Text 65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hāʾ — in the middle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loop through the line</a:t>
            </a:r>
            <a:endParaRPr lang="en-US" sz="1350" dirty="0"/>
          </a:p>
        </p:txBody>
      </p:sp>
      <p:sp>
        <p:nvSpPr>
          <p:cNvPr id="69" name="Text 6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F1-L06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F1-L06 · Small Marks, Big Changes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عَلَامَاتُ الدَّرْسِ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shadda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ـّ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shadda — doubles the letter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small “w” on top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شَدَّةٌ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shadda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أُمٌّ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mother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umm-un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tanwīn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كِتَابٌ</a:t>
            </a:r>
            <a:endParaRPr lang="ar-SA" sz="3000" dirty="0"/>
          </a:p>
        </p:txBody>
      </p:sp>
      <p:sp>
        <p:nvSpPr>
          <p:cNvPr id="44" name="Text 41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book (-un)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kitābun</a:t>
            </a:r>
            <a:endParaRPr lang="en-US" sz="1350" dirty="0"/>
          </a:p>
        </p:txBody>
      </p:sp>
      <p:sp>
        <p:nvSpPr>
          <p:cNvPr id="45" name="Shape 42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also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640080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كِتَابًا · كِتَابٍ</a:t>
            </a:r>
            <a:endParaRPr lang="ar-SA" sz="1350" dirty="0"/>
          </a:p>
        </p:txBody>
      </p:sp>
      <p:sp>
        <p:nvSpPr>
          <p:cNvPr id="48" name="Shape 45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madda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alif madda — says ʾā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wave on alif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8284464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مَدَّةٌ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hamza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ء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hamza — a catch in the throat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alone, or on ا · و · ي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4462272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هَمْزَةٌ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3" name="Shape 70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960120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960120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hamza alone</a:t>
            </a:r>
            <a:endParaRPr lang="en-US" sz="800" dirty="0"/>
          </a:p>
        </p:txBody>
      </p:sp>
      <p:sp>
        <p:nvSpPr>
          <p:cNvPr id="77" name="Shape 74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9" name="Text 76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مَاءٌ</a:t>
            </a:r>
            <a:endParaRPr lang="ar-SA" sz="3000" dirty="0"/>
          </a:p>
        </p:txBody>
      </p:sp>
      <p:sp>
        <p:nvSpPr>
          <p:cNvPr id="80" name="Text 77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water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māʾ-un</a:t>
            </a:r>
            <a:endParaRPr lang="en-US" sz="1350" dirty="0"/>
          </a:p>
        </p:txBody>
      </p:sp>
      <p:sp>
        <p:nvSpPr>
          <p:cNvPr id="81" name="Text 78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WHICH LESSON?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 does it come from?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بـ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شَدَّةٌ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ـعـ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ـه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ء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كِتَابًا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د ذ ر ز و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F1-L05 · One Letter, Four Positions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F1-L06 · Small Marks, Big Changes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lesson?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F1-L05 · One Letter, Four Positions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بـ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ـعـ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ـه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د ذ ر ز و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F1-L06 · Small Marks, Big Changes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شَدَّةٌ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ء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كِتَابًا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MINI-DIALOGUE · BOTH LESSONS IN ONE CONVERSATION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 my badge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اقْرَأْ بِطَاقَتِي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my badge: Muḥammad.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اقْرَأْ بِطَاقَتِي: مُحَمَّدٌ.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Muḥammad — there is a shadda on the mīm: mm.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مُحَمَّدٌ — عَلَى المِيمِ شَدَّةٌ: مَّ.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where is the ḥāʾ?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وَأَيْنَ الحَاءُ؟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middle: (middle form).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الوَسَطِ: ـحـ.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this is my sister’s badge: Āmina.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وَهٰذِهِ بِطَاقَةُ أُخْتِي: آمِنَةُ.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Āmina — at the start there is a madda: ʾā.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آمِنَةُ — فِي أَوَّلِهَا مَدَّةٌ: آ.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pairs. Round 2: swap letters. Round 3: A points to a NEW letter or word from either lesson; B reads it and explains one thing about it (dots, a mark, a position).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POINT-AND-SAY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Point, say, check — both lessons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Then read (Develop)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 says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32511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Hint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points to / says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كِتَابٌ</a:t>
            </a:r>
            <a:endParaRPr lang="ar-SA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بـ · ب</a:t>
            </a:r>
            <a:endParaRPr lang="ar-SA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4361688" y="2267712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find both bāʾs · why is the second alone?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</a:t>
            </a:r>
            <a:endParaRPr lang="ar-SA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مُدَرِّسَةٌ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شَدَّةٌ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4361688" y="2881884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shadda on r · teacher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مُدَرِّسٌ</a:t>
            </a:r>
            <a:endParaRPr lang="ar-SA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بَعِيدٌ</a:t>
            </a:r>
            <a:endParaRPr lang="ar-SA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ـعـ</a:t>
            </a:r>
            <a:endParaRPr lang="ar-SA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4361688" y="3496056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ʿayn in the middle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سَعِيدٌ</a:t>
            </a:r>
            <a:endParaRPr lang="ar-SA" sz="20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بَيْتًا</a:t>
            </a:r>
            <a:endParaRPr lang="ar-SA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تَنْوِينٌ</a:t>
            </a:r>
            <a:endParaRPr lang="ar-SA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361688" y="4110228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tanwīn -an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كِتَابًا</a:t>
            </a:r>
            <a:endParaRPr lang="ar-SA" sz="20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رَبِيعٌ</a:t>
            </a:r>
            <a:endParaRPr lang="ar-SA" sz="18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</a:t>
            </a:r>
            <a:endParaRPr lang="ar-SA" sz="1800" dirty="0"/>
          </a:p>
        </p:txBody>
      </p:sp>
      <p:sp>
        <p:nvSpPr>
          <p:cNvPr id="56" name="Text 53"/>
          <p:cNvSpPr txBox="1"/>
          <p:nvPr/>
        </p:nvSpPr>
        <p:spPr>
          <a:xfrm>
            <a:off x="4361688" y="4724400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ʿayn at the end — after a breaker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شَارِعٌ</a:t>
            </a:r>
            <a:endParaRPr lang="ar-SA" sz="20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آدَمُ</a:t>
            </a:r>
            <a:endParaRPr lang="ar-SA" sz="18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مَدَّةٌ</a:t>
            </a:r>
            <a:endParaRPr lang="ar-SA" sz="1800" dirty="0"/>
          </a:p>
        </p:txBody>
      </p:sp>
      <p:sp>
        <p:nvSpPr>
          <p:cNvPr id="62" name="Text 59"/>
          <p:cNvSpPr txBox="1"/>
          <p:nvPr/>
        </p:nvSpPr>
        <p:spPr>
          <a:xfrm>
            <a:off x="4361688" y="5338572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madda · safe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آمِنٌ</a:t>
            </a:r>
            <a:endParaRPr lang="ar-SA" sz="20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the first lesson, even numbers from the second. Core: say the sound or read the word. Develop: do the “then” part. Stretch: give your own example. Swap after each card.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READING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Reading card — the name badges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بِطَاقَةُ القِرَاءَةِ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Hint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shows /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93608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start · middle · end?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it; which form is the ʿayn?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سَعِيدٌ</a:t>
            </a:r>
            <a:endParaRPr lang="ar-SA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doubled m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it; find the shadda.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مُحَمَّدٌ</a:t>
            </a:r>
            <a:endParaRPr lang="ar-SA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93608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ʾā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both; which one starts with a madda?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آدَمُ · مَرْيَمُ</a:t>
            </a:r>
            <a:endParaRPr lang="ar-SA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93608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look at the joins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both; is the hāʾ at the start or alone?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هُدَى · هِنْدٌ</a:t>
            </a:r>
            <a:endParaRPr lang="ar-SA" sz="20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75320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د ذ ر ز و</a:t>
            </a:r>
            <a:endParaRPr lang="ar-SA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Count the breakers in this name.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دَاوُدُ</a:t>
            </a:r>
            <a:endParaRPr lang="ar-SA" sz="20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reader · Partner A = the badge maker. Read from RIGHT to left. Task ! is a surprise — Partner A asks it without warning. Then swap roles.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READ-ALOUD RACE · 30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Badge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Read aloud for 30 seconds — as many as you can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30 seconds, read as many name badges as you can from the reading card and the word bank. For every name, say one thing: a letter position or a mark. The partner counts.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Leader points to the list on the slide (or in your book).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Speaker reads aloud for 30 seconds; the Coach counts the correct ones.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Coach: one sound that was perfect + one to practise.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try to beat your own score, not your partner’s.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four names clearly.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six names and name one mark in each.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every name and say the position of one letter in each.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once more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بِبُطْءٍ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slowly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BUILD THE WORD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Join the parts into one word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الكَلِمَةَ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happy — saʿīd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غِي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دٌ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ذٌ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teacher (m.) — mudarris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رِّسٌ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رِسٌ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street — shāriʿ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شَا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زِ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عٌ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غٌ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the word: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الكَلِمَةَ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happy — saʿīd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Joined: ʿayn takes its closed middle form.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سَعِيدٌ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teacher (m.) — mudarris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Shadda doubles the r: mu-dar-ris.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مُدَرِّسٌ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street — shāriʿ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After the breaker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, ʿayn stands alone.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شَارِعٌ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THE SLIP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ـعـ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should be ʿayn at the END — the end form has a tail.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أُمٌ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“mother” has a doubled m.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وـرد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</a:t>
            </a:r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join to the left?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ـعـ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ـع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Middle = closed loop; end = loop + tail.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أُمٌ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أُمٌّ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Shadda on mīm: umm.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وـرد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وَرْدٌ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 ر د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are breakers: no joining line after them.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COPY, LISTEN AND WRITE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إِمْلَاءٌ: ١ ______ ٢ ______ ٣ ______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Dictation: four names.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آمِنَةُ ______ دَاوُدُ ______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Copy, then circle the marks and box the breakers.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 · عـ · ـعـ · ـع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ʿayn in four positions.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مُحَمَّدٌ ______ آدَمُ ______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two badges with their marks.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سَعِيدٌ ______ هُدَى ______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two more badges.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مُحَمَّدٌ  ·  آدَمُ · آمِنَةُ  ·  سَعِيدٌ · عَلِيٌّ  ·  هُدَى · هِنْدٌ  ·  مَرْيَمُ · دَاوُدُ  ·  ـّ · آ · ء  ·  بـ · ـبـ · ـب  ·  ا د ذ ر ز و</a:t>
            </a:r>
            <a:endParaRPr lang="ar-SA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COPY, LISTEN AND WRITE · ONE CONNECTED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Copy, listen and write: name badges</a:t>
            </a:r>
            <a:endParaRPr lang="en-US" sz="26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أَكْتُبُ بِطَاقَاتِ الأَسْمَاءِ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SCRIPT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your book: • copy one letter in all four positions • make three name badges from the word bank, copying every mark • DICTATION: your buddy reads four names — write them without looking • circle each shadda, madda and hamza, and box each breaker.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Four forms for each letter, in order.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Dots stay the same in every position.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No joining line after a breaker.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Dictation words joined correctly (Develop).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بـ · ـبـ · ـب · ب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start · middle · end · alone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د ذ ر ز و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six breakers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ـّ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shadda — say the letter twice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 · ء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madda (ʾā) · hamza (a catch)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every letter from RIGHT to left?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put the dots in the right place, with the right number?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join letters correctly — and leave a gap after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د ذ ر ز و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the short-vowel marks in the right place?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the dictation words without looking at the slide?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READING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Reading card: compare with a strong answer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سَعِيدٌ — ـعـ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saʿīd — the ʿayn is in the middle form.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سَعِيدٌ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مُحَمَّدٌ — مَّ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Muḥammad — the shadda doubles the mīm.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مُحَمَّدٌ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آدَمُ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Ādam — the madda says ʾā.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آدَمُ · مَرْيَمُ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هُدَى · هِنْدٌ — هـ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names start with </a:t>
            </a:r>
            <a:pPr algn="ctr" indent="0" marL="0">
              <a:buNone/>
            </a:pPr>
            <a:r>
              <a:rPr lang="ar-SA" altLang="en-US" sz="12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هـ</a:t>
            </a:r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(the start form).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هُدَى · هِنْدٌ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 · ا · و · د — أَرْبَعَةٌ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Four breakers: d · ā · w · d — so no letters join!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دَاوُدُ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COPY, LISTEN AND WRITE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 · عـ · ـعـ · ـع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مُحَمَّدٌ · آدَمُ · سَعِيدٌ · هُدَى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إِمْلَاءٌ: عَلِيٌّ · آمِنَةُ · مَرْيَمُ · دَاوُدُ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Line 1: ʿayn in four positions. Line 2: four name badges with every mark. Line 3: a dictation of four names. Marks: the shaddas in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مُحَمَّد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and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عَلِيّ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the maddas in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آدَم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and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آمِنَة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 Breakers in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دَاوُد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: all four letters.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سَعِيدٌ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مُحَمَّدٌ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آدَمُ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دَاوُدُ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F1-W03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F1-W03 · Apply workshop (F1-L05 + F1-L06)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the sounds and read the words of both lessons.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copied every letter from right to left with the dots in the right place.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read the card aloud without stopping.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writing and I fixed one thing.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the dictation and extra words without looking.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F1-W03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F1-L07 · Read the Number, Keep the Order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الأَرْقَامُ الهِنْدِيَّةُ مِنْ ٠ إِلَى ١٠٠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F1-W03 · Apply Workshop — Name Badges for Our Class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2026-10-26T15:17:13Z</dcterms:created>
  <dcterms:modified xsi:type="dcterms:W3CDTF">2026-10-26T15:17:13Z</dcterms:modified>
</cp:coreProperties>
</file>