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F1-L07 · Learn F1-L08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F1-L07 (Read the Number, Keep the Order) and F1-L08 (From Marks to Meaning: Reading Aloud).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F1-L07 and F1-L08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WHAT WE LEARNT (3 min, main room). Ask: “What can you say after F1-L07? After F1-L08?” Take two answers in the chat for each lesson (one word or one sentence is enough). Then read objective 3 — today’s new situation that needs BOTH lessons. Students tick their route goals at the end of the lesson.
F1-L07 language: the ten digits ٠ ١ ٢ ٣ ٤ ٥ ٦ ٧ ٨ ٩; numbers are written left to right even inside Arabic (١٥ = 15); look-alikes (٥ circle vs ٠ dot · ٧ V vs ٨ upside-down V · ٢ vs ٣); saying 0–20; reading real numbers in prices, rooms, scores and times
F1-L08 language: one routine for any fully vowelled word — R: start at the Right edge · E: Extract the letters · A: Attach the marks · D: Draw them together — then read again more smoothly; syllables (ma-dra-sa), sukūn closes a syllable, shadda doubles, tāʾ marbūṭa (ة) says -a / -at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F1-L07.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F1-L08.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F1-L07 and F1-L08. Teacher reads it once with a confident student; then pairs. Ask: “Which lines are from F1-L07? Which from F1-L08?” The numerals (١٢ · ٧, written left to right) come from F1-L07; reading in syllables with R-E-A-D (maṭ-bakh · ḥa-dī-qa) from F1-L08. Sketch a simple map with six rooms and numbers in the chat or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(7 min). One NEW situation that needs both lessons: Arabic-Indic numerals in the right order (F1-L07) with fully vowelled words read with R-E-A-D (F1-L08). SUPPORTED: the plan column gives the first words, not the full answer. To a girl Partner A says: the feminine forms (-ki / -īna).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F1-L07 and F1-L08 practice rooms. Read the English, choose the correct part from each column (start on the RIGHT). Pairs agree, then check. Students copy the correct words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F1-L07 and F1-L08 practice rooms. Read the English, choose the correct part from each column (start on the RIGHT). Pairs agree, then check. Students copy the correct words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(24 words). CHECK YOURSELF (2 min). Find each bullet point in the model, and one phrase from F1-L07 and one from F1-L08.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F1  ·  F1-L07 + F1-L08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F1-W04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The School Open-Day Map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خَرِيطَةُ اليَوْمِ المَفْتُوحِ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join numerals with reading aloud: on a school open-day map they read room labels (fully vowelled words with R-E-A-D) and room numbers (written left to right), say which room is which, race to read the map and copy and take dictation of labels and numbers.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F1-L07 + F1-L08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beginner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F1 › F1-L08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F1-L07 and F1-L08.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mini-dialogue · point-and-say cards · reading card · read-aloud race.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build the word · spot the slip · copy, listen and write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F1-L07 + F1-L08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F1-L07: Read the Number, Keep the Order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F1-L08: From Marks to Meaning: Reading Aloud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the open-day map · Copy, listen and write: our map labels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Say the sounds and read the words of both lessons.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Copy and write with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Read every item on the card without stopping.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dictation without looking.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Read new words with the same letters and marks.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Write extra words of your own.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Letter race: two lessons, one race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Say it, find it —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letters and words from F1-L07 and F1-L08. Partner A says a letter name, sound or word; Partner B finds it and reads it.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Find the letter and say its sound.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the whole word aloud.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another word with the same letter.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F1-L07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F1-L07 · Read the Number, Keep the Order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الأَرْقَامُ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digit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</a:t>
            </a:r>
            <a:endParaRPr lang="ar-SA" sz="33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zero — a dot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ṣifr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صِفْرٌ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digit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</a:t>
            </a:r>
            <a:endParaRPr lang="ar-SA" sz="33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two — one hook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ithnān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اثْنَانِ</a:t>
            </a:r>
            <a:endParaRPr lang="ar-SA" sz="135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digit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٤</a:t>
            </a:r>
            <a:endParaRPr lang="ar-SA" sz="33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four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arbaʿa</a:t>
            </a:r>
            <a:endParaRPr lang="en-US" sz="1350" dirty="0"/>
          </a:p>
        </p:txBody>
      </p:sp>
      <p:sp>
        <p:nvSpPr>
          <p:cNvPr id="48" name="Shape 45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640080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أَرْبَعَةٌ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digit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٦</a:t>
            </a:r>
            <a:endParaRPr lang="ar-SA" sz="3300" dirty="0"/>
          </a:p>
        </p:txBody>
      </p:sp>
      <p:sp>
        <p:nvSpPr>
          <p:cNvPr id="59" name="Text 56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six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sitta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8284464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سِتَّةٌ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digit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٨</a:t>
            </a:r>
            <a:endParaRPr lang="ar-SA" sz="3300" dirty="0"/>
          </a:p>
        </p:txBody>
      </p:sp>
      <p:sp>
        <p:nvSpPr>
          <p:cNvPr id="71" name="Text 68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eight — an upside-down V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thamāniya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4462272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ثَمَانِيَةٌ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number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١٠</a:t>
            </a:r>
            <a:endParaRPr lang="ar-SA" sz="3300" dirty="0"/>
          </a:p>
        </p:txBody>
      </p:sp>
      <p:sp>
        <p:nvSpPr>
          <p:cNvPr id="83" name="Text 80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ʿashara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594360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49224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40080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عَشَرَةٌ</a:t>
            </a:r>
            <a:endParaRPr lang="ar-SA" sz="1350" dirty="0"/>
          </a:p>
        </p:txBody>
      </p:sp>
      <p:sp>
        <p:nvSpPr>
          <p:cNvPr id="87" name="Text 8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F1-L08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F1-L08 · From Marks to Meaning: Reading Aloud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كَلِمَاتٌ لِلْقِرَاءَةِ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2 syllables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house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bay-tun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3 syllables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قَمَرٌ</a:t>
            </a:r>
            <a:endParaRPr lang="ar-SA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moon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qa-ma-run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800" b="1" dirty="0">
                <a:solidFill>
                  <a:srgbClr val="8A6D1E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ة = -a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school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mad-ra-sa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shadda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mu-ʿal-li-mun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sukūn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مِفْتَاحٌ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key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mif-tā-ḥun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long ī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حَدِيقَةٌ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garden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ḥa-dī-qa</a:t>
            </a:r>
            <a:endParaRPr lang="en-US" sz="1350" dirty="0"/>
          </a:p>
        </p:txBody>
      </p:sp>
      <p:sp>
        <p:nvSpPr>
          <p:cNvPr id="69" name="Text 6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WHICH LESSON?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 does it come from?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٨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١٥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حَدِيقَةٌ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مِفْتَاحٌ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٢٠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F1-L07 · Read the Number, Keep the Order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F1-L08 · From Marks to Meaning: Reading Aloud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lesson?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F1-L07 · Read the Number, Keep the Order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٨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١٥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٢٠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F1-L08 · From Marks to Meaning: Reading Aloud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حَدِيقَةٌ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مِفْتَاحٌ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MINI-DIALOGUE · BOTH LESSONS IN ONE CONVERSATION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Where is the room?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الغُرْفَةُ؟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Read: maṭbakh (kitchen).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اقْرَأْ: مَطْبَخٌ.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maṭ — bakh: maṭbakh.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 — بَخٌ: مَطْبَخٌ.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kitchen’s number?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رَقْمُ المَطْبَخِ؟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12 — twelve.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١٢ — اثْنَا عَشَرَ.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the garden?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وَالحَدِيقَةُ؟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ḥadīqa — number 7, seven.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حَدِيقَةٌ — رَقْمُ ٧، سَبْعَةٌ.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pairs. Round 2: swap letters. Round 3: A points to ANY room label on the map; B reads it in syllables, then says its number.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POINT-AND-SAY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Point, say, check — both lessons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Then read (Develop)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 says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32511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Hint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points to / says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أَرْبَعَةٌ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ثَلَاثَةٌ</a:t>
            </a:r>
            <a:endParaRPr lang="ar-SA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4361688" y="226771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two hooks on top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٣</a:t>
            </a:r>
            <a:endParaRPr lang="ar-SA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الشَّمْسُ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شَمْ · سٌ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4361688" y="2881884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sun · sukūn on mīm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شَمْسٌ</a:t>
            </a:r>
            <a:endParaRPr lang="ar-SA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تِسْعَةٌ</a:t>
            </a:r>
            <a:endParaRPr lang="ar-SA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ثَمَانِيَةٌ</a:t>
            </a:r>
            <a:endParaRPr lang="ar-SA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4361688" y="3496056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 upside-down V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٨</a:t>
            </a:r>
            <a:endParaRPr lang="ar-SA" sz="20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مُعَلِّمَةٌ</a:t>
            </a:r>
            <a:endParaRPr lang="ar-SA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 · عَلْ · لِ · مٌ</a:t>
            </a:r>
            <a:endParaRPr lang="ar-SA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361688" y="4110228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teacher · shadda on lām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</a:t>
            </a:r>
            <a:endParaRPr lang="ar-SA" sz="20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ثَلَاثَةَ عَشَرَ</a:t>
            </a:r>
            <a:endParaRPr lang="ar-SA" sz="18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اثْنَا عَشَرَ</a:t>
            </a:r>
            <a:endParaRPr lang="ar-SA" sz="1800" dirty="0"/>
          </a:p>
        </p:txBody>
      </p:sp>
      <p:sp>
        <p:nvSpPr>
          <p:cNvPr id="56" name="Text 53"/>
          <p:cNvSpPr txBox="1"/>
          <p:nvPr/>
        </p:nvSpPr>
        <p:spPr>
          <a:xfrm>
            <a:off x="4361688" y="4724400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one, then two — same order as English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١٢</a:t>
            </a:r>
            <a:endParaRPr lang="ar-SA" sz="20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المِفْتَاحُ</a:t>
            </a:r>
            <a:endParaRPr lang="ar-SA" sz="18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مِفْ · تَا · حٌ</a:t>
            </a:r>
            <a:endParaRPr lang="ar-SA" sz="1800" dirty="0"/>
          </a:p>
        </p:txBody>
      </p:sp>
      <p:sp>
        <p:nvSpPr>
          <p:cNvPr id="62" name="Text 59"/>
          <p:cNvSpPr txBox="1"/>
          <p:nvPr/>
        </p:nvSpPr>
        <p:spPr>
          <a:xfrm>
            <a:off x="4361688" y="533857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key · sukūn on fāʾ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مِفْتَاحٌ</a:t>
            </a:r>
            <a:endParaRPr lang="ar-SA" sz="20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the first lesson, even numbers from the second. Core: say the sound or read the word. Develop: do the “then” part. Stretch: give your own example. Swap after each card.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READING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Reading card — the open-day map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بِطَاقَةُ القِرَاءَةِ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Hint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shows /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93608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two hooks · upside-down V · circle · dot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the four numbers.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٣ · ٨ · ٥ · ٠</a:t>
            </a:r>
            <a:endParaRPr lang="ar-SA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start on the LEFT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them — left to right!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١٥ · ٢٠ · ١٢</a:t>
            </a:r>
            <a:endParaRPr lang="ar-SA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93608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 · dra · sa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it in syllables, then smoothly.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93608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shadda on lām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the label and the room number.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 — غُرْفَةُ ٩</a:t>
            </a:r>
            <a:endParaRPr lang="ar-SA" sz="20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93608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V or upside-down V?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is seven and which is eight?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٧ · ٨</a:t>
            </a:r>
            <a:endParaRPr lang="ar-SA" sz="20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reader · Partner A = the map holder. Read from RIGHT to left. Task ! is a surprise — Partner A asks it without warning. Then swap roles.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READ-ALOUD RACE · 30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Map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الخَرِيطَةِ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Read aloud for 30 seconds — as many as you can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30 seconds, read as many room labels and room numbers from the open-day map as you can (or use the two Step 1 slides). Say each label in syllables first, then smoothly. The partner counts.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Leader points to the list on the slide (or in your book).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Speaker reads aloud for 30 seconds; the Coach counts the correct ones.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Coach: one sound that was perfect + one to practise.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try to beat your own score, not your partner’s.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the numbers 0–10.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four labels with their numbers.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every label smoothly and the numbers up to 20.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once more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بِبُطْءٍ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slowly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BUILD THE WORD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Write the numbers in the right order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اكْتُبِ الأَرْقَامَ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 · 12 · 20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٧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٨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١٢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٢١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٢٠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٠٢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school — madrasa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مُدْ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سَةٌ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صَةٌ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 · 15 · 0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١٥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٥١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Numbers: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اكْتُبِ الأَرْقَامَ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 · 12 · 20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Digits keep the same order as English: 12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١٢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٧ · ١٢ · ٢٠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school — madrasa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mad · ra · sa — sukūn closes “mad”.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 · 15 · 0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a small circle;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a dot.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 · ١٥ · ٠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THE SLIP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٢١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twelve.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مَدَرَسَةٌ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it: is there a vowel after d?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five.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٢١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١٢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Same order as English: first 1, then 2.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مَدَرَسَةٌ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sukūn on dāl: mad-ra-sa.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= a small circle;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= a dot (zero).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COPY, LISTEN AND WRITE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إِمْلَاءٌ: ١ ______ ٢ ______ ٣ ______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Dictation: three numbers and two words.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نَافِذَةٌ = ______ · ______ · ______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Split into syllables.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 ١ ٢ ٣ ٤ ٥ ٦ ٧ ٨ ٩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ten digits.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مَطْبَخٌ — ١٢ ______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label and its number.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حَدِيقَةٌ — ٧ ______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label and its number.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 — ٩ ______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label and its number.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 – ٩  ·  ١٠ · ١٢ · ١٥ · ٢٠  ·  مَدْرَسَةٌ · مُعَلِّمٌ  ·  مَطْبَخٌ · حَدِيقَةٌ  ·  نَافِذَةٌ · مِفْتَاحٌ  ·  بَيْتٌ · سَيَّارَةٌ  ·  شَمْسٌ · قَمَرٌ  ·  طَالِبَةٌ · كِتَابٌ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COPY, LISTEN AND WRITE · ONE CONNECTED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Copy, listen and write: our map labels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أَكْتُبُ لَافِتَاتِ الخَرِيطَةِ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SCRIPT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your book: • copy the digits 0–9 in order • make four map labels: a word and a room number • DICTATION: your buddy reads three numbers and two words — write them without looking • split two words into syllables.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All ten digits, clearly different (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circle ·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dot).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Two-digit numbers in the same order as English.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١٠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to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٢٠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complete.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Dictation: five numbers without looking (Develop).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 ١ ٢ ٣ ٤ ٥ ٦ ٧ ٨ ٩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ten digits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١٥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fifteen — numbers go left to right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 · رَ · سَةٌ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in syllables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ة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says -a (or -at)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the digits clearly (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٥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circle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dot)?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keep two-digit numbers in the right order (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١٢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not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٢١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)?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١٠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to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٢٠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without gaps?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the dictation numbers correctly?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every number aloud in Arabic too?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READING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Reading card: compare with a strong answer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٣ · ٨ · ٥ · ٠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three · eight · five · zero.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٣ · ٨ · ٥ · ٠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١٥ · ٢٠ · ١٢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fifteen · twenty · twelve.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١٥ · ٢٠ · ١٢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 — رَ — سَةٌ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mad-ra-sa (school).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 — ٩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muʿallim (teacher) — room nine.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 — غُرْفَةُ ٩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٧ — سَبْعَةٌ · ٨ — ثَمَانِيَةٌ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12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٧</a:t>
            </a:r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seven (a V), </a:t>
            </a:r>
            <a:pPr algn="ctr" indent="0" marL="0">
              <a:buNone/>
            </a:pPr>
            <a:r>
              <a:rPr lang="ar-SA" altLang="en-US" sz="12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٨</a:t>
            </a:r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eight (an upside-down V).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٧ · ٨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COPY, LISTEN AND WRITE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 ١ ٢ ٣ ٤ ٥ ٦ ٧ ٨ ٩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مَطْبَخٌ ١٢ · حَدِيقَةٌ ٧ · مُعَلِّمٌ ٩ · مَدْرَسَةٌ ٢٠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إِمْلَاءٌ: ١٥ · ٨ · ٣ · مِفْتَاحٌ · سَيَّارَةٌ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Line 1: the ten digits. Line 2: four map labels with room numbers. Line 3: a dictation of three numbers and two words. Syllables: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نَا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ذَةٌ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(nā-fi-dha).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٠ ١ ٢ ٣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مَطْبَخٌ ١٢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 ٩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مِفْتَاحٌ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F1-W04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F1-W04 · Apply workshop (F1-L07 + F1-L08)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the sounds and read the words of both lessons.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copied every letter from right to left with the dots in the right place.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read the card aloud without stopping.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writing and I fixed one thing.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the dictation and extra words without looking.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F1-W04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F1-L09 · Write Clearly, Then Fluently</a:t>
            </a:r>
            <a:endParaRPr lang="en-US" sz="2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التَّدْرِيبُ عَلَى الكِتَابَةِ — الدِّقَّةُ وَالطَّلَاقَةُ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F1-W04 · Apply Workshop — The School Open-Day Map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2026-10-26T15:16:55Z</dcterms:created>
  <dcterms:modified xsi:type="dcterms:W3CDTF">2026-10-26T15:16:55Z</dcterms:modified>
</cp:coreProperties>
</file>