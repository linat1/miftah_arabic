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WORKSHOP AT A GLANCE — the third lesson of the week (Learn F1-L07 · Learn F1-L08 · Apply). 60 minutes on Teams: teacher-led in the main room for the short whole-class steps, pairs or breakout rooms of two or three for speaking, individual writing.
0–3 Welcome + plan · 3–6 What we learnt this week · PART 1 REMEMBER: word race (4) · which lesson? sort (4) · PART 2 SPEAK: new dialogue (5) · mixed question cards (6) · role-play card (7) · 30 seconds talk (4) · PART 3 WRITE: sentence builder (3) · spot and fix (3) · connected writing (12) + buddy check (3) · CHECK YOURSELF: models + self-check (5).
PURPOSE: students APPLY the language of BOTH lessons in new contexts — the question cards, builder and common mistakes come from the two practice rooms; the dialogue, role-play, talk and writing task are new and join the lessons together.
CONTENT: F1-L07 (Read the Number, Keep the Order) and F1-L08 (From Marks to Meaning: Reading Aloud).
SET-UP: share this deck or its PDF in the chat. Pairs or breakout rooms for Part 2 (same-level rooms keep the routes simple). Everyone writes in their own book or document in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min). Apply = use what you learnt in F1-L07 and F1-L08 in a NEW situation. Point out the step number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WHAT WE LEARNT (3 min, main room). Ask: “What can you say after F1-L07? After F1-L08?” Take two answers in the chat for each lesson (one word or one sentence is enough). Then read objective 3 — today’s new situation that needs BOTH lessons. Students tick their route goals at the end of the lesson.
F1-L07 language: the ten digits ٠ ١ ٢ ٣ ٤ ٥ ٦ ٧ ٨ ٩; numbers are written left to right even inside Arabic (١٥ = 15); look-alikes (٥ circle vs ٠ dot · ٧ V vs ٨ upside-down V · ٢ vs ٣); saying 0–20; reading real numbers in prices, rooms, scores and times
F1-L08 language: one routine for any fully vowelled word — R: start at the Right edge · E: Extract the letters · A: Attach the marks · D: Draw them together — then read again more smoothly; syllables (ma-dra-sa), sukūn closes a syllable, shadda doubles, tāʾ marbūṭa (ة) says -a / -at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(4 min). Quick, energetic retrieval. Model one round with a student, then pairs race. Collect the best score in the chat. Listen for words students hesitate over and revisit them in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F1-L07.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F1-L08.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3 (5 min). A NEW dialogue that joins F1-L07 and F1-L08. Teacher reads it once with a confident student; then pairs. Ask: “Which lines are from F1-L07? Which from F1-L08?” The numerals (١٢ · ٧, written left to right) come from F1-L07; reading in syllables with R-E-A-D (maṭ-bakh · ḥa-dī-qa) from F1-L08. Sketch a simple map with six rooms and numbers in the chat or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min, pairs or rooms). The questions come from the two practice rooms, now mixed so students switch between the lessons. Teacher: visit rooms and ask one Stretch follow-up question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(7 min). One NEW situation that needs both lessons: Arabic-Indic numerals in the right order (F1-L07) with fully vowelled words read with R-E-A-D (F1-L08). SUPPORTED: the plan column gives the first words, not the full answer. To a girl Partner A says: the feminine forms (-ki / -īna).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(4 min). Fluency: one talk that uses BOTH lessons. Two volunteers speak to the whole class at the end (open mic).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F1-L07 and F1-L08 practice rooms. Read the English, choose the correct part from each column (start on the RIGHT). Pairs agree, then check. Students copy the correct words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F1-L07 and F1-L08 practice rooms. Read the English, choose the correct part from each column (start on the RIGHT). Pairs agree, then check. Students copy the correct words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support. Core: use the Core frames for every bullet. Develop: use the Develop frames only if stuck. Stretch: no frames — add reasons, a time phrase and an extra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(10 min writing, everyone on their own). Core: frames for every bullet (30–40 words). Develop: 40–70 words, frames only if stuck. Stretch: no frames, add reasons. Teacher reads ONE sentence per student (in the chat or the shared document) and gives one live correction.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BUDDY CHECK (3 min). Pairs swap texts (or share screens). Then everyone returns to the main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Each student finds one task they answered less fully and says it again using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 (24 words). CHECK YOURSELF (2 min). Find each bullet point in the model, and one phrase from F1-L07 and one from F1-L08. Then each student copies ONE phrase from the model into their own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YEAR 7  ·  FOUNDATION F1  ·  F1-L07 + F1-L08 · APPLY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F1-W04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Apply Workshop — The School Open-Day Map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التَّطْبِيقِ — خَرِيطَةُ اليَوْمِ المَفْتُوحِ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join numerals with reading aloud: on a school open-day map they read room labels (fully vowelled words with R-E-A-D) and room numbers (written left to right), say which room is which, race to read the map and copy and take dictation of labels and numbers.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Apply workshop · F1-L07 + F1-L08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Foundation · beginner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Pathways › Foundation › F1 › F1-L08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F1-W04 · Apply workshop (F1-L07 + F1-L08)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PLAN · LEARN, LEARN, APPLY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Two lessons — now use them together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F1-W04 · Apply workshop (F1-L07 + F1-L08)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 learnt: F1-L07 and F1-L08.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تَعَلَّمْنَا؟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1 · Remember: word race and “which lesson?” sort.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تَذَكَّرْ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22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2 · Speak: say the mini-dialogue · point-and-say cards · reading card · read-aloud race.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19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3 · Write: build the word · spot the slip · copy, listen and write · buddy check.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اكْتُبْ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WORKSHOP RUNS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Today there is no new language: you USE the words and structures of the last two lessons together. Everybody speaks in every step and everybody writes their own text. Choose your route — Core, Develop or Stretch — and move up when you are ready.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WHAT WE LEARNT THIS WEEK · F1-L07 + F1-L08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This week’s two lessons — and today’s goal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نُطَبِّقُ مَا تَعَلَّمْنَا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F1-W04 · Apply workshop (F1-L07 + F1-L08)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4663440" cy="4315968"/>
          </a:xfrm>
          <a:prstGeom prst="roundRect">
            <a:avLst>
              <a:gd name="adj" fmla="val 1695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TODAY YOU WILL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سَتَتَعَلَّمُ اليَوْمَ</a:t>
            </a:r>
            <a:endParaRPr lang="ar-SA" sz="1600" dirty="0"/>
          </a:p>
        </p:txBody>
      </p:sp>
      <p:sp>
        <p:nvSpPr>
          <p:cNvPr id="18" name="Shape 15"/>
          <p:cNvSpPr/>
          <p:nvPr/>
        </p:nvSpPr>
        <p:spPr>
          <a:xfrm>
            <a:off x="685800" y="2395728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22860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F1-L07: Read the Number, Keep the Order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3182112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F1-L08: From Marks to Meaning: Reading Aloud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5800" y="4187952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407822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Apply both: the open-day map · Copy, listen and write: our map labels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349240" y="181051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32120" y="19476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32120" y="1947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766560" y="1947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Everyone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532120" y="228600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Say the sounds and read the words of both lessons.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532120" y="26974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Copy and write with the frames.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349240" y="327355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32120" y="341071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532120" y="34107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766560" y="3410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Most of us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532120" y="374904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Read every item on the card without stopping.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532120" y="416052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Write the dictation without looking.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349240" y="473659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532120" y="48737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532120" y="48737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766560" y="4873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Aim high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532120" y="52120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Read new words with the same letters and marks.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532120" y="562356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Write extra words of your own.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1 · WORD RACE · 4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Letter race: two lessons, one race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سِبَاقُ الكَلِمَاتِ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F1-W04 · Apply workshop (F1-L07 + F1-L08)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🏁  Say it, find it — from both lessons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next two slides show letters and words from F1-L07 and F1-L08. Partner A says a letter name, sound or word; Partner B finds it and reads it. One point for every correct answer in 90 seconds — then swap.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Teacher: first round together (3 words from each slide).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Pairs: 90 seconds each, as many as you can.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Mix the lessons: one word from slide 1, one from slide 2.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use two words — one from each lesson — in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Find the letter and say its sound.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Read the whole word aloud.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another word with the same letter.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correct!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حَاوِلْ مَرَّةً أُخْرَى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try again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نُقْطَةٌ لَكَ / لَكِ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point for you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F1-L07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F1-L07 · Read the Number, Keep the Order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الأَرْقَامُ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F1-W04 · Apply workshop (F1-L07 + F1-L08)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digit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٠</a:t>
            </a:r>
            <a:endParaRPr lang="ar-SA" sz="33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zero — a dot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ṣifr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238744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93608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word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8284464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صِفْرٌ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digit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٢</a:t>
            </a:r>
            <a:endParaRPr lang="ar-SA" sz="3300" dirty="0"/>
          </a:p>
        </p:txBody>
      </p:sp>
      <p:sp>
        <p:nvSpPr>
          <p:cNvPr id="35" name="Text 32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two — one hook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ithnān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4416552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471416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word</a:t>
            </a:r>
            <a:endParaRPr lang="en-US" sz="700" dirty="0"/>
          </a:p>
        </p:txBody>
      </p:sp>
      <p:sp>
        <p:nvSpPr>
          <p:cNvPr id="38" name="Text 35"/>
          <p:cNvSpPr txBox="1"/>
          <p:nvPr/>
        </p:nvSpPr>
        <p:spPr>
          <a:xfrm>
            <a:off x="4462272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اثْنَانِ</a:t>
            </a:r>
            <a:endParaRPr lang="ar-SA" sz="1350" dirty="0"/>
          </a:p>
        </p:txBody>
      </p:sp>
      <p:sp>
        <p:nvSpPr>
          <p:cNvPr id="39" name="Shape 3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digit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٤</a:t>
            </a:r>
            <a:endParaRPr lang="ar-SA" sz="3300" dirty="0"/>
          </a:p>
        </p:txBody>
      </p:sp>
      <p:sp>
        <p:nvSpPr>
          <p:cNvPr id="47" name="Text 44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four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arbaʿa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594360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49224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word</a:t>
            </a:r>
            <a:endParaRPr lang="en-US" sz="700" dirty="0"/>
          </a:p>
        </p:txBody>
      </p:sp>
      <p:sp>
        <p:nvSpPr>
          <p:cNvPr id="50" name="Text 47"/>
          <p:cNvSpPr txBox="1"/>
          <p:nvPr/>
        </p:nvSpPr>
        <p:spPr>
          <a:xfrm>
            <a:off x="640080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أَرْبَعَةٌ</a:t>
            </a:r>
            <a:endParaRPr lang="ar-SA" sz="1350" dirty="0"/>
          </a:p>
        </p:txBody>
      </p:sp>
      <p:sp>
        <p:nvSpPr>
          <p:cNvPr id="51" name="Shape 48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digit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٦</a:t>
            </a:r>
            <a:endParaRPr lang="ar-SA" sz="3300" dirty="0"/>
          </a:p>
        </p:txBody>
      </p:sp>
      <p:sp>
        <p:nvSpPr>
          <p:cNvPr id="59" name="Text 56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six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sitta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8238744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293608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word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8284464" y="59161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سِتَّةٌ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digit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0" name="Text 67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٨</a:t>
            </a:r>
            <a:endParaRPr lang="ar-SA" sz="3300" dirty="0"/>
          </a:p>
        </p:txBody>
      </p:sp>
      <p:sp>
        <p:nvSpPr>
          <p:cNvPr id="71" name="Text 68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eight — an upside-down V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thamāniya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word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4462272" y="59161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ثَمَانِيَةٌ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number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١٠</a:t>
            </a:r>
            <a:endParaRPr lang="ar-SA" sz="3300" dirty="0"/>
          </a:p>
        </p:txBody>
      </p:sp>
      <p:sp>
        <p:nvSpPr>
          <p:cNvPr id="83" name="Text 80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ten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ʿashara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594360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49224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word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40080" y="59161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عَشَرَةٌ</a:t>
            </a:r>
            <a:endParaRPr lang="ar-SA" sz="1350" dirty="0"/>
          </a:p>
        </p:txBody>
      </p:sp>
      <p:sp>
        <p:nvSpPr>
          <p:cNvPr id="87" name="Text 8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F1-L08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F1-L08 · From Marks to Meaning: Reading Aloud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كَلِمَاتٌ لِلْقِرَاءَةِ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F1-W04 · Apply workshop (F1-L07 + F1-L08)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2 syllables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بَيْتٌ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house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bay-tun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82312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82312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3 syllables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قَمَرٌ</a:t>
            </a:r>
            <a:endParaRPr lang="ar-SA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moon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qa-ma-run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800" b="1" dirty="0">
                <a:solidFill>
                  <a:srgbClr val="8A6D1E"/>
                </a:solidFill>
                <a:latin typeface="Calibri" pitchFamily="34" charset="0"/>
                <a:ea typeface="Amiri" pitchFamily="2" charset="-78"/>
                <a:cs typeface="Amiri" pitchFamily="2" charset="-78"/>
              </a:rPr>
              <a:t>ة = -a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مَدْرَسَةٌ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school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mad-ra-sa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shadda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مُعَلِّمٌ</a:t>
            </a:r>
            <a:endParaRPr lang="ar-SA" sz="3000" dirty="0"/>
          </a:p>
        </p:txBody>
      </p:sp>
      <p:sp>
        <p:nvSpPr>
          <p:cNvPr id="50" name="Text 47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teacher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mu-ʿal-li-mun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sukūn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مِفْتَاحٌ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key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mif-tā-ḥun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long ī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حَدِيقَةٌ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garden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ḥa-dī-qa</a:t>
            </a:r>
            <a:endParaRPr lang="en-US" sz="1350" dirty="0"/>
          </a:p>
        </p:txBody>
      </p:sp>
      <p:sp>
        <p:nvSpPr>
          <p:cNvPr id="69" name="Text 6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2 · WHICH LESSON? · READ EACH CARD, THEN SORT 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Which lesson does it come from?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أَيِّ دَرْسٍ؟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F1-W04 · Apply workshop (F1-L07 + F1-L08)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015984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107424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٥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6163056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254496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مَدْرَسَةٌ</a:t>
            </a:r>
            <a:endParaRPr lang="ar-SA" sz="1800" dirty="0"/>
          </a:p>
        </p:txBody>
      </p:sp>
      <p:sp>
        <p:nvSpPr>
          <p:cNvPr id="19" name="Shape 16"/>
          <p:cNvSpPr/>
          <p:nvPr/>
        </p:nvSpPr>
        <p:spPr>
          <a:xfrm>
            <a:off x="3310128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401568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مُعَلِّمٌ</a:t>
            </a:r>
            <a:endParaRPr lang="ar-SA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48640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٨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9015984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107424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١٥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6163056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254496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حَدِيقَةٌ</a:t>
            </a:r>
            <a:endParaRPr lang="ar-SA" sz="1800" dirty="0"/>
          </a:p>
        </p:txBody>
      </p:sp>
      <p:sp>
        <p:nvSpPr>
          <p:cNvPr id="27" name="Shape 24"/>
          <p:cNvSpPr/>
          <p:nvPr/>
        </p:nvSpPr>
        <p:spPr>
          <a:xfrm>
            <a:off x="3310128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3401568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مِفْتَاحٌ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457200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48640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٢٠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185916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23076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23076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F1-L07 · Read the Number, Keep the Order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4360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F1-L08 · From Marks to Meaning: Reading Aloud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2 · ANSWERS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Which lesson?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أَيِّ دَرْسٍ؟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F1-W04 · Apply workshop (F1-L07 + F1-L08)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85916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23076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3076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F1-L07 · Read the Number, Keep the Order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323076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4516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٥</a:t>
            </a:r>
            <a:endParaRPr lang="ar-SA" sz="1800" dirty="0"/>
          </a:p>
        </p:txBody>
      </p:sp>
      <p:sp>
        <p:nvSpPr>
          <p:cNvPr id="20" name="Shape 17"/>
          <p:cNvSpPr/>
          <p:nvPr/>
        </p:nvSpPr>
        <p:spPr>
          <a:xfrm>
            <a:off x="6323076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٨</a:t>
            </a:r>
            <a:endParaRPr lang="ar-SA" sz="1800" dirty="0"/>
          </a:p>
        </p:txBody>
      </p:sp>
      <p:sp>
        <p:nvSpPr>
          <p:cNvPr id="22" name="Shape 19"/>
          <p:cNvSpPr/>
          <p:nvPr/>
        </p:nvSpPr>
        <p:spPr>
          <a:xfrm>
            <a:off x="6323076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14516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١٥</a:t>
            </a:r>
            <a:endParaRPr lang="ar-SA" sz="1800" dirty="0"/>
          </a:p>
        </p:txBody>
      </p:sp>
      <p:sp>
        <p:nvSpPr>
          <p:cNvPr id="24" name="Shape 21"/>
          <p:cNvSpPr/>
          <p:nvPr/>
        </p:nvSpPr>
        <p:spPr>
          <a:xfrm>
            <a:off x="6323076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14516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٢٠</a:t>
            </a:r>
            <a:endParaRPr lang="ar-SA" sz="1800" dirty="0"/>
          </a:p>
        </p:txBody>
      </p:sp>
      <p:sp>
        <p:nvSpPr>
          <p:cNvPr id="26" name="Shape 23"/>
          <p:cNvSpPr/>
          <p:nvPr/>
        </p:nvSpPr>
        <p:spPr>
          <a:xfrm>
            <a:off x="457200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F1-L08 · From Marks to Meaning: Reading Aloud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94360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5800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مَدْرَسَةٌ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594360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5800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مُعَلِّمٌ</a:t>
            </a:r>
            <a:endParaRPr lang="ar-SA" sz="1800" dirty="0"/>
          </a:p>
        </p:txBody>
      </p:sp>
      <p:sp>
        <p:nvSpPr>
          <p:cNvPr id="33" name="Shape 30"/>
          <p:cNvSpPr/>
          <p:nvPr/>
        </p:nvSpPr>
        <p:spPr>
          <a:xfrm>
            <a:off x="594360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حَدِيقَةٌ</a:t>
            </a:r>
            <a:endParaRPr lang="ar-SA" sz="1800" dirty="0"/>
          </a:p>
        </p:txBody>
      </p:sp>
      <p:sp>
        <p:nvSpPr>
          <p:cNvPr id="35" name="Shape 32"/>
          <p:cNvSpPr/>
          <p:nvPr/>
        </p:nvSpPr>
        <p:spPr>
          <a:xfrm>
            <a:off x="594360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5800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مِفْتَاحٌ</a:t>
            </a:r>
            <a:endParaRPr lang="ar-SA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2 · STEP 3 · SAY THE MINI-DIALOGUE · BOTH LESSONS IN ONE CONVERSATION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Where is the room?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الغُرْفَةُ؟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F1-W04 · Apply workshop (F1-L07 + F1-L08)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4112" y="1810512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444752" y="1810512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Say it in Arabic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Who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90688" y="226771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Read: maṭbakh (kitchen).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226771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اقْرَأْ: مَطْبَخٌ.</a:t>
            </a:r>
            <a:endParaRPr lang="ar-SA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226771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90688" y="2881884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maṭ — bakh: maṭbakh.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2881884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 — بَخٌ: مَطْبَخٌ.</a:t>
            </a:r>
            <a:endParaRPr lang="ar-SA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881884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90688" y="3496056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kitchen’s number?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463040" y="3496056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رَقْمُ المَطْبَخِ؟</a:t>
            </a:r>
            <a:endParaRPr lang="ar-SA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3496056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90688" y="4110228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12 — twelve.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463040" y="4110228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١٢ — اثْنَا عَشَرَ.</a:t>
            </a:r>
            <a:endParaRPr lang="ar-SA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4110228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90688" y="4724400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the garden?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463040" y="4724400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وَالحَدِيقَةُ؟</a:t>
            </a:r>
            <a:endParaRPr lang="ar-SA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724400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90688" y="533857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ḥadīqa — number 7, seven.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463040" y="533857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حَدِيقَةٌ — رَقْمُ ٧، سَبْعَةٌ.</a:t>
            </a:r>
            <a:endParaRPr lang="ar-SA" sz="19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533857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Round 1: read it in pairs. Round 2: swap letters. Round 3: A points to ANY room label on the map; B reads it in syllables, then says its number.</a:t>
            </a:r>
            <a:endParaRPr lang="en-US" sz="115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POINT-AND-SAY CARDS · QUESTIONS FROM BOTH LESSONS, MIXED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Point, say, check — both lessons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أَسْئِلَةٌ مِنَ الدَّرْسَيْنِ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F1-W04 · Apply workshop (F1-L07 + F1-L08)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720072" y="181051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Then read (Develop)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976872" y="181051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 says (Core)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3251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Hint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points to / says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738360" y="226771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أَرْبَعَةٌ</a:t>
            </a:r>
            <a:endParaRPr lang="ar-SA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226771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ثَلَاثَةٌ</a:t>
            </a:r>
            <a:endParaRPr lang="ar-SA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43616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two hooks on top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٣</a:t>
            </a:r>
            <a:endParaRPr lang="ar-SA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38360" y="2881884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الشَّمْسُ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995160" y="2881884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شَمْ · سٌ</a:t>
            </a:r>
            <a:endParaRPr lang="ar-SA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43616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sun · sukūn on mīm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شَمْسٌ</a:t>
            </a:r>
            <a:endParaRPr lang="ar-SA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738360" y="3496056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تِسْعَةٌ</a:t>
            </a:r>
            <a:endParaRPr lang="ar-SA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6995160" y="3496056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ثَمَانِيَةٌ</a:t>
            </a:r>
            <a:endParaRPr lang="ar-SA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43616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 upside-down V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٨</a:t>
            </a:r>
            <a:endParaRPr lang="ar-SA" sz="20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11091672" y="354177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1091672" y="35417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738360" y="4110228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مُعَلِّمَةٌ</a:t>
            </a:r>
            <a:endParaRPr lang="ar-SA" sz="1800" dirty="0"/>
          </a:p>
        </p:txBody>
      </p:sp>
      <p:sp>
        <p:nvSpPr>
          <p:cNvPr id="47" name="Text 44"/>
          <p:cNvSpPr txBox="1"/>
          <p:nvPr/>
        </p:nvSpPr>
        <p:spPr>
          <a:xfrm>
            <a:off x="6995160" y="4110228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 · عَلْ · لِ · مٌ</a:t>
            </a:r>
            <a:endParaRPr lang="ar-SA" sz="1800" dirty="0"/>
          </a:p>
        </p:txBody>
      </p:sp>
      <p:sp>
        <p:nvSpPr>
          <p:cNvPr id="48" name="Text 45"/>
          <p:cNvSpPr txBox="1"/>
          <p:nvPr/>
        </p:nvSpPr>
        <p:spPr>
          <a:xfrm>
            <a:off x="43616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teacher · shadda on lām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1051560" y="4110228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مُعَلِّمٌ</a:t>
            </a:r>
            <a:endParaRPr lang="ar-SA" sz="2000" dirty="0"/>
          </a:p>
        </p:txBody>
      </p:sp>
      <p:sp>
        <p:nvSpPr>
          <p:cNvPr id="50" name="Text 47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1091672" y="415594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1091672" y="41559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738360" y="4724400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ثَلَاثَةَ عَشَرَ</a:t>
            </a:r>
            <a:endParaRPr lang="ar-SA" sz="1800" dirty="0"/>
          </a:p>
        </p:txBody>
      </p:sp>
      <p:sp>
        <p:nvSpPr>
          <p:cNvPr id="55" name="Text 52"/>
          <p:cNvSpPr txBox="1"/>
          <p:nvPr/>
        </p:nvSpPr>
        <p:spPr>
          <a:xfrm>
            <a:off x="6995160" y="4724400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اثْنَا عَشَرَ</a:t>
            </a:r>
            <a:endParaRPr lang="ar-SA" sz="1800" dirty="0"/>
          </a:p>
        </p:txBody>
      </p:sp>
      <p:sp>
        <p:nvSpPr>
          <p:cNvPr id="56" name="Text 53"/>
          <p:cNvSpPr txBox="1"/>
          <p:nvPr/>
        </p:nvSpPr>
        <p:spPr>
          <a:xfrm>
            <a:off x="43616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one, then two — same order as English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1051560" y="4724400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١٢</a:t>
            </a:r>
            <a:endParaRPr lang="ar-SA" sz="20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738360" y="533857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المِفْتَاحُ</a:t>
            </a:r>
            <a:endParaRPr lang="ar-SA" sz="1800" dirty="0"/>
          </a:p>
        </p:txBody>
      </p:sp>
      <p:sp>
        <p:nvSpPr>
          <p:cNvPr id="61" name="Text 58"/>
          <p:cNvSpPr txBox="1"/>
          <p:nvPr/>
        </p:nvSpPr>
        <p:spPr>
          <a:xfrm>
            <a:off x="6995160" y="533857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مِفْ · تَا · حٌ</a:t>
            </a:r>
            <a:endParaRPr lang="ar-SA" sz="1800" dirty="0"/>
          </a:p>
        </p:txBody>
      </p:sp>
      <p:sp>
        <p:nvSpPr>
          <p:cNvPr id="62" name="Text 59"/>
          <p:cNvSpPr txBox="1"/>
          <p:nvPr/>
        </p:nvSpPr>
        <p:spPr>
          <a:xfrm>
            <a:off x="43616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key · sukūn on fāʾ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1051560" y="5338572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مِفْتَاحٌ</a:t>
            </a:r>
            <a:endParaRPr lang="ar-SA" sz="2000" dirty="0"/>
          </a:p>
        </p:txBody>
      </p:sp>
      <p:sp>
        <p:nvSpPr>
          <p:cNvPr id="64" name="Text 61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Odd numbers come from the first lesson, even numbers from the second. Core: say the sound or read the word. Develop: do the “then” part. Stretch: give your own example. Swap after each card.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7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READING CARD · USE THE PLAN, THEN HIDE IT AND SPEAK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Reading card — the open-day map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بِطَاقَةُ القِرَاءَةِ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F1-W04 · Apply workshop (F1-L07 + F1-L08)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Hint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shows / reads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two hooks · upside-down V · circle · dot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the four numbers.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٣ · ٨ · ٥ · ٠</a:t>
            </a:r>
            <a:endParaRPr lang="ar-SA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start on the LEFT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them — left to right!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١٥ · ٢٠ · ١٢</a:t>
            </a:r>
            <a:endParaRPr lang="ar-SA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 · dra · sa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it in syllables, then smoothly.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مَدْرَسَةٌ</a:t>
            </a:r>
            <a:endParaRPr lang="ar-SA" sz="20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shadda on lām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the label and the room number.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مُعَلِّمٌ — غُرْفَةُ ٩</a:t>
            </a:r>
            <a:endParaRPr lang="ar-SA" sz="20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V or upside-down V?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is seven and which is eight?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٧ · ٨</a:t>
            </a:r>
            <a:endParaRPr lang="ar-SA" sz="20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the reader · Partner A = the map holder. Read from RIGHT to left. Task ! is a surprise — Partner A asks it without warning.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6 · READ-ALOUD RACE · 30 SECONDS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Map race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سِبَاقُ الخَرِيطَةِ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F1-W04 · Apply workshop (F1-L07 + F1-L08)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6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Read aloud for 30 seconds — as many as you can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30 seconds, read as many room labels and room numbers from the open-day map as you can (or use the two Step 1 slides). Say each label in syllables first, then smoothly. The partner counts.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points to the list on the slide (or in your book).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Speaker reads aloud for 30 seconds; the Coach counts the correct ones.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one sound that was perfect + one to practise.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— try to beat your own score, not your partner’s.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Read the numbers 0–10.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Read four labels with their numbers.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Read every label smoothly and the numbers up to 20.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مَرَّةً أُخْرَى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once more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بِبُطْءٍ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slowly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3 · STEP 7 · BUILD THE WORD ·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Write the numbers in the right order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اكْتُبِ الأَرْقَامَ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F1-W04 · Apply workshop (F1-L07 + F1-L08)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9180576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1 · start here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624828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011680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" y="2148840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2121408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 · 12 · 20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80576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440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500616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٧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9180576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35440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500616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٨</a:t>
            </a:r>
            <a:endParaRPr lang="ar-SA" sz="1800" dirty="0"/>
          </a:p>
        </p:txBody>
      </p:sp>
      <p:sp>
        <p:nvSpPr>
          <p:cNvPr id="28" name="Shape 25"/>
          <p:cNvSpPr/>
          <p:nvPr/>
        </p:nvSpPr>
        <p:spPr>
          <a:xfrm>
            <a:off x="6624828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9692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944868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١٢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624828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9692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44868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٢١</a:t>
            </a:r>
            <a:endParaRPr lang="ar-SA" sz="1800" dirty="0"/>
          </a:p>
        </p:txBody>
      </p:sp>
      <p:sp>
        <p:nvSpPr>
          <p:cNvPr id="34" name="Shape 31"/>
          <p:cNvSpPr/>
          <p:nvPr/>
        </p:nvSpPr>
        <p:spPr>
          <a:xfrm>
            <a:off x="4069080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23944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389120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٢٠</a:t>
            </a:r>
            <a:endParaRPr lang="ar-SA" sz="1800" dirty="0"/>
          </a:p>
        </p:txBody>
      </p:sp>
      <p:sp>
        <p:nvSpPr>
          <p:cNvPr id="37" name="Shape 34"/>
          <p:cNvSpPr/>
          <p:nvPr/>
        </p:nvSpPr>
        <p:spPr>
          <a:xfrm>
            <a:off x="4069080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123944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389120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٠٢</a:t>
            </a:r>
            <a:endParaRPr lang="ar-SA" sz="1800" dirty="0"/>
          </a:p>
        </p:txBody>
      </p:sp>
      <p:sp>
        <p:nvSpPr>
          <p:cNvPr id="40" name="Shape 37"/>
          <p:cNvSpPr/>
          <p:nvPr/>
        </p:nvSpPr>
        <p:spPr>
          <a:xfrm>
            <a:off x="457200" y="3392424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436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3502152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school — madrasa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9180576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235440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9500616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</a:t>
            </a:r>
            <a:endParaRPr lang="ar-SA" sz="1800" dirty="0"/>
          </a:p>
        </p:txBody>
      </p:sp>
      <p:sp>
        <p:nvSpPr>
          <p:cNvPr id="47" name="Shape 44"/>
          <p:cNvSpPr/>
          <p:nvPr/>
        </p:nvSpPr>
        <p:spPr>
          <a:xfrm>
            <a:off x="9180576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235440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9500616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مُدْ</a:t>
            </a:r>
            <a:endParaRPr lang="ar-SA" sz="1800" dirty="0"/>
          </a:p>
        </p:txBody>
      </p:sp>
      <p:sp>
        <p:nvSpPr>
          <p:cNvPr id="50" name="Shape 47"/>
          <p:cNvSpPr/>
          <p:nvPr/>
        </p:nvSpPr>
        <p:spPr>
          <a:xfrm>
            <a:off x="6624828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679692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6944868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</a:t>
            </a:r>
            <a:endParaRPr lang="ar-SA" sz="1800" dirty="0"/>
          </a:p>
        </p:txBody>
      </p:sp>
      <p:sp>
        <p:nvSpPr>
          <p:cNvPr id="53" name="Shape 50"/>
          <p:cNvSpPr/>
          <p:nvPr/>
        </p:nvSpPr>
        <p:spPr>
          <a:xfrm>
            <a:off x="6624828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679692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6944868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</a:t>
            </a:r>
            <a:endParaRPr lang="ar-SA" sz="1800" dirty="0"/>
          </a:p>
        </p:txBody>
      </p:sp>
      <p:sp>
        <p:nvSpPr>
          <p:cNvPr id="56" name="Shape 53"/>
          <p:cNvSpPr/>
          <p:nvPr/>
        </p:nvSpPr>
        <p:spPr>
          <a:xfrm>
            <a:off x="4069080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123944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سَةٌ</a:t>
            </a:r>
            <a:endParaRPr lang="ar-SA" sz="1800" dirty="0"/>
          </a:p>
        </p:txBody>
      </p:sp>
      <p:sp>
        <p:nvSpPr>
          <p:cNvPr id="59" name="Shape 56"/>
          <p:cNvSpPr/>
          <p:nvPr/>
        </p:nvSpPr>
        <p:spPr>
          <a:xfrm>
            <a:off x="4069080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123944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4389120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صَةٌ</a:t>
            </a:r>
            <a:endParaRPr lang="ar-SA" sz="1800" dirty="0"/>
          </a:p>
        </p:txBody>
      </p:sp>
      <p:sp>
        <p:nvSpPr>
          <p:cNvPr id="62" name="Shape 59"/>
          <p:cNvSpPr/>
          <p:nvPr/>
        </p:nvSpPr>
        <p:spPr>
          <a:xfrm>
            <a:off x="457200" y="4773168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594360" y="4910328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9436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1051560" y="4882896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 · 15 · 0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9180576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235440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9500616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٥</a:t>
            </a:r>
            <a:endParaRPr lang="ar-SA" sz="1800" dirty="0"/>
          </a:p>
        </p:txBody>
      </p:sp>
      <p:sp>
        <p:nvSpPr>
          <p:cNvPr id="69" name="Shape 66"/>
          <p:cNvSpPr/>
          <p:nvPr/>
        </p:nvSpPr>
        <p:spPr>
          <a:xfrm>
            <a:off x="9180576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35440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9500616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٠</a:t>
            </a:r>
            <a:endParaRPr lang="ar-SA" sz="1800" dirty="0"/>
          </a:p>
        </p:txBody>
      </p:sp>
      <p:sp>
        <p:nvSpPr>
          <p:cNvPr id="72" name="Shape 69"/>
          <p:cNvSpPr/>
          <p:nvPr/>
        </p:nvSpPr>
        <p:spPr>
          <a:xfrm>
            <a:off x="6624828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679692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6944868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١٥</a:t>
            </a:r>
            <a:endParaRPr lang="ar-SA" sz="1800" dirty="0"/>
          </a:p>
        </p:txBody>
      </p:sp>
      <p:sp>
        <p:nvSpPr>
          <p:cNvPr id="75" name="Shape 72"/>
          <p:cNvSpPr/>
          <p:nvPr/>
        </p:nvSpPr>
        <p:spPr>
          <a:xfrm>
            <a:off x="6624828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679692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6944868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٥١</a:t>
            </a:r>
            <a:endParaRPr lang="ar-SA" sz="1800" dirty="0"/>
          </a:p>
        </p:txBody>
      </p:sp>
      <p:sp>
        <p:nvSpPr>
          <p:cNvPr id="78" name="Shape 75"/>
          <p:cNvSpPr/>
          <p:nvPr/>
        </p:nvSpPr>
        <p:spPr>
          <a:xfrm>
            <a:off x="4069080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23944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4389120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٠</a:t>
            </a:r>
            <a:endParaRPr lang="ar-SA" sz="1800" dirty="0"/>
          </a:p>
        </p:txBody>
      </p:sp>
      <p:sp>
        <p:nvSpPr>
          <p:cNvPr id="81" name="Shape 78"/>
          <p:cNvSpPr/>
          <p:nvPr/>
        </p:nvSpPr>
        <p:spPr>
          <a:xfrm>
            <a:off x="4069080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123944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4389120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٥</a:t>
            </a:r>
            <a:endParaRPr lang="ar-SA" sz="1800" dirty="0"/>
          </a:p>
        </p:txBody>
      </p:sp>
      <p:sp>
        <p:nvSpPr>
          <p:cNvPr id="84" name="Text 8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7 · CHECK YOUR WORDS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Numbers: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اكْتُبِ الأَرْقَامَ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F1-W04 · Apply workshop (F1-L07 + F1-L08)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47672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1901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 · 12 · 20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26334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Digits keep the same order as English: 12 =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١٢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1901952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٧ · ١٢ · ٢٠</a:t>
            </a:r>
            <a:endParaRPr lang="ar-SA" sz="2800" dirty="0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school — madrasa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4114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mad · ra · sa — sukūn closes “mad”.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3383280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مَدْرَسَةٌ</a:t>
            </a:r>
            <a:endParaRPr lang="ar-SA" sz="2800" dirty="0"/>
          </a:p>
        </p:txBody>
      </p:sp>
      <p:sp>
        <p:nvSpPr>
          <p:cNvPr id="29" name="Shape 26"/>
          <p:cNvSpPr/>
          <p:nvPr/>
        </p:nvSpPr>
        <p:spPr>
          <a:xfrm>
            <a:off x="457200" y="4773168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0080" y="4910328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4864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 · 15 · 0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" y="5321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55961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٥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is a small circle;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٠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is a dot.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572000" y="4864608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٥ · ١٥ · ٠</a:t>
            </a:r>
            <a:endParaRPr lang="ar-SA" sz="2800" dirty="0"/>
          </a:p>
        </p:txBody>
      </p:sp>
      <p:sp>
        <p:nvSpPr>
          <p:cNvPr id="36" name="Text 3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8 · SPOT THE SLIP · MISTAKES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Find the mistake, fix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F1-W04 · Apply workshop (F1-L07 + F1-L08)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183112" y="2249424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183112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1901952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٢١</a:t>
            </a:r>
            <a:endParaRPr lang="ar-SA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190195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Write twelve.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183112" y="3694176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183112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023360" y="3346704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مَدَرَسَةٌ</a:t>
            </a:r>
            <a:endParaRPr lang="ar-SA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346704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it: is there a vowel after d?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183112" y="5138928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183112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023360" y="4791456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٠</a:t>
            </a:r>
            <a:endParaRPr lang="ar-SA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479145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Write five.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8 · CORRECTIONS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Spot and fix: corrections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F1-W04 · Apply workshop (F1-L07 + F1-L08)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503920" y="190195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٢١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8641080" y="2459736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1901952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1901952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١٢</a:t>
            </a:r>
            <a:endParaRPr lang="ar-SA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190195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Same order as English: first 1, then 2.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503920" y="33467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مَدَرَسَةٌ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8641080" y="3904488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38160" y="3346704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3346704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مَدْرَسَةٌ</a:t>
            </a:r>
            <a:endParaRPr lang="ar-SA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3346704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sukūn on dāl: mad-ra-sa.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503920" y="4791456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٠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8641080" y="5349240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38160" y="4791456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3566160" y="4791456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٥</a:t>
            </a:r>
            <a:endParaRPr lang="ar-SA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4791456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٥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= a small circle;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٠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= a dot (zero).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COPY, LISTEN AND WRITE · FRAMES IF YOU NEED THEM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writing frames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قَوَالِبُ الكِتَابَةِ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F1-W04 · Apply workshop (F1-L07 + F1-L08)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إِمْلَاءٌ: ١ ______ ٢ ______ ٣ ______</a:t>
            </a:r>
            <a:endParaRPr lang="ar-SA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Dictation: three numbers and two words.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468880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نَافِذَةٌ = ______ · ______ · ______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Split into syllables.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90488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543032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543032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8202168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٠ ١ ٢ ٣ ٤ ٥ ٦ ٧ ٨ ٩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327648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Copy the ten digits.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202168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مَطْبَخٌ — ١٢ ______</a:t>
            </a:r>
            <a:endParaRPr lang="ar-SA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327648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Copy the label and its number.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02168" y="3383280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حَدِيقَةٌ — ٧ ______</a:t>
            </a:r>
            <a:endParaRPr lang="ar-SA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327648" y="3383280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Copy the label and its number.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202168" y="3950208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مُعَلِّمٌ — ٩ ______</a:t>
            </a:r>
            <a:endParaRPr lang="ar-SA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327648" y="3950208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Copy the label and its number.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57200" y="5504688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640080" y="5541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WORD BANK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5760720"/>
            <a:ext cx="10908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٠ – ٩  ·  ١٠ · ١٢ · ١٥ · ٢٠  ·  مَدْرَسَةٌ · مُعَلِّمٌ  ·  مَطْبَخٌ · حَدِيقَةٌ  ·  نَافِذَةٌ · مِفْتَاحٌ  ·  بَيْتٌ · سَيَّارَةٌ  ·  شَمْسٌ · قَمَرٌ  ·  طَالِبَةٌ · كِتَابٌ</a:t>
            </a:r>
            <a:endParaRPr lang="ar-SA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10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COPY, LISTEN AND WRITE · ONE CONNECTED TEXT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Copy, listen and write: our map labels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أَكْتُبُ لَافِتَاتِ الخَرِيطَةِ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F1-W04 · Apply workshop (F1-L07 + F1-L08)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7784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38528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3852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WRITING · SCRIPT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3317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your book: • copy the digits 0–9 in order • make four map labels: a word and a room number • DICTATION: your buddy reads three numbers and two words — write them without looking • split two words into syllables.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31012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All ten digits, clearly different (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٥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circle ·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٠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dot).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8404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Two-digit numbers in the same order as English.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37083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١٠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to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٢٠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complete.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90118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Dictation: five numbers without looking (Develop).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4315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Buddy check, then fix one thing.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17920" y="1810512"/>
            <a:ext cx="551383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00800" y="19019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2231136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٠ ١ ٢ ٣ ٤ ٥ ٦ ٧ ٨ ٩</a:t>
            </a:r>
            <a:endParaRPr lang="ar-SA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2560320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ten digits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412480" y="2889504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١٥</a:t>
            </a:r>
            <a:endParaRPr lang="ar-SA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3218688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fifteen — numbers go left to right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3547872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 · رَ · سَةٌ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3877056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in syllables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412480" y="4206240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ة</a:t>
            </a:r>
            <a:endParaRPr lang="ar-SA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535424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says -a (or -at)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BUDDY CHECK · SWAP AND READ YOUR BUDDY’S TEXT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Buddy check: five points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رَاجِعْ مَعَ زَمِيلِكَ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F1-W04 · Apply workshop (F1-L07 + F1-L08)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Line / example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455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65392" y="18105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Did the writer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82128" y="2267712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2267712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write the digits clearly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٥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circle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٠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dot)?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300471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82128" y="300471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601968" y="300471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keep two-digit numbers in the right order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١٢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not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٢١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)?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741725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882128" y="3741725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601968" y="3741725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write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١٠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to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٢٠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without gaps?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478731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882128" y="4478731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601968" y="4478731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write the dictation numbers correctly?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521573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882128" y="521573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601968" y="521573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every number aloud in Arabic too?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Give back: one thing that went well + one thing to improve. The writer fixes ONE thing straight away.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24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READING CARD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Reading card: compare with a strong answer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F1-W04 · Apply workshop (F1-L07 + F1-L08)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٣ · ٨ · ٥ · ٠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three · eight · five · zero.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٣ · ٨ · ٥ · ٠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١٥ · ٢٠ · ١٢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fifteen · twenty · twelve.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١٥ · ٢٠ · ١٢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 — رَ — سَةٌ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mad-ra-sa (school).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مَدْرَسَةٌ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مُعَلِّمٌ — ٩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muʿallim (teacher) — room nine.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مُعَلِّمٌ — غُرْفَةُ ٩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٧ — سَبْعَةٌ · ٨ — ثَمَانِيَةٌ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2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٧</a:t>
            </a:r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is seven (a V), </a:t>
            </a:r>
            <a:pPr algn="ctr" indent="0" marL="0">
              <a:buNone/>
            </a:pPr>
            <a:r>
              <a:rPr lang="ar-SA" altLang="en-US" sz="12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٨</a:t>
            </a:r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is eight (an upside-down V).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٧ · ٨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Did you answer every task in a full sentence? Find one phrase from each lesson in the models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24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COPY, LISTEN AND WRITE · A STRONG ANSWER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Writing: compare with a strong answer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F1-W04 · Apply workshop (F1-L07 + F1-L08)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38528"/>
            <a:ext cx="108173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٠ ١ ٢ ٣ ٤ ٥ ٦ ٧ ٨ ٩</a:t>
            </a:r>
            <a:endParaRPr lang="ar-SA" sz="26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مَطْبَخٌ ١٢ · حَدِيقَةٌ ٧ · مُعَلِّمٌ ٩ · مَدْرَسَةٌ ٢٠</a:t>
            </a:r>
            <a:endParaRPr lang="ar-SA" sz="26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إِمْلَاءٌ: ١٥ · ٨ · ٣ · مِفْتَاحٌ · سَيَّارَةٌ</a:t>
            </a:r>
            <a:endParaRPr lang="ar-SA" sz="2600" dirty="0"/>
          </a:p>
        </p:txBody>
      </p:sp>
      <p:sp>
        <p:nvSpPr>
          <p:cNvPr id="17" name="Shape 14"/>
          <p:cNvSpPr/>
          <p:nvPr/>
        </p:nvSpPr>
        <p:spPr>
          <a:xfrm>
            <a:off x="457200" y="5166360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202936"/>
            <a:ext cx="109087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Line 1: the ten digits. Line 2: four map labels with room numbers. Line 3: a dictation of three numbers and two words. Syllables: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ذَةٌ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(nā-fi-dha).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053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FIND IN THE MODEL: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697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D5FBF"/>
          </a:solidFill>
          <a:ln w="12700">
            <a:solidFill>
              <a:srgbClr val="1D5F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97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٠ ١ ٢ ٣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83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83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مَطْبَخٌ ١٢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269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69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مُعَلِّمٌ ٩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555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555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مِفْتَاحٌ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F1-W04 · Apply workshop (F1-L07 + F1-L08)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the sounds and read the words of both lessons.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copied every letter from right to left with the dots in the right place.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read the card aloud without stopping.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buddy checked my writing and I fixed one thing.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wrote the dictation and extra words without looking.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F1-W04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used two lessons together!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LESSON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F1-L09 · Write Clearly, Then Fluently</a:t>
            </a:r>
            <a:endParaRPr lang="en-US" sz="2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التَّدْرِيبُ عَلَى الكِتَابَةِ — الدِّقَّةُ وَالطَّلَاقَةُ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keep using this week’s language — say it, then write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F1-W04 · Apply Workshop — The School Open-Day Map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2026-10-26T15:17:14Z</dcterms:created>
  <dcterms:modified xsi:type="dcterms:W3CDTF">2026-10-26T15:17:14Z</dcterms:modified>
</cp:coreProperties>
</file>