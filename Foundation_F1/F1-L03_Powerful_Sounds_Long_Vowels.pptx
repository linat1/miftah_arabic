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3 (F1-L03). The website lesson teaches the emphatic letters ض ط ظ (with plain/emphatic contrasts), the ع غ family with a “safe practice ladder”, ف ق ك, and long vowels (fatḥa + ا, ḍamma + و, kasra + ي). The retrieval check, listening script, articulation cues, long-vowel table and examples (بَاب، سُوق، كَبِير), games and the ten-item final check are the website’s; the vowel picture game is the website game for this lesson.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see · say · select — one family at a time, with mouth cues; recognise the 8 letters and build بَا بُو بِي. DEVELOP: explain the visual or sound clue behind each choice. STRETCH: build unfamiliar syllables and find the vowel carriers in words.
• Emphatic and throat sounds: accept an improving approximation at Foundation (website). “Emphatic” is NOT shouting — a changed tongue shape, not extra volume. Stop if a throat sound feels uncomfortable.
• Heritage / Urdu readers: in Urdu ض ظ are both /z/ and ط is /t/ — the MSA emphatics are the key learning today. Describe dialect variation without calling home varieties “wrong” (website).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1–4 are the website “F1-L02 readiness check” (3–4 correct → continue; 0–2 → revisit the L02 families and connection rule). Question 5 tests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Some letters have a “heavy” twin; and three letters can make a vowel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F1-L03 outcomes.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the shapes are familiar. Differences: Urdu ض ظ are /z/ and ط is /t/, but in Arabic they are EMPHATIC /dˤ/ /ðˤ/ /tˤ/. The isolated Arabic kāf is ك (with a small mark inside), while Urdu writes کاف without it — same letter.
غ /ɣ/ and خ /x/ exist in Urdu too (ghain, khē) — praise these; ع is often silent in Urdu speech but pronounced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NEW LETTERS 15–17 (website Part 1). Articulation cues (website):
• ض: start from /d/, then add emphatic resonance — back of the tongue raised. (Arabic is called “the language of ḍād”.)
• ط: start from /t/ but make it emphatic and unaspirated — firm, no English puff of air.
• ظ: for careful MSA, begin from /ð/ as in “this”, then add emphasis — tongue at the teeth, darker resonance.
Shapes: ض = ص + dot; ظ = ط + dot. “Emphatic” ≠ shouting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PLAIN VS EMPHATIC (website table). Model each pair three times: light, heavy, light, heavy. Students echo softly with mics muted. Tip: emphatic sounds make the next vowel sound deeper (طَا sounds like “taw”).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NEW LETTERS 18–22 (website Parts 2–3).
• ع /ʕ/: gently narrow the throat and keep the voice on. غ /ɣ/: a voiced friction sound at the back, like a voiced خ (French “r”). Same body; the dot turns ʿayn into ghayn.
• SAFE PRACTICE LADDER (website): listen → watch (no squeezing or coughing) → echo softly → stop if uncomfortable; accuracy develops gradually.
• ف /f/ lower lip meets the upper teeth · ق /q/ a voiceless stop made further back than ك · ك /k/ as in “skin”, no extra vowel after it.
All eight letters today CONNECT on both sides (website final check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LONG VOWELS (website Part 4). Teal = the long-vowel letter (carrier).
Precise rule (website): ا و ي are not automatically long vowels everywhere; in these beginner patterns the short vowel before must match the carrier (fatḥa + ا, ḍamma + و, kasra + ي).
Dual-role preview (website): و can also be the consonant /w/ and ي the consonant /y/ — taught formally in F1-L04, not assessed today.
The short-vowel marks are previewed only; F1-L04 teaches their names.
Clap it: بَ = one clap · بَا = hold for two claps.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final check questions 2, 3, 4 and 9.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 FORMATION (5 min). Website: after watching a verified model, write each letter four times; tick only when the baseline, dots and proportions are controlled.
Watch for: ف sits ON the line with a flat tail; ق has a deeper, rounder bowl that dips below the line — that and the two dots tell it apart from ف. ط/ظ: the tall stroke is written after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LISTENING (3 min). Read each pair twice. Students write P or E for each sound in order first.
Script: دَ، ضَ. تَ، طَ. ذَ، ظَ. — Answer (website): P then E in every pair.
Extension: read a pair in the other order and see who notices.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Then two volunteers produce one pair each (invitation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based on the website game “Letter Detective” (combine shape, dots and sound instead of relying on one clue). Teacher-made items with today’s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whole class says each name. Partner echo (website): A reads one model, B names the letter and explains the clue.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game for this lesson (بَ بِ بُ بَا بِي بُو) and the website game “One Beat or Two?”. Say each pattern softly before choosing; clap the beats.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clap each answer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website game “Sound Laboratory” (sort by the teaching group used in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website game “Sound Laboratory” (sort by the teaching group used in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WRITING (7 min) = the website homework (letters four times each; build and read three long-vowel rows using two learned consonants) and “Build and read” task. LIVE FEEDBACK after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وَهٰذَا الحَرْفُ؟ (And this letter?)
B: هٰذَا قَافٌ. فَوْقَهُ نُقْطَتَانِ. (This is qāf. It has two dots above it.)
PARTNER ECHO and BUILD AND READ (website): A reads one model; B identifies the letter or vowel length and explains the clue. Then choose a learned consonant and build three patterns ـَا ـُو ـِي for the partner to read. Swap after six turns. Prompts: What is this letter? · Read … · Plain or emphatic? · Build new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mix-ups based on the website articulation notes, safe practice ladder and final check. Students correct their writing in green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PREPARATION — flipped learning (2 min to explain).
Next lesson (F1-L04 · Complete the Alphabet &amp; Read Short Vowels) will spend class time USING this language, so students prepare it tonight — short, simple, easy to access (school guidance: “Simple, Short, Interesting, Relevant, Easy to access”). Next lesson completes the alphabet (ل م ن ه و ي) and names the short vowels. Preview five of the letters tonight.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450" b="1" dirty="0">
                <a:solidFill>
                  <a:srgbClr val="FFFFFF"/>
                </a:solidFill>
                <a:latin typeface="Cambria" pitchFamily="34" charset="0"/>
                <a:cs typeface="Amiri" pitchFamily="2" charset="-78"/>
              </a:rPr>
              <a:t>Powerful Sounds &amp; Long Vowels</a:t>
            </a:r>
            <a:endParaRPr lang="en-US" sz="34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الحُرُوفُ مِنْ ١٥ إِلَى ٢٢ وَالمَدُّ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Add eight letters (</a:t>
            </a:r>
            <a:pPr algn="l" indent="0" marL="0">
              <a:buNone/>
            </a:pPr>
            <a:r>
              <a:rPr lang="ar-SA" altLang="en-US" sz="1800" dirty="0">
                <a:solidFill>
                  <a:srgbClr val="C6D2E6"/>
                </a:solidFill>
                <a:latin typeface="Amiri" pitchFamily="2" charset="-78"/>
                <a:ea typeface="Amiri" pitchFamily="2" charset="-78"/>
                <a:cs typeface="Amiri" pitchFamily="2" charset="-78"/>
              </a:rPr>
              <a:t>ض ط ظ ع غ ف ق ك</a:t>
            </a:r>
            <a:pPr algn="l" indent="0" marL="0">
              <a:buNone/>
            </a:pPr>
            <a:r>
              <a:rPr lang="en-US" sz="1400" dirty="0">
                <a:solidFill>
                  <a:srgbClr val="C6D2E6"/>
                </a:solidFill>
                <a:latin typeface="Calibri" pitchFamily="34" charset="0"/>
                <a:cs typeface="Amiri" pitchFamily="2" charset="-78"/>
              </a:rPr>
              <a:t>), hear the difference between plain and “emphatic” sounds, and build the three long vowels: </a:t>
            </a:r>
            <a:pPr algn="l" indent="0" marL="0">
              <a:buNone/>
            </a:pPr>
            <a:r>
              <a:rPr lang="ar-SA" altLang="en-US" sz="1800" dirty="0">
                <a:solidFill>
                  <a:srgbClr val="C6D2E6"/>
                </a:solidFill>
                <a:latin typeface="Amiri" pitchFamily="2" charset="-78"/>
                <a:ea typeface="Amiri" pitchFamily="2" charset="-78"/>
                <a:cs typeface="Amiri" pitchFamily="2" charset="-78"/>
              </a:rPr>
              <a:t>بَا</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بُو</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بِي</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F1-L03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complete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Eight new letters and three long vowels.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Plain or emphatic? Letter detective, one beat or two?</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F1-L04.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ended the previous lesson?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ض</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after </a:t>
            </a:r>
            <a:pPr algn="l" indent="0" marL="0">
              <a:buNone/>
            </a:pPr>
            <a:r>
              <a:rPr lang="ar-SA" altLang="en-US" sz="1650" b="1" dirty="0">
                <a:solidFill>
                  <a:srgbClr val="1B3B6F"/>
                </a:solidFill>
                <a:latin typeface="Amiri" pitchFamily="2" charset="-78"/>
                <a:ea typeface="Amiri" pitchFamily="2" charset="-78"/>
                <a:cs typeface="Amiri" pitchFamily="2" charset="-78"/>
              </a:rPr>
              <a:t>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connection break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always connects</a:t>
            </a:r>
            <a:endParaRPr lang="en-US" sz="12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dhāl, the dotted partner of dāl.</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a:t>
            </a:r>
            <a:endParaRPr lang="ar-SA" sz="20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a:t>
            </a:r>
            <a:endParaRPr lang="ar-SA" sz="2050" dirty="0"/>
          </a:p>
        </p:txBody>
      </p:sp>
      <p:sp>
        <p:nvSpPr>
          <p:cNvPr id="48" name="Shape 45"/>
          <p:cNvSpPr/>
          <p:nvPr/>
        </p:nvSpPr>
        <p:spPr>
          <a:xfrm>
            <a:off x="8278368" y="34472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0" name="Text 4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a:t>
            </a:r>
            <a:endParaRPr lang="ar-SA" sz="20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ص</a:t>
            </a:r>
            <a:pPr algn="l" indent="0" marL="0">
              <a:buNone/>
            </a:pPr>
            <a:r>
              <a:rPr lang="en-US" sz="1250" b="1" dirty="0">
                <a:solidFill>
                  <a:srgbClr val="1B3B6F"/>
                </a:solidFill>
                <a:latin typeface="Calibri" pitchFamily="34" charset="0"/>
                <a:cs typeface="Amiri" pitchFamily="2" charset="-78"/>
              </a:rPr>
              <a:t> a sun or moon letter?</a:t>
            </a:r>
            <a:endParaRPr lang="en-US" sz="1250" dirty="0"/>
          </a:p>
        </p:txBody>
      </p:sp>
      <p:sp>
        <p:nvSpPr>
          <p:cNvPr id="55" name="Shape 52"/>
          <p:cNvSpPr/>
          <p:nvPr/>
        </p:nvSpPr>
        <p:spPr>
          <a:xfrm>
            <a:off x="640080" y="48737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7" name="Text 54"/>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Moon</a:t>
            </a:r>
            <a:endParaRPr lang="en-US" sz="1250" dirty="0"/>
          </a:p>
        </p:txBody>
      </p:sp>
      <p:sp>
        <p:nvSpPr>
          <p:cNvPr id="58" name="Shape 55"/>
          <p:cNvSpPr/>
          <p:nvPr/>
        </p:nvSpPr>
        <p:spPr>
          <a:xfrm>
            <a:off x="640080" y="53309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0" name="Text 57"/>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a:t>
            </a:r>
            <a:endParaRPr lang="en-US" sz="12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qāf (prepared at home)?</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a:t>
            </a:r>
            <a:endParaRPr lang="ar-SA" sz="20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a:t>
            </a:r>
            <a:endParaRPr lang="ar-SA" sz="205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a:t>
            </a:r>
            <a:endParaRPr lang="ar-SA" sz="2050" dirty="0"/>
          </a:p>
        </p:txBody>
      </p:sp>
      <p:sp>
        <p:nvSpPr>
          <p:cNvPr id="74" name="Shape 71"/>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5" name="Text 72"/>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76" name="Text 73"/>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77" name="Text 74"/>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78" name="Text 75"/>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ended the previous lesson?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ض</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F1-L02 ended at letter 14: </a:t>
            </a:r>
            <a:pPr algn="l" indent="0" marL="0">
              <a:buNone/>
            </a:pPr>
            <a:r>
              <a:rPr lang="ar-SA" altLang="en-US" sz="1350" dirty="0">
                <a:solidFill>
                  <a:srgbClr val="8A6D1E"/>
                </a:solidFill>
                <a:latin typeface="Amiri" pitchFamily="2" charset="-78"/>
                <a:ea typeface="Amiri" pitchFamily="2" charset="-78"/>
                <a:cs typeface="Amiri" pitchFamily="2" charset="-78"/>
              </a:rPr>
              <a:t>ص</a:t>
            </a:r>
            <a:pPr algn="l" indent="0" marL="0">
              <a:buNone/>
            </a:pPr>
            <a:r>
              <a:rPr lang="en-US" sz="1050" i="1" dirty="0">
                <a:solidFill>
                  <a:srgbClr val="8A6D1E"/>
                </a:solidFill>
                <a:latin typeface="Calibri" pitchFamily="34" charset="0"/>
                <a:cs typeface="Amiri" pitchFamily="2" charset="-78"/>
              </a:rPr>
              <a:t> ṣād (website retrieval).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after </a:t>
            </a:r>
            <a:pPr algn="l" indent="0" marL="0">
              <a:buNone/>
            </a:pPr>
            <a:r>
              <a:rPr lang="ar-SA" altLang="en-US" sz="1650" b="1" dirty="0">
                <a:solidFill>
                  <a:srgbClr val="1B3B6F"/>
                </a:solidFill>
                <a:latin typeface="Amiri" pitchFamily="2" charset="-78"/>
                <a:ea typeface="Amiri" pitchFamily="2" charset="-78"/>
                <a:cs typeface="Amiri" pitchFamily="2" charset="-78"/>
              </a:rPr>
              <a:t>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963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5328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connection break</a:t>
            </a:r>
            <a:endParaRPr lang="en-US" sz="1250" dirty="0"/>
          </a:p>
        </p:txBody>
      </p:sp>
      <p:sp>
        <p:nvSpPr>
          <p:cNvPr id="38" name="Shape 35"/>
          <p:cNvSpPr/>
          <p:nvPr/>
        </p:nvSpPr>
        <p:spPr>
          <a:xfrm>
            <a:off x="4459224" y="29900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always connects</a:t>
            </a:r>
            <a:endParaRPr lang="en-US" sz="125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د</a:t>
            </a:r>
            <a:pPr algn="l" indent="0" marL="0">
              <a:buNone/>
            </a:pPr>
            <a:r>
              <a:rPr lang="en-US" sz="1050" i="1" dirty="0">
                <a:solidFill>
                  <a:srgbClr val="8A6D1E"/>
                </a:solidFill>
                <a:latin typeface="Calibri" pitchFamily="34" charset="0"/>
                <a:cs typeface="Amiri" pitchFamily="2" charset="-78"/>
              </a:rPr>
              <a:t> is a breaker: no join to the next letter.</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dhāl, the dotted partner of dāl.</a:t>
            </a:r>
            <a:endParaRPr lang="en-US" sz="1250" dirty="0"/>
          </a:p>
        </p:txBody>
      </p:sp>
      <p:sp>
        <p:nvSpPr>
          <p:cNvPr id="46" name="Shape 43"/>
          <p:cNvSpPr/>
          <p:nvPr/>
        </p:nvSpPr>
        <p:spPr>
          <a:xfrm>
            <a:off x="8278368" y="2490216"/>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a:t>
            </a:r>
            <a:endParaRPr lang="ar-SA" sz="1700" dirty="0"/>
          </a:p>
        </p:txBody>
      </p:sp>
      <p:sp>
        <p:nvSpPr>
          <p:cNvPr id="49" name="Shape 46"/>
          <p:cNvSpPr/>
          <p:nvPr/>
        </p:nvSpPr>
        <p:spPr>
          <a:xfrm>
            <a:off x="8278368" y="2862072"/>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a:t>
            </a:r>
            <a:endParaRPr lang="ar-SA" sz="1700" dirty="0"/>
          </a:p>
        </p:txBody>
      </p:sp>
      <p:sp>
        <p:nvSpPr>
          <p:cNvPr id="52" name="Shape 49"/>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323392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5" name="Text 52"/>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ذ</a:t>
            </a:r>
            <a:endParaRPr lang="ar-SA" sz="1700" dirty="0"/>
          </a:p>
        </p:txBody>
      </p:sp>
      <p:sp>
        <p:nvSpPr>
          <p:cNvPr id="56" name="Text 53"/>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ذ</a:t>
            </a:r>
            <a:pPr algn="l" indent="0" marL="0">
              <a:buNone/>
            </a:pPr>
            <a:r>
              <a:rPr lang="en-US" sz="1050" i="1" dirty="0">
                <a:solidFill>
                  <a:srgbClr val="8A6D1E"/>
                </a:solidFill>
                <a:latin typeface="Calibri" pitchFamily="34" charset="0"/>
                <a:cs typeface="Amiri" pitchFamily="2" charset="-78"/>
              </a:rPr>
              <a:t> dhāl.</a:t>
            </a:r>
            <a:endParaRPr lang="en-US" sz="1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ص</a:t>
            </a:r>
            <a:pPr algn="l" indent="0" marL="0">
              <a:buNone/>
            </a:pPr>
            <a:r>
              <a:rPr lang="en-US" sz="1250" b="1" dirty="0">
                <a:solidFill>
                  <a:srgbClr val="1B3B6F"/>
                </a:solidFill>
                <a:latin typeface="Calibri" pitchFamily="34" charset="0"/>
                <a:cs typeface="Amiri" pitchFamily="2" charset="-78"/>
              </a:rPr>
              <a:t> a sun or moon letter?</a:t>
            </a:r>
            <a:endParaRPr lang="en-US" sz="1250" dirty="0"/>
          </a:p>
        </p:txBody>
      </p:sp>
      <p:sp>
        <p:nvSpPr>
          <p:cNvPr id="61" name="Shape 58"/>
          <p:cNvSpPr/>
          <p:nvPr/>
        </p:nvSpPr>
        <p:spPr>
          <a:xfrm>
            <a:off x="640080" y="4873752"/>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Moon</a:t>
            </a:r>
            <a:endParaRPr lang="en-US" sz="1250" dirty="0"/>
          </a:p>
        </p:txBody>
      </p:sp>
      <p:sp>
        <p:nvSpPr>
          <p:cNvPr id="64" name="Shape 61"/>
          <p:cNvSpPr/>
          <p:nvPr/>
        </p:nvSpPr>
        <p:spPr>
          <a:xfrm>
            <a:off x="548640" y="5294376"/>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5330952"/>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Sun</a:t>
            </a:r>
            <a:endParaRPr lang="en-US" sz="125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a:t>
            </a:r>
            <a:pPr algn="l" indent="0" marL="0">
              <a:buNone/>
            </a:pPr>
            <a:r>
              <a:rPr lang="en-US" sz="1050" i="1" dirty="0">
                <a:solidFill>
                  <a:srgbClr val="8A6D1E"/>
                </a:solidFill>
                <a:latin typeface="Calibri" pitchFamily="34" charset="0"/>
                <a:cs typeface="Amiri" pitchFamily="2" charset="-78"/>
              </a:rPr>
              <a:t> is a sun letter.</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qāf (prepared at home)?</a:t>
            </a:r>
            <a:endParaRPr lang="en-US" sz="1250" dirty="0"/>
          </a:p>
        </p:txBody>
      </p:sp>
      <p:sp>
        <p:nvSpPr>
          <p:cNvPr id="73" name="Shape 7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31080"/>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a:t>
            </a:r>
            <a:endParaRPr lang="ar-SA" sz="1700" dirty="0"/>
          </a:p>
        </p:txBody>
      </p:sp>
      <p:sp>
        <p:nvSpPr>
          <p:cNvPr id="77" name="Shape 74"/>
          <p:cNvSpPr/>
          <p:nvPr/>
        </p:nvSpPr>
        <p:spPr>
          <a:xfrm>
            <a:off x="4459224" y="5202936"/>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a:t>
            </a:r>
            <a:endParaRPr lang="ar-SA" sz="170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a:t>
            </a:r>
            <a:endParaRPr lang="ar-SA" sz="170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ق</a:t>
            </a:r>
            <a:pPr algn="l" indent="0" marL="0">
              <a:buNone/>
            </a:pPr>
            <a:r>
              <a:rPr lang="en-US" sz="1050" i="1" dirty="0">
                <a:solidFill>
                  <a:srgbClr val="8A6D1E"/>
                </a:solidFill>
                <a:latin typeface="Calibri" pitchFamily="34" charset="0"/>
                <a:cs typeface="Amiri" pitchFamily="2" charset="-78"/>
              </a:rPr>
              <a:t> qāf — two dots above.</a:t>
            </a:r>
            <a:endParaRPr lang="en-US" sz="1050" dirty="0"/>
          </a:p>
        </p:txBody>
      </p:sp>
      <p:sp>
        <p:nvSpPr>
          <p:cNvPr id="84" name="Shape 81"/>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86" name="Text 83"/>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Some letters have a “heavy” twin; and three letters can make a vowel long.</a:t>
            </a:r>
            <a:endParaRPr lang="en-US" sz="1300" dirty="0"/>
          </a:p>
        </p:txBody>
      </p:sp>
      <p:sp>
        <p:nvSpPr>
          <p:cNvPr id="87" name="Text 84"/>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 ← ض   ·   بَ ← بَا</a:t>
            </a:r>
            <a:endParaRPr lang="ar-SA" sz="24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name letters 15–22.</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Hear plain and emphatic sounds (</a:t>
            </a:r>
            <a:pPr algn="l" indent="0" marL="0">
              <a:buNone/>
            </a:pPr>
            <a:r>
              <a:rPr lang="ar-SA" altLang="en-US" sz="1700" dirty="0">
                <a:solidFill>
                  <a:srgbClr val="1F2A37"/>
                </a:solidFill>
                <a:latin typeface="Amiri" pitchFamily="2" charset="-78"/>
                <a:ea typeface="Amiri" pitchFamily="2" charset="-78"/>
                <a:cs typeface="Amiri" pitchFamily="2" charset="-78"/>
              </a:rPr>
              <a:t>د/ض</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ea typeface="Amiri" pitchFamily="2" charset="-78"/>
                <a:cs typeface="Amiri" pitchFamily="2" charset="-78"/>
              </a:rPr>
              <a:t>ت/ط</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ea typeface="Amiri" pitchFamily="2" charset="-78"/>
                <a:cs typeface="Amiri" pitchFamily="2" charset="-78"/>
              </a:rPr>
              <a:t>ذ/ظ</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t>
            </a:r>
            <a:pPr algn="l" indent="0" marL="0">
              <a:buNone/>
            </a:pPr>
            <a:r>
              <a:rPr lang="ar-SA" altLang="en-US" sz="1700" dirty="0">
                <a:solidFill>
                  <a:srgbClr val="1F2A37"/>
                </a:solidFill>
                <a:latin typeface="Amiri" pitchFamily="2" charset="-78"/>
                <a:ea typeface="Amiri" pitchFamily="2" charset="-78"/>
                <a:cs typeface="Amiri" pitchFamily="2" charset="-78"/>
              </a:rPr>
              <a:t>ع</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غ</a:t>
            </a:r>
            <a:pPr algn="l" indent="0" marL="0">
              <a:buNone/>
            </a:pPr>
            <a:r>
              <a:rPr lang="en-US" sz="1300" dirty="0">
                <a:solidFill>
                  <a:srgbClr val="1F2A37"/>
                </a:solidFill>
                <a:latin typeface="Calibri" pitchFamily="34" charset="0"/>
                <a:cs typeface="Amiri" pitchFamily="2" charset="-78"/>
              </a:rPr>
              <a:t> apart, and </a:t>
            </a:r>
            <a:pPr algn="l" indent="0" marL="0">
              <a:buNone/>
            </a:pPr>
            <a:r>
              <a:rPr lang="ar-SA" altLang="en-US" sz="1700" dirty="0">
                <a:solidFill>
                  <a:srgbClr val="1F2A37"/>
                </a:solidFill>
                <a:latin typeface="Amiri" pitchFamily="2" charset="-78"/>
                <a:ea typeface="Amiri" pitchFamily="2" charset="-78"/>
                <a:cs typeface="Amiri" pitchFamily="2" charset="-78"/>
              </a:rPr>
              <a:t>ف ق ك</a:t>
            </a:r>
            <a:pPr algn="l" indent="0" marL="0">
              <a:buNone/>
            </a:pPr>
            <a:r>
              <a:rPr lang="en-US" sz="1300" dirty="0">
                <a:solidFill>
                  <a:srgbClr val="1F2A37"/>
                </a:solidFill>
                <a:latin typeface="Calibri" pitchFamily="34" charset="0"/>
                <a:cs typeface="Amiri" pitchFamily="2" charset="-78"/>
              </a:rPr>
              <a:t> apart.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and read long vowels: ā · ū · ī.</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recognise letters 15–22 and say their names.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build </a:t>
            </a:r>
            <a:pPr algn="l" indent="0" marL="0">
              <a:buNone/>
            </a:pPr>
            <a:r>
              <a:rPr lang="ar-SA" altLang="en-US" sz="1700" b="1" dirty="0">
                <a:solidFill>
                  <a:srgbClr val="2E8B57"/>
                </a:solidFill>
                <a:latin typeface="Amiri" pitchFamily="2" charset="-78"/>
                <a:ea typeface="Amiri" pitchFamily="2" charset="-78"/>
                <a:cs typeface="Amiri" pitchFamily="2" charset="-78"/>
              </a:rPr>
              <a:t>بَا</a:t>
            </a:r>
            <a:pPr algn="l" indent="0" marL="0">
              <a:buNone/>
            </a:pPr>
            <a:r>
              <a:rPr lang="en-US" sz="1300" b="1" dirty="0">
                <a:solidFill>
                  <a:srgbClr val="2E8B57"/>
                </a:solidFill>
                <a:latin typeface="Calibri" pitchFamily="34" charset="0"/>
                <a:cs typeface="Amiri" pitchFamily="2" charset="-78"/>
              </a:rPr>
              <a:t> · </a:t>
            </a:r>
            <a:pPr algn="l" indent="0" marL="0">
              <a:buNone/>
            </a:pPr>
            <a:r>
              <a:rPr lang="ar-SA" altLang="en-US" sz="1700" b="1" dirty="0">
                <a:solidFill>
                  <a:srgbClr val="2E8B57"/>
                </a:solidFill>
                <a:latin typeface="Amiri" pitchFamily="2" charset="-78"/>
                <a:ea typeface="Amiri" pitchFamily="2" charset="-78"/>
                <a:cs typeface="Amiri" pitchFamily="2" charset="-78"/>
              </a:rPr>
              <a:t>بُو</a:t>
            </a:r>
            <a:pPr algn="l" indent="0" marL="0">
              <a:buNone/>
            </a:pPr>
            <a:r>
              <a:rPr lang="en-US" sz="1300" b="1" dirty="0">
                <a:solidFill>
                  <a:srgbClr val="2E8B57"/>
                </a:solidFill>
                <a:latin typeface="Calibri" pitchFamily="34" charset="0"/>
                <a:cs typeface="Amiri" pitchFamily="2" charset="-78"/>
              </a:rPr>
              <a:t> · </a:t>
            </a:r>
            <a:pPr algn="l" indent="0" marL="0">
              <a:buNone/>
            </a:pPr>
            <a:r>
              <a:rPr lang="ar-SA" altLang="en-US" sz="1700" b="1" dirty="0">
                <a:solidFill>
                  <a:srgbClr val="2E8B57"/>
                </a:solidFill>
                <a:latin typeface="Amiri" pitchFamily="2" charset="-78"/>
                <a:ea typeface="Amiri" pitchFamily="2" charset="-78"/>
                <a:cs typeface="Amiri" pitchFamily="2" charset="-78"/>
              </a:rPr>
              <a:t>بِي</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the clue behind each choice.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hear the plain / emphatic contrast.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build new syllables with long vowels.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find the long-vowel letter inside a word.</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8 new letters in 3 groups, plus 3 long vowels. After today we know 22 of the 28 letters!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Emphatic · 3</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Throat + back · 5</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VOWELS</a:t>
            </a:r>
            <a:endParaRPr lang="en-US" sz="900" dirty="0"/>
          </a:p>
          <a:p>
            <a:pPr indent="0" marL="0">
              <a:buNone/>
            </a:pPr>
            <a:r>
              <a:rPr lang="en-US" sz="1200" b="1" dirty="0">
                <a:solidFill>
                  <a:srgbClr val="FFFFFF"/>
                </a:solidFill>
                <a:latin typeface="Calibri" pitchFamily="34" charset="0"/>
                <a:cs typeface="Amiri" pitchFamily="2" charset="-78"/>
              </a:rPr>
              <a:t>Long ā ū ī · 3</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‎طوئے‎ </a:t>
            </a:r>
            <a:pPr indent="0" marL="0">
              <a:buNone/>
            </a:pPr>
            <a:r>
              <a:rPr lang="en-US" sz="950" b="1" dirty="0">
                <a:solidFill>
                  <a:srgbClr val="2E8B57"/>
                </a:solidFill>
                <a:latin typeface="Calibri" pitchFamily="34" charset="0"/>
                <a:cs typeface="Amiri" pitchFamily="2" charset="-78"/>
              </a:rPr>
              <a:t> tōʾē · Arabic: ṭāʾ (emphatic 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‎عین‎ </a:t>
            </a:r>
            <a:pPr indent="0" marL="0">
              <a:buNone/>
            </a:pPr>
            <a:r>
              <a:rPr lang="en-US" sz="950" b="1" dirty="0">
                <a:solidFill>
                  <a:srgbClr val="2E8B57"/>
                </a:solidFill>
                <a:latin typeface="Calibri" pitchFamily="34" charset="0"/>
                <a:cs typeface="Amiri" pitchFamily="2" charset="-78"/>
              </a:rPr>
              <a:t> ʿain · Arabic: ʿayn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غ</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‎غین‎ </a:t>
            </a:r>
            <a:pPr indent="0" marL="0">
              <a:buNone/>
            </a:pPr>
            <a:r>
              <a:rPr lang="en-US" sz="950" b="1" dirty="0">
                <a:solidFill>
                  <a:srgbClr val="2E8B57"/>
                </a:solidFill>
                <a:latin typeface="Calibri" pitchFamily="34" charset="0"/>
                <a:cs typeface="Amiri" pitchFamily="2" charset="-78"/>
              </a:rPr>
              <a:t> ghain · Arabic: ghayn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‎قاف‎ </a:t>
            </a:r>
            <a:pPr indent="0" marL="0">
              <a:buNone/>
            </a:pPr>
            <a:r>
              <a:rPr lang="en-US" sz="950" b="1" dirty="0">
                <a:solidFill>
                  <a:srgbClr val="2E8B57"/>
                </a:solidFill>
                <a:latin typeface="Calibri" pitchFamily="34" charset="0"/>
                <a:cs typeface="Amiri" pitchFamily="2" charset="-78"/>
              </a:rPr>
              <a:t> qāf · qāf — the same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‎کاف‎ </a:t>
            </a:r>
            <a:pPr indent="0" marL="0">
              <a:buNone/>
            </a:pPr>
            <a:r>
              <a:rPr lang="ar-SA" sz="950" b="1" dirty="0">
                <a:solidFill>
                  <a:srgbClr val="2E8B57"/>
                </a:solidFill>
                <a:latin typeface="Calibri" pitchFamily="34" charset="0"/>
                <a:ea typeface="Amiri" pitchFamily="2" charset="-78"/>
                <a:cs typeface="Amiri" pitchFamily="2" charset="-78"/>
              </a:rPr>
              <a:t> kāf · kāf (Urdu writes it کـ)</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LETTERS · GROUP 1 · THE EMPHATIC LETTERS (WEBSITE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Heavy, darker sounds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الحُرُوفُ المُفَخَّمَةُ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emphatic</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ض</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ḍād — emphatic /dˤ/</a:t>
            </a:r>
            <a:endParaRPr lang="en-US" sz="1350" dirty="0"/>
          </a:p>
          <a:p>
            <a:pPr indent="0" marL="0">
              <a:buNone/>
            </a:pPr>
            <a:r>
              <a:rPr lang="en-US" sz="1100" i="1" dirty="0">
                <a:solidFill>
                  <a:srgbClr val="5A6472"/>
                </a:solidFill>
                <a:latin typeface="Calibri" pitchFamily="34" charset="0"/>
                <a:cs typeface="Amiri" pitchFamily="2" charset="-78"/>
              </a:rPr>
              <a:t>ONE dot above · connector</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ضَادٌ</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emphatic</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ط</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ṭāʾ — emphatic /tˤ/</a:t>
            </a:r>
            <a:endParaRPr lang="en-US" sz="1350" dirty="0"/>
          </a:p>
          <a:p>
            <a:pPr indent="0" marL="0">
              <a:buNone/>
            </a:pPr>
            <a:r>
              <a:rPr lang="en-US" sz="1100" i="1" dirty="0">
                <a:solidFill>
                  <a:srgbClr val="5A6472"/>
                </a:solidFill>
                <a:latin typeface="Calibri" pitchFamily="34" charset="0"/>
                <a:cs typeface="Amiri" pitchFamily="2" charset="-78"/>
              </a:rPr>
              <a:t>no dot · connector</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طَاءٌ</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emphatic</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ظ</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ẓāʾ — emphatic /ðˤ/</a:t>
            </a:r>
            <a:endParaRPr lang="en-US" sz="1350" dirty="0"/>
          </a:p>
          <a:p>
            <a:pPr indent="0" marL="0">
              <a:buNone/>
            </a:pPr>
            <a:r>
              <a:rPr lang="en-US" sz="1100" i="1" dirty="0">
                <a:solidFill>
                  <a:srgbClr val="5A6472"/>
                </a:solidFill>
                <a:latin typeface="Calibri" pitchFamily="34" charset="0"/>
                <a:cs typeface="Amiri" pitchFamily="2" charset="-78"/>
              </a:rPr>
              <a:t>ONE dot above · connector</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ظَاءٌ</a:t>
            </a:r>
            <a:endParaRPr lang="ar-SA"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TEACHER INSTRUCTION · PLAIN VERSUS EMPHATIC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Light or heavy?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مُرَقَّقٌ أَمْ مُفَخَّمٌ؟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Sound</a:t>
            </a:r>
            <a:endParaRPr lang="en-US" sz="1100" dirty="0"/>
          </a:p>
        </p:txBody>
      </p:sp>
      <p:sp>
        <p:nvSpPr>
          <p:cNvPr id="17" name="Text 14"/>
          <p:cNvSpPr txBox="1"/>
          <p:nvPr/>
        </p:nvSpPr>
        <p:spPr>
          <a:xfrm>
            <a:off x="705002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Plain (light)</a:t>
            </a:r>
            <a:endParaRPr lang="en-US" sz="1100" dirty="0"/>
          </a:p>
        </p:txBody>
      </p:sp>
      <p:sp>
        <p:nvSpPr>
          <p:cNvPr id="18" name="Text 15"/>
          <p:cNvSpPr txBox="1"/>
          <p:nvPr/>
        </p:nvSpPr>
        <p:spPr>
          <a:xfrm>
            <a:off x="467258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Emphatic (heavy)</a:t>
            </a:r>
            <a:endParaRPr lang="en-US" sz="1100" dirty="0"/>
          </a:p>
        </p:txBody>
      </p:sp>
      <p:sp>
        <p:nvSpPr>
          <p:cNvPr id="19" name="Text 16"/>
          <p:cNvSpPr txBox="1"/>
          <p:nvPr/>
        </p:nvSpPr>
        <p:spPr>
          <a:xfrm>
            <a:off x="53035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How to make it heavy</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4640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/dˤ/</a:t>
            </a:r>
            <a:endParaRPr lang="en-US" sz="1100" dirty="0"/>
          </a:p>
        </p:txBody>
      </p:sp>
      <p:sp>
        <p:nvSpPr>
          <p:cNvPr id="22" name="Text 19"/>
          <p:cNvSpPr txBox="1"/>
          <p:nvPr/>
        </p:nvSpPr>
        <p:spPr>
          <a:xfrm>
            <a:off x="7068312" y="2267712"/>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د</a:t>
            </a:r>
            <a:endParaRPr lang="ar-SA" sz="3400" dirty="0"/>
          </a:p>
        </p:txBody>
      </p:sp>
      <p:sp>
        <p:nvSpPr>
          <p:cNvPr id="23" name="Text 20"/>
          <p:cNvSpPr txBox="1"/>
          <p:nvPr/>
        </p:nvSpPr>
        <p:spPr>
          <a:xfrm>
            <a:off x="4690872" y="2267712"/>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ض</a:t>
            </a:r>
            <a:endParaRPr lang="ar-SA" sz="3400" dirty="0"/>
          </a:p>
        </p:txBody>
      </p:sp>
      <p:sp>
        <p:nvSpPr>
          <p:cNvPr id="24" name="Text 21"/>
          <p:cNvSpPr txBox="1"/>
          <p:nvPr/>
        </p:nvSpPr>
        <p:spPr>
          <a:xfrm>
            <a:off x="566928" y="2267712"/>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/d/, then raise the back of your tongue.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4640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 → /tˤ/</a:t>
            </a:r>
            <a:endParaRPr lang="en-US" sz="1100" dirty="0"/>
          </a:p>
        </p:txBody>
      </p:sp>
      <p:sp>
        <p:nvSpPr>
          <p:cNvPr id="29" name="Text 26"/>
          <p:cNvSpPr txBox="1"/>
          <p:nvPr/>
        </p:nvSpPr>
        <p:spPr>
          <a:xfrm>
            <a:off x="7068312" y="3054096"/>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ت</a:t>
            </a:r>
            <a:endParaRPr lang="ar-SA" sz="3400" dirty="0"/>
          </a:p>
        </p:txBody>
      </p:sp>
      <p:sp>
        <p:nvSpPr>
          <p:cNvPr id="30" name="Text 27"/>
          <p:cNvSpPr txBox="1"/>
          <p:nvPr/>
        </p:nvSpPr>
        <p:spPr>
          <a:xfrm>
            <a:off x="4690872" y="3054096"/>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ط</a:t>
            </a:r>
            <a:endParaRPr lang="ar-SA" sz="3400" dirty="0"/>
          </a:p>
        </p:txBody>
      </p:sp>
      <p:sp>
        <p:nvSpPr>
          <p:cNvPr id="31" name="Text 28"/>
          <p:cNvSpPr txBox="1"/>
          <p:nvPr/>
        </p:nvSpPr>
        <p:spPr>
          <a:xfrm>
            <a:off x="566928" y="3054096"/>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/t/ firmly, no puff of air, tongue back up.</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4640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/ð/ → /ðˤ/</a:t>
            </a:r>
            <a:endParaRPr lang="en-US" sz="1100" dirty="0"/>
          </a:p>
        </p:txBody>
      </p:sp>
      <p:sp>
        <p:nvSpPr>
          <p:cNvPr id="36" name="Text 33"/>
          <p:cNvSpPr txBox="1"/>
          <p:nvPr/>
        </p:nvSpPr>
        <p:spPr>
          <a:xfrm>
            <a:off x="7068312" y="3840480"/>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ذ</a:t>
            </a:r>
            <a:endParaRPr lang="ar-SA" sz="3400" dirty="0"/>
          </a:p>
        </p:txBody>
      </p:sp>
      <p:sp>
        <p:nvSpPr>
          <p:cNvPr id="37" name="Text 34"/>
          <p:cNvSpPr txBox="1"/>
          <p:nvPr/>
        </p:nvSpPr>
        <p:spPr>
          <a:xfrm>
            <a:off x="4690872" y="3840480"/>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ظ</a:t>
            </a:r>
            <a:endParaRPr lang="ar-SA" sz="3400" dirty="0"/>
          </a:p>
        </p:txBody>
      </p:sp>
      <p:sp>
        <p:nvSpPr>
          <p:cNvPr id="38" name="Text 35"/>
          <p:cNvSpPr txBox="1"/>
          <p:nvPr/>
        </p:nvSpPr>
        <p:spPr>
          <a:xfrm>
            <a:off x="566928" y="3840480"/>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“this” /ð/, then make it darker.</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46404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 → /sˤ/ (F1-L02)</a:t>
            </a:r>
            <a:endParaRPr lang="en-US" sz="1100" dirty="0"/>
          </a:p>
        </p:txBody>
      </p:sp>
      <p:sp>
        <p:nvSpPr>
          <p:cNvPr id="43" name="Text 40"/>
          <p:cNvSpPr txBox="1"/>
          <p:nvPr/>
        </p:nvSpPr>
        <p:spPr>
          <a:xfrm>
            <a:off x="7068312" y="4626864"/>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س</a:t>
            </a:r>
            <a:endParaRPr lang="ar-SA" sz="3400" dirty="0"/>
          </a:p>
        </p:txBody>
      </p:sp>
      <p:sp>
        <p:nvSpPr>
          <p:cNvPr id="44" name="Text 41"/>
          <p:cNvSpPr txBox="1"/>
          <p:nvPr/>
        </p:nvSpPr>
        <p:spPr>
          <a:xfrm>
            <a:off x="4690872" y="4626864"/>
            <a:ext cx="219456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ص</a:t>
            </a:r>
            <a:endParaRPr lang="ar-SA" sz="3400" dirty="0"/>
          </a:p>
        </p:txBody>
      </p:sp>
      <p:sp>
        <p:nvSpPr>
          <p:cNvPr id="45" name="Text 42"/>
          <p:cNvSpPr txBox="1"/>
          <p:nvPr/>
        </p:nvSpPr>
        <p:spPr>
          <a:xfrm>
            <a:off x="566928" y="4626864"/>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Revision: the first emphatic letter.</a:t>
            </a:r>
            <a:endParaRPr lang="en-US" sz="11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cs typeface="Amiri" pitchFamily="2" charset="-78"/>
              </a:rPr>
              <a:t>KEY LETTERS · GROUP 2 · </a:t>
            </a:r>
            <a:pPr algn="l" indent="0" marL="0">
              <a:buNone/>
            </a:pPr>
            <a:r>
              <a:rPr lang="ar-SA" altLang="en-US" sz="1300" b="1" dirty="0">
                <a:solidFill>
                  <a:srgbClr val="1B3B6F"/>
                </a:solidFill>
                <a:latin typeface="Amiri" pitchFamily="2" charset="-78"/>
                <a:ea typeface="Amiri" pitchFamily="2" charset="-78"/>
                <a:cs typeface="Amiri" pitchFamily="2" charset="-78"/>
              </a:rPr>
              <a:t>ع غ</a:t>
            </a:r>
            <a:pPr algn="l" indent="0" marL="0">
              <a:buNone/>
            </a:pPr>
            <a:r>
              <a:rPr lang="en-US" sz="1000" b="1" dirty="0">
                <a:solidFill>
                  <a:srgbClr val="1B3B6F"/>
                </a:solidFill>
                <a:latin typeface="Calibri" pitchFamily="34" charset="0"/>
                <a:cs typeface="Amiri" pitchFamily="2" charset="-78"/>
              </a:rPr>
              <a:t> (WEBSITE PART 2) AND </a:t>
            </a:r>
            <a:pPr algn="l" indent="0" marL="0">
              <a:buNone/>
            </a:pPr>
            <a:r>
              <a:rPr lang="ar-SA" altLang="en-US" sz="1300" b="1" dirty="0">
                <a:solidFill>
                  <a:srgbClr val="1B3B6F"/>
                </a:solidFill>
                <a:latin typeface="Amiri" pitchFamily="2" charset="-78"/>
                <a:ea typeface="Amiri" pitchFamily="2" charset="-78"/>
                <a:cs typeface="Amiri" pitchFamily="2" charset="-78"/>
              </a:rPr>
              <a:t>ف ق ك</a:t>
            </a:r>
            <a:pPr algn="l" indent="0" marL="0">
              <a:buNone/>
            </a:pPr>
            <a:r>
              <a:rPr lang="en-US" sz="1000" b="1" dirty="0">
                <a:solidFill>
                  <a:srgbClr val="1B3B6F"/>
                </a:solidFill>
                <a:latin typeface="Calibri" pitchFamily="34" charset="0"/>
                <a:cs typeface="Amiri" pitchFamily="2" charset="-78"/>
              </a:rPr>
              <a:t> (PART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Throat and back-of-the-mouth letters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حُرُوفٌ مِنَ الحَلْقِ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ʿayn family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ع</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ʿayn — /ʕ/ (voiced, from the throat)</a:t>
            </a:r>
            <a:endParaRPr lang="en-US" sz="1350" dirty="0"/>
          </a:p>
          <a:p>
            <a:pPr indent="0" marL="0">
              <a:buNone/>
            </a:pPr>
            <a:r>
              <a:rPr lang="en-US" sz="1100" i="1" dirty="0">
                <a:solidFill>
                  <a:srgbClr val="5A6472"/>
                </a:solidFill>
                <a:latin typeface="Calibri" pitchFamily="34" charset="0"/>
                <a:cs typeface="Amiri" pitchFamily="2" charset="-78"/>
              </a:rPr>
              <a:t>no dot</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عَيْنٌ</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30" name="Shape 27"/>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ʿayn family</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غ</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ghayn — /ɣ/ (like a voiced خ)</a:t>
            </a:r>
            <a:endParaRPr lang="en-US" sz="1350" dirty="0"/>
          </a:p>
          <a:p>
            <a:pPr indent="0" marL="0">
              <a:buNone/>
            </a:pPr>
            <a:r>
              <a:rPr lang="en-US" sz="1100" i="1" dirty="0">
                <a:solidFill>
                  <a:srgbClr val="5A6472"/>
                </a:solidFill>
                <a:latin typeface="Calibri" pitchFamily="34" charset="0"/>
                <a:cs typeface="Amiri" pitchFamily="2" charset="-78"/>
              </a:rPr>
              <a:t>ONE dot above</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غَيْنٌ</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42" name="Shape 39"/>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fāʾ / qāf</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ف</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fāʾ — /f/</a:t>
            </a:r>
            <a:endParaRPr lang="en-US" sz="1350" dirty="0"/>
          </a:p>
          <a:p>
            <a:pPr indent="0" marL="0">
              <a:buNone/>
            </a:pPr>
            <a:r>
              <a:rPr lang="en-US" sz="1100" i="1" dirty="0">
                <a:solidFill>
                  <a:srgbClr val="5A6472"/>
                </a:solidFill>
                <a:latin typeface="Calibri" pitchFamily="34" charset="0"/>
                <a:cs typeface="Amiri" pitchFamily="2" charset="-78"/>
              </a:rPr>
              <a:t>ONE dot above</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فَاءٌ</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54" name="Shape 51"/>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fāʾ / qāf</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ق</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qāf — /q/ (deep k)</a:t>
            </a:r>
            <a:endParaRPr lang="en-US" sz="1350" dirty="0"/>
          </a:p>
          <a:p>
            <a:pPr indent="0" marL="0">
              <a:buNone/>
            </a:pPr>
            <a:r>
              <a:rPr lang="en-US" sz="1100" i="1" dirty="0">
                <a:solidFill>
                  <a:srgbClr val="5A6472"/>
                </a:solidFill>
                <a:latin typeface="Calibri" pitchFamily="34" charset="0"/>
                <a:cs typeface="Amiri" pitchFamily="2" charset="-78"/>
              </a:rPr>
              <a:t>TWO dots above</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قَافٌ</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kāf</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ك</a:t>
            </a:r>
            <a:endParaRPr lang="ar-SA" sz="33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kāf — /k/</a:t>
            </a:r>
            <a:endParaRPr lang="en-US" sz="1350" dirty="0"/>
          </a:p>
          <a:p>
            <a:pPr indent="0" marL="0">
              <a:buNone/>
            </a:pPr>
            <a:r>
              <a:rPr lang="en-US" sz="1100" i="1" dirty="0">
                <a:solidFill>
                  <a:srgbClr val="5A6472"/>
                </a:solidFill>
                <a:latin typeface="Calibri" pitchFamily="34" charset="0"/>
                <a:cs typeface="Amiri" pitchFamily="2" charset="-78"/>
              </a:rPr>
              <a:t>kāf mark inside</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كَافٌ</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TEACHER INSTRUCTION · HOLD THE SOUND (WEBSITE PART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long vowels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الحَرَكَاتُ الطَّوِيلَةُ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Long sound</a:t>
            </a:r>
            <a:endParaRPr lang="en-US" sz="1100" dirty="0"/>
          </a:p>
        </p:txBody>
      </p:sp>
      <p:sp>
        <p:nvSpPr>
          <p:cNvPr id="17" name="Text 14"/>
          <p:cNvSpPr txBox="1"/>
          <p:nvPr/>
        </p:nvSpPr>
        <p:spPr>
          <a:xfrm>
            <a:off x="741578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Build it</a:t>
            </a:r>
            <a:endParaRPr lang="en-US" sz="1100" dirty="0"/>
          </a:p>
        </p:txBody>
      </p:sp>
      <p:sp>
        <p:nvSpPr>
          <p:cNvPr id="18" name="Text 15"/>
          <p:cNvSpPr txBox="1"/>
          <p:nvPr/>
        </p:nvSpPr>
        <p:spPr>
          <a:xfrm>
            <a:off x="485546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9" name="Text 16"/>
          <p:cNvSpPr txBox="1"/>
          <p:nvPr/>
        </p:nvSpPr>
        <p:spPr>
          <a:xfrm>
            <a:off x="266090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20" name="Text 17"/>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738360" y="2267712"/>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 — a held “a”</a:t>
            </a:r>
            <a:endParaRPr lang="en-US" sz="1100" dirty="0"/>
          </a:p>
        </p:txBody>
      </p:sp>
      <p:sp>
        <p:nvSpPr>
          <p:cNvPr id="23" name="Text 20"/>
          <p:cNvSpPr txBox="1"/>
          <p:nvPr/>
        </p:nvSpPr>
        <p:spPr>
          <a:xfrm>
            <a:off x="7452360" y="2267712"/>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fatḥa + alif</a:t>
            </a:r>
            <a:endParaRPr lang="en-US" sz="1100" dirty="0"/>
          </a:p>
        </p:txBody>
      </p:sp>
      <p:sp>
        <p:nvSpPr>
          <p:cNvPr id="24" name="Text 21"/>
          <p:cNvSpPr txBox="1"/>
          <p:nvPr/>
        </p:nvSpPr>
        <p:spPr>
          <a:xfrm>
            <a:off x="4873752" y="2286000"/>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 + </a:t>
            </a:r>
            <a:pPr rtl="1" algn="ctr" indent="0" marL="0">
              <a:buNone/>
            </a:pPr>
            <a:r>
              <a:rPr lang="ar-SA" altLang="en-US" sz="2100" b="1" dirty="0">
                <a:solidFill>
                  <a:srgbClr val="0E7C86"/>
                </a:solidFill>
                <a:latin typeface="Amiri" pitchFamily="2" charset="-78"/>
                <a:ea typeface="Amiri" pitchFamily="2" charset="-78"/>
                <a:cs typeface="Amiri" pitchFamily="2" charset="-78"/>
              </a:rPr>
              <a:t>ا</a:t>
            </a:r>
            <a:pPr rtl="1" algn="ctr" indent="0" marL="0">
              <a:buNone/>
            </a:pPr>
            <a:r>
              <a:rPr lang="ar-SA" altLang="en-US" sz="2100" b="1" dirty="0">
                <a:solidFill>
                  <a:srgbClr val="1B3B6F"/>
                </a:solidFill>
                <a:latin typeface="Amiri" pitchFamily="2" charset="-78"/>
                <a:ea typeface="Amiri" pitchFamily="2" charset="-78"/>
                <a:cs typeface="Amiri" pitchFamily="2" charset="-78"/>
              </a:rPr>
              <a:t> ← بَ</a:t>
            </a:r>
            <a:pPr rtl="1" algn="ctr" indent="0" marL="0">
              <a:buNone/>
            </a:pPr>
            <a:r>
              <a:rPr lang="ar-SA" altLang="en-US" sz="2100" b="1" dirty="0">
                <a:solidFill>
                  <a:srgbClr val="0E7C86"/>
                </a:solidFill>
                <a:latin typeface="Amiri" pitchFamily="2" charset="-78"/>
                <a:ea typeface="Amiri" pitchFamily="2" charset="-78"/>
                <a:cs typeface="Amiri" pitchFamily="2" charset="-78"/>
              </a:rPr>
              <a:t>ا</a:t>
            </a:r>
            <a:endParaRPr lang="ar-SA" sz="2100" dirty="0"/>
          </a:p>
        </p:txBody>
      </p:sp>
      <p:sp>
        <p:nvSpPr>
          <p:cNvPr id="25" name="Text 22"/>
          <p:cNvSpPr txBox="1"/>
          <p:nvPr/>
        </p:nvSpPr>
        <p:spPr>
          <a:xfrm>
            <a:off x="4828032" y="2706624"/>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bā · two beats</a:t>
            </a:r>
            <a:endParaRPr lang="en-US" sz="950" dirty="0"/>
          </a:p>
        </p:txBody>
      </p:sp>
      <p:sp>
        <p:nvSpPr>
          <p:cNvPr id="26" name="Text 23"/>
          <p:cNvSpPr txBox="1"/>
          <p:nvPr/>
        </p:nvSpPr>
        <p:spPr>
          <a:xfrm>
            <a:off x="2679192" y="2286000"/>
            <a:ext cx="2011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a:t>
            </a:r>
            <a:pPr rtl="1" algn="ctr" indent="0" marL="0">
              <a:buNone/>
            </a:pPr>
            <a:r>
              <a:rPr lang="ar-SA" altLang="en-US" sz="2100" b="1" dirty="0">
                <a:solidFill>
                  <a:srgbClr val="0E7C86"/>
                </a:solidFill>
                <a:latin typeface="Amiri" pitchFamily="2" charset="-78"/>
                <a:ea typeface="Amiri" pitchFamily="2" charset="-78"/>
                <a:cs typeface="Amiri" pitchFamily="2" charset="-78"/>
              </a:rPr>
              <a:t>ا</a:t>
            </a:r>
            <a:pPr rtl="1" algn="ctr" indent="0" marL="0">
              <a:buNone/>
            </a:pPr>
            <a:r>
              <a:rPr lang="ar-SA" altLang="en-US" sz="2100" b="1" dirty="0">
                <a:solidFill>
                  <a:srgbClr val="1B3B6F"/>
                </a:solidFill>
                <a:latin typeface="Amiri" pitchFamily="2" charset="-78"/>
                <a:ea typeface="Amiri" pitchFamily="2" charset="-78"/>
                <a:cs typeface="Amiri" pitchFamily="2" charset="-78"/>
              </a:rPr>
              <a:t>بٌ</a:t>
            </a:r>
            <a:endParaRPr lang="ar-SA" sz="2100" dirty="0"/>
          </a:p>
        </p:txBody>
      </p:sp>
      <p:sp>
        <p:nvSpPr>
          <p:cNvPr id="27" name="Text 24"/>
          <p:cNvSpPr txBox="1"/>
          <p:nvPr/>
        </p:nvSpPr>
        <p:spPr>
          <a:xfrm>
            <a:off x="2633472" y="2706624"/>
            <a:ext cx="2103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bāb</a:t>
            </a:r>
            <a:endParaRPr lang="en-US" sz="950" dirty="0"/>
          </a:p>
        </p:txBody>
      </p:sp>
      <p:sp>
        <p:nvSpPr>
          <p:cNvPr id="28" name="Text 25"/>
          <p:cNvSpPr txBox="1"/>
          <p:nvPr/>
        </p:nvSpPr>
        <p:spPr>
          <a:xfrm>
            <a:off x="566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door</a:t>
            </a:r>
            <a:endParaRPr lang="en-US" sz="1100" dirty="0"/>
          </a:p>
        </p:txBody>
      </p:sp>
      <p:sp>
        <p:nvSpPr>
          <p:cNvPr id="29" name="Shape 26"/>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9738360" y="3054096"/>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/ū/ — a held “oo”</a:t>
            </a:r>
            <a:endParaRPr lang="en-US" sz="1100" dirty="0"/>
          </a:p>
        </p:txBody>
      </p:sp>
      <p:sp>
        <p:nvSpPr>
          <p:cNvPr id="33" name="Text 30"/>
          <p:cNvSpPr txBox="1"/>
          <p:nvPr/>
        </p:nvSpPr>
        <p:spPr>
          <a:xfrm>
            <a:off x="7452360" y="3054096"/>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ḍamma + wāw</a:t>
            </a:r>
            <a:endParaRPr lang="en-US" sz="1100" dirty="0"/>
          </a:p>
        </p:txBody>
      </p:sp>
      <p:sp>
        <p:nvSpPr>
          <p:cNvPr id="34" name="Text 31"/>
          <p:cNvSpPr txBox="1"/>
          <p:nvPr/>
        </p:nvSpPr>
        <p:spPr>
          <a:xfrm>
            <a:off x="4873752" y="3072384"/>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 + </a:t>
            </a:r>
            <a:pPr rtl="1" algn="ctr" indent="0" marL="0">
              <a:buNone/>
            </a:pPr>
            <a:r>
              <a:rPr lang="ar-SA" altLang="en-US" sz="2100" b="1" dirty="0">
                <a:solidFill>
                  <a:srgbClr val="0E7C86"/>
                </a:solidFill>
                <a:latin typeface="Amiri" pitchFamily="2" charset="-78"/>
                <a:ea typeface="Amiri" pitchFamily="2" charset="-78"/>
                <a:cs typeface="Amiri" pitchFamily="2" charset="-78"/>
              </a:rPr>
              <a:t>و</a:t>
            </a:r>
            <a:pPr rtl="1" algn="ctr" indent="0" marL="0">
              <a:buNone/>
            </a:pPr>
            <a:r>
              <a:rPr lang="ar-SA" altLang="en-US" sz="2100" b="1" dirty="0">
                <a:solidFill>
                  <a:srgbClr val="1B3B6F"/>
                </a:solidFill>
                <a:latin typeface="Amiri" pitchFamily="2" charset="-78"/>
                <a:ea typeface="Amiri" pitchFamily="2" charset="-78"/>
                <a:cs typeface="Amiri" pitchFamily="2" charset="-78"/>
              </a:rPr>
              <a:t> ← بُ</a:t>
            </a:r>
            <a:pPr rtl="1" algn="ctr" indent="0" marL="0">
              <a:buNone/>
            </a:pPr>
            <a:r>
              <a:rPr lang="ar-SA" altLang="en-US" sz="2100" b="1" dirty="0">
                <a:solidFill>
                  <a:srgbClr val="0E7C86"/>
                </a:solidFill>
                <a:latin typeface="Amiri" pitchFamily="2" charset="-78"/>
                <a:ea typeface="Amiri" pitchFamily="2" charset="-78"/>
                <a:cs typeface="Amiri" pitchFamily="2" charset="-78"/>
              </a:rPr>
              <a:t>و</a:t>
            </a:r>
            <a:endParaRPr lang="ar-SA" sz="2100" dirty="0"/>
          </a:p>
        </p:txBody>
      </p:sp>
      <p:sp>
        <p:nvSpPr>
          <p:cNvPr id="35" name="Text 32"/>
          <p:cNvSpPr txBox="1"/>
          <p:nvPr/>
        </p:nvSpPr>
        <p:spPr>
          <a:xfrm>
            <a:off x="4828032" y="3493008"/>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bū · two beats</a:t>
            </a:r>
            <a:endParaRPr lang="en-US" sz="950" dirty="0"/>
          </a:p>
        </p:txBody>
      </p:sp>
      <p:sp>
        <p:nvSpPr>
          <p:cNvPr id="36" name="Text 33"/>
          <p:cNvSpPr txBox="1"/>
          <p:nvPr/>
        </p:nvSpPr>
        <p:spPr>
          <a:xfrm>
            <a:off x="2679192" y="3072384"/>
            <a:ext cx="2011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سُ</a:t>
            </a:r>
            <a:pPr rtl="1" algn="ctr" indent="0" marL="0">
              <a:buNone/>
            </a:pPr>
            <a:r>
              <a:rPr lang="ar-SA" altLang="en-US" sz="2100" b="1" dirty="0">
                <a:solidFill>
                  <a:srgbClr val="0E7C86"/>
                </a:solidFill>
                <a:latin typeface="Amiri" pitchFamily="2" charset="-78"/>
                <a:ea typeface="Amiri" pitchFamily="2" charset="-78"/>
                <a:cs typeface="Amiri" pitchFamily="2" charset="-78"/>
              </a:rPr>
              <a:t>و</a:t>
            </a:r>
            <a:pPr rtl="1" algn="ctr" indent="0" marL="0">
              <a:buNone/>
            </a:pPr>
            <a:r>
              <a:rPr lang="ar-SA" altLang="en-US" sz="2100" b="1" dirty="0">
                <a:solidFill>
                  <a:srgbClr val="1B3B6F"/>
                </a:solidFill>
                <a:latin typeface="Amiri" pitchFamily="2" charset="-78"/>
                <a:ea typeface="Amiri" pitchFamily="2" charset="-78"/>
                <a:cs typeface="Amiri" pitchFamily="2" charset="-78"/>
              </a:rPr>
              <a:t>قٌ</a:t>
            </a:r>
            <a:endParaRPr lang="ar-SA" sz="2100" dirty="0"/>
          </a:p>
        </p:txBody>
      </p:sp>
      <p:sp>
        <p:nvSpPr>
          <p:cNvPr id="37" name="Text 34"/>
          <p:cNvSpPr txBox="1"/>
          <p:nvPr/>
        </p:nvSpPr>
        <p:spPr>
          <a:xfrm>
            <a:off x="2633472" y="3493008"/>
            <a:ext cx="2103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sūq</a:t>
            </a:r>
            <a:endParaRPr lang="en-US" sz="950" dirty="0"/>
          </a:p>
        </p:txBody>
      </p:sp>
      <p:sp>
        <p:nvSpPr>
          <p:cNvPr id="38" name="Text 35"/>
          <p:cNvSpPr txBox="1"/>
          <p:nvPr/>
        </p:nvSpPr>
        <p:spPr>
          <a:xfrm>
            <a:off x="566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market</a:t>
            </a:r>
            <a:endParaRPr lang="en-US" sz="1100" dirty="0"/>
          </a:p>
        </p:txBody>
      </p:sp>
      <p:sp>
        <p:nvSpPr>
          <p:cNvPr id="39" name="Shape 3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2" name="Text 39"/>
          <p:cNvSpPr txBox="1"/>
          <p:nvPr/>
        </p:nvSpPr>
        <p:spPr>
          <a:xfrm>
            <a:off x="9738360" y="3840480"/>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/ī/ — a held “ee”</a:t>
            </a:r>
            <a:endParaRPr lang="en-US" sz="1100" dirty="0"/>
          </a:p>
        </p:txBody>
      </p:sp>
      <p:sp>
        <p:nvSpPr>
          <p:cNvPr id="43" name="Text 40"/>
          <p:cNvSpPr txBox="1"/>
          <p:nvPr/>
        </p:nvSpPr>
        <p:spPr>
          <a:xfrm>
            <a:off x="7452360" y="3840480"/>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kasra + yāʾ</a:t>
            </a:r>
            <a:endParaRPr lang="en-US" sz="1100" dirty="0"/>
          </a:p>
        </p:txBody>
      </p:sp>
      <p:sp>
        <p:nvSpPr>
          <p:cNvPr id="44" name="Text 41"/>
          <p:cNvSpPr txBox="1"/>
          <p:nvPr/>
        </p:nvSpPr>
        <p:spPr>
          <a:xfrm>
            <a:off x="4873752" y="3858768"/>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 + </a:t>
            </a:r>
            <a:pPr rtl="1" algn="ctr" indent="0" marL="0">
              <a:buNone/>
            </a:pPr>
            <a:r>
              <a:rPr lang="ar-SA" altLang="en-US" sz="2100" b="1" dirty="0">
                <a:solidFill>
                  <a:srgbClr val="0E7C86"/>
                </a:solidFill>
                <a:latin typeface="Amiri" pitchFamily="2" charset="-78"/>
                <a:ea typeface="Amiri" pitchFamily="2" charset="-78"/>
                <a:cs typeface="Amiri" pitchFamily="2" charset="-78"/>
              </a:rPr>
              <a:t>ي</a:t>
            </a:r>
            <a:pPr rtl="1" algn="ctr" indent="0" marL="0">
              <a:buNone/>
            </a:pPr>
            <a:r>
              <a:rPr lang="ar-SA" altLang="en-US" sz="2100" b="1" dirty="0">
                <a:solidFill>
                  <a:srgbClr val="1B3B6F"/>
                </a:solidFill>
                <a:latin typeface="Amiri" pitchFamily="2" charset="-78"/>
                <a:cs typeface="Amiri" pitchFamily="2" charset="-78"/>
              </a:rPr>
              <a:t> ← </a:t>
            </a:r>
            <a:pPr rtl="1" algn="ctr" indent="0" marL="0">
              <a:buNone/>
            </a:pPr>
            <a:r>
              <a:rPr lang="ar-SA" altLang="en-US" sz="2100" b="1" dirty="0">
                <a:solidFill>
                  <a:srgbClr val="0E7C86"/>
                </a:solidFill>
                <a:latin typeface="Amiri" pitchFamily="2" charset="-78"/>
                <a:ea typeface="Amiri" pitchFamily="2" charset="-78"/>
                <a:cs typeface="Amiri" pitchFamily="2" charset="-78"/>
              </a:rPr>
              <a:t>بِي</a:t>
            </a:r>
            <a:endParaRPr lang="ar-SA" sz="2100" dirty="0"/>
          </a:p>
        </p:txBody>
      </p:sp>
      <p:sp>
        <p:nvSpPr>
          <p:cNvPr id="45" name="Text 42"/>
          <p:cNvSpPr txBox="1"/>
          <p:nvPr/>
        </p:nvSpPr>
        <p:spPr>
          <a:xfrm>
            <a:off x="4828032" y="4279392"/>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bī · two beats</a:t>
            </a:r>
            <a:endParaRPr lang="en-US" sz="950" dirty="0"/>
          </a:p>
        </p:txBody>
      </p:sp>
      <p:sp>
        <p:nvSpPr>
          <p:cNvPr id="46" name="Text 43"/>
          <p:cNvSpPr txBox="1"/>
          <p:nvPr/>
        </p:nvSpPr>
        <p:spPr>
          <a:xfrm>
            <a:off x="2679192" y="3858768"/>
            <a:ext cx="2011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كَبِ</a:t>
            </a:r>
            <a:pPr rtl="1" algn="ctr" indent="0" marL="0">
              <a:buNone/>
            </a:pPr>
            <a:r>
              <a:rPr lang="ar-SA" altLang="en-US" sz="2100" b="1" dirty="0">
                <a:solidFill>
                  <a:srgbClr val="0E7C86"/>
                </a:solidFill>
                <a:latin typeface="Amiri" pitchFamily="2" charset="-78"/>
                <a:ea typeface="Amiri" pitchFamily="2" charset="-78"/>
                <a:cs typeface="Amiri" pitchFamily="2" charset="-78"/>
              </a:rPr>
              <a:t>ي</a:t>
            </a:r>
            <a:pPr rtl="1" algn="ctr" indent="0" marL="0">
              <a:buNone/>
            </a:pPr>
            <a:r>
              <a:rPr lang="ar-SA" altLang="en-US" sz="2100" b="1" dirty="0">
                <a:solidFill>
                  <a:srgbClr val="1B3B6F"/>
                </a:solidFill>
                <a:latin typeface="Amiri" pitchFamily="2" charset="-78"/>
                <a:ea typeface="Amiri" pitchFamily="2" charset="-78"/>
                <a:cs typeface="Amiri" pitchFamily="2" charset="-78"/>
              </a:rPr>
              <a:t>رٌ</a:t>
            </a:r>
            <a:endParaRPr lang="ar-SA" sz="2100" dirty="0"/>
          </a:p>
        </p:txBody>
      </p:sp>
      <p:sp>
        <p:nvSpPr>
          <p:cNvPr id="47" name="Text 44"/>
          <p:cNvSpPr txBox="1"/>
          <p:nvPr/>
        </p:nvSpPr>
        <p:spPr>
          <a:xfrm>
            <a:off x="2633472" y="4279392"/>
            <a:ext cx="2103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kabīr</a:t>
            </a:r>
            <a:endParaRPr lang="en-US" sz="950" dirty="0"/>
          </a:p>
        </p:txBody>
      </p:sp>
      <p:sp>
        <p:nvSpPr>
          <p:cNvPr id="48" name="Text 45"/>
          <p:cNvSpPr txBox="1"/>
          <p:nvPr/>
        </p:nvSpPr>
        <p:spPr>
          <a:xfrm>
            <a:off x="566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big</a:t>
            </a:r>
            <a:endParaRPr lang="en-US" sz="1100" dirty="0"/>
          </a:p>
        </p:txBody>
      </p:sp>
      <p:sp>
        <p:nvSpPr>
          <p:cNvPr id="49" name="Shape 4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long vowel lasts about TWO beats. The short mark before it must match: fatḥa + alif · ḍamma + wāw · kasra + yāʾ.</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the dotted partner of </a:t>
            </a:r>
            <a:pPr algn="l" indent="0" marL="0">
              <a:buNone/>
            </a:pPr>
            <a:r>
              <a:rPr lang="ar-SA" altLang="en-US" sz="1650" b="1" dirty="0">
                <a:solidFill>
                  <a:srgbClr val="1B3B6F"/>
                </a:solidFill>
                <a:latin typeface="Amiri" pitchFamily="2" charset="-78"/>
                <a:ea typeface="Amiri" pitchFamily="2" charset="-78"/>
                <a:cs typeface="Amiri" pitchFamily="2" charset="-78"/>
              </a:rPr>
              <a:t>ط</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ض</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ظ</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ghayn?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two dots above?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pattern contains a long vowel?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the dotted partner of </a:t>
            </a:r>
            <a:pPr algn="l" indent="0" marL="0">
              <a:buNone/>
            </a:pPr>
            <a:r>
              <a:rPr lang="ar-SA" altLang="en-US" sz="1650" b="1" dirty="0">
                <a:solidFill>
                  <a:srgbClr val="1B3B6F"/>
                </a:solidFill>
                <a:latin typeface="Amiri" pitchFamily="2" charset="-78"/>
                <a:ea typeface="Amiri" pitchFamily="2" charset="-78"/>
                <a:cs typeface="Amiri" pitchFamily="2" charset="-78"/>
              </a:rPr>
              <a:t>ط</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ض</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ظ</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ظ</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ط</a:t>
            </a:r>
            <a:pPr algn="l" indent="0" marL="0">
              <a:buNone/>
            </a:pPr>
            <a:r>
              <a:rPr lang="en-US" sz="1050" i="1" dirty="0">
                <a:solidFill>
                  <a:srgbClr val="8A6D1E"/>
                </a:solidFill>
                <a:latin typeface="Calibri" pitchFamily="34" charset="0"/>
                <a:cs typeface="Amiri" pitchFamily="2" charset="-78"/>
              </a:rPr>
              <a:t> + one dot (website final check 2).</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ghayn?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a:t>
            </a:r>
            <a:pPr algn="l" indent="0" marL="0">
              <a:buNone/>
            </a:pPr>
            <a:r>
              <a:rPr lang="en-US" sz="1050" i="1" dirty="0">
                <a:solidFill>
                  <a:srgbClr val="8A6D1E"/>
                </a:solidFill>
                <a:latin typeface="Calibri" pitchFamily="34" charset="0"/>
                <a:cs typeface="Amiri" pitchFamily="2" charset="-78"/>
              </a:rPr>
              <a:t>: ʿayn’s body + one dot.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two dots above?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a:t>
            </a:r>
            <a:pPr algn="l" indent="0" marL="0">
              <a:buNone/>
            </a:pPr>
            <a:r>
              <a:rPr lang="en-US" sz="1050" i="1" dirty="0">
                <a:solidFill>
                  <a:srgbClr val="8A6D1E"/>
                </a:solidFill>
                <a:latin typeface="Calibri" pitchFamily="34" charset="0"/>
                <a:cs typeface="Amiri" pitchFamily="2" charset="-78"/>
              </a:rPr>
              <a:t> qāf.</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pattern contains a long vowel?</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a:t>
            </a:r>
            <a:pPr algn="l" indent="0" marL="0">
              <a:buNone/>
            </a:pPr>
            <a:r>
              <a:rPr lang="en-US" sz="1050" i="1" dirty="0">
                <a:solidFill>
                  <a:srgbClr val="8A6D1E"/>
                </a:solidFill>
                <a:latin typeface="Calibri" pitchFamily="34" charset="0"/>
                <a:cs typeface="Amiri" pitchFamily="2" charset="-78"/>
              </a:rPr>
              <a:t>: kasra + yāʾ = long /ī/.</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WATCH → AIR-WRITE → TRACE → COPY (WEBSITE FORMATION TRACKER)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Watch me write the eight new letters</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9036558"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0670042"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ض</a:t>
            </a:r>
            <a:endParaRPr lang="ar-SA" sz="5050" dirty="0"/>
          </a:p>
        </p:txBody>
      </p:sp>
      <p:sp>
        <p:nvSpPr>
          <p:cNvPr id="17" name="Text 14"/>
          <p:cNvSpPr txBox="1"/>
          <p:nvPr/>
        </p:nvSpPr>
        <p:spPr>
          <a:xfrm>
            <a:off x="10670042"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ضَاد</a:t>
            </a:r>
            <a:endParaRPr lang="ar-SA" sz="1450" dirty="0"/>
          </a:p>
        </p:txBody>
      </p:sp>
      <p:sp>
        <p:nvSpPr>
          <p:cNvPr id="18" name="Shape 15"/>
          <p:cNvSpPr/>
          <p:nvPr/>
        </p:nvSpPr>
        <p:spPr>
          <a:xfrm>
            <a:off x="9173718" y="1956816"/>
            <a:ext cx="237744" cy="237744"/>
          </a:xfrm>
          <a:prstGeom prst="ellipse">
            <a:avLst/>
          </a:prstGeom>
          <a:solidFill>
            <a:srgbClr val="6B4C9A"/>
          </a:solidFill>
          <a:ln w="12700">
            <a:solidFill>
              <a:srgbClr val="6B4C9A"/>
            </a:solidFill>
            <a:prstDash val="solid"/>
          </a:ln>
        </p:spPr>
      </p:sp>
      <p:sp>
        <p:nvSpPr>
          <p:cNvPr id="19" name="Text 16"/>
          <p:cNvSpPr txBox="1"/>
          <p:nvPr/>
        </p:nvSpPr>
        <p:spPr>
          <a:xfrm>
            <a:off x="9173718"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20" name="Text 17"/>
          <p:cNvSpPr txBox="1"/>
          <p:nvPr/>
        </p:nvSpPr>
        <p:spPr>
          <a:xfrm>
            <a:off x="9484614"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Write </a:t>
            </a:r>
            <a:pPr algn="l" indent="0" marL="0">
              <a:buNone/>
            </a:pPr>
            <a:r>
              <a:rPr lang="ar-SA" altLang="en-US" sz="1350" dirty="0">
                <a:solidFill>
                  <a:srgbClr val="1F2A37"/>
                </a:solidFill>
                <a:latin typeface="Amiri" pitchFamily="2" charset="-78"/>
                <a:ea typeface="Amiri" pitchFamily="2" charset="-78"/>
                <a:cs typeface="Amiri" pitchFamily="2" charset="-78"/>
              </a:rPr>
              <a:t>ص</a:t>
            </a:r>
            <a:pPr algn="l" indent="0" marL="0">
              <a:buNone/>
            </a:pPr>
            <a:r>
              <a:rPr lang="en-US" sz="1050" dirty="0">
                <a:solidFill>
                  <a:srgbClr val="1F2A37"/>
                </a:solidFill>
                <a:latin typeface="Calibri" pitchFamily="34" charset="0"/>
                <a:cs typeface="Amiri" pitchFamily="2" charset="-78"/>
              </a:rPr>
              <a:t> (loop + bowl).</a:t>
            </a:r>
            <a:endParaRPr lang="en-US" sz="1050" dirty="0"/>
          </a:p>
        </p:txBody>
      </p:sp>
      <p:sp>
        <p:nvSpPr>
          <p:cNvPr id="21" name="Shape 18"/>
          <p:cNvSpPr/>
          <p:nvPr/>
        </p:nvSpPr>
        <p:spPr>
          <a:xfrm>
            <a:off x="9173718" y="2377440"/>
            <a:ext cx="237744" cy="237744"/>
          </a:xfrm>
          <a:prstGeom prst="ellipse">
            <a:avLst/>
          </a:prstGeom>
          <a:solidFill>
            <a:srgbClr val="6B4C9A"/>
          </a:solidFill>
          <a:ln w="12700">
            <a:solidFill>
              <a:srgbClr val="6B4C9A"/>
            </a:solidFill>
            <a:prstDash val="solid"/>
          </a:ln>
        </p:spPr>
      </p:sp>
      <p:sp>
        <p:nvSpPr>
          <p:cNvPr id="22" name="Text 19"/>
          <p:cNvSpPr txBox="1"/>
          <p:nvPr/>
        </p:nvSpPr>
        <p:spPr>
          <a:xfrm>
            <a:off x="9173718"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23" name="Text 20"/>
          <p:cNvSpPr txBox="1"/>
          <p:nvPr/>
        </p:nvSpPr>
        <p:spPr>
          <a:xfrm>
            <a:off x="9484614"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dot above the loop.</a:t>
            </a:r>
            <a:endParaRPr lang="en-US" sz="1050" dirty="0"/>
          </a:p>
        </p:txBody>
      </p:sp>
      <p:sp>
        <p:nvSpPr>
          <p:cNvPr id="24" name="Shape 21"/>
          <p:cNvSpPr/>
          <p:nvPr/>
        </p:nvSpPr>
        <p:spPr>
          <a:xfrm>
            <a:off x="9173718" y="3813048"/>
            <a:ext cx="2420874" cy="0"/>
          </a:xfrm>
          <a:prstGeom prst="line">
            <a:avLst/>
          </a:prstGeom>
          <a:noFill/>
          <a:ln w="9525">
            <a:solidFill>
              <a:srgbClr val="C9BFA8"/>
            </a:solidFill>
            <a:prstDash val="dash"/>
          </a:ln>
        </p:spPr>
      </p:sp>
      <p:sp>
        <p:nvSpPr>
          <p:cNvPr id="25" name="Text 22"/>
          <p:cNvSpPr txBox="1"/>
          <p:nvPr/>
        </p:nvSpPr>
        <p:spPr>
          <a:xfrm>
            <a:off x="10989374"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ض</a:t>
            </a:r>
            <a:endParaRPr lang="ar-SA" sz="2600" dirty="0"/>
          </a:p>
        </p:txBody>
      </p:sp>
      <p:sp>
        <p:nvSpPr>
          <p:cNvPr id="26" name="Text 23"/>
          <p:cNvSpPr txBox="1"/>
          <p:nvPr/>
        </p:nvSpPr>
        <p:spPr>
          <a:xfrm>
            <a:off x="10384155"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ض</a:t>
            </a:r>
            <a:endParaRPr lang="ar-SA" sz="2600" dirty="0"/>
          </a:p>
        </p:txBody>
      </p:sp>
      <p:sp>
        <p:nvSpPr>
          <p:cNvPr id="27" name="Text 24"/>
          <p:cNvSpPr txBox="1"/>
          <p:nvPr/>
        </p:nvSpPr>
        <p:spPr>
          <a:xfrm>
            <a:off x="9778937"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28" name="Text 25"/>
          <p:cNvSpPr txBox="1"/>
          <p:nvPr/>
        </p:nvSpPr>
        <p:spPr>
          <a:xfrm>
            <a:off x="9173718"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29" name="Shape 26"/>
          <p:cNvSpPr/>
          <p:nvPr/>
        </p:nvSpPr>
        <p:spPr>
          <a:xfrm>
            <a:off x="6176772"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7810256"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ط</a:t>
            </a:r>
            <a:endParaRPr lang="ar-SA" sz="5050" dirty="0"/>
          </a:p>
        </p:txBody>
      </p:sp>
      <p:sp>
        <p:nvSpPr>
          <p:cNvPr id="31" name="Text 28"/>
          <p:cNvSpPr txBox="1"/>
          <p:nvPr/>
        </p:nvSpPr>
        <p:spPr>
          <a:xfrm>
            <a:off x="7810256"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طَاء</a:t>
            </a:r>
            <a:endParaRPr lang="ar-SA" sz="1450" dirty="0"/>
          </a:p>
        </p:txBody>
      </p:sp>
      <p:sp>
        <p:nvSpPr>
          <p:cNvPr id="32" name="Shape 29"/>
          <p:cNvSpPr/>
          <p:nvPr/>
        </p:nvSpPr>
        <p:spPr>
          <a:xfrm>
            <a:off x="6313932" y="1956816"/>
            <a:ext cx="237744" cy="237744"/>
          </a:xfrm>
          <a:prstGeom prst="ellipse">
            <a:avLst/>
          </a:prstGeom>
          <a:solidFill>
            <a:srgbClr val="6B4C9A"/>
          </a:solidFill>
          <a:ln w="12700">
            <a:solidFill>
              <a:srgbClr val="6B4C9A"/>
            </a:solidFill>
            <a:prstDash val="solid"/>
          </a:ln>
        </p:spPr>
      </p:sp>
      <p:sp>
        <p:nvSpPr>
          <p:cNvPr id="33" name="Text 30"/>
          <p:cNvSpPr txBox="1"/>
          <p:nvPr/>
        </p:nvSpPr>
        <p:spPr>
          <a:xfrm>
            <a:off x="6313932"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34" name="Text 31"/>
          <p:cNvSpPr txBox="1"/>
          <p:nvPr/>
        </p:nvSpPr>
        <p:spPr>
          <a:xfrm>
            <a:off x="6624828"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flat loop on the line.</a:t>
            </a:r>
            <a:endParaRPr lang="en-US" sz="1050" dirty="0"/>
          </a:p>
        </p:txBody>
      </p:sp>
      <p:sp>
        <p:nvSpPr>
          <p:cNvPr id="35" name="Shape 32"/>
          <p:cNvSpPr/>
          <p:nvPr/>
        </p:nvSpPr>
        <p:spPr>
          <a:xfrm>
            <a:off x="6313932" y="2377440"/>
            <a:ext cx="237744" cy="237744"/>
          </a:xfrm>
          <a:prstGeom prst="ellipse">
            <a:avLst/>
          </a:prstGeom>
          <a:solidFill>
            <a:srgbClr val="6B4C9A"/>
          </a:solidFill>
          <a:ln w="12700">
            <a:solidFill>
              <a:srgbClr val="6B4C9A"/>
            </a:solidFill>
            <a:prstDash val="solid"/>
          </a:ln>
        </p:spPr>
      </p:sp>
      <p:sp>
        <p:nvSpPr>
          <p:cNvPr id="36" name="Text 33"/>
          <p:cNvSpPr txBox="1"/>
          <p:nvPr/>
        </p:nvSpPr>
        <p:spPr>
          <a:xfrm>
            <a:off x="6313932"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37" name="Text 34"/>
          <p:cNvSpPr txBox="1"/>
          <p:nvPr/>
        </p:nvSpPr>
        <p:spPr>
          <a:xfrm>
            <a:off x="6624828"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tall straight stroke.</a:t>
            </a:r>
            <a:endParaRPr lang="en-US" sz="1050" dirty="0"/>
          </a:p>
        </p:txBody>
      </p:sp>
      <p:sp>
        <p:nvSpPr>
          <p:cNvPr id="38" name="Shape 35"/>
          <p:cNvSpPr/>
          <p:nvPr/>
        </p:nvSpPr>
        <p:spPr>
          <a:xfrm>
            <a:off x="6313932" y="3813048"/>
            <a:ext cx="2420874" cy="0"/>
          </a:xfrm>
          <a:prstGeom prst="line">
            <a:avLst/>
          </a:prstGeom>
          <a:noFill/>
          <a:ln w="9525">
            <a:solidFill>
              <a:srgbClr val="C9BFA8"/>
            </a:solidFill>
            <a:prstDash val="dash"/>
          </a:ln>
        </p:spPr>
      </p:sp>
      <p:sp>
        <p:nvSpPr>
          <p:cNvPr id="39" name="Text 36"/>
          <p:cNvSpPr txBox="1"/>
          <p:nvPr/>
        </p:nvSpPr>
        <p:spPr>
          <a:xfrm>
            <a:off x="8129588"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ط</a:t>
            </a:r>
            <a:endParaRPr lang="ar-SA" sz="2600" dirty="0"/>
          </a:p>
        </p:txBody>
      </p:sp>
      <p:sp>
        <p:nvSpPr>
          <p:cNvPr id="40" name="Text 37"/>
          <p:cNvSpPr txBox="1"/>
          <p:nvPr/>
        </p:nvSpPr>
        <p:spPr>
          <a:xfrm>
            <a:off x="7524369"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ط</a:t>
            </a:r>
            <a:endParaRPr lang="ar-SA" sz="2600" dirty="0"/>
          </a:p>
        </p:txBody>
      </p:sp>
      <p:sp>
        <p:nvSpPr>
          <p:cNvPr id="41" name="Text 38"/>
          <p:cNvSpPr txBox="1"/>
          <p:nvPr/>
        </p:nvSpPr>
        <p:spPr>
          <a:xfrm>
            <a:off x="6919151"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42" name="Text 39"/>
          <p:cNvSpPr txBox="1"/>
          <p:nvPr/>
        </p:nvSpPr>
        <p:spPr>
          <a:xfrm>
            <a:off x="6313932"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43" name="Shape 40"/>
          <p:cNvSpPr/>
          <p:nvPr/>
        </p:nvSpPr>
        <p:spPr>
          <a:xfrm>
            <a:off x="3316986"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Text 41"/>
          <p:cNvSpPr txBox="1"/>
          <p:nvPr/>
        </p:nvSpPr>
        <p:spPr>
          <a:xfrm>
            <a:off x="4950470"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ظ</a:t>
            </a:r>
            <a:endParaRPr lang="ar-SA" sz="5050" dirty="0"/>
          </a:p>
        </p:txBody>
      </p:sp>
      <p:sp>
        <p:nvSpPr>
          <p:cNvPr id="45" name="Text 42"/>
          <p:cNvSpPr txBox="1"/>
          <p:nvPr/>
        </p:nvSpPr>
        <p:spPr>
          <a:xfrm>
            <a:off x="4950470"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ظَاء</a:t>
            </a:r>
            <a:endParaRPr lang="ar-SA" sz="1450" dirty="0"/>
          </a:p>
        </p:txBody>
      </p:sp>
      <p:sp>
        <p:nvSpPr>
          <p:cNvPr id="46" name="Shape 43"/>
          <p:cNvSpPr/>
          <p:nvPr/>
        </p:nvSpPr>
        <p:spPr>
          <a:xfrm>
            <a:off x="3454146" y="1956816"/>
            <a:ext cx="237744" cy="237744"/>
          </a:xfrm>
          <a:prstGeom prst="ellipse">
            <a:avLst/>
          </a:prstGeom>
          <a:solidFill>
            <a:srgbClr val="6B4C9A"/>
          </a:solidFill>
          <a:ln w="12700">
            <a:solidFill>
              <a:srgbClr val="6B4C9A"/>
            </a:solidFill>
            <a:prstDash val="solid"/>
          </a:ln>
        </p:spPr>
      </p:sp>
      <p:sp>
        <p:nvSpPr>
          <p:cNvPr id="47" name="Text 44"/>
          <p:cNvSpPr txBox="1"/>
          <p:nvPr/>
        </p:nvSpPr>
        <p:spPr>
          <a:xfrm>
            <a:off x="3454146"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48" name="Text 45"/>
          <p:cNvSpPr txBox="1"/>
          <p:nvPr/>
        </p:nvSpPr>
        <p:spPr>
          <a:xfrm>
            <a:off x="3765042"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Write </a:t>
            </a:r>
            <a:pPr algn="l" indent="0" marL="0">
              <a:buNone/>
            </a:pPr>
            <a:r>
              <a:rPr lang="ar-SA" altLang="en-US" sz="1350" dirty="0">
                <a:solidFill>
                  <a:srgbClr val="1F2A37"/>
                </a:solidFill>
                <a:latin typeface="Amiri" pitchFamily="2" charset="-78"/>
                <a:ea typeface="Amiri" pitchFamily="2" charset="-78"/>
                <a:cs typeface="Amiri" pitchFamily="2" charset="-78"/>
              </a:rPr>
              <a:t>ط</a:t>
            </a:r>
            <a:pPr algn="l" indent="0" marL="0">
              <a:buNone/>
            </a:pPr>
            <a:r>
              <a:rPr lang="en-US" sz="1050" dirty="0">
                <a:solidFill>
                  <a:srgbClr val="1F2A37"/>
                </a:solidFill>
                <a:latin typeface="Calibri" pitchFamily="34" charset="0"/>
                <a:cs typeface="Amiri" pitchFamily="2" charset="-78"/>
              </a:rPr>
              <a:t>.</a:t>
            </a:r>
            <a:endParaRPr lang="en-US" sz="1050" dirty="0"/>
          </a:p>
        </p:txBody>
      </p:sp>
      <p:sp>
        <p:nvSpPr>
          <p:cNvPr id="49" name="Shape 46"/>
          <p:cNvSpPr/>
          <p:nvPr/>
        </p:nvSpPr>
        <p:spPr>
          <a:xfrm>
            <a:off x="3454146" y="2377440"/>
            <a:ext cx="237744" cy="237744"/>
          </a:xfrm>
          <a:prstGeom prst="ellipse">
            <a:avLst/>
          </a:prstGeom>
          <a:solidFill>
            <a:srgbClr val="6B4C9A"/>
          </a:solidFill>
          <a:ln w="12700">
            <a:solidFill>
              <a:srgbClr val="6B4C9A"/>
            </a:solidFill>
            <a:prstDash val="solid"/>
          </a:ln>
        </p:spPr>
      </p:sp>
      <p:sp>
        <p:nvSpPr>
          <p:cNvPr id="50" name="Text 47"/>
          <p:cNvSpPr txBox="1"/>
          <p:nvPr/>
        </p:nvSpPr>
        <p:spPr>
          <a:xfrm>
            <a:off x="3454146"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51" name="Text 48"/>
          <p:cNvSpPr txBox="1"/>
          <p:nvPr/>
        </p:nvSpPr>
        <p:spPr>
          <a:xfrm>
            <a:off x="3765042"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dot beside the tall stroke.</a:t>
            </a:r>
            <a:endParaRPr lang="en-US" sz="1050" dirty="0"/>
          </a:p>
        </p:txBody>
      </p:sp>
      <p:sp>
        <p:nvSpPr>
          <p:cNvPr id="52" name="Shape 49"/>
          <p:cNvSpPr/>
          <p:nvPr/>
        </p:nvSpPr>
        <p:spPr>
          <a:xfrm>
            <a:off x="3454146" y="3813048"/>
            <a:ext cx="2420874" cy="0"/>
          </a:xfrm>
          <a:prstGeom prst="line">
            <a:avLst/>
          </a:prstGeom>
          <a:noFill/>
          <a:ln w="9525">
            <a:solidFill>
              <a:srgbClr val="C9BFA8"/>
            </a:solidFill>
            <a:prstDash val="dash"/>
          </a:ln>
        </p:spPr>
      </p:sp>
      <p:sp>
        <p:nvSpPr>
          <p:cNvPr id="53" name="Text 50"/>
          <p:cNvSpPr txBox="1"/>
          <p:nvPr/>
        </p:nvSpPr>
        <p:spPr>
          <a:xfrm>
            <a:off x="5269802"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ظ</a:t>
            </a:r>
            <a:endParaRPr lang="ar-SA" sz="2600" dirty="0"/>
          </a:p>
        </p:txBody>
      </p:sp>
      <p:sp>
        <p:nvSpPr>
          <p:cNvPr id="54" name="Text 51"/>
          <p:cNvSpPr txBox="1"/>
          <p:nvPr/>
        </p:nvSpPr>
        <p:spPr>
          <a:xfrm>
            <a:off x="4664583"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ظ</a:t>
            </a:r>
            <a:endParaRPr lang="ar-SA" sz="2600" dirty="0"/>
          </a:p>
        </p:txBody>
      </p:sp>
      <p:sp>
        <p:nvSpPr>
          <p:cNvPr id="55" name="Text 52"/>
          <p:cNvSpPr txBox="1"/>
          <p:nvPr/>
        </p:nvSpPr>
        <p:spPr>
          <a:xfrm>
            <a:off x="4059365"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56" name="Text 53"/>
          <p:cNvSpPr txBox="1"/>
          <p:nvPr/>
        </p:nvSpPr>
        <p:spPr>
          <a:xfrm>
            <a:off x="3454146"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57" name="Shape 54"/>
          <p:cNvSpPr/>
          <p:nvPr/>
        </p:nvSpPr>
        <p:spPr>
          <a:xfrm>
            <a:off x="457200"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2090684"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ع</a:t>
            </a:r>
            <a:endParaRPr lang="ar-SA" sz="5050" dirty="0"/>
          </a:p>
        </p:txBody>
      </p:sp>
      <p:sp>
        <p:nvSpPr>
          <p:cNvPr id="59" name="Text 56"/>
          <p:cNvSpPr txBox="1"/>
          <p:nvPr/>
        </p:nvSpPr>
        <p:spPr>
          <a:xfrm>
            <a:off x="2090684"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عَيْن</a:t>
            </a:r>
            <a:endParaRPr lang="ar-SA" sz="1450" dirty="0"/>
          </a:p>
        </p:txBody>
      </p:sp>
      <p:sp>
        <p:nvSpPr>
          <p:cNvPr id="60" name="Shape 57"/>
          <p:cNvSpPr/>
          <p:nvPr/>
        </p:nvSpPr>
        <p:spPr>
          <a:xfrm>
            <a:off x="594360" y="1956816"/>
            <a:ext cx="237744" cy="237744"/>
          </a:xfrm>
          <a:prstGeom prst="ellipse">
            <a:avLst/>
          </a:prstGeom>
          <a:solidFill>
            <a:srgbClr val="6B4C9A"/>
          </a:solidFill>
          <a:ln w="12700">
            <a:solidFill>
              <a:srgbClr val="6B4C9A"/>
            </a:solidFill>
            <a:prstDash val="solid"/>
          </a:ln>
        </p:spPr>
      </p:sp>
      <p:sp>
        <p:nvSpPr>
          <p:cNvPr id="61" name="Text 58"/>
          <p:cNvSpPr txBox="1"/>
          <p:nvPr/>
        </p:nvSpPr>
        <p:spPr>
          <a:xfrm>
            <a:off x="594360"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62" name="Text 59"/>
          <p:cNvSpPr txBox="1"/>
          <p:nvPr/>
        </p:nvSpPr>
        <p:spPr>
          <a:xfrm>
            <a:off x="905256"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Small open curve on top.</a:t>
            </a:r>
            <a:endParaRPr lang="en-US" sz="1050" dirty="0"/>
          </a:p>
        </p:txBody>
      </p:sp>
      <p:sp>
        <p:nvSpPr>
          <p:cNvPr id="63" name="Shape 60"/>
          <p:cNvSpPr/>
          <p:nvPr/>
        </p:nvSpPr>
        <p:spPr>
          <a:xfrm>
            <a:off x="594360" y="2377440"/>
            <a:ext cx="237744" cy="237744"/>
          </a:xfrm>
          <a:prstGeom prst="ellipse">
            <a:avLst/>
          </a:prstGeom>
          <a:solidFill>
            <a:srgbClr val="6B4C9A"/>
          </a:solidFill>
          <a:ln w="12700">
            <a:solidFill>
              <a:srgbClr val="6B4C9A"/>
            </a:solidFill>
            <a:prstDash val="solid"/>
          </a:ln>
        </p:spPr>
      </p:sp>
      <p:sp>
        <p:nvSpPr>
          <p:cNvPr id="64" name="Text 61"/>
          <p:cNvSpPr txBox="1"/>
          <p:nvPr/>
        </p:nvSpPr>
        <p:spPr>
          <a:xfrm>
            <a:off x="594360"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65" name="Text 62"/>
          <p:cNvSpPr txBox="1"/>
          <p:nvPr/>
        </p:nvSpPr>
        <p:spPr>
          <a:xfrm>
            <a:off x="905256"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Big bowl below the line.</a:t>
            </a:r>
            <a:endParaRPr lang="en-US" sz="1050" dirty="0"/>
          </a:p>
        </p:txBody>
      </p:sp>
      <p:sp>
        <p:nvSpPr>
          <p:cNvPr id="66" name="Shape 63"/>
          <p:cNvSpPr/>
          <p:nvPr/>
        </p:nvSpPr>
        <p:spPr>
          <a:xfrm>
            <a:off x="594360" y="3813048"/>
            <a:ext cx="2420874" cy="0"/>
          </a:xfrm>
          <a:prstGeom prst="line">
            <a:avLst/>
          </a:prstGeom>
          <a:noFill/>
          <a:ln w="9525">
            <a:solidFill>
              <a:srgbClr val="C9BFA8"/>
            </a:solidFill>
            <a:prstDash val="dash"/>
          </a:ln>
        </p:spPr>
      </p:sp>
      <p:sp>
        <p:nvSpPr>
          <p:cNvPr id="67" name="Text 64"/>
          <p:cNvSpPr txBox="1"/>
          <p:nvPr/>
        </p:nvSpPr>
        <p:spPr>
          <a:xfrm>
            <a:off x="2410016"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ع</a:t>
            </a:r>
            <a:endParaRPr lang="ar-SA" sz="2600" dirty="0"/>
          </a:p>
        </p:txBody>
      </p:sp>
      <p:sp>
        <p:nvSpPr>
          <p:cNvPr id="68" name="Text 65"/>
          <p:cNvSpPr txBox="1"/>
          <p:nvPr/>
        </p:nvSpPr>
        <p:spPr>
          <a:xfrm>
            <a:off x="1804797"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ع</a:t>
            </a:r>
            <a:endParaRPr lang="ar-SA" sz="2600" dirty="0"/>
          </a:p>
        </p:txBody>
      </p:sp>
      <p:sp>
        <p:nvSpPr>
          <p:cNvPr id="69" name="Text 66"/>
          <p:cNvSpPr txBox="1"/>
          <p:nvPr/>
        </p:nvSpPr>
        <p:spPr>
          <a:xfrm>
            <a:off x="1199579"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70" name="Text 67"/>
          <p:cNvSpPr txBox="1"/>
          <p:nvPr/>
        </p:nvSpPr>
        <p:spPr>
          <a:xfrm>
            <a:off x="594360"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71" name="Shape 68"/>
          <p:cNvSpPr/>
          <p:nvPr/>
        </p:nvSpPr>
        <p:spPr>
          <a:xfrm>
            <a:off x="9036558"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10670042"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غ</a:t>
            </a:r>
            <a:endParaRPr lang="ar-SA" sz="5050" dirty="0"/>
          </a:p>
        </p:txBody>
      </p:sp>
      <p:sp>
        <p:nvSpPr>
          <p:cNvPr id="73" name="Text 70"/>
          <p:cNvSpPr txBox="1"/>
          <p:nvPr/>
        </p:nvSpPr>
        <p:spPr>
          <a:xfrm>
            <a:off x="10670042"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غَيْن</a:t>
            </a:r>
            <a:endParaRPr lang="ar-SA" sz="1450" dirty="0"/>
          </a:p>
        </p:txBody>
      </p:sp>
      <p:sp>
        <p:nvSpPr>
          <p:cNvPr id="74" name="Shape 71"/>
          <p:cNvSpPr/>
          <p:nvPr/>
        </p:nvSpPr>
        <p:spPr>
          <a:xfrm>
            <a:off x="9173718" y="4288536"/>
            <a:ext cx="237744" cy="237744"/>
          </a:xfrm>
          <a:prstGeom prst="ellipse">
            <a:avLst/>
          </a:prstGeom>
          <a:solidFill>
            <a:srgbClr val="6B4C9A"/>
          </a:solidFill>
          <a:ln w="12700">
            <a:solidFill>
              <a:srgbClr val="6B4C9A"/>
            </a:solidFill>
            <a:prstDash val="solid"/>
          </a:ln>
        </p:spPr>
      </p:sp>
      <p:sp>
        <p:nvSpPr>
          <p:cNvPr id="75" name="Text 72"/>
          <p:cNvSpPr txBox="1"/>
          <p:nvPr/>
        </p:nvSpPr>
        <p:spPr>
          <a:xfrm>
            <a:off x="9173718"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76" name="Text 73"/>
          <p:cNvSpPr txBox="1"/>
          <p:nvPr/>
        </p:nvSpPr>
        <p:spPr>
          <a:xfrm>
            <a:off x="9484614"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Write </a:t>
            </a:r>
            <a:pPr algn="l" indent="0" marL="0">
              <a:buNone/>
            </a:pPr>
            <a:r>
              <a:rPr lang="ar-SA" altLang="en-US" sz="1350" dirty="0">
                <a:solidFill>
                  <a:srgbClr val="1F2A37"/>
                </a:solidFill>
                <a:latin typeface="Amiri" pitchFamily="2" charset="-78"/>
                <a:ea typeface="Amiri" pitchFamily="2" charset="-78"/>
                <a:cs typeface="Amiri" pitchFamily="2" charset="-78"/>
              </a:rPr>
              <a:t>ع</a:t>
            </a:r>
            <a:pPr algn="l" indent="0" marL="0">
              <a:buNone/>
            </a:pPr>
            <a:r>
              <a:rPr lang="en-US" sz="1050" dirty="0">
                <a:solidFill>
                  <a:srgbClr val="1F2A37"/>
                </a:solidFill>
                <a:latin typeface="Calibri" pitchFamily="34" charset="0"/>
                <a:cs typeface="Amiri" pitchFamily="2" charset="-78"/>
              </a:rPr>
              <a:t>.</a:t>
            </a:r>
            <a:endParaRPr lang="en-US" sz="1050" dirty="0"/>
          </a:p>
        </p:txBody>
      </p:sp>
      <p:sp>
        <p:nvSpPr>
          <p:cNvPr id="77" name="Shape 74"/>
          <p:cNvSpPr/>
          <p:nvPr/>
        </p:nvSpPr>
        <p:spPr>
          <a:xfrm>
            <a:off x="9173718" y="4709160"/>
            <a:ext cx="237744" cy="237744"/>
          </a:xfrm>
          <a:prstGeom prst="ellipse">
            <a:avLst/>
          </a:prstGeom>
          <a:solidFill>
            <a:srgbClr val="6B4C9A"/>
          </a:solidFill>
          <a:ln w="12700">
            <a:solidFill>
              <a:srgbClr val="6B4C9A"/>
            </a:solidFill>
            <a:prstDash val="solid"/>
          </a:ln>
        </p:spPr>
      </p:sp>
      <p:sp>
        <p:nvSpPr>
          <p:cNvPr id="78" name="Text 75"/>
          <p:cNvSpPr txBox="1"/>
          <p:nvPr/>
        </p:nvSpPr>
        <p:spPr>
          <a:xfrm>
            <a:off x="9173718"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79" name="Text 76"/>
          <p:cNvSpPr txBox="1"/>
          <p:nvPr/>
        </p:nvSpPr>
        <p:spPr>
          <a:xfrm>
            <a:off x="9484614"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dot above.</a:t>
            </a:r>
            <a:endParaRPr lang="en-US" sz="1050" dirty="0"/>
          </a:p>
        </p:txBody>
      </p:sp>
      <p:sp>
        <p:nvSpPr>
          <p:cNvPr id="80" name="Shape 77"/>
          <p:cNvSpPr/>
          <p:nvPr/>
        </p:nvSpPr>
        <p:spPr>
          <a:xfrm>
            <a:off x="9173718" y="6144768"/>
            <a:ext cx="2420874" cy="0"/>
          </a:xfrm>
          <a:prstGeom prst="line">
            <a:avLst/>
          </a:prstGeom>
          <a:noFill/>
          <a:ln w="9525">
            <a:solidFill>
              <a:srgbClr val="C9BFA8"/>
            </a:solidFill>
            <a:prstDash val="dash"/>
          </a:ln>
        </p:spPr>
      </p:sp>
      <p:sp>
        <p:nvSpPr>
          <p:cNvPr id="81" name="Text 78"/>
          <p:cNvSpPr txBox="1"/>
          <p:nvPr/>
        </p:nvSpPr>
        <p:spPr>
          <a:xfrm>
            <a:off x="10989374"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غ</a:t>
            </a:r>
            <a:endParaRPr lang="ar-SA" sz="2600" dirty="0"/>
          </a:p>
        </p:txBody>
      </p:sp>
      <p:sp>
        <p:nvSpPr>
          <p:cNvPr id="82" name="Text 79"/>
          <p:cNvSpPr txBox="1"/>
          <p:nvPr/>
        </p:nvSpPr>
        <p:spPr>
          <a:xfrm>
            <a:off x="10384155"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غ</a:t>
            </a:r>
            <a:endParaRPr lang="ar-SA" sz="2600" dirty="0"/>
          </a:p>
        </p:txBody>
      </p:sp>
      <p:sp>
        <p:nvSpPr>
          <p:cNvPr id="83" name="Text 80"/>
          <p:cNvSpPr txBox="1"/>
          <p:nvPr/>
        </p:nvSpPr>
        <p:spPr>
          <a:xfrm>
            <a:off x="9778937"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84" name="Text 81"/>
          <p:cNvSpPr txBox="1"/>
          <p:nvPr/>
        </p:nvSpPr>
        <p:spPr>
          <a:xfrm>
            <a:off x="9173718"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85" name="Shape 82"/>
          <p:cNvSpPr/>
          <p:nvPr/>
        </p:nvSpPr>
        <p:spPr>
          <a:xfrm>
            <a:off x="6176772"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7810256"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ف</a:t>
            </a:r>
            <a:endParaRPr lang="ar-SA" sz="5050" dirty="0"/>
          </a:p>
        </p:txBody>
      </p:sp>
      <p:sp>
        <p:nvSpPr>
          <p:cNvPr id="87" name="Text 84"/>
          <p:cNvSpPr txBox="1"/>
          <p:nvPr/>
        </p:nvSpPr>
        <p:spPr>
          <a:xfrm>
            <a:off x="7810256"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فَاء</a:t>
            </a:r>
            <a:endParaRPr lang="ar-SA" sz="1450" dirty="0"/>
          </a:p>
        </p:txBody>
      </p:sp>
      <p:sp>
        <p:nvSpPr>
          <p:cNvPr id="88" name="Shape 85"/>
          <p:cNvSpPr/>
          <p:nvPr/>
        </p:nvSpPr>
        <p:spPr>
          <a:xfrm>
            <a:off x="6313932" y="4288536"/>
            <a:ext cx="237744" cy="237744"/>
          </a:xfrm>
          <a:prstGeom prst="ellipse">
            <a:avLst/>
          </a:prstGeom>
          <a:solidFill>
            <a:srgbClr val="6B4C9A"/>
          </a:solidFill>
          <a:ln w="12700">
            <a:solidFill>
              <a:srgbClr val="6B4C9A"/>
            </a:solidFill>
            <a:prstDash val="solid"/>
          </a:ln>
        </p:spPr>
      </p:sp>
      <p:sp>
        <p:nvSpPr>
          <p:cNvPr id="89" name="Text 86"/>
          <p:cNvSpPr txBox="1"/>
          <p:nvPr/>
        </p:nvSpPr>
        <p:spPr>
          <a:xfrm>
            <a:off x="6313932"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90" name="Text 87"/>
          <p:cNvSpPr txBox="1"/>
          <p:nvPr/>
        </p:nvSpPr>
        <p:spPr>
          <a:xfrm>
            <a:off x="6624828"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Small loop, then a long flat tail.</a:t>
            </a:r>
            <a:endParaRPr lang="en-US" sz="1050" dirty="0"/>
          </a:p>
        </p:txBody>
      </p:sp>
      <p:sp>
        <p:nvSpPr>
          <p:cNvPr id="91" name="Shape 88"/>
          <p:cNvSpPr/>
          <p:nvPr/>
        </p:nvSpPr>
        <p:spPr>
          <a:xfrm>
            <a:off x="6313932" y="4709160"/>
            <a:ext cx="237744" cy="237744"/>
          </a:xfrm>
          <a:prstGeom prst="ellipse">
            <a:avLst/>
          </a:prstGeom>
          <a:solidFill>
            <a:srgbClr val="6B4C9A"/>
          </a:solidFill>
          <a:ln w="12700">
            <a:solidFill>
              <a:srgbClr val="6B4C9A"/>
            </a:solidFill>
            <a:prstDash val="solid"/>
          </a:ln>
        </p:spPr>
      </p:sp>
      <p:sp>
        <p:nvSpPr>
          <p:cNvPr id="92" name="Text 89"/>
          <p:cNvSpPr txBox="1"/>
          <p:nvPr/>
        </p:nvSpPr>
        <p:spPr>
          <a:xfrm>
            <a:off x="6313932"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93" name="Text 90"/>
          <p:cNvSpPr txBox="1"/>
          <p:nvPr/>
        </p:nvSpPr>
        <p:spPr>
          <a:xfrm>
            <a:off x="6624828"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dot above.</a:t>
            </a:r>
            <a:endParaRPr lang="en-US" sz="1050" dirty="0"/>
          </a:p>
        </p:txBody>
      </p:sp>
      <p:sp>
        <p:nvSpPr>
          <p:cNvPr id="94" name="Shape 91"/>
          <p:cNvSpPr/>
          <p:nvPr/>
        </p:nvSpPr>
        <p:spPr>
          <a:xfrm>
            <a:off x="6313932" y="6144768"/>
            <a:ext cx="2420874" cy="0"/>
          </a:xfrm>
          <a:prstGeom prst="line">
            <a:avLst/>
          </a:prstGeom>
          <a:noFill/>
          <a:ln w="9525">
            <a:solidFill>
              <a:srgbClr val="C9BFA8"/>
            </a:solidFill>
            <a:prstDash val="dash"/>
          </a:ln>
        </p:spPr>
      </p:sp>
      <p:sp>
        <p:nvSpPr>
          <p:cNvPr id="95" name="Text 92"/>
          <p:cNvSpPr txBox="1"/>
          <p:nvPr/>
        </p:nvSpPr>
        <p:spPr>
          <a:xfrm>
            <a:off x="8129588"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ف</a:t>
            </a:r>
            <a:endParaRPr lang="ar-SA" sz="2600" dirty="0"/>
          </a:p>
        </p:txBody>
      </p:sp>
      <p:sp>
        <p:nvSpPr>
          <p:cNvPr id="96" name="Text 93"/>
          <p:cNvSpPr txBox="1"/>
          <p:nvPr/>
        </p:nvSpPr>
        <p:spPr>
          <a:xfrm>
            <a:off x="7524369"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ف</a:t>
            </a:r>
            <a:endParaRPr lang="ar-SA" sz="2600" dirty="0"/>
          </a:p>
        </p:txBody>
      </p:sp>
      <p:sp>
        <p:nvSpPr>
          <p:cNvPr id="97" name="Text 94"/>
          <p:cNvSpPr txBox="1"/>
          <p:nvPr/>
        </p:nvSpPr>
        <p:spPr>
          <a:xfrm>
            <a:off x="6919151"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98" name="Text 95"/>
          <p:cNvSpPr txBox="1"/>
          <p:nvPr/>
        </p:nvSpPr>
        <p:spPr>
          <a:xfrm>
            <a:off x="6313932"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99" name="Shape 96"/>
          <p:cNvSpPr/>
          <p:nvPr/>
        </p:nvSpPr>
        <p:spPr>
          <a:xfrm>
            <a:off x="3316986"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Text 97"/>
          <p:cNvSpPr txBox="1"/>
          <p:nvPr/>
        </p:nvSpPr>
        <p:spPr>
          <a:xfrm>
            <a:off x="4950470"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ق</a:t>
            </a:r>
            <a:endParaRPr lang="ar-SA" sz="5050" dirty="0"/>
          </a:p>
        </p:txBody>
      </p:sp>
      <p:sp>
        <p:nvSpPr>
          <p:cNvPr id="101" name="Text 98"/>
          <p:cNvSpPr txBox="1"/>
          <p:nvPr/>
        </p:nvSpPr>
        <p:spPr>
          <a:xfrm>
            <a:off x="4950470"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قَاف</a:t>
            </a:r>
            <a:endParaRPr lang="ar-SA" sz="1450" dirty="0"/>
          </a:p>
        </p:txBody>
      </p:sp>
      <p:sp>
        <p:nvSpPr>
          <p:cNvPr id="102" name="Shape 99"/>
          <p:cNvSpPr/>
          <p:nvPr/>
        </p:nvSpPr>
        <p:spPr>
          <a:xfrm>
            <a:off x="3454146" y="4288536"/>
            <a:ext cx="237744" cy="237744"/>
          </a:xfrm>
          <a:prstGeom prst="ellipse">
            <a:avLst/>
          </a:prstGeom>
          <a:solidFill>
            <a:srgbClr val="6B4C9A"/>
          </a:solidFill>
          <a:ln w="12700">
            <a:solidFill>
              <a:srgbClr val="6B4C9A"/>
            </a:solidFill>
            <a:prstDash val="solid"/>
          </a:ln>
        </p:spPr>
      </p:sp>
      <p:sp>
        <p:nvSpPr>
          <p:cNvPr id="103" name="Text 100"/>
          <p:cNvSpPr txBox="1"/>
          <p:nvPr/>
        </p:nvSpPr>
        <p:spPr>
          <a:xfrm>
            <a:off x="3454146"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104" name="Text 101"/>
          <p:cNvSpPr txBox="1"/>
          <p:nvPr/>
        </p:nvSpPr>
        <p:spPr>
          <a:xfrm>
            <a:off x="3765042"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Loop, then a deep round bowl.</a:t>
            </a:r>
            <a:endParaRPr lang="en-US" sz="1050" dirty="0"/>
          </a:p>
        </p:txBody>
      </p:sp>
      <p:sp>
        <p:nvSpPr>
          <p:cNvPr id="105" name="Shape 102"/>
          <p:cNvSpPr/>
          <p:nvPr/>
        </p:nvSpPr>
        <p:spPr>
          <a:xfrm>
            <a:off x="3454146" y="4709160"/>
            <a:ext cx="237744" cy="237744"/>
          </a:xfrm>
          <a:prstGeom prst="ellipse">
            <a:avLst/>
          </a:prstGeom>
          <a:solidFill>
            <a:srgbClr val="6B4C9A"/>
          </a:solidFill>
          <a:ln w="12700">
            <a:solidFill>
              <a:srgbClr val="6B4C9A"/>
            </a:solidFill>
            <a:prstDash val="solid"/>
          </a:ln>
        </p:spPr>
      </p:sp>
      <p:sp>
        <p:nvSpPr>
          <p:cNvPr id="106" name="Text 103"/>
          <p:cNvSpPr txBox="1"/>
          <p:nvPr/>
        </p:nvSpPr>
        <p:spPr>
          <a:xfrm>
            <a:off x="3454146"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107" name="Text 104"/>
          <p:cNvSpPr txBox="1"/>
          <p:nvPr/>
        </p:nvSpPr>
        <p:spPr>
          <a:xfrm>
            <a:off x="3765042"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dots above.</a:t>
            </a:r>
            <a:endParaRPr lang="en-US" sz="1050" dirty="0"/>
          </a:p>
        </p:txBody>
      </p:sp>
      <p:sp>
        <p:nvSpPr>
          <p:cNvPr id="108" name="Shape 105"/>
          <p:cNvSpPr/>
          <p:nvPr/>
        </p:nvSpPr>
        <p:spPr>
          <a:xfrm>
            <a:off x="3454146" y="6144768"/>
            <a:ext cx="2420874" cy="0"/>
          </a:xfrm>
          <a:prstGeom prst="line">
            <a:avLst/>
          </a:prstGeom>
          <a:noFill/>
          <a:ln w="9525">
            <a:solidFill>
              <a:srgbClr val="C9BFA8"/>
            </a:solidFill>
            <a:prstDash val="dash"/>
          </a:ln>
        </p:spPr>
      </p:sp>
      <p:sp>
        <p:nvSpPr>
          <p:cNvPr id="109" name="Text 106"/>
          <p:cNvSpPr txBox="1"/>
          <p:nvPr/>
        </p:nvSpPr>
        <p:spPr>
          <a:xfrm>
            <a:off x="5269802"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ق</a:t>
            </a:r>
            <a:endParaRPr lang="ar-SA" sz="2600" dirty="0"/>
          </a:p>
        </p:txBody>
      </p:sp>
      <p:sp>
        <p:nvSpPr>
          <p:cNvPr id="110" name="Text 107"/>
          <p:cNvSpPr txBox="1"/>
          <p:nvPr/>
        </p:nvSpPr>
        <p:spPr>
          <a:xfrm>
            <a:off x="4664583"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ق</a:t>
            </a:r>
            <a:endParaRPr lang="ar-SA" sz="2600" dirty="0"/>
          </a:p>
        </p:txBody>
      </p:sp>
      <p:sp>
        <p:nvSpPr>
          <p:cNvPr id="111" name="Text 108"/>
          <p:cNvSpPr txBox="1"/>
          <p:nvPr/>
        </p:nvSpPr>
        <p:spPr>
          <a:xfrm>
            <a:off x="4059365"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12" name="Text 109"/>
          <p:cNvSpPr txBox="1"/>
          <p:nvPr/>
        </p:nvSpPr>
        <p:spPr>
          <a:xfrm>
            <a:off x="3454146"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13" name="Shape 110"/>
          <p:cNvSpPr/>
          <p:nvPr/>
        </p:nvSpPr>
        <p:spPr>
          <a:xfrm>
            <a:off x="457200"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14" name="Text 111"/>
          <p:cNvSpPr txBox="1"/>
          <p:nvPr/>
        </p:nvSpPr>
        <p:spPr>
          <a:xfrm>
            <a:off x="2090684"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ك</a:t>
            </a:r>
            <a:endParaRPr lang="ar-SA" sz="5050" dirty="0"/>
          </a:p>
        </p:txBody>
      </p:sp>
      <p:sp>
        <p:nvSpPr>
          <p:cNvPr id="115" name="Text 112"/>
          <p:cNvSpPr txBox="1"/>
          <p:nvPr/>
        </p:nvSpPr>
        <p:spPr>
          <a:xfrm>
            <a:off x="2090684"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كَاف</a:t>
            </a:r>
            <a:endParaRPr lang="ar-SA" sz="1450" dirty="0"/>
          </a:p>
        </p:txBody>
      </p:sp>
      <p:sp>
        <p:nvSpPr>
          <p:cNvPr id="116" name="Shape 113"/>
          <p:cNvSpPr/>
          <p:nvPr/>
        </p:nvSpPr>
        <p:spPr>
          <a:xfrm>
            <a:off x="594360" y="4288536"/>
            <a:ext cx="237744" cy="237744"/>
          </a:xfrm>
          <a:prstGeom prst="ellipse">
            <a:avLst/>
          </a:prstGeom>
          <a:solidFill>
            <a:srgbClr val="6B4C9A"/>
          </a:solidFill>
          <a:ln w="12700">
            <a:solidFill>
              <a:srgbClr val="6B4C9A"/>
            </a:solidFill>
            <a:prstDash val="solid"/>
          </a:ln>
        </p:spPr>
      </p:sp>
      <p:sp>
        <p:nvSpPr>
          <p:cNvPr id="117" name="Text 114"/>
          <p:cNvSpPr txBox="1"/>
          <p:nvPr/>
        </p:nvSpPr>
        <p:spPr>
          <a:xfrm>
            <a:off x="594360"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118" name="Text 115"/>
          <p:cNvSpPr txBox="1"/>
          <p:nvPr/>
        </p:nvSpPr>
        <p:spPr>
          <a:xfrm>
            <a:off x="905256"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Tall stroke, then the base.</a:t>
            </a:r>
            <a:endParaRPr lang="en-US" sz="1050" dirty="0"/>
          </a:p>
        </p:txBody>
      </p:sp>
      <p:sp>
        <p:nvSpPr>
          <p:cNvPr id="119" name="Shape 116"/>
          <p:cNvSpPr/>
          <p:nvPr/>
        </p:nvSpPr>
        <p:spPr>
          <a:xfrm>
            <a:off x="594360" y="4709160"/>
            <a:ext cx="237744" cy="237744"/>
          </a:xfrm>
          <a:prstGeom prst="ellipse">
            <a:avLst/>
          </a:prstGeom>
          <a:solidFill>
            <a:srgbClr val="6B4C9A"/>
          </a:solidFill>
          <a:ln w="12700">
            <a:solidFill>
              <a:srgbClr val="6B4C9A"/>
            </a:solidFill>
            <a:prstDash val="solid"/>
          </a:ln>
        </p:spPr>
      </p:sp>
      <p:sp>
        <p:nvSpPr>
          <p:cNvPr id="120" name="Text 117"/>
          <p:cNvSpPr txBox="1"/>
          <p:nvPr/>
        </p:nvSpPr>
        <p:spPr>
          <a:xfrm>
            <a:off x="594360"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121" name="Text 118"/>
          <p:cNvSpPr txBox="1"/>
          <p:nvPr/>
        </p:nvSpPr>
        <p:spPr>
          <a:xfrm>
            <a:off x="905256"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small kāf mark inside.</a:t>
            </a:r>
            <a:endParaRPr lang="en-US" sz="1050" dirty="0"/>
          </a:p>
        </p:txBody>
      </p:sp>
      <p:sp>
        <p:nvSpPr>
          <p:cNvPr id="122" name="Shape 119"/>
          <p:cNvSpPr/>
          <p:nvPr/>
        </p:nvSpPr>
        <p:spPr>
          <a:xfrm>
            <a:off x="594360" y="6144768"/>
            <a:ext cx="2420874" cy="0"/>
          </a:xfrm>
          <a:prstGeom prst="line">
            <a:avLst/>
          </a:prstGeom>
          <a:noFill/>
          <a:ln w="9525">
            <a:solidFill>
              <a:srgbClr val="C9BFA8"/>
            </a:solidFill>
            <a:prstDash val="dash"/>
          </a:ln>
        </p:spPr>
      </p:sp>
      <p:sp>
        <p:nvSpPr>
          <p:cNvPr id="123" name="Text 120"/>
          <p:cNvSpPr txBox="1"/>
          <p:nvPr/>
        </p:nvSpPr>
        <p:spPr>
          <a:xfrm>
            <a:off x="2410016"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ك</a:t>
            </a:r>
            <a:endParaRPr lang="ar-SA" sz="2600" dirty="0"/>
          </a:p>
        </p:txBody>
      </p:sp>
      <p:sp>
        <p:nvSpPr>
          <p:cNvPr id="124" name="Text 121"/>
          <p:cNvSpPr txBox="1"/>
          <p:nvPr/>
        </p:nvSpPr>
        <p:spPr>
          <a:xfrm>
            <a:off x="1804797"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ك</a:t>
            </a:r>
            <a:endParaRPr lang="ar-SA" sz="2600" dirty="0"/>
          </a:p>
        </p:txBody>
      </p:sp>
      <p:sp>
        <p:nvSpPr>
          <p:cNvPr id="125" name="Text 122"/>
          <p:cNvSpPr txBox="1"/>
          <p:nvPr/>
        </p:nvSpPr>
        <p:spPr>
          <a:xfrm>
            <a:off x="1199579"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26" name="Text 123"/>
          <p:cNvSpPr txBox="1"/>
          <p:nvPr/>
        </p:nvSpPr>
        <p:spPr>
          <a:xfrm>
            <a:off x="594360"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27" name="Text 1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LISTENING · PLAIN OR EMPHATIC?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Plain (P) or emphatic (E)?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مُرَقَّقٌ أَمْ مُفَخَّمٌ؟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Pair 1: which order did you hear?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Emphatic first, then plain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Plain first, then emphatic</a:t>
            </a:r>
            <a:endParaRPr lang="en-US" sz="12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Pair 2: which order did you hear?</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Emphatic first, then plain</a:t>
            </a:r>
            <a:endParaRPr lang="en-US" sz="12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Plain first, then emphatic</a:t>
            </a:r>
            <a:endParaRPr lang="en-US" sz="1250" dirty="0"/>
          </a:p>
        </p:txBody>
      </p:sp>
      <p:sp>
        <p:nvSpPr>
          <p:cNvPr id="35" name="Shape 3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23504"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38" name="Text 3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Pair 3: which order did you hear?</a:t>
            </a:r>
            <a:endParaRPr lang="en-US" sz="1250" dirty="0"/>
          </a:p>
        </p:txBody>
      </p:sp>
      <p:sp>
        <p:nvSpPr>
          <p:cNvPr id="39" name="Shape 36"/>
          <p:cNvSpPr/>
          <p:nvPr/>
        </p:nvSpPr>
        <p:spPr>
          <a:xfrm>
            <a:off x="8278368"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1" name="Text 3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Emphatic first, then plain</a:t>
            </a:r>
            <a:endParaRPr lang="en-US" sz="1250" dirty="0"/>
          </a:p>
        </p:txBody>
      </p:sp>
      <p:sp>
        <p:nvSpPr>
          <p:cNvPr id="42" name="Shape 39"/>
          <p:cNvSpPr/>
          <p:nvPr/>
        </p:nvSpPr>
        <p:spPr>
          <a:xfrm>
            <a:off x="8278368"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4" name="Text 41"/>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Plain first, then emphatic</a:t>
            </a:r>
            <a:endParaRPr lang="en-US" sz="1250" dirty="0"/>
          </a:p>
        </p:txBody>
      </p:sp>
      <p:sp>
        <p:nvSpPr>
          <p:cNvPr id="45" name="Shape 4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48" name="Text 4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emphatic?</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a:t>
            </a:r>
            <a:endParaRPr lang="ar-SA" sz="2050" dirty="0"/>
          </a:p>
        </p:txBody>
      </p:sp>
      <p:sp>
        <p:nvSpPr>
          <p:cNvPr id="58" name="Shape 55"/>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9" name="Text 56"/>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LISTEN TWICE</a:t>
            </a:r>
            <a:endParaRPr lang="en-US" sz="1000" dirty="0"/>
          </a:p>
        </p:txBody>
      </p:sp>
      <p:sp>
        <p:nvSpPr>
          <p:cNvPr id="60" name="Text 57"/>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Write P or E for each sound in your book.</a:t>
            </a:r>
            <a:endParaRPr lang="en-US" sz="1250" dirty="0"/>
          </a:p>
          <a:p>
            <a:pPr algn="l" indent="0" marL="0">
              <a:buNone/>
            </a:pPr>
            <a:r>
              <a:rPr lang="en-US" sz="1250" dirty="0">
                <a:solidFill>
                  <a:srgbClr val="1F2A37"/>
                </a:solidFill>
                <a:latin typeface="Calibri" pitchFamily="34" charset="0"/>
                <a:cs typeface="Amiri" pitchFamily="2" charset="-78"/>
              </a:rPr>
              <a:t>Heavy, darker sound = E.</a:t>
            </a:r>
            <a:endParaRPr lang="en-US" sz="12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PLAIN OR EMPHATIC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Pair 1: which order did you hear?</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Emphatic first, then plain</a:t>
            </a:r>
            <a:endParaRPr lang="en-US" sz="1250" dirty="0"/>
          </a:p>
        </p:txBody>
      </p:sp>
      <p:sp>
        <p:nvSpPr>
          <p:cNvPr id="22" name="Shape 19"/>
          <p:cNvSpPr/>
          <p:nvPr/>
        </p:nvSpPr>
        <p:spPr>
          <a:xfrm>
            <a:off x="548640" y="2953512"/>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Plain first, then emphatic</a:t>
            </a:r>
            <a:endParaRPr lang="en-US" sz="12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Script: </a:t>
            </a:r>
            <a:pPr algn="l" indent="0" marL="0">
              <a:buNone/>
            </a:pPr>
            <a:r>
              <a:rPr lang="ar-SA" altLang="en-US" sz="1350" dirty="0">
                <a:solidFill>
                  <a:srgbClr val="8A6D1E"/>
                </a:solidFill>
                <a:latin typeface="Amiri" pitchFamily="2" charset="-78"/>
                <a:ea typeface="Amiri" pitchFamily="2" charset="-78"/>
                <a:cs typeface="Amiri" pitchFamily="2" charset="-78"/>
              </a:rPr>
              <a:t>دَ، ضَ</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Pair 2: which order did you hear?</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Emphatic first, then plain</a:t>
            </a:r>
            <a:endParaRPr lang="en-US" sz="12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Plain first, then emphatic</a:t>
            </a:r>
            <a:endParaRPr lang="en-US" sz="1250" dirty="0"/>
          </a:p>
        </p:txBody>
      </p:sp>
      <p:sp>
        <p:nvSpPr>
          <p:cNvPr id="38" name="Text 3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Script: </a:t>
            </a:r>
            <a:pPr algn="l" indent="0" marL="0">
              <a:buNone/>
            </a:pPr>
            <a:r>
              <a:rPr lang="ar-SA" altLang="en-US" sz="1350" dirty="0">
                <a:solidFill>
                  <a:srgbClr val="8A6D1E"/>
                </a:solidFill>
                <a:latin typeface="Amiri" pitchFamily="2" charset="-78"/>
                <a:ea typeface="Amiri" pitchFamily="2" charset="-78"/>
                <a:cs typeface="Amiri" pitchFamily="2" charset="-78"/>
              </a:rPr>
              <a:t>تَ، طَ</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9" name="Shape 3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23504"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2" name="Text 3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Pair 3: which order did you hear?</a:t>
            </a:r>
            <a:endParaRPr lang="en-US" sz="1250" dirty="0"/>
          </a:p>
        </p:txBody>
      </p:sp>
      <p:sp>
        <p:nvSpPr>
          <p:cNvPr id="43" name="Shape 40"/>
          <p:cNvSpPr/>
          <p:nvPr/>
        </p:nvSpPr>
        <p:spPr>
          <a:xfrm>
            <a:off x="8278368" y="25328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5" name="Text 42"/>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Emphatic first, then plain</a:t>
            </a:r>
            <a:endParaRPr lang="en-US" sz="1250" dirty="0"/>
          </a:p>
        </p:txBody>
      </p:sp>
      <p:sp>
        <p:nvSpPr>
          <p:cNvPr id="46" name="Shape 43"/>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8278368" y="29900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9" name="Text 46"/>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Plain first, then emphatic</a:t>
            </a:r>
            <a:endParaRPr lang="en-US" sz="1250" dirty="0"/>
          </a:p>
        </p:txBody>
      </p:sp>
      <p:sp>
        <p:nvSpPr>
          <p:cNvPr id="50" name="Text 4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Script: </a:t>
            </a:r>
            <a:pPr algn="l" indent="0" marL="0">
              <a:buNone/>
            </a:pPr>
            <a:r>
              <a:rPr lang="ar-SA" altLang="en-US" sz="1350" dirty="0">
                <a:solidFill>
                  <a:srgbClr val="8A6D1E"/>
                </a:solidFill>
                <a:latin typeface="Amiri" pitchFamily="2" charset="-78"/>
                <a:ea typeface="Amiri" pitchFamily="2" charset="-78"/>
                <a:cs typeface="Amiri" pitchFamily="2" charset="-78"/>
              </a:rPr>
              <a:t>ذَ، ظَ</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emphatic?</a:t>
            </a:r>
            <a:endParaRPr lang="en-US" sz="1250" dirty="0"/>
          </a:p>
        </p:txBody>
      </p:sp>
      <p:sp>
        <p:nvSpPr>
          <p:cNvPr id="55" name="Shape 52"/>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4831080"/>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8" name="Text 5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a:t>
            </a:r>
            <a:endParaRPr lang="ar-SA" sz="1700" dirty="0"/>
          </a:p>
        </p:txBody>
      </p:sp>
      <p:sp>
        <p:nvSpPr>
          <p:cNvPr id="59" name="Shape 56"/>
          <p:cNvSpPr/>
          <p:nvPr/>
        </p:nvSpPr>
        <p:spPr>
          <a:xfrm>
            <a:off x="640080" y="5202936"/>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1" name="Text 5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a:t>
            </a:r>
            <a:endParaRPr lang="ar-SA" sz="1700" dirty="0"/>
          </a:p>
        </p:txBody>
      </p:sp>
      <p:sp>
        <p:nvSpPr>
          <p:cNvPr id="62" name="Shape 59"/>
          <p:cNvSpPr/>
          <p:nvPr/>
        </p:nvSpPr>
        <p:spPr>
          <a:xfrm>
            <a:off x="640080" y="5574792"/>
            <a:ext cx="256032" cy="256032"/>
          </a:xfrm>
          <a:prstGeom prst="ellipse">
            <a:avLst/>
          </a:prstGeom>
          <a:solidFill>
            <a:srgbClr val="C9CED6"/>
          </a:solidFill>
          <a:ln w="12700">
            <a:solidFill>
              <a:srgbClr val="C9CED6"/>
            </a:solidFill>
            <a:prstDash val="solid"/>
          </a:ln>
        </p:spPr>
      </p:sp>
      <p:sp>
        <p:nvSpPr>
          <p:cNvPr id="63" name="Text 6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4" name="Text 6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a:t>
            </a:r>
            <a:endParaRPr lang="ar-SA" sz="1700" dirty="0"/>
          </a:p>
        </p:txBody>
      </p:sp>
      <p:sp>
        <p:nvSpPr>
          <p:cNvPr id="65" name="Text 6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ط</a:t>
            </a:r>
            <a:pPr algn="l" indent="0" marL="0">
              <a:buNone/>
            </a:pPr>
            <a:r>
              <a:rPr lang="en-US" sz="1050" i="1" dirty="0">
                <a:solidFill>
                  <a:srgbClr val="8A6D1E"/>
                </a:solidFill>
                <a:latin typeface="Calibri" pitchFamily="34" charset="0"/>
                <a:cs typeface="Amiri" pitchFamily="2" charset="-78"/>
              </a:rPr>
              <a:t> is the emphatic partner of </a:t>
            </a:r>
            <a:pPr algn="l" indent="0" marL="0">
              <a:buNone/>
            </a:pPr>
            <a:r>
              <a:rPr lang="ar-SA" altLang="en-US" sz="1350" dirty="0">
                <a:solidFill>
                  <a:srgbClr val="8A6D1E"/>
                </a:solidFill>
                <a:latin typeface="Amiri" pitchFamily="2" charset="-78"/>
                <a:ea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6" name="Shape 63"/>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7" name="Text 64"/>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LISTEN TWICE</a:t>
            </a:r>
            <a:endParaRPr lang="en-US" sz="1000" dirty="0"/>
          </a:p>
        </p:txBody>
      </p:sp>
      <p:sp>
        <p:nvSpPr>
          <p:cNvPr id="68" name="Text 65"/>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Write P or E for each sound in your book.</a:t>
            </a:r>
            <a:endParaRPr lang="en-US" sz="1250" dirty="0"/>
          </a:p>
          <a:p>
            <a:pPr algn="l" indent="0" marL="0">
              <a:buNone/>
            </a:pPr>
            <a:r>
              <a:rPr lang="en-US" sz="1250" dirty="0">
                <a:solidFill>
                  <a:srgbClr val="1F2A37"/>
                </a:solidFill>
                <a:latin typeface="Calibri" pitchFamily="34" charset="0"/>
                <a:cs typeface="Amiri" pitchFamily="2" charset="-78"/>
              </a:rPr>
              <a:t>Heavy, darker sound = E.</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WEBSITE GAME “LETTER DETECTIVE” (SHAPE + DOTS + SOUND)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Letter detective: what is its name?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مُحَقِّقُ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ض</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ضَادٌ</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صَادٌ</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ظَاءٌ</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غ</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فَاءٌ</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ق</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قَافٌ</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فَاءٌ</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كَافٌ</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ط</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ظَاءٌ</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ضَادٌ</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طَاءٌ</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ف</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قَافٌ</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غَيْنٌ</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فَاءٌ</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Two clues:</a:t>
            </a:r>
            <a:endParaRPr lang="en-US" sz="1250" dirty="0"/>
          </a:p>
          <a:p>
            <a:pPr algn="l" indent="0" marL="0">
              <a:buNone/>
            </a:pPr>
            <a:r>
              <a:rPr lang="en-US" sz="1250" dirty="0">
                <a:solidFill>
                  <a:srgbClr val="1E6B52"/>
                </a:solidFill>
                <a:latin typeface="Calibri" pitchFamily="34" charset="0"/>
                <a:cs typeface="Amiri" pitchFamily="2" charset="-78"/>
              </a:rPr>
              <a:t>1. the shape (loop? tall stroke? bowl?)</a:t>
            </a:r>
            <a:endParaRPr lang="en-US" sz="1250" dirty="0"/>
          </a:p>
          <a:p>
            <a:pPr algn="l" indent="0" marL="0">
              <a:buNone/>
            </a:pPr>
            <a:r>
              <a:rPr lang="en-US" sz="1250" dirty="0">
                <a:solidFill>
                  <a:srgbClr val="1E6B52"/>
                </a:solidFill>
                <a:latin typeface="Calibri" pitchFamily="34" charset="0"/>
                <a:cs typeface="Amiri" pitchFamily="2" charset="-78"/>
              </a:rPr>
              <a:t>2. the dots (how many? where?)</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LETTER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Letter detective: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ض</a:t>
            </a:r>
            <a:endParaRPr lang="ar-SA" sz="220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ضَادٌ</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صَادٌ</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ظَاءٌ</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Loop + bowl + one dot.</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غ</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عَيْنٌ</a:t>
            </a:r>
            <a:endParaRPr lang="ar-SA" sz="170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غَيْنٌ</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فَاءٌ</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ʿayn body + one dot.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ق</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قَافٌ</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فَاءٌ</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كَافٌ</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Deep bowl + two dots.</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ط</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ظَاءٌ</a:t>
            </a:r>
            <a:endParaRPr lang="ar-SA" sz="1700" dirty="0"/>
          </a:p>
        </p:txBody>
      </p:sp>
      <p:sp>
        <p:nvSpPr>
          <p:cNvPr id="71"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ضَادٌ</a:t>
            </a:r>
            <a:endParaRPr lang="ar-SA" sz="1700" dirty="0"/>
          </a:p>
        </p:txBody>
      </p:sp>
      <p:sp>
        <p:nvSpPr>
          <p:cNvPr id="74"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طَاءٌ</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Loop + tall stroke, no dot.</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ف</a:t>
            </a:r>
            <a:endParaRPr lang="ar-SA" sz="2200" dirty="0"/>
          </a:p>
        </p:txBody>
      </p:sp>
      <p:sp>
        <p:nvSpPr>
          <p:cNvPr id="84" name="Shape 81"/>
          <p:cNvSpPr/>
          <p:nvPr/>
        </p:nvSpPr>
        <p:spPr>
          <a:xfrm>
            <a:off x="4459224" y="4831080"/>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قَافٌ</a:t>
            </a:r>
            <a:endParaRPr lang="ar-SA" sz="1700" dirty="0"/>
          </a:p>
        </p:txBody>
      </p:sp>
      <p:sp>
        <p:nvSpPr>
          <p:cNvPr id="87"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غَيْنٌ</a:t>
            </a:r>
            <a:endParaRPr lang="ar-SA" sz="1700" dirty="0"/>
          </a:p>
        </p:txBody>
      </p:sp>
      <p:sp>
        <p:nvSpPr>
          <p:cNvPr id="90" name="Shape 87"/>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91" name="Shape 88"/>
          <p:cNvSpPr/>
          <p:nvPr/>
        </p:nvSpPr>
        <p:spPr>
          <a:xfrm>
            <a:off x="4459224" y="5574792"/>
            <a:ext cx="256032" cy="256032"/>
          </a:xfrm>
          <a:prstGeom prst="ellipse">
            <a:avLst/>
          </a:prstGeom>
          <a:solidFill>
            <a:srgbClr val="2E8B57"/>
          </a:solidFill>
          <a:ln w="12700">
            <a:solidFill>
              <a:srgbClr val="2E8B57"/>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فَاءٌ</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Flat tail + one dot.</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Two clues:</a:t>
            </a:r>
            <a:endParaRPr lang="en-US" sz="1250" dirty="0"/>
          </a:p>
          <a:p>
            <a:pPr algn="l" indent="0" marL="0">
              <a:buNone/>
            </a:pPr>
            <a:r>
              <a:rPr lang="en-US" sz="1250" dirty="0">
                <a:solidFill>
                  <a:srgbClr val="1E6B52"/>
                </a:solidFill>
                <a:latin typeface="Calibri" pitchFamily="34" charset="0"/>
                <a:cs typeface="Amiri" pitchFamily="2" charset="-78"/>
              </a:rPr>
              <a:t>1. the shape (loop? tall stroke? bowl?)</a:t>
            </a:r>
            <a:endParaRPr lang="en-US" sz="1250" dirty="0"/>
          </a:p>
          <a:p>
            <a:pPr algn="l" indent="0" marL="0">
              <a:buNone/>
            </a:pPr>
            <a:r>
              <a:rPr lang="en-US" sz="1250" dirty="0">
                <a:solidFill>
                  <a:srgbClr val="1E6B52"/>
                </a:solidFill>
                <a:latin typeface="Calibri" pitchFamily="34" charset="0"/>
                <a:cs typeface="Amiri" pitchFamily="2" charset="-78"/>
              </a:rPr>
              <a:t>2. the dots (how many? where?)</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FOR THIS LESSON · SHORT OR LONG?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beat or two?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حَرَكَةٌ قَصِيرَةٌ أَمْ طَوِيلَةٌ؟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long /ā/?</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long /ū/?</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بُو</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long /ī/?</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بُو</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SHORT (one beat)?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بُو</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makes /ū/ long?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Look for the long-vowel letter after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a:t>
            </a:r>
            <a:pPr algn="l" indent="0" marL="0">
              <a:lnSpc>
                <a:spcPct val="115000"/>
              </a:lnSpc>
              <a:buNone/>
            </a:pPr>
            <a:r>
              <a:rPr lang="en-US" sz="1250" dirty="0">
                <a:solidFill>
                  <a:srgbClr val="1E6B52"/>
                </a:solidFill>
                <a:latin typeface="Calibri" pitchFamily="34" charset="0"/>
                <a:cs typeface="Amiri" pitchFamily="2" charset="-78"/>
              </a:rPr>
              <a:t> → ā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و</a:t>
            </a:r>
            <a:pPr algn="l" indent="0" marL="0">
              <a:lnSpc>
                <a:spcPct val="115000"/>
              </a:lnSpc>
              <a:buNone/>
            </a:pPr>
            <a:r>
              <a:rPr lang="en-US" sz="1250" dirty="0">
                <a:solidFill>
                  <a:srgbClr val="1E6B52"/>
                </a:solidFill>
                <a:latin typeface="Calibri" pitchFamily="34" charset="0"/>
                <a:cs typeface="Amiri" pitchFamily="2" charset="-78"/>
              </a:rPr>
              <a:t> → ū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a:t>
            </a:r>
            <a:pPr algn="l" indent="0" marL="0">
              <a:lnSpc>
                <a:spcPct val="115000"/>
              </a:lnSpc>
              <a:buNone/>
            </a:pPr>
            <a:r>
              <a:rPr lang="en-US" sz="1250" dirty="0">
                <a:solidFill>
                  <a:srgbClr val="1E6B52"/>
                </a:solidFill>
                <a:latin typeface="Calibri" pitchFamily="34" charset="0"/>
                <a:cs typeface="Amiri" pitchFamily="2" charset="-78"/>
              </a:rPr>
              <a:t> → ī</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No letter after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a:t>
            </a:r>
            <a:pPr algn="l" indent="0" marL="0">
              <a:lnSpc>
                <a:spcPct val="115000"/>
              </a:lnSpc>
              <a:buNone/>
            </a:pPr>
            <a:r>
              <a:rPr lang="en-US" sz="1250" dirty="0">
                <a:solidFill>
                  <a:srgbClr val="1E6B52"/>
                </a:solidFill>
                <a:latin typeface="Calibri" pitchFamily="34" charset="0"/>
                <a:cs typeface="Amiri" pitchFamily="2" charset="-78"/>
              </a:rPr>
              <a:t> → short.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ONE BEAT OR TWO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long /ā/?</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Alif extends the a sound.</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long /ū/?</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بُو</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Wāw extends the u sound.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long /ī/?</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بُو</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Yāʾ extends the i sound.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SHORT (one beat)?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بُو</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Ḍamma gives a short u sound.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makes /ū/ long?</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wāw lengthens the /u/ (website final check 7).</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Look for the long-vowel letter after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a:t>
            </a:r>
            <a:pPr algn="l" indent="0" marL="0">
              <a:lnSpc>
                <a:spcPct val="115000"/>
              </a:lnSpc>
              <a:buNone/>
            </a:pPr>
            <a:r>
              <a:rPr lang="en-US" sz="1250" dirty="0">
                <a:solidFill>
                  <a:srgbClr val="1E6B52"/>
                </a:solidFill>
                <a:latin typeface="Calibri" pitchFamily="34" charset="0"/>
                <a:cs typeface="Amiri" pitchFamily="2" charset="-78"/>
              </a:rPr>
              <a:t> → ā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و</a:t>
            </a:r>
            <a:pPr algn="l" indent="0" marL="0">
              <a:lnSpc>
                <a:spcPct val="115000"/>
              </a:lnSpc>
              <a:buNone/>
            </a:pPr>
            <a:r>
              <a:rPr lang="en-US" sz="1250" dirty="0">
                <a:solidFill>
                  <a:srgbClr val="1E6B52"/>
                </a:solidFill>
                <a:latin typeface="Calibri" pitchFamily="34" charset="0"/>
                <a:cs typeface="Amiri" pitchFamily="2" charset="-78"/>
              </a:rPr>
              <a:t> → ū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a:t>
            </a:r>
            <a:pPr algn="l" indent="0" marL="0">
              <a:lnSpc>
                <a:spcPct val="115000"/>
              </a:lnSpc>
              <a:buNone/>
            </a:pPr>
            <a:r>
              <a:rPr lang="en-US" sz="1250" dirty="0">
                <a:solidFill>
                  <a:srgbClr val="1E6B52"/>
                </a:solidFill>
                <a:latin typeface="Calibri" pitchFamily="34" charset="0"/>
                <a:cs typeface="Amiri" pitchFamily="2" charset="-78"/>
              </a:rPr>
              <a:t> → ī</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No letter after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a:t>
            </a:r>
            <a:pPr algn="l" indent="0" marL="0">
              <a:lnSpc>
                <a:spcPct val="115000"/>
              </a:lnSpc>
              <a:buNone/>
            </a:pPr>
            <a:r>
              <a:rPr lang="en-US" sz="1250" dirty="0">
                <a:solidFill>
                  <a:srgbClr val="1E6B52"/>
                </a:solidFill>
                <a:latin typeface="Calibri" pitchFamily="34" charset="0"/>
                <a:cs typeface="Amiri" pitchFamily="2" charset="-78"/>
              </a:rPr>
              <a:t> → short.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“SOUND LABORATORY”</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today’s letters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مُخْتَبَرُ الأَصْوَاتِ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ض</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ظ</a:t>
            </a:r>
            <a:endParaRPr lang="ar-SA" sz="1800" dirty="0"/>
          </a:p>
        </p:txBody>
      </p:sp>
      <p:sp>
        <p:nvSpPr>
          <p:cNvPr id="33" name="Shape 30"/>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4" name="Shape 31"/>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Emphatic</a:t>
            </a:r>
            <a:endParaRPr lang="en-US" sz="950" dirty="0"/>
          </a:p>
        </p:txBody>
      </p:sp>
      <p:sp>
        <p:nvSpPr>
          <p:cNvPr id="36" name="Shape 33"/>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7" name="Shape 34"/>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ʿayn family</a:t>
            </a:r>
            <a:endParaRPr lang="en-US" sz="950" dirty="0"/>
          </a:p>
        </p:txBody>
      </p:sp>
      <p:sp>
        <p:nvSpPr>
          <p:cNvPr id="39" name="Shape 36"/>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40" name="Shape 37"/>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fāʾ · qāf · kāf</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SOUND LABORATORY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Emphatic</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ض</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ظ</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ʿayn family</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fāʾ · qāf · kāf</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000" b="1" dirty="0">
                <a:solidFill>
                  <a:srgbClr val="2E8B57"/>
                </a:solidFill>
                <a:latin typeface="Cambria" pitchFamily="34" charset="0"/>
                <a:cs typeface="Amiri" pitchFamily="2" charset="-78"/>
              </a:rPr>
              <a:t>8 letters + 3 patterns</a:t>
            </a:r>
            <a:endParaRPr lang="en-US" sz="20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the eight new letters 3 times each. Then copy </a:t>
            </a:r>
            <a:pPr algn="l" indent="0" marL="0">
              <a:buNone/>
            </a:pPr>
            <a:r>
              <a:rPr lang="ar-SA" altLang="en-US" sz="1800" b="1" dirty="0">
                <a:solidFill>
                  <a:srgbClr val="1F2A37"/>
                </a:solidFill>
                <a:latin typeface="Amiri" pitchFamily="2" charset="-78"/>
                <a:ea typeface="Amiri" pitchFamily="2" charset="-78"/>
                <a:cs typeface="Amiri" pitchFamily="2" charset="-78"/>
              </a:rPr>
              <a:t>بَا</a:t>
            </a:r>
            <a:pPr algn="l" indent="0" marL="0">
              <a:buNone/>
            </a:pPr>
            <a:r>
              <a:rPr lang="en-US" sz="1400" b="1" dirty="0">
                <a:solidFill>
                  <a:srgbClr val="1F2A37"/>
                </a:solidFill>
                <a:latin typeface="Calibri" pitchFamily="34" charset="0"/>
                <a:cs typeface="Amiri" pitchFamily="2" charset="-78"/>
              </a:rPr>
              <a:t> · </a:t>
            </a:r>
            <a:pPr algn="l" indent="0" marL="0">
              <a:buNone/>
            </a:pPr>
            <a:r>
              <a:rPr lang="ar-SA" altLang="en-US" sz="1800" b="1" dirty="0">
                <a:solidFill>
                  <a:srgbClr val="1F2A37"/>
                </a:solidFill>
                <a:latin typeface="Amiri" pitchFamily="2" charset="-78"/>
                <a:ea typeface="Amiri" pitchFamily="2" charset="-78"/>
                <a:cs typeface="Amiri" pitchFamily="2" charset="-78"/>
              </a:rPr>
              <a:t>بُو</a:t>
            </a:r>
            <a:pPr algn="l" indent="0" marL="0">
              <a:buNone/>
            </a:pPr>
            <a:r>
              <a:rPr lang="en-US" sz="1400" b="1" dirty="0">
                <a:solidFill>
                  <a:srgbClr val="1F2A37"/>
                </a:solidFill>
                <a:latin typeface="Calibri" pitchFamily="34" charset="0"/>
                <a:cs typeface="Amiri" pitchFamily="2" charset="-78"/>
              </a:rPr>
              <a:t> · </a:t>
            </a:r>
            <a:pPr algn="l" indent="0" marL="0">
              <a:buNone/>
            </a:pPr>
            <a:r>
              <a:rPr lang="ar-SA" altLang="en-US" sz="1800" b="1" dirty="0">
                <a:solidFill>
                  <a:srgbClr val="1F2A37"/>
                </a:solidFill>
                <a:latin typeface="Amiri" pitchFamily="2" charset="-78"/>
                <a:ea typeface="Amiri" pitchFamily="2" charset="-78"/>
                <a:cs typeface="Amiri" pitchFamily="2" charset="-78"/>
              </a:rPr>
              <a:t>بِي</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Trace first; say each name as you write.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letters + 2 rows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the eight letters, then build long-vowel rows with two letters you know — for example with tāʾ and sīn.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Read each row aloud to a partner.</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find the carriers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the 8 letters from memory. Copy </a:t>
            </a:r>
            <a:pPr algn="l" indent="0" marL="0">
              <a:buNone/>
            </a:pPr>
            <a:r>
              <a:rPr lang="ar-SA" altLang="en-US" sz="1800" b="1" dirty="0">
                <a:solidFill>
                  <a:srgbClr val="1F2A37"/>
                </a:solidFill>
                <a:latin typeface="Amiri" pitchFamily="2" charset="-78"/>
                <a:ea typeface="Amiri" pitchFamily="2" charset="-78"/>
                <a:cs typeface="Amiri" pitchFamily="2" charset="-78"/>
              </a:rPr>
              <a:t>بَابٌ</a:t>
            </a:r>
            <a:pPr algn="l" indent="0" marL="0">
              <a:buNone/>
            </a:pPr>
            <a:r>
              <a:rPr lang="en-US" sz="1400" b="1" dirty="0">
                <a:solidFill>
                  <a:srgbClr val="1F2A37"/>
                </a:solidFill>
                <a:latin typeface="Calibri" pitchFamily="34" charset="0"/>
                <a:cs typeface="Amiri" pitchFamily="2" charset="-78"/>
              </a:rPr>
              <a:t> · </a:t>
            </a:r>
            <a:pPr algn="l" indent="0" marL="0">
              <a:buNone/>
            </a:pPr>
            <a:r>
              <a:rPr lang="ar-SA" altLang="en-US" sz="1800" b="1" dirty="0">
                <a:solidFill>
                  <a:srgbClr val="1F2A37"/>
                </a:solidFill>
                <a:latin typeface="Amiri" pitchFamily="2" charset="-78"/>
                <a:ea typeface="Amiri" pitchFamily="2" charset="-78"/>
                <a:cs typeface="Amiri" pitchFamily="2" charset="-78"/>
              </a:rPr>
              <a:t>سُوقٌ</a:t>
            </a:r>
            <a:pPr algn="l" indent="0" marL="0">
              <a:buNone/>
            </a:pPr>
            <a:r>
              <a:rPr lang="en-US" sz="1400" b="1" dirty="0">
                <a:solidFill>
                  <a:srgbClr val="1F2A37"/>
                </a:solidFill>
                <a:latin typeface="Calibri" pitchFamily="34" charset="0"/>
                <a:cs typeface="Amiri" pitchFamily="2" charset="-78"/>
              </a:rPr>
              <a:t> · </a:t>
            </a:r>
            <a:pPr algn="l" indent="0" marL="0">
              <a:buNone/>
            </a:pPr>
            <a:r>
              <a:rPr lang="ar-SA" altLang="en-US" sz="1800" b="1" dirty="0">
                <a:solidFill>
                  <a:srgbClr val="1F2A37"/>
                </a:solidFill>
                <a:latin typeface="Amiri" pitchFamily="2" charset="-78"/>
                <a:ea typeface="Amiri" pitchFamily="2" charset="-78"/>
                <a:cs typeface="Amiri" pitchFamily="2" charset="-78"/>
              </a:rPr>
              <a:t>كَبِيرٌ</a:t>
            </a:r>
            <a:pPr algn="l" indent="0" marL="0">
              <a:buNone/>
            </a:pPr>
            <a:r>
              <a:rPr lang="en-US" sz="1400" b="1" dirty="0">
                <a:solidFill>
                  <a:srgbClr val="1F2A37"/>
                </a:solidFill>
                <a:latin typeface="Calibri" pitchFamily="34" charset="0"/>
                <a:cs typeface="Amiri" pitchFamily="2" charset="-78"/>
              </a:rPr>
              <a:t> and circle the long-vowel letter in each.</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Then build three new syllables of your own.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and read: partner echo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هٰذَا الحَرْفُ؟</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بَا · بُو · بِي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مُرَقَّقٌ أَمْ مُفَخَّمٌ؟</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اِبْنِ مَقَاطِعَ جَدِيدَةً.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مُفَخَّمٌ ، ___ مُرَقَّقٌ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سَا · سُو · سِي</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قَرَأَ / قَرَأَتْ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اِقْرَأْ: بَا · بُو · بِي</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Read: bā · bū · bī</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بَا · بُو · بِي. هٰذِهِ حَرَكَاتٌ طَوِيلَةٌ.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bā · bū · bī. These are long vowels.</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MIX-UPS AND REPAIRS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Mixing </a:t>
            </a:r>
            <a:pPr algn="l" indent="0" marL="0">
              <a:buNone/>
            </a:pPr>
            <a:r>
              <a:rPr lang="ar-SA" altLang="en-US" sz="1450" dirty="0">
                <a:solidFill>
                  <a:srgbClr val="5A6472"/>
                </a:solidFill>
                <a:latin typeface="Amiri" pitchFamily="2" charset="-78"/>
                <a:ea typeface="Amiri" pitchFamily="2" charset="-78"/>
                <a:cs typeface="Amiri" pitchFamily="2" charset="-78"/>
              </a:rPr>
              <a:t>ف</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ق</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 the dots: </a:t>
            </a:r>
            <a:pPr algn="l" indent="0" marL="0">
              <a:buNone/>
            </a:pPr>
            <a:r>
              <a:rPr lang="ar-SA" altLang="en-US" sz="1450" dirty="0">
                <a:solidFill>
                  <a:srgbClr val="5A6472"/>
                </a:solidFill>
                <a:latin typeface="Amiri" pitchFamily="2" charset="-78"/>
                <a:ea typeface="Amiri" pitchFamily="2" charset="-78"/>
                <a:cs typeface="Amiri" pitchFamily="2" charset="-78"/>
              </a:rPr>
              <a:t>ف</a:t>
            </a:r>
            <a:pPr algn="l" indent="0" marL="0">
              <a:buNone/>
            </a:pPr>
            <a:r>
              <a:rPr lang="en-US" sz="1100" dirty="0">
                <a:solidFill>
                  <a:srgbClr val="5A6472"/>
                </a:solidFill>
                <a:latin typeface="Calibri" pitchFamily="34" charset="0"/>
                <a:cs typeface="Amiri" pitchFamily="2" charset="-78"/>
              </a:rPr>
              <a:t> one, </a:t>
            </a:r>
            <a:pPr algn="l" indent="0" marL="0">
              <a:buNone/>
            </a:pPr>
            <a:r>
              <a:rPr lang="ar-SA" altLang="en-US" sz="1450" dirty="0">
                <a:solidFill>
                  <a:srgbClr val="5A6472"/>
                </a:solidFill>
                <a:latin typeface="Amiri" pitchFamily="2" charset="-78"/>
                <a:ea typeface="Amiri" pitchFamily="2" charset="-78"/>
                <a:cs typeface="Amiri" pitchFamily="2" charset="-78"/>
              </a:rPr>
              <a:t>ق</a:t>
            </a:r>
            <a:pPr algn="l" indent="0" marL="0">
              <a:buNone/>
            </a:pPr>
            <a:r>
              <a:rPr lang="en-US" sz="1100" dirty="0">
                <a:solidFill>
                  <a:srgbClr val="5A6472"/>
                </a:solidFill>
                <a:latin typeface="Calibri" pitchFamily="34" charset="0"/>
                <a:cs typeface="Amiri" pitchFamily="2" charset="-78"/>
              </a:rPr>
              <a:t> two — and </a:t>
            </a:r>
            <a:pPr algn="l" indent="0" marL="0">
              <a:buNone/>
            </a:pPr>
            <a:r>
              <a:rPr lang="ar-SA" altLang="en-US" sz="1450" dirty="0">
                <a:solidFill>
                  <a:srgbClr val="5A6472"/>
                </a:solidFill>
                <a:latin typeface="Amiri" pitchFamily="2" charset="-78"/>
                <a:ea typeface="Amiri" pitchFamily="2" charset="-78"/>
                <a:cs typeface="Amiri" pitchFamily="2" charset="-78"/>
              </a:rPr>
              <a:t>ق</a:t>
            </a:r>
            <a:pPr algn="l" indent="0" marL="0">
              <a:buNone/>
            </a:pPr>
            <a:r>
              <a:rPr lang="en-US" sz="1100" dirty="0">
                <a:solidFill>
                  <a:srgbClr val="5A6472"/>
                </a:solidFill>
                <a:latin typeface="Calibri" pitchFamily="34" charset="0"/>
                <a:cs typeface="Amiri" pitchFamily="2" charset="-78"/>
              </a:rPr>
              <a:t> has a deeper bowl.</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Mixing </a:t>
            </a:r>
            <a:pPr algn="l" indent="0" marL="0">
              <a:buNone/>
            </a:pPr>
            <a:r>
              <a:rPr lang="ar-SA" altLang="en-US" sz="1450" dirty="0">
                <a:solidFill>
                  <a:srgbClr val="5A6472"/>
                </a:solidFill>
                <a:latin typeface="Amiri" pitchFamily="2" charset="-78"/>
                <a:ea typeface="Amiri" pitchFamily="2" charset="-78"/>
                <a:cs typeface="Amiri" pitchFamily="2" charset="-78"/>
              </a:rPr>
              <a:t>ع</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غ</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Same body; the dot on top makes ghayn.</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 </a:t>
            </a:r>
            <a:pPr algn="l" indent="0" marL="0">
              <a:buNone/>
            </a:pPr>
            <a:r>
              <a:rPr lang="ar-SA" altLang="en-US" sz="1450" dirty="0">
                <a:solidFill>
                  <a:srgbClr val="5A6472"/>
                </a:solidFill>
                <a:latin typeface="Amiri" pitchFamily="2" charset="-78"/>
                <a:ea typeface="Amiri" pitchFamily="2" charset="-78"/>
                <a:cs typeface="Amiri" pitchFamily="2" charset="-78"/>
              </a:rPr>
              <a:t>بَا</a:t>
            </a:r>
            <a:pPr algn="l" indent="0" marL="0">
              <a:buNone/>
            </a:pPr>
            <a:r>
              <a:rPr lang="en-US" sz="1100" dirty="0">
                <a:solidFill>
                  <a:srgbClr val="5A6472"/>
                </a:solidFill>
                <a:latin typeface="Calibri" pitchFamily="34" charset="0"/>
                <a:cs typeface="Amiri" pitchFamily="2" charset="-78"/>
              </a:rPr>
              <a:t> as short</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alif after the fatḥa holds the sound for two beats.</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Shouting the emphatic sounds</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Emphatic = a changed tongue shape, not extra volume (website).</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Straining the throat for </a:t>
            </a:r>
            <a:pPr algn="l" indent="0" marL="0">
              <a:buNone/>
            </a:pPr>
            <a:r>
              <a:rPr lang="ar-SA" altLang="en-US" sz="1450" dirty="0">
                <a:solidFill>
                  <a:srgbClr val="5A6472"/>
                </a:solidFill>
                <a:latin typeface="Amiri" pitchFamily="2" charset="-78"/>
                <a:ea typeface="Amiri" pitchFamily="2" charset="-78"/>
                <a:cs typeface="Amiri" pitchFamily="2" charset="-78"/>
              </a:rPr>
              <a:t>ع</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Softly — stop if uncomfortable; it develops gradually (website).</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Thinking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ي</a:t>
            </a:r>
            <a:pPr algn="l" indent="0" marL="0">
              <a:buNone/>
            </a:pPr>
            <a:r>
              <a:rPr lang="en-US" sz="1100" dirty="0">
                <a:solidFill>
                  <a:srgbClr val="5A6472"/>
                </a:solidFill>
                <a:latin typeface="Calibri" pitchFamily="34" charset="0"/>
                <a:cs typeface="Amiri" pitchFamily="2" charset="-78"/>
              </a:rPr>
              <a:t> are always long vowels</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have more than one role (website final check 10).</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recognise letters 15–22.</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build /ā/, /ū/ and /ī/ patterns.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distinguish the three emphatic letters.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identify the </a:t>
            </a:r>
            <a:pPr algn="l" indent="0" marL="0">
              <a:buNone/>
            </a:pPr>
            <a:r>
              <a:rPr lang="ar-SA" altLang="en-US" sz="1700" dirty="0">
                <a:solidFill>
                  <a:srgbClr val="1F2A37"/>
                </a:solidFill>
                <a:latin typeface="Amiri" pitchFamily="2" charset="-78"/>
                <a:ea typeface="Amiri" pitchFamily="2" charset="-78"/>
                <a:cs typeface="Amiri" pitchFamily="2" charset="-78"/>
              </a:rPr>
              <a:t>ع غ</a:t>
            </a:r>
            <a:pPr algn="l" indent="0" marL="0">
              <a:buNone/>
            </a:pPr>
            <a:r>
              <a:rPr lang="en-US" sz="1300" dirty="0">
                <a:solidFill>
                  <a:srgbClr val="1F2A37"/>
                </a:solidFill>
                <a:latin typeface="Calibri" pitchFamily="34" charset="0"/>
                <a:cs typeface="Amiri" pitchFamily="2" charset="-78"/>
              </a:rPr>
              <a:t> family.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find the long-vowel letter inside a new word.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carrier builds long /ā/?</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carrier builds long /ī/?</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true of today’s eight letters?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are connectors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are non-connectors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Exactly half are non-connectors</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carrier builds long /ā/?</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fatḥa + alif (website final check 6).</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carrier builds long /ī/?</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kasra + yāʾ (website final check 8).</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true of today’s eight letters?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All are connectors</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are non-connectors</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Exactly half are non-connectors</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All eight connect on both sides (website final check 5).</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F1-L03 · Letters 15–22</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F1-L04: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F1-L04 · Complete the Alphabet &amp; Read Short Vowels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  لَامٌ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lām · /l/</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  مِيمٌ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mīm · /m/</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  نُونٌ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nūn · /n/</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  هَاءٌ</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hāʾ · /h/</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  وَاوٌ</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wāw · /w/, long ū</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Build and read three long-vowel rows with two letters you know.</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تَا تُو تِي · سَا سُو سِي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F1-L03 · play the vowel game; copy </a:t>
            </a:r>
            <a:pPr algn="l" indent="0" marL="0">
              <a:buNone/>
            </a:pPr>
            <a:r>
              <a:rPr lang="ar-SA" altLang="en-US" sz="1550" dirty="0">
                <a:solidFill>
                  <a:srgbClr val="1F2A37"/>
                </a:solidFill>
                <a:latin typeface="Amiri" pitchFamily="2" charset="-78"/>
                <a:ea typeface="Amiri" pitchFamily="2" charset="-78"/>
                <a:cs typeface="Amiri" pitchFamily="2" charset="-78"/>
              </a:rPr>
              <a:t>ض ط ظ ع غ ف ق ك</a:t>
            </a:r>
            <a:pPr algn="l" indent="0" marL="0">
              <a:buNone/>
            </a:pPr>
            <a:r>
              <a:rPr lang="en-US" sz="1200" dirty="0">
                <a:solidFill>
                  <a:srgbClr val="1F2A37"/>
                </a:solidFill>
                <a:latin typeface="Calibri" pitchFamily="34" charset="0"/>
                <a:cs typeface="Amiri" pitchFamily="2" charset="-78"/>
              </a:rPr>
              <a:t> four times each.</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build and read three long-vowel rows with two consonants.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F1-L03 · Heritage precision: a six-item plain/emphatic drill with a mouth cue for each.</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30</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F1-L04 · Complete the Alphabet &amp; Read Short Vowels</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أَكْمِلِ الحُرُوفَ وَاقْرَأِ الحَرَكَاتِ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new letters + your long-vowel rows.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F1-L03 · Powerful Sounds &amp; Long Vowels</dc:title>
  <dc:subject>PptxGenJS Presentation</dc:subject>
  <dc:creator>Al Madina Online School · Arabic Department</dc:creator>
  <cp:lastModifiedBy>Al Madina Online School · Arabic Department</cp:lastModifiedBy>
  <cp:revision>1</cp:revision>
  <dcterms:created xsi:type="dcterms:W3CDTF">2026-10-11T06:41:15Z</dcterms:created>
  <dcterms:modified xsi:type="dcterms:W3CDTF">2026-10-11T06:41:15Z</dcterms:modified>
</cp:coreProperties>
</file>