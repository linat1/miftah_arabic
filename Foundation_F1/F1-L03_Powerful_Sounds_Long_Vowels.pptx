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3 (F1-L03). The website lesson teaches the emphatic letters ض ط ظ (with plain/emphatic contrasts), the ع غ family with a “safe practice ladder”, ف ق ك, and long vowels (fatḥa + ا, ḍamma + و, kasra + ي). The retrieval check, listening script, articulation cues, long-vowel table and examples (بَاب، سُوق، كَبِير), games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family at a time, with mouth cues; recognise the 8 letters and build بَا بُو بِي. DEVELOP: explain the visual or sound clue behind each choice. STRETCH: build unfamiliar syllables and find the vowel carriers in words.
• Emphatic and throat sounds: accept an improving approximation at Foundation (website). “Emphatic” is NOT shouting — a changed tongue shape, not extra volume. Stop if a throat sound feels uncomfortable.
• Heritage / Urdu readers: in Urdu ض ظ are both /z/ and ط is /t/ — the MSA emphatics are the key learning today. Describe dialect variation without calling home varieties “wrong”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“F1-L02 readiness check” (3–4 correct → continue; 0–2 → revisit the L02 families and connection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letters have a “heavy” twin; and three letters can make a vowel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F1-L03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are familiar. Differences: Urdu ض ظ are /z/ and ط is /t/, but in Arabic they are EMPHATIC /dˤ/ /ðˤ/ /tˤ/. The isolated Arabic kāf is ك (with a small mark inside), while Urdu writes کاف without it — same letter.
غ /ɣ/ and خ /x/ exist in Urdu too (ghain, khē) — praise these; ع is often silent in Urdu speech but pronounced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15–17 (website Part 1). Articulation cues (website):
• ض: start from /d/, then add emphatic resonance — back of the tongue raised. (Arabic is called “the language of ḍād”.)
• ط: start from /t/ but make it emphatic and unaspirated — firm, no English puff of air.
• ظ: for careful MSA, begin from /ð/ as in “this”, then add emphasis — tongue at the teeth, darker resonance.
Shapes: ض = ص + dot; ظ = ط + dot. “Emphatic” ≠ shouting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VS EMPHATIC (website table). Model each pair three times: light, heavy, light, heavy. Students echo softly with mics muted. Tip: emphatic sounds make the next vowel sound deeper (طَا sounds like “taw”).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18–22 (website Parts 2–3).
• ع /ʕ/: gently narrow the throat and keep the voice on. غ /ɣ/: a voiced friction sound at the back, like a voiced خ (French “r”). Same body; the dot turns ʿayn into ghayn.
• SAFE PRACTICE LADDER (website): listen → watch (no squeezing or coughing) → echo softly → stop if uncomfortable; accuracy develops gradually.
• ف /f/ lower lip meets the upper teeth · ق /q/ a voiceless stop made further back than ك · ك /k/ as in “skin”, no extra vowel after it.
All eight letters today CONNECT on both sides (website final check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VOWELS (website Part 4). Teal = the long-vowel letter (carrier).
Precise rule (website): ا و ي are not automatically long vowels everywhere; in these beginner patterns the short vowel before must match the carrier (fatḥa + ا, ḍamma + و, kasra + ي).
Dual-role preview (website): و can also be the consonant /w/ and ي the consonant /y/ — taught formally in F1-L04, not assessed today.
The short-vowel marks are previewed only; F1-L04 teaches their names.
Clap it: بَ = one clap · بَا = hold for two claps.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4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after watching a verified model, write each letter four times; tick only when the baseline, dots and proportions are controlled.
Watch for: ف sits ON the line with a flat tail; ق has a deeper, rounder bowl that dips below the line — that and the two dots tell it apart from ف. ط/ظ: the tall stroke is written after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(3 min). Read each pair twice. Students write P or E for each sound in order first.
Script: دَ، ضَ. تَ، طَ. ذَ، ظَ. — Answer (website): P then E in every pair.
Extension: read a pair in the other order and see who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two volunteers produce one pair each (invitation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(combine shape, dots and sound instead of relying on one clue).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Partner echo (website): A reads one model, B names the letter and explains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 this lesson (بَ بِ بُ بَا بِي بُو) and the website game “One Beat or Two?”. Say each pattern softly before choosing; clap the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clap each answer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(letters four times each; build and read three long-vowel rows using two learned consonants) and “Build and read” task.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الحَرْفُ؟ (And this letter?)
B: هٰذَا قَافٌ. فَوْقَهُ نُقْطَتَانِ. (This is qāf. It has two dots above it.)
PARTNER ECHO and BUILD AND READ (website): A reads one model; B identifies the letter or vowel length and explains the clue. Then choose a learned consonant and build three patterns ـَا ـُو ـِي for the partner to read. Swap after six turns. Prompts: What is this letter? · Read … · Plain or emphatic? · Build new syllables.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articulation notes, safe practice ladder and final check. Students correct their writing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(F1-L04 · Complete the Alphabet &amp; Read Short Vowels) will spend class time USING this language, so students prepare it tonight — short, simple, easy to access (school guidance: “Simple, Short, Interesting, Relevant, Easy to access”). Next lesson completes the alphabet (ل م ن ه و ي) and names the short vowels. Preview five of the letters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Powerful Sounds &amp; Long Vowels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الحُرُوفُ مِنْ ١٥ إِلَى ٢٢ وَالمَدُّ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Add eight letters (</a:t>
            </a:r>
            <a:pPr algn="l" indent="0" marL="0">
              <a:buNone/>
            </a:pPr>
            <a:r>
              <a:rPr lang="ar-SA" altLang="en-US" sz="1800" dirty="0">
                <a:solidFill>
                  <a:srgbClr val="C6D2E6"/>
                </a:solidFill>
                <a:latin typeface="Amiri" pitchFamily="2" charset="-78"/>
                <a:cs typeface="Amiri" pitchFamily="2" charset="-78"/>
              </a:rPr>
              <a:t>ض ط ظ ع غ ف ق ك</a:t>
            </a:r>
            <a:pPr algn="l" indent="0" marL="0">
              <a:buNone/>
            </a:pPr>
            <a:r>
              <a:rPr lang="en-US" sz="1400" dirty="0">
                <a:solidFill>
                  <a:srgbClr val="C6D2E6"/>
                </a:solidFill>
                <a:latin typeface="Calibri" pitchFamily="34" charset="0"/>
                <a:cs typeface="Amiri" pitchFamily="2" charset="-78"/>
              </a:rPr>
              <a:t>), hear the difference between plain and “emphatic” sounds, and build the three long vowels: </a:t>
            </a:r>
            <a:pPr algn="l" indent="0" marL="0">
              <a:buNone/>
            </a:pPr>
            <a:r>
              <a:rPr lang="ar-SA" altLang="en-US" sz="1800" dirty="0">
                <a:solidFill>
                  <a:srgbClr val="C6D2E6"/>
                </a:solidFill>
                <a:latin typeface="Amiri" pitchFamily="2" charset="-78"/>
                <a:cs typeface="Amiri" pitchFamily="2" charset="-78"/>
              </a:rPr>
              <a:t>بَا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بُو</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F1-L03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Eight new letters and three long vowels.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Plain or emphatic? Letter detective, one beat or two?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the previous lesson?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a:t>
            </a:r>
            <a:pPr algn="l" indent="0" marL="0">
              <a:buNone/>
            </a:pPr>
            <a:r>
              <a:rPr lang="ar-SA" altLang="en-US" sz="1650" b="1" dirty="0">
                <a:solidFill>
                  <a:srgbClr val="1B3B6F"/>
                </a:solidFill>
                <a:latin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connection break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always connects</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dhāl, the dotted partner of dāl.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ص</a:t>
            </a:r>
            <a:pPr algn="l" indent="0" marL="0">
              <a:buNone/>
            </a:pPr>
            <a:r>
              <a:rPr lang="en-US" sz="1250" b="1" dirty="0">
                <a:solidFill>
                  <a:srgbClr val="1B3B6F"/>
                </a:solidFill>
                <a:latin typeface="Calibri" pitchFamily="34" charset="0"/>
                <a:cs typeface="Amiri" pitchFamily="2" charset="-78"/>
              </a:rPr>
              <a:t> a sun or moon letter?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qāf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a:t>
            </a:r>
            <a:endParaRPr lang="ar-SA" sz="20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the previous lesson?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ض</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F1-L02 ended at letter 14: </a:t>
            </a:r>
            <a:pPr algn="l" indent="0" marL="0">
              <a:buNone/>
            </a:pPr>
            <a:r>
              <a:rPr lang="ar-SA" altLang="en-US" sz="1350" dirty="0">
                <a:solidFill>
                  <a:srgbClr val="8A6D1E"/>
                </a:solidFill>
                <a:latin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ṣād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a:t>
            </a:r>
            <a:pPr algn="l" indent="0" marL="0">
              <a:buNone/>
            </a:pPr>
            <a:r>
              <a:rPr lang="ar-SA" altLang="en-US" sz="1650" b="1" dirty="0">
                <a:solidFill>
                  <a:srgbClr val="1B3B6F"/>
                </a:solidFill>
                <a:latin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connection break</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always connects</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is a breaker: no join to the next letter.</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dhāl, the dotted partner of dāl.</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ذ</a:t>
            </a:r>
            <a:pPr algn="l" indent="0" marL="0">
              <a:buNone/>
            </a:pPr>
            <a:r>
              <a:rPr lang="en-US" sz="1050" i="1" dirty="0">
                <a:solidFill>
                  <a:srgbClr val="8A6D1E"/>
                </a:solidFill>
                <a:latin typeface="Calibri" pitchFamily="34" charset="0"/>
                <a:cs typeface="Amiri" pitchFamily="2" charset="-78"/>
              </a:rPr>
              <a:t> dhāl.</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ص</a:t>
            </a:r>
            <a:pPr algn="l" indent="0" marL="0">
              <a:buNone/>
            </a:pPr>
            <a:r>
              <a:rPr lang="en-US" sz="1250" b="1" dirty="0">
                <a:solidFill>
                  <a:srgbClr val="1B3B6F"/>
                </a:solidFill>
                <a:latin typeface="Calibri" pitchFamily="34" charset="0"/>
                <a:cs typeface="Amiri" pitchFamily="2" charset="-78"/>
              </a:rPr>
              <a:t> a sun or moon letter?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qāf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a:t>
            </a:r>
            <a:endParaRPr lang="ar-SA" sz="17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ق</a:t>
            </a:r>
            <a:pPr algn="l" indent="0" marL="0">
              <a:buNone/>
            </a:pPr>
            <a:r>
              <a:rPr lang="en-US" sz="1050" i="1" dirty="0">
                <a:solidFill>
                  <a:srgbClr val="8A6D1E"/>
                </a:solidFill>
                <a:latin typeface="Calibri" pitchFamily="34" charset="0"/>
                <a:cs typeface="Amiri" pitchFamily="2" charset="-78"/>
              </a:rPr>
              <a:t> qāf — two dots above.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Some letters have a “heavy” twin; and three letters can make a vowel long.</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 ← ض   ·   بَ ← بَا</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letters 15–22.</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plain and emphatic sounds (</a:t>
            </a:r>
            <a:pPr algn="l" indent="0" marL="0">
              <a:buNone/>
            </a:pPr>
            <a:r>
              <a:rPr lang="ar-SA" altLang="en-US" sz="1700" dirty="0">
                <a:solidFill>
                  <a:srgbClr val="1F2A37"/>
                </a:solidFill>
                <a:latin typeface="Amiri" pitchFamily="2" charset="-78"/>
                <a:cs typeface="Amiri" pitchFamily="2" charset="-78"/>
              </a:rPr>
              <a:t>د/ض</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ت/ط</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ذ/ظ</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t>
            </a:r>
            <a:pPr algn="l" indent="0" marL="0">
              <a:buNone/>
            </a:pPr>
            <a:r>
              <a:rPr lang="ar-SA" altLang="en-US" sz="1700" dirty="0">
                <a:solidFill>
                  <a:srgbClr val="1F2A37"/>
                </a:solidFill>
                <a:latin typeface="Amiri" pitchFamily="2" charset="-78"/>
                <a:cs typeface="Amiri" pitchFamily="2" charset="-78"/>
              </a:rPr>
              <a:t>ع</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غ</a:t>
            </a:r>
            <a:pPr algn="l" indent="0" marL="0">
              <a:buNone/>
            </a:pPr>
            <a:r>
              <a:rPr lang="en-US" sz="1300" dirty="0">
                <a:solidFill>
                  <a:srgbClr val="1F2A37"/>
                </a:solidFill>
                <a:latin typeface="Calibri" pitchFamily="34" charset="0"/>
                <a:cs typeface="Amiri" pitchFamily="2" charset="-78"/>
              </a:rPr>
              <a:t> apart, and </a:t>
            </a:r>
            <a:pPr algn="l" indent="0" marL="0">
              <a:buNone/>
            </a:pPr>
            <a:r>
              <a:rPr lang="ar-SA" altLang="en-US" sz="1700" dirty="0">
                <a:solidFill>
                  <a:srgbClr val="1F2A37"/>
                </a:solidFill>
                <a:latin typeface="Amiri" pitchFamily="2" charset="-78"/>
                <a:cs typeface="Amiri" pitchFamily="2" charset="-78"/>
              </a:rPr>
              <a:t>ف ق ك</a:t>
            </a:r>
            <a:pPr algn="l" indent="0" marL="0">
              <a:buNone/>
            </a:pPr>
            <a:r>
              <a:rPr lang="en-US" sz="1300" dirty="0">
                <a:solidFill>
                  <a:srgbClr val="1F2A37"/>
                </a:solidFill>
                <a:latin typeface="Calibri" pitchFamily="34" charset="0"/>
                <a:cs typeface="Amiri" pitchFamily="2" charset="-78"/>
              </a:rPr>
              <a:t> apart.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and read long vowels: ā · ū · ī.</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letters 15–22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a:t>
            </a:r>
            <a:pPr algn="l" indent="0" marL="0">
              <a:buNone/>
            </a:pPr>
            <a:r>
              <a:rPr lang="ar-SA" altLang="en-US" sz="1700" b="1" dirty="0">
                <a:solidFill>
                  <a:srgbClr val="2E8B57"/>
                </a:solidFill>
                <a:latin typeface="Amiri" pitchFamily="2" charset="-78"/>
                <a:cs typeface="Amiri" pitchFamily="2" charset="-78"/>
              </a:rPr>
              <a:t>بَا</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بُو</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بِي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the clue behind each choice.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the plain / emphatic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build new syllables with long vowels.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find the long-vowel letter inside a word.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new letters in 3 groups, plus 3 long vowels. After today we know 22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Emphatic · 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Throat + back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VOWELS</a:t>
            </a:r>
            <a:endParaRPr lang="en-US" sz="900" dirty="0"/>
          </a:p>
          <a:p>
            <a:pPr indent="0" marL="0">
              <a:buNone/>
            </a:pPr>
            <a:r>
              <a:rPr lang="en-US" sz="1200" b="1" dirty="0">
                <a:solidFill>
                  <a:srgbClr val="FFFFFF"/>
                </a:solidFill>
                <a:latin typeface="Calibri" pitchFamily="34" charset="0"/>
                <a:cs typeface="Amiri" pitchFamily="2" charset="-78"/>
              </a:rPr>
              <a:t>Long ā ū ī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‎طوئے‎ </a:t>
            </a:r>
            <a:pPr indent="0" marL="0">
              <a:buNone/>
            </a:pPr>
            <a:r>
              <a:rPr lang="en-US" sz="950" b="1" dirty="0">
                <a:solidFill>
                  <a:srgbClr val="2E8B57"/>
                </a:solidFill>
                <a:latin typeface="Calibri" pitchFamily="34" charset="0"/>
                <a:cs typeface="Amiri" pitchFamily="2" charset="-78"/>
              </a:rPr>
              <a:t> tōʾē · Arabic: ṭāʾ (emphatic 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‎عین‎ </a:t>
            </a:r>
            <a:pPr indent="0" marL="0">
              <a:buNone/>
            </a:pPr>
            <a:r>
              <a:rPr lang="en-US" sz="950" b="1" dirty="0">
                <a:solidFill>
                  <a:srgbClr val="2E8B57"/>
                </a:solidFill>
                <a:latin typeface="Calibri" pitchFamily="34" charset="0"/>
                <a:cs typeface="Amiri" pitchFamily="2" charset="-78"/>
              </a:rPr>
              <a:t> ʿain · Arabic: ʿayn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‎غین‎ </a:t>
            </a:r>
            <a:pPr indent="0" marL="0">
              <a:buNone/>
            </a:pPr>
            <a:r>
              <a:rPr lang="en-US" sz="950" b="1" dirty="0">
                <a:solidFill>
                  <a:srgbClr val="2E8B57"/>
                </a:solidFill>
                <a:latin typeface="Calibri" pitchFamily="34" charset="0"/>
                <a:cs typeface="Amiri" pitchFamily="2" charset="-78"/>
              </a:rPr>
              <a:t> ghain · Arabic: ghayn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‎قاف‎ </a:t>
            </a:r>
            <a:pPr indent="0" marL="0">
              <a:buNone/>
            </a:pPr>
            <a:r>
              <a:rPr lang="en-US" sz="950" b="1" dirty="0">
                <a:solidFill>
                  <a:srgbClr val="2E8B57"/>
                </a:solidFill>
                <a:latin typeface="Calibri" pitchFamily="34" charset="0"/>
                <a:cs typeface="Amiri" pitchFamily="2" charset="-78"/>
              </a:rPr>
              <a:t> qāf · qāf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‎کاف‎ </a:t>
            </a:r>
            <a:pPr indent="0" marL="0">
              <a:buNone/>
            </a:pPr>
            <a:r>
              <a:rPr lang="en-US" sz="950" b="1" dirty="0">
                <a:solidFill>
                  <a:srgbClr val="2E8B57"/>
                </a:solidFill>
                <a:latin typeface="Calibri" pitchFamily="34" charset="0"/>
                <a:cs typeface="Amiri" pitchFamily="2" charset="-78"/>
              </a:rPr>
              <a:t> kāf · kāf (Urdu writes it کـ)</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LETTERS · GROUP 1 · THE EMPHATIC LETTERS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Heavy, darker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الحُرُوفُ المُفَخَّمَةُ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ض</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ḍād — emphatic /dˤ/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ضَادٌ</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ط</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ṭāʾ — emphatic /tˤ/</a:t>
            </a:r>
            <a:endParaRPr lang="en-US" sz="1350" dirty="0"/>
          </a:p>
          <a:p>
            <a:pPr indent="0" marL="0">
              <a:buNone/>
            </a:pPr>
            <a:r>
              <a:rPr lang="en-US" sz="1100" i="1" dirty="0">
                <a:solidFill>
                  <a:srgbClr val="5A6472"/>
                </a:solidFill>
                <a:latin typeface="Calibri" pitchFamily="34" charset="0"/>
                <a:cs typeface="Amiri" pitchFamily="2" charset="-78"/>
              </a:rPr>
              <a:t>no dot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طَاءٌ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ظ</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ẓāʾ — emphatic /ðˤ/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ظَاءٌ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PLAIN VERSUS EMPHATIC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Light or heavy?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(light)</a:t>
            </a:r>
            <a:endParaRPr lang="en-US" sz="1100" dirty="0"/>
          </a:p>
        </p:txBody>
      </p:sp>
      <p:sp>
        <p:nvSpPr>
          <p:cNvPr id="18" name="Text 15"/>
          <p:cNvSpPr txBox="1"/>
          <p:nvPr/>
        </p:nvSpPr>
        <p:spPr>
          <a:xfrm>
            <a:off x="46725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Emphatic (heavy)</a:t>
            </a:r>
            <a:endParaRPr lang="en-US" sz="1100" dirty="0"/>
          </a:p>
        </p:txBody>
      </p:sp>
      <p:sp>
        <p:nvSpPr>
          <p:cNvPr id="19" name="Text 16"/>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make it heavy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/dˤ/</a:t>
            </a:r>
            <a:endParaRPr lang="en-US" sz="1100" dirty="0"/>
          </a:p>
        </p:txBody>
      </p:sp>
      <p:sp>
        <p:nvSpPr>
          <p:cNvPr id="22" name="Text 19"/>
          <p:cNvSpPr txBox="1"/>
          <p:nvPr/>
        </p:nvSpPr>
        <p:spPr>
          <a:xfrm>
            <a:off x="706831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د</a:t>
            </a:r>
            <a:endParaRPr lang="ar-SA" sz="3400" dirty="0"/>
          </a:p>
        </p:txBody>
      </p:sp>
      <p:sp>
        <p:nvSpPr>
          <p:cNvPr id="23" name="Text 20"/>
          <p:cNvSpPr txBox="1"/>
          <p:nvPr/>
        </p:nvSpPr>
        <p:spPr>
          <a:xfrm>
            <a:off x="469087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ض</a:t>
            </a:r>
            <a:endParaRPr lang="ar-SA" sz="3400" dirty="0"/>
          </a:p>
        </p:txBody>
      </p:sp>
      <p:sp>
        <p:nvSpPr>
          <p:cNvPr id="24" name="Text 21"/>
          <p:cNvSpPr txBox="1"/>
          <p:nvPr/>
        </p:nvSpPr>
        <p:spPr>
          <a:xfrm>
            <a:off x="56692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/d/, then raise the back of your tongue.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 → /tˤ/</a:t>
            </a:r>
            <a:endParaRPr lang="en-US" sz="1100" dirty="0"/>
          </a:p>
        </p:txBody>
      </p:sp>
      <p:sp>
        <p:nvSpPr>
          <p:cNvPr id="29" name="Text 26"/>
          <p:cNvSpPr txBox="1"/>
          <p:nvPr/>
        </p:nvSpPr>
        <p:spPr>
          <a:xfrm>
            <a:off x="706831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ت</a:t>
            </a:r>
            <a:endParaRPr lang="ar-SA" sz="3400" dirty="0"/>
          </a:p>
        </p:txBody>
      </p:sp>
      <p:sp>
        <p:nvSpPr>
          <p:cNvPr id="30" name="Text 27"/>
          <p:cNvSpPr txBox="1"/>
          <p:nvPr/>
        </p:nvSpPr>
        <p:spPr>
          <a:xfrm>
            <a:off x="469087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ط</a:t>
            </a:r>
            <a:endParaRPr lang="ar-SA" sz="3400" dirty="0"/>
          </a:p>
        </p:txBody>
      </p:sp>
      <p:sp>
        <p:nvSpPr>
          <p:cNvPr id="31" name="Text 28"/>
          <p:cNvSpPr txBox="1"/>
          <p:nvPr/>
        </p:nvSpPr>
        <p:spPr>
          <a:xfrm>
            <a:off x="56692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 firmly, no puff of air, tongue back up.</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/ð/ → /ðˤ/</a:t>
            </a:r>
            <a:endParaRPr lang="en-US" sz="1100" dirty="0"/>
          </a:p>
        </p:txBody>
      </p:sp>
      <p:sp>
        <p:nvSpPr>
          <p:cNvPr id="36" name="Text 33"/>
          <p:cNvSpPr txBox="1"/>
          <p:nvPr/>
        </p:nvSpPr>
        <p:spPr>
          <a:xfrm>
            <a:off x="706831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ذ</a:t>
            </a:r>
            <a:endParaRPr lang="ar-SA" sz="3400" dirty="0"/>
          </a:p>
        </p:txBody>
      </p:sp>
      <p:sp>
        <p:nvSpPr>
          <p:cNvPr id="37" name="Text 34"/>
          <p:cNvSpPr txBox="1"/>
          <p:nvPr/>
        </p:nvSpPr>
        <p:spPr>
          <a:xfrm>
            <a:off x="469087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ظ</a:t>
            </a:r>
            <a:endParaRPr lang="ar-SA" sz="3400" dirty="0"/>
          </a:p>
        </p:txBody>
      </p:sp>
      <p:sp>
        <p:nvSpPr>
          <p:cNvPr id="38" name="Text 35"/>
          <p:cNvSpPr txBox="1"/>
          <p:nvPr/>
        </p:nvSpPr>
        <p:spPr>
          <a:xfrm>
            <a:off x="56692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“this” /ð/, then make it darker.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 → /sˤ/ (F1-L02)</a:t>
            </a:r>
            <a:endParaRPr lang="en-US" sz="1100" dirty="0"/>
          </a:p>
        </p:txBody>
      </p:sp>
      <p:sp>
        <p:nvSpPr>
          <p:cNvPr id="43" name="Text 40"/>
          <p:cNvSpPr txBox="1"/>
          <p:nvPr/>
        </p:nvSpPr>
        <p:spPr>
          <a:xfrm>
            <a:off x="706831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س</a:t>
            </a:r>
            <a:endParaRPr lang="ar-SA" sz="3400" dirty="0"/>
          </a:p>
        </p:txBody>
      </p:sp>
      <p:sp>
        <p:nvSpPr>
          <p:cNvPr id="44" name="Text 41"/>
          <p:cNvSpPr txBox="1"/>
          <p:nvPr/>
        </p:nvSpPr>
        <p:spPr>
          <a:xfrm>
            <a:off x="469087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ص</a:t>
            </a:r>
            <a:endParaRPr lang="ar-SA" sz="3400" dirty="0"/>
          </a:p>
        </p:txBody>
      </p:sp>
      <p:sp>
        <p:nvSpPr>
          <p:cNvPr id="45" name="Text 42"/>
          <p:cNvSpPr txBox="1"/>
          <p:nvPr/>
        </p:nvSpPr>
        <p:spPr>
          <a:xfrm>
            <a:off x="56692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Revision: the first emphatic letter.</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KEY LETTERS · GROUP 2 · </a:t>
            </a:r>
            <a:pPr algn="l" indent="0" marL="0">
              <a:buNone/>
            </a:pPr>
            <a:r>
              <a:rPr lang="ar-SA" altLang="en-US" sz="1300" b="1" dirty="0">
                <a:solidFill>
                  <a:srgbClr val="1B3B6F"/>
                </a:solidFill>
                <a:latin typeface="Amiri" pitchFamily="2" charset="-78"/>
                <a:cs typeface="Amiri" pitchFamily="2" charset="-78"/>
              </a:rPr>
              <a:t>ع غ</a:t>
            </a:r>
            <a:pPr algn="l" indent="0" marL="0">
              <a:buNone/>
            </a:pPr>
            <a:r>
              <a:rPr lang="en-US" sz="1000" b="1" dirty="0">
                <a:solidFill>
                  <a:srgbClr val="1B3B6F"/>
                </a:solidFill>
                <a:latin typeface="Calibri" pitchFamily="34" charset="0"/>
                <a:cs typeface="Amiri" pitchFamily="2" charset="-78"/>
              </a:rPr>
              <a:t> (WEBSITE PART 2) AND </a:t>
            </a:r>
            <a:pPr algn="l" indent="0" marL="0">
              <a:buNone/>
            </a:pPr>
            <a:r>
              <a:rPr lang="ar-SA" altLang="en-US" sz="1300" b="1" dirty="0">
                <a:solidFill>
                  <a:srgbClr val="1B3B6F"/>
                </a:solidFill>
                <a:latin typeface="Amiri" pitchFamily="2" charset="-78"/>
                <a:cs typeface="Amiri" pitchFamily="2" charset="-78"/>
              </a:rPr>
              <a:t>ف ق ك</a:t>
            </a:r>
            <a:pPr algn="l" indent="0" marL="0">
              <a:buNone/>
            </a:pPr>
            <a:r>
              <a:rPr lang="en-US" sz="1000" b="1" dirty="0">
                <a:solidFill>
                  <a:srgbClr val="1B3B6F"/>
                </a:solidFill>
                <a:latin typeface="Calibri" pitchFamily="34" charset="0"/>
                <a:cs typeface="Amiri" pitchFamily="2" charset="-78"/>
              </a:rPr>
              <a:t>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Throat and back-of-the-mouth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حُرُوفٌ مِنَ الحَلْقِ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ʿayn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ع</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ʿayn — /ʕ/ (voiced, from the throat)</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30" name="Shape 27"/>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ʿayn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غ</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ghayn — /ɣ/ (like a voiced خ)</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غَيْنٌ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fāʾ / qāf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ف</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fāʾ — /f/</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fāʾ / qāf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ق</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qāf — /q/ (deep k)</a:t>
            </a:r>
            <a:endParaRPr lang="en-US" sz="1350" dirty="0"/>
          </a:p>
          <a:p>
            <a:pPr indent="0" marL="0">
              <a:buNone/>
            </a:pPr>
            <a:r>
              <a:rPr lang="en-US" sz="1100" i="1" dirty="0">
                <a:solidFill>
                  <a:srgbClr val="5A6472"/>
                </a:solidFill>
                <a:latin typeface="Calibri" pitchFamily="34" charset="0"/>
                <a:cs typeface="Amiri" pitchFamily="2" charset="-78"/>
              </a:rPr>
              <a:t>TWO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قَافٌ</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kāf</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ك</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kāf — /k/</a:t>
            </a:r>
            <a:endParaRPr lang="en-US" sz="1350" dirty="0"/>
          </a:p>
          <a:p>
            <a:pPr indent="0" marL="0">
              <a:buNone/>
            </a:pPr>
            <a:r>
              <a:rPr lang="en-US" sz="1100" i="1" dirty="0">
                <a:solidFill>
                  <a:srgbClr val="5A6472"/>
                </a:solidFill>
                <a:latin typeface="Calibri" pitchFamily="34" charset="0"/>
                <a:cs typeface="Amiri" pitchFamily="2" charset="-78"/>
              </a:rPr>
              <a:t>kāf mark inside</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كَافٌ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HOLD THE SOUND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long vowels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الحَرَكَاتُ 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Long sound</a:t>
            </a:r>
            <a:endParaRPr lang="en-US" sz="1100" dirty="0"/>
          </a:p>
        </p:txBody>
      </p:sp>
      <p:sp>
        <p:nvSpPr>
          <p:cNvPr id="17" name="Text 14"/>
          <p:cNvSpPr txBox="1"/>
          <p:nvPr/>
        </p:nvSpPr>
        <p:spPr>
          <a:xfrm>
            <a:off x="741578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Build it</a:t>
            </a:r>
            <a:endParaRPr lang="en-US" sz="1100" dirty="0"/>
          </a:p>
        </p:txBody>
      </p:sp>
      <p:sp>
        <p:nvSpPr>
          <p:cNvPr id="18" name="Text 15"/>
          <p:cNvSpPr txBox="1"/>
          <p:nvPr/>
        </p:nvSpPr>
        <p:spPr>
          <a:xfrm>
            <a:off x="48554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9" name="Text 16"/>
          <p:cNvSpPr txBox="1"/>
          <p:nvPr/>
        </p:nvSpPr>
        <p:spPr>
          <a:xfrm>
            <a:off x="266090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 — a held “a”</a:t>
            </a:r>
            <a:endParaRPr lang="en-US" sz="1100" dirty="0"/>
          </a:p>
        </p:txBody>
      </p:sp>
      <p:sp>
        <p:nvSpPr>
          <p:cNvPr id="23" name="Text 20"/>
          <p:cNvSpPr txBox="1"/>
          <p:nvPr/>
        </p:nvSpPr>
        <p:spPr>
          <a:xfrm>
            <a:off x="7452360"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 + alif</a:t>
            </a:r>
            <a:endParaRPr lang="en-US" sz="1100" dirty="0"/>
          </a:p>
        </p:txBody>
      </p:sp>
      <p:sp>
        <p:nvSpPr>
          <p:cNvPr id="24" name="Text 21"/>
          <p:cNvSpPr txBox="1"/>
          <p:nvPr/>
        </p:nvSpPr>
        <p:spPr>
          <a:xfrm>
            <a:off x="48737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 + </a:t>
            </a:r>
            <a:pPr rtl="1" algn="ctr" indent="0" marL="0">
              <a:buNone/>
            </a:pPr>
            <a:r>
              <a:rPr lang="ar-SA" altLang="en-US" sz="2100" b="1" dirty="0">
                <a:solidFill>
                  <a:srgbClr val="0E7C86"/>
                </a:solidFill>
                <a:latin typeface="Amiri" pitchFamily="2" charset="-78"/>
                <a:cs typeface="Amiri" pitchFamily="2" charset="-78"/>
              </a:rPr>
              <a:t>ا</a:t>
            </a:r>
            <a:pPr rtl="1" algn="ctr" indent="0" marL="0">
              <a:buNone/>
            </a:pPr>
            <a:r>
              <a:rPr lang="ar-SA" altLang="en-US" sz="2100" b="1" dirty="0">
                <a:solidFill>
                  <a:srgbClr val="1B3B6F"/>
                </a:solidFill>
                <a:latin typeface="Amiri" pitchFamily="2" charset="-78"/>
                <a:cs typeface="Amiri" pitchFamily="2" charset="-78"/>
              </a:rPr>
              <a:t> ← بَ</a:t>
            </a:r>
            <a:pPr rtl="1" algn="ctr" indent="0" marL="0">
              <a:buNone/>
            </a:pPr>
            <a:r>
              <a:rPr lang="ar-SA" altLang="en-US" sz="2100" b="1" dirty="0">
                <a:solidFill>
                  <a:srgbClr val="0E7C86"/>
                </a:solidFill>
                <a:latin typeface="Amiri" pitchFamily="2" charset="-78"/>
                <a:cs typeface="Amiri" pitchFamily="2" charset="-78"/>
              </a:rPr>
              <a:t>ا</a:t>
            </a:r>
            <a:endParaRPr lang="ar-SA" sz="2100" dirty="0"/>
          </a:p>
        </p:txBody>
      </p:sp>
      <p:sp>
        <p:nvSpPr>
          <p:cNvPr id="25" name="Text 22"/>
          <p:cNvSpPr txBox="1"/>
          <p:nvPr/>
        </p:nvSpPr>
        <p:spPr>
          <a:xfrm>
            <a:off x="48280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 · two beats</a:t>
            </a:r>
            <a:endParaRPr lang="en-US" sz="950" dirty="0"/>
          </a:p>
        </p:txBody>
      </p:sp>
      <p:sp>
        <p:nvSpPr>
          <p:cNvPr id="26" name="Text 23"/>
          <p:cNvSpPr txBox="1"/>
          <p:nvPr/>
        </p:nvSpPr>
        <p:spPr>
          <a:xfrm>
            <a:off x="2679192" y="2286000"/>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a:t>
            </a:r>
            <a:pPr rtl="1" algn="ctr" indent="0" marL="0">
              <a:buNone/>
            </a:pPr>
            <a:r>
              <a:rPr lang="ar-SA" altLang="en-US" sz="2100" b="1" dirty="0">
                <a:solidFill>
                  <a:srgbClr val="0E7C86"/>
                </a:solidFill>
                <a:latin typeface="Amiri" pitchFamily="2" charset="-78"/>
                <a:cs typeface="Amiri" pitchFamily="2" charset="-78"/>
              </a:rPr>
              <a:t>ا</a:t>
            </a:r>
            <a:pPr rtl="1" algn="ctr" indent="0" marL="0">
              <a:buNone/>
            </a:pPr>
            <a:r>
              <a:rPr lang="ar-SA" altLang="en-US" sz="2100" b="1" dirty="0">
                <a:solidFill>
                  <a:srgbClr val="1B3B6F"/>
                </a:solidFill>
                <a:latin typeface="Amiri" pitchFamily="2" charset="-78"/>
                <a:cs typeface="Amiri" pitchFamily="2" charset="-78"/>
              </a:rPr>
              <a:t>بٌ</a:t>
            </a:r>
            <a:endParaRPr lang="ar-SA" sz="2100" dirty="0"/>
          </a:p>
        </p:txBody>
      </p:sp>
      <p:sp>
        <p:nvSpPr>
          <p:cNvPr id="27" name="Text 24"/>
          <p:cNvSpPr txBox="1"/>
          <p:nvPr/>
        </p:nvSpPr>
        <p:spPr>
          <a:xfrm>
            <a:off x="2633472" y="2706624"/>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bāb</a:t>
            </a:r>
            <a:endParaRPr lang="en-US" sz="950" dirty="0"/>
          </a:p>
        </p:txBody>
      </p:sp>
      <p:sp>
        <p:nvSpPr>
          <p:cNvPr id="28" name="Text 25"/>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door</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 — a held “oo”</a:t>
            </a:r>
            <a:endParaRPr lang="en-US" sz="1100" dirty="0"/>
          </a:p>
        </p:txBody>
      </p:sp>
      <p:sp>
        <p:nvSpPr>
          <p:cNvPr id="33" name="Text 30"/>
          <p:cNvSpPr txBox="1"/>
          <p:nvPr/>
        </p:nvSpPr>
        <p:spPr>
          <a:xfrm>
            <a:off x="7452360"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wāw</a:t>
            </a:r>
            <a:endParaRPr lang="en-US" sz="1100" dirty="0"/>
          </a:p>
        </p:txBody>
      </p:sp>
      <p:sp>
        <p:nvSpPr>
          <p:cNvPr id="34" name="Text 31"/>
          <p:cNvSpPr txBox="1"/>
          <p:nvPr/>
        </p:nvSpPr>
        <p:spPr>
          <a:xfrm>
            <a:off x="48737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 + </a:t>
            </a:r>
            <a:pPr rtl="1" algn="ctr" indent="0" marL="0">
              <a:buNone/>
            </a:pPr>
            <a:r>
              <a:rPr lang="ar-SA" altLang="en-US" sz="2100" b="1" dirty="0">
                <a:solidFill>
                  <a:srgbClr val="0E7C86"/>
                </a:solidFill>
                <a:latin typeface="Amiri" pitchFamily="2" charset="-78"/>
                <a:cs typeface="Amiri" pitchFamily="2" charset="-78"/>
              </a:rPr>
              <a:t>و</a:t>
            </a:r>
            <a:pPr rtl="1" algn="ctr" indent="0" marL="0">
              <a:buNone/>
            </a:pPr>
            <a:r>
              <a:rPr lang="ar-SA" altLang="en-US" sz="2100" b="1" dirty="0">
                <a:solidFill>
                  <a:srgbClr val="1B3B6F"/>
                </a:solidFill>
                <a:latin typeface="Amiri" pitchFamily="2" charset="-78"/>
                <a:cs typeface="Amiri" pitchFamily="2" charset="-78"/>
              </a:rPr>
              <a:t> ← بُ</a:t>
            </a:r>
            <a:pPr rtl="1" algn="ctr" indent="0" marL="0">
              <a:buNone/>
            </a:pPr>
            <a:r>
              <a:rPr lang="ar-SA" altLang="en-US" sz="2100" b="1" dirty="0">
                <a:solidFill>
                  <a:srgbClr val="0E7C86"/>
                </a:solidFill>
                <a:latin typeface="Amiri" pitchFamily="2" charset="-78"/>
                <a:cs typeface="Amiri" pitchFamily="2" charset="-78"/>
              </a:rPr>
              <a:t>و</a:t>
            </a:r>
            <a:endParaRPr lang="ar-SA" sz="2100" dirty="0"/>
          </a:p>
        </p:txBody>
      </p:sp>
      <p:sp>
        <p:nvSpPr>
          <p:cNvPr id="35" name="Text 32"/>
          <p:cNvSpPr txBox="1"/>
          <p:nvPr/>
        </p:nvSpPr>
        <p:spPr>
          <a:xfrm>
            <a:off x="48280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bū · two beats</a:t>
            </a:r>
            <a:endParaRPr lang="en-US" sz="950" dirty="0"/>
          </a:p>
        </p:txBody>
      </p:sp>
      <p:sp>
        <p:nvSpPr>
          <p:cNvPr id="36" name="Text 33"/>
          <p:cNvSpPr txBox="1"/>
          <p:nvPr/>
        </p:nvSpPr>
        <p:spPr>
          <a:xfrm>
            <a:off x="2679192" y="3072384"/>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a:t>
            </a:r>
            <a:pPr rtl="1" algn="ctr" indent="0" marL="0">
              <a:buNone/>
            </a:pPr>
            <a:r>
              <a:rPr lang="ar-SA" altLang="en-US" sz="2100" b="1" dirty="0">
                <a:solidFill>
                  <a:srgbClr val="0E7C86"/>
                </a:solidFill>
                <a:latin typeface="Amiri" pitchFamily="2" charset="-78"/>
                <a:cs typeface="Amiri" pitchFamily="2" charset="-78"/>
              </a:rPr>
              <a:t>و</a:t>
            </a:r>
            <a:pPr rtl="1" algn="ctr" indent="0" marL="0">
              <a:buNone/>
            </a:pPr>
            <a:r>
              <a:rPr lang="ar-SA" altLang="en-US" sz="2100" b="1" dirty="0">
                <a:solidFill>
                  <a:srgbClr val="1B3B6F"/>
                </a:solidFill>
                <a:latin typeface="Amiri" pitchFamily="2" charset="-78"/>
                <a:cs typeface="Amiri" pitchFamily="2" charset="-78"/>
              </a:rPr>
              <a:t>قٌ</a:t>
            </a:r>
            <a:endParaRPr lang="ar-SA" sz="2100" dirty="0"/>
          </a:p>
        </p:txBody>
      </p:sp>
      <p:sp>
        <p:nvSpPr>
          <p:cNvPr id="37" name="Text 34"/>
          <p:cNvSpPr txBox="1"/>
          <p:nvPr/>
        </p:nvSpPr>
        <p:spPr>
          <a:xfrm>
            <a:off x="2633472" y="3493008"/>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sūq</a:t>
            </a:r>
            <a:endParaRPr lang="en-US" sz="950" dirty="0"/>
          </a:p>
        </p:txBody>
      </p:sp>
      <p:sp>
        <p:nvSpPr>
          <p:cNvPr id="38" name="Text 35"/>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market</a:t>
            </a:r>
            <a:endParaRPr lang="en-US" sz="1100" dirty="0"/>
          </a:p>
        </p:txBody>
      </p:sp>
      <p:sp>
        <p:nvSpPr>
          <p:cNvPr id="39" name="Shape 3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 — a held “ee”</a:t>
            </a:r>
            <a:endParaRPr lang="en-US" sz="1100" dirty="0"/>
          </a:p>
        </p:txBody>
      </p:sp>
      <p:sp>
        <p:nvSpPr>
          <p:cNvPr id="43" name="Text 40"/>
          <p:cNvSpPr txBox="1"/>
          <p:nvPr/>
        </p:nvSpPr>
        <p:spPr>
          <a:xfrm>
            <a:off x="7452360"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kasra + yāʾ</a:t>
            </a:r>
            <a:endParaRPr lang="en-US" sz="1100" dirty="0"/>
          </a:p>
        </p:txBody>
      </p:sp>
      <p:sp>
        <p:nvSpPr>
          <p:cNvPr id="44" name="Text 41"/>
          <p:cNvSpPr txBox="1"/>
          <p:nvPr/>
        </p:nvSpPr>
        <p:spPr>
          <a:xfrm>
            <a:off x="48737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 + </a:t>
            </a:r>
            <a:pPr rtl="1" algn="ctr" indent="0" marL="0">
              <a:buNone/>
            </a:pPr>
            <a:r>
              <a:rPr lang="ar-SA" altLang="en-US" sz="2100" b="1" dirty="0">
                <a:solidFill>
                  <a:srgbClr val="0E7C86"/>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0E7C86"/>
                </a:solidFill>
                <a:latin typeface="Amiri" pitchFamily="2" charset="-78"/>
                <a:cs typeface="Amiri" pitchFamily="2" charset="-78"/>
              </a:rPr>
              <a:t>بِي</a:t>
            </a:r>
            <a:endParaRPr lang="ar-SA" sz="2100" dirty="0"/>
          </a:p>
        </p:txBody>
      </p:sp>
      <p:sp>
        <p:nvSpPr>
          <p:cNvPr id="45" name="Text 42"/>
          <p:cNvSpPr txBox="1"/>
          <p:nvPr/>
        </p:nvSpPr>
        <p:spPr>
          <a:xfrm>
            <a:off x="48280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bī · two beats</a:t>
            </a:r>
            <a:endParaRPr lang="en-US" sz="950" dirty="0"/>
          </a:p>
        </p:txBody>
      </p:sp>
      <p:sp>
        <p:nvSpPr>
          <p:cNvPr id="46" name="Text 43"/>
          <p:cNvSpPr txBox="1"/>
          <p:nvPr/>
        </p:nvSpPr>
        <p:spPr>
          <a:xfrm>
            <a:off x="2679192" y="3858768"/>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كَبِ</a:t>
            </a:r>
            <a:pPr rtl="1" algn="ctr" indent="0" marL="0">
              <a:buNone/>
            </a:pPr>
            <a:r>
              <a:rPr lang="ar-SA" altLang="en-US" sz="2100" b="1" dirty="0">
                <a:solidFill>
                  <a:srgbClr val="0E7C86"/>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رٌ</a:t>
            </a:r>
            <a:endParaRPr lang="ar-SA" sz="2100" dirty="0"/>
          </a:p>
        </p:txBody>
      </p:sp>
      <p:sp>
        <p:nvSpPr>
          <p:cNvPr id="47" name="Text 44"/>
          <p:cNvSpPr txBox="1"/>
          <p:nvPr/>
        </p:nvSpPr>
        <p:spPr>
          <a:xfrm>
            <a:off x="2633472" y="4279392"/>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kabīr</a:t>
            </a:r>
            <a:endParaRPr lang="en-US" sz="950" dirty="0"/>
          </a:p>
        </p:txBody>
      </p:sp>
      <p:sp>
        <p:nvSpPr>
          <p:cNvPr id="48" name="Text 4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a:t>
            </a:r>
            <a:endParaRPr lang="en-US" sz="1100" dirty="0"/>
          </a:p>
        </p:txBody>
      </p:sp>
      <p:sp>
        <p:nvSpPr>
          <p:cNvPr id="49" name="Shape 4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long vowel lasts about TWO beats. The short mark before it must match: fatḥa + alif · ḍamma + wāw · kasra + yāʾ.</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dotted partner of </a:t>
            </a:r>
            <a:pPr algn="l" indent="0" marL="0">
              <a:buNone/>
            </a:pPr>
            <a:r>
              <a:rPr lang="ar-SA" altLang="en-US" sz="1650" b="1" dirty="0">
                <a:solidFill>
                  <a:srgbClr val="1B3B6F"/>
                </a:solidFill>
                <a:latin typeface="Amiri" pitchFamily="2" charset="-78"/>
                <a:cs typeface="Amiri" pitchFamily="2" charset="-78"/>
              </a:rPr>
              <a:t>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ghayn?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contains a long vowel?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dotted partner of </a:t>
            </a:r>
            <a:pPr algn="l" indent="0" marL="0">
              <a:buNone/>
            </a:pPr>
            <a:r>
              <a:rPr lang="ar-SA" altLang="en-US" sz="1650" b="1" dirty="0">
                <a:solidFill>
                  <a:srgbClr val="1B3B6F"/>
                </a:solidFill>
                <a:latin typeface="Amiri" pitchFamily="2" charset="-78"/>
                <a:cs typeface="Amiri" pitchFamily="2" charset="-78"/>
              </a:rPr>
              <a:t>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ظ</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ط</a:t>
            </a:r>
            <a:pPr algn="l" indent="0" marL="0">
              <a:buNone/>
            </a:pPr>
            <a:r>
              <a:rPr lang="en-US" sz="1050" i="1" dirty="0">
                <a:solidFill>
                  <a:srgbClr val="8A6D1E"/>
                </a:solidFill>
                <a:latin typeface="Calibri" pitchFamily="34" charset="0"/>
                <a:cs typeface="Amiri" pitchFamily="2" charset="-78"/>
              </a:rPr>
              <a:t> + one dot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ghayn?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a:t>
            </a:r>
            <a:pPr algn="l" indent="0" marL="0">
              <a:buNone/>
            </a:pPr>
            <a:r>
              <a:rPr lang="en-US" sz="1050" i="1" dirty="0">
                <a:solidFill>
                  <a:srgbClr val="8A6D1E"/>
                </a:solidFill>
                <a:latin typeface="Calibri" pitchFamily="34" charset="0"/>
                <a:cs typeface="Amiri" pitchFamily="2" charset="-78"/>
              </a:rPr>
              <a:t>: ʿayn’s body + one dot.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a:t>
            </a:r>
            <a:pPr algn="l" indent="0" marL="0">
              <a:buNone/>
            </a:pPr>
            <a:r>
              <a:rPr lang="en-US" sz="1050" i="1" dirty="0">
                <a:solidFill>
                  <a:srgbClr val="8A6D1E"/>
                </a:solidFill>
                <a:latin typeface="Calibri" pitchFamily="34" charset="0"/>
                <a:cs typeface="Amiri" pitchFamily="2" charset="-78"/>
              </a:rPr>
              <a:t> qāf.</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contains a long vowel?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a:t>
            </a:r>
            <a:pPr algn="l" indent="0" marL="0">
              <a:buNone/>
            </a:pPr>
            <a:r>
              <a:rPr lang="en-US" sz="1050" i="1" dirty="0">
                <a:solidFill>
                  <a:srgbClr val="8A6D1E"/>
                </a:solidFill>
                <a:latin typeface="Calibri" pitchFamily="34" charset="0"/>
                <a:cs typeface="Amiri" pitchFamily="2" charset="-78"/>
              </a:rPr>
              <a:t>: kasra + yāʾ = long /ī/.</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write the eight new letters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ض</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ضَاد</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cs typeface="Amiri" pitchFamily="2" charset="-78"/>
              </a:rPr>
              <a:t>ص</a:t>
            </a:r>
            <a:pPr algn="l" indent="0" marL="0">
              <a:buNone/>
            </a:pPr>
            <a:r>
              <a:rPr lang="en-US" sz="1050" dirty="0">
                <a:solidFill>
                  <a:srgbClr val="1F2A37"/>
                </a:solidFill>
                <a:latin typeface="Calibri" pitchFamily="34" charset="0"/>
                <a:cs typeface="Amiri" pitchFamily="2" charset="-78"/>
              </a:rPr>
              <a:t> (loop + bowl).</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 the loop.</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ض</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ض</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ط</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طَاء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flat loop on the line.</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tall straight stroke.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ط</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ط</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ظ</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ظَاء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cs typeface="Amiri" pitchFamily="2" charset="-78"/>
              </a:rPr>
              <a:t>ط</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beside the tall stroke.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ظ</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ظ</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ع</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عَيْن</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Small open curve on top.</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 bowl below the line.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ع</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ع</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غ</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غَيْن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cs typeface="Amiri" pitchFamily="2" charset="-78"/>
              </a:rPr>
              <a:t>ع</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غ</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غ</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ف</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فَاء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Small loop, then a long flat tail.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ف</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ف</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ق</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قَاف</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Loop, then a deep round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dots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ق</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ق</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3" name="Shape 110"/>
          <p:cNvSpPr/>
          <p:nvPr/>
        </p:nvSpPr>
        <p:spPr>
          <a:xfrm>
            <a:off x="457200"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14" name="Text 111"/>
          <p:cNvSpPr txBox="1"/>
          <p:nvPr/>
        </p:nvSpPr>
        <p:spPr>
          <a:xfrm>
            <a:off x="2090684"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ك</a:t>
            </a:r>
            <a:endParaRPr lang="ar-SA" sz="5050" dirty="0"/>
          </a:p>
        </p:txBody>
      </p:sp>
      <p:sp>
        <p:nvSpPr>
          <p:cNvPr id="115" name="Text 112"/>
          <p:cNvSpPr txBox="1"/>
          <p:nvPr/>
        </p:nvSpPr>
        <p:spPr>
          <a:xfrm>
            <a:off x="2090684"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كَاف</a:t>
            </a:r>
            <a:endParaRPr lang="ar-SA" sz="1450" dirty="0"/>
          </a:p>
        </p:txBody>
      </p:sp>
      <p:sp>
        <p:nvSpPr>
          <p:cNvPr id="116" name="Shape 113"/>
          <p:cNvSpPr/>
          <p:nvPr/>
        </p:nvSpPr>
        <p:spPr>
          <a:xfrm>
            <a:off x="594360" y="4288536"/>
            <a:ext cx="237744" cy="237744"/>
          </a:xfrm>
          <a:prstGeom prst="ellipse">
            <a:avLst/>
          </a:prstGeom>
          <a:solidFill>
            <a:srgbClr val="6B4C9A"/>
          </a:solidFill>
          <a:ln w="12700">
            <a:solidFill>
              <a:srgbClr val="6B4C9A"/>
            </a:solidFill>
            <a:prstDash val="solid"/>
          </a:ln>
        </p:spPr>
      </p:sp>
      <p:sp>
        <p:nvSpPr>
          <p:cNvPr id="117" name="Text 114"/>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18" name="Text 115"/>
          <p:cNvSpPr txBox="1"/>
          <p:nvPr/>
        </p:nvSpPr>
        <p:spPr>
          <a:xfrm>
            <a:off x="905256"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Tall stroke, then the base.</a:t>
            </a:r>
            <a:endParaRPr lang="en-US" sz="1050" dirty="0"/>
          </a:p>
        </p:txBody>
      </p:sp>
      <p:sp>
        <p:nvSpPr>
          <p:cNvPr id="119" name="Shape 116"/>
          <p:cNvSpPr/>
          <p:nvPr/>
        </p:nvSpPr>
        <p:spPr>
          <a:xfrm>
            <a:off x="594360" y="4709160"/>
            <a:ext cx="237744" cy="237744"/>
          </a:xfrm>
          <a:prstGeom prst="ellipse">
            <a:avLst/>
          </a:prstGeom>
          <a:solidFill>
            <a:srgbClr val="6B4C9A"/>
          </a:solidFill>
          <a:ln w="12700">
            <a:solidFill>
              <a:srgbClr val="6B4C9A"/>
            </a:solidFill>
            <a:prstDash val="solid"/>
          </a:ln>
        </p:spPr>
      </p:sp>
      <p:sp>
        <p:nvSpPr>
          <p:cNvPr id="120" name="Text 117"/>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21" name="Text 118"/>
          <p:cNvSpPr txBox="1"/>
          <p:nvPr/>
        </p:nvSpPr>
        <p:spPr>
          <a:xfrm>
            <a:off x="905256"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small kāf mark inside.</a:t>
            </a:r>
            <a:endParaRPr lang="en-US" sz="1050" dirty="0"/>
          </a:p>
        </p:txBody>
      </p:sp>
      <p:sp>
        <p:nvSpPr>
          <p:cNvPr id="122" name="Shape 119"/>
          <p:cNvSpPr/>
          <p:nvPr/>
        </p:nvSpPr>
        <p:spPr>
          <a:xfrm>
            <a:off x="594360" y="6144768"/>
            <a:ext cx="2420874" cy="0"/>
          </a:xfrm>
          <a:prstGeom prst="line">
            <a:avLst/>
          </a:prstGeom>
          <a:noFill/>
          <a:ln w="9525">
            <a:solidFill>
              <a:srgbClr val="C9BFA8"/>
            </a:solidFill>
            <a:prstDash val="dash"/>
          </a:ln>
        </p:spPr>
      </p:sp>
      <p:sp>
        <p:nvSpPr>
          <p:cNvPr id="123" name="Text 120"/>
          <p:cNvSpPr txBox="1"/>
          <p:nvPr/>
        </p:nvSpPr>
        <p:spPr>
          <a:xfrm>
            <a:off x="2410016"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ك</a:t>
            </a:r>
            <a:endParaRPr lang="ar-SA" sz="2600" dirty="0"/>
          </a:p>
        </p:txBody>
      </p:sp>
      <p:sp>
        <p:nvSpPr>
          <p:cNvPr id="124" name="Text 121"/>
          <p:cNvSpPr txBox="1"/>
          <p:nvPr/>
        </p:nvSpPr>
        <p:spPr>
          <a:xfrm>
            <a:off x="1804797"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ك</a:t>
            </a:r>
            <a:endParaRPr lang="ar-SA" sz="2600" dirty="0"/>
          </a:p>
        </p:txBody>
      </p:sp>
      <p:sp>
        <p:nvSpPr>
          <p:cNvPr id="125" name="Text 122"/>
          <p:cNvSpPr txBox="1"/>
          <p:nvPr/>
        </p:nvSpPr>
        <p:spPr>
          <a:xfrm>
            <a:off x="1199579"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26" name="Text 123"/>
          <p:cNvSpPr txBox="1"/>
          <p:nvPr/>
        </p:nvSpPr>
        <p:spPr>
          <a:xfrm>
            <a:off x="594360"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27" name="Text 1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PLAIN OR EMPHATIC?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Plain (P) or emphatic (E)?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Emphatic first, then plain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Plain first, then emphatic</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2: which order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Emphatic first, then plain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Plain first, then emphatic</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3: which order did you hear?</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Emphatic first, then plain</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Plain first, then emphatic</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emphatic?</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a:t>
            </a:r>
            <a:endParaRPr lang="ar-SA" sz="2050" dirty="0"/>
          </a:p>
        </p:txBody>
      </p:sp>
      <p:sp>
        <p:nvSpPr>
          <p:cNvPr id="58" name="Shape 55"/>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9" name="Text 56"/>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60" name="Text 57"/>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P or E for each sound in your book.</a:t>
            </a:r>
            <a:endParaRPr lang="en-US" sz="1250" dirty="0"/>
          </a:p>
          <a:p>
            <a:pPr algn="l" indent="0" marL="0">
              <a:buNone/>
            </a:pPr>
            <a:r>
              <a:rPr lang="en-US" sz="1250" dirty="0">
                <a:solidFill>
                  <a:srgbClr val="1F2A37"/>
                </a:solidFill>
                <a:latin typeface="Calibri" pitchFamily="34" charset="0"/>
                <a:cs typeface="Amiri" pitchFamily="2" charset="-78"/>
              </a:rPr>
              <a:t>Heavy, darker sound = E.</a:t>
            </a:r>
            <a:endParaRPr lang="en-US" sz="12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PLAIN OR EMPHATIC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Emphatic first, then plain</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Plain first, then emphatic</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cs typeface="Amiri" pitchFamily="2" charset="-78"/>
              </a:rPr>
              <a:t>دَ، ضَ</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2: which order did you hear?</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Emphatic first, then plain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Plain first, then emphatic</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cs typeface="Amiri" pitchFamily="2" charset="-78"/>
              </a:rPr>
              <a:t>تَ، 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3: which order did you hear?</a:t>
            </a:r>
            <a:endParaRPr lang="en-US" sz="1250" dirty="0"/>
          </a:p>
        </p:txBody>
      </p:sp>
      <p:sp>
        <p:nvSpPr>
          <p:cNvPr id="43" name="Shape 40"/>
          <p:cNvSpPr/>
          <p:nvPr/>
        </p:nvSpPr>
        <p:spPr>
          <a:xfrm>
            <a:off x="8278368"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Emphatic first, then plain</a:t>
            </a:r>
            <a:endParaRPr lang="en-US" sz="1250" dirty="0"/>
          </a:p>
        </p:txBody>
      </p:sp>
      <p:sp>
        <p:nvSpPr>
          <p:cNvPr id="46" name="Shape 43"/>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Plain first, then emphatic</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cs typeface="Amiri" pitchFamily="2" charset="-78"/>
              </a:rPr>
              <a:t>ذَ، 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emphatic?</a:t>
            </a:r>
            <a:endParaRPr lang="en-US" sz="1250" dirty="0"/>
          </a:p>
        </p:txBody>
      </p:sp>
      <p:sp>
        <p:nvSpPr>
          <p:cNvPr id="55" name="Shape 52"/>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4831080"/>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8" name="Text 5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a:t>
            </a:r>
            <a:endParaRPr lang="ar-SA" sz="1700" dirty="0"/>
          </a:p>
        </p:txBody>
      </p:sp>
      <p:sp>
        <p:nvSpPr>
          <p:cNvPr id="59" name="Shape 56"/>
          <p:cNvSpPr/>
          <p:nvPr/>
        </p:nvSpPr>
        <p:spPr>
          <a:xfrm>
            <a:off x="640080" y="5202936"/>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1" name="Text 5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62" name="Shape 59"/>
          <p:cNvSpPr/>
          <p:nvPr/>
        </p:nvSpPr>
        <p:spPr>
          <a:xfrm>
            <a:off x="640080" y="557479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a:t>
            </a:r>
            <a:pPr algn="l" indent="0" marL="0">
              <a:buNone/>
            </a:pPr>
            <a:r>
              <a:rPr lang="en-US" sz="1050" i="1" dirty="0">
                <a:solidFill>
                  <a:srgbClr val="8A6D1E"/>
                </a:solidFill>
                <a:latin typeface="Calibri" pitchFamily="34" charset="0"/>
                <a:cs typeface="Amiri" pitchFamily="2" charset="-78"/>
              </a:rPr>
              <a:t> is the emphatic partner of </a:t>
            </a:r>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6" name="Shape 63"/>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7" name="Text 64"/>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68" name="Text 65"/>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P or E for each sound in your book.</a:t>
            </a:r>
            <a:endParaRPr lang="en-US" sz="1250" dirty="0"/>
          </a:p>
          <a:p>
            <a:pPr algn="l" indent="0" marL="0">
              <a:buNone/>
            </a:pPr>
            <a:r>
              <a:rPr lang="en-US" sz="1250" dirty="0">
                <a:solidFill>
                  <a:srgbClr val="1F2A37"/>
                </a:solidFill>
                <a:latin typeface="Calibri" pitchFamily="34" charset="0"/>
                <a:cs typeface="Amiri" pitchFamily="2" charset="-78"/>
              </a:rPr>
              <a:t>Heavy, darker sound = 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ض</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ضَادٌ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ق</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قَافٌ</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كَافٌ</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ط</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ضَادٌ</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clues:</a:t>
            </a:r>
            <a:endParaRPr lang="en-US" sz="1250" dirty="0"/>
          </a:p>
          <a:p>
            <a:pPr algn="l" indent="0" marL="0">
              <a:buNone/>
            </a:pPr>
            <a:r>
              <a:rPr lang="en-US" sz="1250" dirty="0">
                <a:solidFill>
                  <a:srgbClr val="1E6B52"/>
                </a:solidFill>
                <a:latin typeface="Calibri" pitchFamily="34" charset="0"/>
                <a:cs typeface="Amiri" pitchFamily="2" charset="-78"/>
              </a:rPr>
              <a:t>1. the shape (loop? tall stroke? bowl?)</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ض</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ضَادٌ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صَادٌ</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ظَاءٌ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Loop + bowl + one dot.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عَيْنٌ</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غَيْنٌ</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ʿayn body + one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ق</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قَافٌ</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كَافٌ</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Deep bowl + two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ط</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ظَاءٌ</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ضَادٌ</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Loop + tall stroke, no dot.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ف</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قَافٌ</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غَيْنٌ</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Flat tail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clues:</a:t>
            </a:r>
            <a:endParaRPr lang="en-US" sz="1250" dirty="0"/>
          </a:p>
          <a:p>
            <a:pPr algn="l" indent="0" marL="0">
              <a:buNone/>
            </a:pPr>
            <a:r>
              <a:rPr lang="en-US" sz="1250" dirty="0">
                <a:solidFill>
                  <a:srgbClr val="1E6B52"/>
                </a:solidFill>
                <a:latin typeface="Calibri" pitchFamily="34" charset="0"/>
                <a:cs typeface="Amiri" pitchFamily="2" charset="-78"/>
              </a:rPr>
              <a:t>1. the shape (loop? tall stroke? bowl?)</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FOR THIS LESSON ·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beat or two?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حَرَكَةٌ قَصِيرَةٌ أَمْ 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SHORT (one beat)?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بُو</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makes /ū/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Look for the long-vowel letter after </a:t>
            </a:r>
            <a:pPr algn="l" indent="0" marL="0">
              <a:lnSpc>
                <a:spcPct val="115000"/>
              </a:lnSpc>
              <a:buNone/>
            </a:pPr>
            <a:r>
              <a:rPr lang="ar-SA" altLang="en-US" sz="1650" dirty="0">
                <a:solidFill>
                  <a:srgbClr val="1E6B52"/>
                </a:solidFill>
                <a:latin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ar-SA" altLang="en-US" sz="1650" dirty="0">
                <a:solidFill>
                  <a:srgbClr val="1E6B52"/>
                </a:solidFill>
                <a:latin typeface="Amiri" pitchFamily="2" charset="-78"/>
                <a:cs typeface="Amiri" pitchFamily="2" charset="-78"/>
              </a:rPr>
              <a:t>ا</a:t>
            </a:r>
            <a:pPr algn="l" indent="0" marL="0">
              <a:lnSpc>
                <a:spcPct val="115000"/>
              </a:lnSpc>
              <a:buNone/>
            </a:pPr>
            <a:r>
              <a:rPr lang="en-US" sz="1250" dirty="0">
                <a:solidFill>
                  <a:srgbClr val="1E6B52"/>
                </a:solidFill>
                <a:latin typeface="Calibri" pitchFamily="34" charset="0"/>
                <a:cs typeface="Amiri" pitchFamily="2" charset="-78"/>
              </a:rPr>
              <a:t> → ā · </a:t>
            </a:r>
            <a:pPr algn="l" indent="0" marL="0">
              <a:lnSpc>
                <a:spcPct val="115000"/>
              </a:lnSpc>
              <a:buNone/>
            </a:pPr>
            <a:r>
              <a:rPr lang="ar-SA" altLang="en-US" sz="1650" dirty="0">
                <a:solidFill>
                  <a:srgbClr val="1E6B52"/>
                </a:solidFill>
                <a:latin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 ū · </a:t>
            </a:r>
            <a:pPr algn="l" indent="0" marL="0">
              <a:lnSpc>
                <a:spcPct val="115000"/>
              </a:lnSpc>
              <a:buNone/>
            </a:pPr>
            <a:r>
              <a:rPr lang="ar-SA" altLang="en-US" sz="1650" dirty="0">
                <a:solidFill>
                  <a:srgbClr val="1E6B52"/>
                </a:solidFill>
                <a:latin typeface="Amiri" pitchFamily="2" charset="-78"/>
                <a:cs typeface="Amiri" pitchFamily="2" charset="-78"/>
              </a:rPr>
              <a:t>ي</a:t>
            </a:r>
            <a:pPr algn="l" indent="0" marL="0">
              <a:lnSpc>
                <a:spcPct val="115000"/>
              </a:lnSpc>
              <a:buNone/>
            </a:pPr>
            <a:r>
              <a:rPr lang="en-US" sz="1250" dirty="0">
                <a:solidFill>
                  <a:srgbClr val="1E6B52"/>
                </a:solidFill>
                <a:latin typeface="Calibri" pitchFamily="34" charset="0"/>
                <a:cs typeface="Amiri" pitchFamily="2" charset="-78"/>
              </a:rPr>
              <a:t>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No letter after </a:t>
            </a:r>
            <a:pPr algn="l" indent="0" marL="0">
              <a:lnSpc>
                <a:spcPct val="115000"/>
              </a:lnSpc>
              <a:buNone/>
            </a:pPr>
            <a:r>
              <a:rPr lang="ar-SA" altLang="en-US" sz="1650" dirty="0">
                <a:solidFill>
                  <a:srgbClr val="1E6B52"/>
                </a:solidFill>
                <a:latin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 → short.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ONE BEAT OR TWO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/ā/?</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extends the a sound.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/ū/?</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Wāw extends the u sound.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Yāʾ extends the i sound.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SHORT (one beat)?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بُو</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gives a short u sound.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makes /ū/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wāw lengthens the /u/ (website final check 7).</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Look for the long-vowel letter after </a:t>
            </a:r>
            <a:pPr algn="l" indent="0" marL="0">
              <a:lnSpc>
                <a:spcPct val="115000"/>
              </a:lnSpc>
              <a:buNone/>
            </a:pPr>
            <a:r>
              <a:rPr lang="ar-SA" altLang="en-US" sz="1650" dirty="0">
                <a:solidFill>
                  <a:srgbClr val="1E6B52"/>
                </a:solidFill>
                <a:latin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ar-SA" altLang="en-US" sz="1650" dirty="0">
                <a:solidFill>
                  <a:srgbClr val="1E6B52"/>
                </a:solidFill>
                <a:latin typeface="Amiri" pitchFamily="2" charset="-78"/>
                <a:cs typeface="Amiri" pitchFamily="2" charset="-78"/>
              </a:rPr>
              <a:t>ا</a:t>
            </a:r>
            <a:pPr algn="l" indent="0" marL="0">
              <a:lnSpc>
                <a:spcPct val="115000"/>
              </a:lnSpc>
              <a:buNone/>
            </a:pPr>
            <a:r>
              <a:rPr lang="en-US" sz="1250" dirty="0">
                <a:solidFill>
                  <a:srgbClr val="1E6B52"/>
                </a:solidFill>
                <a:latin typeface="Calibri" pitchFamily="34" charset="0"/>
                <a:cs typeface="Amiri" pitchFamily="2" charset="-78"/>
              </a:rPr>
              <a:t> → ā · </a:t>
            </a:r>
            <a:pPr algn="l" indent="0" marL="0">
              <a:lnSpc>
                <a:spcPct val="115000"/>
              </a:lnSpc>
              <a:buNone/>
            </a:pPr>
            <a:r>
              <a:rPr lang="ar-SA" altLang="en-US" sz="1650" dirty="0">
                <a:solidFill>
                  <a:srgbClr val="1E6B52"/>
                </a:solidFill>
                <a:latin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 ū · </a:t>
            </a:r>
            <a:pPr algn="l" indent="0" marL="0">
              <a:lnSpc>
                <a:spcPct val="115000"/>
              </a:lnSpc>
              <a:buNone/>
            </a:pPr>
            <a:r>
              <a:rPr lang="ar-SA" altLang="en-US" sz="1650" dirty="0">
                <a:solidFill>
                  <a:srgbClr val="1E6B52"/>
                </a:solidFill>
                <a:latin typeface="Amiri" pitchFamily="2" charset="-78"/>
                <a:cs typeface="Amiri" pitchFamily="2" charset="-78"/>
              </a:rPr>
              <a:t>ي</a:t>
            </a:r>
            <a:pPr algn="l" indent="0" marL="0">
              <a:lnSpc>
                <a:spcPct val="115000"/>
              </a:lnSpc>
              <a:buNone/>
            </a:pPr>
            <a:r>
              <a:rPr lang="en-US" sz="1250" dirty="0">
                <a:solidFill>
                  <a:srgbClr val="1E6B52"/>
                </a:solidFill>
                <a:latin typeface="Calibri" pitchFamily="34" charset="0"/>
                <a:cs typeface="Amiri" pitchFamily="2" charset="-78"/>
              </a:rPr>
              <a:t>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No letter after </a:t>
            </a:r>
            <a:pPr algn="l" indent="0" marL="0">
              <a:lnSpc>
                <a:spcPct val="115000"/>
              </a:lnSpc>
              <a:buNone/>
            </a:pPr>
            <a:r>
              <a:rPr lang="ar-SA" altLang="en-US" sz="1650" dirty="0">
                <a:solidFill>
                  <a:srgbClr val="1E6B52"/>
                </a:solidFill>
                <a:latin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 → short.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“SOUND LABORATORY”</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today’s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مُخْتَبَرُ الأَصْوَاتِ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ض</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ظ</a:t>
            </a:r>
            <a:endParaRPr lang="ar-SA" sz="1800" dirty="0"/>
          </a:p>
        </p:txBody>
      </p:sp>
      <p:sp>
        <p:nvSpPr>
          <p:cNvPr id="33" name="Shape 30"/>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Emphatic</a:t>
            </a:r>
            <a:endParaRPr lang="en-US" sz="950" dirty="0"/>
          </a:p>
        </p:txBody>
      </p:sp>
      <p:sp>
        <p:nvSpPr>
          <p:cNvPr id="36" name="Shape 33"/>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7" name="Shape 34"/>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ʿayn family</a:t>
            </a:r>
            <a:endParaRPr lang="en-US" sz="950" dirty="0"/>
          </a:p>
        </p:txBody>
      </p:sp>
      <p:sp>
        <p:nvSpPr>
          <p:cNvPr id="39" name="Shape 36"/>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40" name="Shape 37"/>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fāʾ · qāf · kāf</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SOUND LABORATORY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Emphatic</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ض</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ظ</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ʿayn family</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fāʾ · qāf · kāf</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cs typeface="Amiri" pitchFamily="2" charset="-78"/>
              </a:rPr>
              <a:t>8 letters + 3 patterns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eight new letters 3 times each. Then copy </a:t>
            </a:r>
            <a:pPr algn="l" indent="0" marL="0">
              <a:buNone/>
            </a:pPr>
            <a:r>
              <a:rPr lang="ar-SA" altLang="en-US" sz="1800" b="1" dirty="0">
                <a:solidFill>
                  <a:srgbClr val="1F2A37"/>
                </a:solidFill>
                <a:latin typeface="Amiri" pitchFamily="2" charset="-78"/>
                <a:cs typeface="Amiri" pitchFamily="2" charset="-78"/>
              </a:rPr>
              <a:t>بَا</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cs typeface="Amiri" pitchFamily="2" charset="-78"/>
              </a:rPr>
              <a:t>بُو</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cs typeface="Amiri" pitchFamily="2" charset="-78"/>
              </a:rPr>
              <a:t>بِي</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letters + 2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eight letters, then build long-vowel rows with two letters you know — for example with tāʾ and sīn.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Read each row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find the carriers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8 letters from memory. Copy </a:t>
            </a:r>
            <a:pPr algn="l" indent="0" marL="0">
              <a:buNone/>
            </a:pPr>
            <a:r>
              <a:rPr lang="ar-SA" altLang="en-US" sz="1800" b="1" dirty="0">
                <a:solidFill>
                  <a:srgbClr val="1F2A37"/>
                </a:solidFill>
                <a:latin typeface="Amiri" pitchFamily="2" charset="-78"/>
                <a:cs typeface="Amiri" pitchFamily="2" charset="-78"/>
              </a:rPr>
              <a:t>بَابٌ</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cs typeface="Amiri" pitchFamily="2" charset="-78"/>
              </a:rPr>
              <a:t>سُوقٌ</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cs typeface="Amiri" pitchFamily="2" charset="-78"/>
              </a:rPr>
              <a:t>كَبِيرٌ</a:t>
            </a:r>
            <a:pPr algn="l" indent="0" marL="0">
              <a:buNone/>
            </a:pPr>
            <a:r>
              <a:rPr lang="en-US" sz="1400" b="1" dirty="0">
                <a:solidFill>
                  <a:srgbClr val="1F2A37"/>
                </a:solidFill>
                <a:latin typeface="Calibri" pitchFamily="34" charset="0"/>
                <a:cs typeface="Amiri" pitchFamily="2" charset="-78"/>
              </a:rPr>
              <a:t> and circle the long-vowel letter in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build three new syllables of your own.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and read: partner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بَا · بُو · بِي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مُرَقَّقٌ أَمْ مُفَخَّمٌ؟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اِبْنِ مَقَاطِعَ جَدِيدَةً.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مُفَخَّمٌ ، ___ مُرَقَّقٌ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سَا · سُو · 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اِقْرَأْ: بَا · بُو · بِي</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Read: bā · bū · bī</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بَا · بُو · بِي. هٰذِهِ حَرَكَاتٌ طَوِيلَةٌ.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bā · bū · bī. These are long vowels.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cs typeface="Amiri" pitchFamily="2" charset="-78"/>
              </a:rPr>
              <a:t>ف</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cs typeface="Amiri" pitchFamily="2" charset="-78"/>
              </a:rPr>
              <a:t>ق</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 the dots: </a:t>
            </a:r>
            <a:pPr algn="l" indent="0" marL="0">
              <a:buNone/>
            </a:pPr>
            <a:r>
              <a:rPr lang="ar-SA" altLang="en-US" sz="1450" dirty="0">
                <a:solidFill>
                  <a:srgbClr val="5A6472"/>
                </a:solidFill>
                <a:latin typeface="Amiri" pitchFamily="2" charset="-78"/>
                <a:cs typeface="Amiri" pitchFamily="2" charset="-78"/>
              </a:rPr>
              <a:t>ف</a:t>
            </a:r>
            <a:pPr algn="l" indent="0" marL="0">
              <a:buNone/>
            </a:pPr>
            <a:r>
              <a:rPr lang="en-US" sz="1100" dirty="0">
                <a:solidFill>
                  <a:srgbClr val="5A6472"/>
                </a:solidFill>
                <a:latin typeface="Calibri" pitchFamily="34" charset="0"/>
                <a:cs typeface="Amiri" pitchFamily="2" charset="-78"/>
              </a:rPr>
              <a:t> one, </a:t>
            </a:r>
            <a:pPr algn="l" indent="0" marL="0">
              <a:buNone/>
            </a:pPr>
            <a:r>
              <a:rPr lang="ar-SA" altLang="en-US" sz="1450" dirty="0">
                <a:solidFill>
                  <a:srgbClr val="5A6472"/>
                </a:solidFill>
                <a:latin typeface="Amiri" pitchFamily="2" charset="-78"/>
                <a:cs typeface="Amiri" pitchFamily="2" charset="-78"/>
              </a:rPr>
              <a:t>ق</a:t>
            </a:r>
            <a:pPr algn="l" indent="0" marL="0">
              <a:buNone/>
            </a:pPr>
            <a:r>
              <a:rPr lang="en-US" sz="1100" dirty="0">
                <a:solidFill>
                  <a:srgbClr val="5A6472"/>
                </a:solidFill>
                <a:latin typeface="Calibri" pitchFamily="34" charset="0"/>
                <a:cs typeface="Amiri" pitchFamily="2" charset="-78"/>
              </a:rPr>
              <a:t> two — and </a:t>
            </a:r>
            <a:pPr algn="l" indent="0" marL="0">
              <a:buNone/>
            </a:pPr>
            <a:r>
              <a:rPr lang="ar-SA" altLang="en-US" sz="1450" dirty="0">
                <a:solidFill>
                  <a:srgbClr val="5A6472"/>
                </a:solidFill>
                <a:latin typeface="Amiri" pitchFamily="2" charset="-78"/>
                <a:cs typeface="Amiri" pitchFamily="2" charset="-78"/>
              </a:rPr>
              <a:t>ق</a:t>
            </a:r>
            <a:pPr algn="l" indent="0" marL="0">
              <a:buNone/>
            </a:pPr>
            <a:r>
              <a:rPr lang="en-US" sz="1100" dirty="0">
                <a:solidFill>
                  <a:srgbClr val="5A6472"/>
                </a:solidFill>
                <a:latin typeface="Calibri" pitchFamily="34" charset="0"/>
                <a:cs typeface="Amiri" pitchFamily="2" charset="-78"/>
              </a:rPr>
              <a:t> has a deeper bowl.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cs typeface="Amiri" pitchFamily="2" charset="-78"/>
              </a:rPr>
              <a:t>ع</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cs typeface="Amiri" pitchFamily="2" charset="-78"/>
              </a:rPr>
              <a:t>غ</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 body; the dot on top makes ghayn.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cs typeface="Amiri" pitchFamily="2" charset="-78"/>
              </a:rPr>
              <a:t>بَا</a:t>
            </a:r>
            <a:pPr algn="l" indent="0" marL="0">
              <a:buNone/>
            </a:pPr>
            <a:r>
              <a:rPr lang="en-US" sz="1100" dirty="0">
                <a:solidFill>
                  <a:srgbClr val="5A6472"/>
                </a:solidFill>
                <a:latin typeface="Calibri" pitchFamily="34" charset="0"/>
                <a:cs typeface="Amiri" pitchFamily="2" charset="-78"/>
              </a:rPr>
              <a:t> as short</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alif after the fatḥa holds the sound for two beats.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Shouting the emphatic sounds</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Emphatic = a changed tongue shape, not extra volume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Straining the throat for </a:t>
            </a:r>
            <a:pPr algn="l" indent="0" marL="0">
              <a:buNone/>
            </a:pPr>
            <a:r>
              <a:rPr lang="ar-SA" altLang="en-US" sz="1450" dirty="0">
                <a:solidFill>
                  <a:srgbClr val="5A6472"/>
                </a:solidFill>
                <a:latin typeface="Amiri" pitchFamily="2" charset="-78"/>
                <a:cs typeface="Amiri" pitchFamily="2" charset="-78"/>
              </a:rPr>
              <a:t>ع</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Softly — stop if uncomfortable; it develops gradually (website).</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a:t>
            </a:r>
            <a:pPr algn="l" indent="0" marL="0">
              <a:buNone/>
            </a:pPr>
            <a:r>
              <a:rPr lang="ar-SA" altLang="en-US" sz="1450" dirty="0">
                <a:solidFill>
                  <a:srgbClr val="5A6472"/>
                </a:solidFill>
                <a:latin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cs typeface="Amiri" pitchFamily="2" charset="-78"/>
              </a:rPr>
              <a:t>ي</a:t>
            </a:r>
            <a:pPr algn="l" indent="0" marL="0">
              <a:buNone/>
            </a:pPr>
            <a:r>
              <a:rPr lang="en-US" sz="1100" dirty="0">
                <a:solidFill>
                  <a:srgbClr val="5A6472"/>
                </a:solidFill>
                <a:latin typeface="Calibri" pitchFamily="34" charset="0"/>
                <a:cs typeface="Amiri" pitchFamily="2" charset="-78"/>
              </a:rPr>
              <a:t> are always long vowels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have more than one role (website final check 10).</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recognise letters 15–22.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build /ā/, /ū/ and /ī/ patterns.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distinguish the three emphatic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identify the </a:t>
            </a:r>
            <a:pPr algn="l" indent="0" marL="0">
              <a:buNone/>
            </a:pPr>
            <a:r>
              <a:rPr lang="ar-SA" altLang="en-US" sz="1700" dirty="0">
                <a:solidFill>
                  <a:srgbClr val="1F2A37"/>
                </a:solidFill>
                <a:latin typeface="Amiri" pitchFamily="2" charset="-78"/>
                <a:cs typeface="Amiri" pitchFamily="2" charset="-78"/>
              </a:rPr>
              <a:t>ع غ</a:t>
            </a:r>
            <a:pPr algn="l" indent="0" marL="0">
              <a:buNone/>
            </a:pPr>
            <a:r>
              <a:rPr lang="en-US" sz="1300" dirty="0">
                <a:solidFill>
                  <a:srgbClr val="1F2A37"/>
                </a:solidFill>
                <a:latin typeface="Calibri" pitchFamily="34" charset="0"/>
                <a:cs typeface="Amiri" pitchFamily="2" charset="-78"/>
              </a:rPr>
              <a:t> family.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the long-vowel letter inside a new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of today’s eight letters?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are connectors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are non-connectors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half are non-connectors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/ā/?</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 alif (website final check 6).</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/ī/?</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yāʾ (website final check 8).</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of today’s eight letters?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All are connectors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are non-connectors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half are non-connectors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eight connect on both sides (website final check 5).</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F1-L04 · Complete the Alphabet &amp; Read Short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  لَامٌ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lām · /l/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  مِيمٌ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mīm · /m/</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  نُونٌ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nūn · /n/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  هَاءٌ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hāʾ · /h/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  وَاوٌ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wāw · /w/, long ū</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Build and read three long-vowel rows with two letters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تَا تُو تِي · سَا سُو سِي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F1-L03 · play the vowel game; copy </a:t>
            </a:r>
            <a:pPr algn="l" indent="0" marL="0">
              <a:buNone/>
            </a:pPr>
            <a:r>
              <a:rPr lang="ar-SA" altLang="en-US" sz="1550" dirty="0">
                <a:solidFill>
                  <a:srgbClr val="1F2A37"/>
                </a:solidFill>
                <a:latin typeface="Amiri" pitchFamily="2" charset="-78"/>
                <a:cs typeface="Amiri" pitchFamily="2" charset="-78"/>
              </a:rPr>
              <a:t>ض ط ظ ع غ ف ق ك</a:t>
            </a:r>
            <a:pPr algn="l" indent="0" marL="0">
              <a:buNone/>
            </a:pPr>
            <a:r>
              <a:rPr lang="en-US" sz="1200" dirty="0">
                <a:solidFill>
                  <a:srgbClr val="1F2A37"/>
                </a:solidFill>
                <a:latin typeface="Calibri" pitchFamily="34" charset="0"/>
                <a:cs typeface="Amiri" pitchFamily="2" charset="-78"/>
              </a:rPr>
              <a:t> four times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build and read three long-vowel rows with two consonants.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F1-L03 · Heritage precision: a six-item plain/emphatic drill with a mouth cue for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F1-L04 · Complete the Alphabet &amp; Read Short Vowels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أَكْمِلِ الحُرُوفَ وَاقْرَأِ الحَرَكَاتِ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new letters + your long-vowel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F1-L03 · Powerful Sounds &amp; Long Vowels</dc:title>
  <dc:subject>PptxGenJS Presentation</dc:subject>
  <dc:creator>Al Madina Online School · Arabic Department</dc:creator>
  <cp:lastModifiedBy>Al Madina Online School · Arabic Department</cp:lastModifiedBy>
  <cp:revision>1</cp:revision>
  <dcterms:created xsi:type="dcterms:W3CDTF">2026-10-11T06:41:15Z</dcterms:created>
  <dcterms:modified xsi:type="dcterms:W3CDTF">2026-10-11T06:41:15Z</dcterms:modified>
</cp:coreProperties>
</file>