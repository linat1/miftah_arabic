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PRACTICE ROOM AT A GLANCE — one combined lesson (speaking, then writing), 55–60 minutes: about 6 minutes in the main room, about 45 minutes in breakout rooms of two or three, about 6 minutes back together.
0–2 Welcome · 2–5 How the room works · ROOMS, Part A Speaking: Step 1 Letter warm-up (5) · Step 2 Say the mini-dialogue (5) · Step 3 Point-and-say cards (7) · Step 4 Reading card (7) · Step 5 Read-aloud race (4) · Part B Writing: Step 6 Build the word (4) · Step 7 Spot the slip (3) · Step 8 Copy, listen and write (12) + buddy check (3) · back in the main room: Check yourself (4) · Self-check + close (2).
PURPOSE: students practise the lesson’s language ON THEIR OWN with a clear structure. The teacher visits each room (about 3 minutes per room), listens, reads one piece of writing per student and gives one live correction.
CONTENT: F1-L02 (New Letter Families &amp; Connection Breakers) — new practice tasks built on the lesson’s own word bank and grammar (seven new letters (dāl · dhāl · rāʾ · zāy · sīn · shīn · ṣād); pairs that differ only by a dot (د ذ · ر ز · س ش); the connection breakers ا د ذ ر ز never join to the next letter; after al-, a sun letter is doubled (al-shams → ash-shams) and a moon letter keeps the l (al-qamar)).
SET-UP: rooms of two or three (same-level rooms keep the routes simple). Share this deck or its PDF in the chat so every room can follow the steps. Each student writes in their own book or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 Part A is speaking, Part B is writing. The step number is always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(3 min, main room). Model the roles quickly with two volunteers using one question from Step 3. Stress: the Coach is kind and specific. Then open the breakout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(5 min in rooms). The two word slides that follow come from the F1-L02 lesson. Teacher: visit the first room straight away to model the 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the Leader picks the English, the Speaker gives the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(5 min). The dialogue models today’s language in a real exchange.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(7 min). The Speaker reads from the slide; the Coach checks the sound and the direction (right to left). Teacher: listen for the target sounds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(7 min). SUPPORTED: the plan column models the thinking (first words), not the full answer. Everyone is Speaker once. To a girl the Leader says: no changes needed.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(4 min). A short talk builds fluency and confidence.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starting on the RIGHT (column 1). The answer slide shows the parts joined into one word. Students copy the three words into their book — they are used again in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starting on the RIGHT (column 1). The answer slide shows the parts joined into one word. Students copy the three words into their book — they are used again in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support. Core: use the Core frames for every sentence. Develop: use the Develop frames only if stuck. Stretch: no frames — add a reason, a time phrase and one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(10 min). Core: copy the letters and words with the frames. Develop: add al- to each word and mark the sun letters; then a five-item dictation. Stretch: eight-item dictation, then sort the words into sun and moon. Teacher checks breaker gaps and dots.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(23 words). CHECK YOURSELF (2 min). Find each bullet point in the model.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7  ·  FOUNDATION F1  ·  F1-L02 · PRACTICE ROOM</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F1-L02</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Practice Room — New Letter Families &amp; Connection Breakers</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التَّدَرُّبِ — حُرُوفٌ جَدِيدَةٌ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100" dirty="0">
                <a:solidFill>
                  <a:srgbClr val="C6D2E6"/>
                </a:solidFill>
                <a:latin typeface="Calibri" pitchFamily="34" charset="0"/>
                <a:cs typeface="Amiri" pitchFamily="2" charset="-78"/>
              </a:rPr>
              <a:t>Students run their own sounds-and-script practice with seven new letters: say names and sounds, act a dot-pair mini-dialogue, do point-and-say cards, read words with breakers and with sun and moon letters on a reading card, race to read the row, then build words from their letters, spot slips and copy, take dictation and label.</a:t>
            </a:r>
            <a:endParaRPr lang="en-US" sz="11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F1-L02 · Foundation F1 · Arabic Script &amp; Sounds</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Foundation · complete beginner</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Foundation › F1 › F1-L02</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F1-L02 · Sounds + script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F1-L02 · practice room</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F1-L02 · Sounds + script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Speak first, then write — you run it yourselves</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F1-L02 · practice room</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1–2: letter warm-up · say the mini-dialogue.</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الكَلِمَاتُ وَالحِوَارُ</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3–5: point-and-say cards · reading card · read-aloud race.</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6–7: build the word · spot the slip.</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ابْنِ وَصَحِّحْ</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15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8: copy, listen and write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Everybody speaks in every step and everybody writes their own text. Swap roles after each task. If you finish early, do the step again with the Stretch route.</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F1-L02 · Sounds + script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Three roles — then write alone, check together</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 فِي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F1-L02 · practice room</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ROLES (SWAP AFTER EVERY TASK)</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 points to a letter or word on the slide (or reads the card) and keeps the time.</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SPEAKER — says the sound or reads the word aloud, from RIGHT to left. Slowly is fine — clearly is the goal.</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COACH — checks with the slide, then says one thing that went well and one thing to improve. (In a pair, the Leader is also the Coach.)</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WRITING (Part B): everyone writes in their OWN book — copying, then dictation; then swap with a buddy and check.</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USEFUL ROOM PHRASES</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دَوْرُكَ! / دَوْرُكِ!</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turn! (m. / f.)</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عَفْوًا، أَعِدْ مِنْ فَضْلِكَ.</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Sorry, repeat please.</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لَحْظَةً، أُفَكِّرُ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moment, I’m thinking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F1-L02 · Sounds + script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A · STEP 1 · LETTER WARM-UP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Say it — then find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قُلْهُ وَجِدْهُ</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F1-L02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Sound ping-pong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Leader says a letter NAME or SOUND from the next two slides. The Speaker points to it (or says its number) and says the sound again. The Coach checks on the slide.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Leader: say 4 letter names or sounds; Speaker finds each one.</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checks the shape and the dots on the slide.</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roles — new letters each time.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the Speaker says a word that starts with the letter.</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Find the letter and say its sound.</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its name AND its sound, and how many dots it has.</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a word with that letter — at the start, in the middle or at the end.</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أَعِدْ مِنْ فَضْلِكَ / أَعِيدِي</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repeat please (m. / f.)</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أَحْسَنْتَ! / أَحْسَنْتِ!</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well done! (m. / f.)</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بِبُطْءٍ مِنْ فَضْلِكَ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slowly, please</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F1-L02 · Sounds + script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(1)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Seven new letters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حُرُوفُ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F1-L02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704088"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pair 1</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300" b="1" dirty="0">
                <a:solidFill>
                  <a:srgbClr val="1B3B6F"/>
                </a:solidFill>
                <a:latin typeface="Amiri" pitchFamily="2" charset="-78"/>
                <a:ea typeface="Amiri" pitchFamily="2" charset="-78"/>
                <a:cs typeface="Amiri" pitchFamily="2" charset="-78"/>
              </a:rPr>
              <a:t>د</a:t>
            </a:r>
            <a:endParaRPr lang="ar-SA" sz="33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dāl — sound /d/ (door)</a:t>
            </a:r>
            <a:endParaRPr lang="en-US" sz="1350" dirty="0"/>
          </a:p>
          <a:p>
            <a:pPr indent="0" marL="0">
              <a:buNone/>
            </a:pPr>
            <a:r>
              <a:rPr lang="en-US" sz="1100" i="1" dirty="0">
                <a:solidFill>
                  <a:srgbClr val="5A6472"/>
                </a:solidFill>
                <a:latin typeface="Calibri" pitchFamily="34" charset="0"/>
                <a:cs typeface="Amiri" pitchFamily="2" charset="-78"/>
              </a:rPr>
              <a:t>no dot</a:t>
            </a:r>
            <a:endParaRPr lang="en-US" sz="1350" dirty="0"/>
          </a:p>
        </p:txBody>
      </p:sp>
      <p:sp>
        <p:nvSpPr>
          <p:cNvPr id="24" name="Shape 21"/>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name</a:t>
            </a:r>
            <a:endParaRPr lang="en-US" sz="700" dirty="0"/>
          </a:p>
        </p:txBody>
      </p:sp>
      <p:sp>
        <p:nvSpPr>
          <p:cNvPr id="26" name="Text 23"/>
          <p:cNvSpPr txBox="1"/>
          <p:nvPr/>
        </p:nvSpPr>
        <p:spPr>
          <a:xfrm>
            <a:off x="8284464"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دَالٌ</a:t>
            </a:r>
            <a:endParaRPr lang="ar-SA" sz="1350" dirty="0"/>
          </a:p>
        </p:txBody>
      </p:sp>
      <p:sp>
        <p:nvSpPr>
          <p:cNvPr id="27" name="Shape 24"/>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389120"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0" name="Shape 27"/>
          <p:cNvSpPr/>
          <p:nvPr/>
        </p:nvSpPr>
        <p:spPr>
          <a:xfrm>
            <a:off x="4782312" y="1938528"/>
            <a:ext cx="704088" cy="256032"/>
          </a:xfrm>
          <a:prstGeom prst="roundRect">
            <a:avLst>
              <a:gd name="adj" fmla="val 50000"/>
            </a:avLst>
          </a:prstGeom>
          <a:solidFill>
            <a:srgbClr val="EFE7D2"/>
          </a:solidFill>
          <a:ln w="12700">
            <a:solidFill>
              <a:srgbClr val="EFE7D2"/>
            </a:solidFill>
            <a:prstDash val="solid"/>
          </a:ln>
        </p:spPr>
      </p:sp>
      <p:sp>
        <p:nvSpPr>
          <p:cNvPr id="31" name="Text 28"/>
          <p:cNvSpPr txBox="1"/>
          <p:nvPr/>
        </p:nvSpPr>
        <p:spPr>
          <a:xfrm>
            <a:off x="4782312"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pair 1</a:t>
            </a:r>
            <a:endParaRPr lang="en-US" sz="800" dirty="0"/>
          </a:p>
        </p:txBody>
      </p:sp>
      <p:sp>
        <p:nvSpPr>
          <p:cNvPr id="32" name="Shape 29"/>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300" b="1" dirty="0">
                <a:solidFill>
                  <a:srgbClr val="1B3B6F"/>
                </a:solidFill>
                <a:latin typeface="Amiri" pitchFamily="2" charset="-78"/>
                <a:ea typeface="Amiri" pitchFamily="2" charset="-78"/>
                <a:cs typeface="Amiri" pitchFamily="2" charset="-78"/>
              </a:rPr>
              <a:t>ذ</a:t>
            </a:r>
            <a:endParaRPr lang="ar-SA" sz="3300" dirty="0"/>
          </a:p>
        </p:txBody>
      </p:sp>
      <p:sp>
        <p:nvSpPr>
          <p:cNvPr id="35" name="Text 32"/>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dhāl — sound /ð/ (this)</a:t>
            </a:r>
            <a:endParaRPr lang="en-US" sz="1350" dirty="0"/>
          </a:p>
          <a:p>
            <a:pPr indent="0" marL="0">
              <a:buNone/>
            </a:pPr>
            <a:r>
              <a:rPr lang="en-US" sz="1100" i="1" dirty="0">
                <a:solidFill>
                  <a:srgbClr val="5A6472"/>
                </a:solidFill>
                <a:latin typeface="Calibri" pitchFamily="34" charset="0"/>
                <a:cs typeface="Amiri" pitchFamily="2" charset="-78"/>
              </a:rPr>
              <a:t>ONE dot ABOVE</a:t>
            </a:r>
            <a:endParaRPr lang="en-US" sz="1350" dirty="0"/>
          </a:p>
        </p:txBody>
      </p:sp>
      <p:sp>
        <p:nvSpPr>
          <p:cNvPr id="36" name="Shape 33"/>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7" name="Text 34"/>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name</a:t>
            </a:r>
            <a:endParaRPr lang="en-US" sz="700" dirty="0"/>
          </a:p>
        </p:txBody>
      </p:sp>
      <p:sp>
        <p:nvSpPr>
          <p:cNvPr id="38" name="Text 35"/>
          <p:cNvSpPr txBox="1"/>
          <p:nvPr/>
        </p:nvSpPr>
        <p:spPr>
          <a:xfrm>
            <a:off x="4462272"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ذَالٌ</a:t>
            </a:r>
            <a:endParaRPr lang="ar-SA" sz="1350" dirty="0"/>
          </a:p>
        </p:txBody>
      </p:sp>
      <p:sp>
        <p:nvSpPr>
          <p:cNvPr id="39" name="Shape 3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66928" y="1920240"/>
            <a:ext cx="310896" cy="310896"/>
          </a:xfrm>
          <a:prstGeom prst="ellipse">
            <a:avLst/>
          </a:prstGeom>
          <a:solidFill>
            <a:srgbClr val="F4F1EA"/>
          </a:solidFill>
          <a:ln w="12700">
            <a:solidFill>
              <a:srgbClr val="F4F1EA"/>
            </a:solidFill>
            <a:prstDash val="solid"/>
          </a:ln>
        </p:spPr>
      </p:sp>
      <p:sp>
        <p:nvSpPr>
          <p:cNvPr id="41" name="Text 3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42" name="Shape 39"/>
          <p:cNvSpPr/>
          <p:nvPr/>
        </p:nvSpPr>
        <p:spPr>
          <a:xfrm>
            <a:off x="960120" y="1938528"/>
            <a:ext cx="704088" cy="256032"/>
          </a:xfrm>
          <a:prstGeom prst="roundRect">
            <a:avLst>
              <a:gd name="adj" fmla="val 50000"/>
            </a:avLst>
          </a:prstGeom>
          <a:solidFill>
            <a:srgbClr val="EFE7D2"/>
          </a:solidFill>
          <a:ln w="12700">
            <a:solidFill>
              <a:srgbClr val="EFE7D2"/>
            </a:solidFill>
            <a:prstDash val="solid"/>
          </a:ln>
        </p:spPr>
      </p:sp>
      <p:sp>
        <p:nvSpPr>
          <p:cNvPr id="43" name="Text 40"/>
          <p:cNvSpPr txBox="1"/>
          <p:nvPr/>
        </p:nvSpPr>
        <p:spPr>
          <a:xfrm>
            <a:off x="960120"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pair 2</a:t>
            </a:r>
            <a:endParaRPr lang="en-US" sz="800" dirty="0"/>
          </a:p>
        </p:txBody>
      </p:sp>
      <p:sp>
        <p:nvSpPr>
          <p:cNvPr id="44" name="Shape 4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300" b="1" dirty="0">
                <a:solidFill>
                  <a:srgbClr val="1B3B6F"/>
                </a:solidFill>
                <a:latin typeface="Amiri" pitchFamily="2" charset="-78"/>
                <a:ea typeface="Amiri" pitchFamily="2" charset="-78"/>
                <a:cs typeface="Amiri" pitchFamily="2" charset="-78"/>
              </a:rPr>
              <a:t>ر</a:t>
            </a:r>
            <a:endParaRPr lang="ar-SA" sz="3300" dirty="0"/>
          </a:p>
        </p:txBody>
      </p:sp>
      <p:sp>
        <p:nvSpPr>
          <p:cNvPr id="47" name="Text 44"/>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rāʾ — sound /r/ (tapped r)</a:t>
            </a:r>
            <a:endParaRPr lang="en-US" sz="1350" dirty="0"/>
          </a:p>
          <a:p>
            <a:pPr indent="0" marL="0">
              <a:buNone/>
            </a:pPr>
            <a:r>
              <a:rPr lang="en-US" sz="1100" i="1" dirty="0">
                <a:solidFill>
                  <a:srgbClr val="5A6472"/>
                </a:solidFill>
                <a:latin typeface="Calibri" pitchFamily="34" charset="0"/>
                <a:cs typeface="Amiri" pitchFamily="2" charset="-78"/>
              </a:rPr>
              <a:t>no dot</a:t>
            </a:r>
            <a:endParaRPr lang="en-US" sz="1350" dirty="0"/>
          </a:p>
        </p:txBody>
      </p:sp>
      <p:sp>
        <p:nvSpPr>
          <p:cNvPr id="48" name="Shape 45"/>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name</a:t>
            </a:r>
            <a:endParaRPr lang="en-US" sz="700" dirty="0"/>
          </a:p>
        </p:txBody>
      </p:sp>
      <p:sp>
        <p:nvSpPr>
          <p:cNvPr id="50" name="Text 47"/>
          <p:cNvSpPr txBox="1"/>
          <p:nvPr/>
        </p:nvSpPr>
        <p:spPr>
          <a:xfrm>
            <a:off x="640080"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رَاءٌ</a:t>
            </a:r>
            <a:endParaRPr lang="ar-SA" sz="1350" dirty="0"/>
          </a:p>
        </p:txBody>
      </p:sp>
      <p:sp>
        <p:nvSpPr>
          <p:cNvPr id="51" name="Shape 48"/>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8211312" y="4261104"/>
            <a:ext cx="310896" cy="310896"/>
          </a:xfrm>
          <a:prstGeom prst="ellipse">
            <a:avLst/>
          </a:prstGeom>
          <a:solidFill>
            <a:srgbClr val="F4F1EA"/>
          </a:solidFill>
          <a:ln w="12700">
            <a:solidFill>
              <a:srgbClr val="F4F1EA"/>
            </a:solidFill>
            <a:prstDash val="solid"/>
          </a:ln>
        </p:spPr>
      </p:sp>
      <p:sp>
        <p:nvSpPr>
          <p:cNvPr id="53" name="Text 50"/>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54" name="Shape 51"/>
          <p:cNvSpPr/>
          <p:nvPr/>
        </p:nvSpPr>
        <p:spPr>
          <a:xfrm>
            <a:off x="8604504" y="4279392"/>
            <a:ext cx="704088" cy="256032"/>
          </a:xfrm>
          <a:prstGeom prst="roundRect">
            <a:avLst>
              <a:gd name="adj" fmla="val 50000"/>
            </a:avLst>
          </a:prstGeom>
          <a:solidFill>
            <a:srgbClr val="EFE7D2"/>
          </a:solidFill>
          <a:ln w="12700">
            <a:solidFill>
              <a:srgbClr val="EFE7D2"/>
            </a:solidFill>
            <a:prstDash val="solid"/>
          </a:ln>
        </p:spPr>
      </p:sp>
      <p:sp>
        <p:nvSpPr>
          <p:cNvPr id="55" name="Text 52"/>
          <p:cNvSpPr txBox="1"/>
          <p:nvPr/>
        </p:nvSpPr>
        <p:spPr>
          <a:xfrm>
            <a:off x="8604504"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pair 2</a:t>
            </a:r>
            <a:endParaRPr lang="en-US" sz="800" dirty="0"/>
          </a:p>
        </p:txBody>
      </p:sp>
      <p:sp>
        <p:nvSpPr>
          <p:cNvPr id="56" name="Shape 53"/>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7" name="Text 54"/>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8" name="Text 55"/>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300" b="1" dirty="0">
                <a:solidFill>
                  <a:srgbClr val="1B3B6F"/>
                </a:solidFill>
                <a:latin typeface="Amiri" pitchFamily="2" charset="-78"/>
                <a:ea typeface="Amiri" pitchFamily="2" charset="-78"/>
                <a:cs typeface="Amiri" pitchFamily="2" charset="-78"/>
              </a:rPr>
              <a:t>ز</a:t>
            </a:r>
            <a:endParaRPr lang="ar-SA" sz="3300" dirty="0"/>
          </a:p>
        </p:txBody>
      </p:sp>
      <p:sp>
        <p:nvSpPr>
          <p:cNvPr id="59" name="Text 56"/>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zāy — sound /z/ (zoo)</a:t>
            </a:r>
            <a:endParaRPr lang="en-US" sz="1350" dirty="0"/>
          </a:p>
          <a:p>
            <a:pPr indent="0" marL="0">
              <a:buNone/>
            </a:pPr>
            <a:r>
              <a:rPr lang="en-US" sz="1100" i="1" dirty="0">
                <a:solidFill>
                  <a:srgbClr val="5A6472"/>
                </a:solidFill>
                <a:latin typeface="Calibri" pitchFamily="34" charset="0"/>
                <a:cs typeface="Amiri" pitchFamily="2" charset="-78"/>
              </a:rPr>
              <a:t>ONE dot ABOVE</a:t>
            </a:r>
            <a:endParaRPr lang="en-US" sz="1350" dirty="0"/>
          </a:p>
        </p:txBody>
      </p:sp>
      <p:sp>
        <p:nvSpPr>
          <p:cNvPr id="60" name="Shape 57"/>
          <p:cNvSpPr/>
          <p:nvPr/>
        </p:nvSpPr>
        <p:spPr>
          <a:xfrm>
            <a:off x="8238744" y="5779008"/>
            <a:ext cx="3364992" cy="438912"/>
          </a:xfrm>
          <a:prstGeom prst="roundRect">
            <a:avLst>
              <a:gd name="adj" fmla="val 10417"/>
            </a:avLst>
          </a:prstGeom>
          <a:solidFill>
            <a:srgbClr val="F4F1EA"/>
          </a:solidFill>
          <a:ln w="9525">
            <a:solidFill>
              <a:srgbClr val="F4F1EA"/>
            </a:solidFill>
            <a:prstDash val="solid"/>
          </a:ln>
        </p:spPr>
      </p:sp>
      <p:sp>
        <p:nvSpPr>
          <p:cNvPr id="61" name="Text 58"/>
          <p:cNvSpPr txBox="1"/>
          <p:nvPr/>
        </p:nvSpPr>
        <p:spPr>
          <a:xfrm>
            <a:off x="8293608" y="5788152"/>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name</a:t>
            </a:r>
            <a:endParaRPr lang="en-US" sz="700" dirty="0"/>
          </a:p>
        </p:txBody>
      </p:sp>
      <p:sp>
        <p:nvSpPr>
          <p:cNvPr id="62" name="Text 59"/>
          <p:cNvSpPr txBox="1"/>
          <p:nvPr/>
        </p:nvSpPr>
        <p:spPr>
          <a:xfrm>
            <a:off x="8284464" y="5916168"/>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زَايٌ</a:t>
            </a:r>
            <a:endParaRPr lang="ar-SA" sz="1350" dirty="0"/>
          </a:p>
        </p:txBody>
      </p:sp>
      <p:sp>
        <p:nvSpPr>
          <p:cNvPr id="63" name="Shape 6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4389120" y="4261104"/>
            <a:ext cx="310896" cy="310896"/>
          </a:xfrm>
          <a:prstGeom prst="ellipse">
            <a:avLst/>
          </a:prstGeom>
          <a:solidFill>
            <a:srgbClr val="F4F1EA"/>
          </a:solidFill>
          <a:ln w="12700">
            <a:solidFill>
              <a:srgbClr val="F4F1EA"/>
            </a:solidFill>
            <a:prstDash val="solid"/>
          </a:ln>
        </p:spPr>
      </p:sp>
      <p:sp>
        <p:nvSpPr>
          <p:cNvPr id="65" name="Text 6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66" name="Shape 63"/>
          <p:cNvSpPr/>
          <p:nvPr/>
        </p:nvSpPr>
        <p:spPr>
          <a:xfrm>
            <a:off x="4782312" y="4279392"/>
            <a:ext cx="1020470" cy="256032"/>
          </a:xfrm>
          <a:prstGeom prst="roundRect">
            <a:avLst>
              <a:gd name="adj" fmla="val 50000"/>
            </a:avLst>
          </a:prstGeom>
          <a:solidFill>
            <a:srgbClr val="EFE7D2"/>
          </a:solidFill>
          <a:ln w="12700">
            <a:solidFill>
              <a:srgbClr val="EFE7D2"/>
            </a:solidFill>
            <a:prstDash val="solid"/>
          </a:ln>
        </p:spPr>
      </p:sp>
      <p:sp>
        <p:nvSpPr>
          <p:cNvPr id="67" name="Text 64"/>
          <p:cNvSpPr txBox="1"/>
          <p:nvPr/>
        </p:nvSpPr>
        <p:spPr>
          <a:xfrm>
            <a:off x="4782312" y="4279392"/>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tooth family</a:t>
            </a:r>
            <a:endParaRPr lang="en-US" sz="800" dirty="0"/>
          </a:p>
        </p:txBody>
      </p:sp>
      <p:sp>
        <p:nvSpPr>
          <p:cNvPr id="68" name="Shape 65"/>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69" name="Text 66"/>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0" name="Text 67"/>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300" b="1" dirty="0">
                <a:solidFill>
                  <a:srgbClr val="1B3B6F"/>
                </a:solidFill>
                <a:latin typeface="Amiri" pitchFamily="2" charset="-78"/>
                <a:ea typeface="Amiri" pitchFamily="2" charset="-78"/>
                <a:cs typeface="Amiri" pitchFamily="2" charset="-78"/>
              </a:rPr>
              <a:t>س</a:t>
            </a:r>
            <a:endParaRPr lang="ar-SA" sz="3300" dirty="0"/>
          </a:p>
        </p:txBody>
      </p:sp>
      <p:sp>
        <p:nvSpPr>
          <p:cNvPr id="71" name="Text 68"/>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sīn — sound /s/ (sun)</a:t>
            </a:r>
            <a:endParaRPr lang="en-US" sz="1350" dirty="0"/>
          </a:p>
          <a:p>
            <a:pPr indent="0" marL="0">
              <a:buNone/>
            </a:pPr>
            <a:r>
              <a:rPr lang="en-US" sz="1100" i="1" dirty="0">
                <a:solidFill>
                  <a:srgbClr val="5A6472"/>
                </a:solidFill>
                <a:latin typeface="Calibri" pitchFamily="34" charset="0"/>
                <a:cs typeface="Amiri" pitchFamily="2" charset="-78"/>
              </a:rPr>
              <a:t>three “teeth” · no dots</a:t>
            </a:r>
            <a:endParaRPr lang="en-US" sz="1350" dirty="0"/>
          </a:p>
        </p:txBody>
      </p:sp>
      <p:sp>
        <p:nvSpPr>
          <p:cNvPr id="72" name="Shape 69"/>
          <p:cNvSpPr/>
          <p:nvPr/>
        </p:nvSpPr>
        <p:spPr>
          <a:xfrm>
            <a:off x="4416552" y="5779008"/>
            <a:ext cx="3364992" cy="438912"/>
          </a:xfrm>
          <a:prstGeom prst="roundRect">
            <a:avLst>
              <a:gd name="adj" fmla="val 10417"/>
            </a:avLst>
          </a:prstGeom>
          <a:solidFill>
            <a:srgbClr val="F4F1EA"/>
          </a:solidFill>
          <a:ln w="9525">
            <a:solidFill>
              <a:srgbClr val="F4F1EA"/>
            </a:solidFill>
            <a:prstDash val="solid"/>
          </a:ln>
        </p:spPr>
      </p:sp>
      <p:sp>
        <p:nvSpPr>
          <p:cNvPr id="73" name="Text 70"/>
          <p:cNvSpPr txBox="1"/>
          <p:nvPr/>
        </p:nvSpPr>
        <p:spPr>
          <a:xfrm>
            <a:off x="4471416" y="5788152"/>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name</a:t>
            </a:r>
            <a:endParaRPr lang="en-US" sz="700" dirty="0"/>
          </a:p>
        </p:txBody>
      </p:sp>
      <p:sp>
        <p:nvSpPr>
          <p:cNvPr id="74" name="Text 71"/>
          <p:cNvSpPr txBox="1"/>
          <p:nvPr/>
        </p:nvSpPr>
        <p:spPr>
          <a:xfrm>
            <a:off x="4462272" y="5916168"/>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سِينٌ</a:t>
            </a:r>
            <a:endParaRPr lang="ar-SA" sz="1350" dirty="0"/>
          </a:p>
        </p:txBody>
      </p:sp>
      <p:sp>
        <p:nvSpPr>
          <p:cNvPr id="75" name="Shape 72"/>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566928" y="4261104"/>
            <a:ext cx="310896" cy="310896"/>
          </a:xfrm>
          <a:prstGeom prst="ellipse">
            <a:avLst/>
          </a:prstGeom>
          <a:solidFill>
            <a:srgbClr val="F4F1EA"/>
          </a:solidFill>
          <a:ln w="12700">
            <a:solidFill>
              <a:srgbClr val="F4F1EA"/>
            </a:solidFill>
            <a:prstDash val="solid"/>
          </a:ln>
        </p:spPr>
      </p:sp>
      <p:sp>
        <p:nvSpPr>
          <p:cNvPr id="77" name="Text 74"/>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78" name="Shape 75"/>
          <p:cNvSpPr/>
          <p:nvPr/>
        </p:nvSpPr>
        <p:spPr>
          <a:xfrm>
            <a:off x="960120" y="4279392"/>
            <a:ext cx="1020470" cy="256032"/>
          </a:xfrm>
          <a:prstGeom prst="roundRect">
            <a:avLst>
              <a:gd name="adj" fmla="val 50000"/>
            </a:avLst>
          </a:prstGeom>
          <a:solidFill>
            <a:srgbClr val="EFE7D2"/>
          </a:solidFill>
          <a:ln w="12700">
            <a:solidFill>
              <a:srgbClr val="EFE7D2"/>
            </a:solidFill>
            <a:prstDash val="solid"/>
          </a:ln>
        </p:spPr>
      </p:sp>
      <p:sp>
        <p:nvSpPr>
          <p:cNvPr id="79" name="Text 76"/>
          <p:cNvSpPr txBox="1"/>
          <p:nvPr/>
        </p:nvSpPr>
        <p:spPr>
          <a:xfrm>
            <a:off x="960120" y="4279392"/>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tooth family</a:t>
            </a:r>
            <a:endParaRPr lang="en-US" sz="800" dirty="0"/>
          </a:p>
        </p:txBody>
      </p:sp>
      <p:sp>
        <p:nvSpPr>
          <p:cNvPr id="80" name="Shape 77"/>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81" name="Text 78"/>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82" name="Text 79"/>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300" b="1" dirty="0">
                <a:solidFill>
                  <a:srgbClr val="1B3B6F"/>
                </a:solidFill>
                <a:latin typeface="Amiri" pitchFamily="2" charset="-78"/>
                <a:ea typeface="Amiri" pitchFamily="2" charset="-78"/>
                <a:cs typeface="Amiri" pitchFamily="2" charset="-78"/>
              </a:rPr>
              <a:t>ش</a:t>
            </a:r>
            <a:endParaRPr lang="ar-SA" sz="3300" dirty="0"/>
          </a:p>
        </p:txBody>
      </p:sp>
      <p:sp>
        <p:nvSpPr>
          <p:cNvPr id="83" name="Text 80"/>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shīn — sound /ʃ/ (ship)</a:t>
            </a:r>
            <a:endParaRPr lang="en-US" sz="1350" dirty="0"/>
          </a:p>
          <a:p>
            <a:pPr indent="0" marL="0">
              <a:buNone/>
            </a:pPr>
            <a:r>
              <a:rPr lang="en-US" sz="1100" i="1" dirty="0">
                <a:solidFill>
                  <a:srgbClr val="5A6472"/>
                </a:solidFill>
                <a:latin typeface="Calibri" pitchFamily="34" charset="0"/>
                <a:cs typeface="Amiri" pitchFamily="2" charset="-78"/>
              </a:rPr>
              <a:t>THREE dots ABOVE</a:t>
            </a:r>
            <a:endParaRPr lang="en-US" sz="1350" dirty="0"/>
          </a:p>
        </p:txBody>
      </p:sp>
      <p:sp>
        <p:nvSpPr>
          <p:cNvPr id="84" name="Shape 81"/>
          <p:cNvSpPr/>
          <p:nvPr/>
        </p:nvSpPr>
        <p:spPr>
          <a:xfrm>
            <a:off x="594360" y="5779008"/>
            <a:ext cx="3364992" cy="438912"/>
          </a:xfrm>
          <a:prstGeom prst="roundRect">
            <a:avLst>
              <a:gd name="adj" fmla="val 10417"/>
            </a:avLst>
          </a:prstGeom>
          <a:solidFill>
            <a:srgbClr val="F4F1EA"/>
          </a:solidFill>
          <a:ln w="9525">
            <a:solidFill>
              <a:srgbClr val="F4F1EA"/>
            </a:solidFill>
            <a:prstDash val="solid"/>
          </a:ln>
        </p:spPr>
      </p:sp>
      <p:sp>
        <p:nvSpPr>
          <p:cNvPr id="85" name="Text 82"/>
          <p:cNvSpPr txBox="1"/>
          <p:nvPr/>
        </p:nvSpPr>
        <p:spPr>
          <a:xfrm>
            <a:off x="649224" y="5788152"/>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name</a:t>
            </a:r>
            <a:endParaRPr lang="en-US" sz="700" dirty="0"/>
          </a:p>
        </p:txBody>
      </p:sp>
      <p:sp>
        <p:nvSpPr>
          <p:cNvPr id="86" name="Text 83"/>
          <p:cNvSpPr txBox="1"/>
          <p:nvPr/>
        </p:nvSpPr>
        <p:spPr>
          <a:xfrm>
            <a:off x="640080" y="5916168"/>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شِينٌ</a:t>
            </a:r>
            <a:endParaRPr lang="ar-SA" sz="1350" dirty="0"/>
          </a:p>
        </p:txBody>
      </p:sp>
      <p:sp>
        <p:nvSpPr>
          <p:cNvPr id="87" name="Text 8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F1-L02 · Sounds + script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(2)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Letters + words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حُرُوفُ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F1-L02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8604504" y="1938528"/>
            <a:ext cx="771754"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emphatic</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300" b="1" dirty="0">
                <a:solidFill>
                  <a:srgbClr val="1B3B6F"/>
                </a:solidFill>
                <a:latin typeface="Amiri" pitchFamily="2" charset="-78"/>
                <a:ea typeface="Amiri" pitchFamily="2" charset="-78"/>
                <a:cs typeface="Amiri" pitchFamily="2" charset="-78"/>
              </a:rPr>
              <a:t>ص</a:t>
            </a:r>
            <a:endParaRPr lang="ar-SA" sz="33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ṣād — emphatic /sˤ/ (dark s)</a:t>
            </a:r>
            <a:endParaRPr lang="en-US" sz="1350" dirty="0"/>
          </a:p>
          <a:p>
            <a:pPr indent="0" marL="0">
              <a:buNone/>
            </a:pPr>
            <a:r>
              <a:rPr lang="en-US" sz="1100" i="1" dirty="0">
                <a:solidFill>
                  <a:srgbClr val="5A6472"/>
                </a:solidFill>
                <a:latin typeface="Calibri" pitchFamily="34" charset="0"/>
                <a:cs typeface="Amiri" pitchFamily="2" charset="-78"/>
              </a:rPr>
              <a:t>no dot · a loop</a:t>
            </a:r>
            <a:endParaRPr lang="en-US" sz="1350" dirty="0"/>
          </a:p>
        </p:txBody>
      </p:sp>
      <p:sp>
        <p:nvSpPr>
          <p:cNvPr id="24" name="Shape 21"/>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name</a:t>
            </a:r>
            <a:endParaRPr lang="en-US" sz="700" dirty="0"/>
          </a:p>
        </p:txBody>
      </p:sp>
      <p:sp>
        <p:nvSpPr>
          <p:cNvPr id="26" name="Text 23"/>
          <p:cNvSpPr txBox="1"/>
          <p:nvPr/>
        </p:nvSpPr>
        <p:spPr>
          <a:xfrm>
            <a:off x="8284464"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صَادٌ</a:t>
            </a:r>
            <a:endParaRPr lang="ar-SA" sz="1350" dirty="0"/>
          </a:p>
        </p:txBody>
      </p:sp>
      <p:sp>
        <p:nvSpPr>
          <p:cNvPr id="27" name="Shape 24"/>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389120"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0" name="Shape 27"/>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1" name="Text 28"/>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2" name="Text 29"/>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4050" b="1" dirty="0">
                <a:solidFill>
                  <a:srgbClr val="1B3B6F"/>
                </a:solidFill>
                <a:latin typeface="Amiri" pitchFamily="2" charset="-78"/>
                <a:ea typeface="Amiri" pitchFamily="2" charset="-78"/>
                <a:cs typeface="Amiri" pitchFamily="2" charset="-78"/>
              </a:rPr>
              <a:t>دَرْسٌ</a:t>
            </a:r>
            <a:endParaRPr lang="ar-SA" sz="4050" dirty="0"/>
          </a:p>
        </p:txBody>
      </p:sp>
      <p:sp>
        <p:nvSpPr>
          <p:cNvPr id="33" name="Text 30"/>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lesson</a:t>
            </a:r>
            <a:endParaRPr lang="en-US" sz="1350" dirty="0"/>
          </a:p>
          <a:p>
            <a:pPr indent="0" marL="0">
              <a:buNone/>
            </a:pPr>
            <a:r>
              <a:rPr lang="en-US" sz="1100" i="1" dirty="0">
                <a:solidFill>
                  <a:srgbClr val="5A6472"/>
                </a:solidFill>
                <a:latin typeface="Calibri" pitchFamily="34" charset="0"/>
                <a:cs typeface="Amiri" pitchFamily="2" charset="-78"/>
              </a:rPr>
              <a:t>dar-sun</a:t>
            </a:r>
            <a:endParaRPr lang="en-US" sz="1350" dirty="0"/>
          </a:p>
        </p:txBody>
      </p:sp>
      <p:sp>
        <p:nvSpPr>
          <p:cNvPr id="34" name="Shape 31"/>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566928" y="1920240"/>
            <a:ext cx="310896" cy="310896"/>
          </a:xfrm>
          <a:prstGeom prst="ellipse">
            <a:avLst/>
          </a:prstGeom>
          <a:solidFill>
            <a:srgbClr val="F4F1EA"/>
          </a:solidFill>
          <a:ln w="12700">
            <a:solidFill>
              <a:srgbClr val="F4F1EA"/>
            </a:solidFill>
            <a:prstDash val="solid"/>
          </a:ln>
        </p:spPr>
      </p:sp>
      <p:sp>
        <p:nvSpPr>
          <p:cNvPr id="36" name="Text 33"/>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7" name="Shape 34"/>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8" name="Text 35"/>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9" name="Text 36"/>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4050" b="1" dirty="0">
                <a:solidFill>
                  <a:srgbClr val="1B3B6F"/>
                </a:solidFill>
                <a:latin typeface="Amiri" pitchFamily="2" charset="-78"/>
                <a:ea typeface="Amiri" pitchFamily="2" charset="-78"/>
                <a:cs typeface="Amiri" pitchFamily="2" charset="-78"/>
              </a:rPr>
              <a:t>بَحْرٌ</a:t>
            </a:r>
            <a:endParaRPr lang="ar-SA" sz="4050" dirty="0"/>
          </a:p>
        </p:txBody>
      </p:sp>
      <p:sp>
        <p:nvSpPr>
          <p:cNvPr id="40" name="Text 37"/>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sea</a:t>
            </a:r>
            <a:endParaRPr lang="en-US" sz="1350" dirty="0"/>
          </a:p>
          <a:p>
            <a:pPr indent="0" marL="0">
              <a:buNone/>
            </a:pPr>
            <a:r>
              <a:rPr lang="en-US" sz="1100" i="1" dirty="0">
                <a:solidFill>
                  <a:srgbClr val="5A6472"/>
                </a:solidFill>
                <a:latin typeface="Calibri" pitchFamily="34" charset="0"/>
                <a:cs typeface="Amiri" pitchFamily="2" charset="-78"/>
              </a:rPr>
              <a:t>baḥ-run</a:t>
            </a:r>
            <a:endParaRPr lang="en-US" sz="1350" dirty="0"/>
          </a:p>
        </p:txBody>
      </p:sp>
      <p:sp>
        <p:nvSpPr>
          <p:cNvPr id="41" name="Shape 38"/>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11312" y="4261104"/>
            <a:ext cx="310896" cy="310896"/>
          </a:xfrm>
          <a:prstGeom prst="ellipse">
            <a:avLst/>
          </a:prstGeom>
          <a:solidFill>
            <a:srgbClr val="F4F1EA"/>
          </a:solidFill>
          <a:ln w="12700">
            <a:solidFill>
              <a:srgbClr val="F4F1EA"/>
            </a:solidFill>
            <a:prstDash val="solid"/>
          </a:ln>
        </p:spPr>
      </p:sp>
      <p:sp>
        <p:nvSpPr>
          <p:cNvPr id="43" name="Text 40"/>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44" name="Shape 41"/>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4050" b="1" dirty="0">
                <a:solidFill>
                  <a:srgbClr val="1B3B6F"/>
                </a:solidFill>
                <a:latin typeface="Amiri" pitchFamily="2" charset="-78"/>
                <a:ea typeface="Amiri" pitchFamily="2" charset="-78"/>
                <a:cs typeface="Amiri" pitchFamily="2" charset="-78"/>
              </a:rPr>
              <a:t>خُبْزٌ</a:t>
            </a:r>
            <a:endParaRPr lang="ar-SA" sz="4050" dirty="0"/>
          </a:p>
        </p:txBody>
      </p:sp>
      <p:sp>
        <p:nvSpPr>
          <p:cNvPr id="47" name="Text 44"/>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bread</a:t>
            </a:r>
            <a:endParaRPr lang="en-US" sz="1350" dirty="0"/>
          </a:p>
          <a:p>
            <a:pPr indent="0" marL="0">
              <a:buNone/>
            </a:pPr>
            <a:r>
              <a:rPr lang="en-US" sz="1100" i="1" dirty="0">
                <a:solidFill>
                  <a:srgbClr val="5A6472"/>
                </a:solidFill>
                <a:latin typeface="Calibri" pitchFamily="34" charset="0"/>
                <a:cs typeface="Amiri" pitchFamily="2" charset="-78"/>
              </a:rPr>
              <a:t>khub-zun</a:t>
            </a:r>
            <a:endParaRPr lang="en-US" sz="1350" dirty="0"/>
          </a:p>
        </p:txBody>
      </p:sp>
      <p:sp>
        <p:nvSpPr>
          <p:cNvPr id="48" name="Shape 45"/>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6"/>
          <p:cNvSpPr/>
          <p:nvPr/>
        </p:nvSpPr>
        <p:spPr>
          <a:xfrm>
            <a:off x="4389120" y="4261104"/>
            <a:ext cx="310896" cy="310896"/>
          </a:xfrm>
          <a:prstGeom prst="ellipse">
            <a:avLst/>
          </a:prstGeom>
          <a:solidFill>
            <a:srgbClr val="F4F1EA"/>
          </a:solidFill>
          <a:ln w="12700">
            <a:solidFill>
              <a:srgbClr val="F4F1EA"/>
            </a:solidFill>
            <a:prstDash val="solid"/>
          </a:ln>
        </p:spPr>
      </p:sp>
      <p:sp>
        <p:nvSpPr>
          <p:cNvPr id="50" name="Text 47"/>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51" name="Shape 48"/>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2" name="Text 49"/>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3" name="Text 50"/>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4050" b="1" dirty="0">
                <a:solidFill>
                  <a:srgbClr val="1B3B6F"/>
                </a:solidFill>
                <a:latin typeface="Amiri" pitchFamily="2" charset="-78"/>
                <a:ea typeface="Amiri" pitchFamily="2" charset="-78"/>
                <a:cs typeface="Amiri" pitchFamily="2" charset="-78"/>
              </a:rPr>
              <a:t>شَجَرٌ</a:t>
            </a:r>
            <a:endParaRPr lang="ar-SA" sz="4050" dirty="0"/>
          </a:p>
        </p:txBody>
      </p:sp>
      <p:sp>
        <p:nvSpPr>
          <p:cNvPr id="54" name="Text 51"/>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trees</a:t>
            </a:r>
            <a:endParaRPr lang="en-US" sz="1350" dirty="0"/>
          </a:p>
          <a:p>
            <a:pPr indent="0" marL="0">
              <a:buNone/>
            </a:pPr>
            <a:r>
              <a:rPr lang="en-US" sz="1100" i="1" dirty="0">
                <a:solidFill>
                  <a:srgbClr val="5A6472"/>
                </a:solidFill>
                <a:latin typeface="Calibri" pitchFamily="34" charset="0"/>
                <a:cs typeface="Amiri" pitchFamily="2" charset="-78"/>
              </a:rPr>
              <a:t>sha-ja-run</a:t>
            </a:r>
            <a:endParaRPr lang="en-US" sz="1350" dirty="0"/>
          </a:p>
        </p:txBody>
      </p:sp>
      <p:sp>
        <p:nvSpPr>
          <p:cNvPr id="55" name="Shape 52"/>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566928" y="4261104"/>
            <a:ext cx="310896" cy="310896"/>
          </a:xfrm>
          <a:prstGeom prst="ellipse">
            <a:avLst/>
          </a:prstGeom>
          <a:solidFill>
            <a:srgbClr val="F4F1EA"/>
          </a:solidFill>
          <a:ln w="12700">
            <a:solidFill>
              <a:srgbClr val="F4F1EA"/>
            </a:solidFill>
            <a:prstDash val="solid"/>
          </a:ln>
        </p:spPr>
      </p:sp>
      <p:sp>
        <p:nvSpPr>
          <p:cNvPr id="57" name="Text 54"/>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58" name="Shape 55"/>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9" name="Text 56"/>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0" name="Text 57"/>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4050" b="1" dirty="0">
                <a:solidFill>
                  <a:srgbClr val="1B3B6F"/>
                </a:solidFill>
                <a:latin typeface="Amiri" pitchFamily="2" charset="-78"/>
                <a:ea typeface="Amiri" pitchFamily="2" charset="-78"/>
                <a:cs typeface="Amiri" pitchFamily="2" charset="-78"/>
              </a:rPr>
              <a:t>سَبْتٌ</a:t>
            </a:r>
            <a:endParaRPr lang="ar-SA" sz="4050" dirty="0"/>
          </a:p>
        </p:txBody>
      </p:sp>
      <p:sp>
        <p:nvSpPr>
          <p:cNvPr id="61" name="Text 58"/>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Saturday</a:t>
            </a:r>
            <a:endParaRPr lang="en-US" sz="1350" dirty="0"/>
          </a:p>
          <a:p>
            <a:pPr indent="0" marL="0">
              <a:buNone/>
            </a:pPr>
            <a:r>
              <a:rPr lang="en-US" sz="1100" i="1" dirty="0">
                <a:solidFill>
                  <a:srgbClr val="5A6472"/>
                </a:solidFill>
                <a:latin typeface="Calibri" pitchFamily="34" charset="0"/>
                <a:cs typeface="Amiri" pitchFamily="2" charset="-78"/>
              </a:rPr>
              <a:t>sab-tun</a:t>
            </a:r>
            <a:endParaRPr lang="en-US" sz="1350" dirty="0"/>
          </a:p>
        </p:txBody>
      </p:sp>
      <p:sp>
        <p:nvSpPr>
          <p:cNvPr id="62" name="Text 5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F1-L02 · Sounds + script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2 · SAY THE MINI-DIALOGUE · READ IT, THEN SAY IT WITHOUT LOOKING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Dot or no dot?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نُقْطَةٌ أَمْ لَا؟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F1-L02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this letter? (points to </a:t>
            </a:r>
            <a:pPr algn="l" indent="0" marL="0">
              <a:buNone/>
            </a:pPr>
            <a:r>
              <a:rPr lang="ar-SA" altLang="en-US" sz="1450" dirty="0">
                <a:solidFill>
                  <a:srgbClr val="5A6472"/>
                </a:solidFill>
                <a:latin typeface="Amiri" pitchFamily="2" charset="-78"/>
                <a:ea typeface="Amiri" pitchFamily="2" charset="-78"/>
                <a:cs typeface="Amiri" pitchFamily="2" charset="-78"/>
              </a:rPr>
              <a:t>ر</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مَا هٰذَا الحَرْفُ؟ (ر)</a:t>
            </a:r>
            <a:endParaRPr lang="ar-SA" sz="20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This is rāʾ — it has no dot.</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هٰذَا رَاءٌ — لَيْسَ فِيهِ نُقْطَةٌ.</a:t>
            </a:r>
            <a:endParaRPr lang="ar-SA" sz="20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this? (points to </a:t>
            </a:r>
            <a:pPr algn="l" indent="0" marL="0">
              <a:buNone/>
            </a:pPr>
            <a:r>
              <a:rPr lang="ar-SA" altLang="en-US" sz="1450" dirty="0">
                <a:solidFill>
                  <a:srgbClr val="5A6472"/>
                </a:solidFill>
                <a:latin typeface="Amiri" pitchFamily="2" charset="-78"/>
                <a:ea typeface="Amiri" pitchFamily="2" charset="-78"/>
                <a:cs typeface="Amiri" pitchFamily="2" charset="-78"/>
              </a:rPr>
              <a:t>ز</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وَهٰذَا؟ (ز)</a:t>
            </a:r>
            <a:endParaRPr lang="ar-SA" sz="20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This is zāy — one dot above.</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هٰذَا زَايٌ — نُقْطَةٌ وَاحِدَةٌ فَوْقَ.</a:t>
            </a:r>
            <a:endParaRPr lang="ar-SA" sz="20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“sh”?</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وَ«ش»؟</a:t>
            </a:r>
            <a:endParaRPr lang="ar-SA" sz="20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shīn — three dots above.</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شِينٌ — ثَلَاثُ نُقَاطٍ فَوْقَ.</a:t>
            </a:r>
            <a:endParaRPr lang="ar-SA" sz="20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Round 1: read it in pairs. Round 2: swap letters. Round 3: A points to </a:t>
            </a:r>
            <a:pPr algn="l" indent="0" marL="0">
              <a:buNone/>
            </a:pPr>
            <a:r>
              <a:rPr lang="ar-SA" altLang="en-US" sz="1500" b="1" dirty="0">
                <a:solidFill>
                  <a:srgbClr val="1B3B6F"/>
                </a:solidFill>
                <a:latin typeface="Amiri" pitchFamily="2" charset="-78"/>
                <a:ea typeface="Amiri" pitchFamily="2" charset="-78"/>
                <a:cs typeface="Amiri" pitchFamily="2" charset="-78"/>
              </a:rPr>
              <a:t>د ذ ر ز س ش ص</a:t>
            </a:r>
            <a:pPr algn="l" indent="0" marL="0">
              <a:buNone/>
            </a:pPr>
            <a:r>
              <a:rPr lang="en-US" sz="1150" b="1" dirty="0">
                <a:solidFill>
                  <a:srgbClr val="1B3B6F"/>
                </a:solidFill>
                <a:latin typeface="Calibri" pitchFamily="34" charset="0"/>
                <a:cs typeface="Amiri" pitchFamily="2" charset="-78"/>
              </a:rPr>
              <a:t> in any order; B names it and counts the dots.</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22</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F1-L02 · Sounds + script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3 · POINT-AND-SAY CARDS · THE LEADER ASKS, THE SPEAKER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Point, say,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وَأَجْوِبَةٌ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F1-L02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Then read (Develop)</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 says (Core)</a:t>
            </a:r>
            <a:endParaRPr lang="en-US" sz="1100" dirty="0"/>
          </a:p>
        </p:txBody>
      </p:sp>
      <p:sp>
        <p:nvSpPr>
          <p:cNvPr id="18" name="Text 15"/>
          <p:cNvSpPr txBox="1"/>
          <p:nvPr/>
        </p:nvSpPr>
        <p:spPr>
          <a:xfrm>
            <a:off x="4325112" y="1810512"/>
            <a:ext cx="25054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Hint</a:t>
            </a:r>
            <a:endParaRPr lang="en-US" sz="1100" dirty="0"/>
          </a:p>
        </p:txBody>
      </p:sp>
      <p:sp>
        <p:nvSpPr>
          <p:cNvPr id="19" name="Text 16"/>
          <p:cNvSpPr txBox="1"/>
          <p:nvPr/>
        </p:nvSpPr>
        <p:spPr>
          <a:xfrm>
            <a:off x="103327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points to / says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2" name="Text 19"/>
          <p:cNvSpPr txBox="1"/>
          <p:nvPr/>
        </p:nvSpPr>
        <p:spPr>
          <a:xfrm>
            <a:off x="9738360" y="2267712"/>
            <a:ext cx="1901952"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دَرْسٌ</a:t>
            </a:r>
            <a:endParaRPr lang="ar-SA" sz="1800" dirty="0"/>
          </a:p>
        </p:txBody>
      </p:sp>
      <p:sp>
        <p:nvSpPr>
          <p:cNvPr id="23" name="Text 20"/>
          <p:cNvSpPr txBox="1"/>
          <p:nvPr/>
        </p:nvSpPr>
        <p:spPr>
          <a:xfrm>
            <a:off x="6995160" y="2267712"/>
            <a:ext cx="256032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دَالٌ</a:t>
            </a:r>
            <a:endParaRPr lang="ar-SA" sz="1800" dirty="0"/>
          </a:p>
        </p:txBody>
      </p:sp>
      <p:sp>
        <p:nvSpPr>
          <p:cNvPr id="24" name="Text 21"/>
          <p:cNvSpPr txBox="1"/>
          <p:nvPr/>
        </p:nvSpPr>
        <p:spPr>
          <a:xfrm>
            <a:off x="4361688" y="2267712"/>
            <a:ext cx="24688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no dot · /d/ · a breaker</a:t>
            </a:r>
            <a:endParaRPr lang="en-US" sz="1100" dirty="0"/>
          </a:p>
        </p:txBody>
      </p:sp>
      <p:sp>
        <p:nvSpPr>
          <p:cNvPr id="25" name="Text 22"/>
          <p:cNvSpPr txBox="1"/>
          <p:nvPr/>
        </p:nvSpPr>
        <p:spPr>
          <a:xfrm>
            <a:off x="1051560" y="2267712"/>
            <a:ext cx="310896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د</a:t>
            </a:r>
            <a:endParaRPr lang="ar-SA" sz="2000" dirty="0"/>
          </a:p>
        </p:txBody>
      </p:sp>
      <p:sp>
        <p:nvSpPr>
          <p:cNvPr id="26" name="Text 23"/>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9738360" y="3004718"/>
            <a:ext cx="1901952"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ذُرَةٌ</a:t>
            </a:r>
            <a:endParaRPr lang="ar-SA" sz="1800" dirty="0"/>
          </a:p>
        </p:txBody>
      </p:sp>
      <p:sp>
        <p:nvSpPr>
          <p:cNvPr id="31" name="Text 28"/>
          <p:cNvSpPr txBox="1"/>
          <p:nvPr/>
        </p:nvSpPr>
        <p:spPr>
          <a:xfrm>
            <a:off x="6995160" y="3004718"/>
            <a:ext cx="256032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ذَالٌ</a:t>
            </a:r>
            <a:endParaRPr lang="ar-SA" sz="1800" dirty="0"/>
          </a:p>
        </p:txBody>
      </p:sp>
      <p:sp>
        <p:nvSpPr>
          <p:cNvPr id="32" name="Text 29"/>
          <p:cNvSpPr txBox="1"/>
          <p:nvPr/>
        </p:nvSpPr>
        <p:spPr>
          <a:xfrm>
            <a:off x="4361688" y="3004718"/>
            <a:ext cx="24688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dot above · /ð/ as in this (word: corn)</a:t>
            </a:r>
            <a:endParaRPr lang="en-US" sz="1100" dirty="0"/>
          </a:p>
        </p:txBody>
      </p:sp>
      <p:sp>
        <p:nvSpPr>
          <p:cNvPr id="33" name="Text 30"/>
          <p:cNvSpPr txBox="1"/>
          <p:nvPr/>
        </p:nvSpPr>
        <p:spPr>
          <a:xfrm>
            <a:off x="1051560" y="3004718"/>
            <a:ext cx="310896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ذ</a:t>
            </a:r>
            <a:endParaRPr lang="ar-SA" sz="2000" dirty="0"/>
          </a:p>
        </p:txBody>
      </p:sp>
      <p:sp>
        <p:nvSpPr>
          <p:cNvPr id="34" name="Text 31"/>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9738360" y="3741725"/>
            <a:ext cx="1901952"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خُبْزٌ</a:t>
            </a:r>
            <a:endParaRPr lang="ar-SA" sz="1800" dirty="0"/>
          </a:p>
        </p:txBody>
      </p:sp>
      <p:sp>
        <p:nvSpPr>
          <p:cNvPr id="39" name="Text 36"/>
          <p:cNvSpPr txBox="1"/>
          <p:nvPr/>
        </p:nvSpPr>
        <p:spPr>
          <a:xfrm>
            <a:off x="6995160" y="3741725"/>
            <a:ext cx="256032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زَايٌ</a:t>
            </a:r>
            <a:endParaRPr lang="ar-SA" sz="1800" dirty="0"/>
          </a:p>
        </p:txBody>
      </p:sp>
      <p:sp>
        <p:nvSpPr>
          <p:cNvPr id="40" name="Text 37"/>
          <p:cNvSpPr txBox="1"/>
          <p:nvPr/>
        </p:nvSpPr>
        <p:spPr>
          <a:xfrm>
            <a:off x="4361688" y="3741725"/>
            <a:ext cx="24688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dot above · /z/ as in zoo · a breaker</a:t>
            </a:r>
            <a:endParaRPr lang="en-US" sz="1100" dirty="0"/>
          </a:p>
        </p:txBody>
      </p:sp>
      <p:sp>
        <p:nvSpPr>
          <p:cNvPr id="41" name="Text 38"/>
          <p:cNvSpPr txBox="1"/>
          <p:nvPr/>
        </p:nvSpPr>
        <p:spPr>
          <a:xfrm>
            <a:off x="1051560" y="3741725"/>
            <a:ext cx="310896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ز</a:t>
            </a:r>
            <a:endParaRPr lang="ar-SA" sz="2000" dirty="0"/>
          </a:p>
        </p:txBody>
      </p:sp>
      <p:sp>
        <p:nvSpPr>
          <p:cNvPr id="42" name="Text 39"/>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6" name="Text 43"/>
          <p:cNvSpPr txBox="1"/>
          <p:nvPr/>
        </p:nvSpPr>
        <p:spPr>
          <a:xfrm>
            <a:off x="9738360" y="4478731"/>
            <a:ext cx="1901952"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شَجَرٌ</a:t>
            </a:r>
            <a:endParaRPr lang="ar-SA" sz="1800" dirty="0"/>
          </a:p>
        </p:txBody>
      </p:sp>
      <p:sp>
        <p:nvSpPr>
          <p:cNvPr id="47" name="Text 44"/>
          <p:cNvSpPr txBox="1"/>
          <p:nvPr/>
        </p:nvSpPr>
        <p:spPr>
          <a:xfrm>
            <a:off x="6995160" y="4478731"/>
            <a:ext cx="256032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شِينٌ</a:t>
            </a:r>
            <a:endParaRPr lang="ar-SA" sz="1800" dirty="0"/>
          </a:p>
        </p:txBody>
      </p:sp>
      <p:sp>
        <p:nvSpPr>
          <p:cNvPr id="48" name="Text 45"/>
          <p:cNvSpPr txBox="1"/>
          <p:nvPr/>
        </p:nvSpPr>
        <p:spPr>
          <a:xfrm>
            <a:off x="4361688" y="4478731"/>
            <a:ext cx="24688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three dots above · /ʃ/ as in ship</a:t>
            </a:r>
            <a:endParaRPr lang="en-US" sz="1100" dirty="0"/>
          </a:p>
        </p:txBody>
      </p:sp>
      <p:sp>
        <p:nvSpPr>
          <p:cNvPr id="49" name="Text 46"/>
          <p:cNvSpPr txBox="1"/>
          <p:nvPr/>
        </p:nvSpPr>
        <p:spPr>
          <a:xfrm>
            <a:off x="1051560" y="4478731"/>
            <a:ext cx="310896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ش</a:t>
            </a:r>
            <a:endParaRPr lang="ar-SA" sz="2000" dirty="0"/>
          </a:p>
        </p:txBody>
      </p:sp>
      <p:sp>
        <p:nvSpPr>
          <p:cNvPr id="50" name="Text 47"/>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2" name="Text 49"/>
          <p:cNvSpPr txBox="1"/>
          <p:nvPr/>
        </p:nvSpPr>
        <p:spPr>
          <a:xfrm>
            <a:off x="9738360" y="5215738"/>
            <a:ext cx="1901952"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صَبَرَ</a:t>
            </a:r>
            <a:endParaRPr lang="ar-SA" sz="1800" dirty="0"/>
          </a:p>
        </p:txBody>
      </p:sp>
      <p:sp>
        <p:nvSpPr>
          <p:cNvPr id="53" name="Text 50"/>
          <p:cNvSpPr txBox="1"/>
          <p:nvPr/>
        </p:nvSpPr>
        <p:spPr>
          <a:xfrm>
            <a:off x="6995160" y="5215738"/>
            <a:ext cx="256032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صَادٌ</a:t>
            </a:r>
            <a:endParaRPr lang="ar-SA" sz="1800" dirty="0"/>
          </a:p>
        </p:txBody>
      </p:sp>
      <p:sp>
        <p:nvSpPr>
          <p:cNvPr id="54" name="Text 51"/>
          <p:cNvSpPr txBox="1"/>
          <p:nvPr/>
        </p:nvSpPr>
        <p:spPr>
          <a:xfrm>
            <a:off x="4361688" y="5215738"/>
            <a:ext cx="24688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no dot · a dark, heavy /sˤ/ (word: he was patient)</a:t>
            </a:r>
            <a:endParaRPr lang="en-US" sz="1100" dirty="0"/>
          </a:p>
        </p:txBody>
      </p:sp>
      <p:sp>
        <p:nvSpPr>
          <p:cNvPr id="55" name="Text 52"/>
          <p:cNvSpPr txBox="1"/>
          <p:nvPr/>
        </p:nvSpPr>
        <p:spPr>
          <a:xfrm>
            <a:off x="1051560" y="5215738"/>
            <a:ext cx="310896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ص</a:t>
            </a:r>
            <a:endParaRPr lang="ar-SA" sz="2000" dirty="0"/>
          </a:p>
        </p:txBody>
      </p:sp>
      <p:sp>
        <p:nvSpPr>
          <p:cNvPr id="56" name="Text 53"/>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7" name="Text 5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Each Speaker does every card. Core: say the sound or read the word. Develop: do the “then” part. Stretch: give your own example with the same letter or mark. Swap after each card.</a:t>
            </a:r>
            <a:endParaRPr lang="en-US" sz="110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F1-L02 · Sounds + script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4 · READING CARD · USE THE PLAN, THEN HIDE IT AND SPEAK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cs typeface="Amiri" pitchFamily="2" charset="-78"/>
              </a:rPr>
              <a:t>Reading card — breakers, sun and moon</a:t>
            </a:r>
            <a:endParaRPr lang="en-US" sz="24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بِطَاقَةُ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F1-L02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Hint</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shows /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8293608" y="2267712"/>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look after </a:t>
            </a:r>
            <a:pPr algn="l" indent="0" marL="0">
              <a:buNone/>
            </a:pPr>
            <a:r>
              <a:rPr lang="ar-SA" altLang="en-US" sz="1450" dirty="0">
                <a:solidFill>
                  <a:srgbClr val="5A6472"/>
                </a:solidFill>
                <a:latin typeface="Amiri" pitchFamily="2" charset="-78"/>
                <a:ea typeface="Amiri" pitchFamily="2" charset="-78"/>
                <a:cs typeface="Amiri" pitchFamily="2" charset="-78"/>
              </a:rPr>
              <a:t>د</a:t>
            </a:r>
            <a:pPr algn="l" indent="0" marL="0">
              <a:buNone/>
            </a:pPr>
            <a:r>
              <a:rPr lang="en-US" sz="1100" dirty="0">
                <a:solidFill>
                  <a:srgbClr val="5A6472"/>
                </a:solidFill>
                <a:latin typeface="Calibri" pitchFamily="34" charset="0"/>
                <a:cs typeface="Amiri" pitchFamily="2" charset="-78"/>
              </a:rPr>
              <a:t> and </a:t>
            </a:r>
            <a:pPr algn="l" indent="0" marL="0">
              <a:buNone/>
            </a:pPr>
            <a:r>
              <a:rPr lang="ar-SA" altLang="en-US" sz="1450" dirty="0">
                <a:solidFill>
                  <a:srgbClr val="5A6472"/>
                </a:solidFill>
                <a:latin typeface="Amiri" pitchFamily="2" charset="-78"/>
                <a:ea typeface="Amiri" pitchFamily="2" charset="-78"/>
                <a:cs typeface="Amiri" pitchFamily="2" charset="-78"/>
              </a:rPr>
              <a:t>ر</a:t>
            </a:r>
            <a:endParaRPr lang="en-US" sz="1100" dirty="0"/>
          </a:p>
        </p:txBody>
      </p:sp>
      <p:sp>
        <p:nvSpPr>
          <p:cNvPr id="22" name="Text 19"/>
          <p:cNvSpPr txBox="1"/>
          <p:nvPr/>
        </p:nvSpPr>
        <p:spPr>
          <a:xfrm>
            <a:off x="5001768" y="2267712"/>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Read both words; where does the word “break”?</a:t>
            </a:r>
            <a:endParaRPr lang="en-US" sz="1100" dirty="0"/>
          </a:p>
        </p:txBody>
      </p:sp>
      <p:sp>
        <p:nvSpPr>
          <p:cNvPr id="23" name="Text 20"/>
          <p:cNvSpPr txBox="1"/>
          <p:nvPr/>
        </p:nvSpPr>
        <p:spPr>
          <a:xfrm>
            <a:off x="1051560" y="2267712"/>
            <a:ext cx="374904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دَرْسٌ · بَحْرٌ</a:t>
            </a:r>
            <a:endParaRPr lang="ar-SA" sz="2000" dirty="0"/>
          </a:p>
        </p:txBody>
      </p:sp>
      <p:sp>
        <p:nvSpPr>
          <p:cNvPr id="24" name="Text 21"/>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293608" y="3054096"/>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 · sha · ṣa (heavy)</a:t>
            </a:r>
            <a:endParaRPr lang="en-US" sz="1100" dirty="0"/>
          </a:p>
        </p:txBody>
      </p:sp>
      <p:sp>
        <p:nvSpPr>
          <p:cNvPr id="29" name="Text 26"/>
          <p:cNvSpPr txBox="1"/>
          <p:nvPr/>
        </p:nvSpPr>
        <p:spPr>
          <a:xfrm>
            <a:off x="5001768" y="3054096"/>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Read the three s-sounds.</a:t>
            </a:r>
            <a:endParaRPr lang="en-US" sz="1100" dirty="0"/>
          </a:p>
        </p:txBody>
      </p:sp>
      <p:sp>
        <p:nvSpPr>
          <p:cNvPr id="30" name="Text 27"/>
          <p:cNvSpPr txBox="1"/>
          <p:nvPr/>
        </p:nvSpPr>
        <p:spPr>
          <a:xfrm>
            <a:off x="1051560" y="3054096"/>
            <a:ext cx="374904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سَ · شَ · صَ</a:t>
            </a:r>
            <a:endParaRPr lang="ar-SA" sz="2000" dirty="0"/>
          </a:p>
        </p:txBody>
      </p:sp>
      <p:sp>
        <p:nvSpPr>
          <p:cNvPr id="31" name="Text 28"/>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8293608" y="3840480"/>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moon · sun</a:t>
            </a:r>
            <a:endParaRPr lang="en-US" sz="1100" dirty="0"/>
          </a:p>
        </p:txBody>
      </p:sp>
      <p:sp>
        <p:nvSpPr>
          <p:cNvPr id="36" name="Text 33"/>
          <p:cNvSpPr txBox="1"/>
          <p:nvPr/>
        </p:nvSpPr>
        <p:spPr>
          <a:xfrm>
            <a:off x="5001768" y="3840480"/>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Read both; which one doubles the letter after al-?</a:t>
            </a:r>
            <a:endParaRPr lang="en-US" sz="1100" dirty="0"/>
          </a:p>
        </p:txBody>
      </p:sp>
      <p:sp>
        <p:nvSpPr>
          <p:cNvPr id="37" name="Text 34"/>
          <p:cNvSpPr txBox="1"/>
          <p:nvPr/>
        </p:nvSpPr>
        <p:spPr>
          <a:xfrm>
            <a:off x="1051560" y="3840480"/>
            <a:ext cx="374904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البَحْرُ · الشَّجَرُ</a:t>
            </a:r>
            <a:endParaRPr lang="ar-SA" sz="2000" dirty="0"/>
          </a:p>
        </p:txBody>
      </p:sp>
      <p:sp>
        <p:nvSpPr>
          <p:cNvPr id="38" name="Text 35"/>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2" name="Text 39"/>
          <p:cNvSpPr txBox="1"/>
          <p:nvPr/>
        </p:nvSpPr>
        <p:spPr>
          <a:xfrm>
            <a:off x="8293608" y="4626864"/>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look for the shadda</a:t>
            </a:r>
            <a:endParaRPr lang="en-US" sz="1100" dirty="0"/>
          </a:p>
        </p:txBody>
      </p:sp>
      <p:sp>
        <p:nvSpPr>
          <p:cNvPr id="43" name="Text 40"/>
          <p:cNvSpPr txBox="1"/>
          <p:nvPr/>
        </p:nvSpPr>
        <p:spPr>
          <a:xfrm>
            <a:off x="5001768" y="4626864"/>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Sun or moon letter? Read it.</a:t>
            </a:r>
            <a:endParaRPr lang="en-US" sz="1100" dirty="0"/>
          </a:p>
        </p:txBody>
      </p:sp>
      <p:sp>
        <p:nvSpPr>
          <p:cNvPr id="44" name="Text 41"/>
          <p:cNvSpPr txBox="1"/>
          <p:nvPr/>
        </p:nvSpPr>
        <p:spPr>
          <a:xfrm>
            <a:off x="1051560" y="4626864"/>
            <a:ext cx="374904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الدَّرْسُ</a:t>
            </a:r>
            <a:endParaRPr lang="ar-SA" sz="2000" dirty="0"/>
          </a:p>
        </p:txBody>
      </p:sp>
      <p:sp>
        <p:nvSpPr>
          <p:cNvPr id="45" name="Text 42"/>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 !</a:t>
            </a:r>
            <a:endParaRPr lang="en-US" sz="1100" dirty="0"/>
          </a:p>
        </p:txBody>
      </p:sp>
      <p:sp>
        <p:nvSpPr>
          <p:cNvPr id="46" name="Shape 43"/>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Text 45"/>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Speaker = the reader · Leader = the card holder. Read the plan for 1 minute, then hide it and speak. Then swap roles.</a:t>
            </a:r>
            <a:endParaRPr lang="en-US" sz="1150" dirty="0"/>
          </a:p>
        </p:txBody>
      </p:sp>
      <p:sp>
        <p:nvSpPr>
          <p:cNvPr id="49"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22</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F1-L02 · Sounds + script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READ-ALOUD RACE · 30 SECONDS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 the 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اقْرَأِ السَّطْرَ</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F1-L02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5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1800" b="1" dirty="0">
                <a:solidFill>
                  <a:srgbClr val="1B3B6F"/>
                </a:solidFill>
                <a:latin typeface="Calibri" pitchFamily="34" charset="0"/>
                <a:cs typeface="Amiri" pitchFamily="2" charset="-78"/>
              </a:rPr>
              <a:t>⏱  Read aloud for 30 seconds — as many as you can</a:t>
            </a:r>
            <a:endParaRPr lang="en-US" sz="18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In 30 seconds, read the new row (dāl to ṣād) by name or sound, then the five words with al- in front (sun or moon?). The Coach counts the correct ones.</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The Leader points to the list on the slide (or in your book).</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The Speaker reads aloud for 30 seconds; the Coach counts the correct ones.</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one sound that was perfect + one to practise.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 try to beat your own score, not your partner’s.</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Read the seven new letter names in order.</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Read the seven sounds, then three words.</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Read all five words with al- — doubling the sun letters.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أَحْسَنْتَ! / أَحْسَنْتِ!</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well done! (m. / f.)</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مَرَّةً أُخْرَى</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once more</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بِبُطْءٍ</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slowly</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22</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F1-L02 · Sounds + script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B · STEP 6 · BUILD THE WORD · CHOOSE A OR B IN EACH COLUMN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Build three words from their parts</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الكَلِمَةَ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F1-L02 · practice room</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lesson — dars</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دَ</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ذَ</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رْ</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زْ</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سٌ</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شٌ</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bread — khubz</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خُ</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حُ</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بْ</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زٌ</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رٌ</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trees — shajar</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شَ</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سَ</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جَ</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خَ</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رٌ</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زٌ</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F1-L02 · Sounds + script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6 · CHECK YOUR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the word: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الكَلِمَةَ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F1-L02 · practice room</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lesson — dars</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d + r + s — no dots at all; the word breaks after </a:t>
            </a:r>
            <a:pPr algn="l" indent="0" marL="0">
              <a:buNone/>
            </a:pPr>
            <a:r>
              <a:rPr lang="ar-SA" altLang="en-US" sz="1350" dirty="0">
                <a:solidFill>
                  <a:srgbClr val="5A6472"/>
                </a:solidFill>
                <a:latin typeface="Amiri" pitchFamily="2" charset="-78"/>
                <a:ea typeface="Amiri" pitchFamily="2" charset="-78"/>
                <a:cs typeface="Amiri" pitchFamily="2" charset="-78"/>
              </a:rPr>
              <a:t>د</a:t>
            </a:r>
            <a:pPr algn="l" indent="0" marL="0">
              <a:buNone/>
            </a:pPr>
            <a:r>
              <a:rPr lang="en-US" sz="1050" i="1" dirty="0">
                <a:solidFill>
                  <a:srgbClr val="5A6472"/>
                </a:solidFill>
                <a:latin typeface="Calibri" pitchFamily="34" charset="0"/>
                <a:cs typeface="Amiri" pitchFamily="2" charset="-78"/>
              </a:rPr>
              <a:t> and </a:t>
            </a:r>
            <a:pPr algn="l" indent="0" marL="0">
              <a:buNone/>
            </a:pPr>
            <a:r>
              <a:rPr lang="ar-SA" altLang="en-US" sz="1350" dirty="0">
                <a:solidFill>
                  <a:srgbClr val="5A6472"/>
                </a:solidFill>
                <a:latin typeface="Amiri" pitchFamily="2" charset="-78"/>
                <a:ea typeface="Amiri" pitchFamily="2" charset="-78"/>
                <a:cs typeface="Amiri" pitchFamily="2" charset="-78"/>
              </a:rPr>
              <a:t>ر</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دَرْسٌ</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bread — khubz</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kh = dot above; z = dot above r.</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خُبْزٌ</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trees — shajar</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sh = three dots; r = no dot.</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شَجَرٌ</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F1-L02 · Sounds + script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7 · SPOT THE SLIP · MISTAKES STUDENTS OFTEN MAKE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F1-L02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دَرْشٌ</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“lesson” ends in plain s.</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خُبْرٌ</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“bread” ends in z.</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السَبْتُ</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ar-SA" altLang="en-US" sz="1700" dirty="0">
                <a:solidFill>
                  <a:srgbClr val="5A6472"/>
                </a:solidFill>
                <a:latin typeface="Amiri" pitchFamily="2" charset="-78"/>
                <a:ea typeface="Amiri" pitchFamily="2" charset="-78"/>
                <a:cs typeface="Amiri" pitchFamily="2" charset="-78"/>
              </a:rPr>
              <a:t>س</a:t>
            </a:r>
            <a:pPr algn="l" indent="0" marL="0">
              <a:buNone/>
            </a:pPr>
            <a:r>
              <a:rPr lang="en-US" sz="1300" i="1" dirty="0">
                <a:solidFill>
                  <a:srgbClr val="5A6472"/>
                </a:solidFill>
                <a:latin typeface="Calibri" pitchFamily="34" charset="0"/>
                <a:cs typeface="Amiri" pitchFamily="2" charset="-78"/>
              </a:rPr>
              <a:t> is a SUN letter.</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22</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F1-L02 · Sounds + script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F1-L02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دَرْشٌ</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دَرْسٌ</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س</a:t>
            </a:r>
            <a:pPr algn="l" indent="0" marL="0">
              <a:buNone/>
            </a:pPr>
            <a:r>
              <a:rPr lang="en-US" sz="1150" b="1" dirty="0">
                <a:solidFill>
                  <a:srgbClr val="1B3B6F"/>
                </a:solidFill>
                <a:latin typeface="Calibri" pitchFamily="34" charset="0"/>
                <a:cs typeface="Amiri" pitchFamily="2" charset="-78"/>
              </a:rPr>
              <a:t> has no dots; </a:t>
            </a:r>
            <a:pPr algn="l" indent="0" marL="0">
              <a:buNone/>
            </a:pPr>
            <a:r>
              <a:rPr lang="ar-SA" altLang="en-US" sz="1500" b="1" dirty="0">
                <a:solidFill>
                  <a:srgbClr val="1B3B6F"/>
                </a:solidFill>
                <a:latin typeface="Amiri" pitchFamily="2" charset="-78"/>
                <a:ea typeface="Amiri" pitchFamily="2" charset="-78"/>
                <a:cs typeface="Amiri" pitchFamily="2" charset="-78"/>
              </a:rPr>
              <a:t>ش</a:t>
            </a:r>
            <a:pPr algn="l" indent="0" marL="0">
              <a:buNone/>
            </a:pPr>
            <a:r>
              <a:rPr lang="en-US" sz="1150" b="1" dirty="0">
                <a:solidFill>
                  <a:srgbClr val="1B3B6F"/>
                </a:solidFill>
                <a:latin typeface="Calibri" pitchFamily="34" charset="0"/>
                <a:cs typeface="Amiri" pitchFamily="2" charset="-78"/>
              </a:rPr>
              <a:t> has three.</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خُبْرٌ</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خُبْزٌ</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ز</a:t>
            </a:r>
            <a:pPr algn="l" indent="0" marL="0">
              <a:buNone/>
            </a:pPr>
            <a:r>
              <a:rPr lang="en-US" sz="1150" b="1" dirty="0">
                <a:solidFill>
                  <a:srgbClr val="1B3B6F"/>
                </a:solidFill>
                <a:latin typeface="Calibri" pitchFamily="34" charset="0"/>
                <a:cs typeface="Amiri" pitchFamily="2" charset="-78"/>
              </a:rPr>
              <a:t> = </a:t>
            </a:r>
            <a:pPr algn="l" indent="0" marL="0">
              <a:buNone/>
            </a:pPr>
            <a:r>
              <a:rPr lang="ar-SA" altLang="en-US" sz="1500" b="1" dirty="0">
                <a:solidFill>
                  <a:srgbClr val="1B3B6F"/>
                </a:solidFill>
                <a:latin typeface="Amiri" pitchFamily="2" charset="-78"/>
                <a:ea typeface="Amiri" pitchFamily="2" charset="-78"/>
                <a:cs typeface="Amiri" pitchFamily="2" charset="-78"/>
              </a:rPr>
              <a:t>ر</a:t>
            </a:r>
            <a:pPr algn="l" indent="0" marL="0">
              <a:buNone/>
            </a:pPr>
            <a:r>
              <a:rPr lang="en-US" sz="1150" b="1" dirty="0">
                <a:solidFill>
                  <a:srgbClr val="1B3B6F"/>
                </a:solidFill>
                <a:latin typeface="Calibri" pitchFamily="34" charset="0"/>
                <a:cs typeface="Amiri" pitchFamily="2" charset="-78"/>
              </a:rPr>
              <a:t> with one dot above.</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السَبْتُ</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السَّبْتُ</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Sun letter after al- → add shadda: as-sabt.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22</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F1-L02 · Sounds + script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COPY, LISTEN AND WRITE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F1-L02 · practice room</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750" b="1" dirty="0">
                <a:solidFill>
                  <a:srgbClr val="1B3B6F"/>
                </a:solidFill>
                <a:latin typeface="Amiri" pitchFamily="2" charset="-78"/>
                <a:ea typeface="Amiri" pitchFamily="2" charset="-78"/>
                <a:cs typeface="Amiri" pitchFamily="2" charset="-78"/>
              </a:rPr>
              <a:t>الدَّرْسُ ______ الخُبْزُ ______ السَّبْتُ ______</a:t>
            </a:r>
            <a:endParaRPr lang="ar-SA" sz="175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Copy, then circle the sun words.</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إِمْلَاءٌ: ١ ______ ٢ ______ ٣ ______</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Dictation: write what your buddy says.</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د ______ ذ ______ ر ______ ز</a:t>
            </a:r>
            <a:endParaRPr lang="ar-SA" sz="180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Copy the four breakers.</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س ______ ش ______ ص</a:t>
            </a:r>
            <a:endParaRPr lang="ar-SA" sz="180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Copy the s-letters — count the dots.</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دَرْسٌ ______ بَحْرٌ ______</a:t>
            </a:r>
            <a:endParaRPr lang="ar-SA" sz="180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Copy two words — gap after </a:t>
            </a:r>
            <a:pPr algn="l" indent="0" marL="0">
              <a:buNone/>
            </a:pPr>
            <a:r>
              <a:rPr lang="ar-SA" altLang="en-US" sz="1350" dirty="0">
                <a:solidFill>
                  <a:srgbClr val="5A6472"/>
                </a:solidFill>
                <a:latin typeface="Amiri" pitchFamily="2" charset="-78"/>
                <a:ea typeface="Amiri" pitchFamily="2" charset="-78"/>
                <a:cs typeface="Amiri" pitchFamily="2" charset="-78"/>
              </a:rPr>
              <a:t>د</a:t>
            </a:r>
            <a:pPr algn="l" indent="0" marL="0">
              <a:buNone/>
            </a:pPr>
            <a:r>
              <a:rPr lang="en-US" sz="1050" i="1" dirty="0">
                <a:solidFill>
                  <a:srgbClr val="5A6472"/>
                </a:solidFill>
                <a:latin typeface="Calibri" pitchFamily="34" charset="0"/>
                <a:cs typeface="Amiri" pitchFamily="2" charset="-78"/>
              </a:rPr>
              <a:t> and </a:t>
            </a:r>
            <a:pPr algn="l" indent="0" marL="0">
              <a:buNone/>
            </a:pPr>
            <a:r>
              <a:rPr lang="ar-SA" altLang="en-US" sz="1350" dirty="0">
                <a:solidFill>
                  <a:srgbClr val="5A6472"/>
                </a:solidFill>
                <a:latin typeface="Amiri" pitchFamily="2" charset="-78"/>
                <a:ea typeface="Amiri" pitchFamily="2" charset="-78"/>
                <a:cs typeface="Amiri" pitchFamily="2" charset="-78"/>
              </a:rPr>
              <a:t>ر</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البَحْرُ ______ الشَّجَرُ ______</a:t>
            </a:r>
            <a:endParaRPr lang="ar-SA" sz="180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Copy: moon word, sun word.</a:t>
            </a:r>
            <a:endParaRPr lang="en-US" sz="1050" dirty="0"/>
          </a:p>
        </p:txBody>
      </p:sp>
      <p:sp>
        <p:nvSpPr>
          <p:cNvPr id="33" name="Shape 30"/>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Text 31"/>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5" name="Text 32"/>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د · ذ · ر · ز  ·  س · ش · ص  ·  دَرْسٌ  ·  بَحْرٌ  ·  خُبْزٌ  ·  شَجَرٌ  ·  سَبْتٌ  ·  الشَّمْسُ · القَمَرُ</a:t>
            </a:r>
            <a:endParaRPr lang="ar-SA" sz="16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22</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F1-L02 · Sounds + script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COPY, LISTEN AND WRITE · COPY · DICTATION · LABELS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Copy, listen and write: seven new letters</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أَكْتُبُ الحُرُوفَ الجَدِيدَةَ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F1-L02 · practice room</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517904"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517904"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SCRIPT</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In your book: • copy the new letters </a:t>
            </a:r>
            <a:pPr algn="l" indent="0" marL="0">
              <a:buNone/>
            </a:pPr>
            <a:r>
              <a:rPr lang="ar-SA" altLang="en-US" sz="1500" b="1" dirty="0">
                <a:solidFill>
                  <a:srgbClr val="1F2A37"/>
                </a:solidFill>
                <a:latin typeface="Amiri" pitchFamily="2" charset="-78"/>
                <a:ea typeface="Amiri" pitchFamily="2" charset="-78"/>
                <a:cs typeface="Amiri" pitchFamily="2" charset="-78"/>
              </a:rPr>
              <a:t>د ذ ر ز س ش ص</a:t>
            </a:r>
            <a:pPr algn="l" indent="0" marL="0">
              <a:buNone/>
            </a:pPr>
            <a:r>
              <a:rPr lang="en-US" sz="1150" b="1" dirty="0">
                <a:solidFill>
                  <a:srgbClr val="1F2A37"/>
                </a:solidFill>
                <a:latin typeface="Calibri" pitchFamily="34" charset="0"/>
                <a:cs typeface="Amiri" pitchFamily="2" charset="-78"/>
              </a:rPr>
              <a:t> three times each, right to left • copy the five words — leave a small gap after every breaker • add al- to each word and mark the sun letters with a shadda • DICTATION: your buddy reads five items from the bank — write them without looking.</a:t>
            </a:r>
            <a:endParaRPr lang="en-US" sz="11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Every letter from right to left.</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Dots: right number, right place.</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gap after every breaker (</a:t>
            </a:r>
            <a:pPr algn="l" indent="0" marL="0">
              <a:buNone/>
            </a:pPr>
            <a:r>
              <a:rPr lang="ar-SA" altLang="en-US" sz="1550" dirty="0">
                <a:solidFill>
                  <a:srgbClr val="1F2A37"/>
                </a:solidFill>
                <a:latin typeface="Amiri" pitchFamily="2" charset="-78"/>
                <a:ea typeface="Amiri" pitchFamily="2" charset="-78"/>
                <a:cs typeface="Amiri" pitchFamily="2" charset="-78"/>
              </a:rPr>
              <a:t>ا د ذ ر ز</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Shadda on sun letters after al- (Develop).</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د · ذ · ر · ز</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dāl · dhāl · rāʾ · zāy (breakers)</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س · ش · ص</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sīn · shīn · ṣād</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حُرُوفٌ شَمْسِيَّةٌ</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sun letters (double after al-)</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حُرُوفٌ قَمَرِيَّةٌ</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moon letters (say the l)</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22</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F1-L02 · Sounds + script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F1-L02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write every letter from RIGHT to left?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put the dots in the right place, with the right number?</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join letters correctly — and leave a gap after </a:t>
            </a:r>
            <a:pPr algn="l" indent="0" marL="0">
              <a:buNone/>
            </a:pPr>
            <a:r>
              <a:rPr lang="ar-SA" altLang="en-US" sz="1450" dirty="0">
                <a:solidFill>
                  <a:srgbClr val="5A6472"/>
                </a:solidFill>
                <a:latin typeface="Amiri" pitchFamily="2" charset="-78"/>
                <a:ea typeface="Amiri" pitchFamily="2" charset="-78"/>
                <a:cs typeface="Amiri" pitchFamily="2" charset="-78"/>
              </a:rPr>
              <a:t>ا د ذ ر ز و</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add the short-vowel marks in the right place?</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write the dictation words without looking at the slide?</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22</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F1-L02 · Sounds + script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READING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00" b="1" dirty="0">
                <a:solidFill>
                  <a:srgbClr val="1B3B6F"/>
                </a:solidFill>
                <a:latin typeface="Cambria" pitchFamily="34" charset="0"/>
                <a:cs typeface="Amiri" pitchFamily="2" charset="-78"/>
              </a:rPr>
              <a:t>Reading card: compare with a strong answer</a:t>
            </a:r>
            <a:endParaRPr lang="en-US" sz="21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F1-L02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4800600" y="2286000"/>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دَرْسٌ · بَحْرٌ</a:t>
            </a:r>
            <a:endParaRPr lang="ar-SA" sz="1800" dirty="0"/>
          </a:p>
        </p:txBody>
      </p:sp>
      <p:sp>
        <p:nvSpPr>
          <p:cNvPr id="21" name="Text 18"/>
          <p:cNvSpPr txBox="1"/>
          <p:nvPr/>
        </p:nvSpPr>
        <p:spPr>
          <a:xfrm>
            <a:off x="4754880" y="2706624"/>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dars · baḥr — the pen lifts after </a:t>
            </a:r>
            <a:pPr algn="ctr" indent="0" marL="0">
              <a:buNone/>
            </a:pPr>
            <a:r>
              <a:rPr lang="ar-SA" altLang="en-US" sz="1250" dirty="0">
                <a:solidFill>
                  <a:srgbClr val="5A6472"/>
                </a:solidFill>
                <a:latin typeface="Amiri" pitchFamily="2" charset="-78"/>
                <a:ea typeface="Amiri" pitchFamily="2" charset="-78"/>
                <a:cs typeface="Amiri" pitchFamily="2" charset="-78"/>
              </a:rPr>
              <a:t>د</a:t>
            </a:r>
            <a:pPr algn="ctr" indent="0" marL="0">
              <a:buNone/>
            </a:pPr>
            <a:r>
              <a:rPr lang="en-US" sz="950" i="1" dirty="0">
                <a:solidFill>
                  <a:srgbClr val="5A6472"/>
                </a:solidFill>
                <a:latin typeface="Calibri" pitchFamily="34" charset="0"/>
                <a:cs typeface="Amiri" pitchFamily="2" charset="-78"/>
              </a:rPr>
              <a:t> and </a:t>
            </a:r>
            <a:pPr algn="ctr" indent="0" marL="0">
              <a:buNone/>
            </a:pPr>
            <a:r>
              <a:rPr lang="ar-SA" altLang="en-US" sz="1250" dirty="0">
                <a:solidFill>
                  <a:srgbClr val="5A6472"/>
                </a:solidFill>
                <a:latin typeface="Amiri" pitchFamily="2" charset="-78"/>
                <a:ea typeface="Amiri" pitchFamily="2" charset="-78"/>
                <a:cs typeface="Amiri" pitchFamily="2" charset="-78"/>
              </a:rPr>
              <a:t>ر</a:t>
            </a:r>
            <a:pPr algn="ctr" indent="0" marL="0">
              <a:buNone/>
            </a:pPr>
            <a:r>
              <a:rPr lang="en-US" sz="950" i="1" dirty="0">
                <a:solidFill>
                  <a:srgbClr val="5A6472"/>
                </a:solidFill>
                <a:latin typeface="Calibri" pitchFamily="34" charset="0"/>
                <a:cs typeface="Amiri" pitchFamily="2" charset="-78"/>
              </a:rPr>
              <a:t> (breakers).</a:t>
            </a:r>
            <a:endParaRPr lang="en-US" sz="950" dirty="0"/>
          </a:p>
        </p:txBody>
      </p:sp>
      <p:sp>
        <p:nvSpPr>
          <p:cNvPr id="22" name="Text 19"/>
          <p:cNvSpPr txBox="1"/>
          <p:nvPr/>
        </p:nvSpPr>
        <p:spPr>
          <a:xfrm>
            <a:off x="1051560" y="2267712"/>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دَرْسٌ · بَحْرٌ</a:t>
            </a:r>
            <a:endParaRPr lang="ar-SA" sz="1600" dirty="0"/>
          </a:p>
        </p:txBody>
      </p:sp>
      <p:sp>
        <p:nvSpPr>
          <p:cNvPr id="23" name="Text 20"/>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5" name="Text 22"/>
          <p:cNvSpPr txBox="1"/>
          <p:nvPr/>
        </p:nvSpPr>
        <p:spPr>
          <a:xfrm>
            <a:off x="4800600" y="3072384"/>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 · شَ · صَ</a:t>
            </a:r>
            <a:endParaRPr lang="ar-SA" sz="1800" dirty="0"/>
          </a:p>
        </p:txBody>
      </p:sp>
      <p:sp>
        <p:nvSpPr>
          <p:cNvPr id="26" name="Text 23"/>
          <p:cNvSpPr txBox="1"/>
          <p:nvPr/>
        </p:nvSpPr>
        <p:spPr>
          <a:xfrm>
            <a:off x="4754880" y="3493008"/>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sa · sha · ṣa — ṣa is deeper and heavier.</a:t>
            </a:r>
            <a:endParaRPr lang="en-US" sz="950" dirty="0"/>
          </a:p>
        </p:txBody>
      </p:sp>
      <p:sp>
        <p:nvSpPr>
          <p:cNvPr id="27" name="Text 24"/>
          <p:cNvSpPr txBox="1"/>
          <p:nvPr/>
        </p:nvSpPr>
        <p:spPr>
          <a:xfrm>
            <a:off x="1051560" y="3054096"/>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سَ · شَ · صَ</a:t>
            </a:r>
            <a:endParaRPr lang="ar-SA" sz="1600" dirty="0"/>
          </a:p>
        </p:txBody>
      </p:sp>
      <p:sp>
        <p:nvSpPr>
          <p:cNvPr id="28" name="Text 25"/>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4800600" y="3858768"/>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البَحْرُ · الشَّجَرُ</a:t>
            </a:r>
            <a:endParaRPr lang="ar-SA" sz="1800" dirty="0"/>
          </a:p>
        </p:txBody>
      </p:sp>
      <p:sp>
        <p:nvSpPr>
          <p:cNvPr id="31" name="Text 28"/>
          <p:cNvSpPr txBox="1"/>
          <p:nvPr/>
        </p:nvSpPr>
        <p:spPr>
          <a:xfrm>
            <a:off x="4754880" y="4279392"/>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al-baḥr (moon letter: say the l) · ash-shajar (sun letter: no l, double sh).</a:t>
            </a:r>
            <a:endParaRPr lang="en-US" sz="950" dirty="0"/>
          </a:p>
        </p:txBody>
      </p:sp>
      <p:sp>
        <p:nvSpPr>
          <p:cNvPr id="32" name="Text 29"/>
          <p:cNvSpPr txBox="1"/>
          <p:nvPr/>
        </p:nvSpPr>
        <p:spPr>
          <a:xfrm>
            <a:off x="1051560" y="3840480"/>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البَحْرُ · الشَّجَرُ</a:t>
            </a:r>
            <a:endParaRPr lang="ar-SA" sz="1600" dirty="0"/>
          </a:p>
        </p:txBody>
      </p:sp>
      <p:sp>
        <p:nvSpPr>
          <p:cNvPr id="33" name="Text 30"/>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5" name="Text 32"/>
          <p:cNvSpPr txBox="1"/>
          <p:nvPr/>
        </p:nvSpPr>
        <p:spPr>
          <a:xfrm>
            <a:off x="4800600" y="4645152"/>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الدَّرْسُ</a:t>
            </a:r>
            <a:endParaRPr lang="ar-SA" sz="1800" dirty="0"/>
          </a:p>
        </p:txBody>
      </p:sp>
      <p:sp>
        <p:nvSpPr>
          <p:cNvPr id="36" name="Text 33"/>
          <p:cNvSpPr txBox="1"/>
          <p:nvPr/>
        </p:nvSpPr>
        <p:spPr>
          <a:xfrm>
            <a:off x="4754880" y="5065776"/>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ad-dars — </a:t>
            </a:r>
            <a:pPr algn="ctr" indent="0" marL="0">
              <a:buNone/>
            </a:pPr>
            <a:r>
              <a:rPr lang="ar-SA" altLang="en-US" sz="1250" dirty="0">
                <a:solidFill>
                  <a:srgbClr val="5A6472"/>
                </a:solidFill>
                <a:latin typeface="Amiri" pitchFamily="2" charset="-78"/>
                <a:ea typeface="Amiri" pitchFamily="2" charset="-78"/>
                <a:cs typeface="Amiri" pitchFamily="2" charset="-78"/>
              </a:rPr>
              <a:t>د</a:t>
            </a:r>
            <a:pPr algn="ctr" indent="0" marL="0">
              <a:buNone/>
            </a:pPr>
            <a:r>
              <a:rPr lang="en-US" sz="950" i="1" dirty="0">
                <a:solidFill>
                  <a:srgbClr val="5A6472"/>
                </a:solidFill>
                <a:latin typeface="Calibri" pitchFamily="34" charset="0"/>
                <a:cs typeface="Amiri" pitchFamily="2" charset="-78"/>
              </a:rPr>
              <a:t> is a sun letter (shadda, no l sound).</a:t>
            </a:r>
            <a:endParaRPr lang="en-US" sz="950" dirty="0"/>
          </a:p>
        </p:txBody>
      </p:sp>
      <p:sp>
        <p:nvSpPr>
          <p:cNvPr id="37" name="Text 34"/>
          <p:cNvSpPr txBox="1"/>
          <p:nvPr/>
        </p:nvSpPr>
        <p:spPr>
          <a:xfrm>
            <a:off x="1051560" y="4626864"/>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الدَّرْسُ</a:t>
            </a:r>
            <a:endParaRPr lang="ar-SA" sz="1600" dirty="0"/>
          </a:p>
        </p:txBody>
      </p:sp>
      <p:sp>
        <p:nvSpPr>
          <p:cNvPr id="38" name="Text 35"/>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read every item clearly, from right to left? Read the one you found hardest once more.</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22</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F1-L02 · Sounds + script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COPY, LISTEN AND WRITE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F1-L02 · practice room</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د ذ ر ز س ش ص</a:t>
            </a:r>
            <a:endParaRPr lang="ar-SA" sz="2600" dirty="0"/>
          </a:p>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دَرْسٌ · بَحْرٌ · خُبْزٌ · شَجَرٌ · سَبْتٌ</a:t>
            </a:r>
            <a:endParaRPr lang="ar-SA" sz="2600" dirty="0"/>
          </a:p>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الدَّرْسُ · البَحْرُ · الخُبْزُ · الشَّجَرُ · السَّبْتُ</a:t>
            </a:r>
            <a:endParaRPr lang="ar-SA" sz="2600" dirty="0"/>
          </a:p>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إِمْلَاءٌ: زَ · شَ · صَ · دَرْسٌ · خُبْزٌ</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Line 1: the seven new letters. Line 2: the five words. Line 3: the words with al- — shadda on the sun letters (</a:t>
            </a:r>
            <a:pPr algn="l" indent="0" marL="0">
              <a:buNone/>
            </a:pPr>
            <a:r>
              <a:rPr lang="ar-SA" altLang="en-US" sz="1500" dirty="0">
                <a:solidFill>
                  <a:srgbClr val="5A6472"/>
                </a:solidFill>
                <a:latin typeface="Amiri" pitchFamily="2" charset="-78"/>
                <a:ea typeface="Amiri" pitchFamily="2" charset="-78"/>
                <a:cs typeface="Amiri" pitchFamily="2" charset="-78"/>
              </a:rPr>
              <a:t>د</a:t>
            </a:r>
            <a:pPr algn="l" indent="0" marL="0">
              <a:buNone/>
            </a:pPr>
            <a:r>
              <a:rPr lang="en-US" sz="1150" i="1" dirty="0">
                <a:solidFill>
                  <a:srgbClr val="5A6472"/>
                </a:solidFill>
                <a:latin typeface="Calibri" pitchFamily="34" charset="0"/>
                <a:cs typeface="Amiri" pitchFamily="2" charset="-78"/>
              </a:rPr>
              <a:t> · </a:t>
            </a:r>
            <a:pPr algn="l" indent="0" marL="0">
              <a:buNone/>
            </a:pPr>
            <a:r>
              <a:rPr lang="ar-SA" altLang="en-US" sz="1500" dirty="0">
                <a:solidFill>
                  <a:srgbClr val="5A6472"/>
                </a:solidFill>
                <a:latin typeface="Amiri" pitchFamily="2" charset="-78"/>
                <a:ea typeface="Amiri" pitchFamily="2" charset="-78"/>
                <a:cs typeface="Amiri" pitchFamily="2" charset="-78"/>
              </a:rPr>
              <a:t>ش</a:t>
            </a:r>
            <a:pPr algn="l" indent="0" marL="0">
              <a:buNone/>
            </a:pPr>
            <a:r>
              <a:rPr lang="en-US" sz="1150" i="1" dirty="0">
                <a:solidFill>
                  <a:srgbClr val="5A6472"/>
                </a:solidFill>
                <a:latin typeface="Calibri" pitchFamily="34" charset="0"/>
                <a:cs typeface="Amiri" pitchFamily="2" charset="-78"/>
              </a:rPr>
              <a:t> · </a:t>
            </a:r>
            <a:pPr algn="l" indent="0" marL="0">
              <a:buNone/>
            </a:pPr>
            <a:r>
              <a:rPr lang="ar-SA" altLang="en-US" sz="1500" dirty="0">
                <a:solidFill>
                  <a:srgbClr val="5A6472"/>
                </a:solidFill>
                <a:latin typeface="Amiri" pitchFamily="2" charset="-78"/>
                <a:ea typeface="Amiri" pitchFamily="2" charset="-78"/>
                <a:cs typeface="Amiri" pitchFamily="2" charset="-78"/>
              </a:rPr>
              <a:t>س</a:t>
            </a:r>
            <a:pPr algn="l" indent="0" marL="0">
              <a:buNone/>
            </a:pPr>
            <a:r>
              <a:rPr lang="en-US" sz="1150" i="1" dirty="0">
                <a:solidFill>
                  <a:srgbClr val="5A6472"/>
                </a:solidFill>
                <a:latin typeface="Calibri" pitchFamily="34" charset="0"/>
                <a:cs typeface="Amiri" pitchFamily="2" charset="-78"/>
              </a:rPr>
              <a:t>). Line 4: a dictation of five items.</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د ذ ر ز</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دَرْسٌ</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الشَّجَرُ</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السَّبْتُ</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22</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F1-L02 · Sounds + script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F1-L02 · practice room</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said the sounds of today’s letters clearly.</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copied every letter from right to left with the dots in the right place.</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read today’s words aloud without stopping.</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writing and I fixed one thing.</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the dictation words without looking.</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22</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F1-L02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practised it yourselves!</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400" b="1" dirty="0">
                <a:solidFill>
                  <a:srgbClr val="FFFFFF"/>
                </a:solidFill>
                <a:latin typeface="Cambria" pitchFamily="34" charset="0"/>
                <a:cs typeface="Amiri" pitchFamily="2" charset="-78"/>
              </a:rPr>
              <a:t>F1-L03 · Powerful Sounds &amp; Long Vowels</a:t>
            </a:r>
            <a:endParaRPr lang="en-US" sz="24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الحُرُوفُ مِنْ ١٥ إِلَى ٢٢ وَالمَدُّ</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Arabic starts on the right — look at the dots, say the sound, then write it.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F1-L02 · Practice Room — New Letter Families &amp; Connection Breakers</dc:title>
  <dc:subject>PptxGenJS Presentation</dc:subject>
  <dc:creator>Al Madina Online School · Arabic Department</dc:creator>
  <cp:lastModifiedBy>Al Madina Online School · Arabic Department</cp:lastModifiedBy>
  <cp:revision>1</cp:revision>
  <dcterms:created xsi:type="dcterms:W3CDTF">2026-10-26T03:38:10Z</dcterms:created>
  <dcterms:modified xsi:type="dcterms:W3CDTF">2026-10-26T03:38:10Z</dcterms:modified>
</cp:coreProperties>
</file>