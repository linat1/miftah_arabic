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Letter warm-up (5) · Step 2 Say the mini-dialogue (5) · Step 3 Point-and-say cards (7) · Step 4 Reading card (7) · Step 5 Read-aloud race (4) · Part B Writing: Step 6 Build the word (4) · Step 7 Spot the slip (3) · Step 8 Copy, listen and write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F1-L11 (Arabic Around Us) — new practice tasks built on the lesson’s own word bank and grammar (three different questions — which SCRIPT? which LANGUAGE? what MEANING?; one language, many voices (al-fuṣḥā for writing and news · dialects at home); three calligraphy styles with three jobs (naskh · ruqʿa · thuluth); Arabic in everyday life (food, shops, travel, screens); careful claims (“in many countries”, not “all Arabs”)).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F1-L11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Speaker reads from the slide; the Coach checks the sound and the direction (right to left). Teacher: listen for the target sounds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(7 min). SUPPORTED: the plan column models the thinking (first words), not the full answer. Everyone is Speaker once. To a girl the Leader says: no changes needed.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starting on the RIGHT (column 1). The answer slide shows the parts joined into one word. Students copy the three words into their book — they are used again in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starting on the RIGHT (column 1). The answer slide shows the parts joined into one word. Students copy the three words into their book — they are used again in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8 (10 min). Core: copy words, countries and styles with the frames. Develop: a five-word dictation + one real example. Stretch: three real examples with where you saw them, written as “رَأَيْتُ … عَلَى …”. Teacher asks one student per room to share a real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(34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F1  ·  F1-L11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F1-L11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cs typeface="Amiri" pitchFamily="2" charset="-78"/>
              </a:rPr>
              <a:t>Practice Room — Arabic Around Us</a:t>
            </a:r>
            <a:endParaRPr lang="en-US" sz="32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العَرَبِيَّةُ حَوْلَنَا</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Students run their own practice reading Arabic from real life: say the lesson’s words for talking about Arabic, act a “where did you see it?” mini-dialogue, read everyday words on point-and-say cards, read country names and style names on a reading card, race to read ten countries, then build words, spot careless claims, and copy words and write a short “Arabic around me” list.</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F1-L11 · Foundation F1 · Arabic Script &amp; Sounds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beginner</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F1 › F1-L11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Sounds + script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Sounds + script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letter warm-up · say the mini-dialogue.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point-and-say cards · reading card · read-aloud race.</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build the word · spot the slip.</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copy, listen and write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points to a letter or word on the slide (or reads the card) and keeps the time.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says the sound or reads the word aloud, from RIGHT to left. Slowly is fine — clearly is the goal.</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in their OWN book — copying, then dictation;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LETTER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find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 وَجِدْهُ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finds the Arabic and reads it. The Coach checks.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finds and reads each one.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marks.</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Find the word and read it.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it with al- in front.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where you have seen Arabic like this (shop, food, phone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Talking about Arabic (1)</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لُغَةٌ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language</a:t>
            </a:r>
            <a:endParaRPr lang="en-US" sz="1350" dirty="0"/>
          </a:p>
          <a:p>
            <a:pPr indent="0" marL="0">
              <a:buNone/>
            </a:pPr>
            <a:r>
              <a:rPr lang="en-US" sz="1100" i="1" dirty="0">
                <a:solidFill>
                  <a:srgbClr val="5A6472"/>
                </a:solidFill>
                <a:latin typeface="Calibri" pitchFamily="34" charset="0"/>
                <a:cs typeface="Amiri" pitchFamily="2" charset="-78"/>
              </a:rPr>
              <a:t>lugha · pl. lughāt</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لُغَةٌ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لُغَاتٌ</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ثَقَافَةٌ</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culture</a:t>
            </a:r>
            <a:endParaRPr lang="en-US" sz="1350" dirty="0"/>
          </a:p>
          <a:p>
            <a:pPr indent="0" marL="0">
              <a:buNone/>
            </a:pPr>
            <a:r>
              <a:rPr lang="en-US" sz="1100" i="1" dirty="0">
                <a:solidFill>
                  <a:srgbClr val="5A6472"/>
                </a:solidFill>
                <a:latin typeface="Calibri" pitchFamily="34" charset="0"/>
                <a:cs typeface="Amiri" pitchFamily="2" charset="-78"/>
              </a:rPr>
              <a:t>thaqāfa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ثَقَافَةٌ</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ثَقَافَاتٌ</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عَالَمٌ</a:t>
            </a:r>
            <a:endParaRPr lang="ar-SA" sz="3000" dirty="0"/>
          </a:p>
        </p:txBody>
      </p:sp>
      <p:sp>
        <p:nvSpPr>
          <p:cNvPr id="53" name="Text 5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world</a:t>
            </a:r>
            <a:endParaRPr lang="en-US" sz="1350" dirty="0"/>
          </a:p>
          <a:p>
            <a:pPr indent="0" marL="0">
              <a:buNone/>
            </a:pPr>
            <a:r>
              <a:rPr lang="en-US" sz="1100" i="1" dirty="0">
                <a:solidFill>
                  <a:srgbClr val="5A6472"/>
                </a:solidFill>
                <a:latin typeface="Calibri" pitchFamily="34" charset="0"/>
                <a:cs typeface="Amiri" pitchFamily="2" charset="-78"/>
              </a:rPr>
              <a:t>ʿālam</a:t>
            </a:r>
            <a:endParaRPr lang="en-US" sz="1350" dirty="0"/>
          </a:p>
        </p:txBody>
      </p:sp>
      <p:sp>
        <p:nvSpPr>
          <p:cNvPr id="54" name="Text 51"/>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العَالَمُ العَرَبِيُّ</a:t>
            </a:r>
            <a:pPr algn="l" indent="0" marL="0">
              <a:buNone/>
            </a:pPr>
            <a:r>
              <a:rPr lang="en-US" sz="1000" i="1" dirty="0">
                <a:solidFill>
                  <a:srgbClr val="8A6D1E"/>
                </a:solidFill>
                <a:latin typeface="Calibri" pitchFamily="34" charset="0"/>
                <a:cs typeface="Amiri" pitchFamily="2" charset="-78"/>
              </a:rPr>
              <a:t> = the Arab world</a:t>
            </a:r>
            <a:endParaRPr lang="en-US" sz="1000" dirty="0"/>
          </a:p>
        </p:txBody>
      </p:sp>
      <p:sp>
        <p:nvSpPr>
          <p:cNvPr id="55" name="Shape 5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211312"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8" name="Shape 5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59" name="Text 5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pl.</a:t>
            </a:r>
            <a:endParaRPr lang="en-US" sz="800" dirty="0"/>
          </a:p>
        </p:txBody>
      </p:sp>
      <p:sp>
        <p:nvSpPr>
          <p:cNvPr id="60" name="Shape 5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2" name="Text 5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بِلَادٌ</a:t>
            </a:r>
            <a:endParaRPr lang="ar-SA" sz="3000" dirty="0"/>
          </a:p>
        </p:txBody>
      </p:sp>
      <p:sp>
        <p:nvSpPr>
          <p:cNvPr id="63" name="Text 6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countries, lands</a:t>
            </a:r>
            <a:endParaRPr lang="en-US" sz="1350" dirty="0"/>
          </a:p>
          <a:p>
            <a:pPr indent="0" marL="0">
              <a:buNone/>
            </a:pPr>
            <a:r>
              <a:rPr lang="en-US" sz="1100" i="1" dirty="0">
                <a:solidFill>
                  <a:srgbClr val="5A6472"/>
                </a:solidFill>
                <a:latin typeface="Calibri" pitchFamily="34" charset="0"/>
                <a:cs typeface="Amiri" pitchFamily="2" charset="-78"/>
              </a:rPr>
              <a:t>bilād</a:t>
            </a:r>
            <a:endParaRPr lang="en-US" sz="1350" dirty="0"/>
          </a:p>
        </p:txBody>
      </p:sp>
      <p:sp>
        <p:nvSpPr>
          <p:cNvPr id="64" name="Shape 61"/>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66" name="Text 63"/>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بَلَدٌ</a:t>
            </a:r>
            <a:endParaRPr lang="ar-SA" sz="1500" dirty="0"/>
          </a:p>
        </p:txBody>
      </p:sp>
      <p:sp>
        <p:nvSpPr>
          <p:cNvPr id="67" name="Shape 64"/>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9" name="Text 66"/>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بِلَادٌ</a:t>
            </a:r>
            <a:endParaRPr lang="ar-SA" sz="1500" dirty="0"/>
          </a:p>
        </p:txBody>
      </p:sp>
      <p:sp>
        <p:nvSpPr>
          <p:cNvPr id="70" name="Shape 6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389120" y="4261104"/>
            <a:ext cx="310896" cy="310896"/>
          </a:xfrm>
          <a:prstGeom prst="ellipse">
            <a:avLst/>
          </a:prstGeom>
          <a:solidFill>
            <a:srgbClr val="F4F1EA"/>
          </a:solidFill>
          <a:ln w="12700">
            <a:solidFill>
              <a:srgbClr val="F4F1EA"/>
            </a:solidFill>
            <a:prstDash val="solid"/>
          </a:ln>
        </p:spPr>
      </p:sp>
      <p:sp>
        <p:nvSpPr>
          <p:cNvPr id="72" name="Text 6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3" name="Shape 70"/>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74" name="Text 71"/>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75" name="Text 72"/>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فَنٌّ</a:t>
            </a:r>
            <a:endParaRPr lang="ar-SA" sz="3000" dirty="0"/>
          </a:p>
        </p:txBody>
      </p:sp>
      <p:sp>
        <p:nvSpPr>
          <p:cNvPr id="76" name="Text 73"/>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art</a:t>
            </a:r>
            <a:endParaRPr lang="en-US" sz="1350" dirty="0"/>
          </a:p>
          <a:p>
            <a:pPr indent="0" marL="0">
              <a:buNone/>
            </a:pPr>
            <a:r>
              <a:rPr lang="en-US" sz="1100" i="1" dirty="0">
                <a:solidFill>
                  <a:srgbClr val="5A6472"/>
                </a:solidFill>
                <a:latin typeface="Calibri" pitchFamily="34" charset="0"/>
                <a:cs typeface="Amiri" pitchFamily="2" charset="-78"/>
              </a:rPr>
              <a:t>fann · pl. funūn</a:t>
            </a:r>
            <a:endParaRPr lang="en-US" sz="1350" dirty="0"/>
          </a:p>
        </p:txBody>
      </p:sp>
      <p:sp>
        <p:nvSpPr>
          <p:cNvPr id="77" name="Shape 74"/>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78" name="Text 75"/>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79" name="Text 76"/>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فَنٌّ</a:t>
            </a:r>
            <a:endParaRPr lang="ar-SA" sz="1500" dirty="0"/>
          </a:p>
        </p:txBody>
      </p:sp>
      <p:sp>
        <p:nvSpPr>
          <p:cNvPr id="80" name="Shape 77"/>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2" name="Text 79"/>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فُنُونٌ</a:t>
            </a:r>
            <a:endParaRPr lang="ar-SA" sz="1500" dirty="0"/>
          </a:p>
        </p:txBody>
      </p:sp>
      <p:sp>
        <p:nvSpPr>
          <p:cNvPr id="83" name="Shape 8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566928" y="4261104"/>
            <a:ext cx="310896" cy="310896"/>
          </a:xfrm>
          <a:prstGeom prst="ellipse">
            <a:avLst/>
          </a:prstGeom>
          <a:solidFill>
            <a:srgbClr val="F4F1EA"/>
          </a:solidFill>
          <a:ln w="12700">
            <a:solidFill>
              <a:srgbClr val="F4F1EA"/>
            </a:solidFill>
            <a:prstDash val="solid"/>
          </a:ln>
        </p:spPr>
      </p:sp>
      <p:sp>
        <p:nvSpPr>
          <p:cNvPr id="85" name="Text 8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6" name="Shape 83"/>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87" name="Text 84"/>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88" name="Text 85"/>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تِجَارَةٌ</a:t>
            </a:r>
            <a:endParaRPr lang="ar-SA" sz="3000" dirty="0"/>
          </a:p>
        </p:txBody>
      </p:sp>
      <p:sp>
        <p:nvSpPr>
          <p:cNvPr id="89" name="Text 86"/>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commerce, trade</a:t>
            </a:r>
            <a:endParaRPr lang="en-US" sz="1350" dirty="0"/>
          </a:p>
          <a:p>
            <a:pPr indent="0" marL="0">
              <a:buNone/>
            </a:pPr>
            <a:r>
              <a:rPr lang="en-US" sz="1100" i="1" dirty="0">
                <a:solidFill>
                  <a:srgbClr val="5A6472"/>
                </a:solidFill>
                <a:latin typeface="Calibri" pitchFamily="34" charset="0"/>
                <a:cs typeface="Amiri" pitchFamily="2" charset="-78"/>
              </a:rPr>
              <a:t>tijāra</a:t>
            </a:r>
            <a:endParaRPr lang="en-US" sz="13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Talking about Arabic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الفُصْحَى</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Modern Standard Arabic</a:t>
            </a:r>
            <a:endParaRPr lang="en-US" sz="1350" dirty="0"/>
          </a:p>
          <a:p>
            <a:pPr indent="0" marL="0">
              <a:buNone/>
            </a:pPr>
            <a:r>
              <a:rPr lang="en-US" sz="1100" i="1" dirty="0">
                <a:solidFill>
                  <a:srgbClr val="5A6472"/>
                </a:solidFill>
                <a:latin typeface="Calibri" pitchFamily="34" charset="0"/>
                <a:cs typeface="Amiri" pitchFamily="2" charset="-78"/>
              </a:rPr>
              <a:t>al-fuṣ-ḥā</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لَهْجَةٌ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dialect</a:t>
            </a:r>
            <a:endParaRPr lang="en-US" sz="1350" dirty="0"/>
          </a:p>
          <a:p>
            <a:pPr indent="0" marL="0">
              <a:buNone/>
            </a:pPr>
            <a:r>
              <a:rPr lang="en-US" sz="1100" i="1" dirty="0">
                <a:solidFill>
                  <a:srgbClr val="5A6472"/>
                </a:solidFill>
                <a:latin typeface="Calibri" pitchFamily="34" charset="0"/>
                <a:cs typeface="Amiri" pitchFamily="2" charset="-78"/>
              </a:rPr>
              <a:t>lah-ja-tun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خَطٌّ</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calligraphy / handwriting</a:t>
            </a:r>
            <a:endParaRPr lang="en-US" sz="1350" dirty="0"/>
          </a:p>
          <a:p>
            <a:pPr indent="0" marL="0">
              <a:buNone/>
            </a:pPr>
            <a:r>
              <a:rPr lang="en-US" sz="1100" i="1" dirty="0">
                <a:solidFill>
                  <a:srgbClr val="5A6472"/>
                </a:solidFill>
                <a:latin typeface="Calibri" pitchFamily="34" charset="0"/>
                <a:cs typeface="Amiri" pitchFamily="2" charset="-78"/>
              </a:rPr>
              <a:t>khaṭ-ṭun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النَّسْخُ</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Naskh — clear, everyday style</a:t>
            </a:r>
            <a:endParaRPr lang="en-US" sz="1350" dirty="0"/>
          </a:p>
          <a:p>
            <a:pPr indent="0" marL="0">
              <a:buNone/>
            </a:pPr>
            <a:r>
              <a:rPr lang="en-US" sz="1100" i="1" dirty="0">
                <a:solidFill>
                  <a:srgbClr val="5A6472"/>
                </a:solidFill>
                <a:latin typeface="Calibri" pitchFamily="34" charset="0"/>
                <a:cs typeface="Amiri" pitchFamily="2" charset="-78"/>
              </a:rPr>
              <a:t>an-nas-khu</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الرُّقْعَةُ</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Ruqʿah — quick handwriting</a:t>
            </a:r>
            <a:endParaRPr lang="en-US" sz="1350" dirty="0"/>
          </a:p>
          <a:p>
            <a:pPr indent="0" marL="0">
              <a:buNone/>
            </a:pPr>
            <a:r>
              <a:rPr lang="en-US" sz="1100" i="1" dirty="0">
                <a:solidFill>
                  <a:srgbClr val="5A6472"/>
                </a:solidFill>
                <a:latin typeface="Calibri" pitchFamily="34" charset="0"/>
                <a:cs typeface="Amiri" pitchFamily="2" charset="-78"/>
              </a:rPr>
              <a:t>ar-ruq-ʿa-tu</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الثُّلُثُ</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Thuluth — large, for buildings</a:t>
            </a:r>
            <a:endParaRPr lang="en-US" sz="1350" dirty="0"/>
          </a:p>
          <a:p>
            <a:pPr indent="0" marL="0">
              <a:buNone/>
            </a:pPr>
            <a:r>
              <a:rPr lang="en-US" sz="1100" i="1" dirty="0">
                <a:solidFill>
                  <a:srgbClr val="5A6472"/>
                </a:solidFill>
                <a:latin typeface="Calibri" pitchFamily="34" charset="0"/>
                <a:cs typeface="Amiri" pitchFamily="2" charset="-78"/>
              </a:rPr>
              <a:t>ath-thu-lu-thu</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MINI-DIALOGUE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Where did you see Arabic?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أَيْنَ رَأَيْتَ العَرَبِيَّةَ؟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did you see Arabic this week?</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أَيْنَ رَأَيْتَ العَرَبِيَّةَ هٰذَا الأُسْبُوعَ؟</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 a restaurant sign: “maṭʿam”.</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عَلَى لَافِتَةِ مَطْعَمٍ: «مَطْعَم».</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it in fuṣḥā?</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هُوَ بِالفُصْحَى؟</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writing is usually in fuṣḥā.</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نَعَمْ، الكِتَابَةُ عَادَةً بِالفُصْحَى.</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which style?</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وَمَا الخَطُّ؟</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Naskh — clear and easy.</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النَّسْخُ — وَاضِحٌ وَسَهْلٌ.</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give YOUR real example (a food packet, a shop, a phone app, a mosque).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POINT-AND-SAY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Everyday Arabic — read it, say where you’d see it</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Then read (Develop)</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 says (Core)</a:t>
            </a:r>
            <a:endParaRPr lang="en-US" sz="1100" dirty="0"/>
          </a:p>
        </p:txBody>
      </p:sp>
      <p:sp>
        <p:nvSpPr>
          <p:cNvPr id="18" name="Text 15"/>
          <p:cNvSpPr txBox="1"/>
          <p:nvPr/>
        </p:nvSpPr>
        <p:spPr>
          <a:xfrm>
            <a:off x="432511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Hint</a:t>
            </a:r>
            <a:endParaRPr lang="en-US" sz="1100" dirty="0"/>
          </a:p>
        </p:txBody>
      </p:sp>
      <p:sp>
        <p:nvSpPr>
          <p:cNvPr id="19" name="Text 16"/>
          <p:cNvSpPr txBox="1"/>
          <p:nvPr/>
        </p:nvSpPr>
        <p:spPr>
          <a:xfrm>
            <a:off x="1033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points to / says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مَطْعَم</a:t>
            </a:r>
            <a:endParaRPr lang="ar-SA" sz="18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مَخْبَز</a:t>
            </a:r>
            <a:endParaRPr lang="ar-SA" sz="1800" dirty="0"/>
          </a:p>
        </p:txBody>
      </p:sp>
      <p:sp>
        <p:nvSpPr>
          <p:cNvPr id="24" name="Text 21"/>
          <p:cNvSpPr txBox="1"/>
          <p:nvPr/>
        </p:nvSpPr>
        <p:spPr>
          <a:xfrm>
            <a:off x="4361688" y="2267712"/>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business · bakery</a:t>
            </a:r>
            <a:endParaRPr lang="en-US" sz="1100" dirty="0"/>
          </a:p>
        </p:txBody>
      </p:sp>
      <p:sp>
        <p:nvSpPr>
          <p:cNvPr id="25" name="Text 22"/>
          <p:cNvSpPr txBox="1"/>
          <p:nvPr/>
        </p:nvSpPr>
        <p:spPr>
          <a:xfrm>
            <a:off x="1051560" y="2267712"/>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مَخْبَز</a:t>
            </a:r>
            <a:endParaRPr lang="ar-SA" sz="20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مُغَادَرَة</a:t>
            </a:r>
            <a:endParaRPr lang="ar-SA" sz="18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وُصُول</a:t>
            </a:r>
            <a:endParaRPr lang="ar-SA" sz="1800" dirty="0"/>
          </a:p>
        </p:txBody>
      </p:sp>
      <p:sp>
        <p:nvSpPr>
          <p:cNvPr id="32" name="Text 29"/>
          <p:cNvSpPr txBox="1"/>
          <p:nvPr/>
        </p:nvSpPr>
        <p:spPr>
          <a:xfrm>
            <a:off x="4361688" y="300471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travel · arrivals</a:t>
            </a:r>
            <a:endParaRPr lang="en-US" sz="1100" dirty="0"/>
          </a:p>
        </p:txBody>
      </p:sp>
      <p:sp>
        <p:nvSpPr>
          <p:cNvPr id="33" name="Text 30"/>
          <p:cNvSpPr txBox="1"/>
          <p:nvPr/>
        </p:nvSpPr>
        <p:spPr>
          <a:xfrm>
            <a:off x="1051560" y="3004718"/>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وُصُول</a:t>
            </a:r>
            <a:endParaRPr lang="ar-SA" sz="20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صَحِيفَة</a:t>
            </a:r>
            <a:endParaRPr lang="ar-SA" sz="18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أَخْبَار</a:t>
            </a:r>
            <a:endParaRPr lang="ar-SA" sz="1800" dirty="0"/>
          </a:p>
        </p:txBody>
      </p:sp>
      <p:sp>
        <p:nvSpPr>
          <p:cNvPr id="40" name="Text 37"/>
          <p:cNvSpPr txBox="1"/>
          <p:nvPr/>
        </p:nvSpPr>
        <p:spPr>
          <a:xfrm>
            <a:off x="4361688" y="3741725"/>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media · news</a:t>
            </a:r>
            <a:endParaRPr lang="en-US" sz="1100" dirty="0"/>
          </a:p>
        </p:txBody>
      </p:sp>
      <p:sp>
        <p:nvSpPr>
          <p:cNvPr id="41" name="Text 38"/>
          <p:cNvSpPr txBox="1"/>
          <p:nvPr/>
        </p:nvSpPr>
        <p:spPr>
          <a:xfrm>
            <a:off x="1051560" y="3741725"/>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أَخْبَار</a:t>
            </a:r>
            <a:endParaRPr lang="ar-SA" sz="20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تَارِيخ</a:t>
            </a:r>
            <a:endParaRPr lang="ar-SA" sz="18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مُكَوِّنَات</a:t>
            </a:r>
            <a:endParaRPr lang="ar-SA" sz="1800" dirty="0"/>
          </a:p>
        </p:txBody>
      </p:sp>
      <p:sp>
        <p:nvSpPr>
          <p:cNvPr id="48" name="Text 45"/>
          <p:cNvSpPr txBox="1"/>
          <p:nvPr/>
        </p:nvSpPr>
        <p:spPr>
          <a:xfrm>
            <a:off x="4361688" y="4478731"/>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food · ingredients</a:t>
            </a:r>
            <a:endParaRPr lang="en-US" sz="1100" dirty="0"/>
          </a:p>
        </p:txBody>
      </p:sp>
      <p:sp>
        <p:nvSpPr>
          <p:cNvPr id="49" name="Text 46"/>
          <p:cNvSpPr txBox="1"/>
          <p:nvPr/>
        </p:nvSpPr>
        <p:spPr>
          <a:xfrm>
            <a:off x="1051560" y="4478731"/>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مُكَوِّنَات</a:t>
            </a:r>
            <a:endParaRPr lang="ar-SA" sz="20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رِسَالَة</a:t>
            </a:r>
            <a:endParaRPr lang="ar-SA" sz="18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بَحْث</a:t>
            </a:r>
            <a:endParaRPr lang="ar-SA" sz="1800" dirty="0"/>
          </a:p>
        </p:txBody>
      </p:sp>
      <p:sp>
        <p:nvSpPr>
          <p:cNvPr id="54" name="Text 51"/>
          <p:cNvSpPr txBox="1"/>
          <p:nvPr/>
        </p:nvSpPr>
        <p:spPr>
          <a:xfrm>
            <a:off x="4361688" y="521573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digital · search</a:t>
            </a:r>
            <a:endParaRPr lang="en-US" sz="1100" dirty="0"/>
          </a:p>
        </p:txBody>
      </p:sp>
      <p:sp>
        <p:nvSpPr>
          <p:cNvPr id="55" name="Text 52"/>
          <p:cNvSpPr txBox="1"/>
          <p:nvPr/>
        </p:nvSpPr>
        <p:spPr>
          <a:xfrm>
            <a:off x="1051560" y="5215738"/>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بَحْث</a:t>
            </a:r>
            <a:endParaRPr lang="ar-SA" sz="20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Speaker reads the word. Develop: say the meaning. Stretch: say where you would see it (a shop, a station, a packet …). Swap after each card.</a:t>
            </a:r>
            <a:endParaRPr lang="en-US" sz="11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READING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Reading card — countries and styles</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بِطَاقَةُ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Hint</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shows /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93608" y="2267712"/>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al-Maghrib · al-Jazāʾir · Tūnis</a:t>
            </a:r>
            <a:endParaRPr lang="en-US" sz="11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the three Maghreb countries.</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المَغْرِب · الجَزَائِر · تُونِس</a:t>
            </a:r>
            <a:endParaRPr lang="ar-SA" sz="20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93608" y="3054096"/>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Miṣr · as-Sūdān (sun letter)</a:t>
            </a:r>
            <a:endParaRPr lang="en-US" sz="11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the Nile Valley countries.</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مِصْر · السُّودَان</a:t>
            </a:r>
            <a:endParaRPr lang="ar-SA" sz="20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an-naskh · ar-ruqʿa · ath-thuluth</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the three styles; which is for buildings?</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النَّسْخُ · الرُّقْعَةُ · الثُّلُثُ</a:t>
            </a:r>
            <a:endParaRPr lang="ar-SA" sz="20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words</a:t>
            </a:r>
            <a:endParaRPr lang="en-US" sz="11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the long name slowly.</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المَمْلَكَةُ العَرَبِيَّةُ السُّعُودِيَّةُ</a:t>
            </a:r>
            <a:endParaRPr lang="ar-SA" sz="20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the reader · Leader = the card holder.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READ-ALOUD RACE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Ten-country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عَشْرُ دُوَلٍ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1800" b="1" dirty="0">
                <a:solidFill>
                  <a:srgbClr val="1B3B6F"/>
                </a:solidFill>
                <a:latin typeface="Calibri" pitchFamily="34" charset="0"/>
                <a:cs typeface="Amiri" pitchFamily="2" charset="-78"/>
              </a:rPr>
              <a:t>⏱  Read aloud for 30 seconds — as many as you can</a:t>
            </a:r>
            <a:endParaRPr lang="en-US" sz="18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In 30 seconds, read these ten countries: </a:t>
            </a:r>
            <a:pPr algn="l" indent="0" marL="0">
              <a:buNone/>
            </a:pPr>
            <a:r>
              <a:rPr lang="ar-SA" altLang="en-US" sz="1750" dirty="0">
                <a:solidFill>
                  <a:srgbClr val="1F2A37"/>
                </a:solidFill>
                <a:latin typeface="Amiri" pitchFamily="2" charset="-78"/>
                <a:ea typeface="Amiri" pitchFamily="2" charset="-78"/>
                <a:cs typeface="Amiri" pitchFamily="2" charset="-78"/>
              </a:rPr>
              <a:t>المَغْرِب</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الجَزَائِر</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تُونِس</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مِصْر</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السُّودَان</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لُبْنَان</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سُورِيَا</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العِرَاق</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السُّعُودِيَّة</a:t>
            </a:r>
            <a:pPr algn="l" indent="0" marL="0">
              <a:buNone/>
            </a:pPr>
            <a:r>
              <a:rPr lang="en-US" sz="1350" dirty="0">
                <a:solidFill>
                  <a:srgbClr val="1F2A37"/>
                </a:solidFill>
                <a:latin typeface="Calibri" pitchFamily="34" charset="0"/>
                <a:cs typeface="Amiri" pitchFamily="2" charset="-78"/>
              </a:rPr>
              <a:t> · </a:t>
            </a:r>
            <a:pPr algn="l" indent="0" marL="0">
              <a:buNone/>
            </a:pPr>
            <a:r>
              <a:rPr lang="ar-SA" altLang="en-US" sz="1750" dirty="0">
                <a:solidFill>
                  <a:srgbClr val="1F2A37"/>
                </a:solidFill>
                <a:latin typeface="Amiri" pitchFamily="2" charset="-78"/>
                <a:ea typeface="Amiri" pitchFamily="2" charset="-78"/>
                <a:cs typeface="Amiri" pitchFamily="2" charset="-78"/>
              </a:rPr>
              <a:t>عُمَان</a:t>
            </a:r>
            <a:pPr algn="l" indent="0" marL="0">
              <a:buNone/>
            </a:pPr>
            <a:r>
              <a:rPr lang="en-US" sz="1350" dirty="0">
                <a:solidFill>
                  <a:srgbClr val="1F2A37"/>
                </a:solidFill>
                <a:latin typeface="Calibri" pitchFamily="34" charset="0"/>
                <a:cs typeface="Amiri" pitchFamily="2" charset="-78"/>
              </a:rPr>
              <a:t>. The Coach counts the correct ones.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Leader points to the list on the slide (or in your book).</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Speaker reads aloud for 30 seconds; the Coach counts the correct ones.</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sound that was perfect + one to practise.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try to beat your own score, not your partner’s.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five countries.</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all ten.</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all ten and say the region (Maghreb · Nile Valley · Levant · Gulf).</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once more</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BUILD THE WORD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Build three words from their parts</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الكَلِمَةَ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culture — thaqāfa</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قَا</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كَا</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language — lugha</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dialect — lahja</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لَهْ</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لَحْ</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خَ</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the word: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الكَلِمَةَ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culture — thaqāfa</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 (three dots) · q (two dots) · f (one dot).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ثَقَافَةٌ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language — lugha</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gh has a dot above; </a:t>
            </a:r>
            <a:pPr algn="l" indent="0" marL="0">
              <a:buNone/>
            </a:pPr>
            <a:r>
              <a:rPr lang="ar-SA" altLang="en-US" sz="1350" dirty="0">
                <a:solidFill>
                  <a:srgbClr val="5A6472"/>
                </a:solidFill>
                <a:latin typeface="Amiri" pitchFamily="2" charset="-78"/>
                <a:ea typeface="Amiri" pitchFamily="2" charset="-78"/>
                <a:cs typeface="Amiri" pitchFamily="2" charset="-78"/>
              </a:rPr>
              <a:t>ة</a:t>
            </a:r>
            <a:pPr algn="l" indent="0" marL="0">
              <a:buNone/>
            </a:pPr>
            <a:r>
              <a:rPr lang="en-US" sz="1050" i="1" dirty="0">
                <a:solidFill>
                  <a:srgbClr val="5A6472"/>
                </a:solidFill>
                <a:latin typeface="Calibri" pitchFamily="34" charset="0"/>
                <a:cs typeface="Amiri" pitchFamily="2" charset="-78"/>
              </a:rPr>
              <a:t> at the end.</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لُغَةٌ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dialect — lahja</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light h (</a:t>
            </a:r>
            <a:pPr algn="l" indent="0" marL="0">
              <a:buNone/>
            </a:pPr>
            <a:r>
              <a:rPr lang="ar-SA" altLang="en-US" sz="1350" dirty="0">
                <a:solidFill>
                  <a:srgbClr val="5A6472"/>
                </a:solidFill>
                <a:latin typeface="Amiri" pitchFamily="2" charset="-78"/>
                <a:ea typeface="Amiri" pitchFamily="2" charset="-78"/>
                <a:cs typeface="Amiri" pitchFamily="2" charset="-78"/>
              </a:rPr>
              <a:t>ه</a:t>
            </a:r>
            <a:pPr algn="l" indent="0" marL="0">
              <a:buNone/>
            </a:pPr>
            <a:r>
              <a:rPr lang="en-US" sz="1050" i="1" dirty="0">
                <a:solidFill>
                  <a:srgbClr val="5A6472"/>
                </a:solidFill>
                <a:latin typeface="Calibri" pitchFamily="34" charset="0"/>
                <a:cs typeface="Amiri" pitchFamily="2" charset="-78"/>
              </a:rPr>
              <a:t>) with sukūn; j has its dot below.</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لَهْجَةٌ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THE SLIP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كُلُّ العَرَبِ يَتَكَلَّمُونَ لَهْجَةً وَاحِدَةً.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this a careful claim?</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الثُّلُثُ</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The style for quick everyday handwriting is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السُودَان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س</a:t>
            </a:r>
            <a:pPr algn="l" indent="0" marL="0">
              <a:buNone/>
            </a:pPr>
            <a:r>
              <a:rPr lang="en-US" sz="1300" i="1" dirty="0">
                <a:solidFill>
                  <a:srgbClr val="5A6472"/>
                </a:solidFill>
                <a:latin typeface="Calibri" pitchFamily="34" charset="0"/>
                <a:cs typeface="Amiri" pitchFamily="2" charset="-78"/>
              </a:rPr>
              <a:t> is a sun letter.</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كُلُّ العَرَبِ يَتَكَلَّمُونَ لَهْجَةً وَاحِدَةً.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لِكُلِّ بَلَدٍ لَهْجَتُهُ، وَالفُصْحَى لِلْكِتَابَةِ.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Many dialects — one shared written language.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الثُّلُثُ</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الرُّقْعَةُ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Ruqʿah = quick handwriting; Thuluth = buildings.</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السُودَان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السُّودَان</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Sun letter after al- → shadda: as-Sūdān.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COPY, LISTEN AND WRITE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إِمْلَاءٌ: ١ ______ ٢ ______ ٣ ______</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Dictation: everyday words.</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العَرَبِيَّةُ حَوْلِي: ١ ______ ٢ ______ ٣ ______</a:t>
            </a:r>
            <a:endParaRPr lang="ar-SA" sz="16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Arabic around me: three real words.</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لُغَةٌ ______ ثَقَافَةٌ ______ عَالَمٌ</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three words.</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المَغْرِب ______ مِصْر ______ العِرَاق</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three countries.</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النَّسْخُ ______ الرُّقْعَةُ ______ الثُّلُثُ</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the three styles.</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رَأَيْتُ ______ عَلَى ______</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saw … on … (in English is fine for the place).</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لُغَةٌ · ثَقَافَةٌ  ·  عَالَمٌ · بِلَادٌ  ·  فَنٌّ · تِجَارَةٌ  ·  الفُصْحَى · لَهْجَةٌ  ·  النَّسْخُ · الرُّقْعَةُ · الثُّلُثُ  ·  مَطْعَم · مَخْبَز  ·  وُصُول · مُغَادَرَة  ·  المَغْرِب · مِصْر · العِرَاق</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Sounds + script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8 · COPY, LISTEN AND WRITE · WORDS · COUNTRIES · MY LIST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Copy, listen and write: Arabic around me</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العَرَبِيَّةُ حَوْلِي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51790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5179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SCRIPT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In your book: • copy the twelve words and the ten countries • DICTATION: your buddy reads five everyday words — write them without looking • write “Arabic around me”: three Arabic words you have really seen (a shop, a packet, an app, a mosque) and where you saw them.</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and countries copied with every mark.</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Sun letters doubled after al- (</a:t>
            </a:r>
            <a:pPr algn="l" indent="0" marL="0">
              <a:buNone/>
            </a:pPr>
            <a:r>
              <a:rPr lang="ar-SA" altLang="en-US" sz="1550" dirty="0">
                <a:solidFill>
                  <a:srgbClr val="1F2A37"/>
                </a:solidFill>
                <a:latin typeface="Amiri" pitchFamily="2" charset="-78"/>
                <a:ea typeface="Amiri" pitchFamily="2" charset="-78"/>
                <a:cs typeface="Amiri" pitchFamily="2" charset="-78"/>
              </a:rPr>
              <a:t>السُّودَان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Dictation without looking (Develop).</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REAL examples of Arabic around you (Stretch).</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الفُصْحَى · لَهْجَةٌ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fuṣḥā · a dialect</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النَّسْخُ · الرُّقْعَةُ · الثُّلُثُ</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Naskh · Ruqʿah · Thuluth</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رَأَيْتُ … عَلَى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saw … on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كَثِيرٍ مِنَ البُلْدَانِ</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many countries</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every letter from RIGHT to left?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put the dots in the right place, with the right number?</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join letters correctly — and leave a gap after </a:t>
            </a:r>
            <a:pPr algn="l" indent="0" marL="0">
              <a:buNone/>
            </a:pPr>
            <a:r>
              <a:rPr lang="ar-SA" altLang="en-US" sz="1450" dirty="0">
                <a:solidFill>
                  <a:srgbClr val="5A6472"/>
                </a:solidFill>
                <a:latin typeface="Amiri" pitchFamily="2" charset="-78"/>
                <a:ea typeface="Amiri" pitchFamily="2" charset="-78"/>
                <a:cs typeface="Amiri" pitchFamily="2" charset="-78"/>
              </a:rPr>
              <a:t>ا د ذ ر ز و</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the short-vowel marks in the right place?</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the dictation words without looking at the slide?</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READING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Reading card: compare with a strong answer</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المَغْرِب · الجَزَائِر · تُونِس</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Morocco · Algeria · Tunisia.</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المَغْرِب · الجَزَائِر · تُونِس</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مِصْر · السُّودَان</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Egypt · Sudan.</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مِصْر · السُّودَان</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الثُّلُثُ</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Thuluth — large and sweeping, for buildings.</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النَّسْخُ · الرُّقْعَةُ · الثُّلُثُ</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المَمْلَكَةُ العَرَبِيَّةُ السُّعُودِيَّةُ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Kingdom of Saudi Arabia.</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المَمْلَكَةُ العَرَبِيَّةُ السُّعُودِيَّةُ</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read every item clearly, from right to left? Read the one you found hardest once more.</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COPY, LISTEN AND WRITE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لُغَةٌ · ثَقَافَةٌ · عَالَمٌ · بِلَادٌ · فَنٌّ · تِجَارَةٌ</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المَغْرِب · الجَزَائِر · تُونِس · مِصْر · السُّودَان · لُبْنَان · سُورِيَا · العِرَاق · السُّعُودِيَّة · عُمَان</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إِمْلَاءٌ: مَخْبَز · وُصُول · أَخْبَار · بَحْث · رِسَالَة</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العَرَبِيَّةُ حَوْلِي: «حَلَال» عَلَى مَحَلِّ اللَّحْمِ · «مَسْجِد» فِي شَارِعِي · «بَحْث» فِي تَطْبِيقٍ</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Line 1: six words. Line 2: the ten countries. Line 3: a dictation of five everyday words. Line 4: Arabic around me — “ḥalāl” on the butcher’s, “masjid” in my street, “search” in an app.</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ثَقَافَةٌ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السُّودَان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وُصُول</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العَرَبِيَّةُ حَوْلِي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F1-L11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F1-L11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said the sounds of today’s letters clearly.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copied every letter from right to left with the dots in the right place.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read today’s words aloud without stopping.</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writing and I fixed one thing.</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the dictation words without looking.</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F1-L11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50" b="1" dirty="0">
                <a:solidFill>
                  <a:srgbClr val="FFFFFF"/>
                </a:solidFill>
                <a:latin typeface="Cambria" pitchFamily="34" charset="0"/>
                <a:cs typeface="Amiri" pitchFamily="2" charset="-78"/>
              </a:rPr>
              <a:t>F1-L12 · Show What You Know: F1 Review &amp; Assessment</a:t>
            </a:r>
            <a:endParaRPr lang="en-US" sz="17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مُرَاجَعَةُ الوَحْدَةِ الأُولَى وَتَقْيِيمُهَا</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Arabic starts on the right — look at the dots, say the sound,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F1-L11 · Practice Room — Arabic Around Us</dc:title>
  <dc:subject>PptxGenJS Presentation</dc:subject>
  <dc:creator>Al Madina Online School · Arabic Department</dc:creator>
  <cp:lastModifiedBy>Al Madina Online School · Arabic Department</cp:lastModifiedBy>
  <cp:revision>1</cp:revision>
  <dcterms:created xsi:type="dcterms:W3CDTF">2026-10-26T03:41:48Z</dcterms:created>
  <dcterms:modified xsi:type="dcterms:W3CDTF">2026-10-26T03:41:48Z</dcterms:modified>
</cp:coreProperties>
</file>