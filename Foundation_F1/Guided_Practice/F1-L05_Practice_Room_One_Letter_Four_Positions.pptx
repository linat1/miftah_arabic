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PRACTICE ROOM AT A GLANCE — one combined lesson (speaking, then writing), 55–60 minutes: about 6 minutes in the main room, about 45 minutes in breakout rooms of two or three, about 6 minutes back together.
0–2 Welcome · 2–5 How the room works · ROOMS, Part A Speaking: Step 1 Letter warm-up (5) · Step 2 Say the mini-dialogue (5) · Step 3 Point-and-say cards (7) · Step 4 Reading card (7) · Step 5 Read-aloud race (4) · Part B Writing: Step 6 Build the word (4) · Step 7 Spot the slip (3) · Step 8 Copy, listen and write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F1-L05 (One Letter, Four Positions) — new practice tasks built on the lesson’s own word bank and grammar (a letter keeps its identity (dots and main stroke) but changes its joining strokes: alone · start · middle · end; the six breakers (ا د ذ ر ز و) join only from the right, so the next letter takes a start or alone form).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F1-L05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Speaker reads from the slide; the Coach checks the sound and the direction (right to left). Teacher: listen for the target sounds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(7 min). SUPPORTED: the plan column models the thinking (first words), not the full answer. Everyone is Speaker once. To a girl the Leader says: no changes needed.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starting on the RIGHT (column 1). The answer slide shows the parts joined into one word. Students copy the three words into their book — they are used again in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starting on the RIGHT (column 1). The answer slide shows the parts joined into one word. Students copy the three words into their book — they are used again in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8 (10 min). Core: the four forms of ب ع ه with the frames. Develop: the six words with labelled positions + dictation. Stretch: dictation of eight words, then write the four forms of ج and ك from memory. Teacher checks for joins after breakers.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(24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F1  ·  F1-L05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F1-L05</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One Letter, Four Positions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أَشْكَالُ الحُرُوفِ</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00" dirty="0">
                <a:solidFill>
                  <a:srgbClr val="C6D2E6"/>
                </a:solidFill>
                <a:latin typeface="Calibri" pitchFamily="34" charset="0"/>
                <a:cs typeface="Amiri" pitchFamily="2" charset="-78"/>
              </a:rPr>
              <a:t>Students run their own script practice with letter positions: name the four forms of a letter, act a “where is it in the word?” mini-dialogue, do point-and-say cards, read words and find each letter’s position on a reading card, race to read words with breakers, then build words from parts, spot joining slips, and copy and write from dictation.</a:t>
            </a:r>
            <a:endParaRPr lang="en-US" sz="11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F1-L05 · Foundation F1 · Arabic Script &amp; Sounds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beginner</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F1 › F1-L05</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F1-L05 · Sounds + script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F1-L05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F1-L05 · Sounds + script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F1-L05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letter warm-up · say the mini-dialogue.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point-and-say cards · reading card · read-aloud race.</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build the word · spot the slip.</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copy, listen and write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F1-L05 · Sounds + script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F1-L05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points to a letter or word on the slide (or reads the card) and keeps the time.</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says the sound or reads the word aloud, from RIGHT to left. Slowly is fine — clearly is the goal.</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in their OWN book — copying, then dictation;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F1-L05 · Sounds + script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LETTER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find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 وَجِدْهُ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F1-L05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Shape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letter and a position (“bāʾ — middle”). The Speaker points to the right card (or says its number). The Coach checks.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letter + position pairs.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finds each card and draws the shape in the air.</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pairs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the Leader says a breaker; the Speaker says what happens after it.</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Find the right card.</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which strokes join (right · left · both).</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Name another letter that changes the same way.</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F1-L05 · Sounds + script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forms: bāʾ and ʿayn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أَشْكَالُ الحَرْفِ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F1-L05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alone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4050" b="1" dirty="0">
                <a:solidFill>
                  <a:srgbClr val="1B3B6F"/>
                </a:solidFill>
                <a:latin typeface="Amiri" pitchFamily="2" charset="-78"/>
                <a:ea typeface="Amiri" pitchFamily="2" charset="-78"/>
                <a:cs typeface="Amiri" pitchFamily="2" charset="-78"/>
              </a:rPr>
              <a:t>ب</a:t>
            </a:r>
            <a:endParaRPr lang="ar-SA" sz="405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bāʾ — alone</a:t>
            </a:r>
            <a:endParaRPr lang="en-US" sz="1350" dirty="0"/>
          </a:p>
          <a:p>
            <a:pPr indent="0" marL="0">
              <a:buNone/>
            </a:pPr>
            <a:r>
              <a:rPr lang="en-US" sz="1100" i="1" dirty="0">
                <a:solidFill>
                  <a:srgbClr val="5A6472"/>
                </a:solidFill>
                <a:latin typeface="Calibri" pitchFamily="34" charset="0"/>
                <a:cs typeface="Amiri" pitchFamily="2" charset="-78"/>
              </a:rPr>
              <a:t>isolated</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7" name="Shape 24"/>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start</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4050" b="1" dirty="0">
                <a:solidFill>
                  <a:srgbClr val="1B3B6F"/>
                </a:solidFill>
                <a:latin typeface="Amiri" pitchFamily="2" charset="-78"/>
                <a:ea typeface="Amiri" pitchFamily="2" charset="-78"/>
                <a:cs typeface="Amiri" pitchFamily="2" charset="-78"/>
              </a:rPr>
              <a:t>بـ</a:t>
            </a:r>
            <a:endParaRPr lang="ar-SA" sz="405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bāʾ — at the start</a:t>
            </a:r>
            <a:endParaRPr lang="en-US" sz="1350" dirty="0"/>
          </a:p>
          <a:p>
            <a:pPr indent="0" marL="0">
              <a:buNone/>
            </a:pPr>
            <a:r>
              <a:rPr lang="en-US" sz="1100" i="1" dirty="0">
                <a:solidFill>
                  <a:srgbClr val="5A6472"/>
                </a:solidFill>
                <a:latin typeface="Calibri" pitchFamily="34" charset="0"/>
                <a:cs typeface="Amiri" pitchFamily="2" charset="-78"/>
              </a:rPr>
              <a:t>joins to the left</a:t>
            </a:r>
            <a:endParaRPr lang="en-US" sz="135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6" name="Shape 33"/>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middle</a:t>
            </a:r>
            <a:endParaRPr lang="en-US" sz="800" dirty="0"/>
          </a:p>
        </p:txBody>
      </p:sp>
      <p:sp>
        <p:nvSpPr>
          <p:cNvPr id="38" name="Shape 3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4050" b="1" dirty="0">
                <a:solidFill>
                  <a:srgbClr val="1B3B6F"/>
                </a:solidFill>
                <a:latin typeface="Amiri" pitchFamily="2" charset="-78"/>
                <a:ea typeface="Amiri" pitchFamily="2" charset="-78"/>
                <a:cs typeface="Amiri" pitchFamily="2" charset="-78"/>
              </a:rPr>
              <a:t>ـبـ</a:t>
            </a:r>
            <a:endParaRPr lang="ar-SA" sz="4050" dirty="0"/>
          </a:p>
        </p:txBody>
      </p:sp>
      <p:sp>
        <p:nvSpPr>
          <p:cNvPr id="41" name="Text 3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bāʾ — in the middle</a:t>
            </a:r>
            <a:endParaRPr lang="en-US" sz="1350" dirty="0"/>
          </a:p>
          <a:p>
            <a:pPr indent="0" marL="0">
              <a:buNone/>
            </a:pPr>
            <a:r>
              <a:rPr lang="en-US" sz="1100" i="1" dirty="0">
                <a:solidFill>
                  <a:srgbClr val="5A6472"/>
                </a:solidFill>
                <a:latin typeface="Calibri" pitchFamily="34" charset="0"/>
                <a:cs typeface="Amiri" pitchFamily="2" charset="-78"/>
              </a:rPr>
              <a:t>joins both sides</a:t>
            </a:r>
            <a:endParaRPr lang="en-US" sz="135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5" name="Shape 42"/>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end</a:t>
            </a:r>
            <a:endParaRPr lang="en-US" sz="800" dirty="0"/>
          </a:p>
        </p:txBody>
      </p:sp>
      <p:sp>
        <p:nvSpPr>
          <p:cNvPr id="47" name="Shape 4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9" name="Text 4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4050" b="1" dirty="0">
                <a:solidFill>
                  <a:srgbClr val="1B3B6F"/>
                </a:solidFill>
                <a:latin typeface="Amiri" pitchFamily="2" charset="-78"/>
                <a:ea typeface="Amiri" pitchFamily="2" charset="-78"/>
                <a:cs typeface="Amiri" pitchFamily="2" charset="-78"/>
              </a:rPr>
              <a:t>ـب</a:t>
            </a:r>
            <a:endParaRPr lang="ar-SA" sz="4050" dirty="0"/>
          </a:p>
        </p:txBody>
      </p:sp>
      <p:sp>
        <p:nvSpPr>
          <p:cNvPr id="50" name="Text 4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bāʾ — at the end</a:t>
            </a:r>
            <a:endParaRPr lang="en-US" sz="1350" dirty="0"/>
          </a:p>
          <a:p>
            <a:pPr indent="0" marL="0">
              <a:buNone/>
            </a:pPr>
            <a:r>
              <a:rPr lang="en-US" sz="1100" i="1" dirty="0">
                <a:solidFill>
                  <a:srgbClr val="5A6472"/>
                </a:solidFill>
                <a:latin typeface="Calibri" pitchFamily="34" charset="0"/>
                <a:cs typeface="Amiri" pitchFamily="2" charset="-78"/>
              </a:rPr>
              <a:t>joins from the right</a:t>
            </a:r>
            <a:endParaRPr lang="en-US" sz="1350" dirty="0"/>
          </a:p>
        </p:txBody>
      </p:sp>
      <p:sp>
        <p:nvSpPr>
          <p:cNvPr id="51" name="Shape 4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4389120"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4" name="Shape 51"/>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alone</a:t>
            </a:r>
            <a:endParaRPr lang="en-US" sz="800" dirty="0"/>
          </a:p>
        </p:txBody>
      </p:sp>
      <p:sp>
        <p:nvSpPr>
          <p:cNvPr id="56" name="Shape 5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4050" b="1" dirty="0">
                <a:solidFill>
                  <a:srgbClr val="1B3B6F"/>
                </a:solidFill>
                <a:latin typeface="Amiri" pitchFamily="2" charset="-78"/>
                <a:ea typeface="Amiri" pitchFamily="2" charset="-78"/>
                <a:cs typeface="Amiri" pitchFamily="2" charset="-78"/>
              </a:rPr>
              <a:t>ع</a:t>
            </a:r>
            <a:endParaRPr lang="ar-SA" sz="4050" dirty="0"/>
          </a:p>
        </p:txBody>
      </p:sp>
      <p:sp>
        <p:nvSpPr>
          <p:cNvPr id="59" name="Text 5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ʿayn — alone</a:t>
            </a:r>
            <a:endParaRPr lang="en-US" sz="1350" dirty="0"/>
          </a:p>
          <a:p>
            <a:pPr indent="0" marL="0">
              <a:buNone/>
            </a:pPr>
            <a:r>
              <a:rPr lang="en-US" sz="1100" i="1" dirty="0">
                <a:solidFill>
                  <a:srgbClr val="5A6472"/>
                </a:solidFill>
                <a:latin typeface="Calibri" pitchFamily="34" charset="0"/>
                <a:cs typeface="Amiri" pitchFamily="2" charset="-78"/>
              </a:rPr>
              <a:t>isolated</a:t>
            </a:r>
            <a:endParaRPr lang="en-US" sz="1350" dirty="0"/>
          </a:p>
        </p:txBody>
      </p:sp>
      <p:sp>
        <p:nvSpPr>
          <p:cNvPr id="60" name="Shape 5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66928"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3" name="Shape 60"/>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start</a:t>
            </a:r>
            <a:endParaRPr lang="en-US" sz="800" dirty="0"/>
          </a:p>
        </p:txBody>
      </p:sp>
      <p:sp>
        <p:nvSpPr>
          <p:cNvPr id="65" name="Shape 6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4050" b="1" dirty="0">
                <a:solidFill>
                  <a:srgbClr val="1B3B6F"/>
                </a:solidFill>
                <a:latin typeface="Amiri" pitchFamily="2" charset="-78"/>
                <a:ea typeface="Amiri" pitchFamily="2" charset="-78"/>
                <a:cs typeface="Amiri" pitchFamily="2" charset="-78"/>
              </a:rPr>
              <a:t>عـ</a:t>
            </a:r>
            <a:endParaRPr lang="ar-SA" sz="4050" dirty="0"/>
          </a:p>
        </p:txBody>
      </p:sp>
      <p:sp>
        <p:nvSpPr>
          <p:cNvPr id="68" name="Text 65"/>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ʿayn — at the start</a:t>
            </a:r>
            <a:endParaRPr lang="en-US" sz="1350" dirty="0"/>
          </a:p>
          <a:p>
            <a:pPr indent="0" marL="0">
              <a:buNone/>
            </a:pPr>
            <a:r>
              <a:rPr lang="en-US" sz="1100" i="1" dirty="0">
                <a:solidFill>
                  <a:srgbClr val="5A6472"/>
                </a:solidFill>
                <a:latin typeface="Calibri" pitchFamily="34" charset="0"/>
                <a:cs typeface="Amiri" pitchFamily="2" charset="-78"/>
              </a:rPr>
              <a:t>open mouth on top</a:t>
            </a:r>
            <a:endParaRPr lang="en-US" sz="13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F1-L05 · Sounds + script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Four forms: hāʾ — and the breakers</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أَشْكَالُ الحَرْفِ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F1-L05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middle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4050" b="1" dirty="0">
                <a:solidFill>
                  <a:srgbClr val="1B3B6F"/>
                </a:solidFill>
                <a:latin typeface="Amiri" pitchFamily="2" charset="-78"/>
                <a:ea typeface="Amiri" pitchFamily="2" charset="-78"/>
                <a:cs typeface="Amiri" pitchFamily="2" charset="-78"/>
              </a:rPr>
              <a:t>ـعـ</a:t>
            </a:r>
            <a:endParaRPr lang="ar-SA" sz="405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ʿayn — in the middle</a:t>
            </a:r>
            <a:endParaRPr lang="en-US" sz="1350" dirty="0"/>
          </a:p>
          <a:p>
            <a:pPr indent="0" marL="0">
              <a:buNone/>
            </a:pPr>
            <a:r>
              <a:rPr lang="en-US" sz="1100" i="1" dirty="0">
                <a:solidFill>
                  <a:srgbClr val="5A6472"/>
                </a:solidFill>
                <a:latin typeface="Calibri" pitchFamily="34" charset="0"/>
                <a:cs typeface="Amiri" pitchFamily="2" charset="-78"/>
              </a:rPr>
              <a:t>a closed loop</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7" name="Shape 24"/>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end</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4050" b="1" dirty="0">
                <a:solidFill>
                  <a:srgbClr val="1B3B6F"/>
                </a:solidFill>
                <a:latin typeface="Amiri" pitchFamily="2" charset="-78"/>
                <a:ea typeface="Amiri" pitchFamily="2" charset="-78"/>
                <a:cs typeface="Amiri" pitchFamily="2" charset="-78"/>
              </a:rPr>
              <a:t>ـع</a:t>
            </a:r>
            <a:endParaRPr lang="ar-SA" sz="405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ʿayn — at the end</a:t>
            </a:r>
            <a:endParaRPr lang="en-US" sz="1350" dirty="0"/>
          </a:p>
          <a:p>
            <a:pPr indent="0" marL="0">
              <a:buNone/>
            </a:pPr>
            <a:r>
              <a:rPr lang="en-US" sz="1100" i="1" dirty="0">
                <a:solidFill>
                  <a:srgbClr val="5A6472"/>
                </a:solidFill>
                <a:latin typeface="Calibri" pitchFamily="34" charset="0"/>
                <a:cs typeface="Amiri" pitchFamily="2" charset="-78"/>
              </a:rPr>
              <a:t>loop + a tail</a:t>
            </a:r>
            <a:endParaRPr lang="en-US" sz="135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6" name="Shape 33"/>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alone</a:t>
            </a:r>
            <a:endParaRPr lang="en-US" sz="800" dirty="0"/>
          </a:p>
        </p:txBody>
      </p:sp>
      <p:sp>
        <p:nvSpPr>
          <p:cNvPr id="38" name="Shape 3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4050" b="1" dirty="0">
                <a:solidFill>
                  <a:srgbClr val="1B3B6F"/>
                </a:solidFill>
                <a:latin typeface="Amiri" pitchFamily="2" charset="-78"/>
                <a:ea typeface="Amiri" pitchFamily="2" charset="-78"/>
                <a:cs typeface="Amiri" pitchFamily="2" charset="-78"/>
              </a:rPr>
              <a:t>ه</a:t>
            </a:r>
            <a:endParaRPr lang="ar-SA" sz="4050" dirty="0"/>
          </a:p>
        </p:txBody>
      </p:sp>
      <p:sp>
        <p:nvSpPr>
          <p:cNvPr id="41" name="Text 3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hāʾ — alone</a:t>
            </a:r>
            <a:endParaRPr lang="en-US" sz="1350" dirty="0"/>
          </a:p>
          <a:p>
            <a:pPr indent="0" marL="0">
              <a:buNone/>
            </a:pPr>
            <a:r>
              <a:rPr lang="en-US" sz="1100" i="1" dirty="0">
                <a:solidFill>
                  <a:srgbClr val="5A6472"/>
                </a:solidFill>
                <a:latin typeface="Calibri" pitchFamily="34" charset="0"/>
                <a:cs typeface="Amiri" pitchFamily="2" charset="-78"/>
              </a:rPr>
              <a:t>isolated</a:t>
            </a:r>
            <a:endParaRPr lang="en-US" sz="135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5" name="Shape 42"/>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start</a:t>
            </a:r>
            <a:endParaRPr lang="en-US" sz="800" dirty="0"/>
          </a:p>
        </p:txBody>
      </p:sp>
      <p:sp>
        <p:nvSpPr>
          <p:cNvPr id="47" name="Shape 4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9" name="Text 4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4050" b="1" dirty="0">
                <a:solidFill>
                  <a:srgbClr val="1B3B6F"/>
                </a:solidFill>
                <a:latin typeface="Amiri" pitchFamily="2" charset="-78"/>
                <a:ea typeface="Amiri" pitchFamily="2" charset="-78"/>
                <a:cs typeface="Amiri" pitchFamily="2" charset="-78"/>
              </a:rPr>
              <a:t>هـ</a:t>
            </a:r>
            <a:endParaRPr lang="ar-SA" sz="4050" dirty="0"/>
          </a:p>
        </p:txBody>
      </p:sp>
      <p:sp>
        <p:nvSpPr>
          <p:cNvPr id="50" name="Text 4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hāʾ — at the start</a:t>
            </a:r>
            <a:endParaRPr lang="en-US" sz="1350" dirty="0"/>
          </a:p>
          <a:p>
            <a:pPr indent="0" marL="0">
              <a:buNone/>
            </a:pPr>
            <a:r>
              <a:rPr lang="en-US" sz="1100" i="1" dirty="0">
                <a:solidFill>
                  <a:srgbClr val="5A6472"/>
                </a:solidFill>
                <a:latin typeface="Calibri" pitchFamily="34" charset="0"/>
                <a:cs typeface="Amiri" pitchFamily="2" charset="-78"/>
              </a:rPr>
              <a:t>two eyes</a:t>
            </a:r>
            <a:endParaRPr lang="en-US" sz="1350" dirty="0"/>
          </a:p>
        </p:txBody>
      </p:sp>
      <p:sp>
        <p:nvSpPr>
          <p:cNvPr id="51" name="Shape 4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4389120"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54" name="Shape 51"/>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middle</a:t>
            </a:r>
            <a:endParaRPr lang="en-US" sz="800" dirty="0"/>
          </a:p>
        </p:txBody>
      </p:sp>
      <p:sp>
        <p:nvSpPr>
          <p:cNvPr id="56" name="Shape 5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4050" b="1" dirty="0">
                <a:solidFill>
                  <a:srgbClr val="1B3B6F"/>
                </a:solidFill>
                <a:latin typeface="Amiri" pitchFamily="2" charset="-78"/>
                <a:ea typeface="Amiri" pitchFamily="2" charset="-78"/>
                <a:cs typeface="Amiri" pitchFamily="2" charset="-78"/>
              </a:rPr>
              <a:t>ـهـ</a:t>
            </a:r>
            <a:endParaRPr lang="ar-SA" sz="4050" dirty="0"/>
          </a:p>
        </p:txBody>
      </p:sp>
      <p:sp>
        <p:nvSpPr>
          <p:cNvPr id="59" name="Text 5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hāʾ — in the middle</a:t>
            </a:r>
            <a:endParaRPr lang="en-US" sz="1350" dirty="0"/>
          </a:p>
          <a:p>
            <a:pPr indent="0" marL="0">
              <a:buNone/>
            </a:pPr>
            <a:r>
              <a:rPr lang="en-US" sz="1100" i="1" dirty="0">
                <a:solidFill>
                  <a:srgbClr val="5A6472"/>
                </a:solidFill>
                <a:latin typeface="Calibri" pitchFamily="34" charset="0"/>
                <a:cs typeface="Amiri" pitchFamily="2" charset="-78"/>
              </a:rPr>
              <a:t>a loop through the line</a:t>
            </a:r>
            <a:endParaRPr lang="en-US" sz="1350" dirty="0"/>
          </a:p>
        </p:txBody>
      </p:sp>
      <p:sp>
        <p:nvSpPr>
          <p:cNvPr id="60" name="Shape 5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66928"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63" name="Shape 60"/>
          <p:cNvSpPr/>
          <p:nvPr/>
        </p:nvSpPr>
        <p:spPr>
          <a:xfrm>
            <a:off x="960120" y="4279392"/>
            <a:ext cx="771754"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960120"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breakers</a:t>
            </a:r>
            <a:endParaRPr lang="en-US" sz="800" dirty="0"/>
          </a:p>
        </p:txBody>
      </p:sp>
      <p:sp>
        <p:nvSpPr>
          <p:cNvPr id="65" name="Shape 6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4050" b="1" dirty="0">
                <a:solidFill>
                  <a:srgbClr val="1B3B6F"/>
                </a:solidFill>
                <a:latin typeface="Amiri" pitchFamily="2" charset="-78"/>
                <a:ea typeface="Amiri" pitchFamily="2" charset="-78"/>
                <a:cs typeface="Amiri" pitchFamily="2" charset="-78"/>
              </a:rPr>
              <a:t>ا د ذ ر ز و</a:t>
            </a:r>
            <a:endParaRPr lang="ar-SA" sz="4050" dirty="0"/>
          </a:p>
        </p:txBody>
      </p:sp>
      <p:sp>
        <p:nvSpPr>
          <p:cNvPr id="68" name="Text 65"/>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six breakers</a:t>
            </a:r>
            <a:endParaRPr lang="en-US" sz="1350" dirty="0"/>
          </a:p>
          <a:p>
            <a:pPr indent="0" marL="0">
              <a:buNone/>
            </a:pPr>
            <a:r>
              <a:rPr lang="en-US" sz="1100" i="1" dirty="0">
                <a:solidFill>
                  <a:srgbClr val="5A6472"/>
                </a:solidFill>
                <a:latin typeface="Calibri" pitchFamily="34" charset="0"/>
                <a:cs typeface="Amiri" pitchFamily="2" charset="-78"/>
              </a:rPr>
              <a:t>never join to the LEFT</a:t>
            </a:r>
            <a:endParaRPr lang="en-US" sz="13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F1-L05 · Sounds + script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MINI-DIALOGUE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Where is the letter?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أَيْنَ الحَرْفُ؟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is the bāʾ in bāb?</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أَيْنَ البَاءُ فِي «بَابٌ»؟</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the start and at the end.</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فِي البِدَايَةِ وَفِي النِّهَايَةِ.</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 is the second bāʾ on its own?</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لِمَاذَا البَاءُ الثَّانِيَةُ وَحْدَهَا؟</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Because alif doesn’t join to what comes after it.</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لِأَنَّ الأَلِفَ لَا تَتَّصِلُ بِمَا بَعْدَهَا.</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the ʿayn in saʿīd?</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وَالعَيْنُ فِي «سَعِيدٌ»؟</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 the middle — its shape is closed.</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فِي الوَسَطِ — شَكْلُهَا مُغْلَقٌ.</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(English helps!). Round 2: swap letters. Round 3: A writes a word in the chat; B says where one letter is: start · middle · end.</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F1-L05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POINT-AND-SAY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Point, say the position,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Then read (Develop)</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 says (Core)</a:t>
            </a:r>
            <a:endParaRPr lang="en-US" sz="1100" dirty="0"/>
          </a:p>
        </p:txBody>
      </p:sp>
      <p:sp>
        <p:nvSpPr>
          <p:cNvPr id="18" name="Text 15"/>
          <p:cNvSpPr txBox="1"/>
          <p:nvPr/>
        </p:nvSpPr>
        <p:spPr>
          <a:xfrm>
            <a:off x="4325112" y="1810512"/>
            <a:ext cx="2505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Hint</a:t>
            </a:r>
            <a:endParaRPr lang="en-US" sz="1100" dirty="0"/>
          </a:p>
        </p:txBody>
      </p:sp>
      <p:sp>
        <p:nvSpPr>
          <p:cNvPr id="19" name="Text 16"/>
          <p:cNvSpPr txBox="1"/>
          <p:nvPr/>
        </p:nvSpPr>
        <p:spPr>
          <a:xfrm>
            <a:off x="1033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points to / says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كِتَابٌ</a:t>
            </a:r>
            <a:endParaRPr lang="ar-SA" sz="18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بـ · ب</a:t>
            </a:r>
            <a:endParaRPr lang="ar-SA" sz="1800" dirty="0"/>
          </a:p>
        </p:txBody>
      </p:sp>
      <p:sp>
        <p:nvSpPr>
          <p:cNvPr id="24" name="Text 21"/>
          <p:cNvSpPr txBox="1"/>
          <p:nvPr/>
        </p:nvSpPr>
        <p:spPr>
          <a:xfrm>
            <a:off x="4361688" y="2267712"/>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find both bāʾs · why is the second alone?</a:t>
            </a:r>
            <a:endParaRPr lang="en-US" sz="1100" dirty="0"/>
          </a:p>
        </p:txBody>
      </p:sp>
      <p:sp>
        <p:nvSpPr>
          <p:cNvPr id="25" name="Text 22"/>
          <p:cNvSpPr txBox="1"/>
          <p:nvPr/>
        </p:nvSpPr>
        <p:spPr>
          <a:xfrm>
            <a:off x="1051560" y="2267712"/>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بَابٌ</a:t>
            </a:r>
            <a:endParaRPr lang="ar-SA" sz="20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بَعِيدٌ</a:t>
            </a:r>
            <a:endParaRPr lang="ar-SA" sz="18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ـعـ</a:t>
            </a:r>
            <a:endParaRPr lang="ar-SA" sz="1800" dirty="0"/>
          </a:p>
        </p:txBody>
      </p:sp>
      <p:sp>
        <p:nvSpPr>
          <p:cNvPr id="32" name="Text 29"/>
          <p:cNvSpPr txBox="1"/>
          <p:nvPr/>
        </p:nvSpPr>
        <p:spPr>
          <a:xfrm>
            <a:off x="4361688" y="3004718"/>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ʿayn in the middle</a:t>
            </a:r>
            <a:endParaRPr lang="en-US" sz="1100" dirty="0"/>
          </a:p>
        </p:txBody>
      </p:sp>
      <p:sp>
        <p:nvSpPr>
          <p:cNvPr id="33" name="Text 30"/>
          <p:cNvSpPr txBox="1"/>
          <p:nvPr/>
        </p:nvSpPr>
        <p:spPr>
          <a:xfrm>
            <a:off x="1051560" y="3004718"/>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سَعِيدٌ</a:t>
            </a:r>
            <a:endParaRPr lang="ar-SA" sz="20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رَبِيعٌ</a:t>
            </a:r>
            <a:endParaRPr lang="ar-SA" sz="18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a:t>
            </a:r>
            <a:endParaRPr lang="ar-SA" sz="1800" dirty="0"/>
          </a:p>
        </p:txBody>
      </p:sp>
      <p:sp>
        <p:nvSpPr>
          <p:cNvPr id="40" name="Text 37"/>
          <p:cNvSpPr txBox="1"/>
          <p:nvPr/>
        </p:nvSpPr>
        <p:spPr>
          <a:xfrm>
            <a:off x="4361688" y="3741725"/>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ʿayn at the end — after a breaker</a:t>
            </a:r>
            <a:endParaRPr lang="en-US" sz="1100" dirty="0"/>
          </a:p>
        </p:txBody>
      </p:sp>
      <p:sp>
        <p:nvSpPr>
          <p:cNvPr id="41" name="Text 38"/>
          <p:cNvSpPr txBox="1"/>
          <p:nvPr/>
        </p:nvSpPr>
        <p:spPr>
          <a:xfrm>
            <a:off x="1051560" y="3741725"/>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شَارِعٌ</a:t>
            </a:r>
            <a:endParaRPr lang="ar-SA" sz="20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نَهْرٌ</a:t>
            </a:r>
            <a:endParaRPr lang="ar-SA" sz="18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ـه</a:t>
            </a:r>
            <a:endParaRPr lang="ar-SA" sz="1800" dirty="0"/>
          </a:p>
        </p:txBody>
      </p:sp>
      <p:sp>
        <p:nvSpPr>
          <p:cNvPr id="48" name="Text 45"/>
          <p:cNvSpPr txBox="1"/>
          <p:nvPr/>
        </p:nvSpPr>
        <p:spPr>
          <a:xfrm>
            <a:off x="4361688" y="4478731"/>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hāʾ at the end</a:t>
            </a:r>
            <a:endParaRPr lang="en-US" sz="1100" dirty="0"/>
          </a:p>
        </p:txBody>
      </p:sp>
      <p:sp>
        <p:nvSpPr>
          <p:cNvPr id="49" name="Text 46"/>
          <p:cNvSpPr txBox="1"/>
          <p:nvPr/>
        </p:nvSpPr>
        <p:spPr>
          <a:xfrm>
            <a:off x="1051560" y="4478731"/>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وَجْهٌ</a:t>
            </a:r>
            <a:endParaRPr lang="ar-SA" sz="20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وَرْدٌ</a:t>
            </a:r>
            <a:endParaRPr lang="ar-SA" sz="18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د · ر</a:t>
            </a:r>
            <a:endParaRPr lang="ar-SA" sz="1800" dirty="0"/>
          </a:p>
        </p:txBody>
      </p:sp>
      <p:sp>
        <p:nvSpPr>
          <p:cNvPr id="54" name="Text 51"/>
          <p:cNvSpPr txBox="1"/>
          <p:nvPr/>
        </p:nvSpPr>
        <p:spPr>
          <a:xfrm>
            <a:off x="4361688" y="5215738"/>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many breakers?</a:t>
            </a:r>
            <a:endParaRPr lang="en-US" sz="1100" dirty="0"/>
          </a:p>
        </p:txBody>
      </p:sp>
      <p:sp>
        <p:nvSpPr>
          <p:cNvPr id="55" name="Text 52"/>
          <p:cNvSpPr txBox="1"/>
          <p:nvPr/>
        </p:nvSpPr>
        <p:spPr>
          <a:xfrm>
            <a:off x="1051560" y="5215738"/>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دَرْسٌ</a:t>
            </a:r>
            <a:endParaRPr lang="ar-SA" sz="20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does every card. Core: say the sound or read the word. Develop: do the “then” part. Stretch: give your own example with the same letter or mark. Swap after each card.</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F1-L05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READING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card — find the position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بِطَاقَةُ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Hint</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shows /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93608" y="2267712"/>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 · middle · end</a:t>
            </a:r>
            <a:endParaRPr lang="en-US" sz="11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 say where ʿayn is in each.</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عَيْنٌ · سَعِيدٌ · شَارِعٌ</a:t>
            </a:r>
            <a:endParaRPr lang="ar-SA" sz="20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93608" y="3054096"/>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 · middle · end</a:t>
            </a:r>
            <a:endParaRPr lang="en-US" sz="11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 say where hāʾ is.</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هُوَ · نَهْرٌ · وَجْهٌ</a:t>
            </a:r>
            <a:endParaRPr lang="ar-SA" sz="20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count the breakers</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 it; why are all letters separate?</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وَرْدٌ</a:t>
            </a:r>
            <a:endParaRPr lang="ar-SA" sz="20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joins on both sides</a:t>
            </a:r>
            <a:endParaRPr lang="en-US" sz="11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position is this?</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ـبـ</a:t>
            </a:r>
            <a:endParaRPr lang="ar-SA" sz="20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the reader · Leader = the card holder.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F1-L05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READ-ALOUD RACE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Breaker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الحُرُوفِ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F1-L05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1800" b="1" dirty="0">
                <a:solidFill>
                  <a:srgbClr val="1B3B6F"/>
                </a:solidFill>
                <a:latin typeface="Calibri" pitchFamily="34" charset="0"/>
                <a:cs typeface="Amiri" pitchFamily="2" charset="-78"/>
              </a:rPr>
              <a:t>⏱  Read aloud for 30 seconds — as many as you can</a:t>
            </a:r>
            <a:endParaRPr lang="en-US" sz="18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In 30 seconds, read these words and clap at every breaker: </a:t>
            </a:r>
            <a:pPr algn="l" indent="0" marL="0">
              <a:buNone/>
            </a:pPr>
            <a:r>
              <a:rPr lang="ar-SA" altLang="en-US" sz="1750" dirty="0">
                <a:solidFill>
                  <a:srgbClr val="1F2A37"/>
                </a:solidFill>
                <a:latin typeface="Amiri" pitchFamily="2" charset="-78"/>
                <a:ea typeface="Amiri" pitchFamily="2" charset="-78"/>
                <a:cs typeface="Amiri" pitchFamily="2" charset="-78"/>
              </a:rPr>
              <a:t>بَابٌ</a:t>
            </a:r>
            <a:pPr algn="l" indent="0" marL="0">
              <a:buNone/>
            </a:pPr>
            <a:r>
              <a:rPr lang="en-US" sz="1350" dirty="0">
                <a:solidFill>
                  <a:srgbClr val="1F2A37"/>
                </a:solidFill>
                <a:latin typeface="Calibri" pitchFamily="34" charset="0"/>
                <a:cs typeface="Amiri" pitchFamily="2" charset="-78"/>
              </a:rPr>
              <a:t> · </a:t>
            </a:r>
            <a:pPr algn="l" indent="0" marL="0">
              <a:buNone/>
            </a:pPr>
            <a:r>
              <a:rPr lang="ar-SA" altLang="en-US" sz="1750" dirty="0">
                <a:solidFill>
                  <a:srgbClr val="1F2A37"/>
                </a:solidFill>
                <a:latin typeface="Amiri" pitchFamily="2" charset="-78"/>
                <a:ea typeface="Amiri" pitchFamily="2" charset="-78"/>
                <a:cs typeface="Amiri" pitchFamily="2" charset="-78"/>
              </a:rPr>
              <a:t>دَرْسٌ</a:t>
            </a:r>
            <a:pPr algn="l" indent="0" marL="0">
              <a:buNone/>
            </a:pPr>
            <a:r>
              <a:rPr lang="en-US" sz="1350" dirty="0">
                <a:solidFill>
                  <a:srgbClr val="1F2A37"/>
                </a:solidFill>
                <a:latin typeface="Calibri" pitchFamily="34" charset="0"/>
                <a:cs typeface="Amiri" pitchFamily="2" charset="-78"/>
              </a:rPr>
              <a:t> · </a:t>
            </a:r>
            <a:pPr algn="l" indent="0" marL="0">
              <a:buNone/>
            </a:pPr>
            <a:r>
              <a:rPr lang="ar-SA" altLang="en-US" sz="1750" dirty="0">
                <a:solidFill>
                  <a:srgbClr val="1F2A37"/>
                </a:solidFill>
                <a:latin typeface="Amiri" pitchFamily="2" charset="-78"/>
                <a:ea typeface="Amiri" pitchFamily="2" charset="-78"/>
                <a:cs typeface="Amiri" pitchFamily="2" charset="-78"/>
              </a:rPr>
              <a:t>وَرْدٌ</a:t>
            </a:r>
            <a:pPr algn="l" indent="0" marL="0">
              <a:buNone/>
            </a:pPr>
            <a:r>
              <a:rPr lang="en-US" sz="1350" dirty="0">
                <a:solidFill>
                  <a:srgbClr val="1F2A37"/>
                </a:solidFill>
                <a:latin typeface="Calibri" pitchFamily="34" charset="0"/>
                <a:cs typeface="Amiri" pitchFamily="2" charset="-78"/>
              </a:rPr>
              <a:t> · </a:t>
            </a:r>
            <a:pPr algn="l" indent="0" marL="0">
              <a:buNone/>
            </a:pPr>
            <a:r>
              <a:rPr lang="ar-SA" altLang="en-US" sz="1750" dirty="0">
                <a:solidFill>
                  <a:srgbClr val="1F2A37"/>
                </a:solidFill>
                <a:latin typeface="Amiri" pitchFamily="2" charset="-78"/>
                <a:ea typeface="Amiri" pitchFamily="2" charset="-78"/>
                <a:cs typeface="Amiri" pitchFamily="2" charset="-78"/>
              </a:rPr>
              <a:t>شَارِعٌ</a:t>
            </a:r>
            <a:pPr algn="l" indent="0" marL="0">
              <a:buNone/>
            </a:pPr>
            <a:r>
              <a:rPr lang="en-US" sz="1350" dirty="0">
                <a:solidFill>
                  <a:srgbClr val="1F2A37"/>
                </a:solidFill>
                <a:latin typeface="Calibri" pitchFamily="34" charset="0"/>
                <a:cs typeface="Amiri" pitchFamily="2" charset="-78"/>
              </a:rPr>
              <a:t> · </a:t>
            </a:r>
            <a:pPr algn="l" indent="0" marL="0">
              <a:buNone/>
            </a:pPr>
            <a:r>
              <a:rPr lang="ar-SA" altLang="en-US" sz="1750" dirty="0">
                <a:solidFill>
                  <a:srgbClr val="1F2A37"/>
                </a:solidFill>
                <a:latin typeface="Amiri" pitchFamily="2" charset="-78"/>
                <a:ea typeface="Amiri" pitchFamily="2" charset="-78"/>
                <a:cs typeface="Amiri" pitchFamily="2" charset="-78"/>
              </a:rPr>
              <a:t>كِتَابٌ</a:t>
            </a:r>
            <a:pPr algn="l" indent="0" marL="0">
              <a:buNone/>
            </a:pPr>
            <a:r>
              <a:rPr lang="en-US" sz="1350" dirty="0">
                <a:solidFill>
                  <a:srgbClr val="1F2A37"/>
                </a:solidFill>
                <a:latin typeface="Calibri" pitchFamily="34" charset="0"/>
                <a:cs typeface="Amiri" pitchFamily="2" charset="-78"/>
              </a:rPr>
              <a:t> · </a:t>
            </a:r>
            <a:pPr algn="l" indent="0" marL="0">
              <a:buNone/>
            </a:pPr>
            <a:r>
              <a:rPr lang="ar-SA" altLang="en-US" sz="1750" dirty="0">
                <a:solidFill>
                  <a:srgbClr val="1F2A37"/>
                </a:solidFill>
                <a:latin typeface="Amiri" pitchFamily="2" charset="-78"/>
                <a:ea typeface="Amiri" pitchFamily="2" charset="-78"/>
                <a:cs typeface="Amiri" pitchFamily="2" charset="-78"/>
              </a:rPr>
              <a:t>سَعِيدٌ</a:t>
            </a:r>
            <a:pPr algn="l" indent="0" marL="0">
              <a:buNone/>
            </a:pPr>
            <a:r>
              <a:rPr lang="en-US" sz="1350" dirty="0">
                <a:solidFill>
                  <a:srgbClr val="1F2A37"/>
                </a:solidFill>
                <a:latin typeface="Calibri" pitchFamily="34" charset="0"/>
                <a:cs typeface="Amiri" pitchFamily="2" charset="-78"/>
              </a:rPr>
              <a:t>. The Coach counts the correct words.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Leader points to the list on the slide (or in your book).</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Speaker reads aloud for 30 seconds; the Coach counts the correct ones.</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sound that was perfect + one to practise.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try to beat your own score, not your partner’s.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Read three words and clap the breakers.</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Read all six words.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Read all six, then say the position of ʿayn or hāʾ in each.</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once more</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F1-L05 · Sounds + script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BUILD THE WORD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Join the parts into one word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الكَلِمَةَ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F1-L05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happy — saʿīd</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عِي</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غِي</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دٌ</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ذٌ</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street — shāriʿ</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شَا</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سَا</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رِ</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زِ</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غٌ</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face — wajh</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جْ</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ةٌ</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F1-L05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the word: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الكَلِمَةَ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F1-L05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happy — saʿīd</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Joined: ʿayn takes its closed middle form.</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سَعِيدٌ</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street — shāriʿ</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After the breaker </a:t>
            </a:r>
            <a:pPr algn="l" indent="0" marL="0">
              <a:buNone/>
            </a:pPr>
            <a:r>
              <a:rPr lang="ar-SA" altLang="en-US" sz="1350" dirty="0">
                <a:solidFill>
                  <a:srgbClr val="5A6472"/>
                </a:solidFill>
                <a:latin typeface="Amiri" pitchFamily="2" charset="-78"/>
                <a:ea typeface="Amiri" pitchFamily="2" charset="-78"/>
                <a:cs typeface="Amiri" pitchFamily="2" charset="-78"/>
              </a:rPr>
              <a:t>ر</a:t>
            </a:r>
            <a:pPr algn="l" indent="0" marL="0">
              <a:buNone/>
            </a:pPr>
            <a:r>
              <a:rPr lang="en-US" sz="1050" i="1" dirty="0">
                <a:solidFill>
                  <a:srgbClr val="5A6472"/>
                </a:solidFill>
                <a:latin typeface="Calibri" pitchFamily="34" charset="0"/>
                <a:cs typeface="Amiri" pitchFamily="2" charset="-78"/>
              </a:rPr>
              <a:t>, ʿayn stands alone.</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شَارِعٌ</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face — wajh</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و</a:t>
            </a:r>
            <a:pPr algn="l" indent="0" marL="0">
              <a:buNone/>
            </a:pPr>
            <a:r>
              <a:rPr lang="en-US" sz="1050" i="1" dirty="0">
                <a:solidFill>
                  <a:srgbClr val="5A6472"/>
                </a:solidFill>
                <a:latin typeface="Calibri" pitchFamily="34" charset="0"/>
                <a:cs typeface="Amiri" pitchFamily="2" charset="-78"/>
              </a:rPr>
              <a:t> breaks; then j + h join; h takes its end form.</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وَجْهٌ</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F1-L05 · Sounds + script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THE SLIP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F1-L05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ـعـ</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This should be ʿayn at the END — the end form has a tail.</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وـرد</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Can </a:t>
            </a:r>
            <a:pPr algn="l" indent="0" marL="0">
              <a:buNone/>
            </a:pPr>
            <a:r>
              <a:rPr lang="ar-SA" altLang="en-US" sz="1700" dirty="0">
                <a:solidFill>
                  <a:srgbClr val="5A6472"/>
                </a:solidFill>
                <a:latin typeface="Amiri" pitchFamily="2" charset="-78"/>
                <a:ea typeface="Amiri" pitchFamily="2" charset="-78"/>
                <a:cs typeface="Amiri" pitchFamily="2" charset="-78"/>
              </a:rPr>
              <a:t>و</a:t>
            </a:r>
            <a:pPr algn="l" indent="0" marL="0">
              <a:buNone/>
            </a:pPr>
            <a:r>
              <a:rPr lang="en-US" sz="1300" i="1" dirty="0">
                <a:solidFill>
                  <a:srgbClr val="5A6472"/>
                </a:solidFill>
                <a:latin typeface="Calibri" pitchFamily="34" charset="0"/>
                <a:cs typeface="Amiri" pitchFamily="2" charset="-78"/>
              </a:rPr>
              <a:t> join to the left?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هـ</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This is the START form. “face” ends in h …</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F1-L05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F1-L05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ـعـ</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ـع</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Middle = closed loop; end = loop + tail.</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وـرد</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وَرْدٌ</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و ر د</a:t>
            </a:r>
            <a:pPr algn="l" indent="0" marL="0">
              <a:buNone/>
            </a:pPr>
            <a:r>
              <a:rPr lang="en-US" sz="1150" b="1" dirty="0">
                <a:solidFill>
                  <a:srgbClr val="1B3B6F"/>
                </a:solidFill>
                <a:latin typeface="Calibri" pitchFamily="34" charset="0"/>
                <a:cs typeface="Amiri" pitchFamily="2" charset="-78"/>
              </a:rPr>
              <a:t> are breakers: no joining line after them.</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هـ</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ـه</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End form of hāʾ: joined from the right only.</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F1-L05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COPY, LISTEN AND WRITE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F1-L05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سَعِيدٌ ______ شَارِعٌ ______ وَجْهٌ ______</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Copy; label the position of ʿayn / hāʾ.</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إِمْلَاءٌ: ١ ______ ٢ ______ ٣ ______</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Dictation: join correctly.</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 ______ بـ ______ ـبـ ______ ـب</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Copy the four forms of bāʾ.</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 ______ عـ ______ ـعـ ______ ـع</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Copy the four forms of ʿayn.</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 ______ هـ ______ ـهـ ______ ـه</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Copy the four forms of hāʾ.</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بَابٌ ______ وَرْدٌ ______</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Copy two words; circle the breakers.</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 · بـ · ـبـ · ـب  ·  ع · عـ · ـعـ · ـع  ·  ه · هـ · ـهـ · ـه  ·  ا د ذ ر ز و  ·  بَابٌ · كِتَابٌ  ·  سَعِيدٌ · شَارِعٌ  ·  وَجْهٌ · نَهْرٌ  ·  دَرْسٌ · وَرْدٌ</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F1-L05 · Sounds + script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COPY, LISTEN AND WRITE · COPY · DICTATION · LABELS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Copy, listen and write: four positions</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أَكْتُبُ أَشْكَالَ الحُرُوفِ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F1-L05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51790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51790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SCRIPT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In your book: • write </a:t>
            </a:r>
            <a:pPr algn="l" indent="0" marL="0">
              <a:buNone/>
            </a:pPr>
            <a:r>
              <a:rPr lang="ar-SA" altLang="en-US" sz="1750" b="1" dirty="0">
                <a:solidFill>
                  <a:srgbClr val="1F2A37"/>
                </a:solidFill>
                <a:latin typeface="Amiri" pitchFamily="2" charset="-78"/>
                <a:ea typeface="Amiri" pitchFamily="2" charset="-78"/>
                <a:cs typeface="Amiri" pitchFamily="2" charset="-78"/>
              </a:rPr>
              <a:t>ب ع ه</a:t>
            </a:r>
            <a:pPr algn="l" indent="0" marL="0">
              <a:buNone/>
            </a:pPr>
            <a:r>
              <a:rPr lang="en-US" sz="1350" b="1" dirty="0">
                <a:solidFill>
                  <a:srgbClr val="1F2A37"/>
                </a:solidFill>
                <a:latin typeface="Calibri" pitchFamily="34" charset="0"/>
                <a:cs typeface="Amiri" pitchFamily="2" charset="-78"/>
              </a:rPr>
              <a:t> in all four positions (alone · start · middle · end) • copy the six words and circle every breaker • DICTATION: your buddy reads five words — write them, joining correctly, without looking.</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Four forms for each letter,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Dots stay the same in every position.</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No joining line after a breaker.</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Dictation words joined correctly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وَحْدَهُ · فِي البِدَايَةِ</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alone · at the start</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الوَسَطِ · فِي النِّهَايَةِ</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the middle · at the end</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 د ذ ر ز و</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six breakers</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يَتَّصِلُ · لَا يَتَّصِلُ</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joins · does not join</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F1-L05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every letter from RIGHT to left?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put the dots in the right place, with the right number?</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join letters correctly — and leave a gap after </a:t>
            </a:r>
            <a:pPr algn="l" indent="0" marL="0">
              <a:buNone/>
            </a:pPr>
            <a:r>
              <a:rPr lang="ar-SA" altLang="en-US" sz="1450" dirty="0">
                <a:solidFill>
                  <a:srgbClr val="5A6472"/>
                </a:solidFill>
                <a:latin typeface="Amiri" pitchFamily="2" charset="-78"/>
                <a:ea typeface="Amiri" pitchFamily="2" charset="-78"/>
                <a:cs typeface="Amiri" pitchFamily="2" charset="-78"/>
              </a:rPr>
              <a:t>ا د ذ ر ز و</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the short-vowel marks in the right place?</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the dictation words without looking at the slide?</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F1-L05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READING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Reading card: compare with a strong answer</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عَيْنٌ · سَعِيدٌ · شَارِعٌ</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ʿayn (start) · saʿīd (middle) · shāriʿ (end, alone after r).</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عَيْنٌ · سَعِيدٌ · شَارِعٌ</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هُوَ · نَهْرٌ · وَجْهٌ</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huwa (start) · nahr (middle) · wajh (end).</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هُوَ · نَهْرٌ · وَجْهٌ</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وَرْدٌ</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ward (roses) — </a:t>
            </a:r>
            <a:pPr algn="ctr" indent="0" marL="0">
              <a:buNone/>
            </a:pPr>
            <a:r>
              <a:rPr lang="ar-SA" altLang="en-US" sz="1250" dirty="0">
                <a:solidFill>
                  <a:srgbClr val="5A6472"/>
                </a:solidFill>
                <a:latin typeface="Amiri" pitchFamily="2" charset="-78"/>
                <a:ea typeface="Amiri" pitchFamily="2" charset="-78"/>
                <a:cs typeface="Amiri" pitchFamily="2" charset="-78"/>
              </a:rPr>
              <a:t>و ر د</a:t>
            </a:r>
            <a:pPr algn="ctr" indent="0" marL="0">
              <a:buNone/>
            </a:pPr>
            <a:r>
              <a:rPr lang="en-US" sz="950" i="1" dirty="0">
                <a:solidFill>
                  <a:srgbClr val="5A6472"/>
                </a:solidFill>
                <a:latin typeface="Calibri" pitchFamily="34" charset="0"/>
                <a:cs typeface="Amiri" pitchFamily="2" charset="-78"/>
              </a:rPr>
              <a:t> are all breakers.</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وَرْدٌ</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ـبـ</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bāʾ in the middle — joined on both sides.</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ـبـ</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read every item clearly, from right to left? Read the one you found hardest once more.</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F1-L05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COPY, LISTEN AND WRITE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F1-L05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ب بـ ـبـ ـب · ع عـ ـعـ ـع · ه هـ ـهـ ـه</a:t>
            </a:r>
            <a:endParaRPr lang="ar-SA" sz="2600" dirty="0"/>
          </a:p>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بَابٌ · دَرْسٌ · وَرْدٌ · شَارِعٌ · كِتَابٌ · سَعِيدٌ</a:t>
            </a:r>
            <a:endParaRPr lang="ar-SA" sz="2600" dirty="0"/>
          </a:p>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إِمْلَاءٌ: عَيْنٌ · نَهْرٌ · وَجْهٌ · بَعِيدٌ · رَبِيعٌ</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Line 1: the four forms of bāʾ, ʿayn and hāʾ. Line 2: the six words (breakers: </a:t>
            </a:r>
            <a:pPr algn="l" indent="0" marL="0">
              <a:buNone/>
            </a:pPr>
            <a:r>
              <a:rPr lang="ar-SA" altLang="en-US" sz="1500" dirty="0">
                <a:solidFill>
                  <a:srgbClr val="5A6472"/>
                </a:solidFill>
                <a:latin typeface="Amiri" pitchFamily="2" charset="-78"/>
                <a:ea typeface="Amiri" pitchFamily="2" charset="-78"/>
                <a:cs typeface="Amiri" pitchFamily="2" charset="-78"/>
              </a:rPr>
              <a:t>ا</a:t>
            </a:r>
            <a:pPr algn="l" indent="0" marL="0">
              <a:buNone/>
            </a:pPr>
            <a:r>
              <a:rPr lang="en-US" sz="1150" i="1" dirty="0">
                <a:solidFill>
                  <a:srgbClr val="5A6472"/>
                </a:solidFill>
                <a:latin typeface="Calibri" pitchFamily="34" charset="0"/>
                <a:cs typeface="Amiri" pitchFamily="2" charset="-78"/>
              </a:rPr>
              <a:t> · </a:t>
            </a:r>
            <a:pPr algn="l" indent="0" marL="0">
              <a:buNone/>
            </a:pPr>
            <a:r>
              <a:rPr lang="ar-SA" altLang="en-US" sz="1500" dirty="0">
                <a:solidFill>
                  <a:srgbClr val="5A6472"/>
                </a:solidFill>
                <a:latin typeface="Amiri" pitchFamily="2" charset="-78"/>
                <a:ea typeface="Amiri" pitchFamily="2" charset="-78"/>
                <a:cs typeface="Amiri" pitchFamily="2" charset="-78"/>
              </a:rPr>
              <a:t>د</a:t>
            </a:r>
            <a:pPr algn="l" indent="0" marL="0">
              <a:buNone/>
            </a:pPr>
            <a:r>
              <a:rPr lang="en-US" sz="1150" i="1" dirty="0">
                <a:solidFill>
                  <a:srgbClr val="5A6472"/>
                </a:solidFill>
                <a:latin typeface="Calibri" pitchFamily="34" charset="0"/>
                <a:cs typeface="Amiri" pitchFamily="2" charset="-78"/>
              </a:rPr>
              <a:t> · </a:t>
            </a:r>
            <a:pPr algn="l" indent="0" marL="0">
              <a:buNone/>
            </a:pPr>
            <a:r>
              <a:rPr lang="ar-SA" altLang="en-US" sz="1500" dirty="0">
                <a:solidFill>
                  <a:srgbClr val="5A6472"/>
                </a:solidFill>
                <a:latin typeface="Amiri" pitchFamily="2" charset="-78"/>
                <a:ea typeface="Amiri" pitchFamily="2" charset="-78"/>
                <a:cs typeface="Amiri" pitchFamily="2" charset="-78"/>
              </a:rPr>
              <a:t>ر</a:t>
            </a:r>
            <a:pPr algn="l" indent="0" marL="0">
              <a:buNone/>
            </a:pPr>
            <a:r>
              <a:rPr lang="en-US" sz="1150" i="1" dirty="0">
                <a:solidFill>
                  <a:srgbClr val="5A6472"/>
                </a:solidFill>
                <a:latin typeface="Calibri" pitchFamily="34" charset="0"/>
                <a:cs typeface="Amiri" pitchFamily="2" charset="-78"/>
              </a:rPr>
              <a:t> · </a:t>
            </a:r>
            <a:pPr algn="l" indent="0" marL="0">
              <a:buNone/>
            </a:pPr>
            <a:r>
              <a:rPr lang="ar-SA" altLang="en-US" sz="1500" dirty="0">
                <a:solidFill>
                  <a:srgbClr val="5A6472"/>
                </a:solidFill>
                <a:latin typeface="Amiri" pitchFamily="2" charset="-78"/>
                <a:ea typeface="Amiri" pitchFamily="2" charset="-78"/>
                <a:cs typeface="Amiri" pitchFamily="2" charset="-78"/>
              </a:rPr>
              <a:t>و</a:t>
            </a:r>
            <a:pPr algn="l" indent="0" marL="0">
              <a:buNone/>
            </a:pPr>
            <a:r>
              <a:rPr lang="en-US" sz="1150" i="1" dirty="0">
                <a:solidFill>
                  <a:srgbClr val="5A6472"/>
                </a:solidFill>
                <a:latin typeface="Calibri" pitchFamily="34" charset="0"/>
                <a:cs typeface="Amiri" pitchFamily="2" charset="-78"/>
              </a:rPr>
              <a:t>). Line 3: a dictation of five words, joined correctly.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 بـ ـبـ ـب</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وَرْدٌ</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شَارِعٌ</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وَجْهٌ</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F1-L05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F1-L05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said the sounds of today’s letters clearly.</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copied every letter from right to left with the dots in the right place.</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read today’s words aloud without stopping.</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writing and I fixed one thing.</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the dictation words without looking.</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F1-L05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F1-L06 · Small Marks, Big Changes</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الشَّدَّةُ وَالتَّنْوِينُ وَأَلِفُ المَدِّ وَالهَمْزَةُ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Arabic starts on the right — look at the dots, say the sound,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F1-L05 · Practice Room — One Letter, Four Positions</dc:title>
  <dc:subject>PptxGenJS Presentation</dc:subject>
  <dc:creator>Al Madina Online School · Arabic Department</dc:creator>
  <cp:lastModifiedBy>Al Madina Online School · Arabic Department</cp:lastModifiedBy>
  <cp:revision>1</cp:revision>
  <dcterms:created xsi:type="dcterms:W3CDTF">2026-10-26T03:42:39Z</dcterms:created>
  <dcterms:modified xsi:type="dcterms:W3CDTF">2026-10-26T03:42:39Z</dcterms:modified>
</cp:coreProperties>
</file>