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F1-L04 (Complete the Alphabet &amp; Read Short Vowels) — new practice tasks built on the lesson’s own word bank and grammar (the last six letters (lām · mīm · nūn · hāʾ · wāw · yāʾ); و is the sixth breaker; the four marks: fatḥa (a) · ḍamma (u) · kasra (i) · sukūn (no vowel); reading first fully vowelled words).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Core: copy letters, mark sets and words with the frames. Develop: a five-item dictation with marks. Stretch: write the whole alphabet from memory, then three dictated words. Teacher checks that kasra is BELOW and sukūn is a small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Complete the Alphabet &amp; Read Short Vowels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آخِرُ الحُرُوفِ وَالحَرَكَاتُ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sounds-and-script practice with the last six letters and the four marks: say names and sounds, act a “which mark?” mini-dialogue, do point-and-say cards, read fully vowelled words on a reading card, race to read the whole alphabet, then build words, spot mark slips, and copy, take dictation and label.</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F1-L04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Sound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letter NAME or SOUND from the next two slides. The Speaker points to it (or says its number) and says the sound again. The Coach checks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letter names or sounds; Speaker finds each one.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shape and the dots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letters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the Speaker says a word that starts with the letter.</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letter and say its sound.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its name AND its sound, and how many dots it has.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a word with that letter — at the start, in the middle or at the end.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last six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23</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ل</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lām — /l/</a:t>
            </a:r>
            <a:endParaRPr lang="en-US" sz="1350" dirty="0"/>
          </a:p>
          <a:p>
            <a:pPr indent="0" marL="0">
              <a:buNone/>
            </a:pPr>
            <a:r>
              <a:rPr lang="en-US" sz="1100" i="1" dirty="0">
                <a:solidFill>
                  <a:srgbClr val="5A6472"/>
                </a:solidFill>
                <a:latin typeface="Calibri" pitchFamily="34" charset="0"/>
                <a:cs typeface="Amiri" pitchFamily="2" charset="-78"/>
              </a:rPr>
              <a:t>tall stem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لَامٌ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24</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م</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mīm — /m/</a:t>
            </a:r>
            <a:endParaRPr lang="en-US" sz="1350" dirty="0"/>
          </a:p>
          <a:p>
            <a:pPr indent="0" marL="0">
              <a:buNone/>
            </a:pPr>
            <a:r>
              <a:rPr lang="en-US" sz="1100" i="1" dirty="0">
                <a:solidFill>
                  <a:srgbClr val="5A6472"/>
                </a:solidFill>
                <a:latin typeface="Calibri" pitchFamily="34" charset="0"/>
                <a:cs typeface="Amiri" pitchFamily="2" charset="-78"/>
              </a:rPr>
              <a:t>rounded head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مِيمٌ</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25</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ن</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nūn — /n/</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نُونٌ</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26</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ه</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hāʾ — /h/ (hat)</a:t>
            </a:r>
            <a:endParaRPr lang="en-US" sz="1350" dirty="0"/>
          </a:p>
          <a:p>
            <a:pPr indent="0" marL="0">
              <a:buNone/>
            </a:pPr>
            <a:r>
              <a:rPr lang="en-US" sz="1100" i="1" dirty="0">
                <a:solidFill>
                  <a:srgbClr val="5A6472"/>
                </a:solidFill>
                <a:latin typeface="Calibri" pitchFamily="34" charset="0"/>
                <a:cs typeface="Amiri" pitchFamily="2" charset="-78"/>
              </a:rPr>
              <a:t>open loop · connector</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هَاءٌ</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27</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و</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wāw — /w/ or long ū</a:t>
            </a:r>
            <a:endParaRPr lang="en-US" sz="1350" dirty="0"/>
          </a:p>
          <a:p>
            <a:pPr indent="0" marL="0">
              <a:buNone/>
            </a:pPr>
            <a:r>
              <a:rPr lang="en-US" sz="1100" i="1" dirty="0">
                <a:solidFill>
                  <a:srgbClr val="5A6472"/>
                </a:solidFill>
                <a:latin typeface="Calibri" pitchFamily="34" charset="0"/>
                <a:cs typeface="Amiri" pitchFamily="2" charset="-78"/>
              </a:rPr>
              <a:t>BREAKER</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وَاوٌ</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28</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ي</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yāʾ — /y/ or long ī</a:t>
            </a:r>
            <a:endParaRPr lang="en-US" sz="1350" dirty="0"/>
          </a:p>
          <a:p>
            <a:pPr indent="0" marL="0">
              <a:buNone/>
            </a:pPr>
            <a:r>
              <a:rPr lang="en-US" sz="1100" i="1" dirty="0">
                <a:solidFill>
                  <a:srgbClr val="5A6472"/>
                </a:solidFill>
                <a:latin typeface="Calibri" pitchFamily="34" charset="0"/>
                <a:cs typeface="Amiri" pitchFamily="2" charset="-78"/>
              </a:rPr>
              <a:t>TWO dots BELOW · connector</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يَاءٌ</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First vowelled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قَلَمٌ</a:t>
            </a:r>
            <a:endParaRPr lang="ar-SA" sz="405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pen</a:t>
            </a:r>
            <a:endParaRPr lang="en-US" sz="1350" dirty="0"/>
          </a:p>
          <a:p>
            <a:pPr indent="0" marL="0">
              <a:buNone/>
            </a:pPr>
            <a:r>
              <a:rPr lang="en-US" sz="1100" i="1" dirty="0">
                <a:solidFill>
                  <a:srgbClr val="5A6472"/>
                </a:solidFill>
                <a:latin typeface="Calibri" pitchFamily="34" charset="0"/>
                <a:cs typeface="Amiri" pitchFamily="2" charset="-78"/>
              </a:rPr>
              <a:t>qa-la-mun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بِنْتٌ</a:t>
            </a:r>
            <a:endParaRPr lang="ar-SA" sz="405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girl</a:t>
            </a:r>
            <a:endParaRPr lang="en-US" sz="1350" dirty="0"/>
          </a:p>
          <a:p>
            <a:pPr indent="0" marL="0">
              <a:buNone/>
            </a:pPr>
            <a:r>
              <a:rPr lang="en-US" sz="1100" i="1" dirty="0">
                <a:solidFill>
                  <a:srgbClr val="5A6472"/>
                </a:solidFill>
                <a:latin typeface="Calibri" pitchFamily="34" charset="0"/>
                <a:cs typeface="Amiri" pitchFamily="2" charset="-78"/>
              </a:rPr>
              <a:t>bin-tun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وَلَدٌ</a:t>
            </a:r>
            <a:endParaRPr lang="ar-SA" sz="405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boy</a:t>
            </a:r>
            <a:endParaRPr lang="en-US" sz="1350" dirty="0"/>
          </a:p>
          <a:p>
            <a:pPr indent="0" marL="0">
              <a:buNone/>
            </a:pPr>
            <a:r>
              <a:rPr lang="en-US" sz="1100" i="1" dirty="0">
                <a:solidFill>
                  <a:srgbClr val="5A6472"/>
                </a:solidFill>
                <a:latin typeface="Calibri" pitchFamily="34" charset="0"/>
                <a:cs typeface="Amiri" pitchFamily="2" charset="-78"/>
              </a:rPr>
              <a:t>wa-la-dun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نَهْرٌ</a:t>
            </a:r>
            <a:endParaRPr lang="ar-SA" sz="405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river</a:t>
            </a:r>
            <a:endParaRPr lang="en-US" sz="1350" dirty="0"/>
          </a:p>
          <a:p>
            <a:pPr indent="0" marL="0">
              <a:buNone/>
            </a:pPr>
            <a:r>
              <a:rPr lang="en-US" sz="1100" i="1" dirty="0">
                <a:solidFill>
                  <a:srgbClr val="5A6472"/>
                </a:solidFill>
                <a:latin typeface="Calibri" pitchFamily="34" charset="0"/>
                <a:cs typeface="Amiri" pitchFamily="2" charset="-78"/>
              </a:rPr>
              <a:t>nah-run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يَدٌ</a:t>
            </a:r>
            <a:endParaRPr lang="ar-SA" sz="405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hand</a:t>
            </a:r>
            <a:endParaRPr lang="en-US" sz="1350" dirty="0"/>
          </a:p>
          <a:p>
            <a:pPr indent="0" marL="0">
              <a:buNone/>
            </a:pPr>
            <a:r>
              <a:rPr lang="en-US" sz="1100" i="1" dirty="0">
                <a:solidFill>
                  <a:srgbClr val="5A6472"/>
                </a:solidFill>
                <a:latin typeface="Calibri" pitchFamily="34" charset="0"/>
                <a:cs typeface="Amiri" pitchFamily="2" charset="-78"/>
              </a:rPr>
              <a:t>ya-dun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مَوْزٌ</a:t>
            </a:r>
            <a:endParaRPr lang="ar-SA" sz="405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banana</a:t>
            </a:r>
            <a:endParaRPr lang="en-US" sz="1350" dirty="0"/>
          </a:p>
          <a:p>
            <a:pPr indent="0" marL="0">
              <a:buNone/>
            </a:pPr>
            <a:r>
              <a:rPr lang="en-US" sz="1100" i="1" dirty="0">
                <a:solidFill>
                  <a:srgbClr val="5A6472"/>
                </a:solidFill>
                <a:latin typeface="Calibri" pitchFamily="34" charset="0"/>
                <a:cs typeface="Amiri" pitchFamily="2" charset="-78"/>
              </a:rPr>
              <a:t>maw-zun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mark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الحَرَكَةُ؟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ma · mu · mi · 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اقْرَأْ: مَ · مُ · مِ · 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 · mu · mi · m (no vowel).</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 · مُ · مِ · 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(points to </a:t>
            </a:r>
            <a:pPr algn="l" indent="0" marL="0">
              <a:buNone/>
            </a:pPr>
            <a:r>
              <a:rPr lang="ar-SA" altLang="en-US" sz="1450" dirty="0">
                <a:solidFill>
                  <a:srgbClr val="5A6472"/>
                </a:solidFill>
                <a:latin typeface="Amiri" pitchFamily="2" charset="-78"/>
                <a:ea typeface="Amiri" pitchFamily="2" charset="-78"/>
                <a:cs typeface="Amiri" pitchFamily="2" charset="-78"/>
              </a:rPr>
              <a:t>ـْ</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هٰذِهِ؟ (ـْ)</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sukūn — no vowel after the letter.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سُكُونٌ — لَا صَوْتَ بَعْدَ الحَرْفِ.</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qalam.</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اقْرَأْ: قَلَمٌ.</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qa · la · mun — qalam (pen)!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 · لَ · مٌ — قَلَمٌ!</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writes a letter with a mark in the chat; B reads it and names the mark.</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Point, say,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لَامٌ</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lām · /l/</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بِنْتٌ</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نُونٌ</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 one dot above · /n/</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نَهْرٌ</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هَاءٌ</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hāʾ · a light h, as in hat</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وَلَدٌ</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وَاوٌ</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 /w/ or long ū · a breaker</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بِنْتٌ</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سُكُونٌ</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sukūn · no vowel</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ـْ</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card — fully vowelled words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 nu · ni · n</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four marks on nūn.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 · نُ · نِ · نْ</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wa-la-dun · bin-tun</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words; say the meaning.</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وَلَدٌ · بِنْتٌ</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a:t>
            </a:r>
            <a:pPr algn="l" indent="0" marL="0">
              <a:buNone/>
            </a:pPr>
            <a:r>
              <a:rPr lang="ar-SA" altLang="en-US" sz="1450" dirty="0">
                <a:solidFill>
                  <a:srgbClr val="5A6472"/>
                </a:solidFill>
                <a:latin typeface="Amiri" pitchFamily="2" charset="-78"/>
                <a:ea typeface="Amiri" pitchFamily="2" charset="-78"/>
                <a:cs typeface="Amiri" pitchFamily="2" charset="-78"/>
              </a:rPr>
              <a:t>هـ</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و</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where is the sukūn?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نَهْرٌ · مَوْزٌ</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ya-dun</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it and show it!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يَدٌ</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whole alphabet!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 28 letters in order, starting from alif. Then read as many of the six words as you can. The Coach counts the correct ones.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last six letters, then try the whole row.</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28 letter names in order.</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28, then the six words with every mark.</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Build three words from their parts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pen — qalam</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girl — bint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boy — walad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pen — qalam</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qa · la · mun — fatḥa twice, then tanwīn.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قَلَمٌ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girl — bint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kasra under b; sukūn on 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بِنْتٌ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boy — walad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wa · la · dun; </a:t>
            </a:r>
            <a:pPr algn="l" indent="0" marL="0">
              <a:buNone/>
            </a:pPr>
            <a:r>
              <a:rPr lang="ar-SA" altLang="en-US" sz="1350" dirty="0">
                <a:solidFill>
                  <a:srgbClr val="5A6472"/>
                </a:solidFill>
                <a:latin typeface="Amiri" pitchFamily="2" charset="-78"/>
                <a:ea typeface="Amiri" pitchFamily="2" charset="-78"/>
                <a:cs typeface="Amiri" pitchFamily="2" charset="-78"/>
              </a:rPr>
              <a:t>و</a:t>
            </a:r>
            <a:pPr algn="l" indent="0" marL="0">
              <a:buNone/>
            </a:pPr>
            <a:r>
              <a:rPr lang="en-US" sz="1050" i="1" dirty="0">
                <a:solidFill>
                  <a:srgbClr val="5A6472"/>
                </a:solidFill>
                <a:latin typeface="Calibri" pitchFamily="34" charset="0"/>
                <a:cs typeface="Amiri" pitchFamily="2" charset="-78"/>
              </a:rPr>
              <a:t> breaks the joining.</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وَلَدٌ</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بَنْتٌ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“girl” = bint.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نَهَرٌ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 vowel after h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“pen” = qa-la-m.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بَنْتٌ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بِنْتٌ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 kasra, BELOW the letter.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نَهَرٌ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نَهْرٌ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sukūn on </a:t>
            </a:r>
            <a:pPr algn="l" indent="0" marL="0">
              <a:buNone/>
            </a:pPr>
            <a:r>
              <a:rPr lang="ar-SA" altLang="en-US" sz="1500" b="1" dirty="0">
                <a:solidFill>
                  <a:srgbClr val="1B3B6F"/>
                </a:solidFill>
                <a:latin typeface="Amiri" pitchFamily="2" charset="-78"/>
                <a:ea typeface="Amiri" pitchFamily="2" charset="-78"/>
                <a:cs typeface="Amiri" pitchFamily="2" charset="-78"/>
              </a:rPr>
              <a:t>هـ</a:t>
            </a:r>
            <a:pPr algn="l" indent="0" marL="0">
              <a:buNone/>
            </a:pPr>
            <a:r>
              <a:rPr lang="en-US" sz="1150" b="1" dirty="0">
                <a:solidFill>
                  <a:srgbClr val="1B3B6F"/>
                </a:solidFill>
                <a:latin typeface="Calibri" pitchFamily="34" charset="0"/>
                <a:cs typeface="Amiri" pitchFamily="2" charset="-78"/>
              </a:rPr>
              <a:t>: nah-run.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قَلَمٌ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fatḥa (a) on lām, not ḍamma (u).</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قَلَمٌ ______ نَهْرٌ ______ مَوْزٌ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then read aloud.</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 with the marks.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 ______ م ______ ن</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letters.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 ______ و ______ ي</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more — </a:t>
            </a:r>
            <a:pPr algn="l" indent="0" marL="0">
              <a:buNone/>
            </a:pPr>
            <a:r>
              <a:rPr lang="ar-SA" altLang="en-US" sz="1350" dirty="0">
                <a:solidFill>
                  <a:srgbClr val="5A6472"/>
                </a:solidFill>
                <a:latin typeface="Amiri" pitchFamily="2" charset="-78"/>
                <a:ea typeface="Amiri" pitchFamily="2" charset="-78"/>
                <a:cs typeface="Amiri" pitchFamily="2" charset="-78"/>
              </a:rPr>
              <a:t>و</a:t>
            </a:r>
            <a:pPr algn="l" indent="0" marL="0">
              <a:buNone/>
            </a:pPr>
            <a:r>
              <a:rPr lang="en-US" sz="1050" i="1" dirty="0">
                <a:solidFill>
                  <a:srgbClr val="5A6472"/>
                </a:solidFill>
                <a:latin typeface="Calibri" pitchFamily="34" charset="0"/>
                <a:cs typeface="Amiri" pitchFamily="2" charset="-78"/>
              </a:rPr>
              <a:t> is a breaker.</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 ______ لُ ______ لِ ______ لْ</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lām with the four marks.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وَلَدٌ ______ بِنْتٌ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words with every mark.</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 · م · ن  ·  ه · و · ي  ·  ـَ · ـُ · ـِ · ـْ  ·  قَلَمٌ  ·  بِنْتٌ  ·  وَلَدٌ  ·  نَهْرٌ  ·  يَدٌ · مَوْزٌ</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LABELS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Copy, listen and write: the full alphabet and the marks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الحُرُوفَ وَالحَرَكَاتِ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In your book: • copy </a:t>
            </a:r>
            <a:pPr algn="l" indent="0" marL="0">
              <a:buNone/>
            </a:pPr>
            <a:r>
              <a:rPr lang="ar-SA" altLang="en-US" sz="1700" b="1" dirty="0">
                <a:solidFill>
                  <a:srgbClr val="1F2A37"/>
                </a:solidFill>
                <a:latin typeface="Amiri" pitchFamily="2" charset="-78"/>
                <a:ea typeface="Amiri" pitchFamily="2" charset="-78"/>
                <a:cs typeface="Amiri" pitchFamily="2" charset="-78"/>
              </a:rPr>
              <a:t>ل م ن ه و ي</a:t>
            </a:r>
            <a:pPr algn="l" indent="0" marL="0">
              <a:buNone/>
            </a:pPr>
            <a:r>
              <a:rPr lang="en-US" sz="1300" b="1" dirty="0">
                <a:solidFill>
                  <a:srgbClr val="1F2A37"/>
                </a:solidFill>
                <a:latin typeface="Calibri" pitchFamily="34" charset="0"/>
                <a:cs typeface="Amiri" pitchFamily="2" charset="-78"/>
              </a:rPr>
              <a:t> three times each • write one letter with all four marks (</a:t>
            </a:r>
            <a:pPr algn="l" indent="0" marL="0">
              <a:buNone/>
            </a:pPr>
            <a:r>
              <a:rPr lang="ar-SA" altLang="en-US" sz="1700" b="1" dirty="0">
                <a:solidFill>
                  <a:srgbClr val="1F2A37"/>
                </a:solidFill>
                <a:latin typeface="Amiri" pitchFamily="2" charset="-78"/>
                <a:ea typeface="Amiri" pitchFamily="2" charset="-78"/>
                <a:cs typeface="Amiri" pitchFamily="2" charset="-78"/>
              </a:rPr>
              <a:t>بَ بُ بِ بْ</a:t>
            </a:r>
            <a:pPr algn="l" indent="0" marL="0">
              <a:buNone/>
            </a:pPr>
            <a:r>
              <a:rPr lang="en-US" sz="1300" b="1" dirty="0">
                <a:solidFill>
                  <a:srgbClr val="1F2A37"/>
                </a:solidFill>
                <a:latin typeface="Calibri" pitchFamily="34" charset="0"/>
                <a:cs typeface="Amiri" pitchFamily="2" charset="-78"/>
              </a:rPr>
              <a:t>) • copy the six words with every mark • DICTATION: your buddy reads five vowelled words or syllables — write them with the marks, without looking.</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letter from right to left.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written as a breaker (gap after 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mark in the right place: above (a) · below (i).</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with marks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 · م · 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lām · mīm · nūn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 · و · 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hāʾ · wāw · yāʾ</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فَتْحَةٌ · ضَمَّةٌ · كَسْرَةٌ · سُكُونٌ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fatḥa · ḍamma · kasra · sukūn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مَشْكُولٌ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fully vowelled</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 · نُ · نِ · 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 · nu · ni · n (sukūn).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 · نُ · نِ · نْ</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وَلَدٌ · بِنْتٌ</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walad (boy) · bint (girl).</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وَلَدٌ · بِنْتٌ</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نَهْرٌ · مَوْزٌ</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nahr (river) · mawz (banana) — sukūn on h and w.</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نَهْرٌ · مَوْزٌ</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yad — hand (show your hand!).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يَدٌ</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 م ن ه و ي</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 بُ بِ بْ · لَ لُ لِ لْ</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قَلَمٌ · بِنْتٌ · وَلَدٌ · نَهْرٌ · يَدٌ · مَوْزٌ</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مُو · نِي · وَلَدٌ · نَهْرٌ · يَدٌ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last six letters. Line 2: two letters with the four marks. Line 3: the six words. Line 4: a dictation of five items.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 م 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 بُ بِ 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بِنْتٌ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نَهْرٌ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F1-L05 · One Letter, Four Positions</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أَشْكَالُ الحُرُوفِ فِي الكَلِمَةِ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F1-L04 · Practice Room — Complete the Alphabet &amp; Read Short Vowels</dc:title>
  <dc:subject>PptxGenJS Presentation</dc:subject>
  <dc:creator>Al Madina Online School · Arabic Department</dc:creator>
  <cp:lastModifiedBy>Al Madina Online School · Arabic Department</cp:lastModifiedBy>
  <cp:revision>1</cp:revision>
  <dcterms:created xsi:type="dcterms:W3CDTF">2026-10-26T03:38:12Z</dcterms:created>
  <dcterms:modified xsi:type="dcterms:W3CDTF">2026-10-26T03:38:12Z</dcterms:modified>
</cp:coreProperties>
</file>