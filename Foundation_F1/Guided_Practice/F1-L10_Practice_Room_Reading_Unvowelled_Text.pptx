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PRACTICE ROOM AT A GLANCE — one combined lesson (speaking, then writing), 55–60 minutes: about 6 minutes in the main room, about 45 minutes in breakout rooms of two or three, about 6 minutes back together.
0–2 Welcome · 2–5 How the room works · ROOMS, Part A Speaking: Step 1 Letter warm-up (5) · Step 2 Say the mini-dialogue (5) · Step 3 Point-and-say cards (7) · Step 4 Reading card (7) · Step 5 Read-aloud race (4) · Part B Writing: Step 6 Build the word (4) · Step 7 Spot the slip (3) · Step 8 Copy, listen and write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F1-L10 (Read What Is Written: Unvowelled Text) — new practice tasks built on the lesson’s own word bank and grammar (most everyday Arabic has no short-vowel marks: letters, dots and long vowels (ا و ي) stay; the SCOPE routine — Scan the skeleton · Chunk what is known (ال · و · بـ · ة · ات) · Observe vowel clues · Predict with context · Evaluate everything; saying “I’m not sure yet” when a skeleton has two readings).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F1-L10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Speaker reads from the slide; the Coach checks the sound and the direction (right to left). Teacher: listen for the target sounds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(7 min). SUPPORTED: the plan column models the thinking (first words), not the full answer. Everyone is Speaker once. To a girl the Leader says: no changes needed.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starting on the RIGHT (column 1). The answer slide shows the parts joined into one word. Students copy the three words into their book — they are used again in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starting on the RIGHT (column 1). The answer slide shows the parts joined into one word. Students copy the three words into their book — they are used again in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Core: copy signs and two vowelled forms with the frames. Develop: dictation of five signs + three real places. Stretch: write a short unvowelled sign for your classroom door and two others. Teacher checks final letters and dots — without marks, dots carry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(29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F1  ·  F1-L10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F1-L10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Read What Is Written: Unvowelled Text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نُصُوصٌ بِلَا تَشْكِيلٍ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50" dirty="0">
                <a:solidFill>
                  <a:srgbClr val="C6D2E6"/>
                </a:solidFill>
                <a:latin typeface="Calibri" pitchFamily="34" charset="0"/>
                <a:cs typeface="Amiri" pitchFamily="2" charset="-78"/>
              </a:rPr>
              <a:t>Students run their own practice reading unvowelled Arabic: say eight everyday signs, act a SCOPE mini-dialogue, scan sign cards, choose between two readings on a reading card, race to read the signs, then match each sign to its vowelled form, spot misreadings, and copy signs and write labels for places in their area.</a:t>
            </a:r>
            <a:endParaRPr lang="en-US" sz="11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F1-L10 · Foundation F1 · Arabic Script &amp; Sounds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beginner</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F1 › F1-L10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Sounds + script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Sounds + script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letter warm-up · say the mini-dialogue.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point-and-say cards · reading card · read-aloud race.</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build the word · spot the slip.</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copy, listen and write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Sounds + script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points to a letter or word on the slide (or reads the card) and keeps the time.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says the sound or reads the word aloud, from RIGHT to left. Slowly is fine — clearly is the goal.</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in their OWN book — copying, then dictation;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LETTER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find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 وَجِدْهُ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Sign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place in ENGLISH (bank, exit …). The Speaker finds the sign on the next two slides and reads it WITHOUT looking at the marks line. The Coach checks with the vowelled form.</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places in English.</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reads the unvowelled sign.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with the “with marks” line.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Find the sign and read it.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Name the letters right to left first (S of SCOPE).</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which chunk you recognised (</a:t>
            </a:r>
            <a:pPr algn="l" indent="0" marL="0">
              <a:buNone/>
            </a:pPr>
            <a:r>
              <a:rPr lang="ar-SA" altLang="en-US" sz="1500" dirty="0">
                <a:solidFill>
                  <a:srgbClr val="1F2A37"/>
                </a:solidFill>
                <a:latin typeface="Amiri" pitchFamily="2" charset="-78"/>
                <a:ea typeface="Amiri" pitchFamily="2" charset="-78"/>
                <a:cs typeface="Amiri" pitchFamily="2" charset="-78"/>
              </a:rPr>
              <a:t>ال</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ة</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م</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Sounds + script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Everyday signs (1)</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لَافِتَاتٌ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مطعم</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restaurant</a:t>
            </a:r>
            <a:endParaRPr lang="en-US" sz="1350" dirty="0"/>
          </a:p>
          <a:p>
            <a:pPr indent="0" marL="0">
              <a:buNone/>
            </a:pPr>
            <a:r>
              <a:rPr lang="ar-SA" sz="1100" i="1" dirty="0">
                <a:solidFill>
                  <a:srgbClr val="5A6472"/>
                </a:solidFill>
                <a:latin typeface="Calibri" pitchFamily="34" charset="0"/>
                <a:ea typeface="Amiri" pitchFamily="2" charset="-78"/>
                <a:cs typeface="Amiri" pitchFamily="2" charset="-78"/>
              </a:rPr>
              <a:t>ṭ has no dot; ع is open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with marks</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مَطْعَم</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مدرسة</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school</a:t>
            </a:r>
            <a:endParaRPr lang="en-US" sz="1350" dirty="0"/>
          </a:p>
          <a:p>
            <a:pPr indent="0" marL="0">
              <a:buNone/>
            </a:pPr>
            <a:r>
              <a:rPr lang="ar-SA" sz="1100" i="1" dirty="0">
                <a:solidFill>
                  <a:srgbClr val="5A6472"/>
                </a:solidFill>
                <a:latin typeface="Calibri" pitchFamily="34" charset="0"/>
                <a:ea typeface="Amiri" pitchFamily="2" charset="-78"/>
                <a:cs typeface="Amiri" pitchFamily="2" charset="-78"/>
              </a:rPr>
              <a:t>final ة</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with marks</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مَدْرَسَة</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مستشفى</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hospital</a:t>
            </a:r>
            <a:endParaRPr lang="en-US" sz="1350" dirty="0"/>
          </a:p>
          <a:p>
            <a:pPr indent="0" marL="0">
              <a:buNone/>
            </a:pPr>
            <a:r>
              <a:rPr lang="ar-SA" sz="1100" i="1" dirty="0">
                <a:solidFill>
                  <a:srgbClr val="5A6472"/>
                </a:solidFill>
                <a:latin typeface="Calibri" pitchFamily="34" charset="0"/>
                <a:ea typeface="Amiri" pitchFamily="2" charset="-78"/>
                <a:cs typeface="Amiri" pitchFamily="2" charset="-78"/>
              </a:rPr>
              <a:t>final ى</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with marks</a:t>
            </a:r>
            <a:endParaRPr lang="en-US" sz="700" dirty="0"/>
          </a:p>
        </p:txBody>
      </p:sp>
      <p:sp>
        <p:nvSpPr>
          <p:cNvPr id="50" name="Text 47"/>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مُسْتَشْفَى</a:t>
            </a:r>
            <a:endParaRPr lang="ar-SA" sz="135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4" name="Shape 51"/>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مسجد</a:t>
            </a:r>
            <a:endParaRPr lang="ar-SA" sz="30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mosque</a:t>
            </a:r>
            <a:endParaRPr lang="en-US" sz="1350" dirty="0"/>
          </a:p>
          <a:p>
            <a:pPr indent="0" marL="0">
              <a:buNone/>
            </a:pPr>
            <a:r>
              <a:rPr lang="ar-SA" sz="1100" i="1" dirty="0">
                <a:solidFill>
                  <a:srgbClr val="5A6472"/>
                </a:solidFill>
                <a:latin typeface="Calibri" pitchFamily="34" charset="0"/>
                <a:ea typeface="Amiri" pitchFamily="2" charset="-78"/>
                <a:cs typeface="Amiri" pitchFamily="2" charset="-78"/>
              </a:rPr>
              <a:t>final د</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with marks</a:t>
            </a:r>
            <a:endParaRPr lang="en-US" sz="700" dirty="0"/>
          </a:p>
        </p:txBody>
      </p:sp>
      <p:sp>
        <p:nvSpPr>
          <p:cNvPr id="62" name="Text 59"/>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مَسْجِد</a:t>
            </a:r>
            <a:endParaRPr lang="ar-SA" sz="135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6" name="Shape 63"/>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a:t>
            </a:r>
            <a:endParaRPr lang="en-US" sz="8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محطة</a:t>
            </a:r>
            <a:endParaRPr lang="ar-SA" sz="3000" dirty="0"/>
          </a:p>
        </p:txBody>
      </p:sp>
      <p:sp>
        <p:nvSpPr>
          <p:cNvPr id="71" name="Text 6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station</a:t>
            </a:r>
            <a:endParaRPr lang="en-US" sz="1350" dirty="0"/>
          </a:p>
          <a:p>
            <a:pPr indent="0" marL="0">
              <a:buNone/>
            </a:pPr>
            <a:r>
              <a:rPr lang="ar-SA" sz="1100" i="1" dirty="0">
                <a:solidFill>
                  <a:srgbClr val="5A6472"/>
                </a:solidFill>
                <a:latin typeface="Calibri" pitchFamily="34" charset="0"/>
                <a:ea typeface="Amiri" pitchFamily="2" charset="-78"/>
                <a:cs typeface="Amiri" pitchFamily="2" charset="-78"/>
              </a:rPr>
              <a:t>final ة</a:t>
            </a:r>
            <a:endParaRPr lang="en-US" sz="1350" dirty="0"/>
          </a:p>
        </p:txBody>
      </p:sp>
      <p:sp>
        <p:nvSpPr>
          <p:cNvPr id="72" name="Shape 69"/>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with marks</a:t>
            </a:r>
            <a:endParaRPr lang="en-US" sz="700" dirty="0"/>
          </a:p>
        </p:txBody>
      </p:sp>
      <p:sp>
        <p:nvSpPr>
          <p:cNvPr id="74" name="Text 71"/>
          <p:cNvSpPr txBox="1"/>
          <p:nvPr/>
        </p:nvSpPr>
        <p:spPr>
          <a:xfrm>
            <a:off x="4462272"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مَحَطَّة</a:t>
            </a:r>
            <a:endParaRPr lang="ar-SA" sz="1350" dirty="0"/>
          </a:p>
        </p:txBody>
      </p:sp>
      <p:sp>
        <p:nvSpPr>
          <p:cNvPr id="75" name="Shape 7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66928"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8" name="Shape 75"/>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a:t>
            </a:r>
            <a:endParaRPr lang="en-US" sz="800" dirty="0"/>
          </a:p>
        </p:txBody>
      </p:sp>
      <p:sp>
        <p:nvSpPr>
          <p:cNvPr id="80" name="Shape 7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شارع</a:t>
            </a:r>
            <a:endParaRPr lang="ar-SA" sz="3000" dirty="0"/>
          </a:p>
        </p:txBody>
      </p:sp>
      <p:sp>
        <p:nvSpPr>
          <p:cNvPr id="83" name="Text 8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street</a:t>
            </a:r>
            <a:endParaRPr lang="en-US" sz="1350" dirty="0"/>
          </a:p>
          <a:p>
            <a:pPr indent="0" marL="0">
              <a:buNone/>
            </a:pPr>
            <a:r>
              <a:rPr lang="en-US" sz="1100" i="1" dirty="0">
                <a:solidFill>
                  <a:srgbClr val="5A6472"/>
                </a:solidFill>
                <a:latin typeface="Calibri" pitchFamily="34" charset="0"/>
                <a:cs typeface="Amiri" pitchFamily="2" charset="-78"/>
              </a:rPr>
              <a:t>long ā</a:t>
            </a:r>
            <a:endParaRPr lang="en-US" sz="1350" dirty="0"/>
          </a:p>
        </p:txBody>
      </p:sp>
      <p:sp>
        <p:nvSpPr>
          <p:cNvPr id="84" name="Shape 81"/>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with marks</a:t>
            </a:r>
            <a:endParaRPr lang="en-US" sz="700" dirty="0"/>
          </a:p>
        </p:txBody>
      </p:sp>
      <p:sp>
        <p:nvSpPr>
          <p:cNvPr id="86" name="Text 83"/>
          <p:cNvSpPr txBox="1"/>
          <p:nvPr/>
        </p:nvSpPr>
        <p:spPr>
          <a:xfrm>
            <a:off x="640080"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شَارِع</a:t>
            </a:r>
            <a:endParaRPr lang="ar-SA" sz="135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Sounds + script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Everyday signs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لَافِتَاتٌ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بنك</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bank</a:t>
            </a:r>
            <a:endParaRPr lang="en-US" sz="1350" dirty="0"/>
          </a:p>
          <a:p>
            <a:pPr indent="0" marL="0">
              <a:buNone/>
            </a:pPr>
            <a:r>
              <a:rPr lang="ar-SA" sz="1100" i="1" dirty="0">
                <a:solidFill>
                  <a:srgbClr val="5A6472"/>
                </a:solidFill>
                <a:latin typeface="Calibri" pitchFamily="34" charset="0"/>
                <a:ea typeface="Amiri" pitchFamily="2" charset="-78"/>
                <a:cs typeface="Amiri" pitchFamily="2" charset="-78"/>
              </a:rPr>
              <a:t>dots on ب ن</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with marks</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بَنْك</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فندق</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hotel</a:t>
            </a:r>
            <a:endParaRPr lang="en-US" sz="1350" dirty="0"/>
          </a:p>
          <a:p>
            <a:pPr indent="0" marL="0">
              <a:buNone/>
            </a:pPr>
            <a:r>
              <a:rPr lang="ar-SA" sz="1100" i="1" dirty="0">
                <a:solidFill>
                  <a:srgbClr val="5A6472"/>
                </a:solidFill>
                <a:latin typeface="Calibri" pitchFamily="34" charset="0"/>
                <a:ea typeface="Amiri" pitchFamily="2" charset="-78"/>
                <a:cs typeface="Amiri" pitchFamily="2" charset="-78"/>
              </a:rPr>
              <a:t>ف one dot · ق two</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with marks</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فُنْدُق</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2" name="Shape 39"/>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مكتبة</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library</a:t>
            </a:r>
            <a:endParaRPr lang="en-US" sz="1350" dirty="0"/>
          </a:p>
          <a:p>
            <a:pPr indent="0" marL="0">
              <a:buNone/>
            </a:pPr>
            <a:r>
              <a:rPr lang="ar-SA" sz="1100" i="1" dirty="0">
                <a:solidFill>
                  <a:srgbClr val="5A6472"/>
                </a:solidFill>
                <a:latin typeface="Amiri" pitchFamily="2" charset="-78"/>
                <a:ea typeface="Amiri" pitchFamily="2" charset="-78"/>
                <a:cs typeface="Amiri" pitchFamily="2" charset="-78"/>
              </a:rPr>
              <a:t>ال + مكتب + ة</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with marks</a:t>
            </a:r>
            <a:endParaRPr lang="en-US" sz="700" dirty="0"/>
          </a:p>
        </p:txBody>
      </p:sp>
      <p:sp>
        <p:nvSpPr>
          <p:cNvPr id="50" name="Text 47"/>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مَكْتَبَة</a:t>
            </a:r>
            <a:endParaRPr lang="ar-SA" sz="135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4" name="Shape 51"/>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مدخل</a:t>
            </a:r>
            <a:endParaRPr lang="ar-SA" sz="30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entrance</a:t>
            </a:r>
            <a:endParaRPr lang="en-US" sz="1350" dirty="0"/>
          </a:p>
          <a:p>
            <a:pPr indent="0" marL="0">
              <a:buNone/>
            </a:pPr>
            <a:r>
              <a:rPr lang="en-US" sz="1100" i="1" dirty="0">
                <a:solidFill>
                  <a:srgbClr val="5A6472"/>
                </a:solidFill>
                <a:latin typeface="Calibri" pitchFamily="34" charset="0"/>
                <a:cs typeface="Amiri" pitchFamily="2" charset="-78"/>
              </a:rPr>
              <a:t>opposite of exit</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with marks</a:t>
            </a:r>
            <a:endParaRPr lang="en-US" sz="700" dirty="0"/>
          </a:p>
        </p:txBody>
      </p:sp>
      <p:sp>
        <p:nvSpPr>
          <p:cNvPr id="62" name="Text 59"/>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مَدْخَل</a:t>
            </a:r>
            <a:endParaRPr lang="ar-SA" sz="135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6" name="Shape 63"/>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a:t>
            </a:r>
            <a:endParaRPr lang="en-US" sz="8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مخرج</a:t>
            </a:r>
            <a:endParaRPr lang="ar-SA" sz="3000" dirty="0"/>
          </a:p>
        </p:txBody>
      </p:sp>
      <p:sp>
        <p:nvSpPr>
          <p:cNvPr id="71" name="Text 6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exit</a:t>
            </a:r>
            <a:endParaRPr lang="en-US" sz="1350" dirty="0"/>
          </a:p>
          <a:p>
            <a:pPr indent="0" marL="0">
              <a:buNone/>
            </a:pPr>
            <a:r>
              <a:rPr lang="ar-SA" sz="1100" i="1" dirty="0">
                <a:solidFill>
                  <a:srgbClr val="5A6472"/>
                </a:solidFill>
                <a:latin typeface="Calibri" pitchFamily="34" charset="0"/>
                <a:ea typeface="Amiri" pitchFamily="2" charset="-78"/>
                <a:cs typeface="Amiri" pitchFamily="2" charset="-78"/>
              </a:rPr>
              <a:t>خ dot above</a:t>
            </a:r>
            <a:endParaRPr lang="en-US" sz="1350" dirty="0"/>
          </a:p>
        </p:txBody>
      </p:sp>
      <p:sp>
        <p:nvSpPr>
          <p:cNvPr id="72" name="Shape 69"/>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with marks</a:t>
            </a:r>
            <a:endParaRPr lang="en-US" sz="700" dirty="0"/>
          </a:p>
        </p:txBody>
      </p:sp>
      <p:sp>
        <p:nvSpPr>
          <p:cNvPr id="74" name="Text 71"/>
          <p:cNvSpPr txBox="1"/>
          <p:nvPr/>
        </p:nvSpPr>
        <p:spPr>
          <a:xfrm>
            <a:off x="4462272"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مَخْرَج</a:t>
            </a:r>
            <a:endParaRPr lang="ar-SA" sz="1350" dirty="0"/>
          </a:p>
        </p:txBody>
      </p:sp>
      <p:sp>
        <p:nvSpPr>
          <p:cNvPr id="75" name="Shape 7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66928"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8" name="Shape 75"/>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a:t>
            </a:r>
            <a:endParaRPr lang="en-US" sz="800" dirty="0"/>
          </a:p>
        </p:txBody>
      </p:sp>
      <p:sp>
        <p:nvSpPr>
          <p:cNvPr id="80" name="Shape 7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مغلق</a:t>
            </a:r>
            <a:endParaRPr lang="ar-SA" sz="3000" dirty="0"/>
          </a:p>
        </p:txBody>
      </p:sp>
      <p:sp>
        <p:nvSpPr>
          <p:cNvPr id="83" name="Text 8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closed</a:t>
            </a:r>
            <a:endParaRPr lang="en-US" sz="1350" dirty="0"/>
          </a:p>
          <a:p>
            <a:pPr indent="0" marL="0">
              <a:buNone/>
            </a:pPr>
            <a:r>
              <a:rPr lang="ar-SA" sz="1100" i="1" dirty="0">
                <a:solidFill>
                  <a:srgbClr val="5A6472"/>
                </a:solidFill>
                <a:latin typeface="Calibri" pitchFamily="34" charset="0"/>
                <a:ea typeface="Amiri" pitchFamily="2" charset="-78"/>
                <a:cs typeface="Amiri" pitchFamily="2" charset="-78"/>
              </a:rPr>
              <a:t>غ dot above</a:t>
            </a:r>
            <a:endParaRPr lang="en-US" sz="1350" dirty="0"/>
          </a:p>
        </p:txBody>
      </p:sp>
      <p:sp>
        <p:nvSpPr>
          <p:cNvPr id="84" name="Shape 81"/>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with marks</a:t>
            </a:r>
            <a:endParaRPr lang="en-US" sz="700" dirty="0"/>
          </a:p>
        </p:txBody>
      </p:sp>
      <p:sp>
        <p:nvSpPr>
          <p:cNvPr id="86" name="Text 83"/>
          <p:cNvSpPr txBox="1"/>
          <p:nvPr/>
        </p:nvSpPr>
        <p:spPr>
          <a:xfrm>
            <a:off x="640080"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مُغْلَق</a:t>
            </a:r>
            <a:endParaRPr lang="ar-SA" sz="135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MINI-DIALOGUE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SCOPE the sign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اللَّافِتَةَ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read here? “</a:t>
            </a:r>
            <a:pPr algn="l" indent="0" marL="0">
              <a:buNone/>
            </a:pPr>
            <a:r>
              <a:rPr lang="ar-SA" altLang="en-US" sz="1450" dirty="0">
                <a:solidFill>
                  <a:srgbClr val="5A6472"/>
                </a:solidFill>
                <a:latin typeface="Amiri" pitchFamily="2" charset="-78"/>
                <a:ea typeface="Amiri" pitchFamily="2" charset="-78"/>
                <a:cs typeface="Amiri" pitchFamily="2" charset="-78"/>
              </a:rPr>
              <a:t>المكتبة</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مَاذَا تَقْرَأُ هُنَا؟ «المكتبة»</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start on the right: a-l-m-k-t-b-a.</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أَبْدَأُ مِنَ اليَمِينِ: ا ل م ك ت ب 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recognise?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 الَّذِي تَعْرِفُهُ؟</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 at the start, and “</a:t>
            </a:r>
            <a:pPr algn="l" indent="0" marL="0">
              <a:buNone/>
            </a:pPr>
            <a:r>
              <a:rPr lang="ar-SA" altLang="en-US" sz="1450" dirty="0">
                <a:solidFill>
                  <a:srgbClr val="5A6472"/>
                </a:solidFill>
                <a:latin typeface="Amiri" pitchFamily="2" charset="-78"/>
                <a:ea typeface="Amiri" pitchFamily="2" charset="-78"/>
                <a:cs typeface="Amiri" pitchFamily="2" charset="-78"/>
              </a:rPr>
              <a:t>ة</a:t>
            </a:r>
            <a:pPr algn="l" indent="0" marL="0">
              <a:buNone/>
            </a:pPr>
            <a:r>
              <a:rPr lang="en-US" sz="1100" dirty="0">
                <a:solidFill>
                  <a:srgbClr val="5A6472"/>
                </a:solidFill>
                <a:latin typeface="Calibri" pitchFamily="34" charset="0"/>
                <a:cs typeface="Amiri" pitchFamily="2" charset="-78"/>
              </a:rPr>
              <a:t>” at the end.</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 فِي البِدَايَةِ، وَ«ة» فِي النِّهَايَةِ.</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the meaning?</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وَالمَعْنَى؟</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al-maktaba — the library! It fits a school sign.</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المَكْتَبَةُ! هٰذَا يُنَاسِبُ المَدْرَسَةَ.</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A chooses any sign from the word slides; B talks through S-C-O-P-E in English and reads it.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POINT-AND-SAY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Sign cards — scan, read, prove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Then read (Develop)</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 says (Core)</a:t>
            </a:r>
            <a:endParaRPr lang="en-US" sz="1100" dirty="0"/>
          </a:p>
        </p:txBody>
      </p:sp>
      <p:sp>
        <p:nvSpPr>
          <p:cNvPr id="18" name="Text 15"/>
          <p:cNvSpPr txBox="1"/>
          <p:nvPr/>
        </p:nvSpPr>
        <p:spPr>
          <a:xfrm>
            <a:off x="432511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Hint</a:t>
            </a:r>
            <a:endParaRPr lang="en-US" sz="1100" dirty="0"/>
          </a:p>
        </p:txBody>
      </p:sp>
      <p:sp>
        <p:nvSpPr>
          <p:cNvPr id="19" name="Text 16"/>
          <p:cNvSpPr txBox="1"/>
          <p:nvPr/>
        </p:nvSpPr>
        <p:spPr>
          <a:xfrm>
            <a:off x="1033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points to / says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المَطْعَمُ</a:t>
            </a:r>
            <a:endParaRPr lang="ar-SA" sz="18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مَطْعَم</a:t>
            </a:r>
            <a:endParaRPr lang="ar-SA" sz="1800" dirty="0"/>
          </a:p>
        </p:txBody>
      </p:sp>
      <p:sp>
        <p:nvSpPr>
          <p:cNvPr id="24" name="Text 21"/>
          <p:cNvSpPr txBox="1"/>
          <p:nvPr/>
        </p:nvSpPr>
        <p:spPr>
          <a:xfrm>
            <a:off x="4361688" y="2267712"/>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are hungry …</a:t>
            </a:r>
            <a:endParaRPr lang="en-US" sz="1100" dirty="0"/>
          </a:p>
        </p:txBody>
      </p:sp>
      <p:sp>
        <p:nvSpPr>
          <p:cNvPr id="25" name="Text 22"/>
          <p:cNvSpPr txBox="1"/>
          <p:nvPr/>
        </p:nvSpPr>
        <p:spPr>
          <a:xfrm>
            <a:off x="1051560" y="2267712"/>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مطعم</a:t>
            </a:r>
            <a:endParaRPr lang="ar-SA" sz="20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المُسْتَشْفَى</a:t>
            </a:r>
            <a:endParaRPr lang="ar-SA" sz="18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مُسْتَشْفَى</a:t>
            </a:r>
            <a:endParaRPr lang="ar-SA" sz="1800" dirty="0"/>
          </a:p>
        </p:txBody>
      </p:sp>
      <p:sp>
        <p:nvSpPr>
          <p:cNvPr id="32" name="Text 29"/>
          <p:cNvSpPr txBox="1"/>
          <p:nvPr/>
        </p:nvSpPr>
        <p:spPr>
          <a:xfrm>
            <a:off x="4361688" y="300471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ends in </a:t>
            </a:r>
            <a:pPr algn="l" indent="0" marL="0">
              <a:buNone/>
            </a:pPr>
            <a:r>
              <a:rPr lang="ar-SA" altLang="en-US" sz="1450" dirty="0">
                <a:solidFill>
                  <a:srgbClr val="5A6472"/>
                </a:solidFill>
                <a:latin typeface="Amiri" pitchFamily="2" charset="-78"/>
                <a:ea typeface="Amiri" pitchFamily="2" charset="-78"/>
                <a:cs typeface="Amiri" pitchFamily="2" charset="-78"/>
              </a:rPr>
              <a:t>ى</a:t>
            </a:r>
            <a:pPr algn="l" indent="0" marL="0">
              <a:buNone/>
            </a:pPr>
            <a:r>
              <a:rPr lang="en-US" sz="1100" dirty="0">
                <a:solidFill>
                  <a:srgbClr val="5A6472"/>
                </a:solidFill>
                <a:latin typeface="Calibri" pitchFamily="34" charset="0"/>
                <a:cs typeface="Amiri" pitchFamily="2" charset="-78"/>
              </a:rPr>
              <a:t> (alif maqṣūra)</a:t>
            </a:r>
            <a:endParaRPr lang="en-US" sz="1100" dirty="0"/>
          </a:p>
        </p:txBody>
      </p:sp>
      <p:sp>
        <p:nvSpPr>
          <p:cNvPr id="33" name="Text 30"/>
          <p:cNvSpPr txBox="1"/>
          <p:nvPr/>
        </p:nvSpPr>
        <p:spPr>
          <a:xfrm>
            <a:off x="1051560" y="3004718"/>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مستشفى</a:t>
            </a:r>
            <a:endParaRPr lang="ar-SA" sz="20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مَدْخَل</a:t>
            </a:r>
            <a:endParaRPr lang="ar-SA" sz="18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مَخْرَج</a:t>
            </a:r>
            <a:endParaRPr lang="ar-SA" sz="1800" dirty="0"/>
          </a:p>
        </p:txBody>
      </p:sp>
      <p:sp>
        <p:nvSpPr>
          <p:cNvPr id="40" name="Text 37"/>
          <p:cNvSpPr txBox="1"/>
          <p:nvPr/>
        </p:nvSpPr>
        <p:spPr>
          <a:xfrm>
            <a:off x="4361688" y="3741725"/>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over a door</a:t>
            </a:r>
            <a:endParaRPr lang="en-US" sz="1100" dirty="0"/>
          </a:p>
        </p:txBody>
      </p:sp>
      <p:sp>
        <p:nvSpPr>
          <p:cNvPr id="41" name="Text 38"/>
          <p:cNvSpPr txBox="1"/>
          <p:nvPr/>
        </p:nvSpPr>
        <p:spPr>
          <a:xfrm>
            <a:off x="1051560" y="3741725"/>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مخرج</a:t>
            </a:r>
            <a:endParaRPr lang="ar-SA" sz="20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محطة الحافلات</a:t>
            </a:r>
            <a:endParaRPr lang="ar-SA" sz="18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مَحَطَّة القِطَار</a:t>
            </a:r>
            <a:endParaRPr lang="ar-SA" sz="1800" dirty="0"/>
          </a:p>
        </p:txBody>
      </p:sp>
      <p:sp>
        <p:nvSpPr>
          <p:cNvPr id="48" name="Text 45"/>
          <p:cNvSpPr txBox="1"/>
          <p:nvPr/>
        </p:nvSpPr>
        <p:spPr>
          <a:xfrm>
            <a:off x="4361688" y="4478731"/>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words · trains</a:t>
            </a:r>
            <a:endParaRPr lang="en-US" sz="1100" dirty="0"/>
          </a:p>
        </p:txBody>
      </p:sp>
      <p:sp>
        <p:nvSpPr>
          <p:cNvPr id="49" name="Text 46"/>
          <p:cNvSpPr txBox="1"/>
          <p:nvPr/>
        </p:nvSpPr>
        <p:spPr>
          <a:xfrm>
            <a:off x="1051560" y="4478731"/>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محطة القطار</a:t>
            </a:r>
            <a:endParaRPr lang="ar-SA" sz="20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مفتوح</a:t>
            </a:r>
            <a:endParaRPr lang="ar-SA" sz="18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مُغْلَق</a:t>
            </a:r>
            <a:endParaRPr lang="ar-SA" sz="1800" dirty="0"/>
          </a:p>
        </p:txBody>
      </p:sp>
      <p:sp>
        <p:nvSpPr>
          <p:cNvPr id="54" name="Text 51"/>
          <p:cNvSpPr txBox="1"/>
          <p:nvPr/>
        </p:nvSpPr>
        <p:spPr>
          <a:xfrm>
            <a:off x="4361688" y="521573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 a shop door</a:t>
            </a:r>
            <a:endParaRPr lang="en-US" sz="1100" dirty="0"/>
          </a:p>
        </p:txBody>
      </p:sp>
      <p:sp>
        <p:nvSpPr>
          <p:cNvPr id="55" name="Text 52"/>
          <p:cNvSpPr txBox="1"/>
          <p:nvPr/>
        </p:nvSpPr>
        <p:spPr>
          <a:xfrm>
            <a:off x="1051560" y="5215738"/>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مغلق</a:t>
            </a:r>
            <a:endParaRPr lang="ar-SA" sz="20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The Speaker scans the letters right to left, then reads the sign. Develop: say the meaning. Stretch: give the evidence (a chunk, a long vowel, the context). Swap after each card.</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READING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Reading card — one skeleton, two readings</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بِطَاقَةُ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Hint</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shows /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93608" y="2267712"/>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verb · a plural noun</a:t>
            </a:r>
            <a:endParaRPr lang="en-US" sz="11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two possible readings.</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كتب</a:t>
            </a:r>
            <a:endParaRPr lang="ar-SA" sz="20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93608" y="3054096"/>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sentence: who did what?</a:t>
            </a:r>
            <a:endParaRPr lang="en-US" sz="11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Now read it — the context decides.</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كتب الطالب الدرس</a:t>
            </a:r>
            <a:endParaRPr lang="ar-SA" sz="20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chunks: </a:t>
            </a:r>
            <a:pPr algn="l" indent="0" marL="0">
              <a:buNone/>
            </a:pPr>
            <a:r>
              <a:rPr lang="ar-SA" altLang="en-US" sz="1450" dirty="0">
                <a:solidFill>
                  <a:srgbClr val="5A6472"/>
                </a:solidFill>
                <a:latin typeface="Amiri" pitchFamily="2" charset="-78"/>
                <a:ea typeface="Amiri" pitchFamily="2" charset="-78"/>
                <a:cs typeface="Amiri" pitchFamily="2" charset="-78"/>
              </a:rPr>
              <a:t>مدرسة</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البنات</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the school sign.</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مدرسة البنات</a:t>
            </a:r>
            <a:endParaRPr lang="ar-SA" sz="20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dots: </a:t>
            </a:r>
            <a:pPr algn="l" indent="0" marL="0">
              <a:buNone/>
            </a:pPr>
            <a:r>
              <a:rPr lang="ar-SA" altLang="en-US" sz="1450" dirty="0">
                <a:solidFill>
                  <a:srgbClr val="5A6472"/>
                </a:solidFill>
                <a:latin typeface="Amiri" pitchFamily="2" charset="-78"/>
                <a:ea typeface="Amiri" pitchFamily="2" charset="-78"/>
                <a:cs typeface="Amiri" pitchFamily="2" charset="-78"/>
              </a:rPr>
              <a:t>ب</a:t>
            </a:r>
            <a:pPr algn="l" indent="0" marL="0">
              <a:buNone/>
            </a:pPr>
            <a:r>
              <a:rPr lang="en-US" sz="1100" dirty="0">
                <a:solidFill>
                  <a:srgbClr val="5A6472"/>
                </a:solidFill>
                <a:latin typeface="Calibri" pitchFamily="34" charset="0"/>
                <a:cs typeface="Amiri" pitchFamily="2" charset="-78"/>
              </a:rPr>
              <a:t> below · </a:t>
            </a:r>
            <a:pPr algn="l" indent="0" marL="0">
              <a:buNone/>
            </a:pPr>
            <a:r>
              <a:rPr lang="ar-SA" altLang="en-US" sz="1450" dirty="0">
                <a:solidFill>
                  <a:srgbClr val="5A6472"/>
                </a:solidFill>
                <a:latin typeface="Amiri" pitchFamily="2" charset="-78"/>
                <a:ea typeface="Amiri" pitchFamily="2" charset="-78"/>
                <a:cs typeface="Amiri" pitchFamily="2" charset="-78"/>
              </a:rPr>
              <a:t>ن</a:t>
            </a:r>
            <a:pPr algn="l" indent="0" marL="0">
              <a:buNone/>
            </a:pPr>
            <a:r>
              <a:rPr lang="en-US" sz="1100" dirty="0">
                <a:solidFill>
                  <a:srgbClr val="5A6472"/>
                </a:solidFill>
                <a:latin typeface="Calibri" pitchFamily="34" charset="0"/>
                <a:cs typeface="Amiri" pitchFamily="2" charset="-78"/>
              </a:rPr>
              <a:t> above</a:t>
            </a:r>
            <a:endParaRPr lang="en-US" sz="11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it and prove it.</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بنك</a:t>
            </a:r>
            <a:endParaRPr lang="ar-SA" sz="20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the reader · Leader = the card holder.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READ-ALOUD RACE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Sign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اللَّافِتَاتِ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1800" b="1" dirty="0">
                <a:solidFill>
                  <a:srgbClr val="1B3B6F"/>
                </a:solidFill>
                <a:latin typeface="Calibri" pitchFamily="34" charset="0"/>
                <a:cs typeface="Amiri" pitchFamily="2" charset="-78"/>
              </a:rPr>
              <a:t>⏱  Read aloud for 30 seconds — as many as you can</a:t>
            </a:r>
            <a:endParaRPr lang="en-US" sz="18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In 30 seconds, read the twelve signs WITHOUT looking at the marks lines (cover them!). The Coach counts the correct ones and checks with the vowelled forms.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Leader points to the list on the slide (or in your book).</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Speaker reads aloud for 30 seconds; the Coach counts the correct ones.</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sound that was perfect + one to practise.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try to beat your own score, not your partner’s.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six signs.</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all twelve.</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all twelve with al- in front (</a:t>
            </a:r>
            <a:pPr algn="l" indent="0" marL="0">
              <a:buNone/>
            </a:pPr>
            <a:r>
              <a:rPr lang="ar-SA" altLang="en-US" sz="1500" dirty="0">
                <a:solidFill>
                  <a:srgbClr val="1F2A37"/>
                </a:solidFill>
                <a:latin typeface="Amiri" pitchFamily="2" charset="-78"/>
                <a:ea typeface="Amiri" pitchFamily="2" charset="-78"/>
                <a:cs typeface="Amiri" pitchFamily="2" charset="-78"/>
              </a:rPr>
              <a:t>المطعم</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once more</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BUILD THE WORD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Match the sign to its vowelled parts</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الكَلِمَةَ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restaurant (the sign: m-ṭ-ʿ-m)</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مَطْ</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مُطْ</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غَ</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hotel (the sign: f-n-d-q)</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فُنْ</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قُنْ</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دُ</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ذُ</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library (the sign: m-k-t-b-a)</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مَكْ</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مُكْ</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the word: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الكَلِمَةَ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restaurant (the sign: m-ṭ-ʿ-m)</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 m-ṭ-ʿ-m · </a:t>
            </a:r>
            <a:pPr algn="l" indent="0" marL="0">
              <a:buNone/>
            </a:pPr>
            <a:r>
              <a:rPr lang="ar-SA" altLang="en-US" sz="1350" dirty="0">
                <a:solidFill>
                  <a:srgbClr val="5A6472"/>
                </a:solidFill>
                <a:latin typeface="Amiri" pitchFamily="2" charset="-78"/>
                <a:ea typeface="Amiri" pitchFamily="2" charset="-78"/>
                <a:cs typeface="Amiri" pitchFamily="2" charset="-78"/>
              </a:rPr>
              <a:t>ع</a:t>
            </a:r>
            <a:pPr algn="l" indent="0" marL="0">
              <a:buNone/>
            </a:pPr>
            <a:r>
              <a:rPr lang="en-US" sz="1050" i="1" dirty="0">
                <a:solidFill>
                  <a:srgbClr val="5A6472"/>
                </a:solidFill>
                <a:latin typeface="Calibri" pitchFamily="34" charset="0"/>
                <a:cs typeface="Amiri" pitchFamily="2" charset="-78"/>
              </a:rPr>
              <a:t> is open, no dot.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مَطْعَم</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hotel (the sign: f-n-d-q)</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ف</a:t>
            </a:r>
            <a:pPr algn="l" indent="0" marL="0">
              <a:buNone/>
            </a:pPr>
            <a:r>
              <a:rPr lang="en-US" sz="1050" i="1" dirty="0">
                <a:solidFill>
                  <a:srgbClr val="5A6472"/>
                </a:solidFill>
                <a:latin typeface="Calibri" pitchFamily="34" charset="0"/>
                <a:cs typeface="Amiri" pitchFamily="2" charset="-78"/>
              </a:rPr>
              <a:t> one dot at the start · </a:t>
            </a:r>
            <a:pPr algn="l" indent="0" marL="0">
              <a:buNone/>
            </a:pPr>
            <a:r>
              <a:rPr lang="ar-SA" altLang="en-US" sz="1350" dirty="0">
                <a:solidFill>
                  <a:srgbClr val="5A6472"/>
                </a:solidFill>
                <a:latin typeface="Amiri" pitchFamily="2" charset="-78"/>
                <a:ea typeface="Amiri" pitchFamily="2" charset="-78"/>
                <a:cs typeface="Amiri" pitchFamily="2" charset="-78"/>
              </a:rPr>
              <a:t>ق</a:t>
            </a:r>
            <a:pPr algn="l" indent="0" marL="0">
              <a:buNone/>
            </a:pPr>
            <a:r>
              <a:rPr lang="en-US" sz="1050" i="1" dirty="0">
                <a:solidFill>
                  <a:srgbClr val="5A6472"/>
                </a:solidFill>
                <a:latin typeface="Calibri" pitchFamily="34" charset="0"/>
                <a:cs typeface="Amiri" pitchFamily="2" charset="-78"/>
              </a:rPr>
              <a:t> two dots at the end.</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فُنْدُق</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library (the sign: m-k-t-b-a)</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 the chunk </a:t>
            </a:r>
            <a:pPr algn="l" indent="0" marL="0">
              <a:buNone/>
            </a:pPr>
            <a:r>
              <a:rPr lang="ar-SA" altLang="en-US" sz="1350" dirty="0">
                <a:solidFill>
                  <a:srgbClr val="5A6472"/>
                </a:solidFill>
                <a:latin typeface="Amiri" pitchFamily="2" charset="-78"/>
                <a:ea typeface="Amiri" pitchFamily="2" charset="-78"/>
                <a:cs typeface="Amiri" pitchFamily="2" charset="-78"/>
              </a:rPr>
              <a:t>مكتب</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مَكْتَبَة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THE SLIP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مَدْخَل</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The sign says </a:t>
            </a:r>
            <a:pPr algn="l" indent="0" marL="0">
              <a:buNone/>
            </a:pPr>
            <a:r>
              <a:rPr lang="ar-SA" altLang="en-US" sz="1700" dirty="0">
                <a:solidFill>
                  <a:srgbClr val="5A6472"/>
                </a:solidFill>
                <a:latin typeface="Amiri" pitchFamily="2" charset="-78"/>
                <a:ea typeface="Amiri" pitchFamily="2" charset="-78"/>
                <a:cs typeface="Amiri" pitchFamily="2" charset="-78"/>
              </a:rPr>
              <a:t>مخرج</a:t>
            </a:r>
            <a:pPr algn="l" indent="0" marL="0">
              <a:buNone/>
            </a:pPr>
            <a:r>
              <a:rPr lang="en-US" sz="1300" i="1" dirty="0">
                <a:solidFill>
                  <a:srgbClr val="5A6472"/>
                </a:solidFill>
                <a:latin typeface="Calibri" pitchFamily="34" charset="0"/>
                <a:cs typeface="Amiri" pitchFamily="2" charset="-78"/>
              </a:rPr>
              <a:t> — check the letters.</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مَسْجِل</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The sign is </a:t>
            </a:r>
            <a:pPr algn="l" indent="0" marL="0">
              <a:buNone/>
            </a:pPr>
            <a:r>
              <a:rPr lang="ar-SA" altLang="en-US" sz="1700" dirty="0">
                <a:solidFill>
                  <a:srgbClr val="5A6472"/>
                </a:solidFill>
                <a:latin typeface="Amiri" pitchFamily="2" charset="-78"/>
                <a:ea typeface="Amiri" pitchFamily="2" charset="-78"/>
                <a:cs typeface="Amiri" pitchFamily="2" charset="-78"/>
              </a:rPr>
              <a:t>مسجد</a:t>
            </a:r>
            <a:pPr algn="l" indent="0" marL="0">
              <a:buNone/>
            </a:pPr>
            <a:r>
              <a:rPr lang="en-US" sz="1300" i="1" dirty="0">
                <a:solidFill>
                  <a:srgbClr val="5A6472"/>
                </a:solidFill>
                <a:latin typeface="Calibri" pitchFamily="34" charset="0"/>
                <a:cs typeface="Amiri" pitchFamily="2" charset="-78"/>
              </a:rPr>
              <a:t> — what is the last letter?</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بِنْت</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The sign is </a:t>
            </a:r>
            <a:pPr algn="l" indent="0" marL="0">
              <a:buNone/>
            </a:pPr>
            <a:r>
              <a:rPr lang="ar-SA" altLang="en-US" sz="1700" dirty="0">
                <a:solidFill>
                  <a:srgbClr val="5A6472"/>
                </a:solidFill>
                <a:latin typeface="Amiri" pitchFamily="2" charset="-78"/>
                <a:ea typeface="Amiri" pitchFamily="2" charset="-78"/>
                <a:cs typeface="Amiri" pitchFamily="2" charset="-78"/>
              </a:rPr>
              <a:t>بنك</a:t>
            </a:r>
            <a:pPr algn="l" indent="0" marL="0">
              <a:buNone/>
            </a:pPr>
            <a:r>
              <a:rPr lang="en-US" sz="1300" i="1" dirty="0">
                <a:solidFill>
                  <a:srgbClr val="5A6472"/>
                </a:solidFill>
                <a:latin typeface="Calibri" pitchFamily="34" charset="0"/>
                <a:cs typeface="Amiri" pitchFamily="2" charset="-78"/>
              </a:rPr>
              <a:t> — check the last letter.</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مَدْخَل</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مَخْرَج</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kh-r-j = going out: exit. </a:t>
            </a:r>
            <a:pPr algn="l" indent="0" marL="0">
              <a:buNone/>
            </a:pPr>
            <a:r>
              <a:rPr lang="ar-SA" altLang="en-US" sz="1500" b="1" dirty="0">
                <a:solidFill>
                  <a:srgbClr val="1B3B6F"/>
                </a:solidFill>
                <a:latin typeface="Amiri" pitchFamily="2" charset="-78"/>
                <a:ea typeface="Amiri" pitchFamily="2" charset="-78"/>
                <a:cs typeface="Amiri" pitchFamily="2" charset="-78"/>
              </a:rPr>
              <a:t>مدخل</a:t>
            </a:r>
            <a:pPr algn="l" indent="0" marL="0">
              <a:buNone/>
            </a:pPr>
            <a:r>
              <a:rPr lang="en-US" sz="1150" b="1" dirty="0">
                <a:solidFill>
                  <a:srgbClr val="1B3B6F"/>
                </a:solidFill>
                <a:latin typeface="Calibri" pitchFamily="34" charset="0"/>
                <a:cs typeface="Amiri" pitchFamily="2" charset="-78"/>
              </a:rPr>
              <a:t> = entrance.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مَسْجِل</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مَسْجِد</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Final </a:t>
            </a:r>
            <a:pPr algn="l" indent="0" marL="0">
              <a:buNone/>
            </a:pPr>
            <a:r>
              <a:rPr lang="ar-SA" altLang="en-US" sz="1500" b="1" dirty="0">
                <a:solidFill>
                  <a:srgbClr val="1B3B6F"/>
                </a:solidFill>
                <a:latin typeface="Amiri" pitchFamily="2" charset="-78"/>
                <a:ea typeface="Amiri" pitchFamily="2" charset="-78"/>
                <a:cs typeface="Amiri" pitchFamily="2" charset="-78"/>
              </a:rPr>
              <a:t>د</a:t>
            </a:r>
            <a:pPr algn="l" indent="0" marL="0">
              <a:buNone/>
            </a:pPr>
            <a:r>
              <a:rPr lang="en-US" sz="1150" b="1" dirty="0">
                <a:solidFill>
                  <a:srgbClr val="1B3B6F"/>
                </a:solidFill>
                <a:latin typeface="Calibri" pitchFamily="34" charset="0"/>
                <a:cs typeface="Amiri" pitchFamily="2" charset="-78"/>
              </a:rPr>
              <a:t>, not </a:t>
            </a:r>
            <a:pPr algn="l" indent="0" marL="0">
              <a:buNone/>
            </a:pPr>
            <a:r>
              <a:rPr lang="ar-SA" altLang="en-US" sz="1500" b="1" dirty="0">
                <a:solidFill>
                  <a:srgbClr val="1B3B6F"/>
                </a:solidFill>
                <a:latin typeface="Amiri" pitchFamily="2" charset="-78"/>
                <a:ea typeface="Amiri" pitchFamily="2" charset="-78"/>
                <a:cs typeface="Amiri" pitchFamily="2" charset="-78"/>
              </a:rPr>
              <a:t>ل</a:t>
            </a:r>
            <a:pPr algn="l" indent="0" marL="0">
              <a:buNone/>
            </a:pPr>
            <a:r>
              <a:rPr lang="en-US" sz="1150" b="1" dirty="0">
                <a:solidFill>
                  <a:srgbClr val="1B3B6F"/>
                </a:solidFill>
                <a:latin typeface="Calibri" pitchFamily="34" charset="0"/>
                <a:cs typeface="Amiri" pitchFamily="2" charset="-78"/>
              </a:rPr>
              <a:t>: masjid — mosque.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بِنْت</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بَنْك</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skeleton ends in </a:t>
            </a:r>
            <a:pPr algn="l" indent="0" marL="0">
              <a:buNone/>
            </a:pPr>
            <a:r>
              <a:rPr lang="ar-SA" altLang="en-US" sz="1500" b="1" dirty="0">
                <a:solidFill>
                  <a:srgbClr val="1B3B6F"/>
                </a:solidFill>
                <a:latin typeface="Amiri" pitchFamily="2" charset="-78"/>
                <a:ea typeface="Amiri" pitchFamily="2" charset="-78"/>
                <a:cs typeface="Amiri" pitchFamily="2" charset="-78"/>
              </a:rPr>
              <a:t>ك</a:t>
            </a:r>
            <a:pPr algn="l" indent="0" marL="0">
              <a:buNone/>
            </a:pPr>
            <a:r>
              <a:rPr lang="en-US" sz="1150" b="1" dirty="0">
                <a:solidFill>
                  <a:srgbClr val="1B3B6F"/>
                </a:solidFill>
                <a:latin typeface="Calibri" pitchFamily="34" charset="0"/>
                <a:cs typeface="Amiri" pitchFamily="2" charset="-78"/>
              </a:rPr>
              <a:t> (kāf), not </a:t>
            </a:r>
            <a:pPr algn="l" indent="0" marL="0">
              <a:buNone/>
            </a:pPr>
            <a:r>
              <a:rPr lang="ar-SA" altLang="en-US" sz="1500" b="1" dirty="0">
                <a:solidFill>
                  <a:srgbClr val="1B3B6F"/>
                </a:solidFill>
                <a:latin typeface="Amiri" pitchFamily="2" charset="-78"/>
                <a:ea typeface="Amiri" pitchFamily="2" charset="-78"/>
                <a:cs typeface="Amiri" pitchFamily="2" charset="-78"/>
              </a:rPr>
              <a:t>ت</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COPY, LISTEN AND WRITE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إِمْلَاءٌ: ١ ______ ٢ ______ ٣ ______</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Dictation — no marks.</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قُرْبَ بَيْتِي: ______ · ______ · ______</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Three real places near your home.</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مطعم ______ مدرسة ______ مسجد</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three signs.</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مَطْعَم ______ مَدْرَسَة ______</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two vowelled forms.</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مدخل ______ مخرج</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the door signs.</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قُرْبَ بَيْتِي: ______</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Near my home: … (one sign).</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مطعم · مدرسة  ·  مستشفى · مسجد  ·  محطة · شارع  ·  بنك · فندق  ·  مكتبة  ·  مدخل · مخرج  ·  مغلق · مفتوح  ·  ال · ة</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Sounds + script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8 · COPY, LISTEN AND WRITE · SIGNS · LABELS · DICTATION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Copy, listen and write: signs in my area</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لَافِتَاتٌ فِي مِنْطَقَتِي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51790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5179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SCRIPT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In your book: • copy the twelve signs WITHOUT marks • under six of them, write the vowelled form • DICTATION: your buddy reads five signs — write them without marks • write three signs for real places near your home (school, mosque, shop …).</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Signs copied without marks — every dot present.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Six vowelled forms added.</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Final letters checked (</a:t>
            </a:r>
            <a:pPr algn="l" indent="0" marL="0">
              <a:buNone/>
            </a:pPr>
            <a:r>
              <a:rPr lang="ar-SA" altLang="en-US" sz="1550" dirty="0">
                <a:solidFill>
                  <a:srgbClr val="1F2A37"/>
                </a:solidFill>
                <a:latin typeface="Amiri" pitchFamily="2" charset="-78"/>
                <a:ea typeface="Amiri" pitchFamily="2" charset="-78"/>
                <a:cs typeface="Amiri" pitchFamily="2" charset="-78"/>
              </a:rPr>
              <a:t>ة</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ى</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د</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Dictation without marks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real signs from your area (Stretch).</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لَافِتَةٌ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sign</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بِلَا تَشْكِيلٍ</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without marks</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 التَّشْكِيلِ</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with marks</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لَسْتُ مُتَأَكِّدًا بَعْدُ</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I’m not sure yet</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every letter from RIGHT to left?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put the dots in the right place, with the right number?</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join letters correctly — and leave a gap after </a:t>
            </a:r>
            <a:pPr algn="l" indent="0" marL="0">
              <a:buNone/>
            </a:pPr>
            <a:r>
              <a:rPr lang="ar-SA" altLang="en-US" sz="1450" dirty="0">
                <a:solidFill>
                  <a:srgbClr val="5A6472"/>
                </a:solidFill>
                <a:latin typeface="Amiri" pitchFamily="2" charset="-78"/>
                <a:ea typeface="Amiri" pitchFamily="2" charset="-78"/>
                <a:cs typeface="Amiri" pitchFamily="2" charset="-78"/>
              </a:rPr>
              <a:t>ا د ذ ر ز و</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the short-vowel marks in the right place?</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the dictation words without looking at the slide?</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READING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Reading card: compare with a strong answer</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كَتَبَ · كُتُب</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kataba (he wrote) · kutub (books) — I’m not sure yet without context.</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كتب</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كَتَبَ الطَّالِبُ الدَّرْسَ</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student wrote the lesson.</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كتب الطالب الدرس</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مَدْرَسَةُ البَنَاتِ</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girls’ school.</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مدرسة البنات</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بَنْك</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bank — one dot below, one above, then kāf.</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بنك</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read every item clearly, from right to left? Read the one you found hardest once more.</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COPY, LISTEN AND WRITE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مطعم · مدرسة · مستشفى · مسجد · محطة · شارع</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بنك · فندق · مكتبة · مدخل · مخرج · مغلق</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مَطْعَم · مَدْرَسَة · مُسْتَشْفَى · مَسْجِد · فُنْدُق · مَكْتَبَة</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إِمْلَاءٌ: مسجد · بنك · مخرج · مكتبة · مغلق</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قُرْبَ بَيْتِي: مدرسة · مسجد · صيدلية</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Lines 1–2: the twelve signs without marks. Line 3: six vowelled forms. Line 4: a dictation of five signs. Line 5: three real places near home (school · mosque · pharmacy).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مستشفى</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مكتبة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مُسْتَشْفَى</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مخرج</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said the sounds of today’s letters clearly.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copied every letter from right to left with the dots in the right place.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read today’s words aloud without stopping.</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writing and I fixed one thing.</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the dictation words without looking.</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F1-L10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F1-L11 · Arabic Around Us</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خَطٌّ وَاحِدٌ، أَصْوَاتٌ كَثِيرَةٌ، ثَقَافَاتٌ كَثِيرَةٌ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Arabic starts on the right — look at the dots, say the sound,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F1-L10 · Practice Room — Read What Is Written: Unvowelled Text</dc:title>
  <dc:subject>PptxGenJS Presentation</dc:subject>
  <dc:creator>Al Madina Online School · Arabic Department</dc:creator>
  <cp:lastModifiedBy>Al Madina Online School · Arabic Department</cp:lastModifiedBy>
  <cp:revision>1</cp:revision>
  <dcterms:created xsi:type="dcterms:W3CDTF">2026-10-26T03:42:47Z</dcterms:created>
  <dcterms:modified xsi:type="dcterms:W3CDTF">2026-10-26T03:42:47Z</dcterms:modified>
</cp:coreProperties>
</file>