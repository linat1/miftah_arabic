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PRACTICE ROOM AT A GLANCE — one combined lesson (speaking, then writing), 55–60 minutes: about 6 minutes in the main room, about 45 minutes in breakout rooms of two or three, about 6 minutes back together.
0–2 Welcome · 2–5 How the room works · ROOMS, Part A Speaking: Step 1 Letter warm-up (5) · Step 2 Say the mini-dialogue (5) · Step 3 Point-and-say cards (7) · Step 4 Reading card (7) · Step 5 Read-aloud race (4) · Part B Writing: Step 6 Build the word (4) · Step 7 Spot the slip (3) · Step 8 Copy, listen and write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F1-L01 (Welcome to Arabic — The Alphabet Family) — new practice tasks built on the lesson’s own word bank and grammar (letter names and sounds (alif · bāʾ · tāʾ · thāʾ · jīm · ḥāʾ · khāʾ); families that share one shape and differ only in dots (ب ت ث · ج ح خ); dot number and position (fawqa / taḥta); writing from right to left).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F1-L01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The dialogue is a routine, not grammar to learn: “What is this letter? — This is … · How many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Speaker reads from the slide; the Coach checks the sound and the direction (right to left). Teacher: listen for the target sounds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changes needed.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Core: copy the letters and words using the frames. Develop: add the dictation — the buddy reads five items from the bank. Stretch: eight dictation items, then write one word for each letter you can. Teacher visits rooms and checks direction and dot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Welcome to Arabic — The Alphabet Family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أَوَّلُ سَبْعَةِ حُرُوفٍ</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sounds-and-script practice with the first seven letters: say names and sounds, act a “what letter is this?” mini-dialogue, do point-and-say cards, read syllables and first words on a reading card, race to read the letter row, then build words from their letters, spot dot slips, and copy, take dictation and label the letters.</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F1-L01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letter warm-up · say the mini-dialogue.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point-and-say cards · reading card · read-aloud race.</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build the word · spot the slip.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points to a letter or word on the slide (or reads the card) and keeps the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says the sound or reads the word aloud, from RIGHT to left. Slowly is fine — clearly is the goal.</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in their OWN book — copying, then dictation;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LETTER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 وَجِدْهُ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Sound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letter NAME or SOUND from the next two slides. The Speaker points to it (or says its number) and says the sound again. The Coach checks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letter names or sounds; Speaker finds each one.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shape and the dots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letters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the Speaker says a word that starts with the letter.</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the letter and say its sound.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its name AND its sound, and how many dots it has.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a word with that letter — at the start, in the middle or at the end.</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seven letters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حُرُوفُ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first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ا</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alif — the first letter</a:t>
            </a:r>
            <a:endParaRPr lang="en-US" sz="1350" dirty="0"/>
          </a:p>
          <a:p>
            <a:pPr indent="0" marL="0">
              <a:buNone/>
            </a:pPr>
            <a:r>
              <a:rPr lang="en-US" sz="1100" i="1" dirty="0">
                <a:solidFill>
                  <a:srgbClr val="5A6472"/>
                </a:solidFill>
                <a:latin typeface="Calibri" pitchFamily="34" charset="0"/>
                <a:cs typeface="Amiri" pitchFamily="2" charset="-78"/>
              </a:rPr>
              <a:t>stands alone · no dots</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أَلِفٌ</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Family 1</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ب</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bāʾ — sound /b/</a:t>
            </a:r>
            <a:endParaRPr lang="en-US" sz="1350" dirty="0"/>
          </a:p>
          <a:p>
            <a:pPr indent="0" marL="0">
              <a:buNone/>
            </a:pPr>
            <a:r>
              <a:rPr lang="en-US" sz="1100" i="1" dirty="0">
                <a:solidFill>
                  <a:srgbClr val="5A6472"/>
                </a:solidFill>
                <a:latin typeface="Calibri" pitchFamily="34" charset="0"/>
                <a:cs typeface="Amiri" pitchFamily="2" charset="-78"/>
              </a:rPr>
              <a:t>ONE dot BELOW</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بَاءٌ</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Family 1</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ت</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tāʾ — sound /t/</a:t>
            </a:r>
            <a:endParaRPr lang="en-US" sz="1350" dirty="0"/>
          </a:p>
          <a:p>
            <a:pPr indent="0" marL="0">
              <a:buNone/>
            </a:pPr>
            <a:r>
              <a:rPr lang="en-US" sz="1100" i="1" dirty="0">
                <a:solidFill>
                  <a:srgbClr val="5A6472"/>
                </a:solidFill>
                <a:latin typeface="Calibri" pitchFamily="34" charset="0"/>
                <a:cs typeface="Amiri" pitchFamily="2" charset="-78"/>
              </a:rPr>
              <a:t>TWO dots ABOVE</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تَاءٌ</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Family 1</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ث</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thāʾ — sound /θ/ (thin)</a:t>
            </a:r>
            <a:endParaRPr lang="en-US" sz="1350" dirty="0"/>
          </a:p>
          <a:p>
            <a:pPr indent="0" marL="0">
              <a:buNone/>
            </a:pPr>
            <a:r>
              <a:rPr lang="en-US" sz="1100" i="1" dirty="0">
                <a:solidFill>
                  <a:srgbClr val="5A6472"/>
                </a:solidFill>
                <a:latin typeface="Calibri" pitchFamily="34" charset="0"/>
                <a:cs typeface="Amiri" pitchFamily="2" charset="-78"/>
              </a:rPr>
              <a:t>THREE dots ABOVE</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ثَاءٌ</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Family 2</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ج</a:t>
            </a:r>
            <a:endParaRPr lang="ar-SA" sz="33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jīm — sound /dʒ/ (jam)</a:t>
            </a:r>
            <a:endParaRPr lang="en-US" sz="1350" dirty="0"/>
          </a:p>
          <a:p>
            <a:pPr indent="0" marL="0">
              <a:buNone/>
            </a:pPr>
            <a:r>
              <a:rPr lang="en-US" sz="1100" i="1" dirty="0">
                <a:solidFill>
                  <a:srgbClr val="5A6472"/>
                </a:solidFill>
                <a:latin typeface="Calibri" pitchFamily="34" charset="0"/>
                <a:cs typeface="Amiri" pitchFamily="2" charset="-78"/>
              </a:rPr>
              <a:t>ONE dot INSIDE / below the bowl</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جِيمٌ</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Family 2</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ح</a:t>
            </a:r>
            <a:endParaRPr lang="ar-SA" sz="33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ḥāʾ — sound /ħ/ (deep breath)</a:t>
            </a:r>
            <a:endParaRPr lang="en-US" sz="1350" dirty="0"/>
          </a:p>
          <a:p>
            <a:pPr indent="0" marL="0">
              <a:buNone/>
            </a:pPr>
            <a:r>
              <a:rPr lang="en-US" sz="1100" i="1" dirty="0">
                <a:solidFill>
                  <a:srgbClr val="5A6472"/>
                </a:solidFill>
                <a:latin typeface="Calibri" pitchFamily="34" charset="0"/>
                <a:cs typeface="Amiri" pitchFamily="2" charset="-78"/>
              </a:rPr>
              <a:t>NO dot</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حَاءٌ</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Letters + first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حُرُوفُ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Family 2</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خ</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khāʾ — sound /x/ (loch)</a:t>
            </a:r>
            <a:endParaRPr lang="en-US" sz="1350" dirty="0"/>
          </a:p>
          <a:p>
            <a:pPr indent="0" marL="0">
              <a:buNone/>
            </a:pPr>
            <a:r>
              <a:rPr lang="en-US" sz="1100" i="1" dirty="0">
                <a:solidFill>
                  <a:srgbClr val="5A6472"/>
                </a:solidFill>
                <a:latin typeface="Calibri" pitchFamily="34" charset="0"/>
                <a:cs typeface="Amiri" pitchFamily="2" charset="-78"/>
              </a:rPr>
              <a:t>ONE dot ABOVE</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خَاءٌ</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أَبٌ</a:t>
            </a:r>
            <a:endParaRPr lang="ar-SA" sz="405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father</a:t>
            </a:r>
            <a:endParaRPr lang="en-US" sz="1350" dirty="0"/>
          </a:p>
          <a:p>
            <a:pPr indent="0" marL="0">
              <a:buNone/>
            </a:pPr>
            <a:r>
              <a:rPr lang="en-US" sz="1100" i="1" dirty="0">
                <a:solidFill>
                  <a:srgbClr val="5A6472"/>
                </a:solidFill>
                <a:latin typeface="Calibri" pitchFamily="34" charset="0"/>
                <a:cs typeface="Amiri" pitchFamily="2" charset="-78"/>
              </a:rPr>
              <a:t>a-bun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بَابٌ</a:t>
            </a:r>
            <a:endParaRPr lang="ar-SA" sz="405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door</a:t>
            </a:r>
            <a:endParaRPr lang="en-US" sz="1350" dirty="0"/>
          </a:p>
          <a:p>
            <a:pPr indent="0" marL="0">
              <a:buNone/>
            </a:pPr>
            <a:r>
              <a:rPr lang="en-US" sz="1100" i="1" dirty="0">
                <a:solidFill>
                  <a:srgbClr val="5A6472"/>
                </a:solidFill>
                <a:latin typeface="Calibri" pitchFamily="34" charset="0"/>
                <a:cs typeface="Amiri" pitchFamily="2" charset="-78"/>
              </a:rPr>
              <a:t>bā-bun</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تَاجٌ</a:t>
            </a:r>
            <a:endParaRPr lang="ar-SA" sz="405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crown</a:t>
            </a:r>
            <a:endParaRPr lang="en-US" sz="1350" dirty="0"/>
          </a:p>
          <a:p>
            <a:pPr indent="0" marL="0">
              <a:buNone/>
            </a:pPr>
            <a:r>
              <a:rPr lang="en-US" sz="1100" i="1" dirty="0">
                <a:solidFill>
                  <a:srgbClr val="5A6472"/>
                </a:solidFill>
                <a:latin typeface="Calibri" pitchFamily="34" charset="0"/>
                <a:cs typeface="Amiri" pitchFamily="2" charset="-78"/>
              </a:rPr>
              <a:t>tā-jun</a:t>
            </a:r>
            <a:endParaRPr lang="en-US" sz="135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1" name="Shape 4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حَبٌّ</a:t>
            </a:r>
            <a:endParaRPr lang="ar-SA" sz="4050" dirty="0"/>
          </a:p>
        </p:txBody>
      </p:sp>
      <p:sp>
        <p:nvSpPr>
          <p:cNvPr id="54" name="Text 5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seeds / grain</a:t>
            </a:r>
            <a:endParaRPr lang="en-US" sz="1350" dirty="0"/>
          </a:p>
          <a:p>
            <a:pPr indent="0" marL="0">
              <a:buNone/>
            </a:pPr>
            <a:r>
              <a:rPr lang="en-US" sz="1100" i="1" dirty="0">
                <a:solidFill>
                  <a:srgbClr val="5A6472"/>
                </a:solidFill>
                <a:latin typeface="Calibri" pitchFamily="34" charset="0"/>
                <a:cs typeface="Amiri" pitchFamily="2" charset="-78"/>
              </a:rPr>
              <a:t>ḥab-bun</a:t>
            </a:r>
            <a:endParaRPr lang="en-US" sz="135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أَخٌ</a:t>
            </a:r>
            <a:endParaRPr lang="ar-SA" sz="405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brother</a:t>
            </a:r>
            <a:endParaRPr lang="en-US" sz="1350" dirty="0"/>
          </a:p>
          <a:p>
            <a:pPr indent="0" marL="0">
              <a:buNone/>
            </a:pPr>
            <a:r>
              <a:rPr lang="en-US" sz="1100" i="1" dirty="0">
                <a:solidFill>
                  <a:srgbClr val="5A6472"/>
                </a:solidFill>
                <a:latin typeface="Calibri" pitchFamily="34" charset="0"/>
                <a:cs typeface="Amiri" pitchFamily="2" charset="-78"/>
              </a:rPr>
              <a:t>a-khun</a:t>
            </a:r>
            <a:endParaRPr lang="en-US" sz="13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MINI-DIALOGUE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letter is this?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 هٰذَا الحَرْفُ؟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 letter? (points to </a:t>
            </a:r>
            <a:pPr algn="l" indent="0" marL="0">
              <a:buNone/>
            </a:pPr>
            <a:r>
              <a:rPr lang="ar-SA" altLang="en-US" sz="1450" dirty="0">
                <a:solidFill>
                  <a:srgbClr val="5A6472"/>
                </a:solidFill>
                <a:latin typeface="Amiri" pitchFamily="2" charset="-78"/>
                <a:ea typeface="Amiri" pitchFamily="2" charset="-78"/>
                <a:cs typeface="Amiri" pitchFamily="2" charset="-78"/>
              </a:rPr>
              <a:t>ب</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هٰذَا الحَرْفُ؟ (ب)</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bāʾ.</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بَاءٌ.</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dots?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نُقْطَةً؟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dot, below.</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نُقْطَةٌ وَاحِدَةٌ، تَحْتَ.</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this? (points to </a:t>
            </a:r>
            <a:pPr algn="l" indent="0" marL="0">
              <a:buNone/>
            </a:pPr>
            <a:r>
              <a:rPr lang="ar-SA" altLang="en-US" sz="1450" dirty="0">
                <a:solidFill>
                  <a:srgbClr val="5A6472"/>
                </a:solidFill>
                <a:latin typeface="Amiri" pitchFamily="2" charset="-78"/>
                <a:ea typeface="Amiri" pitchFamily="2" charset="-78"/>
                <a:cs typeface="Amiri" pitchFamily="2" charset="-78"/>
              </a:rPr>
              <a:t>ت</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وَهٰذَا؟ (ت)</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tāʾ — two dots above.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تَاءٌ — نُقْطَتَانِ فَوْقَ.</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points to ANY of the seven letters; B names it and says where the dots are.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POINT-AND-SAY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Point, say,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a:t>
            </a:r>
            <a:endParaRPr lang="ar-SA" sz="18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بَاءٌ</a:t>
            </a:r>
            <a:endParaRPr lang="ar-SA" sz="1800" dirty="0"/>
          </a:p>
        </p:txBody>
      </p:sp>
      <p:sp>
        <p:nvSpPr>
          <p:cNvPr id="24" name="Text 21"/>
          <p:cNvSpPr txBox="1"/>
          <p:nvPr/>
        </p:nvSpPr>
        <p:spPr>
          <a:xfrm>
            <a:off x="436168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dot BELOW · sound /b/</a:t>
            </a:r>
            <a:endParaRPr lang="en-US" sz="1100" dirty="0"/>
          </a:p>
        </p:txBody>
      </p:sp>
      <p:sp>
        <p:nvSpPr>
          <p:cNvPr id="25" name="Text 22"/>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تَاجٌ</a:t>
            </a:r>
            <a:endParaRPr lang="ar-SA" sz="18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تَاءٌ</a:t>
            </a:r>
            <a:endParaRPr lang="ar-SA" sz="1800" dirty="0"/>
          </a:p>
        </p:txBody>
      </p:sp>
      <p:sp>
        <p:nvSpPr>
          <p:cNvPr id="32" name="Text 29"/>
          <p:cNvSpPr txBox="1"/>
          <p:nvPr/>
        </p:nvSpPr>
        <p:spPr>
          <a:xfrm>
            <a:off x="436168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dots ABOVE · sound /t/</a:t>
            </a:r>
            <a:endParaRPr lang="en-US" sz="1100" dirty="0"/>
          </a:p>
        </p:txBody>
      </p:sp>
      <p:sp>
        <p:nvSpPr>
          <p:cNvPr id="33" name="Text 30"/>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a:t>
            </a:r>
            <a:endParaRPr lang="ar-SA" sz="20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ثَلَاثَةٌ</a:t>
            </a:r>
            <a:endParaRPr lang="ar-SA" sz="18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ثَاءٌ</a:t>
            </a:r>
            <a:endParaRPr lang="ar-SA" sz="1800" dirty="0"/>
          </a:p>
        </p:txBody>
      </p:sp>
      <p:sp>
        <p:nvSpPr>
          <p:cNvPr id="40" name="Text 37"/>
          <p:cNvSpPr txBox="1"/>
          <p:nvPr/>
        </p:nvSpPr>
        <p:spPr>
          <a:xfrm>
            <a:off x="436168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dots above · /θ/ as in thin (word: three)</a:t>
            </a:r>
            <a:endParaRPr lang="en-US" sz="1100" dirty="0"/>
          </a:p>
        </p:txBody>
      </p:sp>
      <p:sp>
        <p:nvSpPr>
          <p:cNvPr id="41" name="Text 38"/>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a:t>
            </a:r>
            <a:endParaRPr lang="ar-SA" sz="20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حَبٌّ</a:t>
            </a:r>
            <a:endParaRPr lang="ar-SA" sz="18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حَاءٌ</a:t>
            </a:r>
            <a:endParaRPr lang="ar-SA" sz="1800" dirty="0"/>
          </a:p>
        </p:txBody>
      </p:sp>
      <p:sp>
        <p:nvSpPr>
          <p:cNvPr id="48" name="Text 45"/>
          <p:cNvSpPr txBox="1"/>
          <p:nvPr/>
        </p:nvSpPr>
        <p:spPr>
          <a:xfrm>
            <a:off x="436168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dot · a deep, breathy /ħ/</a:t>
            </a:r>
            <a:endParaRPr lang="en-US" sz="1100" dirty="0"/>
          </a:p>
        </p:txBody>
      </p:sp>
      <p:sp>
        <p:nvSpPr>
          <p:cNvPr id="49" name="Text 46"/>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ح</a:t>
            </a:r>
            <a:endParaRPr lang="ar-SA" sz="20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a:t>
            </a:r>
            <a:endParaRPr lang="ar-SA" sz="18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خَاءٌ</a:t>
            </a:r>
            <a:endParaRPr lang="ar-SA" sz="1800" dirty="0"/>
          </a:p>
        </p:txBody>
      </p:sp>
      <p:sp>
        <p:nvSpPr>
          <p:cNvPr id="54" name="Text 51"/>
          <p:cNvSpPr txBox="1"/>
          <p:nvPr/>
        </p:nvSpPr>
        <p:spPr>
          <a:xfrm>
            <a:off x="436168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dot ABOVE · /x/ as in loch</a:t>
            </a:r>
            <a:endParaRPr lang="en-US" sz="1100" dirty="0"/>
          </a:p>
        </p:txBody>
      </p:sp>
      <p:sp>
        <p:nvSpPr>
          <p:cNvPr id="55" name="Text 52"/>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خ</a:t>
            </a:r>
            <a:endParaRPr lang="ar-SA" sz="20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does every card. Core: say the sound or read the word. Develop: do the “then” part. Stretch: give your own example with the same letter or mark. Swap after each card.</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Reading card — sounds and first words</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 · bu · bi</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three sounds.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 · بُ · بِ</a:t>
            </a:r>
            <a:endParaRPr lang="ar-SA" sz="20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ja · ḥa · kha</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them; which has no dot?</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جَ · حَ · خَ</a:t>
            </a:r>
            <a:endParaRPr lang="ar-SA" sz="20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 · akh</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both words; say the meaning.</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أَبٌ · أَخٌ</a:t>
            </a:r>
            <a:endParaRPr lang="ar-SA" sz="20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 the dots</a:t>
            </a:r>
            <a:endParaRPr lang="en-US" sz="11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Point to the letter with TWO dots above.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 · ت · ث</a:t>
            </a:r>
            <a:endParaRPr lang="ar-SA" sz="20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reader · Leader = the card holder. Read from RIGHT to left. Task ! is a surprise — the Leader asks it without warning.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السَّطْرَ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Read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read the letter row </a:t>
            </a:r>
            <a:pPr algn="l" indent="0" marL="0">
              <a:buNone/>
            </a:pPr>
            <a:r>
              <a:rPr lang="ar-SA" altLang="en-US" sz="1750" dirty="0">
                <a:solidFill>
                  <a:srgbClr val="1F2A37"/>
                </a:solidFill>
                <a:latin typeface="Amiri" pitchFamily="2" charset="-78"/>
                <a:ea typeface="Amiri" pitchFamily="2" charset="-78"/>
                <a:cs typeface="Amiri" pitchFamily="2" charset="-78"/>
              </a:rPr>
              <a:t>ا ب ت ث ج ح خ</a:t>
            </a:r>
            <a:pPr algn="l" indent="0" marL="0">
              <a:buNone/>
            </a:pPr>
            <a:r>
              <a:rPr lang="en-US" sz="1350" dirty="0">
                <a:solidFill>
                  <a:srgbClr val="1F2A37"/>
                </a:solidFill>
                <a:latin typeface="Calibri" pitchFamily="34" charset="0"/>
                <a:cs typeface="Amiri" pitchFamily="2" charset="-78"/>
              </a:rPr>
              <a:t> (names or sounds), then as many words from the word bank as you can. The Coach counts the correct ones.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seven letter names in order.</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seven sounds, then three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row backwards, starting from khāʾ, then all five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BUILD THE WORD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Build three words from their parts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door — bāb</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crown — tāj</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searched — baḥatha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word: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door — bāb</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 + ā + b: one dot below, twice.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بَابٌ</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crown — tāj</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Two dots above (t); j has its dot below.</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تَاجٌ</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searched — baḥatha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ḥ has NO dot; th has THREE.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بَحَثَ</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THE SLIP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تَابٌ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“door” starts with ONE dot below.</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أَجٌ</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“brother” has “kh” as in loch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تَاخٌ</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“crown” ends in “j”.</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تَابٌ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بَابٌ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ب</a:t>
            </a:r>
            <a:pPr algn="l" indent="0" marL="0">
              <a:buNone/>
            </a:pPr>
            <a:r>
              <a:rPr lang="en-US" sz="1150" b="1" dirty="0">
                <a:solidFill>
                  <a:srgbClr val="1B3B6F"/>
                </a:solidFill>
                <a:latin typeface="Calibri" pitchFamily="34" charset="0"/>
                <a:cs typeface="Amiri" pitchFamily="2" charset="-78"/>
              </a:rPr>
              <a:t> = one dot below; </a:t>
            </a:r>
            <a:pPr algn="l" indent="0" marL="0">
              <a:buNone/>
            </a:pPr>
            <a:r>
              <a:rPr lang="ar-SA" altLang="en-US" sz="1500" b="1" dirty="0">
                <a:solidFill>
                  <a:srgbClr val="1B3B6F"/>
                </a:solidFill>
                <a:latin typeface="Amiri" pitchFamily="2" charset="-78"/>
                <a:ea typeface="Amiri" pitchFamily="2" charset="-78"/>
                <a:cs typeface="Amiri" pitchFamily="2" charset="-78"/>
              </a:rPr>
              <a:t>ت</a:t>
            </a:r>
            <a:pPr algn="l" indent="0" marL="0">
              <a:buNone/>
            </a:pPr>
            <a:r>
              <a:rPr lang="en-US" sz="1150" b="1" dirty="0">
                <a:solidFill>
                  <a:srgbClr val="1B3B6F"/>
                </a:solidFill>
                <a:latin typeface="Calibri" pitchFamily="34" charset="0"/>
                <a:cs typeface="Amiri" pitchFamily="2" charset="-78"/>
              </a:rPr>
              <a:t> = two dots above.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أَجٌ</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خ</a:t>
            </a:r>
            <a:pPr algn="l" indent="0" marL="0">
              <a:buNone/>
            </a:pPr>
            <a:r>
              <a:rPr lang="en-US" sz="1150" b="1" dirty="0">
                <a:solidFill>
                  <a:srgbClr val="1B3B6F"/>
                </a:solidFill>
                <a:latin typeface="Calibri" pitchFamily="34" charset="0"/>
                <a:cs typeface="Amiri" pitchFamily="2" charset="-78"/>
              </a:rPr>
              <a:t> has its dot ABOVE; </a:t>
            </a:r>
            <a:pPr algn="l" indent="0" marL="0">
              <a:buNone/>
            </a:pPr>
            <a:r>
              <a:rPr lang="ar-SA" altLang="en-US" sz="1500" b="1" dirty="0">
                <a:solidFill>
                  <a:srgbClr val="1B3B6F"/>
                </a:solidFill>
                <a:latin typeface="Amiri" pitchFamily="2" charset="-78"/>
                <a:ea typeface="Amiri" pitchFamily="2" charset="-78"/>
                <a:cs typeface="Amiri" pitchFamily="2" charset="-78"/>
              </a:rPr>
              <a:t>ج</a:t>
            </a:r>
            <a:pPr algn="l" indent="0" marL="0">
              <a:buNone/>
            </a:pPr>
            <a:r>
              <a:rPr lang="en-US" sz="1150" b="1" dirty="0">
                <a:solidFill>
                  <a:srgbClr val="1B3B6F"/>
                </a:solidFill>
                <a:latin typeface="Calibri" pitchFamily="34" charset="0"/>
                <a:cs typeface="Amiri" pitchFamily="2" charset="-78"/>
              </a:rPr>
              <a:t> has it below.</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تَاخٌ</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تَاجٌ</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jīm (</a:t>
            </a:r>
            <a:pPr algn="l" indent="0" marL="0">
              <a:buNone/>
            </a:pPr>
            <a:r>
              <a:rPr lang="ar-SA" altLang="en-US" sz="1500" b="1" dirty="0">
                <a:solidFill>
                  <a:srgbClr val="1B3B6F"/>
                </a:solidFill>
                <a:latin typeface="Amiri" pitchFamily="2" charset="-78"/>
                <a:ea typeface="Amiri" pitchFamily="2" charset="-78"/>
                <a:cs typeface="Amiri" pitchFamily="2" charset="-78"/>
              </a:rPr>
              <a:t>ج</a:t>
            </a:r>
            <a:pPr algn="l" indent="0" marL="0">
              <a:buNone/>
            </a:pPr>
            <a:r>
              <a:rPr lang="en-US" sz="1150" b="1" dirty="0">
                <a:solidFill>
                  <a:srgbClr val="1B3B6F"/>
                </a:solidFill>
                <a:latin typeface="Calibri" pitchFamily="34" charset="0"/>
                <a:cs typeface="Amiri" pitchFamily="2" charset="-78"/>
              </a:rPr>
              <a:t>) — dot below, inside the curve.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 ______ بُ ______ بِ ______</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then say: ba · bu · bi.</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 ١ ______ ٢ ______ ٣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Dictation: write what your buddy says.</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 ______ ا ______ ا</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alif three times (top to bottom).</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 ______ ت ______ ث</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a:t>
            </a:r>
            <a:pPr algn="l" indent="0" marL="0">
              <a:buNone/>
            </a:pPr>
            <a:r>
              <a:rPr lang="ar-SA" altLang="en-US" sz="1350" dirty="0">
                <a:solidFill>
                  <a:srgbClr val="5A6472"/>
                </a:solidFill>
                <a:latin typeface="Amiri" pitchFamily="2" charset="-78"/>
                <a:ea typeface="Amiri" pitchFamily="2" charset="-78"/>
                <a:cs typeface="Amiri" pitchFamily="2" charset="-78"/>
              </a:rPr>
              <a:t>ب</a:t>
            </a:r>
            <a:pPr algn="l" indent="0" marL="0">
              <a:buNone/>
            </a:pPr>
            <a:r>
              <a:rPr lang="en-US" sz="1050" i="1" dirty="0">
                <a:solidFill>
                  <a:srgbClr val="5A6472"/>
                </a:solidFill>
                <a:latin typeface="Calibri" pitchFamily="34" charset="0"/>
                <a:cs typeface="Amiri" pitchFamily="2" charset="-78"/>
              </a:rPr>
              <a:t> family — check the dots.</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 ______ ح ______ خ</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a:t>
            </a:r>
            <a:pPr algn="l" indent="0" marL="0">
              <a:buNone/>
            </a:pPr>
            <a:r>
              <a:rPr lang="ar-SA" altLang="en-US" sz="1350" dirty="0">
                <a:solidFill>
                  <a:srgbClr val="5A6472"/>
                </a:solidFill>
                <a:latin typeface="Amiri" pitchFamily="2" charset="-78"/>
                <a:ea typeface="Amiri" pitchFamily="2" charset="-78"/>
                <a:cs typeface="Amiri" pitchFamily="2" charset="-78"/>
              </a:rPr>
              <a:t>ج</a:t>
            </a:r>
            <a:pPr algn="l" indent="0" marL="0">
              <a:buNone/>
            </a:pPr>
            <a:r>
              <a:rPr lang="en-US" sz="1050" i="1" dirty="0">
                <a:solidFill>
                  <a:srgbClr val="5A6472"/>
                </a:solidFill>
                <a:latin typeface="Calibri" pitchFamily="34" charset="0"/>
                <a:cs typeface="Amiri" pitchFamily="2" charset="-78"/>
              </a:rPr>
              <a:t> family — check the dots.</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بَابٌ ______ تَاجٌ ______</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two words.</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  ·  ب · ت · ث  ·  ج · ح · خ  ·  أَبٌ  ·  بَابٌ  ·  تَاجٌ  ·  حَبٌّ  ·  أَخٌ</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COPY · DICTATION · LABELS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Copy, listen and write: my first seven letters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In your book: • copy the seven letters in order, three times each, from right to left • copy the five words from the word bank • DICTATION: your buddy reads five letters or words from the bank — write them without looking • label each letter with its name.</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letter written from right to left.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Dots: the right number, in the right place.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Each letter labelled with its name.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Dictation: five items without looking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 · ب · ت · ث</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alif · bāʾ · tāʾ · thāʾ</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 · ح · خ</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jīm · ḥāʾ · khāʾ</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نُقْطَةٌ · نُقْطَتَانِ · ثَلَاثُ نُقَاطٍ</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dot · two dots · three dots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فَوْقَ · تَحْتَ</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above · below</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every letter from RIGHT to left?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the dots in the right place, with the right number?</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letters correctly — and leave a gap after </a:t>
            </a:r>
            <a:pPr algn="l" indent="0" marL="0">
              <a:buNone/>
            </a:pPr>
            <a:r>
              <a:rPr lang="ar-SA" altLang="en-US" sz="1450" dirty="0">
                <a:solidFill>
                  <a:srgbClr val="5A6472"/>
                </a:solidFill>
                <a:latin typeface="Amiri" pitchFamily="2" charset="-78"/>
                <a:ea typeface="Amiri" pitchFamily="2" charset="-78"/>
                <a:cs typeface="Amiri" pitchFamily="2" charset="-78"/>
              </a:rPr>
              <a:t>ا د ذ ر ز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the short-vowel marks in the right place?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dictation words without looking at the slide?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 · بُ · بِ</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ba · bu · bi — the mark changes the vowel.</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 · بُ · بِ</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 · حَ · خَ</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ja · ḥa · kha — the middle one (ḥāʾ) has no dot.</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 · حَ · خَ</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 · أَخٌ</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ab (father) · akh (brother).</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أَبٌ · أَخٌ</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 — تَاءٌ</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tāʾ — two dots above.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 · ت · ث</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read every item clearly, from right to left? Read the one you found hardest once more.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 ب ت ث ج ح خ</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أَبٌ · بَابٌ · تَاجٌ · حَبٌّ · أَخٌ</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إِمْلَاءٌ: بَ · خَ · ثَ · بَحَثَ · أَخٌ</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 1: the seven letters in order, right to left. Line 2: the five words from the bank. Line 3: a dictation of five items (three sounds and two words).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 ب ت ث</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بَابٌ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تَاجٌ</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بَحَثَ</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F1-L01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of today’s letters clearly.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today’s words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F1-L02 · New Letter Families &amp; Connection Breakers</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الحُرُوفُ مِنْ ٨ إِلَى ١٤</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Arabic starts on the right — look at the dots, say the sound,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F1-L01 · Practice Room — Welcome to Arabic — The Alphabet Family</dc:title>
  <dc:subject>PptxGenJS Presentation</dc:subject>
  <dc:creator>Al Madina Online School · Arabic Department</dc:creator>
  <cp:lastModifiedBy>Al Madina Online School · Arabic Department</cp:lastModifiedBy>
  <cp:revision>1</cp:revision>
  <dcterms:created xsi:type="dcterms:W3CDTF">2026-10-26T03:38:09Z</dcterms:created>
  <dcterms:modified xsi:type="dcterms:W3CDTF">2026-10-26T03:38:09Z</dcterms:modified>
</cp:coreProperties>
</file>