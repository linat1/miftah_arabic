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F1-L03 (Powerful Sounds &amp; Long Vowels) — new practice tasks built on the lesson’s own word bank and grammar (eight new letters (ḍād · ṭāʾ · ẓāʾ · ʿayn · ghayn · fāʾ · qāf · kāf); plain vs emphatic pairs (د/ض · ت/ط · ذ/ظ · س/ص · ك/ق); the three long vowels made with ا و ي (bā · bū · bī)).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8 (10 min). Core: copy letters, long-vowel sets and words with the frames. Develop: long-vowel sets for three letters + a five-item dictation. Stretch: dictation of plain/heavy pairs (سَ صَ · تَ طَ · كَ قَ). Teacher listens for ʿayn and qāf and checks the dots of ف and 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Powerful Sounds &amp; Long Vowels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أَصْوَاتٌ قَوِيَّةٌ وَالمَدُّ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sounds-and-script practice with eight new letters and the long vowels: say names and sounds, act a plain-or-heavy mini-dialogue, do point-and-say cards, read long vowels and words on a reading card, race to read the row, then build words, spot slips, and copy, take dictation and label.</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F1-L03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Sound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letter NAME or SOUND from the next two slides. The Speaker points to it (or says its number) and says the sound again. The Coach checks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letter names or sounds; Speaker finds each one.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shape and the dots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letters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the Speaker says a word that starts with the letter.</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letter and say its sound.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its name AND its sound, and how many dots it has.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a word with that letter — at the start, in the middle or at the end.</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Eight new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emphatic</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ض</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ḍād — emphatic /dˤ/</a:t>
            </a:r>
            <a:endParaRPr lang="en-US" sz="1350" dirty="0"/>
          </a:p>
          <a:p>
            <a:pPr indent="0" marL="0">
              <a:buNone/>
            </a:pPr>
            <a:r>
              <a:rPr lang="en-US" sz="1100" i="1" dirty="0">
                <a:solidFill>
                  <a:srgbClr val="5A6472"/>
                </a:solidFill>
                <a:latin typeface="Calibri" pitchFamily="34" charset="0"/>
                <a:cs typeface="Amiri" pitchFamily="2" charset="-78"/>
              </a:rPr>
              <a:t>ONE dot above · connector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ضَادٌ</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emphatic</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ط</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ṭāʾ — emphatic /tˤ/</a:t>
            </a:r>
            <a:endParaRPr lang="en-US" sz="1350" dirty="0"/>
          </a:p>
          <a:p>
            <a:pPr indent="0" marL="0">
              <a:buNone/>
            </a:pPr>
            <a:r>
              <a:rPr lang="en-US" sz="1100" i="1" dirty="0">
                <a:solidFill>
                  <a:srgbClr val="5A6472"/>
                </a:solidFill>
                <a:latin typeface="Calibri" pitchFamily="34" charset="0"/>
                <a:cs typeface="Amiri" pitchFamily="2" charset="-78"/>
              </a:rPr>
              <a:t>no dot · connector</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طَاءٌ</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emphatic</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ظ</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ẓāʾ — emphatic /ðˤ/</a:t>
            </a:r>
            <a:endParaRPr lang="en-US" sz="1350" dirty="0"/>
          </a:p>
          <a:p>
            <a:pPr indent="0" marL="0">
              <a:buNone/>
            </a:pPr>
            <a:r>
              <a:rPr lang="en-US" sz="1100" i="1" dirty="0">
                <a:solidFill>
                  <a:srgbClr val="5A6472"/>
                </a:solidFill>
                <a:latin typeface="Calibri" pitchFamily="34" charset="0"/>
                <a:cs typeface="Amiri" pitchFamily="2" charset="-78"/>
              </a:rPr>
              <a:t>ONE dot above · connector</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ظَاءٌ</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ʿayn family</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ع</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ʿayn — /ʕ/ (voiced, from the throat)</a:t>
            </a:r>
            <a:endParaRPr lang="en-US" sz="1350" dirty="0"/>
          </a:p>
          <a:p>
            <a:pPr indent="0" marL="0">
              <a:buNone/>
            </a:pPr>
            <a:r>
              <a:rPr lang="en-US" sz="1100" i="1" dirty="0">
                <a:solidFill>
                  <a:srgbClr val="5A6472"/>
                </a:solidFill>
                <a:latin typeface="Calibri" pitchFamily="34" charset="0"/>
                <a:cs typeface="Amiri" pitchFamily="2" charset="-78"/>
              </a:rPr>
              <a:t>no dot</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عَيْنٌ</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ʿayn family</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غ</a:t>
            </a:r>
            <a:endParaRPr lang="ar-SA" sz="33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ghayn — /ɣ/ (like a voiced خ)</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غَيْنٌ</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fāʾ / qāf</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ف</a:t>
            </a:r>
            <a:endParaRPr lang="ar-SA" sz="33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fāʾ — /f/</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فَاءٌ</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Words with long vowels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fāʾ / qāf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ق</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qāf — /q/ (deep k)</a:t>
            </a:r>
            <a:endParaRPr lang="en-US" sz="1350" dirty="0"/>
          </a:p>
          <a:p>
            <a:pPr indent="0" marL="0">
              <a:buNone/>
            </a:pPr>
            <a:r>
              <a:rPr lang="en-US" sz="1100" i="1" dirty="0">
                <a:solidFill>
                  <a:srgbClr val="5A6472"/>
                </a:solidFill>
                <a:latin typeface="Calibri" pitchFamily="34" charset="0"/>
                <a:cs typeface="Amiri" pitchFamily="2" charset="-78"/>
              </a:rPr>
              <a:t>TWO dots above</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قَافٌ</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kāf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ك</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kāf — /k/</a:t>
            </a:r>
            <a:endParaRPr lang="en-US" sz="1350" dirty="0"/>
          </a:p>
          <a:p>
            <a:pPr indent="0" marL="0">
              <a:buNone/>
            </a:pPr>
            <a:r>
              <a:rPr lang="en-US" sz="1100" i="1" dirty="0">
                <a:solidFill>
                  <a:srgbClr val="5A6472"/>
                </a:solidFill>
                <a:latin typeface="Calibri" pitchFamily="34" charset="0"/>
                <a:cs typeface="Amiri" pitchFamily="2" charset="-78"/>
              </a:rPr>
              <a:t>kāf mark inside</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كَافٌ</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كِتَابٌ</a:t>
            </a:r>
            <a:endParaRPr lang="ar-SA" sz="4050" dirty="0"/>
          </a:p>
        </p:txBody>
      </p:sp>
      <p:sp>
        <p:nvSpPr>
          <p:cNvPr id="45" name="Text 4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a:t>
            </a:r>
            <a:endParaRPr lang="en-US" sz="1350" dirty="0"/>
          </a:p>
          <a:p>
            <a:pPr indent="0" marL="0">
              <a:buNone/>
            </a:pPr>
            <a:r>
              <a:rPr lang="en-US" sz="1100" i="1" dirty="0">
                <a:solidFill>
                  <a:srgbClr val="5A6472"/>
                </a:solidFill>
                <a:latin typeface="Calibri" pitchFamily="34" charset="0"/>
                <a:cs typeface="Amiri" pitchFamily="2" charset="-78"/>
              </a:rPr>
              <a:t>ki-tā-bun</a:t>
            </a:r>
            <a:endParaRPr lang="en-US" sz="135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طَبِيبٌ</a:t>
            </a:r>
            <a:endParaRPr lang="ar-SA" sz="405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a:t>
            </a:r>
            <a:endParaRPr lang="en-US" sz="1350" dirty="0"/>
          </a:p>
          <a:p>
            <a:pPr indent="0" marL="0">
              <a:buNone/>
            </a:pPr>
            <a:r>
              <a:rPr lang="en-US" sz="1100" i="1" dirty="0">
                <a:solidFill>
                  <a:srgbClr val="5A6472"/>
                </a:solidFill>
                <a:latin typeface="Calibri" pitchFamily="34" charset="0"/>
                <a:cs typeface="Amiri" pitchFamily="2" charset="-78"/>
              </a:rPr>
              <a:t>ṭa-bī-bun</a:t>
            </a:r>
            <a:endParaRPr lang="en-US" sz="135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صَدِيقٌ</a:t>
            </a:r>
            <a:endParaRPr lang="ar-SA" sz="405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a:t>
            </a:r>
            <a:endParaRPr lang="en-US" sz="1350" dirty="0"/>
          </a:p>
          <a:p>
            <a:pPr indent="0" marL="0">
              <a:buNone/>
            </a:pPr>
            <a:r>
              <a:rPr lang="en-US" sz="1100" i="1" dirty="0">
                <a:solidFill>
                  <a:srgbClr val="5A6472"/>
                </a:solidFill>
                <a:latin typeface="Calibri" pitchFamily="34" charset="0"/>
                <a:cs typeface="Amiri" pitchFamily="2" charset="-78"/>
              </a:rPr>
              <a:t>ṣa-dī-qun</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3" name="Shape 6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سُوقٌ</a:t>
            </a:r>
            <a:endParaRPr lang="ar-SA" sz="405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market</a:t>
            </a:r>
            <a:endParaRPr lang="en-US" sz="1350" dirty="0"/>
          </a:p>
          <a:p>
            <a:pPr indent="0" marL="0">
              <a:buNone/>
            </a:pPr>
            <a:r>
              <a:rPr lang="en-US" sz="1100" i="1" dirty="0">
                <a:solidFill>
                  <a:srgbClr val="5A6472"/>
                </a:solidFill>
                <a:latin typeface="Calibri" pitchFamily="34" charset="0"/>
                <a:cs typeface="Amiri" pitchFamily="2" charset="-78"/>
              </a:rPr>
              <a:t>sū-qun</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Plain or heavy?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خَفِيفٌ أَمْ ثَقِيلٌ؟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 “ta” … “ṭa”.</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اسْمَعْ: «تَ» … «طَ».</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“ṭa” is heavy — ṭāʾ.</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 ثَقِيلٌ — الطَّاءُ.</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“ka” … “qa”?</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 … «قَ»؟</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“qa” comes from the back of the mouth — qāf.</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 مِنْ آخِرِ الفَمِ — القَافُ.</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bā · bū · bī.</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اقْرَأْ: بَا · بُو · بِي.</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bā · bū · bī — a long sound!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بَا · بُو · بِي — صَوْتٌ طَوِيلٌ!</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says a plain or heavy sound (</a:t>
            </a:r>
            <a:pPr algn="l" indent="0" marL="0">
              <a:buNone/>
            </a:pPr>
            <a:r>
              <a:rPr lang="ar-SA" altLang="en-US" sz="1500" b="1" dirty="0">
                <a:solidFill>
                  <a:srgbClr val="1B3B6F"/>
                </a:solidFill>
                <a:latin typeface="Amiri" pitchFamily="2" charset="-78"/>
                <a:ea typeface="Amiri" pitchFamily="2" charset="-78"/>
                <a:cs typeface="Amiri" pitchFamily="2" charset="-78"/>
              </a:rPr>
              <a:t>س/ص</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د/ض</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ت/ط</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ك/ق</a:t>
            </a:r>
            <a:pPr algn="l" indent="0" marL="0">
              <a:buNone/>
            </a:pPr>
            <a:r>
              <a:rPr lang="en-US" sz="1150" b="1" dirty="0">
                <a:solidFill>
                  <a:srgbClr val="1B3B6F"/>
                </a:solidFill>
                <a:latin typeface="Calibri" pitchFamily="34" charset="0"/>
                <a:cs typeface="Amiri" pitchFamily="2" charset="-78"/>
              </a:rPr>
              <a:t>); B says “plain” or “heavy” and names the letter.</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Point, say,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طَبِيبٌ</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طَاءٌ</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heavy t · compare </a:t>
            </a:r>
            <a:pPr algn="l" indent="0" marL="0">
              <a:buNone/>
            </a:pPr>
            <a:r>
              <a:rPr lang="ar-SA" altLang="en-US" sz="1450" dirty="0">
                <a:solidFill>
                  <a:srgbClr val="5A6472"/>
                </a:solidFill>
                <a:latin typeface="Amiri" pitchFamily="2" charset="-78"/>
                <a:ea typeface="Amiri" pitchFamily="2" charset="-78"/>
                <a:cs typeface="Amiri" pitchFamily="2" charset="-78"/>
              </a:rPr>
              <a:t>ت</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the throat · no English sound (word: juice)</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غَابَ</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غَيْنٌ</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like a gargled r · dot above (word: he was absent)</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سُوقٌ</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قَافٌ</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deep k · two dots above</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فِيلٌ</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فَاءٌ</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 one dot above (word: elephant)</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does every card. Core: say the sound or read the word. Develop: do the “then” part. Stretch: give your own example with the same letter or mark. Swap after each card.</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card — long and short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ka · kā</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short, then long.</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 · كَا</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 · qū · qi · qī</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four sounds.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 · قُو · قِ · قِي</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 for </a:t>
            </a:r>
            <a:pPr algn="l" indent="0" marL="0">
              <a:buNone/>
            </a:pPr>
            <a:r>
              <a:rPr lang="ar-SA" altLang="en-US" sz="1450" dirty="0">
                <a:solidFill>
                  <a:srgbClr val="5A6472"/>
                </a:solidFill>
                <a:latin typeface="Amiri" pitchFamily="2" charset="-78"/>
                <a:ea typeface="Amiri" pitchFamily="2" charset="-78"/>
                <a:cs typeface="Amiri" pitchFamily="2" charset="-78"/>
              </a:rPr>
              <a:t>ا</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ي</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both words; find the long vowels.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كِتَابٌ · طَبِيبٌ</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 for </a:t>
            </a:r>
            <a:pPr algn="l" indent="0" marL="0">
              <a:buNone/>
            </a:pPr>
            <a:r>
              <a:rPr lang="ar-SA" altLang="en-US" sz="1450" dirty="0">
                <a:solidFill>
                  <a:srgbClr val="5A6472"/>
                </a:solidFill>
                <a:latin typeface="Amiri" pitchFamily="2" charset="-78"/>
                <a:ea typeface="Amiri" pitchFamily="2" charset="-78"/>
                <a:cs typeface="Amiri" pitchFamily="2" charset="-78"/>
              </a:rPr>
              <a:t>و</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long vowel? Read it.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سُوقٌ</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السَّطْرَ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the new row </a:t>
            </a:r>
            <a:pPr algn="l" indent="0" marL="0">
              <a:buNone/>
            </a:pPr>
            <a:r>
              <a:rPr lang="ar-SA" altLang="en-US" sz="1750" dirty="0">
                <a:solidFill>
                  <a:srgbClr val="1F2A37"/>
                </a:solidFill>
                <a:latin typeface="Amiri" pitchFamily="2" charset="-78"/>
                <a:ea typeface="Amiri" pitchFamily="2" charset="-78"/>
                <a:cs typeface="Amiri" pitchFamily="2" charset="-78"/>
              </a:rPr>
              <a:t>ض ط ظ ع غ ف ق ك</a:t>
            </a:r>
            <a:pPr algn="l" indent="0" marL="0">
              <a:buNone/>
            </a:pPr>
            <a:r>
              <a:rPr lang="en-US" sz="1350" dirty="0">
                <a:solidFill>
                  <a:srgbClr val="1F2A37"/>
                </a:solidFill>
                <a:latin typeface="Calibri" pitchFamily="34" charset="0"/>
                <a:cs typeface="Amiri" pitchFamily="2" charset="-78"/>
              </a:rPr>
              <a:t> by name or sound, then bā · bū · bī with five different letters (tā tū tī …). The Coach counts the correct ones.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eight new letter names in order.</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eight sounds, then three long-vowel sets.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five words from the bank and say each long vowel.</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Build three words from their parts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book — kitāb</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doctor — ṭabīb</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بُو</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friend — ṣadīq</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book — kitāb</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plain k and plain t; long ā = alif.</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كِتَابٌ</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doctor — ṭabīb</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heavy ṭ; long ī = yāʾ.</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طَبِيبٌ</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friend — ṣadīq</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heavy ṣ; long ī; deep q.</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صَدِيقٌ</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تَبِيبٌ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“doctor” starts with a HEAVY 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كِتَبٌ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“book” has a LONG 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سُقٌ</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“market” has a long ū.</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تَبِيبٌ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طَبِيبٌ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ط</a:t>
            </a:r>
            <a:pPr algn="l" indent="0" marL="0">
              <a:buNone/>
            </a:pPr>
            <a:r>
              <a:rPr lang="en-US" sz="1150" b="1" dirty="0">
                <a:solidFill>
                  <a:srgbClr val="1B3B6F"/>
                </a:solidFill>
                <a:latin typeface="Calibri" pitchFamily="34" charset="0"/>
                <a:cs typeface="Amiri" pitchFamily="2" charset="-78"/>
              </a:rPr>
              <a:t> is the emphatic 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كِتَبٌ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كِتَابٌ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Long ā needs an alif.</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سُقٌ</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سُوقٌ</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Long ū needs a wāw.</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 ______ قُو ______ قِي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Write the long vowels for qāf.</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write what your buddy says.</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ض ______ ط ______ ظ</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heavy letters.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 ______ غ ______ ف ______ ق ______ ك</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other five.</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 ______ بُو ______ بِي</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long vowels.</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كِتَابٌ ______ سُوقٌ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words; circle the long vowel.</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 · ط · ظ  ·  ع · غ  ·  ف · ق · ك  ·  بَا · بُو · بِي  ·  كِتَابٌ  ·  طَبِيبٌ  ·  صَدِيقٌ  ·  سُوقٌ</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COPY · DICTATION · LABELS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Copy, listen and write: powerful sounds and long vowels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الحُرُوفَ وَالمَدَّ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In your book: • copy </a:t>
            </a:r>
            <a:pPr algn="l" indent="0" marL="0">
              <a:buNone/>
            </a:pPr>
            <a:r>
              <a:rPr lang="ar-SA" altLang="en-US" sz="1700" b="1" dirty="0">
                <a:solidFill>
                  <a:srgbClr val="1F2A37"/>
                </a:solidFill>
                <a:latin typeface="Amiri" pitchFamily="2" charset="-78"/>
                <a:ea typeface="Amiri" pitchFamily="2" charset="-78"/>
                <a:cs typeface="Amiri" pitchFamily="2" charset="-78"/>
              </a:rPr>
              <a:t>ض ط ظ ع غ ف ق ك</a:t>
            </a:r>
            <a:pPr algn="l" indent="0" marL="0">
              <a:buNone/>
            </a:pPr>
            <a:r>
              <a:rPr lang="en-US" sz="1300" b="1" dirty="0">
                <a:solidFill>
                  <a:srgbClr val="1F2A37"/>
                </a:solidFill>
                <a:latin typeface="Calibri" pitchFamily="34" charset="0"/>
                <a:cs typeface="Amiri" pitchFamily="2" charset="-78"/>
              </a:rPr>
              <a:t> three times each, right to left • write the long-vowel sets for three letters (</a:t>
            </a:r>
            <a:pPr algn="l" indent="0" marL="0">
              <a:buNone/>
            </a:pPr>
            <a:r>
              <a:rPr lang="ar-SA" altLang="en-US" sz="1700" b="1" dirty="0">
                <a:solidFill>
                  <a:srgbClr val="1F2A37"/>
                </a:solidFill>
                <a:latin typeface="Amiri" pitchFamily="2" charset="-78"/>
                <a:ea typeface="Amiri" pitchFamily="2" charset="-78"/>
                <a:cs typeface="Amiri" pitchFamily="2" charset="-78"/>
              </a:rPr>
              <a:t>كَا كُو كِي</a:t>
            </a:r>
            <a:pPr algn="l" indent="0" marL="0">
              <a:buNone/>
            </a:pPr>
            <a:r>
              <a:rPr lang="en-US" sz="1300" b="1" dirty="0">
                <a:solidFill>
                  <a:srgbClr val="1F2A37"/>
                </a:solidFill>
                <a:latin typeface="Calibri" pitchFamily="34" charset="0"/>
                <a:cs typeface="Amiri" pitchFamily="2" charset="-78"/>
              </a:rPr>
              <a:t> …) • copy the four words and circle the long vowel in each • DICTATION: your buddy reads five items — write them without looking.</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letter from right to left.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Dots: right number, right place (</a:t>
            </a:r>
            <a:pPr algn="l" indent="0" marL="0">
              <a:buNone/>
            </a:pPr>
            <a:r>
              <a:rPr lang="ar-SA" altLang="en-US" sz="1550" dirty="0">
                <a:solidFill>
                  <a:srgbClr val="1F2A37"/>
                </a:solidFill>
                <a:latin typeface="Amiri" pitchFamily="2" charset="-78"/>
                <a:ea typeface="Amiri" pitchFamily="2" charset="-78"/>
                <a:cs typeface="Amiri" pitchFamily="2" charset="-78"/>
              </a:rPr>
              <a:t>ف</a:t>
            </a:r>
            <a:pPr algn="l" indent="0" marL="0">
              <a:buNone/>
            </a:pPr>
            <a:r>
              <a:rPr lang="en-US" sz="1200" dirty="0">
                <a:solidFill>
                  <a:srgbClr val="1F2A37"/>
                </a:solidFill>
                <a:latin typeface="Calibri" pitchFamily="34" charset="0"/>
                <a:cs typeface="Amiri" pitchFamily="2" charset="-78"/>
              </a:rPr>
              <a:t> one · </a:t>
            </a:r>
            <a:pPr algn="l" indent="0" marL="0">
              <a:buNone/>
            </a:pPr>
            <a:r>
              <a:rPr lang="ar-SA" altLang="en-US" sz="1550" dirty="0">
                <a:solidFill>
                  <a:srgbClr val="1F2A37"/>
                </a:solidFill>
                <a:latin typeface="Amiri" pitchFamily="2" charset="-78"/>
                <a:ea typeface="Amiri" pitchFamily="2" charset="-78"/>
                <a:cs typeface="Amiri" pitchFamily="2" charset="-78"/>
              </a:rPr>
              <a:t>ق</a:t>
            </a:r>
            <a:pPr algn="l" indent="0" marL="0">
              <a:buNone/>
            </a:pPr>
            <a:r>
              <a:rPr lang="en-US" sz="1200" dirty="0">
                <a:solidFill>
                  <a:srgbClr val="1F2A37"/>
                </a:solidFill>
                <a:latin typeface="Calibri" pitchFamily="34" charset="0"/>
                <a:cs typeface="Amiri" pitchFamily="2" charset="-78"/>
              </a:rPr>
              <a:t> two).</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Long vowels written with </a:t>
            </a:r>
            <a:pPr algn="l" indent="0" marL="0">
              <a:buNone/>
            </a:pPr>
            <a:r>
              <a:rPr lang="ar-SA" altLang="en-US" sz="1550" dirty="0">
                <a:solidFill>
                  <a:srgbClr val="1F2A37"/>
                </a:solidFill>
                <a:latin typeface="Amiri" pitchFamily="2" charset="-78"/>
                <a:ea typeface="Amiri" pitchFamily="2" charset="-78"/>
                <a:cs typeface="Amiri" pitchFamily="2" charset="-78"/>
              </a:rPr>
              <a:t>ا</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five items without looking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ض · ط · ظ</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ḍād · ṭāʾ · ẓāʾ (heavy)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 · غ · ف · ق · ك</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ʿayn · ghayn · fāʾ · qāf · kāf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 · و · 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long ā · ū · ī</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ثَقِيلٌ · خَفِيفٌ</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heavy · plain</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letter from RIGHT to left?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dots in the right place, with the right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 and leave a gap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short-vowel marks in the right place?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words without looking at the slide?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 · كَا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ka (short) · kā (long — alif).</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 · كَا</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 · قُو · قِ · قِي</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qu · qū (wāw) · qi · qī (yāʾ).</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 · قُو · قِ · قِي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 · طَبِيبٌ</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kitāb (long ā) · ṭabīb (long ī).</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كِتَابٌ · طَبِيبٌ</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سُوقٌ</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sūq — long ū (wāw); market.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سُوقٌ</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ض ط ظ ع غ ف ق ك</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كَا كُو كِي · قَا قُو قِي · طَا طُو طِي</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كِتَابٌ · طَبِيبٌ · صَدِيقٌ · سُوقٌ</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إِمْلَاءٌ: صَ · قَ · عُو · طِي · كِتَابٌ</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the eight new letters. Line 2: long-vowel sets for three letters. Line 3: the four words (long vowels: ā · ī · ī · ū). Line 4: a dictation of five items.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ض ط ظ</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قَا قُو قِي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طَبِيبٌ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سُوقٌ</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F1-L04 · Complete the Alphabet &amp; Read Short Vowels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أَكْمِلِ الحُرُوفَ وَاقْرَأِ الحَرَكَاتِ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F1-L03 · Practice Room — Powerful Sounds &amp; Long Vowels</dc:title>
  <dc:subject>PptxGenJS Presentation</dc:subject>
  <dc:creator>Al Madina Online School · Arabic Department</dc:creator>
  <cp:lastModifiedBy>Al Madina Online School · Arabic Department</cp:lastModifiedBy>
  <cp:revision>1</cp:revision>
  <dcterms:created xsi:type="dcterms:W3CDTF">2026-10-26T03:38:11Z</dcterms:created>
  <dcterms:modified xsi:type="dcterms:W3CDTF">2026-10-26T03:38:11Z</dcterms:modified>
</cp:coreProperties>
</file>