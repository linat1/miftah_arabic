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PRACTICE ROOM AT A GLANCE — one combined lesson (speaking, then writing), 55–60 minutes: about 6 minutes in the main room, about 45 minutes in breakout rooms of two or three, about 6 minutes back together.
0–2 Welcome · 2–5 How the room works · ROOMS, Part A Speaking: Step 1 Letter warm-up (5) · Step 2 Say the mini-dialogue (5) · Step 3 Point-and-say cards (7) · Step 4 Reading card (7) · Step 5 Read-aloud race (4) · Part B Writing: Step 6 Build the word (4) · Step 7 Spot the slip (3) · Step 8 Copy, listen and write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F1-L06 (Small Marks, Big Changes) — new practice tasks built on the lesson’s own word bank and grammar (shadda doubles a letter (darasa → darrasa); tanwīn adds -n (kitābun · kitāban · kitābin); alif madda says ʾā (ādam); hamza is a catch in the throat and sits on ا · و · ي or alone (suʾāl · māʾ); routine: see the mark → name its job → read the word).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F1-L06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Speaker reads from the slide; the Coach checks the sound and the direction (right to left). Teacher: listen for the target sounds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(7 min). SUPPORTED: the plan column models the thinking (first words), not the full answer. Everyone is Speaker once. To a girl the Leader says: no changes needed.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starting on the RIGHT (column 1). The answer slide shows the parts joined into one word. Students copy the three words into their book — they are used again in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starting on the RIGHT (column 1). The answer slide shows the parts joined into one word. Students copy the three words into their book — they are used again in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8 (10 min). Core: copy marks and words with the frames. Develop: name each mark + a five-word dictation. Stretch: an eight-word dictation including the minimal pairs (دَرَسَ / دَرَّسَ). Teacher checks shadda placement and hamza seats.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(24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F1-L06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Small Marks, Big Changes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عَلَامَاتٌ صَغِيرَةٌ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run their own script practice with four small marks: name each mark and its job, act a “what does the mark do?” mini-dialogue, do point-and-say cards, read minimal pairs on a reading card, race to read marked words, then build words, spot missing marks, and copy and write from dictation with every mark.</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F1-L06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Sounds + script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letter warm-up · say the mini-dialogue.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point-and-say cards · reading card · read-aloud race.</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build the word · spot the slip.</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copy, listen and write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points to a letter or word on the slide (or reads the card) and keeps the time.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says the sound or reads the word aloud, from RIGHT to left. Slowly is fine — clearly is the goal.</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in their OWN book — copying, then dictation;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LETTER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find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 وَجِدْهُ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Mark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mark (shadda · tanwīn · madda · hamza). The Speaker finds a word on the next two slides with that mark and reads it. The Coach checks.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marks; Speaker finds and reads a word for each.</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mark and the sound.</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say what each mark DOES (doubles · adds n · ʾā · catch).</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Find a word with the mark and read it.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mark’s job in English.</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Find a second word with the same mark.</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Shadda and tanwīn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عَلَامَاتُ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shadda</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ـّ</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shadda — doubles the letter</a:t>
            </a:r>
            <a:endParaRPr lang="en-US" sz="1350" dirty="0"/>
          </a:p>
          <a:p>
            <a:pPr indent="0" marL="0">
              <a:buNone/>
            </a:pPr>
            <a:r>
              <a:rPr lang="en-US" sz="1100" i="1" dirty="0">
                <a:solidFill>
                  <a:srgbClr val="5A6472"/>
                </a:solidFill>
                <a:latin typeface="Calibri" pitchFamily="34" charset="0"/>
                <a:cs typeface="Amiri" pitchFamily="2" charset="-78"/>
              </a:rPr>
              <a:t>a small “w” on top</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شَدَّةٌ</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shadda</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دَرَّسَ</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taught (compare: he studied)</a:t>
            </a:r>
            <a:endParaRPr lang="en-US" sz="1350" dirty="0"/>
          </a:p>
          <a:p>
            <a:pPr indent="0" marL="0">
              <a:buNone/>
            </a:pPr>
            <a:r>
              <a:rPr lang="en-US" sz="1100" i="1" dirty="0">
                <a:solidFill>
                  <a:srgbClr val="5A6472"/>
                </a:solidFill>
                <a:latin typeface="Calibri" pitchFamily="34" charset="0"/>
                <a:cs typeface="Amiri" pitchFamily="2" charset="-78"/>
              </a:rPr>
              <a:t>dar-ra-sa</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compare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دَرَسَ</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shadda</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أُمٌّ</a:t>
            </a:r>
            <a:endParaRPr lang="ar-SA" sz="3000" dirty="0"/>
          </a:p>
        </p:txBody>
      </p:sp>
      <p:sp>
        <p:nvSpPr>
          <p:cNvPr id="47" name="Text 4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mother</a:t>
            </a:r>
            <a:endParaRPr lang="en-US" sz="1350" dirty="0"/>
          </a:p>
          <a:p>
            <a:pPr indent="0" marL="0">
              <a:buNone/>
            </a:pPr>
            <a:r>
              <a:rPr lang="en-US" sz="1100" i="1" dirty="0">
                <a:solidFill>
                  <a:srgbClr val="5A6472"/>
                </a:solidFill>
                <a:latin typeface="Calibri" pitchFamily="34" charset="0"/>
                <a:cs typeface="Amiri" pitchFamily="2" charset="-78"/>
              </a:rPr>
              <a:t>umm-un</a:t>
            </a:r>
            <a:endParaRPr lang="en-US" sz="135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1" name="Shape 48"/>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shadda</a:t>
            </a:r>
            <a:endParaRPr lang="en-US" sz="800" dirty="0"/>
          </a:p>
        </p:txBody>
      </p:sp>
      <p:sp>
        <p:nvSpPr>
          <p:cNvPr id="53" name="Shape 5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قِطَّةٌ</a:t>
            </a:r>
            <a:endParaRPr lang="ar-SA" sz="3000" dirty="0"/>
          </a:p>
        </p:txBody>
      </p:sp>
      <p:sp>
        <p:nvSpPr>
          <p:cNvPr id="56" name="Text 5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cat</a:t>
            </a:r>
            <a:endParaRPr lang="en-US" sz="1350" dirty="0"/>
          </a:p>
          <a:p>
            <a:pPr indent="0" marL="0">
              <a:buNone/>
            </a:pPr>
            <a:r>
              <a:rPr lang="en-US" sz="1100" i="1" dirty="0">
                <a:solidFill>
                  <a:srgbClr val="5A6472"/>
                </a:solidFill>
                <a:latin typeface="Calibri" pitchFamily="34" charset="0"/>
                <a:cs typeface="Amiri" pitchFamily="2" charset="-78"/>
              </a:rPr>
              <a:t>qiṭ-ṭa</a:t>
            </a:r>
            <a:endParaRPr lang="en-US" sz="1350" dirty="0"/>
          </a:p>
        </p:txBody>
      </p:sp>
      <p:sp>
        <p:nvSpPr>
          <p:cNvPr id="57" name="Shape 5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4389120"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0" name="Shape 57"/>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1" name="Text 58"/>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tanwīn</a:t>
            </a:r>
            <a:endParaRPr lang="en-US" sz="800" dirty="0"/>
          </a:p>
        </p:txBody>
      </p:sp>
      <p:sp>
        <p:nvSpPr>
          <p:cNvPr id="62" name="Shape 5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كِتَابٌ</a:t>
            </a:r>
            <a:endParaRPr lang="ar-SA" sz="3000" dirty="0"/>
          </a:p>
        </p:txBody>
      </p:sp>
      <p:sp>
        <p:nvSpPr>
          <p:cNvPr id="65" name="Text 6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book (-un)</a:t>
            </a:r>
            <a:endParaRPr lang="en-US" sz="1350" dirty="0"/>
          </a:p>
          <a:p>
            <a:pPr indent="0" marL="0">
              <a:buNone/>
            </a:pPr>
            <a:r>
              <a:rPr lang="en-US" sz="1100" i="1" dirty="0">
                <a:solidFill>
                  <a:srgbClr val="5A6472"/>
                </a:solidFill>
                <a:latin typeface="Calibri" pitchFamily="34" charset="0"/>
                <a:cs typeface="Amiri" pitchFamily="2" charset="-78"/>
              </a:rPr>
              <a:t>kitābun</a:t>
            </a:r>
            <a:endParaRPr lang="en-US" sz="1350" dirty="0"/>
          </a:p>
        </p:txBody>
      </p:sp>
      <p:sp>
        <p:nvSpPr>
          <p:cNvPr id="66" name="Shape 63"/>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also</a:t>
            </a:r>
            <a:endParaRPr lang="en-US" sz="700" dirty="0"/>
          </a:p>
        </p:txBody>
      </p:sp>
      <p:sp>
        <p:nvSpPr>
          <p:cNvPr id="68" name="Text 65"/>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كِتَابًا · كِتَابٍ</a:t>
            </a:r>
            <a:endParaRPr lang="ar-SA" sz="1350" dirty="0"/>
          </a:p>
        </p:txBody>
      </p:sp>
      <p:sp>
        <p:nvSpPr>
          <p:cNvPr id="69" name="Shape 6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66928"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2" name="Shape 69"/>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tanwīn</a:t>
            </a:r>
            <a:endParaRPr lang="en-US" sz="800" dirty="0"/>
          </a:p>
        </p:txBody>
      </p:sp>
      <p:sp>
        <p:nvSpPr>
          <p:cNvPr id="74" name="Shape 7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بَيْتٌ</a:t>
            </a:r>
            <a:endParaRPr lang="ar-SA" sz="3000" dirty="0"/>
          </a:p>
        </p:txBody>
      </p:sp>
      <p:sp>
        <p:nvSpPr>
          <p:cNvPr id="77" name="Text 7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house (-un)</a:t>
            </a:r>
            <a:endParaRPr lang="en-US" sz="1350" dirty="0"/>
          </a:p>
          <a:p>
            <a:pPr indent="0" marL="0">
              <a:buNone/>
            </a:pPr>
            <a:r>
              <a:rPr lang="en-US" sz="1100" i="1" dirty="0">
                <a:solidFill>
                  <a:srgbClr val="5A6472"/>
                </a:solidFill>
                <a:latin typeface="Calibri" pitchFamily="34" charset="0"/>
                <a:cs typeface="Amiri" pitchFamily="2" charset="-78"/>
              </a:rPr>
              <a:t>baytun</a:t>
            </a:r>
            <a:endParaRPr lang="en-US" sz="13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Madda and hamza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عَلَامَاتُ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madda</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آ</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alif madda — says ʾā</a:t>
            </a:r>
            <a:endParaRPr lang="en-US" sz="1350" dirty="0"/>
          </a:p>
          <a:p>
            <a:pPr indent="0" marL="0">
              <a:buNone/>
            </a:pPr>
            <a:r>
              <a:rPr lang="en-US" sz="1100" i="1" dirty="0">
                <a:solidFill>
                  <a:srgbClr val="5A6472"/>
                </a:solidFill>
                <a:latin typeface="Calibri" pitchFamily="34" charset="0"/>
                <a:cs typeface="Amiri" pitchFamily="2" charset="-78"/>
              </a:rPr>
              <a:t>a wave on alif</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مَدَّةٌ</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madda</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آدَمُ</a:t>
            </a:r>
            <a:endParaRPr lang="ar-SA" sz="3000" dirty="0"/>
          </a:p>
        </p:txBody>
      </p:sp>
      <p:sp>
        <p:nvSpPr>
          <p:cNvPr id="35" name="Text 32"/>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Adam</a:t>
            </a:r>
            <a:endParaRPr lang="en-US" sz="1350" dirty="0"/>
          </a:p>
          <a:p>
            <a:pPr indent="0" marL="0">
              <a:buNone/>
            </a:pPr>
            <a:r>
              <a:rPr lang="en-US" sz="1100" i="1" dirty="0">
                <a:solidFill>
                  <a:srgbClr val="5A6472"/>
                </a:solidFill>
                <a:latin typeface="Calibri" pitchFamily="34" charset="0"/>
                <a:cs typeface="Amiri" pitchFamily="2" charset="-78"/>
              </a:rPr>
              <a:t>ʾĀdam</a:t>
            </a:r>
            <a:endParaRPr lang="en-US" sz="1350" dirty="0"/>
          </a:p>
        </p:txBody>
      </p:sp>
      <p:sp>
        <p:nvSpPr>
          <p:cNvPr id="36" name="Shape 3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566928" y="1920240"/>
            <a:ext cx="310896" cy="310896"/>
          </a:xfrm>
          <a:prstGeom prst="ellipse">
            <a:avLst/>
          </a:prstGeom>
          <a:solidFill>
            <a:srgbClr val="F4F1EA"/>
          </a:solidFill>
          <a:ln w="12700">
            <a:solidFill>
              <a:srgbClr val="F4F1EA"/>
            </a:solidFill>
            <a:prstDash val="solid"/>
          </a:ln>
        </p:spPr>
      </p:sp>
      <p:sp>
        <p:nvSpPr>
          <p:cNvPr id="38" name="Text 3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9" name="Shape 36"/>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hamza</a:t>
            </a:r>
            <a:endParaRPr lang="en-US" sz="800" dirty="0"/>
          </a:p>
        </p:txBody>
      </p:sp>
      <p:sp>
        <p:nvSpPr>
          <p:cNvPr id="41" name="Shape 38"/>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ء</a:t>
            </a:r>
            <a:endParaRPr lang="ar-SA" sz="3000" dirty="0"/>
          </a:p>
        </p:txBody>
      </p:sp>
      <p:sp>
        <p:nvSpPr>
          <p:cNvPr id="44" name="Text 41"/>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hamza — a catch in the throat</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alone, or on ا · و · ي</a:t>
            </a:r>
            <a:endParaRPr lang="en-US" sz="1350" dirty="0"/>
          </a:p>
        </p:txBody>
      </p:sp>
      <p:sp>
        <p:nvSpPr>
          <p:cNvPr id="45" name="Shape 42"/>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47" name="Text 44"/>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هَمْزَةٌ</a:t>
            </a:r>
            <a:endParaRPr lang="ar-SA" sz="135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1" name="Shape 48"/>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hamza on و</a:t>
            </a:r>
            <a:endParaRPr lang="en-US" sz="800" dirty="0"/>
          </a:p>
        </p:txBody>
      </p:sp>
      <p:sp>
        <p:nvSpPr>
          <p:cNvPr id="53" name="Shape 5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سُؤَالٌ</a:t>
            </a:r>
            <a:endParaRPr lang="ar-SA" sz="3000" dirty="0"/>
          </a:p>
        </p:txBody>
      </p:sp>
      <p:sp>
        <p:nvSpPr>
          <p:cNvPr id="56" name="Text 5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question</a:t>
            </a:r>
            <a:endParaRPr lang="en-US" sz="1350" dirty="0"/>
          </a:p>
          <a:p>
            <a:pPr indent="0" marL="0">
              <a:buNone/>
            </a:pPr>
            <a:r>
              <a:rPr lang="en-US" sz="1100" i="1" dirty="0">
                <a:solidFill>
                  <a:srgbClr val="5A6472"/>
                </a:solidFill>
                <a:latin typeface="Calibri" pitchFamily="34" charset="0"/>
                <a:cs typeface="Amiri" pitchFamily="2" charset="-78"/>
              </a:rPr>
              <a:t>su-ʾā-lun</a:t>
            </a:r>
            <a:endParaRPr lang="en-US" sz="1350" dirty="0"/>
          </a:p>
        </p:txBody>
      </p:sp>
      <p:sp>
        <p:nvSpPr>
          <p:cNvPr id="57" name="Shape 5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4389120"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0" name="Shape 57"/>
          <p:cNvSpPr/>
          <p:nvPr/>
        </p:nvSpPr>
        <p:spPr>
          <a:xfrm>
            <a:off x="4782312" y="4279392"/>
            <a:ext cx="958291" cy="256032"/>
          </a:xfrm>
          <a:prstGeom prst="roundRect">
            <a:avLst>
              <a:gd name="adj" fmla="val 50000"/>
            </a:avLst>
          </a:prstGeom>
          <a:solidFill>
            <a:srgbClr val="EFE7D2"/>
          </a:solidFill>
          <a:ln w="12700">
            <a:solidFill>
              <a:srgbClr val="EFE7D2"/>
            </a:solidFill>
            <a:prstDash val="solid"/>
          </a:ln>
        </p:spPr>
      </p:sp>
      <p:sp>
        <p:nvSpPr>
          <p:cNvPr id="61" name="Text 58"/>
          <p:cNvSpPr txBox="1"/>
          <p:nvPr/>
        </p:nvSpPr>
        <p:spPr>
          <a:xfrm>
            <a:off x="4782312"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hamza alone</a:t>
            </a:r>
            <a:endParaRPr lang="en-US" sz="800" dirty="0"/>
          </a:p>
        </p:txBody>
      </p:sp>
      <p:sp>
        <p:nvSpPr>
          <p:cNvPr id="62" name="Shape 5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مَاءٌ</a:t>
            </a:r>
            <a:endParaRPr lang="ar-SA" sz="3000" dirty="0"/>
          </a:p>
        </p:txBody>
      </p:sp>
      <p:sp>
        <p:nvSpPr>
          <p:cNvPr id="65" name="Text 6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a:t>
            </a:r>
            <a:endParaRPr lang="en-US" sz="1350" dirty="0"/>
          </a:p>
          <a:p>
            <a:pPr indent="0" marL="0">
              <a:buNone/>
            </a:pPr>
            <a:r>
              <a:rPr lang="en-US" sz="1100" i="1" dirty="0">
                <a:solidFill>
                  <a:srgbClr val="5A6472"/>
                </a:solidFill>
                <a:latin typeface="Calibri" pitchFamily="34" charset="0"/>
                <a:cs typeface="Amiri" pitchFamily="2" charset="-78"/>
              </a:rPr>
              <a:t>māʾ-un</a:t>
            </a:r>
            <a:endParaRPr lang="en-US" sz="1350" dirty="0"/>
          </a:p>
        </p:txBody>
      </p:sp>
      <p:sp>
        <p:nvSpPr>
          <p:cNvPr id="66" name="Shape 6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566928"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9" name="Shape 66"/>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70" name="Text 67"/>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hamza on ا</a:t>
            </a:r>
            <a:endParaRPr lang="en-US" sz="800" dirty="0"/>
          </a:p>
        </p:txBody>
      </p:sp>
      <p:sp>
        <p:nvSpPr>
          <p:cNvPr id="71" name="Shape 68"/>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2" name="Text 69"/>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3" name="Text 7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سَأَلَ</a:t>
            </a:r>
            <a:endParaRPr lang="ar-SA" sz="3000" dirty="0"/>
          </a:p>
        </p:txBody>
      </p:sp>
      <p:sp>
        <p:nvSpPr>
          <p:cNvPr id="74" name="Text 7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asked</a:t>
            </a:r>
            <a:endParaRPr lang="en-US" sz="1350" dirty="0"/>
          </a:p>
          <a:p>
            <a:pPr indent="0" marL="0">
              <a:buNone/>
            </a:pPr>
            <a:r>
              <a:rPr lang="en-US" sz="1100" i="1" dirty="0">
                <a:solidFill>
                  <a:srgbClr val="5A6472"/>
                </a:solidFill>
                <a:latin typeface="Calibri" pitchFamily="34" charset="0"/>
                <a:cs typeface="Amiri" pitchFamily="2" charset="-78"/>
              </a:rPr>
              <a:t>sa-ʾa-la</a:t>
            </a:r>
            <a:endParaRPr lang="en-US"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MINI-DIALOGUE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does the mark do?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تَفْعَلُ العَلَامَةُ؟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this mark? (points to shadda)</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هٰذِهِ العَلَامَةُ؟ (ـّ)</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shadda — it doubles the letter.</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هٰذِهِ شَدَّةٌ — تُضَاعِفُ الحَرْفَ.</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darasa · darrasa.</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اقْرَأْ: دَرَسَ · دَرَّسَ.</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darasa … darrasa — the r twice!</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دَرَسَ … دَرَّسَ — الرَّاءُ مَرَّتَيْنِ!</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kitābun?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وَ«كِتَابٌ»؟</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tanwīn — we say “n” at the end: kitābun.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تَنْوِينٌ — نَقُولُ «نْ» فِي الآخِرِ: كِتَابُنْ.</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 points to any marked word on the word slides; B names the mark and reads it.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POINT-AND-SAY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See the mark, name its job, read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Then read (Develop)</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 says (Core)</a:t>
            </a:r>
            <a:endParaRPr lang="en-US" sz="1100" dirty="0"/>
          </a:p>
        </p:txBody>
      </p:sp>
      <p:sp>
        <p:nvSpPr>
          <p:cNvPr id="18" name="Text 15"/>
          <p:cNvSpPr txBox="1"/>
          <p:nvPr/>
        </p:nvSpPr>
        <p:spPr>
          <a:xfrm>
            <a:off x="432511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9" name="Text 16"/>
          <p:cNvSpPr txBox="1"/>
          <p:nvPr/>
        </p:nvSpPr>
        <p:spPr>
          <a:xfrm>
            <a:off x="1033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points to / says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مُدَرِّسَةٌ</a:t>
            </a:r>
            <a:endParaRPr lang="ar-SA" sz="18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شَدَّةٌ</a:t>
            </a:r>
            <a:endParaRPr lang="ar-SA" sz="1800" dirty="0"/>
          </a:p>
        </p:txBody>
      </p:sp>
      <p:sp>
        <p:nvSpPr>
          <p:cNvPr id="24" name="Text 21"/>
          <p:cNvSpPr txBox="1"/>
          <p:nvPr/>
        </p:nvSpPr>
        <p:spPr>
          <a:xfrm>
            <a:off x="4361688" y="2267712"/>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shadda on r · teacher</a:t>
            </a:r>
            <a:endParaRPr lang="en-US" sz="1100" dirty="0"/>
          </a:p>
        </p:txBody>
      </p:sp>
      <p:sp>
        <p:nvSpPr>
          <p:cNvPr id="25" name="Text 22"/>
          <p:cNvSpPr txBox="1"/>
          <p:nvPr/>
        </p:nvSpPr>
        <p:spPr>
          <a:xfrm>
            <a:off x="1051560" y="2267712"/>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مُدَرِّسٌ</a:t>
            </a:r>
            <a:endParaRPr lang="ar-SA" sz="20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بَيْتًا</a:t>
            </a:r>
            <a:endParaRPr lang="ar-SA" sz="18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تَنْوِينٌ</a:t>
            </a:r>
            <a:endParaRPr lang="ar-SA" sz="1800" dirty="0"/>
          </a:p>
        </p:txBody>
      </p:sp>
      <p:sp>
        <p:nvSpPr>
          <p:cNvPr id="32" name="Text 29"/>
          <p:cNvSpPr txBox="1"/>
          <p:nvPr/>
        </p:nvSpPr>
        <p:spPr>
          <a:xfrm>
            <a:off x="4361688" y="300471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tanwīn -an</a:t>
            </a:r>
            <a:endParaRPr lang="en-US" sz="1100" dirty="0"/>
          </a:p>
        </p:txBody>
      </p:sp>
      <p:sp>
        <p:nvSpPr>
          <p:cNvPr id="33" name="Text 30"/>
          <p:cNvSpPr txBox="1"/>
          <p:nvPr/>
        </p:nvSpPr>
        <p:spPr>
          <a:xfrm>
            <a:off x="1051560" y="300471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كِتَابًا</a:t>
            </a:r>
            <a:endParaRPr lang="ar-SA" sz="20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آدَمُ</a:t>
            </a:r>
            <a:endParaRPr lang="ar-SA" sz="18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مَدَّةٌ</a:t>
            </a:r>
            <a:endParaRPr lang="ar-SA" sz="1800" dirty="0"/>
          </a:p>
        </p:txBody>
      </p:sp>
      <p:sp>
        <p:nvSpPr>
          <p:cNvPr id="40" name="Text 37"/>
          <p:cNvSpPr txBox="1"/>
          <p:nvPr/>
        </p:nvSpPr>
        <p:spPr>
          <a:xfrm>
            <a:off x="4361688" y="3741725"/>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madda · safe</a:t>
            </a:r>
            <a:endParaRPr lang="en-US" sz="1100" dirty="0"/>
          </a:p>
        </p:txBody>
      </p:sp>
      <p:sp>
        <p:nvSpPr>
          <p:cNvPr id="41" name="Text 38"/>
          <p:cNvSpPr txBox="1"/>
          <p:nvPr/>
        </p:nvSpPr>
        <p:spPr>
          <a:xfrm>
            <a:off x="1051560" y="3741725"/>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آمِنٌ</a:t>
            </a:r>
            <a:endParaRPr lang="ar-SA" sz="20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مَاءٌ</a:t>
            </a:r>
            <a:endParaRPr lang="ar-SA" sz="18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هَمْزَةٌ</a:t>
            </a:r>
            <a:endParaRPr lang="ar-SA" sz="1800" dirty="0"/>
          </a:p>
        </p:txBody>
      </p:sp>
      <p:sp>
        <p:nvSpPr>
          <p:cNvPr id="48" name="Text 45"/>
          <p:cNvSpPr txBox="1"/>
          <p:nvPr/>
        </p:nvSpPr>
        <p:spPr>
          <a:xfrm>
            <a:off x="4361688" y="4478731"/>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hamza on wāw · question</a:t>
            </a:r>
            <a:endParaRPr lang="en-US" sz="1100" dirty="0"/>
          </a:p>
        </p:txBody>
      </p:sp>
      <p:sp>
        <p:nvSpPr>
          <p:cNvPr id="49" name="Text 46"/>
          <p:cNvSpPr txBox="1"/>
          <p:nvPr/>
        </p:nvSpPr>
        <p:spPr>
          <a:xfrm>
            <a:off x="1051560" y="4478731"/>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سُؤَالٌ</a:t>
            </a:r>
            <a:endParaRPr lang="ar-SA" sz="20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جَدٌّ</a:t>
            </a:r>
            <a:endParaRPr lang="ar-SA" sz="18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هَمْزَةٌ · شَدَّةٌ</a:t>
            </a:r>
            <a:endParaRPr lang="ar-SA" sz="1800" dirty="0"/>
          </a:p>
        </p:txBody>
      </p:sp>
      <p:sp>
        <p:nvSpPr>
          <p:cNvPr id="54" name="Text 51"/>
          <p:cNvSpPr txBox="1"/>
          <p:nvPr/>
        </p:nvSpPr>
        <p:spPr>
          <a:xfrm>
            <a:off x="4361688" y="521573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marks! hamza + shadda</a:t>
            </a:r>
            <a:endParaRPr lang="en-US" sz="1100" dirty="0"/>
          </a:p>
        </p:txBody>
      </p:sp>
      <p:sp>
        <p:nvSpPr>
          <p:cNvPr id="55" name="Text 52"/>
          <p:cNvSpPr txBox="1"/>
          <p:nvPr/>
        </p:nvSpPr>
        <p:spPr>
          <a:xfrm>
            <a:off x="1051560" y="521573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أُمٌّ</a:t>
            </a:r>
            <a:endParaRPr lang="ar-SA" sz="20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does every card. Core: say the sound or read the word. Develop: do the “then” part. Stretch: give your own example with the same letter or mark. Swap after each card.</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READING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Reading card — pairs that differ by one mark</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shows /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93608" y="2267712"/>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r doubles</a:t>
            </a:r>
            <a:endParaRPr lang="en-US" sz="11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both; what changes?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دَرَسَ · دَرَّسَ</a:t>
            </a:r>
            <a:endParaRPr lang="ar-SA" sz="20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93608" y="3054096"/>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 · -an · -in</a:t>
            </a:r>
            <a:endParaRPr lang="en-US" sz="11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three tanwīn endings.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كِتَابٌ · كِتَابًا · كِتَابٍ</a:t>
            </a:r>
            <a:endParaRPr lang="ar-SA" sz="20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look for the wave</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is correct? Read it.</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أَدَمُ · آدَمُ</a:t>
            </a:r>
            <a:endParaRPr lang="ar-SA" sz="20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a:t>
            </a:r>
            <a:pPr algn="l" indent="0" marL="0">
              <a:buNone/>
            </a:pPr>
            <a:r>
              <a:rPr lang="ar-SA" altLang="en-US" sz="1450" dirty="0">
                <a:solidFill>
                  <a:srgbClr val="5A6472"/>
                </a:solidFill>
                <a:latin typeface="Amiri" pitchFamily="2" charset="-78"/>
                <a:ea typeface="Amiri" pitchFamily="2" charset="-78"/>
                <a:cs typeface="Amiri" pitchFamily="2" charset="-78"/>
              </a:rPr>
              <a:t>ا</a:t>
            </a:r>
            <a:pPr algn="l" indent="0" marL="0">
              <a:buNone/>
            </a:pPr>
            <a:r>
              <a:rPr lang="en-US" sz="1100" dirty="0">
                <a:solidFill>
                  <a:srgbClr val="5A6472"/>
                </a:solidFill>
                <a:latin typeface="Calibri" pitchFamily="34" charset="0"/>
                <a:cs typeface="Amiri" pitchFamily="2" charset="-78"/>
              </a:rPr>
              <a:t> · on </a:t>
            </a:r>
            <a:pPr algn="l" indent="0" marL="0">
              <a:buNone/>
            </a:pPr>
            <a:r>
              <a:rPr lang="ar-SA" altLang="en-US" sz="1450" dirty="0">
                <a:solidFill>
                  <a:srgbClr val="5A6472"/>
                </a:solidFill>
                <a:latin typeface="Amiri" pitchFamily="2" charset="-78"/>
                <a:ea typeface="Amiri" pitchFamily="2" charset="-78"/>
                <a:cs typeface="Amiri" pitchFamily="2" charset="-78"/>
              </a:rPr>
              <a:t>و</a:t>
            </a:r>
            <a:endParaRPr lang="en-US" sz="11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both; where is the hamza?</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سَأَلَ · سُؤَالٌ</a:t>
            </a:r>
            <a:endParaRPr lang="ar-SA" sz="20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reader · Leader = the card holder.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READ-ALOUD RACE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Marked-word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العَلَامَاتِ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1800" b="1" dirty="0">
                <a:solidFill>
                  <a:srgbClr val="1B3B6F"/>
                </a:solidFill>
                <a:latin typeface="Calibri" pitchFamily="34" charset="0"/>
                <a:cs typeface="Amiri" pitchFamily="2" charset="-78"/>
              </a:rPr>
              <a:t>⏱  Read aloud for 30 seconds — as many as you can</a:t>
            </a:r>
            <a:endParaRPr lang="en-US" sz="18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In 30 seconds, read the twelve words on the word slides, saying each mark’s sound clearly (double letters, -n, ʾā, the catch). The Coach counts the correct ones.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Leader points to the list on the slide (or in your book).</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Speaker reads aloud for 30 seconds; the Coach counts the correct ones.</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sound that was perfect + one to practise.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try to beat your own score, not your partner’s.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six words.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all twelve.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all twelve, then name each mark as you go.</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once more</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BUILD THE WORD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Build three words from their parts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teacher (m.) — mudarris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ذَ</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رِّسٌ</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رِسٌ</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question — suʾāl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ؤَا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he asked — saʾala</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ؤَ</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word: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teacher (m.) — mudarris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Shadda doubles the r: mu-dar-ris.</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مُدَرِّسٌ</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question — suʾāl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Hamza sits on wāw after ḍamma.</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سُؤَالٌ</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he asked — saʾala</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fatḥa, hamza sits on alif: sa-ʾa-la.</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سَأَلَ</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THE SLIP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“mother” has a doubled m.</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سُوَالٌ</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“question” has a catch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ادَمُ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“Adam” starts with ʾā.</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Shadda on mīm: umm.</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سُوَالٌ</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سُؤَالٌ</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Hamza on the wāw: suʾāl.</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ادَمُ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آدَمُ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Alif madda (</a:t>
            </a:r>
            <a:pPr algn="l" indent="0" marL="0">
              <a:buNone/>
            </a:pPr>
            <a:r>
              <a:rPr lang="ar-SA" altLang="en-US" sz="1500" b="1" dirty="0">
                <a:solidFill>
                  <a:srgbClr val="1B3B6F"/>
                </a:solidFill>
                <a:latin typeface="Amiri" pitchFamily="2" charset="-78"/>
                <a:ea typeface="Amiri" pitchFamily="2" charset="-78"/>
                <a:cs typeface="Amiri" pitchFamily="2" charset="-78"/>
              </a:rPr>
              <a:t>آ</a:t>
            </a:r>
            <a:pPr algn="l" indent="0" marL="0">
              <a:buNone/>
            </a:pPr>
            <a:r>
              <a:rPr lang="en-US" sz="1150" b="1" dirty="0">
                <a:solidFill>
                  <a:srgbClr val="1B3B6F"/>
                </a:solidFill>
                <a:latin typeface="Calibri" pitchFamily="34" charset="0"/>
                <a:cs typeface="Amiri" pitchFamily="2" charset="-78"/>
              </a:rPr>
              <a:t>) = hamza + long ā.</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COPY, LISTEN AND WRITE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مُدَرِّسٌ ______ سَأَلَ ______ آمِنٌ ______</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then name each mark.</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إِمْلَاءٌ: ١ ______ ٢ ______ ٣ ______</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Dictation — with every mark.</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ـّ ______ ـٌ ______ آ ______ ء</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the four marks.</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دَرَّسَ ______ أُمٌّ ______ قِطَّةٌ</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three shadda words.</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كِتَابٌ ______ كِتَابًا ______ كِتَابٍ</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the three tanwīn endings.</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آدَمُ ______ سُؤَالٌ ______ مَاءٌ</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madda and hamza words.</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ـّ شَدَّةٌ  ·  ـٌ ـً ـٍ تَنْوِينٌ  ·  آ مَدَّةٌ  ·  ء أ ؤ ئ هَمْزَةٌ  ·  دَرَّسَ · أُمٌّ  ·  كِتَابٌ · بَيْتٌ  ·  آدَمُ · آمِنٌ  ·  سُؤَالٌ · مَاءٌ</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COPY, LISTEN AND WRITE · COPY · DICTATION · LABELS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Copy, listen and write: every mark</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أَكْتُبُ العَلَامَاتِ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51790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5179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SCRIPT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In your book: • copy the four marks and write each one’s job in English • copy three words for each mark • DICTATION: your buddy reads five marked words — write them with EVERY mark, without looking.</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Each mark copied with its job.</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Shadda ON TOP of the doubled letter.</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Hamza on the right seat (</a:t>
            </a:r>
            <a:pPr algn="l" indent="0" marL="0">
              <a:buNone/>
            </a:pPr>
            <a:r>
              <a:rPr lang="ar-SA" altLang="en-US" sz="1550" dirty="0">
                <a:solidFill>
                  <a:srgbClr val="1F2A37"/>
                </a:solidFill>
                <a:latin typeface="Amiri" pitchFamily="2" charset="-78"/>
                <a:ea typeface="Amiri" pitchFamily="2" charset="-78"/>
                <a:cs typeface="Amiri" pitchFamily="2" charset="-78"/>
              </a:rPr>
              <a:t>ا</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ي</a:t>
            </a:r>
            <a:pPr algn="l" indent="0" marL="0">
              <a:buNone/>
            </a:pPr>
            <a:r>
              <a:rPr lang="en-US" sz="1200" dirty="0">
                <a:solidFill>
                  <a:srgbClr val="1F2A37"/>
                </a:solidFill>
                <a:latin typeface="Calibri" pitchFamily="34" charset="0"/>
                <a:cs typeface="Amiri" pitchFamily="2" charset="-78"/>
              </a:rPr>
              <a:t> · alone).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Dictation with every mark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شَدَّةٌ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shadda — doubles</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تَنْوِينٌ</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tanwīn — adds -n</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مَدَّةٌ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madda — ʾā</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هَمْزَةٌ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hamza — catch in the throat</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every letter from RIGHT to left?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put the dots in the right place, with the right number?</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 letters correctly — and leave a gap after </a:t>
            </a:r>
            <a:pPr algn="l" indent="0" marL="0">
              <a:buNone/>
            </a:pPr>
            <a:r>
              <a:rPr lang="ar-SA" altLang="en-US" sz="1450" dirty="0">
                <a:solidFill>
                  <a:srgbClr val="5A6472"/>
                </a:solidFill>
                <a:latin typeface="Amiri" pitchFamily="2" charset="-78"/>
                <a:ea typeface="Amiri" pitchFamily="2" charset="-78"/>
                <a:cs typeface="Amiri" pitchFamily="2" charset="-78"/>
              </a:rPr>
              <a:t>ا د ذ ر ز و</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the short-vowel marks in the right place?</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the dictation words without looking at the slide?</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READING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Reading card: compare with a strong answer</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دَرَسَ · دَرَّسَ</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darasa (he studied) · darrasa (he taught) — shadda doubles r.</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دَرَسَ · دَرَّسَ</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 · كِتَابًا · كِتَابٍ</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kitābun · kitāban · kitābin.</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كِتَابٌ · كِتَابًا · كِتَابٍ</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آدَمُ</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ʾĀdam — alif madda says ʾā.</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أَدَمُ · آدَمُ</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سَأَلَ · سُؤَالٌ</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saʾala (on alif) · suʾāl (on wāw) — he asked / a question.</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سَأَلَ · سُؤَالٌ</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read every item clearly, from right to left? Read the one you found hardest once more.</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COPY, LISTEN AND WRITE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ـّ شَدَّةٌ · ـٌ تَنْوِينٌ · آ مَدَّةٌ · ء هَمْزَةٌ</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دَرَّسَ · أُمٌّ · قِطَّةٌ · كِتَابٌ · كِتَابًا · كِتَابٍ</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آدَمُ · سُؤَالٌ · مَاءٌ · سَأَلَ</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إِمْلَاءٌ: مُدَرِّسٌ · بَيْتٌ · آمِنٌ · سُؤَالٌ · أُمٌّ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Line 1: the four marks with their names. Line 2: shadda and tanwīn words. Line 3: madda and hamza words. Line 4: a dictation of five marked words.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شَدَّةٌ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كِتَابًا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آدَمُ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سُؤَالٌ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F1-L06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F1-L06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the sounds of today’s letters clearly.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copied every letter from right to left with the dots in the right place.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read today’s words aloud without stopping.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writing and I fixed one thing.</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the dictation words without looking.</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F1-L07 · Read the Number, Keep the Order</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الأَرْقَامُ الهِنْدِيَّةُ مِنْ ٠ إِلَى ١٠٠</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Arabic starts on the right — look at the dots, say the sound,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F1-L06 · Practice Room — Small Marks, Big Changes</dc:title>
  <dc:subject>PptxGenJS Presentation</dc:subject>
  <dc:creator>Al Madina Online School · Arabic Department</dc:creator>
  <cp:lastModifiedBy>Al Madina Online School · Arabic Department</cp:lastModifiedBy>
  <cp:revision>1</cp:revision>
  <dcterms:created xsi:type="dcterms:W3CDTF">2026-10-26T03:38:13Z</dcterms:created>
  <dcterms:modified xsi:type="dcterms:W3CDTF">2026-10-26T03:38:13Z</dcterms:modified>
</cp:coreProperties>
</file>