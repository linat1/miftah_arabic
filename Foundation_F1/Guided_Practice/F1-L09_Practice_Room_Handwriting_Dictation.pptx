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F1-L09 (Write Clearly, Then Fluently) — new practice tasks built on the lesson’s own word bank and grammar (the WRITE routine (Watch · Repeat · Imagine · Try · Examine); five features of clear handwriting with repair codes — L letter shape · D dots · J joins · M marks · S spacing and baseline; fair dictation: listen · hold · write · check).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Core: alphabet from memory + round A. Develop: rounds A and B with codes. Stretch: all three rounds and two repairs from memory. Fair dictation: the buddy reads each word twice, at normal speed, and does not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Write Clearly, Then Fluently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الكِتَابَةُ الوَاضِحَةُ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handwriting practice: say the lesson’s dictation words, act a “what needs repairing?” mini-dialogue, give repair codes on point-and-say cards, check pairs of written words on a reading card, race to spell words aloud letter by letter, then choose the clearly written form, spot slips with a code, and do three rounds of fair dictation.</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F1-L09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Spell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spells it letter by letter in Arabic (kāf · tāʾ · alif · bāʾ), then reads it. The Coach checks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spells each word by letter names, then reads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letters and marks.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word and read it.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Spell it by letter names.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Spell it with the marks too (kāf-kasra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Dictation words — round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الإِمْلَاءِ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door</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breaker ا</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A</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كِتَابٌ</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long ā</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A</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قَلَمٌ</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pen</a:t>
            </a:r>
            <a:endParaRPr lang="en-US" sz="1350" dirty="0"/>
          </a:p>
          <a:p>
            <a:pPr indent="0" marL="0">
              <a:buNone/>
            </a:pPr>
            <a:r>
              <a:rPr lang="en-US" sz="1100" i="1" dirty="0">
                <a:solidFill>
                  <a:srgbClr val="5A6472"/>
                </a:solidFill>
                <a:latin typeface="Calibri" pitchFamily="34" charset="0"/>
                <a:cs typeface="Amiri" pitchFamily="2" charset="-78"/>
              </a:rPr>
              <a:t>q: two dots</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A</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sukūn · ة</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A</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بَيْتٌ</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house</a:t>
            </a:r>
            <a:endParaRPr lang="en-US" sz="1350" dirty="0"/>
          </a:p>
          <a:p>
            <a:pPr indent="0" marL="0">
              <a:buNone/>
            </a:pPr>
            <a:r>
              <a:rPr lang="en-US" sz="1100" i="1" dirty="0">
                <a:solidFill>
                  <a:srgbClr val="5A6472"/>
                </a:solidFill>
                <a:latin typeface="Calibri" pitchFamily="34" charset="0"/>
                <a:cs typeface="Amiri" pitchFamily="2" charset="-78"/>
              </a:rPr>
              <a:t>sukūn on y</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B</a:t>
            </a:r>
            <a:endParaRPr lang="en-US" sz="8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مُعَلِّمٌ</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shadda</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Dictation words — rounds B and 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الإِمْلَاءِ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B</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طَالِبٌ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student</a:t>
            </a:r>
            <a:endParaRPr lang="en-US" sz="1350" dirty="0"/>
          </a:p>
          <a:p>
            <a:pPr indent="0" marL="0">
              <a:buNone/>
            </a:pPr>
            <a:r>
              <a:rPr lang="en-US" sz="1100" i="1" dirty="0">
                <a:solidFill>
                  <a:srgbClr val="5A6472"/>
                </a:solidFill>
                <a:latin typeface="Calibri" pitchFamily="34" charset="0"/>
                <a:cs typeface="Amiri" pitchFamily="2" charset="-78"/>
              </a:rPr>
              <a:t>heavy ṭ</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B</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eye</a:t>
            </a:r>
            <a:endParaRPr lang="en-US" sz="1350" dirty="0"/>
          </a:p>
          <a:p>
            <a:pPr indent="0" marL="0">
              <a:buNone/>
            </a:pPr>
            <a:r>
              <a:rPr lang="en-US" sz="1100" i="1" dirty="0">
                <a:solidFill>
                  <a:srgbClr val="5A6472"/>
                </a:solidFill>
                <a:latin typeface="Calibri" pitchFamily="34" charset="0"/>
                <a:cs typeface="Amiri" pitchFamily="2" charset="-78"/>
              </a:rPr>
              <a:t>ʿayn at the start</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B</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word</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ة at the end</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C</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ثَلَاثَةٌ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three</a:t>
            </a:r>
            <a:endParaRPr lang="en-US" sz="1350" dirty="0"/>
          </a:p>
          <a:p>
            <a:pPr indent="0" marL="0">
              <a:buNone/>
            </a:pPr>
            <a:r>
              <a:rPr lang="en-US" sz="1100" i="1" dirty="0">
                <a:solidFill>
                  <a:srgbClr val="5A6472"/>
                </a:solidFill>
                <a:latin typeface="Calibri" pitchFamily="34" charset="0"/>
                <a:cs typeface="Amiri" pitchFamily="2" charset="-78"/>
              </a:rPr>
              <a:t>th: three dots</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Shape 5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C</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وَلَدٌ</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boy</a:t>
            </a:r>
            <a:endParaRPr lang="en-US" sz="1350" dirty="0"/>
          </a:p>
          <a:p>
            <a:pPr indent="0" marL="0">
              <a:buNone/>
            </a:pPr>
            <a:r>
              <a:rPr lang="en-US" sz="1100" i="1" dirty="0">
                <a:solidFill>
                  <a:srgbClr val="5A6472"/>
                </a:solidFill>
                <a:latin typeface="Calibri" pitchFamily="34" charset="0"/>
                <a:cs typeface="Amiri" pitchFamily="2" charset="-78"/>
              </a:rPr>
              <a:t>two breakers</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3" name="Shape 60"/>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round C</a:t>
            </a:r>
            <a:endParaRPr lang="en-US" sz="8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جَدِيدٌ</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new</a:t>
            </a:r>
            <a:endParaRPr lang="en-US" sz="1350" dirty="0"/>
          </a:p>
          <a:p>
            <a:pPr indent="0" marL="0">
              <a:buNone/>
            </a:pPr>
            <a:r>
              <a:rPr lang="en-US" sz="1100" i="1" dirty="0">
                <a:solidFill>
                  <a:srgbClr val="5A6472"/>
                </a:solidFill>
                <a:latin typeface="Calibri" pitchFamily="34" charset="0"/>
                <a:cs typeface="Amiri" pitchFamily="2" charset="-78"/>
              </a:rPr>
              <a:t>long ī</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needs repairing?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نُصْلِحُ؟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at my word: “bāp” (three dots below).</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انْظُرْ إِلَى كَلِمَتِي: «بَاپٌ».</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Code D (dots): bāʾ has ONE dot.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رَمْزُ النُّقَاطِ: البَاءُ لَهَا نُقْطَةٌ وَاحِدَةٌ.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 ld” (with a gap)?</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وَ«و لد»؟</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Code J (joins): lām joins the dāl: walad.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رَمْزُ الوَصْلِ: اللَّامُ تَتَّصِلُ بِالدَّالِ: «وَلَدٌ».</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Thanks! I’ll write it again.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شُكْرًا! أَكْتُبُهَا مَرَّةً أُخْرَى.</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Well done — now it’s clear.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أَحْسَنْتَ — الآنَ وَاضِحَةٌ.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write a word with ONE deliberate mistake in the chat; your partner gives the code (L · D · J · M · 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Repair cards — read, give the code, fix</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قَافٌ</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meant: pen · code D (dots)</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فَلَمٌ</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سُكُونٌ</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meant: school · code M (a mark is missing)</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مَدرَسَةٌ</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meant: book · code S (spacing)</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كِتَا ب</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عَيْنَانِ</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meant: eye · code D (no dot on ʿayn)</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غَيْنٌ</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طَالِبَةٌ</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meant: student · code D (no dot on ṭāʾ)</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ظَالِبٌ</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The Speaker reads the slip, names the code (L · D · J · M · S — see the hint) and says the correct word. Develop: spell the correct word. Stretch: write it in the chat.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Reading card — which is written clearly?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at the dot</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says “new”? Why?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جَدِيدٌ · حَدِيدٌ</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 the dots</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says “three”?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ثَلَاثَةٌ · تَلَاتَةٌ</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for the shadda</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is complete?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مُعَلِّمٌ · مُعَلِمٌ</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letters, two breakers</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Spell it by letter names.</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وَلَدٌ</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checker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Spelling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التَّهْجِئَةِ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Spell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spell as many words from the word slides as you can by letter names (bāʾ · alif · bāʾ = bāb). The Coach counts the correct ones.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Spell three round-A words.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Spell six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Spell round-C words, including the marks.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clearly written part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school — madrasa</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سَه</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pen — qalam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word — kalima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school — madrasa</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 sukūn on d · D: r has no dot ·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 at the end.</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pen — qalam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 two dots on q · M: every mark written.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قَلَمٌ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word — kalima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 Arabic kāf shape ·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 not </a:t>
            </a:r>
            <a:pPr algn="l" indent="0" marL="0">
              <a:buNone/>
            </a:pPr>
            <a:r>
              <a:rPr lang="ar-SA" altLang="en-US" sz="1350" dirty="0">
                <a:solidFill>
                  <a:srgbClr val="5A6472"/>
                </a:solidFill>
                <a:latin typeface="Amiri" pitchFamily="2" charset="-78"/>
                <a:ea typeface="Amiri" pitchFamily="2" charset="-78"/>
                <a:cs typeface="Amiri" pitchFamily="2" charset="-78"/>
              </a:rPr>
              <a:t>ه</a:t>
            </a:r>
            <a:pPr algn="l" indent="0" marL="0">
              <a:buNone/>
            </a:pPr>
            <a:r>
              <a:rPr lang="en-US" sz="1050" i="1" dirty="0">
                <a:solidFill>
                  <a:srgbClr val="5A6472"/>
                </a:solidFill>
                <a:latin typeface="Calibri" pitchFamily="34" charset="0"/>
                <a:cs typeface="Amiri" pitchFamily="2" charset="-78"/>
              </a:rPr>
              <a:t>, at the end.</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كَلِمَةٌ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بَيتٌ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Code M — a mark is missing.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كَلِمَه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Code L — the last letter.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وَ لَدٌ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Code S — spacing.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بَيتٌ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بَيْتٌ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sukūn on yāʾ: bay-tun.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كَلِمَه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كَلِمَةٌ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ending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has two dots.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وَ لَدٌ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وَلَدٌ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the small gap after </a:t>
            </a:r>
            <a:pPr algn="l" indent="0" marL="0">
              <a:buNone/>
            </a:pPr>
            <a:r>
              <a:rPr lang="ar-SA" altLang="en-US" sz="1500" b="1" dirty="0">
                <a:solidFill>
                  <a:srgbClr val="1B3B6F"/>
                </a:solidFill>
                <a:latin typeface="Amiri" pitchFamily="2" charset="-78"/>
                <a:ea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 is natural, not a space.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ب: ١ ______ ٢ ______ ٣ ______ ٤ ______</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Round B — four words.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 ١ ______ ٢ ______ ٣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Round C — three words (Stretch).</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 ب ت ث ج ح خ … ي</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Write the 28 letters from memory.</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أ: ١ ______ ٢ ______ ٣ ______ ٤ ______ ٥ ______</a:t>
            </a:r>
            <a:endParaRPr lang="ar-SA" sz="14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Round A — five words.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بَابٌ ______ كِتَابٌ ______</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anchor words.</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أُصْلِحُ: ______ ←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Repair one word: wrong → right.</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بَابٌ · كِتَابٌ  ·  قَلَمٌ · مَدْرَسَةٌ  ·  بَيْتٌ  ·  مُعَلِّمٌ · طَالِبٌ  ·  عَيْنٌ · كَلِمَةٌ  ·  ثَلَاثَةٌ · وَلَدٌ  ·  جَدِيدٌ  ·  إِمْلَاءٌ</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8 · COPY, LISTEN AND WRITE · ALPHABET · DICTATION · REPAIR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Copy, listen and write: three dictation rounds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إِمْلَاءٌ فِي ثَلَاثِ جَوْلَاتٍ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 your book: • write the 28 letters from memory (then check) • DICTATION in three rounds: your buddy reads round A (5 words), then B, then C — LISTEN · HOLD · WRITE · CHECK • mark each word with a code (L · D · J · M · S) and write any repaired word again from memory.</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28 letters from memory, right to left.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Each dictation word: listen · hold · write · check.</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word given a code or a ✓.</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Rounds B and C (Develop · Stretch).</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repaired word written again from memory.</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L · D · J · M · S</a:t>
            </a:r>
            <a:endParaRPr lang="en-US"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shape · dots · joins · marks · spacing</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اسْمَعْ · احْفَظْ · اكْتُبْ · رَاجِعْ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listen · hold · write · check</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dictation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أُصْلِحُ</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repair</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all 28 letters in the right order?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dots in the right number and place (code 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(code J)?</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mark (code M)?</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repair a word and write it again from memory?</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جَدِيدٌ</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jadīd — new (</a:t>
            </a:r>
            <a:pPr algn="ctr" indent="0" marL="0">
              <a:buNone/>
            </a:pPr>
            <a:r>
              <a:rPr lang="ar-SA" altLang="en-US" sz="1250" dirty="0">
                <a:solidFill>
                  <a:srgbClr val="5A6472"/>
                </a:solidFill>
                <a:latin typeface="Amiri" pitchFamily="2" charset="-78"/>
                <a:ea typeface="Amiri" pitchFamily="2" charset="-78"/>
                <a:cs typeface="Amiri" pitchFamily="2" charset="-78"/>
              </a:rPr>
              <a:t>ج</a:t>
            </a:r>
            <a:pPr algn="ctr" indent="0" marL="0">
              <a:buNone/>
            </a:pPr>
            <a:r>
              <a:rPr lang="en-US" sz="950" i="1" dirty="0">
                <a:solidFill>
                  <a:srgbClr val="5A6472"/>
                </a:solidFill>
                <a:latin typeface="Calibri" pitchFamily="34" charset="0"/>
                <a:cs typeface="Amiri" pitchFamily="2" charset="-78"/>
              </a:rPr>
              <a:t> has a dot; </a:t>
            </a:r>
            <a:pPr algn="ctr" indent="0" marL="0">
              <a:buNone/>
            </a:pPr>
            <a:r>
              <a:rPr lang="ar-SA" altLang="en-US" sz="1250" dirty="0">
                <a:solidFill>
                  <a:srgbClr val="5A6472"/>
                </a:solidFill>
                <a:latin typeface="Amiri" pitchFamily="2" charset="-78"/>
                <a:ea typeface="Amiri" pitchFamily="2" charset="-78"/>
                <a:cs typeface="Amiri" pitchFamily="2" charset="-78"/>
              </a:rPr>
              <a:t>حَدِيدٌ</a:t>
            </a:r>
            <a:pPr algn="ctr" indent="0" marL="0">
              <a:buNone/>
            </a:pPr>
            <a:r>
              <a:rPr lang="en-US" sz="950" i="1" dirty="0">
                <a:solidFill>
                  <a:srgbClr val="5A6472"/>
                </a:solidFill>
                <a:latin typeface="Calibri" pitchFamily="34" charset="0"/>
                <a:cs typeface="Amiri" pitchFamily="2" charset="-78"/>
              </a:rPr>
              <a:t> = iron).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جَدِيدٌ · حَدِيدٌ</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thalātha — three dots on each th.</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ثَلَاثَةٌ · تَلَاتَةٌ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muʿallim — shadda on lām (code M).</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مُعَلِّمٌ · مُعَلِمٌ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وَاوٌ · لَامٌ · دَالٌ</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wāw · lām · dāl.</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وَلَدٌ</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 ب ت ث ج ح خ د ذ ر ز س ش ص ض ط ظ ع غ ف ق ك ل م ن ه و ي</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 بَابٌ · كِتَابٌ · قَلَمٌ · مَدْرَسَةٌ · بَيْتٌ</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ب: مُعَلِّمٌ · طَالِبٌ · عَيْنٌ · كَلِمَةٌ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ج: ثَلَاثَةٌ · وَلَدٌ · جَدِيدٌ</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أُصْلِحُ: بَيتٌ ← بَيْتٌ</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28 letters from memory. Lines 2–4: the three dictation rounds. Line 5: one repair (code M — a missing sukūn).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 ب ت ث</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مَدْرَسَةٌ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مُعَلِّمٌ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جَدِيدٌ</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F1-L10 · Read What Is Written: Unvowelled Text</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قِرَاءَةُ النُّصُوصِ غَيْرِ المَشْكُولَةِ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F1-L09 · Practice Room — Write Clearly, Then Fluently</dc:title>
  <dc:subject>PptxGenJS Presentation</dc:subject>
  <dc:creator>Al Madina Online School · Arabic Department</dc:creator>
  <cp:lastModifiedBy>Al Madina Online School · Arabic Department</cp:lastModifiedBy>
  <cp:revision>1</cp:revision>
  <dcterms:created xsi:type="dcterms:W3CDTF">2026-10-26T03:40:59Z</dcterms:created>
  <dcterms:modified xsi:type="dcterms:W3CDTF">2026-10-26T03:40:59Z</dcterms:modified>
</cp:coreProperties>
</file>