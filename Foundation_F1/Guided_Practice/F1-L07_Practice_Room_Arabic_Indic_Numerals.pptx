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F1-L07 (Read the Number, Keep the Order) — new practice tasks built on the lesson’s own word bank and grammar (the ten digits ٠ ١ ٢ ٣ ٤ ٥ ٦ ٧ ٨ ٩; numbers are written left to right even inside Arabic (١٥ = 15); look-alikes (٥ circle vs ٠ dot · ٧ V vs ٨ upside-down V · ٢ vs ٣); saying 0–20; reading real numbers in prices, rooms, scores and times).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numbers, then choose the correct Arabic digits from each column, starting on the RIGHT (column 1). Watch for reversed two-digit numbers and look-alikes. Students copy the three answers into their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numbers, then choose the correct Arabic digits from each column, starting on the RIGHT (column 1). Watch for reversed two-digit numbers and look-alikes. Students copy the three answers into their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8 (10 min). Core: copy the digits and ١٠–٢٠ with the frames. Develop: a five-number dictation + one price. Stretch: dictation of eight numbers including look-alikes (٧/٨ · ٢/٣ · ٥/٠). Teacher checks order in two-digit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 the Number, Keep the Order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الأَرْقَامُ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practice with Arabic numerals: say the digits and their names, act a “how old / which room?” mini-dialogue, do point-and-say cards, read real numbers on a reading card (price, room, score, time), race to count 0–20, then write numbers in the right order, spot look-alike slips, and copy and write numbers from dictation.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F1-L07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Number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number in ENGLISH (0–10 or 20). The Speaker points to the digit and says it in Arabic. The Coach checks.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numbers in English.</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points to the digit and says the Arabic word.</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Leader writes a digit in the chat; the Speaker says it.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digit and say the Arabic word.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next number too.</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backwards from the number to zero.</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Digits zero to five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٠</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zero — a dot</a:t>
            </a:r>
            <a:endParaRPr lang="en-US" sz="1350" dirty="0"/>
          </a:p>
          <a:p>
            <a:pPr indent="0" marL="0">
              <a:buNone/>
            </a:pPr>
            <a:r>
              <a:rPr lang="en-US" sz="1100" i="1" dirty="0">
                <a:solidFill>
                  <a:srgbClr val="5A6472"/>
                </a:solidFill>
                <a:latin typeface="Calibri" pitchFamily="34" charset="0"/>
                <a:cs typeface="Amiri" pitchFamily="2" charset="-78"/>
              </a:rPr>
              <a:t>ṣifr</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صِفْرٌ</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١</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a:t>
            </a:r>
            <a:endParaRPr lang="en-US" sz="1350" dirty="0"/>
          </a:p>
          <a:p>
            <a:pPr indent="0" marL="0">
              <a:buNone/>
            </a:pPr>
            <a:r>
              <a:rPr lang="en-US" sz="1100" i="1" dirty="0">
                <a:solidFill>
                  <a:srgbClr val="5A6472"/>
                </a:solidFill>
                <a:latin typeface="Calibri" pitchFamily="34" charset="0"/>
                <a:cs typeface="Amiri" pitchFamily="2" charset="-78"/>
              </a:rPr>
              <a:t>wāḥid</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وَاحِدٌ</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٢</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two — one hook</a:t>
            </a:r>
            <a:endParaRPr lang="en-US" sz="1350" dirty="0"/>
          </a:p>
          <a:p>
            <a:pPr indent="0" marL="0">
              <a:buNone/>
            </a:pPr>
            <a:r>
              <a:rPr lang="en-US" sz="1100" i="1" dirty="0">
                <a:solidFill>
                  <a:srgbClr val="5A6472"/>
                </a:solidFill>
                <a:latin typeface="Calibri" pitchFamily="34" charset="0"/>
                <a:cs typeface="Amiri" pitchFamily="2" charset="-78"/>
              </a:rPr>
              <a:t>ithnān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اثْنَانِ</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٣</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three — two hooks</a:t>
            </a:r>
            <a:endParaRPr lang="en-US" sz="1350" dirty="0"/>
          </a:p>
          <a:p>
            <a:pPr indent="0" marL="0">
              <a:buNone/>
            </a:pPr>
            <a:r>
              <a:rPr lang="en-US" sz="1100" i="1" dirty="0">
                <a:solidFill>
                  <a:srgbClr val="5A6472"/>
                </a:solidFill>
                <a:latin typeface="Calibri" pitchFamily="34" charset="0"/>
                <a:cs typeface="Amiri" pitchFamily="2" charset="-78"/>
              </a:rPr>
              <a:t>thalātha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ثَلَاثَةٌ</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٤</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four</a:t>
            </a:r>
            <a:endParaRPr lang="en-US" sz="1350" dirty="0"/>
          </a:p>
          <a:p>
            <a:pPr indent="0" marL="0">
              <a:buNone/>
            </a:pPr>
            <a:r>
              <a:rPr lang="en-US" sz="1100" i="1" dirty="0">
                <a:solidFill>
                  <a:srgbClr val="5A6472"/>
                </a:solidFill>
                <a:latin typeface="Calibri" pitchFamily="34" charset="0"/>
                <a:cs typeface="Amiri" pitchFamily="2" charset="-78"/>
              </a:rPr>
              <a:t>arbaʿa</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أَرْبَعَةٌ</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٥</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 a small circle</a:t>
            </a:r>
            <a:endParaRPr lang="en-US" sz="1350" dirty="0"/>
          </a:p>
          <a:p>
            <a:pPr indent="0" marL="0">
              <a:buNone/>
            </a:pPr>
            <a:r>
              <a:rPr lang="en-US" sz="1100" i="1" dirty="0">
                <a:solidFill>
                  <a:srgbClr val="5A6472"/>
                </a:solidFill>
                <a:latin typeface="Calibri" pitchFamily="34" charset="0"/>
                <a:cs typeface="Amiri" pitchFamily="2" charset="-78"/>
              </a:rPr>
              <a:t>khamsa</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خَمْسَةٌ</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Digits six to nine, ten and twenty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٦</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six</a:t>
            </a:r>
            <a:endParaRPr lang="en-US" sz="1350" dirty="0"/>
          </a:p>
          <a:p>
            <a:pPr indent="0" marL="0">
              <a:buNone/>
            </a:pPr>
            <a:r>
              <a:rPr lang="en-US" sz="1100" i="1" dirty="0">
                <a:solidFill>
                  <a:srgbClr val="5A6472"/>
                </a:solidFill>
                <a:latin typeface="Calibri" pitchFamily="34" charset="0"/>
                <a:cs typeface="Amiri" pitchFamily="2" charset="-78"/>
              </a:rPr>
              <a:t>sitta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سِتَّةٌ</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٧</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seven — a V</a:t>
            </a:r>
            <a:endParaRPr lang="en-US" sz="1350" dirty="0"/>
          </a:p>
          <a:p>
            <a:pPr indent="0" marL="0">
              <a:buNone/>
            </a:pPr>
            <a:r>
              <a:rPr lang="en-US" sz="1100" i="1" dirty="0">
                <a:solidFill>
                  <a:srgbClr val="5A6472"/>
                </a:solidFill>
                <a:latin typeface="Calibri" pitchFamily="34" charset="0"/>
                <a:cs typeface="Amiri" pitchFamily="2" charset="-78"/>
              </a:rPr>
              <a:t>sabʿa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سَبْعَةٌ</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٨</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eight — an upside-down V</a:t>
            </a:r>
            <a:endParaRPr lang="en-US" sz="1350" dirty="0"/>
          </a:p>
          <a:p>
            <a:pPr indent="0" marL="0">
              <a:buNone/>
            </a:pPr>
            <a:r>
              <a:rPr lang="en-US" sz="1100" i="1" dirty="0">
                <a:solidFill>
                  <a:srgbClr val="5A6472"/>
                </a:solidFill>
                <a:latin typeface="Calibri" pitchFamily="34" charset="0"/>
                <a:cs typeface="Amiri" pitchFamily="2" charset="-78"/>
              </a:rPr>
              <a:t>thamāniya</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ثَمَانِيَةٌ</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digit</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٩</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nine</a:t>
            </a:r>
            <a:endParaRPr lang="en-US" sz="1350" dirty="0"/>
          </a:p>
          <a:p>
            <a:pPr indent="0" marL="0">
              <a:buNone/>
            </a:pPr>
            <a:r>
              <a:rPr lang="en-US" sz="1100" i="1" dirty="0">
                <a:solidFill>
                  <a:srgbClr val="5A6472"/>
                </a:solidFill>
                <a:latin typeface="Calibri" pitchFamily="34" charset="0"/>
                <a:cs typeface="Amiri" pitchFamily="2" charset="-78"/>
              </a:rPr>
              <a:t>tisʿa</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تِسْعَةٌ</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number</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١٠</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a:t>
            </a:r>
            <a:endParaRPr lang="en-US" sz="1350" dirty="0"/>
          </a:p>
          <a:p>
            <a:pPr indent="0" marL="0">
              <a:buNone/>
            </a:pPr>
            <a:r>
              <a:rPr lang="en-US" sz="1100" i="1" dirty="0">
                <a:solidFill>
                  <a:srgbClr val="5A6472"/>
                </a:solidFill>
                <a:latin typeface="Calibri" pitchFamily="34" charset="0"/>
                <a:cs typeface="Amiri" pitchFamily="2" charset="-78"/>
              </a:rPr>
              <a:t>ʿashara</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عَشَرَةٌ</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number</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٢٠</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a:t>
            </a:r>
            <a:endParaRPr lang="en-US" sz="1350" dirty="0"/>
          </a:p>
          <a:p>
            <a:pPr indent="0" marL="0">
              <a:buNone/>
            </a:pPr>
            <a:r>
              <a:rPr lang="en-US" sz="1100" i="1" dirty="0">
                <a:solidFill>
                  <a:srgbClr val="5A6472"/>
                </a:solidFill>
                <a:latin typeface="Calibri" pitchFamily="34" charset="0"/>
                <a:cs typeface="Amiri" pitchFamily="2" charset="-78"/>
              </a:rPr>
              <a:t>ʿishrūn</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عِشْرُونَ</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old? Which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عُمْرُكَ؟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are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عُمْرُكَ؟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twelve. (12)</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عُمْرِي اثْنَا عَشَرَ عَامًا. (١٢)</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room number?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رَقْمُ غُرْفَتِكَ؟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fifteen. (15)</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غُرْفَةُ خَمْسَةَ عَشَرَ. (١٥)</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phone number?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وَرَقْمُ هَاتِفِكَ؟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Zero, seven, three … (073)</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صِفْرٌ، سَبْعَةٌ، ثَلَاثَةٌ … (٠٧٣)</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age and an invented room and phone number — your partner writes the digits.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to the number, say it,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hooks on top</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٣</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تِسْعَةٌ</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ثَمَانِيَةٌ</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upside-down V</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٨</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عَشَرَ</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اثْنَا عَشَرَ</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then two — same order as English</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١٢</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سِتَّةَ عَشَرَ</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 عَشَرَ</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١٥</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عَشَرَةٌ</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عِشْرُونَ</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twenty</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٢٠</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real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pounds</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price.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٥ جُنَيْهَاتٍ</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fourteen</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room number.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غُرْفَةُ ١٤</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 one</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football score.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٣ – ١</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then 8</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it — careful with the order!</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١٨</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Count to twenty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نَعُدُّ إِلَى عِشْرِينَ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count from </a:t>
            </a:r>
            <a:pPr algn="l" indent="0" marL="0">
              <a:buNone/>
            </a:pPr>
            <a:r>
              <a:rPr lang="ar-SA" altLang="en-US" sz="1750" dirty="0">
                <a:solidFill>
                  <a:srgbClr val="1F2A37"/>
                </a:solidFill>
                <a:latin typeface="Amiri" pitchFamily="2" charset="-78"/>
                <a:ea typeface="Amiri" pitchFamily="2" charset="-78"/>
                <a:cs typeface="Amiri" pitchFamily="2" charset="-78"/>
              </a:rPr>
              <a:t>٠</a:t>
            </a:r>
            <a:pPr algn="l" indent="0" marL="0">
              <a:buNone/>
            </a:pPr>
            <a:r>
              <a:rPr lang="en-US" sz="1350" dirty="0">
                <a:solidFill>
                  <a:srgbClr val="1F2A37"/>
                </a:solidFill>
                <a:latin typeface="Calibri" pitchFamily="34" charset="0"/>
                <a:cs typeface="Amiri" pitchFamily="2" charset="-78"/>
              </a:rPr>
              <a:t> to </a:t>
            </a:r>
            <a:pPr algn="l" indent="0" marL="0">
              <a:buNone/>
            </a:pPr>
            <a:r>
              <a:rPr lang="ar-SA" altLang="en-US" sz="1750" dirty="0">
                <a:solidFill>
                  <a:srgbClr val="1F2A37"/>
                </a:solidFill>
                <a:latin typeface="Amiri" pitchFamily="2" charset="-78"/>
                <a:ea typeface="Amiri" pitchFamily="2" charset="-78"/>
                <a:cs typeface="Amiri" pitchFamily="2" charset="-78"/>
              </a:rPr>
              <a:t>٢٠</a:t>
            </a:r>
            <a:pPr algn="l" indent="0" marL="0">
              <a:buNone/>
            </a:pPr>
            <a:r>
              <a:rPr lang="en-US" sz="1350" dirty="0">
                <a:solidFill>
                  <a:srgbClr val="1F2A37"/>
                </a:solidFill>
                <a:latin typeface="Calibri" pitchFamily="34" charset="0"/>
                <a:cs typeface="Amiri" pitchFamily="2" charset="-78"/>
              </a:rPr>
              <a:t> in Arabic while your partner points to the digits you say (write </a:t>
            </a:r>
            <a:pPr algn="l" indent="0" marL="0">
              <a:buNone/>
            </a:pPr>
            <a:r>
              <a:rPr lang="ar-SA" altLang="en-US" sz="1750" dirty="0">
                <a:solidFill>
                  <a:srgbClr val="1F2A37"/>
                </a:solidFill>
                <a:latin typeface="Amiri" pitchFamily="2" charset="-78"/>
                <a:ea typeface="Amiri" pitchFamily="2" charset="-78"/>
                <a:cs typeface="Amiri" pitchFamily="2" charset="-78"/>
              </a:rPr>
              <a:t>٠</a:t>
            </a:r>
            <a:pPr algn="l" indent="0" marL="0">
              <a:buNone/>
            </a:pPr>
            <a:r>
              <a:rPr lang="en-US" sz="1350" dirty="0">
                <a:solidFill>
                  <a:srgbClr val="1F2A37"/>
                </a:solidFill>
                <a:latin typeface="Calibri" pitchFamily="34" charset="0"/>
                <a:cs typeface="Amiri" pitchFamily="2" charset="-78"/>
              </a:rPr>
              <a:t>–</a:t>
            </a:r>
            <a:pPr algn="l" indent="0" marL="0">
              <a:buNone/>
            </a:pPr>
            <a:r>
              <a:rPr lang="ar-SA" altLang="en-US" sz="1750" dirty="0">
                <a:solidFill>
                  <a:srgbClr val="1F2A37"/>
                </a:solidFill>
                <a:latin typeface="Amiri" pitchFamily="2" charset="-78"/>
                <a:ea typeface="Amiri" pitchFamily="2" charset="-78"/>
                <a:cs typeface="Amiri" pitchFamily="2" charset="-78"/>
              </a:rPr>
              <a:t>٢٠</a:t>
            </a:r>
            <a:pPr algn="l" indent="0" marL="0">
              <a:buNone/>
            </a:pPr>
            <a:r>
              <a:rPr lang="en-US" sz="1350" dirty="0">
                <a:solidFill>
                  <a:srgbClr val="1F2A37"/>
                </a:solidFill>
                <a:latin typeface="Calibri" pitchFamily="34" charset="0"/>
                <a:cs typeface="Amiri" pitchFamily="2" charset="-78"/>
              </a:rPr>
              <a:t> in your book first). The Coach counts how far you get.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0–10.</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0–20.</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20 → 0 backwards.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Write the numbers in the right order</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7 · 12 · 20</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١٢</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٢١</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٢٠</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٠٢</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5 · 15 · 0</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٥</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٠</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١٥</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٥١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٠</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٥</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3 · 18 · 6</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٣</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٢</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١٨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٨١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٦</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7 · 12 · 20</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Digits keep the same order as English: 12 = </a:t>
            </a:r>
            <a:pPr algn="l" indent="0" marL="0">
              <a:buNone/>
            </a:pPr>
            <a:r>
              <a:rPr lang="ar-SA" altLang="en-US" sz="1350" dirty="0">
                <a:solidFill>
                  <a:srgbClr val="5A6472"/>
                </a:solidFill>
                <a:latin typeface="Amiri" pitchFamily="2" charset="-78"/>
                <a:ea typeface="Amiri" pitchFamily="2" charset="-78"/>
                <a:cs typeface="Amiri" pitchFamily="2" charset="-78"/>
              </a:rPr>
              <a:t>١٢</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٧ · ١٢ · ٢٠</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5 · 15 · 0</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٥</a:t>
            </a:r>
            <a:pPr algn="l" indent="0" marL="0">
              <a:buNone/>
            </a:pPr>
            <a:r>
              <a:rPr lang="en-US" sz="1050" i="1" dirty="0">
                <a:solidFill>
                  <a:srgbClr val="5A6472"/>
                </a:solidFill>
                <a:latin typeface="Calibri" pitchFamily="34" charset="0"/>
                <a:cs typeface="Amiri" pitchFamily="2" charset="-78"/>
              </a:rPr>
              <a:t> is a small circle; </a:t>
            </a:r>
            <a:pPr algn="l" indent="0" marL="0">
              <a:buNone/>
            </a:pPr>
            <a:r>
              <a:rPr lang="ar-SA" altLang="en-US" sz="1350" dirty="0">
                <a:solidFill>
                  <a:srgbClr val="5A6472"/>
                </a:solidFill>
                <a:latin typeface="Amiri" pitchFamily="2" charset="-78"/>
                <a:ea typeface="Amiri" pitchFamily="2" charset="-78"/>
                <a:cs typeface="Amiri" pitchFamily="2" charset="-78"/>
              </a:rPr>
              <a:t>٠</a:t>
            </a:r>
            <a:pPr algn="l" indent="0" marL="0">
              <a:buNone/>
            </a:pPr>
            <a:r>
              <a:rPr lang="en-US" sz="1050" i="1" dirty="0">
                <a:solidFill>
                  <a:srgbClr val="5A6472"/>
                </a:solidFill>
                <a:latin typeface="Calibri" pitchFamily="34" charset="0"/>
                <a:cs typeface="Amiri" pitchFamily="2" charset="-78"/>
              </a:rPr>
              <a:t> is a dot.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٥ · ١٥ · ٠</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3 · 18 · 6</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٣</a:t>
            </a:r>
            <a:pPr algn="l" indent="0" marL="0">
              <a:buNone/>
            </a:pPr>
            <a:r>
              <a:rPr lang="en-US" sz="1050" i="1" dirty="0">
                <a:solidFill>
                  <a:srgbClr val="5A6472"/>
                </a:solidFill>
                <a:latin typeface="Calibri" pitchFamily="34" charset="0"/>
                <a:cs typeface="Amiri" pitchFamily="2" charset="-78"/>
              </a:rPr>
              <a:t> has two hooks; </a:t>
            </a:r>
            <a:pPr algn="l" indent="0" marL="0">
              <a:buNone/>
            </a:pPr>
            <a:r>
              <a:rPr lang="ar-SA" altLang="en-US" sz="1350" dirty="0">
                <a:solidFill>
                  <a:srgbClr val="5A6472"/>
                </a:solidFill>
                <a:latin typeface="Amiri" pitchFamily="2" charset="-78"/>
                <a:ea typeface="Amiri" pitchFamily="2" charset="-78"/>
                <a:cs typeface="Amiri" pitchFamily="2" charset="-78"/>
              </a:rPr>
              <a:t>٢</a:t>
            </a:r>
            <a:pPr algn="l" indent="0" marL="0">
              <a:buNone/>
            </a:pPr>
            <a:r>
              <a:rPr lang="en-US" sz="1050" i="1" dirty="0">
                <a:solidFill>
                  <a:srgbClr val="5A6472"/>
                </a:solidFill>
                <a:latin typeface="Calibri" pitchFamily="34" charset="0"/>
                <a:cs typeface="Amiri" pitchFamily="2" charset="-78"/>
              </a:rPr>
              <a:t> has one.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٣ · ١٨ · ٦</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٢١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Write twelve.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٠</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Write five.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Write seven.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٢١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١٢</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order as English: first 1, then 2.</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٠</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٥</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٥</a:t>
            </a:r>
            <a:pPr algn="l" indent="0" marL="0">
              <a:buNone/>
            </a:pPr>
            <a:r>
              <a:rPr lang="en-US" sz="1150" b="1" dirty="0">
                <a:solidFill>
                  <a:srgbClr val="1B3B6F"/>
                </a:solidFill>
                <a:latin typeface="Calibri" pitchFamily="34" charset="0"/>
                <a:cs typeface="Amiri" pitchFamily="2" charset="-78"/>
              </a:rPr>
              <a:t> = a small circle; </a:t>
            </a:r>
            <a:pPr algn="l" indent="0" marL="0">
              <a:buNone/>
            </a:pPr>
            <a:r>
              <a:rPr lang="ar-SA" altLang="en-US" sz="1500" b="1" dirty="0">
                <a:solidFill>
                  <a:srgbClr val="1B3B6F"/>
                </a:solidFill>
                <a:latin typeface="Amiri" pitchFamily="2" charset="-78"/>
                <a:ea typeface="Amiri" pitchFamily="2" charset="-78"/>
                <a:cs typeface="Amiri" pitchFamily="2" charset="-78"/>
              </a:rPr>
              <a:t>٠</a:t>
            </a:r>
            <a:pPr algn="l" indent="0" marL="0">
              <a:buNone/>
            </a:pPr>
            <a:r>
              <a:rPr lang="en-US" sz="1150" b="1" dirty="0">
                <a:solidFill>
                  <a:srgbClr val="1B3B6F"/>
                </a:solidFill>
                <a:latin typeface="Calibri" pitchFamily="34" charset="0"/>
                <a:cs typeface="Amiri" pitchFamily="2" charset="-78"/>
              </a:rPr>
              <a:t> = a dot (zero).</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٧</a:t>
            </a:r>
            <a:pPr algn="l" indent="0" marL="0">
              <a:buNone/>
            </a:pPr>
            <a:r>
              <a:rPr lang="en-US" sz="1150" b="1" dirty="0">
                <a:solidFill>
                  <a:srgbClr val="1B3B6F"/>
                </a:solidFill>
                <a:latin typeface="Calibri" pitchFamily="34" charset="0"/>
                <a:cs typeface="Amiri" pitchFamily="2" charset="-78"/>
              </a:rPr>
              <a:t> opens upwards like a V; </a:t>
            </a:r>
            <a:pPr algn="l" indent="0" marL="0">
              <a:buNone/>
            </a:pPr>
            <a:r>
              <a:rPr lang="ar-SA" altLang="en-US" sz="1500" b="1" dirty="0">
                <a:solidFill>
                  <a:srgbClr val="1B3B6F"/>
                </a:solidFill>
                <a:latin typeface="Amiri" pitchFamily="2" charset="-78"/>
                <a:ea typeface="Amiri" pitchFamily="2" charset="-78"/>
                <a:cs typeface="Amiri" pitchFamily="2" charset="-78"/>
              </a:rPr>
              <a:t>٨</a:t>
            </a:r>
            <a:pPr algn="l" indent="0" marL="0">
              <a:buNone/>
            </a:pPr>
            <a:r>
              <a:rPr lang="en-US" sz="1150" b="1" dirty="0">
                <a:solidFill>
                  <a:srgbClr val="1B3B6F"/>
                </a:solidFill>
                <a:latin typeface="Calibri" pitchFamily="34" charset="0"/>
                <a:cs typeface="Amiri" pitchFamily="2" charset="-78"/>
              </a:rPr>
              <a:t> is upside down.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write the digits you hear.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السِّعْرُ: ______ جُنَيْهَاتٍ</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price: … pounds.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٠ ١ ٢ ٣ ٤ ٥ ٦ ٧ ٨ ٩</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ten digits — left to right.</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١٠ ______ ١١ ______ ١٢ ______</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Continue to </a:t>
            </a:r>
            <a:pPr algn="l" indent="0" marL="0">
              <a:buNone/>
            </a:pPr>
            <a:r>
              <a:rPr lang="ar-SA" altLang="en-US" sz="1350" dirty="0">
                <a:solidFill>
                  <a:srgbClr val="5A6472"/>
                </a:solidFill>
                <a:latin typeface="Amiri" pitchFamily="2" charset="-78"/>
                <a:ea typeface="Amiri" pitchFamily="2" charset="-78"/>
                <a:cs typeface="Amiri" pitchFamily="2" charset="-78"/>
              </a:rPr>
              <a:t>٢٠</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٥ جُنَيْهَاتٍ ______</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price.</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غُرْفَةُ ١٤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room number.</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٠ ١ ٢ ٣ ٤  ·  ٥ ٦ ٧ ٨ ٩  ·  ١٠ · ٢٠  ·  صِفْرٌ · وَاحِدٌ  ·  خَمْسَةٌ · عَشَرَةٌ  ·  عِشْرُونَ  ·  جُنَيْهٌ  ·  غُرْفَةٌ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PRICES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Copy, listen and write: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In your book: • copy the digits </a:t>
            </a:r>
            <a:pPr algn="l" indent="0" marL="0">
              <a:buNone/>
            </a:pPr>
            <a:r>
              <a:rPr lang="ar-SA" altLang="en-US" sz="1750" b="1" dirty="0">
                <a:solidFill>
                  <a:srgbClr val="1F2A37"/>
                </a:solidFill>
                <a:latin typeface="Amiri" pitchFamily="2" charset="-78"/>
                <a:ea typeface="Amiri" pitchFamily="2" charset="-78"/>
                <a:cs typeface="Amiri" pitchFamily="2" charset="-78"/>
              </a:rPr>
              <a:t>٠</a:t>
            </a:r>
            <a:pPr algn="l" indent="0" marL="0">
              <a:buNone/>
            </a:pPr>
            <a:r>
              <a:rPr lang="en-US" sz="1350" b="1" dirty="0">
                <a:solidFill>
                  <a:srgbClr val="1F2A37"/>
                </a:solidFill>
                <a:latin typeface="Calibri" pitchFamily="34" charset="0"/>
                <a:cs typeface="Amiri" pitchFamily="2" charset="-78"/>
              </a:rPr>
              <a:t>–</a:t>
            </a:r>
            <a:pPr algn="l" indent="0" marL="0">
              <a:buNone/>
            </a:pPr>
            <a:r>
              <a:rPr lang="ar-SA" altLang="en-US" sz="1750" b="1" dirty="0">
                <a:solidFill>
                  <a:srgbClr val="1F2A37"/>
                </a:solidFill>
                <a:latin typeface="Amiri" pitchFamily="2" charset="-78"/>
                <a:ea typeface="Amiri" pitchFamily="2" charset="-78"/>
                <a:cs typeface="Amiri" pitchFamily="2" charset="-78"/>
              </a:rPr>
              <a:t>٩</a:t>
            </a:r>
            <a:pPr algn="l" indent="0" marL="0">
              <a:buNone/>
            </a:pPr>
            <a:r>
              <a:rPr lang="en-US" sz="1350" b="1" dirty="0">
                <a:solidFill>
                  <a:srgbClr val="1F2A37"/>
                </a:solidFill>
                <a:latin typeface="Calibri" pitchFamily="34" charset="0"/>
                <a:cs typeface="Amiri" pitchFamily="2" charset="-78"/>
              </a:rPr>
              <a:t> three times • write </a:t>
            </a:r>
            <a:pPr algn="l" indent="0" marL="0">
              <a:buNone/>
            </a:pPr>
            <a:r>
              <a:rPr lang="ar-SA" altLang="en-US" sz="1750" b="1" dirty="0">
                <a:solidFill>
                  <a:srgbClr val="1F2A37"/>
                </a:solidFill>
                <a:latin typeface="Amiri" pitchFamily="2" charset="-78"/>
                <a:ea typeface="Amiri" pitchFamily="2" charset="-78"/>
                <a:cs typeface="Amiri" pitchFamily="2" charset="-78"/>
              </a:rPr>
              <a:t>١٠</a:t>
            </a:r>
            <a:pPr algn="l" indent="0" marL="0">
              <a:buNone/>
            </a:pPr>
            <a:r>
              <a:rPr lang="en-US" sz="1350" b="1" dirty="0">
                <a:solidFill>
                  <a:srgbClr val="1F2A37"/>
                </a:solidFill>
                <a:latin typeface="Calibri" pitchFamily="34" charset="0"/>
                <a:cs typeface="Amiri" pitchFamily="2" charset="-78"/>
              </a:rPr>
              <a:t> to </a:t>
            </a:r>
            <a:pPr algn="l" indent="0" marL="0">
              <a:buNone/>
            </a:pPr>
            <a:r>
              <a:rPr lang="ar-SA" altLang="en-US" sz="1750" b="1" dirty="0">
                <a:solidFill>
                  <a:srgbClr val="1F2A37"/>
                </a:solidFill>
                <a:latin typeface="Amiri" pitchFamily="2" charset="-78"/>
                <a:ea typeface="Amiri" pitchFamily="2" charset="-78"/>
                <a:cs typeface="Amiri" pitchFamily="2" charset="-78"/>
              </a:rPr>
              <a:t>٢٠</a:t>
            </a:r>
            <a:pPr algn="l" indent="0" marL="0">
              <a:buNone/>
            </a:pPr>
            <a:r>
              <a:rPr lang="en-US" sz="1350" b="1" dirty="0">
                <a:solidFill>
                  <a:srgbClr val="1F2A37"/>
                </a:solidFill>
                <a:latin typeface="Calibri" pitchFamily="34" charset="0"/>
                <a:cs typeface="Amiri" pitchFamily="2" charset="-78"/>
              </a:rPr>
              <a:t> in Arabic digits • DICTATION: your buddy says five numbers in Arabic — write the digits without looking • write two prices and one room number you can see at home.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ten digits, clearly different (</a:t>
            </a:r>
            <a:pPr algn="l" indent="0" marL="0">
              <a:buNone/>
            </a:pPr>
            <a:r>
              <a:rPr lang="ar-SA" altLang="en-US" sz="1550" dirty="0">
                <a:solidFill>
                  <a:srgbClr val="1F2A37"/>
                </a:solidFill>
                <a:latin typeface="Amiri" pitchFamily="2" charset="-78"/>
                <a:ea typeface="Amiri" pitchFamily="2" charset="-78"/>
                <a:cs typeface="Amiri" pitchFamily="2" charset="-78"/>
              </a:rPr>
              <a:t>٥</a:t>
            </a:r>
            <a:pPr algn="l" indent="0" marL="0">
              <a:buNone/>
            </a:pPr>
            <a:r>
              <a:rPr lang="en-US" sz="1200" dirty="0">
                <a:solidFill>
                  <a:srgbClr val="1F2A37"/>
                </a:solidFill>
                <a:latin typeface="Calibri" pitchFamily="34" charset="0"/>
                <a:cs typeface="Amiri" pitchFamily="2" charset="-78"/>
              </a:rPr>
              <a:t> circle · </a:t>
            </a:r>
            <a:pPr algn="l" indent="0" marL="0">
              <a:buNone/>
            </a:pPr>
            <a:r>
              <a:rPr lang="ar-SA" altLang="en-US" sz="1550" dirty="0">
                <a:solidFill>
                  <a:srgbClr val="1F2A37"/>
                </a:solidFill>
                <a:latin typeface="Amiri" pitchFamily="2" charset="-78"/>
                <a:ea typeface="Amiri" pitchFamily="2" charset="-78"/>
                <a:cs typeface="Amiri" pitchFamily="2" charset="-78"/>
              </a:rPr>
              <a:t>٠</a:t>
            </a:r>
            <a:pPr algn="l" indent="0" marL="0">
              <a:buNone/>
            </a:pPr>
            <a:r>
              <a:rPr lang="en-US" sz="1200" dirty="0">
                <a:solidFill>
                  <a:srgbClr val="1F2A37"/>
                </a:solidFill>
                <a:latin typeface="Calibri" pitchFamily="34" charset="0"/>
                <a:cs typeface="Amiri" pitchFamily="2" charset="-78"/>
              </a:rPr>
              <a:t> dot).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Two-digit numbers in the same order as English.</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١٠</a:t>
            </a:r>
            <a:pPr algn="l" indent="0" marL="0">
              <a:buNone/>
            </a:pPr>
            <a:r>
              <a:rPr lang="en-US" sz="1200" dirty="0">
                <a:solidFill>
                  <a:srgbClr val="1F2A37"/>
                </a:solidFill>
                <a:latin typeface="Calibri" pitchFamily="34" charset="0"/>
                <a:cs typeface="Amiri" pitchFamily="2" charset="-78"/>
              </a:rPr>
              <a:t> to </a:t>
            </a:r>
            <a:pPr algn="l" indent="0" marL="0">
              <a:buNone/>
            </a:pPr>
            <a:r>
              <a:rPr lang="ar-SA" altLang="en-US" sz="1550" dirty="0">
                <a:solidFill>
                  <a:srgbClr val="1F2A37"/>
                </a:solidFill>
                <a:latin typeface="Amiri" pitchFamily="2" charset="-78"/>
                <a:ea typeface="Amiri" pitchFamily="2" charset="-78"/>
                <a:cs typeface="Amiri" pitchFamily="2" charset="-78"/>
              </a:rPr>
              <a:t>٢٠</a:t>
            </a:r>
            <a:pPr algn="l" indent="0" marL="0">
              <a:buNone/>
            </a:pPr>
            <a:r>
              <a:rPr lang="en-US" sz="1200" dirty="0">
                <a:solidFill>
                  <a:srgbClr val="1F2A37"/>
                </a:solidFill>
                <a:latin typeface="Calibri" pitchFamily="34" charset="0"/>
                <a:cs typeface="Amiri" pitchFamily="2" charset="-78"/>
              </a:rPr>
              <a:t> complete.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five numbers without looking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٠ ١ ٢ ٣ ٤</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ṣifr · wāḥid · ithnān · thalātha · arbaʿa</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٥ ٦ ٧ ٨ 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khamsa · sitta · sabʿa · thamāniya · tisʿa</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١٠ · ٢٠</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ʿashara · ʿishrūn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جُنَيْهٌ · غُرْفَةٌ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pound · room</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digits clearly (</a:t>
            </a:r>
            <a:pPr algn="l" indent="0" marL="0">
              <a:buNone/>
            </a:pPr>
            <a:r>
              <a:rPr lang="ar-SA" altLang="en-US" sz="1450" dirty="0">
                <a:solidFill>
                  <a:srgbClr val="5A6472"/>
                </a:solidFill>
                <a:latin typeface="Amiri" pitchFamily="2" charset="-78"/>
                <a:ea typeface="Amiri" pitchFamily="2" charset="-78"/>
                <a:cs typeface="Amiri" pitchFamily="2" charset="-78"/>
              </a:rPr>
              <a:t>٥</a:t>
            </a:r>
            <a:pPr algn="l" indent="0" marL="0">
              <a:buNone/>
            </a:pPr>
            <a:r>
              <a:rPr lang="en-US" sz="1100" dirty="0">
                <a:solidFill>
                  <a:srgbClr val="5A6472"/>
                </a:solidFill>
                <a:latin typeface="Calibri" pitchFamily="34" charset="0"/>
                <a:cs typeface="Amiri" pitchFamily="2" charset="-78"/>
              </a:rPr>
              <a:t> circle · </a:t>
            </a:r>
            <a:pPr algn="l" indent="0" marL="0">
              <a:buNone/>
            </a:pPr>
            <a:r>
              <a:rPr lang="ar-SA" altLang="en-US" sz="1450" dirty="0">
                <a:solidFill>
                  <a:srgbClr val="5A6472"/>
                </a:solidFill>
                <a:latin typeface="Amiri" pitchFamily="2" charset="-78"/>
                <a:ea typeface="Amiri" pitchFamily="2" charset="-78"/>
                <a:cs typeface="Amiri" pitchFamily="2" charset="-78"/>
              </a:rPr>
              <a:t>٠</a:t>
            </a:r>
            <a:pPr algn="l" indent="0" marL="0">
              <a:buNone/>
            </a:pPr>
            <a:r>
              <a:rPr lang="en-US" sz="1100" dirty="0">
                <a:solidFill>
                  <a:srgbClr val="5A6472"/>
                </a:solidFill>
                <a:latin typeface="Calibri" pitchFamily="34" charset="0"/>
                <a:cs typeface="Amiri" pitchFamily="2" charset="-78"/>
              </a:rPr>
              <a:t> dot)?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two-digit numbers in the right order (</a:t>
            </a:r>
            <a:pPr algn="l" indent="0" marL="0">
              <a:buNone/>
            </a:pPr>
            <a:r>
              <a:rPr lang="ar-SA" altLang="en-US" sz="1450" dirty="0">
                <a:solidFill>
                  <a:srgbClr val="5A6472"/>
                </a:solidFill>
                <a:latin typeface="Amiri" pitchFamily="2" charset="-78"/>
                <a:ea typeface="Amiri" pitchFamily="2" charset="-78"/>
                <a:cs typeface="Amiri" pitchFamily="2" charset="-78"/>
              </a:rPr>
              <a:t>١٢</a:t>
            </a:r>
            <a:pPr algn="l" indent="0" marL="0">
              <a:buNone/>
            </a:pPr>
            <a:r>
              <a:rPr lang="en-US" sz="1100" dirty="0">
                <a:solidFill>
                  <a:srgbClr val="5A6472"/>
                </a:solidFill>
                <a:latin typeface="Calibri" pitchFamily="34" charset="0"/>
                <a:cs typeface="Amiri" pitchFamily="2" charset="-78"/>
              </a:rPr>
              <a:t> not </a:t>
            </a:r>
            <a:pPr algn="l" indent="0" marL="0">
              <a:buNone/>
            </a:pPr>
            <a:r>
              <a:rPr lang="ar-SA" altLang="en-US" sz="1450" dirty="0">
                <a:solidFill>
                  <a:srgbClr val="5A6472"/>
                </a:solidFill>
                <a:latin typeface="Amiri" pitchFamily="2" charset="-78"/>
                <a:ea typeface="Amiri" pitchFamily="2" charset="-78"/>
                <a:cs typeface="Amiri" pitchFamily="2" charset="-78"/>
              </a:rPr>
              <a:t>٢١</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t>
            </a:r>
            <a:pPr algn="l" indent="0" marL="0">
              <a:buNone/>
            </a:pPr>
            <a:r>
              <a:rPr lang="ar-SA" altLang="en-US" sz="1450" dirty="0">
                <a:solidFill>
                  <a:srgbClr val="5A6472"/>
                </a:solidFill>
                <a:latin typeface="Amiri" pitchFamily="2" charset="-78"/>
                <a:ea typeface="Amiri" pitchFamily="2" charset="-78"/>
                <a:cs typeface="Amiri" pitchFamily="2" charset="-78"/>
              </a:rPr>
              <a:t>١٠</a:t>
            </a:r>
            <a:pPr algn="l" indent="0" marL="0">
              <a:buNone/>
            </a:pPr>
            <a:r>
              <a:rPr lang="en-US" sz="1100" dirty="0">
                <a:solidFill>
                  <a:srgbClr val="5A6472"/>
                </a:solidFill>
                <a:latin typeface="Calibri" pitchFamily="34" charset="0"/>
                <a:cs typeface="Amiri" pitchFamily="2" charset="-78"/>
              </a:rPr>
              <a:t> to </a:t>
            </a:r>
            <a:pPr algn="l" indent="0" marL="0">
              <a:buNone/>
            </a:pPr>
            <a:r>
              <a:rPr lang="ar-SA" altLang="en-US" sz="1450" dirty="0">
                <a:solidFill>
                  <a:srgbClr val="5A6472"/>
                </a:solidFill>
                <a:latin typeface="Amiri" pitchFamily="2" charset="-78"/>
                <a:ea typeface="Amiri" pitchFamily="2" charset="-78"/>
                <a:cs typeface="Amiri" pitchFamily="2" charset="-78"/>
              </a:rPr>
              <a:t>٢٠</a:t>
            </a:r>
            <a:pPr algn="l" indent="0" marL="0">
              <a:buNone/>
            </a:pPr>
            <a:r>
              <a:rPr lang="en-US" sz="1100" dirty="0">
                <a:solidFill>
                  <a:srgbClr val="5A6472"/>
                </a:solidFill>
                <a:latin typeface="Calibri" pitchFamily="34" charset="0"/>
                <a:cs typeface="Amiri" pitchFamily="2" charset="-78"/>
              </a:rPr>
              <a:t> without gaps?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numbers correctly?</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every number aloud in Arabic too?</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 جُنَيْهَاتٍ</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five pounds.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٥ جُنَيْهَاتٍ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أَرْبَعَةَ عَشَرَ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room fourteen.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غُرْفَةُ ١٤</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 وَاحِدٌ</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three – one.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٣ – ١</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ثَمَانِيَةَ عَشَرَ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eighteen (not 81!).</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١٨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٠ ١ ٢ ٣ ٤ ٥ ٦ ٧ ٨ 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١٠ ١١ ١٢ ١٣ ١٤ ١٥ ١٦ ١٧ ١٨ ١٩ ٢٠</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٧ · ١١ · ١٤ · ١٨ · ٢٠</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السِّعْرُ: ٥ جُنَيْهَاتٍ · غُرْفَةُ ١٤</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ten digits. Line 2: ten to twenty. Line 3: a dictation of five numbers. Line 4: a price and a room number.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٠ ١ ٢ ٣</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١٢</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١٨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٥ جُنَيْهَاتٍ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F1-L08 · From Marks to Meaning: Reading Aloud</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الجَهْرِيَّةُ وَرَبْطُ الكِتَابَةِ بِالصَّوْتِ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F1-L07 · Practice Room — Read the Number, Keep the Order</dc:title>
  <dc:subject>PptxGenJS Presentation</dc:subject>
  <dc:creator>Al Madina Online School · Arabic Department</dc:creator>
  <cp:lastModifiedBy>Al Madina Online School · Arabic Department</cp:lastModifiedBy>
  <cp:revision>1</cp:revision>
  <dcterms:created xsi:type="dcterms:W3CDTF">2026-10-26T03:38:56Z</dcterms:created>
  <dcterms:modified xsi:type="dcterms:W3CDTF">2026-10-26T03:38:56Z</dcterms:modified>
</cp:coreProperties>
</file>