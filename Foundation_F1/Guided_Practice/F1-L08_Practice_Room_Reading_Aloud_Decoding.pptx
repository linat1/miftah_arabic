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F1-L08 (From Marks to Meaning: Reading Aloud) — new practice tasks built on the lesson’s own word bank and grammar (one routine for any fully vowelled word — R: start at the Right edge · E: Extract the letters · A: Attach the marks · D: Draw them together — then read again more smoothly; syllables (ma-dra-sa), sukūn closes a syllable, shadda doubles, tāʾ marbūṭa (ة) says -a / -at).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Core: copy the words and syllables with the frames. Develop: split six words + a five-word dictation. Stretch: eight-word dictation and read the list in under 30 seconds. Teacher listens to one student read three words per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From Marks to Meaning: Reading Aloud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القِرَاءَةُ الجَهْرِيَّةُ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reading-aloud practice: say twelve useful words, act a “how do you read it?” mini-dialogue using R-E-A-D, do point-and-say syllable cards, read longer words and a short phrase on a reading card, race to read the word list smoothly, then build words from syllables, spot reading slips, and copy and write the words from dictation.</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F1-L08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finds it and reads the Arabic aloud, syllable by syllable, then smoothly. The Coach checks the marks.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reads each one twice: slowly, then smoothly.</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every mark.</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word slowly, syllable by syllable.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it twice — the second time smoothly.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Clap the syllables, then read it with al- in front.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Words to read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لِلْقِرَاءَةِ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2 syllables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house</a:t>
            </a:r>
            <a:endParaRPr lang="en-US" sz="1350" dirty="0"/>
          </a:p>
          <a:p>
            <a:pPr indent="0" marL="0">
              <a:buNone/>
            </a:pPr>
            <a:r>
              <a:rPr lang="en-US" sz="1100" i="1" dirty="0">
                <a:solidFill>
                  <a:srgbClr val="5A6472"/>
                </a:solidFill>
                <a:latin typeface="Calibri" pitchFamily="34" charset="0"/>
                <a:cs typeface="Amiri" pitchFamily="2" charset="-78"/>
              </a:rPr>
              <a:t>bay-tun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2 syllables</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شَمْسٌ</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a:t>
            </a:r>
            <a:endParaRPr lang="en-US" sz="1350" dirty="0"/>
          </a:p>
          <a:p>
            <a:pPr indent="0" marL="0">
              <a:buNone/>
            </a:pPr>
            <a:r>
              <a:rPr lang="en-US" sz="1100" i="1" dirty="0">
                <a:solidFill>
                  <a:srgbClr val="5A6472"/>
                </a:solidFill>
                <a:latin typeface="Calibri" pitchFamily="34" charset="0"/>
                <a:cs typeface="Amiri" pitchFamily="2" charset="-78"/>
              </a:rPr>
              <a:t>sham-sun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3 syllables</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قَمَرٌ</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moon</a:t>
            </a:r>
            <a:endParaRPr lang="en-US" sz="1350" dirty="0"/>
          </a:p>
          <a:p>
            <a:pPr indent="0" marL="0">
              <a:buNone/>
            </a:pPr>
            <a:r>
              <a:rPr lang="en-US" sz="1100" i="1" dirty="0">
                <a:solidFill>
                  <a:srgbClr val="5A6472"/>
                </a:solidFill>
                <a:latin typeface="Calibri" pitchFamily="34" charset="0"/>
                <a:cs typeface="Amiri" pitchFamily="2" charset="-78"/>
              </a:rPr>
              <a:t>qa-ma-run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3 syllables</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ki-tā-bun</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ة = -a</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ة = -a</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طَالِبَةٌ</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student (f.)</a:t>
            </a:r>
            <a:endParaRPr lang="en-US" sz="1350" dirty="0"/>
          </a:p>
          <a:p>
            <a:pPr indent="0" marL="0">
              <a:buNone/>
            </a:pPr>
            <a:r>
              <a:rPr lang="en-US" sz="1100" i="1" dirty="0">
                <a:solidFill>
                  <a:srgbClr val="5A6472"/>
                </a:solidFill>
                <a:latin typeface="Calibri" pitchFamily="34" charset="0"/>
                <a:cs typeface="Amiri" pitchFamily="2" charset="-78"/>
              </a:rPr>
              <a:t>ṭā-li-ba</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Words to read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لِلْقِرَاءَةِ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shadda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مُعَلِّمٌ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 (m.)</a:t>
            </a:r>
            <a:endParaRPr lang="en-US" sz="1350" dirty="0"/>
          </a:p>
          <a:p>
            <a:pPr indent="0" marL="0">
              <a:buNone/>
            </a:pPr>
            <a:r>
              <a:rPr lang="en-US" sz="1100" i="1" dirty="0">
                <a:solidFill>
                  <a:srgbClr val="5A6472"/>
                </a:solidFill>
                <a:latin typeface="Calibri" pitchFamily="34" charset="0"/>
                <a:cs typeface="Amiri" pitchFamily="2" charset="-78"/>
              </a:rPr>
              <a:t>mu-ʿal-li-mun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shadda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سَيَّارَةٌ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a:t>
            </a:r>
            <a:endParaRPr lang="en-US" sz="1350" dirty="0"/>
          </a:p>
          <a:p>
            <a:pPr indent="0" marL="0">
              <a:buNone/>
            </a:pPr>
            <a:r>
              <a:rPr lang="en-US" sz="1100" i="1" dirty="0">
                <a:solidFill>
                  <a:srgbClr val="5A6472"/>
                </a:solidFill>
                <a:latin typeface="Calibri" pitchFamily="34" charset="0"/>
                <a:cs typeface="Amiri" pitchFamily="2" charset="-78"/>
              </a:rPr>
              <a:t>say-yā-ra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sukūn</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مِفْتَاحٌ</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key</a:t>
            </a:r>
            <a:endParaRPr lang="en-US" sz="1350" dirty="0"/>
          </a:p>
          <a:p>
            <a:pPr indent="0" marL="0">
              <a:buNone/>
            </a:pPr>
            <a:r>
              <a:rPr lang="en-US" sz="1100" i="1" dirty="0">
                <a:solidFill>
                  <a:srgbClr val="5A6472"/>
                </a:solidFill>
                <a:latin typeface="Calibri" pitchFamily="34" charset="0"/>
                <a:cs typeface="Amiri" pitchFamily="2" charset="-78"/>
              </a:rPr>
              <a:t>mif-tā-ḥun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long ā</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نَافِذَةٌ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window</a:t>
            </a:r>
            <a:endParaRPr lang="en-US" sz="1350" dirty="0"/>
          </a:p>
          <a:p>
            <a:pPr indent="0" marL="0">
              <a:buNone/>
            </a:pPr>
            <a:r>
              <a:rPr lang="en-US" sz="1100" i="1" dirty="0">
                <a:solidFill>
                  <a:srgbClr val="5A6472"/>
                </a:solidFill>
                <a:latin typeface="Calibri" pitchFamily="34" charset="0"/>
                <a:cs typeface="Amiri" pitchFamily="2" charset="-78"/>
              </a:rPr>
              <a:t>nā-fi-dha</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long ī</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garden</a:t>
            </a:r>
            <a:endParaRPr lang="en-US" sz="1350" dirty="0"/>
          </a:p>
          <a:p>
            <a:pPr indent="0" marL="0">
              <a:buNone/>
            </a:pPr>
            <a:r>
              <a:rPr lang="en-US" sz="1100" i="1" dirty="0">
                <a:solidFill>
                  <a:srgbClr val="5A6472"/>
                </a:solidFill>
                <a:latin typeface="Calibri" pitchFamily="34" charset="0"/>
                <a:cs typeface="Amiri" pitchFamily="2" charset="-78"/>
              </a:rPr>
              <a:t>ḥa-dī-qa</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3" name="Shape 6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sukūn</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مَطْبَخٌ</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kitchen</a:t>
            </a:r>
            <a:endParaRPr lang="en-US" sz="1350" dirty="0"/>
          </a:p>
          <a:p>
            <a:pPr indent="0" marL="0">
              <a:buNone/>
            </a:pPr>
            <a:r>
              <a:rPr lang="en-US" sz="1100" i="1" dirty="0">
                <a:solidFill>
                  <a:srgbClr val="5A6472"/>
                </a:solidFill>
                <a:latin typeface="Calibri" pitchFamily="34" charset="0"/>
                <a:cs typeface="Amiri" pitchFamily="2" charset="-78"/>
              </a:rPr>
              <a:t>maṭ-ba-khun</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 you read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تَقْرَأُهَا؟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read madrasa?</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تَقْرَأُ «مَدْرَسَةٌ»؟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start from the right: mad · ra · sa · tun.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أَبْدَأُ مِنَ اليَمِينِ: مَدْ · رَ · سَ · 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sukūn on dāl?</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وَالسُّكُونُ عَلَى الدَّالِ؟</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closes the syllable: “mad”.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يُغْلِقُ المَقْطَعَ: «مَدْ».</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quickly!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الآنَ بِسُرْعَةٍ!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madrasa!</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مَدْرَسَةٌ!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do the same with </a:t>
            </a:r>
            <a:pPr algn="l" indent="0" marL="0">
              <a:buNone/>
            </a:pPr>
            <a:r>
              <a:rPr lang="ar-SA" altLang="en-US" sz="1500" b="1" dirty="0">
                <a:solidFill>
                  <a:srgbClr val="1B3B6F"/>
                </a:solidFill>
                <a:latin typeface="Amiri" pitchFamily="2" charset="-78"/>
                <a:ea typeface="Amiri" pitchFamily="2" charset="-78"/>
                <a:cs typeface="Amiri" pitchFamily="2" charset="-78"/>
              </a:rPr>
              <a:t>مُعَلِّمٌ</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سَيَّارَةٌ</a:t>
            </a:r>
            <a:pPr algn="l" indent="0" marL="0">
              <a:buNone/>
            </a:pPr>
            <a:r>
              <a:rPr lang="en-US" sz="1150" b="1" dirty="0">
                <a:solidFill>
                  <a:srgbClr val="1B3B6F"/>
                </a:solidFill>
                <a:latin typeface="Calibri" pitchFamily="34" charset="0"/>
                <a:cs typeface="Amiri" pitchFamily="2" charset="-78"/>
              </a:rPr>
              <a:t> — slowly, then smoothly.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Syllable cards — slowly, then smoothly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الشَّمْسُ</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شَمْ · سٌ</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sun · sukūn on mīm</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شَمْسٌ</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مُعَلِّمَةٌ</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 · عَلْ · لِ · مٌ</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teacher · shadda on lām</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مُعَلِّمٌ</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المِفْتَاحُ</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مِفْ · تَا · حٌ</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key · sukūn on fāʾ</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مِفْتَاحٌ</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الحَدِيقَةُ</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 · دِي · قَ · ةٌ</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garden ·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at the end</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حَدِيقَةٌ</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سَيَّارَتِي</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 · يَا · رَ · ةٌ</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car · shadda on yāʾ</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سَيَّارَةٌ</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Reading card — longer words and a first phrase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maṭ · ba · khun</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it aloud.</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مَطْبَخٌ</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ṭā-li-ba · ṭā-lib</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what does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add?</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طَالِبَةٌ · طَالِبٌ</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bay-tun ka-bī-run</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phrase smoothly.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بَيْتٌ كَبِيرٌ</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nā-fi-dha-tu l-maṭ-bakh</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it — two words joined in meaning.</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نَافِذَةُ المَطْبَخِ</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Smooth-reading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 twelve words on the word slides smoothly (no syllable breaks). The Coach counts the words read correctly AND smoothly.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six words, syllable by syllable.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 smoothly.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 with al- in front (sun letters doubled).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Join the syllables into one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school — madrasa</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teacher — muʿallim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key — miftāḥ</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مِفْ</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مَفْ</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school — madrasa</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mad · ra · sa — sukūn closes “mad”.</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teacher — muʿallim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Joined, ʿal + li = </a:t>
            </a:r>
            <a:pPr algn="l" indent="0" marL="0">
              <a:buNone/>
            </a:pPr>
            <a:r>
              <a:rPr lang="ar-SA" altLang="en-US" sz="1350" dirty="0">
                <a:solidFill>
                  <a:srgbClr val="5A6472"/>
                </a:solidFill>
                <a:latin typeface="Amiri" pitchFamily="2" charset="-78"/>
                <a:ea typeface="Amiri" pitchFamily="2" charset="-78"/>
                <a:cs typeface="Amiri" pitchFamily="2" charset="-78"/>
              </a:rPr>
              <a:t>عَلِّ</a:t>
            </a:r>
            <a:pPr algn="l" indent="0" marL="0">
              <a:buNone/>
            </a:pPr>
            <a:r>
              <a:rPr lang="en-US" sz="1050" i="1" dirty="0">
                <a:solidFill>
                  <a:srgbClr val="5A6472"/>
                </a:solidFill>
                <a:latin typeface="Calibri" pitchFamily="34" charset="0"/>
                <a:cs typeface="Amiri" pitchFamily="2" charset="-78"/>
              </a:rPr>
              <a:t> (shadda).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مُعَلِّمٌ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key — miftāḥ</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mif · tā · ḥun — long ā in the middle.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مِفْتَاحٌ</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Read it: is there a vowel after 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مُعَلِمٌ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“teacher” doubles the 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حَدِقَةٌ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“garden” has a long ī.</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sukūn on dāl: mad-ra-sa.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مُعَلِمٌ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مُعَلِّمٌ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shadda on lām: mu-ʿal-lim.</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حَدِقَةٌ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حَدِيقَةٌ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Long ī needs yāʾ: ḥa-dī-qa.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مِفْ · ______ ·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Split </a:t>
            </a:r>
            <a:pPr algn="l" indent="0" marL="0">
              <a:buNone/>
            </a:pPr>
            <a:r>
              <a:rPr lang="ar-SA" altLang="en-US" sz="1350" dirty="0">
                <a:solidFill>
                  <a:srgbClr val="5A6472"/>
                </a:solidFill>
                <a:latin typeface="Amiri" pitchFamily="2" charset="-78"/>
                <a:ea typeface="Amiri" pitchFamily="2" charset="-78"/>
                <a:cs typeface="Amiri" pitchFamily="2" charset="-78"/>
              </a:rPr>
              <a:t>مِفْتَاحٌ</a:t>
            </a:r>
            <a:pPr algn="l" indent="0" marL="0">
              <a:buNone/>
            </a:pPr>
            <a:r>
              <a:rPr lang="en-US" sz="1050" i="1" dirty="0">
                <a:solidFill>
                  <a:srgbClr val="5A6472"/>
                </a:solidFill>
                <a:latin typeface="Calibri" pitchFamily="34" charset="0"/>
                <a:cs typeface="Amiri" pitchFamily="2" charset="-78"/>
              </a:rPr>
              <a:t> into syllables.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 with every mark.</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بَيْتٌ ______ شَمْسٌ ______ قَمَرٌ</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short words.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مَدْرَسَةٌ ______ طَالِبَةٌ ______</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words ending in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مُعَلِّمٌ ______ سَيَّارَةٌ ______</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shadda words.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 · رَ · سَةٌ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syllables.</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بَيْتٌ</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شَمْسٌ</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قَمَرٌ</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كِتَابٌ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مَدْرَسَةٌ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طَالِبَةٌ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مُعَلِّمٌ</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سَيَّارَةٌ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مِفْتَاحٌ</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مَطْبَخٌ</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نَافِذَةٌ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حَدِيقَةٌ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سُكُونٌ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شَدَّةٌ</a:t>
            </a:r>
            <a:pPr algn="l" indent="0" marL="0">
              <a:buNone/>
            </a:pPr>
            <a:r>
              <a:rPr lang="en-US" sz="1550" b="1" dirty="0">
                <a:solidFill>
                  <a:srgbClr val="1B3B6F"/>
                </a:solidFill>
                <a:latin typeface="Calibri" pitchFamily="34" charset="0"/>
                <a:cs typeface="Amiri" pitchFamily="2" charset="-78"/>
              </a:rPr>
              <a:t>  ·  R-E-A-D</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LABELS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Copy, listen and write: twelve words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In your book: • copy the twelve words with every mark • split six of them into syllables (</a:t>
            </a:r>
            <a:pPr algn="l" indent="0" marL="0">
              <a:buNone/>
            </a:pPr>
            <a:r>
              <a:rPr lang="ar-SA" altLang="en-US" sz="1750" b="1" dirty="0">
                <a:solidFill>
                  <a:srgbClr val="1F2A37"/>
                </a:solidFill>
                <a:latin typeface="Amiri" pitchFamily="2" charset="-78"/>
                <a:ea typeface="Amiri" pitchFamily="2" charset="-78"/>
                <a:cs typeface="Amiri" pitchFamily="2" charset="-78"/>
              </a:rPr>
              <a:t>مَدْ</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ea typeface="Amiri" pitchFamily="2" charset="-78"/>
                <a:cs typeface="Amiri" pitchFamily="2" charset="-78"/>
              </a:rPr>
              <a:t>رَ</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ea typeface="Amiri" pitchFamily="2" charset="-78"/>
                <a:cs typeface="Amiri" pitchFamily="2" charset="-78"/>
              </a:rPr>
              <a:t>سَةٌ</a:t>
            </a:r>
            <a:pPr algn="l" indent="0" marL="0">
              <a:buNone/>
            </a:pPr>
            <a:r>
              <a:rPr lang="en-US" sz="1350" b="1" dirty="0">
                <a:solidFill>
                  <a:srgbClr val="1F2A37"/>
                </a:solidFill>
                <a:latin typeface="Calibri" pitchFamily="34" charset="0"/>
                <a:cs typeface="Amiri" pitchFamily="2" charset="-78"/>
              </a:rPr>
              <a:t>) • DICTATION: your buddy reads five words — write them with all the marks, without looking • read your list aloud to your buddy.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word copied with all its marks.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Syllables split at the right places.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written at the end of the feminine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with every mark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Read the list aloud to your buddy.</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ابْدَأْ مِنَ اليَمِينِ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start from the right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حُرُوفٌ · حَرَكَاتٌ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letters · marks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مَقْطَعٌ</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syllable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بِسَلَاسَةٍ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read smoothly</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مَطْبَخٌ</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maṭbakh — kitchen.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مَطْبَخٌ</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طَالِبَةٌ · طَالِبٌ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ṭāliba (female student) · ṭālib (male student).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طَالِبَةٌ · طَالِبٌ</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 كَبِيرٌ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big house.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بَيْتٌ كَبِيرٌ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نَافِذَةُ المَطْبَخِ</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kitchen window.</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نَافِذَةُ المَطْبَخِ</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بَيْتٌ · شَمْسٌ · قَمَرٌ · كِتَابٌ · مَدْرَسَةٌ · طَالِبَةٌ</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مُعَلِّمٌ · سَيَّارَةٌ · مِفْتَاحٌ · نَافِذَةٌ · حَدِيقَةٌ · مَطْبَخٌ</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مَدْ · رَ · سَةٌ — مُ · عَلْ · لِ · مٌ — مِفْ · تَا · حٌ</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شَمْسٌ · سَيَّارَةٌ · حَدِيقَةٌ · مَطْبَخٌ · مُعَلِّمٌ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Lines 1–2: the twelve words with every mark. Line 3: three words split into syllables. Line 4: a dictation of five words.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مَدْرَسَةٌ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مُعَلِّمٌ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مِفْ · تَا · حٌ</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حَدِيقَةٌ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F1-L09 · Write Clearly, Then Fluently</a:t>
            </a:r>
            <a:endParaRPr lang="en-US" sz="2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التَّدْرِيبُ عَلَى الكِتَابَةِ — الدِّقَّةُ وَالطَّلَاقَةُ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F1-L08 · Practice Room — From Marks to Meaning: Reading Aloud</dc:title>
  <dc:subject>PptxGenJS Presentation</dc:subject>
  <dc:creator>Al Madina Online School · Arabic Department</dc:creator>
  <cp:lastModifiedBy>Al Madina Online School · Arabic Department</cp:lastModifiedBy>
  <cp:revision>1</cp:revision>
  <dcterms:created xsi:type="dcterms:W3CDTF">2026-10-26T03:38:57Z</dcterms:created>
  <dcterms:modified xsi:type="dcterms:W3CDTF">2026-10-26T03:38:57Z</dcterms:modified>
</cp:coreProperties>
</file>