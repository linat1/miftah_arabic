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PRACTICE ROOM AT A GLANCE — one combined lesson (speaking, then writing), 55–60 minutes: about 6 minutes in the main room, about 45 minutes in breakout rooms of two or three, about 6 minutes back together.
0–2 Welcome · 2–5 How the room works · ROOMS, Part A Speaking: Step 1 Letter warm-up (5) · Step 2 Say the mini-dialogue (5) · Step 3 Point-and-say cards (7) · Step 4 Reading card (7) · Step 5 Read-aloud race (4) · Part B Writing: Step 6 Build the word (4) · Step 7 Spot the slip (3) · Step 8 Copy, listen and write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F1-L12 (Show What You Know: F1 Review &amp; Assessment) — new practice tasks built on the lesson’s own word bank and grammar (F1 review: the 28 letters and their families; four positions and the six breakers; the marks (fatḥa · ḍamma · kasra · sukūn · shadda · tanwīn · madda · hamza); long vowels; sun and moon letters; numerals ٠–٢٠ in the right order; R-E-A-D for vowelled words and SCOPE for signs; fair dictation).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F1-L12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Speaker reads from the slide; the Coach checks the sound and the direction (right to left). Teacher: listen for the target sounds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changes needed.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Core: letters, positions, numbers and signs with the frames. Develop: add the five-word dictation. Stretch: read the whole page aloud in under one minute and write one target for F2. Teacher notes one strength and one target per student for the F1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F1-L12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Show What You Know: F1 Review &amp;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مُرَاجَعَةُ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review of the whole F1 unit: recall twelve key F1 items, act a review mini-dialogue, do mixed point-and-say cards (one per assessment part), read words, numbers and a sign on a reading card, race through a mixed reading list, then build words, spot slips across the unit, and copy, take dictation and read aloud — and choose one target for F2.</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F1-L12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letter warm-up · say the mini-dialogue.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point-and-say cards · reading card · read-aloud race.</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build the word · spot the slip.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points to a letter or word on the slide (or reads the card) and keeps the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says the sound or reads the word aloud, from RIGHT to left. Slowly is fine — clearly is the goal.</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in their OWN book — copying, then dictation;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LETTER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 وَجِدْهُ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Review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topic (letter family · breakers · marks · numbers · signs). The Speaker finds the card on the next two slides and explains it in English, then reads the Arabic. The Coach checks.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topics.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finds each card, reads it and explains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the card and read it.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Explain it in one English sentence.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a new example of your own.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F1 key items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alphabet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 ت ث</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shape, different dots</a:t>
            </a:r>
            <a:endParaRPr lang="en-US" sz="1350" dirty="0"/>
          </a:p>
          <a:p>
            <a:pPr indent="0" marL="0">
              <a:buNone/>
            </a:pPr>
            <a:r>
              <a:rPr lang="en-US" sz="1100" i="1" dirty="0">
                <a:solidFill>
                  <a:srgbClr val="5A6472"/>
                </a:solidFill>
                <a:latin typeface="Calibri" pitchFamily="34" charset="0"/>
                <a:cs typeface="Amiri" pitchFamily="2" charset="-78"/>
              </a:rPr>
              <a:t>a letter family</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joins</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 د ذ ر ز و</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six breakers</a:t>
            </a:r>
            <a:endParaRPr lang="en-US" sz="1350" dirty="0"/>
          </a:p>
          <a:p>
            <a:pPr indent="0" marL="0">
              <a:buNone/>
            </a:pPr>
            <a:r>
              <a:rPr lang="en-US" sz="1100" i="1" dirty="0">
                <a:solidFill>
                  <a:srgbClr val="5A6472"/>
                </a:solidFill>
                <a:latin typeface="Calibri" pitchFamily="34" charset="0"/>
                <a:cs typeface="Amiri" pitchFamily="2" charset="-78"/>
              </a:rPr>
              <a:t>never join to the left</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forms</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ـعـ</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ʿayn in the middle</a:t>
            </a:r>
            <a:endParaRPr lang="en-US" sz="1350" dirty="0"/>
          </a:p>
          <a:p>
            <a:pPr indent="0" marL="0">
              <a:buNone/>
            </a:pPr>
            <a:r>
              <a:rPr lang="en-US" sz="1100" i="1" dirty="0">
                <a:solidFill>
                  <a:srgbClr val="5A6472"/>
                </a:solidFill>
                <a:latin typeface="Calibri" pitchFamily="34" charset="0"/>
                <a:cs typeface="Amiri" pitchFamily="2" charset="-78"/>
              </a:rPr>
              <a:t>a closed loop</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marks</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ـَ ـُ ـِ ـْ</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fatḥa · ḍamma · kasra · sukūn</a:t>
            </a:r>
            <a:endParaRPr lang="en-US" sz="1350" dirty="0"/>
          </a:p>
          <a:p>
            <a:pPr indent="0" marL="0">
              <a:buNone/>
            </a:pPr>
            <a:r>
              <a:rPr lang="en-US" sz="1100" i="1" dirty="0">
                <a:solidFill>
                  <a:srgbClr val="5A6472"/>
                </a:solidFill>
                <a:latin typeface="Calibri" pitchFamily="34" charset="0"/>
                <a:cs typeface="Amiri" pitchFamily="2" charset="-78"/>
              </a:rPr>
              <a:t>a · u · i · no vowel</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marks</a:t>
            </a:r>
            <a:endParaRPr lang="en-US" sz="8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ـّ ـٌ آ ء</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shadda · tanwīn · madda · hamza</a:t>
            </a:r>
            <a:endParaRPr lang="en-US" sz="1350" dirty="0"/>
          </a:p>
          <a:p>
            <a:pPr indent="0" marL="0">
              <a:buNone/>
            </a:pPr>
            <a:r>
              <a:rPr lang="en-US" sz="1100" i="1" dirty="0">
                <a:solidFill>
                  <a:srgbClr val="5A6472"/>
                </a:solidFill>
                <a:latin typeface="Calibri" pitchFamily="34" charset="0"/>
                <a:cs typeface="Amiri" pitchFamily="2" charset="-78"/>
              </a:rPr>
              <a:t>double · -n · ʾā · catch</a:t>
            </a:r>
            <a:endParaRPr lang="en-US" sz="135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3" name="Shape 60"/>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long vowels</a:t>
            </a:r>
            <a:endParaRPr lang="en-US" sz="800" dirty="0"/>
          </a:p>
        </p:txBody>
      </p:sp>
      <p:sp>
        <p:nvSpPr>
          <p:cNvPr id="65" name="Shape 6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 بُو بِي</a:t>
            </a:r>
            <a:endParaRPr lang="ar-SA" sz="300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long ā · ū · ī</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with ا و ي</a:t>
            </a:r>
            <a:endParaRPr lang="en-US"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F1 key items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الشَّمْسُ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sun — a sun letter</a:t>
            </a:r>
            <a:endParaRPr lang="en-US" sz="1350" dirty="0"/>
          </a:p>
          <a:p>
            <a:pPr indent="0" marL="0">
              <a:buNone/>
            </a:pPr>
            <a:r>
              <a:rPr lang="en-US" sz="1100" i="1" dirty="0">
                <a:solidFill>
                  <a:srgbClr val="5A6472"/>
                </a:solidFill>
                <a:latin typeface="Calibri" pitchFamily="34" charset="0"/>
                <a:cs typeface="Amiri" pitchFamily="2" charset="-78"/>
              </a:rPr>
              <a:t>ash-shams</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moon letter</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القَمَرُ</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numerals</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١٥</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fifteen</a:t>
            </a:r>
            <a:endParaRPr lang="en-US" sz="1350" dirty="0"/>
          </a:p>
          <a:p>
            <a:pPr indent="0" marL="0">
              <a:buNone/>
            </a:pPr>
            <a:r>
              <a:rPr lang="en-US" sz="1100" i="1" dirty="0">
                <a:solidFill>
                  <a:srgbClr val="5A6472"/>
                </a:solidFill>
                <a:latin typeface="Calibri" pitchFamily="34" charset="0"/>
                <a:cs typeface="Amiri" pitchFamily="2" charset="-78"/>
              </a:rPr>
              <a:t>same order as English</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word</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خَمْسَةَ عَشَرَ</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reading</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1" name="Shape 48"/>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reading</a:t>
            </a:r>
            <a:endParaRPr lang="en-US" sz="800" dirty="0"/>
          </a:p>
        </p:txBody>
      </p:sp>
      <p:sp>
        <p:nvSpPr>
          <p:cNvPr id="53" name="Shape 5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مُعَلِّمٌ</a:t>
            </a:r>
            <a:endParaRPr lang="ar-SA" sz="3000" dirty="0"/>
          </a:p>
        </p:txBody>
      </p:sp>
      <p:sp>
        <p:nvSpPr>
          <p:cNvPr id="56" name="Text 5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teacher</a:t>
            </a:r>
            <a:endParaRPr lang="en-US" sz="1350" dirty="0"/>
          </a:p>
          <a:p>
            <a:pPr indent="0" marL="0">
              <a:buNone/>
            </a:pPr>
            <a:r>
              <a:rPr lang="en-US" sz="1100" i="1" dirty="0">
                <a:solidFill>
                  <a:srgbClr val="5A6472"/>
                </a:solidFill>
                <a:latin typeface="Calibri" pitchFamily="34" charset="0"/>
                <a:cs typeface="Amiri" pitchFamily="2" charset="-78"/>
              </a:rPr>
              <a:t>mu-ʿal-lim</a:t>
            </a:r>
            <a:endParaRPr lang="en-US" sz="1350" dirty="0"/>
          </a:p>
        </p:txBody>
      </p:sp>
      <p:sp>
        <p:nvSpPr>
          <p:cNvPr id="57" name="Shape 5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4389120"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0" name="Shape 57"/>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reading</a:t>
            </a:r>
            <a:endParaRPr lang="en-US" sz="8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سُؤَالٌ</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question</a:t>
            </a:r>
            <a:endParaRPr lang="en-US" sz="1350" dirty="0"/>
          </a:p>
          <a:p>
            <a:pPr indent="0" marL="0">
              <a:buNone/>
            </a:pPr>
            <a:r>
              <a:rPr lang="en-US" sz="1100" i="1" dirty="0">
                <a:solidFill>
                  <a:srgbClr val="5A6472"/>
                </a:solidFill>
                <a:latin typeface="Calibri" pitchFamily="34" charset="0"/>
                <a:cs typeface="Amiri" pitchFamily="2" charset="-78"/>
              </a:rPr>
              <a:t>su-ʾāl</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9" name="Shape 6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signs</a:t>
            </a:r>
            <a:endParaRPr lang="en-US" sz="800" dirty="0"/>
          </a:p>
        </p:txBody>
      </p:sp>
      <p:sp>
        <p:nvSpPr>
          <p:cNvPr id="71" name="Shape 6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مخرج</a:t>
            </a:r>
            <a:endParaRPr lang="ar-SA" sz="3000" dirty="0"/>
          </a:p>
        </p:txBody>
      </p:sp>
      <p:sp>
        <p:nvSpPr>
          <p:cNvPr id="74" name="Text 7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exit (a sign)</a:t>
            </a:r>
            <a:endParaRPr lang="en-US" sz="1350" dirty="0"/>
          </a:p>
          <a:p>
            <a:pPr indent="0" marL="0">
              <a:buNone/>
            </a:pPr>
            <a:r>
              <a:rPr lang="en-US" sz="1100" i="1" dirty="0">
                <a:solidFill>
                  <a:srgbClr val="5A6472"/>
                </a:solidFill>
                <a:latin typeface="Calibri" pitchFamily="34" charset="0"/>
                <a:cs typeface="Amiri" pitchFamily="2" charset="-78"/>
              </a:rPr>
              <a:t>no marks — SCOPE</a:t>
            </a:r>
            <a:endParaRPr lang="en-US" sz="1350" dirty="0"/>
          </a:p>
        </p:txBody>
      </p:sp>
      <p:sp>
        <p:nvSpPr>
          <p:cNvPr id="75" name="Shape 72"/>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marks</a:t>
            </a:r>
            <a:endParaRPr lang="en-US" sz="700" dirty="0"/>
          </a:p>
        </p:txBody>
      </p:sp>
      <p:sp>
        <p:nvSpPr>
          <p:cNvPr id="77" name="Text 74"/>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مَخْرَج</a:t>
            </a:r>
            <a:endParaRPr lang="ar-SA" sz="13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MINI-DIALOGUE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did we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letters are there in Arabic?</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حَرْفًا فِي العَرَبِيَّةِ؟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Twenty-eight letters.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ثَمَانِيَةٌ وَعِشْرُونَ حَرْفًا.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 (points to shadda)</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هٰذِهِ؟ (ـّ)</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Shadda — it doubles the letter.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شَدَّةٌ — تُضَاعِفُ الحَرْفَ.</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20.</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اقْرَأْ: ٢٠.</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Twenty!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عِشْرُونَ!</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asks about ANY card on the word slides; B answers in Arabic or English.</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POINT-AND-SAY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Mixed review cards — one from each part of F1</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 ت ث</a:t>
            </a:r>
            <a:endParaRPr lang="ar-SA" sz="18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جِيمٌ · حَاءٌ · خَاءٌ</a:t>
            </a:r>
            <a:endParaRPr lang="ar-SA" sz="1800" dirty="0"/>
          </a:p>
        </p:txBody>
      </p:sp>
      <p:sp>
        <p:nvSpPr>
          <p:cNvPr id="24" name="Text 21"/>
          <p:cNvSpPr txBox="1"/>
          <p:nvPr/>
        </p:nvSpPr>
        <p:spPr>
          <a:xfrm>
            <a:off x="436168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alphabet · name them, count the dots</a:t>
            </a:r>
            <a:endParaRPr lang="en-US" sz="1100" dirty="0"/>
          </a:p>
        </p:txBody>
      </p:sp>
      <p:sp>
        <p:nvSpPr>
          <p:cNvPr id="25" name="Text 22"/>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ج ح خ</a:t>
            </a:r>
            <a:endParaRPr lang="ar-SA" sz="20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دَرْسٌ</a:t>
            </a:r>
            <a:endParaRPr lang="ar-SA" sz="18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وَرْدٌ</a:t>
            </a:r>
            <a:endParaRPr lang="ar-SA" sz="1800" dirty="0"/>
          </a:p>
        </p:txBody>
      </p:sp>
      <p:sp>
        <p:nvSpPr>
          <p:cNvPr id="32" name="Text 29"/>
          <p:cNvSpPr txBox="1"/>
          <p:nvPr/>
        </p:nvSpPr>
        <p:spPr>
          <a:xfrm>
            <a:off x="436168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joins · why is every letter alone?</a:t>
            </a:r>
            <a:endParaRPr lang="en-US" sz="1100" dirty="0"/>
          </a:p>
        </p:txBody>
      </p:sp>
      <p:sp>
        <p:nvSpPr>
          <p:cNvPr id="33" name="Text 30"/>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وَرْدٌ</a:t>
            </a:r>
            <a:endParaRPr lang="ar-SA" sz="20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a:t>
            </a:r>
            <a:endParaRPr lang="ar-SA" sz="18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كَسْرَةٌ · شَدَّةٌ</a:t>
            </a:r>
            <a:endParaRPr lang="ar-SA" sz="1800" dirty="0"/>
          </a:p>
        </p:txBody>
      </p:sp>
      <p:sp>
        <p:nvSpPr>
          <p:cNvPr id="40" name="Text 37"/>
          <p:cNvSpPr txBox="1"/>
          <p:nvPr/>
        </p:nvSpPr>
        <p:spPr>
          <a:xfrm>
            <a:off x="436168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marks · name them all</a:t>
            </a:r>
            <a:endParaRPr lang="en-US" sz="1100" dirty="0"/>
          </a:p>
        </p:txBody>
      </p:sp>
      <p:sp>
        <p:nvSpPr>
          <p:cNvPr id="41" name="Text 38"/>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قِطَّةٌ</a:t>
            </a:r>
            <a:endParaRPr lang="ar-SA" sz="20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وَاحِدٌ وَعِشْرُونَ</a:t>
            </a:r>
            <a:endParaRPr lang="ar-SA" sz="18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اثْنَا عَشَرَ</a:t>
            </a:r>
            <a:endParaRPr lang="ar-SA" sz="1800" dirty="0"/>
          </a:p>
        </p:txBody>
      </p:sp>
      <p:sp>
        <p:nvSpPr>
          <p:cNvPr id="48" name="Text 45"/>
          <p:cNvSpPr txBox="1"/>
          <p:nvPr/>
        </p:nvSpPr>
        <p:spPr>
          <a:xfrm>
            <a:off x="436168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numerals · read both — careful!</a:t>
            </a:r>
            <a:endParaRPr lang="en-US" sz="1100" dirty="0"/>
          </a:p>
        </p:txBody>
      </p:sp>
      <p:sp>
        <p:nvSpPr>
          <p:cNvPr id="49" name="Text 46"/>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١٢ · ٢١</a:t>
            </a:r>
            <a:endParaRPr lang="ar-SA" sz="20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مطعم</a:t>
            </a:r>
            <a:endParaRPr lang="ar-SA" sz="18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مُسْتَشْفَى</a:t>
            </a:r>
            <a:endParaRPr lang="ar-SA" sz="1800" dirty="0"/>
          </a:p>
        </p:txBody>
      </p:sp>
      <p:sp>
        <p:nvSpPr>
          <p:cNvPr id="54" name="Text 51"/>
          <p:cNvSpPr txBox="1"/>
          <p:nvPr/>
        </p:nvSpPr>
        <p:spPr>
          <a:xfrm>
            <a:off x="436168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signs · read without marks</a:t>
            </a:r>
            <a:endParaRPr lang="en-US" sz="1100" dirty="0"/>
          </a:p>
        </p:txBody>
      </p:sp>
      <p:sp>
        <p:nvSpPr>
          <p:cNvPr id="55" name="Text 52"/>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مستشفى</a:t>
            </a:r>
            <a:endParaRPr lang="ar-SA" sz="20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Each Speaker does every card. Core: read it or say it. Develop: do the “then” part. Stretch: explain the rule in English. Swap after each card.</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card — the F1 showcase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 · -an · -in</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three tanwīn endings.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كِتَابٌ · كِتَابًا · كِتَابٍ</a:t>
            </a:r>
            <a:endParaRPr lang="ar-SA" sz="20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sun · moon</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which one doubles?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الشَّمْسُ · القَمَرُ</a:t>
            </a:r>
            <a:endParaRPr lang="ar-SA" sz="20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ḥa-dī-qa-tu l-mad-ra-sa</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phrase.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حَدِيقَةُ المَدْرَسَةِ</a:t>
            </a:r>
            <a:endParaRPr lang="ar-SA" sz="20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SCOPE · opposite = exit</a:t>
            </a:r>
            <a:endParaRPr lang="en-US" sz="11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sign and say its opposite.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مدخل</a:t>
            </a:r>
            <a:endParaRPr lang="ar-SA" sz="20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reader · Leader = the card holder.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F1 reading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Read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read as many cards from the word slides as you can, top to bottom. The Coach counts the correct ones. Then try to beat your own score.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six cards.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twelve.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twelve and name each topic.</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BUILD THE WORD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Build three words from their parts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school — madrasa</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question — suʾāl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ؤَا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sun — ash-shams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word: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school — madrasa</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sukūn closes “mad” · r has no dot · plain s.</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مَدْرَسَةٌ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question — suʾāl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hamza on wāw · long ā · tanwīn.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سُؤَالٌ</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sun — ash-shams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sun letter → shadda on shīn after al-.</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الشَّمْسُ</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THE SLIP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تَابٌ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“door” — check the dots.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٢١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Write twelve.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مُعَلِمٌ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“teacher” — a mark is missing.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تَابٌ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بَابٌ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Alphabet: </a:t>
            </a:r>
            <a:pPr algn="l" indent="0" marL="0">
              <a:buNone/>
            </a:pPr>
            <a:r>
              <a:rPr lang="ar-SA" altLang="en-US" sz="1500" b="1" dirty="0">
                <a:solidFill>
                  <a:srgbClr val="1B3B6F"/>
                </a:solidFill>
                <a:latin typeface="Amiri" pitchFamily="2" charset="-78"/>
                <a:ea typeface="Amiri" pitchFamily="2" charset="-78"/>
                <a:cs typeface="Amiri" pitchFamily="2" charset="-78"/>
              </a:rPr>
              <a:t>ب</a:t>
            </a:r>
            <a:pPr algn="l" indent="0" marL="0">
              <a:buNone/>
            </a:pPr>
            <a:r>
              <a:rPr lang="en-US" sz="1150" b="1" dirty="0">
                <a:solidFill>
                  <a:srgbClr val="1B3B6F"/>
                </a:solidFill>
                <a:latin typeface="Calibri" pitchFamily="34" charset="0"/>
                <a:cs typeface="Amiri" pitchFamily="2" charset="-78"/>
              </a:rPr>
              <a:t> one dot below.</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٢١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١٢</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Numerals: same order as English.</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مُعَلِمٌ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مُعَلِّمٌ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shadda on lām.</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إِمْلَاءٌ: ١ ______ ٢ ______ ٣ ______ ٤ ______ ٥ ______</a:t>
            </a:r>
            <a:endParaRPr lang="ar-SA" sz="13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Dictation with every mark.</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هَدَفِي لِلْوَحْدَةِ الثَّانِيَةِ: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target for F2 (in English is fine).</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 ب ت ث ج ح خ … ي</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28 letters from memory.</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 بـ ـبـ ـب ______</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Four positions: bāʾ, then ʿayn and hāʾ.</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١ ٢ ٣ … ٢٠</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to twenty.</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مطعم ______ مسجد ______ مخرج</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three signs.</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 ب ت ث  ·  ا د ذ ر ز و  ·  ـعـ · ـه  ·  الشَّمْسُ · القَمَرُ  ·  ١٢ · ١٥ · ٢٠  ·  مَدْرَسَةٌ · مُعَلِّمٌ  ·  سُؤَالٌ · قِطَّةٌ  ·  مطعم · مخرج</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8 · COPY, LISTEN AND WRITE · ALPHABET · DICTATION ·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Copy, listen and write: my F1 portfolio page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صَفْحَتِي فِي الوَحْدَةِ الأُولَى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In your book, make one portfolio page: • the 28 letters from memory • bāʾ, ʿayn and hāʾ in four positions • </a:t>
            </a:r>
            <a:pPr algn="l" indent="0" marL="0">
              <a:buNone/>
            </a:pPr>
            <a:r>
              <a:rPr lang="ar-SA" altLang="en-US" sz="1550" b="1" dirty="0">
                <a:solidFill>
                  <a:srgbClr val="1F2A37"/>
                </a:solidFill>
                <a:latin typeface="Amiri" pitchFamily="2" charset="-78"/>
                <a:ea typeface="Amiri" pitchFamily="2" charset="-78"/>
                <a:cs typeface="Amiri" pitchFamily="2" charset="-78"/>
              </a:rPr>
              <a:t>١</a:t>
            </a:r>
            <a:pPr algn="l" indent="0" marL="0">
              <a:buNone/>
            </a:pPr>
            <a:r>
              <a:rPr lang="en-US" sz="1200" b="1" dirty="0">
                <a:solidFill>
                  <a:srgbClr val="1F2A37"/>
                </a:solidFill>
                <a:latin typeface="Calibri" pitchFamily="34" charset="0"/>
                <a:cs typeface="Amiri" pitchFamily="2" charset="-78"/>
              </a:rPr>
              <a:t> to </a:t>
            </a:r>
            <a:pPr algn="l" indent="0" marL="0">
              <a:buNone/>
            </a:pPr>
            <a:r>
              <a:rPr lang="ar-SA" altLang="en-US" sz="1550" b="1" dirty="0">
                <a:solidFill>
                  <a:srgbClr val="1F2A37"/>
                </a:solidFill>
                <a:latin typeface="Amiri" pitchFamily="2" charset="-78"/>
                <a:ea typeface="Amiri" pitchFamily="2" charset="-78"/>
                <a:cs typeface="Amiri" pitchFamily="2" charset="-78"/>
              </a:rPr>
              <a:t>٢٠</a:t>
            </a:r>
            <a:pPr algn="l" indent="0" marL="0">
              <a:buNone/>
            </a:pPr>
            <a:r>
              <a:rPr lang="en-US" sz="1200" b="1" dirty="0">
                <a:solidFill>
                  <a:srgbClr val="1F2A37"/>
                </a:solidFill>
                <a:latin typeface="Calibri" pitchFamily="34" charset="0"/>
                <a:cs typeface="Amiri" pitchFamily="2" charset="-78"/>
              </a:rPr>
              <a:t> in Arabic digits • DICTATION: your buddy reads five words — write them with every mark • copy three signs without marks • read the whole page aloud to your buddy.</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28 letters in order, every dot in place.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positions for three letters.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١</a:t>
            </a:r>
            <a:pPr algn="l" indent="0" marL="0">
              <a:buNone/>
            </a:pPr>
            <a:r>
              <a:rPr lang="en-US" sz="1200" dirty="0">
                <a:solidFill>
                  <a:srgbClr val="1F2A37"/>
                </a:solidFill>
                <a:latin typeface="Calibri" pitchFamily="34" charset="0"/>
                <a:cs typeface="Amiri" pitchFamily="2" charset="-78"/>
              </a:rPr>
              <a:t>–</a:t>
            </a:r>
            <a:pPr algn="l" indent="0" marL="0">
              <a:buNone/>
            </a:pPr>
            <a:r>
              <a:rPr lang="ar-SA" altLang="en-US" sz="1550" dirty="0">
                <a:solidFill>
                  <a:srgbClr val="1F2A37"/>
                </a:solidFill>
                <a:latin typeface="Amiri" pitchFamily="2" charset="-78"/>
                <a:ea typeface="Amiri" pitchFamily="2" charset="-78"/>
                <a:cs typeface="Amiri" pitchFamily="2" charset="-78"/>
              </a:rPr>
              <a:t>٢٠</a:t>
            </a:r>
            <a:pPr algn="l" indent="0" marL="0">
              <a:buNone/>
            </a:pPr>
            <a:r>
              <a:rPr lang="en-US" sz="1200" dirty="0">
                <a:solidFill>
                  <a:srgbClr val="1F2A37"/>
                </a:solidFill>
                <a:latin typeface="Calibri" pitchFamily="34" charset="0"/>
                <a:cs typeface="Amiri" pitchFamily="2" charset="-78"/>
              </a:rPr>
              <a:t> in the right order.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Dictation with every mark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Whole page read aloud to your buddy (Stretch).</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ثَمَانِيَةٌ وَعِشْرُونَ حَرْفًا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twenty-eight letters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حَرَكَاتٌ · شَدَّةٌ · تَنْوِينٌ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marks · shadda · tanwīn</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dictation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أَقْرَأُ بِصَوْتٍ عَالٍ</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read aloud</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all 28 letters with every dot?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four positions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t>
            </a:r>
            <a:pPr algn="l" indent="0" marL="0">
              <a:buNone/>
            </a:pPr>
            <a:r>
              <a:rPr lang="ar-SA" altLang="en-US" sz="1450" dirty="0">
                <a:solidFill>
                  <a:srgbClr val="5A6472"/>
                </a:solidFill>
                <a:latin typeface="Amiri" pitchFamily="2" charset="-78"/>
                <a:ea typeface="Amiri" pitchFamily="2" charset="-78"/>
                <a:cs typeface="Amiri" pitchFamily="2" charset="-78"/>
              </a:rPr>
              <a:t>١</a:t>
            </a:r>
            <a:pPr algn="l" indent="0" marL="0">
              <a:buNone/>
            </a:pPr>
            <a:r>
              <a:rPr lang="en-US" sz="1100" dirty="0">
                <a:solidFill>
                  <a:srgbClr val="5A6472"/>
                </a:solidFill>
                <a:latin typeface="Calibri" pitchFamily="34" charset="0"/>
                <a:cs typeface="Amiri" pitchFamily="2" charset="-78"/>
              </a:rPr>
              <a:t>–</a:t>
            </a:r>
            <a:pPr algn="l" indent="0" marL="0">
              <a:buNone/>
            </a:pPr>
            <a:r>
              <a:rPr lang="ar-SA" altLang="en-US" sz="1450" dirty="0">
                <a:solidFill>
                  <a:srgbClr val="5A6472"/>
                </a:solidFill>
                <a:latin typeface="Amiri" pitchFamily="2" charset="-78"/>
                <a:ea typeface="Amiri" pitchFamily="2" charset="-78"/>
                <a:cs typeface="Amiri" pitchFamily="2" charset="-78"/>
              </a:rPr>
              <a:t>٢٠</a:t>
            </a:r>
            <a:pPr algn="l" indent="0" marL="0">
              <a:buNone/>
            </a:pPr>
            <a:r>
              <a:rPr lang="en-US" sz="1100" dirty="0">
                <a:solidFill>
                  <a:srgbClr val="5A6472"/>
                </a:solidFill>
                <a:latin typeface="Calibri" pitchFamily="34" charset="0"/>
                <a:cs typeface="Amiri" pitchFamily="2" charset="-78"/>
              </a:rPr>
              <a:t> in the right order?</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dictation with every mark?</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whole page aloud without stopping?</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 · كِتَابًا · كِتَابٍ</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kitābun · kitāban · kitābin.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كِتَابٌ · كِتَابًا · كِتَابٍ</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الشَّمْسُ · القَمَرُ</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ash-shams (sun letter) · al-qamar (moon letter).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الشَّمْسُ · القَمَرُ</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حَدِيقَةُ المَدْرَسَةِ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school garden.</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حَدِيقَةُ المَدْرَسَةِ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مَدْخَل · مَخْرَج</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madkhal (entrance) · makhraj (exit).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مدخل</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read every item clearly, from right to left? Read the one you found hardest once more.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 ب ت ث ج ح خ د ذ ر ز س ش ص ض ط ظ ع غ ف ق ك ل م ن ه و ي</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ب بـ ـبـ ـب · ع عـ ـعـ ـع · ه هـ ـهـ ـه</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١ ٢ ٣ ٤ ٥ ٦ ٧ ٨ ٩ ١٠ ١١ ١٢ ١٣ ١٤ ١٥ ١٦ ١٧ ١٨ ١٩ ٢٠</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إِمْلَاءٌ: مَدْرَسَةٌ · سُؤَالٌ · الشَّمْسُ · قِطَّةٌ · مُعَلِّمٌ</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مطعم · مسجد · مخرج</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 1: the 28 letters. Line 2: four positions of bāʾ, ʿayn and hāʾ. Line 3: one to twenty. Line 4: a dictation of five words with every mark. Line 5: three signs without marks.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 ب ت ث</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 بـ ـبـ ـب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الشَّمْسُ</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مخرج</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F1-L12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F1-L12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of today’s letters clearly.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today’s words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F1 review · Well done — the unit is complete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Before you leave: write ONE target for F2 in your book, e.g. “I will check every dot before I move 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F1-L12 · Practice Room — Show What You Know: F1 Review &amp; Assessment</dc:title>
  <dc:subject>PptxGenJS Presentation</dc:subject>
  <dc:creator>Al Madina Online School · Arabic Department</dc:creator>
  <cp:lastModifiedBy>Al Madina Online School · Arabic Department</cp:lastModifiedBy>
  <cp:revision>1</cp:revision>
  <dcterms:created xsi:type="dcterms:W3CDTF">2026-10-26T03:42:54Z</dcterms:created>
  <dcterms:modified xsi:type="dcterms:W3CDTF">2026-10-26T03:42:54Z</dcterms:modified>
</cp:coreProperties>
</file>