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AT A GLANCE — planned for 56 minutes, leaving about 4 minutes for Teams delays.
0–1 Welcome · 1–2 Lesson map · 2–9 Do Now + answers · 9–10 Objectives · 10–20 New letters and sounds · 20–23 Quick check · 23–27 I Do (formation) · 27–38 We Do (listen, sort, detect) · 38–49 You Do (write, then show-and-say) · 49–54 Feedback · 54–56 Preparation.
FLEX slides are optional. Use them if the class is moving quickly; otherwise the same activities are on the website for homework.
Content source: Miftah Arabic website, Pathways › Foundation › F1 Arabic Script &amp; Sounds › Lesson 8 (F1-L08). The website lesson teaches the READ routine (Right edge · Extract letters · Attach marks · Draw together · Read again), a mark-to-sound reference, connected reading vs pause, graded reading strips (10 words · 8 phrases · 4 sentences), a personal fluency challenge and a partner evidence grid. All reading strips, the listening script, the three-word oral exit and the feedback phrases are the website’s; the picture match is the website game for this lesson.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CORE: single words (Level 1). DEVELOP: short phrases (Level 2), keeping word boundaries. STRETCH: short sentences (Level 3) with pauses and punctuation.
• Temporary support, then remove it (website): transliteration (ka-ta-ba) is shown only on answer and support slides — students cover it and reread from the Arabic.
• Accuracy first; smoothness on the second read. Timing is a personal baseline, never a race between students (website). Reading aloud is always by invitation — “pass” is allowed.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NOW (5 min independent + 2 min going through answers).
Questions 1–3 are the website numeral retrieval (say each answer aloud before choosing). Questions 4–5 test the home preparation.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Accuracy first. Smoothness comes on the second read.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Objectives and routes are the website F1-L08 outcomes (Core · Develop · Stretch · Heritage).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many of today’s reading words are also Urdu words — قراءت (recitation), کتاب, مکتب (Urdu: a school; Arabic: a desk/office), معلم, مدرسہ. Warn heritage readers: familiarity can lead to reading from memory instead of the marks — use the READ routine anyway (website Heritage route).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READ ROUTINE (website Part 1). READ is an English memory aid; the processing stays anchored in Arabic letters and marks.
Model the think-aloud on كَتَبَ exactly as in the right-hand column. Then the two website contrasts:
• sukūn closes a chunk: مَكْ + تَ + بٌ → مَكْتَبٌ — do not say ma-ka-tab (maktabun; at a pause: maktab).
• long vowels stay together: كِ + تَا + بٌ → كِتَابٌ — hold تَا for two beats (kitābun; pause: kitāb).
Decoding is not yet comprehension, and accuracy is not yet fluency (website).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MARK-TO-SOUND SCAN (website Part 2) — a one-slide summary of F1-L04 to F1-L06.
Connected reading vs pause (website): fully vowelled texts may show endings; at a natural stop, final short vowels and tanwīn are not read the same way (جَدِيدٌ … pause as jadīd). Before reading a strip, say which mode you are using and keep to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teacher-made from the website READ routine and mark-to-sound reference.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DO — LEVEL 1 STRIP (4 min), the website’s ten words. For each word: teacher reads with the READ routine aloud → class echoes (mics on for a moment) → one volunteer (invitation).
Support, then remove it (website): after the first pass, cover the English column (or hide this slide) and reread from the Arabic only.
Notice: all ten are three-letter past verbs; watch for the kasra in شَرِبَ، سَمِعَ، لَعِبَ.</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(“Picture words”)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lesson game for F1-L08 (first three of six items). Students READ each word aloud (R-E-A-D) before matching. Extra website items for fast finishers: حَافِلَةٌ (bus), بَيْتٌ (house), قَهْوَةٌ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the website’s interactive lesson game (“Picture words”)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lesson game for F1-L08 (first three of six items). Students READ each word aloud (R-E-A-D) before matching. Extra website items for fast finishers: حَافِلَةٌ (bus), بَيْتٌ (house), قَهْوَةٌ (coffee).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website game “Chunk Choice” (choose the split that preserves consonant clusters, long vowels and shadda timing). Words from the website fluency list. Read each word together after the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then read each word twice together: once in chunks, once smoothly.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DO — LEVEL 2 STRIP (Develop; everyone tries). Read word by word, then repeat the phrase without a pause between every syllable (website).
Choral → pairs → volunteers. Sun/moon revision: البَيْتِ and الفَصْلِ both start with MOON letters (ب, ف), so the l is heard: al-bayti, al-faṣli.
Useful classroom phrase: لَا أَفْهَمُ — I do not understand (website feedback phrases).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3 STRIP (Stretch / FLEX). The | marks are the website’s word groups — pause lightly there and fully at the full stop.
Website listening (read aloud first, twice): “قَرَأَتْ مَرْيَمُ كِتَابًا قَصِيرًا. ذَهَبَ سَامِرٌ إِلَى المَدْرَسَةِ.” — students track and mark where the reader pauses. Answer (website): a full pause after قَصِيرًا; the second sentence ends after المَدْرَسَةِ.</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DO (7 min) — the website graded workshop: choose the level where you can apply READ with productive effort; practise privately, read to a partner, then level up only after accuracy is stable.
Personal fluency challenge (website, Stretch): كَتَبَ مَكْتَبٌ قَرَأَ كِتَابٌ سِتَّةٌ يَقْرَأُ بَيْتٌ مُعَلِّمٌ مَدْرَسَةٌ آمِنٌ — time is a personal baseline only.
Live feedback: listen to one student per route in private (mic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SPEAKING REHEARSAL (3 min) — website speaking prompts (the Core prompt is teacher-made).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A: صَحِيحٌ! الشَّدَّةُ وَاضِحَةٌ. (Correct! The shadda is clear.)
B: شُكْرًا. هَلْ أُعِيدُ؟ (Thank you. Shall I repeat?)
PARTNER READING CHECK (website): partners listen for four behaviours — direction and tracking, base letters, vowels and marks, blend and reread — and give ONE precise strength and ONE repair step.
Feedback phrases (website): صَحِيحٌ (correct — add the reason), هَلْ أُعِيدُ؟ (shall I repeat?), لَا أَفْهَمُ (I do not understand).
Three-word oral exit (website): كَتَبَ (short vowels) · مَكْتَبٌ (sukūn and pause) · مُعَلِّمٌ (shadda and kasra). Record: accurate / one repair / practise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FEEDBACK (2 min) — the website “one strip, one evidence grid”. A tick alone does not say what to repair: each partner writes one precise strength (“your long ā lasted longer than fatḥa”) and one repair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10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PREPARATION — flipped learning (2 min to explain).
Next lesson (F1-L09 · Write Clearly, Then Fluently) will spend class time USING this language, so students prepare it tonight — short, simple, easy to access (school guidance: “Simple, Short, Interesting, Relevant, Easy to access”). Next lesson: handwriting and dictation. Bring an exercise book with lines and a pen.
Follow-up: the next Do Now tests two of these words (Flipped Learning: keep it short AND follow up).
Homework by route (website tasks). No internet? Students copy the five words from this slide into their book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slideLayout" Target="../slideLayouts/slideLayout1.xml"/><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34" charset="0"/>
                <a:ea typeface="Amiri" pitchFamily="34" charset="-122"/>
                <a:cs typeface="Amiri" pitchFamily="34" charset="-120"/>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Al Madina Online School</a:t>
            </a:r>
            <a:endParaRPr lang="en-US" sz="1400" dirty="0"/>
          </a:p>
          <a:p>
            <a:pPr indent="0" marL="0">
              <a:buNone/>
            </a:pPr>
            <a:r>
              <a:rPr lang="en-US" sz="800" b="1" spc="200" kern="0" dirty="0">
                <a:solidFill>
                  <a:srgbClr val="D4AF37"/>
                </a:solidFill>
                <a:latin typeface="Calibri" pitchFamily="34" charset="0"/>
                <a:ea typeface="Calibri" pitchFamily="34" charset="-122"/>
                <a:cs typeface="Calibri" pitchFamily="34" charset="-120"/>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ea typeface="Calibri" pitchFamily="34" charset="-122"/>
                <a:cs typeface="Calibri" pitchFamily="34" charset="-120"/>
              </a:rPr>
              <a:t>CAMBRIDGE IGCSE ARABIC 0544  ·  YEAR 7  ·  FOUNDATION F1  ·  WEEK 3  ·  LESSON 2 OF 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ea typeface="Cambria" pitchFamily="34" charset="-122"/>
                <a:cs typeface="Cambria" pitchFamily="34" charset="-120"/>
              </a:rPr>
              <a:t>F1-L08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850" b="1" dirty="0">
                <a:solidFill>
                  <a:srgbClr val="FFFFFF"/>
                </a:solidFill>
                <a:latin typeface="Cambria" pitchFamily="34" charset="0"/>
                <a:ea typeface="Cambria" pitchFamily="34" charset="-122"/>
                <a:cs typeface="Cambria" pitchFamily="34" charset="-120"/>
              </a:rPr>
              <a:t>From Marks to Meaning: Reading Aloud</a:t>
            </a:r>
            <a:endParaRPr lang="en-US" sz="28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34" charset="0"/>
                <a:ea typeface="Amiri" pitchFamily="34" charset="-122"/>
                <a:cs typeface="Amiri" pitchFamily="34" charset="-120"/>
              </a:rPr>
              <a:t>القِرَاءَةُ الجَهْرِيَّةُ وَرَبْطُ الكِتَابَةِ بِالصَّوْتِ</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ea typeface="Calibri" pitchFamily="34" charset="-122"/>
                <a:cs typeface="Calibri" pitchFamily="34" charset="-120"/>
              </a:rPr>
              <a:t>Use one reliable routine to read any fully vowelled word aloud: start at the Right edge, Extract the letters, Attach the marks, Draw them together — then read again more smoothly.</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LESSON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F1-L08 · Week 3, lesson 2</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DURATION</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LEVEL</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beginner</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ea typeface="Calibri" pitchFamily="34" charset="-122"/>
                <a:cs typeface="Calibri" pitchFamily="34" charset="-120"/>
              </a:rPr>
              <a:t>ON THE WEBSITE</a:t>
            </a:r>
            <a:endParaRPr lang="en-US" sz="850" dirty="0"/>
          </a:p>
          <a:p>
            <a:pPr indent="0" marL="0">
              <a:buNone/>
            </a:pPr>
            <a:r>
              <a:rPr lang="en-US" sz="1200" b="1" dirty="0">
                <a:solidFill>
                  <a:srgbClr val="FFFFFF"/>
                </a:solidFill>
                <a:latin typeface="Calibri" pitchFamily="34" charset="0"/>
                <a:ea typeface="Calibri" pitchFamily="34" charset="-122"/>
                <a:cs typeface="Calibri" pitchFamily="34" charset="-120"/>
              </a:rPr>
              <a:t>Foundation › F1 › Lesson 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Camera on</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Mic muted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Chat for learning</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ea typeface="Calibri" pitchFamily="34" charset="-122"/>
                <a:cs typeface="Calibri" pitchFamily="34" charset="-120"/>
              </a:rPr>
              <a:t>Raise your hand</a:t>
            </a:r>
            <a:endParaRPr lang="en-US" sz="1500" dirty="0"/>
          </a:p>
          <a:p>
            <a:pPr indent="0" marL="0">
              <a:buNone/>
            </a:pPr>
            <a:r>
              <a:rPr lang="en-US" sz="1150" dirty="0">
                <a:solidFill>
                  <a:srgbClr val="5A6472"/>
                </a:solidFill>
                <a:latin typeface="Calibri" pitchFamily="34" charset="0"/>
                <a:ea typeface="Calibri" pitchFamily="34" charset="-122"/>
                <a:cs typeface="Calibri" pitchFamily="34" charset="-120"/>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Think</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Rehearse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Build</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Challenge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Share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ea typeface="Arial" pitchFamily="34" charset="-122"/>
                <a:cs typeface="Arial" pitchFamily="34" charset="-120"/>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ea typeface="Calibri" pitchFamily="34" charset="-122"/>
                <a:cs typeface="Calibri" pitchFamily="34" charset="-120"/>
              </a:rPr>
              <a:t>Summarise</a:t>
            </a:r>
            <a:endParaRPr lang="en-US" sz="1400" dirty="0"/>
          </a:p>
          <a:p>
            <a:pPr indent="0" marL="0">
              <a:buNone/>
            </a:pPr>
            <a:r>
              <a:rPr lang="en-US" sz="1100" dirty="0">
                <a:solidFill>
                  <a:srgbClr val="5A6472"/>
                </a:solidFill>
                <a:latin typeface="Calibri" pitchFamily="34" charset="0"/>
                <a:ea typeface="Calibri" pitchFamily="34" charset="-122"/>
                <a:cs typeface="Calibri" pitchFamily="34" charset="-120"/>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ea typeface="Calibri" pitchFamily="34" charset="-122"/>
                <a:cs typeface="Calibri" pitchFamily="34" charset="-120"/>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 / 26</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34" charset="0"/>
                <a:ea typeface="Amiri" pitchFamily="34" charset="-122"/>
                <a:cs typeface="Amiri" pitchFamily="34" charset="-120"/>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The READ routine and the mark-to-sound scan.</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34" charset="0"/>
                <a:ea typeface="Amiri" pitchFamily="34" charset="-122"/>
                <a:cs typeface="Amiri" pitchFamily="34" charset="-120"/>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34" charset="0"/>
                <a:ea typeface="Amiri" pitchFamily="34" charset="-122"/>
                <a:cs typeface="Amiri" pitchFamily="34" charset="-120"/>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Picture words, chunk choice, graded strips.</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34" charset="0"/>
                <a:ea typeface="Amiri" pitchFamily="34" charset="-122"/>
                <a:cs typeface="Amiri" pitchFamily="34" charset="-120"/>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34" charset="0"/>
                <a:ea typeface="Amiri" pitchFamily="34" charset="-122"/>
                <a:cs typeface="Amiri" pitchFamily="34" charset="-120"/>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34" charset="0"/>
                <a:ea typeface="Amiri" pitchFamily="34" charset="-122"/>
                <a:cs typeface="Amiri" pitchFamily="34" charset="-120"/>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ea typeface="Calibri" pitchFamily="34" charset="-122"/>
                <a:cs typeface="Calibri" pitchFamily="34" charset="-120"/>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ea typeface="Calibri" pitchFamily="34" charset="-122"/>
                <a:cs typeface="Calibri" pitchFamily="34" charset="-120"/>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ea typeface="Calibri" pitchFamily="34" charset="-122"/>
                <a:cs typeface="Calibri" pitchFamily="34" charset="-120"/>
              </a:rPr>
              <a:t>Get ready at home for F1-L09.</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34" charset="0"/>
                <a:ea typeface="Amiri" pitchFamily="34" charset="-122"/>
                <a:cs typeface="Amiri" pitchFamily="34" charset="-120"/>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ea typeface="Calibri" pitchFamily="34" charset="-122"/>
                <a:cs typeface="Calibri" pitchFamily="34" charset="-120"/>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ea typeface="Calibri" pitchFamily="34" charset="-122"/>
                <a:cs typeface="Calibri" pitchFamily="34" charset="-120"/>
              </a:rPr>
              <a:t>Look for the green CORE boxes: they give you transliteration, English meanings and sentence frames. You never need every word — find the key word first. You can answer in the chat, in English, or by holding up A / B / C to your camera.</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3 / 26</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7?</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٨</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٧</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٦</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١٥</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15</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51</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5</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say 10?</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عِشْرُونَ</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وَاحِدٌ</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عَشَرَةٌ</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“he wrote” (prepared at home)?</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قَرَأَ</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دَرَسَ</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“he read” (prepared at home)?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قَرَأَ</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كَتَبَ</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جَلَسَ</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ea typeface="Calibri" pitchFamily="34" charset="-122"/>
                <a:cs typeface="Calibri" pitchFamily="34" charset="-120"/>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ea typeface="Calibri" pitchFamily="34" charset="-122"/>
                <a:cs typeface="Calibri" pitchFamily="34" charset="-120"/>
              </a:rPr>
              <a:t>Work on your own in silence.</a:t>
            </a:r>
            <a:endParaRPr lang="en-US" sz="1350" dirty="0"/>
          </a:p>
          <a:p>
            <a:pPr algn="l" indent="0" marL="0">
              <a:buNone/>
            </a:pPr>
            <a:r>
              <a:rPr lang="en-US" sz="1350" dirty="0">
                <a:solidFill>
                  <a:srgbClr val="1F2A37"/>
                </a:solidFill>
                <a:latin typeface="Calibri" pitchFamily="34" charset="0"/>
                <a:ea typeface="Calibri" pitchFamily="34" charset="-122"/>
                <a:cs typeface="Calibri" pitchFamily="34" charset="-120"/>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ea typeface="Consolas" pitchFamily="34" charset="-122"/>
                <a:cs typeface="Consolas" pitchFamily="34" charset="-120"/>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ea typeface="Calibri" pitchFamily="34" charset="-122"/>
                <a:cs typeface="Calibri" pitchFamily="34" charset="-120"/>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4 / 26</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ea typeface="Calibri" pitchFamily="34" charset="-122"/>
                <a:cs typeface="Calibri" pitchFamily="34" charset="-120"/>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digit is 7?</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٨</a:t>
            </a:r>
            <a:endParaRPr lang="ar-SA" sz="170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٧</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٦</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F1-L07: the open V.</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a:t>
            </a:r>
            <a:pPr algn="l" indent="0" marL="0">
              <a:buNone/>
            </a:pPr>
            <a:r>
              <a:rPr lang="ar-SA" altLang="en-US" sz="1650" b="1" dirty="0">
                <a:solidFill>
                  <a:srgbClr val="1B3B6F"/>
                </a:solidFill>
                <a:latin typeface="Amiri" pitchFamily="34" charset="0"/>
                <a:ea typeface="Amiri" pitchFamily="34" charset="-122"/>
                <a:cs typeface="Amiri" pitchFamily="34" charset="-120"/>
              </a:rPr>
              <a:t>١٥</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15</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51</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5</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F1-L07: tens on the left.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say 10?</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عِشْرُونَ</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وَاحِدٌ</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عَشَرَةٌ</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F1-L07.</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“he wrote” (prepared at home)?</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قَرَأَ</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دَرَسَ</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كَتَبَ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كَتَبَ</a:t>
            </a:r>
            <a:pPr algn="l" indent="0" marL="0">
              <a:buNone/>
            </a:pPr>
            <a:r>
              <a:rPr lang="en-US" sz="1050" i="1" dirty="0">
                <a:solidFill>
                  <a:srgbClr val="8A6D1E"/>
                </a:solidFill>
                <a:latin typeface="Calibri" pitchFamily="34" charset="0"/>
                <a:ea typeface="Calibri" pitchFamily="34" charset="-122"/>
                <a:cs typeface="Calibri" pitchFamily="34" charset="-120"/>
              </a:rPr>
              <a:t> kataba.</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Which word means “he read” (prepared at home)?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قَرَأَ</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كَتَبَ</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جَلَسَ</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Prepared at home: </a:t>
            </a:r>
            <a:pPr algn="l" indent="0" marL="0">
              <a:buNone/>
            </a:pPr>
            <a:r>
              <a:rPr lang="ar-SA" altLang="en-US" sz="1350" dirty="0">
                <a:solidFill>
                  <a:srgbClr val="8A6D1E"/>
                </a:solidFill>
                <a:latin typeface="Amiri" pitchFamily="34" charset="0"/>
                <a:ea typeface="Amiri" pitchFamily="34" charset="-122"/>
                <a:cs typeface="Amiri" pitchFamily="34" charset="-120"/>
              </a:rPr>
              <a:t>قَرَأَ</a:t>
            </a:r>
            <a:pPr algn="l" indent="0" marL="0">
              <a:buNone/>
            </a:pPr>
            <a:r>
              <a:rPr lang="en-US" sz="1050" i="1" dirty="0">
                <a:solidFill>
                  <a:srgbClr val="8A6D1E"/>
                </a:solidFill>
                <a:latin typeface="Calibri" pitchFamily="34" charset="0"/>
                <a:ea typeface="Calibri" pitchFamily="34" charset="-122"/>
                <a:cs typeface="Calibri" pitchFamily="34" charset="-120"/>
              </a:rPr>
              <a:t> qaraʾa.</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ea typeface="Calibri" pitchFamily="34" charset="-122"/>
                <a:cs typeface="Calibri" pitchFamily="34" charset="-120"/>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ea typeface="Calibri" pitchFamily="34" charset="-122"/>
                <a:cs typeface="Calibri" pitchFamily="34" charset="-120"/>
              </a:rPr>
              <a:t>Accuracy first. Smoothness comes on the second read.</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34" charset="0"/>
                <a:ea typeface="Amiri" pitchFamily="34" charset="-122"/>
                <a:cs typeface="Amiri" pitchFamily="34" charset="-120"/>
              </a:rPr>
              <a:t>كَ + تَ + بَ ← كَتَبَ</a:t>
            </a:r>
            <a:endParaRPr lang="ar-SA" sz="24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5 / 26</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ea typeface="Calibri" pitchFamily="34" charset="-122"/>
                <a:cs typeface="Calibri" pitchFamily="34" charset="-120"/>
              </a:rPr>
              <a:t>LESSON 2 OF 3 THIS WEEK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ea typeface="Calibri" pitchFamily="34" charset="-122"/>
                <a:cs typeface="Calibri" pitchFamily="34" charset="-120"/>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34" charset="0"/>
                <a:ea typeface="Amiri" pitchFamily="34" charset="-122"/>
                <a:cs typeface="Amiri" pitchFamily="34" charset="-120"/>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Explain the five steps of the READ routine.</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Attach every mark to its letter.</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Blend chunks without adding extra vowels.</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ea typeface="Calibri" pitchFamily="34" charset="-122"/>
                <a:cs typeface="Calibri" pitchFamily="34" charset="-120"/>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Read a word, phrase or sentence aloud accurately.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ea typeface="Calibri" pitchFamily="34" charset="-122"/>
                <a:cs typeface="Calibri" pitchFamily="34" charset="-120"/>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read fully vowelled single words (Level 1).</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ea typeface="Calibri" pitchFamily="34" charset="-122"/>
                <a:cs typeface="Calibri" pitchFamily="34" charset="-120"/>
              </a:rPr>
              <a:t>☐  I can explain the READ steps.</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ea typeface="Calibri" pitchFamily="34" charset="-122"/>
                <a:cs typeface="Calibri" pitchFamily="34" charset="-120"/>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short phrases (Level 2).</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ea typeface="Calibri" pitchFamily="34" charset="-122"/>
                <a:cs typeface="Calibri" pitchFamily="34" charset="-120"/>
              </a:rPr>
              <a:t>☐  I can read sukūn and shadda without an extra vowel.</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ea typeface="Calibri" pitchFamily="34" charset="-122"/>
                <a:cs typeface="Calibri" pitchFamily="34" charset="-120"/>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read short sentences with pauses (Level 3).</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ea typeface="Calibri" pitchFamily="34" charset="-122"/>
                <a:cs typeface="Calibri" pitchFamily="34" charset="-120"/>
              </a:rPr>
              <a:t>☐  I can give a partner one precise repair cue.</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6 / 26</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ea typeface="Calibri" pitchFamily="34" charset="-122"/>
                <a:cs typeface="Calibri" pitchFamily="34" charset="-120"/>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ea typeface="Cambria" pitchFamily="34" charset="-122"/>
                <a:cs typeface="Cambria" pitchFamily="34" charset="-120"/>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34" charset="0"/>
                <a:ea typeface="Amiri" pitchFamily="34" charset="-122"/>
                <a:cs typeface="Amiri" pitchFamily="34" charset="-120"/>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ea typeface="Calibri" pitchFamily="34" charset="-122"/>
                <a:cs typeface="Calibri" pitchFamily="34" charset="-120"/>
              </a:rPr>
              <a:t>One routine (5 steps), 10 verbs, 8 phrases and 4 sentences — all fully vowelled.</a:t>
            </a:r>
            <a:endParaRPr lang="en-US" sz="1600" dirty="0"/>
          </a:p>
        </p:txBody>
      </p:sp>
      <p:sp>
        <p:nvSpPr>
          <p:cNvPr id="8" name="Shape 6"/>
          <p:cNvSpPr/>
          <p:nvPr/>
        </p:nvSpPr>
        <p:spPr>
          <a:xfrm>
            <a:off x="457200" y="4572000"/>
            <a:ext cx="186309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ROUTINE</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R · E · A · D · ↻</a:t>
            </a:r>
            <a:endParaRPr lang="en-US" sz="900" dirty="0"/>
          </a:p>
        </p:txBody>
      </p:sp>
      <p:sp>
        <p:nvSpPr>
          <p:cNvPr id="10" name="Shape 8"/>
          <p:cNvSpPr/>
          <p:nvPr/>
        </p:nvSpPr>
        <p:spPr>
          <a:xfrm>
            <a:off x="2457450" y="4572000"/>
            <a:ext cx="186309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25946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LEVEL 1</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Words · 10</a:t>
            </a:r>
            <a:endParaRPr lang="en-US" sz="900" dirty="0"/>
          </a:p>
        </p:txBody>
      </p:sp>
      <p:sp>
        <p:nvSpPr>
          <p:cNvPr id="12" name="Shape 10"/>
          <p:cNvSpPr/>
          <p:nvPr/>
        </p:nvSpPr>
        <p:spPr>
          <a:xfrm>
            <a:off x="4457700" y="4572000"/>
            <a:ext cx="186309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459486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LEVEL 2</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Phrases · 8</a:t>
            </a:r>
            <a:endParaRPr lang="en-US" sz="900" dirty="0"/>
          </a:p>
        </p:txBody>
      </p:sp>
      <p:sp>
        <p:nvSpPr>
          <p:cNvPr id="14" name="Shape 12"/>
          <p:cNvSpPr/>
          <p:nvPr/>
        </p:nvSpPr>
        <p:spPr>
          <a:xfrm>
            <a:off x="6457950" y="4572000"/>
            <a:ext cx="1863090" cy="960120"/>
          </a:xfrm>
          <a:prstGeom prst="roundRect">
            <a:avLst>
              <a:gd name="adj" fmla="val 7619"/>
            </a:avLst>
          </a:prstGeom>
          <a:solidFill>
            <a:srgbClr val="16335F"/>
          </a:solidFill>
          <a:ln w="12700">
            <a:solidFill>
              <a:srgbClr val="2A4B7C"/>
            </a:solidFill>
            <a:prstDash val="solid"/>
          </a:ln>
        </p:spPr>
      </p:sp>
      <p:sp>
        <p:nvSpPr>
          <p:cNvPr id="15" name="Text 13"/>
          <p:cNvSpPr txBox="1"/>
          <p:nvPr/>
        </p:nvSpPr>
        <p:spPr>
          <a:xfrm>
            <a:off x="6595110" y="4617720"/>
            <a:ext cx="158877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ea typeface="Calibri" pitchFamily="34" charset="-122"/>
                <a:cs typeface="Calibri" pitchFamily="34" charset="-120"/>
              </a:rPr>
              <a:t>LEVEL 3</a:t>
            </a:r>
            <a:endParaRPr lang="en-US" sz="900" dirty="0"/>
          </a:p>
          <a:p>
            <a:pPr indent="0" marL="0">
              <a:buNone/>
            </a:pPr>
            <a:r>
              <a:rPr lang="en-US" sz="1200" b="1" dirty="0">
                <a:solidFill>
                  <a:srgbClr val="FFFFFF"/>
                </a:solidFill>
                <a:latin typeface="Calibri" pitchFamily="34" charset="0"/>
                <a:ea typeface="Calibri" pitchFamily="34" charset="-122"/>
                <a:cs typeface="Calibri" pitchFamily="34" charset="-120"/>
              </a:rPr>
              <a:t>Sentences · 4</a:t>
            </a:r>
            <a:endParaRPr lang="en-US" sz="900" dirty="0"/>
          </a:p>
        </p:txBody>
      </p:sp>
      <p:sp>
        <p:nvSpPr>
          <p:cNvPr id="16" name="Shape 14"/>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7" name="Text 15"/>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ea typeface="Calibri" pitchFamily="34" charset="-122"/>
                <a:cs typeface="Calibri" pitchFamily="34" charset="-120"/>
              </a:rPr>
              <a:t>BRIDGE FROM URDU</a:t>
            </a:r>
            <a:endParaRPr lang="en-US" sz="1000" dirty="0"/>
          </a:p>
        </p:txBody>
      </p:sp>
      <p:sp>
        <p:nvSpPr>
          <p:cNvPr id="18" name="Text 16"/>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قَرَأَ</a:t>
            </a:r>
            <a:endParaRPr lang="ar-SA" sz="1900" dirty="0"/>
          </a:p>
        </p:txBody>
      </p:sp>
      <p:sp>
        <p:nvSpPr>
          <p:cNvPr id="19" name="Text 17"/>
          <p:cNvSpPr txBox="1"/>
          <p:nvPr/>
        </p:nvSpPr>
        <p:spPr>
          <a:xfrm>
            <a:off x="8842248" y="1810512"/>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‎قراءت‎ </a:t>
            </a:r>
            <a:pPr indent="0" marL="0">
              <a:buNone/>
            </a:pPr>
            <a:r>
              <a:rPr lang="en-US" sz="950" b="1" dirty="0">
                <a:solidFill>
                  <a:srgbClr val="2E8B57"/>
                </a:solidFill>
                <a:latin typeface="Calibri" pitchFamily="34" charset="0"/>
                <a:ea typeface="Calibri" pitchFamily="34" charset="-122"/>
                <a:cs typeface="Calibri" pitchFamily="34" charset="-120"/>
              </a:rPr>
              <a:t> qirāʾat · recitation → he read</a:t>
            </a:r>
            <a:endParaRPr lang="en-US" sz="1400" dirty="0"/>
          </a:p>
        </p:txBody>
      </p:sp>
      <p:sp>
        <p:nvSpPr>
          <p:cNvPr id="20" name="Text 18"/>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كِتَابٌ</a:t>
            </a:r>
            <a:endParaRPr lang="ar-SA" sz="1900" dirty="0"/>
          </a:p>
        </p:txBody>
      </p:sp>
      <p:sp>
        <p:nvSpPr>
          <p:cNvPr id="21" name="Text 19"/>
          <p:cNvSpPr txBox="1"/>
          <p:nvPr/>
        </p:nvSpPr>
        <p:spPr>
          <a:xfrm>
            <a:off x="8842248" y="2377440"/>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‎کتاب‎ </a:t>
            </a:r>
            <a:pPr indent="0" marL="0">
              <a:buNone/>
            </a:pPr>
            <a:r>
              <a:rPr lang="en-US" sz="950" b="1" dirty="0">
                <a:solidFill>
                  <a:srgbClr val="2E8B57"/>
                </a:solidFill>
                <a:latin typeface="Calibri" pitchFamily="34" charset="0"/>
                <a:ea typeface="Calibri" pitchFamily="34" charset="-122"/>
                <a:cs typeface="Calibri" pitchFamily="34" charset="-120"/>
              </a:rPr>
              <a:t> kitāb · book</a:t>
            </a:r>
            <a:endParaRPr lang="en-US" sz="1400" dirty="0"/>
          </a:p>
        </p:txBody>
      </p:sp>
      <p:sp>
        <p:nvSpPr>
          <p:cNvPr id="22" name="Text 20"/>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مَكْتَبٌ</a:t>
            </a:r>
            <a:endParaRPr lang="ar-SA" sz="1900" dirty="0"/>
          </a:p>
        </p:txBody>
      </p:sp>
      <p:sp>
        <p:nvSpPr>
          <p:cNvPr id="23" name="Text 21"/>
          <p:cNvSpPr txBox="1"/>
          <p:nvPr/>
        </p:nvSpPr>
        <p:spPr>
          <a:xfrm>
            <a:off x="8842248" y="2944368"/>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‎مکتب‎ </a:t>
            </a:r>
            <a:pPr indent="0" marL="0">
              <a:buNone/>
            </a:pPr>
            <a:r>
              <a:rPr lang="en-US" sz="950" b="1" dirty="0">
                <a:solidFill>
                  <a:srgbClr val="2E8B57"/>
                </a:solidFill>
                <a:latin typeface="Calibri" pitchFamily="34" charset="0"/>
                <a:ea typeface="Calibri" pitchFamily="34" charset="-122"/>
                <a:cs typeface="Calibri" pitchFamily="34" charset="-120"/>
              </a:rPr>
              <a:t> maktab · school (Urdu) · desk, office</a:t>
            </a:r>
            <a:endParaRPr lang="en-US" sz="1400" dirty="0"/>
          </a:p>
        </p:txBody>
      </p:sp>
      <p:sp>
        <p:nvSpPr>
          <p:cNvPr id="24" name="Text 22"/>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مُعَلِّمٌ</a:t>
            </a:r>
            <a:endParaRPr lang="ar-SA" sz="1900" dirty="0"/>
          </a:p>
        </p:txBody>
      </p:sp>
      <p:sp>
        <p:nvSpPr>
          <p:cNvPr id="25" name="Text 23"/>
          <p:cNvSpPr txBox="1"/>
          <p:nvPr/>
        </p:nvSpPr>
        <p:spPr>
          <a:xfrm>
            <a:off x="8842248" y="3511296"/>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‎معلم‎ </a:t>
            </a:r>
            <a:pPr indent="0" marL="0">
              <a:buNone/>
            </a:pPr>
            <a:r>
              <a:rPr lang="en-US" sz="950" b="1" dirty="0">
                <a:solidFill>
                  <a:srgbClr val="2E8B57"/>
                </a:solidFill>
                <a:latin typeface="Calibri" pitchFamily="34" charset="0"/>
                <a:ea typeface="Calibri" pitchFamily="34" charset="-122"/>
                <a:cs typeface="Calibri" pitchFamily="34" charset="-120"/>
              </a:rPr>
              <a:t> muʿallim · teacher</a:t>
            </a:r>
            <a:endParaRPr lang="en-US" sz="1400" dirty="0"/>
          </a:p>
        </p:txBody>
      </p:sp>
      <p:sp>
        <p:nvSpPr>
          <p:cNvPr id="26" name="Text 24"/>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34" charset="0"/>
                <a:ea typeface="Amiri" pitchFamily="34" charset="-122"/>
                <a:cs typeface="Amiri" pitchFamily="34" charset="-120"/>
              </a:rPr>
              <a:t>مَدْرَسَةٌ</a:t>
            </a:r>
            <a:endParaRPr lang="ar-SA" sz="1900" dirty="0"/>
          </a:p>
        </p:txBody>
      </p:sp>
      <p:sp>
        <p:nvSpPr>
          <p:cNvPr id="27" name="Text 25"/>
          <p:cNvSpPr txBox="1"/>
          <p:nvPr/>
        </p:nvSpPr>
        <p:spPr>
          <a:xfrm>
            <a:off x="8842248" y="4078224"/>
            <a:ext cx="1463040" cy="475488"/>
          </a:xfrm>
          <a:prstGeom prst="rect">
            <a:avLst/>
          </a:prstGeom>
          <a:noFill/>
          <a:ln/>
        </p:spPr>
        <p:txBody>
          <a:bodyPr wrap="square" lIns="0" tIns="0" rIns="0" bIns="0" rtlCol="0" anchor="ctr"/>
          <a:lstStyle/>
          <a:p>
            <a:pPr indent="0" marL="0">
              <a:buNone/>
            </a:pPr>
            <a:r>
              <a:rPr lang="ur-PK" altLang="en-US" sz="1400" b="1" dirty="0">
                <a:solidFill>
                  <a:srgbClr val="2E8B57"/>
                </a:solidFill>
                <a:latin typeface="Amiri" pitchFamily="34" charset="0"/>
                <a:ea typeface="Amiri" pitchFamily="34" charset="-122"/>
                <a:cs typeface="Amiri" pitchFamily="34" charset="-120"/>
              </a:rPr>
              <a:t>‎مدرسہ‎ </a:t>
            </a:r>
            <a:pPr indent="0" marL="0">
              <a:buNone/>
            </a:pPr>
            <a:r>
              <a:rPr lang="en-US" sz="950" b="1" dirty="0">
                <a:solidFill>
                  <a:srgbClr val="2E8B57"/>
                </a:solidFill>
                <a:latin typeface="Calibri" pitchFamily="34" charset="0"/>
                <a:ea typeface="Calibri" pitchFamily="34" charset="-122"/>
                <a:cs typeface="Calibri" pitchFamily="34" charset="-120"/>
              </a:rPr>
              <a:t> madrasa · school</a:t>
            </a:r>
            <a:endParaRPr lang="en-US" sz="140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7 / 26</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TEACHER INSTRUCTION · THE READ ROUTINE (WEBSITE PART 1)</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Five steps to read any word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خُطُوَاتُ فَكِّ الرُّمُوزِ</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Step</a:t>
            </a:r>
            <a:endParaRPr lang="en-US" sz="1100" dirty="0"/>
          </a:p>
        </p:txBody>
      </p:sp>
      <p:sp>
        <p:nvSpPr>
          <p:cNvPr id="17" name="Text 14"/>
          <p:cNvSpPr txBox="1"/>
          <p:nvPr/>
        </p:nvSpPr>
        <p:spPr>
          <a:xfrm>
            <a:off x="4946904" y="1810512"/>
            <a:ext cx="46085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to do</a:t>
            </a:r>
            <a:endParaRPr lang="en-US" sz="1100" dirty="0"/>
          </a:p>
        </p:txBody>
      </p:sp>
      <p:sp>
        <p:nvSpPr>
          <p:cNvPr id="18" name="Text 15"/>
          <p:cNvSpPr txBox="1"/>
          <p:nvPr/>
        </p:nvSpPr>
        <p:spPr>
          <a:xfrm>
            <a:off x="530352" y="1810512"/>
            <a:ext cx="4270248" cy="384048"/>
          </a:xfrm>
          <a:prstGeom prst="rect">
            <a:avLst/>
          </a:prstGeom>
          <a:noFill/>
          <a:ln/>
        </p:spPr>
        <p:txBody>
          <a:bodyPr wrap="square" lIns="0" tIns="0" rIns="0" bIns="0" rtlCol="0" anchor="ctr"/>
          <a:lstStyle/>
          <a:p>
            <a:pPr algn="ctr" indent="0" marL="0">
              <a:buNone/>
            </a:pPr>
            <a:r>
              <a:rPr lang="ar-SA" altLang="en-US" sz="1450" b="1" dirty="0">
                <a:solidFill>
                  <a:srgbClr val="FFFFFF"/>
                </a:solidFill>
                <a:latin typeface="Amiri" pitchFamily="34" charset="0"/>
                <a:ea typeface="Amiri" pitchFamily="34" charset="-122"/>
                <a:cs typeface="Amiri" pitchFamily="34" charset="-120"/>
              </a:rPr>
              <a:t>كَتَبَ</a:t>
            </a:r>
            <a:pPr algn="ctr" indent="0" marL="0">
              <a:buNone/>
            </a:pPr>
            <a:r>
              <a:rPr lang="en-US" sz="1100" b="1" dirty="0">
                <a:solidFill>
                  <a:srgbClr val="FFFFFF"/>
                </a:solidFill>
                <a:latin typeface="Calibri" pitchFamily="34" charset="0"/>
                <a:ea typeface="Calibri" pitchFamily="34" charset="-122"/>
                <a:cs typeface="Calibri" pitchFamily="34" charset="-120"/>
              </a:rPr>
              <a:t> — think aloud</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9738360" y="2267712"/>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 · Right edge</a:t>
            </a:r>
            <a:endParaRPr lang="en-US" sz="1100" dirty="0"/>
          </a:p>
        </p:txBody>
      </p:sp>
      <p:sp>
        <p:nvSpPr>
          <p:cNvPr id="21" name="Text 18"/>
          <p:cNvSpPr txBox="1"/>
          <p:nvPr/>
        </p:nvSpPr>
        <p:spPr>
          <a:xfrm>
            <a:off x="4983480" y="2267712"/>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Find the first letter on the RIGHT. Look at the whole word first.</a:t>
            </a:r>
            <a:endParaRPr lang="en-US" sz="1100" dirty="0"/>
          </a:p>
        </p:txBody>
      </p:sp>
      <p:sp>
        <p:nvSpPr>
          <p:cNvPr id="22" name="Text 19"/>
          <p:cNvSpPr txBox="1"/>
          <p:nvPr/>
        </p:nvSpPr>
        <p:spPr>
          <a:xfrm>
            <a:off x="566928" y="2267712"/>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Begin with </a:t>
            </a:r>
            <a:pPr algn="l" indent="0" marL="0">
              <a:buNone/>
            </a:pPr>
            <a:r>
              <a:rPr lang="ar-SA" altLang="en-US" sz="1450" dirty="0">
                <a:solidFill>
                  <a:srgbClr val="5A6472"/>
                </a:solidFill>
                <a:latin typeface="Amiri" pitchFamily="34" charset="0"/>
                <a:ea typeface="Amiri" pitchFamily="34" charset="-122"/>
                <a:cs typeface="Amiri" pitchFamily="34" charset="-120"/>
              </a:rPr>
              <a:t>ك</a:t>
            </a:r>
            <a:pPr algn="l" indent="0" marL="0">
              <a:buNone/>
            </a:pPr>
            <a:r>
              <a:rPr lang="en-US" sz="1100" dirty="0">
                <a:solidFill>
                  <a:srgbClr val="5A6472"/>
                </a:solidFill>
                <a:latin typeface="Calibri" pitchFamily="34" charset="0"/>
                <a:ea typeface="Calibri" pitchFamily="34" charset="-122"/>
                <a:cs typeface="Calibri" pitchFamily="34" charset="-120"/>
              </a:rPr>
              <a:t>, not </a:t>
            </a:r>
            <a:pPr algn="l" indent="0" marL="0">
              <a:buNone/>
            </a:pPr>
            <a:r>
              <a:rPr lang="ar-SA" altLang="en-US" sz="1450" dirty="0">
                <a:solidFill>
                  <a:srgbClr val="5A6472"/>
                </a:solidFill>
                <a:latin typeface="Amiri" pitchFamily="34" charset="0"/>
                <a:ea typeface="Amiri" pitchFamily="34" charset="-122"/>
                <a:cs typeface="Amiri" pitchFamily="34" charset="-120"/>
              </a:rPr>
              <a:t>ب</a:t>
            </a:r>
            <a:pPr algn="l" indent="0" marL="0">
              <a:buNone/>
            </a:pPr>
            <a:r>
              <a:rPr lang="en-US" sz="1100" dirty="0">
                <a:solidFill>
                  <a:srgbClr val="5A6472"/>
                </a:solidFill>
                <a:latin typeface="Calibri" pitchFamily="34" charset="0"/>
                <a:ea typeface="Calibri" pitchFamily="34" charset="-122"/>
                <a:cs typeface="Calibri" pitchFamily="34" charset="-120"/>
              </a:rPr>
              <a:t>.</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9738360" y="3054096"/>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 · Extract letters</a:t>
            </a:r>
            <a:endParaRPr lang="en-US" sz="1100" dirty="0"/>
          </a:p>
        </p:txBody>
      </p:sp>
      <p:sp>
        <p:nvSpPr>
          <p:cNvPr id="27" name="Text 24"/>
          <p:cNvSpPr txBox="1"/>
          <p:nvPr/>
        </p:nvSpPr>
        <p:spPr>
          <a:xfrm>
            <a:off x="4983480" y="3054096"/>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Name the base letters; notice breaks and hamza shapes.</a:t>
            </a:r>
            <a:endParaRPr lang="en-US" sz="1100" dirty="0"/>
          </a:p>
        </p:txBody>
      </p:sp>
      <p:sp>
        <p:nvSpPr>
          <p:cNvPr id="28" name="Text 25"/>
          <p:cNvSpPr txBox="1"/>
          <p:nvPr/>
        </p:nvSpPr>
        <p:spPr>
          <a:xfrm>
            <a:off x="548640" y="3054096"/>
            <a:ext cx="4233672" cy="731520"/>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34" charset="0"/>
                <a:ea typeface="Amiri" pitchFamily="34" charset="-122"/>
                <a:cs typeface="Amiri" pitchFamily="34" charset="-120"/>
              </a:rPr>
              <a:t>ك ← ت ← ب</a:t>
            </a:r>
            <a:endParaRPr lang="ar-SA" sz="20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9738360" y="3840480"/>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 Attach marks</a:t>
            </a:r>
            <a:endParaRPr lang="en-US" sz="1100" dirty="0"/>
          </a:p>
        </p:txBody>
      </p:sp>
      <p:sp>
        <p:nvSpPr>
          <p:cNvPr id="33" name="Text 30"/>
          <p:cNvSpPr txBox="1"/>
          <p:nvPr/>
        </p:nvSpPr>
        <p:spPr>
          <a:xfrm>
            <a:off x="4983480" y="3840480"/>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Give each letter its vowel, sukūn, shadda or long vowel.</a:t>
            </a:r>
            <a:endParaRPr lang="en-US" sz="1100" dirty="0"/>
          </a:p>
        </p:txBody>
      </p:sp>
      <p:sp>
        <p:nvSpPr>
          <p:cNvPr id="34" name="Text 31"/>
          <p:cNvSpPr txBox="1"/>
          <p:nvPr/>
        </p:nvSpPr>
        <p:spPr>
          <a:xfrm>
            <a:off x="566928" y="3840480"/>
            <a:ext cx="423367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Each has fatḥa: </a:t>
            </a:r>
            <a:pPr algn="l" indent="0" marL="0">
              <a:buNone/>
            </a:pPr>
            <a:r>
              <a:rPr lang="ar-SA" altLang="en-US" sz="1450" dirty="0">
                <a:solidFill>
                  <a:srgbClr val="5A6472"/>
                </a:solidFill>
                <a:latin typeface="Amiri" pitchFamily="34" charset="0"/>
                <a:ea typeface="Amiri" pitchFamily="34" charset="-122"/>
                <a:cs typeface="Amiri" pitchFamily="34" charset="-120"/>
              </a:rPr>
              <a:t>كَ، تَ، بَ</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9738360" y="4626864"/>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 · Draw together</a:t>
            </a:r>
            <a:endParaRPr lang="en-US" sz="1100" dirty="0"/>
          </a:p>
        </p:txBody>
      </p:sp>
      <p:sp>
        <p:nvSpPr>
          <p:cNvPr id="39" name="Text 36"/>
          <p:cNvSpPr txBox="1"/>
          <p:nvPr/>
        </p:nvSpPr>
        <p:spPr>
          <a:xfrm>
            <a:off x="4983480" y="4626864"/>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Blend in chunks. No extra vowel after sukūn.</a:t>
            </a:r>
            <a:endParaRPr lang="en-US" sz="1100" dirty="0"/>
          </a:p>
        </p:txBody>
      </p:sp>
      <p:sp>
        <p:nvSpPr>
          <p:cNvPr id="40" name="Text 37"/>
          <p:cNvSpPr txBox="1"/>
          <p:nvPr/>
        </p:nvSpPr>
        <p:spPr>
          <a:xfrm>
            <a:off x="566928" y="4626864"/>
            <a:ext cx="42336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كَ</a:t>
            </a:r>
            <a:pPr algn="l" indent="0" marL="0">
              <a:buNone/>
            </a:pPr>
            <a:r>
              <a:rPr lang="en-US" sz="1100" dirty="0">
                <a:solidFill>
                  <a:srgbClr val="5A6472"/>
                </a:solidFill>
                <a:latin typeface="Calibri" pitchFamily="34" charset="0"/>
                <a:ea typeface="Calibri" pitchFamily="34" charset="-122"/>
                <a:cs typeface="Calibri" pitchFamily="34" charset="-120"/>
              </a:rPr>
              <a:t> | </a:t>
            </a:r>
            <a:pPr algn="l" indent="0" marL="0">
              <a:buNone/>
            </a:pPr>
            <a:r>
              <a:rPr lang="ar-SA" altLang="en-US" sz="1450" dirty="0">
                <a:solidFill>
                  <a:srgbClr val="5A6472"/>
                </a:solidFill>
                <a:latin typeface="Amiri" pitchFamily="34" charset="0"/>
                <a:ea typeface="Amiri" pitchFamily="34" charset="-122"/>
                <a:cs typeface="Amiri" pitchFamily="34" charset="-120"/>
              </a:rPr>
              <a:t>تَ</a:t>
            </a:r>
            <a:pPr algn="l" indent="0" marL="0">
              <a:buNone/>
            </a:pPr>
            <a:r>
              <a:rPr lang="en-US" sz="1100" dirty="0">
                <a:solidFill>
                  <a:srgbClr val="5A6472"/>
                </a:solidFill>
                <a:latin typeface="Calibri" pitchFamily="34" charset="0"/>
                <a:ea typeface="Calibri" pitchFamily="34" charset="-122"/>
                <a:cs typeface="Calibri" pitchFamily="34" charset="-120"/>
              </a:rPr>
              <a:t> | </a:t>
            </a:r>
            <a:pPr algn="l" indent="0" marL="0">
              <a:buNone/>
            </a:pPr>
            <a:r>
              <a:rPr lang="ar-SA" altLang="en-US" sz="1450" dirty="0">
                <a:solidFill>
                  <a:srgbClr val="5A6472"/>
                </a:solidFill>
                <a:latin typeface="Amiri" pitchFamily="34" charset="0"/>
                <a:ea typeface="Amiri" pitchFamily="34" charset="-122"/>
                <a:cs typeface="Amiri" pitchFamily="34" charset="-120"/>
              </a:rPr>
              <a:t>بَ</a:t>
            </a:r>
            <a:pPr algn="l" indent="0" marL="0">
              <a:buNone/>
            </a:pPr>
            <a:r>
              <a:rPr lang="en-US" sz="1100" dirty="0">
                <a:solidFill>
                  <a:srgbClr val="5A6472"/>
                </a:solidFill>
                <a:latin typeface="Calibri" pitchFamily="34" charset="0"/>
                <a:ea typeface="Calibri" pitchFamily="34" charset="-122"/>
                <a:cs typeface="Calibri" pitchFamily="34" charset="-120"/>
              </a:rPr>
              <a:t> → kataba</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Shape 40"/>
          <p:cNvSpPr/>
          <p:nvPr/>
        </p:nvSpPr>
        <p:spPr>
          <a:xfrm>
            <a:off x="457200" y="5413248"/>
            <a:ext cx="11274552" cy="731520"/>
          </a:xfrm>
          <a:prstGeom prst="roundRect">
            <a:avLst>
              <a:gd name="adj" fmla="val 6250"/>
            </a:avLst>
          </a:prstGeom>
          <a:solidFill>
            <a:srgbClr val="FFFFFF"/>
          </a:solidFill>
          <a:ln w="9525">
            <a:solidFill>
              <a:srgbClr val="D8D0BF"/>
            </a:solidFill>
            <a:prstDash val="solid"/>
          </a:ln>
        </p:spPr>
      </p:sp>
      <p:sp>
        <p:nvSpPr>
          <p:cNvPr id="44" name="Text 41"/>
          <p:cNvSpPr txBox="1"/>
          <p:nvPr/>
        </p:nvSpPr>
        <p:spPr>
          <a:xfrm>
            <a:off x="9738360" y="5413248"/>
            <a:ext cx="19202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Read again</a:t>
            </a:r>
            <a:endParaRPr lang="en-US" sz="1100" dirty="0"/>
          </a:p>
        </p:txBody>
      </p:sp>
      <p:sp>
        <p:nvSpPr>
          <p:cNvPr id="45" name="Text 42"/>
          <p:cNvSpPr txBox="1"/>
          <p:nvPr/>
        </p:nvSpPr>
        <p:spPr>
          <a:xfrm>
            <a:off x="4983480" y="5413248"/>
            <a:ext cx="45720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 once more, smoothly. Then check the meaning.</a:t>
            </a:r>
            <a:endParaRPr lang="en-US" sz="1100" dirty="0"/>
          </a:p>
        </p:txBody>
      </p:sp>
      <p:sp>
        <p:nvSpPr>
          <p:cNvPr id="46" name="Text 43"/>
          <p:cNvSpPr txBox="1"/>
          <p:nvPr/>
        </p:nvSpPr>
        <p:spPr>
          <a:xfrm>
            <a:off x="566928" y="5413248"/>
            <a:ext cx="4233672" cy="731520"/>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34" charset="0"/>
                <a:ea typeface="Amiri" pitchFamily="34" charset="-122"/>
                <a:cs typeface="Amiri" pitchFamily="34" charset="-120"/>
              </a:rPr>
              <a:t>كَتَبَ</a:t>
            </a:r>
            <a:pPr algn="l" indent="0" marL="0">
              <a:buNone/>
            </a:pPr>
            <a:r>
              <a:rPr lang="en-US" sz="1100" dirty="0">
                <a:solidFill>
                  <a:srgbClr val="5A6472"/>
                </a:solidFill>
                <a:latin typeface="Calibri" pitchFamily="34" charset="0"/>
                <a:ea typeface="Calibri" pitchFamily="34" charset="-122"/>
                <a:cs typeface="Calibri" pitchFamily="34" charset="-120"/>
              </a:rPr>
              <a:t> = he wrote</a:t>
            </a:r>
            <a:endParaRPr lang="en-US" sz="1100" dirty="0"/>
          </a:p>
        </p:txBody>
      </p:sp>
      <p:sp>
        <p:nvSpPr>
          <p:cNvPr id="47" name="Shape 44"/>
          <p:cNvSpPr/>
          <p:nvPr/>
        </p:nvSpPr>
        <p:spPr>
          <a:xfrm>
            <a:off x="11091672" y="5458968"/>
            <a:ext cx="548640" cy="182880"/>
          </a:xfrm>
          <a:prstGeom prst="roundRect">
            <a:avLst>
              <a:gd name="adj" fmla="val 50000"/>
            </a:avLst>
          </a:prstGeom>
          <a:solidFill>
            <a:srgbClr val="2E8B57"/>
          </a:solidFill>
          <a:ln w="12700">
            <a:solidFill>
              <a:srgbClr val="2E8B57"/>
            </a:solidFill>
            <a:prstDash val="solid"/>
          </a:ln>
        </p:spPr>
      </p:sp>
      <p:sp>
        <p:nvSpPr>
          <p:cNvPr id="48" name="Text 45"/>
          <p:cNvSpPr txBox="1"/>
          <p:nvPr/>
        </p:nvSpPr>
        <p:spPr>
          <a:xfrm>
            <a:off x="11091672" y="545896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8 / 26</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950" b="1" spc="150" kern="0" dirty="0">
                <a:solidFill>
                  <a:srgbClr val="1B3B6F"/>
                </a:solidFill>
                <a:latin typeface="Calibri" pitchFamily="34" charset="0"/>
                <a:ea typeface="Calibri" pitchFamily="34" charset="-122"/>
                <a:cs typeface="Calibri" pitchFamily="34" charset="-120"/>
              </a:rPr>
              <a:t>TEACHER INSTRUCTION · MARK-TO-SOUND SCAN (WEBSITE FAST DECODING REFERENCE)</a:t>
            </a:r>
            <a:endParaRPr lang="en-US" sz="95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Every signal has a job</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مِنَ العَلَامَةِ إِلَى الصَّوْتِ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01784" y="1810512"/>
            <a:ext cx="19568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Signal</a:t>
            </a:r>
            <a:endParaRPr lang="en-US" sz="1100" dirty="0"/>
          </a:p>
        </p:txBody>
      </p:sp>
      <p:sp>
        <p:nvSpPr>
          <p:cNvPr id="17" name="Text 14"/>
          <p:cNvSpPr txBox="1"/>
          <p:nvPr/>
        </p:nvSpPr>
        <p:spPr>
          <a:xfrm>
            <a:off x="586130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Reading job</a:t>
            </a:r>
            <a:endParaRPr lang="en-US" sz="1100" dirty="0"/>
          </a:p>
        </p:txBody>
      </p:sp>
      <p:sp>
        <p:nvSpPr>
          <p:cNvPr id="18" name="Text 15"/>
          <p:cNvSpPr txBox="1"/>
          <p:nvPr/>
        </p:nvSpPr>
        <p:spPr>
          <a:xfrm>
            <a:off x="3300984" y="1810512"/>
            <a:ext cx="24140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p>
        </p:txBody>
      </p:sp>
      <p:sp>
        <p:nvSpPr>
          <p:cNvPr id="19" name="Text 16"/>
          <p:cNvSpPr txBox="1"/>
          <p:nvPr/>
        </p:nvSpPr>
        <p:spPr>
          <a:xfrm>
            <a:off x="530352" y="1810512"/>
            <a:ext cx="26243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Say</a:t>
            </a:r>
            <a:endParaRPr lang="en-US" sz="1100" dirty="0"/>
          </a:p>
        </p:txBody>
      </p:sp>
      <p:sp>
        <p:nvSpPr>
          <p:cNvPr id="20" name="Shape 17"/>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1" name="Text 18"/>
          <p:cNvSpPr txBox="1"/>
          <p:nvPr/>
        </p:nvSpPr>
        <p:spPr>
          <a:xfrm>
            <a:off x="9738360" y="226771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short vowels</a:t>
            </a:r>
            <a:endParaRPr lang="en-US" sz="1100" dirty="0"/>
          </a:p>
        </p:txBody>
      </p:sp>
      <p:sp>
        <p:nvSpPr>
          <p:cNvPr id="22" name="Text 19"/>
          <p:cNvSpPr txBox="1"/>
          <p:nvPr/>
        </p:nvSpPr>
        <p:spPr>
          <a:xfrm>
            <a:off x="5897880" y="2267712"/>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A short vowel after the consonant.</a:t>
            </a:r>
            <a:endParaRPr lang="en-US" sz="1100" dirty="0"/>
          </a:p>
        </p:txBody>
      </p:sp>
      <p:sp>
        <p:nvSpPr>
          <p:cNvPr id="23" name="Text 20"/>
          <p:cNvSpPr txBox="1"/>
          <p:nvPr/>
        </p:nvSpPr>
        <p:spPr>
          <a:xfrm>
            <a:off x="3319272" y="2267712"/>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بَ  بِ  بُ</a:t>
            </a:r>
            <a:endParaRPr lang="ar-SA" sz="2600" dirty="0"/>
          </a:p>
        </p:txBody>
      </p:sp>
      <p:sp>
        <p:nvSpPr>
          <p:cNvPr id="24" name="Text 21"/>
          <p:cNvSpPr txBox="1"/>
          <p:nvPr/>
        </p:nvSpPr>
        <p:spPr>
          <a:xfrm>
            <a:off x="566928" y="2267712"/>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 · bi · bu</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7" name="Shape 24"/>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8" name="Text 25"/>
          <p:cNvSpPr txBox="1"/>
          <p:nvPr/>
        </p:nvSpPr>
        <p:spPr>
          <a:xfrm>
            <a:off x="9738360" y="2950464"/>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sukūn</a:t>
            </a:r>
            <a:endParaRPr lang="en-US" sz="1100" dirty="0"/>
          </a:p>
        </p:txBody>
      </p:sp>
      <p:sp>
        <p:nvSpPr>
          <p:cNvPr id="29" name="Text 26"/>
          <p:cNvSpPr txBox="1"/>
          <p:nvPr/>
        </p:nvSpPr>
        <p:spPr>
          <a:xfrm>
            <a:off x="5897880" y="2950464"/>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No vowel; it closes a chunk.</a:t>
            </a:r>
            <a:endParaRPr lang="en-US" sz="1100" dirty="0"/>
          </a:p>
        </p:txBody>
      </p:sp>
      <p:sp>
        <p:nvSpPr>
          <p:cNvPr id="30" name="Text 27"/>
          <p:cNvSpPr txBox="1"/>
          <p:nvPr/>
        </p:nvSpPr>
        <p:spPr>
          <a:xfrm>
            <a:off x="3319272" y="2950464"/>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مَكْ</a:t>
            </a:r>
            <a:endParaRPr lang="ar-SA" sz="2600" dirty="0"/>
          </a:p>
        </p:txBody>
      </p:sp>
      <p:sp>
        <p:nvSpPr>
          <p:cNvPr id="31" name="Text 28"/>
          <p:cNvSpPr txBox="1"/>
          <p:nvPr/>
        </p:nvSpPr>
        <p:spPr>
          <a:xfrm>
            <a:off x="566928" y="2950464"/>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mak, not maka</a:t>
            </a:r>
            <a:endParaRPr lang="en-US" sz="1100" dirty="0"/>
          </a:p>
        </p:txBody>
      </p:sp>
      <p:sp>
        <p:nvSpPr>
          <p:cNvPr id="32" name="Shape 29"/>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4" name="Shape 31"/>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5" name="Text 32"/>
          <p:cNvSpPr txBox="1"/>
          <p:nvPr/>
        </p:nvSpPr>
        <p:spPr>
          <a:xfrm>
            <a:off x="9738360" y="3633216"/>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long vowels</a:t>
            </a:r>
            <a:endParaRPr lang="en-US" sz="1100" dirty="0"/>
          </a:p>
        </p:txBody>
      </p:sp>
      <p:sp>
        <p:nvSpPr>
          <p:cNvPr id="36" name="Text 33"/>
          <p:cNvSpPr txBox="1"/>
          <p:nvPr/>
        </p:nvSpPr>
        <p:spPr>
          <a:xfrm>
            <a:off x="5897880" y="3633216"/>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Long ā · ī · ū — two beats.</a:t>
            </a:r>
            <a:endParaRPr lang="en-US" sz="1100" dirty="0"/>
          </a:p>
        </p:txBody>
      </p:sp>
      <p:sp>
        <p:nvSpPr>
          <p:cNvPr id="37" name="Text 34"/>
          <p:cNvSpPr txBox="1"/>
          <p:nvPr/>
        </p:nvSpPr>
        <p:spPr>
          <a:xfrm>
            <a:off x="3319272" y="3633216"/>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بَاب · نُور</a:t>
            </a:r>
            <a:endParaRPr lang="ar-SA" sz="2600" dirty="0"/>
          </a:p>
        </p:txBody>
      </p:sp>
      <p:sp>
        <p:nvSpPr>
          <p:cNvPr id="38" name="Text 35"/>
          <p:cNvSpPr txBox="1"/>
          <p:nvPr/>
        </p:nvSpPr>
        <p:spPr>
          <a:xfrm>
            <a:off x="566928" y="3633216"/>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bāb · nūr</a:t>
            </a:r>
            <a:endParaRPr lang="en-US" sz="1100" dirty="0"/>
          </a:p>
        </p:txBody>
      </p:sp>
      <p:sp>
        <p:nvSpPr>
          <p:cNvPr id="39" name="Shape 36"/>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1" name="Shape 38"/>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42" name="Text 39"/>
          <p:cNvSpPr txBox="1"/>
          <p:nvPr/>
        </p:nvSpPr>
        <p:spPr>
          <a:xfrm>
            <a:off x="9738360" y="4315968"/>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shadda</a:t>
            </a:r>
            <a:endParaRPr lang="en-US" sz="1100" dirty="0"/>
          </a:p>
        </p:txBody>
      </p:sp>
      <p:sp>
        <p:nvSpPr>
          <p:cNvPr id="43" name="Text 40"/>
          <p:cNvSpPr txBox="1"/>
          <p:nvPr/>
        </p:nvSpPr>
        <p:spPr>
          <a:xfrm>
            <a:off x="5897880" y="4315968"/>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Doubled consonant; its vowel after the second half.</a:t>
            </a:r>
            <a:endParaRPr lang="en-US" sz="1100" dirty="0"/>
          </a:p>
        </p:txBody>
      </p:sp>
      <p:sp>
        <p:nvSpPr>
          <p:cNvPr id="44" name="Text 41"/>
          <p:cNvSpPr txBox="1"/>
          <p:nvPr/>
        </p:nvSpPr>
        <p:spPr>
          <a:xfrm>
            <a:off x="3319272" y="4315968"/>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مُعَلِّمٌ</a:t>
            </a:r>
            <a:endParaRPr lang="ar-SA" sz="2600" dirty="0"/>
          </a:p>
        </p:txBody>
      </p:sp>
      <p:sp>
        <p:nvSpPr>
          <p:cNvPr id="45" name="Text 42"/>
          <p:cNvSpPr txBox="1"/>
          <p:nvPr/>
        </p:nvSpPr>
        <p:spPr>
          <a:xfrm>
            <a:off x="566928" y="4315968"/>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muʿallimun</a:t>
            </a:r>
            <a:endParaRPr lang="en-US" sz="1100" dirty="0"/>
          </a:p>
        </p:txBody>
      </p:sp>
      <p:sp>
        <p:nvSpPr>
          <p:cNvPr id="46" name="Shape 43"/>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7" name="Text 44"/>
          <p:cNvSpPr txBox="1"/>
          <p:nvPr/>
        </p:nvSpPr>
        <p:spPr>
          <a:xfrm>
            <a:off x="9738360" y="4998720"/>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tanwīn</a:t>
            </a:r>
            <a:endParaRPr lang="en-US" sz="1100" dirty="0"/>
          </a:p>
        </p:txBody>
      </p:sp>
      <p:sp>
        <p:nvSpPr>
          <p:cNvPr id="48" name="Text 45"/>
          <p:cNvSpPr txBox="1"/>
          <p:nvPr/>
        </p:nvSpPr>
        <p:spPr>
          <a:xfrm>
            <a:off x="5897880" y="4998720"/>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/un · in · an/ in careful connected reading.</a:t>
            </a:r>
            <a:endParaRPr lang="en-US" sz="1100" dirty="0"/>
          </a:p>
        </p:txBody>
      </p:sp>
      <p:sp>
        <p:nvSpPr>
          <p:cNvPr id="49" name="Text 46"/>
          <p:cNvSpPr txBox="1"/>
          <p:nvPr/>
        </p:nvSpPr>
        <p:spPr>
          <a:xfrm>
            <a:off x="3319272" y="4998720"/>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كِتَابٌ</a:t>
            </a:r>
            <a:endParaRPr lang="ar-SA" sz="2600" dirty="0"/>
          </a:p>
        </p:txBody>
      </p:sp>
      <p:sp>
        <p:nvSpPr>
          <p:cNvPr id="50" name="Text 47"/>
          <p:cNvSpPr txBox="1"/>
          <p:nvPr/>
        </p:nvSpPr>
        <p:spPr>
          <a:xfrm>
            <a:off x="566928" y="4998720"/>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kitābun</a:t>
            </a:r>
            <a:endParaRPr lang="en-US" sz="1100" dirty="0"/>
          </a:p>
        </p:txBody>
      </p:sp>
      <p:sp>
        <p:nvSpPr>
          <p:cNvPr id="51" name="Shape 48"/>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52" name="Text 49"/>
          <p:cNvSpPr txBox="1"/>
          <p:nvPr/>
        </p:nvSpPr>
        <p:spPr>
          <a:xfrm>
            <a:off x="9738360" y="5681472"/>
            <a:ext cx="19202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hamza · madda</a:t>
            </a:r>
            <a:endParaRPr lang="en-US" sz="1100" dirty="0"/>
          </a:p>
        </p:txBody>
      </p:sp>
      <p:sp>
        <p:nvSpPr>
          <p:cNvPr id="53" name="Text 50"/>
          <p:cNvSpPr txBox="1"/>
          <p:nvPr/>
        </p:nvSpPr>
        <p:spPr>
          <a:xfrm>
            <a:off x="5897880" y="5681472"/>
            <a:ext cx="365760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The catch /ʔ/; madda begins /ʔā/.</a:t>
            </a:r>
            <a:endParaRPr lang="en-US" sz="1100" dirty="0"/>
          </a:p>
        </p:txBody>
      </p:sp>
      <p:sp>
        <p:nvSpPr>
          <p:cNvPr id="54" name="Text 51"/>
          <p:cNvSpPr txBox="1"/>
          <p:nvPr/>
        </p:nvSpPr>
        <p:spPr>
          <a:xfrm>
            <a:off x="3319272" y="5681472"/>
            <a:ext cx="2377440" cy="627888"/>
          </a:xfrm>
          <a:prstGeom prst="rect">
            <a:avLst/>
          </a:prstGeom>
          <a:noFill/>
          <a:ln/>
        </p:spPr>
        <p:txBody>
          <a:bodyPr wrap="square" lIns="0" tIns="0" rIns="0" bIns="0" rtlCol="0" anchor="ctr"/>
          <a:lstStyle/>
          <a:p>
            <a:pPr rtl="1" algn="ctr" indent="0" marL="0">
              <a:buNone/>
            </a:pPr>
            <a:r>
              <a:rPr lang="ar-SA" altLang="en-US" sz="2600" b="1" dirty="0">
                <a:solidFill>
                  <a:srgbClr val="1B3B6F"/>
                </a:solidFill>
                <a:latin typeface="Amiri" pitchFamily="34" charset="0"/>
                <a:ea typeface="Amiri" pitchFamily="34" charset="-122"/>
                <a:cs typeface="Amiri" pitchFamily="34" charset="-120"/>
              </a:rPr>
              <a:t>قَرَأَ · آمِنٌ</a:t>
            </a:r>
            <a:endParaRPr lang="ar-SA" sz="2600" dirty="0"/>
          </a:p>
        </p:txBody>
      </p:sp>
      <p:sp>
        <p:nvSpPr>
          <p:cNvPr id="55" name="Text 52"/>
          <p:cNvSpPr txBox="1"/>
          <p:nvPr/>
        </p:nvSpPr>
        <p:spPr>
          <a:xfrm>
            <a:off x="566928" y="5681472"/>
            <a:ext cx="25877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qaraʾa · ʾāminun</a:t>
            </a:r>
            <a:endParaRPr lang="en-US" sz="1100" dirty="0"/>
          </a:p>
        </p:txBody>
      </p:sp>
      <p:sp>
        <p:nvSpPr>
          <p:cNvPr id="56" name="Text 5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9 / 26</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 you start reading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a:t>
            </a:r>
            <a:pPr algn="l" indent="0" marL="0">
              <a:buNone/>
            </a:pPr>
            <a:r>
              <a:rPr lang="ar-SA" altLang="en-US" sz="1650" dirty="0">
                <a:solidFill>
                  <a:srgbClr val="1F2A37"/>
                </a:solidFill>
                <a:latin typeface="Amiri" pitchFamily="34" charset="0"/>
                <a:ea typeface="Amiri" pitchFamily="34" charset="-122"/>
                <a:cs typeface="Amiri" pitchFamily="34" charset="-120"/>
              </a:rPr>
              <a:t>ب</a:t>
            </a:r>
            <a:pPr algn="l" indent="0" marL="0">
              <a:buNone/>
            </a:pPr>
            <a:r>
              <a:rPr lang="en-US" sz="1250" dirty="0">
                <a:solidFill>
                  <a:srgbClr val="1F2A37"/>
                </a:solidFill>
                <a:latin typeface="Calibri" pitchFamily="34" charset="0"/>
                <a:ea typeface="Calibri" pitchFamily="34" charset="-122"/>
                <a:cs typeface="Calibri" pitchFamily="34" charset="-120"/>
              </a:rPr>
              <a:t>, on the left</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At </a:t>
            </a:r>
            <a:pPr algn="l" indent="0" marL="0">
              <a:buNone/>
            </a:pPr>
            <a:r>
              <a:rPr lang="ar-SA" altLang="en-US" sz="1650" dirty="0">
                <a:solidFill>
                  <a:srgbClr val="1F2A37"/>
                </a:solidFill>
                <a:latin typeface="Amiri" pitchFamily="34" charset="0"/>
                <a:ea typeface="Amiri" pitchFamily="34" charset="-122"/>
                <a:cs typeface="Amiri" pitchFamily="34" charset="-120"/>
              </a:rPr>
              <a:t>ك</a:t>
            </a:r>
            <a:pPr algn="l" indent="0" marL="0">
              <a:buNone/>
            </a:pPr>
            <a:r>
              <a:rPr lang="en-US" sz="1250" dirty="0">
                <a:solidFill>
                  <a:srgbClr val="1F2A37"/>
                </a:solidFill>
                <a:latin typeface="Calibri" pitchFamily="34" charset="0"/>
                <a:ea typeface="Calibri" pitchFamily="34" charset="-122"/>
                <a:cs typeface="Calibri" pitchFamily="34" charset="-120"/>
              </a:rPr>
              <a:t>, on the right</a:t>
            </a:r>
            <a:endParaRPr lang="en-US" sz="1250" dirty="0"/>
          </a:p>
        </p:txBody>
      </p:sp>
      <p:sp>
        <p:nvSpPr>
          <p:cNvPr id="25" name="Shape 22"/>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313932" y="1947672"/>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28" name="Text 25"/>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29" name="Shape 26"/>
          <p:cNvSpPr/>
          <p:nvPr/>
        </p:nvSpPr>
        <p:spPr>
          <a:xfrm>
            <a:off x="6368796" y="2532888"/>
            <a:ext cx="256032" cy="256032"/>
          </a:xfrm>
          <a:prstGeom prst="ellipse">
            <a:avLst/>
          </a:prstGeom>
          <a:solidFill>
            <a:srgbClr val="F4F1EA"/>
          </a:solidFill>
          <a:ln w="12700">
            <a:solidFill>
              <a:srgbClr val="F4F1EA"/>
            </a:solidFill>
            <a:prstDash val="solid"/>
          </a:ln>
        </p:spPr>
      </p:sp>
      <p:sp>
        <p:nvSpPr>
          <p:cNvPr id="30" name="Text 27"/>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1" name="Text 28"/>
          <p:cNvSpPr txBox="1"/>
          <p:nvPr/>
        </p:nvSpPr>
        <p:spPr>
          <a:xfrm>
            <a:off x="6697980"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mak-ta-bun</a:t>
            </a:r>
            <a:endParaRPr lang="en-US" sz="1250" dirty="0"/>
          </a:p>
        </p:txBody>
      </p:sp>
      <p:sp>
        <p:nvSpPr>
          <p:cNvPr id="32" name="Shape 29"/>
          <p:cNvSpPr/>
          <p:nvPr/>
        </p:nvSpPr>
        <p:spPr>
          <a:xfrm>
            <a:off x="6368796" y="29900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4" name="Text 31"/>
          <p:cNvSpPr txBox="1"/>
          <p:nvPr/>
        </p:nvSpPr>
        <p:spPr>
          <a:xfrm>
            <a:off x="6697980"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ma-ka-ta-bun</a:t>
            </a:r>
            <a:endParaRPr lang="en-US" sz="1250" dirty="0"/>
          </a:p>
        </p:txBody>
      </p:sp>
      <p:sp>
        <p:nvSpPr>
          <p:cNvPr id="35" name="Shape 32"/>
          <p:cNvSpPr/>
          <p:nvPr/>
        </p:nvSpPr>
        <p:spPr>
          <a:xfrm>
            <a:off x="6368796" y="34472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37" name="Text 34"/>
          <p:cNvSpPr txBox="1"/>
          <p:nvPr/>
        </p:nvSpPr>
        <p:spPr>
          <a:xfrm>
            <a:off x="6697980"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mak-tab-ban</a:t>
            </a:r>
            <a:endParaRPr lang="en-US" sz="1250" dirty="0"/>
          </a:p>
        </p:txBody>
      </p:sp>
      <p:sp>
        <p:nvSpPr>
          <p:cNvPr id="38" name="Shape 35"/>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585216" y="4288536"/>
            <a:ext cx="310896" cy="310896"/>
          </a:xfrm>
          <a:prstGeom prst="ellipse">
            <a:avLst/>
          </a:prstGeom>
          <a:solidFill>
            <a:srgbClr val="1B3B6F"/>
          </a:solidFill>
          <a:ln w="12700">
            <a:solidFill>
              <a:srgbClr val="1B3B6F"/>
            </a:solidFill>
            <a:prstDash val="solid"/>
          </a:ln>
        </p:spPr>
      </p:sp>
      <p:sp>
        <p:nvSpPr>
          <p:cNvPr id="40" name="Text 37"/>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a:t>
            </a:r>
            <a:pPr algn="l" indent="0" marL="0">
              <a:buNone/>
            </a:pPr>
            <a:r>
              <a:rPr lang="ar-SA" altLang="en-US" sz="1650" b="1" dirty="0">
                <a:solidFill>
                  <a:srgbClr val="1B3B6F"/>
                </a:solidFill>
                <a:latin typeface="Amiri" pitchFamily="34" charset="0"/>
                <a:ea typeface="Amiri" pitchFamily="34" charset="-122"/>
                <a:cs typeface="Amiri" pitchFamily="34" charset="-120"/>
              </a:rPr>
              <a:t>تَا</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2" name="Shape 39"/>
          <p:cNvSpPr/>
          <p:nvPr/>
        </p:nvSpPr>
        <p:spPr>
          <a:xfrm>
            <a:off x="640080" y="4873752"/>
            <a:ext cx="256032" cy="256032"/>
          </a:xfrm>
          <a:prstGeom prst="ellipse">
            <a:avLst/>
          </a:prstGeom>
          <a:solidFill>
            <a:srgbClr val="F4F1EA"/>
          </a:solidFill>
          <a:ln w="12700">
            <a:solidFill>
              <a:srgbClr val="F4F1EA"/>
            </a:solidFill>
            <a:prstDash val="solid"/>
          </a:ln>
        </p:spPr>
      </p:sp>
      <p:sp>
        <p:nvSpPr>
          <p:cNvPr id="43" name="Text 4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About two beats</a:t>
            </a:r>
            <a:endParaRPr lang="en-US" sz="1250" dirty="0"/>
          </a:p>
        </p:txBody>
      </p:sp>
      <p:sp>
        <p:nvSpPr>
          <p:cNvPr id="45" name="Shape 42"/>
          <p:cNvSpPr/>
          <p:nvPr/>
        </p:nvSpPr>
        <p:spPr>
          <a:xfrm>
            <a:off x="640080" y="53309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One beat</a:t>
            </a:r>
            <a:endParaRPr lang="en-US" sz="1250" dirty="0"/>
          </a:p>
        </p:txBody>
      </p:sp>
      <p:sp>
        <p:nvSpPr>
          <p:cNvPr id="48" name="Shape 45"/>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6313932" y="4288536"/>
            <a:ext cx="310896" cy="310896"/>
          </a:xfrm>
          <a:prstGeom prst="ellipse">
            <a:avLst/>
          </a:prstGeom>
          <a:solidFill>
            <a:srgbClr val="1B3B6F"/>
          </a:solidFill>
          <a:ln w="12700">
            <a:solidFill>
              <a:srgbClr val="1B3B6F"/>
            </a:solidFill>
            <a:prstDash val="solid"/>
          </a:ln>
        </p:spPr>
      </p:sp>
      <p:sp>
        <p:nvSpPr>
          <p:cNvPr id="50" name="Text 47"/>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1" name="Text 48"/>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 “read again” check?</a:t>
            </a:r>
            <a:endParaRPr lang="en-US" sz="1250" dirty="0"/>
          </a:p>
        </p:txBody>
      </p:sp>
      <p:sp>
        <p:nvSpPr>
          <p:cNvPr id="52" name="Shape 49"/>
          <p:cNvSpPr/>
          <p:nvPr/>
        </p:nvSpPr>
        <p:spPr>
          <a:xfrm>
            <a:off x="6368796" y="4873752"/>
            <a:ext cx="256032" cy="256032"/>
          </a:xfrm>
          <a:prstGeom prst="ellipse">
            <a:avLst/>
          </a:prstGeom>
          <a:solidFill>
            <a:srgbClr val="F4F1EA"/>
          </a:solidFill>
          <a:ln w="12700">
            <a:solidFill>
              <a:srgbClr val="F4F1EA"/>
            </a:solidFill>
            <a:prstDash val="solid"/>
          </a:ln>
        </p:spPr>
      </p:sp>
      <p:sp>
        <p:nvSpPr>
          <p:cNvPr id="53" name="Text 50"/>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4" name="Text 51"/>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Smoothness and meaning</a:t>
            </a:r>
            <a:endParaRPr lang="en-US" sz="1250" dirty="0"/>
          </a:p>
        </p:txBody>
      </p:sp>
      <p:sp>
        <p:nvSpPr>
          <p:cNvPr id="55" name="Shape 52"/>
          <p:cNvSpPr/>
          <p:nvPr/>
        </p:nvSpPr>
        <p:spPr>
          <a:xfrm>
            <a:off x="6368796" y="5330952"/>
            <a:ext cx="256032" cy="256032"/>
          </a:xfrm>
          <a:prstGeom prst="ellipse">
            <a:avLst/>
          </a:prstGeom>
          <a:solidFill>
            <a:srgbClr val="F4F1EA"/>
          </a:solidFill>
          <a:ln w="12700">
            <a:solidFill>
              <a:srgbClr val="F4F1EA"/>
            </a:solidFill>
            <a:prstDash val="solid"/>
          </a:ln>
        </p:spPr>
      </p:sp>
      <p:sp>
        <p:nvSpPr>
          <p:cNvPr id="56" name="Text 53"/>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7" name="Text 54"/>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Speed only</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10 / 26</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ea typeface="Calibri" pitchFamily="34" charset="-122"/>
                <a:cs typeface="Calibri" pitchFamily="34" charset="-120"/>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Where do you start reading </a:t>
            </a:r>
            <a:pPr algn="l" indent="0" marL="0">
              <a:buNone/>
            </a:pPr>
            <a:r>
              <a:rPr lang="ar-SA" altLang="en-US" sz="1650" b="1" dirty="0">
                <a:solidFill>
                  <a:srgbClr val="1B3B6F"/>
                </a:solidFill>
                <a:latin typeface="Amiri" pitchFamily="34" charset="0"/>
                <a:ea typeface="Amiri" pitchFamily="34" charset="-122"/>
                <a:cs typeface="Amiri" pitchFamily="34" charset="-120"/>
              </a:rPr>
              <a:t>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19" name="Shape 16"/>
          <p:cNvSpPr/>
          <p:nvPr/>
        </p:nvSpPr>
        <p:spPr>
          <a:xfrm>
            <a:off x="640080" y="2532888"/>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At </a:t>
            </a:r>
            <a:pPr algn="l" indent="0" marL="0">
              <a:buNone/>
            </a:pPr>
            <a:r>
              <a:rPr lang="ar-SA" altLang="en-US" sz="1650" dirty="0">
                <a:solidFill>
                  <a:srgbClr val="9AA1AB"/>
                </a:solidFill>
                <a:latin typeface="Amiri" pitchFamily="34" charset="0"/>
                <a:ea typeface="Amiri" pitchFamily="34" charset="-122"/>
                <a:cs typeface="Amiri" pitchFamily="34" charset="-120"/>
              </a:rPr>
              <a:t>ب</a:t>
            </a:r>
            <a:pPr algn="l" indent="0" marL="0">
              <a:buNone/>
            </a:pPr>
            <a:r>
              <a:rPr lang="en-US" sz="1250" dirty="0">
                <a:solidFill>
                  <a:srgbClr val="9AA1AB"/>
                </a:solidFill>
                <a:latin typeface="Calibri" pitchFamily="34" charset="0"/>
                <a:ea typeface="Calibri" pitchFamily="34" charset="-122"/>
                <a:cs typeface="Calibri" pitchFamily="34" charset="-120"/>
              </a:rPr>
              <a:t>, on the left</a:t>
            </a:r>
            <a:endParaRPr lang="en-US" sz="1250" dirty="0"/>
          </a:p>
        </p:txBody>
      </p:sp>
      <p:sp>
        <p:nvSpPr>
          <p:cNvPr id="22" name="Shape 19"/>
          <p:cNvSpPr/>
          <p:nvPr/>
        </p:nvSpPr>
        <p:spPr>
          <a:xfrm>
            <a:off x="548640" y="2953512"/>
            <a:ext cx="5362956"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990088"/>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At </a:t>
            </a:r>
            <a:pPr algn="l" indent="0" marL="0">
              <a:buNone/>
            </a:pPr>
            <a:r>
              <a:rPr lang="ar-SA" altLang="en-US" sz="1650" b="1" dirty="0">
                <a:solidFill>
                  <a:srgbClr val="1F2A37"/>
                </a:solidFill>
                <a:latin typeface="Amiri" pitchFamily="34" charset="0"/>
                <a:ea typeface="Amiri" pitchFamily="34" charset="-122"/>
                <a:cs typeface="Amiri" pitchFamily="34" charset="-120"/>
              </a:rPr>
              <a:t>ك</a:t>
            </a:r>
            <a:pPr algn="l" indent="0" marL="0">
              <a:buNone/>
            </a:pPr>
            <a:r>
              <a:rPr lang="en-US" sz="1250" b="1" dirty="0">
                <a:solidFill>
                  <a:srgbClr val="1F2A37"/>
                </a:solidFill>
                <a:latin typeface="Calibri" pitchFamily="34" charset="0"/>
                <a:ea typeface="Calibri" pitchFamily="34" charset="-122"/>
                <a:cs typeface="Calibri" pitchFamily="34" charset="-120"/>
              </a:rPr>
              <a:t>, on the right</a:t>
            </a:r>
            <a:endParaRPr lang="en-US" sz="1250" dirty="0"/>
          </a:p>
        </p:txBody>
      </p:sp>
      <p:sp>
        <p:nvSpPr>
          <p:cNvPr id="26" name="Text 23"/>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R — right edge.</a:t>
            </a:r>
            <a:endParaRPr lang="en-US" sz="1050" dirty="0"/>
          </a:p>
        </p:txBody>
      </p:sp>
      <p:sp>
        <p:nvSpPr>
          <p:cNvPr id="27" name="Shape 24"/>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5"/>
          <p:cNvSpPr/>
          <p:nvPr/>
        </p:nvSpPr>
        <p:spPr>
          <a:xfrm>
            <a:off x="6313932" y="1947672"/>
            <a:ext cx="310896" cy="310896"/>
          </a:xfrm>
          <a:prstGeom prst="ellipse">
            <a:avLst/>
          </a:prstGeom>
          <a:solidFill>
            <a:srgbClr val="1B3B6F"/>
          </a:solidFill>
          <a:ln w="12700">
            <a:solidFill>
              <a:srgbClr val="1B3B6F"/>
            </a:solidFill>
            <a:prstDash val="solid"/>
          </a:ln>
        </p:spPr>
      </p:sp>
      <p:sp>
        <p:nvSpPr>
          <p:cNvPr id="29" name="Text 26"/>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0" name="Text 27"/>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do you read </a:t>
            </a:r>
            <a:pPr algn="l" indent="0" marL="0">
              <a:buNone/>
            </a:pPr>
            <a:r>
              <a:rPr lang="ar-SA" altLang="en-US" sz="1650" b="1" dirty="0">
                <a:solidFill>
                  <a:srgbClr val="1B3B6F"/>
                </a:solidFill>
                <a:latin typeface="Amiri" pitchFamily="34" charset="0"/>
                <a:ea typeface="Amiri" pitchFamily="34" charset="-122"/>
                <a:cs typeface="Amiri" pitchFamily="34" charset="-120"/>
              </a:rPr>
              <a:t>مَكْتَبٌ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31" name="Shape 28"/>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2" name="Shape 29"/>
          <p:cNvSpPr/>
          <p:nvPr/>
        </p:nvSpPr>
        <p:spPr>
          <a:xfrm>
            <a:off x="6368796" y="2490216"/>
            <a:ext cx="256032" cy="256032"/>
          </a:xfrm>
          <a:prstGeom prst="ellipse">
            <a:avLst/>
          </a:prstGeom>
          <a:solidFill>
            <a:srgbClr val="2E8B57"/>
          </a:solidFill>
          <a:ln w="12700">
            <a:solidFill>
              <a:srgbClr val="2E8B57"/>
            </a:solidFill>
            <a:prstDash val="solid"/>
          </a:ln>
        </p:spPr>
      </p:sp>
      <p:sp>
        <p:nvSpPr>
          <p:cNvPr id="33" name="Text 30"/>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6697980" y="243230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mak-ta-bun</a:t>
            </a:r>
            <a:endParaRPr lang="en-US" sz="1250" dirty="0"/>
          </a:p>
        </p:txBody>
      </p:sp>
      <p:sp>
        <p:nvSpPr>
          <p:cNvPr id="35" name="Shape 32"/>
          <p:cNvSpPr/>
          <p:nvPr/>
        </p:nvSpPr>
        <p:spPr>
          <a:xfrm>
            <a:off x="6368796" y="2862072"/>
            <a:ext cx="256032" cy="256032"/>
          </a:xfrm>
          <a:prstGeom prst="ellipse">
            <a:avLst/>
          </a:prstGeom>
          <a:solidFill>
            <a:srgbClr val="C9CED6"/>
          </a:solidFill>
          <a:ln w="12700">
            <a:solidFill>
              <a:srgbClr val="C9CED6"/>
            </a:solidFill>
            <a:prstDash val="solid"/>
          </a:ln>
        </p:spPr>
      </p:sp>
      <p:sp>
        <p:nvSpPr>
          <p:cNvPr id="36" name="Text 33"/>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6697980"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ma-ka-ta-bun</a:t>
            </a:r>
            <a:endParaRPr lang="en-US" sz="1250" dirty="0"/>
          </a:p>
        </p:txBody>
      </p:sp>
      <p:sp>
        <p:nvSpPr>
          <p:cNvPr id="38" name="Shape 35"/>
          <p:cNvSpPr/>
          <p:nvPr/>
        </p:nvSpPr>
        <p:spPr>
          <a:xfrm>
            <a:off x="6368796" y="323392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0" name="Text 37"/>
          <p:cNvSpPr txBox="1"/>
          <p:nvPr/>
        </p:nvSpPr>
        <p:spPr>
          <a:xfrm>
            <a:off x="6697980" y="3176016"/>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mak-tab-ban</a:t>
            </a:r>
            <a:endParaRPr lang="en-US" sz="1250" dirty="0"/>
          </a:p>
        </p:txBody>
      </p:sp>
      <p:sp>
        <p:nvSpPr>
          <p:cNvPr id="41" name="Text 38"/>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sukūn on </a:t>
            </a:r>
            <a:pPr algn="l" indent="0" marL="0">
              <a:buNone/>
            </a:pPr>
            <a:r>
              <a:rPr lang="ar-SA" altLang="en-US" sz="1350" dirty="0">
                <a:solidFill>
                  <a:srgbClr val="8A6D1E"/>
                </a:solidFill>
                <a:latin typeface="Amiri" pitchFamily="34" charset="0"/>
                <a:ea typeface="Amiri" pitchFamily="34" charset="-122"/>
                <a:cs typeface="Amiri" pitchFamily="34" charset="-120"/>
              </a:rPr>
              <a:t>كْ</a:t>
            </a:r>
            <a:pPr algn="l" indent="0" marL="0">
              <a:buNone/>
            </a:pPr>
            <a:r>
              <a:rPr lang="en-US" sz="1050" i="1" dirty="0">
                <a:solidFill>
                  <a:srgbClr val="8A6D1E"/>
                </a:solidFill>
                <a:latin typeface="Calibri" pitchFamily="34" charset="0"/>
                <a:ea typeface="Calibri" pitchFamily="34" charset="-122"/>
                <a:cs typeface="Calibri" pitchFamily="34" charset="-120"/>
              </a:rPr>
              <a:t> closes the chunk.</a:t>
            </a:r>
            <a:endParaRPr lang="en-US" sz="1050" dirty="0"/>
          </a:p>
        </p:txBody>
      </p:sp>
      <p:sp>
        <p:nvSpPr>
          <p:cNvPr id="42" name="Shape 39"/>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585216" y="4288536"/>
            <a:ext cx="310896" cy="310896"/>
          </a:xfrm>
          <a:prstGeom prst="ellipse">
            <a:avLst/>
          </a:prstGeom>
          <a:solidFill>
            <a:srgbClr val="1B3B6F"/>
          </a:solidFill>
          <a:ln w="12700">
            <a:solidFill>
              <a:srgbClr val="1B3B6F"/>
            </a:solidFill>
            <a:prstDash val="solid"/>
          </a:ln>
        </p:spPr>
      </p:sp>
      <p:sp>
        <p:nvSpPr>
          <p:cNvPr id="44" name="Text 41"/>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How long is </a:t>
            </a:r>
            <a:pPr algn="l" indent="0" marL="0">
              <a:buNone/>
            </a:pPr>
            <a:r>
              <a:rPr lang="ar-SA" altLang="en-US" sz="1650" b="1" dirty="0">
                <a:solidFill>
                  <a:srgbClr val="1B3B6F"/>
                </a:solidFill>
                <a:latin typeface="Amiri" pitchFamily="34" charset="0"/>
                <a:ea typeface="Amiri" pitchFamily="34" charset="-122"/>
                <a:cs typeface="Amiri" pitchFamily="34" charset="-120"/>
              </a:rPr>
              <a:t>تَا</a:t>
            </a:r>
            <a:pPr algn="l" indent="0" marL="0">
              <a:buNone/>
            </a:pPr>
            <a:r>
              <a:rPr lang="en-US" sz="1250" b="1" dirty="0">
                <a:solidFill>
                  <a:srgbClr val="1B3B6F"/>
                </a:solidFill>
                <a:latin typeface="Calibri" pitchFamily="34" charset="0"/>
                <a:ea typeface="Calibri" pitchFamily="34" charset="-122"/>
                <a:cs typeface="Calibri" pitchFamily="34" charset="-120"/>
              </a:rPr>
              <a:t> in </a:t>
            </a:r>
            <a:pPr algn="l" indent="0" marL="0">
              <a:buNone/>
            </a:pPr>
            <a:r>
              <a:rPr lang="ar-SA" altLang="en-US" sz="1650" b="1" dirty="0">
                <a:solidFill>
                  <a:srgbClr val="1B3B6F"/>
                </a:solidFill>
                <a:latin typeface="Amiri" pitchFamily="34" charset="0"/>
                <a:ea typeface="Amiri" pitchFamily="34" charset="-122"/>
                <a:cs typeface="Amiri" pitchFamily="34" charset="-120"/>
              </a:rPr>
              <a:t>كِتَابٌ</a:t>
            </a:r>
            <a:pPr algn="l" indent="0" marL="0">
              <a:buNone/>
            </a:pPr>
            <a:r>
              <a:rPr lang="en-US" sz="1250" b="1" dirty="0">
                <a:solidFill>
                  <a:srgbClr val="1B3B6F"/>
                </a:solidFill>
                <a:latin typeface="Calibri" pitchFamily="34" charset="0"/>
                <a:ea typeface="Calibri" pitchFamily="34" charset="-122"/>
                <a:cs typeface="Calibri" pitchFamily="34" charset="-120"/>
              </a:rPr>
              <a:t>?</a:t>
            </a:r>
            <a:endParaRPr lang="en-US" sz="1250" dirty="0"/>
          </a:p>
        </p:txBody>
      </p:sp>
      <p:sp>
        <p:nvSpPr>
          <p:cNvPr id="46" name="Shape 43"/>
          <p:cNvSpPr/>
          <p:nvPr/>
        </p:nvSpPr>
        <p:spPr>
          <a:xfrm>
            <a:off x="548640" y="4837176"/>
            <a:ext cx="5362956"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640080" y="4873752"/>
            <a:ext cx="256032" cy="256032"/>
          </a:xfrm>
          <a:prstGeom prst="ellipse">
            <a:avLst/>
          </a:prstGeom>
          <a:solidFill>
            <a:srgbClr val="2E8B57"/>
          </a:solidFill>
          <a:ln w="12700">
            <a:solidFill>
              <a:srgbClr val="2E8B57"/>
            </a:solidFill>
            <a:prstDash val="solid"/>
          </a:ln>
        </p:spPr>
      </p:sp>
      <p:sp>
        <p:nvSpPr>
          <p:cNvPr id="48" name="Text 45"/>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About two beats</a:t>
            </a:r>
            <a:endParaRPr lang="en-US" sz="1250" dirty="0"/>
          </a:p>
        </p:txBody>
      </p:sp>
      <p:sp>
        <p:nvSpPr>
          <p:cNvPr id="50" name="Shape 47"/>
          <p:cNvSpPr/>
          <p:nvPr/>
        </p:nvSpPr>
        <p:spPr>
          <a:xfrm>
            <a:off x="640080" y="5330952"/>
            <a:ext cx="256032" cy="256032"/>
          </a:xfrm>
          <a:prstGeom prst="ellipse">
            <a:avLst/>
          </a:prstGeom>
          <a:solidFill>
            <a:srgbClr val="C9CED6"/>
          </a:solidFill>
          <a:ln w="12700">
            <a:solidFill>
              <a:srgbClr val="C9CED6"/>
            </a:solidFill>
            <a:prstDash val="solid"/>
          </a:ln>
        </p:spPr>
      </p:sp>
      <p:sp>
        <p:nvSpPr>
          <p:cNvPr id="51" name="Text 48"/>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One beat</a:t>
            </a:r>
            <a:endParaRPr lang="en-US" sz="1250" dirty="0"/>
          </a:p>
        </p:txBody>
      </p:sp>
      <p:sp>
        <p:nvSpPr>
          <p:cNvPr id="53" name="Text 50"/>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Fatḥa + alif = long ā.</a:t>
            </a:r>
            <a:endParaRPr lang="en-US" sz="10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 “read again” check?</a:t>
            </a:r>
            <a:endParaRPr lang="en-US" sz="1250" dirty="0"/>
          </a:p>
        </p:txBody>
      </p:sp>
      <p:sp>
        <p:nvSpPr>
          <p:cNvPr id="58" name="Shape 55"/>
          <p:cNvSpPr/>
          <p:nvPr/>
        </p:nvSpPr>
        <p:spPr>
          <a:xfrm>
            <a:off x="6277356" y="4837176"/>
            <a:ext cx="5362956" cy="347472"/>
          </a:xfrm>
          <a:prstGeom prst="roundRect">
            <a:avLst>
              <a:gd name="adj" fmla="val 15789"/>
            </a:avLst>
          </a:prstGeom>
          <a:solidFill>
            <a:srgbClr val="E6F4EC"/>
          </a:solidFill>
          <a:ln w="9525">
            <a:solidFill>
              <a:srgbClr val="2E8B57"/>
            </a:solidFill>
            <a:prstDash val="solid"/>
          </a:ln>
        </p:spPr>
      </p:sp>
      <p:sp>
        <p:nvSpPr>
          <p:cNvPr id="59" name="Shape 56"/>
          <p:cNvSpPr/>
          <p:nvPr/>
        </p:nvSpPr>
        <p:spPr>
          <a:xfrm>
            <a:off x="6368796" y="4873752"/>
            <a:ext cx="256032" cy="256032"/>
          </a:xfrm>
          <a:prstGeom prst="ellipse">
            <a:avLst/>
          </a:prstGeom>
          <a:solidFill>
            <a:srgbClr val="2E8B57"/>
          </a:solidFill>
          <a:ln w="12700">
            <a:solidFill>
              <a:srgbClr val="2E8B57"/>
            </a:solidFill>
            <a:prstDash val="solid"/>
          </a:ln>
        </p:spPr>
      </p:sp>
      <p:sp>
        <p:nvSpPr>
          <p:cNvPr id="60" name="Text 57"/>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61" name="Text 58"/>
          <p:cNvSpPr txBox="1"/>
          <p:nvPr/>
        </p:nvSpPr>
        <p:spPr>
          <a:xfrm>
            <a:off x="6697980" y="4773168"/>
            <a:ext cx="4887468"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Smoothness and meaning</a:t>
            </a:r>
            <a:endParaRPr lang="en-US" sz="1250" dirty="0"/>
          </a:p>
        </p:txBody>
      </p:sp>
      <p:sp>
        <p:nvSpPr>
          <p:cNvPr id="62" name="Shape 59"/>
          <p:cNvSpPr/>
          <p:nvPr/>
        </p:nvSpPr>
        <p:spPr>
          <a:xfrm>
            <a:off x="6368796" y="5330952"/>
            <a:ext cx="256032" cy="256032"/>
          </a:xfrm>
          <a:prstGeom prst="ellipse">
            <a:avLst/>
          </a:prstGeom>
          <a:solidFill>
            <a:srgbClr val="C9CED6"/>
          </a:solidFill>
          <a:ln w="12700">
            <a:solidFill>
              <a:srgbClr val="C9CED6"/>
            </a:solidFill>
            <a:prstDash val="solid"/>
          </a:ln>
        </p:spPr>
      </p:sp>
      <p:sp>
        <p:nvSpPr>
          <p:cNvPr id="63" name="Text 60"/>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4" name="Text 61"/>
          <p:cNvSpPr txBox="1"/>
          <p:nvPr/>
        </p:nvSpPr>
        <p:spPr>
          <a:xfrm>
            <a:off x="6697980" y="5230368"/>
            <a:ext cx="4887468"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Speed only</a:t>
            </a:r>
            <a:endParaRPr lang="en-US" sz="1250" dirty="0"/>
          </a:p>
        </p:txBody>
      </p:sp>
      <p:sp>
        <p:nvSpPr>
          <p:cNvPr id="65" name="Text 62"/>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Accuracy first, smoothness second.</a:t>
            </a:r>
            <a:endParaRPr lang="en-US" sz="10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11 / 26</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I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6B4C9A"/>
                </a:solidFill>
                <a:latin typeface="Calibri" pitchFamily="34" charset="0"/>
                <a:ea typeface="Calibri" pitchFamily="34" charset="-122"/>
                <a:cs typeface="Calibri" pitchFamily="34" charset="-120"/>
              </a:rPr>
              <a:t>I DO · LEVEL 1 · TEN FULLY VOWELLED WORDS (WEBSITE GRADED STRIP)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Watch me read, then echo</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شَرِيطُ القِرَاءَةِ ١</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  ·  قَرَأَ</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ka|ta|ba — he wrote   ·   qa|ra|ʾa — he read</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ذَهَبَ  ·  رَجَعَ</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dha|ha|ba — he went   ·   ra|ja|ʿa — he returned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شَرِبَ  ·  جَلَسَ</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sha|ri|ba — he drank   ·   ja|la|sa — he sat</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فَتَحَ  ·  دَرَسَ</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fa|ta|ḥa — he opened   ·   da|ra|sa — he studied</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سَمِعَ  ·  لَعِبَ</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sa|mi|ʿa — he heard   ·   la|ʿi|ba — he played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12 / 26</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 WEBSITE GAME “PICTURE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word, match the picture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الإِشَارَةَ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4404360" y="1938528"/>
            <a:ext cx="365760" cy="365760"/>
          </a:xfrm>
          <a:prstGeom prst="ellipse">
            <a:avLst/>
          </a:prstGeom>
          <a:solidFill>
            <a:srgbClr val="1B3B6F"/>
          </a:solidFill>
          <a:ln w="12700">
            <a:solidFill>
              <a:srgbClr val="1B3B6F"/>
            </a:solidFill>
            <a:prstDash val="solid"/>
          </a:ln>
        </p:spPr>
      </p:sp>
      <p:sp>
        <p:nvSpPr>
          <p:cNvPr id="22" name="Text 18"/>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3" name="Shape 19"/>
          <p:cNvSpPr/>
          <p:nvPr/>
        </p:nvSpPr>
        <p:spPr>
          <a:xfrm>
            <a:off x="5586984" y="2066544"/>
            <a:ext cx="1014984" cy="1014984"/>
          </a:xfrm>
          <a:prstGeom prst="ellipse">
            <a:avLst/>
          </a:prstGeom>
          <a:solidFill>
            <a:srgbClr val="F4F1EA"/>
          </a:solidFill>
          <a:ln w="12700">
            <a:solidFill>
              <a:srgbClr val="F4F1EA"/>
            </a:solidFill>
            <a:prstDash val="solid"/>
          </a:ln>
        </p:spPr>
      </p:sp>
      <p:pic>
        <p:nvPicPr>
          <p:cNvPr id="24"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25" name="Shape 2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1"/>
          <p:cNvSpPr/>
          <p:nvPr/>
        </p:nvSpPr>
        <p:spPr>
          <a:xfrm>
            <a:off x="585216" y="1938528"/>
            <a:ext cx="365760" cy="365760"/>
          </a:xfrm>
          <a:prstGeom prst="ellipse">
            <a:avLst/>
          </a:prstGeom>
          <a:solidFill>
            <a:srgbClr val="1B3B6F"/>
          </a:solidFill>
          <a:ln w="12700">
            <a:solidFill>
              <a:srgbClr val="1B3B6F"/>
            </a:solidFill>
            <a:prstDash val="solid"/>
          </a:ln>
        </p:spPr>
      </p:sp>
      <p:sp>
        <p:nvSpPr>
          <p:cNvPr id="27" name="Text 2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8" name="Shape 23"/>
          <p:cNvSpPr/>
          <p:nvPr/>
        </p:nvSpPr>
        <p:spPr>
          <a:xfrm>
            <a:off x="1767840" y="2066544"/>
            <a:ext cx="1014984" cy="1014984"/>
          </a:xfrm>
          <a:prstGeom prst="ellipse">
            <a:avLst/>
          </a:prstGeom>
          <a:solidFill>
            <a:srgbClr val="F4F1EA"/>
          </a:solidFill>
          <a:ln w="12700">
            <a:solidFill>
              <a:srgbClr val="F4F1EA"/>
            </a:solidFill>
            <a:prstDash val="solid"/>
          </a:ln>
        </p:spPr>
      </p:sp>
      <p:pic>
        <p:nvPicPr>
          <p:cNvPr id="2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30" name="Shape 24"/>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31" name="Shape 25"/>
          <p:cNvSpPr/>
          <p:nvPr/>
        </p:nvSpPr>
        <p:spPr>
          <a:xfrm>
            <a:off x="11247120" y="3831336"/>
            <a:ext cx="292608" cy="292608"/>
          </a:xfrm>
          <a:prstGeom prst="ellipse">
            <a:avLst/>
          </a:prstGeom>
          <a:solidFill>
            <a:srgbClr val="2F6FB0"/>
          </a:solidFill>
          <a:ln w="12700">
            <a:solidFill>
              <a:srgbClr val="2F6FB0"/>
            </a:solidFill>
            <a:prstDash val="solid"/>
          </a:ln>
        </p:spPr>
      </p:sp>
      <p:sp>
        <p:nvSpPr>
          <p:cNvPr id="32" name="Text 26"/>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33" name="Text 27"/>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بَابٌ</a:t>
            </a:r>
            <a:endParaRPr lang="ar-SA" sz="2000" dirty="0"/>
          </a:p>
        </p:txBody>
      </p:sp>
      <p:sp>
        <p:nvSpPr>
          <p:cNvPr id="34" name="Shape 28"/>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35" name="Shape 29"/>
          <p:cNvSpPr/>
          <p:nvPr/>
        </p:nvSpPr>
        <p:spPr>
          <a:xfrm>
            <a:off x="11247120" y="4398264"/>
            <a:ext cx="292608" cy="292608"/>
          </a:xfrm>
          <a:prstGeom prst="ellipse">
            <a:avLst/>
          </a:prstGeom>
          <a:solidFill>
            <a:srgbClr val="2F6FB0"/>
          </a:solidFill>
          <a:ln w="12700">
            <a:solidFill>
              <a:srgbClr val="2F6FB0"/>
            </a:solidFill>
            <a:prstDash val="solid"/>
          </a:ln>
        </p:spPr>
      </p:sp>
      <p:sp>
        <p:nvSpPr>
          <p:cNvPr id="36" name="Text 30"/>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37" name="Text 31"/>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مَدْرَسَةٌ</a:t>
            </a:r>
            <a:endParaRPr lang="ar-SA" sz="2000" dirty="0"/>
          </a:p>
        </p:txBody>
      </p:sp>
      <p:sp>
        <p:nvSpPr>
          <p:cNvPr id="38" name="Shape 32"/>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39" name="Shape 33"/>
          <p:cNvSpPr/>
          <p:nvPr/>
        </p:nvSpPr>
        <p:spPr>
          <a:xfrm>
            <a:off x="11247120" y="4965192"/>
            <a:ext cx="292608" cy="292608"/>
          </a:xfrm>
          <a:prstGeom prst="ellipse">
            <a:avLst/>
          </a:prstGeom>
          <a:solidFill>
            <a:srgbClr val="2F6FB0"/>
          </a:solidFill>
          <a:ln w="12700">
            <a:solidFill>
              <a:srgbClr val="2F6FB0"/>
            </a:solidFill>
            <a:prstDash val="solid"/>
          </a:ln>
        </p:spPr>
      </p:sp>
      <p:sp>
        <p:nvSpPr>
          <p:cNvPr id="40" name="Text 34"/>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a:t>
            </a:r>
            <a:endParaRPr lang="en-US" sz="1000" dirty="0"/>
          </a:p>
        </p:txBody>
      </p:sp>
      <p:sp>
        <p:nvSpPr>
          <p:cNvPr id="41" name="Text 35"/>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a:t>
            </a:r>
            <a:endParaRPr lang="ar-SA" sz="2000" dirty="0"/>
          </a:p>
        </p:txBody>
      </p:sp>
      <p:sp>
        <p:nvSpPr>
          <p:cNvPr id="42" name="Text 36"/>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ea typeface="Calibri" pitchFamily="34" charset="-122"/>
                <a:cs typeface="Calibri" pitchFamily="34" charset="-120"/>
              </a:rPr>
              <a:t>Match each picture to a sentence. Type in the chat: 1_  2_  3_</a:t>
            </a:r>
            <a:endParaRPr lang="en-US" sz="1250" dirty="0"/>
          </a:p>
        </p:txBody>
      </p:sp>
      <p:sp>
        <p:nvSpPr>
          <p:cNvPr id="43" name="Text 37"/>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ea typeface="Calibri" pitchFamily="34" charset="-122"/>
                <a:cs typeface="Calibri" pitchFamily="34" charset="-120"/>
              </a:rPr>
              <a:t>Core: find ONE key word you know in each sentence first.</a:t>
            </a:r>
            <a:endParaRPr lang="en-US" sz="1150" dirty="0"/>
          </a:p>
        </p:txBody>
      </p:sp>
      <p:sp>
        <p:nvSpPr>
          <p:cNvPr id="44" name="Text 3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13 / 26</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 الإِشَارَةَ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8" name="Shape 15"/>
          <p:cNvSpPr/>
          <p:nvPr/>
        </p:nvSpPr>
        <p:spPr>
          <a:xfrm>
            <a:off x="940612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9589008" y="2249424"/>
            <a:ext cx="649224" cy="649224"/>
          </a:xfrm>
          <a:prstGeom prst="rect">
            <a:avLst/>
          </a:prstGeom>
        </p:spPr>
      </p:pic>
      <p:sp>
        <p:nvSpPr>
          <p:cNvPr id="20" name="Shape 16"/>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1" name="Shape 17"/>
          <p:cNvSpPr/>
          <p:nvPr/>
        </p:nvSpPr>
        <p:spPr>
          <a:xfrm>
            <a:off x="11256264" y="3785616"/>
            <a:ext cx="329184" cy="329184"/>
          </a:xfrm>
          <a:prstGeom prst="ellipse">
            <a:avLst/>
          </a:prstGeom>
          <a:solidFill>
            <a:srgbClr val="2E8B57"/>
          </a:solidFill>
          <a:ln w="12700">
            <a:solidFill>
              <a:srgbClr val="2E8B57"/>
            </a:solidFill>
            <a:prstDash val="solid"/>
          </a:ln>
        </p:spPr>
      </p:sp>
      <p:sp>
        <p:nvSpPr>
          <p:cNvPr id="22" name="Text 18"/>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B</a:t>
            </a:r>
            <a:endParaRPr lang="en-US" sz="1100" dirty="0"/>
          </a:p>
        </p:txBody>
      </p:sp>
      <p:sp>
        <p:nvSpPr>
          <p:cNvPr id="23" name="Text 19"/>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مَدْرَسَةٌ</a:t>
            </a:r>
            <a:endParaRPr lang="ar-SA" sz="2200" dirty="0"/>
          </a:p>
        </p:txBody>
      </p:sp>
      <p:sp>
        <p:nvSpPr>
          <p:cNvPr id="24" name="Text 20"/>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a school</a:t>
            </a:r>
            <a:endParaRPr lang="en-US" sz="1200" dirty="0"/>
          </a:p>
        </p:txBody>
      </p:sp>
      <p:sp>
        <p:nvSpPr>
          <p:cNvPr id="25" name="Shape 21"/>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2"/>
          <p:cNvSpPr/>
          <p:nvPr/>
        </p:nvSpPr>
        <p:spPr>
          <a:xfrm>
            <a:off x="4404360" y="1938528"/>
            <a:ext cx="365760" cy="365760"/>
          </a:xfrm>
          <a:prstGeom prst="ellipse">
            <a:avLst/>
          </a:prstGeom>
          <a:solidFill>
            <a:srgbClr val="1B3B6F"/>
          </a:solidFill>
          <a:ln w="12700">
            <a:solidFill>
              <a:srgbClr val="1B3B6F"/>
            </a:solidFill>
            <a:prstDash val="solid"/>
          </a:ln>
        </p:spPr>
      </p:sp>
      <p:sp>
        <p:nvSpPr>
          <p:cNvPr id="27" name="Text 23"/>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28" name="Shape 24"/>
          <p:cNvSpPr/>
          <p:nvPr/>
        </p:nvSpPr>
        <p:spPr>
          <a:xfrm>
            <a:off x="5586984" y="2066544"/>
            <a:ext cx="1014984" cy="1014984"/>
          </a:xfrm>
          <a:prstGeom prst="ellipse">
            <a:avLst/>
          </a:prstGeom>
          <a:solidFill>
            <a:srgbClr val="F4F1EA"/>
          </a:solidFill>
          <a:ln w="12700">
            <a:solidFill>
              <a:srgbClr val="F4F1EA"/>
            </a:solidFill>
            <a:prstDash val="solid"/>
          </a:ln>
        </p:spPr>
      </p:sp>
      <p:pic>
        <p:nvPicPr>
          <p:cNvPr id="29" name="Image 1" descr="preencoded.png">    </p:cNvPr>
          <p:cNvPicPr>
            <a:picLocks noChangeAspect="1"/>
          </p:cNvPicPr>
          <p:nvPr/>
        </p:nvPicPr>
        <p:blipFill>
          <a:blip r:embed="rId2"/>
          <a:stretch>
            <a:fillRect/>
          </a:stretch>
        </p:blipFill>
        <p:spPr>
          <a:xfrm>
            <a:off x="5769864" y="2249424"/>
            <a:ext cx="649224" cy="649224"/>
          </a:xfrm>
          <a:prstGeom prst="rect">
            <a:avLst/>
          </a:prstGeom>
        </p:spPr>
      </p:pic>
      <p:sp>
        <p:nvSpPr>
          <p:cNvPr id="30" name="Shape 25"/>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1" name="Shape 26"/>
          <p:cNvSpPr/>
          <p:nvPr/>
        </p:nvSpPr>
        <p:spPr>
          <a:xfrm>
            <a:off x="7437120" y="3785616"/>
            <a:ext cx="329184" cy="329184"/>
          </a:xfrm>
          <a:prstGeom prst="ellipse">
            <a:avLst/>
          </a:prstGeom>
          <a:solidFill>
            <a:srgbClr val="2E8B57"/>
          </a:solidFill>
          <a:ln w="12700">
            <a:solidFill>
              <a:srgbClr val="2E8B57"/>
            </a:solidFill>
            <a:prstDash val="solid"/>
          </a:ln>
        </p:spPr>
      </p:sp>
      <p:sp>
        <p:nvSpPr>
          <p:cNvPr id="32" name="Text 27"/>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a:t>
            </a:r>
            <a:endParaRPr lang="en-US" sz="1100" dirty="0"/>
          </a:p>
        </p:txBody>
      </p:sp>
      <p:sp>
        <p:nvSpPr>
          <p:cNvPr id="33" name="Text 28"/>
          <p:cNvSpPr txBox="1"/>
          <p:nvPr/>
        </p:nvSpPr>
        <p:spPr>
          <a:xfrm>
            <a:off x="4413504"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كُتُبٌ</a:t>
            </a:r>
            <a:endParaRPr lang="ar-SA" sz="2200" dirty="0"/>
          </a:p>
        </p:txBody>
      </p:sp>
      <p:sp>
        <p:nvSpPr>
          <p:cNvPr id="34" name="Text 29"/>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books</a:t>
            </a:r>
            <a:endParaRPr lang="en-US" sz="1200" dirty="0"/>
          </a:p>
        </p:txBody>
      </p:sp>
      <p:sp>
        <p:nvSpPr>
          <p:cNvPr id="35" name="Shape 30"/>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1"/>
          <p:cNvSpPr/>
          <p:nvPr/>
        </p:nvSpPr>
        <p:spPr>
          <a:xfrm>
            <a:off x="585216" y="1938528"/>
            <a:ext cx="365760" cy="365760"/>
          </a:xfrm>
          <a:prstGeom prst="ellipse">
            <a:avLst/>
          </a:prstGeom>
          <a:solidFill>
            <a:srgbClr val="1B3B6F"/>
          </a:solidFill>
          <a:ln w="12700">
            <a:solidFill>
              <a:srgbClr val="1B3B6F"/>
            </a:solidFill>
            <a:prstDash val="solid"/>
          </a:ln>
        </p:spPr>
      </p:sp>
      <p:sp>
        <p:nvSpPr>
          <p:cNvPr id="37" name="Text 32"/>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38" name="Shape 33"/>
          <p:cNvSpPr/>
          <p:nvPr/>
        </p:nvSpPr>
        <p:spPr>
          <a:xfrm>
            <a:off x="1767840" y="2066544"/>
            <a:ext cx="1014984" cy="1014984"/>
          </a:xfrm>
          <a:prstGeom prst="ellipse">
            <a:avLst/>
          </a:prstGeom>
          <a:solidFill>
            <a:srgbClr val="F4F1EA"/>
          </a:solidFill>
          <a:ln w="12700">
            <a:solidFill>
              <a:srgbClr val="F4F1EA"/>
            </a:solidFill>
            <a:prstDash val="solid"/>
          </a:ln>
        </p:spPr>
      </p:sp>
      <p:pic>
        <p:nvPicPr>
          <p:cNvPr id="39" name="Image 2" descr="preencoded.png">    </p:cNvPr>
          <p:cNvPicPr>
            <a:picLocks noChangeAspect="1"/>
          </p:cNvPicPr>
          <p:nvPr/>
        </p:nvPicPr>
        <p:blipFill>
          <a:blip r:embed="rId3"/>
          <a:stretch>
            <a:fillRect/>
          </a:stretch>
        </p:blipFill>
        <p:spPr>
          <a:xfrm>
            <a:off x="1950720" y="2249424"/>
            <a:ext cx="649224" cy="649224"/>
          </a:xfrm>
          <a:prstGeom prst="rect">
            <a:avLst/>
          </a:prstGeom>
        </p:spPr>
      </p:pic>
      <p:sp>
        <p:nvSpPr>
          <p:cNvPr id="40" name="Shape 34"/>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Shape 35"/>
          <p:cNvSpPr/>
          <p:nvPr/>
        </p:nvSpPr>
        <p:spPr>
          <a:xfrm>
            <a:off x="3617976" y="3785616"/>
            <a:ext cx="329184" cy="329184"/>
          </a:xfrm>
          <a:prstGeom prst="ellipse">
            <a:avLst/>
          </a:prstGeom>
          <a:solidFill>
            <a:srgbClr val="2E8B57"/>
          </a:solidFill>
          <a:ln w="12700">
            <a:solidFill>
              <a:srgbClr val="2E8B57"/>
            </a:solidFill>
            <a:prstDash val="solid"/>
          </a:ln>
        </p:spPr>
      </p:sp>
      <p:sp>
        <p:nvSpPr>
          <p:cNvPr id="42" name="Text 36"/>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a:t>
            </a:r>
            <a:endParaRPr lang="en-US" sz="1100" dirty="0"/>
          </a:p>
        </p:txBody>
      </p:sp>
      <p:sp>
        <p:nvSpPr>
          <p:cNvPr id="43" name="Text 37"/>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34" charset="0"/>
                <a:ea typeface="Amiri" pitchFamily="34" charset="-122"/>
                <a:cs typeface="Amiri" pitchFamily="34" charset="-120"/>
              </a:rPr>
              <a:t>بَابٌ</a:t>
            </a:r>
            <a:endParaRPr lang="ar-SA" sz="2200" dirty="0"/>
          </a:p>
        </p:txBody>
      </p:sp>
      <p:sp>
        <p:nvSpPr>
          <p:cNvPr id="44" name="Text 38"/>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ea typeface="Calibri" pitchFamily="34" charset="-122"/>
                <a:cs typeface="Calibri" pitchFamily="34" charset="-120"/>
              </a:rPr>
              <a:t>a door</a:t>
            </a:r>
            <a:endParaRPr lang="en-US" sz="1200" dirty="0"/>
          </a:p>
        </p:txBody>
      </p:sp>
      <p:sp>
        <p:nvSpPr>
          <p:cNvPr id="45"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14 / 26</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WEBSITE GAME “CHUNK CHOICE”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Choose the correct chunks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اِخْتَرِ التَّقْطِيعَ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مَكْتَبٌ</a:t>
            </a:r>
            <a:endParaRPr lang="ar-SA" sz="2200" dirty="0"/>
          </a:p>
        </p:txBody>
      </p:sp>
      <p:sp>
        <p:nvSpPr>
          <p:cNvPr id="20" name="Shape 17"/>
          <p:cNvSpPr/>
          <p:nvPr/>
        </p:nvSpPr>
        <p:spPr>
          <a:xfrm>
            <a:off x="640080" y="2532888"/>
            <a:ext cx="256032" cy="256032"/>
          </a:xfrm>
          <a:prstGeom prst="ellipse">
            <a:avLst/>
          </a:prstGeom>
          <a:solidFill>
            <a:srgbClr val="F4F1EA"/>
          </a:solidFill>
          <a:ln w="12700">
            <a:solidFill>
              <a:srgbClr val="F4F1EA"/>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 | كَ | تَ | بٌ</a:t>
            </a:r>
            <a:endParaRPr lang="ar-SA" sz="2050" dirty="0"/>
          </a:p>
        </p:txBody>
      </p:sp>
      <p:sp>
        <p:nvSpPr>
          <p:cNvPr id="23" name="Shape 20"/>
          <p:cNvSpPr/>
          <p:nvPr/>
        </p:nvSpPr>
        <p:spPr>
          <a:xfrm>
            <a:off x="640080" y="2990088"/>
            <a:ext cx="256032" cy="256032"/>
          </a:xfrm>
          <a:prstGeom prst="ellipse">
            <a:avLst/>
          </a:prstGeom>
          <a:solidFill>
            <a:srgbClr val="F4F1EA"/>
          </a:solidFill>
          <a:ln w="12700">
            <a:solidFill>
              <a:srgbClr val="F4F1EA"/>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 | تَ | بٌ</a:t>
            </a:r>
            <a:endParaRPr lang="ar-SA" sz="2050" dirty="0"/>
          </a:p>
        </p:txBody>
      </p:sp>
      <p:sp>
        <p:nvSpPr>
          <p:cNvPr id="26" name="Shape 23"/>
          <p:cNvSpPr/>
          <p:nvPr/>
        </p:nvSpPr>
        <p:spPr>
          <a:xfrm>
            <a:off x="640080" y="3447288"/>
            <a:ext cx="256032" cy="256032"/>
          </a:xfrm>
          <a:prstGeom prst="ellipse">
            <a:avLst/>
          </a:prstGeom>
          <a:solidFill>
            <a:srgbClr val="F4F1EA"/>
          </a:solidFill>
          <a:ln w="12700">
            <a:solidFill>
              <a:srgbClr val="F4F1EA"/>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مَكْتَ | بٌ</a:t>
            </a:r>
            <a:endParaRPr lang="ar-SA" sz="2050" dirty="0"/>
          </a:p>
        </p:txBody>
      </p:sp>
      <p:sp>
        <p:nvSpPr>
          <p:cNvPr id="29" name="Shape 26"/>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4404360" y="1947672"/>
            <a:ext cx="310896" cy="310896"/>
          </a:xfrm>
          <a:prstGeom prst="ellipse">
            <a:avLst/>
          </a:prstGeom>
          <a:solidFill>
            <a:srgbClr val="1B3B6F"/>
          </a:solidFill>
          <a:ln w="12700">
            <a:solidFill>
              <a:srgbClr val="1B3B6F"/>
            </a:solidFill>
            <a:prstDash val="solid"/>
          </a:ln>
        </p:spPr>
      </p:sp>
      <p:sp>
        <p:nvSpPr>
          <p:cNvPr id="31" name="Text 28"/>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2" name="Text 29"/>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33" name="Text 30"/>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كِتَابٌ</a:t>
            </a:r>
            <a:endParaRPr lang="ar-SA" sz="2200" dirty="0"/>
          </a:p>
        </p:txBody>
      </p:sp>
      <p:sp>
        <p:nvSpPr>
          <p:cNvPr id="34" name="Shape 31"/>
          <p:cNvSpPr/>
          <p:nvPr/>
        </p:nvSpPr>
        <p:spPr>
          <a:xfrm>
            <a:off x="4459224" y="2532888"/>
            <a:ext cx="256032" cy="256032"/>
          </a:xfrm>
          <a:prstGeom prst="ellipse">
            <a:avLst/>
          </a:prstGeom>
          <a:solidFill>
            <a:srgbClr val="F4F1EA"/>
          </a:solidFill>
          <a:ln w="12700">
            <a:solidFill>
              <a:srgbClr val="F4F1EA"/>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كِتْ | ا | بٌ</a:t>
            </a:r>
            <a:endParaRPr lang="ar-SA" sz="2050" dirty="0"/>
          </a:p>
        </p:txBody>
      </p:sp>
      <p:sp>
        <p:nvSpPr>
          <p:cNvPr id="37" name="Shape 34"/>
          <p:cNvSpPr/>
          <p:nvPr/>
        </p:nvSpPr>
        <p:spPr>
          <a:xfrm>
            <a:off x="4459224" y="2990088"/>
            <a:ext cx="256032" cy="256032"/>
          </a:xfrm>
          <a:prstGeom prst="ellipse">
            <a:avLst/>
          </a:prstGeom>
          <a:solidFill>
            <a:srgbClr val="F4F1EA"/>
          </a:solidFill>
          <a:ln w="12700">
            <a:solidFill>
              <a:srgbClr val="F4F1EA"/>
            </a:solidFill>
            <a:prstDash val="solid"/>
          </a:ln>
        </p:spPr>
      </p:sp>
      <p:sp>
        <p:nvSpPr>
          <p:cNvPr id="38" name="Text 35"/>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9" name="Text 36"/>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 | تَ | ا | بٌ</a:t>
            </a:r>
            <a:endParaRPr lang="ar-SA" sz="2050" dirty="0"/>
          </a:p>
        </p:txBody>
      </p:sp>
      <p:sp>
        <p:nvSpPr>
          <p:cNvPr id="40" name="Shape 37"/>
          <p:cNvSpPr/>
          <p:nvPr/>
        </p:nvSpPr>
        <p:spPr>
          <a:xfrm>
            <a:off x="4459224" y="3447288"/>
            <a:ext cx="256032" cy="256032"/>
          </a:xfrm>
          <a:prstGeom prst="ellipse">
            <a:avLst/>
          </a:prstGeom>
          <a:solidFill>
            <a:srgbClr val="F4F1EA"/>
          </a:solidFill>
          <a:ln w="12700">
            <a:solidFill>
              <a:srgbClr val="F4F1EA"/>
            </a:solidFill>
            <a:prstDash val="solid"/>
          </a:ln>
        </p:spPr>
      </p:sp>
      <p:sp>
        <p:nvSpPr>
          <p:cNvPr id="41" name="Text 38"/>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42" name="Text 39"/>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كِ | تَا | بٌ</a:t>
            </a:r>
            <a:endParaRPr lang="ar-SA" sz="2050" dirty="0"/>
          </a:p>
        </p:txBody>
      </p:sp>
      <p:sp>
        <p:nvSpPr>
          <p:cNvPr id="43" name="Shape 40"/>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8223504" y="1947672"/>
            <a:ext cx="310896" cy="310896"/>
          </a:xfrm>
          <a:prstGeom prst="ellipse">
            <a:avLst/>
          </a:prstGeom>
          <a:solidFill>
            <a:srgbClr val="1B3B6F"/>
          </a:solidFill>
          <a:ln w="12700">
            <a:solidFill>
              <a:srgbClr val="1B3B6F"/>
            </a:solidFill>
            <a:prstDash val="solid"/>
          </a:ln>
        </p:spPr>
      </p:sp>
      <p:sp>
        <p:nvSpPr>
          <p:cNvPr id="45" name="Text 42"/>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6" name="Text 43"/>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47" name="Text 44"/>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مُعَلِّمٌ</a:t>
            </a:r>
            <a:endParaRPr lang="ar-SA" sz="2200" dirty="0"/>
          </a:p>
        </p:txBody>
      </p:sp>
      <p:sp>
        <p:nvSpPr>
          <p:cNvPr id="48" name="Shape 45"/>
          <p:cNvSpPr/>
          <p:nvPr/>
        </p:nvSpPr>
        <p:spPr>
          <a:xfrm>
            <a:off x="8278368" y="25328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50" name="Text 47"/>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 | عَلْ | لِ | مٌ</a:t>
            </a:r>
            <a:endParaRPr lang="ar-SA" sz="2050" dirty="0"/>
          </a:p>
        </p:txBody>
      </p:sp>
      <p:sp>
        <p:nvSpPr>
          <p:cNvPr id="51" name="Shape 48"/>
          <p:cNvSpPr/>
          <p:nvPr/>
        </p:nvSpPr>
        <p:spPr>
          <a:xfrm>
            <a:off x="8278368" y="29900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3" name="Text 50"/>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 | عَ | لِ | مٌ</a:t>
            </a:r>
            <a:endParaRPr lang="ar-SA" sz="2050" dirty="0"/>
          </a:p>
        </p:txBody>
      </p:sp>
      <p:sp>
        <p:nvSpPr>
          <p:cNvPr id="54" name="Shape 51"/>
          <p:cNvSpPr/>
          <p:nvPr/>
        </p:nvSpPr>
        <p:spPr>
          <a:xfrm>
            <a:off x="8278368" y="3447288"/>
            <a:ext cx="256032" cy="256032"/>
          </a:xfrm>
          <a:prstGeom prst="ellipse">
            <a:avLst/>
          </a:prstGeom>
          <a:solidFill>
            <a:srgbClr val="F4F1EA"/>
          </a:solidFill>
          <a:ln w="12700">
            <a:solidFill>
              <a:srgbClr val="F4F1EA"/>
            </a:solidFill>
            <a:prstDash val="solid"/>
          </a:ln>
        </p:spPr>
      </p:sp>
      <p:sp>
        <p:nvSpPr>
          <p:cNvPr id="55" name="Text 52"/>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56" name="Text 53"/>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مُعَ | لِمٌ</a:t>
            </a:r>
            <a:endParaRPr lang="ar-SA" sz="2050" dirty="0"/>
          </a:p>
        </p:txBody>
      </p:sp>
      <p:sp>
        <p:nvSpPr>
          <p:cNvPr id="57" name="Shape 54"/>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8" name="Shape 55"/>
          <p:cNvSpPr/>
          <p:nvPr/>
        </p:nvSpPr>
        <p:spPr>
          <a:xfrm>
            <a:off x="585216" y="4288536"/>
            <a:ext cx="310896" cy="310896"/>
          </a:xfrm>
          <a:prstGeom prst="ellipse">
            <a:avLst/>
          </a:prstGeom>
          <a:solidFill>
            <a:srgbClr val="1B3B6F"/>
          </a:solidFill>
          <a:ln w="12700">
            <a:solidFill>
              <a:srgbClr val="1B3B6F"/>
            </a:solidFill>
            <a:prstDash val="solid"/>
          </a:ln>
        </p:spPr>
      </p:sp>
      <p:sp>
        <p:nvSpPr>
          <p:cNvPr id="59" name="Text 56"/>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0" name="Text 57"/>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61" name="Text 58"/>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يَقْرَأُ</a:t>
            </a:r>
            <a:endParaRPr lang="ar-SA" sz="2200" dirty="0"/>
          </a:p>
        </p:txBody>
      </p:sp>
      <p:sp>
        <p:nvSpPr>
          <p:cNvPr id="62" name="Shape 59"/>
          <p:cNvSpPr/>
          <p:nvPr/>
        </p:nvSpPr>
        <p:spPr>
          <a:xfrm>
            <a:off x="640080" y="4873752"/>
            <a:ext cx="256032" cy="256032"/>
          </a:xfrm>
          <a:prstGeom prst="ellipse">
            <a:avLst/>
          </a:prstGeom>
          <a:solidFill>
            <a:srgbClr val="F4F1EA"/>
          </a:solidFill>
          <a:ln w="12700">
            <a:solidFill>
              <a:srgbClr val="F4F1EA"/>
            </a:solidFill>
            <a:prstDash val="solid"/>
          </a:ln>
        </p:spPr>
      </p:sp>
      <p:sp>
        <p:nvSpPr>
          <p:cNvPr id="63" name="Text 60"/>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64" name="Text 61"/>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 | قَ | رَ | أُ</a:t>
            </a:r>
            <a:endParaRPr lang="ar-SA" sz="2050" dirty="0"/>
          </a:p>
        </p:txBody>
      </p:sp>
      <p:sp>
        <p:nvSpPr>
          <p:cNvPr id="65" name="Shape 62"/>
          <p:cNvSpPr/>
          <p:nvPr/>
        </p:nvSpPr>
        <p:spPr>
          <a:xfrm>
            <a:off x="640080" y="5330952"/>
            <a:ext cx="256032" cy="256032"/>
          </a:xfrm>
          <a:prstGeom prst="ellipse">
            <a:avLst/>
          </a:prstGeom>
          <a:solidFill>
            <a:srgbClr val="F4F1EA"/>
          </a:solidFill>
          <a:ln w="12700">
            <a:solidFill>
              <a:srgbClr val="F4F1EA"/>
            </a:solidFill>
            <a:prstDash val="solid"/>
          </a:ln>
        </p:spPr>
      </p:sp>
      <p:sp>
        <p:nvSpPr>
          <p:cNvPr id="66" name="Text 63"/>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67" name="Text 64"/>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يَقْ | رَ | أُ</a:t>
            </a:r>
            <a:endParaRPr lang="ar-SA" sz="2050" dirty="0"/>
          </a:p>
        </p:txBody>
      </p:sp>
      <p:sp>
        <p:nvSpPr>
          <p:cNvPr id="68" name="Shape 65"/>
          <p:cNvSpPr/>
          <p:nvPr/>
        </p:nvSpPr>
        <p:spPr>
          <a:xfrm>
            <a:off x="640080" y="5788152"/>
            <a:ext cx="256032" cy="256032"/>
          </a:xfrm>
          <a:prstGeom prst="ellipse">
            <a:avLst/>
          </a:prstGeom>
          <a:solidFill>
            <a:srgbClr val="F4F1EA"/>
          </a:solidFill>
          <a:ln w="12700">
            <a:solidFill>
              <a:srgbClr val="F4F1EA"/>
            </a:solidFill>
            <a:prstDash val="solid"/>
          </a:ln>
        </p:spPr>
      </p:sp>
      <p:sp>
        <p:nvSpPr>
          <p:cNvPr id="69" name="Text 66"/>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0" name="Text 67"/>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يَقْرَ | أُ</a:t>
            </a:r>
            <a:endParaRPr lang="ar-SA" sz="2050" dirty="0"/>
          </a:p>
        </p:txBody>
      </p:sp>
      <p:sp>
        <p:nvSpPr>
          <p:cNvPr id="71" name="Shape 68"/>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2" name="Shape 69"/>
          <p:cNvSpPr/>
          <p:nvPr/>
        </p:nvSpPr>
        <p:spPr>
          <a:xfrm>
            <a:off x="4404360" y="4288536"/>
            <a:ext cx="310896" cy="310896"/>
          </a:xfrm>
          <a:prstGeom prst="ellipse">
            <a:avLst/>
          </a:prstGeom>
          <a:solidFill>
            <a:srgbClr val="1B3B6F"/>
          </a:solidFill>
          <a:ln w="12700">
            <a:solidFill>
              <a:srgbClr val="1B3B6F"/>
            </a:solidFill>
            <a:prstDash val="solid"/>
          </a:ln>
        </p:spPr>
      </p:sp>
      <p:sp>
        <p:nvSpPr>
          <p:cNvPr id="73" name="Text 70"/>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74" name="Text 71"/>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75" name="Text 72"/>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سِتَّةٌ</a:t>
            </a:r>
            <a:endParaRPr lang="ar-SA" sz="2200" dirty="0"/>
          </a:p>
        </p:txBody>
      </p:sp>
      <p:sp>
        <p:nvSpPr>
          <p:cNvPr id="76" name="Shape 73"/>
          <p:cNvSpPr/>
          <p:nvPr/>
        </p:nvSpPr>
        <p:spPr>
          <a:xfrm>
            <a:off x="4459224" y="4873752"/>
            <a:ext cx="256032" cy="256032"/>
          </a:xfrm>
          <a:prstGeom prst="ellipse">
            <a:avLst/>
          </a:prstGeom>
          <a:solidFill>
            <a:srgbClr val="F4F1EA"/>
          </a:solidFill>
          <a:ln w="12700">
            <a:solidFill>
              <a:srgbClr val="F4F1EA"/>
            </a:solidFill>
            <a:prstDash val="solid"/>
          </a:ln>
        </p:spPr>
      </p:sp>
      <p:sp>
        <p:nvSpPr>
          <p:cNvPr id="77" name="Text 74"/>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8" name="Text 75"/>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 | تَ | ةٌ</a:t>
            </a:r>
            <a:endParaRPr lang="ar-SA" sz="2050" dirty="0"/>
          </a:p>
        </p:txBody>
      </p:sp>
      <p:sp>
        <p:nvSpPr>
          <p:cNvPr id="79" name="Shape 76"/>
          <p:cNvSpPr/>
          <p:nvPr/>
        </p:nvSpPr>
        <p:spPr>
          <a:xfrm>
            <a:off x="4459224" y="5330952"/>
            <a:ext cx="256032" cy="256032"/>
          </a:xfrm>
          <a:prstGeom prst="ellipse">
            <a:avLst/>
          </a:prstGeom>
          <a:solidFill>
            <a:srgbClr val="F4F1EA"/>
          </a:solidFill>
          <a:ln w="12700">
            <a:solidFill>
              <a:srgbClr val="F4F1EA"/>
            </a:solidFill>
            <a:prstDash val="solid"/>
          </a:ln>
        </p:spPr>
      </p:sp>
      <p:sp>
        <p:nvSpPr>
          <p:cNvPr id="80" name="Text 77"/>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81" name="Text 78"/>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 | تَ | ةٌ</a:t>
            </a:r>
            <a:endParaRPr lang="ar-SA" sz="2050" dirty="0"/>
          </a:p>
        </p:txBody>
      </p:sp>
      <p:sp>
        <p:nvSpPr>
          <p:cNvPr id="82" name="Shape 79"/>
          <p:cNvSpPr/>
          <p:nvPr/>
        </p:nvSpPr>
        <p:spPr>
          <a:xfrm>
            <a:off x="4459224" y="5788152"/>
            <a:ext cx="256032" cy="256032"/>
          </a:xfrm>
          <a:prstGeom prst="ellipse">
            <a:avLst/>
          </a:prstGeom>
          <a:solidFill>
            <a:srgbClr val="F4F1EA"/>
          </a:solidFill>
          <a:ln w="12700">
            <a:solidFill>
              <a:srgbClr val="F4F1EA"/>
            </a:solidFill>
            <a:prstDash val="solid"/>
          </a:ln>
        </p:spPr>
      </p:sp>
      <p:sp>
        <p:nvSpPr>
          <p:cNvPr id="83" name="Text 80"/>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84" name="Text 81"/>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34" charset="0"/>
                <a:ea typeface="Amiri" pitchFamily="34" charset="-122"/>
                <a:cs typeface="Amiri" pitchFamily="34" charset="-120"/>
              </a:rPr>
              <a:t>سِتَّ | ةٌ</a:t>
            </a:r>
            <a:endParaRPr lang="ar-SA" sz="2050" dirty="0"/>
          </a:p>
        </p:txBody>
      </p:sp>
      <p:sp>
        <p:nvSpPr>
          <p:cNvPr id="85" name="Shape 8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6" name="Shape 8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7" name="Text 8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88" name="Text 8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Sukūn → the chunk ends there.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Long vowel → keep it with its letter.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Shadda → the letter twice.</a:t>
            </a:r>
            <a:endParaRPr lang="en-US" sz="1250" dirty="0"/>
          </a:p>
        </p:txBody>
      </p:sp>
      <p:sp>
        <p:nvSpPr>
          <p:cNvPr id="89" name="Text 8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15 / 26</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ea typeface="Calibri" pitchFamily="34" charset="-122"/>
                <a:cs typeface="Calibri" pitchFamily="34" charset="-120"/>
              </a:rPr>
              <a:t>WE DO · CHUNK CHOICE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19" name="Text 16"/>
          <p:cNvSpPr txBox="1"/>
          <p:nvPr/>
        </p:nvSpPr>
        <p:spPr>
          <a:xfrm>
            <a:off x="2406701"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مَكْتَبٌ</a:t>
            </a:r>
            <a:endParaRPr lang="ar-SA" sz="2200" dirty="0"/>
          </a:p>
        </p:txBody>
      </p:sp>
      <p:sp>
        <p:nvSpPr>
          <p:cNvPr id="20" name="Shape 17"/>
          <p:cNvSpPr/>
          <p:nvPr/>
        </p:nvSpPr>
        <p:spPr>
          <a:xfrm>
            <a:off x="640080" y="2490216"/>
            <a:ext cx="256032" cy="256032"/>
          </a:xfrm>
          <a:prstGeom prst="ellipse">
            <a:avLst/>
          </a:prstGeom>
          <a:solidFill>
            <a:srgbClr val="C9CED6"/>
          </a:solidFill>
          <a:ln w="12700">
            <a:solidFill>
              <a:srgbClr val="C9CED6"/>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 | كَ | تَ | بٌ</a:t>
            </a:r>
            <a:endParaRPr lang="ar-SA" sz="1700" dirty="0"/>
          </a:p>
        </p:txBody>
      </p:sp>
      <p:sp>
        <p:nvSpPr>
          <p:cNvPr id="23" name="Shape 20"/>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4" name="Shape 21"/>
          <p:cNvSpPr/>
          <p:nvPr/>
        </p:nvSpPr>
        <p:spPr>
          <a:xfrm>
            <a:off x="640080" y="2862072"/>
            <a:ext cx="256032" cy="256032"/>
          </a:xfrm>
          <a:prstGeom prst="ellipse">
            <a:avLst/>
          </a:prstGeom>
          <a:solidFill>
            <a:srgbClr val="2E8B57"/>
          </a:solidFill>
          <a:ln w="12700">
            <a:solidFill>
              <a:srgbClr val="2E8B57"/>
            </a:solidFill>
            <a:prstDash val="solid"/>
          </a:ln>
        </p:spPr>
      </p:sp>
      <p:sp>
        <p:nvSpPr>
          <p:cNvPr id="25" name="Text 22"/>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26" name="Text 23"/>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مَكْ | تَ | بٌ</a:t>
            </a:r>
            <a:endParaRPr lang="ar-SA" sz="1700" dirty="0"/>
          </a:p>
        </p:txBody>
      </p:sp>
      <p:sp>
        <p:nvSpPr>
          <p:cNvPr id="27" name="Shape 24"/>
          <p:cNvSpPr/>
          <p:nvPr/>
        </p:nvSpPr>
        <p:spPr>
          <a:xfrm>
            <a:off x="640080" y="3233928"/>
            <a:ext cx="256032" cy="256032"/>
          </a:xfrm>
          <a:prstGeom prst="ellipse">
            <a:avLst/>
          </a:prstGeom>
          <a:solidFill>
            <a:srgbClr val="C9CED6"/>
          </a:solidFill>
          <a:ln w="12700">
            <a:solidFill>
              <a:srgbClr val="C9CED6"/>
            </a:solidFill>
            <a:prstDash val="solid"/>
          </a:ln>
        </p:spPr>
      </p:sp>
      <p:sp>
        <p:nvSpPr>
          <p:cNvPr id="28" name="Text 25"/>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9" name="Text 26"/>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مَكْتَ | بٌ</a:t>
            </a:r>
            <a:endParaRPr lang="ar-SA" sz="1700" dirty="0"/>
          </a:p>
        </p:txBody>
      </p:sp>
      <p:sp>
        <p:nvSpPr>
          <p:cNvPr id="30" name="Text 27"/>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sukūn closes </a:t>
            </a:r>
            <a:pPr algn="l" indent="0" marL="0">
              <a:buNone/>
            </a:pPr>
            <a:r>
              <a:rPr lang="ar-SA" altLang="en-US" sz="1350" dirty="0">
                <a:solidFill>
                  <a:srgbClr val="8A6D1E"/>
                </a:solidFill>
                <a:latin typeface="Amiri" pitchFamily="34" charset="0"/>
                <a:ea typeface="Amiri" pitchFamily="34" charset="-122"/>
                <a:cs typeface="Amiri" pitchFamily="34" charset="-120"/>
              </a:rPr>
              <a:t>مَكْ</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31" name="Shape 28"/>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404360" y="1947672"/>
            <a:ext cx="310896" cy="310896"/>
          </a:xfrm>
          <a:prstGeom prst="ellipse">
            <a:avLst/>
          </a:prstGeom>
          <a:solidFill>
            <a:srgbClr val="1B3B6F"/>
          </a:solidFill>
          <a:ln w="12700">
            <a:solidFill>
              <a:srgbClr val="1B3B6F"/>
            </a:solidFill>
            <a:prstDash val="solid"/>
          </a:ln>
        </p:spPr>
      </p:sp>
      <p:sp>
        <p:nvSpPr>
          <p:cNvPr id="33" name="Text 30"/>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4" name="Text 31"/>
          <p:cNvSpPr txBox="1"/>
          <p:nvPr/>
        </p:nvSpPr>
        <p:spPr>
          <a:xfrm>
            <a:off x="4770120"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35" name="Text 32"/>
          <p:cNvSpPr txBox="1"/>
          <p:nvPr/>
        </p:nvSpPr>
        <p:spPr>
          <a:xfrm>
            <a:off x="6225845"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كِتَابٌ</a:t>
            </a:r>
            <a:endParaRPr lang="ar-SA" sz="2200" dirty="0"/>
          </a:p>
        </p:txBody>
      </p:sp>
      <p:sp>
        <p:nvSpPr>
          <p:cNvPr id="36" name="Shape 33"/>
          <p:cNvSpPr/>
          <p:nvPr/>
        </p:nvSpPr>
        <p:spPr>
          <a:xfrm>
            <a:off x="4459224" y="2490216"/>
            <a:ext cx="256032" cy="256032"/>
          </a:xfrm>
          <a:prstGeom prst="ellipse">
            <a:avLst/>
          </a:prstGeom>
          <a:solidFill>
            <a:srgbClr val="C9CED6"/>
          </a:solidFill>
          <a:ln w="12700">
            <a:solidFill>
              <a:srgbClr val="C9CED6"/>
            </a:solidFill>
            <a:prstDash val="solid"/>
          </a:ln>
        </p:spPr>
      </p:sp>
      <p:sp>
        <p:nvSpPr>
          <p:cNvPr id="37" name="Text 34"/>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8" name="Text 35"/>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كِتْ | ا | بٌ</a:t>
            </a:r>
            <a:endParaRPr lang="ar-SA" sz="1700" dirty="0"/>
          </a:p>
        </p:txBody>
      </p:sp>
      <p:sp>
        <p:nvSpPr>
          <p:cNvPr id="39" name="Shape 36"/>
          <p:cNvSpPr/>
          <p:nvPr/>
        </p:nvSpPr>
        <p:spPr>
          <a:xfrm>
            <a:off x="4459224" y="2862072"/>
            <a:ext cx="256032" cy="256032"/>
          </a:xfrm>
          <a:prstGeom prst="ellipse">
            <a:avLst/>
          </a:prstGeom>
          <a:solidFill>
            <a:srgbClr val="C9CED6"/>
          </a:solidFill>
          <a:ln w="12700">
            <a:solidFill>
              <a:srgbClr val="C9CED6"/>
            </a:solidFill>
            <a:prstDash val="solid"/>
          </a:ln>
        </p:spPr>
      </p:sp>
      <p:sp>
        <p:nvSpPr>
          <p:cNvPr id="40" name="Text 37"/>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1" name="Text 38"/>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كِ | تَ | ا | بٌ</a:t>
            </a:r>
            <a:endParaRPr lang="ar-SA" sz="1700" dirty="0"/>
          </a:p>
        </p:txBody>
      </p:sp>
      <p:sp>
        <p:nvSpPr>
          <p:cNvPr id="42" name="Shape 39"/>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3" name="Shape 40"/>
          <p:cNvSpPr/>
          <p:nvPr/>
        </p:nvSpPr>
        <p:spPr>
          <a:xfrm>
            <a:off x="4459224" y="3233928"/>
            <a:ext cx="256032" cy="256032"/>
          </a:xfrm>
          <a:prstGeom prst="ellipse">
            <a:avLst/>
          </a:prstGeom>
          <a:solidFill>
            <a:srgbClr val="2E8B57"/>
          </a:solidFill>
          <a:ln w="12700">
            <a:solidFill>
              <a:srgbClr val="2E8B57"/>
            </a:solidFill>
            <a:prstDash val="solid"/>
          </a:ln>
        </p:spPr>
      </p:sp>
      <p:sp>
        <p:nvSpPr>
          <p:cNvPr id="44" name="Text 41"/>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C</a:t>
            </a:r>
            <a:endParaRPr lang="en-US" sz="900" dirty="0"/>
          </a:p>
        </p:txBody>
      </p:sp>
      <p:sp>
        <p:nvSpPr>
          <p:cNvPr id="45" name="Text 42"/>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كِ | تَا | بٌ</a:t>
            </a:r>
            <a:endParaRPr lang="ar-SA" sz="1700" dirty="0"/>
          </a:p>
        </p:txBody>
      </p:sp>
      <p:sp>
        <p:nvSpPr>
          <p:cNvPr id="46" name="Text 43"/>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long ā stays with </a:t>
            </a:r>
            <a:pPr algn="l" indent="0" marL="0">
              <a:buNone/>
            </a:pPr>
            <a:r>
              <a:rPr lang="ar-SA" altLang="en-US" sz="1350" dirty="0">
                <a:solidFill>
                  <a:srgbClr val="8A6D1E"/>
                </a:solidFill>
                <a:latin typeface="Amiri" pitchFamily="34" charset="0"/>
                <a:ea typeface="Amiri" pitchFamily="34" charset="-122"/>
                <a:cs typeface="Amiri" pitchFamily="34" charset="-120"/>
              </a:rPr>
              <a:t>تَا</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47" name="Shape 44"/>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223504" y="1947672"/>
            <a:ext cx="310896" cy="310896"/>
          </a:xfrm>
          <a:prstGeom prst="ellipse">
            <a:avLst/>
          </a:prstGeom>
          <a:solidFill>
            <a:srgbClr val="1B3B6F"/>
          </a:solidFill>
          <a:ln w="12700">
            <a:solidFill>
              <a:srgbClr val="1B3B6F"/>
            </a:solidFill>
            <a:prstDash val="solid"/>
          </a:ln>
        </p:spPr>
      </p:sp>
      <p:sp>
        <p:nvSpPr>
          <p:cNvPr id="49" name="Text 46"/>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50" name="Text 47"/>
          <p:cNvSpPr txBox="1"/>
          <p:nvPr/>
        </p:nvSpPr>
        <p:spPr>
          <a:xfrm>
            <a:off x="8589264" y="1883664"/>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51" name="Text 48"/>
          <p:cNvSpPr txBox="1"/>
          <p:nvPr/>
        </p:nvSpPr>
        <p:spPr>
          <a:xfrm>
            <a:off x="10044989" y="1883664"/>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مُعَلِّمٌ</a:t>
            </a:r>
            <a:endParaRPr lang="ar-SA" sz="2200" dirty="0"/>
          </a:p>
        </p:txBody>
      </p:sp>
      <p:sp>
        <p:nvSpPr>
          <p:cNvPr id="52" name="Shape 49"/>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49021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55" name="Text 52"/>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مُ | عَلْ | لِ | مٌ</a:t>
            </a:r>
            <a:endParaRPr lang="ar-SA" sz="1700" dirty="0"/>
          </a:p>
        </p:txBody>
      </p:sp>
      <p:sp>
        <p:nvSpPr>
          <p:cNvPr id="56" name="Shape 53"/>
          <p:cNvSpPr/>
          <p:nvPr/>
        </p:nvSpPr>
        <p:spPr>
          <a:xfrm>
            <a:off x="8278368" y="286207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8" name="Text 55"/>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 | عَ | لِ | مٌ</a:t>
            </a:r>
            <a:endParaRPr lang="ar-SA" sz="1700" dirty="0"/>
          </a:p>
        </p:txBody>
      </p:sp>
      <p:sp>
        <p:nvSpPr>
          <p:cNvPr id="59" name="Shape 56"/>
          <p:cNvSpPr/>
          <p:nvPr/>
        </p:nvSpPr>
        <p:spPr>
          <a:xfrm>
            <a:off x="8278368" y="3233928"/>
            <a:ext cx="256032" cy="256032"/>
          </a:xfrm>
          <a:prstGeom prst="ellipse">
            <a:avLst/>
          </a:prstGeom>
          <a:solidFill>
            <a:srgbClr val="C9CED6"/>
          </a:solidFill>
          <a:ln w="12700">
            <a:solidFill>
              <a:srgbClr val="C9CED6"/>
            </a:solidFill>
            <a:prstDash val="solid"/>
          </a:ln>
        </p:spPr>
      </p:sp>
      <p:sp>
        <p:nvSpPr>
          <p:cNvPr id="60" name="Text 57"/>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61" name="Text 58"/>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مُعَ | لِمٌ</a:t>
            </a:r>
            <a:endParaRPr lang="ar-SA" sz="1700" dirty="0"/>
          </a:p>
        </p:txBody>
      </p:sp>
      <p:sp>
        <p:nvSpPr>
          <p:cNvPr id="62" name="Text 59"/>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Shadda = two timings of l.</a:t>
            </a:r>
            <a:endParaRPr lang="en-US" sz="1050" dirty="0"/>
          </a:p>
        </p:txBody>
      </p:sp>
      <p:sp>
        <p:nvSpPr>
          <p:cNvPr id="63" name="Shape 60"/>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585216" y="4288536"/>
            <a:ext cx="310896" cy="310896"/>
          </a:xfrm>
          <a:prstGeom prst="ellipse">
            <a:avLst/>
          </a:prstGeom>
          <a:solidFill>
            <a:srgbClr val="1B3B6F"/>
          </a:solidFill>
          <a:ln w="12700">
            <a:solidFill>
              <a:srgbClr val="1B3B6F"/>
            </a:solidFill>
            <a:prstDash val="solid"/>
          </a:ln>
        </p:spPr>
      </p:sp>
      <p:sp>
        <p:nvSpPr>
          <p:cNvPr id="65" name="Text 62"/>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66" name="Text 63"/>
          <p:cNvSpPr txBox="1"/>
          <p:nvPr/>
        </p:nvSpPr>
        <p:spPr>
          <a:xfrm>
            <a:off x="950976"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67" name="Text 64"/>
          <p:cNvSpPr txBox="1"/>
          <p:nvPr/>
        </p:nvSpPr>
        <p:spPr>
          <a:xfrm>
            <a:off x="2406701"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يَقْرَأُ</a:t>
            </a:r>
            <a:endParaRPr lang="ar-SA" sz="2200" dirty="0"/>
          </a:p>
        </p:txBody>
      </p:sp>
      <p:sp>
        <p:nvSpPr>
          <p:cNvPr id="68" name="Shape 65"/>
          <p:cNvSpPr/>
          <p:nvPr/>
        </p:nvSpPr>
        <p:spPr>
          <a:xfrm>
            <a:off x="640080" y="4831080"/>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70" name="Text 67"/>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 | قَ | رَ | أُ</a:t>
            </a:r>
            <a:endParaRPr lang="ar-SA" sz="1700" dirty="0"/>
          </a:p>
        </p:txBody>
      </p:sp>
      <p:sp>
        <p:nvSpPr>
          <p:cNvPr id="71" name="Shape 68"/>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72" name="Shape 69"/>
          <p:cNvSpPr/>
          <p:nvPr/>
        </p:nvSpPr>
        <p:spPr>
          <a:xfrm>
            <a:off x="640080" y="5202936"/>
            <a:ext cx="256032" cy="256032"/>
          </a:xfrm>
          <a:prstGeom prst="ellipse">
            <a:avLst/>
          </a:prstGeom>
          <a:solidFill>
            <a:srgbClr val="2E8B57"/>
          </a:solidFill>
          <a:ln w="12700">
            <a:solidFill>
              <a:srgbClr val="2E8B57"/>
            </a:solidFill>
            <a:prstDash val="solid"/>
          </a:ln>
        </p:spPr>
      </p:sp>
      <p:sp>
        <p:nvSpPr>
          <p:cNvPr id="73" name="Text 70"/>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B</a:t>
            </a:r>
            <a:endParaRPr lang="en-US" sz="900" dirty="0"/>
          </a:p>
        </p:txBody>
      </p:sp>
      <p:sp>
        <p:nvSpPr>
          <p:cNvPr id="74" name="Text 71"/>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يَقْ | رَ | أُ</a:t>
            </a:r>
            <a:endParaRPr lang="ar-SA" sz="1700" dirty="0"/>
          </a:p>
        </p:txBody>
      </p:sp>
      <p:sp>
        <p:nvSpPr>
          <p:cNvPr id="75" name="Shape 72"/>
          <p:cNvSpPr/>
          <p:nvPr/>
        </p:nvSpPr>
        <p:spPr>
          <a:xfrm>
            <a:off x="640080" y="5574792"/>
            <a:ext cx="256032" cy="256032"/>
          </a:xfrm>
          <a:prstGeom prst="ellipse">
            <a:avLst/>
          </a:prstGeom>
          <a:solidFill>
            <a:srgbClr val="C9CED6"/>
          </a:solidFill>
          <a:ln w="12700">
            <a:solidFill>
              <a:srgbClr val="C9CED6"/>
            </a:solidFill>
            <a:prstDash val="solid"/>
          </a:ln>
        </p:spPr>
      </p:sp>
      <p:sp>
        <p:nvSpPr>
          <p:cNvPr id="76" name="Text 73"/>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77" name="Text 74"/>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يَقْرَ | أُ</a:t>
            </a:r>
            <a:endParaRPr lang="ar-SA" sz="1700" dirty="0"/>
          </a:p>
        </p:txBody>
      </p:sp>
      <p:sp>
        <p:nvSpPr>
          <p:cNvPr id="78" name="Text 75"/>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The sukūn closes </a:t>
            </a:r>
            <a:pPr algn="l" indent="0" marL="0">
              <a:buNone/>
            </a:pPr>
            <a:r>
              <a:rPr lang="ar-SA" altLang="en-US" sz="1350" dirty="0">
                <a:solidFill>
                  <a:srgbClr val="8A6D1E"/>
                </a:solidFill>
                <a:latin typeface="Amiri" pitchFamily="34" charset="0"/>
                <a:ea typeface="Amiri" pitchFamily="34" charset="-122"/>
                <a:cs typeface="Amiri" pitchFamily="34" charset="-120"/>
              </a:rPr>
              <a:t>يَقْ</a:t>
            </a:r>
            <a:pPr algn="l" indent="0" marL="0">
              <a:buNone/>
            </a:pPr>
            <a:r>
              <a:rPr lang="en-US" sz="1050" i="1" dirty="0">
                <a:solidFill>
                  <a:srgbClr val="8A6D1E"/>
                </a:solidFill>
                <a:latin typeface="Calibri" pitchFamily="34" charset="0"/>
                <a:ea typeface="Calibri" pitchFamily="34" charset="-122"/>
                <a:cs typeface="Calibri" pitchFamily="34" charset="-120"/>
              </a:rPr>
              <a:t>.</a:t>
            </a:r>
            <a:endParaRPr lang="en-US" sz="1050" dirty="0"/>
          </a:p>
        </p:txBody>
      </p:sp>
      <p:sp>
        <p:nvSpPr>
          <p:cNvPr id="79" name="Shape 76"/>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80" name="Shape 77"/>
          <p:cNvSpPr/>
          <p:nvPr/>
        </p:nvSpPr>
        <p:spPr>
          <a:xfrm>
            <a:off x="4404360" y="4288536"/>
            <a:ext cx="310896" cy="310896"/>
          </a:xfrm>
          <a:prstGeom prst="ellipse">
            <a:avLst/>
          </a:prstGeom>
          <a:solidFill>
            <a:srgbClr val="1B3B6F"/>
          </a:solidFill>
          <a:ln w="12700">
            <a:solidFill>
              <a:srgbClr val="1B3B6F"/>
            </a:solidFill>
            <a:prstDash val="solid"/>
          </a:ln>
        </p:spPr>
      </p:sp>
      <p:sp>
        <p:nvSpPr>
          <p:cNvPr id="81" name="Text 78"/>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82" name="Text 79"/>
          <p:cNvSpPr txBox="1"/>
          <p:nvPr/>
        </p:nvSpPr>
        <p:spPr>
          <a:xfrm>
            <a:off x="4770120" y="4224528"/>
            <a:ext cx="139507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ea typeface="Calibri" pitchFamily="34" charset="-122"/>
                <a:cs typeface="Calibri" pitchFamily="34" charset="-120"/>
              </a:rPr>
              <a:t>Choose the chunks</a:t>
            </a:r>
            <a:endParaRPr lang="en-US" sz="1200" dirty="0"/>
          </a:p>
        </p:txBody>
      </p:sp>
      <p:sp>
        <p:nvSpPr>
          <p:cNvPr id="83" name="Text 80"/>
          <p:cNvSpPr txBox="1"/>
          <p:nvPr/>
        </p:nvSpPr>
        <p:spPr>
          <a:xfrm>
            <a:off x="6225845" y="4224528"/>
            <a:ext cx="1577035" cy="475488"/>
          </a:xfrm>
          <a:prstGeom prst="rect">
            <a:avLst/>
          </a:prstGeom>
          <a:noFill/>
          <a:ln/>
        </p:spPr>
        <p:txBody>
          <a:bodyPr wrap="square" lIns="0" tIns="0" rIns="0" bIns="0" rtlCol="0" anchor="ctr"/>
          <a:lstStyle/>
          <a:p>
            <a:pPr rtl="1" algn="r" indent="0" marL="0">
              <a:buNone/>
            </a:pPr>
            <a:r>
              <a:rPr lang="ar-SA" altLang="en-US" sz="2200" b="1" dirty="0">
                <a:solidFill>
                  <a:srgbClr val="1B3B6F"/>
                </a:solidFill>
                <a:latin typeface="Amiri" pitchFamily="34" charset="0"/>
                <a:ea typeface="Amiri" pitchFamily="34" charset="-122"/>
                <a:cs typeface="Amiri" pitchFamily="34" charset="-120"/>
              </a:rPr>
              <a:t>سِتَّةٌ</a:t>
            </a:r>
            <a:endParaRPr lang="ar-SA" sz="2200" dirty="0"/>
          </a:p>
        </p:txBody>
      </p:sp>
      <p:sp>
        <p:nvSpPr>
          <p:cNvPr id="84" name="Shape 81"/>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5" name="Shape 82"/>
          <p:cNvSpPr/>
          <p:nvPr/>
        </p:nvSpPr>
        <p:spPr>
          <a:xfrm>
            <a:off x="4459224" y="4831080"/>
            <a:ext cx="256032" cy="256032"/>
          </a:xfrm>
          <a:prstGeom prst="ellipse">
            <a:avLst/>
          </a:prstGeom>
          <a:solidFill>
            <a:srgbClr val="2E8B57"/>
          </a:solidFill>
          <a:ln w="12700">
            <a:solidFill>
              <a:srgbClr val="2E8B57"/>
            </a:solidFill>
            <a:prstDash val="solid"/>
          </a:ln>
        </p:spPr>
      </p:sp>
      <p:sp>
        <p:nvSpPr>
          <p:cNvPr id="86" name="Text 83"/>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87" name="Text 84"/>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34" charset="0"/>
                <a:ea typeface="Amiri" pitchFamily="34" charset="-122"/>
                <a:cs typeface="Amiri" pitchFamily="34" charset="-120"/>
              </a:rPr>
              <a:t>سِتْ | تَ | ةٌ</a:t>
            </a:r>
            <a:endParaRPr lang="ar-SA" sz="1700" dirty="0"/>
          </a:p>
        </p:txBody>
      </p:sp>
      <p:sp>
        <p:nvSpPr>
          <p:cNvPr id="88" name="Shape 85"/>
          <p:cNvSpPr/>
          <p:nvPr/>
        </p:nvSpPr>
        <p:spPr>
          <a:xfrm>
            <a:off x="4459224" y="5202936"/>
            <a:ext cx="256032" cy="256032"/>
          </a:xfrm>
          <a:prstGeom prst="ellipse">
            <a:avLst/>
          </a:prstGeom>
          <a:solidFill>
            <a:srgbClr val="C9CED6"/>
          </a:solidFill>
          <a:ln w="12700">
            <a:solidFill>
              <a:srgbClr val="C9CED6"/>
            </a:solidFill>
            <a:prstDash val="solid"/>
          </a:ln>
        </p:spPr>
      </p:sp>
      <p:sp>
        <p:nvSpPr>
          <p:cNvPr id="89" name="Text 86"/>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90" name="Text 87"/>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 | تَ | ةٌ</a:t>
            </a:r>
            <a:endParaRPr lang="ar-SA" sz="1700" dirty="0"/>
          </a:p>
        </p:txBody>
      </p:sp>
      <p:sp>
        <p:nvSpPr>
          <p:cNvPr id="91" name="Shape 88"/>
          <p:cNvSpPr/>
          <p:nvPr/>
        </p:nvSpPr>
        <p:spPr>
          <a:xfrm>
            <a:off x="4459224" y="5574792"/>
            <a:ext cx="256032" cy="256032"/>
          </a:xfrm>
          <a:prstGeom prst="ellipse">
            <a:avLst/>
          </a:prstGeom>
          <a:solidFill>
            <a:srgbClr val="C9CED6"/>
          </a:solidFill>
          <a:ln w="12700">
            <a:solidFill>
              <a:srgbClr val="C9CED6"/>
            </a:solidFill>
            <a:prstDash val="solid"/>
          </a:ln>
        </p:spPr>
      </p:sp>
      <p:sp>
        <p:nvSpPr>
          <p:cNvPr id="92" name="Text 89"/>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93" name="Text 90"/>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34" charset="0"/>
                <a:ea typeface="Amiri" pitchFamily="34" charset="-122"/>
                <a:cs typeface="Amiri" pitchFamily="34" charset="-120"/>
              </a:rPr>
              <a:t>سِتَّ | ةٌ</a:t>
            </a:r>
            <a:endParaRPr lang="ar-SA" sz="1700" dirty="0"/>
          </a:p>
        </p:txBody>
      </p:sp>
      <p:sp>
        <p:nvSpPr>
          <p:cNvPr id="94" name="Text 91"/>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Shadda: hold the t.</a:t>
            </a:r>
            <a:endParaRPr lang="en-US" sz="1050" dirty="0"/>
          </a:p>
        </p:txBody>
      </p:sp>
      <p:sp>
        <p:nvSpPr>
          <p:cNvPr id="95" name="Shape 92"/>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6" name="Shape 93"/>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7" name="Text 94"/>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98" name="Text 95"/>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ea typeface="Calibri" pitchFamily="34" charset="-122"/>
                <a:cs typeface="Calibri" pitchFamily="34" charset="-120"/>
              </a:rPr>
              <a:t>Sukūn → the chunk ends there.</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Long vowel → keep it with its letter.</a:t>
            </a:r>
            <a:endParaRPr lang="en-US" sz="1250" dirty="0"/>
          </a:p>
          <a:p>
            <a:pPr algn="l" indent="0" marL="0">
              <a:buNone/>
            </a:pPr>
            <a:r>
              <a:rPr lang="en-US" sz="1250" dirty="0">
                <a:solidFill>
                  <a:srgbClr val="1E6B52"/>
                </a:solidFill>
                <a:latin typeface="Calibri" pitchFamily="34" charset="0"/>
                <a:ea typeface="Calibri" pitchFamily="34" charset="-122"/>
                <a:cs typeface="Calibri" pitchFamily="34" charset="-120"/>
              </a:rPr>
              <a:t>Shadda → the letter twice.</a:t>
            </a:r>
            <a:endParaRPr lang="en-US" sz="1250" dirty="0"/>
          </a:p>
        </p:txBody>
      </p:sp>
      <p:sp>
        <p:nvSpPr>
          <p:cNvPr id="99" name="Text 9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16 / 26</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LEVEL 2 · EIGHT SHORT PHRASES (WEBSITE GRADED STRIP)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شَرِيطُ القِرَاءَةِ ٢</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11274552" cy="841248"/>
          </a:xfrm>
          <a:prstGeom prst="roundRect">
            <a:avLst>
              <a:gd name="adj" fmla="val 5435"/>
            </a:avLst>
          </a:prstGeom>
          <a:solidFill>
            <a:srgbClr val="FFFFFF"/>
          </a:solidFill>
          <a:ln w="9525">
            <a:solidFill>
              <a:srgbClr val="D8D0BF"/>
            </a:solidFill>
            <a:prstDash val="solid"/>
          </a:ln>
        </p:spPr>
      </p:sp>
      <p:sp>
        <p:nvSpPr>
          <p:cNvPr id="16" name="Text 13"/>
          <p:cNvSpPr txBox="1"/>
          <p:nvPr/>
        </p:nvSpPr>
        <p:spPr>
          <a:xfrm>
            <a:off x="4937760" y="18288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هُوَ يَقْرَأُ  ·  هِيَ تَكْتُبُ</a:t>
            </a:r>
            <a:endParaRPr lang="ar-SA" sz="2000" dirty="0"/>
          </a:p>
        </p:txBody>
      </p:sp>
      <p:sp>
        <p:nvSpPr>
          <p:cNvPr id="17" name="Text 14"/>
          <p:cNvSpPr txBox="1"/>
          <p:nvPr/>
        </p:nvSpPr>
        <p:spPr>
          <a:xfrm>
            <a:off x="640080" y="18288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reads   ·   she writes</a:t>
            </a:r>
            <a:endParaRPr lang="en-US" sz="1250" dirty="0"/>
          </a:p>
        </p:txBody>
      </p:sp>
      <p:sp>
        <p:nvSpPr>
          <p:cNvPr id="18" name="Shape 15"/>
          <p:cNvSpPr/>
          <p:nvPr/>
        </p:nvSpPr>
        <p:spPr>
          <a:xfrm>
            <a:off x="457200" y="2724912"/>
            <a:ext cx="11274552" cy="841248"/>
          </a:xfrm>
          <a:prstGeom prst="roundRect">
            <a:avLst>
              <a:gd name="adj" fmla="val 5435"/>
            </a:avLst>
          </a:prstGeom>
          <a:solidFill>
            <a:srgbClr val="F4F1EA"/>
          </a:solidFill>
          <a:ln w="9525">
            <a:solidFill>
              <a:srgbClr val="D8D0BF"/>
            </a:solidFill>
            <a:prstDash val="solid"/>
          </a:ln>
        </p:spPr>
      </p:sp>
      <p:sp>
        <p:nvSpPr>
          <p:cNvPr id="19" name="Text 16"/>
          <p:cNvSpPr txBox="1"/>
          <p:nvPr/>
        </p:nvSpPr>
        <p:spPr>
          <a:xfrm>
            <a:off x="4937760" y="27432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أَنَا أَفْهَمُ  ·  لَا أَفْهَمُ</a:t>
            </a:r>
            <a:endParaRPr lang="ar-SA" sz="2000" dirty="0"/>
          </a:p>
        </p:txBody>
      </p:sp>
      <p:sp>
        <p:nvSpPr>
          <p:cNvPr id="20" name="Text 17"/>
          <p:cNvSpPr txBox="1"/>
          <p:nvPr/>
        </p:nvSpPr>
        <p:spPr>
          <a:xfrm>
            <a:off x="640080" y="27432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I understand   ·   I do not understand</a:t>
            </a:r>
            <a:endParaRPr lang="en-US" sz="1250" dirty="0"/>
          </a:p>
        </p:txBody>
      </p:sp>
      <p:sp>
        <p:nvSpPr>
          <p:cNvPr id="21" name="Shape 18"/>
          <p:cNvSpPr/>
          <p:nvPr/>
        </p:nvSpPr>
        <p:spPr>
          <a:xfrm>
            <a:off x="457200" y="3639312"/>
            <a:ext cx="11274552" cy="841248"/>
          </a:xfrm>
          <a:prstGeom prst="roundRect">
            <a:avLst>
              <a:gd name="adj" fmla="val 5435"/>
            </a:avLst>
          </a:prstGeom>
          <a:solidFill>
            <a:srgbClr val="FFFFFF"/>
          </a:solidFill>
          <a:ln w="9525">
            <a:solidFill>
              <a:srgbClr val="D8D0BF"/>
            </a:solidFill>
            <a:prstDash val="solid"/>
          </a:ln>
        </p:spPr>
      </p:sp>
      <p:sp>
        <p:nvSpPr>
          <p:cNvPr id="22" name="Text 19"/>
          <p:cNvSpPr txBox="1"/>
          <p:nvPr/>
        </p:nvSpPr>
        <p:spPr>
          <a:xfrm>
            <a:off x="4937760" y="36576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قَرَأَ كِتَابًا</a:t>
            </a:r>
            <a:endParaRPr lang="ar-SA" sz="2000" dirty="0"/>
          </a:p>
        </p:txBody>
      </p:sp>
      <p:sp>
        <p:nvSpPr>
          <p:cNvPr id="23" name="Text 20"/>
          <p:cNvSpPr txBox="1"/>
          <p:nvPr/>
        </p:nvSpPr>
        <p:spPr>
          <a:xfrm>
            <a:off x="640080" y="36576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read a book</a:t>
            </a:r>
            <a:endParaRPr lang="en-US" sz="1250" dirty="0"/>
          </a:p>
        </p:txBody>
      </p:sp>
      <p:sp>
        <p:nvSpPr>
          <p:cNvPr id="24" name="Shape 21"/>
          <p:cNvSpPr/>
          <p:nvPr/>
        </p:nvSpPr>
        <p:spPr>
          <a:xfrm>
            <a:off x="457200" y="4553712"/>
            <a:ext cx="11274552" cy="841248"/>
          </a:xfrm>
          <a:prstGeom prst="roundRect">
            <a:avLst>
              <a:gd name="adj" fmla="val 5435"/>
            </a:avLst>
          </a:prstGeom>
          <a:solidFill>
            <a:srgbClr val="F4F1EA"/>
          </a:solidFill>
          <a:ln w="9525">
            <a:solidFill>
              <a:srgbClr val="D8D0BF"/>
            </a:solidFill>
            <a:prstDash val="solid"/>
          </a:ln>
        </p:spPr>
      </p:sp>
      <p:sp>
        <p:nvSpPr>
          <p:cNvPr id="25" name="Text 22"/>
          <p:cNvSpPr txBox="1"/>
          <p:nvPr/>
        </p:nvSpPr>
        <p:spPr>
          <a:xfrm>
            <a:off x="4937760" y="45720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ذَهَبَ إِلَى البَيْتِ</a:t>
            </a:r>
            <a:endParaRPr lang="ar-SA" sz="2000" dirty="0"/>
          </a:p>
        </p:txBody>
      </p:sp>
      <p:sp>
        <p:nvSpPr>
          <p:cNvPr id="26" name="Text 23"/>
          <p:cNvSpPr txBox="1"/>
          <p:nvPr/>
        </p:nvSpPr>
        <p:spPr>
          <a:xfrm>
            <a:off x="640080" y="45720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went home</a:t>
            </a:r>
            <a:endParaRPr lang="en-US" sz="1250" dirty="0"/>
          </a:p>
        </p:txBody>
      </p:sp>
      <p:sp>
        <p:nvSpPr>
          <p:cNvPr id="27" name="Shape 24"/>
          <p:cNvSpPr/>
          <p:nvPr/>
        </p:nvSpPr>
        <p:spPr>
          <a:xfrm>
            <a:off x="457200" y="5468112"/>
            <a:ext cx="11274552" cy="841248"/>
          </a:xfrm>
          <a:prstGeom prst="roundRect">
            <a:avLst>
              <a:gd name="adj" fmla="val 5435"/>
            </a:avLst>
          </a:prstGeom>
          <a:solidFill>
            <a:srgbClr val="FFFFFF"/>
          </a:solidFill>
          <a:ln w="9525">
            <a:solidFill>
              <a:srgbClr val="D8D0BF"/>
            </a:solidFill>
            <a:prstDash val="solid"/>
          </a:ln>
        </p:spPr>
      </p:sp>
      <p:sp>
        <p:nvSpPr>
          <p:cNvPr id="28" name="Text 25"/>
          <p:cNvSpPr txBox="1"/>
          <p:nvPr/>
        </p:nvSpPr>
        <p:spPr>
          <a:xfrm>
            <a:off x="4937760" y="5486400"/>
            <a:ext cx="6675120" cy="8046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جَلَسَ فِي الفَصْلِ  ·  مَعَ مُحَمَّدٍ</a:t>
            </a:r>
            <a:endParaRPr lang="ar-SA" sz="2000" dirty="0"/>
          </a:p>
        </p:txBody>
      </p:sp>
      <p:sp>
        <p:nvSpPr>
          <p:cNvPr id="29" name="Text 26"/>
          <p:cNvSpPr txBox="1"/>
          <p:nvPr/>
        </p:nvSpPr>
        <p:spPr>
          <a:xfrm>
            <a:off x="640080" y="5486400"/>
            <a:ext cx="4160520" cy="8046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he sat in the classroom   ·   with Muhammad</a:t>
            </a:r>
            <a:endParaRPr lang="en-US" sz="125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17 / 26</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WE DO · 3 MIN</a:t>
            </a:r>
            <a:endParaRPr lang="en-US" sz="900" dirty="0"/>
          </a:p>
        </p:txBody>
      </p:sp>
      <p:sp>
        <p:nvSpPr>
          <p:cNvPr id="10" name="Shape 8"/>
          <p:cNvSpPr/>
          <p:nvPr/>
        </p:nvSpPr>
        <p:spPr>
          <a:xfrm>
            <a:off x="6273698"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73698"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ea typeface="Calibri" pitchFamily="34" charset="-122"/>
                <a:cs typeface="Calibri" pitchFamily="34" charset="-120"/>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ea typeface="Calibri" pitchFamily="34" charset="-122"/>
                <a:cs typeface="Calibri" pitchFamily="34" charset="-120"/>
              </a:rPr>
              <a:t>WE DO · LEVEL 3 · FOUR SHORT SENTENCES (WEBSITE) · FLEX · STRETCH</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the sentences</a:t>
            </a:r>
            <a:endParaRPr lang="en-US" sz="280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شَرِيطُ القِرَاءَةِ ٣</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7" name="Shape 14"/>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8" name="Text 15"/>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قَرَأَتْ مَرْيَمُ | كِتَابًا قَصِيرًا.</a:t>
            </a:r>
            <a:endParaRPr lang="ar-SA" sz="2000" dirty="0"/>
          </a:p>
        </p:txBody>
      </p:sp>
      <p:sp>
        <p:nvSpPr>
          <p:cNvPr id="19" name="Text 16"/>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Maryam read a short book.</a:t>
            </a:r>
            <a:endParaRPr lang="en-US" sz="1250" dirty="0"/>
          </a:p>
        </p:txBody>
      </p:sp>
      <p:sp>
        <p:nvSpPr>
          <p:cNvPr id="20" name="Shape 17"/>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21" name="Text 18"/>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ذَهَبَ سَامِرٌ | إِلَى المَدْرَسَةِ.</a:t>
            </a:r>
            <a:endParaRPr lang="ar-SA" sz="2000" dirty="0"/>
          </a:p>
        </p:txBody>
      </p:sp>
      <p:sp>
        <p:nvSpPr>
          <p:cNvPr id="22" name="Text 19"/>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Samir went to school.</a:t>
            </a:r>
            <a:endParaRPr lang="en-US" sz="1250" dirty="0"/>
          </a:p>
        </p:txBody>
      </p:sp>
      <p:sp>
        <p:nvSpPr>
          <p:cNvPr id="23" name="Shape 20"/>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4" name="Text 21"/>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كَتَبَتْ لَيْلَى | دَرْسًا | فِي دَفْتَرِهَا.</a:t>
            </a:r>
            <a:endParaRPr lang="ar-SA" sz="2000" dirty="0"/>
          </a:p>
        </p:txBody>
      </p:sp>
      <p:sp>
        <p:nvSpPr>
          <p:cNvPr id="25" name="Text 22"/>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Layla wrote a lesson in her notebook.</a:t>
            </a:r>
            <a:endParaRPr lang="en-US" sz="1250" dirty="0"/>
          </a:p>
        </p:txBody>
      </p:sp>
      <p:sp>
        <p:nvSpPr>
          <p:cNvPr id="26" name="Shape 23"/>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7" name="Text 24"/>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شَرِبَ أَحْمَدُ | مَاءً | بَعْدَ الرِّيَاضَةِ.</a:t>
            </a:r>
            <a:endParaRPr lang="ar-SA" sz="2000" dirty="0"/>
          </a:p>
        </p:txBody>
      </p:sp>
      <p:sp>
        <p:nvSpPr>
          <p:cNvPr id="28" name="Text 25"/>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Ahmad drank water after sport.</a:t>
            </a:r>
            <a:endParaRPr lang="en-US" sz="1250" dirty="0"/>
          </a:p>
        </p:txBody>
      </p:sp>
      <p:sp>
        <p:nvSpPr>
          <p:cNvPr id="29" name="Text 2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18 / 26</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READING PRACTICE · 7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Read: choose your level</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اِقْرَأْ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34" charset="0"/>
                <a:ea typeface="Amiri" pitchFamily="34" charset="-122"/>
                <a:cs typeface="Amiri" pitchFamily="34" charset="-120"/>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ea typeface="Cambria" pitchFamily="34" charset="-122"/>
                <a:cs typeface="Cambria" pitchFamily="34" charset="-120"/>
              </a:rPr>
              <a:t>Level 1 · 10 words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Read the ten verbs aloud with the READ routine. Copy four of them and draw the chunk lines.</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Cover the English, then read again from the Arabic only.</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34" charset="0"/>
                <a:ea typeface="Amiri" pitchFamily="34" charset="-122"/>
                <a:cs typeface="Amiri" pitchFamily="34" charset="-120"/>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ea typeface="Cambria" pitchFamily="34" charset="-122"/>
                <a:cs typeface="Cambria" pitchFamily="34" charset="-120"/>
              </a:rPr>
              <a:t>Level 2 · 8 phrases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Read the eight phrases to your partner. Copy three and draw the word boundaries.</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Read word by word, then the whole phrase smoothly.</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ea typeface="Calibri" pitchFamily="34" charset="-122"/>
                <a:cs typeface="Calibri" pitchFamily="34" charset="-120"/>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34" charset="0"/>
                <a:ea typeface="Amiri" pitchFamily="34" charset="-122"/>
                <a:cs typeface="Amiri" pitchFamily="34" charset="-120"/>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100" b="1" dirty="0">
                <a:solidFill>
                  <a:srgbClr val="B83227"/>
                </a:solidFill>
                <a:latin typeface="Cambria" pitchFamily="34" charset="0"/>
                <a:ea typeface="Cambria" pitchFamily="34" charset="-122"/>
                <a:cs typeface="Cambria" pitchFamily="34" charset="-120"/>
              </a:rPr>
              <a:t>Level 3 · 4 sentences</a:t>
            </a:r>
            <a:endParaRPr lang="en-US" sz="21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ea typeface="Calibri" pitchFamily="34" charset="-122"/>
                <a:cs typeface="Calibri" pitchFamily="34" charset="-120"/>
              </a:rPr>
              <a:t>Read the four sentences with pauses. Copy one and mark the word groups with a slash.</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ea typeface="Calibri" pitchFamily="34" charset="-122"/>
                <a:cs typeface="Calibri" pitchFamily="34" charset="-120"/>
              </a:rPr>
              <a:t>HOW</a:t>
            </a:r>
            <a:endParaRPr lang="en-US" sz="900" dirty="0"/>
          </a:p>
          <a:p>
            <a:pPr indent="0" marL="0">
              <a:buNone/>
            </a:pPr>
            <a:r>
              <a:rPr lang="en-US" sz="1150" dirty="0">
                <a:solidFill>
                  <a:srgbClr val="1F2A37"/>
                </a:solidFill>
                <a:latin typeface="Calibri" pitchFamily="34" charset="0"/>
                <a:ea typeface="Calibri" pitchFamily="34" charset="-122"/>
                <a:cs typeface="Calibri" pitchFamily="34" charset="-120"/>
              </a:rPr>
              <a:t>Then the personal fluency challenge: read the ten fluency words and time yourself (website).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19 / 26</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ea typeface="Calibri" pitchFamily="34" charset="-122"/>
                <a:cs typeface="Calibri" pitchFamily="34" charset="-120"/>
              </a:rPr>
              <a:t>YOU DO · SAY IT BEFORE YOU WRITE IT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950" b="1" dirty="0">
                <a:solidFill>
                  <a:srgbClr val="1B3B6F"/>
                </a:solidFill>
                <a:latin typeface="Cambria" pitchFamily="34" charset="0"/>
                <a:ea typeface="Cambria" pitchFamily="34" charset="-122"/>
                <a:cs typeface="Cambria" pitchFamily="34" charset="-120"/>
              </a:rPr>
              <a:t>Partner reading check: one strength, one repair</a:t>
            </a:r>
            <a:endParaRPr lang="en-US" sz="19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التَّحَدُّثُ</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6" name="Text 13"/>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17" name="Text 14"/>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Think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10 seconds</a:t>
            </a:r>
            <a:endParaRPr lang="en-US" sz="1050" dirty="0"/>
          </a:p>
        </p:txBody>
      </p:sp>
      <p:sp>
        <p:nvSpPr>
          <p:cNvPr id="18" name="Shape 15"/>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19" name="Text 16"/>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0" name="Text 17"/>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Rehearse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muted · 45 s</a:t>
            </a:r>
            <a:endParaRPr lang="en-US" sz="1050" dirty="0"/>
          </a:p>
        </p:txBody>
      </p:sp>
      <p:sp>
        <p:nvSpPr>
          <p:cNvPr id="21" name="Shape 18"/>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2" name="Text 19"/>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3" name="Text 20"/>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Pairs share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open mic</a:t>
            </a:r>
            <a:endParaRPr lang="en-US" sz="1050" dirty="0"/>
          </a:p>
        </p:txBody>
      </p:sp>
      <p:sp>
        <p:nvSpPr>
          <p:cNvPr id="24" name="Shape 21"/>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5" name="Text 22"/>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 ?</a:t>
            </a:r>
            <a:endParaRPr lang="en-US" sz="1800" dirty="0"/>
          </a:p>
        </p:txBody>
      </p:sp>
      <p:sp>
        <p:nvSpPr>
          <p:cNvPr id="26" name="Text 23"/>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Build / ask</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in the chat</a:t>
            </a:r>
            <a:endParaRPr lang="en-US" sz="1050" dirty="0"/>
          </a:p>
        </p:txBody>
      </p:sp>
      <p:sp>
        <p:nvSpPr>
          <p:cNvPr id="27" name="Shape 24"/>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28" name="Text 25"/>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ea typeface="Arial" pitchFamily="34" charset="-122"/>
                <a:cs typeface="Arial" pitchFamily="34" charset="-120"/>
              </a:rPr>
              <a:t>↺</a:t>
            </a:r>
            <a:endParaRPr lang="en-US" sz="1800" dirty="0"/>
          </a:p>
        </p:txBody>
      </p:sp>
      <p:sp>
        <p:nvSpPr>
          <p:cNvPr id="29" name="Text 26"/>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ea typeface="Calibri" pitchFamily="34" charset="-122"/>
                <a:cs typeface="Calibri" pitchFamily="34" charset="-120"/>
              </a:rPr>
              <a:t>Summarise</a:t>
            </a:r>
            <a:endParaRPr lang="en-US" sz="1050" dirty="0"/>
          </a:p>
          <a:p>
            <a:pPr indent="0" marL="0">
              <a:buNone/>
            </a:pPr>
            <a:r>
              <a:rPr lang="en-US" sz="950" dirty="0">
                <a:solidFill>
                  <a:srgbClr val="5A6472"/>
                </a:solidFill>
                <a:latin typeface="Calibri" pitchFamily="34" charset="0"/>
                <a:ea typeface="Calibri" pitchFamily="34" charset="-122"/>
                <a:cs typeface="Calibri" pitchFamily="34" charset="-120"/>
              </a:rPr>
              <a:t>he / she …</a:t>
            </a:r>
            <a:endParaRPr lang="en-US" sz="1050" dirty="0"/>
          </a:p>
        </p:txBody>
      </p:sp>
      <p:sp>
        <p:nvSpPr>
          <p:cNvPr id="30" name="Shape 27"/>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3" name="Text 30"/>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كَتَبَ</a:t>
            </a:r>
            <a:endParaRPr lang="ar-SA" sz="1800" dirty="0"/>
          </a:p>
        </p:txBody>
      </p:sp>
      <p:sp>
        <p:nvSpPr>
          <p:cNvPr id="34" name="Shape 31"/>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5" name="Shape 32"/>
          <p:cNvSpPr/>
          <p:nvPr/>
        </p:nvSpPr>
        <p:spPr>
          <a:xfrm>
            <a:off x="4846320" y="3264408"/>
            <a:ext cx="960120" cy="256032"/>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37" name="Text 34"/>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مَكْتَبٌ</a:t>
            </a:r>
            <a:endParaRPr lang="ar-SA" sz="1800" dirty="0"/>
          </a:p>
        </p:txBody>
      </p:sp>
      <p:sp>
        <p:nvSpPr>
          <p:cNvPr id="38" name="Shape 35"/>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0" name="Text 37"/>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41" name="Text 38"/>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مُعَلِّمٌ</a:t>
            </a:r>
            <a:endParaRPr lang="ar-SA" sz="1800" dirty="0"/>
          </a:p>
        </p:txBody>
      </p:sp>
      <p:sp>
        <p:nvSpPr>
          <p:cNvPr id="42" name="Shape 39"/>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5" name="Text 42"/>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34" charset="0"/>
                <a:ea typeface="Amiri" pitchFamily="34" charset="-122"/>
                <a:cs typeface="Amiri" pitchFamily="34" charset="-120"/>
              </a:rPr>
              <a:t>اِقْرَأِ الجُمْلَةَ.</a:t>
            </a:r>
            <a:endParaRPr lang="ar-SA" sz="1800" dirty="0"/>
          </a:p>
        </p:txBody>
      </p:sp>
      <p:sp>
        <p:nvSpPr>
          <p:cNvPr id="46" name="Shape 43"/>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7" name="Text 44"/>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SENTENCE STEMS</a:t>
            </a:r>
            <a:endParaRPr lang="en-US" sz="1000" dirty="0"/>
          </a:p>
        </p:txBody>
      </p:sp>
      <p:sp>
        <p:nvSpPr>
          <p:cNvPr id="48" name="Shape 45"/>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49" name="Text 46"/>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50" name="Text 47"/>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34" charset="0"/>
                <a:ea typeface="Amiri" pitchFamily="34" charset="-122"/>
                <a:cs typeface="Amiri" pitchFamily="34" charset="-120"/>
              </a:rPr>
              <a:t>صَحِيحٌ !</a:t>
            </a:r>
            <a:endParaRPr lang="ar-SA" sz="1600" dirty="0"/>
          </a:p>
        </p:txBody>
      </p:sp>
      <p:sp>
        <p:nvSpPr>
          <p:cNvPr id="51" name="Shape 48"/>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2" name="Text 49"/>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53" name="Text 50"/>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هَلْ أُعِيدُ؟</a:t>
            </a:r>
            <a:endParaRPr lang="ar-SA" sz="1600" dirty="0"/>
          </a:p>
        </p:txBody>
      </p:sp>
      <p:sp>
        <p:nvSpPr>
          <p:cNvPr id="54" name="Shape 51"/>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5" name="Text 52"/>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56" name="Text 53"/>
          <p:cNvSpPr txBox="1"/>
          <p:nvPr/>
        </p:nvSpPr>
        <p:spPr>
          <a:xfrm>
            <a:off x="1783080" y="3968496"/>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لَا أَفْهَمُ .</a:t>
            </a:r>
            <a:endParaRPr lang="ar-SA" sz="1600" dirty="0"/>
          </a:p>
        </p:txBody>
      </p:sp>
      <p:sp>
        <p:nvSpPr>
          <p:cNvPr id="57" name="Shape 54"/>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58" name="Text 55"/>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 SUM UP</a:t>
            </a:r>
            <a:endParaRPr lang="en-US" sz="800" dirty="0"/>
          </a:p>
        </p:txBody>
      </p:sp>
      <p:sp>
        <p:nvSpPr>
          <p:cNvPr id="59" name="Text 56"/>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34" charset="0"/>
                <a:ea typeface="Amiri" pitchFamily="34" charset="-122"/>
                <a:cs typeface="Amiri" pitchFamily="34" charset="-120"/>
              </a:rPr>
              <a:t>قَرَأَ / قَرَأَتْ ___ .</a:t>
            </a:r>
            <a:endParaRPr lang="ar-SA" sz="1600" dirty="0"/>
          </a:p>
        </p:txBody>
      </p:sp>
      <p:sp>
        <p:nvSpPr>
          <p:cNvPr id="60" name="Shape 57"/>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ea typeface="Calibri" pitchFamily="34" charset="-122"/>
                <a:cs typeface="Calibri" pitchFamily="34" charset="-120"/>
              </a:rPr>
              <a:t>MODEL (WEBSITE)</a:t>
            </a:r>
            <a:endParaRPr lang="en-US" sz="950" dirty="0"/>
          </a:p>
        </p:txBody>
      </p:sp>
      <p:sp>
        <p:nvSpPr>
          <p:cNvPr id="62" name="Shape 59"/>
          <p:cNvSpPr/>
          <p:nvPr/>
        </p:nvSpPr>
        <p:spPr>
          <a:xfrm>
            <a:off x="11274552" y="5559552"/>
            <a:ext cx="292608" cy="292608"/>
          </a:xfrm>
          <a:prstGeom prst="ellipse">
            <a:avLst/>
          </a:prstGeom>
          <a:solidFill>
            <a:srgbClr val="1E6B52"/>
          </a:solidFill>
          <a:ln w="12700">
            <a:solidFill>
              <a:srgbClr val="1E6B52"/>
            </a:solidFill>
            <a:prstDash val="solid"/>
          </a:ln>
        </p:spPr>
      </p:sp>
      <p:sp>
        <p:nvSpPr>
          <p:cNvPr id="63" name="Text 60"/>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a:t>
            </a:r>
            <a:endParaRPr lang="en-US" sz="1000" dirty="0"/>
          </a:p>
        </p:txBody>
      </p:sp>
      <p:sp>
        <p:nvSpPr>
          <p:cNvPr id="64" name="Text 61"/>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اِقْرَأْ: مُعَلِّمٌ</a:t>
            </a:r>
            <a:endParaRPr lang="ar-SA" sz="1550" dirty="0"/>
          </a:p>
        </p:txBody>
      </p:sp>
      <p:sp>
        <p:nvSpPr>
          <p:cNvPr id="65" name="Text 62"/>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Read: muʿallimun</a:t>
            </a:r>
            <a:endParaRPr lang="en-US" sz="950" dirty="0"/>
          </a:p>
        </p:txBody>
      </p:sp>
      <p:sp>
        <p:nvSpPr>
          <p:cNvPr id="66" name="Shape 63"/>
          <p:cNvSpPr/>
          <p:nvPr/>
        </p:nvSpPr>
        <p:spPr>
          <a:xfrm>
            <a:off x="11274552" y="5925312"/>
            <a:ext cx="292608" cy="292608"/>
          </a:xfrm>
          <a:prstGeom prst="ellipse">
            <a:avLst/>
          </a:prstGeom>
          <a:solidFill>
            <a:srgbClr val="1E6B52"/>
          </a:solidFill>
          <a:ln w="12700">
            <a:solidFill>
              <a:srgbClr val="1E6B52"/>
            </a:solidFill>
            <a:prstDash val="solid"/>
          </a:ln>
        </p:spPr>
      </p:sp>
      <p:sp>
        <p:nvSpPr>
          <p:cNvPr id="67" name="Text 64"/>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a:t>
            </a:r>
            <a:endParaRPr lang="en-US" sz="1000" dirty="0"/>
          </a:p>
        </p:txBody>
      </p:sp>
      <p:sp>
        <p:nvSpPr>
          <p:cNvPr id="68" name="Text 65"/>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34" charset="0"/>
                <a:ea typeface="Amiri" pitchFamily="34" charset="-122"/>
                <a:cs typeface="Amiri" pitchFamily="34" charset="-120"/>
              </a:rPr>
              <a:t>مُعَلِّمٌ.</a:t>
            </a:r>
            <a:endParaRPr lang="ar-SA" sz="1550" dirty="0"/>
          </a:p>
        </p:txBody>
      </p:sp>
      <p:sp>
        <p:nvSpPr>
          <p:cNvPr id="69" name="Text 66"/>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ea typeface="Calibri" pitchFamily="34" charset="-122"/>
                <a:cs typeface="Calibri" pitchFamily="34" charset="-120"/>
              </a:rPr>
              <a:t>muʿallimun.</a:t>
            </a:r>
            <a:endParaRPr lang="en-US" sz="950" dirty="0"/>
          </a:p>
        </p:txBody>
      </p:sp>
      <p:sp>
        <p:nvSpPr>
          <p:cNvPr id="70" name="Text 6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20 / 26</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PARTNER EVIDENCE GRID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What did your partner hear?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تَقْيِيمُ الزَّمِيلِ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78824"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Criterion</a:t>
            </a:r>
            <a:endParaRPr lang="en-US" sz="1100" dirty="0"/>
          </a:p>
        </p:txBody>
      </p:sp>
      <p:sp>
        <p:nvSpPr>
          <p:cNvPr id="17" name="Text 14"/>
          <p:cNvSpPr txBox="1"/>
          <p:nvPr/>
        </p:nvSpPr>
        <p:spPr>
          <a:xfrm>
            <a:off x="3758184"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What “secure” sounds like</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 · ~ · ↻</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8915400" y="2267712"/>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Direction and tracking</a:t>
            </a:r>
            <a:endParaRPr lang="en-US" sz="1100" dirty="0"/>
          </a:p>
        </p:txBody>
      </p:sp>
      <p:sp>
        <p:nvSpPr>
          <p:cNvPr id="21" name="Text 18"/>
          <p:cNvSpPr txBox="1"/>
          <p:nvPr/>
        </p:nvSpPr>
        <p:spPr>
          <a:xfrm>
            <a:off x="3794760" y="2267712"/>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Begins at the right and keeps the word order.</a:t>
            </a:r>
            <a:endParaRPr lang="en-US" sz="1100" dirty="0"/>
          </a:p>
        </p:txBody>
      </p:sp>
      <p:sp>
        <p:nvSpPr>
          <p:cNvPr id="22" name="Text 19"/>
          <p:cNvSpPr txBox="1"/>
          <p:nvPr/>
        </p:nvSpPr>
        <p:spPr>
          <a:xfrm>
            <a:off x="566928" y="2267712"/>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secure · ~ nearly · ↻ repair</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8915400" y="3054096"/>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Base letters</a:t>
            </a:r>
            <a:endParaRPr lang="en-US" sz="1100" dirty="0"/>
          </a:p>
        </p:txBody>
      </p:sp>
      <p:sp>
        <p:nvSpPr>
          <p:cNvPr id="27" name="Text 24"/>
          <p:cNvSpPr txBox="1"/>
          <p:nvPr/>
        </p:nvSpPr>
        <p:spPr>
          <a:xfrm>
            <a:off x="3794760" y="3054096"/>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Tells the dots, shape families and hamza apart.</a:t>
            </a:r>
            <a:endParaRPr lang="en-US" sz="1100" dirty="0"/>
          </a:p>
        </p:txBody>
      </p:sp>
      <p:sp>
        <p:nvSpPr>
          <p:cNvPr id="28" name="Text 25"/>
          <p:cNvSpPr txBox="1"/>
          <p:nvPr/>
        </p:nvSpPr>
        <p:spPr>
          <a:xfrm>
            <a:off x="566928" y="3054096"/>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8915400" y="3840480"/>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Vowels and marks</a:t>
            </a:r>
            <a:endParaRPr lang="en-US" sz="1100" dirty="0"/>
          </a:p>
        </p:txBody>
      </p:sp>
      <p:sp>
        <p:nvSpPr>
          <p:cNvPr id="33" name="Text 30"/>
          <p:cNvSpPr txBox="1"/>
          <p:nvPr/>
        </p:nvSpPr>
        <p:spPr>
          <a:xfrm>
            <a:off x="3794760" y="3840480"/>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Reads short/long vowels, sukūn and shadda.</a:t>
            </a:r>
            <a:endParaRPr lang="en-US" sz="1100" dirty="0"/>
          </a:p>
        </p:txBody>
      </p:sp>
      <p:sp>
        <p:nvSpPr>
          <p:cNvPr id="34" name="Text 31"/>
          <p:cNvSpPr txBox="1"/>
          <p:nvPr/>
        </p:nvSpPr>
        <p:spPr>
          <a:xfrm>
            <a:off x="566928" y="3840480"/>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35" name="Shape 32"/>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37" name="Shape 34"/>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8" name="Text 35"/>
          <p:cNvSpPr txBox="1"/>
          <p:nvPr/>
        </p:nvSpPr>
        <p:spPr>
          <a:xfrm>
            <a:off x="8915400" y="4626864"/>
            <a:ext cx="27432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Blend and reread</a:t>
            </a:r>
            <a:endParaRPr lang="en-US" sz="1100" dirty="0"/>
          </a:p>
        </p:txBody>
      </p:sp>
      <p:sp>
        <p:nvSpPr>
          <p:cNvPr id="39" name="Text 36"/>
          <p:cNvSpPr txBox="1"/>
          <p:nvPr/>
        </p:nvSpPr>
        <p:spPr>
          <a:xfrm>
            <a:off x="3794760" y="4626864"/>
            <a:ext cx="49377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Blends without invented vowels, then rereads smoothly.</a:t>
            </a:r>
            <a:endParaRPr lang="en-US" sz="1100" dirty="0"/>
          </a:p>
        </p:txBody>
      </p:sp>
      <p:sp>
        <p:nvSpPr>
          <p:cNvPr id="40" name="Text 37"/>
          <p:cNvSpPr txBox="1"/>
          <p:nvPr/>
        </p:nvSpPr>
        <p:spPr>
          <a:xfrm>
            <a:off x="566928" y="4626864"/>
            <a:ext cx="304495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ea typeface="Calibri" pitchFamily="34" charset="-122"/>
                <a:cs typeface="Calibri" pitchFamily="34" charset="-120"/>
              </a:rPr>
              <a:t>✓ · ~ · ↻</a:t>
            </a:r>
            <a:endParaRPr lang="en-US" sz="1100" dirty="0"/>
          </a:p>
        </p:txBody>
      </p:sp>
      <p:sp>
        <p:nvSpPr>
          <p:cNvPr id="41" name="Shape 38"/>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2" name="Text 39"/>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ea typeface="Calibri" pitchFamily="34" charset="-122"/>
                <a:cs typeface="Calibri" pitchFamily="34" charset="-120"/>
              </a:rPr>
              <a:t>CORE</a:t>
            </a:r>
            <a:endParaRPr lang="en-US" sz="650" dirty="0"/>
          </a:p>
        </p:txBody>
      </p:sp>
      <p:sp>
        <p:nvSpPr>
          <p:cNvPr id="43" name="Text 4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21 / 26</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explain the five READ steps.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a simple fully vowelled word aloud.</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read sukūn and shadda without an extra vowel.</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decode without permanent transliteration.</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ea typeface="Calibri" pitchFamily="34" charset="-122"/>
                <a:cs typeface="Calibri" pitchFamily="34" charset="-120"/>
              </a:rPr>
              <a:t>I can reread more smoothly without dropping marks.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ea typeface="Calibri" pitchFamily="34" charset="-122"/>
                <a:cs typeface="Calibri" pitchFamily="34" charset="-120"/>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ea typeface="Calibri" pitchFamily="34" charset="-122"/>
                <a:cs typeface="Calibri" pitchFamily="34" charset="-120"/>
              </a:rPr>
              <a:t>WWW</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ea typeface="Calibri" pitchFamily="34" charset="-122"/>
                <a:cs typeface="Calibri" pitchFamily="34" charset="-120"/>
              </a:rPr>
              <a:t>EBI</a:t>
            </a:r>
            <a:endParaRPr lang="en-US" sz="1800" dirty="0"/>
          </a:p>
          <a:p>
            <a:pPr indent="0" marL="0">
              <a:buNone/>
            </a:pPr>
            <a:r>
              <a:rPr lang="en-US" sz="1200" dirty="0">
                <a:solidFill>
                  <a:srgbClr val="1F2A37"/>
                </a:solidFill>
                <a:latin typeface="Calibri" pitchFamily="34" charset="0"/>
                <a:ea typeface="Calibri" pitchFamily="34" charset="-122"/>
                <a:cs typeface="Calibri" pitchFamily="34" charset="-120"/>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22 / 26</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 in READ stand for?</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Right edge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Read quickly</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Repeat</a:t>
            </a:r>
            <a:endParaRPr lang="en-US" sz="12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NOT do after a sukūn?</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Add an extra vowel</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Stop the chunk</a:t>
            </a:r>
            <a:endParaRPr lang="en-US" sz="1250" dirty="0"/>
          </a:p>
        </p:txBody>
      </p:sp>
      <p:sp>
        <p:nvSpPr>
          <p:cNvPr id="38" name="Shape 35"/>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9" name="Shape 36"/>
          <p:cNvSpPr/>
          <p:nvPr/>
        </p:nvSpPr>
        <p:spPr>
          <a:xfrm>
            <a:off x="8223504" y="1947672"/>
            <a:ext cx="310896" cy="310896"/>
          </a:xfrm>
          <a:prstGeom prst="ellipse">
            <a:avLst/>
          </a:prstGeom>
          <a:solidFill>
            <a:srgbClr val="1B3B6F"/>
          </a:solidFill>
          <a:ln w="12700">
            <a:solidFill>
              <a:srgbClr val="1B3B6F"/>
            </a:solidFill>
            <a:prstDash val="solid"/>
          </a:ln>
        </p:spPr>
      </p:sp>
      <p:sp>
        <p:nvSpPr>
          <p:cNvPr id="40" name="Text 37"/>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1" name="Text 38"/>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fluency?</a:t>
            </a:r>
            <a:endParaRPr lang="en-US" sz="1250" dirty="0"/>
          </a:p>
        </p:txBody>
      </p:sp>
      <p:sp>
        <p:nvSpPr>
          <p:cNvPr id="42" name="Shape 39"/>
          <p:cNvSpPr/>
          <p:nvPr/>
        </p:nvSpPr>
        <p:spPr>
          <a:xfrm>
            <a:off x="8278368" y="2532888"/>
            <a:ext cx="256032" cy="256032"/>
          </a:xfrm>
          <a:prstGeom prst="ellipse">
            <a:avLst/>
          </a:prstGeom>
          <a:solidFill>
            <a:srgbClr val="F4F1EA"/>
          </a:solidFill>
          <a:ln w="12700">
            <a:solidFill>
              <a:srgbClr val="F4F1EA"/>
            </a:solidFill>
            <a:prstDash val="solid"/>
          </a:ln>
        </p:spPr>
      </p:sp>
      <p:sp>
        <p:nvSpPr>
          <p:cNvPr id="43" name="Text 40"/>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A</a:t>
            </a:r>
            <a:endParaRPr lang="en-US" sz="900" dirty="0"/>
          </a:p>
        </p:txBody>
      </p:sp>
      <p:sp>
        <p:nvSpPr>
          <p:cNvPr id="44" name="Text 41"/>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 smoother accurate reread</a:t>
            </a:r>
            <a:endParaRPr lang="en-US" sz="1250" dirty="0"/>
          </a:p>
        </p:txBody>
      </p:sp>
      <p:sp>
        <p:nvSpPr>
          <p:cNvPr id="45" name="Shape 42"/>
          <p:cNvSpPr/>
          <p:nvPr/>
        </p:nvSpPr>
        <p:spPr>
          <a:xfrm>
            <a:off x="8278368" y="29900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7" name="Text 44"/>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Racing and dropping vowels</a:t>
            </a:r>
            <a:endParaRPr lang="en-US" sz="1250" dirty="0"/>
          </a:p>
        </p:txBody>
      </p:sp>
      <p:sp>
        <p:nvSpPr>
          <p:cNvPr id="48" name="Shape 45"/>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ea typeface="Calibri" pitchFamily="34" charset="-122"/>
                <a:cs typeface="Calibri" pitchFamily="34" charset="-120"/>
              </a:rPr>
              <a:t>ON YOUR OWN · 2 MINUTES</a:t>
            </a:r>
            <a:endParaRPr lang="en-US" sz="1200" dirty="0"/>
          </a:p>
        </p:txBody>
      </p:sp>
      <p:sp>
        <p:nvSpPr>
          <p:cNvPr id="50" name="Text 47"/>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Answer silently. When the timer ends, type your three letters in the chat: 1_ 2_ 3_. The other end-of-lesson questions are on the website.</a:t>
            </a:r>
            <a:endParaRPr lang="en-US" sz="1250" dirty="0"/>
          </a:p>
        </p:txBody>
      </p:sp>
      <p:sp>
        <p:nvSpPr>
          <p:cNvPr id="51" name="Text 4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23 / 26</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ea typeface="Calibri" pitchFamily="34" charset="-122"/>
                <a:cs typeface="Calibri" pitchFamily="34" charset="-120"/>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ea typeface="Cambria" pitchFamily="34" charset="-122"/>
                <a:cs typeface="Cambria" pitchFamily="34" charset="-120"/>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does the R in READ stand for?</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Right edge</a:t>
            </a:r>
            <a:endParaRPr lang="en-US" sz="12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Read quickly</a:t>
            </a:r>
            <a:endParaRPr lang="en-US" sz="12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Repeat</a:t>
            </a:r>
            <a:endParaRPr lang="en-US" sz="12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Start at the right.</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must you NOT do after a sukūn?</a:t>
            </a:r>
            <a:endParaRPr lang="en-US" sz="1250" dirty="0"/>
          </a:p>
        </p:txBody>
      </p:sp>
      <p:sp>
        <p:nvSpPr>
          <p:cNvPr id="34" name="Shape 31"/>
          <p:cNvSpPr/>
          <p:nvPr/>
        </p:nvSpPr>
        <p:spPr>
          <a:xfrm>
            <a:off x="4367784" y="2496312"/>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532888"/>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37" name="Text 34"/>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Add an extra vowel</a:t>
            </a:r>
            <a:endParaRPr lang="en-US" sz="1250" dirty="0"/>
          </a:p>
        </p:txBody>
      </p:sp>
      <p:sp>
        <p:nvSpPr>
          <p:cNvPr id="38" name="Shape 35"/>
          <p:cNvSpPr/>
          <p:nvPr/>
        </p:nvSpPr>
        <p:spPr>
          <a:xfrm>
            <a:off x="4459224" y="2990088"/>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Stop the chunk</a:t>
            </a:r>
            <a:endParaRPr lang="en-US" sz="1250" dirty="0"/>
          </a:p>
        </p:txBody>
      </p:sp>
      <p:sp>
        <p:nvSpPr>
          <p:cNvPr id="41" name="Text 38"/>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mak-, not maka-.</a:t>
            </a:r>
            <a:endParaRPr lang="en-US" sz="1050" dirty="0"/>
          </a:p>
        </p:txBody>
      </p:sp>
      <p:sp>
        <p:nvSpPr>
          <p:cNvPr id="42" name="Shape 39"/>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3" name="Shape 40"/>
          <p:cNvSpPr/>
          <p:nvPr/>
        </p:nvSpPr>
        <p:spPr>
          <a:xfrm>
            <a:off x="8223504" y="1947672"/>
            <a:ext cx="310896" cy="310896"/>
          </a:xfrm>
          <a:prstGeom prst="ellipse">
            <a:avLst/>
          </a:prstGeom>
          <a:solidFill>
            <a:srgbClr val="1B3B6F"/>
          </a:solidFill>
          <a:ln w="12700">
            <a:solidFill>
              <a:srgbClr val="1B3B6F"/>
            </a:solidFill>
            <a:prstDash val="solid"/>
          </a:ln>
        </p:spPr>
      </p:sp>
      <p:sp>
        <p:nvSpPr>
          <p:cNvPr id="44" name="Text 41"/>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45" name="Text 42"/>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ea typeface="Calibri" pitchFamily="34" charset="-122"/>
                <a:cs typeface="Calibri" pitchFamily="34" charset="-120"/>
              </a:rPr>
              <a:t>What is fluency?</a:t>
            </a:r>
            <a:endParaRPr lang="en-US" sz="1250" dirty="0"/>
          </a:p>
        </p:txBody>
      </p:sp>
      <p:sp>
        <p:nvSpPr>
          <p:cNvPr id="46" name="Shape 43"/>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47" name="Shape 44"/>
          <p:cNvSpPr/>
          <p:nvPr/>
        </p:nvSpPr>
        <p:spPr>
          <a:xfrm>
            <a:off x="8278368" y="2532888"/>
            <a:ext cx="256032" cy="256032"/>
          </a:xfrm>
          <a:prstGeom prst="ellipse">
            <a:avLst/>
          </a:prstGeom>
          <a:solidFill>
            <a:srgbClr val="2E8B57"/>
          </a:solidFill>
          <a:ln w="12700">
            <a:solidFill>
              <a:srgbClr val="2E8B57"/>
            </a:solidFill>
            <a:prstDash val="solid"/>
          </a:ln>
        </p:spPr>
      </p:sp>
      <p:sp>
        <p:nvSpPr>
          <p:cNvPr id="48" name="Text 45"/>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a:t>
            </a:r>
            <a:endParaRPr lang="en-US" sz="900" dirty="0"/>
          </a:p>
        </p:txBody>
      </p:sp>
      <p:sp>
        <p:nvSpPr>
          <p:cNvPr id="49" name="Text 46"/>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ea typeface="Calibri" pitchFamily="34" charset="-122"/>
                <a:cs typeface="Calibri" pitchFamily="34" charset="-120"/>
              </a:rPr>
              <a:t>A smoother accurate reread</a:t>
            </a:r>
            <a:endParaRPr lang="en-US" sz="1250" dirty="0"/>
          </a:p>
        </p:txBody>
      </p:sp>
      <p:sp>
        <p:nvSpPr>
          <p:cNvPr id="50" name="Shape 47"/>
          <p:cNvSpPr/>
          <p:nvPr/>
        </p:nvSpPr>
        <p:spPr>
          <a:xfrm>
            <a:off x="8278368" y="2990088"/>
            <a:ext cx="256032" cy="256032"/>
          </a:xfrm>
          <a:prstGeom prst="ellipse">
            <a:avLst/>
          </a:prstGeom>
          <a:solidFill>
            <a:srgbClr val="C9CED6"/>
          </a:solidFill>
          <a:ln w="12700">
            <a:solidFill>
              <a:srgbClr val="C9CED6"/>
            </a:solidFill>
            <a:prstDash val="solid"/>
          </a:ln>
        </p:spPr>
      </p:sp>
      <p:sp>
        <p:nvSpPr>
          <p:cNvPr id="51" name="Text 48"/>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ea typeface="Calibri" pitchFamily="34" charset="-122"/>
                <a:cs typeface="Calibri" pitchFamily="34" charset="-120"/>
              </a:rPr>
              <a:t>B</a:t>
            </a:r>
            <a:endParaRPr lang="en-US" sz="900" dirty="0"/>
          </a:p>
        </p:txBody>
      </p:sp>
      <p:sp>
        <p:nvSpPr>
          <p:cNvPr id="52" name="Text 49"/>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ea typeface="Calibri" pitchFamily="34" charset="-122"/>
                <a:cs typeface="Calibri" pitchFamily="34" charset="-120"/>
              </a:rPr>
              <a:t>Racing and dropping vowels</a:t>
            </a:r>
            <a:endParaRPr lang="en-US" sz="1250" dirty="0"/>
          </a:p>
        </p:txBody>
      </p:sp>
      <p:sp>
        <p:nvSpPr>
          <p:cNvPr id="53" name="Text 50"/>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ea typeface="Calibri" pitchFamily="34" charset="-122"/>
                <a:cs typeface="Calibri" pitchFamily="34" charset="-120"/>
              </a:rPr>
              <a:t>Accuracy first (website).</a:t>
            </a:r>
            <a:endParaRPr lang="en-US" sz="1050" dirty="0"/>
          </a:p>
        </p:txBody>
      </p:sp>
      <p:sp>
        <p:nvSpPr>
          <p:cNvPr id="54" name="Shape 51"/>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ea typeface="Calibri" pitchFamily="34" charset="-122"/>
                <a:cs typeface="Calibri" pitchFamily="34" charset="-120"/>
              </a:rPr>
              <a:t>SCORE</a:t>
            </a:r>
            <a:endParaRPr lang="en-US" sz="1200" dirty="0"/>
          </a:p>
        </p:txBody>
      </p:sp>
      <p:sp>
        <p:nvSpPr>
          <p:cNvPr id="56" name="Text 53"/>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ea typeface="Calibri" pitchFamily="34" charset="-122"/>
                <a:cs typeface="Calibri" pitchFamily="34" charset="-120"/>
              </a:rPr>
              <a:t>3/3 → aim for Stretch next lesson  ·  2/3 → Develop  ·  0–1 → Core route and a quick check-in during the next Do Now.</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24 / 26</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34" charset="0"/>
                <a:ea typeface="Amiri" pitchFamily="34" charset="-122"/>
                <a:cs typeface="Amiri" pitchFamily="34" charset="-120"/>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ea typeface="Cambria" pitchFamily="34" charset="-122"/>
                <a:cs typeface="Cambria" pitchFamily="34" charset="-120"/>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ea typeface="Calibri" pitchFamily="34" charset="-122"/>
                <a:cs typeface="Calibri" pitchFamily="34" charset="-120"/>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ea typeface="Calibri" pitchFamily="34" charset="-122"/>
                <a:cs typeface="Calibri" pitchFamily="34" charset="-120"/>
              </a:rPr>
              <a:t>F1-L08 · Reading aloud</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ea typeface="Calibri" pitchFamily="34" charset="-122"/>
                <a:cs typeface="Calibri" pitchFamily="34" charset="-120"/>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ea typeface="Calibri" pitchFamily="34" charset="-122"/>
                <a:cs typeface="Calibri" pitchFamily="34" charset="-120"/>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ea typeface="Cambria" pitchFamily="34" charset="-122"/>
                <a:cs typeface="Cambria" pitchFamily="34" charset="-120"/>
              </a:rPr>
              <a:t>Before F1-L09: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34" charset="0"/>
                <a:ea typeface="Amiri" pitchFamily="34" charset="-122"/>
                <a:cs typeface="Amiri" pitchFamily="34" charset="-120"/>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ea typeface="Calibri" pitchFamily="34" charset="-122"/>
                <a:cs typeface="Calibri" pitchFamily="34" charset="-120"/>
              </a:rPr>
              <a:t>Miftah Arabic · Foundation F1 · Arabic Script &amp; Sounds · Week 3 · Lesson 2 of 3</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ea typeface="Calibri" pitchFamily="34" charset="-122"/>
                <a:cs typeface="Calibri" pitchFamily="34" charset="-120"/>
              </a:rPr>
              <a:t>LEARN THESE 5 WORDS</a:t>
            </a:r>
            <a:endParaRPr lang="en-US" sz="1100" dirty="0"/>
          </a:p>
          <a:p>
            <a:pPr indent="0" marL="0">
              <a:buNone/>
            </a:pPr>
            <a:r>
              <a:rPr lang="en-US" sz="1000" dirty="0">
                <a:solidFill>
                  <a:srgbClr val="5A6472"/>
                </a:solidFill>
                <a:latin typeface="Calibri" pitchFamily="34" charset="0"/>
                <a:ea typeface="Calibri" pitchFamily="34" charset="-122"/>
                <a:cs typeface="Calibri" pitchFamily="34" charset="-120"/>
              </a:rPr>
              <a:t>for F1-L09 · Write Clearly, Then Fluently</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خَطٌّ</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handwriting, script</a:t>
            </a:r>
            <a:pPr indent="0" marL="0">
              <a:buNone/>
            </a:pP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سَطْرٌ</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a line (of writing)</a:t>
            </a:r>
            <a:pPr indent="0" marL="0">
              <a:buNone/>
            </a:pPr>
            <a:r>
              <a:rPr lang="en-US" sz="1000" i="1" dirty="0">
                <a:solidFill>
                  <a:srgbClr val="5A6472"/>
                </a:solidFill>
                <a:latin typeface="Calibri" pitchFamily="34" charset="0"/>
                <a:ea typeface="Calibri" pitchFamily="34" charset="-122"/>
                <a:cs typeface="Calibri" pitchFamily="34" charset="-120"/>
              </a:rPr>
              <a:t>  pl. أَسْطُرٌ</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إِمْلَاءٌ</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dictation</a:t>
            </a:r>
            <a:pPr indent="0" marL="0">
              <a:buNone/>
            </a:pP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دَفْتَرٌ</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exercise book</a:t>
            </a:r>
            <a:pPr indent="0" marL="0">
              <a:buNone/>
            </a:pPr>
            <a:r>
              <a:rPr lang="en-US" sz="1000" i="1" dirty="0">
                <a:solidFill>
                  <a:srgbClr val="5A6472"/>
                </a:solidFill>
                <a:latin typeface="Calibri" pitchFamily="34" charset="0"/>
                <a:ea typeface="Calibri" pitchFamily="34" charset="-122"/>
                <a:cs typeface="Calibri" pitchFamily="34" charset="-120"/>
              </a:rPr>
              <a:t>  pl. دَفَاتِرُ</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34" charset="0"/>
                <a:ea typeface="Amiri" pitchFamily="34" charset="-122"/>
                <a:cs typeface="Amiri" pitchFamily="34" charset="-120"/>
              </a:rPr>
              <a:t>قَلَمٌ</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ea typeface="Calibri" pitchFamily="34" charset="-122"/>
                <a:cs typeface="Calibri" pitchFamily="34" charset="-120"/>
              </a:rPr>
              <a:t>pen</a:t>
            </a:r>
            <a:pPr indent="0" marL="0">
              <a:buNone/>
            </a:pPr>
            <a:r>
              <a:rPr lang="en-US" sz="1000" i="1" dirty="0">
                <a:solidFill>
                  <a:srgbClr val="5A6472"/>
                </a:solidFill>
                <a:latin typeface="Calibri" pitchFamily="34" charset="0"/>
                <a:ea typeface="Calibri" pitchFamily="34" charset="-122"/>
                <a:cs typeface="Calibri" pitchFamily="34" charset="-120"/>
              </a:rPr>
              <a:t>  pl. أَقْلَامٌ</a:t>
            </a: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ea typeface="Calibri" pitchFamily="34" charset="-122"/>
                <a:cs typeface="Calibri" pitchFamily="34" charset="-120"/>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ea typeface="Calibri" pitchFamily="34" charset="-122"/>
                <a:cs typeface="Calibri" pitchFamily="34" charset="-120"/>
              </a:rPr>
              <a:t>Practise your reading strip aloud five times; after each read, note one error type.</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34" charset="0"/>
                <a:ea typeface="Amiri" pitchFamily="34" charset="-122"/>
                <a:cs typeface="Amiri" pitchFamily="34" charset="-120"/>
              </a:rPr>
              <a:t>حَرْفٌ · عَلَامَةٌ · تَقْطِيعٌ · وَقْفٌ</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ea typeface="Calibri" pitchFamily="34" charset="-122"/>
                <a:cs typeface="Calibri" pitchFamily="34" charset="-120"/>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 F1-L08 · the picture game; read the Level 1 strip five times.</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read the Level 2 strip five times; mark one error category each time.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ea typeface="Calibri" pitchFamily="34" charset="-122"/>
                <a:cs typeface="Calibri" pitchFamily="34" charset="-120"/>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ea typeface="Calibri" pitchFamily="34" charset="-122"/>
                <a:cs typeface="Calibri" pitchFamily="34" charset="-120"/>
              </a:rPr>
              <a:t>Website homework: Level 3 strip five times; time reads 1 and 5 only if both are accurate.</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ea typeface="Calibri" pitchFamily="34" charset="-122"/>
                <a:cs typeface="Calibri" pitchFamily="34" charset="-120"/>
              </a:rPr>
              <a:t>25 / 26</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F1-L08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34" charset="0"/>
                <a:ea typeface="Amiri" pitchFamily="34" charset="-122"/>
                <a:cs typeface="Amiri" pitchFamily="34" charset="-120"/>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ea typeface="Calibri" pitchFamily="34" charset="-122"/>
                <a:cs typeface="Calibri" pitchFamily="34" charset="-120"/>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ea typeface="Calibri" pitchFamily="34" charset="-122"/>
                <a:cs typeface="Calibri" pitchFamily="34" charset="-120"/>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ea typeface="Cambria" pitchFamily="34" charset="-122"/>
                <a:cs typeface="Cambria" pitchFamily="34" charset="-120"/>
              </a:rPr>
              <a:t>F1-L09 · Write Clearly, Then Fluently</a:t>
            </a:r>
            <a:endParaRPr lang="en-US" sz="265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34" charset="0"/>
                <a:ea typeface="Amiri" pitchFamily="34" charset="-122"/>
                <a:cs typeface="Amiri" pitchFamily="34" charset="-120"/>
              </a:rPr>
              <a:t>الكِتَابَةُ اليَدَوِيَّةُ وَالإِمْلَاءُ</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Remember: read your strip 5 times + bring a lined book.</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F1-L08 · From Marks to Meaning: Reading Aloud</dc:title>
  <dc:subject>PptxGenJS Presentation</dc:subject>
  <dc:creator>Al Madina Online School · Arabic Department</dc:creator>
  <cp:lastModifiedBy>Al Madina Online School · Arabic Department</cp:lastModifiedBy>
  <cp:revision>1</cp:revision>
  <dcterms:created xsi:type="dcterms:W3CDTF">2026-09-27T09:32:56Z</dcterms:created>
  <dcterms:modified xsi:type="dcterms:W3CDTF">2026-09-27T09:32:56Z</dcterms:modified>
</cp:coreProperties>
</file>