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8 (F1-L08). The website lesson teaches the READ routine (Right edge · Extract letters · Attach marks · Draw together · Read again), a mark-to-sound reference, connected reading vs pause, graded reading strips (10 words · 8 phrases · 4 sentences), a personal fluency challenge and a partner evidence grid. All reading strips, the listening script, the three-word oral exit and the feedback phrases are the website’s; the picture match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single words (Level 1). DEVELOP: short phrases (Level 2), keeping word boundaries. STRETCH: short sentences (Level 3) with pauses and punctuation.
• Temporary support, then remove it (website): transliteration (ka-ta-ba) is shown only on answer and support slides — students cover it and reread from the Arabic.
• Accuracy first; smoothness on the second read. Timing is a personal baseline, never a race between students (website). Reading aloud is always by invitation — “pass” is allowed.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numeral retrieval (say each answer aloud before choosing).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Accuracy first. Smoothness comes on the second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F1-L08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many of today’s reading words are also Urdu words — قراءت (recitation), کتاب, مکتب (Urdu: a school; Arabic: a desk/office), معلم, مدرسہ. Warn heritage readers: familiarity can lead to reading from memory instead of the marks — use the READ routine anyway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 ROUTINE (website Part 1). READ is an English memory aid; the processing stays anchored in Arabic letters and marks.
Model the think-aloud on كَتَبَ exactly as in the right-hand column. Then the two website contrasts:
• sukūn closes a chunk: مَكْ + تَ + بٌ → مَكْتَبٌ — do not say ma-ka-tab (maktabun; at a pause: maktab).
• long vowels stay together: كِ + تَا + بٌ → كِتَابٌ — hold تَا for two beats (kitābun; pause: kitāb).
Decoding is not yet comprehension, and accuracy is not yet fluency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MARK-TO-SOUND SCAN (website Part 2) — a one-slide summary of F1-L04 to F1-L06.
Connected reading vs pause (website): fully vowelled texts may show endings; at a natural stop, final short vowels and tanwīn are not read the same way (جَدِيدٌ … pause as jadīd). Before reading a strip, say which mode you are using and keep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READ routine and mark-to-sound reference.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LEVEL 1 STRIP (4 min), the website’s ten words. For each word: teacher reads with the READ routine aloud → class echoes (mics on for a moment) → one volunteer (invitation).
Support, then remove it (website): after the first pass, cover the English column (or hide this slide) and reread from the Arabic only.
Notice: all ten are three-letter past verbs; watch for the kasra in شَرِبَ، سَمِعَ، 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“Chunk Choice” (choose the split that preserves consonant clusters, long vowels and shadda timing). Words from the website fluency list. Read each word together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read each word twice together: once in chunks, once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LEVEL 2 STRIP (Develop; everyone tries). Read word by word, then repeat the phrase without a pause between every syllable (website).
Choral → pairs → volunteers. Sun/moon revision: البَيْتِ and الفَصْلِ both start with MOON letters (ب, ف), so the l is heard: al-bayti, al-faṣli.
Useful classroom phrase: لَا أَفْهَمُ — I do not understand (website feedback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STRIP (Stretch / FLEX). The | marks are the website’s word groups — pause lightly there and fully at the full stop.
Website listening (read aloud first, twice): “قَرَأَتْ مَرْيَمُ كِتَابًا قَصِيرًا. ذَهَبَ سَامِرٌ إِلَى المَدْرَسَةِ.” — students track and mark where the reader pauses. Answer (website): a full pause after قَصِيرًا; the second sentence ends after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the website graded workshop: choose the level where you can apply READ with productive effort; practise privately, read to a partner, then level up only after accuracy is stable.
Personal fluency challenge (website, Stretch): كَتَبَ مَكْتَبٌ قَرَأَ كِتَابٌ سِتَّةٌ يَقْرَأُ بَيْتٌ مُعَلِّمٌ مَدْرَسَةٌ آمِنٌ — time is a personal baseline only.
Live feedback: listen to one student per route in private (mic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صَحِيحٌ! الشَّدَّةُ وَاضِحَةٌ. (Correct! The shadda is clear.)
B: شُكْرًا. هَلْ أُعِيدُ؟ (Thank you. Shall I repeat?)
PARTNER READING CHECK (website): partners listen for four behaviours — direction and tracking, base letters, vowels and marks, blend and reread — and give ONE precise strength and ONE repair step.
Feedback phrases (website): صَحِيحٌ (correct — add the reason), هَلْ أُعِيدُ؟ (shall I repeat?), لَا أَفْهَمُ (I do not understand).
Three-word oral exit (website): كَتَبَ (short vowels) · مَكْتَبٌ (sukūn and pause) · مُعَلِّمٌ (shadda and kasra). Record: accurate / one repair / practise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“one strip, one evidence grid”. A tick alone does not say what to repair: each partner writes one precise strength (“your long ā lasted longer than fatḥa”) and one repair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(F1-L09 · Write Clearly, Then Fluently) will spend class time USING this language, so students prepare it tonight — short, simple, easy to access (school guidance: “Simple, Short, Interesting, Relevant, Easy to access”). Next lesson: handwriting and dictation. Bring an exercise book with lines and a pen.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WEEK 3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From Marks to Meaning: Reading Aloud</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الجَهْرِيَّةُ وَرَبْطُ الكِتَابَةِ بِالصَّوْتِ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Use one reliable routine to read any fully vowelled word aloud: start at the Right edge, Extract the letters, Attach the marks, Draw them together — then read again more smoothly.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F1-L08 · Week 3,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F1 › Lesson 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READ routine and the mark-to-sound scan.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words, chunk choice, graded strips.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10?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وَاحِدٌ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wrote” (prepared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read”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F1-L07: the open V.</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F1-L07: tens on the left.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10?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وَاحِدٌ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wrote” (prepared at home)?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 kataba.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read”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جَلَسَ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قَرَأَ</a:t>
            </a:r>
            <a:pPr algn="l" indent="0" marL="0">
              <a:buNone/>
            </a:pPr>
            <a:r>
              <a:rPr lang="en-US" sz="1050" i="1" dirty="0">
                <a:solidFill>
                  <a:srgbClr val="8A6D1E"/>
                </a:solidFill>
                <a:latin typeface="Calibri" pitchFamily="34" charset="0"/>
                <a:ea typeface="Calibri" pitchFamily="34" charset="-122"/>
                <a:cs typeface="Calibri" pitchFamily="34" charset="-120"/>
              </a:rPr>
              <a:t> qaraʾa.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Accuracy first. Smoothness comes on the second read.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 + تَ + بَ ← 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five steps of the READ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every mark to its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Blend chunks without adding extra vowels.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 word, phrase or sentence aloud accurately.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fully vowelled single words (Level 1).</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explain the READ steps.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short phrases (Level 2).</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sukūn and shadda without an extra vowel.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short sentences with pauses (Level 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partner one precise repair cue.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One routine (5 steps), 10 verbs, 8 phrases and 4 sentences — all fully vowelled.</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ROUTINE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 · E · A · D · ↻</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LEVEL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Words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LEVEL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Phrases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LEVEL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Sentences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قَرَأَ</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‎قراءت‎ </a:t>
            </a:r>
            <a:pPr indent="0" marL="0">
              <a:buNone/>
            </a:pPr>
            <a:r>
              <a:rPr lang="en-US" sz="950" b="1" dirty="0">
                <a:solidFill>
                  <a:srgbClr val="2E8B57"/>
                </a:solidFill>
                <a:latin typeface="Calibri" pitchFamily="34" charset="0"/>
                <a:ea typeface="Calibri" pitchFamily="34" charset="-122"/>
                <a:cs typeface="Calibri" pitchFamily="34" charset="-120"/>
              </a:rPr>
              <a:t> qirāʾat · recitation → he read</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school (Urdu) · desk, office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‎معلم‎ </a:t>
            </a:r>
            <a:pPr indent="0" marL="0">
              <a:buNone/>
            </a:pPr>
            <a:r>
              <a:rPr lang="en-US" sz="950" b="1" dirty="0">
                <a:solidFill>
                  <a:srgbClr val="2E8B57"/>
                </a:solidFill>
                <a:latin typeface="Calibri" pitchFamily="34" charset="0"/>
                <a:ea typeface="Calibri" pitchFamily="34" charset="-122"/>
                <a:cs typeface="Calibri" pitchFamily="34" charset="-120"/>
              </a:rPr>
              <a:t> muʿallim · teacher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‎مدرسہ‎ </a:t>
            </a:r>
            <a:pPr indent="0" marL="0">
              <a:buNone/>
            </a:pPr>
            <a:r>
              <a:rPr lang="en-US" sz="950" b="1" dirty="0">
                <a:solidFill>
                  <a:srgbClr val="2E8B57"/>
                </a:solidFill>
                <a:latin typeface="Calibri" pitchFamily="34" charset="0"/>
                <a:ea typeface="Calibri" pitchFamily="34" charset="-122"/>
                <a:cs typeface="Calibri" pitchFamily="34" charset="-120"/>
              </a:rPr>
              <a:t> madrasa · school</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THE READ ROUTINE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steps to read any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خُطُوَاتُ فَكِّ الرُّمُوزِ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4946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p>
        </p:txBody>
      </p:sp>
      <p:sp>
        <p:nvSpPr>
          <p:cNvPr id="18" name="Text 15"/>
          <p:cNvSpPr txBox="1"/>
          <p:nvPr/>
        </p:nvSpPr>
        <p:spPr>
          <a:xfrm>
            <a:off x="530352" y="1810512"/>
            <a:ext cx="42702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كَتَبَ</a:t>
            </a:r>
            <a:pPr algn="ctr" indent="0" marL="0">
              <a:buNone/>
            </a:pPr>
            <a:r>
              <a:rPr lang="en-US" sz="1100" b="1" dirty="0">
                <a:solidFill>
                  <a:srgbClr val="FFFFFF"/>
                </a:solidFill>
                <a:latin typeface="Calibri" pitchFamily="34" charset="0"/>
                <a:ea typeface="Calibri" pitchFamily="34" charset="-122"/>
                <a:cs typeface="Calibri" pitchFamily="34" charset="-120"/>
              </a:rPr>
              <a:t> — think aloud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 · Right edge</a:t>
            </a:r>
            <a:endParaRPr lang="en-US" sz="1100" dirty="0"/>
          </a:p>
        </p:txBody>
      </p:sp>
      <p:sp>
        <p:nvSpPr>
          <p:cNvPr id="21" name="Text 18"/>
          <p:cNvSpPr txBox="1"/>
          <p:nvPr/>
        </p:nvSpPr>
        <p:spPr>
          <a:xfrm>
            <a:off x="4983480"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Find the first letter on the RIGHT. Look at the whole word first.</a:t>
            </a:r>
            <a:endParaRPr lang="en-US" sz="1100" dirty="0"/>
          </a:p>
        </p:txBody>
      </p:sp>
      <p:sp>
        <p:nvSpPr>
          <p:cNvPr id="22" name="Text 19"/>
          <p:cNvSpPr txBox="1"/>
          <p:nvPr/>
        </p:nvSpPr>
        <p:spPr>
          <a:xfrm>
            <a:off x="566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Begin with </a:t>
            </a:r>
            <a:pPr algn="l" indent="0" marL="0">
              <a:buNone/>
            </a:pPr>
            <a:r>
              <a:rPr lang="ar-SA" altLang="en-US" sz="1450" dirty="0">
                <a:solidFill>
                  <a:srgbClr val="5A6472"/>
                </a:solidFill>
                <a:latin typeface="Amiri" pitchFamily="34" charset="0"/>
                <a:ea typeface="Amiri" pitchFamily="34" charset="-122"/>
                <a:cs typeface="Amiri" pitchFamily="34" charset="-120"/>
              </a:rPr>
              <a:t>ك</a:t>
            </a:r>
            <a:pPr algn="l" indent="0" marL="0">
              <a:buNone/>
            </a:pPr>
            <a:r>
              <a:rPr lang="en-US" sz="1100" dirty="0">
                <a:solidFill>
                  <a:srgbClr val="5A6472"/>
                </a:solidFill>
                <a:latin typeface="Calibri" pitchFamily="34" charset="0"/>
                <a:ea typeface="Calibri" pitchFamily="34" charset="-122"/>
                <a:cs typeface="Calibri" pitchFamily="34" charset="-120"/>
              </a:rPr>
              <a:t>, not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Extract letters</a:t>
            </a:r>
            <a:endParaRPr lang="en-US" sz="1100" dirty="0"/>
          </a:p>
        </p:txBody>
      </p:sp>
      <p:sp>
        <p:nvSpPr>
          <p:cNvPr id="27" name="Text 24"/>
          <p:cNvSpPr txBox="1"/>
          <p:nvPr/>
        </p:nvSpPr>
        <p:spPr>
          <a:xfrm>
            <a:off x="4983480"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the base letters; notice breaks and hamza shapes.</a:t>
            </a:r>
            <a:endParaRPr lang="en-US" sz="1100" dirty="0"/>
          </a:p>
        </p:txBody>
      </p:sp>
      <p:sp>
        <p:nvSpPr>
          <p:cNvPr id="28" name="Text 25"/>
          <p:cNvSpPr txBox="1"/>
          <p:nvPr/>
        </p:nvSpPr>
        <p:spPr>
          <a:xfrm>
            <a:off x="548640" y="3054096"/>
            <a:ext cx="42336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 ← ت ← ب</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Attach marks</a:t>
            </a:r>
            <a:endParaRPr lang="en-US" sz="1100" dirty="0"/>
          </a:p>
        </p:txBody>
      </p:sp>
      <p:sp>
        <p:nvSpPr>
          <p:cNvPr id="33" name="Text 30"/>
          <p:cNvSpPr txBox="1"/>
          <p:nvPr/>
        </p:nvSpPr>
        <p:spPr>
          <a:xfrm>
            <a:off x="4983480"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 each letter its vowel, sukūn, shadda or long vowel.</a:t>
            </a:r>
            <a:endParaRPr lang="en-US" sz="1100" dirty="0"/>
          </a:p>
        </p:txBody>
      </p:sp>
      <p:sp>
        <p:nvSpPr>
          <p:cNvPr id="34" name="Text 31"/>
          <p:cNvSpPr txBox="1"/>
          <p:nvPr/>
        </p:nvSpPr>
        <p:spPr>
          <a:xfrm>
            <a:off x="566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Each has fatḥa: </a:t>
            </a:r>
            <a:pPr algn="l" indent="0" marL="0">
              <a:buNone/>
            </a:pPr>
            <a:r>
              <a:rPr lang="ar-SA" altLang="en-US" sz="1450" dirty="0">
                <a:solidFill>
                  <a:srgbClr val="5A6472"/>
                </a:solidFill>
                <a:latin typeface="Amiri" pitchFamily="34" charset="0"/>
                <a:ea typeface="Amiri" pitchFamily="34" charset="-122"/>
                <a:cs typeface="Amiri" pitchFamily="34" charset="-120"/>
              </a:rPr>
              <a:t>كَ، تَ، 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73836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Draw together</a:t>
            </a:r>
            <a:endParaRPr lang="en-US" sz="1100" dirty="0"/>
          </a:p>
        </p:txBody>
      </p:sp>
      <p:sp>
        <p:nvSpPr>
          <p:cNvPr id="39" name="Text 36"/>
          <p:cNvSpPr txBox="1"/>
          <p:nvPr/>
        </p:nvSpPr>
        <p:spPr>
          <a:xfrm>
            <a:off x="4983480"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Blend in chunks. No extra vowel after sukūn.</a:t>
            </a:r>
            <a:endParaRPr lang="en-US" sz="1100" dirty="0"/>
          </a:p>
        </p:txBody>
      </p:sp>
      <p:sp>
        <p:nvSpPr>
          <p:cNvPr id="40" name="Text 37"/>
          <p:cNvSpPr txBox="1"/>
          <p:nvPr/>
        </p:nvSpPr>
        <p:spPr>
          <a:xfrm>
            <a:off x="566928" y="4626864"/>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a:t>
            </a:r>
            <a:pPr algn="l" indent="0" marL="0">
              <a:buNone/>
            </a:pPr>
            <a:r>
              <a:rPr lang="en-US" sz="1100" dirty="0">
                <a:solidFill>
                  <a:srgbClr val="5A6472"/>
                </a:solidFill>
                <a:latin typeface="Calibri" pitchFamily="34" charset="0"/>
                <a:ea typeface="Calibri" pitchFamily="34" charset="-122"/>
                <a:cs typeface="Calibri" pitchFamily="34" charset="-120"/>
              </a:rPr>
              <a:t> |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 kataba</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3836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Read again</a:t>
            </a:r>
            <a:endParaRPr lang="en-US" sz="1100" dirty="0"/>
          </a:p>
        </p:txBody>
      </p:sp>
      <p:sp>
        <p:nvSpPr>
          <p:cNvPr id="45" name="Text 42"/>
          <p:cNvSpPr txBox="1"/>
          <p:nvPr/>
        </p:nvSpPr>
        <p:spPr>
          <a:xfrm>
            <a:off x="4983480" y="5413248"/>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once more, smoothly. Then check the meaning.</a:t>
            </a:r>
            <a:endParaRPr lang="en-US" sz="1100" dirty="0"/>
          </a:p>
        </p:txBody>
      </p:sp>
      <p:sp>
        <p:nvSpPr>
          <p:cNvPr id="46" name="Text 43"/>
          <p:cNvSpPr txBox="1"/>
          <p:nvPr/>
        </p:nvSpPr>
        <p:spPr>
          <a:xfrm>
            <a:off x="566928" y="5413248"/>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كَتَبَ</a:t>
            </a:r>
            <a:pPr algn="l" indent="0" marL="0">
              <a:buNone/>
            </a:pPr>
            <a:r>
              <a:rPr lang="en-US" sz="1100" dirty="0">
                <a:solidFill>
                  <a:srgbClr val="5A6472"/>
                </a:solidFill>
                <a:latin typeface="Calibri" pitchFamily="34" charset="0"/>
                <a:ea typeface="Calibri" pitchFamily="34" charset="-122"/>
                <a:cs typeface="Calibri" pitchFamily="34" charset="-120"/>
              </a:rPr>
              <a:t> = he wrote</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TEACHER INSTRUCTION · MARK-TO-SOUND SCAN (WEBSITE FAST DECODING REFERENCE)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signal has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العَلَامَةِ إِلَى الصَّوْتِ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586130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 job</a:t>
            </a:r>
            <a:endParaRPr lang="en-US" sz="1100" dirty="0"/>
          </a:p>
        </p:txBody>
      </p:sp>
      <p:sp>
        <p:nvSpPr>
          <p:cNvPr id="18" name="Text 15"/>
          <p:cNvSpPr txBox="1"/>
          <p:nvPr/>
        </p:nvSpPr>
        <p:spPr>
          <a:xfrm>
            <a:off x="33009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 vowels</a:t>
            </a:r>
            <a:endParaRPr lang="en-US" sz="1100" dirty="0"/>
          </a:p>
        </p:txBody>
      </p:sp>
      <p:sp>
        <p:nvSpPr>
          <p:cNvPr id="22" name="Text 19"/>
          <p:cNvSpPr txBox="1"/>
          <p:nvPr/>
        </p:nvSpPr>
        <p:spPr>
          <a:xfrm>
            <a:off x="5897880" y="226771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short vowel after the consonant.</a:t>
            </a:r>
            <a:endParaRPr lang="en-US" sz="1100" dirty="0"/>
          </a:p>
        </p:txBody>
      </p:sp>
      <p:sp>
        <p:nvSpPr>
          <p:cNvPr id="23" name="Text 20"/>
          <p:cNvSpPr txBox="1"/>
          <p:nvPr/>
        </p:nvSpPr>
        <p:spPr>
          <a:xfrm>
            <a:off x="3319272" y="226771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  بِ  بُ</a:t>
            </a:r>
            <a:endParaRPr lang="ar-SA" sz="2600" dirty="0"/>
          </a:p>
        </p:txBody>
      </p:sp>
      <p:sp>
        <p:nvSpPr>
          <p:cNvPr id="24" name="Text 21"/>
          <p:cNvSpPr txBox="1"/>
          <p:nvPr/>
        </p:nvSpPr>
        <p:spPr>
          <a:xfrm>
            <a:off x="566928" y="226771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 · bi · bu</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sukūn</a:t>
            </a:r>
            <a:endParaRPr lang="en-US" sz="1100" dirty="0"/>
          </a:p>
        </p:txBody>
      </p:sp>
      <p:sp>
        <p:nvSpPr>
          <p:cNvPr id="29" name="Text 26"/>
          <p:cNvSpPr txBox="1"/>
          <p:nvPr/>
        </p:nvSpPr>
        <p:spPr>
          <a:xfrm>
            <a:off x="5897880" y="2950464"/>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vowel; it closes a chunk.</a:t>
            </a:r>
            <a:endParaRPr lang="en-US" sz="1100" dirty="0"/>
          </a:p>
        </p:txBody>
      </p:sp>
      <p:sp>
        <p:nvSpPr>
          <p:cNvPr id="30" name="Text 27"/>
          <p:cNvSpPr txBox="1"/>
          <p:nvPr/>
        </p:nvSpPr>
        <p:spPr>
          <a:xfrm>
            <a:off x="3319272" y="2950464"/>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مَكْ</a:t>
            </a:r>
            <a:endParaRPr lang="ar-SA" sz="2600" dirty="0"/>
          </a:p>
        </p:txBody>
      </p:sp>
      <p:sp>
        <p:nvSpPr>
          <p:cNvPr id="31" name="Text 28"/>
          <p:cNvSpPr txBox="1"/>
          <p:nvPr/>
        </p:nvSpPr>
        <p:spPr>
          <a:xfrm>
            <a:off x="566928" y="2950464"/>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mak, not maka</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 vowels</a:t>
            </a:r>
            <a:endParaRPr lang="en-US" sz="1100" dirty="0"/>
          </a:p>
        </p:txBody>
      </p:sp>
      <p:sp>
        <p:nvSpPr>
          <p:cNvPr id="36" name="Text 33"/>
          <p:cNvSpPr txBox="1"/>
          <p:nvPr/>
        </p:nvSpPr>
        <p:spPr>
          <a:xfrm>
            <a:off x="5897880" y="3633216"/>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 ā · ī · ū — two beats.</a:t>
            </a:r>
            <a:endParaRPr lang="en-US" sz="1100" dirty="0"/>
          </a:p>
        </p:txBody>
      </p:sp>
      <p:sp>
        <p:nvSpPr>
          <p:cNvPr id="37" name="Text 34"/>
          <p:cNvSpPr txBox="1"/>
          <p:nvPr/>
        </p:nvSpPr>
        <p:spPr>
          <a:xfrm>
            <a:off x="3319272" y="3633216"/>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 نُور</a:t>
            </a:r>
            <a:endParaRPr lang="ar-SA" sz="2600" dirty="0"/>
          </a:p>
        </p:txBody>
      </p:sp>
      <p:sp>
        <p:nvSpPr>
          <p:cNvPr id="38" name="Text 35"/>
          <p:cNvSpPr txBox="1"/>
          <p:nvPr/>
        </p:nvSpPr>
        <p:spPr>
          <a:xfrm>
            <a:off x="566928" y="3633216"/>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bāb · nūr</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a:t>
            </a:r>
            <a:endParaRPr lang="en-US" sz="1100" dirty="0"/>
          </a:p>
        </p:txBody>
      </p:sp>
      <p:sp>
        <p:nvSpPr>
          <p:cNvPr id="43" name="Text 40"/>
          <p:cNvSpPr txBox="1"/>
          <p:nvPr/>
        </p:nvSpPr>
        <p:spPr>
          <a:xfrm>
            <a:off x="5897880" y="4315968"/>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 consonant; its vowel after the second half.</a:t>
            </a:r>
            <a:endParaRPr lang="en-US" sz="1100" dirty="0"/>
          </a:p>
        </p:txBody>
      </p:sp>
      <p:sp>
        <p:nvSpPr>
          <p:cNvPr id="44" name="Text 41"/>
          <p:cNvSpPr txBox="1"/>
          <p:nvPr/>
        </p:nvSpPr>
        <p:spPr>
          <a:xfrm>
            <a:off x="3319272" y="4315968"/>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a:t>
            </a:r>
            <a:endParaRPr lang="ar-SA" sz="2600" dirty="0"/>
          </a:p>
        </p:txBody>
      </p:sp>
      <p:sp>
        <p:nvSpPr>
          <p:cNvPr id="45" name="Text 42"/>
          <p:cNvSpPr txBox="1"/>
          <p:nvPr/>
        </p:nvSpPr>
        <p:spPr>
          <a:xfrm>
            <a:off x="566928" y="4315968"/>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muʿallimun</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a:t>
            </a:r>
            <a:endParaRPr lang="en-US" sz="1100" dirty="0"/>
          </a:p>
        </p:txBody>
      </p:sp>
      <p:sp>
        <p:nvSpPr>
          <p:cNvPr id="48" name="Text 45"/>
          <p:cNvSpPr txBox="1"/>
          <p:nvPr/>
        </p:nvSpPr>
        <p:spPr>
          <a:xfrm>
            <a:off x="5897880" y="4998720"/>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 in · an/ in careful connected reading.</a:t>
            </a:r>
            <a:endParaRPr lang="en-US" sz="1100" dirty="0"/>
          </a:p>
        </p:txBody>
      </p:sp>
      <p:sp>
        <p:nvSpPr>
          <p:cNvPr id="49" name="Text 46"/>
          <p:cNvSpPr txBox="1"/>
          <p:nvPr/>
        </p:nvSpPr>
        <p:spPr>
          <a:xfrm>
            <a:off x="3319272" y="4998720"/>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a:t>
            </a:r>
            <a:endParaRPr lang="ar-SA" sz="2600" dirty="0"/>
          </a:p>
        </p:txBody>
      </p:sp>
      <p:sp>
        <p:nvSpPr>
          <p:cNvPr id="50" name="Text 47"/>
          <p:cNvSpPr txBox="1"/>
          <p:nvPr/>
        </p:nvSpPr>
        <p:spPr>
          <a:xfrm>
            <a:off x="566928" y="4998720"/>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kitābun</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hamza · madda</a:t>
            </a:r>
            <a:endParaRPr lang="en-US" sz="1100" dirty="0"/>
          </a:p>
        </p:txBody>
      </p:sp>
      <p:sp>
        <p:nvSpPr>
          <p:cNvPr id="53" name="Text 50"/>
          <p:cNvSpPr txBox="1"/>
          <p:nvPr/>
        </p:nvSpPr>
        <p:spPr>
          <a:xfrm>
            <a:off x="5897880" y="568147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catch /ʔ/; madda begins /ʔā/.</a:t>
            </a:r>
            <a:endParaRPr lang="en-US" sz="1100" dirty="0"/>
          </a:p>
        </p:txBody>
      </p:sp>
      <p:sp>
        <p:nvSpPr>
          <p:cNvPr id="54" name="Text 51"/>
          <p:cNvSpPr txBox="1"/>
          <p:nvPr/>
        </p:nvSpPr>
        <p:spPr>
          <a:xfrm>
            <a:off x="3319272" y="568147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قَرَأَ · آمِنٌ</a:t>
            </a:r>
            <a:endParaRPr lang="ar-SA" sz="2600" dirty="0"/>
          </a:p>
        </p:txBody>
      </p:sp>
      <p:sp>
        <p:nvSpPr>
          <p:cNvPr id="55" name="Text 52"/>
          <p:cNvSpPr txBox="1"/>
          <p:nvPr/>
        </p:nvSpPr>
        <p:spPr>
          <a:xfrm>
            <a:off x="566928" y="568147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qaraʾa · ʾāminun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start reading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t>
            </a:r>
            <a:pPr algn="l" indent="0" marL="0">
              <a:buNone/>
            </a:pPr>
            <a:r>
              <a:rPr lang="ar-SA" altLang="en-US" sz="1650" dirty="0">
                <a:solidFill>
                  <a:srgbClr val="1F2A37"/>
                </a:solidFill>
                <a:latin typeface="Amiri" pitchFamily="34" charset="0"/>
                <a:ea typeface="Amiri" pitchFamily="34" charset="-122"/>
                <a:cs typeface="Amiri" pitchFamily="34" charset="-120"/>
              </a:rPr>
              <a:t>ب</a:t>
            </a:r>
            <a:pPr algn="l" indent="0" marL="0">
              <a:buNone/>
            </a:pPr>
            <a:r>
              <a:rPr lang="en-US" sz="1250" dirty="0">
                <a:solidFill>
                  <a:srgbClr val="1F2A37"/>
                </a:solidFill>
                <a:latin typeface="Calibri" pitchFamily="34" charset="0"/>
                <a:ea typeface="Calibri" pitchFamily="34" charset="-122"/>
                <a:cs typeface="Calibri" pitchFamily="34" charset="-120"/>
              </a:rPr>
              <a:t>, 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t>
            </a:r>
            <a:pPr algn="l" indent="0" marL="0">
              <a:buNone/>
            </a:pPr>
            <a:r>
              <a:rPr lang="ar-SA" altLang="en-US" sz="1650" dirty="0">
                <a:solidFill>
                  <a:srgbClr val="1F2A37"/>
                </a:solidFill>
                <a:latin typeface="Amiri" pitchFamily="34" charset="0"/>
                <a:ea typeface="Amiri" pitchFamily="34" charset="-122"/>
                <a:cs typeface="Amiri" pitchFamily="34" charset="-120"/>
              </a:rPr>
              <a:t>ك</a:t>
            </a:r>
            <a:pPr algn="l" indent="0" marL="0">
              <a:buNone/>
            </a:pPr>
            <a:r>
              <a:rPr lang="en-US" sz="1250" dirty="0">
                <a:solidFill>
                  <a:srgbClr val="1F2A37"/>
                </a:solidFill>
                <a:latin typeface="Calibri" pitchFamily="34" charset="0"/>
                <a:ea typeface="Calibri" pitchFamily="34" charset="-122"/>
                <a:cs typeface="Calibri" pitchFamily="34" charset="-120"/>
              </a:rPr>
              <a:t>, on the right</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mak-ta-bun</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ma-ka-ta-bun</a:t>
            </a:r>
            <a:endParaRPr lang="en-US" sz="1250" dirty="0"/>
          </a:p>
        </p:txBody>
      </p:sp>
      <p:sp>
        <p:nvSpPr>
          <p:cNvPr id="35" name="Shape 32"/>
          <p:cNvSpPr/>
          <p:nvPr/>
        </p:nvSpPr>
        <p:spPr>
          <a:xfrm>
            <a:off x="6368796"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mak-tab-ban</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a:t>
            </a:r>
            <a:pPr algn="l" indent="0" marL="0">
              <a:buNone/>
            </a:pPr>
            <a:r>
              <a:rPr lang="ar-SA" altLang="en-US" sz="1650" b="1" dirty="0">
                <a:solidFill>
                  <a:srgbClr val="1B3B6F"/>
                </a:solidFill>
                <a:latin typeface="Amiri" pitchFamily="34" charset="0"/>
                <a:ea typeface="Amiri" pitchFamily="34" charset="-122"/>
                <a:cs typeface="Amiri" pitchFamily="34" charset="-120"/>
              </a:rPr>
              <a:t>تَا</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two beats</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beat</a:t>
            </a:r>
            <a:endParaRPr lang="en-US" sz="12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 “read again” check?</a:t>
            </a:r>
            <a:endParaRPr lang="en-US" sz="1250" dirty="0"/>
          </a:p>
        </p:txBody>
      </p:sp>
      <p:sp>
        <p:nvSpPr>
          <p:cNvPr id="52" name="Shape 49"/>
          <p:cNvSpPr/>
          <p:nvPr/>
        </p:nvSpPr>
        <p:spPr>
          <a:xfrm>
            <a:off x="6368796"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Smoothness and meaning</a:t>
            </a:r>
            <a:endParaRPr lang="en-US" sz="1250" dirty="0"/>
          </a:p>
        </p:txBody>
      </p:sp>
      <p:sp>
        <p:nvSpPr>
          <p:cNvPr id="55" name="Shape 52"/>
          <p:cNvSpPr/>
          <p:nvPr/>
        </p:nvSpPr>
        <p:spPr>
          <a:xfrm>
            <a:off x="6368796"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only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start reading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t>
            </a:r>
            <a:pPr algn="l" indent="0" marL="0">
              <a:buNone/>
            </a:pPr>
            <a:r>
              <a:rPr lang="ar-SA" altLang="en-US" sz="1650" dirty="0">
                <a:solidFill>
                  <a:srgbClr val="9AA1AB"/>
                </a:solidFill>
                <a:latin typeface="Amiri" pitchFamily="34" charset="0"/>
                <a:ea typeface="Amiri" pitchFamily="34" charset="-122"/>
                <a:cs typeface="Amiri" pitchFamily="34" charset="-120"/>
              </a:rPr>
              <a:t>ب</a:t>
            </a:r>
            <a:pPr algn="l" indent="0" marL="0">
              <a:buNone/>
            </a:pPr>
            <a:r>
              <a:rPr lang="en-US" sz="1250" dirty="0">
                <a:solidFill>
                  <a:srgbClr val="9AA1AB"/>
                </a:solidFill>
                <a:latin typeface="Calibri" pitchFamily="34" charset="0"/>
                <a:ea typeface="Calibri" pitchFamily="34" charset="-122"/>
                <a:cs typeface="Calibri" pitchFamily="34" charset="-120"/>
              </a:rPr>
              <a:t>, on the left</a:t>
            </a:r>
            <a:endParaRPr lang="en-US" sz="1250" dirty="0"/>
          </a:p>
        </p:txBody>
      </p:sp>
      <p:sp>
        <p:nvSpPr>
          <p:cNvPr id="22" name="Shape 19"/>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a:t>
            </a:r>
            <a:pPr algn="l" indent="0" marL="0">
              <a:buNone/>
            </a:pPr>
            <a:r>
              <a:rPr lang="ar-SA" altLang="en-US" sz="1650" b="1" dirty="0">
                <a:solidFill>
                  <a:srgbClr val="1F2A37"/>
                </a:solidFill>
                <a:latin typeface="Amiri" pitchFamily="34" charset="0"/>
                <a:ea typeface="Amiri" pitchFamily="34" charset="-122"/>
                <a:cs typeface="Amiri" pitchFamily="34" charset="-120"/>
              </a:rPr>
              <a:t>ك</a:t>
            </a:r>
            <a:pPr algn="l" indent="0" marL="0">
              <a:buNone/>
            </a:pPr>
            <a:r>
              <a:rPr lang="en-US" sz="1250" b="1" dirty="0">
                <a:solidFill>
                  <a:srgbClr val="1F2A37"/>
                </a:solidFill>
                <a:latin typeface="Calibri" pitchFamily="34" charset="0"/>
                <a:ea typeface="Calibri" pitchFamily="34" charset="-122"/>
                <a:cs typeface="Calibri" pitchFamily="34" charset="-120"/>
              </a:rPr>
              <a:t>, on the right</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 — right edge.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1" name="Shape 28"/>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6368796"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mak-ta-bun</a:t>
            </a:r>
            <a:endParaRPr lang="en-US" sz="1250" dirty="0"/>
          </a:p>
        </p:txBody>
      </p:sp>
      <p:sp>
        <p:nvSpPr>
          <p:cNvPr id="35" name="Shape 32"/>
          <p:cNvSpPr/>
          <p:nvPr/>
        </p:nvSpPr>
        <p:spPr>
          <a:xfrm>
            <a:off x="6368796"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ma-ka-ta-bun</a:t>
            </a:r>
            <a:endParaRPr lang="en-US" sz="1250" dirty="0"/>
          </a:p>
        </p:txBody>
      </p:sp>
      <p:sp>
        <p:nvSpPr>
          <p:cNvPr id="38" name="Shape 35"/>
          <p:cNvSpPr/>
          <p:nvPr/>
        </p:nvSpPr>
        <p:spPr>
          <a:xfrm>
            <a:off x="6368796"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mak-tab-ban</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sukūn on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closes the chunk.</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a:t>
            </a:r>
            <a:pPr algn="l" indent="0" marL="0">
              <a:buNone/>
            </a:pPr>
            <a:r>
              <a:rPr lang="ar-SA" altLang="en-US" sz="1650" b="1" dirty="0">
                <a:solidFill>
                  <a:srgbClr val="1B3B6F"/>
                </a:solidFill>
                <a:latin typeface="Amiri" pitchFamily="34" charset="0"/>
                <a:ea typeface="Amiri" pitchFamily="34" charset="-122"/>
                <a:cs typeface="Amiri" pitchFamily="34" charset="-120"/>
              </a:rPr>
              <a:t>تَا</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4873752"/>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two beats</a:t>
            </a:r>
            <a:endParaRPr lang="en-US" sz="1250" dirty="0"/>
          </a:p>
        </p:txBody>
      </p:sp>
      <p:sp>
        <p:nvSpPr>
          <p:cNvPr id="50" name="Shape 47"/>
          <p:cNvSpPr/>
          <p:nvPr/>
        </p:nvSpPr>
        <p:spPr>
          <a:xfrm>
            <a:off x="640080" y="533095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beat</a:t>
            </a:r>
            <a:endParaRPr lang="en-US" sz="125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alif = long ā.</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 “read again” check?</a:t>
            </a:r>
            <a:endParaRPr lang="en-US" sz="1250" dirty="0"/>
          </a:p>
        </p:txBody>
      </p:sp>
      <p:sp>
        <p:nvSpPr>
          <p:cNvPr id="58" name="Shape 55"/>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368796" y="4873752"/>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Smoothness and meaning</a:t>
            </a:r>
            <a:endParaRPr lang="en-US" sz="1250" dirty="0"/>
          </a:p>
        </p:txBody>
      </p:sp>
      <p:sp>
        <p:nvSpPr>
          <p:cNvPr id="62" name="Shape 59"/>
          <p:cNvSpPr/>
          <p:nvPr/>
        </p:nvSpPr>
        <p:spPr>
          <a:xfrm>
            <a:off x="6368796" y="533095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Speed only</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first, smoothness second.</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LEVEL 1 · TEN FULLY VOWELLED WORDS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then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شَرِيطُ القِرَاءَةِ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  ·  قَرَأَ</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 — he wrote   ·   qa|ra|ʾa — he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  رَجَعَ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dha|ha|ba — he went   ·   ra|ja|ʿa — he returned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شَرِبَ  ·  جَلَسَ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sha|ri|ba — he drank   ·   ja|la|sa — he sat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فَتَحَ  ·  دَرَسَ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fa|ta|ḥa — he opened   ·   da|ra|sa — he studied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سَمِعَ  ·  لَعِبَ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sa|mi|ʿa — he heard   ·   la|ʿi|ba — he played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“PICTURE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word,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بَابٌ</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مَدْرَسَةٌ</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school</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books</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بَابٌ</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door</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“CHUNK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correct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التَّقْطِيعَ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 كَ | تَ | 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 | تَ | 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 | 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 | ا | 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 | تَ | ا | 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 | تَا | 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مُعَلِّمٌ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 عَلْ | لِ | 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 عَ | لِ | 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 لِمٌ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يَقْرَأُ</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 | قَ | رَ | أُ</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 | رَ | أُ</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يَقْرَ | أُ</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سِتَّةٌ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 | تَ | 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 تَ | 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 | ةٌ</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Sukūn → the chunk ends there.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Long vowel → keep it with its letter.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Shadda → the letter twice.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CHUNK CHOICE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 | كَ | تَ | 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 | تَ | 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 | 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sukūn closes </a:t>
            </a:r>
            <a:pPr algn="l" indent="0" marL="0">
              <a:buNone/>
            </a:pPr>
            <a:r>
              <a:rPr lang="ar-SA" altLang="en-US" sz="1350" dirty="0">
                <a:solidFill>
                  <a:srgbClr val="8A6D1E"/>
                </a:solidFill>
                <a:latin typeface="Amiri" pitchFamily="34" charset="0"/>
                <a:ea typeface="Amiri" pitchFamily="34" charset="-122"/>
                <a:cs typeface="Amiri" pitchFamily="34" charset="-120"/>
              </a:rPr>
              <a:t>مَكْ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 | ا | 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 | تَ | ا | بٌ</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 | تَا | بٌ</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long ā stays with </a:t>
            </a:r>
            <a:pPr algn="l" indent="0" marL="0">
              <a:buNone/>
            </a:pPr>
            <a:r>
              <a:rPr lang="ar-SA" altLang="en-US" sz="1350" dirty="0">
                <a:solidFill>
                  <a:srgbClr val="8A6D1E"/>
                </a:solidFill>
                <a:latin typeface="Amiri" pitchFamily="34" charset="0"/>
                <a:ea typeface="Amiri" pitchFamily="34" charset="-122"/>
                <a:cs typeface="Amiri" pitchFamily="34" charset="-120"/>
              </a:rPr>
              <a:t>تَا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مُعَلِّمٌ</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 | عَلْ | لِ | 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 | عَ | لِ | مٌ</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 لِمٌ</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 two timings of 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يَقْرَأُ</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 | قَ | رَ | أُ</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 | رَ | أُ</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يَقْرَ | أُ</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sukūn closes </a:t>
            </a:r>
            <a:pPr algn="l" indent="0" marL="0">
              <a:buNone/>
            </a:pPr>
            <a:r>
              <a:rPr lang="ar-SA" altLang="en-US" sz="1350" dirty="0">
                <a:solidFill>
                  <a:srgbClr val="8A6D1E"/>
                </a:solidFill>
                <a:latin typeface="Amiri" pitchFamily="34" charset="0"/>
                <a:ea typeface="Amiri" pitchFamily="34" charset="-122"/>
                <a:cs typeface="Amiri" pitchFamily="34" charset="-120"/>
              </a:rPr>
              <a:t>يَقْ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سِتَّةٌ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 | تَ | 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 تَ | 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 | ةٌ</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hold the 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Sukūn → the chunk ends there.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Long vowel → keep it with its letter.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Shadda → the letter twice.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LEVEL 2 · EIGHT SHORT PHRASES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شَرِيطُ القِرَاءَةِ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يَقْرَأُ  ·  هِيَ تَكْتُبُ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reads   ·   she writes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أَفْهَمُ  ·  لَا أَفْهَمُ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understand   ·   I do not understand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قَرَأَ كِتَابًا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read a book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إِلَى البَيْتِ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went home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جَلَسَ فِي الفَصْلِ  ·  مَعَ مُحَمَّدٍ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sat in the classroom   ·   with Muhammad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LEVEL 3 · FOUR SHORT SENTENCES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شَرِيطُ القِرَاءَةِ ٣</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7" name="Shape 14"/>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8" name="Text 15"/>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قَرَأَتْ مَرْيَمُ | كِتَابًا قَصِيرًا.</a:t>
            </a:r>
            <a:endParaRPr lang="ar-SA" sz="2000" dirty="0"/>
          </a:p>
        </p:txBody>
      </p:sp>
      <p:sp>
        <p:nvSpPr>
          <p:cNvPr id="19" name="Text 16"/>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 read a short book.</a:t>
            </a:r>
            <a:endParaRPr lang="en-US" sz="1250" dirty="0"/>
          </a:p>
        </p:txBody>
      </p:sp>
      <p:sp>
        <p:nvSpPr>
          <p:cNvPr id="20" name="Shape 17"/>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21" name="Text 18"/>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سَامِرٌ | إِلَى المَدْرَسَةِ.</a:t>
            </a:r>
            <a:endParaRPr lang="ar-SA" sz="2000" dirty="0"/>
          </a:p>
        </p:txBody>
      </p:sp>
      <p:sp>
        <p:nvSpPr>
          <p:cNvPr id="22" name="Text 19"/>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went to school.</a:t>
            </a:r>
            <a:endParaRPr lang="en-US" sz="1250" dirty="0"/>
          </a:p>
        </p:txBody>
      </p:sp>
      <p:sp>
        <p:nvSpPr>
          <p:cNvPr id="23" name="Shape 20"/>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4" name="Text 21"/>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كَتَبَتْ لَيْلَى | دَرْسًا | فِي دَفْتَرِهَا.</a:t>
            </a:r>
            <a:endParaRPr lang="ar-SA" sz="2000" dirty="0"/>
          </a:p>
        </p:txBody>
      </p:sp>
      <p:sp>
        <p:nvSpPr>
          <p:cNvPr id="25" name="Text 22"/>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wrote a lesson in her notebook.</a:t>
            </a:r>
            <a:endParaRPr lang="en-US" sz="1250" dirty="0"/>
          </a:p>
        </p:txBody>
      </p:sp>
      <p:sp>
        <p:nvSpPr>
          <p:cNvPr id="26" name="Shape 23"/>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7" name="Text 24"/>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شَرِبَ أَحْمَدُ | مَاءً | بَعْدَ الرِّيَاضَةِ.</a:t>
            </a:r>
            <a:endParaRPr lang="ar-SA" sz="2000" dirty="0"/>
          </a:p>
        </p:txBody>
      </p:sp>
      <p:sp>
        <p:nvSpPr>
          <p:cNvPr id="28" name="Text 25"/>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Ahmad drank water after sport.</a:t>
            </a:r>
            <a:endParaRPr lang="en-US" sz="12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choose your level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Level 1 · 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the ten verbs aloud with the READ routine. Copy four of them and draw the chunk lines.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Cover the English, then read again from the Arabic only.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Level 2 · 8 phrases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the eight phrases to your partner. Copy three and draw the word boundaries.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word by word, then the whole phrase smoothly.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100" b="1" dirty="0">
                <a:solidFill>
                  <a:srgbClr val="B83227"/>
                </a:solidFill>
                <a:latin typeface="Cambria" pitchFamily="34" charset="0"/>
                <a:ea typeface="Cambria" pitchFamily="34" charset="-122"/>
                <a:cs typeface="Cambria" pitchFamily="34" charset="-120"/>
              </a:rPr>
              <a:t>Level 3 · 4 sentences</a:t>
            </a:r>
            <a:endParaRPr lang="en-US" sz="21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the four sentences with pauses. Copy one and mark the word groups with a slash.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the personal fluency challenge: read the ten fluency words and time yourself (website).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Partner reading check: one strength, one repair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مَكْتَبٌ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مُعَلِّمٌ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الجُمْلَةَ.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أُعِيدُ؟</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أَفْهَمُ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مُعَلِّمٌ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muʿallimun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مُعَلِّمٌ.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muʿallimun.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PARTNER EVIDENCE GRID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did your partner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الزَّمِيلِ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“secure” sounds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Direction and tracking</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Begins at the right and keeps the word order.</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Base letters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Tells the dots, shape families and hamza apart.</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Vowels and marks</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Reads short/long vowels, sukūn and shadda.</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Blend and reread</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Blends without invented vowels, then rereads smoothly.</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five READ steps.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 simple fully vowelled word aloud.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sukūn and shadda without an extra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decode without permanent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reread more smoothly without dropping marks.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 in READ stand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 edge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quickly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NOT do after a sukūn?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 an extra vowel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the chunk</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fluency?</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smoother accurate reread</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Racing and dropping vowels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 in READ stand for?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 edge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quickly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Start at the right.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NOT do after a sukūn?</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Add an extra vowel</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the chunk</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 not maka-.</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fluency?</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smoother accurate reread</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Racing and dropping vowels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first (website).</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3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F1-L09 · Write Clearly, Then Fluently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handwriting, script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سَطْرٌ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line (of writing)</a:t>
            </a:r>
            <a:pPr indent="0" marL="0">
              <a:buNone/>
            </a:pPr>
            <a:r>
              <a:rPr lang="en-US" sz="1000" i="1" dirty="0">
                <a:solidFill>
                  <a:srgbClr val="5A6472"/>
                </a:solidFill>
                <a:latin typeface="Calibri" pitchFamily="34" charset="0"/>
                <a:ea typeface="Calibri" pitchFamily="34" charset="-122"/>
                <a:cs typeface="Calibri" pitchFamily="34" charset="-120"/>
              </a:rPr>
              <a:t>  pl. أَسْطُرٌ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إِمْلَاءٌ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dictation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دَفْتَرٌ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exercise book</a:t>
            </a:r>
            <a:pPr indent="0" marL="0">
              <a:buNone/>
            </a:pPr>
            <a:r>
              <a:rPr lang="en-US" sz="1000" i="1" dirty="0">
                <a:solidFill>
                  <a:srgbClr val="5A6472"/>
                </a:solidFill>
                <a:latin typeface="Calibri" pitchFamily="34" charset="0"/>
                <a:ea typeface="Calibri" pitchFamily="34" charset="-122"/>
                <a:cs typeface="Calibri" pitchFamily="34" charset="-120"/>
              </a:rPr>
              <a:t>  pl. دَفَاتِرُ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pen</a:t>
            </a:r>
            <a:pPr indent="0" marL="0">
              <a:buNone/>
            </a:pPr>
            <a:r>
              <a:rPr lang="en-US" sz="1000" i="1" dirty="0">
                <a:solidFill>
                  <a:srgbClr val="5A6472"/>
                </a:solidFill>
                <a:latin typeface="Calibri" pitchFamily="34" charset="0"/>
                <a:ea typeface="Calibri" pitchFamily="34" charset="-122"/>
                <a:cs typeface="Calibri" pitchFamily="34" charset="-120"/>
              </a:rPr>
              <a:t>  pl. أَقْلَامٌ</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Practise your reading strip aloud five times; after each read, note one error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حَرْفٌ · عَلَامَةٌ · تَقْطِيعٌ · وَقْفٌ</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F1-L08 · the picture game; read the Level 1 strip five times.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read the Level 2 strip five times; mark one error category each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Level 3 strip five times; time reads 1 and 5 only if both are accurate.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F1-L09 · Write Clearly, Then Fluently</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التَّدْرِيبُ عَلَى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your strip 5 times + bring a lined book.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F1-L08 · From Marks to Meaning: Reading Aloud</dc:title>
  <dc:subject>PptxGenJS Presentation</dc:subject>
  <dc:creator>Al Madina Online School · Arabic Department</dc:creator>
  <cp:lastModifiedBy>Al Madina Online School · Arabic Department</cp:lastModifiedBy>
  <cp:revision>1</cp:revision>
  <dcterms:created xsi:type="dcterms:W3CDTF">2026-09-27T09:34:35Z</dcterms:created>
  <dcterms:modified xsi:type="dcterms:W3CDTF">2026-09-27T09:34:35Z</dcterms:modified>
</cp:coreProperties>
</file>