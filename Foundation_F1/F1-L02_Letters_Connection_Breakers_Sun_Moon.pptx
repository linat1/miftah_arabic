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2 (F1-L02). The website lesson teaches the connection breakers د ذ ر ز (two dot pairs), the tooth family س ش and the first emphatic letter ص, the connection rule (“does not connect to the following letter on its left”), and oral sun/moon awareness with ال. The retrieval check, listening script, pronunciation focus, sun/moon charts, formation tracker, partner games and the eight-item final check are the website’s. Note: the website’s visual game for this lesson repeats the F1-L01 letters, so the letter detective here uses today’s letters (teacher-made).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name the 7 new letters and their main sounds; sort the four breakers. DEVELOP: explain the dot and shape clues and the connection rule. STRETCH: letters 1–14 in order from memory; sun and moon letters without the chart.
• Sun/moon is an ORAL awareness rule today (website scope): students listen for whether the l of ال is heard — they do not need to read the whole words.
• Heritage / Urdu readers: Urdu has these shapes, but ذ ز and ص are all said /z/ or /s/ in Urdu — the key MSA contrasts today are ذ /ð/ vs ز /z/ and ص /sˤ/ vs س /s/.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“F1-L01 readiness check” (3–4 correct → continue; 0–2 → quick repair of the families).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Four letters never hold hands with the letter on their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F1-L02 outcomes (Core · Develop · Stretch · Heritage).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shapes and most names are the same. The SOUNDS differ: Urdu ذال is said /z/ but Arabic ذ is /ð/ (“this”); Urdu صاد is /s/ but Arabic ص is an emphatic, darker /sˤ/. These are the two big corrections for heritage readers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8–11 (website Part 1). Each pair shares a body; the dot makes the partner. Accuracy point (website): the dot of ذ is ABOVE, never below.
Pronunciation (website): د /d/ as in “door” · ذ /ð/ tongue tip lightly at the teeth, as in “this” — not /z/ or /d/ · ر a light tap or short trill at the front of the mouth, not the English r · ز /z/ a buzzing sound, as in “zoo”.
Isolated forms only today; positional forms come in F1-L05.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NEW LETTERS 12–14 (website Part 2). Count the three tooth-like rises in س ش before looking at the dots.
ص is the first EMPHATIC letter: no English equivalent. Start with /s/, then raise the back of the tongue — a darker, fuller sound (website). Keep it distinct from plain س.
Website preview only: ض (letter 15, the dotted partner of ص) is taught in F1-L03.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CONNECTION RULE (website): د ذ ر ز may connect to a letter on their RIGHT, but they do not connect to the following letter on their LEFT. Say the side clearly — “does not connect to the following letter on its left” is clearer than “never joins” (website precision note).
Card 3 is a teacher addition preparing F1-L05 (alif and wāw behave the same way).
Gesture: hold hands with a partner on the right; the left hand stays in your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PRONUNCIATION (2 min) — website pronunciation focus and contrasts. Model 3 times; students echo muted; then volunteers (invitation only). ش /ʃ/ as in “ship” is usually easy — praise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FORMATION (5 min). Website sequence: study the demonstrated model → air-write → form four times on lined paper → tick only after checking body shape and dot placement. Isolated forms only.
Watch for: ر ز sit ON the line and dip below it — not like د; the teeth of س must be three and even; the loop of ص is flat and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“Connection Gate” (classify each new letter; the rule is about connection behaviour, not reading direction). Students copy the two headings and sort. Stretch: add ا to the right column? (No — alif also breaks: teacher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game “Connection Gate” (classify each new letter; the rule is about connection behaviour, not reading direction). Students copy the two headings and sort. Stretch: add ا to the right column? (No — alif also breaks: teacher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based on the website game “Letter Detective” (use shape, dots and sound together — guessing from one clue is less reliable).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then partner flash (website): A shows a letter, B says name + sound + “break” or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 AND CHOOSE (3 min) — website “Sound corners” and pronunciation contrasts. Read each cue aloud twice; do not show the Arabic spelling or any transliteration. Students choose the letter shape.
CUES (read aloud):
1. /ð/ (as in “this”)
2. /sˤ/ (dark s)
3. /ʃ/ (as in “ship”)
4. /z/ (as in “zoo”)
5. /r/ (tapped)
Say only the short sound. Stretch pairs: ذ/ز and س/ص.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SUN AND MOON (website Part 3) — an oral awareness rule for now: listen for whether the lām is heard.
• Moon: the l of ال is heard clearly (al-qamar). • Sun: the l is not heard; the next sound is said strongly/doubled (ash-shams). The shadda is taught formally later.
Of the first fourteen letters, nine are sun letters (ت ث د ذ ر ز س ش ص) and five are moon letters (ا ب ج ح خ) — website charts.
Memory hook: the tongue letters (made with the tip of the tongue) are usually sun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LISTENING (3 min). Read each word twice clearly; students write S or M in their books first, then answer. Students do NOT need to read the words — this is listening only (website scope).
Script: الشَّمْسُ. السَّمَكُ. الدَّرْسُ. القَمَرُ. الكِتَابُ. الوَرْدُ.
Answers (website): Sun — الشَّمْسُ، السَّمَكُ، الدَّرْسُ · Moon — القَمَرُ، الكِتَابُ، الوَرْدُ.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a sun card / moon card on camera (website “Sun/moon response”) for each word as you say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“Sunlight or Moonlight?” (sort all fourteen learned letters). Stretch: without the chart. Core: use the rule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“Sunlight or Moonlight?” (sort all fourteen learned letters). Stretch: without the chart. Core: use the rule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WRITING (7 min). Stretch task = the website homework. LIVE FEEDBACK after 3 minutes: books to camera; check ر ز dip below the line and the three teeth of س 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(And this one?)
B: هٰذَا سِينٌ. يَتَّصِلُ. (This is sīn. It connects.)
PARTNER FLASH (website): A shows one of the 14 letters; B says its name and main sound; for today’s letters add “break” or “connect”. Swap after seven cards. Prompts: What is this letter? · Does it connect? · Sun or moon? · Explain the rule.
Heritage extension (website): write الشَّمْسُ and الْقَمَرُ, underline ال, circle the first letter after it, and explain why the pronunciation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drawn from the website accuracy points and pronunciation focus. Students check their writing against rows 1–3 and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(F1-L03 · Powerful Sounds &amp; Long Vowels) will spend class time USING this language, so students prepare it tonight — short, simple, easy to access (school guidance: “Simple, Short, Interesting, Relevant, Easy to access”). Next lesson adds eight letters (ض ط ظ ع غ ف ق ك) and the long vowels. Preview five of them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New Letter Families &amp; Connection Breakers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الحُرُوفُ مِنْ ٨ إِلَى ١٤</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Learn seven new letters (</a:t>
            </a:r>
            <a:pPr algn="l" indent="0" marL="0">
              <a:buNone/>
            </a:pPr>
            <a:r>
              <a:rPr lang="ar-SA" altLang="en-US" sz="1800" dirty="0">
                <a:solidFill>
                  <a:srgbClr val="C6D2E6"/>
                </a:solidFill>
                <a:latin typeface="Amiri" pitchFamily="2" charset="-78"/>
                <a:ea typeface="Amiri" pitchFamily="2" charset="-78"/>
                <a:cs typeface="Amiri" pitchFamily="2" charset="-78"/>
              </a:rPr>
              <a:t>د ذ ر ز</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س ش ص</a:t>
            </a:r>
            <a:pPr algn="l" indent="0" marL="0">
              <a:buNone/>
            </a:pPr>
            <a:r>
              <a:rPr lang="en-US" sz="1400" dirty="0">
                <a:solidFill>
                  <a:srgbClr val="C6D2E6"/>
                </a:solidFill>
                <a:latin typeface="Calibri" pitchFamily="34" charset="0"/>
                <a:cs typeface="Amiri" pitchFamily="2" charset="-78"/>
              </a:rPr>
              <a:t>), find out which four letters break a connection, and hear the difference between sun letters and moon letters after </a:t>
            </a:r>
            <a:pPr algn="l" indent="0" marL="0">
              <a:buNone/>
            </a:pPr>
            <a:r>
              <a:rPr lang="ar-SA" altLang="en-US" sz="1800" dirty="0">
                <a:solidFill>
                  <a:srgbClr val="C6D2E6"/>
                </a:solidFill>
                <a:latin typeface="Amiri" pitchFamily="2" charset="-78"/>
                <a:ea typeface="Amiri" pitchFamily="2" charset="-78"/>
                <a:cs typeface="Amiri" pitchFamily="2" charset="-78"/>
              </a:rPr>
              <a:t>ال</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F1-L02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Seven new letters and the connection rule.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Connection gate, letter detective, sun or moon.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alif?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THREE dots above?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bowl-family letter has NO dot?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an Arabic line begin?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left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right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dāl (prepared at home)?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alif?</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F1-L01: alif is first and separate.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THREE dots above?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F1-L01: thāʾ.</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bowl-family letter has NO dot?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F1-L01: ḥāʾ — same bowl, no dot.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an Arabic line begin?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left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middle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right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F1-L01: right-hand side.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dāl (prepared at home)?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dāl /d/.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Four letters never hold hands with the letter on their LEFT.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   ذ   ر   ز</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name letters 8–14.</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shape and dot clues to tell them apart.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which four letters break a connection.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whether the l of </a:t>
            </a:r>
            <a:pPr algn="l" indent="0" marL="0">
              <a:buNone/>
            </a:pPr>
            <a:r>
              <a:rPr lang="ar-SA" altLang="en-US" sz="1700" dirty="0">
                <a:solidFill>
                  <a:srgbClr val="1F2A37"/>
                </a:solidFill>
                <a:latin typeface="Amiri" pitchFamily="2" charset="-78"/>
                <a:ea typeface="Amiri" pitchFamily="2" charset="-78"/>
                <a:cs typeface="Amiri" pitchFamily="2" charset="-78"/>
              </a:rPr>
              <a:t>ال</a:t>
            </a:r>
            <a:pPr algn="l" indent="0" marL="0">
              <a:buNone/>
            </a:pPr>
            <a:r>
              <a:rPr lang="en-US" sz="1300" dirty="0">
                <a:solidFill>
                  <a:srgbClr val="1F2A37"/>
                </a:solidFill>
                <a:latin typeface="Calibri" pitchFamily="34" charset="0"/>
                <a:cs typeface="Amiri" pitchFamily="2" charset="-78"/>
              </a:rPr>
              <a:t> is said (moon) or absorbed (sun).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7 new letters and say their sounds.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the four connection breakers.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the dot clue for each new letter.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the connection rule clearly.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letters 1–14 in order from memory.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sort the letters into sun and moon without the chart.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7 new letters in 2 groups, plus one sound rule. We now know 14 of the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Breakers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Teeth + ص · 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RULE</a:t>
            </a:r>
            <a:endParaRPr lang="en-US" sz="900" dirty="0"/>
          </a:p>
          <a:p>
            <a:pPr indent="0" marL="0">
              <a:buNone/>
            </a:pPr>
            <a:r>
              <a:rPr lang="en-US" sz="1200" b="1" dirty="0">
                <a:solidFill>
                  <a:srgbClr val="FFFFFF"/>
                </a:solidFill>
                <a:latin typeface="Calibri" pitchFamily="34" charset="0"/>
                <a:cs typeface="Amiri" pitchFamily="2" charset="-78"/>
              </a:rPr>
              <a:t>Sun and moon</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‎دال‎ </a:t>
            </a:r>
            <a:pPr indent="0" marL="0">
              <a:buNone/>
            </a:pPr>
            <a:r>
              <a:rPr lang="en-US" sz="950" b="1" dirty="0">
                <a:solidFill>
                  <a:srgbClr val="2E8B57"/>
                </a:solidFill>
                <a:latin typeface="Calibri" pitchFamily="34" charset="0"/>
                <a:cs typeface="Amiri" pitchFamily="2" charset="-78"/>
              </a:rPr>
              <a:t> dāl · dāl — the same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ذ</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‎ذال‎ </a:t>
            </a:r>
            <a:pPr indent="0" marL="0">
              <a:buNone/>
            </a:pPr>
            <a:r>
              <a:rPr lang="en-US" sz="950" b="1" dirty="0">
                <a:solidFill>
                  <a:srgbClr val="2E8B57"/>
                </a:solidFill>
                <a:latin typeface="Calibri" pitchFamily="34" charset="0"/>
                <a:cs typeface="Amiri" pitchFamily="2" charset="-78"/>
              </a:rPr>
              <a:t> zāl · Arabic: dhāl /ð/ (this)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‎رے‎ </a:t>
            </a:r>
            <a:pPr indent="0" marL="0">
              <a:buNone/>
            </a:pPr>
            <a:r>
              <a:rPr lang="en-US" sz="950" b="1" dirty="0">
                <a:solidFill>
                  <a:srgbClr val="2E8B57"/>
                </a:solidFill>
                <a:latin typeface="Calibri" pitchFamily="34" charset="0"/>
                <a:cs typeface="Amiri" pitchFamily="2" charset="-78"/>
              </a:rPr>
              <a:t> rē · Arabic: rāʾ</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‎شین‎ </a:t>
            </a:r>
            <a:pPr indent="0" marL="0">
              <a:buNone/>
            </a:pPr>
            <a:r>
              <a:rPr lang="en-US" sz="950" b="1" dirty="0">
                <a:solidFill>
                  <a:srgbClr val="2E8B57"/>
                </a:solidFill>
                <a:latin typeface="Calibri" pitchFamily="34" charset="0"/>
                <a:cs typeface="Amiri" pitchFamily="2" charset="-78"/>
              </a:rPr>
              <a:t> shīn · shīn — the same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‎صاد‎ </a:t>
            </a:r>
            <a:pPr indent="0" marL="0">
              <a:buNone/>
            </a:pPr>
            <a:r>
              <a:rPr lang="en-US" sz="950" b="1" dirty="0">
                <a:solidFill>
                  <a:srgbClr val="2E8B57"/>
                </a:solidFill>
                <a:latin typeface="Calibri" pitchFamily="34" charset="0"/>
                <a:cs typeface="Amiri" pitchFamily="2" charset="-78"/>
              </a:rPr>
              <a:t> swād · Arabic: ṣād /sˤ/</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LETTERS · GROUP 1 · THE CONNECTION BREAKERS (TWO 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Letters that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لَا تَتَّصِلُ بِمَا بَعْدَهَا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1</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د</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dāl — sound /d/ (door)</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دَالٌ</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ذ</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dhāl — sound /ð/ (this)</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ذَالٌ</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2</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ر</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rāʾ — sound /r/ (tapped r)</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2</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ز</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zāy — sound /z/ (zoo)</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زَايٌ</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LETTERS · GROUP 2 · THE TOOTH FAMILY AND THE FIRST EMPHATIC LETTER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tooth family and ṣād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السِّينُ وَالشِّينُ وَالصَّادُ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tooth family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س</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sīn — sound /s/ (sun)</a:t>
            </a:r>
            <a:endParaRPr lang="en-US" sz="1350" dirty="0"/>
          </a:p>
          <a:p>
            <a:pPr indent="0" marL="0">
              <a:buNone/>
            </a:pPr>
            <a:r>
              <a:rPr lang="en-US" sz="1100" i="1" dirty="0">
                <a:solidFill>
                  <a:srgbClr val="5A6472"/>
                </a:solidFill>
                <a:latin typeface="Calibri" pitchFamily="34" charset="0"/>
                <a:cs typeface="Amiri" pitchFamily="2" charset="-78"/>
              </a:rPr>
              <a:t>three “teeth” · no dots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سِينٌ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tooth family</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ش</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shīn — sound /ʃ/ (ship)</a:t>
            </a:r>
            <a:endParaRPr lang="en-US" sz="1350" dirty="0"/>
          </a:p>
          <a:p>
            <a:pPr indent="0" marL="0">
              <a:buNone/>
            </a:pPr>
            <a:r>
              <a:rPr lang="en-US" sz="1100" i="1" dirty="0">
                <a:solidFill>
                  <a:srgbClr val="5A6472"/>
                </a:solidFill>
                <a:latin typeface="Calibri" pitchFamily="34" charset="0"/>
                <a:cs typeface="Amiri" pitchFamily="2" charset="-78"/>
              </a:rPr>
              <a:t>THREE dots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شِينٌ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ص</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ṣād — emphatic /sˤ/ (dark s)</a:t>
            </a:r>
            <a:endParaRPr lang="en-US" sz="1350" dirty="0"/>
          </a:p>
          <a:p>
            <a:pPr indent="0" marL="0">
              <a:buNone/>
            </a:pPr>
            <a:r>
              <a:rPr lang="en-US" sz="1100" i="1" dirty="0">
                <a:solidFill>
                  <a:srgbClr val="5A6472"/>
                </a:solidFill>
                <a:latin typeface="Calibri" pitchFamily="34" charset="0"/>
                <a:cs typeface="Amiri" pitchFamily="2" charset="-78"/>
              </a:rPr>
              <a:t>no dot · a loop</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صَادٌ</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THE CONNECTION RULE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letters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قَاعِدَةُ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BREAKERS</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 ذ ر ز</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د ذ ر ز</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They join the letter on their RIGHT but NOT the letter on their LEFT.</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After them there is a visible gap before the next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CONNECTORS</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س ش ص</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 ش ص</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They can join on BOTH sides.</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…when the neighbouring letters allow it.</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ALIF TOO</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Alif also does not join the letter after it.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Remember: </a:t>
            </a:r>
            <a:pPr algn="l" indent="0" marL="0">
              <a:buNone/>
            </a:pPr>
            <a:r>
              <a:rPr lang="ar-SA" altLang="en-US" sz="1450" dirty="0">
                <a:solidFill>
                  <a:srgbClr val="1F2A37"/>
                </a:solidFill>
                <a:latin typeface="Amiri" pitchFamily="2" charset="-78"/>
                <a:ea typeface="Amiri" pitchFamily="2" charset="-78"/>
                <a:cs typeface="Amiri" pitchFamily="2" charset="-78"/>
              </a:rPr>
              <a:t>ا د ذ ر ز</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و</a:t>
            </a:r>
            <a:pPr algn="l" indent="0" marL="0">
              <a:buNone/>
            </a:pPr>
            <a:r>
              <a:rPr lang="en-US" sz="1100" dirty="0">
                <a:solidFill>
                  <a:srgbClr val="1F2A37"/>
                </a:solidFill>
                <a:latin typeface="Calibri" pitchFamily="34" charset="0"/>
                <a:cs typeface="Amiri" pitchFamily="2" charset="-78"/>
              </a:rPr>
              <a:t> later) are the “lonely” letters.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SAY IT RIGHT (WEBSITE PRONUNCIATION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contrasts to practise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أَصْوَاتٌ مُتَقَارِبَةٌ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/ð/ vs /z/</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this vs zoo</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ذ   ز</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ar-SA" altLang="en-US" sz="1550" dirty="0">
                <a:solidFill>
                  <a:srgbClr val="5A6472"/>
                </a:solidFill>
                <a:latin typeface="Amiri" pitchFamily="2" charset="-78"/>
                <a:ea typeface="Amiri" pitchFamily="2" charset="-78"/>
                <a:cs typeface="Amiri" pitchFamily="2" charset="-78"/>
              </a:rPr>
              <a:t>ذ</a:t>
            </a:r>
            <a:pPr algn="ctr" indent="0" marL="0">
              <a:buNone/>
            </a:pPr>
            <a:r>
              <a:rPr lang="en-US" sz="1200" i="1" dirty="0">
                <a:solidFill>
                  <a:srgbClr val="5A6472"/>
                </a:solidFill>
                <a:latin typeface="Calibri" pitchFamily="34" charset="0"/>
                <a:cs typeface="Amiri" pitchFamily="2" charset="-78"/>
              </a:rPr>
              <a:t>: tongue at the teeth · </a:t>
            </a:r>
            <a:pPr algn="ctr" indent="0" marL="0">
              <a:buNone/>
            </a:pPr>
            <a:r>
              <a:rPr lang="ar-SA" altLang="en-US" sz="1550" dirty="0">
                <a:solidFill>
                  <a:srgbClr val="5A6472"/>
                </a:solidFill>
                <a:latin typeface="Amiri" pitchFamily="2" charset="-78"/>
                <a:ea typeface="Amiri" pitchFamily="2" charset="-78"/>
                <a:cs typeface="Amiri" pitchFamily="2" charset="-78"/>
              </a:rPr>
              <a:t>ز</a:t>
            </a:r>
            <a:pPr algn="ctr" indent="0" marL="0">
              <a:buNone/>
            </a:pPr>
            <a:r>
              <a:rPr lang="en-US" sz="1200" i="1" dirty="0">
                <a:solidFill>
                  <a:srgbClr val="5A6472"/>
                </a:solidFill>
                <a:latin typeface="Calibri" pitchFamily="34" charset="0"/>
                <a:cs typeface="Amiri" pitchFamily="2" charset="-78"/>
              </a:rPr>
              <a:t>: buzzing.</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Heritage readers: </a:t>
            </a:r>
            <a:pPr algn="l" indent="0" marL="0">
              <a:buNone/>
            </a:pPr>
            <a:r>
              <a:rPr lang="ar-SA" altLang="en-US" sz="1450" dirty="0">
                <a:solidFill>
                  <a:srgbClr val="1F2A37"/>
                </a:solidFill>
                <a:latin typeface="Amiri" pitchFamily="2" charset="-78"/>
                <a:ea typeface="Amiri" pitchFamily="2" charset="-78"/>
                <a:cs typeface="Amiri" pitchFamily="2" charset="-78"/>
              </a:rPr>
              <a:t>ذ</a:t>
            </a:r>
            <a:pPr algn="l" indent="0" marL="0">
              <a:buNone/>
            </a:pPr>
            <a:r>
              <a:rPr lang="en-US" sz="1100" dirty="0">
                <a:solidFill>
                  <a:srgbClr val="1F2A37"/>
                </a:solidFill>
                <a:latin typeface="Calibri" pitchFamily="34" charset="0"/>
                <a:cs typeface="Amiri" pitchFamily="2" charset="-78"/>
              </a:rPr>
              <a:t> is not /z/ in Arabic.</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 vs /sˤ/</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plain vs dark</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   ص</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ar-SA" altLang="en-US" sz="1550" dirty="0">
                <a:solidFill>
                  <a:srgbClr val="5A6472"/>
                </a:solidFill>
                <a:latin typeface="Amiri" pitchFamily="2" charset="-78"/>
                <a:ea typeface="Amiri" pitchFamily="2" charset="-78"/>
                <a:cs typeface="Amiri" pitchFamily="2" charset="-78"/>
              </a:rPr>
              <a:t>ص</a:t>
            </a:r>
            <a:pPr algn="ctr" indent="0" marL="0">
              <a:buNone/>
            </a:pPr>
            <a:r>
              <a:rPr lang="en-US" sz="1200" i="1" dirty="0">
                <a:solidFill>
                  <a:srgbClr val="5A6472"/>
                </a:solidFill>
                <a:latin typeface="Calibri" pitchFamily="34" charset="0"/>
                <a:cs typeface="Amiri" pitchFamily="2" charset="-78"/>
              </a:rPr>
              <a:t>: back of the tongue up, a fuller sound.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Louder is not more accurate — keep it focused.</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4800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rāʾ</a:t>
            </a:r>
            <a:endParaRPr lang="en-US" sz="850" dirty="0"/>
          </a:p>
        </p:txBody>
      </p:sp>
      <p:sp>
        <p:nvSpPr>
          <p:cNvPr id="34" name="Text 31"/>
          <p:cNvSpPr txBox="1"/>
          <p:nvPr/>
        </p:nvSpPr>
        <p:spPr>
          <a:xfrm>
            <a:off x="1120140" y="1874520"/>
            <a:ext cx="28361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tap it</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ر</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quick tap of the tongue behind the teeth.</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the English 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the shape of </a:t>
            </a:r>
            <a:pPr algn="l" indent="0" marL="0">
              <a:buNone/>
            </a:pPr>
            <a:r>
              <a:rPr lang="ar-SA" altLang="en-US" sz="1650" b="1" dirty="0">
                <a:solidFill>
                  <a:srgbClr val="1B3B6F"/>
                </a:solidFill>
                <a:latin typeface="Amiri" pitchFamily="2" charset="-78"/>
                <a:ea typeface="Amiri" pitchFamily="2" charset="-78"/>
                <a:cs typeface="Amiri" pitchFamily="2" charset="-78"/>
              </a:rPr>
              <a:t>د</a:t>
            </a:r>
            <a:pPr algn="l" indent="0" marL="0">
              <a:buNone/>
            </a:pPr>
            <a:r>
              <a:rPr lang="en-US" sz="1250" b="1" dirty="0">
                <a:solidFill>
                  <a:srgbClr val="1B3B6F"/>
                </a:solidFill>
                <a:latin typeface="Calibri" pitchFamily="34" charset="0"/>
                <a:cs typeface="Amiri" pitchFamily="2" charset="-78"/>
              </a:rPr>
              <a:t> plus one dot above?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dotted partner of </a:t>
            </a:r>
            <a:pPr algn="l" indent="0" marL="0">
              <a:buNone/>
            </a:pPr>
            <a:r>
              <a:rPr lang="ar-SA" altLang="en-US" sz="1650" b="1" dirty="0">
                <a:solidFill>
                  <a:srgbClr val="1B3B6F"/>
                </a:solidFill>
                <a:latin typeface="Amiri" pitchFamily="2" charset="-78"/>
                <a:ea typeface="Amiri" pitchFamily="2" charset="-78"/>
                <a:cs typeface="Amiri" pitchFamily="2" charset="-78"/>
              </a:rPr>
              <a:t>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tooth-family letter has three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set contains only today’s connection breakers?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 ذ، ر، ز</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 ش، ص</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 ت، ث</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is the shape of </a:t>
            </a:r>
            <a:pPr algn="l" indent="0" marL="0">
              <a:buNone/>
            </a:pPr>
            <a:r>
              <a:rPr lang="ar-SA" altLang="en-US" sz="1650" b="1" dirty="0">
                <a:solidFill>
                  <a:srgbClr val="1B3B6F"/>
                </a:solidFill>
                <a:latin typeface="Amiri" pitchFamily="2" charset="-78"/>
                <a:ea typeface="Amiri" pitchFamily="2" charset="-78"/>
                <a:cs typeface="Amiri" pitchFamily="2" charset="-78"/>
              </a:rPr>
              <a:t>د</a:t>
            </a:r>
            <a:pPr algn="l" indent="0" marL="0">
              <a:buNone/>
            </a:pPr>
            <a:r>
              <a:rPr lang="en-US" sz="1250" b="1" dirty="0">
                <a:solidFill>
                  <a:srgbClr val="1B3B6F"/>
                </a:solidFill>
                <a:latin typeface="Calibri" pitchFamily="34" charset="0"/>
                <a:cs typeface="Amiri" pitchFamily="2" charset="-78"/>
              </a:rPr>
              <a:t> plus one dot above?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ذ</a:t>
            </a:r>
            <a:pPr algn="l" indent="0" marL="0">
              <a:buNone/>
            </a:pPr>
            <a:r>
              <a:rPr lang="en-US" sz="1050" i="1" dirty="0">
                <a:solidFill>
                  <a:srgbClr val="8A6D1E"/>
                </a:solidFill>
                <a:latin typeface="Calibri" pitchFamily="34" charset="0"/>
                <a:cs typeface="Amiri" pitchFamily="2" charset="-78"/>
              </a:rPr>
              <a:t> dhāl.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dotted partner of </a:t>
            </a:r>
            <a:pPr algn="l" indent="0" marL="0">
              <a:buNone/>
            </a:pPr>
            <a:r>
              <a:rPr lang="ar-SA" altLang="en-US" sz="1650" b="1" dirty="0">
                <a:solidFill>
                  <a:srgbClr val="1B3B6F"/>
                </a:solidFill>
                <a:latin typeface="Amiri" pitchFamily="2" charset="-78"/>
                <a:ea typeface="Amiri" pitchFamily="2" charset="-78"/>
                <a:cs typeface="Amiri" pitchFamily="2" charset="-78"/>
              </a:rPr>
              <a:t>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a:t>
            </a:r>
            <a:pPr algn="l" indent="0" marL="0">
              <a:buNone/>
            </a:pPr>
            <a:r>
              <a:rPr lang="en-US" sz="1050" i="1" dirty="0">
                <a:solidFill>
                  <a:srgbClr val="8A6D1E"/>
                </a:solidFill>
                <a:latin typeface="Calibri" pitchFamily="34" charset="0"/>
                <a:cs typeface="Amiri" pitchFamily="2" charset="-78"/>
              </a:rPr>
              <a:t> zāy.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tooth-family letter has three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a:t>
            </a:r>
            <a:pPr algn="l" indent="0" marL="0">
              <a:buNone/>
            </a:pPr>
            <a:r>
              <a:rPr lang="en-US" sz="1050" i="1" dirty="0">
                <a:solidFill>
                  <a:srgbClr val="8A6D1E"/>
                </a:solidFill>
                <a:latin typeface="Calibri" pitchFamily="34" charset="0"/>
                <a:cs typeface="Amiri" pitchFamily="2" charset="-78"/>
              </a:rPr>
              <a:t> shīn.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set contains only today’s connection breakers?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 ذ، ر، ز</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 ش، ص</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 ت، 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 ذ ر ز</a:t>
            </a:r>
            <a:pPr algn="l" indent="0" marL="0">
              <a:buNone/>
            </a:pPr>
            <a:r>
              <a:rPr lang="en-US" sz="1050" i="1" dirty="0">
                <a:solidFill>
                  <a:srgbClr val="8A6D1E"/>
                </a:solidFill>
                <a:latin typeface="Calibri" pitchFamily="34" charset="0"/>
                <a:cs typeface="Amiri" pitchFamily="2" charset="-78"/>
              </a:rPr>
              <a:t> do not connect to the following letter.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write the seven new letters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د</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دَال</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Short slope down to the right.</a:t>
            </a:r>
            <a:endParaRPr lang="en-US" sz="100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Flat base to the left.</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د</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د</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ذ</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ذَال</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د</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ذ</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ذ</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ر</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رَاء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Start on the line.</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Curve down below the line.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ر</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ر</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ز</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زَاي</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ر</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dot above.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ز</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ز</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س</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سِين</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cs typeface="Amiri" pitchFamily="2" charset="-78"/>
              </a:rPr>
              <a:t>Three small teeth, right → left.</a:t>
            </a:r>
            <a:endParaRPr lang="en-US" sz="9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Big bowl below the line.</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س</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س</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ش</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شِين</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Write </a:t>
            </a:r>
            <a:pPr algn="l" indent="0" marL="0">
              <a:buNone/>
            </a:pPr>
            <a:r>
              <a:rPr lang="ar-SA" altLang="en-US" sz="1350" dirty="0">
                <a:solidFill>
                  <a:srgbClr val="1F2A37"/>
                </a:solidFill>
                <a:latin typeface="Amiri" pitchFamily="2" charset="-78"/>
                <a:ea typeface="Amiri" pitchFamily="2" charset="-78"/>
                <a:cs typeface="Amiri" pitchFamily="2" charset="-78"/>
              </a:rPr>
              <a:t>س</a:t>
            </a:r>
            <a:pPr algn="l" indent="0" marL="0">
              <a:buNone/>
            </a:pPr>
            <a:r>
              <a:rPr lang="en-US" sz="1050" dirty="0">
                <a:solidFill>
                  <a:srgbClr val="1F2A37"/>
                </a:solidFill>
                <a:latin typeface="Calibri" pitchFamily="34" charset="0"/>
                <a:cs typeface="Amiri" pitchFamily="2" charset="-78"/>
              </a:rPr>
              <a:t>.</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THREE dots above.</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ش</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ش</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ص</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صَاد</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flat loop first.</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tooth, then the bowl.</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ص</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ص</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“CONNECTION GATE”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Break or connect?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بَوَّابَةُ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a:t>
            </a:r>
            <a:endParaRPr lang="ar-SA" sz="1800" dirty="0"/>
          </a:p>
        </p:txBody>
      </p:sp>
      <p:sp>
        <p:nvSpPr>
          <p:cNvPr id="29" name="Shape 26"/>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Breaks after it</a:t>
            </a:r>
            <a:endParaRPr lang="en-US" sz="950" dirty="0"/>
          </a:p>
        </p:txBody>
      </p:sp>
      <p:sp>
        <p:nvSpPr>
          <p:cNvPr id="32" name="Shape 29"/>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Connects on both sides</a:t>
            </a:r>
            <a:endParaRPr lang="en-US" sz="9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CONNECTION GATE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Breaks after it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Connects on both sides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a:t>
            </a:r>
            <a:endParaRPr lang="ar-SA" sz="180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GAME “LETTER DETECTIVE” (SHAPE + DOTS + SOUND)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ذ</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دَالٌ</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زَايٌ</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ذَالٌ</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ر</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شِينٌ</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صَادٌ</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شِينٌ</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صَادٌ</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ز</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زَايٌ</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رَاءٌ</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ذَالٌ</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TWO clues:</a:t>
            </a:r>
            <a:endParaRPr lang="en-US" sz="1250" dirty="0"/>
          </a:p>
          <a:p>
            <a:pPr algn="l" indent="0" marL="0">
              <a:buNone/>
            </a:pPr>
            <a:r>
              <a:rPr lang="en-US" sz="1250" dirty="0">
                <a:solidFill>
                  <a:srgbClr val="1E6B52"/>
                </a:solidFill>
                <a:latin typeface="Calibri" pitchFamily="34" charset="0"/>
                <a:cs typeface="Amiri" pitchFamily="2" charset="-78"/>
              </a:rPr>
              <a:t>1. the shape (body, teeth, loop)</a:t>
            </a:r>
            <a:endParaRPr lang="en-US" sz="1250" dirty="0"/>
          </a:p>
          <a:p>
            <a:pPr algn="l" indent="0" marL="0">
              <a:buNone/>
            </a:pPr>
            <a:r>
              <a:rPr lang="en-US" sz="1250" dirty="0">
                <a:solidFill>
                  <a:srgbClr val="1E6B52"/>
                </a:solidFill>
                <a:latin typeface="Calibri" pitchFamily="34" charset="0"/>
                <a:cs typeface="Amiri" pitchFamily="2" charset="-78"/>
              </a:rPr>
              <a:t>2. the dots (how many? where?)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ذ</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دَالٌ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زَايٌ</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ذَالٌ</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Shape of dāl + one dot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ر</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زَايٌ</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رَاءٌ</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دَالٌ</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rāʾ: dips below the line, no dot.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a:t>
            </a:r>
            <a:endParaRPr lang="ar-SA" sz="170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شِينٌ</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صَادٌ</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Three teeth + three dots.</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شِينٌ</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صَادٌ</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loop — the emphatic ṣād.</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ز</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زَايٌ</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رَاءٌ</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ذَالٌ</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Shape of rāʾ + one dot.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Use TWO clues:</a:t>
            </a:r>
            <a:endParaRPr lang="en-US" sz="1250" dirty="0"/>
          </a:p>
          <a:p>
            <a:pPr algn="l" indent="0" marL="0">
              <a:buNone/>
            </a:pPr>
            <a:r>
              <a:rPr lang="en-US" sz="1250" dirty="0">
                <a:solidFill>
                  <a:srgbClr val="1E6B52"/>
                </a:solidFill>
                <a:latin typeface="Calibri" pitchFamily="34" charset="0"/>
                <a:cs typeface="Amiri" pitchFamily="2" charset="-78"/>
              </a:rPr>
              <a:t>1. the shape (body, teeth, loop)</a:t>
            </a:r>
            <a:endParaRPr lang="en-US" sz="1250" dirty="0"/>
          </a:p>
          <a:p>
            <a:pPr algn="l" indent="0" marL="0">
              <a:buNone/>
            </a:pPr>
            <a:r>
              <a:rPr lang="en-US" sz="1250" dirty="0">
                <a:solidFill>
                  <a:srgbClr val="1E6B52"/>
                </a:solidFill>
                <a:latin typeface="Calibri" pitchFamily="34" charset="0"/>
                <a:cs typeface="Amiri" pitchFamily="2" charset="-78"/>
              </a:rPr>
              <a:t>2. the dots (how many? where?)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Hear the SOUND → choose the letter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/ð/ (as in “this”)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2. Which letter?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/sˤ/ (dark 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/ʃ/ (as in “ship”)</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4. Which letter?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/z/ (as in “zoo”)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Cue: /r/ (tapped)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Teacher reads each cue twice.</a:t>
            </a:r>
            <a:endParaRPr lang="en-US" sz="1250" dirty="0"/>
          </a:p>
          <a:p>
            <a:pPr algn="l" indent="0" marL="0">
              <a:buNone/>
            </a:pPr>
            <a:r>
              <a:rPr lang="en-US" sz="1250" dirty="0">
                <a:solidFill>
                  <a:srgbClr val="1F2A37"/>
                </a:solidFill>
                <a:latin typeface="Calibri" pitchFamily="34" charset="0"/>
                <a:cs typeface="Amiri" pitchFamily="2" charset="-78"/>
              </a:rPr>
              <a:t>Look, listen, then choose.</a:t>
            </a:r>
            <a:endParaRPr lang="en-US" sz="1250" dirty="0"/>
          </a:p>
          <a:p>
            <a:pPr algn="l" indent="0" marL="0">
              <a:buNone/>
            </a:pPr>
            <a:r>
              <a:rPr lang="en-US" sz="1250" dirty="0">
                <a:solidFill>
                  <a:srgbClr val="1F2A37"/>
                </a:solidFill>
                <a:latin typeface="Calibri" pitchFamily="34" charset="0"/>
                <a:cs typeface="Amiri" pitchFamily="2" charset="-78"/>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LISTEN AND NOTICE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 letters and moon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الشَّمْسِيَّةُ وَالقَمَرِيَّةُ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MOON · l is heard</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حَرْفٌ قَمَرِيٌّ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الْقَمَرُ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al-qamar — the moon. You HEAR the l.</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Moon letters so far: </a:t>
            </a:r>
            <a:pPr algn="l" indent="0" marL="0">
              <a:buNone/>
            </a:pPr>
            <a:r>
              <a:rPr lang="ar-SA" altLang="en-US" sz="1450" dirty="0">
                <a:solidFill>
                  <a:srgbClr val="1F2A37"/>
                </a:solidFill>
                <a:latin typeface="Amiri" pitchFamily="2" charset="-78"/>
                <a:ea typeface="Amiri" pitchFamily="2" charset="-78"/>
                <a:cs typeface="Amiri" pitchFamily="2" charset="-78"/>
              </a:rPr>
              <a:t>ا ب ج ح خ</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SUN · l disappears</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حَرْفٌ شَمْسِيٌّ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الشَّمْسُ</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ash-shams — the sun. The l joins the next sound.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Sun letters so far: </a:t>
            </a:r>
            <a:pPr algn="l" indent="0" marL="0">
              <a:buNone/>
            </a:pPr>
            <a:r>
              <a:rPr lang="ar-SA" altLang="en-US" sz="1450" dirty="0">
                <a:solidFill>
                  <a:srgbClr val="1F2A37"/>
                </a:solidFill>
                <a:latin typeface="Amiri" pitchFamily="2" charset="-78"/>
                <a:ea typeface="Amiri" pitchFamily="2" charset="-78"/>
                <a:cs typeface="Amiri" pitchFamily="2" charset="-78"/>
              </a:rPr>
              <a:t>ت ث د ذ ر ز س ش ص</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SPELLING</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always </a:t>
            </a:r>
            <a:pPr algn="l" indent="0" marL="0">
              <a:buNone/>
            </a:pPr>
            <a:r>
              <a:rPr lang="ar-SA" altLang="en-US" sz="2100" b="1" dirty="0">
                <a:solidFill>
                  <a:srgbClr val="8A6D1E"/>
                </a:solidFill>
                <a:latin typeface="Amiri" pitchFamily="2" charset="-78"/>
                <a:ea typeface="Amiri" pitchFamily="2" charset="-78"/>
                <a:cs typeface="Amiri" pitchFamily="2" charset="-78"/>
              </a:rPr>
              <a:t>ال</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always WRITE </a:t>
            </a:r>
            <a:pPr algn="ctr" indent="0" marL="0">
              <a:buNone/>
            </a:pPr>
            <a:r>
              <a:rPr lang="ar-SA" altLang="en-US" sz="1550" dirty="0">
                <a:solidFill>
                  <a:srgbClr val="5A6472"/>
                </a:solidFill>
                <a:latin typeface="Amiri" pitchFamily="2" charset="-78"/>
                <a:ea typeface="Amiri" pitchFamily="2" charset="-78"/>
                <a:cs typeface="Amiri" pitchFamily="2" charset="-78"/>
              </a:rPr>
              <a:t>ال</a:t>
            </a:r>
            <a:pPr algn="ctr" indent="0" marL="0">
              <a:buNone/>
            </a:pPr>
            <a:r>
              <a:rPr lang="en-US" sz="1200" i="1" dirty="0">
                <a:solidFill>
                  <a:srgbClr val="5A6472"/>
                </a:solidFill>
                <a:latin typeface="Calibri" pitchFamily="34" charset="0"/>
                <a:cs typeface="Amiri" pitchFamily="2" charset="-78"/>
              </a:rPr>
              <a: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Only the pronunciation changes.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 SUN OR MOON?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Is the l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شَمْسِيٌّ أَمْ قَمَرِيٌّ؟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1: </a:t>
            </a:r>
            <a:pPr algn="l" indent="0" marL="0">
              <a:buNone/>
            </a:pPr>
            <a:r>
              <a:rPr lang="ar-SA" altLang="en-US" sz="1650" b="1" dirty="0">
                <a:solidFill>
                  <a:srgbClr val="1B3B6F"/>
                </a:solidFill>
                <a:latin typeface="Amiri" pitchFamily="2" charset="-78"/>
                <a:ea typeface="Amiri" pitchFamily="2" charset="-78"/>
                <a:cs typeface="Amiri" pitchFamily="2" charset="-78"/>
              </a:rPr>
              <a:t>الشَّمْسُ</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25" name="Shape 22"/>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3449574"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2: </a:t>
            </a:r>
            <a:pPr algn="l" indent="0" marL="0">
              <a:buNone/>
            </a:pPr>
            <a:r>
              <a:rPr lang="ar-SA" altLang="en-US" sz="1650" b="1" dirty="0">
                <a:solidFill>
                  <a:srgbClr val="1B3B6F"/>
                </a:solidFill>
                <a:latin typeface="Amiri" pitchFamily="2" charset="-78"/>
                <a:ea typeface="Amiri" pitchFamily="2" charset="-78"/>
                <a:cs typeface="Amiri" pitchFamily="2" charset="-78"/>
              </a:rPr>
              <a:t>السَّمَكُ</a:t>
            </a:r>
            <a:endParaRPr lang="en-US" sz="1250" dirty="0"/>
          </a:p>
        </p:txBody>
      </p:sp>
      <p:sp>
        <p:nvSpPr>
          <p:cNvPr id="29" name="Shape 26"/>
          <p:cNvSpPr/>
          <p:nvPr/>
        </p:nvSpPr>
        <p:spPr>
          <a:xfrm>
            <a:off x="3504438"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32" name="Shape 29"/>
          <p:cNvSpPr/>
          <p:nvPr/>
        </p:nvSpPr>
        <p:spPr>
          <a:xfrm>
            <a:off x="3504438"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35" name="Shape 3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313932"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3: </a:t>
            </a:r>
            <a:pPr algn="l" indent="0" marL="0">
              <a:buNone/>
            </a:pPr>
            <a:r>
              <a:rPr lang="ar-SA" altLang="en-US" sz="1650" b="1" dirty="0">
                <a:solidFill>
                  <a:srgbClr val="1B3B6F"/>
                </a:solidFill>
                <a:latin typeface="Amiri" pitchFamily="2" charset="-78"/>
                <a:ea typeface="Amiri" pitchFamily="2" charset="-78"/>
                <a:cs typeface="Amiri" pitchFamily="2" charset="-78"/>
              </a:rPr>
              <a:t>الدَّرْسُ</a:t>
            </a:r>
            <a:endParaRPr lang="en-US" sz="1250" dirty="0"/>
          </a:p>
        </p:txBody>
      </p:sp>
      <p:sp>
        <p:nvSpPr>
          <p:cNvPr id="39" name="Shape 36"/>
          <p:cNvSpPr/>
          <p:nvPr/>
        </p:nvSpPr>
        <p:spPr>
          <a:xfrm>
            <a:off x="6368796"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42" name="Shape 39"/>
          <p:cNvSpPr/>
          <p:nvPr/>
        </p:nvSpPr>
        <p:spPr>
          <a:xfrm>
            <a:off x="6368796"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45" name="Shape 42"/>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9178290"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48" name="Text 45"/>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4: </a:t>
            </a:r>
            <a:pPr algn="l" indent="0" marL="0">
              <a:buNone/>
            </a:pPr>
            <a:r>
              <a:rPr lang="ar-SA" altLang="en-US" sz="1650" b="1" dirty="0">
                <a:solidFill>
                  <a:srgbClr val="1B3B6F"/>
                </a:solidFill>
                <a:latin typeface="Amiri" pitchFamily="2" charset="-78"/>
                <a:ea typeface="Amiri" pitchFamily="2" charset="-78"/>
                <a:cs typeface="Amiri" pitchFamily="2" charset="-78"/>
              </a:rPr>
              <a:t>القَمَرُ</a:t>
            </a:r>
            <a:endParaRPr lang="en-US" sz="1250" dirty="0"/>
          </a:p>
        </p:txBody>
      </p:sp>
      <p:sp>
        <p:nvSpPr>
          <p:cNvPr id="49" name="Shape 46"/>
          <p:cNvSpPr/>
          <p:nvPr/>
        </p:nvSpPr>
        <p:spPr>
          <a:xfrm>
            <a:off x="9233154"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52" name="Shape 49"/>
          <p:cNvSpPr/>
          <p:nvPr/>
        </p:nvSpPr>
        <p:spPr>
          <a:xfrm>
            <a:off x="9233154"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55" name="Shape 5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58" name="Text 5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5: </a:t>
            </a:r>
            <a:pPr algn="l" indent="0" marL="0">
              <a:buNone/>
            </a:pPr>
            <a:r>
              <a:rPr lang="ar-SA" altLang="en-US" sz="1650" b="1" dirty="0">
                <a:solidFill>
                  <a:srgbClr val="1B3B6F"/>
                </a:solidFill>
                <a:latin typeface="Amiri" pitchFamily="2" charset="-78"/>
                <a:ea typeface="Amiri" pitchFamily="2" charset="-78"/>
                <a:cs typeface="Amiri" pitchFamily="2" charset="-78"/>
              </a:rPr>
              <a:t>الكِتَابُ</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65" name="Shape 6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3449574"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68" name="Text 6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6: </a:t>
            </a:r>
            <a:pPr algn="l" indent="0" marL="0">
              <a:buNone/>
            </a:pPr>
            <a:r>
              <a:rPr lang="ar-SA" altLang="en-US" sz="1650" b="1" dirty="0">
                <a:solidFill>
                  <a:srgbClr val="1B3B6F"/>
                </a:solidFill>
                <a:latin typeface="Amiri" pitchFamily="2" charset="-78"/>
                <a:ea typeface="Amiri" pitchFamily="2" charset="-78"/>
                <a:cs typeface="Amiri" pitchFamily="2" charset="-78"/>
              </a:rPr>
              <a:t>الوَرْدُ</a:t>
            </a:r>
            <a:endParaRPr lang="en-US" sz="1250" dirty="0"/>
          </a:p>
        </p:txBody>
      </p:sp>
      <p:sp>
        <p:nvSpPr>
          <p:cNvPr id="69" name="Shape 66"/>
          <p:cNvSpPr/>
          <p:nvPr/>
        </p:nvSpPr>
        <p:spPr>
          <a:xfrm>
            <a:off x="3504438" y="48737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Moon</a:t>
            </a:r>
            <a:endParaRPr lang="en-US" sz="1250" dirty="0"/>
          </a:p>
        </p:txBody>
      </p:sp>
      <p:sp>
        <p:nvSpPr>
          <p:cNvPr id="72" name="Shape 69"/>
          <p:cNvSpPr/>
          <p:nvPr/>
        </p:nvSpPr>
        <p:spPr>
          <a:xfrm>
            <a:off x="3504438" y="53309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a:t>
            </a:r>
            <a:endParaRPr lang="en-US" sz="1250" dirty="0"/>
          </a:p>
        </p:txBody>
      </p:sp>
      <p:sp>
        <p:nvSpPr>
          <p:cNvPr id="75" name="Shape 7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FOR THE “L”</a:t>
            </a:r>
            <a:endParaRPr lang="en-US" sz="1000" dirty="0"/>
          </a:p>
        </p:txBody>
      </p:sp>
      <p:sp>
        <p:nvSpPr>
          <p:cNvPr id="77" name="Text 7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 heard → MOON</a:t>
            </a:r>
            <a:endParaRPr lang="en-US" sz="1250" dirty="0"/>
          </a:p>
          <a:p>
            <a:pPr algn="l" indent="0" marL="0">
              <a:buNone/>
            </a:pPr>
            <a:r>
              <a:rPr lang="en-US" sz="1250" dirty="0">
                <a:solidFill>
                  <a:srgbClr val="1F2A37"/>
                </a:solidFill>
                <a:latin typeface="Calibri" pitchFamily="34" charset="0"/>
                <a:cs typeface="Amiri" pitchFamily="2" charset="-78"/>
              </a:rPr>
              <a:t>l gone, next sound doubled → SUN</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SUN OR MOON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Sun or moon: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1: </a:t>
            </a:r>
            <a:pPr algn="l" indent="0" marL="0">
              <a:buNone/>
            </a:pPr>
            <a:r>
              <a:rPr lang="ar-SA" altLang="en-US" sz="1650" b="1" dirty="0">
                <a:solidFill>
                  <a:srgbClr val="1B3B6F"/>
                </a:solidFill>
                <a:latin typeface="Amiri" pitchFamily="2" charset="-78"/>
                <a:ea typeface="Amiri" pitchFamily="2" charset="-78"/>
                <a:cs typeface="Amiri" pitchFamily="2" charset="-78"/>
              </a:rPr>
              <a:t>الشَّمْسُ</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Moon</a:t>
            </a:r>
            <a:endParaRPr lang="en-US" sz="1250" dirty="0"/>
          </a:p>
        </p:txBody>
      </p:sp>
      <p:sp>
        <p:nvSpPr>
          <p:cNvPr id="22" name="Shape 19"/>
          <p:cNvSpPr/>
          <p:nvPr/>
        </p:nvSpPr>
        <p:spPr>
          <a:xfrm>
            <a:off x="548640" y="2953512"/>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a:t>
            </a:r>
            <a:endParaRPr lang="en-US" sz="1250" dirty="0"/>
          </a:p>
        </p:txBody>
      </p:sp>
      <p:sp>
        <p:nvSpPr>
          <p:cNvPr id="26" name="Text 23"/>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ash-shams: the l is absorbed.</a:t>
            </a:r>
            <a:endParaRPr lang="en-US" sz="1050" dirty="0"/>
          </a:p>
        </p:txBody>
      </p:sp>
      <p:sp>
        <p:nvSpPr>
          <p:cNvPr id="27" name="Shape 24"/>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3449574"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2: </a:t>
            </a:r>
            <a:pPr algn="l" indent="0" marL="0">
              <a:buNone/>
            </a:pPr>
            <a:r>
              <a:rPr lang="ar-SA" altLang="en-US" sz="1650" b="1" dirty="0">
                <a:solidFill>
                  <a:srgbClr val="1B3B6F"/>
                </a:solidFill>
                <a:latin typeface="Amiri" pitchFamily="2" charset="-78"/>
                <a:ea typeface="Amiri" pitchFamily="2" charset="-78"/>
                <a:cs typeface="Amiri" pitchFamily="2" charset="-78"/>
              </a:rPr>
              <a:t>السَّمَكُ</a:t>
            </a:r>
            <a:endParaRPr lang="en-US" sz="1250" dirty="0"/>
          </a:p>
        </p:txBody>
      </p:sp>
      <p:sp>
        <p:nvSpPr>
          <p:cNvPr id="31" name="Shape 28"/>
          <p:cNvSpPr/>
          <p:nvPr/>
        </p:nvSpPr>
        <p:spPr>
          <a:xfrm>
            <a:off x="3504438"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Moon</a:t>
            </a:r>
            <a:endParaRPr lang="en-US" sz="1250" dirty="0"/>
          </a:p>
        </p:txBody>
      </p:sp>
      <p:sp>
        <p:nvSpPr>
          <p:cNvPr id="34" name="Shape 31"/>
          <p:cNvSpPr/>
          <p:nvPr/>
        </p:nvSpPr>
        <p:spPr>
          <a:xfrm>
            <a:off x="3412998" y="2953512"/>
            <a:ext cx="2498598"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3504438"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a:t>
            </a:r>
            <a:endParaRPr lang="en-US" sz="1250" dirty="0"/>
          </a:p>
        </p:txBody>
      </p:sp>
      <p:sp>
        <p:nvSpPr>
          <p:cNvPr id="38" name="Text 35"/>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as-samak (fish): the l is absorbed.</a:t>
            </a:r>
            <a:endParaRPr lang="en-US" sz="1050" dirty="0"/>
          </a:p>
        </p:txBody>
      </p:sp>
      <p:sp>
        <p:nvSpPr>
          <p:cNvPr id="39" name="Shape 36"/>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313932"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3: </a:t>
            </a:r>
            <a:pPr algn="l" indent="0" marL="0">
              <a:buNone/>
            </a:pPr>
            <a:r>
              <a:rPr lang="ar-SA" altLang="en-US" sz="1650" b="1" dirty="0">
                <a:solidFill>
                  <a:srgbClr val="1B3B6F"/>
                </a:solidFill>
                <a:latin typeface="Amiri" pitchFamily="2" charset="-78"/>
                <a:ea typeface="Amiri" pitchFamily="2" charset="-78"/>
                <a:cs typeface="Amiri" pitchFamily="2" charset="-78"/>
              </a:rPr>
              <a:t>الدَّرْسُ</a:t>
            </a:r>
            <a:endParaRPr lang="en-US" sz="1250" dirty="0"/>
          </a:p>
        </p:txBody>
      </p:sp>
      <p:sp>
        <p:nvSpPr>
          <p:cNvPr id="43" name="Shape 40"/>
          <p:cNvSpPr/>
          <p:nvPr/>
        </p:nvSpPr>
        <p:spPr>
          <a:xfrm>
            <a:off x="6368796"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5" name="Text 42"/>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Moon</a:t>
            </a:r>
            <a:endParaRPr lang="en-US" sz="1250" dirty="0"/>
          </a:p>
        </p:txBody>
      </p:sp>
      <p:sp>
        <p:nvSpPr>
          <p:cNvPr id="46" name="Shape 43"/>
          <p:cNvSpPr/>
          <p:nvPr/>
        </p:nvSpPr>
        <p:spPr>
          <a:xfrm>
            <a:off x="6277356" y="2953512"/>
            <a:ext cx="2498598"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368796"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9" name="Text 46"/>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a:t>
            </a:r>
            <a:endParaRPr lang="en-US" sz="1250" dirty="0"/>
          </a:p>
        </p:txBody>
      </p:sp>
      <p:sp>
        <p:nvSpPr>
          <p:cNvPr id="50" name="Text 47"/>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ad-dars (the lesson): the l is absorbed.</a:t>
            </a:r>
            <a:endParaRPr lang="en-US" sz="1050" dirty="0"/>
          </a:p>
        </p:txBody>
      </p:sp>
      <p:sp>
        <p:nvSpPr>
          <p:cNvPr id="51" name="Shape 48"/>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9178290" y="1947672"/>
            <a:ext cx="310896" cy="310896"/>
          </a:xfrm>
          <a:prstGeom prst="ellipse">
            <a:avLst/>
          </a:prstGeom>
          <a:solidFill>
            <a:srgbClr val="1B3B6F"/>
          </a:solidFill>
          <a:ln w="12700">
            <a:solidFill>
              <a:srgbClr val="1B3B6F"/>
            </a:solidFill>
            <a:prstDash val="solid"/>
          </a:ln>
        </p:spPr>
      </p:sp>
      <p:sp>
        <p:nvSpPr>
          <p:cNvPr id="53" name="Text 50"/>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4: </a:t>
            </a:r>
            <a:pPr algn="l" indent="0" marL="0">
              <a:buNone/>
            </a:pPr>
            <a:r>
              <a:rPr lang="ar-SA" altLang="en-US" sz="1650" b="1" dirty="0">
                <a:solidFill>
                  <a:srgbClr val="1B3B6F"/>
                </a:solidFill>
                <a:latin typeface="Amiri" pitchFamily="2" charset="-78"/>
                <a:ea typeface="Amiri" pitchFamily="2" charset="-78"/>
                <a:cs typeface="Amiri" pitchFamily="2" charset="-78"/>
              </a:rPr>
              <a:t>القَمَرُ</a:t>
            </a:r>
            <a:endParaRPr lang="en-US" sz="1250" dirty="0"/>
          </a:p>
        </p:txBody>
      </p:sp>
      <p:sp>
        <p:nvSpPr>
          <p:cNvPr id="55" name="Shape 52"/>
          <p:cNvSpPr/>
          <p:nvPr/>
        </p:nvSpPr>
        <p:spPr>
          <a:xfrm>
            <a:off x="9141714" y="249631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9233154" y="25328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8" name="Text 55"/>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Moon</a:t>
            </a:r>
            <a:endParaRPr lang="en-US" sz="1250" dirty="0"/>
          </a:p>
        </p:txBody>
      </p:sp>
      <p:sp>
        <p:nvSpPr>
          <p:cNvPr id="59" name="Shape 56"/>
          <p:cNvSpPr/>
          <p:nvPr/>
        </p:nvSpPr>
        <p:spPr>
          <a:xfrm>
            <a:off x="9233154" y="29900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1" name="Text 58"/>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a:t>
            </a:r>
            <a:endParaRPr lang="en-US" sz="1250" dirty="0"/>
          </a:p>
        </p:txBody>
      </p:sp>
      <p:sp>
        <p:nvSpPr>
          <p:cNvPr id="62" name="Text 59"/>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al-qamar: the l is heard.</a:t>
            </a:r>
            <a:endParaRPr lang="en-US" sz="1050" dirty="0"/>
          </a:p>
        </p:txBody>
      </p:sp>
      <p:sp>
        <p:nvSpPr>
          <p:cNvPr id="63" name="Shape 60"/>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6" name="Text 63"/>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5: </a:t>
            </a:r>
            <a:pPr algn="l" indent="0" marL="0">
              <a:buNone/>
            </a:pPr>
            <a:r>
              <a:rPr lang="ar-SA" altLang="en-US" sz="1650" b="1" dirty="0">
                <a:solidFill>
                  <a:srgbClr val="1B3B6F"/>
                </a:solidFill>
                <a:latin typeface="Amiri" pitchFamily="2" charset="-78"/>
                <a:ea typeface="Amiri" pitchFamily="2" charset="-78"/>
                <a:cs typeface="Amiri" pitchFamily="2" charset="-78"/>
              </a:rPr>
              <a:t>الكِتَابُ</a:t>
            </a:r>
            <a:endParaRPr lang="en-US" sz="1250" dirty="0"/>
          </a:p>
        </p:txBody>
      </p:sp>
      <p:sp>
        <p:nvSpPr>
          <p:cNvPr id="67" name="Shape 64"/>
          <p:cNvSpPr/>
          <p:nvPr/>
        </p:nvSpPr>
        <p:spPr>
          <a:xfrm>
            <a:off x="548640" y="483717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48737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Moon</a:t>
            </a:r>
            <a:endParaRPr lang="en-US" sz="1250" dirty="0"/>
          </a:p>
        </p:txBody>
      </p:sp>
      <p:sp>
        <p:nvSpPr>
          <p:cNvPr id="71" name="Shape 68"/>
          <p:cNvSpPr/>
          <p:nvPr/>
        </p:nvSpPr>
        <p:spPr>
          <a:xfrm>
            <a:off x="640080" y="533095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a:t>
            </a:r>
            <a:endParaRPr lang="en-US" sz="1250" dirty="0"/>
          </a:p>
        </p:txBody>
      </p:sp>
      <p:sp>
        <p:nvSpPr>
          <p:cNvPr id="74" name="Text 71"/>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al-kitāb (the book): the l is heard.</a:t>
            </a:r>
            <a:endParaRPr lang="en-US" sz="1050" dirty="0"/>
          </a:p>
        </p:txBody>
      </p:sp>
      <p:sp>
        <p:nvSpPr>
          <p:cNvPr id="75" name="Shape 7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3449574"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78" name="Text 7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Word 6: </a:t>
            </a:r>
            <a:pPr algn="l" indent="0" marL="0">
              <a:buNone/>
            </a:pPr>
            <a:r>
              <a:rPr lang="ar-SA" altLang="en-US" sz="1650" b="1" dirty="0">
                <a:solidFill>
                  <a:srgbClr val="1B3B6F"/>
                </a:solidFill>
                <a:latin typeface="Amiri" pitchFamily="2" charset="-78"/>
                <a:ea typeface="Amiri" pitchFamily="2" charset="-78"/>
                <a:cs typeface="Amiri" pitchFamily="2" charset="-78"/>
              </a:rPr>
              <a:t>الوَرْدُ</a:t>
            </a:r>
            <a:endParaRPr lang="en-US" sz="1250" dirty="0"/>
          </a:p>
        </p:txBody>
      </p:sp>
      <p:sp>
        <p:nvSpPr>
          <p:cNvPr id="79" name="Shape 76"/>
          <p:cNvSpPr/>
          <p:nvPr/>
        </p:nvSpPr>
        <p:spPr>
          <a:xfrm>
            <a:off x="3412998" y="4837176"/>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3504438"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Moon</a:t>
            </a:r>
            <a:endParaRPr lang="en-US" sz="1250" dirty="0"/>
          </a:p>
        </p:txBody>
      </p:sp>
      <p:sp>
        <p:nvSpPr>
          <p:cNvPr id="83" name="Shape 80"/>
          <p:cNvSpPr/>
          <p:nvPr/>
        </p:nvSpPr>
        <p:spPr>
          <a:xfrm>
            <a:off x="3504438"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a:t>
            </a:r>
            <a:endParaRPr lang="en-US" sz="1250" dirty="0"/>
          </a:p>
        </p:txBody>
      </p:sp>
      <p:sp>
        <p:nvSpPr>
          <p:cNvPr id="86" name="Text 8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al-ward (roses): the l is heard.</a:t>
            </a:r>
            <a:endParaRPr lang="en-US" sz="1050" dirty="0"/>
          </a:p>
        </p:txBody>
      </p:sp>
      <p:sp>
        <p:nvSpPr>
          <p:cNvPr id="87" name="Shape 84"/>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FOR THE “L”</a:t>
            </a:r>
            <a:endParaRPr lang="en-US" sz="1000" dirty="0"/>
          </a:p>
        </p:txBody>
      </p:sp>
      <p:sp>
        <p:nvSpPr>
          <p:cNvPr id="89" name="Text 8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 heard → MOON</a:t>
            </a:r>
            <a:endParaRPr lang="en-US" sz="1250" dirty="0"/>
          </a:p>
          <a:p>
            <a:pPr algn="l" indent="0" marL="0">
              <a:buNone/>
            </a:pPr>
            <a:r>
              <a:rPr lang="en-US" sz="1250" dirty="0">
                <a:solidFill>
                  <a:srgbClr val="1F2A37"/>
                </a:solidFill>
                <a:latin typeface="Calibri" pitchFamily="34" charset="0"/>
                <a:cs typeface="Amiri" pitchFamily="2" charset="-78"/>
              </a:rPr>
              <a:t>l gone, next sound doubled → SUN</a:t>
            </a:r>
            <a:endParaRPr lang="en-US" sz="12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“SUNLIGHT OR MOONLIGHT?”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all 14 letters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شَمْسٌ أَمْ قَمَرٌ؟</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a:t>
            </a:r>
            <a:endParaRPr lang="ar-SA" sz="1800" dirty="0"/>
          </a:p>
        </p:txBody>
      </p:sp>
      <p:sp>
        <p:nvSpPr>
          <p:cNvPr id="35" name="Shape 32"/>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a:t>
            </a:r>
            <a:endParaRPr lang="ar-SA" sz="1800" dirty="0"/>
          </a:p>
        </p:txBody>
      </p:sp>
      <p:sp>
        <p:nvSpPr>
          <p:cNvPr id="37" name="Shape 34"/>
          <p:cNvSpPr/>
          <p:nvPr/>
        </p:nvSpPr>
        <p:spPr>
          <a:xfrm>
            <a:off x="3310128"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3401568"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a:t>
            </a:r>
            <a:endParaRPr lang="ar-SA" sz="1800" dirty="0"/>
          </a:p>
        </p:txBody>
      </p:sp>
      <p:sp>
        <p:nvSpPr>
          <p:cNvPr id="39" name="Shape 36"/>
          <p:cNvSpPr/>
          <p:nvPr/>
        </p:nvSpPr>
        <p:spPr>
          <a:xfrm>
            <a:off x="457200"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548640"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a:t>
            </a:r>
            <a:endParaRPr lang="ar-SA" sz="1800" dirty="0"/>
          </a:p>
        </p:txBody>
      </p:sp>
      <p:sp>
        <p:nvSpPr>
          <p:cNvPr id="41" name="Shape 38"/>
          <p:cNvSpPr/>
          <p:nvPr/>
        </p:nvSpPr>
        <p:spPr>
          <a:xfrm>
            <a:off x="9015984" y="3346704"/>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9107424" y="3346704"/>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a:t>
            </a:r>
            <a:endParaRPr lang="ar-SA" sz="1800" dirty="0"/>
          </a:p>
        </p:txBody>
      </p:sp>
      <p:sp>
        <p:nvSpPr>
          <p:cNvPr id="43" name="Shape 40"/>
          <p:cNvSpPr/>
          <p:nvPr/>
        </p:nvSpPr>
        <p:spPr>
          <a:xfrm>
            <a:off x="6163056" y="3346704"/>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6254496" y="3346704"/>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a:t>
            </a:r>
            <a:endParaRPr lang="ar-SA" sz="1800" dirty="0"/>
          </a:p>
        </p:txBody>
      </p:sp>
      <p:sp>
        <p:nvSpPr>
          <p:cNvPr id="45" name="Shape 42"/>
          <p:cNvSpPr/>
          <p:nvPr/>
        </p:nvSpPr>
        <p:spPr>
          <a:xfrm>
            <a:off x="6185916" y="4041648"/>
            <a:ext cx="5545836" cy="2267712"/>
          </a:xfrm>
          <a:prstGeom prst="roundRect">
            <a:avLst>
              <a:gd name="adj" fmla="val 3226"/>
            </a:avLst>
          </a:prstGeom>
          <a:solidFill>
            <a:srgbClr val="EEF3FA"/>
          </a:solidFill>
          <a:ln w="9525">
            <a:solidFill>
              <a:srgbClr val="C9D6EA"/>
            </a:solidFill>
            <a:prstDash val="solid"/>
          </a:ln>
        </p:spPr>
      </p:sp>
      <p:sp>
        <p:nvSpPr>
          <p:cNvPr id="46" name="Shape 43"/>
          <p:cNvSpPr/>
          <p:nvPr/>
        </p:nvSpPr>
        <p:spPr>
          <a:xfrm>
            <a:off x="6323076" y="4151376"/>
            <a:ext cx="5271516" cy="310896"/>
          </a:xfrm>
          <a:prstGeom prst="roundRect">
            <a:avLst>
              <a:gd name="adj" fmla="val 50000"/>
            </a:avLst>
          </a:prstGeom>
          <a:solidFill>
            <a:srgbClr val="2F6FB0"/>
          </a:solidFill>
          <a:ln w="12700">
            <a:solidFill>
              <a:srgbClr val="2F6FB0"/>
            </a:solidFill>
            <a:prstDash val="solid"/>
          </a:ln>
        </p:spPr>
      </p:sp>
      <p:sp>
        <p:nvSpPr>
          <p:cNvPr id="47" name="Text 44"/>
          <p:cNvSpPr txBox="1"/>
          <p:nvPr/>
        </p:nvSpPr>
        <p:spPr>
          <a:xfrm>
            <a:off x="6323076" y="4151376"/>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letters</a:t>
            </a:r>
            <a:endParaRPr lang="en-US" sz="950" dirty="0"/>
          </a:p>
        </p:txBody>
      </p:sp>
      <p:sp>
        <p:nvSpPr>
          <p:cNvPr id="48" name="Shape 45"/>
          <p:cNvSpPr/>
          <p:nvPr/>
        </p:nvSpPr>
        <p:spPr>
          <a:xfrm>
            <a:off x="457200" y="4041648"/>
            <a:ext cx="5545836" cy="2267712"/>
          </a:xfrm>
          <a:prstGeom prst="roundRect">
            <a:avLst>
              <a:gd name="adj" fmla="val 3226"/>
            </a:avLst>
          </a:prstGeom>
          <a:solidFill>
            <a:srgbClr val="EEF3FA"/>
          </a:solidFill>
          <a:ln w="9525">
            <a:solidFill>
              <a:srgbClr val="C9D6EA"/>
            </a:solidFill>
            <a:prstDash val="solid"/>
          </a:ln>
        </p:spPr>
      </p:sp>
      <p:sp>
        <p:nvSpPr>
          <p:cNvPr id="49" name="Shape 46"/>
          <p:cNvSpPr/>
          <p:nvPr/>
        </p:nvSpPr>
        <p:spPr>
          <a:xfrm>
            <a:off x="594360" y="4151376"/>
            <a:ext cx="5271516" cy="310896"/>
          </a:xfrm>
          <a:prstGeom prst="roundRect">
            <a:avLst>
              <a:gd name="adj" fmla="val 50000"/>
            </a:avLst>
          </a:prstGeom>
          <a:solidFill>
            <a:srgbClr val="2F6FB0"/>
          </a:solidFill>
          <a:ln w="12700">
            <a:solidFill>
              <a:srgbClr val="2F6FB0"/>
            </a:solidFill>
            <a:prstDash val="solid"/>
          </a:ln>
        </p:spPr>
      </p:sp>
      <p:sp>
        <p:nvSpPr>
          <p:cNvPr id="50" name="Text 47"/>
          <p:cNvSpPr txBox="1"/>
          <p:nvPr/>
        </p:nvSpPr>
        <p:spPr>
          <a:xfrm>
            <a:off x="594360" y="4151376"/>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letters</a:t>
            </a:r>
            <a:endParaRPr lang="en-US" sz="9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SUN AND MOON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 9 sun, 5 moon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7" name="Shape 14"/>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8" name="Shape 15"/>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Sun letters</a:t>
            </a:r>
            <a:endParaRPr lang="en-US" sz="950" dirty="0"/>
          </a:p>
        </p:txBody>
      </p:sp>
      <p:sp>
        <p:nvSpPr>
          <p:cNvPr id="20" name="Shape 17"/>
          <p:cNvSpPr/>
          <p:nvPr/>
        </p:nvSpPr>
        <p:spPr>
          <a:xfrm>
            <a:off x="6323076" y="2377440"/>
            <a:ext cx="5271516" cy="353568"/>
          </a:xfrm>
          <a:prstGeom prst="roundRect">
            <a:avLst>
              <a:gd name="adj" fmla="val 15517"/>
            </a:avLst>
          </a:prstGeom>
          <a:solidFill>
            <a:srgbClr val="FFF4DC"/>
          </a:solidFill>
          <a:ln w="9525">
            <a:solidFill>
              <a:srgbClr val="E6C98A"/>
            </a:solidFill>
            <a:prstDash val="solid"/>
          </a:ln>
        </p:spPr>
      </p:sp>
      <p:sp>
        <p:nvSpPr>
          <p:cNvPr id="21" name="Text 18"/>
          <p:cNvSpPr txBox="1"/>
          <p:nvPr/>
        </p:nvSpPr>
        <p:spPr>
          <a:xfrm>
            <a:off x="6414516" y="23774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a:t>
            </a:r>
            <a:endParaRPr lang="ar-SA" sz="1600" dirty="0"/>
          </a:p>
        </p:txBody>
      </p:sp>
      <p:sp>
        <p:nvSpPr>
          <p:cNvPr id="22" name="Shape 19"/>
          <p:cNvSpPr/>
          <p:nvPr/>
        </p:nvSpPr>
        <p:spPr>
          <a:xfrm>
            <a:off x="6323076" y="2804160"/>
            <a:ext cx="5271516" cy="353568"/>
          </a:xfrm>
          <a:prstGeom prst="roundRect">
            <a:avLst>
              <a:gd name="adj" fmla="val 15517"/>
            </a:avLst>
          </a:prstGeom>
          <a:solidFill>
            <a:srgbClr val="FFF4DC"/>
          </a:solidFill>
          <a:ln w="9525">
            <a:solidFill>
              <a:srgbClr val="E6C98A"/>
            </a:solidFill>
            <a:prstDash val="solid"/>
          </a:ln>
        </p:spPr>
      </p:sp>
      <p:sp>
        <p:nvSpPr>
          <p:cNvPr id="23" name="Text 20"/>
          <p:cNvSpPr txBox="1"/>
          <p:nvPr/>
        </p:nvSpPr>
        <p:spPr>
          <a:xfrm>
            <a:off x="6414516" y="28041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a:t>
            </a:r>
            <a:endParaRPr lang="ar-SA" sz="1600" dirty="0"/>
          </a:p>
        </p:txBody>
      </p:sp>
      <p:sp>
        <p:nvSpPr>
          <p:cNvPr id="24" name="Shape 21"/>
          <p:cNvSpPr/>
          <p:nvPr/>
        </p:nvSpPr>
        <p:spPr>
          <a:xfrm>
            <a:off x="6323076" y="3230880"/>
            <a:ext cx="5271516" cy="353568"/>
          </a:xfrm>
          <a:prstGeom prst="roundRect">
            <a:avLst>
              <a:gd name="adj" fmla="val 15517"/>
            </a:avLst>
          </a:prstGeom>
          <a:solidFill>
            <a:srgbClr val="FFF4DC"/>
          </a:solidFill>
          <a:ln w="9525">
            <a:solidFill>
              <a:srgbClr val="E6C98A"/>
            </a:solidFill>
            <a:prstDash val="solid"/>
          </a:ln>
        </p:spPr>
      </p:sp>
      <p:sp>
        <p:nvSpPr>
          <p:cNvPr id="25" name="Text 22"/>
          <p:cNvSpPr txBox="1"/>
          <p:nvPr/>
        </p:nvSpPr>
        <p:spPr>
          <a:xfrm>
            <a:off x="6414516" y="32308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a:t>
            </a:r>
            <a:endParaRPr lang="ar-SA" sz="1600" dirty="0"/>
          </a:p>
        </p:txBody>
      </p:sp>
      <p:sp>
        <p:nvSpPr>
          <p:cNvPr id="26" name="Shape 23"/>
          <p:cNvSpPr/>
          <p:nvPr/>
        </p:nvSpPr>
        <p:spPr>
          <a:xfrm>
            <a:off x="6323076" y="3657600"/>
            <a:ext cx="5271516" cy="353568"/>
          </a:xfrm>
          <a:prstGeom prst="roundRect">
            <a:avLst>
              <a:gd name="adj" fmla="val 15517"/>
            </a:avLst>
          </a:prstGeom>
          <a:solidFill>
            <a:srgbClr val="FFF4DC"/>
          </a:solidFill>
          <a:ln w="9525">
            <a:solidFill>
              <a:srgbClr val="E6C98A"/>
            </a:solidFill>
            <a:prstDash val="solid"/>
          </a:ln>
        </p:spPr>
      </p:sp>
      <p:sp>
        <p:nvSpPr>
          <p:cNvPr id="27" name="Text 24"/>
          <p:cNvSpPr txBox="1"/>
          <p:nvPr/>
        </p:nvSpPr>
        <p:spPr>
          <a:xfrm>
            <a:off x="6414516" y="36576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a:t>
            </a:r>
            <a:endParaRPr lang="ar-SA" sz="1600" dirty="0"/>
          </a:p>
        </p:txBody>
      </p:sp>
      <p:sp>
        <p:nvSpPr>
          <p:cNvPr id="28" name="Shape 25"/>
          <p:cNvSpPr/>
          <p:nvPr/>
        </p:nvSpPr>
        <p:spPr>
          <a:xfrm>
            <a:off x="6323076" y="4084320"/>
            <a:ext cx="5271516" cy="353568"/>
          </a:xfrm>
          <a:prstGeom prst="roundRect">
            <a:avLst>
              <a:gd name="adj" fmla="val 15517"/>
            </a:avLst>
          </a:prstGeom>
          <a:solidFill>
            <a:srgbClr val="FFF4DC"/>
          </a:solidFill>
          <a:ln w="9525">
            <a:solidFill>
              <a:srgbClr val="E6C98A"/>
            </a:solidFill>
            <a:prstDash val="solid"/>
          </a:ln>
        </p:spPr>
      </p:sp>
      <p:sp>
        <p:nvSpPr>
          <p:cNvPr id="29" name="Text 26"/>
          <p:cNvSpPr txBox="1"/>
          <p:nvPr/>
        </p:nvSpPr>
        <p:spPr>
          <a:xfrm>
            <a:off x="6414516" y="408432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a:t>
            </a:r>
            <a:endParaRPr lang="ar-SA" sz="1600" dirty="0"/>
          </a:p>
        </p:txBody>
      </p:sp>
      <p:sp>
        <p:nvSpPr>
          <p:cNvPr id="30" name="Shape 27"/>
          <p:cNvSpPr/>
          <p:nvPr/>
        </p:nvSpPr>
        <p:spPr>
          <a:xfrm>
            <a:off x="6323076" y="4511040"/>
            <a:ext cx="5271516" cy="353568"/>
          </a:xfrm>
          <a:prstGeom prst="roundRect">
            <a:avLst>
              <a:gd name="adj" fmla="val 15517"/>
            </a:avLst>
          </a:prstGeom>
          <a:solidFill>
            <a:srgbClr val="FFF4DC"/>
          </a:solidFill>
          <a:ln w="9525">
            <a:solidFill>
              <a:srgbClr val="E6C98A"/>
            </a:solidFill>
            <a:prstDash val="solid"/>
          </a:ln>
        </p:spPr>
      </p:sp>
      <p:sp>
        <p:nvSpPr>
          <p:cNvPr id="31" name="Text 28"/>
          <p:cNvSpPr txBox="1"/>
          <p:nvPr/>
        </p:nvSpPr>
        <p:spPr>
          <a:xfrm>
            <a:off x="6414516" y="45110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ذ</a:t>
            </a:r>
            <a:endParaRPr lang="ar-SA" sz="1600" dirty="0"/>
          </a:p>
        </p:txBody>
      </p:sp>
      <p:sp>
        <p:nvSpPr>
          <p:cNvPr id="32" name="Shape 29"/>
          <p:cNvSpPr/>
          <p:nvPr/>
        </p:nvSpPr>
        <p:spPr>
          <a:xfrm>
            <a:off x="6323076" y="4937760"/>
            <a:ext cx="5271516" cy="353568"/>
          </a:xfrm>
          <a:prstGeom prst="roundRect">
            <a:avLst>
              <a:gd name="adj" fmla="val 15517"/>
            </a:avLst>
          </a:prstGeom>
          <a:solidFill>
            <a:srgbClr val="FFF4DC"/>
          </a:solidFill>
          <a:ln w="9525">
            <a:solidFill>
              <a:srgbClr val="E6C98A"/>
            </a:solidFill>
            <a:prstDash val="solid"/>
          </a:ln>
        </p:spPr>
      </p:sp>
      <p:sp>
        <p:nvSpPr>
          <p:cNvPr id="33" name="Text 30"/>
          <p:cNvSpPr txBox="1"/>
          <p:nvPr/>
        </p:nvSpPr>
        <p:spPr>
          <a:xfrm>
            <a:off x="6414516" y="49377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ز</a:t>
            </a:r>
            <a:endParaRPr lang="ar-SA" sz="1600" dirty="0"/>
          </a:p>
        </p:txBody>
      </p:sp>
      <p:sp>
        <p:nvSpPr>
          <p:cNvPr id="34" name="Shape 31"/>
          <p:cNvSpPr/>
          <p:nvPr/>
        </p:nvSpPr>
        <p:spPr>
          <a:xfrm>
            <a:off x="6323076" y="5364480"/>
            <a:ext cx="5271516" cy="353568"/>
          </a:xfrm>
          <a:prstGeom prst="roundRect">
            <a:avLst>
              <a:gd name="adj" fmla="val 15517"/>
            </a:avLst>
          </a:prstGeom>
          <a:solidFill>
            <a:srgbClr val="FFF4DC"/>
          </a:solidFill>
          <a:ln w="9525">
            <a:solidFill>
              <a:srgbClr val="E6C98A"/>
            </a:solidFill>
            <a:prstDash val="solid"/>
          </a:ln>
        </p:spPr>
      </p:sp>
      <p:sp>
        <p:nvSpPr>
          <p:cNvPr id="35" name="Text 32"/>
          <p:cNvSpPr txBox="1"/>
          <p:nvPr/>
        </p:nvSpPr>
        <p:spPr>
          <a:xfrm>
            <a:off x="6414516" y="53644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a:t>
            </a:r>
            <a:endParaRPr lang="ar-SA" sz="1600" dirty="0"/>
          </a:p>
        </p:txBody>
      </p:sp>
      <p:sp>
        <p:nvSpPr>
          <p:cNvPr id="36" name="Shape 33"/>
          <p:cNvSpPr/>
          <p:nvPr/>
        </p:nvSpPr>
        <p:spPr>
          <a:xfrm>
            <a:off x="6323076" y="5791200"/>
            <a:ext cx="5271516" cy="353568"/>
          </a:xfrm>
          <a:prstGeom prst="roundRect">
            <a:avLst>
              <a:gd name="adj" fmla="val 15517"/>
            </a:avLst>
          </a:prstGeom>
          <a:solidFill>
            <a:srgbClr val="FFF4DC"/>
          </a:solidFill>
          <a:ln w="9525">
            <a:solidFill>
              <a:srgbClr val="E6C98A"/>
            </a:solidFill>
            <a:prstDash val="solid"/>
          </a:ln>
        </p:spPr>
      </p:sp>
      <p:sp>
        <p:nvSpPr>
          <p:cNvPr id="37" name="Text 34"/>
          <p:cNvSpPr txBox="1"/>
          <p:nvPr/>
        </p:nvSpPr>
        <p:spPr>
          <a:xfrm>
            <a:off x="6414516" y="57912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a:t>
            </a:r>
            <a:endParaRPr lang="ar-SA" sz="1600" dirty="0"/>
          </a:p>
        </p:txBody>
      </p:sp>
      <p:sp>
        <p:nvSpPr>
          <p:cNvPr id="38" name="Shape 3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39" name="Shape 3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Moon letters</a:t>
            </a:r>
            <a:endParaRPr lang="en-US" sz="950" dirty="0"/>
          </a:p>
        </p:txBody>
      </p:sp>
      <p:sp>
        <p:nvSpPr>
          <p:cNvPr id="41" name="Shape 38"/>
          <p:cNvSpPr/>
          <p:nvPr/>
        </p:nvSpPr>
        <p:spPr>
          <a:xfrm>
            <a:off x="594360" y="2377440"/>
            <a:ext cx="5271516" cy="353568"/>
          </a:xfrm>
          <a:prstGeom prst="roundRect">
            <a:avLst>
              <a:gd name="adj" fmla="val 15517"/>
            </a:avLst>
          </a:prstGeom>
          <a:solidFill>
            <a:srgbClr val="FFF4DC"/>
          </a:solidFill>
          <a:ln w="9525">
            <a:solidFill>
              <a:srgbClr val="E6C98A"/>
            </a:solidFill>
            <a:prstDash val="solid"/>
          </a:ln>
        </p:spPr>
      </p:sp>
      <p:sp>
        <p:nvSpPr>
          <p:cNvPr id="42" name="Text 39"/>
          <p:cNvSpPr txBox="1"/>
          <p:nvPr/>
        </p:nvSpPr>
        <p:spPr>
          <a:xfrm>
            <a:off x="685800" y="23774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a:t>
            </a:r>
            <a:endParaRPr lang="ar-SA" sz="1600" dirty="0"/>
          </a:p>
        </p:txBody>
      </p:sp>
      <p:sp>
        <p:nvSpPr>
          <p:cNvPr id="43" name="Shape 40"/>
          <p:cNvSpPr/>
          <p:nvPr/>
        </p:nvSpPr>
        <p:spPr>
          <a:xfrm>
            <a:off x="594360" y="2804160"/>
            <a:ext cx="5271516" cy="353568"/>
          </a:xfrm>
          <a:prstGeom prst="roundRect">
            <a:avLst>
              <a:gd name="adj" fmla="val 15517"/>
            </a:avLst>
          </a:prstGeom>
          <a:solidFill>
            <a:srgbClr val="FFF4DC"/>
          </a:solidFill>
          <a:ln w="9525">
            <a:solidFill>
              <a:srgbClr val="E6C98A"/>
            </a:solidFill>
            <a:prstDash val="solid"/>
          </a:ln>
        </p:spPr>
      </p:sp>
      <p:sp>
        <p:nvSpPr>
          <p:cNvPr id="44" name="Text 41"/>
          <p:cNvSpPr txBox="1"/>
          <p:nvPr/>
        </p:nvSpPr>
        <p:spPr>
          <a:xfrm>
            <a:off x="685800" y="28041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a:t>
            </a:r>
            <a:endParaRPr lang="ar-SA" sz="1600" dirty="0"/>
          </a:p>
        </p:txBody>
      </p:sp>
      <p:sp>
        <p:nvSpPr>
          <p:cNvPr id="45" name="Shape 42"/>
          <p:cNvSpPr/>
          <p:nvPr/>
        </p:nvSpPr>
        <p:spPr>
          <a:xfrm>
            <a:off x="594360" y="3230880"/>
            <a:ext cx="5271516" cy="353568"/>
          </a:xfrm>
          <a:prstGeom prst="roundRect">
            <a:avLst>
              <a:gd name="adj" fmla="val 15517"/>
            </a:avLst>
          </a:prstGeom>
          <a:solidFill>
            <a:srgbClr val="FFF4DC"/>
          </a:solidFill>
          <a:ln w="9525">
            <a:solidFill>
              <a:srgbClr val="E6C98A"/>
            </a:solidFill>
            <a:prstDash val="solid"/>
          </a:ln>
        </p:spPr>
      </p:sp>
      <p:sp>
        <p:nvSpPr>
          <p:cNvPr id="46" name="Text 43"/>
          <p:cNvSpPr txBox="1"/>
          <p:nvPr/>
        </p:nvSpPr>
        <p:spPr>
          <a:xfrm>
            <a:off x="685800" y="32308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a:t>
            </a:r>
            <a:endParaRPr lang="ar-SA" sz="1600" dirty="0"/>
          </a:p>
        </p:txBody>
      </p:sp>
      <p:sp>
        <p:nvSpPr>
          <p:cNvPr id="47" name="Shape 44"/>
          <p:cNvSpPr/>
          <p:nvPr/>
        </p:nvSpPr>
        <p:spPr>
          <a:xfrm>
            <a:off x="594360" y="3657600"/>
            <a:ext cx="5271516" cy="353568"/>
          </a:xfrm>
          <a:prstGeom prst="roundRect">
            <a:avLst>
              <a:gd name="adj" fmla="val 15517"/>
            </a:avLst>
          </a:prstGeom>
          <a:solidFill>
            <a:srgbClr val="FFF4DC"/>
          </a:solidFill>
          <a:ln w="9525">
            <a:solidFill>
              <a:srgbClr val="E6C98A"/>
            </a:solidFill>
            <a:prstDash val="solid"/>
          </a:ln>
        </p:spPr>
      </p:sp>
      <p:sp>
        <p:nvSpPr>
          <p:cNvPr id="48" name="Text 45"/>
          <p:cNvSpPr txBox="1"/>
          <p:nvPr/>
        </p:nvSpPr>
        <p:spPr>
          <a:xfrm>
            <a:off x="685800" y="36576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a:t>
            </a:r>
            <a:endParaRPr lang="ar-SA" sz="1600" dirty="0"/>
          </a:p>
        </p:txBody>
      </p:sp>
      <p:sp>
        <p:nvSpPr>
          <p:cNvPr id="49" name="Shape 46"/>
          <p:cNvSpPr/>
          <p:nvPr/>
        </p:nvSpPr>
        <p:spPr>
          <a:xfrm>
            <a:off x="594360" y="4084320"/>
            <a:ext cx="5271516" cy="353568"/>
          </a:xfrm>
          <a:prstGeom prst="roundRect">
            <a:avLst>
              <a:gd name="adj" fmla="val 15517"/>
            </a:avLst>
          </a:prstGeom>
          <a:solidFill>
            <a:srgbClr val="FFF4DC"/>
          </a:solidFill>
          <a:ln w="9525">
            <a:solidFill>
              <a:srgbClr val="E6C98A"/>
            </a:solidFill>
            <a:prstDash val="solid"/>
          </a:ln>
        </p:spPr>
      </p:sp>
      <p:sp>
        <p:nvSpPr>
          <p:cNvPr id="50" name="Text 47"/>
          <p:cNvSpPr txBox="1"/>
          <p:nvPr/>
        </p:nvSpPr>
        <p:spPr>
          <a:xfrm>
            <a:off x="685800" y="408432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a:t>
            </a:r>
            <a:endParaRPr lang="ar-SA" sz="16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 new letters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seven new letters 4 times each. Circle the four breakers.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Trace first on the I do slide, then copy on the line. Say each name aloud.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letters + rule</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the seven letters, then write the connection rule in your own English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Give one example: which letters break, which connect.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letters 1–14</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letters 1–14 in alphabet order from memory. Write S (sun) or M (moon) beside each.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Circle د ذ ر ز as the breakers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Partner flash: name, sound, break or connect</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يَتَّصِلُ؟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شَمْسِيٌّ أَمْ قَمَرِيٌّ؟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القَاعِدَةَ.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حَرْفٌ شَمْسِيٌّ / قَمَرِيٌّ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لَا يَتَّصِلُ بِمَا بَعْدَهُ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 هٰذَا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هٰذَا الحَرْفُ؟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letter?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دَالٌ. لَا يَتَّصِلُ بِمَا بَعْدَهُ.</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dāl. It does not connect to the next letter.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Dot of </a:t>
            </a:r>
            <a:pPr algn="l" indent="0" marL="0">
              <a:buNone/>
            </a:pPr>
            <a:r>
              <a:rPr lang="ar-SA" altLang="en-US" sz="1450" dirty="0">
                <a:solidFill>
                  <a:srgbClr val="5A6472"/>
                </a:solidFill>
                <a:latin typeface="Amiri" pitchFamily="2" charset="-78"/>
                <a:ea typeface="Amiri" pitchFamily="2" charset="-78"/>
                <a:cs typeface="Amiri" pitchFamily="2" charset="-78"/>
              </a:rPr>
              <a:t>ذ</a:t>
            </a:r>
            <a:pPr algn="l" indent="0" marL="0">
              <a:buNone/>
            </a:pPr>
            <a:r>
              <a:rPr lang="en-US" sz="1100" dirty="0">
                <a:solidFill>
                  <a:srgbClr val="5A6472"/>
                </a:solidFill>
                <a:latin typeface="Calibri" pitchFamily="34" charset="0"/>
                <a:cs typeface="Amiri" pitchFamily="2" charset="-78"/>
              </a:rPr>
              <a:t> drawn below</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dot of dhāl is ABOVE, never below (website accuracy point).</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Joining </a:t>
            </a:r>
            <a:pPr algn="l" indent="0" marL="0">
              <a:buNone/>
            </a:pPr>
            <a:r>
              <a:rPr lang="ar-SA" altLang="en-US" sz="1450" dirty="0">
                <a:solidFill>
                  <a:srgbClr val="5A6472"/>
                </a:solidFill>
                <a:latin typeface="Amiri" pitchFamily="2" charset="-78"/>
                <a:ea typeface="Amiri" pitchFamily="2" charset="-78"/>
                <a:cs typeface="Amiri" pitchFamily="2" charset="-78"/>
              </a:rPr>
              <a:t>د</a:t>
            </a:r>
            <a:pPr algn="l" indent="0" marL="0">
              <a:buNone/>
            </a:pPr>
            <a:r>
              <a:rPr lang="en-US" sz="1100" dirty="0">
                <a:solidFill>
                  <a:srgbClr val="5A6472"/>
                </a:solidFill>
                <a:latin typeface="Calibri" pitchFamily="34" charset="0"/>
                <a:cs typeface="Amiri" pitchFamily="2" charset="-78"/>
              </a:rPr>
              <a:t> or </a:t>
            </a:r>
            <a:pPr algn="l" indent="0" marL="0">
              <a:buNone/>
            </a:pPr>
            <a:r>
              <a:rPr lang="ar-SA" altLang="en-US" sz="1450" dirty="0">
                <a:solidFill>
                  <a:srgbClr val="5A6472"/>
                </a:solidFill>
                <a:latin typeface="Amiri" pitchFamily="2" charset="-78"/>
                <a:ea typeface="Amiri" pitchFamily="2" charset="-78"/>
                <a:cs typeface="Amiri" pitchFamily="2" charset="-78"/>
              </a:rPr>
              <a:t>ر</a:t>
            </a:r>
            <a:pPr algn="l" indent="0" marL="0">
              <a:buNone/>
            </a:pPr>
            <a:r>
              <a:rPr lang="en-US" sz="1100" dirty="0">
                <a:solidFill>
                  <a:srgbClr val="5A6472"/>
                </a:solidFill>
                <a:latin typeface="Calibri" pitchFamily="34" charset="0"/>
                <a:cs typeface="Amiri" pitchFamily="2" charset="-78"/>
              </a:rPr>
              <a:t> to the next letter</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Breakers hold hands on the RIGHT only — leave a gap on the left.</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ر</a:t>
            </a:r>
            <a:pPr algn="l" indent="0" marL="0">
              <a:buNone/>
            </a:pPr>
            <a:r>
              <a:rPr lang="en-US" sz="1100" dirty="0">
                <a:solidFill>
                  <a:srgbClr val="5A6472"/>
                </a:solidFill>
                <a:latin typeface="Calibri" pitchFamily="34" charset="0"/>
                <a:cs typeface="Amiri" pitchFamily="2" charset="-78"/>
              </a:rPr>
              <a:t> written like </a:t>
            </a:r>
            <a:pPr algn="l" indent="0" marL="0">
              <a:buNone/>
            </a:pPr>
            <a:r>
              <a:rPr lang="ar-SA" altLang="en-US" sz="1450" dirty="0">
                <a:solidFill>
                  <a:srgbClr val="5A6472"/>
                </a:solidFill>
                <a:latin typeface="Amiri" pitchFamily="2" charset="-78"/>
                <a:ea typeface="Amiri" pitchFamily="2" charset="-78"/>
                <a:cs typeface="Amiri" pitchFamily="2" charset="-78"/>
              </a:rPr>
              <a:t>د</a:t>
            </a:r>
            <a:pPr algn="l" indent="0" marL="0">
              <a:buNone/>
            </a:pPr>
            <a:r>
              <a:rPr lang="en-US" sz="1100" dirty="0">
                <a:solidFill>
                  <a:srgbClr val="5A6472"/>
                </a:solidFill>
                <a:latin typeface="Calibri" pitchFamily="34" charset="0"/>
                <a:cs typeface="Amiri" pitchFamily="2" charset="-78"/>
              </a:rPr>
              <a:t> (on the line)</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rāʾ and zāy curve DOWN below the line.</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Saying </a:t>
            </a:r>
            <a:pPr algn="l" indent="0" marL="0">
              <a:buNone/>
            </a:pPr>
            <a:r>
              <a:rPr lang="ar-SA" altLang="en-US" sz="1450" dirty="0">
                <a:solidFill>
                  <a:srgbClr val="5A6472"/>
                </a:solidFill>
                <a:latin typeface="Amiri" pitchFamily="2" charset="-78"/>
                <a:ea typeface="Amiri" pitchFamily="2" charset="-78"/>
                <a:cs typeface="Amiri" pitchFamily="2" charset="-78"/>
              </a:rPr>
              <a:t>ذ</a:t>
            </a:r>
            <a:pPr algn="l" indent="0" marL="0">
              <a:buNone/>
            </a:pPr>
            <a:r>
              <a:rPr lang="en-US" sz="1100" dirty="0">
                <a:solidFill>
                  <a:srgbClr val="5A6472"/>
                </a:solidFill>
                <a:latin typeface="Calibri" pitchFamily="34" charset="0"/>
                <a:cs typeface="Amiri" pitchFamily="2" charset="-78"/>
              </a:rPr>
              <a:t> as /z/</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Tongue lightly at the teeth: /ð/ as in “this”.</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a:t>
            </a:r>
            <a:pPr algn="l" indent="0" marL="0">
              <a:buNone/>
            </a:pPr>
            <a:r>
              <a:rPr lang="en-US" sz="1100" dirty="0">
                <a:solidFill>
                  <a:srgbClr val="5A6472"/>
                </a:solidFill>
                <a:latin typeface="Calibri" pitchFamily="34" charset="0"/>
                <a:cs typeface="Amiri" pitchFamily="2" charset="-78"/>
              </a:rPr>
              <a:t> sounds like </a:t>
            </a:r>
            <a:pPr algn="l" indent="0" marL="0">
              <a:buNone/>
            </a:pPr>
            <a:r>
              <a:rPr lang="ar-SA" altLang="en-US" sz="1450" dirty="0">
                <a:solidFill>
                  <a:srgbClr val="5A6472"/>
                </a:solidFill>
                <a:latin typeface="Amiri" pitchFamily="2" charset="-78"/>
                <a:ea typeface="Amiri" pitchFamily="2" charset="-78"/>
                <a:cs typeface="Amiri" pitchFamily="2" charset="-78"/>
              </a:rPr>
              <a:t>س</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Raise the back of the tongue — darker, fuller.</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Thinking sun letters are spelt differently</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always write </a:t>
            </a:r>
            <a:pPr algn="l" indent="0" marL="0">
              <a:buNone/>
            </a:pPr>
            <a:r>
              <a:rPr lang="ar-SA" altLang="en-US" sz="1450" dirty="0">
                <a:solidFill>
                  <a:srgbClr val="5A6472"/>
                </a:solidFill>
                <a:latin typeface="Amiri" pitchFamily="2" charset="-78"/>
                <a:ea typeface="Amiri" pitchFamily="2" charset="-78"/>
                <a:cs typeface="Amiri" pitchFamily="2" charset="-78"/>
              </a:rPr>
              <a:t>ال</a:t>
            </a:r>
            <a:pPr algn="l" indent="0" marL="0">
              <a:buNone/>
            </a:pPr>
            <a:r>
              <a:rPr lang="en-US" sz="1100" dirty="0">
                <a:solidFill>
                  <a:srgbClr val="5A6472"/>
                </a:solidFill>
                <a:latin typeface="Calibri" pitchFamily="34" charset="0"/>
                <a:cs typeface="Amiri" pitchFamily="2" charset="-78"/>
              </a:rPr>
              <a:t>; only the sound changes.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recognise and name letters 1–14.</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the four connection breakers.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the dot clues for today’s letters.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“l heard” (moon) and “l absorbed” (sun).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letters 1–14 in order and mark S or 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the emphatic /sˤ/ sound?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non-connector creates a break before the next letter on which side?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left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right</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learned letter is a moon letter?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a:t>
            </a:r>
            <a:endParaRPr lang="ar-SA" sz="20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has the emphatic /sˤ/ sound?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a:t>
            </a:r>
            <a:pPr algn="l" indent="0" marL="0">
              <a:buNone/>
            </a:pPr>
            <a:r>
              <a:rPr lang="en-US" sz="1050" i="1" dirty="0">
                <a:solidFill>
                  <a:srgbClr val="8A6D1E"/>
                </a:solidFill>
                <a:latin typeface="Calibri" pitchFamily="34" charset="0"/>
                <a:cs typeface="Amiri" pitchFamily="2" charset="-78"/>
              </a:rPr>
              <a:t> ṣād (website final check 4).</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non-connector creates a break before the next letter on which side?</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left</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right</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following letter is on its LEFT (website final check 5).</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learned letter is a moon letter?</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a:t>
            </a:r>
            <a:endParaRPr lang="ar-SA" sz="20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a:t>
            </a:r>
            <a:endParaRPr lang="ar-SA" sz="2050" dirty="0"/>
          </a:p>
        </p:txBody>
      </p:sp>
      <p:sp>
        <p:nvSpPr>
          <p:cNvPr id="53" name="Shape 50"/>
          <p:cNvSpPr/>
          <p:nvPr/>
        </p:nvSpPr>
        <p:spPr>
          <a:xfrm>
            <a:off x="8278368" y="34472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a:t>
            </a:r>
            <a:endParaRPr lang="ar-SA" sz="20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a:t>
            </a:r>
            <a:pPr algn="l" indent="0" marL="0">
              <a:buNone/>
            </a:pPr>
            <a:r>
              <a:rPr lang="en-US" sz="1050" i="1" dirty="0">
                <a:solidFill>
                  <a:srgbClr val="8A6D1E"/>
                </a:solidFill>
                <a:latin typeface="Calibri" pitchFamily="34" charset="0"/>
                <a:cs typeface="Amiri" pitchFamily="2" charset="-78"/>
              </a:rPr>
              <a:t> is a moon letter (website final check 8).</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Letters 8–14</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F1-L03 · Powerful Sounds &amp; Long Vowels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  طَاءٌ</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ṭāʾ · emphatic /tˤ/</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  عَيْنٌ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ʿayn · /ʕ/</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  فَاءٌ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fāʾ · /f/</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  قَافٌ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qāf · /q/</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  كَافٌ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kāf · /k/</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letters 1–14 in order and mark S (sun) or M (moon).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 ب ت ث ج ح خ د ذ ر ز س ش ص</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F1-L02 · Connection Gate and Letter Detective games; copy the 7 new letters.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F1-L02 · “Sunlight or Moonlight?”, then explain the rule to someone at home.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letters 1–14 from memory with S / M; circle the four breakers.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F1-L03 · Powerful Sounds &amp; Long Vowels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الحُرُوفُ مِنْ ١٥ إِلَى ٢٢ وَالمَدُّ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new letters + letters 1–14 from memory.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F1-L02 · New Letter Families &amp; Connection Breakers</dc:title>
  <dc:subject>PptxGenJS Presentation</dc:subject>
  <dc:creator>Al Madina Online School · Arabic Department</dc:creator>
  <cp:lastModifiedBy>Al Madina Online School · Arabic Department</cp:lastModifiedBy>
  <cp:revision>1</cp:revision>
  <dcterms:created xsi:type="dcterms:W3CDTF">2026-10-11T06:41:14Z</dcterms:created>
  <dcterms:modified xsi:type="dcterms:W3CDTF">2026-10-11T06:41:14Z</dcterms:modified>
</cp:coreProperties>
</file>