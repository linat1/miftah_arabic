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10–20 New letters and sounds · 20–23 Quick check · 23–27 I Do (formation) · 27–38 We Do (listen, sort, detect) · 38–49 You Do (write, then show-and-say) · 49–54 Feedback · 54–56 Preparation.
FLEX slides are optional. Use them if the class is moving quickly; otherwise the same activities are on the website for homework.
Content source: Miftah Arabic website, Pathways › Foundation › F1 Arabic Script &amp; Sounds › Lesson 6 (F1-L06). The website lesson teaches shadda (gemination: دَرَسَ vs دَرَّسَ, مُحَمَّد, مَرَّ, حَقّ), the three tanwīn endings (كِتَابٌ، كِتَابٍ، كِتَابًا), alif madda آ (آدَم، آمَنَ، قُرْآن vs بَاب) and five printed hamza shapes (أَكَلَ، إِمَام، سُؤَال، بِئْر، شَيْء). The retrieval check, reading lab, listening script, writing rehearsal and ten-item final check are the website’s. (The website’s visual game for this lesson repeats the F1-L03 vowel game, so it is not used.)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mark and sound — point to the mark, say its job, read the word. DEVELOP: compare two forms and name exactly what changes. STRETCH: notice why tanwīn belongs to indefinite nouns (not with الـ).
• Accuracy boundaries (website): tanwīn is not simply “a/an”; case endings are scored in careful connected MSA (stopping rules come later); for hamza the honest target is RECOGNITION of five shapes — not choosing seats.
• Heritage / Urdu readers: tashdīd, tanwīn and madd are familiar from Qur’an reading. Distinguish script rules from recitation (tajwīd) rules (website Heritage route).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1–4 are the website “F1-L05 readiness check” (3–4 → continue; 0–2 → revisit F1-L04 and F1-L05). Question 5 tests the home preparation.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See the mark → name its job → read the whole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and routes are the website F1-L06 outcomes.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tashdīd = shadda; tanwīn is called do zabar / do zēr / do pēsh (two fatḥas, kasras, ḍammas); madd = madda; hamza. Students who read the Qur’an know these marks — ask them to explain one to the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SHADDA (website Part 1): not an extra vowel and not a command to shout — it shows a long or doubled consonant: the first half closes what came before; the second half begins what follows.
Blend routine (website): in دَرَّسَ, arrive on /r/, hold the closure briefly, then release into /ra/. Do not insert a vowel between the two /r/ timings.
A shadda changes the MEANING: دَرَسَ he studied → دَرَّسَ he taught.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TANWĪN (website Part 2): the pair of marks spells a vowel + final /n/ (/u+n/, /i+n/, /a+n/). The /n/ is heard although no nūn is written.
Tanwīn fatḥ often has a supporting alif (كِتَابًا) — but not always (e.g. words ending in ة), so do not add alif mechanically.
Grammar boundary (website): tanwīn is not simply “a/an”; it is a grammatical ending. A noun with الـ does not normally take tanwīn: كِتَابٌ vs الكِتَابُ.
Speech boundary (website): at a pause speakers stop without the ending; today we score the careful connected 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ALIF MADDA (website Part 3): the wavy sign above alif (آ) = hamza /ʔ/ + long /ā/. It does not replace every ordinary long ā: بَاب has long ā but no hamza before it, so it uses ordinary alif (website).
Other website word: آمَنَ ʾāmana — he believed.
Terminology note (website): “madd” can also mean vowel lengthening in general; here we mean the written character آ.</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HAMZA (website Part 4): the glottal stop /ʔ/ — the brief catch in “uh-oh”. Its small head may sit above or below alif, on wāw, on a tooth-like seat, or alone.
Foundation target (website): RECOGNISE the five shapes أ إ ؤ ئ ء. Choosing the correct seat depends on position and vowels — a later orthography lesson. Avoid shortcuts like “the strongest vowel decides” for every hamza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final check questions 1, 3, 6 and 9.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 READING LAB (4 min), the website routine:
1 INSPECT — circle the focus mark and name it precisely (shadda, one of three tanwīns, alif madda or hamza).
2 DECODE — state its sound job (double a consonant, add /n/, read /ʔā/, pronounce /ʔ/).
3 BLEND — read the full word, keeping vowel length, consonant timing and direction accurate.
Think aloud for each word, then echo-read with the class. Students copy the six words and circle each 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games “Shadda Signal” (one timing or two?) and “Ending Ear” (read the doubled mark and select the ending). Read each word aloud before students choose.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read each word together. Partner accuracy check (website): the shadda consonant has two timings; tanwīn ends with an audible /n/.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LISTENING (3 min). Read each word twice; students first write the feature in their books.
Script: مُعَلِّمٌ. كِتَابٌ. بَابٌ. سَأَلَ.
Answers (website): 1 shadda · 2 tanwīn · 3 long ā · 4 hamza.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Show the four words on the board and circle the mark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game “Mark Detective” (identify the exact focus mark or character inside each word). Words from the website lesson; items chosen so each has ONE main focus mark (إِمَامٌ also has tanwīn — accept both with a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game “Mark Detective” (identify the exact focus mark or character inside each word). Words from the website lesson; items chosen so each has ONE main focus mark (إِمَامٌ also has tanwīn — accept both with a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 WRITING (7 min) = the website writing rehearsal and homework, split by route. LIVE FEEDBACK after 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(the Core prompt is teacher-made).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وَ«كِتَابٌ»؟ (And “kitābun”?)
B: كِتَابٌ. فِيهَا تَنْوِينٌ. (kitābun. It has tanwīn.)
PARTNER ACCURACY CHECK (website): the shadda consonant has two timings; tanwīn ends with an audible /n/; long /ā/ lasts about twice a short /a/; hamza is heard as /ʔ/ whatever its seat. A reads a word, B names the mark and checks the sound.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(2 min) — mix-ups based on the website boundaries and blend routine. Students correct in green 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10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(F1-L07 · Read the Number, Keep the Order) will spend class time USING this language, so students prepare it tonight — short, simple, easy to access (school guidance: “Simple, Short, Interesting, Relevant, Easy to access”). Next lesson: Arabic-Indic numerals 0–100. Note: the numbers are written left to right even inside Arabic text!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F1  ·  F1-L06</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F1-L06</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Small Marks, Big Changes</a:t>
            </a:r>
            <a:endParaRPr lang="en-US" sz="4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الشَّدَّةُ وَالتَّنْوِينُ وَأَلِفُ المَدِّ وَالهَمْزَةُ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Read four new marks: shadda doubles a letter (</a:t>
            </a:r>
            <a:pPr algn="l" indent="0" marL="0">
              <a:buNone/>
            </a:pPr>
            <a:r>
              <a:rPr lang="ar-SA" altLang="en-US" sz="1800" dirty="0">
                <a:solidFill>
                  <a:srgbClr val="C6D2E6"/>
                </a:solidFill>
                <a:latin typeface="Amiri" pitchFamily="2" charset="-78"/>
                <a:cs typeface="Amiri" pitchFamily="2" charset="-78"/>
              </a:rPr>
              <a:t>دَرَّسَ</a:t>
            </a:r>
            <a:pPr algn="l" indent="0" marL="0">
              <a:buNone/>
            </a:pPr>
            <a:r>
              <a:rPr lang="en-US" sz="1400" dirty="0">
                <a:solidFill>
                  <a:srgbClr val="C6D2E6"/>
                </a:solidFill>
                <a:latin typeface="Calibri" pitchFamily="34" charset="0"/>
                <a:cs typeface="Amiri" pitchFamily="2" charset="-78"/>
              </a:rPr>
              <a:t>), tanwīn adds an “n” ending (</a:t>
            </a:r>
            <a:pPr algn="l" indent="0" marL="0">
              <a:buNone/>
            </a:pPr>
            <a:r>
              <a:rPr lang="ar-SA" altLang="en-US" sz="1800" dirty="0">
                <a:solidFill>
                  <a:srgbClr val="C6D2E6"/>
                </a:solidFill>
                <a:latin typeface="Amiri" pitchFamily="2" charset="-78"/>
                <a:cs typeface="Amiri" pitchFamily="2" charset="-78"/>
              </a:rPr>
              <a:t>كِتَابٌ</a:t>
            </a:r>
            <a:pPr algn="l" indent="0" marL="0">
              <a:buNone/>
            </a:pPr>
            <a:r>
              <a:rPr lang="en-US" sz="1400" dirty="0">
                <a:solidFill>
                  <a:srgbClr val="C6D2E6"/>
                </a:solidFill>
                <a:latin typeface="Calibri" pitchFamily="34" charset="0"/>
                <a:cs typeface="Amiri" pitchFamily="2" charset="-78"/>
              </a:rPr>
              <a:t>), alif madda says ʾā (</a:t>
            </a:r>
            <a:pPr algn="l" indent="0" marL="0">
              <a:buNone/>
            </a:pPr>
            <a:r>
              <a:rPr lang="ar-SA" altLang="en-US" sz="1800" dirty="0">
                <a:solidFill>
                  <a:srgbClr val="C6D2E6"/>
                </a:solidFill>
                <a:latin typeface="Amiri" pitchFamily="2" charset="-78"/>
                <a:cs typeface="Amiri" pitchFamily="2" charset="-78"/>
              </a:rPr>
              <a:t>آدَم</a:t>
            </a:r>
            <a:pPr algn="l" indent="0" marL="0">
              <a:buNone/>
            </a:pPr>
            <a:r>
              <a:rPr lang="en-US" sz="1400" dirty="0">
                <a:solidFill>
                  <a:srgbClr val="C6D2E6"/>
                </a:solidFill>
                <a:latin typeface="Calibri" pitchFamily="34" charset="0"/>
                <a:cs typeface="Amiri" pitchFamily="2" charset="-78"/>
              </a:rPr>
              <a:t>), and hamza is a catch in the throat (</a:t>
            </a:r>
            <a:pPr algn="l" indent="0" marL="0">
              <a:buNone/>
            </a:pPr>
            <a:r>
              <a:rPr lang="ar-SA" altLang="en-US" sz="1800" dirty="0">
                <a:solidFill>
                  <a:srgbClr val="C6D2E6"/>
                </a:solidFill>
                <a:latin typeface="Amiri" pitchFamily="2" charset="-78"/>
                <a:cs typeface="Amiri" pitchFamily="2" charset="-78"/>
              </a:rPr>
              <a:t>سُؤَال</a:t>
            </a:r>
            <a:pPr algn="l" indent="0" marL="0">
              <a:buNone/>
            </a:pPr>
            <a:r>
              <a:rPr lang="en-US" sz="1400" dirty="0">
                <a:solidFill>
                  <a:srgbClr val="C6D2E6"/>
                </a:solidFill>
                <a:latin typeface="Calibri" pitchFamily="34" charset="0"/>
                <a:cs typeface="Amiri" pitchFamily="2" charset="-78"/>
              </a:rPr>
              <a:t>). See the mark → name its job → read the word.</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F1-L06 · Foundation F1 · Arabic Script &amp; Sounds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beginner</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F1 › F1-L06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F1-L06 · Small marks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F1-L06</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F1-L06 · Small marks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F1-L06</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Four small marks and what they do to the sound.</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Shadda signal, ending ear, mark detective, reading lab.</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F1-L07.</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F1-L06 · Small marks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Name the form </a:t>
            </a:r>
            <a:pPr algn="l" indent="0" marL="0">
              <a:buNone/>
            </a:pPr>
            <a:r>
              <a:rPr lang="ar-SA" altLang="en-US" sz="1650" b="1" dirty="0">
                <a:solidFill>
                  <a:srgbClr val="1B3B6F"/>
                </a:solidFill>
                <a:latin typeface="Amiri" pitchFamily="2" charset="-78"/>
                <a:cs typeface="Amiri" pitchFamily="2" charset="-78"/>
              </a:rPr>
              <a:t>ـبـ</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Initial</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Medial</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Final</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alif do to the connection after it?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Breaks it</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Continues it</a:t>
            </a:r>
            <a:endParaRPr lang="en-US" sz="1250" dirty="0"/>
          </a:p>
        </p:txBody>
      </p:sp>
      <p:sp>
        <p:nvSpPr>
          <p:cNvPr id="38" name="Shape 35"/>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8223504" y="1947672"/>
            <a:ext cx="310896" cy="310896"/>
          </a:xfrm>
          <a:prstGeom prst="ellipse">
            <a:avLst/>
          </a:prstGeom>
          <a:solidFill>
            <a:srgbClr val="1B3B6F"/>
          </a:solidFill>
          <a:ln w="12700">
            <a:solidFill>
              <a:srgbClr val="1B3B6F"/>
            </a:solidFill>
            <a:prstDash val="solid"/>
          </a:ln>
        </p:spPr>
      </p:sp>
      <p:sp>
        <p:nvSpPr>
          <p:cNvPr id="40" name="Text 37"/>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1" name="Text 38"/>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job of fatḥa in </a:t>
            </a:r>
            <a:pPr algn="l" indent="0" marL="0">
              <a:buNone/>
            </a:pPr>
            <a:r>
              <a:rPr lang="ar-SA" altLang="en-US" sz="1650" b="1" dirty="0">
                <a:solidFill>
                  <a:srgbClr val="1B3B6F"/>
                </a:solidFill>
                <a:latin typeface="Amiri" pitchFamily="2" charset="-78"/>
                <a:cs typeface="Amiri" pitchFamily="2" charset="-78"/>
              </a:rPr>
              <a:t>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2" name="Shape 39"/>
          <p:cNvSpPr/>
          <p:nvPr/>
        </p:nvSpPr>
        <p:spPr>
          <a:xfrm>
            <a:off x="8278368" y="2532888"/>
            <a:ext cx="256032" cy="256032"/>
          </a:xfrm>
          <a:prstGeom prst="ellipse">
            <a:avLst/>
          </a:prstGeom>
          <a:solidFill>
            <a:srgbClr val="F4F1EA"/>
          </a:solidFill>
          <a:ln w="12700">
            <a:solidFill>
              <a:srgbClr val="F4F1EA"/>
            </a:solidFill>
            <a:prstDash val="solid"/>
          </a:ln>
        </p:spPr>
      </p:sp>
      <p:sp>
        <p:nvSpPr>
          <p:cNvPr id="43" name="Text 40"/>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4" name="Text 41"/>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long /ā/</a:t>
            </a:r>
            <a:endParaRPr lang="en-US" sz="1250" dirty="0"/>
          </a:p>
        </p:txBody>
      </p:sp>
      <p:sp>
        <p:nvSpPr>
          <p:cNvPr id="45" name="Shape 42"/>
          <p:cNvSpPr/>
          <p:nvPr/>
        </p:nvSpPr>
        <p:spPr>
          <a:xfrm>
            <a:off x="8278368" y="29900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7" name="Text 44"/>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vowel</a:t>
            </a:r>
            <a:endParaRPr lang="en-US" sz="1250" dirty="0"/>
          </a:p>
        </p:txBody>
      </p:sp>
      <p:sp>
        <p:nvSpPr>
          <p:cNvPr id="48" name="Shape 45"/>
          <p:cNvSpPr/>
          <p:nvPr/>
        </p:nvSpPr>
        <p:spPr>
          <a:xfrm>
            <a:off x="8278368" y="34472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0" name="Text 47"/>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short /a/</a:t>
            </a:r>
            <a:endParaRPr lang="en-US" sz="1250" dirty="0"/>
          </a:p>
        </p:txBody>
      </p:sp>
      <p:sp>
        <p:nvSpPr>
          <p:cNvPr id="51" name="Shape 48"/>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85216" y="4288536"/>
            <a:ext cx="310896" cy="310896"/>
          </a:xfrm>
          <a:prstGeom prst="ellipse">
            <a:avLst/>
          </a:prstGeom>
          <a:solidFill>
            <a:srgbClr val="1B3B6F"/>
          </a:solidFill>
          <a:ln w="12700">
            <a:solidFill>
              <a:srgbClr val="1B3B6F"/>
            </a:solidFill>
            <a:prstDash val="solid"/>
          </a:ln>
        </p:spPr>
      </p:sp>
      <p:sp>
        <p:nvSpPr>
          <p:cNvPr id="53" name="Text 5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4" name="Text 51"/>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sukūn show in </a:t>
            </a:r>
            <a:pPr algn="l" indent="0" marL="0">
              <a:buNone/>
            </a:pPr>
            <a:r>
              <a:rPr lang="ar-SA" altLang="en-US" sz="1650" b="1" dirty="0">
                <a:solidFill>
                  <a:srgbClr val="1B3B6F"/>
                </a:solidFill>
                <a:latin typeface="Amiri" pitchFamily="2" charset="-78"/>
                <a:cs typeface="Amiri" pitchFamily="2" charset="-78"/>
              </a:rPr>
              <a:t>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5" name="Shape 52"/>
          <p:cNvSpPr/>
          <p:nvPr/>
        </p:nvSpPr>
        <p:spPr>
          <a:xfrm>
            <a:off x="640080" y="4873752"/>
            <a:ext cx="256032" cy="256032"/>
          </a:xfrm>
          <a:prstGeom prst="ellipse">
            <a:avLst/>
          </a:prstGeom>
          <a:solidFill>
            <a:srgbClr val="F4F1EA"/>
          </a:solidFill>
          <a:ln w="12700">
            <a:solidFill>
              <a:srgbClr val="F4F1EA"/>
            </a:solidFill>
            <a:prstDash val="solid"/>
          </a:ln>
        </p:spPr>
      </p:sp>
      <p:sp>
        <p:nvSpPr>
          <p:cNvPr id="56" name="Text 5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7" name="Text 54"/>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following short vowel</a:t>
            </a:r>
            <a:endParaRPr lang="en-US" sz="1250" dirty="0"/>
          </a:p>
        </p:txBody>
      </p:sp>
      <p:sp>
        <p:nvSpPr>
          <p:cNvPr id="58" name="Shape 55"/>
          <p:cNvSpPr/>
          <p:nvPr/>
        </p:nvSpPr>
        <p:spPr>
          <a:xfrm>
            <a:off x="640080" y="53309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0" name="Text 57"/>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consonant disappears</a:t>
            </a:r>
            <a:endParaRPr lang="en-US" sz="1250" dirty="0"/>
          </a:p>
        </p:txBody>
      </p:sp>
      <p:sp>
        <p:nvSpPr>
          <p:cNvPr id="61" name="Shape 58"/>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4404360"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64" name="Text 61"/>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 you read </a:t>
            </a:r>
            <a:pPr algn="l" indent="0" marL="0">
              <a:buNone/>
            </a:pPr>
            <a:r>
              <a:rPr lang="ar-SA" altLang="en-US" sz="1650" b="1" dirty="0">
                <a:solidFill>
                  <a:srgbClr val="1B3B6F"/>
                </a:solidFill>
                <a:latin typeface="Amiri" pitchFamily="2" charset="-78"/>
                <a:cs typeface="Amiri" pitchFamily="2" charset="-78"/>
              </a:rPr>
              <a:t>مُحَمَّدٌ</a:t>
            </a:r>
            <a:pPr algn="l" indent="0" marL="0">
              <a:buNone/>
            </a:pPr>
            <a:r>
              <a:rPr lang="en-US" sz="1250" b="1" dirty="0">
                <a:solidFill>
                  <a:srgbClr val="1B3B6F"/>
                </a:solidFill>
                <a:latin typeface="Calibri" pitchFamily="34" charset="0"/>
                <a:cs typeface="Amiri" pitchFamily="2" charset="-78"/>
              </a:rPr>
              <a:t> (prepared at home)?</a:t>
            </a:r>
            <a:endParaRPr lang="en-US" sz="1250" dirty="0"/>
          </a:p>
        </p:txBody>
      </p:sp>
      <p:sp>
        <p:nvSpPr>
          <p:cNvPr id="65" name="Shape 62"/>
          <p:cNvSpPr/>
          <p:nvPr/>
        </p:nvSpPr>
        <p:spPr>
          <a:xfrm>
            <a:off x="4459224" y="48737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4"/>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mu-ḥam-mad-un</a:t>
            </a:r>
            <a:endParaRPr lang="en-US" sz="1250" dirty="0"/>
          </a:p>
        </p:txBody>
      </p:sp>
      <p:sp>
        <p:nvSpPr>
          <p:cNvPr id="68" name="Shape 65"/>
          <p:cNvSpPr/>
          <p:nvPr/>
        </p:nvSpPr>
        <p:spPr>
          <a:xfrm>
            <a:off x="4459224" y="53309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mu-ḥa-mad</a:t>
            </a:r>
            <a:endParaRPr lang="en-US" sz="1250" dirty="0"/>
          </a:p>
        </p:txBody>
      </p:sp>
      <p:sp>
        <p:nvSpPr>
          <p:cNvPr id="71" name="Shape 68"/>
          <p:cNvSpPr/>
          <p:nvPr/>
        </p:nvSpPr>
        <p:spPr>
          <a:xfrm>
            <a:off x="4459224" y="57881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ma-ḥ-mud</a:t>
            </a:r>
            <a:endParaRPr lang="en-US" sz="1250" dirty="0"/>
          </a:p>
        </p:txBody>
      </p:sp>
      <p:sp>
        <p:nvSpPr>
          <p:cNvPr id="74" name="Shape 71"/>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75" name="Text 72"/>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76" name="Text 73"/>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77" name="Text 74"/>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78" name="Text 75"/>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F1-L06 · Small marks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Name the form </a:t>
            </a:r>
            <a:pPr algn="l" indent="0" marL="0">
              <a:buNone/>
            </a:pPr>
            <a:r>
              <a:rPr lang="ar-SA" altLang="en-US" sz="1650" b="1" dirty="0">
                <a:solidFill>
                  <a:srgbClr val="1B3B6F"/>
                </a:solidFill>
                <a:latin typeface="Amiri" pitchFamily="2" charset="-78"/>
                <a:cs typeface="Amiri" pitchFamily="2" charset="-78"/>
              </a:rPr>
              <a:t>ـبـ</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Initial</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Medial</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Final</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F1-L05: joined on both sides.</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alif do to the connection after it?</a:t>
            </a:r>
            <a:endParaRPr lang="en-US" sz="1250" dirty="0"/>
          </a:p>
        </p:txBody>
      </p:sp>
      <p:sp>
        <p:nvSpPr>
          <p:cNvPr id="34" name="Shape 31"/>
          <p:cNvSpPr/>
          <p:nvPr/>
        </p:nvSpPr>
        <p:spPr>
          <a:xfrm>
            <a:off x="4367784" y="2496312"/>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532888"/>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Breaks it</a:t>
            </a:r>
            <a:endParaRPr lang="en-US" sz="1250" dirty="0"/>
          </a:p>
        </p:txBody>
      </p:sp>
      <p:sp>
        <p:nvSpPr>
          <p:cNvPr id="38" name="Shape 35"/>
          <p:cNvSpPr/>
          <p:nvPr/>
        </p:nvSpPr>
        <p:spPr>
          <a:xfrm>
            <a:off x="4459224" y="2990088"/>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Continues it</a:t>
            </a:r>
            <a:endParaRPr lang="en-US" sz="1250" dirty="0"/>
          </a:p>
        </p:txBody>
      </p:sp>
      <p:sp>
        <p:nvSpPr>
          <p:cNvPr id="41" name="Text 38"/>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Alif is a breaker.</a:t>
            </a:r>
            <a:endParaRPr lang="en-US" sz="1050" dirty="0"/>
          </a:p>
        </p:txBody>
      </p:sp>
      <p:sp>
        <p:nvSpPr>
          <p:cNvPr id="42" name="Shape 39"/>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job of fatḥa in </a:t>
            </a:r>
            <a:pPr algn="l" indent="0" marL="0">
              <a:buNone/>
            </a:pPr>
            <a:r>
              <a:rPr lang="ar-SA" altLang="en-US" sz="1650" b="1" dirty="0">
                <a:solidFill>
                  <a:srgbClr val="1B3B6F"/>
                </a:solidFill>
                <a:latin typeface="Amiri" pitchFamily="2" charset="-78"/>
                <a:cs typeface="Amiri" pitchFamily="2" charset="-78"/>
              </a:rPr>
              <a:t>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6" name="Shape 43"/>
          <p:cNvSpPr/>
          <p:nvPr/>
        </p:nvSpPr>
        <p:spPr>
          <a:xfrm>
            <a:off x="8278368" y="2490216"/>
            <a:ext cx="256032" cy="256032"/>
          </a:xfrm>
          <a:prstGeom prst="ellipse">
            <a:avLst/>
          </a:prstGeom>
          <a:solidFill>
            <a:srgbClr val="C9CED6"/>
          </a:solidFill>
          <a:ln w="12700">
            <a:solidFill>
              <a:srgbClr val="C9CED6"/>
            </a:solidFill>
            <a:prstDash val="solid"/>
          </a:ln>
        </p:spPr>
      </p:sp>
      <p:sp>
        <p:nvSpPr>
          <p:cNvPr id="47" name="Text 44"/>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long /ā/</a:t>
            </a:r>
            <a:endParaRPr lang="en-US" sz="1250" dirty="0"/>
          </a:p>
        </p:txBody>
      </p:sp>
      <p:sp>
        <p:nvSpPr>
          <p:cNvPr id="49" name="Shape 46"/>
          <p:cNvSpPr/>
          <p:nvPr/>
        </p:nvSpPr>
        <p:spPr>
          <a:xfrm>
            <a:off x="8278368" y="2862072"/>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 vowel</a:t>
            </a:r>
            <a:endParaRPr lang="en-US" sz="1250" dirty="0"/>
          </a:p>
        </p:txBody>
      </p:sp>
      <p:sp>
        <p:nvSpPr>
          <p:cNvPr id="52" name="Shape 49"/>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3233928"/>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5" name="Text 52"/>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short /a/</a:t>
            </a:r>
            <a:endParaRPr lang="en-US" sz="1250" dirty="0"/>
          </a:p>
        </p:txBody>
      </p:sp>
      <p:sp>
        <p:nvSpPr>
          <p:cNvPr id="56" name="Text 53"/>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F1-L04.</a:t>
            </a:r>
            <a:endParaRPr lang="en-US" sz="1050" dirty="0"/>
          </a:p>
        </p:txBody>
      </p:sp>
      <p:sp>
        <p:nvSpPr>
          <p:cNvPr id="57" name="Shape 54"/>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85216"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sukūn show in </a:t>
            </a:r>
            <a:pPr algn="l" indent="0" marL="0">
              <a:buNone/>
            </a:pPr>
            <a:r>
              <a:rPr lang="ar-SA" altLang="en-US" sz="1650" b="1" dirty="0">
                <a:solidFill>
                  <a:srgbClr val="1B3B6F"/>
                </a:solidFill>
                <a:latin typeface="Amiri" pitchFamily="2" charset="-78"/>
                <a:cs typeface="Amiri" pitchFamily="2" charset="-78"/>
              </a:rPr>
              <a:t>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1" name="Shape 58"/>
          <p:cNvSpPr/>
          <p:nvPr/>
        </p:nvSpPr>
        <p:spPr>
          <a:xfrm>
            <a:off x="548640" y="4837176"/>
            <a:ext cx="3453384" cy="347472"/>
          </a:xfrm>
          <a:prstGeom prst="roundRect">
            <a:avLst>
              <a:gd name="adj" fmla="val 15789"/>
            </a:avLst>
          </a:prstGeom>
          <a:solidFill>
            <a:srgbClr val="E6F4EC"/>
          </a:solidFill>
          <a:ln w="9525">
            <a:solidFill>
              <a:srgbClr val="2E8B57"/>
            </a:solidFill>
            <a:prstDash val="solid"/>
          </a:ln>
        </p:spPr>
      </p:sp>
      <p:sp>
        <p:nvSpPr>
          <p:cNvPr id="62" name="Shape 59"/>
          <p:cNvSpPr/>
          <p:nvPr/>
        </p:nvSpPr>
        <p:spPr>
          <a:xfrm>
            <a:off x="640080" y="4873752"/>
            <a:ext cx="256032" cy="256032"/>
          </a:xfrm>
          <a:prstGeom prst="ellipse">
            <a:avLst/>
          </a:prstGeom>
          <a:solidFill>
            <a:srgbClr val="2E8B57"/>
          </a:solidFill>
          <a:ln w="12700">
            <a:solidFill>
              <a:srgbClr val="2E8B57"/>
            </a:solidFill>
            <a:prstDash val="solid"/>
          </a:ln>
        </p:spPr>
      </p:sp>
      <p:sp>
        <p:nvSpPr>
          <p:cNvPr id="63" name="Text 60"/>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4" name="Text 61"/>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No following short vowel</a:t>
            </a:r>
            <a:endParaRPr lang="en-US" sz="1250" dirty="0"/>
          </a:p>
        </p:txBody>
      </p:sp>
      <p:sp>
        <p:nvSpPr>
          <p:cNvPr id="65" name="Shape 62"/>
          <p:cNvSpPr/>
          <p:nvPr/>
        </p:nvSpPr>
        <p:spPr>
          <a:xfrm>
            <a:off x="640080" y="5330952"/>
            <a:ext cx="256032" cy="256032"/>
          </a:xfrm>
          <a:prstGeom prst="ellipse">
            <a:avLst/>
          </a:prstGeom>
          <a:solidFill>
            <a:srgbClr val="C9CED6"/>
          </a:solidFill>
          <a:ln w="12700">
            <a:solidFill>
              <a:srgbClr val="C9CED6"/>
            </a:solidFill>
            <a:prstDash val="solid"/>
          </a:ln>
        </p:spPr>
      </p:sp>
      <p:sp>
        <p:nvSpPr>
          <p:cNvPr id="66" name="Text 63"/>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7" name="Text 64"/>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consonant disappears</a:t>
            </a:r>
            <a:endParaRPr lang="en-US" sz="1250" dirty="0"/>
          </a:p>
        </p:txBody>
      </p:sp>
      <p:sp>
        <p:nvSpPr>
          <p:cNvPr id="68" name="Text 65"/>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F1-L04.</a:t>
            </a:r>
            <a:endParaRPr lang="en-US" sz="1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 you read </a:t>
            </a:r>
            <a:pPr algn="l" indent="0" marL="0">
              <a:buNone/>
            </a:pPr>
            <a:r>
              <a:rPr lang="ar-SA" altLang="en-US" sz="1650" b="1" dirty="0">
                <a:solidFill>
                  <a:srgbClr val="1B3B6F"/>
                </a:solidFill>
                <a:latin typeface="Amiri" pitchFamily="2" charset="-78"/>
                <a:cs typeface="Amiri" pitchFamily="2" charset="-78"/>
              </a:rPr>
              <a:t>مُحَمَّدٌ</a:t>
            </a:r>
            <a:pPr algn="l" indent="0" marL="0">
              <a:buNone/>
            </a:pPr>
            <a:r>
              <a:rPr lang="en-US" sz="1250" b="1" dirty="0">
                <a:solidFill>
                  <a:srgbClr val="1B3B6F"/>
                </a:solidFill>
                <a:latin typeface="Calibri" pitchFamily="34" charset="0"/>
                <a:cs typeface="Amiri" pitchFamily="2" charset="-78"/>
              </a:rPr>
              <a:t> (prepared at home)?</a:t>
            </a:r>
            <a:endParaRPr lang="en-US" sz="1250" dirty="0"/>
          </a:p>
        </p:txBody>
      </p:sp>
      <p:sp>
        <p:nvSpPr>
          <p:cNvPr id="73" name="Shape 70"/>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4459224" y="4831080"/>
            <a:ext cx="256032" cy="256032"/>
          </a:xfrm>
          <a:prstGeom prst="ellipse">
            <a:avLst/>
          </a:prstGeom>
          <a:solidFill>
            <a:srgbClr val="2E8B57"/>
          </a:solidFill>
          <a:ln w="12700">
            <a:solidFill>
              <a:srgbClr val="2E8B57"/>
            </a:solidFill>
            <a:prstDash val="solid"/>
          </a:ln>
        </p:spPr>
      </p:sp>
      <p:sp>
        <p:nvSpPr>
          <p:cNvPr id="75" name="Text 72"/>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76" name="Text 73"/>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mu-ḥam-mad-un</a:t>
            </a:r>
            <a:endParaRPr lang="en-US" sz="1250" dirty="0"/>
          </a:p>
        </p:txBody>
      </p:sp>
      <p:sp>
        <p:nvSpPr>
          <p:cNvPr id="77" name="Shape 74"/>
          <p:cNvSpPr/>
          <p:nvPr/>
        </p:nvSpPr>
        <p:spPr>
          <a:xfrm>
            <a:off x="4459224" y="5202936"/>
            <a:ext cx="256032" cy="256032"/>
          </a:xfrm>
          <a:prstGeom prst="ellipse">
            <a:avLst/>
          </a:prstGeom>
          <a:solidFill>
            <a:srgbClr val="C9CED6"/>
          </a:solidFill>
          <a:ln w="12700">
            <a:solidFill>
              <a:srgbClr val="C9CED6"/>
            </a:solidFill>
            <a:prstDash val="solid"/>
          </a:ln>
        </p:spPr>
      </p:sp>
      <p:sp>
        <p:nvSpPr>
          <p:cNvPr id="78" name="Text 75"/>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9" name="Text 76"/>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mu-ḥa-mad</a:t>
            </a:r>
            <a:endParaRPr lang="en-US" sz="1250" dirty="0"/>
          </a:p>
        </p:txBody>
      </p:sp>
      <p:sp>
        <p:nvSpPr>
          <p:cNvPr id="80" name="Shape 77"/>
          <p:cNvSpPr/>
          <p:nvPr/>
        </p:nvSpPr>
        <p:spPr>
          <a:xfrm>
            <a:off x="4459224" y="5574792"/>
            <a:ext cx="256032" cy="256032"/>
          </a:xfrm>
          <a:prstGeom prst="ellipse">
            <a:avLst/>
          </a:prstGeom>
          <a:solidFill>
            <a:srgbClr val="C9CED6"/>
          </a:solidFill>
          <a:ln w="12700">
            <a:solidFill>
              <a:srgbClr val="C9CED6"/>
            </a:solidFill>
            <a:prstDash val="solid"/>
          </a:ln>
        </p:spPr>
      </p:sp>
      <p:sp>
        <p:nvSpPr>
          <p:cNvPr id="81" name="Text 78"/>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2" name="Text 79"/>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ma-ḥ-mud</a:t>
            </a:r>
            <a:endParaRPr lang="en-US" sz="1250" dirty="0"/>
          </a:p>
        </p:txBody>
      </p:sp>
      <p:sp>
        <p:nvSpPr>
          <p:cNvPr id="83" name="Text 80"/>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shadda doubles the m.</a:t>
            </a:r>
            <a:endParaRPr lang="en-US" sz="1050" dirty="0"/>
          </a:p>
        </p:txBody>
      </p:sp>
      <p:sp>
        <p:nvSpPr>
          <p:cNvPr id="84" name="Shape 81"/>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85" name="Text 82"/>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86" name="Text 83"/>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See the mark → name its job → read the whole word.</a:t>
            </a:r>
            <a:endParaRPr lang="en-US" sz="1300" dirty="0"/>
          </a:p>
        </p:txBody>
      </p:sp>
      <p:sp>
        <p:nvSpPr>
          <p:cNvPr id="87" name="Text 84"/>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ـّ   ـٌ   آ   ء</a:t>
            </a:r>
            <a:endParaRPr lang="ar-SA" sz="2400" dirty="0"/>
          </a:p>
        </p:txBody>
      </p:sp>
      <p:sp>
        <p:nvSpPr>
          <p:cNvPr id="88" name="Text 8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F1-L06 · Small marks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F1-L06</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Read a doubled consonant with shadda.</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Read the three tanwīn endings /un/ /in/ /an/.</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Tell ordinary long ā from alif madda </a:t>
            </a:r>
            <a:pPr algn="l" indent="0" marL="0">
              <a:buNone/>
            </a:pPr>
            <a:r>
              <a:rPr lang="ar-SA" altLang="en-US" sz="1700" dirty="0">
                <a:solidFill>
                  <a:srgbClr val="1F2A37"/>
                </a:solidFill>
                <a:latin typeface="Amiri" pitchFamily="2" charset="-78"/>
                <a:cs typeface="Amiri" pitchFamily="2" charset="-78"/>
              </a:rPr>
              <a:t>آ</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Recognise hamza in five printed shapes.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point to each mark and say its job.</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read </a:t>
            </a:r>
            <a:pPr algn="l" indent="0" marL="0">
              <a:buNone/>
            </a:pPr>
            <a:r>
              <a:rPr lang="ar-SA" altLang="en-US" sz="1700" b="1" dirty="0">
                <a:solidFill>
                  <a:srgbClr val="2E8B57"/>
                </a:solidFill>
                <a:latin typeface="Amiri" pitchFamily="2" charset="-78"/>
                <a:cs typeface="Amiri" pitchFamily="2" charset="-78"/>
              </a:rPr>
              <a:t>مُحَمَّد</a:t>
            </a:r>
            <a:pPr algn="l" indent="0" marL="0">
              <a:buNone/>
            </a:pPr>
            <a:r>
              <a:rPr lang="en-US" sz="1300" b="1" dirty="0">
                <a:solidFill>
                  <a:srgbClr val="2E8B57"/>
                </a:solidFill>
                <a:latin typeface="Calibri" pitchFamily="34" charset="0"/>
                <a:cs typeface="Amiri" pitchFamily="2" charset="-78"/>
              </a:rPr>
              <a:t> and </a:t>
            </a:r>
            <a:pPr algn="l" indent="0" marL="0">
              <a:buNone/>
            </a:pPr>
            <a:r>
              <a:rPr lang="ar-SA" altLang="en-US" sz="1700" b="1" dirty="0">
                <a:solidFill>
                  <a:srgbClr val="2E8B57"/>
                </a:solidFill>
                <a:latin typeface="Amiri" pitchFamily="2" charset="-78"/>
                <a:cs typeface="Amiri" pitchFamily="2" charset="-78"/>
              </a:rPr>
              <a:t>كِتَابٌ</a:t>
            </a:r>
            <a:pPr algn="l" indent="0" marL="0">
              <a:buNone/>
            </a:pPr>
            <a:r>
              <a:rPr lang="en-US" sz="1300" b="1" dirty="0">
                <a:solidFill>
                  <a:srgbClr val="2E8B57"/>
                </a:solidFill>
                <a:latin typeface="Calibri" pitchFamily="34" charset="0"/>
                <a:cs typeface="Amiri" pitchFamily="2" charset="-78"/>
              </a:rPr>
              <a:t>.</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explain the difference between </a:t>
            </a:r>
            <a:pPr algn="l" indent="0" marL="0">
              <a:buNone/>
            </a:pPr>
            <a:r>
              <a:rPr lang="ar-SA" altLang="en-US" sz="1700" b="1" dirty="0">
                <a:solidFill>
                  <a:srgbClr val="C9780A"/>
                </a:solidFill>
                <a:latin typeface="Amiri" pitchFamily="2" charset="-78"/>
                <a:cs typeface="Amiri" pitchFamily="2" charset="-78"/>
              </a:rPr>
              <a:t>دَرَسَ</a:t>
            </a:r>
            <a:pPr algn="l" indent="0" marL="0">
              <a:buNone/>
            </a:pPr>
            <a:r>
              <a:rPr lang="en-US" sz="1300" b="1" dirty="0">
                <a:solidFill>
                  <a:srgbClr val="C9780A"/>
                </a:solidFill>
                <a:latin typeface="Calibri" pitchFamily="34" charset="0"/>
                <a:cs typeface="Amiri" pitchFamily="2" charset="-78"/>
              </a:rPr>
              <a:t> and </a:t>
            </a:r>
            <a:pPr algn="l" indent="0" marL="0">
              <a:buNone/>
            </a:pPr>
            <a:r>
              <a:rPr lang="ar-SA" altLang="en-US" sz="1700" b="1" dirty="0">
                <a:solidFill>
                  <a:srgbClr val="C9780A"/>
                </a:solidFill>
                <a:latin typeface="Amiri" pitchFamily="2" charset="-78"/>
                <a:cs typeface="Amiri" pitchFamily="2" charset="-78"/>
              </a:rPr>
              <a:t>دَرَّسَ</a:t>
            </a:r>
            <a:pPr algn="l" indent="0" marL="0">
              <a:buNone/>
            </a:pPr>
            <a:r>
              <a:rPr lang="en-US" sz="1300" b="1" dirty="0">
                <a:solidFill>
                  <a:srgbClr val="C9780A"/>
                </a:solidFill>
                <a:latin typeface="Calibri" pitchFamily="34" charset="0"/>
                <a:cs typeface="Amiri" pitchFamily="2" charset="-78"/>
              </a:rPr>
              <a:t>.</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read all three tanwīn endings.</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explain why </a:t>
            </a:r>
            <a:pPr algn="l" indent="0" marL="0">
              <a:buNone/>
            </a:pPr>
            <a:r>
              <a:rPr lang="ar-SA" altLang="en-US" sz="1700" b="1" dirty="0">
                <a:solidFill>
                  <a:srgbClr val="B83227"/>
                </a:solidFill>
                <a:latin typeface="Amiri" pitchFamily="2" charset="-78"/>
                <a:cs typeface="Amiri" pitchFamily="2" charset="-78"/>
              </a:rPr>
              <a:t>الكِتَابُ</a:t>
            </a:r>
            <a:pPr algn="l" indent="0" marL="0">
              <a:buNone/>
            </a:pPr>
            <a:r>
              <a:rPr lang="en-US" sz="1300" b="1" dirty="0">
                <a:solidFill>
                  <a:srgbClr val="B83227"/>
                </a:solidFill>
                <a:latin typeface="Calibri" pitchFamily="34" charset="0"/>
                <a:cs typeface="Amiri" pitchFamily="2" charset="-78"/>
              </a:rPr>
              <a:t> has no tanwīn.</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find two different hamza shapes in a text.</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4 marks in 4 groups, each with real words. Point to the mark, say its job, read the word.</a:t>
            </a:r>
            <a:endParaRPr lang="en-US" sz="1600" dirty="0"/>
          </a:p>
        </p:txBody>
      </p:sp>
      <p:sp>
        <p:nvSpPr>
          <p:cNvPr id="8" name="Shape 6"/>
          <p:cNvSpPr/>
          <p:nvPr/>
        </p:nvSpPr>
        <p:spPr>
          <a:xfrm>
            <a:off x="457200" y="4572000"/>
            <a:ext cx="186309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MARK 1</a:t>
            </a:r>
            <a:endParaRPr lang="en-US" sz="900" dirty="0"/>
          </a:p>
          <a:p>
            <a:pPr indent="0" marL="0">
              <a:buNone/>
            </a:pPr>
            <a:r>
              <a:rPr lang="en-US" sz="1200" b="1" dirty="0">
                <a:solidFill>
                  <a:srgbClr val="FFFFFF"/>
                </a:solidFill>
                <a:latin typeface="Calibri" pitchFamily="34" charset="0"/>
                <a:cs typeface="Amiri" pitchFamily="2" charset="-78"/>
              </a:rPr>
              <a:t>Shadda</a:t>
            </a:r>
            <a:endParaRPr lang="en-US" sz="900" dirty="0"/>
          </a:p>
        </p:txBody>
      </p:sp>
      <p:sp>
        <p:nvSpPr>
          <p:cNvPr id="10" name="Shape 8"/>
          <p:cNvSpPr/>
          <p:nvPr/>
        </p:nvSpPr>
        <p:spPr>
          <a:xfrm>
            <a:off x="2457450" y="4572000"/>
            <a:ext cx="186309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259461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MARK 2</a:t>
            </a:r>
            <a:endParaRPr lang="en-US" sz="900" dirty="0"/>
          </a:p>
          <a:p>
            <a:pPr indent="0" marL="0">
              <a:buNone/>
            </a:pPr>
            <a:r>
              <a:rPr lang="en-US" sz="1200" b="1" dirty="0">
                <a:solidFill>
                  <a:srgbClr val="FFFFFF"/>
                </a:solidFill>
                <a:latin typeface="Calibri" pitchFamily="34" charset="0"/>
                <a:cs typeface="Amiri" pitchFamily="2" charset="-78"/>
              </a:rPr>
              <a:t>Tanwīn · 3</a:t>
            </a:r>
            <a:endParaRPr lang="en-US" sz="900" dirty="0"/>
          </a:p>
        </p:txBody>
      </p:sp>
      <p:sp>
        <p:nvSpPr>
          <p:cNvPr id="12" name="Shape 10"/>
          <p:cNvSpPr/>
          <p:nvPr/>
        </p:nvSpPr>
        <p:spPr>
          <a:xfrm>
            <a:off x="4457700" y="4572000"/>
            <a:ext cx="186309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459486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MARK 3</a:t>
            </a:r>
            <a:endParaRPr lang="en-US" sz="900" dirty="0"/>
          </a:p>
          <a:p>
            <a:pPr indent="0" marL="0">
              <a:buNone/>
            </a:pPr>
            <a:r>
              <a:rPr lang="en-US" sz="1200" b="1" dirty="0">
                <a:solidFill>
                  <a:srgbClr val="FFFFFF"/>
                </a:solidFill>
                <a:latin typeface="Calibri" pitchFamily="34" charset="0"/>
                <a:cs typeface="Amiri" pitchFamily="2" charset="-78"/>
              </a:rPr>
              <a:t>Alif madda</a:t>
            </a:r>
            <a:endParaRPr lang="en-US" sz="900" dirty="0"/>
          </a:p>
        </p:txBody>
      </p:sp>
      <p:sp>
        <p:nvSpPr>
          <p:cNvPr id="14" name="Shape 12"/>
          <p:cNvSpPr/>
          <p:nvPr/>
        </p:nvSpPr>
        <p:spPr>
          <a:xfrm>
            <a:off x="6457950" y="4572000"/>
            <a:ext cx="1863090" cy="960120"/>
          </a:xfrm>
          <a:prstGeom prst="roundRect">
            <a:avLst>
              <a:gd name="adj" fmla="val 7619"/>
            </a:avLst>
          </a:prstGeom>
          <a:solidFill>
            <a:srgbClr val="16335F"/>
          </a:solidFill>
          <a:ln w="12700">
            <a:solidFill>
              <a:srgbClr val="2A4B7C"/>
            </a:solidFill>
            <a:prstDash val="solid"/>
          </a:ln>
        </p:spPr>
      </p:sp>
      <p:sp>
        <p:nvSpPr>
          <p:cNvPr id="15" name="Text 13"/>
          <p:cNvSpPr txBox="1"/>
          <p:nvPr/>
        </p:nvSpPr>
        <p:spPr>
          <a:xfrm>
            <a:off x="659511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MARK 4</a:t>
            </a:r>
            <a:endParaRPr lang="en-US" sz="900" dirty="0"/>
          </a:p>
          <a:p>
            <a:pPr indent="0" marL="0">
              <a:buNone/>
            </a:pPr>
            <a:r>
              <a:rPr lang="en-US" sz="1200" b="1" dirty="0">
                <a:solidFill>
                  <a:srgbClr val="FFFFFF"/>
                </a:solidFill>
                <a:latin typeface="Calibri" pitchFamily="34" charset="0"/>
                <a:cs typeface="Amiri" pitchFamily="2" charset="-78"/>
              </a:rPr>
              <a:t>Hamza · 5 shapes</a:t>
            </a:r>
            <a:endParaRPr lang="en-US" sz="900" dirty="0"/>
          </a:p>
        </p:txBody>
      </p:sp>
      <p:sp>
        <p:nvSpPr>
          <p:cNvPr id="16" name="Shape 14"/>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7" name="Text 15"/>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8" name="Text 16"/>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شَدَّةٌ</a:t>
            </a:r>
            <a:endParaRPr lang="ar-SA" sz="1900" dirty="0"/>
          </a:p>
        </p:txBody>
      </p:sp>
      <p:sp>
        <p:nvSpPr>
          <p:cNvPr id="19" name="Text 17"/>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‎تشدید‎ </a:t>
            </a:r>
            <a:pPr indent="0" marL="0">
              <a:buNone/>
            </a:pPr>
            <a:r>
              <a:rPr lang="en-US" sz="950" b="1" dirty="0">
                <a:solidFill>
                  <a:srgbClr val="2E8B57"/>
                </a:solidFill>
                <a:latin typeface="Calibri" pitchFamily="34" charset="0"/>
                <a:cs typeface="Amiri" pitchFamily="2" charset="-78"/>
              </a:rPr>
              <a:t> tashdīd · shadda</a:t>
            </a:r>
            <a:endParaRPr lang="en-US" sz="1400" dirty="0"/>
          </a:p>
        </p:txBody>
      </p:sp>
      <p:sp>
        <p:nvSpPr>
          <p:cNvPr id="20" name="Text 18"/>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تَنْوِينٌ</a:t>
            </a:r>
            <a:endParaRPr lang="ar-SA" sz="1900" dirty="0"/>
          </a:p>
        </p:txBody>
      </p:sp>
      <p:sp>
        <p:nvSpPr>
          <p:cNvPr id="21" name="Text 19"/>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‎تنوین‎ </a:t>
            </a:r>
            <a:pPr indent="0" marL="0">
              <a:buNone/>
            </a:pPr>
            <a:r>
              <a:rPr lang="en-US" sz="950" b="1" dirty="0">
                <a:solidFill>
                  <a:srgbClr val="2E8B57"/>
                </a:solidFill>
                <a:latin typeface="Calibri" pitchFamily="34" charset="0"/>
                <a:cs typeface="Amiri" pitchFamily="2" charset="-78"/>
              </a:rPr>
              <a:t> tanwīn · tanwīn (do zabar …)</a:t>
            </a:r>
            <a:endParaRPr lang="en-US" sz="1400" dirty="0"/>
          </a:p>
        </p:txBody>
      </p:sp>
      <p:sp>
        <p:nvSpPr>
          <p:cNvPr id="22" name="Text 20"/>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مَدٌّ</a:t>
            </a:r>
            <a:endParaRPr lang="ar-SA" sz="1900" dirty="0"/>
          </a:p>
        </p:txBody>
      </p:sp>
      <p:sp>
        <p:nvSpPr>
          <p:cNvPr id="23" name="Text 21"/>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‎مد‎ </a:t>
            </a:r>
            <a:pPr indent="0" marL="0">
              <a:buNone/>
            </a:pPr>
            <a:r>
              <a:rPr lang="en-US" sz="950" b="1" dirty="0">
                <a:solidFill>
                  <a:srgbClr val="2E8B57"/>
                </a:solidFill>
                <a:latin typeface="Calibri" pitchFamily="34" charset="0"/>
                <a:cs typeface="Amiri" pitchFamily="2" charset="-78"/>
              </a:rPr>
              <a:t> madd · madda</a:t>
            </a:r>
            <a:endParaRPr lang="en-US" sz="1400" dirty="0"/>
          </a:p>
        </p:txBody>
      </p:sp>
      <p:sp>
        <p:nvSpPr>
          <p:cNvPr id="24" name="Text 22"/>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هَمْزَةٌ</a:t>
            </a:r>
            <a:endParaRPr lang="ar-SA" sz="1900" dirty="0"/>
          </a:p>
        </p:txBody>
      </p:sp>
      <p:sp>
        <p:nvSpPr>
          <p:cNvPr id="25" name="Text 23"/>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‎ہمزہ‎ </a:t>
            </a:r>
            <a:pPr indent="0" marL="0">
              <a:buNone/>
            </a:pPr>
            <a:r>
              <a:rPr lang="en-US" sz="950" b="1" dirty="0">
                <a:solidFill>
                  <a:srgbClr val="2E8B57"/>
                </a:solidFill>
                <a:latin typeface="Calibri" pitchFamily="34" charset="0"/>
                <a:cs typeface="Amiri" pitchFamily="2" charset="-78"/>
              </a:rPr>
              <a:t> hamza · hamza</a:t>
            </a:r>
            <a:endParaRPr lang="en-US" sz="1400" dirty="0"/>
          </a:p>
        </p:txBody>
      </p:sp>
      <p:sp>
        <p:nvSpPr>
          <p:cNvPr id="26" name="Text 24"/>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قُرْآنٌ</a:t>
            </a:r>
            <a:endParaRPr lang="ar-SA" sz="1900" dirty="0"/>
          </a:p>
        </p:txBody>
      </p:sp>
      <p:sp>
        <p:nvSpPr>
          <p:cNvPr id="27" name="Text 25"/>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‎قرآن‎ </a:t>
            </a:r>
            <a:pPr indent="0" marL="0">
              <a:buNone/>
            </a:pPr>
            <a:r>
              <a:rPr lang="en-US" sz="950" b="1" dirty="0">
                <a:solidFill>
                  <a:srgbClr val="2E8B57"/>
                </a:solidFill>
                <a:latin typeface="Calibri" pitchFamily="34" charset="0"/>
                <a:cs typeface="Amiri" pitchFamily="2" charset="-78"/>
              </a:rPr>
              <a:t> Qurʾān · Qur’an (has آ)</a:t>
            </a:r>
            <a:endParaRPr lang="en-US" sz="140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F1-L06 · Small marks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TEACHER INSTRUCTION · PART 1 · SHADDA DOUBLES THE CONSONANT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Shadda: say it twice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الشَّدَّةُ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F1-L06</a:t>
            </a:r>
            <a:endParaRPr lang="en-US" sz="850" dirty="0"/>
          </a:p>
        </p:txBody>
      </p:sp>
      <p:sp>
        <p:nvSpPr>
          <p:cNvPr id="15" name="Shape 12"/>
          <p:cNvSpPr/>
          <p:nvPr/>
        </p:nvSpPr>
        <p:spPr>
          <a:xfrm>
            <a:off x="8095488"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822960" cy="274320"/>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8232648" y="1920240"/>
            <a:ext cx="8229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THE RULE</a:t>
            </a:r>
            <a:endParaRPr lang="en-US" sz="850" dirty="0"/>
          </a:p>
        </p:txBody>
      </p:sp>
      <p:sp>
        <p:nvSpPr>
          <p:cNvPr id="18" name="Text 15"/>
          <p:cNvSpPr txBox="1"/>
          <p:nvPr/>
        </p:nvSpPr>
        <p:spPr>
          <a:xfrm>
            <a:off x="9101328" y="1874520"/>
            <a:ext cx="24932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رْ + رَ = رَّ</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cs typeface="Amiri" pitchFamily="2" charset="-78"/>
              </a:rPr>
              <a:t>رَّ</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One written letter, two timings.</a:t>
            </a:r>
            <a:endParaRPr lang="en-US" sz="1200" dirty="0"/>
          </a:p>
        </p:txBody>
      </p:sp>
      <p:sp>
        <p:nvSpPr>
          <p:cNvPr id="21" name="Shape 18"/>
          <p:cNvSpPr/>
          <p:nvPr/>
        </p:nvSpPr>
        <p:spPr>
          <a:xfrm>
            <a:off x="8205216" y="5212080"/>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The vowel on the shadda comes after the second half.</a:t>
            </a:r>
            <a:endParaRPr lang="en-US" sz="1100" dirty="0"/>
          </a:p>
        </p:txBody>
      </p:sp>
      <p:sp>
        <p:nvSpPr>
          <p:cNvPr id="23" name="Shape 20"/>
          <p:cNvSpPr/>
          <p:nvPr/>
        </p:nvSpPr>
        <p:spPr>
          <a:xfrm>
            <a:off x="4276344"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822960" cy="274320"/>
          </a:xfrm>
          <a:prstGeom prst="roundRect">
            <a:avLst>
              <a:gd name="adj" fmla="val 50000"/>
            </a:avLst>
          </a:prstGeom>
          <a:solidFill>
            <a:srgbClr val="0E7C86"/>
          </a:solidFill>
          <a:ln w="12700">
            <a:solidFill>
              <a:srgbClr val="0E7C86"/>
            </a:solidFill>
            <a:prstDash val="solid"/>
          </a:ln>
        </p:spPr>
      </p:sp>
      <p:sp>
        <p:nvSpPr>
          <p:cNvPr id="25" name="Text 22"/>
          <p:cNvSpPr txBox="1"/>
          <p:nvPr/>
        </p:nvSpPr>
        <p:spPr>
          <a:xfrm>
            <a:off x="4413504" y="1920240"/>
            <a:ext cx="8229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CONTRAST</a:t>
            </a:r>
            <a:endParaRPr lang="en-US" sz="850" dirty="0"/>
          </a:p>
        </p:txBody>
      </p:sp>
      <p:sp>
        <p:nvSpPr>
          <p:cNvPr id="26" name="Text 23"/>
          <p:cNvSpPr txBox="1"/>
          <p:nvPr/>
        </p:nvSpPr>
        <p:spPr>
          <a:xfrm>
            <a:off x="5282184" y="1874520"/>
            <a:ext cx="2493264" cy="365760"/>
          </a:xfrm>
          <a:prstGeom prst="rect">
            <a:avLst/>
          </a:prstGeom>
          <a:noFill/>
          <a:ln/>
        </p:spPr>
        <p:txBody>
          <a:bodyPr wrap="square" lIns="0" tIns="0" rIns="0" bIns="0" rtlCol="0" anchor="ctr"/>
          <a:lstStyle/>
          <a:p>
            <a:pPr algn="l" indent="0" marL="0">
              <a:buNone/>
            </a:pPr>
            <a:r>
              <a:rPr lang="en-US" sz="1600" b="1" dirty="0">
                <a:solidFill>
                  <a:srgbClr val="8A6D1E"/>
                </a:solidFill>
                <a:latin typeface="Calibri" pitchFamily="34" charset="0"/>
                <a:cs typeface="Amiri" pitchFamily="2" charset="-78"/>
              </a:rPr>
              <a:t>studied → taught</a:t>
            </a:r>
            <a:endParaRPr lang="en-US"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cs typeface="Amiri" pitchFamily="2" charset="-78"/>
              </a:rPr>
              <a:t>دَرَسَ  ·  دَرَّسَ</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darasa (he studied) · darrasa (he taught)</a:t>
            </a:r>
            <a:endParaRPr lang="en-US" sz="1200" dirty="0"/>
          </a:p>
        </p:txBody>
      </p:sp>
      <p:sp>
        <p:nvSpPr>
          <p:cNvPr id="29" name="Shape 26"/>
          <p:cNvSpPr/>
          <p:nvPr/>
        </p:nvSpPr>
        <p:spPr>
          <a:xfrm>
            <a:off x="4386072" y="5212080"/>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Hold the /r/, then release into /ra/.</a:t>
            </a:r>
            <a:endParaRPr lang="en-US" sz="1100" dirty="0"/>
          </a:p>
        </p:txBody>
      </p:sp>
      <p:sp>
        <p:nvSpPr>
          <p:cNvPr id="31" name="Shape 28"/>
          <p:cNvSpPr/>
          <p:nvPr/>
        </p:nvSpPr>
        <p:spPr>
          <a:xfrm>
            <a:off x="457200"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617220" cy="274320"/>
          </a:xfrm>
          <a:prstGeom prst="roundRect">
            <a:avLst>
              <a:gd name="adj" fmla="val 50000"/>
            </a:avLst>
          </a:prstGeom>
          <a:solidFill>
            <a:srgbClr val="7B3FA0"/>
          </a:solidFill>
          <a:ln w="12700">
            <a:solidFill>
              <a:srgbClr val="7B3FA0"/>
            </a:solidFill>
            <a:prstDash val="solid"/>
          </a:ln>
        </p:spPr>
      </p:sp>
      <p:sp>
        <p:nvSpPr>
          <p:cNvPr id="33" name="Text 30"/>
          <p:cNvSpPr txBox="1"/>
          <p:nvPr/>
        </p:nvSpPr>
        <p:spPr>
          <a:xfrm>
            <a:off x="594360" y="1920240"/>
            <a:ext cx="6172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NAMES</a:t>
            </a:r>
            <a:endParaRPr lang="en-US" sz="850" dirty="0"/>
          </a:p>
        </p:txBody>
      </p:sp>
      <p:sp>
        <p:nvSpPr>
          <p:cNvPr id="34" name="Text 31"/>
          <p:cNvSpPr txBox="1"/>
          <p:nvPr/>
        </p:nvSpPr>
        <p:spPr>
          <a:xfrm>
            <a:off x="1257300" y="1874520"/>
            <a:ext cx="2699004" cy="365760"/>
          </a:xfrm>
          <a:prstGeom prst="rect">
            <a:avLst/>
          </a:prstGeom>
          <a:noFill/>
          <a:ln/>
        </p:spPr>
        <p:txBody>
          <a:bodyPr wrap="square" lIns="0" tIns="0" rIns="0" bIns="0" rtlCol="0" anchor="ctr"/>
          <a:lstStyle/>
          <a:p>
            <a:pPr algn="l" indent="0" marL="0">
              <a:buNone/>
            </a:pPr>
            <a:r>
              <a:rPr lang="en-US" sz="1600" b="1" dirty="0">
                <a:solidFill>
                  <a:srgbClr val="8A6D1E"/>
                </a:solidFill>
                <a:latin typeface="Calibri" pitchFamily="34" charset="0"/>
                <a:cs typeface="Amiri" pitchFamily="2" charset="-78"/>
              </a:rPr>
              <a:t>mu-ḥam-mad</a:t>
            </a:r>
            <a:endParaRPr lang="en-US"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cs typeface="Amiri" pitchFamily="2" charset="-78"/>
              </a:rPr>
              <a:t>مُحَمَّدٌ</a:t>
            </a:r>
            <a:endParaRPr lang="ar-SA" sz="3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Double the marked m.</a:t>
            </a:r>
            <a:endParaRPr lang="en-US" sz="1200" dirty="0"/>
          </a:p>
        </p:txBody>
      </p:sp>
      <p:sp>
        <p:nvSpPr>
          <p:cNvPr id="37" name="Shape 34"/>
          <p:cNvSpPr/>
          <p:nvPr/>
        </p:nvSpPr>
        <p:spPr>
          <a:xfrm>
            <a:off x="566928" y="5212080"/>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Also: </a:t>
            </a:r>
            <a:pPr algn="l" indent="0" marL="0">
              <a:buNone/>
            </a:pPr>
            <a:r>
              <a:rPr lang="ar-SA" altLang="en-US" sz="1450" dirty="0">
                <a:solidFill>
                  <a:srgbClr val="1F2A37"/>
                </a:solidFill>
                <a:latin typeface="Amiri" pitchFamily="2" charset="-78"/>
                <a:cs typeface="Amiri" pitchFamily="2" charset="-78"/>
              </a:rPr>
              <a:t>مَرَّ</a:t>
            </a:r>
            <a:pPr algn="l" indent="0" marL="0">
              <a:buNone/>
            </a:pPr>
            <a:r>
              <a:rPr lang="en-US" sz="1100" dirty="0">
                <a:solidFill>
                  <a:srgbClr val="1F2A37"/>
                </a:solidFill>
                <a:latin typeface="Calibri" pitchFamily="34" charset="0"/>
                <a:cs typeface="Amiri" pitchFamily="2" charset="-78"/>
              </a:rPr>
              <a:t> marra (he passed) · </a:t>
            </a:r>
            <a:pPr algn="l" indent="0" marL="0">
              <a:buNone/>
            </a:pPr>
            <a:r>
              <a:rPr lang="ar-SA" altLang="en-US" sz="1450" dirty="0">
                <a:solidFill>
                  <a:srgbClr val="1F2A37"/>
                </a:solidFill>
                <a:latin typeface="Amiri" pitchFamily="2" charset="-78"/>
                <a:cs typeface="Amiri" pitchFamily="2" charset="-78"/>
              </a:rPr>
              <a:t>حَقّ</a:t>
            </a:r>
            <a:pPr algn="l" indent="0" marL="0">
              <a:buNone/>
            </a:pPr>
            <a:r>
              <a:rPr lang="en-US" sz="1100" dirty="0">
                <a:solidFill>
                  <a:srgbClr val="1F2A37"/>
                </a:solidFill>
                <a:latin typeface="Calibri" pitchFamily="34" charset="0"/>
                <a:cs typeface="Amiri" pitchFamily="2" charset="-78"/>
              </a:rPr>
              <a:t> ḥaqq (truth).</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F1-L06 · Small marks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TEACHER INSTRUCTION · PART 2 · TANWĪN ADDS /N/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Tanwīn: three “n” endings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التَّنْوِينُ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42746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Name</a:t>
            </a:r>
            <a:endParaRPr lang="en-US" sz="1100" dirty="0"/>
          </a:p>
        </p:txBody>
      </p:sp>
      <p:sp>
        <p:nvSpPr>
          <p:cNvPr id="17" name="Text 14"/>
          <p:cNvSpPr txBox="1"/>
          <p:nvPr/>
        </p:nvSpPr>
        <p:spPr>
          <a:xfrm>
            <a:off x="7781544" y="1810512"/>
            <a:ext cx="1499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Mark</a:t>
            </a:r>
            <a:endParaRPr lang="en-US" sz="1100" dirty="0"/>
          </a:p>
        </p:txBody>
      </p:sp>
      <p:sp>
        <p:nvSpPr>
          <p:cNvPr id="18" name="Text 15"/>
          <p:cNvSpPr txBox="1"/>
          <p:nvPr/>
        </p:nvSpPr>
        <p:spPr>
          <a:xfrm>
            <a:off x="6135624" y="1810512"/>
            <a:ext cx="1499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Sound</a:t>
            </a:r>
            <a:endParaRPr lang="en-US" sz="1100" dirty="0"/>
          </a:p>
        </p:txBody>
      </p:sp>
      <p:sp>
        <p:nvSpPr>
          <p:cNvPr id="19" name="Text 16"/>
          <p:cNvSpPr txBox="1"/>
          <p:nvPr/>
        </p:nvSpPr>
        <p:spPr>
          <a:xfrm>
            <a:off x="3575304"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20" name="Text 17"/>
          <p:cNvSpPr txBox="1"/>
          <p:nvPr/>
        </p:nvSpPr>
        <p:spPr>
          <a:xfrm>
            <a:off x="5303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Read it</a:t>
            </a:r>
            <a:endParaRPr lang="en-US" sz="1100" dirty="0"/>
          </a:p>
        </p:txBody>
      </p:sp>
      <p:sp>
        <p:nvSpPr>
          <p:cNvPr id="21" name="Shape 18"/>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2" name="Text 19"/>
          <p:cNvSpPr txBox="1"/>
          <p:nvPr/>
        </p:nvSpPr>
        <p:spPr>
          <a:xfrm>
            <a:off x="9464040" y="2267712"/>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tanwīn ḍamm (two ḍammas)</a:t>
            </a:r>
            <a:endParaRPr lang="en-US" sz="1100" dirty="0"/>
          </a:p>
        </p:txBody>
      </p:sp>
      <p:sp>
        <p:nvSpPr>
          <p:cNvPr id="23" name="Text 20"/>
          <p:cNvSpPr txBox="1"/>
          <p:nvPr/>
        </p:nvSpPr>
        <p:spPr>
          <a:xfrm>
            <a:off x="7799832" y="2267712"/>
            <a:ext cx="1463040" cy="731520"/>
          </a:xfrm>
          <a:prstGeom prst="rect">
            <a:avLst/>
          </a:prstGeom>
          <a:noFill/>
          <a:ln/>
        </p:spPr>
        <p:txBody>
          <a:bodyPr wrap="square" lIns="0" tIns="0" rIns="0" bIns="0" rtlCol="0" anchor="ctr"/>
          <a:lstStyle/>
          <a:p>
            <a:pPr rtl="1" algn="ctr" indent="0" marL="0">
              <a:buNone/>
            </a:pPr>
            <a:r>
              <a:rPr lang="ar-SA" altLang="en-US" sz="3400" b="1" dirty="0">
                <a:solidFill>
                  <a:srgbClr val="1B3B6F"/>
                </a:solidFill>
                <a:latin typeface="Amiri" pitchFamily="2" charset="-78"/>
                <a:cs typeface="Amiri" pitchFamily="2" charset="-78"/>
              </a:rPr>
              <a:t>ـٌ</a:t>
            </a:r>
            <a:endParaRPr lang="ar-SA" sz="3400" dirty="0"/>
          </a:p>
        </p:txBody>
      </p:sp>
      <p:sp>
        <p:nvSpPr>
          <p:cNvPr id="24" name="Text 21"/>
          <p:cNvSpPr txBox="1"/>
          <p:nvPr/>
        </p:nvSpPr>
        <p:spPr>
          <a:xfrm>
            <a:off x="6172200" y="2267712"/>
            <a:ext cx="1463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/un/</a:t>
            </a:r>
            <a:endParaRPr lang="en-US" sz="1100" dirty="0"/>
          </a:p>
        </p:txBody>
      </p:sp>
      <p:sp>
        <p:nvSpPr>
          <p:cNvPr id="25" name="Text 22"/>
          <p:cNvSpPr txBox="1"/>
          <p:nvPr/>
        </p:nvSpPr>
        <p:spPr>
          <a:xfrm>
            <a:off x="3593592" y="2267712"/>
            <a:ext cx="2377440" cy="731520"/>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2" charset="-78"/>
                <a:cs typeface="Amiri" pitchFamily="2" charset="-78"/>
              </a:rPr>
              <a:t>كِتَابٌ</a:t>
            </a:r>
            <a:endParaRPr lang="ar-SA" sz="3000" dirty="0"/>
          </a:p>
        </p:txBody>
      </p:sp>
      <p:sp>
        <p:nvSpPr>
          <p:cNvPr id="26" name="Text 23"/>
          <p:cNvSpPr txBox="1"/>
          <p:nvPr/>
        </p:nvSpPr>
        <p:spPr>
          <a:xfrm>
            <a:off x="566928" y="2267712"/>
            <a:ext cx="28620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kitābun</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30" name="Text 27"/>
          <p:cNvSpPr txBox="1"/>
          <p:nvPr/>
        </p:nvSpPr>
        <p:spPr>
          <a:xfrm>
            <a:off x="9464040" y="3054096"/>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tanwīn kasr (two kasras)</a:t>
            </a:r>
            <a:endParaRPr lang="en-US" sz="1100" dirty="0"/>
          </a:p>
        </p:txBody>
      </p:sp>
      <p:sp>
        <p:nvSpPr>
          <p:cNvPr id="31" name="Text 28"/>
          <p:cNvSpPr txBox="1"/>
          <p:nvPr/>
        </p:nvSpPr>
        <p:spPr>
          <a:xfrm>
            <a:off x="7799832" y="3054096"/>
            <a:ext cx="1463040" cy="731520"/>
          </a:xfrm>
          <a:prstGeom prst="rect">
            <a:avLst/>
          </a:prstGeom>
          <a:noFill/>
          <a:ln/>
        </p:spPr>
        <p:txBody>
          <a:bodyPr wrap="square" lIns="0" tIns="0" rIns="0" bIns="0" rtlCol="0" anchor="ctr"/>
          <a:lstStyle/>
          <a:p>
            <a:pPr rtl="1" algn="ctr" indent="0" marL="0">
              <a:buNone/>
            </a:pPr>
            <a:r>
              <a:rPr lang="ar-SA" altLang="en-US" sz="3400" b="1" dirty="0">
                <a:solidFill>
                  <a:srgbClr val="1B3B6F"/>
                </a:solidFill>
                <a:latin typeface="Amiri" pitchFamily="2" charset="-78"/>
                <a:cs typeface="Amiri" pitchFamily="2" charset="-78"/>
              </a:rPr>
              <a:t>ـٍ</a:t>
            </a:r>
            <a:endParaRPr lang="ar-SA" sz="3400" dirty="0"/>
          </a:p>
        </p:txBody>
      </p:sp>
      <p:sp>
        <p:nvSpPr>
          <p:cNvPr id="32" name="Text 29"/>
          <p:cNvSpPr txBox="1"/>
          <p:nvPr/>
        </p:nvSpPr>
        <p:spPr>
          <a:xfrm>
            <a:off x="6172200" y="3054096"/>
            <a:ext cx="1463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a:t>
            </a:r>
            <a:endParaRPr lang="en-US" sz="1100" dirty="0"/>
          </a:p>
        </p:txBody>
      </p:sp>
      <p:sp>
        <p:nvSpPr>
          <p:cNvPr id="33" name="Text 30"/>
          <p:cNvSpPr txBox="1"/>
          <p:nvPr/>
        </p:nvSpPr>
        <p:spPr>
          <a:xfrm>
            <a:off x="3593592" y="3054096"/>
            <a:ext cx="2377440" cy="731520"/>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2" charset="-78"/>
                <a:cs typeface="Amiri" pitchFamily="2" charset="-78"/>
              </a:rPr>
              <a:t>كِتَابٍ</a:t>
            </a:r>
            <a:endParaRPr lang="ar-SA" sz="3000" dirty="0"/>
          </a:p>
        </p:txBody>
      </p:sp>
      <p:sp>
        <p:nvSpPr>
          <p:cNvPr id="34" name="Text 31"/>
          <p:cNvSpPr txBox="1"/>
          <p:nvPr/>
        </p:nvSpPr>
        <p:spPr>
          <a:xfrm>
            <a:off x="566928" y="3054096"/>
            <a:ext cx="28620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kitābin</a:t>
            </a:r>
            <a:endParaRPr lang="en-US" sz="1100" dirty="0"/>
          </a:p>
        </p:txBody>
      </p:sp>
      <p:sp>
        <p:nvSpPr>
          <p:cNvPr id="35" name="Shape 32"/>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8" name="Text 35"/>
          <p:cNvSpPr txBox="1"/>
          <p:nvPr/>
        </p:nvSpPr>
        <p:spPr>
          <a:xfrm>
            <a:off x="9464040" y="3840480"/>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tanwīn fatḥ (two fatḥas)</a:t>
            </a:r>
            <a:endParaRPr lang="en-US" sz="1100" dirty="0"/>
          </a:p>
        </p:txBody>
      </p:sp>
      <p:sp>
        <p:nvSpPr>
          <p:cNvPr id="39" name="Text 36"/>
          <p:cNvSpPr txBox="1"/>
          <p:nvPr/>
        </p:nvSpPr>
        <p:spPr>
          <a:xfrm>
            <a:off x="7799832" y="3840480"/>
            <a:ext cx="1463040" cy="731520"/>
          </a:xfrm>
          <a:prstGeom prst="rect">
            <a:avLst/>
          </a:prstGeom>
          <a:noFill/>
          <a:ln/>
        </p:spPr>
        <p:txBody>
          <a:bodyPr wrap="square" lIns="0" tIns="0" rIns="0" bIns="0" rtlCol="0" anchor="ctr"/>
          <a:lstStyle/>
          <a:p>
            <a:pPr rtl="1" algn="ctr" indent="0" marL="0">
              <a:buNone/>
            </a:pPr>
            <a:r>
              <a:rPr lang="ar-SA" altLang="en-US" sz="3400" b="1" dirty="0">
                <a:solidFill>
                  <a:srgbClr val="1B3B6F"/>
                </a:solidFill>
                <a:latin typeface="Amiri" pitchFamily="2" charset="-78"/>
                <a:cs typeface="Amiri" pitchFamily="2" charset="-78"/>
              </a:rPr>
              <a:t>ـً</a:t>
            </a:r>
            <a:endParaRPr lang="ar-SA" sz="3400" dirty="0"/>
          </a:p>
        </p:txBody>
      </p:sp>
      <p:sp>
        <p:nvSpPr>
          <p:cNvPr id="40" name="Text 37"/>
          <p:cNvSpPr txBox="1"/>
          <p:nvPr/>
        </p:nvSpPr>
        <p:spPr>
          <a:xfrm>
            <a:off x="6172200" y="3840480"/>
            <a:ext cx="1463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a:t>
            </a:r>
            <a:endParaRPr lang="en-US" sz="1100" dirty="0"/>
          </a:p>
        </p:txBody>
      </p:sp>
      <p:sp>
        <p:nvSpPr>
          <p:cNvPr id="41" name="Text 38"/>
          <p:cNvSpPr txBox="1"/>
          <p:nvPr/>
        </p:nvSpPr>
        <p:spPr>
          <a:xfrm>
            <a:off x="3593592" y="3840480"/>
            <a:ext cx="2377440" cy="731520"/>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2" charset="-78"/>
                <a:cs typeface="Amiri" pitchFamily="2" charset="-78"/>
              </a:rPr>
              <a:t>كِتَابًا</a:t>
            </a:r>
            <a:endParaRPr lang="ar-SA" sz="3000" dirty="0"/>
          </a:p>
        </p:txBody>
      </p:sp>
      <p:sp>
        <p:nvSpPr>
          <p:cNvPr id="42" name="Text 39"/>
          <p:cNvSpPr txBox="1"/>
          <p:nvPr/>
        </p:nvSpPr>
        <p:spPr>
          <a:xfrm>
            <a:off x="566928" y="3840480"/>
            <a:ext cx="28620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kitāban — often with an extra alif</a:t>
            </a:r>
            <a:endParaRPr lang="en-US" sz="1100" dirty="0"/>
          </a:p>
        </p:txBody>
      </p:sp>
      <p:sp>
        <p:nvSpPr>
          <p:cNvPr id="43" name="Shape 40"/>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6" name="Text 43"/>
          <p:cNvSpPr txBox="1"/>
          <p:nvPr/>
        </p:nvSpPr>
        <p:spPr>
          <a:xfrm>
            <a:off x="9464040" y="4626864"/>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with </a:t>
            </a:r>
            <a:pPr algn="l" indent="0" marL="0">
              <a:buNone/>
            </a:pPr>
            <a:r>
              <a:rPr lang="ar-SA" altLang="en-US" sz="1450" dirty="0">
                <a:solidFill>
                  <a:srgbClr val="5A6472"/>
                </a:solidFill>
                <a:latin typeface="Amiri" pitchFamily="2" charset="-78"/>
                <a:cs typeface="Amiri" pitchFamily="2" charset="-78"/>
              </a:rPr>
              <a:t>الـ</a:t>
            </a:r>
            <a:pPr algn="l" indent="0" marL="0">
              <a:buNone/>
            </a:pPr>
            <a:r>
              <a:rPr lang="en-US" sz="1100" dirty="0">
                <a:solidFill>
                  <a:srgbClr val="5A6472"/>
                </a:solidFill>
                <a:latin typeface="Calibri" pitchFamily="34" charset="0"/>
                <a:cs typeface="Amiri" pitchFamily="2" charset="-78"/>
              </a:rPr>
              <a:t> → no tanwīn</a:t>
            </a:r>
            <a:endParaRPr lang="en-US" sz="1100" dirty="0"/>
          </a:p>
        </p:txBody>
      </p:sp>
      <p:sp>
        <p:nvSpPr>
          <p:cNvPr id="47" name="Text 44"/>
          <p:cNvSpPr txBox="1"/>
          <p:nvPr/>
        </p:nvSpPr>
        <p:spPr>
          <a:xfrm>
            <a:off x="7818120" y="4626864"/>
            <a:ext cx="1463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8" name="Text 45"/>
          <p:cNvSpPr txBox="1"/>
          <p:nvPr/>
        </p:nvSpPr>
        <p:spPr>
          <a:xfrm>
            <a:off x="6172200" y="4626864"/>
            <a:ext cx="1463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a:t>
            </a:r>
            <a:endParaRPr lang="en-US" sz="1100" dirty="0"/>
          </a:p>
        </p:txBody>
      </p:sp>
      <p:sp>
        <p:nvSpPr>
          <p:cNvPr id="49" name="Text 46"/>
          <p:cNvSpPr txBox="1"/>
          <p:nvPr/>
        </p:nvSpPr>
        <p:spPr>
          <a:xfrm>
            <a:off x="3593592" y="4626864"/>
            <a:ext cx="2377440" cy="731520"/>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2" charset="-78"/>
                <a:cs typeface="Amiri" pitchFamily="2" charset="-78"/>
              </a:rPr>
              <a:t>الكِتَابُ</a:t>
            </a:r>
            <a:endParaRPr lang="ar-SA" sz="3000" dirty="0"/>
          </a:p>
        </p:txBody>
      </p:sp>
      <p:sp>
        <p:nvSpPr>
          <p:cNvPr id="50" name="Text 47"/>
          <p:cNvSpPr txBox="1"/>
          <p:nvPr/>
        </p:nvSpPr>
        <p:spPr>
          <a:xfrm>
            <a:off x="566928" y="4626864"/>
            <a:ext cx="28620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al-kitābu — the book</a:t>
            </a:r>
            <a:endParaRPr lang="en-US" sz="110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F1-L06 · Small marks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TEACHER INSTRUCTION · PART 3 · ALIF MADDA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Alif madda: hamza + long ā</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أَلِفُ المَدِّ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9322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Spelling</a:t>
            </a:r>
            <a:endParaRPr lang="en-US" sz="1100" dirty="0"/>
          </a:p>
        </p:txBody>
      </p:sp>
      <p:sp>
        <p:nvSpPr>
          <p:cNvPr id="17" name="Text 14"/>
          <p:cNvSpPr txBox="1"/>
          <p:nvPr/>
        </p:nvSpPr>
        <p:spPr>
          <a:xfrm>
            <a:off x="778154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Sound</a:t>
            </a:r>
            <a:endParaRPr lang="en-US" sz="1100" dirty="0"/>
          </a:p>
        </p:txBody>
      </p:sp>
      <p:sp>
        <p:nvSpPr>
          <p:cNvPr id="18" name="Text 15"/>
          <p:cNvSpPr txBox="1"/>
          <p:nvPr/>
        </p:nvSpPr>
        <p:spPr>
          <a:xfrm>
            <a:off x="540410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Word</a:t>
            </a:r>
            <a:endParaRPr lang="en-US" sz="1100" dirty="0"/>
          </a:p>
        </p:txBody>
      </p:sp>
      <p:sp>
        <p:nvSpPr>
          <p:cNvPr id="19" name="Text 16"/>
          <p:cNvSpPr txBox="1"/>
          <p:nvPr/>
        </p:nvSpPr>
        <p:spPr>
          <a:xfrm>
            <a:off x="339242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20" name="Text 17"/>
          <p:cNvSpPr txBox="1"/>
          <p:nvPr/>
        </p:nvSpPr>
        <p:spPr>
          <a:xfrm>
            <a:off x="530352" y="1810512"/>
            <a:ext cx="2715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Decode</a:t>
            </a:r>
            <a:endParaRPr lang="en-US" sz="1100" dirty="0"/>
          </a:p>
        </p:txBody>
      </p:sp>
      <p:sp>
        <p:nvSpPr>
          <p:cNvPr id="21" name="Shape 18"/>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2" name="Text 19"/>
          <p:cNvSpPr txBox="1"/>
          <p:nvPr/>
        </p:nvSpPr>
        <p:spPr>
          <a:xfrm>
            <a:off x="9811512" y="2267712"/>
            <a:ext cx="1828800" cy="731520"/>
          </a:xfrm>
          <a:prstGeom prst="rect">
            <a:avLst/>
          </a:prstGeom>
          <a:noFill/>
          <a:ln/>
        </p:spPr>
        <p:txBody>
          <a:bodyPr wrap="square" lIns="0" tIns="0" rIns="0" bIns="0" rtlCol="0" anchor="ctr"/>
          <a:lstStyle/>
          <a:p>
            <a:pPr rtl="1" algn="ctr" indent="0" marL="0">
              <a:buNone/>
            </a:pPr>
            <a:r>
              <a:rPr lang="ar-SA" altLang="en-US" sz="3400" b="1" dirty="0">
                <a:solidFill>
                  <a:srgbClr val="1B3B6F"/>
                </a:solidFill>
                <a:latin typeface="Amiri" pitchFamily="2" charset="-78"/>
                <a:cs typeface="Amiri" pitchFamily="2" charset="-78"/>
              </a:rPr>
              <a:t>أَ</a:t>
            </a:r>
            <a:endParaRPr lang="ar-SA" sz="3400" dirty="0"/>
          </a:p>
        </p:txBody>
      </p:sp>
      <p:sp>
        <p:nvSpPr>
          <p:cNvPr id="23" name="Text 20"/>
          <p:cNvSpPr txBox="1"/>
          <p:nvPr/>
        </p:nvSpPr>
        <p:spPr>
          <a:xfrm>
            <a:off x="7818120" y="2267712"/>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/ʔa/ short</a:t>
            </a:r>
            <a:endParaRPr lang="en-US" sz="1100" dirty="0"/>
          </a:p>
        </p:txBody>
      </p:sp>
      <p:sp>
        <p:nvSpPr>
          <p:cNvPr id="24" name="Text 21"/>
          <p:cNvSpPr txBox="1"/>
          <p:nvPr/>
        </p:nvSpPr>
        <p:spPr>
          <a:xfrm>
            <a:off x="5422392" y="2286000"/>
            <a:ext cx="219456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أَكَلَ</a:t>
            </a:r>
            <a:endParaRPr lang="ar-SA" sz="2100" dirty="0"/>
          </a:p>
        </p:txBody>
      </p:sp>
      <p:sp>
        <p:nvSpPr>
          <p:cNvPr id="25" name="Text 22"/>
          <p:cNvSpPr txBox="1"/>
          <p:nvPr/>
        </p:nvSpPr>
        <p:spPr>
          <a:xfrm>
            <a:off x="5376672" y="2706624"/>
            <a:ext cx="228600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ʾakala</a:t>
            </a:r>
            <a:endParaRPr lang="en-US" sz="950" dirty="0"/>
          </a:p>
        </p:txBody>
      </p:sp>
      <p:sp>
        <p:nvSpPr>
          <p:cNvPr id="26" name="Text 23"/>
          <p:cNvSpPr txBox="1"/>
          <p:nvPr/>
        </p:nvSpPr>
        <p:spPr>
          <a:xfrm>
            <a:off x="3429000" y="2267712"/>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 ate</a:t>
            </a:r>
            <a:endParaRPr lang="en-US" sz="1100" dirty="0"/>
          </a:p>
        </p:txBody>
      </p:sp>
      <p:sp>
        <p:nvSpPr>
          <p:cNvPr id="27" name="Text 24"/>
          <p:cNvSpPr txBox="1"/>
          <p:nvPr/>
        </p:nvSpPr>
        <p:spPr>
          <a:xfrm>
            <a:off x="566928" y="2267712"/>
            <a:ext cx="2679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hamza + short fatḥa</a:t>
            </a:r>
            <a:endParaRPr lang="en-US" sz="1100" dirty="0"/>
          </a:p>
        </p:txBody>
      </p:sp>
      <p:sp>
        <p:nvSpPr>
          <p:cNvPr id="28" name="Shape 25"/>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0" name="Shape 27"/>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31" name="Text 28"/>
          <p:cNvSpPr txBox="1"/>
          <p:nvPr/>
        </p:nvSpPr>
        <p:spPr>
          <a:xfrm>
            <a:off x="9811512" y="3054096"/>
            <a:ext cx="1828800" cy="731520"/>
          </a:xfrm>
          <a:prstGeom prst="rect">
            <a:avLst/>
          </a:prstGeom>
          <a:noFill/>
          <a:ln/>
        </p:spPr>
        <p:txBody>
          <a:bodyPr wrap="square" lIns="0" tIns="0" rIns="0" bIns="0" rtlCol="0" anchor="ctr"/>
          <a:lstStyle/>
          <a:p>
            <a:pPr rtl="1" algn="ctr" indent="0" marL="0">
              <a:buNone/>
            </a:pPr>
            <a:r>
              <a:rPr lang="ar-SA" altLang="en-US" sz="3400" b="1" dirty="0">
                <a:solidFill>
                  <a:srgbClr val="1B3B6F"/>
                </a:solidFill>
                <a:latin typeface="Amiri" pitchFamily="2" charset="-78"/>
                <a:cs typeface="Amiri" pitchFamily="2" charset="-78"/>
              </a:rPr>
              <a:t>آ</a:t>
            </a:r>
            <a:endParaRPr lang="ar-SA" sz="3400" dirty="0"/>
          </a:p>
        </p:txBody>
      </p:sp>
      <p:sp>
        <p:nvSpPr>
          <p:cNvPr id="32" name="Text 29"/>
          <p:cNvSpPr txBox="1"/>
          <p:nvPr/>
        </p:nvSpPr>
        <p:spPr>
          <a:xfrm>
            <a:off x="7818120" y="3054096"/>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/ʔā/ long</a:t>
            </a:r>
            <a:endParaRPr lang="en-US" sz="1100" dirty="0"/>
          </a:p>
        </p:txBody>
      </p:sp>
      <p:sp>
        <p:nvSpPr>
          <p:cNvPr id="33" name="Text 30"/>
          <p:cNvSpPr txBox="1"/>
          <p:nvPr/>
        </p:nvSpPr>
        <p:spPr>
          <a:xfrm>
            <a:off x="5422392" y="3072384"/>
            <a:ext cx="219456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آدَمُ</a:t>
            </a:r>
            <a:endParaRPr lang="ar-SA" sz="2100" dirty="0"/>
          </a:p>
        </p:txBody>
      </p:sp>
      <p:sp>
        <p:nvSpPr>
          <p:cNvPr id="34" name="Text 31"/>
          <p:cNvSpPr txBox="1"/>
          <p:nvPr/>
        </p:nvSpPr>
        <p:spPr>
          <a:xfrm>
            <a:off x="5376672" y="3493008"/>
            <a:ext cx="228600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ʾĀdam</a:t>
            </a:r>
            <a:endParaRPr lang="en-US" sz="950" dirty="0"/>
          </a:p>
        </p:txBody>
      </p:sp>
      <p:sp>
        <p:nvSpPr>
          <p:cNvPr id="35" name="Text 32"/>
          <p:cNvSpPr txBox="1"/>
          <p:nvPr/>
        </p:nvSpPr>
        <p:spPr>
          <a:xfrm>
            <a:off x="3429000" y="3054096"/>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Adam</a:t>
            </a:r>
            <a:endParaRPr lang="en-US" sz="1100" dirty="0"/>
          </a:p>
        </p:txBody>
      </p:sp>
      <p:sp>
        <p:nvSpPr>
          <p:cNvPr id="36" name="Text 33"/>
          <p:cNvSpPr txBox="1"/>
          <p:nvPr/>
        </p:nvSpPr>
        <p:spPr>
          <a:xfrm>
            <a:off x="566928" y="3054096"/>
            <a:ext cx="2679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/ʔā/ + dam</a:t>
            </a:r>
            <a:endParaRPr lang="en-US" sz="1100" dirty="0"/>
          </a:p>
        </p:txBody>
      </p:sp>
      <p:sp>
        <p:nvSpPr>
          <p:cNvPr id="37" name="Shape 34"/>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9" name="Shape 3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40" name="Text 37"/>
          <p:cNvSpPr txBox="1"/>
          <p:nvPr/>
        </p:nvSpPr>
        <p:spPr>
          <a:xfrm>
            <a:off x="9811512" y="3840480"/>
            <a:ext cx="1828800" cy="731520"/>
          </a:xfrm>
          <a:prstGeom prst="rect">
            <a:avLst/>
          </a:prstGeom>
          <a:noFill/>
          <a:ln/>
        </p:spPr>
        <p:txBody>
          <a:bodyPr wrap="square" lIns="0" tIns="0" rIns="0" bIns="0" rtlCol="0" anchor="ctr"/>
          <a:lstStyle/>
          <a:p>
            <a:pPr rtl="1" algn="ctr" indent="0" marL="0">
              <a:buNone/>
            </a:pPr>
            <a:r>
              <a:rPr lang="ar-SA" altLang="en-US" sz="3400" b="1" dirty="0">
                <a:solidFill>
                  <a:srgbClr val="1B3B6F"/>
                </a:solidFill>
                <a:latin typeface="Amiri" pitchFamily="2" charset="-78"/>
                <a:cs typeface="Amiri" pitchFamily="2" charset="-78"/>
              </a:rPr>
              <a:t>آ</a:t>
            </a:r>
            <a:endParaRPr lang="ar-SA" sz="3400" dirty="0"/>
          </a:p>
        </p:txBody>
      </p:sp>
      <p:sp>
        <p:nvSpPr>
          <p:cNvPr id="41" name="Text 38"/>
          <p:cNvSpPr txBox="1"/>
          <p:nvPr/>
        </p:nvSpPr>
        <p:spPr>
          <a:xfrm>
            <a:off x="7818120" y="3840480"/>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/ʔā/ long</a:t>
            </a:r>
            <a:endParaRPr lang="en-US" sz="1100" dirty="0"/>
          </a:p>
        </p:txBody>
      </p:sp>
      <p:sp>
        <p:nvSpPr>
          <p:cNvPr id="42" name="Text 39"/>
          <p:cNvSpPr txBox="1"/>
          <p:nvPr/>
        </p:nvSpPr>
        <p:spPr>
          <a:xfrm>
            <a:off x="5422392" y="3858768"/>
            <a:ext cx="219456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قُرْآنٌ</a:t>
            </a:r>
            <a:endParaRPr lang="ar-SA" sz="2100" dirty="0"/>
          </a:p>
        </p:txBody>
      </p:sp>
      <p:sp>
        <p:nvSpPr>
          <p:cNvPr id="43" name="Text 40"/>
          <p:cNvSpPr txBox="1"/>
          <p:nvPr/>
        </p:nvSpPr>
        <p:spPr>
          <a:xfrm>
            <a:off x="5376672" y="4279392"/>
            <a:ext cx="228600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qurʾān</a:t>
            </a:r>
            <a:endParaRPr lang="en-US" sz="950" dirty="0"/>
          </a:p>
        </p:txBody>
      </p:sp>
      <p:sp>
        <p:nvSpPr>
          <p:cNvPr id="44" name="Text 41"/>
          <p:cNvSpPr txBox="1"/>
          <p:nvPr/>
        </p:nvSpPr>
        <p:spPr>
          <a:xfrm>
            <a:off x="3429000" y="3840480"/>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Qur’an</a:t>
            </a:r>
            <a:endParaRPr lang="en-US" sz="1100" dirty="0"/>
          </a:p>
        </p:txBody>
      </p:sp>
      <p:sp>
        <p:nvSpPr>
          <p:cNvPr id="45" name="Text 42"/>
          <p:cNvSpPr txBox="1"/>
          <p:nvPr/>
        </p:nvSpPr>
        <p:spPr>
          <a:xfrm>
            <a:off x="566928" y="3840480"/>
            <a:ext cx="2679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qur + /ʔā/ + n</a:t>
            </a:r>
            <a:endParaRPr lang="en-US" sz="1100" dirty="0"/>
          </a:p>
        </p:txBody>
      </p:sp>
      <p:sp>
        <p:nvSpPr>
          <p:cNvPr id="46" name="Shape 43"/>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9" name="Text 46"/>
          <p:cNvSpPr txBox="1"/>
          <p:nvPr/>
        </p:nvSpPr>
        <p:spPr>
          <a:xfrm>
            <a:off x="9811512" y="4626864"/>
            <a:ext cx="1828800" cy="731520"/>
          </a:xfrm>
          <a:prstGeom prst="rect">
            <a:avLst/>
          </a:prstGeom>
          <a:noFill/>
          <a:ln/>
        </p:spPr>
        <p:txBody>
          <a:bodyPr wrap="square" lIns="0" tIns="0" rIns="0" bIns="0" rtlCol="0" anchor="ctr"/>
          <a:lstStyle/>
          <a:p>
            <a:pPr rtl="1" algn="ctr" indent="0" marL="0">
              <a:buNone/>
            </a:pPr>
            <a:r>
              <a:rPr lang="ar-SA" altLang="en-US" sz="3400" b="1" dirty="0">
                <a:solidFill>
                  <a:srgbClr val="1B3B6F"/>
                </a:solidFill>
                <a:latin typeface="Amiri" pitchFamily="2" charset="-78"/>
                <a:cs typeface="Amiri" pitchFamily="2" charset="-78"/>
              </a:rPr>
              <a:t>بَا</a:t>
            </a:r>
            <a:endParaRPr lang="ar-SA" sz="3400" dirty="0"/>
          </a:p>
        </p:txBody>
      </p:sp>
      <p:sp>
        <p:nvSpPr>
          <p:cNvPr id="50" name="Text 47"/>
          <p:cNvSpPr txBox="1"/>
          <p:nvPr/>
        </p:nvSpPr>
        <p:spPr>
          <a:xfrm>
            <a:off x="7818120" y="4626864"/>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/bā/ long</a:t>
            </a:r>
            <a:endParaRPr lang="en-US" sz="1100" dirty="0"/>
          </a:p>
        </p:txBody>
      </p:sp>
      <p:sp>
        <p:nvSpPr>
          <p:cNvPr id="51" name="Text 48"/>
          <p:cNvSpPr txBox="1"/>
          <p:nvPr/>
        </p:nvSpPr>
        <p:spPr>
          <a:xfrm>
            <a:off x="5422392" y="4645152"/>
            <a:ext cx="219456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بَابٌ</a:t>
            </a:r>
            <a:endParaRPr lang="ar-SA" sz="2100" dirty="0"/>
          </a:p>
        </p:txBody>
      </p:sp>
      <p:sp>
        <p:nvSpPr>
          <p:cNvPr id="52" name="Text 49"/>
          <p:cNvSpPr txBox="1"/>
          <p:nvPr/>
        </p:nvSpPr>
        <p:spPr>
          <a:xfrm>
            <a:off x="5376672" y="5065776"/>
            <a:ext cx="228600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bāb</a:t>
            </a:r>
            <a:endParaRPr lang="en-US" sz="950" dirty="0"/>
          </a:p>
        </p:txBody>
      </p:sp>
      <p:sp>
        <p:nvSpPr>
          <p:cNvPr id="53" name="Text 50"/>
          <p:cNvSpPr txBox="1"/>
          <p:nvPr/>
        </p:nvSpPr>
        <p:spPr>
          <a:xfrm>
            <a:off x="3429000" y="4626864"/>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door</a:t>
            </a:r>
            <a:endParaRPr lang="en-US" sz="1100" dirty="0"/>
          </a:p>
        </p:txBody>
      </p:sp>
      <p:sp>
        <p:nvSpPr>
          <p:cNvPr id="54" name="Text 51"/>
          <p:cNvSpPr txBox="1"/>
          <p:nvPr/>
        </p:nvSpPr>
        <p:spPr>
          <a:xfrm>
            <a:off x="566928" y="4626864"/>
            <a:ext cx="2679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ordinary long ā — no hamza, so no madda</a:t>
            </a:r>
            <a:endParaRPr lang="en-US" sz="11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F1-L06 · Small marks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60" b="1" spc="150" kern="0" dirty="0">
                <a:solidFill>
                  <a:srgbClr val="1B3B6F"/>
                </a:solidFill>
                <a:latin typeface="Calibri" pitchFamily="34" charset="0"/>
                <a:cs typeface="Amiri" pitchFamily="2" charset="-78"/>
              </a:rPr>
              <a:t>TEACHER INSTRUCTION · PART 4 · HAMZA KEEPS ITS SOUND, CHANGES ITS SEAT (WEBSITE)</a:t>
            </a:r>
            <a:endParaRPr lang="en-US" sz="86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Hamza: five printed shapes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الهَمْزَةُ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976104"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Shape</a:t>
            </a:r>
            <a:endParaRPr lang="en-US" sz="1100" dirty="0"/>
          </a:p>
        </p:txBody>
      </p:sp>
      <p:sp>
        <p:nvSpPr>
          <p:cNvPr id="17" name="Text 14"/>
          <p:cNvSpPr txBox="1"/>
          <p:nvPr/>
        </p:nvSpPr>
        <p:spPr>
          <a:xfrm>
            <a:off x="7415784"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Where it sits</a:t>
            </a:r>
            <a:endParaRPr lang="en-US" sz="1100" dirty="0"/>
          </a:p>
        </p:txBody>
      </p:sp>
      <p:sp>
        <p:nvSpPr>
          <p:cNvPr id="18" name="Text 15"/>
          <p:cNvSpPr txBox="1"/>
          <p:nvPr/>
        </p:nvSpPr>
        <p:spPr>
          <a:xfrm>
            <a:off x="503834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Word</a:t>
            </a:r>
            <a:endParaRPr lang="en-US" sz="1100" dirty="0"/>
          </a:p>
        </p:txBody>
      </p:sp>
      <p:sp>
        <p:nvSpPr>
          <p:cNvPr id="19" name="Text 16"/>
          <p:cNvSpPr txBox="1"/>
          <p:nvPr/>
        </p:nvSpPr>
        <p:spPr>
          <a:xfrm>
            <a:off x="302666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Read it</a:t>
            </a:r>
            <a:endParaRPr lang="en-US" sz="1100" dirty="0"/>
          </a:p>
        </p:txBody>
      </p:sp>
      <p:sp>
        <p:nvSpPr>
          <p:cNvPr id="20" name="Text 17"/>
          <p:cNvSpPr txBox="1"/>
          <p:nvPr/>
        </p:nvSpPr>
        <p:spPr>
          <a:xfrm>
            <a:off x="530352" y="1810512"/>
            <a:ext cx="2350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21" name="Shape 18"/>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2" name="Text 19"/>
          <p:cNvSpPr txBox="1"/>
          <p:nvPr/>
        </p:nvSpPr>
        <p:spPr>
          <a:xfrm>
            <a:off x="9994392" y="2267712"/>
            <a:ext cx="1645920" cy="731520"/>
          </a:xfrm>
          <a:prstGeom prst="rect">
            <a:avLst/>
          </a:prstGeom>
          <a:noFill/>
          <a:ln/>
        </p:spPr>
        <p:txBody>
          <a:bodyPr wrap="square" lIns="0" tIns="0" rIns="0" bIns="0" rtlCol="0" anchor="ctr"/>
          <a:lstStyle/>
          <a:p>
            <a:pPr rtl="1" algn="ctr" indent="0" marL="0">
              <a:buNone/>
            </a:pPr>
            <a:r>
              <a:rPr lang="ar-SA" altLang="en-US" sz="3400" b="1" dirty="0">
                <a:solidFill>
                  <a:srgbClr val="1B3B6F"/>
                </a:solidFill>
                <a:latin typeface="Amiri" pitchFamily="2" charset="-78"/>
                <a:cs typeface="Amiri" pitchFamily="2" charset="-78"/>
              </a:rPr>
              <a:t>أ</a:t>
            </a:r>
            <a:endParaRPr lang="ar-SA" sz="3400" dirty="0"/>
          </a:p>
        </p:txBody>
      </p:sp>
      <p:sp>
        <p:nvSpPr>
          <p:cNvPr id="23" name="Text 20"/>
          <p:cNvSpPr txBox="1"/>
          <p:nvPr/>
        </p:nvSpPr>
        <p:spPr>
          <a:xfrm>
            <a:off x="7452360" y="2267712"/>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above alif</a:t>
            </a:r>
            <a:endParaRPr lang="en-US" sz="1100" dirty="0"/>
          </a:p>
        </p:txBody>
      </p:sp>
      <p:sp>
        <p:nvSpPr>
          <p:cNvPr id="24" name="Text 21"/>
          <p:cNvSpPr txBox="1"/>
          <p:nvPr/>
        </p:nvSpPr>
        <p:spPr>
          <a:xfrm>
            <a:off x="5056632" y="2267712"/>
            <a:ext cx="2194560" cy="731520"/>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2" charset="-78"/>
                <a:cs typeface="Amiri" pitchFamily="2" charset="-78"/>
              </a:rPr>
              <a:t>أَكَلَ</a:t>
            </a:r>
            <a:endParaRPr lang="ar-SA" sz="3000" dirty="0"/>
          </a:p>
        </p:txBody>
      </p:sp>
      <p:sp>
        <p:nvSpPr>
          <p:cNvPr id="25" name="Text 22"/>
          <p:cNvSpPr txBox="1"/>
          <p:nvPr/>
        </p:nvSpPr>
        <p:spPr>
          <a:xfrm>
            <a:off x="3063240" y="2267712"/>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ʾakala</a:t>
            </a:r>
            <a:endParaRPr lang="en-US" sz="1100" dirty="0"/>
          </a:p>
        </p:txBody>
      </p:sp>
      <p:sp>
        <p:nvSpPr>
          <p:cNvPr id="26" name="Text 23"/>
          <p:cNvSpPr txBox="1"/>
          <p:nvPr/>
        </p:nvSpPr>
        <p:spPr>
          <a:xfrm>
            <a:off x="566928" y="2267712"/>
            <a:ext cx="23134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 ate</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30" name="Text 27"/>
          <p:cNvSpPr txBox="1"/>
          <p:nvPr/>
        </p:nvSpPr>
        <p:spPr>
          <a:xfrm>
            <a:off x="9994392" y="3054096"/>
            <a:ext cx="1645920" cy="731520"/>
          </a:xfrm>
          <a:prstGeom prst="rect">
            <a:avLst/>
          </a:prstGeom>
          <a:noFill/>
          <a:ln/>
        </p:spPr>
        <p:txBody>
          <a:bodyPr wrap="square" lIns="0" tIns="0" rIns="0" bIns="0" rtlCol="0" anchor="ctr"/>
          <a:lstStyle/>
          <a:p>
            <a:pPr rtl="1" algn="ctr" indent="0" marL="0">
              <a:buNone/>
            </a:pPr>
            <a:r>
              <a:rPr lang="ar-SA" altLang="en-US" sz="3400" b="1" dirty="0">
                <a:solidFill>
                  <a:srgbClr val="1B3B6F"/>
                </a:solidFill>
                <a:latin typeface="Amiri" pitchFamily="2" charset="-78"/>
                <a:cs typeface="Amiri" pitchFamily="2" charset="-78"/>
              </a:rPr>
              <a:t>إ</a:t>
            </a:r>
            <a:endParaRPr lang="ar-SA" sz="3400" dirty="0"/>
          </a:p>
        </p:txBody>
      </p:sp>
      <p:sp>
        <p:nvSpPr>
          <p:cNvPr id="31" name="Text 28"/>
          <p:cNvSpPr txBox="1"/>
          <p:nvPr/>
        </p:nvSpPr>
        <p:spPr>
          <a:xfrm>
            <a:off x="7452360" y="3054096"/>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below alif</a:t>
            </a:r>
            <a:endParaRPr lang="en-US" sz="1100" dirty="0"/>
          </a:p>
        </p:txBody>
      </p:sp>
      <p:sp>
        <p:nvSpPr>
          <p:cNvPr id="32" name="Text 29"/>
          <p:cNvSpPr txBox="1"/>
          <p:nvPr/>
        </p:nvSpPr>
        <p:spPr>
          <a:xfrm>
            <a:off x="5056632" y="3054096"/>
            <a:ext cx="2194560" cy="731520"/>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2" charset="-78"/>
                <a:cs typeface="Amiri" pitchFamily="2" charset="-78"/>
              </a:rPr>
              <a:t>إِمَامٌ</a:t>
            </a:r>
            <a:endParaRPr lang="ar-SA" sz="3000" dirty="0"/>
          </a:p>
        </p:txBody>
      </p:sp>
      <p:sp>
        <p:nvSpPr>
          <p:cNvPr id="33" name="Text 30"/>
          <p:cNvSpPr txBox="1"/>
          <p:nvPr/>
        </p:nvSpPr>
        <p:spPr>
          <a:xfrm>
            <a:off x="3063240" y="3054096"/>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ʾimām</a:t>
            </a:r>
            <a:endParaRPr lang="en-US" sz="1100" dirty="0"/>
          </a:p>
        </p:txBody>
      </p:sp>
      <p:sp>
        <p:nvSpPr>
          <p:cNvPr id="34" name="Text 31"/>
          <p:cNvSpPr txBox="1"/>
          <p:nvPr/>
        </p:nvSpPr>
        <p:spPr>
          <a:xfrm>
            <a:off x="566928" y="3054096"/>
            <a:ext cx="23134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imam, leader</a:t>
            </a:r>
            <a:endParaRPr lang="en-US" sz="1100" dirty="0"/>
          </a:p>
        </p:txBody>
      </p:sp>
      <p:sp>
        <p:nvSpPr>
          <p:cNvPr id="35" name="Shape 32"/>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8" name="Text 35"/>
          <p:cNvSpPr txBox="1"/>
          <p:nvPr/>
        </p:nvSpPr>
        <p:spPr>
          <a:xfrm>
            <a:off x="9994392" y="3840480"/>
            <a:ext cx="1645920" cy="731520"/>
          </a:xfrm>
          <a:prstGeom prst="rect">
            <a:avLst/>
          </a:prstGeom>
          <a:noFill/>
          <a:ln/>
        </p:spPr>
        <p:txBody>
          <a:bodyPr wrap="square" lIns="0" tIns="0" rIns="0" bIns="0" rtlCol="0" anchor="ctr"/>
          <a:lstStyle/>
          <a:p>
            <a:pPr rtl="1" algn="ctr" indent="0" marL="0">
              <a:buNone/>
            </a:pPr>
            <a:r>
              <a:rPr lang="ar-SA" altLang="en-US" sz="3400" b="1" dirty="0">
                <a:solidFill>
                  <a:srgbClr val="1B3B6F"/>
                </a:solidFill>
                <a:latin typeface="Amiri" pitchFamily="2" charset="-78"/>
                <a:cs typeface="Amiri" pitchFamily="2" charset="-78"/>
              </a:rPr>
              <a:t>ؤ</a:t>
            </a:r>
            <a:endParaRPr lang="ar-SA" sz="3400" dirty="0"/>
          </a:p>
        </p:txBody>
      </p:sp>
      <p:sp>
        <p:nvSpPr>
          <p:cNvPr id="39" name="Text 36"/>
          <p:cNvSpPr txBox="1"/>
          <p:nvPr/>
        </p:nvSpPr>
        <p:spPr>
          <a:xfrm>
            <a:off x="7452360" y="3840480"/>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 wāw</a:t>
            </a:r>
            <a:endParaRPr lang="en-US" sz="1100" dirty="0"/>
          </a:p>
        </p:txBody>
      </p:sp>
      <p:sp>
        <p:nvSpPr>
          <p:cNvPr id="40" name="Text 37"/>
          <p:cNvSpPr txBox="1"/>
          <p:nvPr/>
        </p:nvSpPr>
        <p:spPr>
          <a:xfrm>
            <a:off x="5056632" y="3840480"/>
            <a:ext cx="2194560" cy="731520"/>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2" charset="-78"/>
                <a:cs typeface="Amiri" pitchFamily="2" charset="-78"/>
              </a:rPr>
              <a:t>سُؤَالٌ</a:t>
            </a:r>
            <a:endParaRPr lang="ar-SA" sz="3000" dirty="0"/>
          </a:p>
        </p:txBody>
      </p:sp>
      <p:sp>
        <p:nvSpPr>
          <p:cNvPr id="41" name="Text 38"/>
          <p:cNvSpPr txBox="1"/>
          <p:nvPr/>
        </p:nvSpPr>
        <p:spPr>
          <a:xfrm>
            <a:off x="3063240" y="3840480"/>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suʾāl</a:t>
            </a:r>
            <a:endParaRPr lang="en-US" sz="1100" dirty="0"/>
          </a:p>
        </p:txBody>
      </p:sp>
      <p:sp>
        <p:nvSpPr>
          <p:cNvPr id="42" name="Text 39"/>
          <p:cNvSpPr txBox="1"/>
          <p:nvPr/>
        </p:nvSpPr>
        <p:spPr>
          <a:xfrm>
            <a:off x="566928" y="3840480"/>
            <a:ext cx="23134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question</a:t>
            </a:r>
            <a:endParaRPr lang="en-US" sz="1100" dirty="0"/>
          </a:p>
        </p:txBody>
      </p:sp>
      <p:sp>
        <p:nvSpPr>
          <p:cNvPr id="43" name="Shape 40"/>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6" name="Text 43"/>
          <p:cNvSpPr txBox="1"/>
          <p:nvPr/>
        </p:nvSpPr>
        <p:spPr>
          <a:xfrm>
            <a:off x="9994392" y="4626864"/>
            <a:ext cx="1645920" cy="731520"/>
          </a:xfrm>
          <a:prstGeom prst="rect">
            <a:avLst/>
          </a:prstGeom>
          <a:noFill/>
          <a:ln/>
        </p:spPr>
        <p:txBody>
          <a:bodyPr wrap="square" lIns="0" tIns="0" rIns="0" bIns="0" rtlCol="0" anchor="ctr"/>
          <a:lstStyle/>
          <a:p>
            <a:pPr rtl="1" algn="ctr" indent="0" marL="0">
              <a:buNone/>
            </a:pPr>
            <a:r>
              <a:rPr lang="ar-SA" altLang="en-US" sz="3400" b="1" dirty="0">
                <a:solidFill>
                  <a:srgbClr val="1B3B6F"/>
                </a:solidFill>
                <a:latin typeface="Amiri" pitchFamily="2" charset="-78"/>
                <a:cs typeface="Amiri" pitchFamily="2" charset="-78"/>
              </a:rPr>
              <a:t>ئ</a:t>
            </a:r>
            <a:endParaRPr lang="ar-SA" sz="3400" dirty="0"/>
          </a:p>
        </p:txBody>
      </p:sp>
      <p:sp>
        <p:nvSpPr>
          <p:cNvPr id="47" name="Text 44"/>
          <p:cNvSpPr txBox="1"/>
          <p:nvPr/>
        </p:nvSpPr>
        <p:spPr>
          <a:xfrm>
            <a:off x="7452360" y="4626864"/>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 a seat (dotless yāʾ)</a:t>
            </a:r>
            <a:endParaRPr lang="en-US" sz="1100" dirty="0"/>
          </a:p>
        </p:txBody>
      </p:sp>
      <p:sp>
        <p:nvSpPr>
          <p:cNvPr id="48" name="Text 45"/>
          <p:cNvSpPr txBox="1"/>
          <p:nvPr/>
        </p:nvSpPr>
        <p:spPr>
          <a:xfrm>
            <a:off x="5056632" y="4626864"/>
            <a:ext cx="2194560" cy="731520"/>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2" charset="-78"/>
                <a:cs typeface="Amiri" pitchFamily="2" charset="-78"/>
              </a:rPr>
              <a:t>بِئْرٌ</a:t>
            </a:r>
            <a:endParaRPr lang="ar-SA" sz="3000" dirty="0"/>
          </a:p>
        </p:txBody>
      </p:sp>
      <p:sp>
        <p:nvSpPr>
          <p:cNvPr id="49" name="Text 46"/>
          <p:cNvSpPr txBox="1"/>
          <p:nvPr/>
        </p:nvSpPr>
        <p:spPr>
          <a:xfrm>
            <a:off x="3063240" y="4626864"/>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biʾr</a:t>
            </a:r>
            <a:endParaRPr lang="en-US" sz="1100" dirty="0"/>
          </a:p>
        </p:txBody>
      </p:sp>
      <p:sp>
        <p:nvSpPr>
          <p:cNvPr id="50" name="Text 47"/>
          <p:cNvSpPr txBox="1"/>
          <p:nvPr/>
        </p:nvSpPr>
        <p:spPr>
          <a:xfrm>
            <a:off x="566928" y="4626864"/>
            <a:ext cx="23134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well</a:t>
            </a:r>
            <a:endParaRPr lang="en-US" sz="1100" dirty="0"/>
          </a:p>
        </p:txBody>
      </p:sp>
      <p:sp>
        <p:nvSpPr>
          <p:cNvPr id="51" name="Shape 48"/>
          <p:cNvSpPr/>
          <p:nvPr/>
        </p:nvSpPr>
        <p:spPr>
          <a:xfrm>
            <a:off x="457200" y="5413248"/>
            <a:ext cx="11274552" cy="731520"/>
          </a:xfrm>
          <a:prstGeom prst="roundRect">
            <a:avLst>
              <a:gd name="adj" fmla="val 6250"/>
            </a:avLst>
          </a:prstGeom>
          <a:solidFill>
            <a:srgbClr val="FFFFFF"/>
          </a:solidFill>
          <a:ln w="9525">
            <a:solidFill>
              <a:srgbClr val="D8D0BF"/>
            </a:solidFill>
            <a:prstDash val="solid"/>
          </a:ln>
        </p:spPr>
      </p:sp>
      <p:sp>
        <p:nvSpPr>
          <p:cNvPr id="52" name="Text 49"/>
          <p:cNvSpPr txBox="1"/>
          <p:nvPr/>
        </p:nvSpPr>
        <p:spPr>
          <a:xfrm>
            <a:off x="9994392" y="5413248"/>
            <a:ext cx="1645920" cy="731520"/>
          </a:xfrm>
          <a:prstGeom prst="rect">
            <a:avLst/>
          </a:prstGeom>
          <a:noFill/>
          <a:ln/>
        </p:spPr>
        <p:txBody>
          <a:bodyPr wrap="square" lIns="0" tIns="0" rIns="0" bIns="0" rtlCol="0" anchor="ctr"/>
          <a:lstStyle/>
          <a:p>
            <a:pPr rtl="1" algn="ctr" indent="0" marL="0">
              <a:buNone/>
            </a:pPr>
            <a:r>
              <a:rPr lang="ar-SA" altLang="en-US" sz="3400" b="1" dirty="0">
                <a:solidFill>
                  <a:srgbClr val="1B3B6F"/>
                </a:solidFill>
                <a:latin typeface="Amiri" pitchFamily="2" charset="-78"/>
                <a:cs typeface="Amiri" pitchFamily="2" charset="-78"/>
              </a:rPr>
              <a:t>ء</a:t>
            </a:r>
            <a:endParaRPr lang="ar-SA" sz="3400" dirty="0"/>
          </a:p>
        </p:txBody>
      </p:sp>
      <p:sp>
        <p:nvSpPr>
          <p:cNvPr id="53" name="Text 50"/>
          <p:cNvSpPr txBox="1"/>
          <p:nvPr/>
        </p:nvSpPr>
        <p:spPr>
          <a:xfrm>
            <a:off x="7452360" y="5413248"/>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alone</a:t>
            </a:r>
            <a:endParaRPr lang="en-US" sz="1100" dirty="0"/>
          </a:p>
        </p:txBody>
      </p:sp>
      <p:sp>
        <p:nvSpPr>
          <p:cNvPr id="54" name="Text 51"/>
          <p:cNvSpPr txBox="1"/>
          <p:nvPr/>
        </p:nvSpPr>
        <p:spPr>
          <a:xfrm>
            <a:off x="5056632" y="5413248"/>
            <a:ext cx="2194560" cy="731520"/>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2" charset="-78"/>
                <a:cs typeface="Amiri" pitchFamily="2" charset="-78"/>
              </a:rPr>
              <a:t>شَيْءٌ</a:t>
            </a:r>
            <a:endParaRPr lang="ar-SA" sz="3000" dirty="0"/>
          </a:p>
        </p:txBody>
      </p:sp>
      <p:sp>
        <p:nvSpPr>
          <p:cNvPr id="55" name="Text 52"/>
          <p:cNvSpPr txBox="1"/>
          <p:nvPr/>
        </p:nvSpPr>
        <p:spPr>
          <a:xfrm>
            <a:off x="3063240" y="5413248"/>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shayʾ</a:t>
            </a:r>
            <a:endParaRPr lang="en-US" sz="1100" dirty="0"/>
          </a:p>
        </p:txBody>
      </p:sp>
      <p:sp>
        <p:nvSpPr>
          <p:cNvPr id="56" name="Text 53"/>
          <p:cNvSpPr txBox="1"/>
          <p:nvPr/>
        </p:nvSpPr>
        <p:spPr>
          <a:xfrm>
            <a:off x="566928" y="5413248"/>
            <a:ext cx="23134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thing</a:t>
            </a:r>
            <a:endParaRPr lang="en-US" sz="110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F1-L06 · Small marks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F1-L06</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shadda do?</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Doubles the consonant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Makes a long vowel</a:t>
            </a:r>
            <a:endParaRPr lang="en-US" sz="1250" dirty="0"/>
          </a:p>
        </p:txBody>
      </p:sp>
      <p:sp>
        <p:nvSpPr>
          <p:cNvPr id="25" name="Shape 22"/>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313932" y="1947672"/>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28" name="Text 25"/>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Read the ending of </a:t>
            </a:r>
            <a:pPr algn="l" indent="0" marL="0">
              <a:buNone/>
            </a:pPr>
            <a:r>
              <a:rPr lang="ar-SA" altLang="en-US" sz="1650" b="1" dirty="0">
                <a:solidFill>
                  <a:srgbClr val="1B3B6F"/>
                </a:solidFill>
                <a:latin typeface="Amiri" pitchFamily="2" charset="-78"/>
                <a:cs typeface="Amiri" pitchFamily="2" charset="-78"/>
              </a:rPr>
              <a:t>كِتَابٌ</a:t>
            </a:r>
            <a:endParaRPr lang="en-US" sz="1250" dirty="0"/>
          </a:p>
        </p:txBody>
      </p:sp>
      <p:sp>
        <p:nvSpPr>
          <p:cNvPr id="29" name="Shape 26"/>
          <p:cNvSpPr/>
          <p:nvPr/>
        </p:nvSpPr>
        <p:spPr>
          <a:xfrm>
            <a:off x="6368796" y="2532888"/>
            <a:ext cx="256032" cy="256032"/>
          </a:xfrm>
          <a:prstGeom prst="ellipse">
            <a:avLst/>
          </a:prstGeom>
          <a:solidFill>
            <a:srgbClr val="F4F1EA"/>
          </a:solidFill>
          <a:ln w="12700">
            <a:solidFill>
              <a:srgbClr val="F4F1EA"/>
            </a:solidFill>
            <a:prstDash val="solid"/>
          </a:ln>
        </p:spPr>
      </p:sp>
      <p:sp>
        <p:nvSpPr>
          <p:cNvPr id="30" name="Text 27"/>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1" name="Text 28"/>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/un/</a:t>
            </a:r>
            <a:endParaRPr lang="en-US" sz="1250" dirty="0"/>
          </a:p>
        </p:txBody>
      </p:sp>
      <p:sp>
        <p:nvSpPr>
          <p:cNvPr id="32" name="Shape 29"/>
          <p:cNvSpPr/>
          <p:nvPr/>
        </p:nvSpPr>
        <p:spPr>
          <a:xfrm>
            <a:off x="6368796" y="29900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4" name="Text 31"/>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a:t>
            </a:r>
            <a:endParaRPr lang="en-US" sz="1250" dirty="0"/>
          </a:p>
        </p:txBody>
      </p:sp>
      <p:sp>
        <p:nvSpPr>
          <p:cNvPr id="35" name="Shape 32"/>
          <p:cNvSpPr/>
          <p:nvPr/>
        </p:nvSpPr>
        <p:spPr>
          <a:xfrm>
            <a:off x="6368796" y="34472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7" name="Text 34"/>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a:t>
            </a:r>
            <a:endParaRPr lang="en-US" sz="1250" dirty="0"/>
          </a:p>
        </p:txBody>
      </p:sp>
      <p:sp>
        <p:nvSpPr>
          <p:cNvPr id="38" name="Shape 3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585216" y="4288536"/>
            <a:ext cx="310896" cy="310896"/>
          </a:xfrm>
          <a:prstGeom prst="ellipse">
            <a:avLst/>
          </a:prstGeom>
          <a:solidFill>
            <a:srgbClr val="1B3B6F"/>
          </a:solidFill>
          <a:ln w="12700">
            <a:solidFill>
              <a:srgbClr val="1B3B6F"/>
            </a:solidFill>
            <a:prstDash val="solid"/>
          </a:ln>
        </p:spPr>
      </p:sp>
      <p:sp>
        <p:nvSpPr>
          <p:cNvPr id="40" name="Text 3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1" name="Text 38"/>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آ</a:t>
            </a:r>
            <a:pPr algn="l" indent="0" marL="0">
              <a:buNone/>
            </a:pPr>
            <a:r>
              <a:rPr lang="en-US" sz="1250" b="1" dirty="0">
                <a:solidFill>
                  <a:srgbClr val="1B3B6F"/>
                </a:solidFill>
                <a:latin typeface="Calibri" pitchFamily="34" charset="0"/>
                <a:cs typeface="Amiri" pitchFamily="2" charset="-78"/>
              </a:rPr>
              <a:t> represent?</a:t>
            </a:r>
            <a:endParaRPr lang="en-US" sz="1250" dirty="0"/>
          </a:p>
        </p:txBody>
      </p:sp>
      <p:sp>
        <p:nvSpPr>
          <p:cNvPr id="42" name="Shape 39"/>
          <p:cNvSpPr/>
          <p:nvPr/>
        </p:nvSpPr>
        <p:spPr>
          <a:xfrm>
            <a:off x="640080" y="4873752"/>
            <a:ext cx="256032" cy="256032"/>
          </a:xfrm>
          <a:prstGeom prst="ellipse">
            <a:avLst/>
          </a:prstGeom>
          <a:solidFill>
            <a:srgbClr val="F4F1EA"/>
          </a:solidFill>
          <a:ln w="12700">
            <a:solidFill>
              <a:srgbClr val="F4F1EA"/>
            </a:solidFill>
            <a:prstDash val="solid"/>
          </a:ln>
        </p:spPr>
      </p:sp>
      <p:sp>
        <p:nvSpPr>
          <p:cNvPr id="43" name="Text 40"/>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4" name="Text 41"/>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/ʔ/ + long /ā/</a:t>
            </a:r>
            <a:endParaRPr lang="en-US" sz="1250" dirty="0"/>
          </a:p>
        </p:txBody>
      </p:sp>
      <p:sp>
        <p:nvSpPr>
          <p:cNvPr id="45" name="Shape 42"/>
          <p:cNvSpPr/>
          <p:nvPr/>
        </p:nvSpPr>
        <p:spPr>
          <a:xfrm>
            <a:off x="640080" y="53309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7" name="Text 44"/>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long /ā/</a:t>
            </a:r>
            <a:endParaRPr lang="en-US" sz="1250" dirty="0"/>
          </a:p>
        </p:txBody>
      </p:sp>
      <p:sp>
        <p:nvSpPr>
          <p:cNvPr id="48" name="Shape 45"/>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6313932"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1" name="Text 48"/>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Identify the hamza form in </a:t>
            </a:r>
            <a:pPr algn="l" indent="0" marL="0">
              <a:buNone/>
            </a:pPr>
            <a:r>
              <a:rPr lang="ar-SA" altLang="en-US" sz="1650" b="1" dirty="0">
                <a:solidFill>
                  <a:srgbClr val="1B3B6F"/>
                </a:solidFill>
                <a:latin typeface="Amiri" pitchFamily="2" charset="-78"/>
                <a:cs typeface="Amiri" pitchFamily="2" charset="-78"/>
              </a:rPr>
              <a:t>سُؤَال</a:t>
            </a:r>
            <a:endParaRPr lang="en-US" sz="1250" dirty="0"/>
          </a:p>
        </p:txBody>
      </p:sp>
      <p:sp>
        <p:nvSpPr>
          <p:cNvPr id="52" name="Shape 49"/>
          <p:cNvSpPr/>
          <p:nvPr/>
        </p:nvSpPr>
        <p:spPr>
          <a:xfrm>
            <a:off x="6368796" y="48737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hamza on wāw</a:t>
            </a:r>
            <a:endParaRPr lang="en-US" sz="1250" dirty="0"/>
          </a:p>
        </p:txBody>
      </p:sp>
      <p:sp>
        <p:nvSpPr>
          <p:cNvPr id="55" name="Shape 52"/>
          <p:cNvSpPr/>
          <p:nvPr/>
        </p:nvSpPr>
        <p:spPr>
          <a:xfrm>
            <a:off x="6368796" y="5330952"/>
            <a:ext cx="256032" cy="256032"/>
          </a:xfrm>
          <a:prstGeom prst="ellipse">
            <a:avLst/>
          </a:prstGeom>
          <a:solidFill>
            <a:srgbClr val="F4F1EA"/>
          </a:solidFill>
          <a:ln w="12700">
            <a:solidFill>
              <a:srgbClr val="F4F1EA"/>
            </a:solidFill>
            <a:prstDash val="solid"/>
          </a:ln>
        </p:spPr>
      </p:sp>
      <p:sp>
        <p:nvSpPr>
          <p:cNvPr id="56" name="Text 53"/>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plain wāw only</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F1-L06 · Small marks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F1-L06</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shadda do?</a:t>
            </a:r>
            <a:endParaRPr lang="en-US" sz="1250" dirty="0"/>
          </a:p>
        </p:txBody>
      </p:sp>
      <p:sp>
        <p:nvSpPr>
          <p:cNvPr id="19" name="Shape 16"/>
          <p:cNvSpPr/>
          <p:nvPr/>
        </p:nvSpPr>
        <p:spPr>
          <a:xfrm>
            <a:off x="548640" y="2496312"/>
            <a:ext cx="5362956"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Doubles the consonant</a:t>
            </a:r>
            <a:endParaRPr lang="en-US" sz="12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Makes a long vowel</a:t>
            </a:r>
            <a:endParaRPr lang="en-US" sz="1250" dirty="0"/>
          </a:p>
        </p:txBody>
      </p:sp>
      <p:sp>
        <p:nvSpPr>
          <p:cNvPr id="26" name="Text 23"/>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final check 1.</a:t>
            </a:r>
            <a:endParaRPr lang="en-US" sz="1050" dirty="0"/>
          </a:p>
        </p:txBody>
      </p:sp>
      <p:sp>
        <p:nvSpPr>
          <p:cNvPr id="27" name="Shape 24"/>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6313932" y="1947672"/>
            <a:ext cx="310896" cy="310896"/>
          </a:xfrm>
          <a:prstGeom prst="ellipse">
            <a:avLst/>
          </a:prstGeom>
          <a:solidFill>
            <a:srgbClr val="1B3B6F"/>
          </a:solidFill>
          <a:ln w="12700">
            <a:solidFill>
              <a:srgbClr val="1B3B6F"/>
            </a:solidFill>
            <a:prstDash val="solid"/>
          </a:ln>
        </p:spPr>
      </p:sp>
      <p:sp>
        <p:nvSpPr>
          <p:cNvPr id="29" name="Text 2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0" name="Text 27"/>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Read the ending of </a:t>
            </a:r>
            <a:pPr algn="l" indent="0" marL="0">
              <a:buNone/>
            </a:pPr>
            <a:r>
              <a:rPr lang="ar-SA" altLang="en-US" sz="1650" b="1" dirty="0">
                <a:solidFill>
                  <a:srgbClr val="1B3B6F"/>
                </a:solidFill>
                <a:latin typeface="Amiri" pitchFamily="2" charset="-78"/>
                <a:cs typeface="Amiri" pitchFamily="2" charset="-78"/>
              </a:rPr>
              <a:t>كِتَابٌ</a:t>
            </a:r>
            <a:endParaRPr lang="en-US" sz="1250" dirty="0"/>
          </a:p>
        </p:txBody>
      </p:sp>
      <p:sp>
        <p:nvSpPr>
          <p:cNvPr id="31" name="Shape 28"/>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2" name="Shape 29"/>
          <p:cNvSpPr/>
          <p:nvPr/>
        </p:nvSpPr>
        <p:spPr>
          <a:xfrm>
            <a:off x="6368796" y="2490216"/>
            <a:ext cx="256032" cy="256032"/>
          </a:xfrm>
          <a:prstGeom prst="ellipse">
            <a:avLst/>
          </a:prstGeom>
          <a:solidFill>
            <a:srgbClr val="2E8B57"/>
          </a:solidFill>
          <a:ln w="12700">
            <a:solidFill>
              <a:srgbClr val="2E8B57"/>
            </a:solidFill>
            <a:prstDash val="solid"/>
          </a:ln>
        </p:spPr>
      </p:sp>
      <p:sp>
        <p:nvSpPr>
          <p:cNvPr id="33" name="Text 3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/un/</a:t>
            </a:r>
            <a:endParaRPr lang="en-US" sz="1250" dirty="0"/>
          </a:p>
        </p:txBody>
      </p:sp>
      <p:sp>
        <p:nvSpPr>
          <p:cNvPr id="35" name="Shape 32"/>
          <p:cNvSpPr/>
          <p:nvPr/>
        </p:nvSpPr>
        <p:spPr>
          <a:xfrm>
            <a:off x="6368796" y="2862072"/>
            <a:ext cx="256032" cy="256032"/>
          </a:xfrm>
          <a:prstGeom prst="ellipse">
            <a:avLst/>
          </a:prstGeom>
          <a:solidFill>
            <a:srgbClr val="C9CED6"/>
          </a:solidFill>
          <a:ln w="12700">
            <a:solidFill>
              <a:srgbClr val="C9CED6"/>
            </a:solidFill>
            <a:prstDash val="solid"/>
          </a:ln>
        </p:spPr>
      </p:sp>
      <p:sp>
        <p:nvSpPr>
          <p:cNvPr id="36" name="Text 3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a:t>
            </a:r>
            <a:endParaRPr lang="en-US" sz="1250" dirty="0"/>
          </a:p>
        </p:txBody>
      </p:sp>
      <p:sp>
        <p:nvSpPr>
          <p:cNvPr id="38" name="Shape 35"/>
          <p:cNvSpPr/>
          <p:nvPr/>
        </p:nvSpPr>
        <p:spPr>
          <a:xfrm>
            <a:off x="6368796" y="3233928"/>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a:t>
            </a:r>
            <a:endParaRPr lang="en-US" sz="1250" dirty="0"/>
          </a:p>
        </p:txBody>
      </p:sp>
      <p:sp>
        <p:nvSpPr>
          <p:cNvPr id="41" name="Text 38"/>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Two ḍammas (website final check 3).</a:t>
            </a:r>
            <a:endParaRPr lang="en-US" sz="1050" dirty="0"/>
          </a:p>
        </p:txBody>
      </p:sp>
      <p:sp>
        <p:nvSpPr>
          <p:cNvPr id="42" name="Shape 39"/>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85216" y="4288536"/>
            <a:ext cx="310896" cy="310896"/>
          </a:xfrm>
          <a:prstGeom prst="ellipse">
            <a:avLst/>
          </a:prstGeom>
          <a:solidFill>
            <a:srgbClr val="1B3B6F"/>
          </a:solidFill>
          <a:ln w="12700">
            <a:solidFill>
              <a:srgbClr val="1B3B6F"/>
            </a:solidFill>
            <a:prstDash val="solid"/>
          </a:ln>
        </p:spPr>
      </p:sp>
      <p:sp>
        <p:nvSpPr>
          <p:cNvPr id="44" name="Text 4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آ</a:t>
            </a:r>
            <a:pPr algn="l" indent="0" marL="0">
              <a:buNone/>
            </a:pPr>
            <a:r>
              <a:rPr lang="en-US" sz="1250" b="1" dirty="0">
                <a:solidFill>
                  <a:srgbClr val="1B3B6F"/>
                </a:solidFill>
                <a:latin typeface="Calibri" pitchFamily="34" charset="0"/>
                <a:cs typeface="Amiri" pitchFamily="2" charset="-78"/>
              </a:rPr>
              <a:t> represent?</a:t>
            </a:r>
            <a:endParaRPr lang="en-US" sz="1250" dirty="0"/>
          </a:p>
        </p:txBody>
      </p:sp>
      <p:sp>
        <p:nvSpPr>
          <p:cNvPr id="46" name="Shape 43"/>
          <p:cNvSpPr/>
          <p:nvPr/>
        </p:nvSpPr>
        <p:spPr>
          <a:xfrm>
            <a:off x="548640" y="4837176"/>
            <a:ext cx="5362956" cy="347472"/>
          </a:xfrm>
          <a:prstGeom prst="roundRect">
            <a:avLst>
              <a:gd name="adj" fmla="val 15789"/>
            </a:avLst>
          </a:prstGeom>
          <a:solidFill>
            <a:srgbClr val="E6F4EC"/>
          </a:solidFill>
          <a:ln w="9525">
            <a:solidFill>
              <a:srgbClr val="2E8B57"/>
            </a:solidFill>
            <a:prstDash val="solid"/>
          </a:ln>
        </p:spPr>
      </p:sp>
      <p:sp>
        <p:nvSpPr>
          <p:cNvPr id="47" name="Shape 44"/>
          <p:cNvSpPr/>
          <p:nvPr/>
        </p:nvSpPr>
        <p:spPr>
          <a:xfrm>
            <a:off x="640080" y="4873752"/>
            <a:ext cx="256032" cy="256032"/>
          </a:xfrm>
          <a:prstGeom prst="ellipse">
            <a:avLst/>
          </a:prstGeom>
          <a:solidFill>
            <a:srgbClr val="2E8B57"/>
          </a:solidFill>
          <a:ln w="12700">
            <a:solidFill>
              <a:srgbClr val="2E8B57"/>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/ʔ/ + long /ā/</a:t>
            </a:r>
            <a:endParaRPr lang="en-US" sz="1250" dirty="0"/>
          </a:p>
        </p:txBody>
      </p:sp>
      <p:sp>
        <p:nvSpPr>
          <p:cNvPr id="50" name="Shape 47"/>
          <p:cNvSpPr/>
          <p:nvPr/>
        </p:nvSpPr>
        <p:spPr>
          <a:xfrm>
            <a:off x="640080" y="5330952"/>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Every long /ā/</a:t>
            </a:r>
            <a:endParaRPr lang="en-US" sz="1250" dirty="0"/>
          </a:p>
        </p:txBody>
      </p:sp>
      <p:sp>
        <p:nvSpPr>
          <p:cNvPr id="53" name="Text 50"/>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final check 6.</a:t>
            </a:r>
            <a:endParaRPr lang="en-US" sz="1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Identify the hamza form in </a:t>
            </a:r>
            <a:pPr algn="l" indent="0" marL="0">
              <a:buNone/>
            </a:pPr>
            <a:r>
              <a:rPr lang="ar-SA" altLang="en-US" sz="1650" b="1" dirty="0">
                <a:solidFill>
                  <a:srgbClr val="1B3B6F"/>
                </a:solidFill>
                <a:latin typeface="Amiri" pitchFamily="2" charset="-78"/>
                <a:cs typeface="Amiri" pitchFamily="2" charset="-78"/>
              </a:rPr>
              <a:t>سُؤَال</a:t>
            </a:r>
            <a:endParaRPr lang="en-US" sz="1250" dirty="0"/>
          </a:p>
        </p:txBody>
      </p:sp>
      <p:sp>
        <p:nvSpPr>
          <p:cNvPr id="58" name="Shape 55"/>
          <p:cNvSpPr/>
          <p:nvPr/>
        </p:nvSpPr>
        <p:spPr>
          <a:xfrm>
            <a:off x="6277356" y="4837176"/>
            <a:ext cx="5362956" cy="347472"/>
          </a:xfrm>
          <a:prstGeom prst="roundRect">
            <a:avLst>
              <a:gd name="adj" fmla="val 15789"/>
            </a:avLst>
          </a:prstGeom>
          <a:solidFill>
            <a:srgbClr val="E6F4EC"/>
          </a:solidFill>
          <a:ln w="9525">
            <a:solidFill>
              <a:srgbClr val="2E8B57"/>
            </a:solidFill>
            <a:prstDash val="solid"/>
          </a:ln>
        </p:spPr>
      </p:sp>
      <p:sp>
        <p:nvSpPr>
          <p:cNvPr id="59" name="Shape 56"/>
          <p:cNvSpPr/>
          <p:nvPr/>
        </p:nvSpPr>
        <p:spPr>
          <a:xfrm>
            <a:off x="6368796" y="4873752"/>
            <a:ext cx="256032" cy="256032"/>
          </a:xfrm>
          <a:prstGeom prst="ellipse">
            <a:avLst/>
          </a:prstGeom>
          <a:solidFill>
            <a:srgbClr val="2E8B57"/>
          </a:solidFill>
          <a:ln w="12700">
            <a:solidFill>
              <a:srgbClr val="2E8B57"/>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hamza on wāw</a:t>
            </a:r>
            <a:endParaRPr lang="en-US" sz="1250" dirty="0"/>
          </a:p>
        </p:txBody>
      </p:sp>
      <p:sp>
        <p:nvSpPr>
          <p:cNvPr id="62" name="Shape 59"/>
          <p:cNvSpPr/>
          <p:nvPr/>
        </p:nvSpPr>
        <p:spPr>
          <a:xfrm>
            <a:off x="6368796" y="5330952"/>
            <a:ext cx="256032" cy="256032"/>
          </a:xfrm>
          <a:prstGeom prst="ellipse">
            <a:avLst/>
          </a:prstGeom>
          <a:solidFill>
            <a:srgbClr val="C9CED6"/>
          </a:solidFill>
          <a:ln w="12700">
            <a:solidFill>
              <a:srgbClr val="C9CED6"/>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plain wāw only</a:t>
            </a:r>
            <a:endParaRPr lang="en-US" sz="1250" dirty="0"/>
          </a:p>
        </p:txBody>
      </p:sp>
      <p:sp>
        <p:nvSpPr>
          <p:cNvPr id="65" name="Text 6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final check 9.</a:t>
            </a:r>
            <a:endParaRPr lang="en-US" sz="105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F1-L06 · Small marks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READING LAB: INSPECT → DECODE → BLEND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read six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مَعْمَلُ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F1-L06</a:t>
            </a:r>
            <a:endParaRPr lang="en-US" sz="850" dirty="0"/>
          </a:p>
        </p:txBody>
      </p:sp>
      <p:sp>
        <p:nvSpPr>
          <p:cNvPr id="15" name="Shape 12"/>
          <p:cNvSpPr/>
          <p:nvPr/>
        </p:nvSpPr>
        <p:spPr>
          <a:xfrm>
            <a:off x="457200" y="1810512"/>
            <a:ext cx="11274552" cy="688848"/>
          </a:xfrm>
          <a:prstGeom prst="roundRect">
            <a:avLst>
              <a:gd name="adj" fmla="val 6637"/>
            </a:avLst>
          </a:prstGeom>
          <a:solidFill>
            <a:srgbClr val="FFFFFF"/>
          </a:solidFill>
          <a:ln w="9525">
            <a:solidFill>
              <a:srgbClr val="D8D0BF"/>
            </a:solidFill>
            <a:prstDash val="solid"/>
          </a:ln>
        </p:spPr>
      </p:sp>
      <p:sp>
        <p:nvSpPr>
          <p:cNvPr id="16" name="Text 13"/>
          <p:cNvSpPr txBox="1"/>
          <p:nvPr/>
        </p:nvSpPr>
        <p:spPr>
          <a:xfrm>
            <a:off x="4937760" y="1828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مُحَمَّدٌ</a:t>
            </a:r>
            <a:endParaRPr lang="ar-SA" sz="2000" dirty="0"/>
          </a:p>
        </p:txBody>
      </p:sp>
      <p:sp>
        <p:nvSpPr>
          <p:cNvPr id="17" name="Text 14"/>
          <p:cNvSpPr txBox="1"/>
          <p:nvPr/>
        </p:nvSpPr>
        <p:spPr>
          <a:xfrm>
            <a:off x="640080" y="1828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mu-ḥam-mad-un — shadda: /mm/</a:t>
            </a:r>
            <a:endParaRPr lang="en-US" sz="1250" dirty="0"/>
          </a:p>
        </p:txBody>
      </p:sp>
      <p:sp>
        <p:nvSpPr>
          <p:cNvPr id="18" name="Shape 15"/>
          <p:cNvSpPr/>
          <p:nvPr/>
        </p:nvSpPr>
        <p:spPr>
          <a:xfrm>
            <a:off x="457200" y="2572512"/>
            <a:ext cx="11274552" cy="688848"/>
          </a:xfrm>
          <a:prstGeom prst="roundRect">
            <a:avLst>
              <a:gd name="adj" fmla="val 6637"/>
            </a:avLst>
          </a:prstGeom>
          <a:solidFill>
            <a:srgbClr val="F4F1EA"/>
          </a:solidFill>
          <a:ln w="9525">
            <a:solidFill>
              <a:srgbClr val="D8D0BF"/>
            </a:solidFill>
            <a:prstDash val="solid"/>
          </a:ln>
        </p:spPr>
      </p:sp>
      <p:sp>
        <p:nvSpPr>
          <p:cNvPr id="19" name="Text 16"/>
          <p:cNvSpPr txBox="1"/>
          <p:nvPr/>
        </p:nvSpPr>
        <p:spPr>
          <a:xfrm>
            <a:off x="4937760" y="2590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بَيْتٌ</a:t>
            </a:r>
            <a:endParaRPr lang="ar-SA" sz="2000" dirty="0"/>
          </a:p>
        </p:txBody>
      </p:sp>
      <p:sp>
        <p:nvSpPr>
          <p:cNvPr id="20" name="Text 17"/>
          <p:cNvSpPr txBox="1"/>
          <p:nvPr/>
        </p:nvSpPr>
        <p:spPr>
          <a:xfrm>
            <a:off x="640080" y="2590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bay-tun — tanwīn: /un/ (a house)</a:t>
            </a:r>
            <a:endParaRPr lang="en-US" sz="1250" dirty="0"/>
          </a:p>
        </p:txBody>
      </p:sp>
      <p:sp>
        <p:nvSpPr>
          <p:cNvPr id="21" name="Shape 18"/>
          <p:cNvSpPr/>
          <p:nvPr/>
        </p:nvSpPr>
        <p:spPr>
          <a:xfrm>
            <a:off x="457200" y="3334512"/>
            <a:ext cx="11274552" cy="688848"/>
          </a:xfrm>
          <a:prstGeom prst="roundRect">
            <a:avLst>
              <a:gd name="adj" fmla="val 6637"/>
            </a:avLst>
          </a:prstGeom>
          <a:solidFill>
            <a:srgbClr val="FFFFFF"/>
          </a:solidFill>
          <a:ln w="9525">
            <a:solidFill>
              <a:srgbClr val="D8D0BF"/>
            </a:solidFill>
            <a:prstDash val="solid"/>
          </a:ln>
        </p:spPr>
      </p:sp>
      <p:sp>
        <p:nvSpPr>
          <p:cNvPr id="22" name="Text 19"/>
          <p:cNvSpPr txBox="1"/>
          <p:nvPr/>
        </p:nvSpPr>
        <p:spPr>
          <a:xfrm>
            <a:off x="4937760" y="3352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قَلَمًا</a:t>
            </a:r>
            <a:endParaRPr lang="ar-SA" sz="2000" dirty="0"/>
          </a:p>
        </p:txBody>
      </p:sp>
      <p:sp>
        <p:nvSpPr>
          <p:cNvPr id="23" name="Text 20"/>
          <p:cNvSpPr txBox="1"/>
          <p:nvPr/>
        </p:nvSpPr>
        <p:spPr>
          <a:xfrm>
            <a:off x="640080" y="3352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qa-la-man — tanwīn: /an/ (a pen)</a:t>
            </a:r>
            <a:endParaRPr lang="en-US" sz="1250" dirty="0"/>
          </a:p>
        </p:txBody>
      </p:sp>
      <p:sp>
        <p:nvSpPr>
          <p:cNvPr id="24" name="Shape 21"/>
          <p:cNvSpPr/>
          <p:nvPr/>
        </p:nvSpPr>
        <p:spPr>
          <a:xfrm>
            <a:off x="457200" y="4096512"/>
            <a:ext cx="11274552" cy="688848"/>
          </a:xfrm>
          <a:prstGeom prst="roundRect">
            <a:avLst>
              <a:gd name="adj" fmla="val 6637"/>
            </a:avLst>
          </a:prstGeom>
          <a:solidFill>
            <a:srgbClr val="F4F1EA"/>
          </a:solidFill>
          <a:ln w="9525">
            <a:solidFill>
              <a:srgbClr val="D8D0BF"/>
            </a:solidFill>
            <a:prstDash val="solid"/>
          </a:ln>
        </p:spPr>
      </p:sp>
      <p:sp>
        <p:nvSpPr>
          <p:cNvPr id="25" name="Text 22"/>
          <p:cNvSpPr txBox="1"/>
          <p:nvPr/>
        </p:nvSpPr>
        <p:spPr>
          <a:xfrm>
            <a:off x="4937760" y="4114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آدَمُ</a:t>
            </a:r>
            <a:endParaRPr lang="ar-SA" sz="2000" dirty="0"/>
          </a:p>
        </p:txBody>
      </p:sp>
      <p:sp>
        <p:nvSpPr>
          <p:cNvPr id="26" name="Text 23"/>
          <p:cNvSpPr txBox="1"/>
          <p:nvPr/>
        </p:nvSpPr>
        <p:spPr>
          <a:xfrm>
            <a:off x="640080" y="4114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ʾā-dam — alif madda: /ʔā/</a:t>
            </a:r>
            <a:endParaRPr lang="en-US" sz="1250" dirty="0"/>
          </a:p>
        </p:txBody>
      </p:sp>
      <p:sp>
        <p:nvSpPr>
          <p:cNvPr id="27" name="Shape 24"/>
          <p:cNvSpPr/>
          <p:nvPr/>
        </p:nvSpPr>
        <p:spPr>
          <a:xfrm>
            <a:off x="457200" y="4858512"/>
            <a:ext cx="11274552" cy="688848"/>
          </a:xfrm>
          <a:prstGeom prst="roundRect">
            <a:avLst>
              <a:gd name="adj" fmla="val 6637"/>
            </a:avLst>
          </a:prstGeom>
          <a:solidFill>
            <a:srgbClr val="FFFFFF"/>
          </a:solidFill>
          <a:ln w="9525">
            <a:solidFill>
              <a:srgbClr val="D8D0BF"/>
            </a:solidFill>
            <a:prstDash val="solid"/>
          </a:ln>
        </p:spPr>
      </p:sp>
      <p:sp>
        <p:nvSpPr>
          <p:cNvPr id="28" name="Text 25"/>
          <p:cNvSpPr txBox="1"/>
          <p:nvPr/>
        </p:nvSpPr>
        <p:spPr>
          <a:xfrm>
            <a:off x="4937760" y="4876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سُؤَالٌ</a:t>
            </a:r>
            <a:endParaRPr lang="ar-SA" sz="2000" dirty="0"/>
          </a:p>
        </p:txBody>
      </p:sp>
      <p:sp>
        <p:nvSpPr>
          <p:cNvPr id="29" name="Text 26"/>
          <p:cNvSpPr txBox="1"/>
          <p:nvPr/>
        </p:nvSpPr>
        <p:spPr>
          <a:xfrm>
            <a:off x="640080" y="4876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su-ʾā-lun — hamza on wāw: /ʔ/ (a question)</a:t>
            </a:r>
            <a:endParaRPr lang="en-US" sz="1250" dirty="0"/>
          </a:p>
        </p:txBody>
      </p:sp>
      <p:sp>
        <p:nvSpPr>
          <p:cNvPr id="30" name="Shape 27"/>
          <p:cNvSpPr/>
          <p:nvPr/>
        </p:nvSpPr>
        <p:spPr>
          <a:xfrm>
            <a:off x="457200" y="5620512"/>
            <a:ext cx="11274552" cy="688848"/>
          </a:xfrm>
          <a:prstGeom prst="roundRect">
            <a:avLst>
              <a:gd name="adj" fmla="val 6637"/>
            </a:avLst>
          </a:prstGeom>
          <a:solidFill>
            <a:srgbClr val="F4F1EA"/>
          </a:solidFill>
          <a:ln w="9525">
            <a:solidFill>
              <a:srgbClr val="D8D0BF"/>
            </a:solidFill>
            <a:prstDash val="solid"/>
          </a:ln>
        </p:spPr>
      </p:sp>
      <p:sp>
        <p:nvSpPr>
          <p:cNvPr id="31" name="Text 28"/>
          <p:cNvSpPr txBox="1"/>
          <p:nvPr/>
        </p:nvSpPr>
        <p:spPr>
          <a:xfrm>
            <a:off x="4937760" y="5638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دَرَّسَ</a:t>
            </a:r>
            <a:endParaRPr lang="ar-SA" sz="2000" dirty="0"/>
          </a:p>
        </p:txBody>
      </p:sp>
      <p:sp>
        <p:nvSpPr>
          <p:cNvPr id="32" name="Text 29"/>
          <p:cNvSpPr txBox="1"/>
          <p:nvPr/>
        </p:nvSpPr>
        <p:spPr>
          <a:xfrm>
            <a:off x="640080" y="5638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dar-ra-sa — shadda: /rr/ (he taught)</a:t>
            </a:r>
            <a:endParaRPr lang="en-US" sz="12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F1-L06 · Small marks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GAMES “SHADDA SIGNAL” AND “ENDING EAR”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Shadda signal and ending ear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اِسْتَمِعْ وَاقْرَأْ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has a doubled /r/?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دَرَسَ</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دَرَّسَ</a:t>
            </a:r>
            <a:endParaRPr lang="ar-SA" sz="2050" dirty="0"/>
          </a:p>
        </p:txBody>
      </p:sp>
      <p:sp>
        <p:nvSpPr>
          <p:cNvPr id="25" name="Shape 22"/>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404360" y="1947672"/>
            <a:ext cx="310896" cy="310896"/>
          </a:xfrm>
          <a:prstGeom prst="ellipse">
            <a:avLst/>
          </a:prstGeom>
          <a:solidFill>
            <a:srgbClr val="1B3B6F"/>
          </a:solidFill>
          <a:ln w="12700">
            <a:solidFill>
              <a:srgbClr val="1B3B6F"/>
            </a:solidFill>
            <a:prstDash val="solid"/>
          </a:ln>
        </p:spPr>
      </p:sp>
      <p:sp>
        <p:nvSpPr>
          <p:cNvPr id="27" name="Text 24"/>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28" name="Text 25"/>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has a doubled /m/?</a:t>
            </a:r>
            <a:endParaRPr lang="en-US" sz="1250" dirty="0"/>
          </a:p>
        </p:txBody>
      </p:sp>
      <p:sp>
        <p:nvSpPr>
          <p:cNvPr id="29" name="Shape 26"/>
          <p:cNvSpPr/>
          <p:nvPr/>
        </p:nvSpPr>
        <p:spPr>
          <a:xfrm>
            <a:off x="4459224" y="2532888"/>
            <a:ext cx="256032" cy="256032"/>
          </a:xfrm>
          <a:prstGeom prst="ellipse">
            <a:avLst/>
          </a:prstGeom>
          <a:solidFill>
            <a:srgbClr val="F4F1EA"/>
          </a:solidFill>
          <a:ln w="12700">
            <a:solidFill>
              <a:srgbClr val="F4F1EA"/>
            </a:solidFill>
            <a:prstDash val="solid"/>
          </a:ln>
        </p:spPr>
      </p:sp>
      <p:sp>
        <p:nvSpPr>
          <p:cNvPr id="30" name="Text 27"/>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1" name="Text 28"/>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مُحَمَدٌ</a:t>
            </a:r>
            <a:endParaRPr lang="ar-SA" sz="2050" dirty="0"/>
          </a:p>
        </p:txBody>
      </p:sp>
      <p:sp>
        <p:nvSpPr>
          <p:cNvPr id="32" name="Shape 29"/>
          <p:cNvSpPr/>
          <p:nvPr/>
        </p:nvSpPr>
        <p:spPr>
          <a:xfrm>
            <a:off x="4459224" y="29900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4" name="Text 31"/>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مُحَمَّدٌ</a:t>
            </a:r>
            <a:endParaRPr lang="ar-SA" sz="2050" dirty="0"/>
          </a:p>
        </p:txBody>
      </p:sp>
      <p:sp>
        <p:nvSpPr>
          <p:cNvPr id="35" name="Shape 3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8223504" y="1947672"/>
            <a:ext cx="310896" cy="310896"/>
          </a:xfrm>
          <a:prstGeom prst="ellipse">
            <a:avLst/>
          </a:prstGeom>
          <a:solidFill>
            <a:srgbClr val="1B3B6F"/>
          </a:solidFill>
          <a:ln w="12700">
            <a:solidFill>
              <a:srgbClr val="1B3B6F"/>
            </a:solidFill>
            <a:prstDash val="solid"/>
          </a:ln>
        </p:spPr>
      </p:sp>
      <p:sp>
        <p:nvSpPr>
          <p:cNvPr id="37" name="Text 3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38" name="Text 3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Read the ending of </a:t>
            </a:r>
            <a:pPr algn="l" indent="0" marL="0">
              <a:buNone/>
            </a:pPr>
            <a:r>
              <a:rPr lang="ar-SA" altLang="en-US" sz="1650" b="1" dirty="0">
                <a:solidFill>
                  <a:srgbClr val="1B3B6F"/>
                </a:solidFill>
                <a:latin typeface="Amiri" pitchFamily="2" charset="-78"/>
                <a:cs typeface="Amiri" pitchFamily="2" charset="-78"/>
              </a:rPr>
              <a:t>قَلَمٍ</a:t>
            </a:r>
            <a:endParaRPr lang="en-US" sz="1250" dirty="0"/>
          </a:p>
        </p:txBody>
      </p:sp>
      <p:sp>
        <p:nvSpPr>
          <p:cNvPr id="39" name="Shape 36"/>
          <p:cNvSpPr/>
          <p:nvPr/>
        </p:nvSpPr>
        <p:spPr>
          <a:xfrm>
            <a:off x="8278368" y="25328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1" name="Text 38"/>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/un/</a:t>
            </a:r>
            <a:endParaRPr lang="en-US" sz="1250" dirty="0"/>
          </a:p>
        </p:txBody>
      </p:sp>
      <p:sp>
        <p:nvSpPr>
          <p:cNvPr id="42" name="Shape 39"/>
          <p:cNvSpPr/>
          <p:nvPr/>
        </p:nvSpPr>
        <p:spPr>
          <a:xfrm>
            <a:off x="8278368" y="2990088"/>
            <a:ext cx="256032" cy="256032"/>
          </a:xfrm>
          <a:prstGeom prst="ellipse">
            <a:avLst/>
          </a:prstGeom>
          <a:solidFill>
            <a:srgbClr val="F4F1EA"/>
          </a:solidFill>
          <a:ln w="12700">
            <a:solidFill>
              <a:srgbClr val="F4F1EA"/>
            </a:solidFill>
            <a:prstDash val="solid"/>
          </a:ln>
        </p:spPr>
      </p:sp>
      <p:sp>
        <p:nvSpPr>
          <p:cNvPr id="43" name="Text 40"/>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4" name="Text 41"/>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a:t>
            </a:r>
            <a:endParaRPr lang="en-US" sz="1250" dirty="0"/>
          </a:p>
        </p:txBody>
      </p:sp>
      <p:sp>
        <p:nvSpPr>
          <p:cNvPr id="45" name="Shape 42"/>
          <p:cNvSpPr/>
          <p:nvPr/>
        </p:nvSpPr>
        <p:spPr>
          <a:xfrm>
            <a:off x="8278368" y="34472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7" name="Text 44"/>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a:t>
            </a:r>
            <a:endParaRPr lang="en-US" sz="1250" dirty="0"/>
          </a:p>
        </p:txBody>
      </p:sp>
      <p:sp>
        <p:nvSpPr>
          <p:cNvPr id="48" name="Shape 45"/>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1" name="Text 48"/>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Read the ending of </a:t>
            </a:r>
            <a:pPr algn="l" indent="0" marL="0">
              <a:buNone/>
            </a:pPr>
            <a:r>
              <a:rPr lang="ar-SA" altLang="en-US" sz="1650" b="1" dirty="0">
                <a:solidFill>
                  <a:srgbClr val="1B3B6F"/>
                </a:solidFill>
                <a:latin typeface="Amiri" pitchFamily="2" charset="-78"/>
                <a:cs typeface="Amiri" pitchFamily="2" charset="-78"/>
              </a:rPr>
              <a:t>بَيْتًا</a:t>
            </a:r>
            <a:endParaRPr lang="en-US" sz="1250" dirty="0"/>
          </a:p>
        </p:txBody>
      </p:sp>
      <p:sp>
        <p:nvSpPr>
          <p:cNvPr id="52" name="Shape 49"/>
          <p:cNvSpPr/>
          <p:nvPr/>
        </p:nvSpPr>
        <p:spPr>
          <a:xfrm>
            <a:off x="640080" y="48737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/un/</a:t>
            </a:r>
            <a:endParaRPr lang="en-US" sz="1250" dirty="0"/>
          </a:p>
        </p:txBody>
      </p:sp>
      <p:sp>
        <p:nvSpPr>
          <p:cNvPr id="55" name="Shape 52"/>
          <p:cNvSpPr/>
          <p:nvPr/>
        </p:nvSpPr>
        <p:spPr>
          <a:xfrm>
            <a:off x="640080" y="5330952"/>
            <a:ext cx="256032" cy="256032"/>
          </a:xfrm>
          <a:prstGeom prst="ellipse">
            <a:avLst/>
          </a:prstGeom>
          <a:solidFill>
            <a:srgbClr val="F4F1EA"/>
          </a:solidFill>
          <a:ln w="12700">
            <a:solidFill>
              <a:srgbClr val="F4F1EA"/>
            </a:solidFill>
            <a:prstDash val="solid"/>
          </a:ln>
        </p:spPr>
      </p:sp>
      <p:sp>
        <p:nvSpPr>
          <p:cNvPr id="56" name="Text 53"/>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a:t>
            </a:r>
            <a:endParaRPr lang="en-US" sz="1250" dirty="0"/>
          </a:p>
        </p:txBody>
      </p:sp>
      <p:sp>
        <p:nvSpPr>
          <p:cNvPr id="58" name="Shape 55"/>
          <p:cNvSpPr/>
          <p:nvPr/>
        </p:nvSpPr>
        <p:spPr>
          <a:xfrm>
            <a:off x="640080" y="57881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a:t>
            </a:r>
            <a:endParaRPr lang="en-US" sz="1250" dirty="0"/>
          </a:p>
        </p:txBody>
      </p:sp>
      <p:sp>
        <p:nvSpPr>
          <p:cNvPr id="61" name="Shape 58"/>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4404360"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64" name="Text 61"/>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sound is marked in </a:t>
            </a:r>
            <a:pPr algn="l" indent="0" marL="0">
              <a:buNone/>
            </a:pPr>
            <a:r>
              <a:rPr lang="ar-SA" altLang="en-US" sz="1650" b="1" dirty="0">
                <a:solidFill>
                  <a:srgbClr val="1B3B6F"/>
                </a:solidFill>
                <a:latin typeface="Amiri" pitchFamily="2" charset="-78"/>
                <a:cs typeface="Amiri" pitchFamily="2" charset="-78"/>
              </a:rPr>
              <a:t>دَرَّسَ</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5" name="Shape 62"/>
          <p:cNvSpPr/>
          <p:nvPr/>
        </p:nvSpPr>
        <p:spPr>
          <a:xfrm>
            <a:off x="4459224" y="48737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4"/>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doubled /rr/</a:t>
            </a:r>
            <a:endParaRPr lang="en-US" sz="1250" dirty="0"/>
          </a:p>
        </p:txBody>
      </p:sp>
      <p:sp>
        <p:nvSpPr>
          <p:cNvPr id="68" name="Shape 65"/>
          <p:cNvSpPr/>
          <p:nvPr/>
        </p:nvSpPr>
        <p:spPr>
          <a:xfrm>
            <a:off x="4459224" y="53309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single /r/</a:t>
            </a:r>
            <a:endParaRPr lang="en-US" sz="1250" dirty="0"/>
          </a:p>
        </p:txBody>
      </p:sp>
      <p:sp>
        <p:nvSpPr>
          <p:cNvPr id="71" name="Shape 68"/>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Shape 69"/>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73" name="Text 70"/>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74" name="Text 71"/>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Shadda → say the letter twice.</a:t>
            </a:r>
            <a:endParaRPr lang="en-US" sz="1250" dirty="0"/>
          </a:p>
          <a:p>
            <a:pPr algn="l" indent="0" marL="0">
              <a:buNone/>
            </a:pPr>
            <a:r>
              <a:rPr lang="en-US" sz="1250" dirty="0">
                <a:solidFill>
                  <a:srgbClr val="1E6B52"/>
                </a:solidFill>
                <a:latin typeface="Calibri" pitchFamily="34" charset="0"/>
                <a:cs typeface="Amiri" pitchFamily="2" charset="-78"/>
              </a:rPr>
              <a:t>Two ḍammas → un</a:t>
            </a:r>
            <a:endParaRPr lang="en-US" sz="1250" dirty="0"/>
          </a:p>
          <a:p>
            <a:pPr algn="l" indent="0" marL="0">
              <a:buNone/>
            </a:pPr>
            <a:r>
              <a:rPr lang="en-US" sz="1250" dirty="0">
                <a:solidFill>
                  <a:srgbClr val="1E6B52"/>
                </a:solidFill>
                <a:latin typeface="Calibri" pitchFamily="34" charset="0"/>
                <a:cs typeface="Amiri" pitchFamily="2" charset="-78"/>
              </a:rPr>
              <a:t>Two kasras → in</a:t>
            </a:r>
            <a:endParaRPr lang="en-US" sz="1250" dirty="0"/>
          </a:p>
          <a:p>
            <a:pPr algn="l" indent="0" marL="0">
              <a:buNone/>
            </a:pPr>
            <a:r>
              <a:rPr lang="en-US" sz="1250" dirty="0">
                <a:solidFill>
                  <a:srgbClr val="1E6B52"/>
                </a:solidFill>
                <a:latin typeface="Calibri" pitchFamily="34" charset="0"/>
                <a:cs typeface="Amiri" pitchFamily="2" charset="-78"/>
              </a:rPr>
              <a:t>Two fatḥas → an</a:t>
            </a:r>
            <a:endParaRPr lang="en-US" sz="12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F1-L06 · Small marks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has a doubled /r/?</a:t>
            </a:r>
            <a:endParaRPr lang="en-US" sz="1250" dirty="0"/>
          </a:p>
        </p:txBody>
      </p:sp>
      <p:sp>
        <p:nvSpPr>
          <p:cNvPr id="19" name="Shape 16"/>
          <p:cNvSpPr/>
          <p:nvPr/>
        </p:nvSpPr>
        <p:spPr>
          <a:xfrm>
            <a:off x="640080" y="2532888"/>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دَرَسَ</a:t>
            </a:r>
            <a:endParaRPr lang="ar-SA" sz="2050" dirty="0"/>
          </a:p>
        </p:txBody>
      </p:sp>
      <p:sp>
        <p:nvSpPr>
          <p:cNvPr id="22" name="Shape 19"/>
          <p:cNvSpPr/>
          <p:nvPr/>
        </p:nvSpPr>
        <p:spPr>
          <a:xfrm>
            <a:off x="548640" y="2953512"/>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990088"/>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دَرَّسَ</a:t>
            </a:r>
            <a:endParaRPr lang="ar-SA" sz="2050" dirty="0"/>
          </a:p>
        </p:txBody>
      </p:sp>
      <p:sp>
        <p:nvSpPr>
          <p:cNvPr id="26" name="Text 23"/>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shadda on </a:t>
            </a:r>
            <a:pPr algn="l" indent="0" marL="0">
              <a:buNone/>
            </a:pPr>
            <a:r>
              <a:rPr lang="ar-SA" altLang="en-US" sz="1350" dirty="0">
                <a:solidFill>
                  <a:srgbClr val="8A6D1E"/>
                </a:solidFill>
                <a:latin typeface="Amiri" pitchFamily="2" charset="-78"/>
                <a:cs typeface="Amiri" pitchFamily="2" charset="-78"/>
              </a:rPr>
              <a:t>رّ</a:t>
            </a:r>
            <a:pPr algn="l" indent="0" marL="0">
              <a:buNone/>
            </a:pPr>
            <a:r>
              <a:rPr lang="en-US" sz="1050" i="1" dirty="0">
                <a:solidFill>
                  <a:srgbClr val="8A6D1E"/>
                </a:solidFill>
                <a:latin typeface="Calibri" pitchFamily="34" charset="0"/>
                <a:cs typeface="Amiri" pitchFamily="2" charset="-78"/>
              </a:rPr>
              <a:t> = two timings.</a:t>
            </a:r>
            <a:endParaRPr lang="en-US" sz="1050" dirty="0"/>
          </a:p>
        </p:txBody>
      </p:sp>
      <p:sp>
        <p:nvSpPr>
          <p:cNvPr id="27" name="Shape 24"/>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404360" y="1947672"/>
            <a:ext cx="310896" cy="310896"/>
          </a:xfrm>
          <a:prstGeom prst="ellipse">
            <a:avLst/>
          </a:prstGeom>
          <a:solidFill>
            <a:srgbClr val="1B3B6F"/>
          </a:solidFill>
          <a:ln w="12700">
            <a:solidFill>
              <a:srgbClr val="1B3B6F"/>
            </a:solidFill>
            <a:prstDash val="solid"/>
          </a:ln>
        </p:spPr>
      </p:sp>
      <p:sp>
        <p:nvSpPr>
          <p:cNvPr id="29" name="Text 26"/>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0" name="Text 27"/>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has a doubled /m/?</a:t>
            </a:r>
            <a:endParaRPr lang="en-US" sz="1250" dirty="0"/>
          </a:p>
        </p:txBody>
      </p:sp>
      <p:sp>
        <p:nvSpPr>
          <p:cNvPr id="31" name="Shape 28"/>
          <p:cNvSpPr/>
          <p:nvPr/>
        </p:nvSpPr>
        <p:spPr>
          <a:xfrm>
            <a:off x="4459224" y="2532888"/>
            <a:ext cx="256032" cy="256032"/>
          </a:xfrm>
          <a:prstGeom prst="ellipse">
            <a:avLst/>
          </a:prstGeom>
          <a:solidFill>
            <a:srgbClr val="C9CED6"/>
          </a:solidFill>
          <a:ln w="12700">
            <a:solidFill>
              <a:srgbClr val="C9CED6"/>
            </a:solidFill>
            <a:prstDash val="solid"/>
          </a:ln>
        </p:spPr>
      </p:sp>
      <p:sp>
        <p:nvSpPr>
          <p:cNvPr id="32" name="Text 29"/>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3" name="Text 30"/>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مُحَمَدٌ</a:t>
            </a:r>
            <a:endParaRPr lang="ar-SA" sz="2050" dirty="0"/>
          </a:p>
        </p:txBody>
      </p:sp>
      <p:sp>
        <p:nvSpPr>
          <p:cNvPr id="34" name="Shape 31"/>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990088"/>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مُحَمَّدٌ</a:t>
            </a:r>
            <a:endParaRPr lang="ar-SA" sz="2050" dirty="0"/>
          </a:p>
        </p:txBody>
      </p:sp>
      <p:sp>
        <p:nvSpPr>
          <p:cNvPr id="38" name="Text 35"/>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mu-ḥam-mad.</a:t>
            </a:r>
            <a:endParaRPr lang="en-US" sz="1050" dirty="0"/>
          </a:p>
        </p:txBody>
      </p:sp>
      <p:sp>
        <p:nvSpPr>
          <p:cNvPr id="39" name="Shape 36"/>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23504" y="1947672"/>
            <a:ext cx="310896" cy="310896"/>
          </a:xfrm>
          <a:prstGeom prst="ellipse">
            <a:avLst/>
          </a:prstGeom>
          <a:solidFill>
            <a:srgbClr val="1B3B6F"/>
          </a:solidFill>
          <a:ln w="12700">
            <a:solidFill>
              <a:srgbClr val="1B3B6F"/>
            </a:solidFill>
            <a:prstDash val="solid"/>
          </a:ln>
        </p:spPr>
      </p:sp>
      <p:sp>
        <p:nvSpPr>
          <p:cNvPr id="41" name="Text 38"/>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2" name="Text 39"/>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Read the ending of </a:t>
            </a:r>
            <a:pPr algn="l" indent="0" marL="0">
              <a:buNone/>
            </a:pPr>
            <a:r>
              <a:rPr lang="ar-SA" altLang="en-US" sz="1650" b="1" dirty="0">
                <a:solidFill>
                  <a:srgbClr val="1B3B6F"/>
                </a:solidFill>
                <a:latin typeface="Amiri" pitchFamily="2" charset="-78"/>
                <a:cs typeface="Amiri" pitchFamily="2" charset="-78"/>
              </a:rPr>
              <a:t>قَلَمٍ</a:t>
            </a:r>
            <a:endParaRPr lang="en-US" sz="1250" dirty="0"/>
          </a:p>
        </p:txBody>
      </p:sp>
      <p:sp>
        <p:nvSpPr>
          <p:cNvPr id="43" name="Shape 40"/>
          <p:cNvSpPr/>
          <p:nvPr/>
        </p:nvSpPr>
        <p:spPr>
          <a:xfrm>
            <a:off x="8278368" y="2490216"/>
            <a:ext cx="256032" cy="256032"/>
          </a:xfrm>
          <a:prstGeom prst="ellipse">
            <a:avLst/>
          </a:prstGeom>
          <a:solidFill>
            <a:srgbClr val="C9CED6"/>
          </a:solidFill>
          <a:ln w="12700">
            <a:solidFill>
              <a:srgbClr val="C9CED6"/>
            </a:solidFill>
            <a:prstDash val="solid"/>
          </a:ln>
        </p:spPr>
      </p:sp>
      <p:sp>
        <p:nvSpPr>
          <p:cNvPr id="44" name="Text 41"/>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5" name="Text 42"/>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/un/</a:t>
            </a:r>
            <a:endParaRPr lang="en-US" sz="1250" dirty="0"/>
          </a:p>
        </p:txBody>
      </p:sp>
      <p:sp>
        <p:nvSpPr>
          <p:cNvPr id="46" name="Shape 43"/>
          <p:cNvSpPr/>
          <p:nvPr/>
        </p:nvSpPr>
        <p:spPr>
          <a:xfrm>
            <a:off x="8278368" y="2862072"/>
            <a:ext cx="256032" cy="256032"/>
          </a:xfrm>
          <a:prstGeom prst="ellipse">
            <a:avLst/>
          </a:prstGeom>
          <a:solidFill>
            <a:srgbClr val="C9CED6"/>
          </a:solidFill>
          <a:ln w="12700">
            <a:solidFill>
              <a:srgbClr val="C9CED6"/>
            </a:solidFill>
            <a:prstDash val="solid"/>
          </a:ln>
        </p:spPr>
      </p:sp>
      <p:sp>
        <p:nvSpPr>
          <p:cNvPr id="47" name="Text 44"/>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8" name="Text 45"/>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a:t>
            </a:r>
            <a:endParaRPr lang="en-US" sz="1250" dirty="0"/>
          </a:p>
        </p:txBody>
      </p:sp>
      <p:sp>
        <p:nvSpPr>
          <p:cNvPr id="49" name="Shape 46"/>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323392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2" name="Text 49"/>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a:t>
            </a:r>
            <a:endParaRPr lang="en-US" sz="1250" dirty="0"/>
          </a:p>
        </p:txBody>
      </p:sp>
      <p:sp>
        <p:nvSpPr>
          <p:cNvPr id="53" name="Text 50"/>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Two kasras (website final check 4).</a:t>
            </a:r>
            <a:endParaRPr lang="en-US" sz="1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Read the ending of </a:t>
            </a:r>
            <a:pPr algn="l" indent="0" marL="0">
              <a:buNone/>
            </a:pPr>
            <a:r>
              <a:rPr lang="ar-SA" altLang="en-US" sz="1650" b="1" dirty="0">
                <a:solidFill>
                  <a:srgbClr val="1B3B6F"/>
                </a:solidFill>
                <a:latin typeface="Amiri" pitchFamily="2" charset="-78"/>
                <a:cs typeface="Amiri" pitchFamily="2" charset="-78"/>
              </a:rPr>
              <a:t>بَيْتًا</a:t>
            </a:r>
            <a:endParaRPr lang="en-US" sz="1250" dirty="0"/>
          </a:p>
        </p:txBody>
      </p:sp>
      <p:sp>
        <p:nvSpPr>
          <p:cNvPr id="58" name="Shape 55"/>
          <p:cNvSpPr/>
          <p:nvPr/>
        </p:nvSpPr>
        <p:spPr>
          <a:xfrm>
            <a:off x="640080" y="4831080"/>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/un/</a:t>
            </a:r>
            <a:endParaRPr lang="en-US" sz="1250" dirty="0"/>
          </a:p>
        </p:txBody>
      </p:sp>
      <p:sp>
        <p:nvSpPr>
          <p:cNvPr id="61" name="Shape 58"/>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2" name="Shape 59"/>
          <p:cNvSpPr/>
          <p:nvPr/>
        </p:nvSpPr>
        <p:spPr>
          <a:xfrm>
            <a:off x="640080" y="5202936"/>
            <a:ext cx="256032" cy="256032"/>
          </a:xfrm>
          <a:prstGeom prst="ellipse">
            <a:avLst/>
          </a:prstGeom>
          <a:solidFill>
            <a:srgbClr val="2E8B57"/>
          </a:solidFill>
          <a:ln w="12700">
            <a:solidFill>
              <a:srgbClr val="2E8B57"/>
            </a:solidFill>
            <a:prstDash val="solid"/>
          </a:ln>
        </p:spPr>
      </p:sp>
      <p:sp>
        <p:nvSpPr>
          <p:cNvPr id="63" name="Text 60"/>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64" name="Text 61"/>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/an/</a:t>
            </a:r>
            <a:endParaRPr lang="en-US" sz="1250" dirty="0"/>
          </a:p>
        </p:txBody>
      </p:sp>
      <p:sp>
        <p:nvSpPr>
          <p:cNvPr id="65" name="Shape 62"/>
          <p:cNvSpPr/>
          <p:nvPr/>
        </p:nvSpPr>
        <p:spPr>
          <a:xfrm>
            <a:off x="640080" y="5574792"/>
            <a:ext cx="256032" cy="256032"/>
          </a:xfrm>
          <a:prstGeom prst="ellipse">
            <a:avLst/>
          </a:prstGeom>
          <a:solidFill>
            <a:srgbClr val="C9CED6"/>
          </a:solidFill>
          <a:ln w="12700">
            <a:solidFill>
              <a:srgbClr val="C9CED6"/>
            </a:solidFill>
            <a:prstDash val="solid"/>
          </a:ln>
        </p:spPr>
      </p:sp>
      <p:sp>
        <p:nvSpPr>
          <p:cNvPr id="66" name="Text 63"/>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a:t>
            </a:r>
            <a:endParaRPr lang="en-US" sz="1250" dirty="0"/>
          </a:p>
        </p:txBody>
      </p:sp>
      <p:sp>
        <p:nvSpPr>
          <p:cNvPr id="68" name="Text 65"/>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Two fatḥas + alif (website final check 5).</a:t>
            </a:r>
            <a:endParaRPr lang="en-US" sz="1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sound is marked in </a:t>
            </a:r>
            <a:pPr algn="l" indent="0" marL="0">
              <a:buNone/>
            </a:pPr>
            <a:r>
              <a:rPr lang="ar-SA" altLang="en-US" sz="1650" b="1" dirty="0">
                <a:solidFill>
                  <a:srgbClr val="1B3B6F"/>
                </a:solidFill>
                <a:latin typeface="Amiri" pitchFamily="2" charset="-78"/>
                <a:cs typeface="Amiri" pitchFamily="2" charset="-78"/>
              </a:rPr>
              <a:t>دَرَّسَ</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3" name="Shape 70"/>
          <p:cNvSpPr/>
          <p:nvPr/>
        </p:nvSpPr>
        <p:spPr>
          <a:xfrm>
            <a:off x="4367784" y="4837176"/>
            <a:ext cx="3453384"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4459224" y="487375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76" name="Text 73"/>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doubled /rr/</a:t>
            </a:r>
            <a:endParaRPr lang="en-US" sz="1250" dirty="0"/>
          </a:p>
        </p:txBody>
      </p:sp>
      <p:sp>
        <p:nvSpPr>
          <p:cNvPr id="77" name="Shape 74"/>
          <p:cNvSpPr/>
          <p:nvPr/>
        </p:nvSpPr>
        <p:spPr>
          <a:xfrm>
            <a:off x="4459224" y="5330952"/>
            <a:ext cx="256032" cy="256032"/>
          </a:xfrm>
          <a:prstGeom prst="ellipse">
            <a:avLst/>
          </a:prstGeom>
          <a:solidFill>
            <a:srgbClr val="C9CED6"/>
          </a:solidFill>
          <a:ln w="12700">
            <a:solidFill>
              <a:srgbClr val="C9CED6"/>
            </a:solidFill>
            <a:prstDash val="solid"/>
          </a:ln>
        </p:spPr>
      </p:sp>
      <p:sp>
        <p:nvSpPr>
          <p:cNvPr id="78" name="Text 75"/>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9" name="Text 76"/>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single /r/</a:t>
            </a:r>
            <a:endParaRPr lang="en-US" sz="1250" dirty="0"/>
          </a:p>
        </p:txBody>
      </p:sp>
      <p:sp>
        <p:nvSpPr>
          <p:cNvPr id="80" name="Text 77"/>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final check 2.</a:t>
            </a:r>
            <a:endParaRPr lang="en-US" sz="1050" dirty="0"/>
          </a:p>
        </p:txBody>
      </p:sp>
      <p:sp>
        <p:nvSpPr>
          <p:cNvPr id="81" name="Shape 78"/>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2" name="Shape 79"/>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3" name="Text 80"/>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4" name="Text 81"/>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Shadda → say the letter twice.</a:t>
            </a:r>
            <a:endParaRPr lang="en-US" sz="1250" dirty="0"/>
          </a:p>
          <a:p>
            <a:pPr algn="l" indent="0" marL="0">
              <a:buNone/>
            </a:pPr>
            <a:r>
              <a:rPr lang="en-US" sz="1250" dirty="0">
                <a:solidFill>
                  <a:srgbClr val="1E6B52"/>
                </a:solidFill>
                <a:latin typeface="Calibri" pitchFamily="34" charset="0"/>
                <a:cs typeface="Amiri" pitchFamily="2" charset="-78"/>
              </a:rPr>
              <a:t>Two ḍammas → un</a:t>
            </a:r>
            <a:endParaRPr lang="en-US" sz="1250" dirty="0"/>
          </a:p>
          <a:p>
            <a:pPr algn="l" indent="0" marL="0">
              <a:buNone/>
            </a:pPr>
            <a:r>
              <a:rPr lang="en-US" sz="1250" dirty="0">
                <a:solidFill>
                  <a:srgbClr val="1E6B52"/>
                </a:solidFill>
                <a:latin typeface="Calibri" pitchFamily="34" charset="0"/>
                <a:cs typeface="Amiri" pitchFamily="2" charset="-78"/>
              </a:rPr>
              <a:t>Two kasras → in</a:t>
            </a:r>
            <a:endParaRPr lang="en-US" sz="1250" dirty="0"/>
          </a:p>
          <a:p>
            <a:pPr algn="l" indent="0" marL="0">
              <a:buNone/>
            </a:pPr>
            <a:r>
              <a:rPr lang="en-US" sz="1250" dirty="0">
                <a:solidFill>
                  <a:srgbClr val="1E6B52"/>
                </a:solidFill>
                <a:latin typeface="Calibri" pitchFamily="34" charset="0"/>
                <a:cs typeface="Amiri" pitchFamily="2" charset="-78"/>
              </a:rPr>
              <a:t>Two fatḥas → an</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F1-L06 · Small marks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LISTENING · HEAR THE MARK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do you hear?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اِسْتَمِعْ إِلَى العَلَامَةِ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Word 1: </a:t>
            </a:r>
            <a:pPr algn="l" indent="0" marL="0">
              <a:buNone/>
            </a:pPr>
            <a:r>
              <a:rPr lang="ar-SA" altLang="en-US" sz="1650" b="1" dirty="0">
                <a:solidFill>
                  <a:srgbClr val="1B3B6F"/>
                </a:solidFill>
                <a:latin typeface="Amiri" pitchFamily="2" charset="-78"/>
                <a:cs typeface="Amiri" pitchFamily="2" charset="-78"/>
              </a:rPr>
              <a:t>مُعَلِّمٌ</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shadda</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hamza</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long ā</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Word 2: </a:t>
            </a:r>
            <a:pPr algn="l" indent="0" marL="0">
              <a:buNone/>
            </a:pPr>
            <a:r>
              <a:rPr lang="ar-SA" altLang="en-US" sz="1650" b="1" dirty="0">
                <a:solidFill>
                  <a:srgbClr val="1B3B6F"/>
                </a:solidFill>
                <a:latin typeface="Amiri" pitchFamily="2" charset="-78"/>
                <a:cs typeface="Amiri" pitchFamily="2" charset="-78"/>
              </a:rPr>
              <a:t>كِتَابٌ</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shadda</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hamza</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tanwīn</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Word 3: </a:t>
            </a:r>
            <a:pPr algn="l" indent="0" marL="0">
              <a:buNone/>
            </a:pPr>
            <a:r>
              <a:rPr lang="ar-SA" altLang="en-US" sz="1650" b="1" dirty="0">
                <a:solidFill>
                  <a:srgbClr val="1B3B6F"/>
                </a:solidFill>
                <a:latin typeface="Amiri" pitchFamily="2" charset="-78"/>
                <a:cs typeface="Amiri" pitchFamily="2" charset="-78"/>
              </a:rPr>
              <a:t>بَابٌ</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hamza</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long ā</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shadda</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Word 4: </a:t>
            </a:r>
            <a:pPr algn="l" indent="0" marL="0">
              <a:buNone/>
            </a:pPr>
            <a:r>
              <a:rPr lang="ar-SA" altLang="en-US" sz="1650" b="1" dirty="0">
                <a:solidFill>
                  <a:srgbClr val="1B3B6F"/>
                </a:solidFill>
                <a:latin typeface="Amiri" pitchFamily="2" charset="-78"/>
                <a:cs typeface="Amiri" pitchFamily="2" charset="-78"/>
              </a:rPr>
              <a:t>سَأَلَ</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tanwīn</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hamza</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shadda</a:t>
            </a:r>
            <a:endParaRPr lang="en-US" sz="1250" dirty="0"/>
          </a:p>
        </p:txBody>
      </p:sp>
      <p:sp>
        <p:nvSpPr>
          <p:cNvPr id="67" name="Shape 64"/>
          <p:cNvSpPr/>
          <p:nvPr/>
        </p:nvSpPr>
        <p:spPr>
          <a:xfrm>
            <a:off x="4276344"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LISTEN TWICE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For each word: shadda, tanwīn, long ā or hamza?</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F1-L06 · Small marks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Word 1: </a:t>
            </a:r>
            <a:pPr algn="l" indent="0" marL="0">
              <a:buNone/>
            </a:pPr>
            <a:r>
              <a:rPr lang="ar-SA" altLang="en-US" sz="1650" b="1" dirty="0">
                <a:solidFill>
                  <a:srgbClr val="1B3B6F"/>
                </a:solidFill>
                <a:latin typeface="Amiri" pitchFamily="2" charset="-78"/>
                <a:cs typeface="Amiri" pitchFamily="2" charset="-78"/>
              </a:rPr>
              <a:t>مُعَلِّمٌ</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shadda</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hamza</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long ā</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mu-ʿal-lim: the l is doubled (also tanwīn at the end).</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Word 2: </a:t>
            </a:r>
            <a:pPr algn="l" indent="0" marL="0">
              <a:buNone/>
            </a:pPr>
            <a:r>
              <a:rPr lang="ar-SA" altLang="en-US" sz="1650" b="1" dirty="0">
                <a:solidFill>
                  <a:srgbClr val="1B3B6F"/>
                </a:solidFill>
                <a:latin typeface="Amiri" pitchFamily="2" charset="-78"/>
                <a:cs typeface="Amiri" pitchFamily="2" charset="-78"/>
              </a:rPr>
              <a:t>كِتَابٌ</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shadda</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hamza</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tanwīn</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kitābun: the /n/ ending.</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Word 3: </a:t>
            </a:r>
            <a:pPr algn="l" indent="0" marL="0">
              <a:buNone/>
            </a:pPr>
            <a:r>
              <a:rPr lang="ar-SA" altLang="en-US" sz="1650" b="1" dirty="0">
                <a:solidFill>
                  <a:srgbClr val="1B3B6F"/>
                </a:solidFill>
                <a:latin typeface="Amiri" pitchFamily="2" charset="-78"/>
                <a:cs typeface="Amiri" pitchFamily="2" charset="-78"/>
              </a:rPr>
              <a:t>بَابٌ</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hamza</a:t>
            </a:r>
            <a:endParaRPr lang="en-US" sz="1250" dirty="0"/>
          </a:p>
        </p:txBody>
      </p:sp>
      <p:sp>
        <p:nvSpPr>
          <p:cNvPr id="52" name="Shape 49"/>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long ā</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shadda</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bāb: ordinary long ā.</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Word 4: </a:t>
            </a:r>
            <a:pPr algn="l" indent="0" marL="0">
              <a:buNone/>
            </a:pPr>
            <a:r>
              <a:rPr lang="ar-SA" altLang="en-US" sz="1650" b="1" dirty="0">
                <a:solidFill>
                  <a:srgbClr val="1B3B6F"/>
                </a:solidFill>
                <a:latin typeface="Amiri" pitchFamily="2" charset="-78"/>
                <a:cs typeface="Amiri" pitchFamily="2" charset="-78"/>
              </a:rPr>
              <a:t>سَأَلَ</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tanwīn</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hamza</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shadda</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sa-ʾa-la: the catch /ʔ/ (he asked).</a:t>
            </a:r>
            <a:endParaRPr lang="en-US" sz="1050" dirty="0"/>
          </a:p>
        </p:txBody>
      </p:sp>
      <p:sp>
        <p:nvSpPr>
          <p:cNvPr id="75" name="Shape 72"/>
          <p:cNvSpPr/>
          <p:nvPr/>
        </p:nvSpPr>
        <p:spPr>
          <a:xfrm>
            <a:off x="4276344"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LISTEN TWICE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For each word: shadda, tanwīn, long ā or hamza?</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28</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F1-L06 · Small marks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GAME “MARK DETECTIVE”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mark is in focus?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مُحَقِّقُ العَلَامَاتِ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F1-L06</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مَرَّ</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قَلَمٌ</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آمَنَ</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إِمَامٌ</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حَقّ</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كِتَابًا</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قُرْآن</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بِئْر</a:t>
            </a:r>
            <a:endParaRPr lang="ar-SA" sz="1800" dirty="0"/>
          </a:p>
        </p:txBody>
      </p:sp>
      <p:sp>
        <p:nvSpPr>
          <p:cNvPr id="31" name="Shape 28"/>
          <p:cNvSpPr/>
          <p:nvPr/>
        </p:nvSpPr>
        <p:spPr>
          <a:xfrm>
            <a:off x="9050274" y="3017520"/>
            <a:ext cx="2681478" cy="3291840"/>
          </a:xfrm>
          <a:prstGeom prst="roundRect">
            <a:avLst>
              <a:gd name="adj" fmla="val 2728"/>
            </a:avLst>
          </a:prstGeom>
          <a:solidFill>
            <a:srgbClr val="EEF3FA"/>
          </a:solidFill>
          <a:ln w="9525">
            <a:solidFill>
              <a:srgbClr val="C9D6EA"/>
            </a:solidFill>
            <a:prstDash val="solid"/>
          </a:ln>
        </p:spPr>
      </p:sp>
      <p:sp>
        <p:nvSpPr>
          <p:cNvPr id="32" name="Shape 29"/>
          <p:cNvSpPr/>
          <p:nvPr/>
        </p:nvSpPr>
        <p:spPr>
          <a:xfrm>
            <a:off x="9187434" y="3127248"/>
            <a:ext cx="2407158"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9187434" y="3127248"/>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Shadda</a:t>
            </a:r>
            <a:endParaRPr lang="en-US" sz="950" dirty="0"/>
          </a:p>
        </p:txBody>
      </p:sp>
      <p:sp>
        <p:nvSpPr>
          <p:cNvPr id="34" name="Shape 31"/>
          <p:cNvSpPr/>
          <p:nvPr/>
        </p:nvSpPr>
        <p:spPr>
          <a:xfrm>
            <a:off x="6185916" y="3017520"/>
            <a:ext cx="2681478" cy="3291840"/>
          </a:xfrm>
          <a:prstGeom prst="roundRect">
            <a:avLst>
              <a:gd name="adj" fmla="val 2728"/>
            </a:avLst>
          </a:prstGeom>
          <a:solidFill>
            <a:srgbClr val="EEF3FA"/>
          </a:solidFill>
          <a:ln w="9525">
            <a:solidFill>
              <a:srgbClr val="C9D6EA"/>
            </a:solidFill>
            <a:prstDash val="solid"/>
          </a:ln>
        </p:spPr>
      </p:sp>
      <p:sp>
        <p:nvSpPr>
          <p:cNvPr id="35" name="Shape 32"/>
          <p:cNvSpPr/>
          <p:nvPr/>
        </p:nvSpPr>
        <p:spPr>
          <a:xfrm>
            <a:off x="6323076" y="3127248"/>
            <a:ext cx="2407158"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6323076" y="3127248"/>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Tanwīn</a:t>
            </a:r>
            <a:endParaRPr lang="en-US" sz="950" dirty="0"/>
          </a:p>
        </p:txBody>
      </p:sp>
      <p:sp>
        <p:nvSpPr>
          <p:cNvPr id="37" name="Shape 34"/>
          <p:cNvSpPr/>
          <p:nvPr/>
        </p:nvSpPr>
        <p:spPr>
          <a:xfrm>
            <a:off x="3321558" y="3017520"/>
            <a:ext cx="2681478" cy="3291840"/>
          </a:xfrm>
          <a:prstGeom prst="roundRect">
            <a:avLst>
              <a:gd name="adj" fmla="val 2728"/>
            </a:avLst>
          </a:prstGeom>
          <a:solidFill>
            <a:srgbClr val="EEF3FA"/>
          </a:solidFill>
          <a:ln w="9525">
            <a:solidFill>
              <a:srgbClr val="C9D6EA"/>
            </a:solidFill>
            <a:prstDash val="solid"/>
          </a:ln>
        </p:spPr>
      </p:sp>
      <p:sp>
        <p:nvSpPr>
          <p:cNvPr id="38" name="Shape 35"/>
          <p:cNvSpPr/>
          <p:nvPr/>
        </p:nvSpPr>
        <p:spPr>
          <a:xfrm>
            <a:off x="3458718" y="3127248"/>
            <a:ext cx="2407158" cy="310896"/>
          </a:xfrm>
          <a:prstGeom prst="roundRect">
            <a:avLst>
              <a:gd name="adj" fmla="val 50000"/>
            </a:avLst>
          </a:prstGeom>
          <a:solidFill>
            <a:srgbClr val="2F6FB0"/>
          </a:solidFill>
          <a:ln w="12700">
            <a:solidFill>
              <a:srgbClr val="2F6FB0"/>
            </a:solidFill>
            <a:prstDash val="solid"/>
          </a:ln>
        </p:spPr>
      </p:sp>
      <p:sp>
        <p:nvSpPr>
          <p:cNvPr id="39" name="Text 36"/>
          <p:cNvSpPr txBox="1"/>
          <p:nvPr/>
        </p:nvSpPr>
        <p:spPr>
          <a:xfrm>
            <a:off x="3458718" y="3127248"/>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Alif madda</a:t>
            </a:r>
            <a:endParaRPr lang="en-US" sz="950" dirty="0"/>
          </a:p>
        </p:txBody>
      </p:sp>
      <p:sp>
        <p:nvSpPr>
          <p:cNvPr id="40" name="Shape 37"/>
          <p:cNvSpPr/>
          <p:nvPr/>
        </p:nvSpPr>
        <p:spPr>
          <a:xfrm>
            <a:off x="457200" y="3017520"/>
            <a:ext cx="2681478" cy="3291840"/>
          </a:xfrm>
          <a:prstGeom prst="roundRect">
            <a:avLst>
              <a:gd name="adj" fmla="val 2728"/>
            </a:avLst>
          </a:prstGeom>
          <a:solidFill>
            <a:srgbClr val="EEF3FA"/>
          </a:solidFill>
          <a:ln w="9525">
            <a:solidFill>
              <a:srgbClr val="C9D6EA"/>
            </a:solidFill>
            <a:prstDash val="solid"/>
          </a:ln>
        </p:spPr>
      </p:sp>
      <p:sp>
        <p:nvSpPr>
          <p:cNvPr id="41" name="Shape 38"/>
          <p:cNvSpPr/>
          <p:nvPr/>
        </p:nvSpPr>
        <p:spPr>
          <a:xfrm>
            <a:off x="594360" y="3127248"/>
            <a:ext cx="2407158" cy="310896"/>
          </a:xfrm>
          <a:prstGeom prst="roundRect">
            <a:avLst>
              <a:gd name="adj" fmla="val 50000"/>
            </a:avLst>
          </a:prstGeom>
          <a:solidFill>
            <a:srgbClr val="2F6FB0"/>
          </a:solidFill>
          <a:ln w="12700">
            <a:solidFill>
              <a:srgbClr val="2F6FB0"/>
            </a:solidFill>
            <a:prstDash val="solid"/>
          </a:ln>
        </p:spPr>
      </p:sp>
      <p:sp>
        <p:nvSpPr>
          <p:cNvPr id="42" name="Text 39"/>
          <p:cNvSpPr txBox="1"/>
          <p:nvPr/>
        </p:nvSpPr>
        <p:spPr>
          <a:xfrm>
            <a:off x="594360" y="3127248"/>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4 · Hamza</a:t>
            </a:r>
            <a:endParaRPr lang="en-US" sz="9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28</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F1-L06 · Small marks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MARK DETECTIVE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F1-L06</a:t>
            </a:r>
            <a:endParaRPr lang="en-US" sz="850" dirty="0"/>
          </a:p>
        </p:txBody>
      </p:sp>
      <p:sp>
        <p:nvSpPr>
          <p:cNvPr id="15" name="Shape 12"/>
          <p:cNvSpPr/>
          <p:nvPr/>
        </p:nvSpPr>
        <p:spPr>
          <a:xfrm>
            <a:off x="9050274" y="1810512"/>
            <a:ext cx="2681478" cy="4498848"/>
          </a:xfrm>
          <a:prstGeom prst="roundRect">
            <a:avLst>
              <a:gd name="adj" fmla="val 2728"/>
            </a:avLst>
          </a:prstGeom>
          <a:solidFill>
            <a:srgbClr val="EEF3FA"/>
          </a:solidFill>
          <a:ln w="9525">
            <a:solidFill>
              <a:srgbClr val="C9D6EA"/>
            </a:solidFill>
            <a:prstDash val="solid"/>
          </a:ln>
        </p:spPr>
      </p:sp>
      <p:sp>
        <p:nvSpPr>
          <p:cNvPr id="16" name="Shape 13"/>
          <p:cNvSpPr/>
          <p:nvPr/>
        </p:nvSpPr>
        <p:spPr>
          <a:xfrm>
            <a:off x="9187434" y="1920240"/>
            <a:ext cx="2407158"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9187434" y="1920240"/>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Shadda</a:t>
            </a:r>
            <a:endParaRPr lang="en-US" sz="950" dirty="0"/>
          </a:p>
        </p:txBody>
      </p:sp>
      <p:sp>
        <p:nvSpPr>
          <p:cNvPr id="18" name="Shape 15"/>
          <p:cNvSpPr/>
          <p:nvPr/>
        </p:nvSpPr>
        <p:spPr>
          <a:xfrm>
            <a:off x="9187434" y="2377440"/>
            <a:ext cx="2407158"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9278874" y="2377440"/>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مَرَّ</a:t>
            </a:r>
            <a:endParaRPr lang="ar-SA" sz="1800" dirty="0"/>
          </a:p>
        </p:txBody>
      </p:sp>
      <p:sp>
        <p:nvSpPr>
          <p:cNvPr id="20" name="Shape 17"/>
          <p:cNvSpPr/>
          <p:nvPr/>
        </p:nvSpPr>
        <p:spPr>
          <a:xfrm>
            <a:off x="9187434" y="2889504"/>
            <a:ext cx="2407158"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9278874" y="2889504"/>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حَقّ</a:t>
            </a:r>
            <a:endParaRPr lang="ar-SA" sz="1800" dirty="0"/>
          </a:p>
        </p:txBody>
      </p:sp>
      <p:sp>
        <p:nvSpPr>
          <p:cNvPr id="22" name="Shape 19"/>
          <p:cNvSpPr/>
          <p:nvPr/>
        </p:nvSpPr>
        <p:spPr>
          <a:xfrm>
            <a:off x="6185916" y="1810512"/>
            <a:ext cx="2681478" cy="4498848"/>
          </a:xfrm>
          <a:prstGeom prst="roundRect">
            <a:avLst>
              <a:gd name="adj" fmla="val 2728"/>
            </a:avLst>
          </a:prstGeom>
          <a:solidFill>
            <a:srgbClr val="EEF3FA"/>
          </a:solidFill>
          <a:ln w="9525">
            <a:solidFill>
              <a:srgbClr val="C9D6EA"/>
            </a:solidFill>
            <a:prstDash val="solid"/>
          </a:ln>
        </p:spPr>
      </p:sp>
      <p:sp>
        <p:nvSpPr>
          <p:cNvPr id="23" name="Shape 20"/>
          <p:cNvSpPr/>
          <p:nvPr/>
        </p:nvSpPr>
        <p:spPr>
          <a:xfrm>
            <a:off x="6323076" y="1920240"/>
            <a:ext cx="2407158" cy="310896"/>
          </a:xfrm>
          <a:prstGeom prst="roundRect">
            <a:avLst>
              <a:gd name="adj" fmla="val 50000"/>
            </a:avLst>
          </a:prstGeom>
          <a:solidFill>
            <a:srgbClr val="2F6FB0"/>
          </a:solidFill>
          <a:ln w="12700">
            <a:solidFill>
              <a:srgbClr val="2F6FB0"/>
            </a:solidFill>
            <a:prstDash val="solid"/>
          </a:ln>
        </p:spPr>
      </p:sp>
      <p:sp>
        <p:nvSpPr>
          <p:cNvPr id="24" name="Text 21"/>
          <p:cNvSpPr txBox="1"/>
          <p:nvPr/>
        </p:nvSpPr>
        <p:spPr>
          <a:xfrm>
            <a:off x="6323076" y="1920240"/>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Tanwīn</a:t>
            </a:r>
            <a:endParaRPr lang="en-US" sz="950" dirty="0"/>
          </a:p>
        </p:txBody>
      </p:sp>
      <p:sp>
        <p:nvSpPr>
          <p:cNvPr id="25" name="Shape 22"/>
          <p:cNvSpPr/>
          <p:nvPr/>
        </p:nvSpPr>
        <p:spPr>
          <a:xfrm>
            <a:off x="6323076" y="2377440"/>
            <a:ext cx="2407158" cy="438912"/>
          </a:xfrm>
          <a:prstGeom prst="roundRect">
            <a:avLst>
              <a:gd name="adj" fmla="val 12500"/>
            </a:avLst>
          </a:prstGeom>
          <a:solidFill>
            <a:srgbClr val="FFF4DC"/>
          </a:solidFill>
          <a:ln w="9525">
            <a:solidFill>
              <a:srgbClr val="E6C98A"/>
            </a:solidFill>
            <a:prstDash val="solid"/>
          </a:ln>
        </p:spPr>
      </p:sp>
      <p:sp>
        <p:nvSpPr>
          <p:cNvPr id="26" name="Text 23"/>
          <p:cNvSpPr txBox="1"/>
          <p:nvPr/>
        </p:nvSpPr>
        <p:spPr>
          <a:xfrm>
            <a:off x="6414516" y="2377440"/>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قَلَمٌ</a:t>
            </a:r>
            <a:endParaRPr lang="ar-SA" sz="1800" dirty="0"/>
          </a:p>
        </p:txBody>
      </p:sp>
      <p:sp>
        <p:nvSpPr>
          <p:cNvPr id="27" name="Shape 24"/>
          <p:cNvSpPr/>
          <p:nvPr/>
        </p:nvSpPr>
        <p:spPr>
          <a:xfrm>
            <a:off x="6323076" y="2889504"/>
            <a:ext cx="2407158"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6414516" y="2889504"/>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كِتَابًا</a:t>
            </a:r>
            <a:endParaRPr lang="ar-SA" sz="1800" dirty="0"/>
          </a:p>
        </p:txBody>
      </p:sp>
      <p:sp>
        <p:nvSpPr>
          <p:cNvPr id="29" name="Shape 26"/>
          <p:cNvSpPr/>
          <p:nvPr/>
        </p:nvSpPr>
        <p:spPr>
          <a:xfrm>
            <a:off x="3321558" y="1810512"/>
            <a:ext cx="2681478" cy="4498848"/>
          </a:xfrm>
          <a:prstGeom prst="roundRect">
            <a:avLst>
              <a:gd name="adj" fmla="val 2728"/>
            </a:avLst>
          </a:prstGeom>
          <a:solidFill>
            <a:srgbClr val="EEF3FA"/>
          </a:solidFill>
          <a:ln w="9525">
            <a:solidFill>
              <a:srgbClr val="C9D6EA"/>
            </a:solidFill>
            <a:prstDash val="solid"/>
          </a:ln>
        </p:spPr>
      </p:sp>
      <p:sp>
        <p:nvSpPr>
          <p:cNvPr id="30" name="Shape 27"/>
          <p:cNvSpPr/>
          <p:nvPr/>
        </p:nvSpPr>
        <p:spPr>
          <a:xfrm>
            <a:off x="3458718" y="1920240"/>
            <a:ext cx="2407158" cy="310896"/>
          </a:xfrm>
          <a:prstGeom prst="roundRect">
            <a:avLst>
              <a:gd name="adj" fmla="val 50000"/>
            </a:avLst>
          </a:prstGeom>
          <a:solidFill>
            <a:srgbClr val="2F6FB0"/>
          </a:solidFill>
          <a:ln w="12700">
            <a:solidFill>
              <a:srgbClr val="2F6FB0"/>
            </a:solidFill>
            <a:prstDash val="solid"/>
          </a:ln>
        </p:spPr>
      </p:sp>
      <p:sp>
        <p:nvSpPr>
          <p:cNvPr id="31" name="Text 28"/>
          <p:cNvSpPr txBox="1"/>
          <p:nvPr/>
        </p:nvSpPr>
        <p:spPr>
          <a:xfrm>
            <a:off x="3458718" y="1920240"/>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Alif madda</a:t>
            </a:r>
            <a:endParaRPr lang="en-US" sz="950" dirty="0"/>
          </a:p>
        </p:txBody>
      </p:sp>
      <p:sp>
        <p:nvSpPr>
          <p:cNvPr id="32" name="Shape 29"/>
          <p:cNvSpPr/>
          <p:nvPr/>
        </p:nvSpPr>
        <p:spPr>
          <a:xfrm>
            <a:off x="3458718" y="2377440"/>
            <a:ext cx="2407158" cy="438912"/>
          </a:xfrm>
          <a:prstGeom prst="roundRect">
            <a:avLst>
              <a:gd name="adj" fmla="val 12500"/>
            </a:avLst>
          </a:prstGeom>
          <a:solidFill>
            <a:srgbClr val="FFF4DC"/>
          </a:solidFill>
          <a:ln w="9525">
            <a:solidFill>
              <a:srgbClr val="E6C98A"/>
            </a:solidFill>
            <a:prstDash val="solid"/>
          </a:ln>
        </p:spPr>
      </p:sp>
      <p:sp>
        <p:nvSpPr>
          <p:cNvPr id="33" name="Text 30"/>
          <p:cNvSpPr txBox="1"/>
          <p:nvPr/>
        </p:nvSpPr>
        <p:spPr>
          <a:xfrm>
            <a:off x="3550158" y="2377440"/>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آمَنَ</a:t>
            </a:r>
            <a:endParaRPr lang="ar-SA" sz="1800" dirty="0"/>
          </a:p>
        </p:txBody>
      </p:sp>
      <p:sp>
        <p:nvSpPr>
          <p:cNvPr id="34" name="Shape 31"/>
          <p:cNvSpPr/>
          <p:nvPr/>
        </p:nvSpPr>
        <p:spPr>
          <a:xfrm>
            <a:off x="3458718" y="2889504"/>
            <a:ext cx="2407158" cy="438912"/>
          </a:xfrm>
          <a:prstGeom prst="roundRect">
            <a:avLst>
              <a:gd name="adj" fmla="val 12500"/>
            </a:avLst>
          </a:prstGeom>
          <a:solidFill>
            <a:srgbClr val="FFF4DC"/>
          </a:solidFill>
          <a:ln w="9525">
            <a:solidFill>
              <a:srgbClr val="E6C98A"/>
            </a:solidFill>
            <a:prstDash val="solid"/>
          </a:ln>
        </p:spPr>
      </p:sp>
      <p:sp>
        <p:nvSpPr>
          <p:cNvPr id="35" name="Text 32"/>
          <p:cNvSpPr txBox="1"/>
          <p:nvPr/>
        </p:nvSpPr>
        <p:spPr>
          <a:xfrm>
            <a:off x="3550158" y="2889504"/>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قُرْآن</a:t>
            </a:r>
            <a:endParaRPr lang="ar-SA" sz="1800" dirty="0"/>
          </a:p>
        </p:txBody>
      </p:sp>
      <p:sp>
        <p:nvSpPr>
          <p:cNvPr id="36" name="Shape 33"/>
          <p:cNvSpPr/>
          <p:nvPr/>
        </p:nvSpPr>
        <p:spPr>
          <a:xfrm>
            <a:off x="457200" y="1810512"/>
            <a:ext cx="2681478" cy="4498848"/>
          </a:xfrm>
          <a:prstGeom prst="roundRect">
            <a:avLst>
              <a:gd name="adj" fmla="val 2728"/>
            </a:avLst>
          </a:prstGeom>
          <a:solidFill>
            <a:srgbClr val="EEF3FA"/>
          </a:solidFill>
          <a:ln w="9525">
            <a:solidFill>
              <a:srgbClr val="C9D6EA"/>
            </a:solidFill>
            <a:prstDash val="solid"/>
          </a:ln>
        </p:spPr>
      </p:sp>
      <p:sp>
        <p:nvSpPr>
          <p:cNvPr id="37" name="Shape 34"/>
          <p:cNvSpPr/>
          <p:nvPr/>
        </p:nvSpPr>
        <p:spPr>
          <a:xfrm>
            <a:off x="594360" y="1920240"/>
            <a:ext cx="2407158"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594360" y="1920240"/>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4 · Hamza</a:t>
            </a:r>
            <a:endParaRPr lang="en-US" sz="950" dirty="0"/>
          </a:p>
        </p:txBody>
      </p:sp>
      <p:sp>
        <p:nvSpPr>
          <p:cNvPr id="39" name="Shape 36"/>
          <p:cNvSpPr/>
          <p:nvPr/>
        </p:nvSpPr>
        <p:spPr>
          <a:xfrm>
            <a:off x="594360" y="2377440"/>
            <a:ext cx="2407158" cy="438912"/>
          </a:xfrm>
          <a:prstGeom prst="roundRect">
            <a:avLst>
              <a:gd name="adj" fmla="val 12500"/>
            </a:avLst>
          </a:prstGeom>
          <a:solidFill>
            <a:srgbClr val="FFF4DC"/>
          </a:solidFill>
          <a:ln w="9525">
            <a:solidFill>
              <a:srgbClr val="E6C98A"/>
            </a:solidFill>
            <a:prstDash val="solid"/>
          </a:ln>
        </p:spPr>
      </p:sp>
      <p:sp>
        <p:nvSpPr>
          <p:cNvPr id="40" name="Text 37"/>
          <p:cNvSpPr txBox="1"/>
          <p:nvPr/>
        </p:nvSpPr>
        <p:spPr>
          <a:xfrm>
            <a:off x="685800" y="2377440"/>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إِمَامٌ</a:t>
            </a:r>
            <a:endParaRPr lang="ar-SA" sz="1800" dirty="0"/>
          </a:p>
        </p:txBody>
      </p:sp>
      <p:sp>
        <p:nvSpPr>
          <p:cNvPr id="41" name="Shape 38"/>
          <p:cNvSpPr/>
          <p:nvPr/>
        </p:nvSpPr>
        <p:spPr>
          <a:xfrm>
            <a:off x="594360" y="2889504"/>
            <a:ext cx="2407158" cy="438912"/>
          </a:xfrm>
          <a:prstGeom prst="roundRect">
            <a:avLst>
              <a:gd name="adj" fmla="val 12500"/>
            </a:avLst>
          </a:prstGeom>
          <a:solidFill>
            <a:srgbClr val="FFF4DC"/>
          </a:solidFill>
          <a:ln w="9525">
            <a:solidFill>
              <a:srgbClr val="E6C98A"/>
            </a:solidFill>
            <a:prstDash val="solid"/>
          </a:ln>
        </p:spPr>
      </p:sp>
      <p:sp>
        <p:nvSpPr>
          <p:cNvPr id="42" name="Text 39"/>
          <p:cNvSpPr txBox="1"/>
          <p:nvPr/>
        </p:nvSpPr>
        <p:spPr>
          <a:xfrm>
            <a:off x="685800" y="2889504"/>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بِئْر</a:t>
            </a:r>
            <a:endParaRPr lang="ar-SA" sz="180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28</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F1-L06 · Small marks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7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F1-L06</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4 lines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Copy the six reading-lab words and circle the mark in each. Write its job underneath (double · n · ʾā · catch).</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Read each word aloud after you write it.</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writing rehearsal</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writing rehearsal: write the doubled rāʾ three times; build kitābun, kitābin, kitāban and circle only the ending.</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Then contrast ʾa, ʾā and bā and label each sound.</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find and label</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Copy the five hamza shapes with one word each. Then copy five vowelled words from a Qur’an or reading book and label one shadda, one tanwīn, one madda and two hamzas.</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Under each, write its sound job (website homework).</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28</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F1-L06 · Small marks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00" b="1" dirty="0">
                <a:solidFill>
                  <a:srgbClr val="1B3B6F"/>
                </a:solidFill>
                <a:latin typeface="Cambria" pitchFamily="34" charset="0"/>
                <a:cs typeface="Amiri" pitchFamily="2" charset="-78"/>
              </a:rPr>
              <a:t>Partner accuracy check: read and name the mark</a:t>
            </a:r>
            <a:endParaRPr lang="en-US" sz="19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F1-L06</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اِقْرَأْ: مُحَمَّدٌ</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اِقْرَأْ: كِتَابٌ · كِتَابٍ · كِتَابًا</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دَرَسَ أَمْ دَرَّسَ؟</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أَيْنَ الهَمْزَةُ؟</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فِيهَا شَدَّةٌ / تَنْوِينٌ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فِيهَا مَدٌّ / هَمْزَةٌ .</a:t>
            </a:r>
            <a:endParaRPr lang="ar-SA" sz="16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الهَمْزَةُ عَلَى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قَرَأَ / قَرَأَتْ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اِقْرَأْ: دَرَّسَ</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Read: darrasa</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دَرَّسَ. فِيهَا شَدَّةٌ.</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darrasa. It has a shadda.</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28</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F1-L06 · Small marks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MIX-UPS AND REPAIRS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Mistakes that help us learn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أَخْطَاءٌ شَائِعَةٌ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684264"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Likely mix-up</a:t>
            </a:r>
            <a:endParaRPr lang="en-US" sz="1100" dirty="0"/>
          </a:p>
        </p:txBody>
      </p:sp>
      <p:sp>
        <p:nvSpPr>
          <p:cNvPr id="17" name="Text 14"/>
          <p:cNvSpPr txBox="1"/>
          <p:nvPr/>
        </p:nvSpPr>
        <p:spPr>
          <a:xfrm>
            <a:off x="530352" y="1810512"/>
            <a:ext cx="60076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Repair cue</a:t>
            </a:r>
            <a:endParaRPr lang="en-US" sz="1100" dirty="0"/>
          </a:p>
        </p:txBody>
      </p:sp>
      <p:sp>
        <p:nvSpPr>
          <p:cNvPr id="18" name="Shape 15"/>
          <p:cNvSpPr/>
          <p:nvPr/>
        </p:nvSpPr>
        <p:spPr>
          <a:xfrm>
            <a:off x="457200" y="2267712"/>
            <a:ext cx="11274552" cy="627888"/>
          </a:xfrm>
          <a:prstGeom prst="roundRect">
            <a:avLst>
              <a:gd name="adj" fmla="val 7282"/>
            </a:avLst>
          </a:prstGeom>
          <a:solidFill>
            <a:srgbClr val="FFFFFF"/>
          </a:solidFill>
          <a:ln w="9525">
            <a:solidFill>
              <a:srgbClr val="D8D0BF"/>
            </a:solidFill>
            <a:prstDash val="solid"/>
          </a:ln>
        </p:spPr>
      </p:sp>
      <p:sp>
        <p:nvSpPr>
          <p:cNvPr id="19" name="Text 16"/>
          <p:cNvSpPr txBox="1"/>
          <p:nvPr/>
        </p:nvSpPr>
        <p:spPr>
          <a:xfrm>
            <a:off x="6720840" y="2267712"/>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Reading shadda as a vowel</a:t>
            </a:r>
            <a:endParaRPr lang="en-US" sz="1100" dirty="0"/>
          </a:p>
        </p:txBody>
      </p:sp>
      <p:sp>
        <p:nvSpPr>
          <p:cNvPr id="20" name="Text 17"/>
          <p:cNvSpPr txBox="1"/>
          <p:nvPr/>
        </p:nvSpPr>
        <p:spPr>
          <a:xfrm>
            <a:off x="566928" y="2267712"/>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Shadda doubles the consonant — no extra vowel.</a:t>
            </a:r>
            <a:endParaRPr lang="en-US" sz="1100" dirty="0"/>
          </a:p>
        </p:txBody>
      </p:sp>
      <p:sp>
        <p:nvSpPr>
          <p:cNvPr id="21" name="Shape 18"/>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2" name="Text 19"/>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3" name="Shape 20"/>
          <p:cNvSpPr/>
          <p:nvPr/>
        </p:nvSpPr>
        <p:spPr>
          <a:xfrm>
            <a:off x="457200" y="2950464"/>
            <a:ext cx="11274552" cy="627888"/>
          </a:xfrm>
          <a:prstGeom prst="roundRect">
            <a:avLst>
              <a:gd name="adj" fmla="val 7282"/>
            </a:avLst>
          </a:prstGeom>
          <a:solidFill>
            <a:srgbClr val="F4F1EA"/>
          </a:solidFill>
          <a:ln w="9525">
            <a:solidFill>
              <a:srgbClr val="D8D0BF"/>
            </a:solidFill>
            <a:prstDash val="solid"/>
          </a:ln>
        </p:spPr>
      </p:sp>
      <p:sp>
        <p:nvSpPr>
          <p:cNvPr id="24" name="Text 21"/>
          <p:cNvSpPr txBox="1"/>
          <p:nvPr/>
        </p:nvSpPr>
        <p:spPr>
          <a:xfrm>
            <a:off x="6720840" y="2950464"/>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Reading tanwīn as two vowels</a:t>
            </a:r>
            <a:endParaRPr lang="en-US" sz="1100" dirty="0"/>
          </a:p>
        </p:txBody>
      </p:sp>
      <p:sp>
        <p:nvSpPr>
          <p:cNvPr id="25" name="Text 22"/>
          <p:cNvSpPr txBox="1"/>
          <p:nvPr/>
        </p:nvSpPr>
        <p:spPr>
          <a:xfrm>
            <a:off x="566928" y="2950464"/>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pair = one vowel + /n/: un · in · an.</a:t>
            </a:r>
            <a:endParaRPr lang="en-US" sz="1100" dirty="0"/>
          </a:p>
        </p:txBody>
      </p:sp>
      <p:sp>
        <p:nvSpPr>
          <p:cNvPr id="26" name="Shape 23"/>
          <p:cNvSpPr/>
          <p:nvPr/>
        </p:nvSpPr>
        <p:spPr>
          <a:xfrm>
            <a:off x="11091672" y="2996184"/>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29961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8" name="Shape 25"/>
          <p:cNvSpPr/>
          <p:nvPr/>
        </p:nvSpPr>
        <p:spPr>
          <a:xfrm>
            <a:off x="457200" y="3633216"/>
            <a:ext cx="11274552" cy="627888"/>
          </a:xfrm>
          <a:prstGeom prst="roundRect">
            <a:avLst>
              <a:gd name="adj" fmla="val 7282"/>
            </a:avLst>
          </a:prstGeom>
          <a:solidFill>
            <a:srgbClr val="FFFFFF"/>
          </a:solidFill>
          <a:ln w="9525">
            <a:solidFill>
              <a:srgbClr val="D8D0BF"/>
            </a:solidFill>
            <a:prstDash val="solid"/>
          </a:ln>
        </p:spPr>
      </p:sp>
      <p:sp>
        <p:nvSpPr>
          <p:cNvPr id="29" name="Text 26"/>
          <p:cNvSpPr txBox="1"/>
          <p:nvPr/>
        </p:nvSpPr>
        <p:spPr>
          <a:xfrm>
            <a:off x="6720840" y="3633216"/>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Writing </a:t>
            </a:r>
            <a:pPr algn="l" indent="0" marL="0">
              <a:buNone/>
            </a:pPr>
            <a:r>
              <a:rPr lang="ar-SA" altLang="en-US" sz="1450" dirty="0">
                <a:solidFill>
                  <a:srgbClr val="5A6472"/>
                </a:solidFill>
                <a:latin typeface="Amiri" pitchFamily="2" charset="-78"/>
                <a:cs typeface="Amiri" pitchFamily="2" charset="-78"/>
              </a:rPr>
              <a:t>آ</a:t>
            </a:r>
            <a:pPr algn="l" indent="0" marL="0">
              <a:buNone/>
            </a:pPr>
            <a:r>
              <a:rPr lang="en-US" sz="1100" dirty="0">
                <a:solidFill>
                  <a:srgbClr val="5A6472"/>
                </a:solidFill>
                <a:latin typeface="Calibri" pitchFamily="34" charset="0"/>
                <a:cs typeface="Amiri" pitchFamily="2" charset="-78"/>
              </a:rPr>
              <a:t> for every long ā</a:t>
            </a:r>
            <a:endParaRPr lang="en-US" sz="1100" dirty="0"/>
          </a:p>
        </p:txBody>
      </p:sp>
      <p:sp>
        <p:nvSpPr>
          <p:cNvPr id="30" name="Text 27"/>
          <p:cNvSpPr txBox="1"/>
          <p:nvPr/>
        </p:nvSpPr>
        <p:spPr>
          <a:xfrm>
            <a:off x="566928" y="3633216"/>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Only when hamza comes first: </a:t>
            </a:r>
            <a:pPr algn="l" indent="0" marL="0">
              <a:buNone/>
            </a:pPr>
            <a:r>
              <a:rPr lang="ar-SA" altLang="en-US" sz="1450" dirty="0">
                <a:solidFill>
                  <a:srgbClr val="5A6472"/>
                </a:solidFill>
                <a:latin typeface="Amiri" pitchFamily="2" charset="-78"/>
                <a:cs typeface="Amiri" pitchFamily="2" charset="-78"/>
              </a:rPr>
              <a:t>آدَم</a:t>
            </a:r>
            <a:pPr algn="l" indent="0" marL="0">
              <a:buNone/>
            </a:pPr>
            <a:r>
              <a:rPr lang="en-US" sz="1100" dirty="0">
                <a:solidFill>
                  <a:srgbClr val="5A6472"/>
                </a:solidFill>
                <a:latin typeface="Calibri" pitchFamily="34" charset="0"/>
                <a:cs typeface="Amiri" pitchFamily="2" charset="-78"/>
              </a:rPr>
              <a:t> but </a:t>
            </a:r>
            <a:pPr algn="l" indent="0" marL="0">
              <a:buNone/>
            </a:pPr>
            <a:r>
              <a:rPr lang="ar-SA" altLang="en-US" sz="1450" dirty="0">
                <a:solidFill>
                  <a:srgbClr val="5A6472"/>
                </a:solidFill>
                <a:latin typeface="Amiri" pitchFamily="2" charset="-78"/>
                <a:cs typeface="Amiri" pitchFamily="2" charset="-78"/>
              </a:rPr>
              <a:t>بَاب</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1" name="Shape 28"/>
          <p:cNvSpPr/>
          <p:nvPr/>
        </p:nvSpPr>
        <p:spPr>
          <a:xfrm>
            <a:off x="11091672" y="3678936"/>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67893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4315968"/>
            <a:ext cx="11274552" cy="627888"/>
          </a:xfrm>
          <a:prstGeom prst="roundRect">
            <a:avLst>
              <a:gd name="adj" fmla="val 7282"/>
            </a:avLst>
          </a:prstGeom>
          <a:solidFill>
            <a:srgbClr val="F4F1EA"/>
          </a:solidFill>
          <a:ln w="9525">
            <a:solidFill>
              <a:srgbClr val="D8D0BF"/>
            </a:solidFill>
            <a:prstDash val="solid"/>
          </a:ln>
        </p:spPr>
      </p:sp>
      <p:sp>
        <p:nvSpPr>
          <p:cNvPr id="34" name="Text 31"/>
          <p:cNvSpPr txBox="1"/>
          <p:nvPr/>
        </p:nvSpPr>
        <p:spPr>
          <a:xfrm>
            <a:off x="6720840" y="4315968"/>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Adding a vowel between the two halves of shadda</a:t>
            </a:r>
            <a:endParaRPr lang="en-US" sz="1100" dirty="0"/>
          </a:p>
        </p:txBody>
      </p:sp>
      <p:sp>
        <p:nvSpPr>
          <p:cNvPr id="35" name="Text 32"/>
          <p:cNvSpPr txBox="1"/>
          <p:nvPr/>
        </p:nvSpPr>
        <p:spPr>
          <a:xfrm>
            <a:off x="566928" y="4315968"/>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Hold, then release: dar-ra-sa, not da-ra-ra-sa.</a:t>
            </a:r>
            <a:endParaRPr lang="en-US" sz="1100" dirty="0"/>
          </a:p>
        </p:txBody>
      </p:sp>
      <p:sp>
        <p:nvSpPr>
          <p:cNvPr id="36" name="Shape 33"/>
          <p:cNvSpPr/>
          <p:nvPr/>
        </p:nvSpPr>
        <p:spPr>
          <a:xfrm>
            <a:off x="457200" y="4998720"/>
            <a:ext cx="11274552" cy="627888"/>
          </a:xfrm>
          <a:prstGeom prst="roundRect">
            <a:avLst>
              <a:gd name="adj" fmla="val 7282"/>
            </a:avLst>
          </a:prstGeom>
          <a:solidFill>
            <a:srgbClr val="FFFFFF"/>
          </a:solidFill>
          <a:ln w="9525">
            <a:solidFill>
              <a:srgbClr val="D8D0BF"/>
            </a:solidFill>
            <a:prstDash val="solid"/>
          </a:ln>
        </p:spPr>
      </p:sp>
      <p:sp>
        <p:nvSpPr>
          <p:cNvPr id="37" name="Text 34"/>
          <p:cNvSpPr txBox="1"/>
          <p:nvPr/>
        </p:nvSpPr>
        <p:spPr>
          <a:xfrm>
            <a:off x="6720840" y="4998720"/>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Tanwīn with </a:t>
            </a:r>
            <a:pPr algn="l" indent="0" marL="0">
              <a:buNone/>
            </a:pPr>
            <a:r>
              <a:rPr lang="ar-SA" altLang="en-US" sz="1450" dirty="0">
                <a:solidFill>
                  <a:srgbClr val="5A6472"/>
                </a:solidFill>
                <a:latin typeface="Amiri" pitchFamily="2" charset="-78"/>
                <a:cs typeface="Amiri" pitchFamily="2" charset="-78"/>
              </a:rPr>
              <a:t>الـ</a:t>
            </a:r>
            <a:endParaRPr lang="en-US" sz="1100" dirty="0"/>
          </a:p>
        </p:txBody>
      </p:sp>
      <p:sp>
        <p:nvSpPr>
          <p:cNvPr id="38" name="Text 35"/>
          <p:cNvSpPr txBox="1"/>
          <p:nvPr/>
        </p:nvSpPr>
        <p:spPr>
          <a:xfrm>
            <a:off x="566928" y="4998720"/>
            <a:ext cx="5971032" cy="627888"/>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cs typeface="Amiri" pitchFamily="2" charset="-78"/>
              </a:rPr>
              <a:t>الكِتَابُ</a:t>
            </a:r>
            <a:pPr algn="l" indent="0" marL="0">
              <a:buNone/>
            </a:pPr>
            <a:r>
              <a:rPr lang="en-US" sz="1100" dirty="0">
                <a:solidFill>
                  <a:srgbClr val="5A6472"/>
                </a:solidFill>
                <a:latin typeface="Calibri" pitchFamily="34" charset="0"/>
                <a:cs typeface="Amiri" pitchFamily="2" charset="-78"/>
              </a:rPr>
              <a:t> — the article removes tanwīn.</a:t>
            </a:r>
            <a:endParaRPr lang="en-US" sz="1100" dirty="0"/>
          </a:p>
        </p:txBody>
      </p:sp>
      <p:sp>
        <p:nvSpPr>
          <p:cNvPr id="39" name="Shape 36"/>
          <p:cNvSpPr/>
          <p:nvPr/>
        </p:nvSpPr>
        <p:spPr>
          <a:xfrm>
            <a:off x="457200" y="5681472"/>
            <a:ext cx="11274552" cy="627888"/>
          </a:xfrm>
          <a:prstGeom prst="roundRect">
            <a:avLst>
              <a:gd name="adj" fmla="val 7282"/>
            </a:avLst>
          </a:prstGeom>
          <a:solidFill>
            <a:srgbClr val="F4F1EA"/>
          </a:solidFill>
          <a:ln w="9525">
            <a:solidFill>
              <a:srgbClr val="D8D0BF"/>
            </a:solidFill>
            <a:prstDash val="solid"/>
          </a:ln>
        </p:spPr>
      </p:sp>
      <p:sp>
        <p:nvSpPr>
          <p:cNvPr id="40" name="Text 37"/>
          <p:cNvSpPr txBox="1"/>
          <p:nvPr/>
        </p:nvSpPr>
        <p:spPr>
          <a:xfrm>
            <a:off x="6720840" y="5681472"/>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Guessing hamza seats</a:t>
            </a:r>
            <a:endParaRPr lang="en-US" sz="1100" dirty="0"/>
          </a:p>
        </p:txBody>
      </p:sp>
      <p:sp>
        <p:nvSpPr>
          <p:cNvPr id="41" name="Text 38"/>
          <p:cNvSpPr txBox="1"/>
          <p:nvPr/>
        </p:nvSpPr>
        <p:spPr>
          <a:xfrm>
            <a:off x="566928" y="5681472"/>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Today: recognise the five shapes only.</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28</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F1-L06 · Small marks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F1-L06</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decode a consonant with shadda.</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read all three tanwīn endings.</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distinguish </a:t>
            </a:r>
            <a:pPr algn="l" indent="0" marL="0">
              <a:buNone/>
            </a:pPr>
            <a:r>
              <a:rPr lang="ar-SA" altLang="en-US" sz="1700" dirty="0">
                <a:solidFill>
                  <a:srgbClr val="1F2A37"/>
                </a:solidFill>
                <a:latin typeface="Amiri" pitchFamily="2" charset="-78"/>
                <a:cs typeface="Amiri" pitchFamily="2" charset="-78"/>
              </a:rPr>
              <a:t>أَ، آ، بَا</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find hamza in five printed forms.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explain why a word with </a:t>
            </a:r>
            <a:pPr algn="l" indent="0" marL="0">
              <a:buNone/>
            </a:pPr>
            <a:r>
              <a:rPr lang="ar-SA" altLang="en-US" sz="1700" dirty="0">
                <a:solidFill>
                  <a:srgbClr val="1F2A37"/>
                </a:solidFill>
                <a:latin typeface="Amiri" pitchFamily="2" charset="-78"/>
                <a:cs typeface="Amiri" pitchFamily="2" charset="-78"/>
              </a:rPr>
              <a:t>الـ</a:t>
            </a:r>
            <a:pPr algn="l" indent="0" marL="0">
              <a:buNone/>
            </a:pPr>
            <a:r>
              <a:rPr lang="en-US" sz="1300" dirty="0">
                <a:solidFill>
                  <a:srgbClr val="1F2A37"/>
                </a:solidFill>
                <a:latin typeface="Calibri" pitchFamily="34" charset="0"/>
                <a:cs typeface="Amiri" pitchFamily="2" charset="-78"/>
              </a:rPr>
              <a:t> has no tanwīn.</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28</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F1-L06 · Small marks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F1-L06</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a:t>
            </a:r>
            <a:pPr algn="l" indent="0" marL="0">
              <a:buNone/>
            </a:pPr>
            <a:r>
              <a:rPr lang="ar-SA" altLang="en-US" sz="1650" b="1" dirty="0">
                <a:solidFill>
                  <a:srgbClr val="1B3B6F"/>
                </a:solidFill>
                <a:latin typeface="Amiri" pitchFamily="2" charset="-78"/>
                <a:cs typeface="Amiri" pitchFamily="2" charset="-78"/>
              </a:rPr>
              <a:t>بَاب</a:t>
            </a:r>
            <a:pPr algn="l" indent="0" marL="0">
              <a:buNone/>
            </a:pPr>
            <a:r>
              <a:rPr lang="en-US" sz="1250" b="1" dirty="0">
                <a:solidFill>
                  <a:srgbClr val="1B3B6F"/>
                </a:solidFill>
                <a:latin typeface="Calibri" pitchFamily="34" charset="0"/>
                <a:cs typeface="Amiri" pitchFamily="2" charset="-78"/>
              </a:rPr>
              <a:t> not use </a:t>
            </a:r>
            <a:pPr algn="l" indent="0" marL="0">
              <a:buNone/>
            </a:pPr>
            <a:r>
              <a:rPr lang="ar-SA" altLang="en-US" sz="1650" b="1" dirty="0">
                <a:solidFill>
                  <a:srgbClr val="1B3B6F"/>
                </a:solidFill>
                <a:latin typeface="Amiri" pitchFamily="2" charset="-78"/>
                <a:cs typeface="Amiri" pitchFamily="2" charset="-78"/>
              </a:rPr>
              <a:t>آ</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Its /ā/ has no preceding hamza</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Its vowel is short</a:t>
            </a:r>
            <a:endParaRPr lang="en-US" sz="1250" dirty="0"/>
          </a:p>
        </p:txBody>
      </p:sp>
      <p:sp>
        <p:nvSpPr>
          <p:cNvPr id="25" name="Shape 22"/>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404360" y="1947672"/>
            <a:ext cx="310896" cy="310896"/>
          </a:xfrm>
          <a:prstGeom prst="ellipse">
            <a:avLst/>
          </a:prstGeom>
          <a:solidFill>
            <a:srgbClr val="1B3B6F"/>
          </a:solidFill>
          <a:ln w="12700">
            <a:solidFill>
              <a:srgbClr val="1B3B6F"/>
            </a:solidFill>
            <a:prstDash val="solid"/>
          </a:ln>
        </p:spPr>
      </p:sp>
      <p:sp>
        <p:nvSpPr>
          <p:cNvPr id="27" name="Text 24"/>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28" name="Text 25"/>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consonant sound does hamza represent?</a:t>
            </a:r>
            <a:endParaRPr lang="en-US" sz="1250" dirty="0"/>
          </a:p>
        </p:txBody>
      </p:sp>
      <p:sp>
        <p:nvSpPr>
          <p:cNvPr id="29" name="Shape 26"/>
          <p:cNvSpPr/>
          <p:nvPr/>
        </p:nvSpPr>
        <p:spPr>
          <a:xfrm>
            <a:off x="4459224" y="2532888"/>
            <a:ext cx="256032" cy="256032"/>
          </a:xfrm>
          <a:prstGeom prst="ellipse">
            <a:avLst/>
          </a:prstGeom>
          <a:solidFill>
            <a:srgbClr val="F4F1EA"/>
          </a:solidFill>
          <a:ln w="12700">
            <a:solidFill>
              <a:srgbClr val="F4F1EA"/>
            </a:solidFill>
            <a:prstDash val="solid"/>
          </a:ln>
        </p:spPr>
      </p:sp>
      <p:sp>
        <p:nvSpPr>
          <p:cNvPr id="30" name="Text 27"/>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1" name="Text 28"/>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t>
            </a:r>
            <a:endParaRPr lang="en-US" sz="1250" dirty="0"/>
          </a:p>
        </p:txBody>
      </p:sp>
      <p:sp>
        <p:nvSpPr>
          <p:cNvPr id="32" name="Shape 29"/>
          <p:cNvSpPr/>
          <p:nvPr/>
        </p:nvSpPr>
        <p:spPr>
          <a:xfrm>
            <a:off x="4459224" y="29900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4" name="Text 31"/>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glottal stop /ʔ/</a:t>
            </a:r>
            <a:endParaRPr lang="en-US" sz="1250" dirty="0"/>
          </a:p>
        </p:txBody>
      </p:sp>
      <p:sp>
        <p:nvSpPr>
          <p:cNvPr id="35" name="Shape 32"/>
          <p:cNvSpPr/>
          <p:nvPr/>
        </p:nvSpPr>
        <p:spPr>
          <a:xfrm>
            <a:off x="4459224" y="34472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7" name="Text 34"/>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a:t>
            </a:r>
            <a:endParaRPr lang="en-US" sz="1250" dirty="0"/>
          </a:p>
        </p:txBody>
      </p:sp>
      <p:sp>
        <p:nvSpPr>
          <p:cNvPr id="38" name="Shape 35"/>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8223504" y="1947672"/>
            <a:ext cx="310896" cy="310896"/>
          </a:xfrm>
          <a:prstGeom prst="ellipse">
            <a:avLst/>
          </a:prstGeom>
          <a:solidFill>
            <a:srgbClr val="1B3B6F"/>
          </a:solidFill>
          <a:ln w="12700">
            <a:solidFill>
              <a:srgbClr val="1B3B6F"/>
            </a:solidFill>
            <a:prstDash val="solid"/>
          </a:ln>
        </p:spPr>
      </p:sp>
      <p:sp>
        <p:nvSpPr>
          <p:cNvPr id="40" name="Text 37"/>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1" name="Text 38"/>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today’s honest hamza spelling target?</a:t>
            </a:r>
            <a:endParaRPr lang="en-US" sz="1250" dirty="0"/>
          </a:p>
        </p:txBody>
      </p:sp>
      <p:sp>
        <p:nvSpPr>
          <p:cNvPr id="42" name="Shape 39"/>
          <p:cNvSpPr/>
          <p:nvPr/>
        </p:nvSpPr>
        <p:spPr>
          <a:xfrm>
            <a:off x="8278368" y="2532888"/>
            <a:ext cx="256032" cy="256032"/>
          </a:xfrm>
          <a:prstGeom prst="ellipse">
            <a:avLst/>
          </a:prstGeom>
          <a:solidFill>
            <a:srgbClr val="F4F1EA"/>
          </a:solidFill>
          <a:ln w="12700">
            <a:solidFill>
              <a:srgbClr val="F4F1EA"/>
            </a:solidFill>
            <a:prstDash val="solid"/>
          </a:ln>
        </p:spPr>
      </p:sp>
      <p:sp>
        <p:nvSpPr>
          <p:cNvPr id="43" name="Text 40"/>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4" name="Text 41"/>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Guess every seat from one shortcut</a:t>
            </a:r>
            <a:endParaRPr lang="en-US" sz="1250" dirty="0"/>
          </a:p>
        </p:txBody>
      </p:sp>
      <p:sp>
        <p:nvSpPr>
          <p:cNvPr id="45" name="Shape 42"/>
          <p:cNvSpPr/>
          <p:nvPr/>
        </p:nvSpPr>
        <p:spPr>
          <a:xfrm>
            <a:off x="8278368" y="29900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7" name="Text 44"/>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Recognise all common shapes</a:t>
            </a:r>
            <a:endParaRPr lang="en-US" sz="1250" dirty="0"/>
          </a:p>
        </p:txBody>
      </p:sp>
      <p:sp>
        <p:nvSpPr>
          <p:cNvPr id="48" name="Shape 45"/>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9" name="Text 46"/>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0" name="Text 47"/>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28</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F1-L06 · Small marks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F1-L06</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a:t>
            </a:r>
            <a:pPr algn="l" indent="0" marL="0">
              <a:buNone/>
            </a:pPr>
            <a:r>
              <a:rPr lang="ar-SA" altLang="en-US" sz="1650" b="1" dirty="0">
                <a:solidFill>
                  <a:srgbClr val="1B3B6F"/>
                </a:solidFill>
                <a:latin typeface="Amiri" pitchFamily="2" charset="-78"/>
                <a:cs typeface="Amiri" pitchFamily="2" charset="-78"/>
              </a:rPr>
              <a:t>بَاب</a:t>
            </a:r>
            <a:pPr algn="l" indent="0" marL="0">
              <a:buNone/>
            </a:pPr>
            <a:r>
              <a:rPr lang="en-US" sz="1250" b="1" dirty="0">
                <a:solidFill>
                  <a:srgbClr val="1B3B6F"/>
                </a:solidFill>
                <a:latin typeface="Calibri" pitchFamily="34" charset="0"/>
                <a:cs typeface="Amiri" pitchFamily="2" charset="-78"/>
              </a:rPr>
              <a:t> not use </a:t>
            </a:r>
            <a:pPr algn="l" indent="0" marL="0">
              <a:buNone/>
            </a:pPr>
            <a:r>
              <a:rPr lang="ar-SA" altLang="en-US" sz="1650" b="1" dirty="0">
                <a:solidFill>
                  <a:srgbClr val="1B3B6F"/>
                </a:solidFill>
                <a:latin typeface="Amiri" pitchFamily="2" charset="-78"/>
                <a:cs typeface="Amiri" pitchFamily="2" charset="-78"/>
              </a:rPr>
              <a:t>آ</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Its /ā/ has no preceding hamza</a:t>
            </a:r>
            <a:endParaRPr lang="en-US" sz="12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Its vowel is short</a:t>
            </a:r>
            <a:endParaRPr lang="en-US" sz="1250" dirty="0"/>
          </a:p>
        </p:txBody>
      </p:sp>
      <p:sp>
        <p:nvSpPr>
          <p:cNvPr id="26" name="Text 23"/>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final check 7.</a:t>
            </a:r>
            <a:endParaRPr lang="en-US" sz="1050" dirty="0"/>
          </a:p>
        </p:txBody>
      </p:sp>
      <p:sp>
        <p:nvSpPr>
          <p:cNvPr id="27" name="Shape 24"/>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404360" y="1947672"/>
            <a:ext cx="310896" cy="310896"/>
          </a:xfrm>
          <a:prstGeom prst="ellipse">
            <a:avLst/>
          </a:prstGeom>
          <a:solidFill>
            <a:srgbClr val="1B3B6F"/>
          </a:solidFill>
          <a:ln w="12700">
            <a:solidFill>
              <a:srgbClr val="1B3B6F"/>
            </a:solidFill>
            <a:prstDash val="solid"/>
          </a:ln>
        </p:spPr>
      </p:sp>
      <p:sp>
        <p:nvSpPr>
          <p:cNvPr id="29" name="Text 26"/>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0" name="Text 27"/>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consonant sound does hamza represent?</a:t>
            </a:r>
            <a:endParaRPr lang="en-US" sz="1250" dirty="0"/>
          </a:p>
        </p:txBody>
      </p:sp>
      <p:sp>
        <p:nvSpPr>
          <p:cNvPr id="31" name="Shape 28"/>
          <p:cNvSpPr/>
          <p:nvPr/>
        </p:nvSpPr>
        <p:spPr>
          <a:xfrm>
            <a:off x="4459224" y="2532888"/>
            <a:ext cx="256032" cy="256032"/>
          </a:xfrm>
          <a:prstGeom prst="ellipse">
            <a:avLst/>
          </a:prstGeom>
          <a:solidFill>
            <a:srgbClr val="C9CED6"/>
          </a:solidFill>
          <a:ln w="12700">
            <a:solidFill>
              <a:srgbClr val="C9CED6"/>
            </a:solidFill>
            <a:prstDash val="solid"/>
          </a:ln>
        </p:spPr>
      </p:sp>
      <p:sp>
        <p:nvSpPr>
          <p:cNvPr id="32" name="Text 29"/>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3" name="Text 30"/>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a:t>
            </a:r>
            <a:endParaRPr lang="en-US" sz="1250" dirty="0"/>
          </a:p>
        </p:txBody>
      </p:sp>
      <p:sp>
        <p:nvSpPr>
          <p:cNvPr id="34" name="Shape 31"/>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990088"/>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glottal stop /ʔ/</a:t>
            </a:r>
            <a:endParaRPr lang="en-US" sz="1250" dirty="0"/>
          </a:p>
        </p:txBody>
      </p:sp>
      <p:sp>
        <p:nvSpPr>
          <p:cNvPr id="38" name="Shape 35"/>
          <p:cNvSpPr/>
          <p:nvPr/>
        </p:nvSpPr>
        <p:spPr>
          <a:xfrm>
            <a:off x="4459224" y="3447288"/>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/y/</a:t>
            </a:r>
            <a:endParaRPr lang="en-US" sz="1250" dirty="0"/>
          </a:p>
        </p:txBody>
      </p:sp>
      <p:sp>
        <p:nvSpPr>
          <p:cNvPr id="41" name="Text 38"/>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final check 8.</a:t>
            </a:r>
            <a:endParaRPr lang="en-US" sz="1050" dirty="0"/>
          </a:p>
        </p:txBody>
      </p:sp>
      <p:sp>
        <p:nvSpPr>
          <p:cNvPr id="42" name="Shape 39"/>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today’s honest hamza spelling target?</a:t>
            </a:r>
            <a:endParaRPr lang="en-US" sz="1250" dirty="0"/>
          </a:p>
        </p:txBody>
      </p:sp>
      <p:sp>
        <p:nvSpPr>
          <p:cNvPr id="46" name="Shape 43"/>
          <p:cNvSpPr/>
          <p:nvPr/>
        </p:nvSpPr>
        <p:spPr>
          <a:xfrm>
            <a:off x="8278368" y="2532888"/>
            <a:ext cx="256032" cy="256032"/>
          </a:xfrm>
          <a:prstGeom prst="ellipse">
            <a:avLst/>
          </a:prstGeom>
          <a:solidFill>
            <a:srgbClr val="C9CED6"/>
          </a:solidFill>
          <a:ln w="12700">
            <a:solidFill>
              <a:srgbClr val="C9CED6"/>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Guess every seat from one shortcut</a:t>
            </a:r>
            <a:endParaRPr lang="en-US" sz="1250" dirty="0"/>
          </a:p>
        </p:txBody>
      </p:sp>
      <p:sp>
        <p:nvSpPr>
          <p:cNvPr id="49" name="Shape 46"/>
          <p:cNvSpPr/>
          <p:nvPr/>
        </p:nvSpPr>
        <p:spPr>
          <a:xfrm>
            <a:off x="8186928" y="29535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9900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Recognise all common shapes</a:t>
            </a:r>
            <a:endParaRPr lang="en-US" sz="1250" dirty="0"/>
          </a:p>
        </p:txBody>
      </p:sp>
      <p:sp>
        <p:nvSpPr>
          <p:cNvPr id="53" name="Text 50"/>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final check 10.</a:t>
            </a:r>
            <a:endParaRPr lang="en-US" sz="1050" dirty="0"/>
          </a:p>
        </p:txBody>
      </p:sp>
      <p:sp>
        <p:nvSpPr>
          <p:cNvPr id="54" name="Shape 51"/>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56" name="Text 53"/>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28</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F1-L06 · Small marks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F1-L07: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F1-L06</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F1-L07 · Read the Number, Keep the Order</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٠ ١ ٢ ٣</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zero, one, two, three</a:t>
            </a:r>
            <a:pPr indent="0" marL="0">
              <a:buNone/>
            </a:pP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وَاحِدٌ</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one</a:t>
            </a:r>
            <a:pPr indent="0" marL="0">
              <a:buNone/>
            </a:pPr>
            <a:r>
              <a:rPr lang="en-US" sz="1000" i="1" dirty="0">
                <a:solidFill>
                  <a:srgbClr val="5A6472"/>
                </a:solidFill>
                <a:latin typeface="Calibri" pitchFamily="34" charset="0"/>
                <a:cs typeface="Amiri" pitchFamily="2" charset="-78"/>
              </a:rPr>
              <a:t>  f. وَاحِدَةٌ</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اِثْنَانِ</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two</a:t>
            </a:r>
            <a:pPr indent="0" marL="0">
              <a:buNone/>
            </a:pPr>
            <a:r>
              <a:rPr lang="en-US" sz="1000" i="1" dirty="0">
                <a:solidFill>
                  <a:srgbClr val="5A6472"/>
                </a:solidFill>
                <a:latin typeface="Calibri" pitchFamily="34" charset="0"/>
                <a:cs typeface="Amiri" pitchFamily="2" charset="-78"/>
              </a:rPr>
              <a:t>  f. اِثْنَتَانِ</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ثَلَاثَةٌ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three</a:t>
            </a:r>
            <a:pPr indent="0" marL="0">
              <a:buNone/>
            </a:pP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عَشَرَةٌ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ten  ١٠</a:t>
            </a:r>
            <a:pPr indent="0" marL="0">
              <a:buNone/>
            </a:pP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Write the digits </a:t>
            </a:r>
            <a:pPr algn="l" indent="0" marL="0">
              <a:buNone/>
            </a:pPr>
            <a:r>
              <a:rPr lang="ar-SA" altLang="en-US" sz="1350" dirty="0">
                <a:solidFill>
                  <a:srgbClr val="1F2A37"/>
                </a:solidFill>
                <a:latin typeface="Amiri" pitchFamily="2" charset="-78"/>
                <a:cs typeface="Amiri" pitchFamily="2" charset="-78"/>
              </a:rPr>
              <a:t>٠</a:t>
            </a:r>
            <a:pPr algn="l" indent="0" marL="0">
              <a:buNone/>
            </a:pPr>
            <a:r>
              <a:rPr lang="en-US" sz="1050" dirty="0">
                <a:solidFill>
                  <a:srgbClr val="1F2A37"/>
                </a:solidFill>
                <a:latin typeface="Calibri" pitchFamily="34" charset="0"/>
                <a:cs typeface="Amiri" pitchFamily="2" charset="-78"/>
              </a:rPr>
              <a:t> to </a:t>
            </a:r>
            <a:pPr algn="l" indent="0" marL="0">
              <a:buNone/>
            </a:pPr>
            <a:r>
              <a:rPr lang="ar-SA" altLang="en-US" sz="1350" dirty="0">
                <a:solidFill>
                  <a:srgbClr val="1F2A37"/>
                </a:solidFill>
                <a:latin typeface="Amiri" pitchFamily="2" charset="-78"/>
                <a:cs typeface="Amiri" pitchFamily="2" charset="-78"/>
              </a:rPr>
              <a:t>٩</a:t>
            </a:r>
            <a:pPr algn="l" indent="0" marL="0">
              <a:buNone/>
            </a:pPr>
            <a:r>
              <a:rPr lang="en-US" sz="1050" dirty="0">
                <a:solidFill>
                  <a:srgbClr val="1F2A37"/>
                </a:solidFill>
                <a:latin typeface="Calibri" pitchFamily="34" charset="0"/>
                <a:cs typeface="Amiri" pitchFamily="2" charset="-78"/>
              </a:rPr>
              <a:t> and say them aloud.</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٠ ١ ٢ ٣ ٤ ٥ ٦ ٧ ٨ ٩</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 F1-L06 · Shadda Signal and Ending Ear games.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rehearsal: shadda, three tanwīn endings, </a:t>
            </a:r>
            <a:pPr algn="l" indent="0" marL="0">
              <a:buNone/>
            </a:pPr>
            <a:r>
              <a:rPr lang="ar-SA" altLang="en-US" sz="1550" dirty="0">
                <a:solidFill>
                  <a:srgbClr val="1F2A37"/>
                </a:solidFill>
                <a:latin typeface="Amiri" pitchFamily="2" charset="-78"/>
                <a:cs typeface="Amiri" pitchFamily="2" charset="-78"/>
              </a:rPr>
              <a:t>أَ آ بَا</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homework: five vowelled words from a trusted source; label shadda, tanwīn, madda and two hamzas.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28</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F1-L06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300" b="1" dirty="0">
                <a:solidFill>
                  <a:srgbClr val="FFFFFF"/>
                </a:solidFill>
                <a:latin typeface="Cambria" pitchFamily="34" charset="0"/>
                <a:cs typeface="Amiri" pitchFamily="2" charset="-78"/>
              </a:rPr>
              <a:t>F1-L07 · Read the Number, Keep the Order</a:t>
            </a:r>
            <a:endParaRPr lang="en-US" sz="23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الأَرْقَامُ الهِنْدِيَّةُ مِنْ ٠ إِلَى ١٠٠</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digits </a:t>
            </a:r>
            <a:pPr algn="l" indent="0" marL="0">
              <a:buNone/>
            </a:pPr>
            <a:r>
              <a:rPr lang="ar-SA" altLang="en-US" sz="1700" b="1" dirty="0">
                <a:solidFill>
                  <a:srgbClr val="FFFFFF"/>
                </a:solidFill>
                <a:latin typeface="Amiri" pitchFamily="2" charset="-78"/>
                <a:cs typeface="Amiri" pitchFamily="2" charset="-78"/>
              </a:rPr>
              <a:t>٠</a:t>
            </a:r>
            <a:pPr algn="l" indent="0" marL="0">
              <a:buNone/>
            </a:pPr>
            <a:r>
              <a:rPr lang="en-US" sz="1300" b="1" dirty="0">
                <a:solidFill>
                  <a:srgbClr val="FFFFFF"/>
                </a:solidFill>
                <a:latin typeface="Calibri" pitchFamily="34" charset="0"/>
                <a:cs typeface="Amiri" pitchFamily="2" charset="-78"/>
              </a:rPr>
              <a:t>–</a:t>
            </a:r>
            <a:pPr algn="l" indent="0" marL="0">
              <a:buNone/>
            </a:pPr>
            <a:r>
              <a:rPr lang="ar-SA" altLang="en-US" sz="1700" b="1" dirty="0">
                <a:solidFill>
                  <a:srgbClr val="FFFFFF"/>
                </a:solidFill>
                <a:latin typeface="Amiri" pitchFamily="2" charset="-78"/>
                <a:cs typeface="Amiri" pitchFamily="2" charset="-78"/>
              </a:rPr>
              <a:t>٩</a:t>
            </a:r>
            <a:pPr algn="l" indent="0" marL="0">
              <a:buNone/>
            </a:pPr>
            <a:r>
              <a:rPr lang="en-US" sz="1300" b="1" dirty="0">
                <a:solidFill>
                  <a:srgbClr val="FFFFFF"/>
                </a:solidFill>
                <a:latin typeface="Calibri" pitchFamily="34" charset="0"/>
                <a:cs typeface="Amiri" pitchFamily="2" charset="-78"/>
              </a:rPr>
              <a:t> + your labelled words.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F1-L06 · Small Marks, Big Changes</dc:title>
  <dc:subject>PptxGenJS Presentation</dc:subject>
  <dc:creator>Al Madina Online School · Arabic Department</dc:creator>
  <cp:lastModifiedBy>Al Madina Online School · Arabic Department</cp:lastModifiedBy>
  <cp:revision>1</cp:revision>
  <dcterms:created xsi:type="dcterms:W3CDTF">2026-10-11T06:41:17Z</dcterms:created>
  <dcterms:modified xsi:type="dcterms:W3CDTF">2026-10-11T06:41:17Z</dcterms:modified>
</cp:coreProperties>
</file>