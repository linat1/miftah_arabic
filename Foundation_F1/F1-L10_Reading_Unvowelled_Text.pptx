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10 (F1-L10). The website lesson explains what stays visible in unvowelled Arabic, teaches the SCOPE routine (Scan · Chunk · Observe · Predict · Evaluate) with the worked example المكتبة, a vowel ladder (full → one anchor → everyday print), eight everyday signs, genuine ambiguity (كتب، علم، دخل) and a three-sentence context mission. All signs, tables, the passage, the rubric, the three-sign oral exit and the homework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read at least six of the eight signs with the scene clue and the support form. DEVELOP: use SCOPE on new words; explain one clue. STRETCH: explain ambiguity (كَتَبَ / كُتُب) and read the unvowelled passage.
• Hard boundary (website): context may choose a reading of the printed letters; it cannot invent different letters (بت can never be بيت).
• Heritage / Urdu readers: Urdu is normally written without vowel marks too — they already read this way. Their challenge: show the evidence and mark words as secure / likely / uncertain (website Heritage extension).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“F1-L09 bridge” (writing knowledge becomes reading evidence).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letters stay. The short vowels disappear. You use the letters FIRST, then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F1-L10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written without marks in Urdu too (مسجد، مدرسہ، علم، کتب، شارع عام). Urdu readers already read unvowelled words — ask them HOW they know, and name the clue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WHAT STAYS (website Part 1): ✓ base letters, positional forms, dots and breaks stay; ✓ long-vowel letters ا و ي stay; ○ fatḥa, ḍamma, kasra, sukūn and tanwīn (and often shadda) disappear; ? the reader supplies the sound from vocabulary, patterns and context.
Starter (website): English readers can often read “ths s wht Englsh lks lk wtht vwls” — but Arabic keeps its long vowels, so it is easier than that!
HARD BOUNDARY (website): context chooses a reading of the printed letters; it cannot invent different letters — بت can never become بيت or بنت.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(website Part 2): a strong reader does not guess from a picture and ignore the print — SCOPE moves from certain visual evidence to a checked interpretation.
Confidence labels (website): SECURE — I can point to the skeleton, a known chunk and a context fit · LIKELY — letters fit and context supports it, but the word is not yet familiar · UNCERTAIN — more than one reading still fits; mark it and keep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Parts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THE VOWEL LADDER (website Part 3). Read Level 1, cover it, reread Levels 2 and 3. The letters never change; only the scaffolding is removed.
Anchors (website): فُندق keeps the less predictable opening فُـ; مَطْعم keeps the closed chunk مَطْـ. Point to the skeleton (م ط ع م) at every level — the anchor helps pronunciation; it does not replace letter analysis.
If the final read is uncertain, go back ONE step — not to permanent transliteration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eight signs and letter clues. Read each with SCOPE together: cover the support column first. Then image-to-word recall (website): hide the Arabic, show only the scene words, students say each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“genuine ambiguity” table and game “Pattern Detective” (read the unvowelled sentence, choose the meaning of the highlighted skeleton). Sentences are teacher-made in the website style.
Website skeletons: كتب (كَتَبَ he wrote · كُتُب books · كُتِبَ it was written), علم (عِلْم knowledge · عَلَم flag · عَلِمَ he knew), دخل (دَخَلَ he entered · دَخْل income).
Good uncertainty language (website): “The letters allow two readings. This sentence makes one more likely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explain each choice with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CONTEXT MISSION (website). Show the slide with the English column COVERED (or read aloud only the Arabic) for the first 3 minutes.
Routes: Core — find five words you know and say what they mean (مدرسة، فصل، مكتبة، كتبا، الطلاب). Develop — read each sentence aloud using SCOPE. Stretch — explain كتبا (books, not “he wrote”) with evidence.
Then reveal the support column. Website pronunciation-support version: هَذِهِ مَدْرَسَةٌ كَبِيرَةٌ. فِي الْمَدْرَسَةِ فَصْلٌ وَمَكْتَبَةٌ. يَقْرَأُ الطُّلَّابُ كُتُبًا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(5 min). LIVE FEEDBACK after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(And this one? (محطة))
B: هٰذِهِ مَحَطَّةٌ. الشَّدَّةُ لَيْسَتْ مَكْتُوبَةً. (This is a station. The shadda is not written.)
THREE-SIGN ORAL EXIT (website): مدرسة — identify letters, read, give meaning; محطة — explain the inferred shadda; مستشفى — identify final ى. Record: secure / one prompt / practise again, plus the evidence language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context-reading rubric. Students complete: “My strongest evidence was …” and “I stayed uncertain when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(F1-L11 · Arabic Around Us) will spend class time USING this language, so students prepare it tonight — short, simple, easy to access (school guidance: “Simple, Short, Interesting, Relevant, Easy to access”). Next lesson: Arabic around the world — where the script appears and what it communicates. Do not photograph people or private information.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Read What Is Written: Unvowelled Text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قِرَاءَةُ النُّصُوصِ غَيْرِ المَشْكُولَةِ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Most everyday Arabic has no short-vowel marks. Learn what stays visible, use the SCOPE routine (letters first, context second), read eight real signs, and say “I’m not sure yet” when a word could be read two 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F1-L10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stays visible, and the SCOPE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Vowel ladder, sign scan, pattern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feature changes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ea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never join the letter after them?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د ذ ر ز 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ت ث ن ي</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means a mark is on the wrong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door</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exit</a:t>
            </a:r>
            <a:endParaRPr lang="en-US" sz="12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مغلق</a:t>
            </a:r>
            <a:pPr algn="l" indent="0" marL="0">
              <a:buNone/>
            </a:pPr>
            <a:r>
              <a:rPr lang="en-US" sz="1250" b="1" dirty="0">
                <a:solidFill>
                  <a:srgbClr val="1B3B6F"/>
                </a:solidFill>
                <a:latin typeface="Calibri" pitchFamily="34" charset="0"/>
                <a:cs typeface="Amiri" pitchFamily="2" charset="-78"/>
              </a:rPr>
              <a:t> mean on a sign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a:t>
            </a:r>
            <a:endParaRPr lang="en-US" sz="12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a:t>
            </a:r>
            <a:endParaRPr lang="en-US" sz="12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exit</a:t>
            </a:r>
            <a:endParaRPr lang="en-US" sz="12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feature changes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ea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Joins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F1-L09 bridge: dots identify the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never join the letter after them?</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 د ذ ر ز و</a:t>
            </a:r>
            <a:endParaRPr lang="ar-SA" sz="20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 ت ث ن ي</a:t>
            </a:r>
            <a:endParaRPr lang="ar-SA" sz="20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F1-L05 / L09.</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means a mark is on the wrong letter?</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t>
            </a:r>
            <a:endParaRPr lang="en-US" sz="125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
            </a:r>
            <a:endParaRPr lang="en-US" sz="125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F1-L09 repair codes.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61" name="Shape 58"/>
          <p:cNvSpPr/>
          <p:nvPr/>
        </p:nvSpPr>
        <p:spPr>
          <a:xfrm>
            <a:off x="640080" y="4831080"/>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door</a:t>
            </a:r>
            <a:endParaRPr lang="en-US" sz="1250" dirty="0"/>
          </a:p>
        </p:txBody>
      </p:sp>
      <p:sp>
        <p:nvSpPr>
          <p:cNvPr id="64" name="Shape 61"/>
          <p:cNvSpPr/>
          <p:nvPr/>
        </p:nvSpPr>
        <p:spPr>
          <a:xfrm>
            <a:off x="640080" y="520293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exit</a:t>
            </a:r>
            <a:endParaRPr lang="en-US" sz="1250" dirty="0"/>
          </a:p>
        </p:txBody>
      </p:sp>
      <p:sp>
        <p:nvSpPr>
          <p:cNvPr id="67" name="Shape 64"/>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57479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without marks.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مغلق</a:t>
            </a:r>
            <a:pPr algn="l" indent="0" marL="0">
              <a:buNone/>
            </a:pPr>
            <a:r>
              <a:rPr lang="en-US" sz="1250" b="1" dirty="0">
                <a:solidFill>
                  <a:srgbClr val="1B3B6F"/>
                </a:solidFill>
                <a:latin typeface="Calibri" pitchFamily="34" charset="0"/>
                <a:cs typeface="Amiri" pitchFamily="2" charset="-78"/>
              </a:rPr>
              <a:t> mean on a sign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closed</a:t>
            </a:r>
            <a:endParaRPr lang="en-US" sz="125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a:t>
            </a:r>
            <a:endParaRPr lang="en-US" sz="125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exit</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مُغْلَقٌ</a:t>
            </a:r>
            <a:pPr algn="l" indent="0" marL="0">
              <a:buNone/>
            </a:pPr>
            <a:r>
              <a:rPr lang="en-US" sz="1050" i="1" dirty="0">
                <a:solidFill>
                  <a:srgbClr val="8A6D1E"/>
                </a:solidFill>
                <a:latin typeface="Calibri" pitchFamily="34" charset="0"/>
                <a:cs typeface="Amiri" pitchFamily="2" charset="-78"/>
              </a:rPr>
              <a:t> = closed; </a:t>
            </a:r>
            <a:pPr algn="l" indent="0" marL="0">
              <a:buNone/>
            </a:pPr>
            <a:r>
              <a:rPr lang="ar-SA" altLang="en-US" sz="1350" dirty="0">
                <a:solidFill>
                  <a:srgbClr val="8A6D1E"/>
                </a:solidFill>
                <a:latin typeface="Amiri" pitchFamily="2" charset="-78"/>
                <a:ea typeface="Amiri" pitchFamily="2" charset="-78"/>
                <a:cs typeface="Amiri" pitchFamily="2" charset="-78"/>
              </a:rPr>
              <a:t>مَفْتُوحٌ</a:t>
            </a:r>
            <a:pPr algn="l" indent="0" marL="0">
              <a:buNone/>
            </a:pPr>
            <a:r>
              <a:rPr lang="en-US" sz="1050" i="1" dirty="0">
                <a:solidFill>
                  <a:srgbClr val="8A6D1E"/>
                </a:solidFill>
                <a:latin typeface="Calibri" pitchFamily="34" charset="0"/>
                <a:cs typeface="Amiri" pitchFamily="2" charset="-78"/>
              </a:rPr>
              <a:t> = open.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letters stay. The short vowels disappear. You use the letters FIRST, then the context.</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 ← مَدْرَسَة</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everyday Arabic leaves out most vowel marks.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SCOPE routine: letters first, then context.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eight everyday signs.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when a word could still be read in two ways.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least six of the eight signs.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which clues stay visible.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all five SCOPE steps.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context only after checking the letters.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ea typeface="Amiri" pitchFamily="2" charset="-78"/>
                <a:cs typeface="Amiri" pitchFamily="2" charset="-78"/>
              </a:rPr>
              <a:t>كَتَبَ / كُتُب / كُتِبَ</a:t>
            </a:r>
            <a:pPr algn="l" indent="0" marL="0">
              <a:buNone/>
            </a:pPr>
            <a:r>
              <a:rPr lang="en-US" sz="1300" b="1" dirty="0">
                <a:solidFill>
                  <a:srgbClr val="B83227"/>
                </a:solidFill>
                <a:latin typeface="Calibri" pitchFamily="34" charset="0"/>
                <a:cs typeface="Amiri" pitchFamily="2" charset="-78"/>
              </a:rPr>
              <a:t> from one skeleton.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mark a reading as uncertain and say why.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everyday signs, 5 SCOPE steps and 3 skeletons with more than one reading.</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ROUTINE</a:t>
            </a:r>
            <a:endParaRPr lang="en-US" sz="900" dirty="0"/>
          </a:p>
          <a:p>
            <a:pPr indent="0" marL="0">
              <a:buNone/>
            </a:pPr>
            <a:r>
              <a:rPr lang="en-US" sz="1200" b="1" dirty="0">
                <a:solidFill>
                  <a:srgbClr val="FFFFFF"/>
                </a:solidFill>
                <a:latin typeface="Calibri" pitchFamily="34" charset="0"/>
                <a:cs typeface="Amiri" pitchFamily="2" charset="-78"/>
              </a:rPr>
              <a:t>S · C · O · P · 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SIGNS</a:t>
            </a:r>
            <a:endParaRPr lang="en-US" sz="900" dirty="0"/>
          </a:p>
          <a:p>
            <a:pPr indent="0" marL="0">
              <a:buNone/>
            </a:pPr>
            <a:r>
              <a:rPr lang="en-US" sz="1200" b="1" dirty="0">
                <a:solidFill>
                  <a:srgbClr val="FFFFFF"/>
                </a:solidFill>
                <a:latin typeface="Calibri" pitchFamily="34" charset="0"/>
                <a:cs typeface="Amiri" pitchFamily="2" charset="-78"/>
              </a:rPr>
              <a:t>Everyday signs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SKELETONS</a:t>
            </a:r>
            <a:endParaRPr lang="en-US" sz="900" dirty="0"/>
          </a:p>
          <a:p>
            <a:pPr indent="0" marL="0">
              <a:buNone/>
            </a:pPr>
            <a:r>
              <a:rPr lang="en-US" sz="1200" b="1" dirty="0">
                <a:solidFill>
                  <a:srgbClr val="FFFFFF"/>
                </a:solidFill>
                <a:latin typeface="Calibri" pitchFamily="34" charset="0"/>
                <a:cs typeface="Amiri" pitchFamily="2" charset="-78"/>
              </a:rPr>
              <a:t>Two readings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‎مسجد‎ </a:t>
            </a:r>
            <a:pPr indent="0" marL="0">
              <a:buNone/>
            </a:pPr>
            <a:r>
              <a:rPr lang="en-US" sz="950" b="1" dirty="0">
                <a:solidFill>
                  <a:srgbClr val="2E8B57"/>
                </a:solidFill>
                <a:latin typeface="Calibri" pitchFamily="34" charset="0"/>
                <a:cs typeface="Amiri" pitchFamily="2" charset="-78"/>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مدرسة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‎مدرسہ‎ </a:t>
            </a:r>
            <a:pPr indent="0" marL="0">
              <a:buNone/>
            </a:pPr>
            <a:r>
              <a:rPr lang="en-US" sz="950" b="1" dirty="0">
                <a:solidFill>
                  <a:srgbClr val="2E8B57"/>
                </a:solidFill>
                <a:latin typeface="Calibri" pitchFamily="34" charset="0"/>
                <a:cs typeface="Amiri" pitchFamily="2" charset="-78"/>
              </a:rPr>
              <a:t> madrasa ·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‎علم‎ </a:t>
            </a:r>
            <a:pPr indent="0" marL="0">
              <a:buNone/>
            </a:pPr>
            <a:r>
              <a:rPr lang="en-US" sz="950" b="1" dirty="0">
                <a:solidFill>
                  <a:srgbClr val="2E8B57"/>
                </a:solidFill>
                <a:latin typeface="Calibri" pitchFamily="34" charset="0"/>
                <a:cs typeface="Amiri" pitchFamily="2" charset="-78"/>
              </a:rPr>
              <a:t> ʿilm · knowledge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‎کتب‎ </a:t>
            </a:r>
            <a:pPr indent="0" marL="0">
              <a:buNone/>
            </a:pPr>
            <a:r>
              <a:rPr lang="en-US" sz="950" b="1" dirty="0">
                <a:solidFill>
                  <a:srgbClr val="2E8B57"/>
                </a:solidFill>
                <a:latin typeface="Calibri" pitchFamily="34" charset="0"/>
                <a:cs typeface="Amiri" pitchFamily="2" charset="-78"/>
              </a:rPr>
              <a:t> kutub · books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شارع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‎شارع‎ </a:t>
            </a:r>
            <a:pPr indent="0" marL="0">
              <a:buNone/>
            </a:pPr>
            <a:r>
              <a:rPr lang="en-US" sz="950" b="1" dirty="0">
                <a:solidFill>
                  <a:srgbClr val="2E8B57"/>
                </a:solidFill>
                <a:latin typeface="Calibri" pitchFamily="34" charset="0"/>
                <a:cs typeface="Amiri" pitchFamily="2" charset="-78"/>
              </a:rPr>
              <a:t> shāriʿ · street, avenue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WHAT REMAINS VISIBLE?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letters stay; most marks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يَبْقَى فِي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Printed (everyday)</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support marks</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 that stays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مدرسة</a:t>
            </a:r>
            <a:endParaRPr lang="ar-SA" sz="3200" dirty="0"/>
          </a:p>
        </p:txBody>
      </p:sp>
      <p:sp>
        <p:nvSpPr>
          <p:cNvPr id="21" name="Text 18"/>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a:t>
            </a:r>
            <a:endParaRPr lang="ar-SA" sz="28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five letters, including the final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شارع</a:t>
            </a:r>
            <a:endParaRPr lang="ar-SA" sz="3200" dirty="0"/>
          </a:p>
        </p:txBody>
      </p:sp>
      <p:sp>
        <p:nvSpPr>
          <p:cNvPr id="27" name="Text 24"/>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شَارِع</a:t>
            </a:r>
            <a:endParaRPr lang="ar-SA" sz="28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written alif shows the long ā</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فندق</a:t>
            </a:r>
            <a:endParaRPr lang="ar-SA" sz="3200" dirty="0"/>
          </a:p>
        </p:txBody>
      </p:sp>
      <p:sp>
        <p:nvSpPr>
          <p:cNvPr id="33" name="Text 30"/>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فُنْدُق</a:t>
            </a:r>
            <a:endParaRPr lang="ar-SA" sz="28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Dots tell </a:t>
            </a:r>
            <a:pPr algn="l" indent="0" marL="0">
              <a:buNone/>
            </a:pPr>
            <a:r>
              <a:rPr lang="ar-SA" altLang="en-US" sz="1450" dirty="0">
                <a:solidFill>
                  <a:srgbClr val="5A6472"/>
                </a:solidFill>
                <a:latin typeface="Amiri" pitchFamily="2" charset="-78"/>
                <a:ea typeface="Amiri" pitchFamily="2" charset="-78"/>
                <a:cs typeface="Amiri" pitchFamily="2" charset="-78"/>
              </a:rPr>
              <a:t>ف ن ق</a:t>
            </a:r>
            <a:pPr algn="l" indent="0" marL="0">
              <a:buNone/>
            </a:pPr>
            <a:r>
              <a:rPr lang="en-US" sz="1100" dirty="0">
                <a:solidFill>
                  <a:srgbClr val="5A6472"/>
                </a:solidFill>
                <a:latin typeface="Calibri" pitchFamily="34" charset="0"/>
                <a:cs typeface="Amiri" pitchFamily="2" charset="-78"/>
              </a:rPr>
              <a:t> apart; vocabulary gives the vowels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يقرأ</a:t>
            </a:r>
            <a:endParaRPr lang="ar-SA" sz="3200" dirty="0"/>
          </a:p>
        </p:txBody>
      </p:sp>
      <p:sp>
        <p:nvSpPr>
          <p:cNvPr id="39" name="Text 36"/>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يَقْرَأ</a:t>
            </a:r>
            <a:endParaRPr lang="ar-SA" sz="28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stays visible — it is a letter-sign, not a vowel mark</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dirty="0">
                <a:solidFill>
                  <a:srgbClr val="1B3B6F"/>
                </a:solidFill>
                <a:latin typeface="Calibri" pitchFamily="34" charset="0"/>
                <a:cs typeface="Amiri" pitchFamily="2" charset="-78"/>
              </a:rPr>
              <a:t>TEACHER INSTRUCTION · THE SCOPE ROUTINE (WEBSITE PART 2) · WORKED EXAMPLE </a:t>
            </a:r>
            <a:pPr algn="l" indent="0" marL="0">
              <a:buNone/>
            </a:pPr>
            <a:r>
              <a:rPr lang="ar-SA" altLang="en-US" sz="1100" b="1" dirty="0">
                <a:solidFill>
                  <a:srgbClr val="1B3B6F"/>
                </a:solidFill>
                <a:latin typeface="Amiri" pitchFamily="2" charset="-78"/>
                <a:ea typeface="Amiri" pitchFamily="2" charset="-78"/>
                <a:cs typeface="Amiri" pitchFamily="2" charset="-78"/>
              </a:rPr>
              <a:t>المكتبة</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SCOPE the word before you say 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اِجْمَعِ الأَدِلَّةَ قَبْلَ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do</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المكتبة</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811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 · Scan the skeleton</a:t>
            </a:r>
            <a:endParaRPr lang="en-US" sz="1100" dirty="0"/>
          </a:p>
        </p:txBody>
      </p:sp>
      <p:sp>
        <p:nvSpPr>
          <p:cNvPr id="21" name="Text 18"/>
          <p:cNvSpPr txBox="1"/>
          <p:nvPr/>
        </p:nvSpPr>
        <p:spPr>
          <a:xfrm>
            <a:off x="507492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Right to left: name every letter and dot; notice breaks.</a:t>
            </a:r>
            <a:endParaRPr lang="en-US" sz="1100" dirty="0"/>
          </a:p>
        </p:txBody>
      </p:sp>
      <p:sp>
        <p:nvSpPr>
          <p:cNvPr id="22" name="Text 19"/>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 ل م ك ت ب ة</a:t>
            </a:r>
            <a:pPr algn="l" indent="0" marL="0">
              <a:buNone/>
            </a:pPr>
            <a:r>
              <a:rPr lang="en-US" sz="1100" dirty="0">
                <a:solidFill>
                  <a:srgbClr val="5A6472"/>
                </a:solidFill>
                <a:latin typeface="Calibri" pitchFamily="34" charset="0"/>
                <a:cs typeface="Amiri" pitchFamily="2" charset="-78"/>
              </a:rPr>
              <a:t> — seven letters, one word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2811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Chunk what is known</a:t>
            </a:r>
            <a:endParaRPr lang="en-US" sz="1100" dirty="0"/>
          </a:p>
        </p:txBody>
      </p:sp>
      <p:sp>
        <p:nvSpPr>
          <p:cNvPr id="27" name="Text 24"/>
          <p:cNvSpPr txBox="1"/>
          <p:nvPr/>
        </p:nvSpPr>
        <p:spPr>
          <a:xfrm>
            <a:off x="507492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Spot </a:t>
            </a:r>
            <a:pPr algn="l" indent="0" marL="0">
              <a:buNone/>
            </a:pPr>
            <a:r>
              <a:rPr lang="ar-SA" altLang="en-US" sz="1450" dirty="0">
                <a:solidFill>
                  <a:srgbClr val="5A6472"/>
                </a:solidFill>
                <a:latin typeface="Amiri" pitchFamily="2" charset="-78"/>
                <a:ea typeface="Amiri" pitchFamily="2" charset="-78"/>
                <a:cs typeface="Amiri" pitchFamily="2" charset="-78"/>
              </a:rPr>
              <a:t>ال ، و ، بـ ، ة ، ات</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 + مكتب + ة</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2811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 · Observe vowel clues</a:t>
            </a:r>
            <a:endParaRPr lang="en-US" sz="1100" dirty="0"/>
          </a:p>
        </p:txBody>
      </p:sp>
      <p:sp>
        <p:nvSpPr>
          <p:cNvPr id="33" name="Text 30"/>
          <p:cNvSpPr txBox="1"/>
          <p:nvPr/>
        </p:nvSpPr>
        <p:spPr>
          <a:xfrm>
            <a:off x="507492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 for written </a:t>
            </a:r>
            <a:pPr algn="l" indent="0" marL="0">
              <a:buNone/>
            </a:pPr>
            <a:r>
              <a:rPr lang="ar-SA" altLang="en-US" sz="1450" dirty="0">
                <a:solidFill>
                  <a:srgbClr val="5A6472"/>
                </a:solidFill>
                <a:latin typeface="Amiri" pitchFamily="2" charset="-78"/>
                <a:ea typeface="Amiri" pitchFamily="2" charset="-78"/>
                <a:cs typeface="Amiri" pitchFamily="2" charset="-78"/>
              </a:rPr>
              <a:t>ا و ي</a:t>
            </a:r>
            <a:pPr algn="l" indent="0" marL="0">
              <a:buNone/>
            </a:pPr>
            <a:r>
              <a:rPr lang="en-US" sz="1100" dirty="0">
                <a:solidFill>
                  <a:srgbClr val="5A6472"/>
                </a:solidFill>
                <a:latin typeface="Calibri" pitchFamily="34" charset="0"/>
                <a:cs typeface="Amiri" pitchFamily="2" charset="-78"/>
              </a:rPr>
              <a:t>; compare with words you know.</a:t>
            </a:r>
            <a:endParaRPr lang="en-US" sz="1100" dirty="0"/>
          </a:p>
        </p:txBody>
      </p:sp>
      <p:sp>
        <p:nvSpPr>
          <p:cNvPr id="34" name="Text 31"/>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long vowel inside </a:t>
            </a:r>
            <a:pPr algn="l" indent="0" marL="0">
              <a:buNone/>
            </a:pPr>
            <a:r>
              <a:rPr lang="ar-SA" altLang="en-US" sz="1450" dirty="0">
                <a:solidFill>
                  <a:srgbClr val="5A6472"/>
                </a:solidFill>
                <a:latin typeface="Amiri" pitchFamily="2" charset="-78"/>
                <a:ea typeface="Amiri" pitchFamily="2" charset="-78"/>
                <a:cs typeface="Amiri" pitchFamily="2" charset="-78"/>
              </a:rPr>
              <a:t>مكتب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2811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 Predict with context</a:t>
            </a:r>
            <a:endParaRPr lang="en-US" sz="1100" dirty="0"/>
          </a:p>
        </p:txBody>
      </p:sp>
      <p:sp>
        <p:nvSpPr>
          <p:cNvPr id="39" name="Text 36"/>
          <p:cNvSpPr txBox="1"/>
          <p:nvPr/>
        </p:nvSpPr>
        <p:spPr>
          <a:xfrm>
            <a:off x="507492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sign, the topic, the other words.</a:t>
            </a:r>
            <a:endParaRPr lang="en-US" sz="1100" dirty="0"/>
          </a:p>
        </p:txBody>
      </p:sp>
      <p:sp>
        <p:nvSpPr>
          <p:cNvPr id="40" name="Text 37"/>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topic; students read books there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28116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Evaluate everything</a:t>
            </a:r>
            <a:endParaRPr lang="en-US" sz="1100" dirty="0"/>
          </a:p>
        </p:txBody>
      </p:sp>
      <p:sp>
        <p:nvSpPr>
          <p:cNvPr id="45" name="Text 42"/>
          <p:cNvSpPr txBox="1"/>
          <p:nvPr/>
        </p:nvSpPr>
        <p:spPr>
          <a:xfrm>
            <a:off x="507492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it fit every letter AND the meaning?</a:t>
            </a:r>
            <a:endParaRPr lang="en-US" sz="1100" dirty="0"/>
          </a:p>
        </p:txBody>
      </p:sp>
      <p:sp>
        <p:nvSpPr>
          <p:cNvPr id="46" name="Text 43"/>
          <p:cNvSpPr txBox="1"/>
          <p:nvPr/>
        </p:nvSpPr>
        <p:spPr>
          <a:xfrm>
            <a:off x="566928" y="5413248"/>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الْمَكْتَبَة</a:t>
            </a:r>
            <a:pPr algn="l" indent="0" marL="0">
              <a:buNone/>
            </a:pPr>
            <a:r>
              <a:rPr lang="en-US" sz="1100" dirty="0">
                <a:solidFill>
                  <a:srgbClr val="5A6472"/>
                </a:solidFill>
                <a:latin typeface="Calibri" pitchFamily="34" charset="0"/>
                <a:cs typeface="Amiri" pitchFamily="2" charset="-78"/>
              </a:rPr>
              <a:t> — the library ✓</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visible in unvowelled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first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vowel marks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Letters, dots and long vowels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context turn </a:t>
            </a:r>
            <a:pPr algn="l" indent="0" marL="0">
              <a:buNone/>
            </a:pPr>
            <a:r>
              <a:rPr lang="ar-SA" altLang="en-US" sz="1650" b="1" dirty="0">
                <a:solidFill>
                  <a:srgbClr val="1B3B6F"/>
                </a:solidFill>
                <a:latin typeface="Amiri" pitchFamily="2" charset="-78"/>
                <a:ea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 </a:t>
            </a:r>
            <a:pPr algn="l" indent="0" marL="0">
              <a:buNone/>
            </a:pPr>
            <a:r>
              <a:rPr lang="ar-SA" altLang="en-US" sz="1650" dirty="0">
                <a:solidFill>
                  <a:srgbClr val="1F2A37"/>
                </a:solidFill>
                <a:latin typeface="Amiri" pitchFamily="2" charset="-78"/>
                <a:ea typeface="Amiri" pitchFamily="2" charset="-78"/>
                <a:cs typeface="Amiri" pitchFamily="2" charset="-78"/>
              </a:rPr>
              <a:t>ي</a:t>
            </a:r>
            <a:pPr algn="l" indent="0" marL="0">
              <a:buNone/>
            </a:pPr>
            <a:r>
              <a:rPr lang="en-US" sz="1250" dirty="0">
                <a:solidFill>
                  <a:srgbClr val="1F2A37"/>
                </a:solidFill>
                <a:latin typeface="Calibri" pitchFamily="34" charset="0"/>
                <a:cs typeface="Amiri" pitchFamily="2" charset="-78"/>
              </a:rPr>
              <a:t> is not printed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if the picture shows a house</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SCOPE step uses the sign or topic?</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Scan</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 · Predict with context</a:t>
            </a:r>
            <a:endParaRPr lang="en-US" sz="1250" dirty="0"/>
          </a:p>
        </p:txBody>
      </p:sp>
      <p:sp>
        <p:nvSpPr>
          <p:cNvPr id="48" name="Shape 45"/>
          <p:cNvSpPr/>
          <p:nvPr/>
        </p:nvSpPr>
        <p:spPr>
          <a:xfrm>
            <a:off x="640080" y="57881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 · Chunk</a:t>
            </a:r>
            <a:endParaRPr lang="en-US" sz="1250" dirty="0"/>
          </a:p>
        </p:txBody>
      </p:sp>
      <p:sp>
        <p:nvSpPr>
          <p:cNvPr id="51" name="Shape 4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6313932"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chunk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at the end of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5" name="Shape 52"/>
          <p:cNvSpPr/>
          <p:nvPr/>
        </p:nvSpPr>
        <p:spPr>
          <a:xfrm>
            <a:off x="6368796"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tāʾ marbūṭa (feminine ending)</a:t>
            </a:r>
            <a:endParaRPr lang="en-US" sz="1250" dirty="0"/>
          </a:p>
        </p:txBody>
      </p:sp>
      <p:sp>
        <p:nvSpPr>
          <p:cNvPr id="58" name="Shape 55"/>
          <p:cNvSpPr/>
          <p:nvPr/>
        </p:nvSpPr>
        <p:spPr>
          <a:xfrm>
            <a:off x="6368796"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 “the”</a:t>
            </a:r>
            <a:endParaRPr lang="en-US" sz="1250" dirty="0"/>
          </a:p>
        </p:txBody>
      </p:sp>
      <p:sp>
        <p:nvSpPr>
          <p:cNvPr id="61" name="Shape 58"/>
          <p:cNvSpPr/>
          <p:nvPr/>
        </p:nvSpPr>
        <p:spPr>
          <a:xfrm>
            <a:off x="6368796"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vowel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visible in unvowelled Arabic?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first letter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vowel marks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Letters, dots and long vowels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Part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context turn </a:t>
            </a:r>
            <a:pPr algn="l" indent="0" marL="0">
              <a:buNone/>
            </a:pPr>
            <a:r>
              <a:rPr lang="ar-SA" altLang="en-US" sz="1650" b="1" dirty="0">
                <a:solidFill>
                  <a:srgbClr val="1B3B6F"/>
                </a:solidFill>
                <a:latin typeface="Amiri" pitchFamily="2" charset="-78"/>
                <a:ea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963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the </a:t>
            </a:r>
            <a:pPr algn="l" indent="0" marL="0">
              <a:buNone/>
            </a:pPr>
            <a:r>
              <a:rPr lang="ar-SA" altLang="en-US" sz="1650" b="1" dirty="0">
                <a:solidFill>
                  <a:srgbClr val="1F2A37"/>
                </a:solidFill>
                <a:latin typeface="Amiri" pitchFamily="2" charset="-78"/>
                <a:ea typeface="Amiri" pitchFamily="2" charset="-78"/>
                <a:cs typeface="Amiri" pitchFamily="2" charset="-78"/>
              </a:rPr>
              <a:t>ي</a:t>
            </a:r>
            <a:pPr algn="l" indent="0" marL="0">
              <a:buNone/>
            </a:pPr>
            <a:r>
              <a:rPr lang="en-US" sz="1250" b="1" dirty="0">
                <a:solidFill>
                  <a:srgbClr val="1F2A37"/>
                </a:solidFill>
                <a:latin typeface="Calibri" pitchFamily="34" charset="0"/>
                <a:cs typeface="Amiri" pitchFamily="2" charset="-78"/>
              </a:rPr>
              <a:t> is not printed</a:t>
            </a:r>
            <a:endParaRPr lang="en-US" sz="1250" dirty="0"/>
          </a:p>
        </p:txBody>
      </p:sp>
      <p:sp>
        <p:nvSpPr>
          <p:cNvPr id="38" name="Shape 35"/>
          <p:cNvSpPr/>
          <p:nvPr/>
        </p:nvSpPr>
        <p:spPr>
          <a:xfrm>
            <a:off x="6368796"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if the picture shows a house</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hard boundary.</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SCOPE step uses the sign or topic?</a:t>
            </a:r>
            <a:endParaRPr lang="en-US" sz="1250" dirty="0"/>
          </a:p>
        </p:txBody>
      </p:sp>
      <p:sp>
        <p:nvSpPr>
          <p:cNvPr id="46" name="Shape 43"/>
          <p:cNvSpPr/>
          <p:nvPr/>
        </p:nvSpPr>
        <p:spPr>
          <a:xfrm>
            <a:off x="640080" y="4831080"/>
            <a:ext cx="256032" cy="256032"/>
          </a:xfrm>
          <a:prstGeom prst="ellipse">
            <a:avLst/>
          </a:prstGeom>
          <a:solidFill>
            <a:srgbClr val="C9CED6"/>
          </a:solidFill>
          <a:ln w="12700">
            <a:solidFill>
              <a:srgbClr val="C9CED6"/>
            </a:solidFill>
            <a:prstDash val="solid"/>
          </a:ln>
        </p:spPr>
      </p:sp>
      <p:sp>
        <p:nvSpPr>
          <p:cNvPr id="47" name="Text 4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 · Scan</a:t>
            </a:r>
            <a:endParaRPr lang="en-US" sz="1250" dirty="0"/>
          </a:p>
        </p:txBody>
      </p:sp>
      <p:sp>
        <p:nvSpPr>
          <p:cNvPr id="49" name="Shape 46"/>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520293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 · Predict with context</a:t>
            </a:r>
            <a:endParaRPr lang="en-US" sz="1250" dirty="0"/>
          </a:p>
        </p:txBody>
      </p:sp>
      <p:sp>
        <p:nvSpPr>
          <p:cNvPr id="53" name="Shape 50"/>
          <p:cNvSpPr/>
          <p:nvPr/>
        </p:nvSpPr>
        <p:spPr>
          <a:xfrm>
            <a:off x="640080" y="557479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 · Chunk</a:t>
            </a:r>
            <a:endParaRPr lang="en-US" sz="1250" dirty="0"/>
          </a:p>
        </p:txBody>
      </p:sp>
      <p:sp>
        <p:nvSpPr>
          <p:cNvPr id="56" name="Text 53"/>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Letters first, then context.</a:t>
            </a:r>
            <a:endParaRPr lang="en-US" sz="1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chunk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at the end of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368796"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tāʾ marbūṭa (feminine ending)</a:t>
            </a:r>
            <a:endParaRPr lang="en-US" sz="1250" dirty="0"/>
          </a:p>
        </p:txBody>
      </p:sp>
      <p:sp>
        <p:nvSpPr>
          <p:cNvPr id="65" name="Shape 62"/>
          <p:cNvSpPr/>
          <p:nvPr/>
        </p:nvSpPr>
        <p:spPr>
          <a:xfrm>
            <a:off x="6368796"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 “the”</a:t>
            </a:r>
            <a:endParaRPr lang="en-US" sz="1250" dirty="0"/>
          </a:p>
        </p:txBody>
      </p:sp>
      <p:sp>
        <p:nvSpPr>
          <p:cNvPr id="68" name="Shape 65"/>
          <p:cNvSpPr/>
          <p:nvPr/>
        </p:nvSpPr>
        <p:spPr>
          <a:xfrm>
            <a:off x="6368796"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vowel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known chunk.</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WALK DOWN THE VOWEL LADDER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Remove the support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7" name="Text 14"/>
          <p:cNvSpPr txBox="1"/>
          <p:nvPr/>
        </p:nvSpPr>
        <p:spPr>
          <a:xfrm>
            <a:off x="66842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 1 · full support</a:t>
            </a:r>
            <a:endParaRPr lang="en-US" sz="1100" dirty="0"/>
          </a:p>
        </p:txBody>
      </p:sp>
      <p:sp>
        <p:nvSpPr>
          <p:cNvPr id="18" name="Text 15"/>
          <p:cNvSpPr txBox="1"/>
          <p:nvPr/>
        </p:nvSpPr>
        <p:spPr>
          <a:xfrm>
            <a:off x="357530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 2 · one anchor</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 3 · everyday print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hotel</a:t>
            </a:r>
            <a:endParaRPr lang="en-US" sz="1100" dirty="0"/>
          </a:p>
        </p:txBody>
      </p:sp>
      <p:sp>
        <p:nvSpPr>
          <p:cNvPr id="22" name="Text 19"/>
          <p:cNvSpPr txBox="1"/>
          <p:nvPr/>
        </p:nvSpPr>
        <p:spPr>
          <a:xfrm>
            <a:off x="670255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فُنْدُقٌ</a:t>
            </a:r>
            <a:endParaRPr lang="ar-SA" sz="2800" dirty="0"/>
          </a:p>
        </p:txBody>
      </p:sp>
      <p:sp>
        <p:nvSpPr>
          <p:cNvPr id="23" name="Text 20"/>
          <p:cNvSpPr txBox="1"/>
          <p:nvPr/>
        </p:nvSpPr>
        <p:spPr>
          <a:xfrm>
            <a:off x="359359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فُندق</a:t>
            </a:r>
            <a:endParaRPr lang="ar-SA" sz="2800" dirty="0"/>
          </a:p>
        </p:txBody>
      </p:sp>
      <p:sp>
        <p:nvSpPr>
          <p:cNvPr id="24" name="Text 21"/>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فندق</a:t>
            </a:r>
            <a:endParaRPr lang="ar-SA" sz="2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a:t>
            </a:r>
            <a:endParaRPr lang="en-US" sz="1100" dirty="0"/>
          </a:p>
        </p:txBody>
      </p:sp>
      <p:sp>
        <p:nvSpPr>
          <p:cNvPr id="29" name="Text 26"/>
          <p:cNvSpPr txBox="1"/>
          <p:nvPr/>
        </p:nvSpPr>
        <p:spPr>
          <a:xfrm>
            <a:off x="670255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مَطْعَمٌ</a:t>
            </a:r>
            <a:endParaRPr lang="ar-SA" sz="2800" dirty="0"/>
          </a:p>
        </p:txBody>
      </p:sp>
      <p:sp>
        <p:nvSpPr>
          <p:cNvPr id="30" name="Text 27"/>
          <p:cNvSpPr txBox="1"/>
          <p:nvPr/>
        </p:nvSpPr>
        <p:spPr>
          <a:xfrm>
            <a:off x="359359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مَطْعم</a:t>
            </a:r>
            <a:endParaRPr lang="ar-SA" sz="2800" dirty="0"/>
          </a:p>
        </p:txBody>
      </p:sp>
      <p:sp>
        <p:nvSpPr>
          <p:cNvPr id="31" name="Text 28"/>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مطعم</a:t>
            </a:r>
            <a:endParaRPr lang="ar-SA" sz="2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6" name="Text 33"/>
          <p:cNvSpPr txBox="1"/>
          <p:nvPr/>
        </p:nvSpPr>
        <p:spPr>
          <a:xfrm>
            <a:off x="670255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a:t>
            </a:r>
            <a:endParaRPr lang="ar-SA" sz="2800" dirty="0"/>
          </a:p>
        </p:txBody>
      </p:sp>
      <p:sp>
        <p:nvSpPr>
          <p:cNvPr id="37" name="Text 34"/>
          <p:cNvSpPr txBox="1"/>
          <p:nvPr/>
        </p:nvSpPr>
        <p:spPr>
          <a:xfrm>
            <a:off x="359359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a:t>
            </a:r>
            <a:endParaRPr lang="ar-SA" sz="2800" dirty="0"/>
          </a:p>
        </p:txBody>
      </p:sp>
      <p:sp>
        <p:nvSpPr>
          <p:cNvPr id="38" name="Text 35"/>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a:t>
            </a:r>
            <a:endParaRPr lang="ar-SA" sz="2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station</a:t>
            </a:r>
            <a:endParaRPr lang="en-US" sz="1100" dirty="0"/>
          </a:p>
        </p:txBody>
      </p:sp>
      <p:sp>
        <p:nvSpPr>
          <p:cNvPr id="43" name="Text 40"/>
          <p:cNvSpPr txBox="1"/>
          <p:nvPr/>
        </p:nvSpPr>
        <p:spPr>
          <a:xfrm>
            <a:off x="670255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مَحَطَّةٌ</a:t>
            </a:r>
            <a:endParaRPr lang="ar-SA" sz="2800" dirty="0"/>
          </a:p>
        </p:txBody>
      </p:sp>
      <p:sp>
        <p:nvSpPr>
          <p:cNvPr id="44" name="Text 41"/>
          <p:cNvSpPr txBox="1"/>
          <p:nvPr/>
        </p:nvSpPr>
        <p:spPr>
          <a:xfrm>
            <a:off x="359359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محطَّة</a:t>
            </a:r>
            <a:endParaRPr lang="ar-SA" sz="2800" dirty="0"/>
          </a:p>
        </p:txBody>
      </p:sp>
      <p:sp>
        <p:nvSpPr>
          <p:cNvPr id="45" name="Text 42"/>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محطة</a:t>
            </a:r>
            <a:endParaRPr lang="ar-SA" sz="28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“SIGN SCAN”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Sign scan: read, then match the scene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مستشفى</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محطة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مطعم</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مطعم</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restaurant</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مستشفى</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hospital</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محطة</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station</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EIGHT SIGNS YOU CAN MEET IN THE WORLD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Everyday signs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لَافِتَاتٌ مِنَ الحَيَاةِ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t>
            </a:r>
            <a:endParaRPr lang="en-US" sz="1100" dirty="0"/>
          </a:p>
        </p:txBody>
      </p:sp>
      <p:sp>
        <p:nvSpPr>
          <p:cNvPr id="17" name="Text 14"/>
          <p:cNvSpPr txBox="1"/>
          <p:nvPr/>
        </p:nvSpPr>
        <p:spPr>
          <a:xfrm>
            <a:off x="7415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Support form</a:t>
            </a:r>
            <a:endParaRPr lang="en-US" sz="1100" dirty="0"/>
          </a:p>
        </p:txBody>
      </p:sp>
      <p:sp>
        <p:nvSpPr>
          <p:cNvPr id="18" name="Text 15"/>
          <p:cNvSpPr txBox="1"/>
          <p:nvPr/>
        </p:nvSpPr>
        <p:spPr>
          <a:xfrm>
            <a:off x="5404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clue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811512" y="226771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مطعم</a:t>
            </a:r>
            <a:endParaRPr lang="ar-SA" sz="2100" dirty="0"/>
          </a:p>
        </p:txBody>
      </p:sp>
      <p:sp>
        <p:nvSpPr>
          <p:cNvPr id="22" name="Text 19"/>
          <p:cNvSpPr txBox="1"/>
          <p:nvPr/>
        </p:nvSpPr>
        <p:spPr>
          <a:xfrm>
            <a:off x="7434072" y="226771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مَطْعَم</a:t>
            </a:r>
            <a:endParaRPr lang="ar-SA" sz="2100" dirty="0"/>
          </a:p>
        </p:txBody>
      </p:sp>
      <p:sp>
        <p:nvSpPr>
          <p:cNvPr id="23" name="Text 20"/>
          <p:cNvSpPr txBox="1"/>
          <p:nvPr/>
        </p:nvSpPr>
        <p:spPr>
          <a:xfrm>
            <a:off x="5440680" y="226771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a:t>
            </a:r>
            <a:endParaRPr lang="en-US" sz="1100" dirty="0"/>
          </a:p>
        </p:txBody>
      </p:sp>
      <p:sp>
        <p:nvSpPr>
          <p:cNvPr id="24" name="Text 21"/>
          <p:cNvSpPr txBox="1"/>
          <p:nvPr/>
        </p:nvSpPr>
        <p:spPr>
          <a:xfrm>
            <a:off x="566928" y="2267712"/>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ط</a:t>
            </a:r>
            <a:pPr algn="l" indent="0" marL="0">
              <a:buNone/>
            </a:pPr>
            <a:r>
              <a:rPr lang="en-US" sz="1100" dirty="0">
                <a:solidFill>
                  <a:srgbClr val="5A6472"/>
                </a:solidFill>
                <a:latin typeface="Calibri" pitchFamily="34" charset="0"/>
                <a:cs typeface="Amiri" pitchFamily="2" charset="-78"/>
              </a:rPr>
              <a:t> has no dot; </a:t>
            </a:r>
            <a:pPr algn="l" indent="0" marL="0">
              <a:buNone/>
            </a:pPr>
            <a:r>
              <a:rPr lang="ar-SA" altLang="en-US" sz="1450" dirty="0">
                <a:solidFill>
                  <a:srgbClr val="5A6472"/>
                </a:solidFill>
                <a:latin typeface="Amiri" pitchFamily="2" charset="-78"/>
                <a:ea typeface="Amiri" pitchFamily="2" charset="-78"/>
                <a:cs typeface="Amiri" pitchFamily="2" charset="-78"/>
              </a:rPr>
              <a:t>ع</a:t>
            </a:r>
            <a:pPr algn="l" indent="0" marL="0">
              <a:buNone/>
            </a:pPr>
            <a:r>
              <a:rPr lang="en-US" sz="1100" dirty="0">
                <a:solidFill>
                  <a:srgbClr val="5A6472"/>
                </a:solidFill>
                <a:latin typeface="Calibri" pitchFamily="34" charset="0"/>
                <a:cs typeface="Amiri" pitchFamily="2" charset="-78"/>
              </a:rPr>
              <a:t> is open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811512" y="277977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مدرسة</a:t>
            </a:r>
            <a:endParaRPr lang="ar-SA" sz="2100" dirty="0"/>
          </a:p>
        </p:txBody>
      </p:sp>
      <p:sp>
        <p:nvSpPr>
          <p:cNvPr id="29" name="Text 26"/>
          <p:cNvSpPr txBox="1"/>
          <p:nvPr/>
        </p:nvSpPr>
        <p:spPr>
          <a:xfrm>
            <a:off x="7434072" y="277977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مَدْرَسَة</a:t>
            </a:r>
            <a:endParaRPr lang="ar-SA" sz="2100" dirty="0"/>
          </a:p>
        </p:txBody>
      </p:sp>
      <p:sp>
        <p:nvSpPr>
          <p:cNvPr id="30" name="Text 27"/>
          <p:cNvSpPr txBox="1"/>
          <p:nvPr/>
        </p:nvSpPr>
        <p:spPr>
          <a:xfrm>
            <a:off x="5440680" y="277977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1" name="Text 28"/>
          <p:cNvSpPr txBox="1"/>
          <p:nvPr/>
        </p:nvSpPr>
        <p:spPr>
          <a:xfrm>
            <a:off x="566928" y="277977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811512" y="329184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مستشفى</a:t>
            </a:r>
            <a:endParaRPr lang="ar-SA" sz="2100" dirty="0"/>
          </a:p>
        </p:txBody>
      </p:sp>
      <p:sp>
        <p:nvSpPr>
          <p:cNvPr id="36" name="Text 33"/>
          <p:cNvSpPr txBox="1"/>
          <p:nvPr/>
        </p:nvSpPr>
        <p:spPr>
          <a:xfrm>
            <a:off x="7434072" y="329184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مُسْتَشْفَى</a:t>
            </a:r>
            <a:endParaRPr lang="ar-SA" sz="2100" dirty="0"/>
          </a:p>
        </p:txBody>
      </p:sp>
      <p:sp>
        <p:nvSpPr>
          <p:cNvPr id="37" name="Text 34"/>
          <p:cNvSpPr txBox="1"/>
          <p:nvPr/>
        </p:nvSpPr>
        <p:spPr>
          <a:xfrm>
            <a:off x="5440680" y="329184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hospital</a:t>
            </a:r>
            <a:endParaRPr lang="en-US" sz="1100" dirty="0"/>
          </a:p>
        </p:txBody>
      </p:sp>
      <p:sp>
        <p:nvSpPr>
          <p:cNvPr id="38" name="Text 35"/>
          <p:cNvSpPr txBox="1"/>
          <p:nvPr/>
        </p:nvSpPr>
        <p:spPr>
          <a:xfrm>
            <a:off x="566928" y="3291840"/>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ea typeface="Amiri" pitchFamily="2" charset="-78"/>
                <a:cs typeface="Amiri" pitchFamily="2" charset="-78"/>
              </a:rPr>
              <a:t>ى</a:t>
            </a:r>
            <a:pPr algn="l" indent="0" marL="0">
              <a:buNone/>
            </a:pPr>
            <a:r>
              <a:rPr lang="en-US" sz="1100" dirty="0">
                <a:solidFill>
                  <a:srgbClr val="5A6472"/>
                </a:solidFill>
                <a:latin typeface="Calibri" pitchFamily="34" charset="0"/>
                <a:cs typeface="Amiri" pitchFamily="2" charset="-78"/>
              </a:rPr>
              <a:t> (alif maqṣūra)</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811512" y="3803904"/>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مسجد</a:t>
            </a:r>
            <a:endParaRPr lang="ar-SA" sz="2100" dirty="0"/>
          </a:p>
        </p:txBody>
      </p:sp>
      <p:sp>
        <p:nvSpPr>
          <p:cNvPr id="43" name="Text 40"/>
          <p:cNvSpPr txBox="1"/>
          <p:nvPr/>
        </p:nvSpPr>
        <p:spPr>
          <a:xfrm>
            <a:off x="7434072" y="3803904"/>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مَسْجِد</a:t>
            </a:r>
            <a:endParaRPr lang="ar-SA" sz="2100" dirty="0"/>
          </a:p>
        </p:txBody>
      </p:sp>
      <p:sp>
        <p:nvSpPr>
          <p:cNvPr id="44" name="Text 41"/>
          <p:cNvSpPr txBox="1"/>
          <p:nvPr/>
        </p:nvSpPr>
        <p:spPr>
          <a:xfrm>
            <a:off x="5440680" y="3803904"/>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mosque</a:t>
            </a:r>
            <a:endParaRPr lang="en-US" sz="1100" dirty="0"/>
          </a:p>
        </p:txBody>
      </p:sp>
      <p:sp>
        <p:nvSpPr>
          <p:cNvPr id="45" name="Text 42"/>
          <p:cNvSpPr txBox="1"/>
          <p:nvPr/>
        </p:nvSpPr>
        <p:spPr>
          <a:xfrm>
            <a:off x="566928" y="3803904"/>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non-connecting </a:t>
            </a:r>
            <a:pPr algn="l" indent="0" marL="0">
              <a:buNone/>
            </a:pPr>
            <a:r>
              <a:rPr lang="ar-SA" altLang="en-US" sz="1450" dirty="0">
                <a:solidFill>
                  <a:srgbClr val="5A6472"/>
                </a:solidFill>
                <a:latin typeface="Amiri" pitchFamily="2" charset="-78"/>
                <a:ea typeface="Amiri" pitchFamily="2" charset="-78"/>
                <a:cs typeface="Amiri" pitchFamily="2" charset="-78"/>
              </a:rPr>
              <a:t>د</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811512" y="4315968"/>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محطة</a:t>
            </a:r>
            <a:endParaRPr lang="ar-SA" sz="2100" dirty="0"/>
          </a:p>
        </p:txBody>
      </p:sp>
      <p:sp>
        <p:nvSpPr>
          <p:cNvPr id="50" name="Text 47"/>
          <p:cNvSpPr txBox="1"/>
          <p:nvPr/>
        </p:nvSpPr>
        <p:spPr>
          <a:xfrm>
            <a:off x="7434072" y="4315968"/>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مَحَطَّة</a:t>
            </a:r>
            <a:endParaRPr lang="ar-SA" sz="2100" dirty="0"/>
          </a:p>
        </p:txBody>
      </p:sp>
      <p:sp>
        <p:nvSpPr>
          <p:cNvPr id="51" name="Text 48"/>
          <p:cNvSpPr txBox="1"/>
          <p:nvPr/>
        </p:nvSpPr>
        <p:spPr>
          <a:xfrm>
            <a:off x="5440680" y="4315968"/>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station</a:t>
            </a:r>
            <a:endParaRPr lang="en-US" sz="1100" dirty="0"/>
          </a:p>
        </p:txBody>
      </p:sp>
      <p:sp>
        <p:nvSpPr>
          <p:cNvPr id="52" name="Text 49"/>
          <p:cNvSpPr txBox="1"/>
          <p:nvPr/>
        </p:nvSpPr>
        <p:spPr>
          <a:xfrm>
            <a:off x="566928" y="4315968"/>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shadda inferred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811512" y="482803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شارع</a:t>
            </a:r>
            <a:endParaRPr lang="ar-SA" sz="2100" dirty="0"/>
          </a:p>
        </p:txBody>
      </p:sp>
      <p:sp>
        <p:nvSpPr>
          <p:cNvPr id="55" name="Text 52"/>
          <p:cNvSpPr txBox="1"/>
          <p:nvPr/>
        </p:nvSpPr>
        <p:spPr>
          <a:xfrm>
            <a:off x="7434072" y="482803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شَارِع</a:t>
            </a:r>
            <a:endParaRPr lang="ar-SA" sz="2100" dirty="0"/>
          </a:p>
        </p:txBody>
      </p:sp>
      <p:sp>
        <p:nvSpPr>
          <p:cNvPr id="56" name="Text 53"/>
          <p:cNvSpPr txBox="1"/>
          <p:nvPr/>
        </p:nvSpPr>
        <p:spPr>
          <a:xfrm>
            <a:off x="5440680" y="482803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street</a:t>
            </a:r>
            <a:endParaRPr lang="en-US" sz="1100" dirty="0"/>
          </a:p>
        </p:txBody>
      </p:sp>
      <p:sp>
        <p:nvSpPr>
          <p:cNvPr id="57" name="Text 54"/>
          <p:cNvSpPr txBox="1"/>
          <p:nvPr/>
        </p:nvSpPr>
        <p:spPr>
          <a:xfrm>
            <a:off x="566928" y="4828032"/>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visible alif = long ā</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811512" y="534009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بنك</a:t>
            </a:r>
            <a:endParaRPr lang="ar-SA" sz="2100" dirty="0"/>
          </a:p>
        </p:txBody>
      </p:sp>
      <p:sp>
        <p:nvSpPr>
          <p:cNvPr id="60" name="Text 57"/>
          <p:cNvSpPr txBox="1"/>
          <p:nvPr/>
        </p:nvSpPr>
        <p:spPr>
          <a:xfrm>
            <a:off x="7434072" y="534009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بَنْك</a:t>
            </a:r>
            <a:endParaRPr lang="ar-SA" sz="2100" dirty="0"/>
          </a:p>
        </p:txBody>
      </p:sp>
      <p:sp>
        <p:nvSpPr>
          <p:cNvPr id="61" name="Text 58"/>
          <p:cNvSpPr txBox="1"/>
          <p:nvPr/>
        </p:nvSpPr>
        <p:spPr>
          <a:xfrm>
            <a:off x="5440680" y="534009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bank</a:t>
            </a:r>
            <a:endParaRPr lang="en-US" sz="1100" dirty="0"/>
          </a:p>
        </p:txBody>
      </p:sp>
      <p:sp>
        <p:nvSpPr>
          <p:cNvPr id="62" name="Text 59"/>
          <p:cNvSpPr txBox="1"/>
          <p:nvPr/>
        </p:nvSpPr>
        <p:spPr>
          <a:xfrm>
            <a:off x="566928" y="534009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distinct dots on </a:t>
            </a:r>
            <a:pPr algn="l" indent="0" marL="0">
              <a:buNone/>
            </a:pPr>
            <a:r>
              <a:rPr lang="ar-SA" altLang="en-US" sz="1450" dirty="0">
                <a:solidFill>
                  <a:srgbClr val="5A6472"/>
                </a:solidFill>
                <a:latin typeface="Amiri" pitchFamily="2" charset="-78"/>
                <a:ea typeface="Amiri" pitchFamily="2" charset="-78"/>
                <a:cs typeface="Amiri" pitchFamily="2" charset="-78"/>
              </a:rPr>
              <a:t>ب ن</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811512" y="585216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فندق</a:t>
            </a:r>
            <a:endParaRPr lang="ar-SA" sz="2100" dirty="0"/>
          </a:p>
        </p:txBody>
      </p:sp>
      <p:sp>
        <p:nvSpPr>
          <p:cNvPr id="65" name="Text 62"/>
          <p:cNvSpPr txBox="1"/>
          <p:nvPr/>
        </p:nvSpPr>
        <p:spPr>
          <a:xfrm>
            <a:off x="7434072" y="585216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فُنْدُق</a:t>
            </a:r>
            <a:endParaRPr lang="ar-SA" sz="2100" dirty="0"/>
          </a:p>
        </p:txBody>
      </p:sp>
      <p:sp>
        <p:nvSpPr>
          <p:cNvPr id="66" name="Text 63"/>
          <p:cNvSpPr txBox="1"/>
          <p:nvPr/>
        </p:nvSpPr>
        <p:spPr>
          <a:xfrm>
            <a:off x="5440680" y="585216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hotel</a:t>
            </a:r>
            <a:endParaRPr lang="en-US" sz="1100" dirty="0"/>
          </a:p>
        </p:txBody>
      </p:sp>
      <p:sp>
        <p:nvSpPr>
          <p:cNvPr id="67" name="Text 64"/>
          <p:cNvSpPr txBox="1"/>
          <p:nvPr/>
        </p:nvSpPr>
        <p:spPr>
          <a:xfrm>
            <a:off x="566928" y="5852160"/>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ف</a:t>
            </a:r>
            <a:pPr algn="l" indent="0" marL="0">
              <a:buNone/>
            </a:pPr>
            <a:r>
              <a:rPr lang="en-US" sz="1100" dirty="0">
                <a:solidFill>
                  <a:srgbClr val="5A6472"/>
                </a:solidFill>
                <a:latin typeface="Calibri" pitchFamily="34" charset="0"/>
                <a:cs typeface="Amiri" pitchFamily="2" charset="-78"/>
              </a:rPr>
              <a:t> (one dot) vs final </a:t>
            </a:r>
            <a:pPr algn="l" indent="0" marL="0">
              <a:buNone/>
            </a:pPr>
            <a:r>
              <a:rPr lang="ar-SA" altLang="en-US" sz="1450" dirty="0">
                <a:solidFill>
                  <a:srgbClr val="5A6472"/>
                </a:solidFill>
                <a:latin typeface="Amiri" pitchFamily="2" charset="-78"/>
                <a:ea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(two)</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cs typeface="Amiri" pitchFamily="2" charset="-78"/>
              </a:rPr>
              <a:t>WE DO · GENUINE AMBIGUITY · WEBSITE GAME “PATTERN DETECTIVE”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skeleton, more than one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هَيْكَلٌ وَاحِدٌ، قِرَاءَاتٌ مُخْتَلِفَةٌ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في الحقيبة ثلاثة كتب.</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wrote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أحمد درسا.</a:t>
            </a:r>
            <a:endParaRPr lang="ar-SA" sz="15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wrote</a:t>
            </a:r>
            <a:endParaRPr lang="en-US" sz="12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0" name="Text 3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Flag or knowledge?</a:t>
            </a:r>
            <a:endParaRPr lang="en-US" sz="1200" dirty="0"/>
          </a:p>
        </p:txBody>
      </p:sp>
      <p:sp>
        <p:nvSpPr>
          <p:cNvPr id="41" name="Text 3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رفع الطالب العلم.</a:t>
            </a:r>
            <a:endParaRPr lang="ar-SA" sz="150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knowledge</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flag</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“He entered” or income?</a:t>
            </a:r>
            <a:endParaRPr lang="en-US" sz="1200" dirty="0"/>
          </a:p>
        </p:txBody>
      </p:sp>
      <p:sp>
        <p:nvSpPr>
          <p:cNvPr id="52" name="Text 49"/>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دخل المعلم الفصل.</a:t>
            </a:r>
            <a:endParaRPr lang="ar-SA" sz="1500" dirty="0"/>
          </a:p>
        </p:txBody>
      </p:sp>
      <p:sp>
        <p:nvSpPr>
          <p:cNvPr id="53" name="Shape 50"/>
          <p:cNvSpPr/>
          <p:nvPr/>
        </p:nvSpPr>
        <p:spPr>
          <a:xfrm>
            <a:off x="640080"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entered</a:t>
            </a:r>
            <a:endParaRPr lang="en-US" sz="1250" dirty="0"/>
          </a:p>
        </p:txBody>
      </p:sp>
      <p:sp>
        <p:nvSpPr>
          <p:cNvPr id="56" name="Shape 53"/>
          <p:cNvSpPr/>
          <p:nvPr/>
        </p:nvSpPr>
        <p:spPr>
          <a:xfrm>
            <a:off x="640080"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income</a:t>
            </a:r>
            <a:endParaRPr lang="en-US" sz="1250" dirty="0"/>
          </a:p>
        </p:txBody>
      </p:sp>
      <p:sp>
        <p:nvSpPr>
          <p:cNvPr id="59" name="Shape 5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404360"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2" name="Text 5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t>
            </a:r>
            <a:pPr algn="l" indent="0" marL="0">
              <a:buNone/>
            </a:pPr>
            <a:r>
              <a:rPr lang="ar-SA" altLang="en-US" sz="1650" b="1" dirty="0">
                <a:solidFill>
                  <a:srgbClr val="1B3B6F"/>
                </a:solidFill>
                <a:latin typeface="Amiri" pitchFamily="2" charset="-78"/>
                <a:ea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be read as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3" name="Shape 60"/>
          <p:cNvSpPr/>
          <p:nvPr/>
        </p:nvSpPr>
        <p:spPr>
          <a:xfrm>
            <a:off x="4459224"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66" name="Shape 63"/>
          <p:cNvSpPr/>
          <p:nvPr/>
        </p:nvSpPr>
        <p:spPr>
          <a:xfrm>
            <a:off x="4459224"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69" name="Shape 6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2" name="Text 6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Letters first.</a:t>
            </a:r>
            <a:endParaRPr lang="en-US" sz="1250" dirty="0"/>
          </a:p>
          <a:p>
            <a:pPr algn="l" indent="0" marL="0">
              <a:buNone/>
            </a:pPr>
            <a:r>
              <a:rPr lang="en-US" sz="1250" dirty="0">
                <a:solidFill>
                  <a:srgbClr val="1E6B52"/>
                </a:solidFill>
                <a:latin typeface="Calibri" pitchFamily="34" charset="0"/>
                <a:cs typeface="Amiri" pitchFamily="2" charset="-78"/>
              </a:rPr>
              <a:t>Then ask: which reading makes sense in THIS sentence?</a:t>
            </a:r>
            <a:endParaRPr lang="en-US" sz="1250" dirty="0"/>
          </a:p>
          <a:p>
            <a:pPr algn="l" indent="0" marL="0">
              <a:buNone/>
            </a:pPr>
            <a:r>
              <a:rPr lang="en-US" sz="1250" dirty="0">
                <a:solidFill>
                  <a:srgbClr val="1E6B52"/>
                </a:solidFill>
                <a:latin typeface="Calibri" pitchFamily="34" charset="0"/>
                <a:cs typeface="Amiri" pitchFamily="2" charset="-78"/>
              </a:rPr>
              <a:t>kutub = books · kataba = he wrote</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PATTERN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في الحقيبة ثلاثة كتب.</a:t>
            </a:r>
            <a:endParaRPr lang="ar-SA" sz="145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wrote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bag contains books: </a:t>
            </a:r>
            <a:pPr algn="l" indent="0" marL="0">
              <a:buNone/>
            </a:pPr>
            <a:r>
              <a:rPr lang="ar-SA" altLang="en-US" sz="1350" dirty="0">
                <a:solidFill>
                  <a:srgbClr val="8A6D1E"/>
                </a:solidFill>
                <a:latin typeface="Amiri" pitchFamily="2" charset="-78"/>
                <a:ea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أحمد درسا.</a:t>
            </a:r>
            <a:endParaRPr lang="ar-SA" sz="150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36" name="Shape 33"/>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990088"/>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wrote</a:t>
            </a:r>
            <a:endParaRPr lang="en-US" sz="1250" dirty="0"/>
          </a:p>
        </p:txBody>
      </p:sp>
      <p:sp>
        <p:nvSpPr>
          <p:cNvPr id="40"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person + an object → a verb: </a:t>
            </a:r>
            <a:pPr algn="l" indent="0" marL="0">
              <a:buNone/>
            </a:pPr>
            <a:r>
              <a:rPr lang="ar-SA" altLang="en-US" sz="1350" dirty="0">
                <a:solidFill>
                  <a:srgbClr val="8A6D1E"/>
                </a:solidFill>
                <a:latin typeface="Amiri" pitchFamily="2" charset="-78"/>
                <a:ea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Flag or knowledge?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رفع الطالب العلم.</a:t>
            </a:r>
            <a:endParaRPr lang="ar-SA" sz="150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knowledge</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flag</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raise a flag: </a:t>
            </a:r>
            <a:pPr algn="l" indent="0" marL="0">
              <a:buNone/>
            </a:pPr>
            <a:r>
              <a:rPr lang="ar-SA" altLang="en-US" sz="1350" dirty="0">
                <a:solidFill>
                  <a:srgbClr val="8A6D1E"/>
                </a:solidFill>
                <a:latin typeface="Amiri" pitchFamily="2" charset="-78"/>
                <a:ea typeface="Amiri" pitchFamily="2" charset="-78"/>
                <a:cs typeface="Amiri" pitchFamily="2" charset="-78"/>
              </a:rPr>
              <a:t>العَلَم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“He entered” or income?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دخل المعلم الفصل.</a:t>
            </a:r>
            <a:endParaRPr lang="ar-SA" sz="1500" dirty="0"/>
          </a:p>
        </p:txBody>
      </p:sp>
      <p:sp>
        <p:nvSpPr>
          <p:cNvPr id="59" name="Shape 56"/>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40080" y="4873752"/>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entered</a:t>
            </a:r>
            <a:endParaRPr lang="en-US" sz="1250" dirty="0"/>
          </a:p>
        </p:txBody>
      </p:sp>
      <p:sp>
        <p:nvSpPr>
          <p:cNvPr id="63" name="Shape 60"/>
          <p:cNvSpPr/>
          <p:nvPr/>
        </p:nvSpPr>
        <p:spPr>
          <a:xfrm>
            <a:off x="640080" y="5330952"/>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income</a:t>
            </a:r>
            <a:endParaRPr lang="en-US" sz="1250" dirty="0"/>
          </a:p>
        </p:txBody>
      </p:sp>
      <p:sp>
        <p:nvSpPr>
          <p:cNvPr id="66" name="Text 6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person entering a classroom: </a:t>
            </a:r>
            <a:pPr algn="l" indent="0" marL="0">
              <a:buNone/>
            </a:pPr>
            <a:r>
              <a:rPr lang="ar-SA" altLang="en-US" sz="1350" dirty="0">
                <a:solidFill>
                  <a:srgbClr val="8A6D1E"/>
                </a:solidFill>
                <a:latin typeface="Amiri" pitchFamily="2" charset="-78"/>
                <a:ea typeface="Amiri" pitchFamily="2" charset="-78"/>
                <a:cs typeface="Amiri" pitchFamily="2" charset="-78"/>
              </a:rPr>
              <a:t>دَخَلَ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t>
            </a:r>
            <a:pPr algn="l" indent="0" marL="0">
              <a:buNone/>
            </a:pPr>
            <a:r>
              <a:rPr lang="ar-SA" altLang="en-US" sz="1650" b="1" dirty="0">
                <a:solidFill>
                  <a:srgbClr val="1B3B6F"/>
                </a:solidFill>
                <a:latin typeface="Amiri" pitchFamily="2" charset="-78"/>
                <a:ea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be read as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4459224" y="487375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75" name="Shape 72"/>
          <p:cNvSpPr/>
          <p:nvPr/>
        </p:nvSpPr>
        <p:spPr>
          <a:xfrm>
            <a:off x="4459224" y="53309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78" name="Text 75"/>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is not printed — the hard boundary.</a:t>
            </a:r>
            <a:endParaRPr lang="en-US" sz="1050" dirty="0"/>
          </a:p>
        </p:txBody>
      </p:sp>
      <p:sp>
        <p:nvSpPr>
          <p:cNvPr id="79" name="Shape 7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Letters first.</a:t>
            </a:r>
            <a:endParaRPr lang="en-US" sz="1250" dirty="0"/>
          </a:p>
          <a:p>
            <a:pPr algn="l" indent="0" marL="0">
              <a:buNone/>
            </a:pPr>
            <a:r>
              <a:rPr lang="en-US" sz="1250" dirty="0">
                <a:solidFill>
                  <a:srgbClr val="1E6B52"/>
                </a:solidFill>
                <a:latin typeface="Calibri" pitchFamily="34" charset="0"/>
                <a:cs typeface="Amiri" pitchFamily="2" charset="-78"/>
              </a:rPr>
              <a:t>Then ask: which reading makes sense in THIS sentence?</a:t>
            </a:r>
            <a:endParaRPr lang="en-US" sz="1250" dirty="0"/>
          </a:p>
          <a:p>
            <a:pPr algn="l" indent="0" marL="0">
              <a:buNone/>
            </a:pPr>
            <a:r>
              <a:rPr lang="en-US" sz="1250" dirty="0">
                <a:solidFill>
                  <a:srgbClr val="1E6B52"/>
                </a:solidFill>
                <a:latin typeface="Calibri" pitchFamily="34" charset="0"/>
                <a:cs typeface="Amiri" pitchFamily="2" charset="-78"/>
              </a:rPr>
              <a:t>kutub = books · kataba = he wrote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THREE-SENTENCE MISSION (WEBSITE PART 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passage — no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اِفْهَمِ النَّصَّ مِنَ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مدرسة كبيرة.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hādhihi madrasatun kabīratun — This is a big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المدرسة فصل ومكتبة.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fī l-madrasati faṣlun wa-maktabatun — In the school there is a classroom and a library.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يقرأ الطلاب كتبا في المكتبة.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yaqraʾu ṭ-ṭullābu kutuban fī l-maktabati — The students read books in the library.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signs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six of the eight signs without marks. Write the English meaning and ONE letter clue under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sign table: e.g. مدرسة — final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SCOPE × 2</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five SCOPE steps for </a:t>
            </a:r>
            <a:pPr algn="l" indent="0" marL="0">
              <a:buNone/>
            </a:pPr>
            <a:r>
              <a:rPr lang="ar-SA" altLang="en-US" sz="1800" b="1" dirty="0">
                <a:solidFill>
                  <a:srgbClr val="1F2A37"/>
                </a:solidFill>
                <a:latin typeface="Amiri" pitchFamily="2" charset="-78"/>
                <a:ea typeface="Amiri" pitchFamily="2" charset="-78"/>
                <a:cs typeface="Amiri" pitchFamily="2" charset="-78"/>
              </a:rPr>
              <a:t>مستشفى</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محطة</a:t>
            </a:r>
            <a:pPr algn="l" indent="0" marL="0">
              <a:buNone/>
            </a:pPr>
            <a:r>
              <a:rPr lang="en-US" sz="1400" b="1" dirty="0">
                <a:solidFill>
                  <a:srgbClr val="1F2A37"/>
                </a:solidFill>
                <a:latin typeface="Calibri" pitchFamily="34" charset="0"/>
                <a:cs typeface="Amiri" pitchFamily="2" charset="-78"/>
              </a:rPr>
              <a:t>, like the worked example.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 · C · O · P · E — one line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1700" b="1" dirty="0">
                <a:solidFill>
                  <a:srgbClr val="B83227"/>
                </a:solidFill>
                <a:latin typeface="Cambria" pitchFamily="34" charset="0"/>
                <a:cs typeface="Amiri" pitchFamily="2" charset="-78"/>
              </a:rPr>
              <a:t>secure · likely · uncertain</a:t>
            </a:r>
            <a:endParaRPr lang="en-US" sz="17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mission passage. Label every word secure, likely or uncertain and write the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Heritage extension: do not reward silent guessing.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Three-sign oral exit: read and explain your evidence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مَعْنَى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محطة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مستشفى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آخِرِهَا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لَسْتُ مُتَأَكِّدًا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هٰذِهِ اللَّافِتَةُ؟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sign? (</a:t>
            </a:r>
            <a:pPr algn="l" indent="0" marL="0">
              <a:buNone/>
            </a:pPr>
            <a:r>
              <a:rPr lang="ar-SA" altLang="en-US" sz="1250" dirty="0">
                <a:solidFill>
                  <a:srgbClr val="5A6472"/>
                </a:solidFill>
                <a:latin typeface="Amiri" pitchFamily="2" charset="-78"/>
                <a:ea typeface="Amiri" pitchFamily="2" charset="-78"/>
                <a:cs typeface="Amiri" pitchFamily="2" charset="-78"/>
              </a:rPr>
              <a:t>مدرسة</a:t>
            </a:r>
            <a:pPr algn="l" indent="0" marL="0">
              <a:buNone/>
            </a:pPr>
            <a:r>
              <a:rPr lang="en-US" sz="950" i="1" dirty="0">
                <a:solidFill>
                  <a:srgbClr val="5A6472"/>
                </a:solidFill>
                <a:latin typeface="Calibri" pitchFamily="34" charset="0"/>
                <a:cs typeface="Amiri" pitchFamily="2" charset="-78"/>
              </a:rPr>
              <a: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مَدْرَسَةٌ. فِي آخِرِهَا تَاءٌ مَرْبُوطَةٌ.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school. It ends in tāʾ marbūṭa.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CONTEXT-READING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not guessing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الدَّلِيلُ قَبْلَ التَّخْمِينِ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Skeleton</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Tracks every visible letter and dot.</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Chunks and pattern</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Uses known pieces and durable spelling clues.</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Context</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Uses the scene and other words AFTER the print.</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Verification</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Rejects readings that clash with letters or meaning.</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which written clues remain.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at least six of the eight signs.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all five SCOPE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context after checking letters.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mark a reading as uncertain.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“hospital”?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مستشفى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مطعم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marks are usually NOT printed?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Letters and dots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vowels and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Long-vowel letters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check before using the picture?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letter and dot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first letter</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“hospital”?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مستشفى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مسجد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مطعم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t>
            </a:r>
            <a:pPr algn="l" indent="0" marL="0">
              <a:buNone/>
            </a:pPr>
            <a:r>
              <a:rPr lang="ar-SA" altLang="en-US" sz="1350" dirty="0">
                <a:solidFill>
                  <a:srgbClr val="8A6D1E"/>
                </a:solidFill>
                <a:latin typeface="Amiri" pitchFamily="2" charset="-78"/>
                <a:ea typeface="Amiri" pitchFamily="2" charset="-78"/>
                <a:cs typeface="Amiri" pitchFamily="2" charset="-78"/>
              </a:rPr>
              <a:t>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marks are usually NOT printed?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Letters and dots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vowels and sukūn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Long-vowel letters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Part 1.</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check before using the picture?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letter and dot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first letter</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SCOPE: Scan first.</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F1-L11 · Arabic Around Us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Arabic (the language)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language</a:t>
            </a:r>
            <a:pPr indent="0" marL="0">
              <a:buNone/>
            </a:pPr>
            <a:r>
              <a:rPr lang="ar-SA" sz="1000" i="1" dirty="0">
                <a:solidFill>
                  <a:srgbClr val="5A6472"/>
                </a:solidFill>
                <a:latin typeface="Calibri" pitchFamily="34" charset="0"/>
                <a:ea typeface="Amiri" pitchFamily="2" charset="-78"/>
                <a:cs typeface="Amiri" pitchFamily="2" charset="-78"/>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script, handwriting</a:t>
            </a:r>
            <a:pPr indent="0" marL="0">
              <a:buNone/>
            </a:pPr>
            <a:r>
              <a:rPr lang="ar-SA" sz="1000" i="1" dirty="0">
                <a:solidFill>
                  <a:srgbClr val="5A6472"/>
                </a:solidFill>
                <a:latin typeface="Calibri" pitchFamily="34" charset="0"/>
                <a:ea typeface="Amiri" pitchFamily="2" charset="-78"/>
                <a:cs typeface="Amiri" pitchFamily="2" charset="-78"/>
              </a:rPr>
              <a:t>  pl. خُطُوطٌ</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بَلَدٌ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a:t>
            </a:r>
            <a:pPr indent="0" marL="0">
              <a:buNone/>
            </a:pPr>
            <a:r>
              <a:rPr lang="ar-SA" sz="1000" i="1" dirty="0">
                <a:solidFill>
                  <a:srgbClr val="5A6472"/>
                </a:solidFill>
                <a:latin typeface="Calibri" pitchFamily="34" charset="0"/>
                <a:ea typeface="Amiri" pitchFamily="2" charset="-78"/>
                <a:cs typeface="Amiri" pitchFamily="2" charset="-78"/>
              </a:rPr>
              <a:t>  pl. بُلْدَانٌ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لَافِتَةٌ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sign</a:t>
            </a:r>
            <a:pPr indent="0" marL="0">
              <a:buNone/>
            </a:pPr>
            <a:r>
              <a:rPr lang="ar-SA" sz="1000" i="1" dirty="0">
                <a:solidFill>
                  <a:srgbClr val="5A6472"/>
                </a:solidFill>
                <a:latin typeface="Calibri" pitchFamily="34" charset="0"/>
                <a:ea typeface="Amiri" pitchFamily="2" charset="-78"/>
                <a:cs typeface="Amiri" pitchFamily="2" charset="-78"/>
              </a:rPr>
              <a:t>  pl. لَافِتَاتٌ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three examples of Arabic script around you (a shop, a website, packaging) and try to read them with SCOPE.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مطعم · مدرسة · مسجد</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F1-L10 · Sign Scan game (all eight signs).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three Arabic examples from around you; mark each secure, likely or uncertain.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Heritage extension: a four-line unvowelled paragraph; sort words and annotate the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F1-L11 · Arabic Around Us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خَطٌّ وَاحِدٌ، أَصْوَاتٌ كَثِيرَةٌ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find 3 real Arabic examples + 5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F1-L10 · Read What Is Written: Unvowelled Text</dc:title>
  <dc:subject>PptxGenJS Presentation</dc:subject>
  <dc:creator>Al Madina Online School · Arabic Department</dc:creator>
  <cp:lastModifiedBy>Al Madina Online School · Arabic Department</cp:lastModifiedBy>
  <cp:revision>1</cp:revision>
  <dcterms:created xsi:type="dcterms:W3CDTF">2026-10-11T06:41:19Z</dcterms:created>
  <dcterms:modified xsi:type="dcterms:W3CDTF">2026-10-11T06:41:19Z</dcterms:modified>
</cp:coreProperties>
</file>