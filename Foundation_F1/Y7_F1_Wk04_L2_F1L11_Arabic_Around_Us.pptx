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11 (F1-L11). The website lesson teaches that script, language and meaning are three different questions; Modern Standard Arabic and regional spoken varieties (flexible repertoires); where Arabic appears in the UK (food, business, community, media, travel, digital); three calligraphic traditions (Naskh, Ruqʿah, Thuluth); a west-to-east route through ten countries; and the ABCD detective chain (worked example مَخْبَز). The vocabulary, context table, country list, games and final checklist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key vocabulary (لُغَة، ثَقَافَة، عَالَم …), read five country names, sort six real-world contexts. DEVELOP: explain script vs language vs meaning; MSA vs dialects. STRETCH: the ABCD detective chain with an uncertain example; the name-design studio.
• Culture without stereotypes (website): do not infer religion, nationality or dialect from one sign; Arabic belongs to Muslim, Christian, Jewish and non-religious communities. Spoken varieties are NOT “bad Arabic”.
• Safe collection (website): no photographs of people, addresses or private information. Heritage / Urdu readers: Urdu uses an adapted Perso-Arabic script — a perfect example of “same script, different language”.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retrieve F1-L10 (website retrieval). Q4 tests the home preparation. Q5 launches the website “four-part share routine”: Source — “I found this on …”; Script — name letters and dots; Reading — apply SCOPE; Confidence — secure, likely or uncertain.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Seeing Arabic script does not always mean the language is Arabic.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F1-L11 outcomes (Recognise · Explain · Compare · Verify).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website key vocabulary (also دِين religion). Hear → say → see → use. Urdu bridge: زبان is Urdu for language, but ثقافت، عالم، فن، تجارت are shared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LITERACY (website Part 2). Foundation principle: recognise the script without claiming a language you have not verified.
Arabic belongs to many communities (website): people of many nationalities, religions and identities — a liturgical language in Islam, and part of the history of Muslim, Christian, Jewish and non-religious Arabic speakers. Do NOT infer a person’s religion, nationality or dialect from one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AWARENESS (website Part 3). Continuum (website): family chat · friends/community · interview/classroom · public presentation · formal writing — from more local to more MSA.
Respect rule (website): spoken varieties are not “bad Arabic” or failed MSA. Course standard: our classroom speaking and writing use MSA.
Heritage students: invite them (by choice) to share a greeting from their family variety and compare it with MSA.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Parts 2–3.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ABCD (website Part 7): the aim is not instant certainty but a transparent, checkable interpretation. Think aloud each step.
When to say “uncertain” (website): stylised word with hidden dots; the script may represent another language; cropped image with no source; several meanings fit; a dialect or cultural label not verified.
Strong sentence (website): “I can identify the Arabic script, but I cannot yet verify the language or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context table. Read each pair together (SCOPE). Website game “Context Sort”: classify real-world examples by PURPOSE, not by stereotype.
Accuracy check (website): do not claim a transport operator routinely provides Arabic signs without a dated, local example. Scale with care: UNESCO says Arabic is used daily by more than 400 million people — reach, but not uniformity.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“Context Sort” (a category describes function, not identity). Read each word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“Context Sort” (a category describes function, not identity). Read each word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CALLIGRAPHY (website Part 5): a disciplined visual art with specialist proportions and tools. Show real examples from a museum or library website if possible (e.g. mosque inscriptions for Thuluth).
Website game “Style &amp; Purpose Matcher”: choose the most likely tradition — or the safest interpretation.
Name-design studio (website, Stretch/extension): confirm the person’s preferred Arabic spelling; write it first in the Naskh school hand; enlarge and decorate without breaking letter identity; label it “Arabic-inspired name design”, not master calligraphy. Ask permission before using a sacred phrase — a personal name is the safest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ten-country route (schematic, not to scale; not a political map). Read each name with SCOPE: many start with الـ — sun or moon letter? (المَغْرِب moon; الجَزَائِر moon; السُّودَان sun; العِرَاق moon; السُّعُودِيَّة sun).
Language map ≠ identity map (website): Arabic may be official while people also use Amazigh languages, Kurdish, Nubian languages, South Arabian languages, English, French and more.
Website game “World Route”: read each Arabic country name, then match its English name or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(7 min) — the website private script record (Locate · Copy · Decode · Verify) and name-design studio, split by route. Remind: no personal information in copied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مَاذَا تَقُولُ؟ (What does it say?)
B: تَقُولُ «مَطْعَم». أَنَا مُتَأَكِّدٌ. (It says “restaurant”. I am sure.)
FOUR-PART SHARE (website): Source — “I found this on …”; Script — letters, dots, marks; Reading — SCOPE; Confidence — secure / likely / uncertain and why. Prompts (translation): Where did you see Arabic writing? · Read a country name. · Is it Arabic? How do you know? · What is the difference between MSA and a dialect? Sentence stems are teacher-made.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respect and evidence rules. Students rewrite one of their own claims in the “careful”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(F1-L12 · Review &amp; Assessment) will spend class time USING this language, so students prepare it tonight — short, simple, easy to access (school guidance: “Simple, Short, Interesting, Relevant, Easy to access”). Next lesson is the F1 review and assessment. These are the five areas to revise (website “prepare for Lesson 12”).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4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Arabic Around Us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خَطٌّ وَاحِدٌ، أَصْوَاتٌ كَثِيرَةٌ، ثَقَافَاتٌ كَثِيرَةٌ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Use your reading skills on Arabic from real life: tell script, language and meaning apart, understand formal Arabic and spoken dialects, meet three styles of calligraphy and travel through ten Arabic-speaking countries.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F1-L11 · Week 4,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Script, language, meaning; MSA and dialects.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Context sort, calligraphy, the ten-country route.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SCOPE start with?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Look at the picture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Scan every letter and dot</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مطعم</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restaurant</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station</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context turn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لُغَةٌ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country</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sign</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language</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you find Arabic script this week?</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Any safe example is right!</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Nowhere — Arabic is only in books</a:t>
            </a:r>
            <a:endParaRPr lang="en-US" sz="1250" dirty="0"/>
          </a:p>
        </p:txBody>
      </p:sp>
      <p:sp>
        <p:nvSpPr>
          <p:cNvPr id="71" name="Shape 6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3" name="Text 7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4" name="Text 7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5" name="Text 7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SCOPE start with?</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Look at the picture</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Scan every letter and dot</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F1-L10: letters first.</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مطعم</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1" name="Shape 28"/>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4459224"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restaurant</a:t>
            </a:r>
            <a:endParaRPr lang="en-US" sz="1250" dirty="0"/>
          </a:p>
        </p:txBody>
      </p:sp>
      <p:sp>
        <p:nvSpPr>
          <p:cNvPr id="35" name="Shape 32"/>
          <p:cNvSpPr/>
          <p:nvPr/>
        </p:nvSpPr>
        <p:spPr>
          <a:xfrm>
            <a:off x="4459224"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school</a:t>
            </a:r>
            <a:endParaRPr lang="en-US" sz="1250" dirty="0"/>
          </a:p>
        </p:txBody>
      </p:sp>
      <p:sp>
        <p:nvSpPr>
          <p:cNvPr id="38" name="Shape 35"/>
          <p:cNvSpPr/>
          <p:nvPr/>
        </p:nvSpPr>
        <p:spPr>
          <a:xfrm>
            <a:off x="4459224"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station</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F1-L10 sign.</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context turn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F1-L10: the hard boundary.</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لُغَةٌ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country</a:t>
            </a:r>
            <a:endParaRPr lang="en-US" sz="1250" dirty="0"/>
          </a:p>
        </p:txBody>
      </p:sp>
      <p:sp>
        <p:nvSpPr>
          <p:cNvPr id="61" name="Shape 58"/>
          <p:cNvSpPr/>
          <p:nvPr/>
        </p:nvSpPr>
        <p:spPr>
          <a:xfrm>
            <a:off x="640080" y="5202936"/>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sign</a:t>
            </a:r>
            <a:endParaRPr lang="en-US" sz="1250" dirty="0"/>
          </a:p>
        </p:txBody>
      </p:sp>
      <p:sp>
        <p:nvSpPr>
          <p:cNvPr id="64" name="Shape 6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57479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language</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you find Arabic script this week?</a:t>
            </a:r>
            <a:endParaRPr lang="en-US" sz="1250" dirty="0"/>
          </a:p>
        </p:txBody>
      </p:sp>
      <p:sp>
        <p:nvSpPr>
          <p:cNvPr id="73" name="Shape 7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7375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Any safe example is right!</a:t>
            </a:r>
            <a:endParaRPr lang="en-US" sz="1250" dirty="0"/>
          </a:p>
        </p:txBody>
      </p:sp>
      <p:sp>
        <p:nvSpPr>
          <p:cNvPr id="77" name="Shape 74"/>
          <p:cNvSpPr/>
          <p:nvPr/>
        </p:nvSpPr>
        <p:spPr>
          <a:xfrm>
            <a:off x="4459224" y="533095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Nowhere — Arabic is only in books</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Share your example: source, script, reading, confidence.</a:t>
            </a:r>
            <a:endParaRPr lang="en-US" sz="1050" dirty="0"/>
          </a:p>
        </p:txBody>
      </p:sp>
      <p:sp>
        <p:nvSpPr>
          <p:cNvPr id="81" name="Shape 7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3" name="Text 8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Seeing Arabic script does not always mean the language is Arabic. Investigate!</a:t>
            </a:r>
            <a:endParaRPr lang="en-US" sz="1300" dirty="0"/>
          </a:p>
        </p:txBody>
      </p:sp>
      <p:sp>
        <p:nvSpPr>
          <p:cNvPr id="84" name="Text 8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خَطٌّ · لُغَةٌ · مَعْنًى</a:t>
            </a:r>
            <a:endParaRPr lang="ar-SA" sz="24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Separate script, language and meaning.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formal Arabic and spoken varieties respectfully.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Connect examples and calligraphy styles to their purpose.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Make claims with evidence — and say when you are not sure.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where Arabic appears around me.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five Arabic country names.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script vs language vs meaning.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MSA and dialects respectfully.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ABCD detective chain.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say “I can identify the script, but I cannot yet verify the meaning.”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WEBSITE KEY VOCABULARY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Words for talking about Arabic in the world</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عَنِ 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 pl. lughāt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ثَقَافَةٌ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thaqāfa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ثَقَافَةٌ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ثَقَافَاتٌ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عَالَمٌ</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world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ʿālam</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العَالَمُ العَرَبِيُّ</a:t>
            </a:r>
            <a:pPr algn="l" indent="0" marL="0">
              <a:buNone/>
            </a:pPr>
            <a:r>
              <a:rPr lang="en-US" sz="1000" i="1" dirty="0">
                <a:solidFill>
                  <a:srgbClr val="8A6D1E"/>
                </a:solidFill>
                <a:latin typeface="Calibri" pitchFamily="34" charset="0"/>
                <a:ea typeface="Calibri" pitchFamily="34" charset="-122"/>
                <a:cs typeface="Calibri" pitchFamily="34" charset="-120"/>
              </a:rPr>
              <a:t> = the Arab world</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8" name="Shape 5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pl.</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بِلَادٌ</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countries, lands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bilād</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بَلَدٌ</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بِلَادٌ</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75" name="Text 7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فَنٌّ</a:t>
            </a:r>
            <a:endParaRPr lang="ar-SA" sz="3000" dirty="0"/>
          </a:p>
        </p:txBody>
      </p:sp>
      <p:sp>
        <p:nvSpPr>
          <p:cNvPr id="76" name="Text 7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fann · pl. funūn</a:t>
            </a:r>
            <a:endParaRPr lang="en-US" sz="1350" dirty="0"/>
          </a:p>
        </p:txBody>
      </p:sp>
      <p:sp>
        <p:nvSpPr>
          <p:cNvPr id="77" name="Shape 7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9" name="Text 76"/>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a:t>
            </a:r>
            <a:endParaRPr lang="ar-SA" sz="1500" dirty="0"/>
          </a:p>
        </p:txBody>
      </p:sp>
      <p:sp>
        <p:nvSpPr>
          <p:cNvPr id="80" name="Shape 7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2" name="Text 7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فُنُونٌ</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تِجَارَةٌ</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commerce, trade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tijāra</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TEACHER INSTRUCTION · SCRIPT, LANGUAGE AND MEANING ARE THREE QUESTIONS (WEBSITE PART 2)</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different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الخَطُّ وَاللُّغَةُ وَالمَعْنَى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WHAT CAN I SEE?</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the script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مَطْعَم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Letter shapes, joins, dots, numerals and marks.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This is evidence you can observe.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 · WHICH LANGUAGE?</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algn="l" indent="0" marL="0">
              <a:buNone/>
            </a:pPr>
            <a:r>
              <a:rPr lang="en-US" sz="1400" b="1" dirty="0">
                <a:solidFill>
                  <a:srgbClr val="8A6D1E"/>
                </a:solidFill>
                <a:latin typeface="Calibri" pitchFamily="34" charset="0"/>
                <a:ea typeface="Calibri" pitchFamily="34" charset="-122"/>
                <a:cs typeface="Calibri" pitchFamily="34" charset="-120"/>
              </a:rPr>
              <a:t>check, don’t assume</a:t>
            </a:r>
            <a:endParaRPr lang="en-US" sz="14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كِتَاب · کتاب</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Arabic </a:t>
            </a:r>
            <a:pPr algn="ctr" indent="0" marL="0">
              <a:buNone/>
            </a:pPr>
            <a:r>
              <a:rPr lang="ar-SA" altLang="en-US" sz="1550" dirty="0">
                <a:solidFill>
                  <a:srgbClr val="5A6472"/>
                </a:solidFill>
                <a:latin typeface="Amiri" pitchFamily="34" charset="0"/>
                <a:ea typeface="Amiri" pitchFamily="34" charset="-122"/>
                <a:cs typeface="Amiri" pitchFamily="34" charset="-120"/>
              </a:rPr>
              <a:t>كِتَاب</a:t>
            </a:r>
            <a:pPr algn="ctr" indent="0" marL="0">
              <a:buNone/>
            </a:pPr>
            <a:r>
              <a:rPr lang="en-US" sz="1200" i="1" dirty="0">
                <a:solidFill>
                  <a:srgbClr val="5A6472"/>
                </a:solidFill>
                <a:latin typeface="Calibri" pitchFamily="34" charset="0"/>
                <a:ea typeface="Calibri" pitchFamily="34" charset="-122"/>
                <a:cs typeface="Calibri" pitchFamily="34" charset="-120"/>
              </a:rPr>
              <a:t> and Persian/Urdu </a:t>
            </a:r>
            <a:pPr algn="ctr" indent="0" marL="0">
              <a:buNone/>
            </a:pPr>
            <a:r>
              <a:rPr lang="ar-SA" altLang="en-US" sz="1550" dirty="0">
                <a:solidFill>
                  <a:srgbClr val="5A6472"/>
                </a:solidFill>
                <a:latin typeface="Amiri" pitchFamily="34" charset="0"/>
                <a:ea typeface="Amiri" pitchFamily="34" charset="-122"/>
                <a:cs typeface="Amiri" pitchFamily="34" charset="-120"/>
              </a:rPr>
              <a:t>کتاب</a:t>
            </a:r>
            <a:pPr algn="ctr" indent="0" marL="0">
              <a:buNone/>
            </a:pPr>
            <a:r>
              <a:rPr lang="en-US" sz="1200" i="1" dirty="0">
                <a:solidFill>
                  <a:srgbClr val="5A6472"/>
                </a:solidFill>
                <a:latin typeface="Calibri" pitchFamily="34" charset="0"/>
                <a:ea typeface="Calibri" pitchFamily="34" charset="-122"/>
                <a:cs typeface="Calibri" pitchFamily="34" charset="-120"/>
              </a:rPr>
              <a:t> — same script family.</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Arabic script also writes Persian, Urdu and other languages.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WHAT MIGHT IT MEAN?</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decode first</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مَا المَعْنَى؟</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Read the letters, then use the setting to check.</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Context checks a reading; it does not replace it.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TEACHER INSTRUCTION · FORMAL ARABIC AND EVERYDAY VOICES (WEBSITE PART 3)</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language, many voices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الفُصْحَى وَاللَّهَجَاتُ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4800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MSA</a:t>
            </a:r>
            <a:endParaRPr lang="en-US" sz="850" dirty="0"/>
          </a:p>
        </p:txBody>
      </p:sp>
      <p:sp>
        <p:nvSpPr>
          <p:cNvPr id="18" name="Text 15"/>
          <p:cNvSpPr txBox="1"/>
          <p:nvPr/>
        </p:nvSpPr>
        <p:spPr>
          <a:xfrm>
            <a:off x="8758428" y="1874520"/>
            <a:ext cx="28361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Modern Standard Arabic</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الفُصْحَى</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Shared formal Arabic: school, news, books, speeches.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This course teaches MSA.</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DIALECTS</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regional spoken varieties</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اللَّهَجَاتُ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Egyptian, Levantine, Gulf, Iraqi, Sudanese, Maghrebi …</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Systematic varieties with their own rules — not “bad Arabic”.</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8580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CHOICE</a:t>
            </a:r>
            <a:endParaRPr lang="en-US" sz="850" dirty="0"/>
          </a:p>
        </p:txBody>
      </p:sp>
      <p:sp>
        <p:nvSpPr>
          <p:cNvPr id="34" name="Text 31"/>
          <p:cNvSpPr txBox="1"/>
          <p:nvPr/>
        </p:nvSpPr>
        <p:spPr>
          <a:xfrm>
            <a:off x="1325880" y="1874520"/>
            <a:ext cx="26304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flexible repertoires</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حَسَبَ السِّيَاقِ</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Family chat → more local · formal writing → more MSA.</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Speakers shift and blend with audience, place and purpose.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Does Arabic script always mean the language is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it also writes Persian, Urdu and more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always</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dialects?</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Mistakes in Arabic</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Systematic spoken varieties</a:t>
            </a:r>
            <a:endParaRPr lang="en-US" sz="1250" dirty="0"/>
          </a:p>
        </p:txBody>
      </p:sp>
      <p:sp>
        <p:nvSpPr>
          <p:cNvPr id="35" name="Shape 3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85216" y="4288536"/>
            <a:ext cx="310896" cy="310896"/>
          </a:xfrm>
          <a:prstGeom prst="ellipse">
            <a:avLst/>
          </a:prstGeom>
          <a:solidFill>
            <a:srgbClr val="1B3B6F"/>
          </a:solidFill>
          <a:ln w="12700">
            <a:solidFill>
              <a:srgbClr val="1B3B6F"/>
            </a:solidFill>
            <a:prstDash val="solid"/>
          </a:ln>
        </p:spPr>
      </p:sp>
      <p:sp>
        <p:nvSpPr>
          <p:cNvPr id="37" name="Text 3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do we use in class tasks?</a:t>
            </a:r>
            <a:endParaRPr lang="en-US" sz="1250" dirty="0"/>
          </a:p>
        </p:txBody>
      </p:sp>
      <p:sp>
        <p:nvSpPr>
          <p:cNvPr id="39" name="Shape 36"/>
          <p:cNvSpPr/>
          <p:nvPr/>
        </p:nvSpPr>
        <p:spPr>
          <a:xfrm>
            <a:off x="640080" y="4873752"/>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Modern Standard Arabic</a:t>
            </a:r>
            <a:endParaRPr lang="en-US" sz="1250" dirty="0"/>
          </a:p>
        </p:txBody>
      </p:sp>
      <p:sp>
        <p:nvSpPr>
          <p:cNvPr id="42" name="Shape 39"/>
          <p:cNvSpPr/>
          <p:nvPr/>
        </p:nvSpPr>
        <p:spPr>
          <a:xfrm>
            <a:off x="640080" y="53309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Egyptian Arabic</a:t>
            </a:r>
            <a:endParaRPr lang="en-US" sz="1250" dirty="0"/>
          </a:p>
        </p:txBody>
      </p:sp>
      <p:sp>
        <p:nvSpPr>
          <p:cNvPr id="45" name="Shape 4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ثَقَافَةٌ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6368796"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culture</a:t>
            </a:r>
            <a:endParaRPr lang="en-US" sz="1250" dirty="0"/>
          </a:p>
        </p:txBody>
      </p:sp>
      <p:sp>
        <p:nvSpPr>
          <p:cNvPr id="52" name="Shape 49"/>
          <p:cNvSpPr/>
          <p:nvPr/>
        </p:nvSpPr>
        <p:spPr>
          <a:xfrm>
            <a:off x="6368796"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a:t>
            </a:r>
            <a:endParaRPr lang="en-US" sz="1250" dirty="0"/>
          </a:p>
        </p:txBody>
      </p:sp>
      <p:sp>
        <p:nvSpPr>
          <p:cNvPr id="55" name="Shape 52"/>
          <p:cNvSpPr/>
          <p:nvPr/>
        </p:nvSpPr>
        <p:spPr>
          <a:xfrm>
            <a:off x="6368796"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art</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Does Arabic script always mean the language is Arabic?</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 it also writes Persian, Urdu and more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 always</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Part 2.</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dialects?</a:t>
            </a:r>
            <a:endParaRPr lang="en-US" sz="1250" dirty="0"/>
          </a:p>
        </p:txBody>
      </p:sp>
      <p:sp>
        <p:nvSpPr>
          <p:cNvPr id="31" name="Shape 28"/>
          <p:cNvSpPr/>
          <p:nvPr/>
        </p:nvSpPr>
        <p:spPr>
          <a:xfrm>
            <a:off x="6368796"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Mistakes in Arabic</a:t>
            </a:r>
            <a:endParaRPr lang="en-US" sz="1250" dirty="0"/>
          </a:p>
        </p:txBody>
      </p:sp>
      <p:sp>
        <p:nvSpPr>
          <p:cNvPr id="34" name="Shape 31"/>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Systematic spoken varieties</a:t>
            </a:r>
            <a:endParaRPr lang="en-US" sz="1250" dirty="0"/>
          </a:p>
        </p:txBody>
      </p:sp>
      <p:sp>
        <p:nvSpPr>
          <p:cNvPr id="38" name="Text 3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respect rule.</a:t>
            </a:r>
            <a:endParaRPr lang="en-US" sz="1050" dirty="0"/>
          </a:p>
        </p:txBody>
      </p:sp>
      <p:sp>
        <p:nvSpPr>
          <p:cNvPr id="39" name="Shape 3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85216" y="4288536"/>
            <a:ext cx="310896" cy="310896"/>
          </a:xfrm>
          <a:prstGeom prst="ellipse">
            <a:avLst/>
          </a:prstGeom>
          <a:solidFill>
            <a:srgbClr val="1B3B6F"/>
          </a:solidFill>
          <a:ln w="12700">
            <a:solidFill>
              <a:srgbClr val="1B3B6F"/>
            </a:solidFill>
            <a:prstDash val="solid"/>
          </a:ln>
        </p:spPr>
      </p:sp>
      <p:sp>
        <p:nvSpPr>
          <p:cNvPr id="41" name="Text 3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do we use in class tasks?</a:t>
            </a:r>
            <a:endParaRPr lang="en-US" sz="1250" dirty="0"/>
          </a:p>
        </p:txBody>
      </p:sp>
      <p:sp>
        <p:nvSpPr>
          <p:cNvPr id="43" name="Shape 40"/>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640080" y="4873752"/>
            <a:ext cx="256032" cy="256032"/>
          </a:xfrm>
          <a:prstGeom prst="ellipse">
            <a:avLst/>
          </a:prstGeom>
          <a:solidFill>
            <a:srgbClr val="2E8B57"/>
          </a:solidFill>
          <a:ln w="12700">
            <a:solidFill>
              <a:srgbClr val="2E8B57"/>
            </a:solidFill>
            <a:prstDash val="solid"/>
          </a:ln>
        </p:spPr>
      </p:sp>
      <p:sp>
        <p:nvSpPr>
          <p:cNvPr id="45" name="Text 4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6" name="Text 43"/>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Modern Standard Arabic</a:t>
            </a:r>
            <a:endParaRPr lang="en-US" sz="1250" dirty="0"/>
          </a:p>
        </p:txBody>
      </p:sp>
      <p:sp>
        <p:nvSpPr>
          <p:cNvPr id="47" name="Shape 44"/>
          <p:cNvSpPr/>
          <p:nvPr/>
        </p:nvSpPr>
        <p:spPr>
          <a:xfrm>
            <a:off x="640080" y="533095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Egyptian Arabic</a:t>
            </a:r>
            <a:endParaRPr lang="en-US" sz="1250" dirty="0"/>
          </a:p>
        </p:txBody>
      </p:sp>
      <p:sp>
        <p:nvSpPr>
          <p:cNvPr id="50" name="Text 4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Course standard.</a:t>
            </a:r>
            <a:endParaRPr lang="en-US" sz="1050" dirty="0"/>
          </a:p>
        </p:txBody>
      </p:sp>
      <p:sp>
        <p:nvSpPr>
          <p:cNvPr id="51" name="Shape 4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6313932"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ثَقَافَةٌ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5" name="Shape 5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4831080"/>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8" name="Text 5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culture</a:t>
            </a:r>
            <a:endParaRPr lang="en-US" sz="1250" dirty="0"/>
          </a:p>
        </p:txBody>
      </p:sp>
      <p:sp>
        <p:nvSpPr>
          <p:cNvPr id="59" name="Shape 56"/>
          <p:cNvSpPr/>
          <p:nvPr/>
        </p:nvSpPr>
        <p:spPr>
          <a:xfrm>
            <a:off x="6368796" y="5202936"/>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1" name="Text 5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a:t>
            </a:r>
            <a:endParaRPr lang="en-US" sz="1250" dirty="0"/>
          </a:p>
        </p:txBody>
      </p:sp>
      <p:sp>
        <p:nvSpPr>
          <p:cNvPr id="62" name="Shape 59"/>
          <p:cNvSpPr/>
          <p:nvPr/>
        </p:nvSpPr>
        <p:spPr>
          <a:xfrm>
            <a:off x="6368796" y="557479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4" name="Text 6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art</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Key vocabulary.</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THE ABCD DETECTIVE CHAIN (WEBSITE PART 7) · WORKED EXAMPLE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investigate a shop 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كُنْ مُحَقِّقًا لِلْخَطِّ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540410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p>
        </p:txBody>
      </p:sp>
      <p:sp>
        <p:nvSpPr>
          <p:cNvPr id="18" name="Text 15"/>
          <p:cNvSpPr txBox="1"/>
          <p:nvPr/>
        </p:nvSpPr>
        <p:spPr>
          <a:xfrm>
            <a:off x="530352" y="1810512"/>
            <a:ext cx="472744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مَخْبَز</a:t>
            </a:r>
            <a:pPr algn="ctr" indent="0" marL="0">
              <a:buNone/>
            </a:pPr>
            <a:r>
              <a:rPr lang="en-US" sz="1100" b="1" dirty="0">
                <a:solidFill>
                  <a:srgbClr val="FFFFFF"/>
                </a:solidFill>
                <a:latin typeface="Calibri" pitchFamily="34" charset="0"/>
                <a:ea typeface="Calibri" pitchFamily="34" charset="-122"/>
                <a:cs typeface="Calibri" pitchFamily="34" charset="-120"/>
              </a:rPr>
              <a:t> on a shop front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811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Attend</a:t>
            </a:r>
            <a:endParaRPr lang="en-US" sz="1100" dirty="0"/>
          </a:p>
        </p:txBody>
      </p:sp>
      <p:sp>
        <p:nvSpPr>
          <p:cNvPr id="21" name="Text 18"/>
          <p:cNvSpPr txBox="1"/>
          <p:nvPr/>
        </p:nvSpPr>
        <p:spPr>
          <a:xfrm>
            <a:off x="5440680"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can I observe?</a:t>
            </a:r>
            <a:endParaRPr lang="en-US" sz="1100" dirty="0"/>
          </a:p>
        </p:txBody>
      </p:sp>
      <p:sp>
        <p:nvSpPr>
          <p:cNvPr id="22" name="Text 19"/>
          <p:cNvSpPr txBox="1"/>
          <p:nvPr/>
        </p:nvSpPr>
        <p:spPr>
          <a:xfrm>
            <a:off x="566928" y="2267712"/>
            <a:ext cx="46908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م خ ب ز</a:t>
            </a:r>
            <a:pPr algn="l" indent="0" marL="0">
              <a:buNone/>
            </a:pPr>
            <a:r>
              <a:rPr lang="en-US" sz="1100" dirty="0">
                <a:solidFill>
                  <a:srgbClr val="5A6472"/>
                </a:solidFill>
                <a:latin typeface="Calibri" pitchFamily="34" charset="0"/>
                <a:ea typeface="Calibri" pitchFamily="34" charset="-122"/>
                <a:cs typeface="Calibri" pitchFamily="34" charset="-120"/>
              </a:rPr>
              <a:t> — final </a:t>
            </a:r>
            <a:pPr algn="l" indent="0" marL="0">
              <a:buNone/>
            </a:pPr>
            <a:r>
              <a:rPr lang="ar-SA" altLang="en-US" sz="1450" dirty="0">
                <a:solidFill>
                  <a:srgbClr val="5A6472"/>
                </a:solidFill>
                <a:latin typeface="Amiri" pitchFamily="34" charset="0"/>
                <a:ea typeface="Amiri" pitchFamily="34" charset="-122"/>
                <a:cs typeface="Amiri" pitchFamily="34" charset="-120"/>
              </a:rPr>
              <a:t>ز</a:t>
            </a:r>
            <a:pPr algn="l" indent="0" marL="0">
              <a:buNone/>
            </a:pPr>
            <a:r>
              <a:rPr lang="en-US" sz="1100" dirty="0">
                <a:solidFill>
                  <a:srgbClr val="5A6472"/>
                </a:solidFill>
                <a:latin typeface="Calibri" pitchFamily="34" charset="0"/>
                <a:ea typeface="Calibri" pitchFamily="34" charset="-122"/>
                <a:cs typeface="Calibri" pitchFamily="34" charset="-120"/>
              </a:rPr>
              <a:t> does not connect onwards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2811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Build</a:t>
            </a:r>
            <a:endParaRPr lang="en-US" sz="1100" dirty="0"/>
          </a:p>
        </p:txBody>
      </p:sp>
      <p:sp>
        <p:nvSpPr>
          <p:cNvPr id="27" name="Text 24"/>
          <p:cNvSpPr txBox="1"/>
          <p:nvPr/>
        </p:nvSpPr>
        <p:spPr>
          <a:xfrm>
            <a:off x="5440680"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could it say? How sure am I?</a:t>
            </a:r>
            <a:endParaRPr lang="en-US" sz="1100" dirty="0"/>
          </a:p>
        </p:txBody>
      </p:sp>
      <p:sp>
        <p:nvSpPr>
          <p:cNvPr id="28" name="Text 25"/>
          <p:cNvSpPr txBox="1"/>
          <p:nvPr/>
        </p:nvSpPr>
        <p:spPr>
          <a:xfrm>
            <a:off x="566928" y="3054096"/>
            <a:ext cx="46908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مَخْبَز</a:t>
            </a:r>
            <a:pPr algn="l" indent="0" marL="0">
              <a:buNone/>
            </a:pPr>
            <a:r>
              <a:rPr lang="en-US" sz="1100" dirty="0">
                <a:solidFill>
                  <a:srgbClr val="5A6472"/>
                </a:solidFill>
                <a:latin typeface="Calibri" pitchFamily="34" charset="0"/>
                <a:ea typeface="Calibri" pitchFamily="34" charset="-122"/>
                <a:cs typeface="Calibri" pitchFamily="34" charset="-120"/>
              </a:rPr>
              <a:t> — makhbaz</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2811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Contextualise</a:t>
            </a:r>
            <a:endParaRPr lang="en-US" sz="1100" dirty="0"/>
          </a:p>
        </p:txBody>
      </p:sp>
      <p:sp>
        <p:nvSpPr>
          <p:cNvPr id="33" name="Text 30"/>
          <p:cNvSpPr txBox="1"/>
          <p:nvPr/>
        </p:nvSpPr>
        <p:spPr>
          <a:xfrm>
            <a:off x="5440680"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Who wrote it, for whom, why?</a:t>
            </a:r>
            <a:endParaRPr lang="en-US" sz="1100" dirty="0"/>
          </a:p>
        </p:txBody>
      </p:sp>
      <p:sp>
        <p:nvSpPr>
          <p:cNvPr id="34" name="Text 31"/>
          <p:cNvSpPr txBox="1"/>
          <p:nvPr/>
        </p:nvSpPr>
        <p:spPr>
          <a:xfrm>
            <a:off x="566928" y="3840480"/>
            <a:ext cx="4690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shop front with pictures of bread</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2811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 · Double-check</a:t>
            </a:r>
            <a:endParaRPr lang="en-US" sz="1100" dirty="0"/>
          </a:p>
        </p:txBody>
      </p:sp>
      <p:sp>
        <p:nvSpPr>
          <p:cNvPr id="39" name="Text 36"/>
          <p:cNvSpPr txBox="1"/>
          <p:nvPr/>
        </p:nvSpPr>
        <p:spPr>
          <a:xfrm>
            <a:off x="5440680"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Can I verify it?</a:t>
            </a:r>
            <a:endParaRPr lang="en-US" sz="1100" dirty="0"/>
          </a:p>
        </p:txBody>
      </p:sp>
      <p:sp>
        <p:nvSpPr>
          <p:cNvPr id="40" name="Text 37"/>
          <p:cNvSpPr txBox="1"/>
          <p:nvPr/>
        </p:nvSpPr>
        <p:spPr>
          <a:xfrm>
            <a:off x="566928" y="4626864"/>
            <a:ext cx="4690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shop’s bilingual listing says “bakery” ✓ secure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WHERE ARABIC APPEARS AROUND US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Arabic in everyday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العَرَبِيَّةُ فِي الحَيَاةِ اليَوْمِيَّةِ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17" name="Text 14"/>
          <p:cNvSpPr txBox="1"/>
          <p:nvPr/>
        </p:nvSpPr>
        <p:spPr>
          <a:xfrm>
            <a:off x="52212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 you may see</a:t>
            </a:r>
            <a:endParaRPr lang="en-US" sz="1100" dirty="0"/>
          </a:p>
        </p:txBody>
      </p:sp>
      <p:sp>
        <p:nvSpPr>
          <p:cNvPr id="18" name="Text 15"/>
          <p:cNvSpPr txBox="1"/>
          <p:nvPr/>
        </p:nvSpPr>
        <p:spPr>
          <a:xfrm>
            <a:off x="53035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9098280" y="2267712"/>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Food and packaging</a:t>
            </a:r>
            <a:endParaRPr lang="en-US" sz="1100" dirty="0"/>
          </a:p>
        </p:txBody>
      </p:sp>
      <p:sp>
        <p:nvSpPr>
          <p:cNvPr id="21" name="Text 18"/>
          <p:cNvSpPr txBox="1"/>
          <p:nvPr/>
        </p:nvSpPr>
        <p:spPr>
          <a:xfrm>
            <a:off x="5239512" y="2267712"/>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مُكَوِّنَات · تَارِيخ</a:t>
            </a:r>
            <a:endParaRPr lang="ar-SA" sz="2400" dirty="0"/>
          </a:p>
        </p:txBody>
      </p:sp>
      <p:sp>
        <p:nvSpPr>
          <p:cNvPr id="22" name="Text 19"/>
          <p:cNvSpPr txBox="1"/>
          <p:nvPr/>
        </p:nvSpPr>
        <p:spPr>
          <a:xfrm>
            <a:off x="566928" y="2267712"/>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ingredients · date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9098280" y="2950464"/>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Business</a:t>
            </a:r>
            <a:endParaRPr lang="en-US" sz="1100" dirty="0"/>
          </a:p>
        </p:txBody>
      </p:sp>
      <p:sp>
        <p:nvSpPr>
          <p:cNvPr id="27" name="Text 24"/>
          <p:cNvSpPr txBox="1"/>
          <p:nvPr/>
        </p:nvSpPr>
        <p:spPr>
          <a:xfrm>
            <a:off x="5239512" y="2950464"/>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مَطْعَم · مَخْبَز</a:t>
            </a:r>
            <a:endParaRPr lang="ar-SA" sz="2400" dirty="0"/>
          </a:p>
        </p:txBody>
      </p:sp>
      <p:sp>
        <p:nvSpPr>
          <p:cNvPr id="28" name="Text 25"/>
          <p:cNvSpPr txBox="1"/>
          <p:nvPr/>
        </p:nvSpPr>
        <p:spPr>
          <a:xfrm>
            <a:off x="566928" y="2950464"/>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restaurant · bakery</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9098280" y="3633216"/>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Community and faith</a:t>
            </a:r>
            <a:endParaRPr lang="en-US" sz="1100" dirty="0"/>
          </a:p>
        </p:txBody>
      </p:sp>
      <p:sp>
        <p:nvSpPr>
          <p:cNvPr id="33" name="Text 30"/>
          <p:cNvSpPr txBox="1"/>
          <p:nvPr/>
        </p:nvSpPr>
        <p:spPr>
          <a:xfrm>
            <a:off x="5239512" y="3633216"/>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مَرْكَز · مَسْجِد</a:t>
            </a:r>
            <a:endParaRPr lang="ar-SA" sz="2400" dirty="0"/>
          </a:p>
        </p:txBody>
      </p:sp>
      <p:sp>
        <p:nvSpPr>
          <p:cNvPr id="34" name="Text 31"/>
          <p:cNvSpPr txBox="1"/>
          <p:nvPr/>
        </p:nvSpPr>
        <p:spPr>
          <a:xfrm>
            <a:off x="566928" y="3633216"/>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centre · mosque</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9098280" y="4315968"/>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Media</a:t>
            </a:r>
            <a:endParaRPr lang="en-US" sz="1100" dirty="0"/>
          </a:p>
        </p:txBody>
      </p:sp>
      <p:sp>
        <p:nvSpPr>
          <p:cNvPr id="39" name="Text 36"/>
          <p:cNvSpPr txBox="1"/>
          <p:nvPr/>
        </p:nvSpPr>
        <p:spPr>
          <a:xfrm>
            <a:off x="5239512" y="4315968"/>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أَخْبَار · صَحِيفَة</a:t>
            </a:r>
            <a:endParaRPr lang="ar-SA" sz="2400" dirty="0"/>
          </a:p>
        </p:txBody>
      </p:sp>
      <p:sp>
        <p:nvSpPr>
          <p:cNvPr id="40" name="Text 37"/>
          <p:cNvSpPr txBox="1"/>
          <p:nvPr/>
        </p:nvSpPr>
        <p:spPr>
          <a:xfrm>
            <a:off x="566928" y="4315968"/>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news · newspaper</a:t>
            </a:r>
            <a:endParaRPr lang="en-US" sz="1100" dirty="0"/>
          </a:p>
        </p:txBody>
      </p:sp>
      <p:sp>
        <p:nvSpPr>
          <p:cNvPr id="41" name="Shape 3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2" name="Text 39"/>
          <p:cNvSpPr txBox="1"/>
          <p:nvPr/>
        </p:nvSpPr>
        <p:spPr>
          <a:xfrm>
            <a:off x="9098280" y="4998720"/>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Travel</a:t>
            </a:r>
            <a:endParaRPr lang="en-US" sz="1100" dirty="0"/>
          </a:p>
        </p:txBody>
      </p:sp>
      <p:sp>
        <p:nvSpPr>
          <p:cNvPr id="43" name="Text 40"/>
          <p:cNvSpPr txBox="1"/>
          <p:nvPr/>
        </p:nvSpPr>
        <p:spPr>
          <a:xfrm>
            <a:off x="5239512" y="4998720"/>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وُصُول · مُغَادَرَة</a:t>
            </a:r>
            <a:endParaRPr lang="ar-SA" sz="2400" dirty="0"/>
          </a:p>
        </p:txBody>
      </p:sp>
      <p:sp>
        <p:nvSpPr>
          <p:cNvPr id="44" name="Text 41"/>
          <p:cNvSpPr txBox="1"/>
          <p:nvPr/>
        </p:nvSpPr>
        <p:spPr>
          <a:xfrm>
            <a:off x="566928" y="4998720"/>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arrivals · departures</a:t>
            </a:r>
            <a:endParaRPr lang="en-US" sz="1100" dirty="0"/>
          </a:p>
        </p:txBody>
      </p:sp>
      <p:sp>
        <p:nvSpPr>
          <p:cNvPr id="45" name="Shape 4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9098280" y="5681472"/>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Digital life</a:t>
            </a:r>
            <a:endParaRPr lang="en-US" sz="1100" dirty="0"/>
          </a:p>
        </p:txBody>
      </p:sp>
      <p:sp>
        <p:nvSpPr>
          <p:cNvPr id="47" name="Text 44"/>
          <p:cNvSpPr txBox="1"/>
          <p:nvPr/>
        </p:nvSpPr>
        <p:spPr>
          <a:xfrm>
            <a:off x="5239512" y="5681472"/>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بَحْث · رِسَالَة</a:t>
            </a:r>
            <a:endParaRPr lang="ar-SA" sz="2400" dirty="0"/>
          </a:p>
        </p:txBody>
      </p:sp>
      <p:sp>
        <p:nvSpPr>
          <p:cNvPr id="48" name="Text 45"/>
          <p:cNvSpPr txBox="1"/>
          <p:nvPr/>
        </p:nvSpPr>
        <p:spPr>
          <a:xfrm>
            <a:off x="566928" y="5681472"/>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search · message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“CONTEXT SORT”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context?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 الأَمْثِلَةَ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مَطْعَم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أَخْبَار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وُصُول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مُكَوِّنَات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رِسَالَة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مُغَادَرَة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مَخْبَز</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بَحْث</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Food / business</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Media / digital</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Travel</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CONTEXT SORT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Food / business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مَطْعَم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مُكَوِّنَات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مَخْبَز</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Media / digital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أَخْبَار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رِسَالَة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بَحْث</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Travel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وُصُول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مُغَادَرَة</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THREE CALLIGRAPHIC TRADITIONS (WEBSITE PART 5)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styles, three jobs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فُنُونُ الخَطِّ العَرَبِيِّ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Style</a:t>
            </a:r>
            <a:endParaRPr lang="en-US" sz="1100" dirty="0"/>
          </a:p>
        </p:txBody>
      </p:sp>
      <p:sp>
        <p:nvSpPr>
          <p:cNvPr id="19" name="Text 16"/>
          <p:cNvSpPr txBox="1"/>
          <p:nvPr/>
        </p:nvSpPr>
        <p:spPr>
          <a:xfrm>
            <a:off x="723290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20" name="Text 17"/>
          <p:cNvSpPr txBox="1"/>
          <p:nvPr/>
        </p:nvSpPr>
        <p:spPr>
          <a:xfrm>
            <a:off x="3941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looks like</a:t>
            </a:r>
            <a:endParaRPr lang="en-US" sz="1100" dirty="0"/>
          </a:p>
        </p:txBody>
      </p:sp>
      <p:sp>
        <p:nvSpPr>
          <p:cNvPr id="21" name="Text 18"/>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Its job</a:t>
            </a:r>
            <a:endParaRPr lang="en-US" sz="1100" dirty="0"/>
          </a:p>
        </p:txBody>
      </p:sp>
      <p:sp>
        <p:nvSpPr>
          <p:cNvPr id="22" name="Shape 19"/>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3" name="Text 20"/>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Naskh</a:t>
            </a:r>
            <a:endParaRPr lang="en-US" sz="1100" dirty="0"/>
          </a:p>
        </p:txBody>
      </p:sp>
      <p:sp>
        <p:nvSpPr>
          <p:cNvPr id="24" name="Text 21"/>
          <p:cNvSpPr txBox="1"/>
          <p:nvPr/>
        </p:nvSpPr>
        <p:spPr>
          <a:xfrm>
            <a:off x="7251192" y="2267712"/>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النَّسْخ</a:t>
            </a:r>
            <a:endParaRPr lang="ar-SA" sz="2600" dirty="0"/>
          </a:p>
        </p:txBody>
      </p:sp>
      <p:sp>
        <p:nvSpPr>
          <p:cNvPr id="25" name="Text 22"/>
          <p:cNvSpPr txBox="1"/>
          <p:nvPr/>
        </p:nvSpPr>
        <p:spPr>
          <a:xfrm>
            <a:off x="3977640"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clear, rounded, very readable</a:t>
            </a:r>
            <a:endParaRPr lang="en-US" sz="1100" dirty="0"/>
          </a:p>
        </p:txBody>
      </p:sp>
      <p:sp>
        <p:nvSpPr>
          <p:cNvPr id="26" name="Text 23"/>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manuscripts, print, screens — our school hand</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Ruqʿah</a:t>
            </a:r>
            <a:endParaRPr lang="en-US" sz="1100" dirty="0"/>
          </a:p>
        </p:txBody>
      </p:sp>
      <p:sp>
        <p:nvSpPr>
          <p:cNvPr id="31" name="Text 28"/>
          <p:cNvSpPr txBox="1"/>
          <p:nvPr/>
        </p:nvSpPr>
        <p:spPr>
          <a:xfrm>
            <a:off x="7251192" y="3054096"/>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الرُّقْعَة</a:t>
            </a:r>
            <a:endParaRPr lang="ar-SA" sz="2600" dirty="0"/>
          </a:p>
        </p:txBody>
      </p:sp>
      <p:sp>
        <p:nvSpPr>
          <p:cNvPr id="32" name="Text 29"/>
          <p:cNvSpPr txBox="1"/>
          <p:nvPr/>
        </p:nvSpPr>
        <p:spPr>
          <a:xfrm>
            <a:off x="3977640"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compact, simplified shapes</a:t>
            </a:r>
            <a:endParaRPr lang="en-US" sz="1100" dirty="0"/>
          </a:p>
        </p:txBody>
      </p:sp>
      <p:sp>
        <p:nvSpPr>
          <p:cNvPr id="33" name="Text 30"/>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quick everyday handwriting</a:t>
            </a:r>
            <a:endParaRPr lang="en-US" sz="110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Thuluth</a:t>
            </a:r>
            <a:endParaRPr lang="en-US" sz="1100" dirty="0"/>
          </a:p>
        </p:txBody>
      </p:sp>
      <p:sp>
        <p:nvSpPr>
          <p:cNvPr id="36" name="Text 33"/>
          <p:cNvSpPr txBox="1"/>
          <p:nvPr/>
        </p:nvSpPr>
        <p:spPr>
          <a:xfrm>
            <a:off x="7251192" y="3840480"/>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الثُّلُث</a:t>
            </a:r>
            <a:endParaRPr lang="ar-SA" sz="2600" dirty="0"/>
          </a:p>
        </p:txBody>
      </p:sp>
      <p:sp>
        <p:nvSpPr>
          <p:cNvPr id="37" name="Text 34"/>
          <p:cNvSpPr txBox="1"/>
          <p:nvPr/>
        </p:nvSpPr>
        <p:spPr>
          <a:xfrm>
            <a:off x="3977640"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large, sweeping, carefully proportioned</a:t>
            </a:r>
            <a:endParaRPr lang="en-US" sz="1100" dirty="0"/>
          </a:p>
        </p:txBody>
      </p:sp>
      <p:sp>
        <p:nvSpPr>
          <p:cNvPr id="38" name="Text 35"/>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monumental inscriptions, architecture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A WEST-TO-EAST ROUTE THROUGH TEN COUNTRIES (WEBSITE PART 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Journey across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رِحْلَةٌ فِي العَالَمِ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 (Arabic)</a:t>
            </a:r>
            <a:endParaRPr lang="en-US" sz="1100" dirty="0"/>
          </a:p>
        </p:txBody>
      </p:sp>
      <p:sp>
        <p:nvSpPr>
          <p:cNvPr id="17" name="Text 14"/>
          <p:cNvSpPr txBox="1"/>
          <p:nvPr/>
        </p:nvSpPr>
        <p:spPr>
          <a:xfrm>
            <a:off x="48554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Region</a:t>
            </a:r>
            <a:endParaRPr lang="en-US" sz="1100" dirty="0"/>
          </a:p>
        </p:txBody>
      </p:sp>
      <p:sp>
        <p:nvSpPr>
          <p:cNvPr id="19" name="Shape 16"/>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0" name="Text 17"/>
          <p:cNvSpPr txBox="1"/>
          <p:nvPr/>
        </p:nvSpPr>
        <p:spPr>
          <a:xfrm>
            <a:off x="7982712" y="2286000"/>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المَغْرِب</a:t>
            </a:r>
            <a:endParaRPr lang="ar-SA" sz="1200" dirty="0"/>
          </a:p>
        </p:txBody>
      </p:sp>
      <p:sp>
        <p:nvSpPr>
          <p:cNvPr id="21" name="Text 18"/>
          <p:cNvSpPr txBox="1"/>
          <p:nvPr/>
        </p:nvSpPr>
        <p:spPr>
          <a:xfrm>
            <a:off x="7936992" y="2480584"/>
            <a:ext cx="3749040" cy="134819"/>
          </a:xfrm>
          <a:prstGeom prst="rect">
            <a:avLst/>
          </a:prstGeom>
          <a:noFill/>
          <a:ln/>
        </p:spPr>
        <p:txBody>
          <a:bodyPr wrap="square" lIns="0" tIns="0" rIns="0" bIns="0" rtlCol="0" anchor="ctr"/>
          <a:lstStyle/>
          <a:p>
            <a:pPr algn="ctr" indent="0" marL="0">
              <a:buNone/>
            </a:pPr>
            <a:endParaRPr lang="en-US" sz="800" dirty="0"/>
          </a:p>
        </p:txBody>
      </p:sp>
      <p:sp>
        <p:nvSpPr>
          <p:cNvPr id="22" name="Text 19"/>
          <p:cNvSpPr txBox="1"/>
          <p:nvPr/>
        </p:nvSpPr>
        <p:spPr>
          <a:xfrm>
            <a:off x="4892040" y="2267712"/>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Morocco</a:t>
            </a:r>
            <a:endParaRPr lang="en-US" sz="1100" dirty="0"/>
          </a:p>
        </p:txBody>
      </p:sp>
      <p:sp>
        <p:nvSpPr>
          <p:cNvPr id="23" name="Text 20"/>
          <p:cNvSpPr txBox="1"/>
          <p:nvPr/>
        </p:nvSpPr>
        <p:spPr>
          <a:xfrm>
            <a:off x="566928" y="226771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Maghreb · North-west Africa</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7" name="Text 24"/>
          <p:cNvSpPr txBox="1"/>
          <p:nvPr/>
        </p:nvSpPr>
        <p:spPr>
          <a:xfrm>
            <a:off x="7982712" y="2695651"/>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الجَزَائِر</a:t>
            </a:r>
            <a:endParaRPr lang="ar-SA" sz="1200" dirty="0"/>
          </a:p>
        </p:txBody>
      </p:sp>
      <p:sp>
        <p:nvSpPr>
          <p:cNvPr id="28" name="Text 25"/>
          <p:cNvSpPr txBox="1"/>
          <p:nvPr/>
        </p:nvSpPr>
        <p:spPr>
          <a:xfrm>
            <a:off x="7936992" y="2890236"/>
            <a:ext cx="3749040" cy="134819"/>
          </a:xfrm>
          <a:prstGeom prst="rect">
            <a:avLst/>
          </a:prstGeom>
          <a:noFill/>
          <a:ln/>
        </p:spPr>
        <p:txBody>
          <a:bodyPr wrap="square" lIns="0" tIns="0" rIns="0" bIns="0" rtlCol="0" anchor="ctr"/>
          <a:lstStyle/>
          <a:p>
            <a:pPr algn="ctr" indent="0" marL="0">
              <a:buNone/>
            </a:pPr>
            <a:endParaRPr lang="en-US" sz="800" dirty="0"/>
          </a:p>
        </p:txBody>
      </p:sp>
      <p:sp>
        <p:nvSpPr>
          <p:cNvPr id="29" name="Text 26"/>
          <p:cNvSpPr txBox="1"/>
          <p:nvPr/>
        </p:nvSpPr>
        <p:spPr>
          <a:xfrm>
            <a:off x="4892040" y="2677363"/>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Algeria</a:t>
            </a:r>
            <a:endParaRPr lang="en-US" sz="1100" dirty="0"/>
          </a:p>
        </p:txBody>
      </p:sp>
      <p:sp>
        <p:nvSpPr>
          <p:cNvPr id="30" name="Text 27"/>
          <p:cNvSpPr txBox="1"/>
          <p:nvPr/>
        </p:nvSpPr>
        <p:spPr>
          <a:xfrm>
            <a:off x="566928" y="267736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Maghreb</a:t>
            </a:r>
            <a:endParaRPr lang="en-US" sz="1100" dirty="0"/>
          </a:p>
        </p:txBody>
      </p:sp>
      <p:sp>
        <p:nvSpPr>
          <p:cNvPr id="31" name="Shape 28"/>
          <p:cNvSpPr/>
          <p:nvPr/>
        </p:nvSpPr>
        <p:spPr>
          <a:xfrm>
            <a:off x="11091672" y="2723083"/>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72308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4" name="Text 31"/>
          <p:cNvSpPr txBox="1"/>
          <p:nvPr/>
        </p:nvSpPr>
        <p:spPr>
          <a:xfrm>
            <a:off x="7982712" y="3105302"/>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تُونِس</a:t>
            </a:r>
            <a:endParaRPr lang="ar-SA" sz="1200" dirty="0"/>
          </a:p>
        </p:txBody>
      </p:sp>
      <p:sp>
        <p:nvSpPr>
          <p:cNvPr id="35" name="Text 32"/>
          <p:cNvSpPr txBox="1"/>
          <p:nvPr/>
        </p:nvSpPr>
        <p:spPr>
          <a:xfrm>
            <a:off x="7936992" y="3299887"/>
            <a:ext cx="3749040" cy="134819"/>
          </a:xfrm>
          <a:prstGeom prst="rect">
            <a:avLst/>
          </a:prstGeom>
          <a:noFill/>
          <a:ln/>
        </p:spPr>
        <p:txBody>
          <a:bodyPr wrap="square" lIns="0" tIns="0" rIns="0" bIns="0" rtlCol="0" anchor="ctr"/>
          <a:lstStyle/>
          <a:p>
            <a:pPr algn="ctr" indent="0" marL="0">
              <a:buNone/>
            </a:pPr>
            <a:endParaRPr lang="en-US" sz="800" dirty="0"/>
          </a:p>
        </p:txBody>
      </p:sp>
      <p:sp>
        <p:nvSpPr>
          <p:cNvPr id="36" name="Text 33"/>
          <p:cNvSpPr txBox="1"/>
          <p:nvPr/>
        </p:nvSpPr>
        <p:spPr>
          <a:xfrm>
            <a:off x="4892040" y="3087014"/>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Tunisia</a:t>
            </a:r>
            <a:endParaRPr lang="en-US" sz="1100" dirty="0"/>
          </a:p>
        </p:txBody>
      </p:sp>
      <p:sp>
        <p:nvSpPr>
          <p:cNvPr id="37" name="Text 34"/>
          <p:cNvSpPr txBox="1"/>
          <p:nvPr/>
        </p:nvSpPr>
        <p:spPr>
          <a:xfrm>
            <a:off x="566928" y="3087014"/>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Maghreb</a:t>
            </a:r>
            <a:endParaRPr lang="en-US" sz="1100" dirty="0"/>
          </a:p>
        </p:txBody>
      </p:sp>
      <p:sp>
        <p:nvSpPr>
          <p:cNvPr id="38" name="Shape 35"/>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39" name="Text 36"/>
          <p:cNvSpPr txBox="1"/>
          <p:nvPr/>
        </p:nvSpPr>
        <p:spPr>
          <a:xfrm>
            <a:off x="7982712" y="3514954"/>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مِصْر</a:t>
            </a:r>
            <a:endParaRPr lang="ar-SA" sz="1200" dirty="0"/>
          </a:p>
        </p:txBody>
      </p:sp>
      <p:sp>
        <p:nvSpPr>
          <p:cNvPr id="40" name="Text 37"/>
          <p:cNvSpPr txBox="1"/>
          <p:nvPr/>
        </p:nvSpPr>
        <p:spPr>
          <a:xfrm>
            <a:off x="7936992" y="3709538"/>
            <a:ext cx="3749040" cy="134819"/>
          </a:xfrm>
          <a:prstGeom prst="rect">
            <a:avLst/>
          </a:prstGeom>
          <a:noFill/>
          <a:ln/>
        </p:spPr>
        <p:txBody>
          <a:bodyPr wrap="square" lIns="0" tIns="0" rIns="0" bIns="0" rtlCol="0" anchor="ctr"/>
          <a:lstStyle/>
          <a:p>
            <a:pPr algn="ctr" indent="0" marL="0">
              <a:buNone/>
            </a:pPr>
            <a:endParaRPr lang="en-US" sz="800" dirty="0"/>
          </a:p>
        </p:txBody>
      </p:sp>
      <p:sp>
        <p:nvSpPr>
          <p:cNvPr id="41" name="Text 38"/>
          <p:cNvSpPr txBox="1"/>
          <p:nvPr/>
        </p:nvSpPr>
        <p:spPr>
          <a:xfrm>
            <a:off x="4892040" y="3496666"/>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Egypt</a:t>
            </a:r>
            <a:endParaRPr lang="en-US" sz="1100" dirty="0"/>
          </a:p>
        </p:txBody>
      </p:sp>
      <p:sp>
        <p:nvSpPr>
          <p:cNvPr id="42" name="Text 39"/>
          <p:cNvSpPr txBox="1"/>
          <p:nvPr/>
        </p:nvSpPr>
        <p:spPr>
          <a:xfrm>
            <a:off x="566928" y="3496666"/>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Nile Valley</a:t>
            </a:r>
            <a:endParaRPr lang="en-US" sz="1100" dirty="0"/>
          </a:p>
        </p:txBody>
      </p:sp>
      <p:sp>
        <p:nvSpPr>
          <p:cNvPr id="43" name="Shape 40"/>
          <p:cNvSpPr/>
          <p:nvPr/>
        </p:nvSpPr>
        <p:spPr>
          <a:xfrm>
            <a:off x="11091672" y="354238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238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6" name="Text 43"/>
          <p:cNvSpPr txBox="1"/>
          <p:nvPr/>
        </p:nvSpPr>
        <p:spPr>
          <a:xfrm>
            <a:off x="7982712" y="3924605"/>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السُّودَان</a:t>
            </a:r>
            <a:endParaRPr lang="ar-SA" sz="1200" dirty="0"/>
          </a:p>
        </p:txBody>
      </p:sp>
      <p:sp>
        <p:nvSpPr>
          <p:cNvPr id="47" name="Text 44"/>
          <p:cNvSpPr txBox="1"/>
          <p:nvPr/>
        </p:nvSpPr>
        <p:spPr>
          <a:xfrm>
            <a:off x="7936992" y="4119189"/>
            <a:ext cx="3749040" cy="134819"/>
          </a:xfrm>
          <a:prstGeom prst="rect">
            <a:avLst/>
          </a:prstGeom>
          <a:noFill/>
          <a:ln/>
        </p:spPr>
        <p:txBody>
          <a:bodyPr wrap="square" lIns="0" tIns="0" rIns="0" bIns="0" rtlCol="0" anchor="ctr"/>
          <a:lstStyle/>
          <a:p>
            <a:pPr algn="ctr" indent="0" marL="0">
              <a:buNone/>
            </a:pPr>
            <a:endParaRPr lang="en-US" sz="800" dirty="0"/>
          </a:p>
        </p:txBody>
      </p:sp>
      <p:sp>
        <p:nvSpPr>
          <p:cNvPr id="48" name="Text 45"/>
          <p:cNvSpPr txBox="1"/>
          <p:nvPr/>
        </p:nvSpPr>
        <p:spPr>
          <a:xfrm>
            <a:off x="4892040" y="3906317"/>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Sudan</a:t>
            </a:r>
            <a:endParaRPr lang="en-US" sz="1100" dirty="0"/>
          </a:p>
        </p:txBody>
      </p:sp>
      <p:sp>
        <p:nvSpPr>
          <p:cNvPr id="49" name="Text 46"/>
          <p:cNvSpPr txBox="1"/>
          <p:nvPr/>
        </p:nvSpPr>
        <p:spPr>
          <a:xfrm>
            <a:off x="566928" y="3906317"/>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Nile Valley</a:t>
            </a:r>
            <a:endParaRPr lang="en-US" sz="1100" dirty="0"/>
          </a:p>
        </p:txBody>
      </p:sp>
      <p:sp>
        <p:nvSpPr>
          <p:cNvPr id="50" name="Shape 47"/>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51" name="Text 48"/>
          <p:cNvSpPr txBox="1"/>
          <p:nvPr/>
        </p:nvSpPr>
        <p:spPr>
          <a:xfrm>
            <a:off x="7982712" y="4334256"/>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لُبْنَان</a:t>
            </a:r>
            <a:endParaRPr lang="ar-SA" sz="1200" dirty="0"/>
          </a:p>
        </p:txBody>
      </p:sp>
      <p:sp>
        <p:nvSpPr>
          <p:cNvPr id="52" name="Text 49"/>
          <p:cNvSpPr txBox="1"/>
          <p:nvPr/>
        </p:nvSpPr>
        <p:spPr>
          <a:xfrm>
            <a:off x="7936992" y="4528840"/>
            <a:ext cx="3749040" cy="134819"/>
          </a:xfrm>
          <a:prstGeom prst="rect">
            <a:avLst/>
          </a:prstGeom>
          <a:noFill/>
          <a:ln/>
        </p:spPr>
        <p:txBody>
          <a:bodyPr wrap="square" lIns="0" tIns="0" rIns="0" bIns="0" rtlCol="0" anchor="ctr"/>
          <a:lstStyle/>
          <a:p>
            <a:pPr algn="ctr" indent="0" marL="0">
              <a:buNone/>
            </a:pPr>
            <a:endParaRPr lang="en-US" sz="800" dirty="0"/>
          </a:p>
        </p:txBody>
      </p:sp>
      <p:sp>
        <p:nvSpPr>
          <p:cNvPr id="53" name="Text 50"/>
          <p:cNvSpPr txBox="1"/>
          <p:nvPr/>
        </p:nvSpPr>
        <p:spPr>
          <a:xfrm>
            <a:off x="4892040" y="4315968"/>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Lebanon</a:t>
            </a:r>
            <a:endParaRPr lang="en-US" sz="1100" dirty="0"/>
          </a:p>
        </p:txBody>
      </p:sp>
      <p:sp>
        <p:nvSpPr>
          <p:cNvPr id="54" name="Text 51"/>
          <p:cNvSpPr txBox="1"/>
          <p:nvPr/>
        </p:nvSpPr>
        <p:spPr>
          <a:xfrm>
            <a:off x="566928" y="4315968"/>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Levant</a:t>
            </a:r>
            <a:endParaRPr lang="en-US" sz="1100" dirty="0"/>
          </a:p>
        </p:txBody>
      </p:sp>
      <p:sp>
        <p:nvSpPr>
          <p:cNvPr id="55" name="Shape 52"/>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56" name="Text 53"/>
          <p:cNvSpPr txBox="1"/>
          <p:nvPr/>
        </p:nvSpPr>
        <p:spPr>
          <a:xfrm>
            <a:off x="7982712" y="4743907"/>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سُورِيَا</a:t>
            </a:r>
            <a:endParaRPr lang="ar-SA" sz="1200" dirty="0"/>
          </a:p>
        </p:txBody>
      </p:sp>
      <p:sp>
        <p:nvSpPr>
          <p:cNvPr id="57" name="Text 54"/>
          <p:cNvSpPr txBox="1"/>
          <p:nvPr/>
        </p:nvSpPr>
        <p:spPr>
          <a:xfrm>
            <a:off x="7936992" y="4938492"/>
            <a:ext cx="3749040" cy="134819"/>
          </a:xfrm>
          <a:prstGeom prst="rect">
            <a:avLst/>
          </a:prstGeom>
          <a:noFill/>
          <a:ln/>
        </p:spPr>
        <p:txBody>
          <a:bodyPr wrap="square" lIns="0" tIns="0" rIns="0" bIns="0" rtlCol="0" anchor="ctr"/>
          <a:lstStyle/>
          <a:p>
            <a:pPr algn="ctr" indent="0" marL="0">
              <a:buNone/>
            </a:pPr>
            <a:endParaRPr lang="en-US" sz="800" dirty="0"/>
          </a:p>
        </p:txBody>
      </p:sp>
      <p:sp>
        <p:nvSpPr>
          <p:cNvPr id="58" name="Text 55"/>
          <p:cNvSpPr txBox="1"/>
          <p:nvPr/>
        </p:nvSpPr>
        <p:spPr>
          <a:xfrm>
            <a:off x="4892040" y="4725619"/>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Syria</a:t>
            </a:r>
            <a:endParaRPr lang="en-US" sz="1100" dirty="0"/>
          </a:p>
        </p:txBody>
      </p:sp>
      <p:sp>
        <p:nvSpPr>
          <p:cNvPr id="59" name="Text 56"/>
          <p:cNvSpPr txBox="1"/>
          <p:nvPr/>
        </p:nvSpPr>
        <p:spPr>
          <a:xfrm>
            <a:off x="566928" y="4725619"/>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Levant</a:t>
            </a:r>
            <a:endParaRPr lang="en-US" sz="1100" dirty="0"/>
          </a:p>
        </p:txBody>
      </p:sp>
      <p:sp>
        <p:nvSpPr>
          <p:cNvPr id="60" name="Shape 57"/>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61" name="Text 58"/>
          <p:cNvSpPr txBox="1"/>
          <p:nvPr/>
        </p:nvSpPr>
        <p:spPr>
          <a:xfrm>
            <a:off x="7982712" y="5153558"/>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العِرَاق</a:t>
            </a:r>
            <a:endParaRPr lang="ar-SA" sz="1200" dirty="0"/>
          </a:p>
        </p:txBody>
      </p:sp>
      <p:sp>
        <p:nvSpPr>
          <p:cNvPr id="62" name="Text 59"/>
          <p:cNvSpPr txBox="1"/>
          <p:nvPr/>
        </p:nvSpPr>
        <p:spPr>
          <a:xfrm>
            <a:off x="7936992" y="5348143"/>
            <a:ext cx="3749040" cy="134819"/>
          </a:xfrm>
          <a:prstGeom prst="rect">
            <a:avLst/>
          </a:prstGeom>
          <a:noFill/>
          <a:ln/>
        </p:spPr>
        <p:txBody>
          <a:bodyPr wrap="square" lIns="0" tIns="0" rIns="0" bIns="0" rtlCol="0" anchor="ctr"/>
          <a:lstStyle/>
          <a:p>
            <a:pPr algn="ctr" indent="0" marL="0">
              <a:buNone/>
            </a:pPr>
            <a:endParaRPr lang="en-US" sz="800" dirty="0"/>
          </a:p>
        </p:txBody>
      </p:sp>
      <p:sp>
        <p:nvSpPr>
          <p:cNvPr id="63" name="Text 60"/>
          <p:cNvSpPr txBox="1"/>
          <p:nvPr/>
        </p:nvSpPr>
        <p:spPr>
          <a:xfrm>
            <a:off x="4892040" y="5135270"/>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Iraq</a:t>
            </a:r>
            <a:endParaRPr lang="en-US" sz="1100" dirty="0"/>
          </a:p>
        </p:txBody>
      </p:sp>
      <p:sp>
        <p:nvSpPr>
          <p:cNvPr id="64" name="Text 61"/>
          <p:cNvSpPr txBox="1"/>
          <p:nvPr/>
        </p:nvSpPr>
        <p:spPr>
          <a:xfrm>
            <a:off x="566928" y="5135270"/>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Iraq</a:t>
            </a:r>
            <a:endParaRPr lang="en-US" sz="1100" dirty="0"/>
          </a:p>
        </p:txBody>
      </p:sp>
      <p:sp>
        <p:nvSpPr>
          <p:cNvPr id="65" name="Shape 62"/>
          <p:cNvSpPr/>
          <p:nvPr/>
        </p:nvSpPr>
        <p:spPr>
          <a:xfrm>
            <a:off x="11091672" y="5180990"/>
            <a:ext cx="548640" cy="182880"/>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1091672" y="51809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7" name="Shape 64"/>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68" name="Text 65"/>
          <p:cNvSpPr txBox="1"/>
          <p:nvPr/>
        </p:nvSpPr>
        <p:spPr>
          <a:xfrm>
            <a:off x="7982712" y="5563210"/>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المَمْلَكَةُ العَرَبِيَّةُ السُّعُودِيَّة</a:t>
            </a:r>
            <a:endParaRPr lang="ar-SA" sz="1200" dirty="0"/>
          </a:p>
        </p:txBody>
      </p:sp>
      <p:sp>
        <p:nvSpPr>
          <p:cNvPr id="69" name="Text 66"/>
          <p:cNvSpPr txBox="1"/>
          <p:nvPr/>
        </p:nvSpPr>
        <p:spPr>
          <a:xfrm>
            <a:off x="7936992" y="5757794"/>
            <a:ext cx="3749040" cy="134819"/>
          </a:xfrm>
          <a:prstGeom prst="rect">
            <a:avLst/>
          </a:prstGeom>
          <a:noFill/>
          <a:ln/>
        </p:spPr>
        <p:txBody>
          <a:bodyPr wrap="square" lIns="0" tIns="0" rIns="0" bIns="0" rtlCol="0" anchor="ctr"/>
          <a:lstStyle/>
          <a:p>
            <a:pPr algn="ctr" indent="0" marL="0">
              <a:buNone/>
            </a:pPr>
            <a:endParaRPr lang="en-US" sz="800" dirty="0"/>
          </a:p>
        </p:txBody>
      </p:sp>
      <p:sp>
        <p:nvSpPr>
          <p:cNvPr id="70" name="Text 67"/>
          <p:cNvSpPr txBox="1"/>
          <p:nvPr/>
        </p:nvSpPr>
        <p:spPr>
          <a:xfrm>
            <a:off x="4892040" y="5544922"/>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Saudi Arabia</a:t>
            </a:r>
            <a:endParaRPr lang="en-US" sz="1100" dirty="0"/>
          </a:p>
        </p:txBody>
      </p:sp>
      <p:sp>
        <p:nvSpPr>
          <p:cNvPr id="71" name="Text 68"/>
          <p:cNvSpPr txBox="1"/>
          <p:nvPr/>
        </p:nvSpPr>
        <p:spPr>
          <a:xfrm>
            <a:off x="566928" y="554492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Arabian Peninsula</a:t>
            </a:r>
            <a:endParaRPr lang="en-US" sz="1100" dirty="0"/>
          </a:p>
        </p:txBody>
      </p:sp>
      <p:sp>
        <p:nvSpPr>
          <p:cNvPr id="72" name="Shape 69"/>
          <p:cNvSpPr/>
          <p:nvPr/>
        </p:nvSpPr>
        <p:spPr>
          <a:xfrm>
            <a:off x="11091672" y="5590642"/>
            <a:ext cx="548640" cy="18288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1091672" y="559064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4" name="Shape 71"/>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75" name="Text 72"/>
          <p:cNvSpPr txBox="1"/>
          <p:nvPr/>
        </p:nvSpPr>
        <p:spPr>
          <a:xfrm>
            <a:off x="7982712" y="5972861"/>
            <a:ext cx="3657600" cy="219968"/>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34" charset="0"/>
                <a:ea typeface="Amiri" pitchFamily="34" charset="-122"/>
                <a:cs typeface="Amiri" pitchFamily="34" charset="-120"/>
              </a:rPr>
              <a:t>عُمَان</a:t>
            </a:r>
            <a:endParaRPr lang="ar-SA" sz="1200" dirty="0"/>
          </a:p>
        </p:txBody>
      </p:sp>
      <p:sp>
        <p:nvSpPr>
          <p:cNvPr id="76" name="Text 73"/>
          <p:cNvSpPr txBox="1"/>
          <p:nvPr/>
        </p:nvSpPr>
        <p:spPr>
          <a:xfrm>
            <a:off x="7936992" y="6167445"/>
            <a:ext cx="3749040" cy="134819"/>
          </a:xfrm>
          <a:prstGeom prst="rect">
            <a:avLst/>
          </a:prstGeom>
          <a:noFill/>
          <a:ln/>
        </p:spPr>
        <p:txBody>
          <a:bodyPr wrap="square" lIns="0" tIns="0" rIns="0" bIns="0" rtlCol="0" anchor="ctr"/>
          <a:lstStyle/>
          <a:p>
            <a:pPr algn="ctr" indent="0" marL="0">
              <a:buNone/>
            </a:pPr>
            <a:endParaRPr lang="en-US" sz="800" dirty="0"/>
          </a:p>
        </p:txBody>
      </p:sp>
      <p:sp>
        <p:nvSpPr>
          <p:cNvPr id="77" name="Text 74"/>
          <p:cNvSpPr txBox="1"/>
          <p:nvPr/>
        </p:nvSpPr>
        <p:spPr>
          <a:xfrm>
            <a:off x="4892040" y="5954573"/>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Oman</a:t>
            </a:r>
            <a:endParaRPr lang="en-US" sz="1100" dirty="0"/>
          </a:p>
        </p:txBody>
      </p:sp>
      <p:sp>
        <p:nvSpPr>
          <p:cNvPr id="78" name="Text 75"/>
          <p:cNvSpPr txBox="1"/>
          <p:nvPr/>
        </p:nvSpPr>
        <p:spPr>
          <a:xfrm>
            <a:off x="566928" y="595457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Arabian Peninsula</a:t>
            </a:r>
            <a:endParaRPr lang="en-US" sz="11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Investigate: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اِبْحَثْ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800" b="1" dirty="0">
                <a:solidFill>
                  <a:srgbClr val="2E8B57"/>
                </a:solidFill>
                <a:latin typeface="Cambria" pitchFamily="34" charset="0"/>
                <a:ea typeface="Cambria" pitchFamily="34" charset="-122"/>
                <a:cs typeface="Cambria" pitchFamily="34" charset="-120"/>
              </a:rPr>
              <a:t>5 countries + 3 contexts</a:t>
            </a:r>
            <a:endParaRPr lang="en-US" sz="18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five country names in Arabic with the English. Then copy three everyday words from the context table.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Say each word aloud as you copy 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1600" b="1" dirty="0">
                <a:solidFill>
                  <a:srgbClr val="C9780A"/>
                </a:solidFill>
                <a:latin typeface="Cambria" pitchFamily="34" charset="0"/>
                <a:ea typeface="Cambria" pitchFamily="34" charset="-122"/>
                <a:cs typeface="Cambria" pitchFamily="34" charset="-120"/>
              </a:rPr>
              <a:t>script · language · meaning</a:t>
            </a:r>
            <a:endParaRPr lang="en-US" sz="16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your own example from home (or </a:t>
            </a:r>
            <a:pPr algn="l" indent="0" marL="0">
              <a:buNone/>
            </a:pPr>
            <a:r>
              <a:rPr lang="ar-SA" altLang="en-US" sz="1800" b="1" dirty="0">
                <a:solidFill>
                  <a:srgbClr val="1F2A37"/>
                </a:solidFill>
                <a:latin typeface="Amiri" pitchFamily="34" charset="0"/>
                <a:ea typeface="Amiri" pitchFamily="34" charset="-122"/>
                <a:cs typeface="Amiri" pitchFamily="34" charset="-120"/>
              </a:rPr>
              <a:t>مَطْعَم</a:t>
            </a:r>
            <a:pPr algn="l" indent="0" marL="0">
              <a:buNone/>
            </a:pPr>
            <a:r>
              <a:rPr lang="en-US" sz="1400" b="1" dirty="0">
                <a:solidFill>
                  <a:srgbClr val="1F2A37"/>
                </a:solidFill>
                <a:latin typeface="Calibri" pitchFamily="34" charset="0"/>
                <a:ea typeface="Calibri" pitchFamily="34" charset="-122"/>
                <a:cs typeface="Calibri" pitchFamily="34" charset="-120"/>
              </a:rPr>
              <a:t>). Write the three questions and your answer to each.</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Finish with: secure, likely or uncertain — and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ABCD + name design</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Complete the ABCD chain for your own example. Then design your name in Arabic (Naskh first).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Label it “Arabic-inspired name design” and write an artist’s note: spelling, legibility, visual idea.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Share your example: source, script, reading, confidence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رَأَيْتَ الكِتَابَةَ العَرَبِيَّةَ؟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اسْمَ بَلَدٍ.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هِيَ العَرَبِيَّةُ؟ كَيْفَ تَعْرِفُ؟</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الفَرْقُ بَيْنَ الفُصْحَى وَاللَّهْجَةِ؟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رَأَيْتُهَا عَلَى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أَنَا مُتَأَكِّدٌ / لَسْتُ مُتَأَكِّدًا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الفُصْحَى لِـ ___ ، وَاللَّهْجَةُ لِـ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رَأَى / 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أَيْنَ رَأَيْتَ الكِتَابَةَ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Where did you see Arabic writing?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رَأَيْتُهَا عَلَى مَطْعَمٍ.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saw it on a restaurant.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CAREFUL CLAIMS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Strong claims and careful claims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الدَّلِيلُ أَوَّلًا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Risky claim</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Stronger, careful claim</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72084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“It’s Arabic script, so it’s Arabic.”</a:t>
            </a:r>
            <a:endParaRPr lang="en-US" sz="1100" dirty="0"/>
          </a:p>
        </p:txBody>
      </p:sp>
      <p:sp>
        <p:nvSpPr>
          <p:cNvPr id="20" name="Text 17"/>
          <p:cNvSpPr txBox="1"/>
          <p:nvPr/>
        </p:nvSpPr>
        <p:spPr>
          <a:xfrm>
            <a:off x="566928" y="2267712"/>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Arabic script; I need to check the language.”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72084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“This sign tells me the owner’s religion.”</a:t>
            </a:r>
            <a:endParaRPr lang="en-US" sz="1100" dirty="0"/>
          </a:p>
        </p:txBody>
      </p:sp>
      <p:sp>
        <p:nvSpPr>
          <p:cNvPr id="25" name="Text 22"/>
          <p:cNvSpPr txBox="1"/>
          <p:nvPr/>
        </p:nvSpPr>
        <p:spPr>
          <a:xfrm>
            <a:off x="566928" y="3054096"/>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sign tells me what the business is — not who people are.”</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72084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“Dialects are bad Arabic.”</a:t>
            </a:r>
            <a:endParaRPr lang="en-US" sz="1100" dirty="0"/>
          </a:p>
        </p:txBody>
      </p:sp>
      <p:sp>
        <p:nvSpPr>
          <p:cNvPr id="30" name="Text 27"/>
          <p:cNvSpPr txBox="1"/>
          <p:nvPr/>
        </p:nvSpPr>
        <p:spPr>
          <a:xfrm>
            <a:off x="566928" y="3840480"/>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“Dialects are spoken varieties with their own rules; MSA is the shared formal variety.”</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72084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must mean bakery — there’s bread.”</a:t>
            </a:r>
            <a:endParaRPr lang="en-US" sz="1100" dirty="0"/>
          </a:p>
        </p:txBody>
      </p:sp>
      <p:sp>
        <p:nvSpPr>
          <p:cNvPr id="35" name="Text 32"/>
          <p:cNvSpPr txBox="1"/>
          <p:nvPr/>
        </p:nvSpPr>
        <p:spPr>
          <a:xfrm>
            <a:off x="566928" y="4626864"/>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letters read </a:t>
            </a:r>
            <a:pPr algn="l" indent="0" marL="0">
              <a:buNone/>
            </a:pPr>
            <a:r>
              <a:rPr lang="ar-SA" altLang="en-US" sz="1450" dirty="0">
                <a:solidFill>
                  <a:srgbClr val="5A6472"/>
                </a:solidFill>
                <a:latin typeface="Amiri" pitchFamily="34" charset="0"/>
                <a:ea typeface="Amiri" pitchFamily="34" charset="-122"/>
                <a:cs typeface="Amiri" pitchFamily="34" charset="-120"/>
              </a:rPr>
              <a:t>مَخْبَز</a:t>
            </a:r>
            <a:pPr algn="l" indent="0" marL="0">
              <a:buNone/>
            </a:pPr>
            <a:r>
              <a:rPr lang="en-US" sz="1100" dirty="0">
                <a:solidFill>
                  <a:srgbClr val="5A6472"/>
                </a:solidFill>
                <a:latin typeface="Calibri" pitchFamily="34" charset="0"/>
                <a:ea typeface="Calibri" pitchFamily="34" charset="-122"/>
                <a:cs typeface="Calibri" pitchFamily="34" charset="-120"/>
              </a:rPr>
              <a:t>, and the picture agrees.”</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where Arabic appears around me.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five Arabic country names.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distinguish script, language, context and meaning.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MSA and spoken varieties respectfully.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ABCD and say when evidence is uncertain.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country is </a:t>
            </a:r>
            <a:pPr algn="l" indent="0" marL="0">
              <a:buNone/>
            </a:pPr>
            <a:r>
              <a:rPr lang="ar-SA" altLang="en-US" sz="1650" b="1" dirty="0">
                <a:solidFill>
                  <a:srgbClr val="1B3B6F"/>
                </a:solidFill>
                <a:latin typeface="Amiri" pitchFamily="34" charset="0"/>
                <a:ea typeface="Amiri" pitchFamily="34" charset="-122"/>
                <a:cs typeface="Amiri" pitchFamily="34" charset="-120"/>
              </a:rPr>
              <a:t>مِصْر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Egypt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Iraq</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calligraphy style is our clear school hand based 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Thuluth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Naskh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Ruqʿah</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sign is cropped and has no source. What do you say?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sure what it means.”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can identify the script, but I cannot yet verify the meaning.”</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country is </a:t>
            </a:r>
            <a:pPr algn="l" indent="0" marL="0">
              <a:buNone/>
            </a:pPr>
            <a:r>
              <a:rPr lang="ar-SA" altLang="en-US" sz="1650" b="1" dirty="0">
                <a:solidFill>
                  <a:srgbClr val="1B3B6F"/>
                </a:solidFill>
                <a:latin typeface="Amiri" pitchFamily="34" charset="0"/>
                <a:ea typeface="Amiri" pitchFamily="34" charset="-122"/>
                <a:cs typeface="Amiri" pitchFamily="34" charset="-120"/>
              </a:rPr>
              <a:t>مِصْر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Egypt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Iraq</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Nile Valley.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calligraphy style is our clear school hand based 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Thuluth</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Naskh</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Ruqʿah</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Part 5.</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sign is cropped and has no source. What do you say?</a:t>
            </a:r>
            <a:endParaRPr lang="en-US" sz="1250" dirty="0"/>
          </a:p>
        </p:txBody>
      </p:sp>
      <p:sp>
        <p:nvSpPr>
          <p:cNvPr id="49" name="Shape 46"/>
          <p:cNvSpPr/>
          <p:nvPr/>
        </p:nvSpPr>
        <p:spPr>
          <a:xfrm>
            <a:off x="8278368" y="2532888"/>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sure what it means.”</a:t>
            </a:r>
            <a:endParaRPr lang="en-US" sz="1250" dirty="0"/>
          </a:p>
        </p:txBody>
      </p:sp>
      <p:sp>
        <p:nvSpPr>
          <p:cNvPr id="52" name="Shape 49"/>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9900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can identify the script, but I cannot yet verify the meaning.”</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strong sentence.</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F1-L11 · Arabic around us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F1-L12 · Review &amp;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 د ذ ر ز و</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six non-connectors</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  بُ  بِ  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fatḥa · ḍamma · kasra · sukūn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  بٌ  آ  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shadda · tanwīn · madda · hamza</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١ ٢ ٣ … ٢٠</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numerals 0–20</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مطعم · مدرسة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two sign words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Review the 28-letter chart and circle three letter families you feel unsure about.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 ب ت ث … ن ه و 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“Next step”: review the 28-letter chart; practise the six non-connectors.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“Next step”: review diacritics, numerals 0–20 and five sign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“Next step”: prepare a short vowelled read-aloud passage and one question for the review lesson.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F1-L12 · Review &amp; Assessment</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مُرَاجَعَةُ الوَحْدَةِ الأُولَى</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revise the 5 areas + bring one question.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F1-L11 · Arabic Around Us</dc:title>
  <dc:subject>PptxGenJS Presentation</dc:subject>
  <dc:creator>Al Madina Online School · Arabic Department</dc:creator>
  <cp:lastModifiedBy>Al Madina Online School · Arabic Department</cp:lastModifiedBy>
  <cp:revision>1</cp:revision>
  <dcterms:created xsi:type="dcterms:W3CDTF">2026-09-27T09:38:17Z</dcterms:created>
  <dcterms:modified xsi:type="dcterms:W3CDTF">2026-09-27T09:38:17Z</dcterms:modified>
</cp:coreProperties>
</file>