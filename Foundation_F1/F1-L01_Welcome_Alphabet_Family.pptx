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 (F1-L01). The website lesson teaches alif (introductory letter, no fixed sound in this lesson), Family 1 ب ت ث (shared base; dots below/above) and Family 2 ج ح خ (shared bowl; dot inside/below, none, above), line direction (right → left) and isolated formation. The listening scripts, mini-checks, dot detective, sorting task, formation steps, mix-up/repair table and final check are the website’s; the letter-name game is the website game “The Alphabet Family”.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first lesson for complete beginners, with heritage readers in the same class. CORE: recognise the 7 names, the 6 sounds and the two families; show the right-hand start; write 2 letters. DEVELOP: explain both dot rules; copy all 7 accurately. STRETCH: fast recognition, /t/ vs /θ/ and /ħ/ vs /x/, all 7 from memory, teach the family rule.
• Heritage / Urdu readers already know these shapes: the Urdu bridge shows the Arabic NAME for each familiar letter. Their target is formal names, exact dots and neat formation (website Heritage route).
• No transliteration for letters on the listening tasks (website rule) — students choose the shape they hear.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FIRST LESSON — a “what do you already know?” warm-up, not a test. Celebrate any prior knowledge (heritage readers, Qur’an classes). Use it to spot who already reads.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starts on the RIGHT. Letters come in families: same shape, different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four objectives on the left summarise the website F1-L01 outcomes; the routes are the website’s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 the SHAPES are the same in Urdu; the NAMES change a little: Urdu bē → Arabic bāʾ, tē → tāʾ, sē → thāʾ (and in Arabic ث is /θ/ as in “thin”, not /s/), jīm → jīm, baṛī ḥē → ḥāʾ, khē → khāʾ.
Heritage readers: praise what they know, then insist on the formal Arabic names and sounds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INSTRUCTION (2 min) — website “Orient” section: a 28-letter alphabet; Arabic lines begin on the right; the first letters come in families that share a shape.
Stress the website distinction: the right-to-left arrow is about the LINE, not about the stroke order of each letter.
Gesture: every student puts a finger on the RIGHT edge of their screen — “Arabic starts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1–4 (website Part 1). Hear → say → see → write.
• ا أَلِف: first in the alphabet; kept SEPARATE from both families; in this lesson we learn its name only — no fixed sound yet (website rule).
• Family 1 shares one body (a shallow bowl). The dots tell the members apart: ب one below · ت two above · ث three above.
Pronunciation (website): ب /b/ close both lips (“book”) · ت clear /t/, tongue inside the mouth · ث /θ/ tongue tip lightly between the teeth (“thin”) — do not turn it into /t/ or /s/.
Gesture: hand flat = the body; fingers below/above =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5–7 (website Part 2). Same bowl, different dot.
Pronunciation (website, MSA model): ج /dʒ/ like “jam” — heritage learners may know /g/ or /ʒ/ from dialects; respect it, but the lesson uses /dʒ/ · ح /ħ/ a strong, voiceless breath from deep in the throat — NOT English h (“fog on a mirror”, but deeper) · خ /x/ friction at the back, like Scottish “loch” — never /k/.
Memory hook: ج dot IN the bowl, ح NO dot, خ dot ON TOP (“kh is on the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DOT RULE (website): Family 1 — one below, two above, three above. Family 2 — one inside/below, none, one above.
Seven NAMES but only six consonant SOUNDS today (alif is taught by name only) — a website check question.
Cover-the-dots game: hide the dots with your hand on camera; students say which family; reveal and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PRONUNCIATION (2 min) — website “Pronunciation focus”. Model each sound 3 times; students echo with mics muted, then 3 volunteers on open mic (invitation only; “pass” allowed).
Minimal pairs from the website: /t/ vs /θ/ (ت vs ث) and /ħ/ vs /x/ (ح vs خ).
Heritage / Urdu speakers often say ث as /s/ (Urdu sē) — this is the key correction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and Dot detective.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sequence: WATCH → AIR-WRITE → TRACE → COPY → WRITE FROM MEMORY. Isolated forms only today.
Model each letter large on the whiteboard / pen tablet, saying the steps aloud. Students air-write with a big arm, then trace the pale letters and copy twice on the dashed line in their books.
Website reminder: the line-direction arrow does NOT tell you the stroke order; each letter has its own steps. Dots go on LAST and close to the body.
SEND: large squared paper; a highlighter baseline; model one letter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lesson game “The Alphabet Family” (مُحَقِّقُ الحُرُوفِ): see the letter, choose its name. Students type 5 letters in the chat. Core: use the dot clue in the green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aloud together (mics on for a moment), then two volunteers.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“Hear the letter name → select the letter”. Read each cue aloud twice; do not show the Arabic spelling or any transliteration. Students choose the letter shape.
CUES (read aloud):
1. تَاءٌ
2. أَلِفٌ
3. حَاءٌ
4. ثَاءٌ
5. جِيمٌ
Heritage readers may answer fastest — ask them to wait 5 seconds (think time) before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“Hear a consonant sound → select the letter” and the sound discrimination circuit. Read each cue aloud twice; do not show the Arabic spelling or any transliteration. Students choose the letter shape.
CUES (read aloud):
1. /b/ (as in “book”)
2. /θ/ (as in “thin”)
3. /x/ (as in “loch”)
4. /ħ/ (deep breath)
5. /t/
Say only the short consonant sound — not the letter name. Alif is not included: it has no fixed sound in this lesson (website).
Stretch challenge: /t/ vs /θ/ and /ħ/ vs /x/ are the website’s minimal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 the seven letters” (2 min). Students write the three headings in their books and copy each letter under the right one. Clue: look at the BODY, not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 the seven letters” (2 min). Students write the three headings in their books and copy each letter under the right one. Clue: look at the BODY, not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PRACTICE (3 min). Read each script twice, slowly, with a pause between names. Students first WRITE the letters in order in their books (website response task), then choose.
Script 1: أَلِفٌ. بَاءٌ. تَاءٌ. ثَاءٌ. (then: circle the letter with one dot below)
Script 2: جِيمٌ. حَاءٌ. خَاءٌ. (then: underline the letter with no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check the written order in books (cameras: hold books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Website routes: Core “form at least two letters”; Develop “copy all seven isolated forms accurately”; Stretch “write all seven from memory and teach the family principle”.
LIVE FEEDBACK: after 3 minutes students hold their book up to the camera. Check dots (position and number) and that dots are close to the letter body (website mix-up table).
Work with the less able first. SEND: squared paper, one letter per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العَائِلَةُ؟ (And this family?)
B: بَاءٌ، تَاءٌ، ثَاءٌ — نَفْسُ الشَّكْلِ وَنِقَاطٌ مُخْتَلِفَةٌ. (bāʾ, tāʾ, thāʾ — the same shape and different dots.)
SHOW AND SAY — website performance task “My Letter Family” (60–90 s each). Evidence checklist (website): introduce ا as أَلِف, the first letter · present ب ت ث OR ج ح خ · say the three sounds · explain the dot rule · point to the right-hand line start · form one letter · answer one audience challenge.
Audience challenges (website): “Point to خَاء.” · “Which letter has two dots on top?” · “Which letter comes first?” · “How many letters does Arabic have?” · “Show me where an Arabic line starts.”
Dignified routes (website): individual, paired, or quiet route with one trusted partner. Prompt translations: What is this letter? · Where does the line begin? · Explain the dot rule. · Teach your classmate a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website “Common mix-ups and repairs”. Students check their own writing against rows 1–3 and correct in green pen. Other website repairs: ح is deeper than English h; the line arrow is not a stroke-order rule; dots must stay close to the letter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(F1-L02 · New Letter Families &amp; Connection Breakers) will spend class time USING this language, so students prepare it tonight — short, simple, easy to access (school guidance: “Simple, Short, Interesting, Relevant, Easy to access”). Next lesson adds seven letters (د ذ ر ز س ش ص). Preview five of them tonight: look at the shape, say the name.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Welcome to Arabic — The Alphabet Family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مَرْحَبًا بِكُمْ فِي اللُّغَةِ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Meet your first seven letters: alif (</a:t>
            </a:r>
            <a:pPr algn="l" indent="0" marL="0">
              <a:buNone/>
            </a:pPr>
            <a:r>
              <a:rPr lang="ar-SA" altLang="en-US" sz="1800" dirty="0">
                <a:solidFill>
                  <a:srgbClr val="C6D2E6"/>
                </a:solidFill>
                <a:latin typeface="Amiri" pitchFamily="34" charset="0"/>
                <a:ea typeface="Amiri" pitchFamily="34" charset="-122"/>
                <a:cs typeface="Amiri" pitchFamily="34" charset="-120"/>
              </a:rPr>
              <a:t>ا</a:t>
            </a:r>
            <a:pPr algn="l" indent="0" marL="0">
              <a:buNone/>
            </a:pPr>
            <a:r>
              <a:rPr lang="en-US" sz="1400" dirty="0">
                <a:solidFill>
                  <a:srgbClr val="C6D2E6"/>
                </a:solidFill>
                <a:latin typeface="Calibri" pitchFamily="34" charset="0"/>
                <a:ea typeface="Calibri" pitchFamily="34" charset="-122"/>
                <a:cs typeface="Calibri" pitchFamily="34" charset="-120"/>
              </a:rPr>
              <a:t>) and two letter families that share a shape (</a:t>
            </a:r>
            <a:pPr algn="l" indent="0" marL="0">
              <a:buNone/>
            </a:pPr>
            <a:r>
              <a:rPr lang="ar-SA" altLang="en-US" sz="1800" dirty="0">
                <a:solidFill>
                  <a:srgbClr val="C6D2E6"/>
                </a:solidFill>
                <a:latin typeface="Amiri" pitchFamily="34" charset="0"/>
                <a:ea typeface="Amiri" pitchFamily="34" charset="-122"/>
                <a:cs typeface="Amiri" pitchFamily="34" charset="-120"/>
              </a:rPr>
              <a:t>ب ت ث</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ج ح خ</a:t>
            </a:r>
            <a:pPr algn="l" indent="0" marL="0">
              <a:buNone/>
            </a:pPr>
            <a:r>
              <a:rPr lang="en-US" sz="1400" dirty="0">
                <a:solidFill>
                  <a:srgbClr val="C6D2E6"/>
                </a:solidFill>
                <a:latin typeface="Calibri" pitchFamily="34" charset="0"/>
                <a:ea typeface="Calibri" pitchFamily="34" charset="-122"/>
                <a:cs typeface="Calibri" pitchFamily="34" charset="-120"/>
              </a:rPr>
              <a:t>). Learn their names and sounds, use the dots to tell them apart, and write each letter carefully.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F1-L01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Right to left, alif, and two letter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 and choose, sort the families, dot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line of Arabic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letters are in the Arabic alphabet?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28</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26</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of these is written in Arabic script?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Bonjour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مَرْحَبًا</a:t>
            </a:r>
            <a:endParaRPr lang="ar-SA" sz="22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uses almost the same letters as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Chinese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Urdu</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Qur’an was revealed in which language?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Urdu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Persian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line of Arabic begin?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left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middle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is written and read from right to left.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letters are in the Arabic alphabet?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28</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26</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has 28 letters — today we open the first 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of these is written in Arabic script?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Hello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Bonjour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مَرْحَبًا</a:t>
            </a:r>
            <a:endParaRPr lang="ar-SA" sz="2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مَرْحَبًا</a:t>
            </a:r>
            <a:pPr algn="l" indent="0" marL="0">
              <a:buNone/>
            </a:pPr>
            <a:r>
              <a:rPr lang="en-US" sz="1050" i="1" dirty="0">
                <a:solidFill>
                  <a:srgbClr val="8A6D1E"/>
                </a:solidFill>
                <a:latin typeface="Calibri" pitchFamily="34" charset="0"/>
                <a:ea typeface="Calibri" pitchFamily="34" charset="-122"/>
                <a:cs typeface="Calibri" pitchFamily="34" charset="-120"/>
              </a:rPr>
              <a:t> = hello / welcome.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uses almost the same letters as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Chinese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Urdu</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Urdu (and Persian) use the Arabic alphabet with a few extra letters.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Qur’an was revealed in which language?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Urdu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Persian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 the language of the Qur’an, spoken in more than 20 countries.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starts on the RIGHT. Letters come in families: same shape, different dots.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   ·   ب ت ث   ·   ج ح خ</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that Arabic lines begin on the right.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alif and the six letters of two families.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each letter name and consonant sound.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dots to tell family members apart and form each letter.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recognise all 7 letters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show where an Arabic line starts and write 2 letters.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both dot rules.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copy all 7 letters accurately.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hear /t/ vs /θ/ and /ħ/ vs /x/.</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all 7 from memory and teach the family rule.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7 letters in 3 groups. Learn the NAME and the SOUND of each one. See it → hear it → say it → write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FIRST</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Alif · 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FAMILY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ب ت ث · 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FAMILY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ج ح خ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‎الف‎ </a:t>
            </a:r>
            <a:pPr indent="0" marL="0">
              <a:buNone/>
            </a:pPr>
            <a:r>
              <a:rPr lang="en-US" sz="950" b="1" dirty="0">
                <a:solidFill>
                  <a:srgbClr val="2E8B57"/>
                </a:solidFill>
                <a:latin typeface="Calibri" pitchFamily="34" charset="0"/>
                <a:ea typeface="Calibri" pitchFamily="34" charset="-122"/>
                <a:cs typeface="Calibri" pitchFamily="34" charset="-120"/>
              </a:rPr>
              <a:t> alif · alif (the same!)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‎بے‎ </a:t>
            </a:r>
            <a:pPr indent="0" marL="0">
              <a:buNone/>
            </a:pPr>
            <a:r>
              <a:rPr lang="en-US" sz="950" b="1" dirty="0">
                <a:solidFill>
                  <a:srgbClr val="2E8B57"/>
                </a:solidFill>
                <a:latin typeface="Calibri" pitchFamily="34" charset="0"/>
                <a:ea typeface="Calibri" pitchFamily="34" charset="-122"/>
                <a:cs typeface="Calibri" pitchFamily="34" charset="-120"/>
              </a:rPr>
              <a:t> bē · Arabic: bāʾ</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‎ثے‎ </a:t>
            </a:r>
            <a:pPr indent="0" marL="0">
              <a:buNone/>
            </a:pPr>
            <a:r>
              <a:rPr lang="en-US" sz="950" b="1" dirty="0">
                <a:solidFill>
                  <a:srgbClr val="2E8B57"/>
                </a:solidFill>
                <a:latin typeface="Calibri" pitchFamily="34" charset="0"/>
                <a:ea typeface="Calibri" pitchFamily="34" charset="-122"/>
                <a:cs typeface="Calibri" pitchFamily="34" charset="-120"/>
              </a:rPr>
              <a:t> sē · Arabic: thāʾ /θ/</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‎بڑی حے‎ </a:t>
            </a:r>
            <a:pPr indent="0" marL="0">
              <a:buNone/>
            </a:pPr>
            <a:r>
              <a:rPr lang="en-US" sz="950" b="1" dirty="0">
                <a:solidFill>
                  <a:srgbClr val="2E8B57"/>
                </a:solidFill>
                <a:latin typeface="Calibri" pitchFamily="34" charset="0"/>
                <a:ea typeface="Calibri" pitchFamily="34" charset="-122"/>
                <a:cs typeface="Calibri" pitchFamily="34" charset="-120"/>
              </a:rPr>
              <a:t> baṛī ḥē · Arabic: ḥāʾ</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‎خے‎ </a:t>
            </a:r>
            <a:pPr indent="0" marL="0">
              <a:buNone/>
            </a:pPr>
            <a:r>
              <a:rPr lang="en-US" sz="950" b="1" dirty="0">
                <a:solidFill>
                  <a:srgbClr val="2E8B57"/>
                </a:solidFill>
                <a:latin typeface="Calibri" pitchFamily="34" charset="0"/>
                <a:ea typeface="Calibri" pitchFamily="34" charset="-122"/>
                <a:cs typeface="Calibri" pitchFamily="34" charset="-120"/>
              </a:rPr>
              <a:t> khē · Arabic: khāʾ</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THREE BIG IDEAS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Before we start: how Arabic works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كَيْفَ تَعْمَلُ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DIRECTION</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right → left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 اِبْدَأْ هُنَا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Start here — on the RIGHT.</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Lines go from the right-hand side towards the left. (This is NOT how to draw each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28 LETTERS</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٢٨ حَرْفًا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 ب ت ث ج ح خ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Today: the first 7 of 28.</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other 21 stay closed for later lessons.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FAMILIES</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500" b="1" dirty="0">
                <a:solidFill>
                  <a:srgbClr val="8A6D1E"/>
                </a:solidFill>
                <a:latin typeface="Calibri" pitchFamily="34" charset="0"/>
                <a:ea typeface="Calibri" pitchFamily="34" charset="-122"/>
                <a:cs typeface="Calibri" pitchFamily="34" charset="-120"/>
              </a:rPr>
              <a:t>same shape, different dots</a:t>
            </a:r>
            <a:endParaRPr lang="en-US" sz="15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ب ت ث</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body, three letters.</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Look at the SHAPE first, then COUNT the dots and see WHERE they are.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LETTERS · ALIF + FAMILY 1 (SHARED BASE SHAPE)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Alif and the first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الأَلِفُ وَالعَائِلَةُ الأُولَى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first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ا</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alif — the first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stands alone · no dots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أَلِفٌ</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Family 1</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ب</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bāʾ — sound /b/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BELOW</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Family 1</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ت</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tāʾ — sound /t/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TWO dots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Family 1</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ث</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thāʾ — sound /θ/ (thin)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THREE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ثَاءٌ</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LETTERS · FAMILY 2 (SHARED BOWL SHAPE)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second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العَائِلَةُ الثَّانِيَةُ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Family 2</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ج</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jīm — sound /dʒ/ (jam)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INSIDE / below the bowl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جِيمٌ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Family 2</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ح</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ḥāʾ — sound /ħ/ (deep breath)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NO dot</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Family 2</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34" charset="0"/>
                <a:ea typeface="Amiri" pitchFamily="34" charset="-122"/>
                <a:cs typeface="Amiri" pitchFamily="34" charset="-120"/>
              </a:rPr>
              <a:t>خ</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khāʾ — sound /x/ (loch)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THE DOT RULE · ALL 7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Shape first, then count the dots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قَاعِدَةُ النِّقَاطِ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Group</a:t>
            </a:r>
            <a:endParaRPr lang="en-US" sz="1100" dirty="0"/>
          </a:p>
        </p:txBody>
      </p:sp>
      <p:sp>
        <p:nvSpPr>
          <p:cNvPr id="17" name="Text 14"/>
          <p:cNvSpPr txBox="1"/>
          <p:nvPr/>
        </p:nvSpPr>
        <p:spPr>
          <a:xfrm>
            <a:off x="833018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a:t>
            </a:r>
            <a:endParaRPr lang="en-US" sz="1100" dirty="0"/>
          </a:p>
        </p:txBody>
      </p:sp>
      <p:sp>
        <p:nvSpPr>
          <p:cNvPr id="18" name="Text 15"/>
          <p:cNvSpPr txBox="1"/>
          <p:nvPr/>
        </p:nvSpPr>
        <p:spPr>
          <a:xfrm>
            <a:off x="63185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19" name="Text 16"/>
          <p:cNvSpPr txBox="1"/>
          <p:nvPr/>
        </p:nvSpPr>
        <p:spPr>
          <a:xfrm>
            <a:off x="33924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Dots</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Sound</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9829800" y="2267712"/>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 separate</a:t>
            </a:r>
            <a:endParaRPr lang="en-US" sz="1100" dirty="0"/>
          </a:p>
        </p:txBody>
      </p:sp>
      <p:sp>
        <p:nvSpPr>
          <p:cNvPr id="23" name="Text 20"/>
          <p:cNvSpPr txBox="1"/>
          <p:nvPr/>
        </p:nvSpPr>
        <p:spPr>
          <a:xfrm>
            <a:off x="8348472" y="2267712"/>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ا</a:t>
            </a:r>
            <a:endParaRPr lang="ar-SA" sz="2450" dirty="0"/>
          </a:p>
        </p:txBody>
      </p:sp>
      <p:sp>
        <p:nvSpPr>
          <p:cNvPr id="24" name="Text 21"/>
          <p:cNvSpPr txBox="1"/>
          <p:nvPr/>
        </p:nvSpPr>
        <p:spPr>
          <a:xfrm>
            <a:off x="6336792" y="2267712"/>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أَلِفٌ</a:t>
            </a:r>
            <a:endParaRPr lang="ar-SA" sz="2200" dirty="0"/>
          </a:p>
        </p:txBody>
      </p:sp>
      <p:sp>
        <p:nvSpPr>
          <p:cNvPr id="25" name="Text 22"/>
          <p:cNvSpPr txBox="1"/>
          <p:nvPr/>
        </p:nvSpPr>
        <p:spPr>
          <a:xfrm>
            <a:off x="342900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none</a:t>
            </a:r>
            <a:endParaRPr lang="en-US" sz="1100" dirty="0"/>
          </a:p>
        </p:txBody>
      </p:sp>
      <p:sp>
        <p:nvSpPr>
          <p:cNvPr id="26" name="Text 23"/>
          <p:cNvSpPr txBox="1"/>
          <p:nvPr/>
        </p:nvSpPr>
        <p:spPr>
          <a:xfrm>
            <a:off x="566928" y="2267712"/>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 only (no fixed sound today)</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0" name="Text 27"/>
          <p:cNvSpPr txBox="1"/>
          <p:nvPr/>
        </p:nvSpPr>
        <p:spPr>
          <a:xfrm>
            <a:off x="9829800" y="2852928"/>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1</a:t>
            </a:r>
            <a:endParaRPr lang="en-US" sz="1100" dirty="0"/>
          </a:p>
        </p:txBody>
      </p:sp>
      <p:sp>
        <p:nvSpPr>
          <p:cNvPr id="31" name="Text 28"/>
          <p:cNvSpPr txBox="1"/>
          <p:nvPr/>
        </p:nvSpPr>
        <p:spPr>
          <a:xfrm>
            <a:off x="8348472" y="2852928"/>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ب</a:t>
            </a:r>
            <a:endParaRPr lang="ar-SA" sz="2450" dirty="0"/>
          </a:p>
        </p:txBody>
      </p:sp>
      <p:sp>
        <p:nvSpPr>
          <p:cNvPr id="32" name="Text 29"/>
          <p:cNvSpPr txBox="1"/>
          <p:nvPr/>
        </p:nvSpPr>
        <p:spPr>
          <a:xfrm>
            <a:off x="6336792" y="2852928"/>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بَاءٌ</a:t>
            </a:r>
            <a:endParaRPr lang="ar-SA" sz="2200" dirty="0"/>
          </a:p>
        </p:txBody>
      </p:sp>
      <p:sp>
        <p:nvSpPr>
          <p:cNvPr id="33" name="Text 30"/>
          <p:cNvSpPr txBox="1"/>
          <p:nvPr/>
        </p:nvSpPr>
        <p:spPr>
          <a:xfrm>
            <a:off x="342900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below</a:t>
            </a:r>
            <a:endParaRPr lang="en-US" sz="1100" dirty="0"/>
          </a:p>
        </p:txBody>
      </p:sp>
      <p:sp>
        <p:nvSpPr>
          <p:cNvPr id="34" name="Text 31"/>
          <p:cNvSpPr txBox="1"/>
          <p:nvPr/>
        </p:nvSpPr>
        <p:spPr>
          <a:xfrm>
            <a:off x="566928" y="2852928"/>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book</a:t>
            </a:r>
            <a:endParaRPr lang="en-US" sz="1100" dirty="0"/>
          </a:p>
        </p:txBody>
      </p:sp>
      <p:sp>
        <p:nvSpPr>
          <p:cNvPr id="35" name="Shape 32"/>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8" name="Text 35"/>
          <p:cNvSpPr txBox="1"/>
          <p:nvPr/>
        </p:nvSpPr>
        <p:spPr>
          <a:xfrm>
            <a:off x="9829800" y="3438144"/>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1</a:t>
            </a:r>
            <a:endParaRPr lang="en-US" sz="1100" dirty="0"/>
          </a:p>
        </p:txBody>
      </p:sp>
      <p:sp>
        <p:nvSpPr>
          <p:cNvPr id="39" name="Text 36"/>
          <p:cNvSpPr txBox="1"/>
          <p:nvPr/>
        </p:nvSpPr>
        <p:spPr>
          <a:xfrm>
            <a:off x="8348472" y="3438144"/>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ت</a:t>
            </a:r>
            <a:endParaRPr lang="ar-SA" sz="2450" dirty="0"/>
          </a:p>
        </p:txBody>
      </p:sp>
      <p:sp>
        <p:nvSpPr>
          <p:cNvPr id="40" name="Text 37"/>
          <p:cNvSpPr txBox="1"/>
          <p:nvPr/>
        </p:nvSpPr>
        <p:spPr>
          <a:xfrm>
            <a:off x="6336792" y="3438144"/>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تَاءٌ</a:t>
            </a:r>
            <a:endParaRPr lang="ar-SA" sz="2200" dirty="0"/>
          </a:p>
        </p:txBody>
      </p:sp>
      <p:sp>
        <p:nvSpPr>
          <p:cNvPr id="41" name="Text 38"/>
          <p:cNvSpPr txBox="1"/>
          <p:nvPr/>
        </p:nvSpPr>
        <p:spPr>
          <a:xfrm>
            <a:off x="342900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above</a:t>
            </a:r>
            <a:endParaRPr lang="en-US" sz="1100" dirty="0"/>
          </a:p>
        </p:txBody>
      </p:sp>
      <p:sp>
        <p:nvSpPr>
          <p:cNvPr id="42" name="Text 39"/>
          <p:cNvSpPr txBox="1"/>
          <p:nvPr/>
        </p:nvSpPr>
        <p:spPr>
          <a:xfrm>
            <a:off x="566928" y="3438144"/>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 — tap</a:t>
            </a:r>
            <a:endParaRPr lang="en-US" sz="1100" dirty="0"/>
          </a:p>
        </p:txBody>
      </p:sp>
      <p:sp>
        <p:nvSpPr>
          <p:cNvPr id="43" name="Shape 40"/>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6" name="Text 43"/>
          <p:cNvSpPr txBox="1"/>
          <p:nvPr/>
        </p:nvSpPr>
        <p:spPr>
          <a:xfrm>
            <a:off x="9829800" y="4023360"/>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1</a:t>
            </a:r>
            <a:endParaRPr lang="en-US" sz="1100" dirty="0"/>
          </a:p>
        </p:txBody>
      </p:sp>
      <p:sp>
        <p:nvSpPr>
          <p:cNvPr id="47" name="Text 44"/>
          <p:cNvSpPr txBox="1"/>
          <p:nvPr/>
        </p:nvSpPr>
        <p:spPr>
          <a:xfrm>
            <a:off x="8348472" y="4023360"/>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ث</a:t>
            </a:r>
            <a:endParaRPr lang="ar-SA" sz="2450" dirty="0"/>
          </a:p>
        </p:txBody>
      </p:sp>
      <p:sp>
        <p:nvSpPr>
          <p:cNvPr id="48" name="Text 45"/>
          <p:cNvSpPr txBox="1"/>
          <p:nvPr/>
        </p:nvSpPr>
        <p:spPr>
          <a:xfrm>
            <a:off x="6336792" y="4023360"/>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ثَاءٌ</a:t>
            </a:r>
            <a:endParaRPr lang="ar-SA" sz="2200" dirty="0"/>
          </a:p>
        </p:txBody>
      </p:sp>
      <p:sp>
        <p:nvSpPr>
          <p:cNvPr id="49" name="Text 46"/>
          <p:cNvSpPr txBox="1"/>
          <p:nvPr/>
        </p:nvSpPr>
        <p:spPr>
          <a:xfrm>
            <a:off x="342900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above</a:t>
            </a:r>
            <a:endParaRPr lang="en-US" sz="1100" dirty="0"/>
          </a:p>
        </p:txBody>
      </p:sp>
      <p:sp>
        <p:nvSpPr>
          <p:cNvPr id="50" name="Text 47"/>
          <p:cNvSpPr txBox="1"/>
          <p:nvPr/>
        </p:nvSpPr>
        <p:spPr>
          <a:xfrm>
            <a:off x="566928" y="4023360"/>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/θ/ — thin</a:t>
            </a:r>
            <a:endParaRPr lang="en-US" sz="1100" dirty="0"/>
          </a:p>
        </p:txBody>
      </p:sp>
      <p:sp>
        <p:nvSpPr>
          <p:cNvPr id="51" name="Shape 4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4" name="Text 51"/>
          <p:cNvSpPr txBox="1"/>
          <p:nvPr/>
        </p:nvSpPr>
        <p:spPr>
          <a:xfrm>
            <a:off x="9829800" y="4608576"/>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2</a:t>
            </a:r>
            <a:endParaRPr lang="en-US" sz="1100" dirty="0"/>
          </a:p>
        </p:txBody>
      </p:sp>
      <p:sp>
        <p:nvSpPr>
          <p:cNvPr id="55" name="Text 52"/>
          <p:cNvSpPr txBox="1"/>
          <p:nvPr/>
        </p:nvSpPr>
        <p:spPr>
          <a:xfrm>
            <a:off x="8348472" y="4608576"/>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ج</a:t>
            </a:r>
            <a:endParaRPr lang="ar-SA" sz="2450" dirty="0"/>
          </a:p>
        </p:txBody>
      </p:sp>
      <p:sp>
        <p:nvSpPr>
          <p:cNvPr id="56" name="Text 53"/>
          <p:cNvSpPr txBox="1"/>
          <p:nvPr/>
        </p:nvSpPr>
        <p:spPr>
          <a:xfrm>
            <a:off x="6336792" y="4608576"/>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جِيمٌ</a:t>
            </a:r>
            <a:endParaRPr lang="ar-SA" sz="2200" dirty="0"/>
          </a:p>
        </p:txBody>
      </p:sp>
      <p:sp>
        <p:nvSpPr>
          <p:cNvPr id="57" name="Text 54"/>
          <p:cNvSpPr txBox="1"/>
          <p:nvPr/>
        </p:nvSpPr>
        <p:spPr>
          <a:xfrm>
            <a:off x="342900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inside / below</a:t>
            </a:r>
            <a:endParaRPr lang="en-US" sz="1100" dirty="0"/>
          </a:p>
        </p:txBody>
      </p:sp>
      <p:sp>
        <p:nvSpPr>
          <p:cNvPr id="58" name="Text 55"/>
          <p:cNvSpPr txBox="1"/>
          <p:nvPr/>
        </p:nvSpPr>
        <p:spPr>
          <a:xfrm>
            <a:off x="566928" y="4608576"/>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/dʒ/ — jam</a:t>
            </a:r>
            <a:endParaRPr lang="en-US" sz="1100" dirty="0"/>
          </a:p>
        </p:txBody>
      </p:sp>
      <p:sp>
        <p:nvSpPr>
          <p:cNvPr id="59" name="Shape 56"/>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1" name="Shape 58"/>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2" name="Text 59"/>
          <p:cNvSpPr txBox="1"/>
          <p:nvPr/>
        </p:nvSpPr>
        <p:spPr>
          <a:xfrm>
            <a:off x="9829800" y="5193792"/>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2</a:t>
            </a:r>
            <a:endParaRPr lang="en-US" sz="1100" dirty="0"/>
          </a:p>
        </p:txBody>
      </p:sp>
      <p:sp>
        <p:nvSpPr>
          <p:cNvPr id="63" name="Text 60"/>
          <p:cNvSpPr txBox="1"/>
          <p:nvPr/>
        </p:nvSpPr>
        <p:spPr>
          <a:xfrm>
            <a:off x="8348472" y="5193792"/>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ح</a:t>
            </a:r>
            <a:endParaRPr lang="ar-SA" sz="2450" dirty="0"/>
          </a:p>
        </p:txBody>
      </p:sp>
      <p:sp>
        <p:nvSpPr>
          <p:cNvPr id="64" name="Text 61"/>
          <p:cNvSpPr txBox="1"/>
          <p:nvPr/>
        </p:nvSpPr>
        <p:spPr>
          <a:xfrm>
            <a:off x="6336792" y="5193792"/>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حَاءٌ</a:t>
            </a:r>
            <a:endParaRPr lang="ar-SA" sz="2200" dirty="0"/>
          </a:p>
        </p:txBody>
      </p:sp>
      <p:sp>
        <p:nvSpPr>
          <p:cNvPr id="65" name="Text 62"/>
          <p:cNvSpPr txBox="1"/>
          <p:nvPr/>
        </p:nvSpPr>
        <p:spPr>
          <a:xfrm>
            <a:off x="342900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none</a:t>
            </a:r>
            <a:endParaRPr lang="en-US" sz="1100" dirty="0"/>
          </a:p>
        </p:txBody>
      </p:sp>
      <p:sp>
        <p:nvSpPr>
          <p:cNvPr id="66" name="Text 63"/>
          <p:cNvSpPr txBox="1"/>
          <p:nvPr/>
        </p:nvSpPr>
        <p:spPr>
          <a:xfrm>
            <a:off x="566928" y="5193792"/>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/ħ/ — deep breath</a:t>
            </a:r>
            <a:endParaRPr lang="en-US" sz="1100" dirty="0"/>
          </a:p>
        </p:txBody>
      </p:sp>
      <p:sp>
        <p:nvSpPr>
          <p:cNvPr id="67" name="Shape 6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9" name="Shape 6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0" name="Text 67"/>
          <p:cNvSpPr txBox="1"/>
          <p:nvPr/>
        </p:nvSpPr>
        <p:spPr>
          <a:xfrm>
            <a:off x="9829800" y="5779008"/>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2</a:t>
            </a:r>
            <a:endParaRPr lang="en-US" sz="1100" dirty="0"/>
          </a:p>
        </p:txBody>
      </p:sp>
      <p:sp>
        <p:nvSpPr>
          <p:cNvPr id="71" name="Text 68"/>
          <p:cNvSpPr txBox="1"/>
          <p:nvPr/>
        </p:nvSpPr>
        <p:spPr>
          <a:xfrm>
            <a:off x="8348472" y="5779008"/>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34" charset="0"/>
                <a:ea typeface="Amiri" pitchFamily="34" charset="-122"/>
                <a:cs typeface="Amiri" pitchFamily="34" charset="-120"/>
              </a:rPr>
              <a:t>خ</a:t>
            </a:r>
            <a:endParaRPr lang="ar-SA" sz="2450" dirty="0"/>
          </a:p>
        </p:txBody>
      </p:sp>
      <p:sp>
        <p:nvSpPr>
          <p:cNvPr id="72" name="Text 69"/>
          <p:cNvSpPr txBox="1"/>
          <p:nvPr/>
        </p:nvSpPr>
        <p:spPr>
          <a:xfrm>
            <a:off x="6336792" y="5779008"/>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خَاءٌ</a:t>
            </a:r>
            <a:endParaRPr lang="ar-SA" sz="2200" dirty="0"/>
          </a:p>
        </p:txBody>
      </p:sp>
      <p:sp>
        <p:nvSpPr>
          <p:cNvPr id="73" name="Text 70"/>
          <p:cNvSpPr txBox="1"/>
          <p:nvPr/>
        </p:nvSpPr>
        <p:spPr>
          <a:xfrm>
            <a:off x="342900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above</a:t>
            </a:r>
            <a:endParaRPr lang="en-US" sz="1100" dirty="0"/>
          </a:p>
        </p:txBody>
      </p:sp>
      <p:sp>
        <p:nvSpPr>
          <p:cNvPr id="74" name="Text 71"/>
          <p:cNvSpPr txBox="1"/>
          <p:nvPr/>
        </p:nvSpPr>
        <p:spPr>
          <a:xfrm>
            <a:off x="566928" y="5779008"/>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/x/ — loch</a:t>
            </a:r>
            <a:endParaRPr lang="en-US" sz="1100" dirty="0"/>
          </a:p>
        </p:txBody>
      </p:sp>
      <p:sp>
        <p:nvSpPr>
          <p:cNvPr id="75" name="Shape 72"/>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SAY IT RIGHT (WEBSITE PRONUNCIATION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sounds to practise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أَصْوَاتٌ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ث · /θ/</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tongue out a little</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ث</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Like “thin” — tongue tip between the teeth.</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/t/ (</a:t>
            </a:r>
            <a:pPr algn="l" indent="0" marL="0">
              <a:buNone/>
            </a:pPr>
            <a:r>
              <a:rPr lang="ar-SA" altLang="en-US" sz="1450" dirty="0">
                <a:solidFill>
                  <a:srgbClr val="1F2A37"/>
                </a:solidFill>
                <a:latin typeface="Amiri" pitchFamily="34" charset="0"/>
                <a:ea typeface="Amiri" pitchFamily="34" charset="-122"/>
                <a:cs typeface="Amiri" pitchFamily="34" charset="-120"/>
              </a:rPr>
              <a:t>ت</a:t>
            </a:r>
            <a:pPr algn="l" indent="0" marL="0">
              <a:buNone/>
            </a:pPr>
            <a:r>
              <a:rPr lang="en-US" sz="1100" dirty="0">
                <a:solidFill>
                  <a:srgbClr val="1F2A37"/>
                </a:solidFill>
                <a:latin typeface="Calibri" pitchFamily="34" charset="0"/>
                <a:ea typeface="Calibri" pitchFamily="34" charset="-122"/>
                <a:cs typeface="Calibri" pitchFamily="34" charset="-120"/>
              </a:rPr>
              <a:t>) and not /s/.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ح · /ħ/</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deep, breathy</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strong breath from deep in the throat.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the English h — deeper, no scratch.</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خ · /x/</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scratchy, at the back</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خ</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Like Scottish “loch”.</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/k/. Keep the friction going.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ONE dot BELOW?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bowl-family letter has NO dot?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alif?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a:t>
            </a:r>
            <a:pPr algn="l" indent="0" marL="0">
              <a:buNone/>
            </a:pPr>
            <a:r>
              <a:rPr lang="en-US" sz="1050" i="1" dirty="0">
                <a:solidFill>
                  <a:srgbClr val="8A6D1E"/>
                </a:solidFill>
                <a:latin typeface="Calibri" pitchFamily="34" charset="0"/>
                <a:ea typeface="Calibri" pitchFamily="34" charset="-122"/>
                <a:cs typeface="Calibri" pitchFamily="34" charset="-120"/>
              </a:rPr>
              <a:t> is alif — first and separate.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ONE dot BELOW?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bāʾ: one dot below.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tāʾ: two dots above.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bowl-family letter has NO dot?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a:t>
            </a:r>
            <a:pPr algn="l" indent="0" marL="0">
              <a:buNone/>
            </a:pPr>
            <a:r>
              <a:rPr lang="en-US" sz="1050" i="1" dirty="0">
                <a:solidFill>
                  <a:srgbClr val="8A6D1E"/>
                </a:solidFill>
                <a:latin typeface="Calibri" pitchFamily="34" charset="0"/>
                <a:ea typeface="Calibri" pitchFamily="34" charset="-122"/>
                <a:cs typeface="Calibri" pitchFamily="34" charset="-120"/>
              </a:rPr>
              <a:t> ḥāʾ: same bowl, no dot.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WATCH → AIR-WRITE → TRACE → COPY (WEBSITE FORMATION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write the seven letters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ا</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أَلِف</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Begin at the top.</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straight stroke down.</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ا</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ا</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ب</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بَاء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Draw the body right → left.</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 ONE dot below.</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ب</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ب</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ت</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تَاء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Draw the body right → left.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 TWO dots above.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ت</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ت</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ث</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ثَاء</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Draw the body right → left.</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 THREE dots above.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ث</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ث</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ج</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جِيم</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Top curve, then the bowl.</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inside the bowl.</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ج</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ج</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ح</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حَاء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Top curve, then the bowl.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 dot.</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ح</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ح</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خ</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خَاء</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Top curve, then the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dot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خ</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خ</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“THE ALPHABET FAMILY”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تَاءٌ</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ج</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خَاءٌ</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خ</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جِيمٌ</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حَاءٌ</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ت</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بَاءٌ</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تَاءٌ</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Look at the SHAPE, then count the DOTS.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below → bāʾ</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above → tāʾ</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 above → thāʾ</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ب</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بَاءٌ</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تَاءٌ</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letter </a:t>
            </a:r>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(baa).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ث</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تَاءٌ</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letter </a:t>
            </a:r>
            <a:pPr algn="l" indent="0" marL="0">
              <a:buNone/>
            </a:pPr>
            <a:r>
              <a:rPr lang="ar-SA" altLang="en-US" sz="1350" dirty="0">
                <a:solidFill>
                  <a:srgbClr val="8A6D1E"/>
                </a:solidFill>
                <a:latin typeface="Amiri" pitchFamily="34" charset="0"/>
                <a:ea typeface="Amiri" pitchFamily="34" charset="-122"/>
                <a:cs typeface="Amiri" pitchFamily="34" charset="-120"/>
              </a:rPr>
              <a:t>ث</a:t>
            </a:r>
            <a:pPr algn="l" indent="0" marL="0">
              <a:buNone/>
            </a:pPr>
            <a:r>
              <a:rPr lang="en-US" sz="1050" i="1" dirty="0">
                <a:solidFill>
                  <a:srgbClr val="8A6D1E"/>
                </a:solidFill>
                <a:latin typeface="Calibri" pitchFamily="34" charset="0"/>
                <a:ea typeface="Calibri" pitchFamily="34" charset="-122"/>
                <a:cs typeface="Calibri" pitchFamily="34" charset="-120"/>
              </a:rPr>
              <a:t> (thaa).</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ج</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جِيمٌ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خَاءٌ</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letter </a:t>
            </a:r>
            <a:pPr algn="l" indent="0" marL="0">
              <a:buNone/>
            </a:pPr>
            <a:r>
              <a:rPr lang="ar-SA" altLang="en-US" sz="1350" dirty="0">
                <a:solidFill>
                  <a:srgbClr val="8A6D1E"/>
                </a:solidFill>
                <a:latin typeface="Amiri" pitchFamily="34" charset="0"/>
                <a:ea typeface="Amiri" pitchFamily="34" charset="-122"/>
                <a:cs typeface="Amiri" pitchFamily="34" charset="-120"/>
              </a:rPr>
              <a:t>ج</a:t>
            </a:r>
            <a:pPr algn="l" indent="0" marL="0">
              <a:buNone/>
            </a:pPr>
            <a:r>
              <a:rPr lang="en-US" sz="1050" i="1" dirty="0">
                <a:solidFill>
                  <a:srgbClr val="8A6D1E"/>
                </a:solidFill>
                <a:latin typeface="Calibri" pitchFamily="34" charset="0"/>
                <a:ea typeface="Calibri" pitchFamily="34" charset="-122"/>
                <a:cs typeface="Calibri" pitchFamily="34" charset="-120"/>
              </a:rPr>
              <a:t> (jiim).</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خ</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جِيمٌ</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حَاءٌ</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letter </a:t>
            </a:r>
            <a:pPr algn="l" indent="0" marL="0">
              <a:buNone/>
            </a:pPr>
            <a:r>
              <a:rPr lang="ar-SA" altLang="en-US" sz="1350" dirty="0">
                <a:solidFill>
                  <a:srgbClr val="8A6D1E"/>
                </a:solidFill>
                <a:latin typeface="Amiri" pitchFamily="34" charset="0"/>
                <a:ea typeface="Amiri" pitchFamily="34" charset="-122"/>
                <a:cs typeface="Amiri" pitchFamily="34" charset="-120"/>
              </a:rPr>
              <a:t>خ</a:t>
            </a:r>
            <a:pPr algn="l" indent="0" marL="0">
              <a:buNone/>
            </a:pPr>
            <a:r>
              <a:rPr lang="en-US" sz="1050" i="1" dirty="0">
                <a:solidFill>
                  <a:srgbClr val="8A6D1E"/>
                </a:solidFill>
                <a:latin typeface="Calibri" pitchFamily="34" charset="0"/>
                <a:ea typeface="Calibri" pitchFamily="34" charset="-122"/>
                <a:cs typeface="Calibri" pitchFamily="34" charset="-120"/>
              </a:rPr>
              <a:t> (khaa).</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ت</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بَاءٌ</a:t>
            </a:r>
            <a:endParaRPr lang="ar-SA" sz="1700" dirty="0"/>
          </a:p>
        </p:txBody>
      </p:sp>
      <p:sp>
        <p:nvSpPr>
          <p:cNvPr id="87" name="Shape 84"/>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202936"/>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تَاءٌ</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letter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(taa).</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Look at the SHAPE, then count the DOTS.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below → bāʾ</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above → tāʾ</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3 above → thāʾ</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Hear the letter NAME → choose the letter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Teacher reads each cue twice.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Look, listen,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a:t>
            </a:r>
            <a:pPr algn="l" indent="0" marL="0">
              <a:buNone/>
            </a:pPr>
            <a:r>
              <a:rPr lang="ar-SA" altLang="en-US" sz="1350" dirty="0">
                <a:solidFill>
                  <a:srgbClr val="8A6D1E"/>
                </a:solidFill>
                <a:latin typeface="Amiri" pitchFamily="34" charset="0"/>
                <a:ea typeface="Amiri" pitchFamily="34" charset="-122"/>
                <a:cs typeface="Amiri" pitchFamily="34" charset="-120"/>
              </a:rPr>
              <a:t>تَاءٌ</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2. Which letter?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a:t>
            </a:r>
            <a:pPr algn="l" indent="0" marL="0">
              <a:buNone/>
            </a:pPr>
            <a:r>
              <a:rPr lang="ar-SA" altLang="en-US" sz="1350" dirty="0">
                <a:solidFill>
                  <a:srgbClr val="8A6D1E"/>
                </a:solidFill>
                <a:latin typeface="Amiri" pitchFamily="34" charset="0"/>
                <a:ea typeface="Amiri" pitchFamily="34" charset="-122"/>
                <a:cs typeface="Amiri" pitchFamily="34" charset="-120"/>
              </a:rPr>
              <a:t>أَلِفٌ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a:t>
            </a:r>
            <a:pPr algn="l" indent="0" marL="0">
              <a:buNone/>
            </a:pPr>
            <a:r>
              <a:rPr lang="ar-SA" altLang="en-US" sz="1350" dirty="0">
                <a:solidFill>
                  <a:srgbClr val="8A6D1E"/>
                </a:solidFill>
                <a:latin typeface="Amiri" pitchFamily="34" charset="0"/>
                <a:ea typeface="Amiri" pitchFamily="34" charset="-122"/>
                <a:cs typeface="Amiri" pitchFamily="34" charset="-120"/>
              </a:rPr>
              <a:t>حَاءٌ</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4. Which letter?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a:t>
            </a:r>
            <a:pPr algn="l" indent="0" marL="0">
              <a:buNone/>
            </a:pPr>
            <a:r>
              <a:rPr lang="ar-SA" altLang="en-US" sz="1350" dirty="0">
                <a:solidFill>
                  <a:srgbClr val="8A6D1E"/>
                </a:solidFill>
                <a:latin typeface="Amiri" pitchFamily="34" charset="0"/>
                <a:ea typeface="Amiri" pitchFamily="34" charset="-122"/>
                <a:cs typeface="Amiri" pitchFamily="34" charset="-120"/>
              </a:rPr>
              <a:t>ثَاءٌ</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a:t>
            </a:r>
            <a:pPr algn="l" indent="0" marL="0">
              <a:buNone/>
            </a:pPr>
            <a:r>
              <a:rPr lang="ar-SA" altLang="en-US" sz="1350" dirty="0">
                <a:solidFill>
                  <a:srgbClr val="8A6D1E"/>
                </a:solidFill>
                <a:latin typeface="Amiri" pitchFamily="34" charset="0"/>
                <a:ea typeface="Amiri" pitchFamily="34" charset="-122"/>
                <a:cs typeface="Amiri" pitchFamily="34" charset="-120"/>
              </a:rPr>
              <a:t>جِيمٌ</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Teacher reads each cue twice.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Look, listen,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Hear the SOUND → choose the letter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Teacher reads each cue twice.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Look, listen,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/b/ (as in “book”)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2. Which letter?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/θ/ (as in “thin”)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/x/ (as in “loch”)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4. Which letter?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/ħ/ (deep breath)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Cue: /t/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Teacher reads each cue twice.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Look, listen,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the seven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Alif (first, separate)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Family 1</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Family 2</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Alif (first, separate)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Family 1</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a:t>
            </a:r>
            <a:endParaRPr lang="ar-SA" sz="1800" dirty="0"/>
          </a:p>
        </p:txBody>
      </p:sp>
      <p:sp>
        <p:nvSpPr>
          <p:cNvPr id="25" name="Shape 22"/>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a:t>
            </a:r>
            <a:endParaRPr lang="ar-SA" sz="1800" dirty="0"/>
          </a:p>
        </p:txBody>
      </p:sp>
      <p:sp>
        <p:nvSpPr>
          <p:cNvPr id="27" name="Shape 24"/>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Family 2</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WRITE THE LETTERS IN ORDER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and write the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ب  ت  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ت  ب  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ا  ث  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1: which letter has one dot below?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2: which order did you hear?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  ح  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  ح  خ</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  ج  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2: which letter has no dot?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FIRST, WRITE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and WRITE the letters in your book in the order you hear.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choose here.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1: which order did you hear?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  ب  ت  ث</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  ت  ب  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  ا  ث  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أَلِفٌ</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بَاءٌ</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تَاءٌ</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ثَاءٌ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1: which letter has one dot below?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Circle </a:t>
            </a:r>
            <a:pPr algn="l" indent="0" marL="0">
              <a:buNone/>
            </a:pPr>
            <a:r>
              <a:rPr lang="ar-SA" altLang="en-US" sz="1350" dirty="0">
                <a:solidFill>
                  <a:srgbClr val="8A6D1E"/>
                </a:solidFill>
                <a:latin typeface="Amiri" pitchFamily="34" charset="0"/>
                <a:ea typeface="Amiri" pitchFamily="34" charset="-122"/>
                <a:cs typeface="Amiri" pitchFamily="34" charset="-120"/>
              </a:rPr>
              <a:t>ب</a:t>
            </a:r>
            <a:pPr algn="l" indent="0" marL="0">
              <a:buNone/>
            </a:pPr>
            <a:r>
              <a:rPr lang="en-US" sz="1050" i="1" dirty="0">
                <a:solidFill>
                  <a:srgbClr val="8A6D1E"/>
                </a:solidFill>
                <a:latin typeface="Calibri" pitchFamily="34" charset="0"/>
                <a:ea typeface="Calibri" pitchFamily="34" charset="-122"/>
                <a:cs typeface="Calibri" pitchFamily="34" charset="-120"/>
              </a:rPr>
              <a:t> — one dot below.</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2: which order did you hear?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  ح  ج</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  ح  خ</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  ج  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Script: </a:t>
            </a:r>
            <a:pPr algn="l" indent="0" marL="0">
              <a:buNone/>
            </a:pPr>
            <a:r>
              <a:rPr lang="ar-SA" altLang="en-US" sz="1350" dirty="0">
                <a:solidFill>
                  <a:srgbClr val="8A6D1E"/>
                </a:solidFill>
                <a:latin typeface="Amiri" pitchFamily="34" charset="0"/>
                <a:ea typeface="Amiri" pitchFamily="34" charset="-122"/>
                <a:cs typeface="Amiri" pitchFamily="34" charset="-120"/>
              </a:rPr>
              <a:t>جِيمٌ</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حَاءٌ</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خَاءٌ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Listening 2: which letter has no dot?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Underline </a:t>
            </a:r>
            <a:pPr algn="l" indent="0" marL="0">
              <a:buNone/>
            </a:pPr>
            <a:r>
              <a:rPr lang="ar-SA" altLang="en-US" sz="1350" dirty="0">
                <a:solidFill>
                  <a:srgbClr val="8A6D1E"/>
                </a:solidFill>
                <a:latin typeface="Amiri" pitchFamily="34" charset="0"/>
                <a:ea typeface="Amiri" pitchFamily="34" charset="-122"/>
                <a:cs typeface="Amiri" pitchFamily="34" charset="-120"/>
              </a:rPr>
              <a:t>ح</a:t>
            </a:r>
            <a:pPr algn="l" indent="0" marL="0">
              <a:buNone/>
            </a:pPr>
            <a:r>
              <a:rPr lang="en-US" sz="1050" i="1" dirty="0">
                <a:solidFill>
                  <a:srgbClr val="8A6D1E"/>
                </a:solidFill>
                <a:latin typeface="Calibri" pitchFamily="34" charset="0"/>
                <a:ea typeface="Calibri" pitchFamily="34" charset="-122"/>
                <a:cs typeface="Calibri" pitchFamily="34" charset="-120"/>
              </a:rPr>
              <a:t> — no dot.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FIRST, WRITE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and WRITE the letters in your book in the order you hear.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choose here.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ea typeface="Cambria" pitchFamily="34" charset="-122"/>
                <a:cs typeface="Cambria" pitchFamily="34" charset="-120"/>
              </a:rPr>
              <a:t>2 letters + all 7 names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a:t>
            </a:r>
            <a:pPr algn="l" indent="0" marL="0">
              <a:buNone/>
            </a:pPr>
            <a:r>
              <a:rPr lang="ar-SA" altLang="en-US" sz="1800" b="1" dirty="0">
                <a:solidFill>
                  <a:srgbClr val="1F2A37"/>
                </a:solidFill>
                <a:latin typeface="Amiri" pitchFamily="34" charset="0"/>
                <a:ea typeface="Amiri" pitchFamily="34" charset="-122"/>
                <a:cs typeface="Amiri" pitchFamily="34" charset="-120"/>
              </a:rPr>
              <a:t>ا</a:t>
            </a:r>
            <a:pPr algn="l" indent="0" marL="0">
              <a:buNone/>
            </a:pPr>
            <a:r>
              <a:rPr lang="en-US" sz="1400" b="1" dirty="0">
                <a:solidFill>
                  <a:srgbClr val="1F2A37"/>
                </a:solidFill>
                <a:latin typeface="Calibri" pitchFamily="34" charset="0"/>
                <a:ea typeface="Calibri" pitchFamily="34" charset="-122"/>
                <a:cs typeface="Calibri" pitchFamily="34" charset="-120"/>
              </a:rPr>
              <a:t> and one family neatly (4 times each). Say every name as you write 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Trace the pale letters on the I do slide first, then copy on the line in your book.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all 7 letters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all seven letters accurately, twice each, with the dots in the right place.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Under each family, write the dot rule in English (1 below, 2 above, 3 above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all 7 from memory</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the slides and write all seven letters from memory in alphabet order.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Then write one sentence in English that explains the family rule to a new learner.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Show and say: My Letter Family (</a:t>
            </a:r>
            <a:pPr algn="l" indent="0" marL="0">
              <a:buNone/>
            </a:pPr>
            <a:r>
              <a:rPr lang="ar-SA" altLang="en-US" sz="2450" b="1" dirty="0">
                <a:solidFill>
                  <a:srgbClr val="1B3B6F"/>
                </a:solidFill>
                <a:latin typeface="Amiri" pitchFamily="34" charset="0"/>
                <a:ea typeface="Amiri" pitchFamily="34" charset="-122"/>
                <a:cs typeface="Amiri" pitchFamily="34" charset="-120"/>
              </a:rPr>
              <a:t>عَائِلَةُ حُرُوفِي</a:t>
            </a:r>
            <a:pPr algn="l" indent="0" marL="0">
              <a:buNone/>
            </a:pPr>
            <a:r>
              <a:rPr lang="en-US" sz="1900" b="1" dirty="0">
                <a:solidFill>
                  <a:srgbClr val="1B3B6F"/>
                </a:solidFill>
                <a:latin typeface="Cambria" pitchFamily="34" charset="0"/>
                <a:ea typeface="Cambria" pitchFamily="34" charset="-122"/>
                <a:cs typeface="Cambria" pitchFamily="34" charset="-120"/>
              </a:rPr>
              <a:t>)</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يَبْدَأُ السَّطْرُ؟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اِشْرَحْ قَاعِدَةَ النِّقَاطِ.</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عَلِّمْ زَمِيلَكَ عَائِلَةً.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نُقْطَةٌ تَحْتَ / فَوْقَ</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نَفْسُ الشَّكْلِ ، نِقَاطٌ مُخْتَلِفَةٌ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 هٰذَا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هٰذَا الحَرْفُ؟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letter?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أَلِفٌ. هُوَ الحَرْفُ الأَوَّلُ.</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alif. It is the first letter.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COMMON MIX-UPS AND REPAIRS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Putting alif in Family 1</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a:t>
            </a:r>
            <a:pPr algn="l" indent="0" marL="0">
              <a:buNone/>
            </a:pPr>
            <a:r>
              <a:rPr lang="en-US" sz="1100" dirty="0">
                <a:solidFill>
                  <a:srgbClr val="5A6472"/>
                </a:solidFill>
                <a:latin typeface="Calibri" pitchFamily="34" charset="0"/>
                <a:ea typeface="Calibri" pitchFamily="34" charset="-122"/>
                <a:cs typeface="Calibri" pitchFamily="34" charset="-120"/>
              </a:rPr>
              <a:t> is FIRST and SEPARATE. Say its name: alif.</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ب ت ث</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Cover the dots, see the same body, then count: 1 below · 2 above · 3 above.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dot of </a:t>
            </a:r>
            <a:pPr algn="l" indent="0" marL="0">
              <a:buNone/>
            </a:pPr>
            <a:r>
              <a:rPr lang="ar-SA" altLang="en-US" sz="1450" dirty="0">
                <a:solidFill>
                  <a:srgbClr val="5A6472"/>
                </a:solidFill>
                <a:latin typeface="Amiri" pitchFamily="34" charset="0"/>
                <a:ea typeface="Amiri" pitchFamily="34" charset="-122"/>
                <a:cs typeface="Amiri" pitchFamily="34" charset="-120"/>
              </a:rPr>
              <a:t>ج</a:t>
            </a:r>
            <a:pPr algn="l" indent="0" marL="0">
              <a:buNone/>
            </a:pPr>
            <a:r>
              <a:rPr lang="en-US" sz="1100" dirty="0">
                <a:solidFill>
                  <a:srgbClr val="5A6472"/>
                </a:solidFill>
                <a:latin typeface="Calibri" pitchFamily="34" charset="0"/>
                <a:ea typeface="Calibri" pitchFamily="34" charset="-122"/>
                <a:cs typeface="Calibri" pitchFamily="34" charset="-120"/>
              </a:rPr>
              <a:t> drawn above</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dot of jīm sits INSIDE the bowl. khāʾ has its dot on top.</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Adding a dot to </a:t>
            </a:r>
            <a:pPr algn="l" indent="0" marL="0">
              <a:buNone/>
            </a:pPr>
            <a:r>
              <a:rPr lang="ar-SA" altLang="en-US" sz="1450" dirty="0">
                <a:solidFill>
                  <a:srgbClr val="5A6472"/>
                </a:solidFill>
                <a:latin typeface="Amiri" pitchFamily="34" charset="0"/>
                <a:ea typeface="Amiri" pitchFamily="34" charset="-122"/>
                <a:cs typeface="Amiri" pitchFamily="34" charset="-120"/>
              </a:rPr>
              <a:t>ح</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“same bowl, no dot.”</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Saying </a:t>
            </a:r>
            <a:pPr algn="l" indent="0" marL="0">
              <a:buNone/>
            </a:pPr>
            <a:r>
              <a:rPr lang="ar-SA" altLang="en-US" sz="1450" dirty="0">
                <a:solidFill>
                  <a:srgbClr val="5A6472"/>
                </a:solidFill>
                <a:latin typeface="Amiri" pitchFamily="34" charset="0"/>
                <a:ea typeface="Amiri" pitchFamily="34" charset="-122"/>
                <a:cs typeface="Amiri" pitchFamily="34" charset="-120"/>
              </a:rPr>
              <a:t>ث</a:t>
            </a:r>
            <a:pPr algn="l" indent="0" marL="0">
              <a:buNone/>
            </a:pPr>
            <a:r>
              <a:rPr lang="en-US" sz="1100" dirty="0">
                <a:solidFill>
                  <a:srgbClr val="5A6472"/>
                </a:solidFill>
                <a:latin typeface="Calibri" pitchFamily="34" charset="0"/>
                <a:ea typeface="Calibri" pitchFamily="34" charset="-122"/>
                <a:cs typeface="Calibri" pitchFamily="34" charset="-120"/>
              </a:rPr>
              <a:t> as /t/ or /s/</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 the tongue lightly between the teeth: /θ/.</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Saying </a:t>
            </a:r>
            <a:pPr algn="l" indent="0" marL="0">
              <a:buNone/>
            </a:pPr>
            <a:r>
              <a:rPr lang="ar-SA" altLang="en-US" sz="1450" dirty="0">
                <a:solidFill>
                  <a:srgbClr val="5A6472"/>
                </a:solidFill>
                <a:latin typeface="Amiri" pitchFamily="34" charset="0"/>
                <a:ea typeface="Amiri" pitchFamily="34" charset="-122"/>
                <a:cs typeface="Amiri" pitchFamily="34" charset="-120"/>
              </a:rPr>
              <a:t>خ</a:t>
            </a:r>
            <a:pPr algn="l" indent="0" marL="0">
              <a:buNone/>
            </a:pPr>
            <a:r>
              <a:rPr lang="en-US" sz="1100" dirty="0">
                <a:solidFill>
                  <a:srgbClr val="5A6472"/>
                </a:solidFill>
                <a:latin typeface="Calibri" pitchFamily="34" charset="0"/>
                <a:ea typeface="Calibri" pitchFamily="34" charset="-122"/>
                <a:cs typeface="Calibri" pitchFamily="34" charset="-120"/>
              </a:rPr>
              <a:t> as /k/</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the friction going at the back, like “loch”.</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point to where an Arabic line starts.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recognise the 7 letters and say their names.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the dot rule for both families.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copied all 7 letters with the dots in the right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all 7 from memory and hear </a:t>
            </a:r>
            <a:pPr algn="l" indent="0" marL="0">
              <a:buNone/>
            </a:pPr>
            <a:r>
              <a:rPr lang="ar-SA" altLang="en-US" sz="1700" dirty="0">
                <a:solidFill>
                  <a:srgbClr val="1F2A37"/>
                </a:solidFill>
                <a:latin typeface="Amiri" pitchFamily="34" charset="0"/>
                <a:ea typeface="Amiri" pitchFamily="34" charset="-122"/>
                <a:cs typeface="Amiri" pitchFamily="34" charset="-120"/>
              </a:rPr>
              <a:t>ت / ث</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ح / خ</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THREE dots above?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matches the sound /x/ (loch)?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 names and 6 consonant sounds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 names and 7 fixed sounds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 names and 7 sounds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has THREE dots above?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ث</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a:t>
            </a:r>
            <a:pPr algn="l" indent="0" marL="0">
              <a:buNone/>
            </a:pPr>
            <a:r>
              <a:rPr lang="en-US" sz="1050" i="1" dirty="0">
                <a:solidFill>
                  <a:srgbClr val="8A6D1E"/>
                </a:solidFill>
                <a:latin typeface="Calibri" pitchFamily="34" charset="0"/>
                <a:ea typeface="Calibri" pitchFamily="34" charset="-122"/>
                <a:cs typeface="Calibri" pitchFamily="34" charset="-120"/>
              </a:rPr>
              <a:t> thāʾ: three dots above.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matches the sound /x/ (loch)?</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a:t>
            </a:r>
            <a:pPr algn="l" indent="0" marL="0">
              <a:buNone/>
            </a:pPr>
            <a:r>
              <a:rPr lang="en-US" sz="1050" i="1" dirty="0">
                <a:solidFill>
                  <a:srgbClr val="8A6D1E"/>
                </a:solidFill>
                <a:latin typeface="Calibri" pitchFamily="34" charset="0"/>
                <a:ea typeface="Calibri" pitchFamily="34" charset="-122"/>
                <a:cs typeface="Calibri" pitchFamily="34" charset="-120"/>
              </a:rPr>
              <a:t> khāʾ.</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 names and 6 consonant sounds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 names and 7 fixed sounds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 names and 7 sounds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Alif is taught by name only today (website final check).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F1-L01 · The Alphabet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F1-L02 · New Letter Families &amp; Connection Breakers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  دَالٌ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dāl · /d/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  ذَالٌ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dhāl · /ð/ (this)</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  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rāʾ · /r/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  زَايٌ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zāy · /z/</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  سِينٌ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sīn · /s/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7 letters you learnt today in order, from memory.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 ب ت ث ج ح خ</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F1-L01 · play “The Alphabet Family”, then trace and copy the 7 letters (website formation cards).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F1-L01 · the recognition, sorting and bingo activities.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Teach the two families to someone at home (60 seconds), then write all 7 from memory.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F1-L02 · New Letter Families &amp; Connection Breakers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الحُرُوفُ مِنْ ٨ إِلَى ١٤</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new letters + write today’s 7 from memory.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F1-L01 · Welcome to Arabic — The Alphabet Family</dc:title>
  <dc:subject>PptxGenJS Presentation</dc:subject>
  <dc:creator>Al Madina Online School · Arabic Department</dc:creator>
  <cp:lastModifiedBy>Al Madina Online School · Arabic Department</cp:lastModifiedBy>
  <cp:revision>1</cp:revision>
  <dcterms:created xsi:type="dcterms:W3CDTF">2026-09-27T10:53:21Z</dcterms:created>
  <dcterms:modified xsi:type="dcterms:W3CDTF">2026-09-27T10:53:21Z</dcterms:modified>
</cp:coreProperties>
</file>