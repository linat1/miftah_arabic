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8 (F1-L08). The website lesson teaches the READ routine (Right edge · Extract letters · Attach marks · Draw together · Read again), a mark-to-sound reference, connected reading vs pause, graded reading strips (10 words · 8 phrases · 4 sentences), a personal fluency challenge and a partner evidence grid. All reading strips, the listening script, the three-word oral exit and the feedback phrases are the website’s; the picture match is the website game for this lesson.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single words (Level 1). DEVELOP: short phrases (Level 2), keeping word boundaries. STRETCH: short sentences (Level 3) with pauses and punctuation.
• Temporary support, then remove it (website): transliteration (ka-ta-ba) is shown only on answer and support slides — students cover it and reread from the Arabic.
• Accuracy first; smoothness on the second read. Timing is a personal baseline, never a race between students (website). Reading aloud is always by invitation — “pass” is allowed.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are the website numeral retrieval (say each answer aloud before choosing). Questions 4–5 test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Accuracy first. Smoothness comes on the second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F1-L08 outcomes (Core · Develop · Stretch · Heritage).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many of today’s reading words are also Urdu words — قراءت (recitation), کتاب, مکتب (Urdu: a school; Arabic: a desk/office), معلم, مدرسہ. Warn heritage readers: familiarity can lead to reading from memory instead of the marks — use the READ routine anyway (website Heritage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THE READ ROUTINE (website Part 1). READ is an English memory aid; the processing stays anchored in Arabic letters and marks.
Model the think-aloud on كَتَبَ exactly as in the right-hand column. Then the two website contrasts:
• sukūn closes a chunk: مَكْ + تَ + بٌ → مَكْتَبٌ — do not say ma-ka-tab (maktabun; at a pause: maktab).
• long vowels stay together: كِ + تَا + بٌ → كِتَابٌ — hold تَا for two beats (kitābun; pause: kitāb).
Decoding is not yet comprehension, and accuracy is not yet fluency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MARK-TO-SOUND SCAN (website Part 2) — a one-slide summary of F1-L04 to F1-L06.
Connected reading vs pause (website): fully vowelled texts may show endings; at a natural stop, final short vowels and tanwīn are not read the same way (جَدِيدٌ … pause as jadīd). Before reading a strip, say which mode you are using and keep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teacher-made from the website READ routine and mark-to-sound reference.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 LEVEL 1 STRIP (4 min), the website’s ten words. For each word: teacher reads with the READ routine aloud → class echoes (mics on for a moment) → one volunteer (invitation).
Support, then remove it (website): after the first pass, cover the English column (or hide this slide) and reread from the Arabic only.
Notice: all ten are three-letter past verbs; watch for the kasra in شَرِبَ، سَمِعَ، لَعِبَ.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(“Picture words”)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lesson game for F1-L08 (first three of six items). Students READ each word aloud (R-E-A-D) before matching. Extra website items for fast finishers: حَافِلَةٌ (bus), بَيْتٌ (house), قَهْوَةٌ (coffee).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(“Picture words”)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lesson game for F1-L08 (first three of six items). Students READ each word aloud (R-E-A-D) before matching. Extra website items for fast finishers: حَافِلَةٌ (bus), بَيْتٌ (house), قَهْوَةٌ (coffee).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“Chunk Choice” (choose the split that preserves consonant clusters, long vowels and shadda timing). Words from the website fluency list. Read each word together after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read each word twice together: once in chunks, once smoothly.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LEVEL 2 STRIP (Develop; everyone tries). Read word by word, then repeat the phrase without a pause between every syllable (website).
Choral → pairs → volunteers. Sun/moon revision: البَيْتِ and الفَصْلِ both start with MOON letters (ب, ف), so the l is heard: al-bayti, al-faṣli.
Useful classroom phrase: لَا أَفْهَمُ — I do not understand (website feedback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LEVEL 3 STRIP (Stretch / FLEX). The | marks are the website’s word groups — pause lightly there and fully at the full stop.
Website listening (read aloud first, twice): “قَرَأَتْ مَرْيَمُ كِتَابًا قَصِيرًا. ذَهَبَ سَامِرٌ إِلَى المَدْرَسَةِ.” — students track and mark where the reader pauses. Answer (website): a full pause after قَصِيرًا; the second sentence ends after المَدْرَسَةِ.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(7 min) — the website graded workshop: choose the level where you can apply READ with productive effort; practise privately, read to a partner, then level up only after accuracy is stable.
Personal fluency challenge (website, Stretch): كَتَبَ مَكْتَبٌ قَرَأَ كِتَابٌ سِتَّةٌ يَقْرَأُ بَيْتٌ مُعَلِّمٌ مَدْرَسَةٌ آمِنٌ — time is a personal baseline only.
Live feedback: listen to one student per route in private (mic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صَحِيحٌ! الشَّدَّةُ وَاضِحَةٌ. (Correct! The shadda is clear.)
B: شُكْرًا. هَلْ أُعِيدُ؟ (Thank you. Shall I repeat?)
PARTNER READING CHECK (website): partners listen for four behaviours — direction and tracking, base letters, vowels and marks, blend and reread — and give ONE precise strength and ONE repair step.
Feedback phrases (website): صَحِيحٌ (correct — add the reason), هَلْ أُعِيدُ؟ (shall I repeat?), لَا أَفْهَمُ (I do not understand).
Three-word oral exit (website): كَتَبَ (short vowels) · مَكْتَبٌ (sukūn and pause) · مُعَلِّمٌ (shadda and kasra). Record: accurate / one repair / practise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the website “one strip, one evidence grid”. A tick alone does not say what to repair: each partner writes one precise strength (“your long ā lasted longer than fatḥa”) and one repair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(F1-L09 · Write Clearly, Then Fluently) will spend class time USING this language, so students prepare it tonight — short, simple, easy to access (school guidance: “Simple, Short, Interesting, Relevant, Easy to access”). Next lesson: handwriting and dictation. Bring an exercise book with lines and a pen.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cs typeface="Amiri" pitchFamily="2" charset="-78"/>
              </a:rPr>
              <a:t>From Marks to Meaning: Reading Aloud</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القِرَاءَةُ الجَهْرِيَّةُ وَرَبْطُ الكِتَابَةِ بِالصَّوْتِ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Use one reliable routine to read any fully vowelled word aloud: start at the Right edge, Extract the letters, Attach the marks, Draw them together — then read again more smoothly.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F1-L08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READ routine and the mark-to-sound scan.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words, chunk choice, graded strips.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F1-L09.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digit is 7?</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٦</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١٥</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51</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say 10?</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عِشْرُونَ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وَاحِدٌ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“he wrote” (prepared at home)?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دَرَسَ</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“he read” (prepared at home)?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جَلَسَ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digit is 7?</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٦</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F1-L07: the open V.</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١٥</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15</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51</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F1-L07: tens on the left.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say 10?</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عِشْرُونَ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وَاحِدٌ</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عَشَرَةٌ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F1-L07.</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“he wrote” (prepared at home)?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دَرَسَ</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كَتَبَ</a:t>
            </a:r>
            <a:pPr algn="l" indent="0" marL="0">
              <a:buNone/>
            </a:pPr>
            <a:r>
              <a:rPr lang="en-US" sz="1050" i="1" dirty="0">
                <a:solidFill>
                  <a:srgbClr val="8A6D1E"/>
                </a:solidFill>
                <a:latin typeface="Calibri" pitchFamily="34" charset="0"/>
                <a:cs typeface="Amiri" pitchFamily="2" charset="-78"/>
              </a:rPr>
              <a:t> kataba.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“he read” (prepared at home)?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قَرَأَ</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جَلَسَ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قَرَأَ</a:t>
            </a:r>
            <a:pPr algn="l" indent="0" marL="0">
              <a:buNone/>
            </a:pPr>
            <a:r>
              <a:rPr lang="en-US" sz="1050" i="1" dirty="0">
                <a:solidFill>
                  <a:srgbClr val="8A6D1E"/>
                </a:solidFill>
                <a:latin typeface="Calibri" pitchFamily="34" charset="0"/>
                <a:cs typeface="Amiri" pitchFamily="2" charset="-78"/>
              </a:rPr>
              <a:t> qaraʾa.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Accuracy first. Smoothness comes on the second read.</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 + تَ + بَ ← كَتَبَ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the five steps of the READ routine.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Attach every mark to its letter.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Blend chunks without adding extra vowels.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 word, phrase or sentence aloud accurately.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read fully vowelled single words (Level 1).</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explain the READ steps.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read short phrases (Level 2).</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read sukūn and shadda without an extra vowel.</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read short sentences with pauses (Level 3).</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 partner one precise repair cue.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One routine (5 steps), 10 verbs, 8 phrases and 4 sentences — all fully vowelled.</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ROUTINE</a:t>
            </a:r>
            <a:endParaRPr lang="en-US" sz="900" dirty="0"/>
          </a:p>
          <a:p>
            <a:pPr indent="0" marL="0">
              <a:buNone/>
            </a:pPr>
            <a:r>
              <a:rPr lang="en-US" sz="1200" b="1" dirty="0">
                <a:solidFill>
                  <a:srgbClr val="FFFFFF"/>
                </a:solidFill>
                <a:latin typeface="Calibri" pitchFamily="34" charset="0"/>
                <a:cs typeface="Amiri" pitchFamily="2" charset="-78"/>
              </a:rPr>
              <a:t>R · E · A · D · ↻</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LEVEL 1</a:t>
            </a:r>
            <a:endParaRPr lang="en-US" sz="900" dirty="0"/>
          </a:p>
          <a:p>
            <a:pPr indent="0" marL="0">
              <a:buNone/>
            </a:pPr>
            <a:r>
              <a:rPr lang="en-US" sz="1200" b="1" dirty="0">
                <a:solidFill>
                  <a:srgbClr val="FFFFFF"/>
                </a:solidFill>
                <a:latin typeface="Calibri" pitchFamily="34" charset="0"/>
                <a:cs typeface="Amiri" pitchFamily="2" charset="-78"/>
              </a:rPr>
              <a:t>Words · 10</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LEVEL 2</a:t>
            </a:r>
            <a:endParaRPr lang="en-US" sz="900" dirty="0"/>
          </a:p>
          <a:p>
            <a:pPr indent="0" marL="0">
              <a:buNone/>
            </a:pPr>
            <a:r>
              <a:rPr lang="en-US" sz="1200" b="1" dirty="0">
                <a:solidFill>
                  <a:srgbClr val="FFFFFF"/>
                </a:solidFill>
                <a:latin typeface="Calibri" pitchFamily="34" charset="0"/>
                <a:cs typeface="Amiri" pitchFamily="2" charset="-78"/>
              </a:rPr>
              <a:t>Phrases · 8</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LEVEL 3</a:t>
            </a:r>
            <a:endParaRPr lang="en-US" sz="900" dirty="0"/>
          </a:p>
          <a:p>
            <a:pPr indent="0" marL="0">
              <a:buNone/>
            </a:pPr>
            <a:r>
              <a:rPr lang="en-US" sz="1200" b="1" dirty="0">
                <a:solidFill>
                  <a:srgbClr val="FFFFFF"/>
                </a:solidFill>
                <a:latin typeface="Calibri" pitchFamily="34" charset="0"/>
                <a:cs typeface="Amiri" pitchFamily="2" charset="-78"/>
              </a:rPr>
              <a:t>Sentences · 4</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قَرَأَ</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‎قراءت‎ </a:t>
            </a:r>
            <a:pPr indent="0" marL="0">
              <a:buNone/>
            </a:pPr>
            <a:r>
              <a:rPr lang="en-US" sz="950" b="1" dirty="0">
                <a:solidFill>
                  <a:srgbClr val="2E8B57"/>
                </a:solidFill>
                <a:latin typeface="Calibri" pitchFamily="34" charset="0"/>
                <a:cs typeface="Amiri" pitchFamily="2" charset="-78"/>
              </a:rPr>
              <a:t> qirāʾat · recitation → he read</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كِتَابٌ</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‎کتاب‎ </a:t>
            </a:r>
            <a:pPr indent="0" marL="0">
              <a:buNone/>
            </a:pPr>
            <a:r>
              <a:rPr lang="en-US" sz="950" b="1" dirty="0">
                <a:solidFill>
                  <a:srgbClr val="2E8B57"/>
                </a:solidFill>
                <a:latin typeface="Calibri" pitchFamily="34" charset="0"/>
                <a:cs typeface="Amiri" pitchFamily="2" charset="-78"/>
              </a:rPr>
              <a:t> kitāb · book</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مَكْتَبٌ</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‎مکتب‎ </a:t>
            </a:r>
            <a:pPr indent="0" marL="0">
              <a:buNone/>
            </a:pPr>
            <a:r>
              <a:rPr lang="en-US" sz="950" b="1" dirty="0">
                <a:solidFill>
                  <a:srgbClr val="2E8B57"/>
                </a:solidFill>
                <a:latin typeface="Calibri" pitchFamily="34" charset="0"/>
                <a:cs typeface="Amiri" pitchFamily="2" charset="-78"/>
              </a:rPr>
              <a:t> maktab · school (Urdu) · desk, office</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مُعَلِّمٌ</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‎معلم‎ </a:t>
            </a:r>
            <a:pPr indent="0" marL="0">
              <a:buNone/>
            </a:pPr>
            <a:r>
              <a:rPr lang="en-US" sz="950" b="1" dirty="0">
                <a:solidFill>
                  <a:srgbClr val="2E8B57"/>
                </a:solidFill>
                <a:latin typeface="Calibri" pitchFamily="34" charset="0"/>
                <a:cs typeface="Amiri" pitchFamily="2" charset="-78"/>
              </a:rPr>
              <a:t> muʿallim · teacher</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مَدْرَسَةٌ</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‎مدرسہ‎ </a:t>
            </a:r>
            <a:pPr indent="0" marL="0">
              <a:buNone/>
            </a:pPr>
            <a:r>
              <a:rPr lang="en-US" sz="950" b="1" dirty="0">
                <a:solidFill>
                  <a:srgbClr val="2E8B57"/>
                </a:solidFill>
                <a:latin typeface="Calibri" pitchFamily="34" charset="0"/>
                <a:cs typeface="Amiri" pitchFamily="2" charset="-78"/>
              </a:rPr>
              <a:t> madrasa · school</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TEACHER INSTRUCTION · THE READ ROUTINE (WEBSITE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Five steps to read any word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فَكِّ الرُّمُوزِ</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7" name="Text 14"/>
          <p:cNvSpPr txBox="1"/>
          <p:nvPr/>
        </p:nvSpPr>
        <p:spPr>
          <a:xfrm>
            <a:off x="4946904"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do</a:t>
            </a:r>
            <a:endParaRPr lang="en-US" sz="1100" dirty="0"/>
          </a:p>
        </p:txBody>
      </p:sp>
      <p:sp>
        <p:nvSpPr>
          <p:cNvPr id="18" name="Text 15"/>
          <p:cNvSpPr txBox="1"/>
          <p:nvPr/>
        </p:nvSpPr>
        <p:spPr>
          <a:xfrm>
            <a:off x="530352" y="1810512"/>
            <a:ext cx="4270248"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ea typeface="Amiri" pitchFamily="2" charset="-78"/>
                <a:cs typeface="Amiri" pitchFamily="2" charset="-78"/>
              </a:rPr>
              <a:t>كَتَبَ</a:t>
            </a:r>
            <a:pPr algn="ctr" indent="0" marL="0">
              <a:buNone/>
            </a:pPr>
            <a:r>
              <a:rPr lang="en-US" sz="1100" b="1" dirty="0">
                <a:solidFill>
                  <a:srgbClr val="FFFFFF"/>
                </a:solidFill>
                <a:latin typeface="Calibri" pitchFamily="34" charset="0"/>
                <a:cs typeface="Amiri" pitchFamily="2" charset="-78"/>
              </a:rPr>
              <a:t> — think aloud</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738360" y="2267712"/>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 · Right edge</a:t>
            </a:r>
            <a:endParaRPr lang="en-US" sz="1100" dirty="0"/>
          </a:p>
        </p:txBody>
      </p:sp>
      <p:sp>
        <p:nvSpPr>
          <p:cNvPr id="21" name="Text 18"/>
          <p:cNvSpPr txBox="1"/>
          <p:nvPr/>
        </p:nvSpPr>
        <p:spPr>
          <a:xfrm>
            <a:off x="4983480"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Find the first letter on the RIGHT. Look at the whole word first.</a:t>
            </a:r>
            <a:endParaRPr lang="en-US" sz="1100" dirty="0"/>
          </a:p>
        </p:txBody>
      </p:sp>
      <p:sp>
        <p:nvSpPr>
          <p:cNvPr id="22" name="Text 19"/>
          <p:cNvSpPr txBox="1"/>
          <p:nvPr/>
        </p:nvSpPr>
        <p:spPr>
          <a:xfrm>
            <a:off x="566928" y="2267712"/>
            <a:ext cx="4233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Begin with </a:t>
            </a:r>
            <a:pPr algn="l" indent="0" marL="0">
              <a:buNone/>
            </a:pPr>
            <a:r>
              <a:rPr lang="ar-SA" altLang="en-US" sz="1450" dirty="0">
                <a:solidFill>
                  <a:srgbClr val="5A6472"/>
                </a:solidFill>
                <a:latin typeface="Amiri" pitchFamily="2" charset="-78"/>
                <a:ea typeface="Amiri" pitchFamily="2" charset="-78"/>
                <a:cs typeface="Amiri" pitchFamily="2" charset="-78"/>
              </a:rPr>
              <a:t>ك</a:t>
            </a:r>
            <a:pPr algn="l" indent="0" marL="0">
              <a:buNone/>
            </a:pPr>
            <a:r>
              <a:rPr lang="en-US" sz="1100" dirty="0">
                <a:solidFill>
                  <a:srgbClr val="5A6472"/>
                </a:solidFill>
                <a:latin typeface="Calibri" pitchFamily="34" charset="0"/>
                <a:cs typeface="Amiri" pitchFamily="2" charset="-78"/>
              </a:rPr>
              <a:t>, not </a:t>
            </a:r>
            <a:pPr algn="l" indent="0" marL="0">
              <a:buNone/>
            </a:pPr>
            <a:r>
              <a:rPr lang="ar-SA" altLang="en-US" sz="1450" dirty="0">
                <a:solidFill>
                  <a:srgbClr val="5A6472"/>
                </a:solidFill>
                <a:latin typeface="Amiri" pitchFamily="2" charset="-78"/>
                <a:ea typeface="Amiri" pitchFamily="2" charset="-78"/>
                <a:cs typeface="Amiri" pitchFamily="2" charset="-78"/>
              </a:rPr>
              <a:t>ب</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738360" y="3054096"/>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 · Extract letters</a:t>
            </a:r>
            <a:endParaRPr lang="en-US" sz="1100" dirty="0"/>
          </a:p>
        </p:txBody>
      </p:sp>
      <p:sp>
        <p:nvSpPr>
          <p:cNvPr id="27" name="Text 24"/>
          <p:cNvSpPr txBox="1"/>
          <p:nvPr/>
        </p:nvSpPr>
        <p:spPr>
          <a:xfrm>
            <a:off x="4983480"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base letters; notice breaks and hamza shapes.</a:t>
            </a:r>
            <a:endParaRPr lang="en-US" sz="1100" dirty="0"/>
          </a:p>
        </p:txBody>
      </p:sp>
      <p:sp>
        <p:nvSpPr>
          <p:cNvPr id="28" name="Text 25"/>
          <p:cNvSpPr txBox="1"/>
          <p:nvPr/>
        </p:nvSpPr>
        <p:spPr>
          <a:xfrm>
            <a:off x="548640" y="3054096"/>
            <a:ext cx="42336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 ← ت ← ب</a:t>
            </a:r>
            <a:endParaRPr lang="ar-SA" sz="20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738360" y="3840480"/>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Attach marks</a:t>
            </a:r>
            <a:endParaRPr lang="en-US" sz="1100" dirty="0"/>
          </a:p>
        </p:txBody>
      </p:sp>
      <p:sp>
        <p:nvSpPr>
          <p:cNvPr id="33" name="Text 30"/>
          <p:cNvSpPr txBox="1"/>
          <p:nvPr/>
        </p:nvSpPr>
        <p:spPr>
          <a:xfrm>
            <a:off x="4983480" y="3840480"/>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each letter its vowel, sukūn, shadda or long vowel.</a:t>
            </a:r>
            <a:endParaRPr lang="en-US" sz="1100" dirty="0"/>
          </a:p>
        </p:txBody>
      </p:sp>
      <p:sp>
        <p:nvSpPr>
          <p:cNvPr id="34" name="Text 31"/>
          <p:cNvSpPr txBox="1"/>
          <p:nvPr/>
        </p:nvSpPr>
        <p:spPr>
          <a:xfrm>
            <a:off x="566928" y="3840480"/>
            <a:ext cx="4233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Each has fatḥa: </a:t>
            </a:r>
            <a:pPr algn="l" indent="0" marL="0">
              <a:buNone/>
            </a:pPr>
            <a:r>
              <a:rPr lang="ar-SA" altLang="en-US" sz="1450" dirty="0">
                <a:solidFill>
                  <a:srgbClr val="5A6472"/>
                </a:solidFill>
                <a:latin typeface="Amiri" pitchFamily="2" charset="-78"/>
                <a:ea typeface="Amiri" pitchFamily="2" charset="-78"/>
                <a:cs typeface="Amiri" pitchFamily="2" charset="-78"/>
              </a:rPr>
              <a:t>كَ، تَ، بَ</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9738360" y="4626864"/>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Draw together</a:t>
            </a:r>
            <a:endParaRPr lang="en-US" sz="1100" dirty="0"/>
          </a:p>
        </p:txBody>
      </p:sp>
      <p:sp>
        <p:nvSpPr>
          <p:cNvPr id="39" name="Text 36"/>
          <p:cNvSpPr txBox="1"/>
          <p:nvPr/>
        </p:nvSpPr>
        <p:spPr>
          <a:xfrm>
            <a:off x="4983480" y="4626864"/>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Blend in chunks. No extra vowel after sukūn.</a:t>
            </a:r>
            <a:endParaRPr lang="en-US" sz="1100" dirty="0"/>
          </a:p>
        </p:txBody>
      </p:sp>
      <p:sp>
        <p:nvSpPr>
          <p:cNvPr id="40" name="Text 37"/>
          <p:cNvSpPr txBox="1"/>
          <p:nvPr/>
        </p:nvSpPr>
        <p:spPr>
          <a:xfrm>
            <a:off x="566928" y="4626864"/>
            <a:ext cx="423367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تَ</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a:t>
            </a:r>
            <a:pPr algn="l" indent="0" marL="0">
              <a:buNone/>
            </a:pPr>
            <a:r>
              <a:rPr lang="en-US" sz="1100" dirty="0">
                <a:solidFill>
                  <a:srgbClr val="5A6472"/>
                </a:solidFill>
                <a:latin typeface="Calibri" pitchFamily="34" charset="0"/>
                <a:cs typeface="Amiri" pitchFamily="2" charset="-78"/>
              </a:rPr>
              <a:t> → kataba</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9738360" y="5413248"/>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Read again</a:t>
            </a:r>
            <a:endParaRPr lang="en-US" sz="1100" dirty="0"/>
          </a:p>
        </p:txBody>
      </p:sp>
      <p:sp>
        <p:nvSpPr>
          <p:cNvPr id="45" name="Text 42"/>
          <p:cNvSpPr txBox="1"/>
          <p:nvPr/>
        </p:nvSpPr>
        <p:spPr>
          <a:xfrm>
            <a:off x="4983480" y="5413248"/>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once more, smoothly. Then check the meaning.</a:t>
            </a:r>
            <a:endParaRPr lang="en-US" sz="1100" dirty="0"/>
          </a:p>
        </p:txBody>
      </p:sp>
      <p:sp>
        <p:nvSpPr>
          <p:cNvPr id="46" name="Text 43"/>
          <p:cNvSpPr txBox="1"/>
          <p:nvPr/>
        </p:nvSpPr>
        <p:spPr>
          <a:xfrm>
            <a:off x="566928" y="5413248"/>
            <a:ext cx="423367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كَتَبَ</a:t>
            </a:r>
            <a:pPr algn="l" indent="0" marL="0">
              <a:buNone/>
            </a:pPr>
            <a:r>
              <a:rPr lang="en-US" sz="1100" dirty="0">
                <a:solidFill>
                  <a:srgbClr val="5A6472"/>
                </a:solidFill>
                <a:latin typeface="Calibri" pitchFamily="34" charset="0"/>
                <a:cs typeface="Amiri" pitchFamily="2" charset="-78"/>
              </a:rPr>
              <a:t> = he wrote</a:t>
            </a:r>
            <a:endParaRPr lang="en-US" sz="1100" dirty="0"/>
          </a:p>
        </p:txBody>
      </p:sp>
      <p:sp>
        <p:nvSpPr>
          <p:cNvPr id="47" name="Shape 44"/>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TEACHER INSTRUCTION · MARK-TO-SOUND SCAN (WEBSITE FAST DECODING REFERENCE)</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Every signal has a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العَلَامَةِ إِلَى الصَّوْتِ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7" name="Text 14"/>
          <p:cNvSpPr txBox="1"/>
          <p:nvPr/>
        </p:nvSpPr>
        <p:spPr>
          <a:xfrm>
            <a:off x="586130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Reading job</a:t>
            </a:r>
            <a:endParaRPr lang="en-US" sz="1100" dirty="0"/>
          </a:p>
        </p:txBody>
      </p:sp>
      <p:sp>
        <p:nvSpPr>
          <p:cNvPr id="18" name="Text 15"/>
          <p:cNvSpPr txBox="1"/>
          <p:nvPr/>
        </p:nvSpPr>
        <p:spPr>
          <a:xfrm>
            <a:off x="33009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9" name="Text 16"/>
          <p:cNvSpPr txBox="1"/>
          <p:nvPr/>
        </p:nvSpPr>
        <p:spPr>
          <a:xfrm>
            <a:off x="530352" y="1810512"/>
            <a:ext cx="2624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a:t>
            </a:r>
            <a:endParaRPr lang="en-US" sz="1100" dirty="0"/>
          </a:p>
        </p:txBody>
      </p:sp>
      <p:sp>
        <p:nvSpPr>
          <p:cNvPr id="20" name="Shape 17"/>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1" name="Text 18"/>
          <p:cNvSpPr txBox="1"/>
          <p:nvPr/>
        </p:nvSpPr>
        <p:spPr>
          <a:xfrm>
            <a:off x="9738360" y="2267712"/>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short vowels</a:t>
            </a:r>
            <a:endParaRPr lang="en-US" sz="1100" dirty="0"/>
          </a:p>
        </p:txBody>
      </p:sp>
      <p:sp>
        <p:nvSpPr>
          <p:cNvPr id="22" name="Text 19"/>
          <p:cNvSpPr txBox="1"/>
          <p:nvPr/>
        </p:nvSpPr>
        <p:spPr>
          <a:xfrm>
            <a:off x="5897880" y="2267712"/>
            <a:ext cx="36576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short vowel after the consonant.</a:t>
            </a:r>
            <a:endParaRPr lang="en-US" sz="1100" dirty="0"/>
          </a:p>
        </p:txBody>
      </p:sp>
      <p:sp>
        <p:nvSpPr>
          <p:cNvPr id="23" name="Text 20"/>
          <p:cNvSpPr txBox="1"/>
          <p:nvPr/>
        </p:nvSpPr>
        <p:spPr>
          <a:xfrm>
            <a:off x="3319272" y="2267712"/>
            <a:ext cx="2377440" cy="62788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بَ  بِ  بُ</a:t>
            </a:r>
            <a:endParaRPr lang="ar-SA" sz="2600" dirty="0"/>
          </a:p>
        </p:txBody>
      </p:sp>
      <p:sp>
        <p:nvSpPr>
          <p:cNvPr id="24" name="Text 21"/>
          <p:cNvSpPr txBox="1"/>
          <p:nvPr/>
        </p:nvSpPr>
        <p:spPr>
          <a:xfrm>
            <a:off x="566928" y="2267712"/>
            <a:ext cx="25877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 · bi · bu</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8" name="Text 25"/>
          <p:cNvSpPr txBox="1"/>
          <p:nvPr/>
        </p:nvSpPr>
        <p:spPr>
          <a:xfrm>
            <a:off x="9738360" y="2950464"/>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sukūn</a:t>
            </a:r>
            <a:endParaRPr lang="en-US" sz="1100" dirty="0"/>
          </a:p>
        </p:txBody>
      </p:sp>
      <p:sp>
        <p:nvSpPr>
          <p:cNvPr id="29" name="Text 26"/>
          <p:cNvSpPr txBox="1"/>
          <p:nvPr/>
        </p:nvSpPr>
        <p:spPr>
          <a:xfrm>
            <a:off x="5897880" y="2950464"/>
            <a:ext cx="36576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vowel; it closes a chunk.</a:t>
            </a:r>
            <a:endParaRPr lang="en-US" sz="1100" dirty="0"/>
          </a:p>
        </p:txBody>
      </p:sp>
      <p:sp>
        <p:nvSpPr>
          <p:cNvPr id="30" name="Text 27"/>
          <p:cNvSpPr txBox="1"/>
          <p:nvPr/>
        </p:nvSpPr>
        <p:spPr>
          <a:xfrm>
            <a:off x="3319272" y="2950464"/>
            <a:ext cx="2377440" cy="62788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مَكْ</a:t>
            </a:r>
            <a:endParaRPr lang="ar-SA" sz="2600" dirty="0"/>
          </a:p>
        </p:txBody>
      </p:sp>
      <p:sp>
        <p:nvSpPr>
          <p:cNvPr id="31" name="Text 28"/>
          <p:cNvSpPr txBox="1"/>
          <p:nvPr/>
        </p:nvSpPr>
        <p:spPr>
          <a:xfrm>
            <a:off x="566928" y="2950464"/>
            <a:ext cx="25877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 not maka</a:t>
            </a:r>
            <a:endParaRPr lang="en-US" sz="1100" dirty="0"/>
          </a:p>
        </p:txBody>
      </p:sp>
      <p:sp>
        <p:nvSpPr>
          <p:cNvPr id="32" name="Shape 29"/>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5" name="Text 32"/>
          <p:cNvSpPr txBox="1"/>
          <p:nvPr/>
        </p:nvSpPr>
        <p:spPr>
          <a:xfrm>
            <a:off x="9738360" y="3633216"/>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long vowels</a:t>
            </a:r>
            <a:endParaRPr lang="en-US" sz="1100" dirty="0"/>
          </a:p>
        </p:txBody>
      </p:sp>
      <p:sp>
        <p:nvSpPr>
          <p:cNvPr id="36" name="Text 33"/>
          <p:cNvSpPr txBox="1"/>
          <p:nvPr/>
        </p:nvSpPr>
        <p:spPr>
          <a:xfrm>
            <a:off x="5897880" y="3633216"/>
            <a:ext cx="36576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Long ā · ī · ū — two beats.</a:t>
            </a:r>
            <a:endParaRPr lang="en-US" sz="1100" dirty="0"/>
          </a:p>
        </p:txBody>
      </p:sp>
      <p:sp>
        <p:nvSpPr>
          <p:cNvPr id="37" name="Text 34"/>
          <p:cNvSpPr txBox="1"/>
          <p:nvPr/>
        </p:nvSpPr>
        <p:spPr>
          <a:xfrm>
            <a:off x="3319272" y="3633216"/>
            <a:ext cx="2377440" cy="62788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بَاب · نُور</a:t>
            </a:r>
            <a:endParaRPr lang="ar-SA" sz="2600" dirty="0"/>
          </a:p>
        </p:txBody>
      </p:sp>
      <p:sp>
        <p:nvSpPr>
          <p:cNvPr id="38" name="Text 35"/>
          <p:cNvSpPr txBox="1"/>
          <p:nvPr/>
        </p:nvSpPr>
        <p:spPr>
          <a:xfrm>
            <a:off x="566928" y="3633216"/>
            <a:ext cx="25877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bāb · nūr</a:t>
            </a:r>
            <a:endParaRPr lang="en-US" sz="1100" dirty="0"/>
          </a:p>
        </p:txBody>
      </p:sp>
      <p:sp>
        <p:nvSpPr>
          <p:cNvPr id="39" name="Shape 36"/>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2" name="Text 39"/>
          <p:cNvSpPr txBox="1"/>
          <p:nvPr/>
        </p:nvSpPr>
        <p:spPr>
          <a:xfrm>
            <a:off x="9738360" y="4315968"/>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a:t>
            </a:r>
            <a:endParaRPr lang="en-US" sz="1100" dirty="0"/>
          </a:p>
        </p:txBody>
      </p:sp>
      <p:sp>
        <p:nvSpPr>
          <p:cNvPr id="43" name="Text 40"/>
          <p:cNvSpPr txBox="1"/>
          <p:nvPr/>
        </p:nvSpPr>
        <p:spPr>
          <a:xfrm>
            <a:off x="5897880" y="4315968"/>
            <a:ext cx="36576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Doubled consonant; its vowel after the second half.</a:t>
            </a:r>
            <a:endParaRPr lang="en-US" sz="1100" dirty="0"/>
          </a:p>
        </p:txBody>
      </p:sp>
      <p:sp>
        <p:nvSpPr>
          <p:cNvPr id="44" name="Text 41"/>
          <p:cNvSpPr txBox="1"/>
          <p:nvPr/>
        </p:nvSpPr>
        <p:spPr>
          <a:xfrm>
            <a:off x="3319272" y="4315968"/>
            <a:ext cx="2377440" cy="62788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مُعَلِّمٌ</a:t>
            </a:r>
            <a:endParaRPr lang="ar-SA" sz="2600" dirty="0"/>
          </a:p>
        </p:txBody>
      </p:sp>
      <p:sp>
        <p:nvSpPr>
          <p:cNvPr id="45" name="Text 42"/>
          <p:cNvSpPr txBox="1"/>
          <p:nvPr/>
        </p:nvSpPr>
        <p:spPr>
          <a:xfrm>
            <a:off x="566928" y="4315968"/>
            <a:ext cx="25877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muʿallimun</a:t>
            </a:r>
            <a:endParaRPr lang="en-US" sz="1100" dirty="0"/>
          </a:p>
        </p:txBody>
      </p:sp>
      <p:sp>
        <p:nvSpPr>
          <p:cNvPr id="46" name="Shape 4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7" name="Text 44"/>
          <p:cNvSpPr txBox="1"/>
          <p:nvPr/>
        </p:nvSpPr>
        <p:spPr>
          <a:xfrm>
            <a:off x="9738360" y="4998720"/>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tanwīn</a:t>
            </a:r>
            <a:endParaRPr lang="en-US" sz="1100" dirty="0"/>
          </a:p>
        </p:txBody>
      </p:sp>
      <p:sp>
        <p:nvSpPr>
          <p:cNvPr id="48" name="Text 45"/>
          <p:cNvSpPr txBox="1"/>
          <p:nvPr/>
        </p:nvSpPr>
        <p:spPr>
          <a:xfrm>
            <a:off x="5897880" y="4998720"/>
            <a:ext cx="36576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 · in · an/ in careful connected reading.</a:t>
            </a:r>
            <a:endParaRPr lang="en-US" sz="1100" dirty="0"/>
          </a:p>
        </p:txBody>
      </p:sp>
      <p:sp>
        <p:nvSpPr>
          <p:cNvPr id="49" name="Text 46"/>
          <p:cNvSpPr txBox="1"/>
          <p:nvPr/>
        </p:nvSpPr>
        <p:spPr>
          <a:xfrm>
            <a:off x="3319272" y="4998720"/>
            <a:ext cx="2377440" cy="62788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كِتَابٌ</a:t>
            </a:r>
            <a:endParaRPr lang="ar-SA" sz="2600" dirty="0"/>
          </a:p>
        </p:txBody>
      </p:sp>
      <p:sp>
        <p:nvSpPr>
          <p:cNvPr id="50" name="Text 47"/>
          <p:cNvSpPr txBox="1"/>
          <p:nvPr/>
        </p:nvSpPr>
        <p:spPr>
          <a:xfrm>
            <a:off x="566928" y="4998720"/>
            <a:ext cx="25877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kitābun</a:t>
            </a:r>
            <a:endParaRPr lang="en-US" sz="1100" dirty="0"/>
          </a:p>
        </p:txBody>
      </p:sp>
      <p:sp>
        <p:nvSpPr>
          <p:cNvPr id="51" name="Shape 48"/>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52" name="Text 49"/>
          <p:cNvSpPr txBox="1"/>
          <p:nvPr/>
        </p:nvSpPr>
        <p:spPr>
          <a:xfrm>
            <a:off x="9738360" y="5681472"/>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hamza · madda</a:t>
            </a:r>
            <a:endParaRPr lang="en-US" sz="1100" dirty="0"/>
          </a:p>
        </p:txBody>
      </p:sp>
      <p:sp>
        <p:nvSpPr>
          <p:cNvPr id="53" name="Text 50"/>
          <p:cNvSpPr txBox="1"/>
          <p:nvPr/>
        </p:nvSpPr>
        <p:spPr>
          <a:xfrm>
            <a:off x="5897880" y="5681472"/>
            <a:ext cx="36576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catch /ʔ/; madda begins /ʔā/.</a:t>
            </a:r>
            <a:endParaRPr lang="en-US" sz="1100" dirty="0"/>
          </a:p>
        </p:txBody>
      </p:sp>
      <p:sp>
        <p:nvSpPr>
          <p:cNvPr id="54" name="Text 51"/>
          <p:cNvSpPr txBox="1"/>
          <p:nvPr/>
        </p:nvSpPr>
        <p:spPr>
          <a:xfrm>
            <a:off x="3319272" y="5681472"/>
            <a:ext cx="2377440" cy="62788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قَرَأَ · آمِنٌ</a:t>
            </a:r>
            <a:endParaRPr lang="ar-SA" sz="2600" dirty="0"/>
          </a:p>
        </p:txBody>
      </p:sp>
      <p:sp>
        <p:nvSpPr>
          <p:cNvPr id="55" name="Text 52"/>
          <p:cNvSpPr txBox="1"/>
          <p:nvPr/>
        </p:nvSpPr>
        <p:spPr>
          <a:xfrm>
            <a:off x="566928" y="5681472"/>
            <a:ext cx="25877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qaraʾa · ʾāminun</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start reading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on the left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a:t>
            </a:r>
            <a:pPr algn="l" indent="0" marL="0">
              <a:buNone/>
            </a:pPr>
            <a:r>
              <a:rPr lang="ar-SA" altLang="en-US" sz="1650" dirty="0">
                <a:solidFill>
                  <a:srgbClr val="1F2A37"/>
                </a:solidFill>
                <a:latin typeface="Amiri" pitchFamily="2" charset="-78"/>
                <a:ea typeface="Amiri" pitchFamily="2" charset="-78"/>
                <a:cs typeface="Amiri" pitchFamily="2" charset="-78"/>
              </a:rPr>
              <a:t>ك</a:t>
            </a:r>
            <a:pPr algn="l" indent="0" marL="0">
              <a:buNone/>
            </a:pPr>
            <a:r>
              <a:rPr lang="en-US" sz="1250" dirty="0">
                <a:solidFill>
                  <a:srgbClr val="1F2A37"/>
                </a:solidFill>
                <a:latin typeface="Calibri" pitchFamily="34" charset="0"/>
                <a:cs typeface="Amiri" pitchFamily="2" charset="-78"/>
              </a:rPr>
              <a:t>, on the right</a:t>
            </a:r>
            <a:endParaRPr lang="en-US" sz="1250" dirty="0"/>
          </a:p>
        </p:txBody>
      </p:sp>
      <p:sp>
        <p:nvSpPr>
          <p:cNvPr id="25" name="Shape 22"/>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313932"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read </a:t>
            </a:r>
            <a:pPr algn="l" indent="0" marL="0">
              <a:buNone/>
            </a:pPr>
            <a:r>
              <a:rPr lang="ar-SA" altLang="en-US" sz="1650" b="1" dirty="0">
                <a:solidFill>
                  <a:srgbClr val="1B3B6F"/>
                </a:solidFill>
                <a:latin typeface="Amiri" pitchFamily="2" charset="-78"/>
                <a:ea typeface="Amiri" pitchFamily="2" charset="-78"/>
                <a:cs typeface="Amiri" pitchFamily="2" charset="-78"/>
              </a:rPr>
              <a:t>مَكْتَبٌ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9" name="Shape 26"/>
          <p:cNvSpPr/>
          <p:nvPr/>
        </p:nvSpPr>
        <p:spPr>
          <a:xfrm>
            <a:off x="6368796"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mak-ta-bun</a:t>
            </a:r>
            <a:endParaRPr lang="en-US" sz="1250" dirty="0"/>
          </a:p>
        </p:txBody>
      </p:sp>
      <p:sp>
        <p:nvSpPr>
          <p:cNvPr id="32" name="Shape 29"/>
          <p:cNvSpPr/>
          <p:nvPr/>
        </p:nvSpPr>
        <p:spPr>
          <a:xfrm>
            <a:off x="6368796"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ma-ka-ta-bun</a:t>
            </a:r>
            <a:endParaRPr lang="en-US" sz="1250" dirty="0"/>
          </a:p>
        </p:txBody>
      </p:sp>
      <p:sp>
        <p:nvSpPr>
          <p:cNvPr id="35" name="Shape 32"/>
          <p:cNvSpPr/>
          <p:nvPr/>
        </p:nvSpPr>
        <p:spPr>
          <a:xfrm>
            <a:off x="6368796"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7" name="Text 34"/>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mak-tab-ban</a:t>
            </a:r>
            <a:endParaRPr lang="en-US" sz="1250" dirty="0"/>
          </a:p>
        </p:txBody>
      </p:sp>
      <p:sp>
        <p:nvSpPr>
          <p:cNvPr id="38" name="Shape 3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85216" y="4288536"/>
            <a:ext cx="310896" cy="310896"/>
          </a:xfrm>
          <a:prstGeom prst="ellipse">
            <a:avLst/>
          </a:prstGeom>
          <a:solidFill>
            <a:srgbClr val="1B3B6F"/>
          </a:solidFill>
          <a:ln w="12700">
            <a:solidFill>
              <a:srgbClr val="1B3B6F"/>
            </a:solidFill>
            <a:prstDash val="solid"/>
          </a:ln>
        </p:spPr>
      </p:sp>
      <p:sp>
        <p:nvSpPr>
          <p:cNvPr id="40" name="Text 3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a:t>
            </a:r>
            <a:pPr algn="l" indent="0" marL="0">
              <a:buNone/>
            </a:pPr>
            <a:r>
              <a:rPr lang="ar-SA" altLang="en-US" sz="1650" b="1" dirty="0">
                <a:solidFill>
                  <a:srgbClr val="1B3B6F"/>
                </a:solidFill>
                <a:latin typeface="Amiri" pitchFamily="2" charset="-78"/>
                <a:ea typeface="Amiri" pitchFamily="2" charset="-78"/>
                <a:cs typeface="Amiri" pitchFamily="2" charset="-78"/>
              </a:rPr>
              <a:t>تَا</a:t>
            </a:r>
            <a:pPr algn="l" indent="0" marL="0">
              <a:buNone/>
            </a:pPr>
            <a:r>
              <a:rPr lang="en-US" sz="1250" b="1" dirty="0">
                <a:solidFill>
                  <a:srgbClr val="1B3B6F"/>
                </a:solidFill>
                <a:latin typeface="Calibri" pitchFamily="34" charset="0"/>
                <a:cs typeface="Amiri" pitchFamily="2" charset="-78"/>
              </a:rPr>
              <a:t> in </a:t>
            </a:r>
            <a:pPr algn="l" indent="0" marL="0">
              <a:buNone/>
            </a:pPr>
            <a:r>
              <a:rPr lang="ar-SA" altLang="en-US" sz="1650" b="1" dirty="0">
                <a:solidFill>
                  <a:srgbClr val="1B3B6F"/>
                </a:solidFill>
                <a:latin typeface="Amiri" pitchFamily="2" charset="-78"/>
                <a:ea typeface="Amiri" pitchFamily="2" charset="-78"/>
                <a:cs typeface="Amiri" pitchFamily="2" charset="-78"/>
              </a:rPr>
              <a:t>كِتَابٌ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2" name="Shape 39"/>
          <p:cNvSpPr/>
          <p:nvPr/>
        </p:nvSpPr>
        <p:spPr>
          <a:xfrm>
            <a:off x="640080" y="4873752"/>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two beats</a:t>
            </a:r>
            <a:endParaRPr lang="en-US" sz="1250" dirty="0"/>
          </a:p>
        </p:txBody>
      </p:sp>
      <p:sp>
        <p:nvSpPr>
          <p:cNvPr id="45" name="Shape 42"/>
          <p:cNvSpPr/>
          <p:nvPr/>
        </p:nvSpPr>
        <p:spPr>
          <a:xfrm>
            <a:off x="640080" y="53309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beat</a:t>
            </a:r>
            <a:endParaRPr lang="en-US" sz="1250" dirty="0"/>
          </a:p>
        </p:txBody>
      </p:sp>
      <p:sp>
        <p:nvSpPr>
          <p:cNvPr id="48" name="Shape 4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6313932"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1" name="Text 4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 “read again” check?</a:t>
            </a:r>
            <a:endParaRPr lang="en-US" sz="1250" dirty="0"/>
          </a:p>
        </p:txBody>
      </p:sp>
      <p:sp>
        <p:nvSpPr>
          <p:cNvPr id="52" name="Shape 49"/>
          <p:cNvSpPr/>
          <p:nvPr/>
        </p:nvSpPr>
        <p:spPr>
          <a:xfrm>
            <a:off x="6368796"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Smoothness and meaning</a:t>
            </a:r>
            <a:endParaRPr lang="en-US" sz="1250" dirty="0"/>
          </a:p>
        </p:txBody>
      </p:sp>
      <p:sp>
        <p:nvSpPr>
          <p:cNvPr id="55" name="Shape 52"/>
          <p:cNvSpPr/>
          <p:nvPr/>
        </p:nvSpPr>
        <p:spPr>
          <a:xfrm>
            <a:off x="6368796"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Speed only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start reading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a:t>
            </a:r>
            <a:pPr algn="l" indent="0" marL="0">
              <a:buNone/>
            </a:pPr>
            <a:r>
              <a:rPr lang="ar-SA" altLang="en-US" sz="1650" dirty="0">
                <a:solidFill>
                  <a:srgbClr val="9AA1AB"/>
                </a:solidFill>
                <a:latin typeface="Amiri" pitchFamily="2" charset="-78"/>
                <a:ea typeface="Amiri" pitchFamily="2" charset="-78"/>
                <a:cs typeface="Amiri" pitchFamily="2" charset="-78"/>
              </a:rPr>
              <a:t>ب</a:t>
            </a:r>
            <a:pPr algn="l" indent="0" marL="0">
              <a:buNone/>
            </a:pPr>
            <a:r>
              <a:rPr lang="en-US" sz="1250" dirty="0">
                <a:solidFill>
                  <a:srgbClr val="9AA1AB"/>
                </a:solidFill>
                <a:latin typeface="Calibri" pitchFamily="34" charset="0"/>
                <a:cs typeface="Amiri" pitchFamily="2" charset="-78"/>
              </a:rPr>
              <a:t>, on the left</a:t>
            </a:r>
            <a:endParaRPr lang="en-US" sz="1250" dirty="0"/>
          </a:p>
        </p:txBody>
      </p:sp>
      <p:sp>
        <p:nvSpPr>
          <p:cNvPr id="22" name="Shape 19"/>
          <p:cNvSpPr/>
          <p:nvPr/>
        </p:nvSpPr>
        <p:spPr>
          <a:xfrm>
            <a:off x="548640" y="2953512"/>
            <a:ext cx="5362956"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a:t>
            </a:r>
            <a:pPr algn="l" indent="0" marL="0">
              <a:buNone/>
            </a:pPr>
            <a:r>
              <a:rPr lang="ar-SA" altLang="en-US" sz="1650" b="1" dirty="0">
                <a:solidFill>
                  <a:srgbClr val="1F2A37"/>
                </a:solidFill>
                <a:latin typeface="Amiri" pitchFamily="2" charset="-78"/>
                <a:ea typeface="Amiri" pitchFamily="2" charset="-78"/>
                <a:cs typeface="Amiri" pitchFamily="2" charset="-78"/>
              </a:rPr>
              <a:t>ك</a:t>
            </a:r>
            <a:pPr algn="l" indent="0" marL="0">
              <a:buNone/>
            </a:pPr>
            <a:r>
              <a:rPr lang="en-US" sz="1250" b="1" dirty="0">
                <a:solidFill>
                  <a:srgbClr val="1F2A37"/>
                </a:solidFill>
                <a:latin typeface="Calibri" pitchFamily="34" charset="0"/>
                <a:cs typeface="Amiri" pitchFamily="2" charset="-78"/>
              </a:rPr>
              <a:t>, on the right</a:t>
            </a:r>
            <a:endParaRPr lang="en-US" sz="1250" dirty="0"/>
          </a:p>
        </p:txBody>
      </p:sp>
      <p:sp>
        <p:nvSpPr>
          <p:cNvPr id="26" name="Text 23"/>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 — right edge.</a:t>
            </a:r>
            <a:endParaRPr lang="en-US" sz="1050" dirty="0"/>
          </a:p>
        </p:txBody>
      </p:sp>
      <p:sp>
        <p:nvSpPr>
          <p:cNvPr id="27" name="Shape 24"/>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6313932"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read </a:t>
            </a:r>
            <a:pPr algn="l" indent="0" marL="0">
              <a:buNone/>
            </a:pPr>
            <a:r>
              <a:rPr lang="ar-SA" altLang="en-US" sz="1650" b="1" dirty="0">
                <a:solidFill>
                  <a:srgbClr val="1B3B6F"/>
                </a:solidFill>
                <a:latin typeface="Amiri" pitchFamily="2" charset="-78"/>
                <a:ea typeface="Amiri" pitchFamily="2" charset="-78"/>
                <a:cs typeface="Amiri" pitchFamily="2" charset="-78"/>
              </a:rPr>
              <a:t>مَكْتَبٌ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1" name="Shape 28"/>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2" name="Shape 29"/>
          <p:cNvSpPr/>
          <p:nvPr/>
        </p:nvSpPr>
        <p:spPr>
          <a:xfrm>
            <a:off x="6368796" y="2490216"/>
            <a:ext cx="256032" cy="256032"/>
          </a:xfrm>
          <a:prstGeom prst="ellipse">
            <a:avLst/>
          </a:prstGeom>
          <a:solidFill>
            <a:srgbClr val="2E8B57"/>
          </a:solidFill>
          <a:ln w="12700">
            <a:solidFill>
              <a:srgbClr val="2E8B57"/>
            </a:solidFill>
            <a:prstDash val="solid"/>
          </a:ln>
        </p:spPr>
      </p:sp>
      <p:sp>
        <p:nvSpPr>
          <p:cNvPr id="33" name="Text 3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mak-ta-bun</a:t>
            </a:r>
            <a:endParaRPr lang="en-US" sz="1250" dirty="0"/>
          </a:p>
        </p:txBody>
      </p:sp>
      <p:sp>
        <p:nvSpPr>
          <p:cNvPr id="35" name="Shape 32"/>
          <p:cNvSpPr/>
          <p:nvPr/>
        </p:nvSpPr>
        <p:spPr>
          <a:xfrm>
            <a:off x="6368796" y="2862072"/>
            <a:ext cx="256032" cy="256032"/>
          </a:xfrm>
          <a:prstGeom prst="ellipse">
            <a:avLst/>
          </a:prstGeom>
          <a:solidFill>
            <a:srgbClr val="C9CED6"/>
          </a:solidFill>
          <a:ln w="12700">
            <a:solidFill>
              <a:srgbClr val="C9CED6"/>
            </a:solidFill>
            <a:prstDash val="solid"/>
          </a:ln>
        </p:spPr>
      </p:sp>
      <p:sp>
        <p:nvSpPr>
          <p:cNvPr id="36" name="Text 3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ma-ka-ta-bun</a:t>
            </a:r>
            <a:endParaRPr lang="en-US" sz="1250" dirty="0"/>
          </a:p>
        </p:txBody>
      </p:sp>
      <p:sp>
        <p:nvSpPr>
          <p:cNvPr id="38" name="Shape 35"/>
          <p:cNvSpPr/>
          <p:nvPr/>
        </p:nvSpPr>
        <p:spPr>
          <a:xfrm>
            <a:off x="6368796" y="323392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mak-tab-ban</a:t>
            </a:r>
            <a:endParaRPr lang="en-US" sz="1250" dirty="0"/>
          </a:p>
        </p:txBody>
      </p:sp>
      <p:sp>
        <p:nvSpPr>
          <p:cNvPr id="41" name="Text 38"/>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sukūn on </a:t>
            </a:r>
            <a:pPr algn="l" indent="0" marL="0">
              <a:buNone/>
            </a:pPr>
            <a:r>
              <a:rPr lang="ar-SA" altLang="en-US" sz="1350" dirty="0">
                <a:solidFill>
                  <a:srgbClr val="8A6D1E"/>
                </a:solidFill>
                <a:latin typeface="Amiri" pitchFamily="2" charset="-78"/>
                <a:ea typeface="Amiri" pitchFamily="2" charset="-78"/>
                <a:cs typeface="Amiri" pitchFamily="2" charset="-78"/>
              </a:rPr>
              <a:t>كْ</a:t>
            </a:r>
            <a:pPr algn="l" indent="0" marL="0">
              <a:buNone/>
            </a:pPr>
            <a:r>
              <a:rPr lang="en-US" sz="1050" i="1" dirty="0">
                <a:solidFill>
                  <a:srgbClr val="8A6D1E"/>
                </a:solidFill>
                <a:latin typeface="Calibri" pitchFamily="34" charset="0"/>
                <a:cs typeface="Amiri" pitchFamily="2" charset="-78"/>
              </a:rPr>
              <a:t> closes the chunk.</a:t>
            </a:r>
            <a:endParaRPr lang="en-US" sz="1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a:t>
            </a:r>
            <a:pPr algn="l" indent="0" marL="0">
              <a:buNone/>
            </a:pPr>
            <a:r>
              <a:rPr lang="ar-SA" altLang="en-US" sz="1650" b="1" dirty="0">
                <a:solidFill>
                  <a:srgbClr val="1B3B6F"/>
                </a:solidFill>
                <a:latin typeface="Amiri" pitchFamily="2" charset="-78"/>
                <a:ea typeface="Amiri" pitchFamily="2" charset="-78"/>
                <a:cs typeface="Amiri" pitchFamily="2" charset="-78"/>
              </a:rPr>
              <a:t>تَا</a:t>
            </a:r>
            <a:pPr algn="l" indent="0" marL="0">
              <a:buNone/>
            </a:pPr>
            <a:r>
              <a:rPr lang="en-US" sz="1250" b="1" dirty="0">
                <a:solidFill>
                  <a:srgbClr val="1B3B6F"/>
                </a:solidFill>
                <a:latin typeface="Calibri" pitchFamily="34" charset="0"/>
                <a:cs typeface="Amiri" pitchFamily="2" charset="-78"/>
              </a:rPr>
              <a:t> in </a:t>
            </a:r>
            <a:pPr algn="l" indent="0" marL="0">
              <a:buNone/>
            </a:pPr>
            <a:r>
              <a:rPr lang="ar-SA" altLang="en-US" sz="1650" b="1" dirty="0">
                <a:solidFill>
                  <a:srgbClr val="1B3B6F"/>
                </a:solidFill>
                <a:latin typeface="Amiri" pitchFamily="2" charset="-78"/>
                <a:ea typeface="Amiri" pitchFamily="2" charset="-78"/>
                <a:cs typeface="Amiri" pitchFamily="2" charset="-78"/>
              </a:rPr>
              <a:t>كِتَابٌ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6" name="Shape 43"/>
          <p:cNvSpPr/>
          <p:nvPr/>
        </p:nvSpPr>
        <p:spPr>
          <a:xfrm>
            <a:off x="548640" y="4837176"/>
            <a:ext cx="5362956"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640080" y="4873752"/>
            <a:ext cx="256032" cy="256032"/>
          </a:xfrm>
          <a:prstGeom prst="ellipse">
            <a:avLst/>
          </a:prstGeom>
          <a:solidFill>
            <a:srgbClr val="2E8B57"/>
          </a:solidFill>
          <a:ln w="12700">
            <a:solidFill>
              <a:srgbClr val="2E8B57"/>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two beats</a:t>
            </a:r>
            <a:endParaRPr lang="en-US" sz="1250" dirty="0"/>
          </a:p>
        </p:txBody>
      </p:sp>
      <p:sp>
        <p:nvSpPr>
          <p:cNvPr id="50" name="Shape 47"/>
          <p:cNvSpPr/>
          <p:nvPr/>
        </p:nvSpPr>
        <p:spPr>
          <a:xfrm>
            <a:off x="640080" y="5330952"/>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beat</a:t>
            </a:r>
            <a:endParaRPr lang="en-US" sz="1250" dirty="0"/>
          </a:p>
        </p:txBody>
      </p:sp>
      <p:sp>
        <p:nvSpPr>
          <p:cNvPr id="53" name="Text 5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Fatḥa + alif = long ā.</a:t>
            </a:r>
            <a:endParaRPr lang="en-US" sz="1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 “read again” check?</a:t>
            </a:r>
            <a:endParaRPr lang="en-US" sz="1250" dirty="0"/>
          </a:p>
        </p:txBody>
      </p:sp>
      <p:sp>
        <p:nvSpPr>
          <p:cNvPr id="58" name="Shape 55"/>
          <p:cNvSpPr/>
          <p:nvPr/>
        </p:nvSpPr>
        <p:spPr>
          <a:xfrm>
            <a:off x="6277356" y="4837176"/>
            <a:ext cx="5362956"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6368796" y="4873752"/>
            <a:ext cx="256032" cy="256032"/>
          </a:xfrm>
          <a:prstGeom prst="ellipse">
            <a:avLst/>
          </a:prstGeom>
          <a:solidFill>
            <a:srgbClr val="2E8B57"/>
          </a:solidFill>
          <a:ln w="12700">
            <a:solidFill>
              <a:srgbClr val="2E8B57"/>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Smoothness and meaning</a:t>
            </a:r>
            <a:endParaRPr lang="en-US" sz="1250" dirty="0"/>
          </a:p>
        </p:txBody>
      </p:sp>
      <p:sp>
        <p:nvSpPr>
          <p:cNvPr id="62" name="Shape 59"/>
          <p:cNvSpPr/>
          <p:nvPr/>
        </p:nvSpPr>
        <p:spPr>
          <a:xfrm>
            <a:off x="6368796" y="5330952"/>
            <a:ext cx="256032" cy="256032"/>
          </a:xfrm>
          <a:prstGeom prst="ellipse">
            <a:avLst/>
          </a:prstGeom>
          <a:solidFill>
            <a:srgbClr val="C9CED6"/>
          </a:solidFill>
          <a:ln w="12700">
            <a:solidFill>
              <a:srgbClr val="C9CED6"/>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Speed only</a:t>
            </a:r>
            <a:endParaRPr lang="en-US" sz="1250" dirty="0"/>
          </a:p>
        </p:txBody>
      </p:sp>
      <p:sp>
        <p:nvSpPr>
          <p:cNvPr id="65" name="Text 6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Accuracy first, smoothness second.</a:t>
            </a:r>
            <a:endParaRPr lang="en-US" sz="10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LEVEL 1 · TEN FULLY VOWELLED WORDS (WEBSITE GRADED STRIP)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read, then echo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شَرِيطُ القِرَاءَةِ 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  ·  قَرَأَ</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ka|ta|ba — he wrote   ·   qa|ra|ʾa — he read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ذَهَبَ  ·  رَجَعَ</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dha|ha|ba — he went   ·   ra|ja|ʿa — he returned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شَرِبَ  ·  جَلَسَ</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sha|ri|ba — he drank   ·   ja|la|sa — he sat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فَتَحَ  ·  دَرَسَ</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fa|ta|ḥa — he opened   ·   da|ra|sa — he studied</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سَمِعَ  ·  لَعِبَ</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sa|mi|ʿa — he heard   ·   la|ʿi|ba — he played</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“PICTURE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word,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الإِشَارَةَ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Shape 16"/>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7"/>
          <p:cNvSpPr/>
          <p:nvPr/>
        </p:nvSpPr>
        <p:spPr>
          <a:xfrm>
            <a:off x="4404360" y="1938528"/>
            <a:ext cx="365760" cy="365760"/>
          </a:xfrm>
          <a:prstGeom prst="ellipse">
            <a:avLst/>
          </a:prstGeom>
          <a:solidFill>
            <a:srgbClr val="1B3B6F"/>
          </a:solidFill>
          <a:ln w="12700">
            <a:solidFill>
              <a:srgbClr val="1B3B6F"/>
            </a:solidFill>
            <a:prstDash val="solid"/>
          </a:ln>
        </p:spPr>
      </p:sp>
      <p:sp>
        <p:nvSpPr>
          <p:cNvPr id="22" name="Text 18"/>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3" name="Shape 19"/>
          <p:cNvSpPr/>
          <p:nvPr/>
        </p:nvSpPr>
        <p:spPr>
          <a:xfrm>
            <a:off x="5586984" y="2066544"/>
            <a:ext cx="1014984" cy="1014984"/>
          </a:xfrm>
          <a:prstGeom prst="ellipse">
            <a:avLst/>
          </a:prstGeom>
          <a:solidFill>
            <a:srgbClr val="F4F1EA"/>
          </a:solidFill>
          <a:ln w="12700">
            <a:solidFill>
              <a:srgbClr val="F4F1EA"/>
            </a:solidFill>
            <a:prstDash val="solid"/>
          </a:ln>
        </p:spPr>
      </p:sp>
      <p:pic>
        <p:nvPicPr>
          <p:cNvPr id="24"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5" name="Shape 20"/>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585216"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28" name="Shape 23"/>
          <p:cNvSpPr/>
          <p:nvPr/>
        </p:nvSpPr>
        <p:spPr>
          <a:xfrm>
            <a:off x="1767840"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0" name="Shape 24"/>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1" name="Shape 25"/>
          <p:cNvSpPr/>
          <p:nvPr/>
        </p:nvSpPr>
        <p:spPr>
          <a:xfrm>
            <a:off x="11247120" y="3831336"/>
            <a:ext cx="292608" cy="292608"/>
          </a:xfrm>
          <a:prstGeom prst="ellipse">
            <a:avLst/>
          </a:prstGeom>
          <a:solidFill>
            <a:srgbClr val="2F6FB0"/>
          </a:solidFill>
          <a:ln w="12700">
            <a:solidFill>
              <a:srgbClr val="2F6FB0"/>
            </a:solidFill>
            <a:prstDash val="solid"/>
          </a:ln>
        </p:spPr>
      </p:sp>
      <p:sp>
        <p:nvSpPr>
          <p:cNvPr id="32" name="Text 26"/>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3" name="Text 27"/>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بَابٌ</a:t>
            </a:r>
            <a:endParaRPr lang="ar-SA" sz="2000" dirty="0"/>
          </a:p>
        </p:txBody>
      </p:sp>
      <p:sp>
        <p:nvSpPr>
          <p:cNvPr id="34" name="Shape 28"/>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5" name="Shape 29"/>
          <p:cNvSpPr/>
          <p:nvPr/>
        </p:nvSpPr>
        <p:spPr>
          <a:xfrm>
            <a:off x="11247120" y="4398264"/>
            <a:ext cx="292608" cy="292608"/>
          </a:xfrm>
          <a:prstGeom prst="ellipse">
            <a:avLst/>
          </a:prstGeom>
          <a:solidFill>
            <a:srgbClr val="2F6FB0"/>
          </a:solidFill>
          <a:ln w="12700">
            <a:solidFill>
              <a:srgbClr val="2F6FB0"/>
            </a:solidFill>
            <a:prstDash val="solid"/>
          </a:ln>
        </p:spPr>
      </p:sp>
      <p:sp>
        <p:nvSpPr>
          <p:cNvPr id="36" name="Text 30"/>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37" name="Text 31"/>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مَدْرَسَةٌ</a:t>
            </a:r>
            <a:endParaRPr lang="ar-SA" sz="2000" dirty="0"/>
          </a:p>
        </p:txBody>
      </p:sp>
      <p:sp>
        <p:nvSpPr>
          <p:cNvPr id="38" name="Shape 32"/>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39" name="Shape 33"/>
          <p:cNvSpPr/>
          <p:nvPr/>
        </p:nvSpPr>
        <p:spPr>
          <a:xfrm>
            <a:off x="11247120" y="4965192"/>
            <a:ext cx="292608" cy="292608"/>
          </a:xfrm>
          <a:prstGeom prst="ellipse">
            <a:avLst/>
          </a:prstGeom>
          <a:solidFill>
            <a:srgbClr val="2F6FB0"/>
          </a:solidFill>
          <a:ln w="12700">
            <a:solidFill>
              <a:srgbClr val="2F6FB0"/>
            </a:solidFill>
            <a:prstDash val="solid"/>
          </a:ln>
        </p:spPr>
      </p:sp>
      <p:sp>
        <p:nvSpPr>
          <p:cNvPr id="40" name="Text 34"/>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1" name="Text 35"/>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a:t>
            </a:r>
            <a:endParaRPr lang="ar-SA" sz="2000" dirty="0"/>
          </a:p>
        </p:txBody>
      </p:sp>
      <p:sp>
        <p:nvSpPr>
          <p:cNvPr id="42" name="Text 36"/>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3" name="Text 37"/>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4"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الإِشَارَةَ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Shape 16"/>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1" name="Shape 17"/>
          <p:cNvSpPr/>
          <p:nvPr/>
        </p:nvSpPr>
        <p:spPr>
          <a:xfrm>
            <a:off x="11256264" y="3785616"/>
            <a:ext cx="329184" cy="329184"/>
          </a:xfrm>
          <a:prstGeom prst="ellipse">
            <a:avLst/>
          </a:prstGeom>
          <a:solidFill>
            <a:srgbClr val="2E8B57"/>
          </a:solidFill>
          <a:ln w="12700">
            <a:solidFill>
              <a:srgbClr val="2E8B57"/>
            </a:solidFill>
            <a:prstDash val="solid"/>
          </a:ln>
        </p:spPr>
      </p:sp>
      <p:sp>
        <p:nvSpPr>
          <p:cNvPr id="22" name="Text 18"/>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3" name="Text 19"/>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مَدْرَسَةٌ</a:t>
            </a:r>
            <a:endParaRPr lang="ar-SA" sz="2200" dirty="0"/>
          </a:p>
        </p:txBody>
      </p:sp>
      <p:sp>
        <p:nvSpPr>
          <p:cNvPr id="24" name="Text 20"/>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 school</a:t>
            </a:r>
            <a:endParaRPr lang="en-US" sz="1200" dirty="0"/>
          </a:p>
        </p:txBody>
      </p:sp>
      <p:sp>
        <p:nvSpPr>
          <p:cNvPr id="25" name="Shape 21"/>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2"/>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3"/>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4"/>
          <p:cNvSpPr/>
          <p:nvPr/>
        </p:nvSpPr>
        <p:spPr>
          <a:xfrm>
            <a:off x="5586984" y="2066544"/>
            <a:ext cx="1014984" cy="1014984"/>
          </a:xfrm>
          <a:prstGeom prst="ellipse">
            <a:avLst/>
          </a:prstGeom>
          <a:solidFill>
            <a:srgbClr val="F4F1EA"/>
          </a:solidFill>
          <a:ln w="12700">
            <a:solidFill>
              <a:srgbClr val="F4F1EA"/>
            </a:solidFill>
            <a:prstDash val="solid"/>
          </a:ln>
        </p:spPr>
      </p:sp>
      <p:pic>
        <p:nvPicPr>
          <p:cNvPr id="29"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0" name="Shape 25"/>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7437120" y="3785616"/>
            <a:ext cx="329184" cy="329184"/>
          </a:xfrm>
          <a:prstGeom prst="ellipse">
            <a:avLst/>
          </a:prstGeom>
          <a:solidFill>
            <a:srgbClr val="2E8B57"/>
          </a:solidFill>
          <a:ln w="12700">
            <a:solidFill>
              <a:srgbClr val="2E8B57"/>
            </a:solidFill>
            <a:prstDash val="solid"/>
          </a:ln>
        </p:spPr>
      </p:sp>
      <p:sp>
        <p:nvSpPr>
          <p:cNvPr id="32" name="Text 27"/>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3" name="Text 28"/>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كُتُبٌ</a:t>
            </a:r>
            <a:endParaRPr lang="ar-SA" sz="2200" dirty="0"/>
          </a:p>
        </p:txBody>
      </p:sp>
      <p:sp>
        <p:nvSpPr>
          <p:cNvPr id="34" name="Text 29"/>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books</a:t>
            </a:r>
            <a:endParaRPr lang="en-US" sz="1200" dirty="0"/>
          </a:p>
        </p:txBody>
      </p:sp>
      <p:sp>
        <p:nvSpPr>
          <p:cNvPr id="35" name="Shape 30"/>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1"/>
          <p:cNvSpPr/>
          <p:nvPr/>
        </p:nvSpPr>
        <p:spPr>
          <a:xfrm>
            <a:off x="585216" y="1938528"/>
            <a:ext cx="365760" cy="365760"/>
          </a:xfrm>
          <a:prstGeom prst="ellipse">
            <a:avLst/>
          </a:prstGeom>
          <a:solidFill>
            <a:srgbClr val="1B3B6F"/>
          </a:solidFill>
          <a:ln w="12700">
            <a:solidFill>
              <a:srgbClr val="1B3B6F"/>
            </a:solidFill>
            <a:prstDash val="solid"/>
          </a:ln>
        </p:spPr>
      </p:sp>
      <p:sp>
        <p:nvSpPr>
          <p:cNvPr id="37" name="Text 32"/>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8" name="Shape 33"/>
          <p:cNvSpPr/>
          <p:nvPr/>
        </p:nvSpPr>
        <p:spPr>
          <a:xfrm>
            <a:off x="1767840" y="2066544"/>
            <a:ext cx="1014984" cy="1014984"/>
          </a:xfrm>
          <a:prstGeom prst="ellipse">
            <a:avLst/>
          </a:prstGeom>
          <a:solidFill>
            <a:srgbClr val="F4F1EA"/>
          </a:solidFill>
          <a:ln w="12700">
            <a:solidFill>
              <a:srgbClr val="F4F1EA"/>
            </a:solidFill>
            <a:prstDash val="solid"/>
          </a:ln>
        </p:spPr>
      </p:sp>
      <p:pic>
        <p:nvPicPr>
          <p:cNvPr id="39"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0" name="Shape 34"/>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Shape 35"/>
          <p:cNvSpPr/>
          <p:nvPr/>
        </p:nvSpPr>
        <p:spPr>
          <a:xfrm>
            <a:off x="3617976" y="3785616"/>
            <a:ext cx="329184" cy="329184"/>
          </a:xfrm>
          <a:prstGeom prst="ellipse">
            <a:avLst/>
          </a:prstGeom>
          <a:solidFill>
            <a:srgbClr val="2E8B57"/>
          </a:solidFill>
          <a:ln w="12700">
            <a:solidFill>
              <a:srgbClr val="2E8B57"/>
            </a:solidFill>
            <a:prstDash val="solid"/>
          </a:ln>
        </p:spPr>
      </p:sp>
      <p:sp>
        <p:nvSpPr>
          <p:cNvPr id="42" name="Text 36"/>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3" name="Text 37"/>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بَابٌ</a:t>
            </a:r>
            <a:endParaRPr lang="ar-SA" sz="2200" dirty="0"/>
          </a:p>
        </p:txBody>
      </p:sp>
      <p:sp>
        <p:nvSpPr>
          <p:cNvPr id="44" name="Text 38"/>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 door</a:t>
            </a:r>
            <a:endParaRPr lang="en-US" sz="1200" dirty="0"/>
          </a:p>
        </p:txBody>
      </p:sp>
      <p:sp>
        <p:nvSpPr>
          <p:cNvPr id="45"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“CHUNK CHOICE”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Choose the correct chunks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التَّقْطِيعَ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chunks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مَكْتَبٌ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 | كَ | تَ | بٌ</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 | تَ | بٌ</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 | بٌ</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chunks</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كِتَابٌ</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 | ا | بٌ</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 | تَ | ا | بٌ</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 | تَا | بٌ</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chunks</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مُعَلِّمٌ</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 | عَلْ | لِ | مٌ</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 | عَ | لِ | مٌ</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 لِمٌ</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chunks</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يَقْرَأُ</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 | قَ | رَ | أُ</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 | رَ | أُ</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يَقْرَ | أُ</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chunks</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سِتَّةٌ</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 | تَ | ةٌ</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 | تَ | ةٌ</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 | ةٌ</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Sukūn → the chunk ends there.</a:t>
            </a:r>
            <a:endParaRPr lang="en-US" sz="1250" dirty="0"/>
          </a:p>
          <a:p>
            <a:pPr algn="l" indent="0" marL="0">
              <a:buNone/>
            </a:pPr>
            <a:r>
              <a:rPr lang="en-US" sz="1250" dirty="0">
                <a:solidFill>
                  <a:srgbClr val="1E6B52"/>
                </a:solidFill>
                <a:latin typeface="Calibri" pitchFamily="34" charset="0"/>
                <a:cs typeface="Amiri" pitchFamily="2" charset="-78"/>
              </a:rPr>
              <a:t>Long vowel → keep it with its letter.</a:t>
            </a:r>
            <a:endParaRPr lang="en-US" sz="1250" dirty="0"/>
          </a:p>
          <a:p>
            <a:pPr algn="l" indent="0" marL="0">
              <a:buNone/>
            </a:pPr>
            <a:r>
              <a:rPr lang="en-US" sz="1250" dirty="0">
                <a:solidFill>
                  <a:srgbClr val="1E6B52"/>
                </a:solidFill>
                <a:latin typeface="Calibri" pitchFamily="34" charset="0"/>
                <a:cs typeface="Amiri" pitchFamily="2" charset="-78"/>
              </a:rPr>
              <a:t>Shadda → the letter twice.</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CHUNK CHOICE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chunks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مَكْتَبٌ</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 | كَ | تَ | بٌ</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مَكْ | تَ | بٌ</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 | بٌ</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sukūn closes </a:t>
            </a:r>
            <a:pPr algn="l" indent="0" marL="0">
              <a:buNone/>
            </a:pPr>
            <a:r>
              <a:rPr lang="ar-SA" altLang="en-US" sz="1350" dirty="0">
                <a:solidFill>
                  <a:srgbClr val="8A6D1E"/>
                </a:solidFill>
                <a:latin typeface="Amiri" pitchFamily="2" charset="-78"/>
                <a:ea typeface="Amiri" pitchFamily="2" charset="-78"/>
                <a:cs typeface="Amiri" pitchFamily="2" charset="-78"/>
              </a:rPr>
              <a:t>مَكْ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chunks</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كِتَابٌ</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 | ا | بٌ</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 | تَ | ا | بٌ</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 | تَا | بٌ</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long ā stays with </a:t>
            </a:r>
            <a:pPr algn="l" indent="0" marL="0">
              <a:buNone/>
            </a:pPr>
            <a:r>
              <a:rPr lang="ar-SA" altLang="en-US" sz="1350" dirty="0">
                <a:solidFill>
                  <a:srgbClr val="8A6D1E"/>
                </a:solidFill>
                <a:latin typeface="Amiri" pitchFamily="2" charset="-78"/>
                <a:ea typeface="Amiri" pitchFamily="2" charset="-78"/>
                <a:cs typeface="Amiri" pitchFamily="2" charset="-78"/>
              </a:rPr>
              <a:t>تَا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chunks</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مُعَلِّمٌ</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 | عَلْ | لِ | مٌ</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 | عَ | لِ | مٌ</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 لِمٌ</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Shadda = two timings of l.</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chunks</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يَقْرَأُ</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 | قَ | رَ | أُ</a:t>
            </a:r>
            <a:endParaRPr lang="ar-SA" sz="170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 | رَ | أُ</a:t>
            </a:r>
            <a:endParaRPr lang="ar-SA" sz="170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يَقْرَ | أُ</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sukūn closes </a:t>
            </a:r>
            <a:pPr algn="l" indent="0" marL="0">
              <a:buNone/>
            </a:pPr>
            <a:r>
              <a:rPr lang="ar-SA" altLang="en-US" sz="1350" dirty="0">
                <a:solidFill>
                  <a:srgbClr val="8A6D1E"/>
                </a:solidFill>
                <a:latin typeface="Amiri" pitchFamily="2" charset="-78"/>
                <a:ea typeface="Amiri" pitchFamily="2" charset="-78"/>
                <a:cs typeface="Amiri" pitchFamily="2" charset="-78"/>
              </a:rPr>
              <a:t>يَقْ</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chunks</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سِتَّةٌ</a:t>
            </a:r>
            <a:endParaRPr lang="ar-SA" sz="22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 | تَ | ةٌ</a:t>
            </a:r>
            <a:endParaRPr lang="ar-SA" sz="170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 | تَ | ةٌ</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 | ةٌ</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Shadda: hold the t.</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Sukūn → the chunk ends there.</a:t>
            </a:r>
            <a:endParaRPr lang="en-US" sz="1250" dirty="0"/>
          </a:p>
          <a:p>
            <a:pPr algn="l" indent="0" marL="0">
              <a:buNone/>
            </a:pPr>
            <a:r>
              <a:rPr lang="en-US" sz="1250" dirty="0">
                <a:solidFill>
                  <a:srgbClr val="1E6B52"/>
                </a:solidFill>
                <a:latin typeface="Calibri" pitchFamily="34" charset="0"/>
                <a:cs typeface="Amiri" pitchFamily="2" charset="-78"/>
              </a:rPr>
              <a:t>Long vowel → keep it with its letter.</a:t>
            </a:r>
            <a:endParaRPr lang="en-US" sz="1250" dirty="0"/>
          </a:p>
          <a:p>
            <a:pPr algn="l" indent="0" marL="0">
              <a:buNone/>
            </a:pPr>
            <a:r>
              <a:rPr lang="en-US" sz="1250" dirty="0">
                <a:solidFill>
                  <a:srgbClr val="1E6B52"/>
                </a:solidFill>
                <a:latin typeface="Calibri" pitchFamily="34" charset="0"/>
                <a:cs typeface="Amiri" pitchFamily="2" charset="-78"/>
              </a:rPr>
              <a:t>Shadda → the letter twice.</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LEVEL 2 · EIGHT SHORT PHRASES (WEBSITE GRADED STRIP)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phrases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شَرِيطُ القِرَاءَةِ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يَقْرَأُ  ·  هِيَ تَكْتُبُ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reads   ·   she writes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أَفْهَمُ  ·  لَا أَفْهَمُ</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understand   ·   I do not understand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قَرَأَ كِتَابًا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read a book</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ذَهَبَ إِلَى البَيْتِ</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went home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جَلَسَ فِي الفَصْلِ  ·  مَعَ مُحَمَّدٍ</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sat in the classroom   ·   with Muhammad</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LEVEL 3 · FOUR SHORT SENTENCES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sentences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شَرِيطُ القِرَاءَةِ ٣</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7" name="Shape 14"/>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8" name="Text 15"/>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قَرَأَتْ مَرْيَمُ | كِتَابًا قَصِيرًا.</a:t>
            </a:r>
            <a:endParaRPr lang="ar-SA" sz="2000" dirty="0"/>
          </a:p>
        </p:txBody>
      </p:sp>
      <p:sp>
        <p:nvSpPr>
          <p:cNvPr id="19" name="Text 16"/>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 read a short book.</a:t>
            </a:r>
            <a:endParaRPr lang="en-US" sz="1250" dirty="0"/>
          </a:p>
        </p:txBody>
      </p:sp>
      <p:sp>
        <p:nvSpPr>
          <p:cNvPr id="20" name="Shape 17"/>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21" name="Text 18"/>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ذَهَبَ سَامِرٌ | إِلَى المَدْرَسَةِ.</a:t>
            </a:r>
            <a:endParaRPr lang="ar-SA" sz="2000" dirty="0"/>
          </a:p>
        </p:txBody>
      </p:sp>
      <p:sp>
        <p:nvSpPr>
          <p:cNvPr id="22" name="Text 19"/>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Samir went to school.</a:t>
            </a:r>
            <a:endParaRPr lang="en-US" sz="1250" dirty="0"/>
          </a:p>
        </p:txBody>
      </p:sp>
      <p:sp>
        <p:nvSpPr>
          <p:cNvPr id="23" name="Shape 20"/>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4" name="Text 21"/>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كَتَبَتْ لَيْلَى | دَرْسًا | فِي دَفْتَرِهَا.</a:t>
            </a:r>
            <a:endParaRPr lang="ar-SA" sz="2000" dirty="0"/>
          </a:p>
        </p:txBody>
      </p:sp>
      <p:sp>
        <p:nvSpPr>
          <p:cNvPr id="25" name="Text 22"/>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wrote a lesson in her notebook.</a:t>
            </a:r>
            <a:endParaRPr lang="en-US" sz="1250" dirty="0"/>
          </a:p>
        </p:txBody>
      </p:sp>
      <p:sp>
        <p:nvSpPr>
          <p:cNvPr id="26" name="Shape 23"/>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7" name="Text 24"/>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شَرِبَ أَحْمَدُ | مَاءً | بَعْدَ الرِّيَاضَةِ.</a:t>
            </a:r>
            <a:endParaRPr lang="ar-SA" sz="2000" dirty="0"/>
          </a:p>
        </p:txBody>
      </p:sp>
      <p:sp>
        <p:nvSpPr>
          <p:cNvPr id="28" name="Text 25"/>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Ahmad drank water after sport.</a:t>
            </a:r>
            <a:endParaRPr lang="en-US" sz="12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choose your level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Level 1 · 10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Read the ten verbs aloud with the READ routine. Copy four of them and draw the chunk lines.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Cover the English, then read again from the Arabic only.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Level 2 · 8 phrases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Read the eight phrases to your partner. Copy three and draw the word boundaries.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Read word by word, then the whole phrase smoothly.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100" b="1" dirty="0">
                <a:solidFill>
                  <a:srgbClr val="B83227"/>
                </a:solidFill>
                <a:latin typeface="Cambria" pitchFamily="34" charset="0"/>
                <a:cs typeface="Amiri" pitchFamily="2" charset="-78"/>
              </a:rPr>
              <a:t>Level 3 · 4 sentences</a:t>
            </a:r>
            <a:endParaRPr lang="en-US" sz="21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Read the four sentences with pauses. Copy one and mark the word groups with a slash.</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Then the personal fluency challenge: read the ten fluency words and time yourself (website).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Partner reading check: one strength, one repair</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كَتَبَ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مَكْتَبٌ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مُعَلِّمٌ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الجُمْلَةَ.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صَحِيحٌ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هَلْ أُعِيدُ؟</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لَا أَفْهَمُ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قَرَأَ / قَرَأَتْ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اِقْرَأْ: مُعَلِّمٌ</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Read: muʿallimun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مُعَلِّمٌ.</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muʿallimun.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PARTNER EVIDENCE GRID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did your partner hear?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الزَّمِيلِ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Criterion</a:t>
            </a:r>
            <a:endParaRPr lang="en-US" sz="1100" dirty="0"/>
          </a:p>
        </p:txBody>
      </p:sp>
      <p:sp>
        <p:nvSpPr>
          <p:cNvPr id="17" name="Text 14"/>
          <p:cNvSpPr txBox="1"/>
          <p:nvPr/>
        </p:nvSpPr>
        <p:spPr>
          <a:xfrm>
            <a:off x="375818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“secure” sounds like</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 · ↻</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15400"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Direction and tracking</a:t>
            </a:r>
            <a:endParaRPr lang="en-US" sz="1100" dirty="0"/>
          </a:p>
        </p:txBody>
      </p:sp>
      <p:sp>
        <p:nvSpPr>
          <p:cNvPr id="21" name="Text 18"/>
          <p:cNvSpPr txBox="1"/>
          <p:nvPr/>
        </p:nvSpPr>
        <p:spPr>
          <a:xfrm>
            <a:off x="3794760" y="2267712"/>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Begins at the right and keeps the word order.</a:t>
            </a:r>
            <a:endParaRPr lang="en-US" sz="1100" dirty="0"/>
          </a:p>
        </p:txBody>
      </p:sp>
      <p:sp>
        <p:nvSpPr>
          <p:cNvPr id="22" name="Text 19"/>
          <p:cNvSpPr txBox="1"/>
          <p:nvPr/>
        </p:nvSpPr>
        <p:spPr>
          <a:xfrm>
            <a:off x="56692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secure · ~ nearly · ↻ repair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915400"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Base letters</a:t>
            </a:r>
            <a:endParaRPr lang="en-US" sz="1100" dirty="0"/>
          </a:p>
        </p:txBody>
      </p:sp>
      <p:sp>
        <p:nvSpPr>
          <p:cNvPr id="27" name="Text 24"/>
          <p:cNvSpPr txBox="1"/>
          <p:nvPr/>
        </p:nvSpPr>
        <p:spPr>
          <a:xfrm>
            <a:off x="3794760" y="3054096"/>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Tells the dots, shape families and hamza apart.</a:t>
            </a:r>
            <a:endParaRPr lang="en-US" sz="1100" dirty="0"/>
          </a:p>
        </p:txBody>
      </p:sp>
      <p:sp>
        <p:nvSpPr>
          <p:cNvPr id="28" name="Text 25"/>
          <p:cNvSpPr txBox="1"/>
          <p:nvPr/>
        </p:nvSpPr>
        <p:spPr>
          <a:xfrm>
            <a:off x="56692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 · ↻</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915400"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Vowels and marks</a:t>
            </a:r>
            <a:endParaRPr lang="en-US" sz="1100" dirty="0"/>
          </a:p>
        </p:txBody>
      </p:sp>
      <p:sp>
        <p:nvSpPr>
          <p:cNvPr id="33" name="Text 30"/>
          <p:cNvSpPr txBox="1"/>
          <p:nvPr/>
        </p:nvSpPr>
        <p:spPr>
          <a:xfrm>
            <a:off x="3794760" y="3840480"/>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Reads short/long vowels, sukūn and shadda.</a:t>
            </a:r>
            <a:endParaRPr lang="en-US" sz="1100" dirty="0"/>
          </a:p>
        </p:txBody>
      </p:sp>
      <p:sp>
        <p:nvSpPr>
          <p:cNvPr id="34" name="Text 31"/>
          <p:cNvSpPr txBox="1"/>
          <p:nvPr/>
        </p:nvSpPr>
        <p:spPr>
          <a:xfrm>
            <a:off x="56692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 · ↻</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915400"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Blend and reread</a:t>
            </a:r>
            <a:endParaRPr lang="en-US" sz="1100" dirty="0"/>
          </a:p>
        </p:txBody>
      </p:sp>
      <p:sp>
        <p:nvSpPr>
          <p:cNvPr id="39" name="Text 36"/>
          <p:cNvSpPr txBox="1"/>
          <p:nvPr/>
        </p:nvSpPr>
        <p:spPr>
          <a:xfrm>
            <a:off x="3794760" y="4626864"/>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Blends without invented vowels, then rereads smoothly.</a:t>
            </a:r>
            <a:endParaRPr lang="en-US" sz="1100" dirty="0"/>
          </a:p>
        </p:txBody>
      </p:sp>
      <p:sp>
        <p:nvSpPr>
          <p:cNvPr id="40" name="Text 37"/>
          <p:cNvSpPr txBox="1"/>
          <p:nvPr/>
        </p:nvSpPr>
        <p:spPr>
          <a:xfrm>
            <a:off x="566928" y="4626864"/>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 ~ · ↻</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the five READ steps.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a simple fully vowelled word aloud.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sukūn and shadda without an extra vowel.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decode without permanent transliteration.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reread more smoothly without dropping marks.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R in READ stand for?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Right edge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quickly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Repeat</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you NOT do after a sukūn?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Add an extra vowel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 the chunk</a:t>
            </a:r>
            <a:endParaRPr lang="en-US" sz="1250" dirty="0"/>
          </a:p>
        </p:txBody>
      </p:sp>
      <p:sp>
        <p:nvSpPr>
          <p:cNvPr id="38" name="Shape 35"/>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fluency?</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smoother accurate reread</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Racing and dropping vowels</a:t>
            </a:r>
            <a:endParaRPr lang="en-US" sz="1250" dirty="0"/>
          </a:p>
        </p:txBody>
      </p:sp>
      <p:sp>
        <p:nvSpPr>
          <p:cNvPr id="48" name="Shape 45"/>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0" name="Text 47"/>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R in READ stand for?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Right edge</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 quickly</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Repeat</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Start at the right.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you NOT do after a sukūn?</a:t>
            </a:r>
            <a:endParaRPr lang="en-US" sz="1250" dirty="0"/>
          </a:p>
        </p:txBody>
      </p:sp>
      <p:sp>
        <p:nvSpPr>
          <p:cNvPr id="34" name="Shape 31"/>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5328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Add an extra vowel</a:t>
            </a:r>
            <a:endParaRPr lang="en-US" sz="1250" dirty="0"/>
          </a:p>
        </p:txBody>
      </p:sp>
      <p:sp>
        <p:nvSpPr>
          <p:cNvPr id="38" name="Shape 35"/>
          <p:cNvSpPr/>
          <p:nvPr/>
        </p:nvSpPr>
        <p:spPr>
          <a:xfrm>
            <a:off x="4459224" y="29900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 the chunk</a:t>
            </a:r>
            <a:endParaRPr lang="en-US" sz="1250" dirty="0"/>
          </a:p>
        </p:txBody>
      </p:sp>
      <p:sp>
        <p:nvSpPr>
          <p:cNvPr id="41" name="Text 38"/>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mak-, not maka-.</a:t>
            </a:r>
            <a:endParaRPr lang="en-US" sz="1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fluency?</a:t>
            </a:r>
            <a:endParaRPr lang="en-US" sz="1250" dirty="0"/>
          </a:p>
        </p:txBody>
      </p:sp>
      <p:sp>
        <p:nvSpPr>
          <p:cNvPr id="46" name="Shape 43"/>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8278368" y="25328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smoother accurate reread</a:t>
            </a:r>
            <a:endParaRPr lang="en-US" sz="1250" dirty="0"/>
          </a:p>
        </p:txBody>
      </p:sp>
      <p:sp>
        <p:nvSpPr>
          <p:cNvPr id="50" name="Shape 47"/>
          <p:cNvSpPr/>
          <p:nvPr/>
        </p:nvSpPr>
        <p:spPr>
          <a:xfrm>
            <a:off x="8278368" y="299008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Racing and dropping vowels</a:t>
            </a:r>
            <a:endParaRPr lang="en-US" sz="1250" dirty="0"/>
          </a:p>
        </p:txBody>
      </p:sp>
      <p:sp>
        <p:nvSpPr>
          <p:cNvPr id="53" name="Text 50"/>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Accuracy first (website).</a:t>
            </a:r>
            <a:endParaRPr lang="en-US" sz="1050" dirty="0"/>
          </a:p>
        </p:txBody>
      </p:sp>
      <p:sp>
        <p:nvSpPr>
          <p:cNvPr id="54" name="Shape 51"/>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56" name="Text 53"/>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F1-L08 · Reading aloud</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F1-L09: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F1-L09 · Write Clearly, Then Fluently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خَطٌّ</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handwriting, script</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سَطْرٌ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line (of writing)</a:t>
            </a:r>
            <a:pPr indent="0" marL="0">
              <a:buNone/>
            </a:pPr>
            <a:r>
              <a:rPr lang="ar-SA" sz="1000" i="1" dirty="0">
                <a:solidFill>
                  <a:srgbClr val="5A6472"/>
                </a:solidFill>
                <a:latin typeface="Calibri" pitchFamily="34" charset="0"/>
                <a:ea typeface="Amiri" pitchFamily="2" charset="-78"/>
                <a:cs typeface="Amiri" pitchFamily="2" charset="-78"/>
              </a:rPr>
              <a:t>  pl. أَسْطُرٌ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إِمْلَاءٌ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dictation</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دَفْتَرٌ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exercise book</a:t>
            </a:r>
            <a:pPr indent="0" marL="0">
              <a:buNone/>
            </a:pPr>
            <a:r>
              <a:rPr lang="ar-SA" sz="1000" i="1" dirty="0">
                <a:solidFill>
                  <a:srgbClr val="5A6472"/>
                </a:solidFill>
                <a:latin typeface="Calibri" pitchFamily="34" charset="0"/>
                <a:ea typeface="Amiri" pitchFamily="2" charset="-78"/>
                <a:cs typeface="Amiri" pitchFamily="2" charset="-78"/>
              </a:rPr>
              <a:t>  pl. دَفَاتِرُ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قَلَمٌ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pen</a:t>
            </a:r>
            <a:pPr indent="0" marL="0">
              <a:buNone/>
            </a:pPr>
            <a:r>
              <a:rPr lang="ar-SA" sz="1000" i="1" dirty="0">
                <a:solidFill>
                  <a:srgbClr val="5A6472"/>
                </a:solidFill>
                <a:latin typeface="Calibri" pitchFamily="34" charset="0"/>
                <a:ea typeface="Amiri" pitchFamily="2" charset="-78"/>
                <a:cs typeface="Amiri" pitchFamily="2" charset="-78"/>
              </a:rPr>
              <a:t>  pl. أَقْلَامٌ</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Practise your reading strip aloud five times; after each read, note one error type.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حَرْفٌ · عَلَامَةٌ · تَقْطِيعٌ · وَقْفٌ</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F1-L08 · the picture game; read the Level 1 strip five times.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read the Level 2 strip five times; mark one error category each time.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Level 3 strip five times; time reads 1 and 5 only if both are accurate.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F1-L09 · Write Clearly, Then Fluently</a:t>
            </a:r>
            <a:endParaRPr lang="en-US" sz="2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التَّدْرِيبُ عَلَى الكِتَابَةِ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read your strip 5 times + bring a lined book.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F1-L08 · From Marks to Meaning: Reading Aloud</dc:title>
  <dc:subject>PptxGenJS Presentation</dc:subject>
  <dc:creator>Al Madina Online School · Arabic Department</dc:creator>
  <cp:lastModifiedBy>Al Madina Online School · Arabic Department</cp:lastModifiedBy>
  <cp:revision>1</cp:revision>
  <dcterms:created xsi:type="dcterms:W3CDTF">2026-10-11T06:41:18Z</dcterms:created>
  <dcterms:modified xsi:type="dcterms:W3CDTF">2026-10-11T06:41:18Z</dcterms:modified>
</cp:coreProperties>
</file>