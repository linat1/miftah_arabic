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10–20 New letters and sounds · 20–23 Quick check · 23–27 I Do (formation) · 27–38 We Do (listen, sort, detect) · 38–49 You Do (write, then show-and-say) · 49–54 Feedback · 54–56 Preparation.
FLEX slides are optional. Use them if the class is moving quickly; otherwise the same activities are on the website for homework.
Content source: Miftah Arabic website, Pathways › Foundation › F1 Arabic Script &amp; Sounds › Lesson 4 (F1-L04). The website lesson teaches letters 23–28 (ل م ن ه و ي), the two roles of wāw and yāʾ, the six connection breakers, awareness of لا and hamza ء, and the four marks fatḥa, ḍamma, kasra and sukūn with the words كَتَبَ، فَهِمَ، هُوَ، مِنْ. The retrieval check, games, formation tracker, partner tasks and the ten-item final check are the website’s; the vowel picture game is the website game for this lesson.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see · say · select — one letter or vowel card at a time; read بَ بُ بِ بْ. DEVELOP: combine consonants and marks, then blend short fully vowelled words. STRETCH: justify each choice with position, dot, connection or vowel terms.
• Alphabet milestone: all 28 letters today — celebrate, but accurate retrieval (not speed) is the success criterion (website).
• Heritage / Urdu readers know zabar (fatḥa), pesh (ḍamma), zer (kasra) and jazm (sukūn) from Qur’an reading — use those names as the bridge.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1–4 are the website “F1-L03 readiness check” (3–4 → continue; 0–2 → repair the F1-L03 letters and long vowels first). Question 5 tests the home preparation.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Today we finish all 28 letters, and small marks tell us which vowel to say.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Objectives and routes are the website F1-L04 outcomes.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 the Qur’an-reading names students may already know: zabar = fatḥa, pēsh = ḍamma, zēr = kasra, jazm = sukūn, hamza = hamza. Teach the Arabic names, but welcome the familiar ones as a bridge.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LETTERS 23–28 (website Part 1). Standard alphabet positions 23–28; hamza is a separate writing sign.
• ه hāʾ /h/ is a normal h — different from ح (deep breath, F1-L01).
• ن nūn: one dot above a deep bowl — do not confuse with ب ت (they are flat).
• ي yāʾ: two dots BELOW — the only letter with two dots below.
Milestone: recite all 28 together at the end of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WĀW AND YĀʾ (website Part 2): context and vowel marks show whether they are consonants or long-vowel carriers.
The six connection breakers are now complete: ا د ذ ر ز و. “Breaker” means it does not connect to the FOLLOWING letter on its left — it can still join the letter before it (website).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LĀM–ALIF AND HAMZA (website Part 3). Boundary: recognise hamza and its /ʔ/ sound today; do not ask beginners to choose the correct seat yet (website).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THE FOUR MARKS (website Part 4). The first three add a short vowel; sukūn shows that NO short vowel follows that consonant.
Website accuracy point: sukūn is not a “silent letter” — the consonant is pronounced; it just has no vowel after it. In هَلْ the lām is heard and closes the syllable.
Gestures: fatḥa = hand up and open (a); ḍamma = lips rounded (u); kasra = hand points down (i); sukūn = fist, stop.
Colour game (website “Vowel detective”): fatḥa gold, ḍamma blue, kasra green, sukūn purple.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final check questions 2, 3, 7 and 8.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I DO — FORMATION (5 min). Website: write each new letter four times, then check the baseline, dot placement and proportions. Positional forms are previewed only; F1-L05 teaches them.
Then the website “four-way build”: choose a learned consonant and write it with fatḥa, ḍamma, kasra and sukūn (e.g. نَ نُ نِ 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game “Final-Letter Detective” (use shape, dots, sound and role together). Teacher-made items with today’s letters.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then all 28 letters recited together (alphabet milestone).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game “Connection Gate” (classify each final letter; pay special attention to wāw and yāʾ). Revision letters ا ر د added so the six breakers can be reviewed. Stretch: name all six breakers (ا د ذ ر ز 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game “Connection Gate” (classify each final letter; pay special attention to wāw and yāʾ). Revision letters ا ر د added so the six breakers can be reviewed. Stretch: name all six breakers (ا د ذ ر ز 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game “Diacritic Decoder” (name the short vowel or explain the sukūn) and the website lesson game (بَ بِ بُ). Read each item aloud together after answering.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Reveal. Then chorally read the four website words: كَتَبَ · فَهِمَ · هُوَ · مِنْ.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ALOUD (3 min) — the website example words. Routine: point to each letter → say its mark → blend. Echo reading first (teacher, then class), then volunteers (invitation; “pass” allowed).
Heritage precision (website): read in careful MSA and justify every 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YOU DO — WRITING (7 min) = the website homework (all 28 letters, circle the six breakers, write and read بَ بُ بِ بْ and one fully vowelled word) split by route. LIVE FEEDBACK after 3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(the Core prompt is teacher-made).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وَهٰذِهِ الكَلِمَةُ؟ هُوَ (And this word? huwa)
B: هُوَ: ضَمَّةٌ ثُمَّ فَتْحَةٌ. (huwa: ḍamma, then fatḥa.)
FOUR-WAY BUILD (website): A writes a consonant with fatḥa, ḍamma, kasra and sukūn; B reads the four results. Stretch: alphabet milestone — recite all 28 letters in order, then name the six breakers (accuracy, not speed — website).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(2 min) — mix-ups based on the website accuracy points. Students correct in green 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10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PREPARATION — flipped learning (2 min to explain).
Next lesson (F1-L05 · One Letter, Four Positions) will spend class time USING this language, so students prepare it tonight — short, simple, easy to access (school guidance: “Simple, Short, Interesting, Relevant, Easy to access”). Next lesson: letters change shape at the start, middle and end of a word. Look at how ب changes in the three shapes above.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F1  ·  F1-L04</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F1-L04</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Complete the Alphabet &amp; Read Short Vowels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أَكْمِلِ الحُرُوفَ وَاقْرَأِ الحَرَكَاتِ</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Meet the last six letters (</a:t>
            </a:r>
            <a:pPr algn="l" indent="0" marL="0">
              <a:buNone/>
            </a:pPr>
            <a:r>
              <a:rPr lang="ar-SA" altLang="en-US" sz="1800" dirty="0">
                <a:solidFill>
                  <a:srgbClr val="C6D2E6"/>
                </a:solidFill>
                <a:latin typeface="Amiri" pitchFamily="2" charset="-78"/>
                <a:ea typeface="Amiri" pitchFamily="2" charset="-78"/>
                <a:cs typeface="Amiri" pitchFamily="2" charset="-78"/>
              </a:rPr>
              <a:t>ل م ن ه و ي</a:t>
            </a:r>
            <a:pPr algn="l" indent="0" marL="0">
              <a:buNone/>
            </a:pPr>
            <a:r>
              <a:rPr lang="en-US" sz="1400" dirty="0">
                <a:solidFill>
                  <a:srgbClr val="C6D2E6"/>
                </a:solidFill>
                <a:latin typeface="Calibri" pitchFamily="34" charset="0"/>
                <a:cs typeface="Amiri" pitchFamily="2" charset="-78"/>
              </a:rPr>
              <a:t>), see that </a:t>
            </a:r>
            <a:pPr algn="l" indent="0" marL="0">
              <a:buNone/>
            </a:pPr>
            <a:r>
              <a:rPr lang="ar-SA" altLang="en-US" sz="1800" dirty="0">
                <a:solidFill>
                  <a:srgbClr val="C6D2E6"/>
                </a:solidFill>
                <a:latin typeface="Amiri" pitchFamily="2" charset="-78"/>
                <a:ea typeface="Amiri" pitchFamily="2" charset="-78"/>
                <a:cs typeface="Amiri" pitchFamily="2" charset="-78"/>
              </a:rPr>
              <a:t>و</a:t>
            </a:r>
            <a:pPr algn="l" indent="0" marL="0">
              <a:buNone/>
            </a:pPr>
            <a:r>
              <a:rPr lang="en-US" sz="1400" dirty="0">
                <a:solidFill>
                  <a:srgbClr val="C6D2E6"/>
                </a:solidFill>
                <a:latin typeface="Calibri" pitchFamily="34" charset="0"/>
                <a:cs typeface="Amiri" pitchFamily="2" charset="-78"/>
              </a:rPr>
              <a:t> also breaks a connection, and use the four marks — fatḥa, ḍamma, kasra, sukūn — to read your first fully vowelled words.</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F1-L04 · Foundation F1 · Arabic Script &amp; Sounds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complete beginner</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F1 › F1-L04</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F1-L04 · Letters 23–28 + vowels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F1-L04</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29</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F1-L04 · Letters 23–28 + vowels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F1-L04</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The last six letters and four reading marks.</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Final-letter detective, connection gate, vowel decoder.</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F1-L05.</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29</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F1-L04 · Letters 23–28 + vowels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letter ended F1-L03?</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Select ghayn.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غ</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letter can carry long /ū/?</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long is a long vowel in the beginner timing model?</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One beat</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Roughly two beats</a:t>
            </a:r>
            <a:endParaRPr lang="en-US" sz="1250" dirty="0"/>
          </a:p>
        </p:txBody>
      </p:sp>
      <p:sp>
        <p:nvSpPr>
          <p:cNvPr id="64" name="Shape 61"/>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5" name="Shape 62"/>
          <p:cNvSpPr/>
          <p:nvPr/>
        </p:nvSpPr>
        <p:spPr>
          <a:xfrm>
            <a:off x="4404360" y="4288536"/>
            <a:ext cx="310896" cy="310896"/>
          </a:xfrm>
          <a:prstGeom prst="ellipse">
            <a:avLst/>
          </a:prstGeom>
          <a:solidFill>
            <a:srgbClr val="1B3B6F"/>
          </a:solidFill>
          <a:ln w="12700">
            <a:solidFill>
              <a:srgbClr val="1B3B6F"/>
            </a:solidFill>
            <a:prstDash val="solid"/>
          </a:ln>
        </p:spPr>
      </p:sp>
      <p:sp>
        <p:nvSpPr>
          <p:cNvPr id="66" name="Text 63"/>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67" name="Text 64"/>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letter is mīm (prepared at home)?</a:t>
            </a:r>
            <a:endParaRPr lang="en-US" sz="1250" dirty="0"/>
          </a:p>
        </p:txBody>
      </p:sp>
      <p:sp>
        <p:nvSpPr>
          <p:cNvPr id="68" name="Shape 65"/>
          <p:cNvSpPr/>
          <p:nvPr/>
        </p:nvSpPr>
        <p:spPr>
          <a:xfrm>
            <a:off x="4459224" y="4873752"/>
            <a:ext cx="256032" cy="256032"/>
          </a:xfrm>
          <a:prstGeom prst="ellipse">
            <a:avLst/>
          </a:prstGeom>
          <a:solidFill>
            <a:srgbClr val="F4F1EA"/>
          </a:solidFill>
          <a:ln w="12700">
            <a:solidFill>
              <a:srgbClr val="F4F1EA"/>
            </a:solidFill>
            <a:prstDash val="solid"/>
          </a:ln>
        </p:spPr>
      </p:sp>
      <p:sp>
        <p:nvSpPr>
          <p:cNvPr id="69" name="Text 66"/>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0" name="Text 67"/>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a:t>
            </a:r>
            <a:endParaRPr lang="ar-SA" sz="2050" dirty="0"/>
          </a:p>
        </p:txBody>
      </p:sp>
      <p:sp>
        <p:nvSpPr>
          <p:cNvPr id="71" name="Shape 68"/>
          <p:cNvSpPr/>
          <p:nvPr/>
        </p:nvSpPr>
        <p:spPr>
          <a:xfrm>
            <a:off x="4459224" y="53309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3" name="Text 70"/>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a:t>
            </a:r>
            <a:endParaRPr lang="ar-SA" sz="2050" dirty="0"/>
          </a:p>
        </p:txBody>
      </p:sp>
      <p:sp>
        <p:nvSpPr>
          <p:cNvPr id="74" name="Shape 71"/>
          <p:cNvSpPr/>
          <p:nvPr/>
        </p:nvSpPr>
        <p:spPr>
          <a:xfrm>
            <a:off x="4459224" y="57881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6" name="Text 73"/>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a:t>
            </a:r>
            <a:endParaRPr lang="ar-SA" sz="2050" dirty="0"/>
          </a:p>
        </p:txBody>
      </p:sp>
      <p:sp>
        <p:nvSpPr>
          <p:cNvPr id="77" name="Shape 74"/>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78" name="Text 75"/>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79" name="Text 76"/>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0" name="Text 77"/>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1" name="Text 78"/>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2" name="Text 7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29</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F1-L04 · Letters 23–28 + vowels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letter ended F1-L03?</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Letter 22 is </a:t>
            </a:r>
            <a:pPr algn="l" indent="0" marL="0">
              <a:buNone/>
            </a:pPr>
            <a:r>
              <a:rPr lang="ar-SA" altLang="en-US" sz="1350" dirty="0">
                <a:solidFill>
                  <a:srgbClr val="8A6D1E"/>
                </a:solidFill>
                <a:latin typeface="Amiri" pitchFamily="2" charset="-78"/>
                <a:ea typeface="Amiri" pitchFamily="2" charset="-78"/>
                <a:cs typeface="Amiri" pitchFamily="2" charset="-78"/>
              </a:rPr>
              <a:t>ك</a:t>
            </a:r>
            <a:pPr algn="l" indent="0" marL="0">
              <a:buNone/>
            </a:pPr>
            <a:r>
              <a:rPr lang="en-US" sz="1050" i="1" dirty="0">
                <a:solidFill>
                  <a:srgbClr val="8A6D1E"/>
                </a:solidFill>
                <a:latin typeface="Calibri" pitchFamily="34" charset="0"/>
                <a:cs typeface="Amiri" pitchFamily="2" charset="-78"/>
              </a:rPr>
              <a:t> kāf (website retrieval).</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Select ghayn.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غ</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غ</a:t>
            </a:r>
            <a:pPr algn="l" indent="0" marL="0">
              <a:buNone/>
            </a:pPr>
            <a:r>
              <a:rPr lang="en-US" sz="1050" i="1" dirty="0">
                <a:solidFill>
                  <a:srgbClr val="8A6D1E"/>
                </a:solidFill>
                <a:latin typeface="Calibri" pitchFamily="34" charset="0"/>
                <a:cs typeface="Amiri" pitchFamily="2" charset="-78"/>
              </a:rPr>
              <a:t> = ʿayn + one dot.</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letter can carry long /ū/?</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و</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ḍamma + wāw = /ū/.</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long is a long vowel in the beginner timing model?</a:t>
            </a:r>
            <a:endParaRPr lang="en-US" sz="1250" dirty="0"/>
          </a:p>
        </p:txBody>
      </p:sp>
      <p:sp>
        <p:nvSpPr>
          <p:cNvPr id="64" name="Shape 61"/>
          <p:cNvSpPr/>
          <p:nvPr/>
        </p:nvSpPr>
        <p:spPr>
          <a:xfrm>
            <a:off x="640080" y="4873752"/>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One beat</a:t>
            </a:r>
            <a:endParaRPr lang="en-US" sz="1250" dirty="0"/>
          </a:p>
        </p:txBody>
      </p:sp>
      <p:sp>
        <p:nvSpPr>
          <p:cNvPr id="67" name="Shape 64"/>
          <p:cNvSpPr/>
          <p:nvPr/>
        </p:nvSpPr>
        <p:spPr>
          <a:xfrm>
            <a:off x="548640" y="5294376"/>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330952"/>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Roughly two beats</a:t>
            </a:r>
            <a:endParaRPr lang="en-US" sz="1250" dirty="0"/>
          </a:p>
        </p:txBody>
      </p:sp>
      <p:sp>
        <p:nvSpPr>
          <p:cNvPr id="71" name="Text 68"/>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Long = about two beats.</a:t>
            </a:r>
            <a:endParaRPr lang="en-US" sz="1050" dirty="0"/>
          </a:p>
        </p:txBody>
      </p:sp>
      <p:sp>
        <p:nvSpPr>
          <p:cNvPr id="72" name="Shape 69"/>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3" name="Shape 70"/>
          <p:cNvSpPr/>
          <p:nvPr/>
        </p:nvSpPr>
        <p:spPr>
          <a:xfrm>
            <a:off x="4404360" y="4288536"/>
            <a:ext cx="310896" cy="310896"/>
          </a:xfrm>
          <a:prstGeom prst="ellipse">
            <a:avLst/>
          </a:prstGeom>
          <a:solidFill>
            <a:srgbClr val="1B3B6F"/>
          </a:solidFill>
          <a:ln w="12700">
            <a:solidFill>
              <a:srgbClr val="1B3B6F"/>
            </a:solidFill>
            <a:prstDash val="solid"/>
          </a:ln>
        </p:spPr>
      </p:sp>
      <p:sp>
        <p:nvSpPr>
          <p:cNvPr id="74" name="Text 71"/>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5" name="Text 72"/>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letter is mīm (prepared at home)?</a:t>
            </a:r>
            <a:endParaRPr lang="en-US" sz="1250" dirty="0"/>
          </a:p>
        </p:txBody>
      </p:sp>
      <p:sp>
        <p:nvSpPr>
          <p:cNvPr id="76" name="Shape 73"/>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77" name="Shape 74"/>
          <p:cNvSpPr/>
          <p:nvPr/>
        </p:nvSpPr>
        <p:spPr>
          <a:xfrm>
            <a:off x="4459224" y="4831080"/>
            <a:ext cx="256032" cy="256032"/>
          </a:xfrm>
          <a:prstGeom prst="ellipse">
            <a:avLst/>
          </a:prstGeom>
          <a:solidFill>
            <a:srgbClr val="2E8B57"/>
          </a:solidFill>
          <a:ln w="12700">
            <a:solidFill>
              <a:srgbClr val="2E8B57"/>
            </a:solidFill>
            <a:prstDash val="solid"/>
          </a:ln>
        </p:spPr>
      </p:sp>
      <p:sp>
        <p:nvSpPr>
          <p:cNvPr id="78" name="Text 75"/>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79" name="Text 76"/>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a:t>
            </a:r>
            <a:endParaRPr lang="ar-SA" sz="1700" dirty="0"/>
          </a:p>
        </p:txBody>
      </p:sp>
      <p:sp>
        <p:nvSpPr>
          <p:cNvPr id="80" name="Shape 77"/>
          <p:cNvSpPr/>
          <p:nvPr/>
        </p:nvSpPr>
        <p:spPr>
          <a:xfrm>
            <a:off x="4459224" y="5202936"/>
            <a:ext cx="256032" cy="256032"/>
          </a:xfrm>
          <a:prstGeom prst="ellipse">
            <a:avLst/>
          </a:prstGeom>
          <a:solidFill>
            <a:srgbClr val="C9CED6"/>
          </a:solidFill>
          <a:ln w="12700">
            <a:solidFill>
              <a:srgbClr val="C9CED6"/>
            </a:solidFill>
            <a:prstDash val="solid"/>
          </a:ln>
        </p:spPr>
      </p:sp>
      <p:sp>
        <p:nvSpPr>
          <p:cNvPr id="81" name="Text 78"/>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2" name="Text 79"/>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ن</a:t>
            </a:r>
            <a:endParaRPr lang="ar-SA" sz="1700" dirty="0"/>
          </a:p>
        </p:txBody>
      </p:sp>
      <p:sp>
        <p:nvSpPr>
          <p:cNvPr id="83" name="Shape 80"/>
          <p:cNvSpPr/>
          <p:nvPr/>
        </p:nvSpPr>
        <p:spPr>
          <a:xfrm>
            <a:off x="4459224" y="5574792"/>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5" name="Text 82"/>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a:t>
            </a:r>
            <a:endParaRPr lang="ar-SA" sz="1700" dirty="0"/>
          </a:p>
        </p:txBody>
      </p:sp>
      <p:sp>
        <p:nvSpPr>
          <p:cNvPr id="86" name="Text 83"/>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a:t>
            </a:r>
            <a:pPr algn="l" indent="0" marL="0">
              <a:buNone/>
            </a:pPr>
            <a:r>
              <a:rPr lang="ar-SA" altLang="en-US" sz="1350" dirty="0">
                <a:solidFill>
                  <a:srgbClr val="8A6D1E"/>
                </a:solidFill>
                <a:latin typeface="Amiri" pitchFamily="2" charset="-78"/>
                <a:ea typeface="Amiri" pitchFamily="2" charset="-78"/>
                <a:cs typeface="Amiri" pitchFamily="2" charset="-78"/>
              </a:rPr>
              <a:t>م</a:t>
            </a:r>
            <a:pPr algn="l" indent="0" marL="0">
              <a:buNone/>
            </a:pPr>
            <a:r>
              <a:rPr lang="en-US" sz="1050" i="1" dirty="0">
                <a:solidFill>
                  <a:srgbClr val="8A6D1E"/>
                </a:solidFill>
                <a:latin typeface="Calibri" pitchFamily="34" charset="0"/>
                <a:cs typeface="Amiri" pitchFamily="2" charset="-78"/>
              </a:rPr>
              <a:t> mīm /m/.</a:t>
            </a:r>
            <a:endParaRPr lang="en-US" sz="1050" dirty="0"/>
          </a:p>
        </p:txBody>
      </p:sp>
      <p:sp>
        <p:nvSpPr>
          <p:cNvPr id="87" name="Shape 84"/>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88" name="Text 85"/>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89" name="Text 86"/>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Today we finish all 28 letters, and small marks tell us which vowel to say.</a:t>
            </a:r>
            <a:endParaRPr lang="en-US" sz="1300" dirty="0"/>
          </a:p>
        </p:txBody>
      </p:sp>
      <p:sp>
        <p:nvSpPr>
          <p:cNvPr id="90" name="Text 87"/>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بَ   بُ   بِ   بْ</a:t>
            </a:r>
            <a:endParaRPr lang="ar-SA" sz="2400" dirty="0"/>
          </a:p>
        </p:txBody>
      </p:sp>
      <p:sp>
        <p:nvSpPr>
          <p:cNvPr id="91" name="Text 8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29</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F1-L04 · Letters 23–28 + vowels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F1-L04</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Recognise and name letters 23–28.</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Explain the two jobs of </a:t>
            </a:r>
            <a:pPr algn="l" indent="0" marL="0">
              <a:buNone/>
            </a:pPr>
            <a:r>
              <a:rPr lang="ar-SA" altLang="en-US" sz="1700" dirty="0">
                <a:solidFill>
                  <a:srgbClr val="1F2A37"/>
                </a:solidFill>
                <a:latin typeface="Amiri" pitchFamily="2" charset="-78"/>
                <a:ea typeface="Amiri" pitchFamily="2" charset="-78"/>
                <a:cs typeface="Amiri" pitchFamily="2" charset="-78"/>
              </a:rPr>
              <a:t>و</a:t>
            </a:r>
            <a:pPr algn="l" indent="0" marL="0">
              <a:buNone/>
            </a:pPr>
            <a:r>
              <a:rPr lang="en-US" sz="1300" dirty="0">
                <a:solidFill>
                  <a:srgbClr val="1F2A37"/>
                </a:solidFill>
                <a:latin typeface="Calibri" pitchFamily="34" charset="0"/>
                <a:cs typeface="Amiri" pitchFamily="2" charset="-78"/>
              </a:rPr>
              <a:t> and </a:t>
            </a:r>
            <a:pPr algn="l" indent="0" marL="0">
              <a:buNone/>
            </a:pPr>
            <a:r>
              <a:rPr lang="ar-SA" altLang="en-US" sz="1700" dirty="0">
                <a:solidFill>
                  <a:srgbClr val="1F2A37"/>
                </a:solidFill>
                <a:latin typeface="Amiri" pitchFamily="2" charset="-78"/>
                <a:ea typeface="Amiri" pitchFamily="2" charset="-78"/>
                <a:cs typeface="Amiri" pitchFamily="2" charset="-78"/>
              </a:rPr>
              <a:t>ي</a:t>
            </a:r>
            <a:pPr algn="l" indent="0" marL="0">
              <a:buNone/>
            </a:pPr>
            <a:r>
              <a:rPr lang="en-US" sz="1300" dirty="0">
                <a:solidFill>
                  <a:srgbClr val="1F2A37"/>
                </a:solidFill>
                <a:latin typeface="Calibri" pitchFamily="34" charset="0"/>
                <a:cs typeface="Amiri" pitchFamily="2" charset="-78"/>
              </a:rPr>
              <a:t> and name the six breakers.</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Recognise </a:t>
            </a:r>
            <a:pPr algn="l" indent="0" marL="0">
              <a:buNone/>
            </a:pPr>
            <a:r>
              <a:rPr lang="ar-SA" altLang="en-US" sz="1700" dirty="0">
                <a:solidFill>
                  <a:srgbClr val="1F2A37"/>
                </a:solidFill>
                <a:latin typeface="Amiri" pitchFamily="2" charset="-78"/>
                <a:ea typeface="Amiri" pitchFamily="2" charset="-78"/>
                <a:cs typeface="Amiri" pitchFamily="2" charset="-78"/>
              </a:rPr>
              <a:t>لا</a:t>
            </a:r>
            <a:pPr algn="l" indent="0" marL="0">
              <a:buNone/>
            </a:pPr>
            <a:r>
              <a:rPr lang="en-US" sz="1300" dirty="0">
                <a:solidFill>
                  <a:srgbClr val="1F2A37"/>
                </a:solidFill>
                <a:latin typeface="Calibri" pitchFamily="34" charset="0"/>
                <a:cs typeface="Amiri" pitchFamily="2" charset="-78"/>
              </a:rPr>
              <a:t> and hamza </a:t>
            </a:r>
            <a:pPr algn="l" indent="0" marL="0">
              <a:buNone/>
            </a:pPr>
            <a:r>
              <a:rPr lang="ar-SA" altLang="en-US" sz="1700" dirty="0">
                <a:solidFill>
                  <a:srgbClr val="1F2A37"/>
                </a:solidFill>
                <a:latin typeface="Amiri" pitchFamily="2" charset="-78"/>
                <a:ea typeface="Amiri" pitchFamily="2" charset="-78"/>
                <a:cs typeface="Amiri" pitchFamily="2" charset="-78"/>
              </a:rPr>
              <a:t>ء</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Read fatḥa, ḍamma, kasra and sukūn.</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name the last six letters.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read </a:t>
            </a:r>
            <a:pPr algn="l" indent="0" marL="0">
              <a:buNone/>
            </a:pPr>
            <a:r>
              <a:rPr lang="ar-SA" altLang="en-US" sz="1700" b="1" dirty="0">
                <a:solidFill>
                  <a:srgbClr val="2E8B57"/>
                </a:solidFill>
                <a:latin typeface="Amiri" pitchFamily="2" charset="-78"/>
                <a:ea typeface="Amiri" pitchFamily="2" charset="-78"/>
                <a:cs typeface="Amiri" pitchFamily="2" charset="-78"/>
              </a:rPr>
              <a:t>بَ بُ بِ بْ</a:t>
            </a:r>
            <a:pPr algn="l" indent="0" marL="0">
              <a:buNone/>
            </a:pPr>
            <a:r>
              <a:rPr lang="en-US" sz="1300" b="1" dirty="0">
                <a:solidFill>
                  <a:srgbClr val="2E8B57"/>
                </a:solidFill>
                <a:latin typeface="Calibri" pitchFamily="34" charset="0"/>
                <a:cs typeface="Amiri" pitchFamily="2" charset="-78"/>
              </a:rPr>
              <a:t>.</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blend short fully vowelled words.</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explain when </a:t>
            </a:r>
            <a:pPr algn="l" indent="0" marL="0">
              <a:buNone/>
            </a:pPr>
            <a:r>
              <a:rPr lang="ar-SA" altLang="en-US" sz="1700" b="1" dirty="0">
                <a:solidFill>
                  <a:srgbClr val="C9780A"/>
                </a:solidFill>
                <a:latin typeface="Amiri" pitchFamily="2" charset="-78"/>
                <a:ea typeface="Amiri" pitchFamily="2" charset="-78"/>
                <a:cs typeface="Amiri" pitchFamily="2" charset="-78"/>
              </a:rPr>
              <a:t>و</a:t>
            </a:r>
            <a:pPr algn="l" indent="0" marL="0">
              <a:buNone/>
            </a:pPr>
            <a:r>
              <a:rPr lang="en-US" sz="1300" b="1" dirty="0">
                <a:solidFill>
                  <a:srgbClr val="C9780A"/>
                </a:solidFill>
                <a:latin typeface="Calibri" pitchFamily="34" charset="0"/>
                <a:cs typeface="Amiri" pitchFamily="2" charset="-78"/>
              </a:rPr>
              <a:t> and </a:t>
            </a:r>
            <a:pPr algn="l" indent="0" marL="0">
              <a:buNone/>
            </a:pPr>
            <a:r>
              <a:rPr lang="ar-SA" altLang="en-US" sz="1700" b="1" dirty="0">
                <a:solidFill>
                  <a:srgbClr val="C9780A"/>
                </a:solidFill>
                <a:latin typeface="Amiri" pitchFamily="2" charset="-78"/>
                <a:ea typeface="Amiri" pitchFamily="2" charset="-78"/>
                <a:cs typeface="Amiri" pitchFamily="2" charset="-78"/>
              </a:rPr>
              <a:t>ي</a:t>
            </a:r>
            <a:pPr algn="l" indent="0" marL="0">
              <a:buNone/>
            </a:pPr>
            <a:r>
              <a:rPr lang="en-US" sz="1300" b="1" dirty="0">
                <a:solidFill>
                  <a:srgbClr val="C9780A"/>
                </a:solidFill>
                <a:latin typeface="Calibri" pitchFamily="34" charset="0"/>
                <a:cs typeface="Amiri" pitchFamily="2" charset="-78"/>
              </a:rPr>
              <a:t> are consonants or long vowels.</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justify each choice with the correct term.</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recite all 28 letters and name the six breakers.</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29</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6 final letters, 2 special signs and 4 reading marks. After today: all 28 letters!</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Letters 23–28 · 6</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ar-SA" sz="1200" b="1" dirty="0">
                <a:solidFill>
                  <a:srgbClr val="FFFFFF"/>
                </a:solidFill>
                <a:latin typeface="Calibri" pitchFamily="34" charset="0"/>
                <a:ea typeface="Amiri" pitchFamily="2" charset="-78"/>
                <a:cs typeface="Amiri" pitchFamily="2" charset="-78"/>
              </a:rPr>
              <a:t>لا and ء · 2</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Reading marks · 4</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فَتْحَةٌ</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‎زبر‎ </a:t>
            </a:r>
            <a:pPr indent="0" marL="0">
              <a:buNone/>
            </a:pPr>
            <a:r>
              <a:rPr lang="en-US" sz="950" b="1" dirty="0">
                <a:solidFill>
                  <a:srgbClr val="2E8B57"/>
                </a:solidFill>
                <a:latin typeface="Calibri" pitchFamily="34" charset="0"/>
                <a:cs typeface="Amiri" pitchFamily="2" charset="-78"/>
              </a:rPr>
              <a:t> zabar · fatḥa · short a</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ضَمَّةٌ</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‎پیش‎ </a:t>
            </a:r>
            <a:pPr indent="0" marL="0">
              <a:buNone/>
            </a:pPr>
            <a:r>
              <a:rPr lang="en-US" sz="950" b="1" dirty="0">
                <a:solidFill>
                  <a:srgbClr val="2E8B57"/>
                </a:solidFill>
                <a:latin typeface="Calibri" pitchFamily="34" charset="0"/>
                <a:cs typeface="Amiri" pitchFamily="2" charset="-78"/>
              </a:rPr>
              <a:t> pēsh · ḍamma · short u</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كَسْرَةٌ</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‎زیر‎ </a:t>
            </a:r>
            <a:pPr indent="0" marL="0">
              <a:buNone/>
            </a:pPr>
            <a:r>
              <a:rPr lang="en-US" sz="950" b="1" dirty="0">
                <a:solidFill>
                  <a:srgbClr val="2E8B57"/>
                </a:solidFill>
                <a:latin typeface="Calibri" pitchFamily="34" charset="0"/>
                <a:cs typeface="Amiri" pitchFamily="2" charset="-78"/>
              </a:rPr>
              <a:t> zēr · kasra · short i</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سُكُونٌ</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‎جزم‎ </a:t>
            </a:r>
            <a:pPr indent="0" marL="0">
              <a:buNone/>
            </a:pPr>
            <a:r>
              <a:rPr lang="en-US" sz="950" b="1" dirty="0">
                <a:solidFill>
                  <a:srgbClr val="2E8B57"/>
                </a:solidFill>
                <a:latin typeface="Calibri" pitchFamily="34" charset="0"/>
                <a:cs typeface="Amiri" pitchFamily="2" charset="-78"/>
              </a:rPr>
              <a:t> jazm · sukūn · no vowel</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هَمْزَةٌ</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‎ہمزہ‎ </a:t>
            </a:r>
            <a:pPr indent="0" marL="0">
              <a:buNone/>
            </a:pPr>
            <a:r>
              <a:rPr lang="en-US" sz="950" b="1" dirty="0">
                <a:solidFill>
                  <a:srgbClr val="2E8B57"/>
                </a:solidFill>
                <a:latin typeface="Calibri" pitchFamily="34" charset="0"/>
                <a:cs typeface="Amiri" pitchFamily="2" charset="-78"/>
              </a:rPr>
              <a:t> hamza · hamza · /ʔ/</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29</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F1-L04 · Letters 23–28 + vowels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LETTERS · LETTERS 23–28 (WEBSITE PART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last six letters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آخِرُ سِتَّةِ حُرُوفٍ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F1-L04</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833933"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letter 23</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300" b="1" dirty="0">
                <a:solidFill>
                  <a:srgbClr val="1B3B6F"/>
                </a:solidFill>
                <a:latin typeface="Amiri" pitchFamily="2" charset="-78"/>
                <a:ea typeface="Amiri" pitchFamily="2" charset="-78"/>
                <a:cs typeface="Amiri" pitchFamily="2" charset="-78"/>
              </a:rPr>
              <a:t>ل</a:t>
            </a:r>
            <a:endParaRPr lang="ar-SA" sz="33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lām — /l/</a:t>
            </a:r>
            <a:endParaRPr lang="en-US" sz="1350" dirty="0"/>
          </a:p>
          <a:p>
            <a:pPr indent="0" marL="0">
              <a:buNone/>
            </a:pPr>
            <a:r>
              <a:rPr lang="en-US" sz="1100" i="1" dirty="0">
                <a:solidFill>
                  <a:srgbClr val="5A6472"/>
                </a:solidFill>
                <a:latin typeface="Calibri" pitchFamily="34" charset="0"/>
                <a:cs typeface="Amiri" pitchFamily="2" charset="-78"/>
              </a:rPr>
              <a:t>tall stem · connector</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name</a:t>
            </a:r>
            <a:endParaRPr lang="en-US" sz="700" dirty="0"/>
          </a:p>
        </p:txBody>
      </p:sp>
      <p:sp>
        <p:nvSpPr>
          <p:cNvPr id="26" name="Text 23"/>
          <p:cNvSpPr txBox="1"/>
          <p:nvPr/>
        </p:nvSpPr>
        <p:spPr>
          <a:xfrm>
            <a:off x="8284464"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لَامٌ</a:t>
            </a:r>
            <a:endParaRPr lang="ar-SA" sz="135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0" name="Shape 27"/>
          <p:cNvSpPr/>
          <p:nvPr/>
        </p:nvSpPr>
        <p:spPr>
          <a:xfrm>
            <a:off x="4782312" y="1938528"/>
            <a:ext cx="833933"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4782312"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letter 24</a:t>
            </a:r>
            <a:endParaRPr lang="en-US" sz="800" dirty="0"/>
          </a:p>
        </p:txBody>
      </p:sp>
      <p:sp>
        <p:nvSpPr>
          <p:cNvPr id="32" name="Shape 29"/>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300" b="1" dirty="0">
                <a:solidFill>
                  <a:srgbClr val="1B3B6F"/>
                </a:solidFill>
                <a:latin typeface="Amiri" pitchFamily="2" charset="-78"/>
                <a:ea typeface="Amiri" pitchFamily="2" charset="-78"/>
                <a:cs typeface="Amiri" pitchFamily="2" charset="-78"/>
              </a:rPr>
              <a:t>م</a:t>
            </a:r>
            <a:endParaRPr lang="ar-SA" sz="3300" dirty="0"/>
          </a:p>
        </p:txBody>
      </p:sp>
      <p:sp>
        <p:nvSpPr>
          <p:cNvPr id="35" name="Text 32"/>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mīm — /m/</a:t>
            </a:r>
            <a:endParaRPr lang="en-US" sz="1350" dirty="0"/>
          </a:p>
          <a:p>
            <a:pPr indent="0" marL="0">
              <a:buNone/>
            </a:pPr>
            <a:r>
              <a:rPr lang="en-US" sz="1100" i="1" dirty="0">
                <a:solidFill>
                  <a:srgbClr val="5A6472"/>
                </a:solidFill>
                <a:latin typeface="Calibri" pitchFamily="34" charset="0"/>
                <a:cs typeface="Amiri" pitchFamily="2" charset="-78"/>
              </a:rPr>
              <a:t>rounded head · connector</a:t>
            </a:r>
            <a:endParaRPr lang="en-US" sz="1350" dirty="0"/>
          </a:p>
        </p:txBody>
      </p:sp>
      <p:sp>
        <p:nvSpPr>
          <p:cNvPr id="36" name="Shape 33"/>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name</a:t>
            </a:r>
            <a:endParaRPr lang="en-US" sz="700" dirty="0"/>
          </a:p>
        </p:txBody>
      </p:sp>
      <p:sp>
        <p:nvSpPr>
          <p:cNvPr id="38" name="Text 35"/>
          <p:cNvSpPr txBox="1"/>
          <p:nvPr/>
        </p:nvSpPr>
        <p:spPr>
          <a:xfrm>
            <a:off x="4462272"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مِيمٌ</a:t>
            </a:r>
            <a:endParaRPr lang="ar-SA" sz="1350" dirty="0"/>
          </a:p>
        </p:txBody>
      </p:sp>
      <p:sp>
        <p:nvSpPr>
          <p:cNvPr id="39" name="Shape 3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66928" y="1920240"/>
            <a:ext cx="310896" cy="310896"/>
          </a:xfrm>
          <a:prstGeom prst="ellipse">
            <a:avLst/>
          </a:prstGeom>
          <a:solidFill>
            <a:srgbClr val="F4F1EA"/>
          </a:solidFill>
          <a:ln w="12700">
            <a:solidFill>
              <a:srgbClr val="F4F1EA"/>
            </a:solidFill>
            <a:prstDash val="solid"/>
          </a:ln>
        </p:spPr>
      </p:sp>
      <p:sp>
        <p:nvSpPr>
          <p:cNvPr id="41" name="Text 3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2" name="Shape 39"/>
          <p:cNvSpPr/>
          <p:nvPr/>
        </p:nvSpPr>
        <p:spPr>
          <a:xfrm>
            <a:off x="960120" y="1938528"/>
            <a:ext cx="833933" cy="256032"/>
          </a:xfrm>
          <a:prstGeom prst="roundRect">
            <a:avLst>
              <a:gd name="adj" fmla="val 50000"/>
            </a:avLst>
          </a:prstGeom>
          <a:solidFill>
            <a:srgbClr val="EFE7D2"/>
          </a:solidFill>
          <a:ln w="12700">
            <a:solidFill>
              <a:srgbClr val="EFE7D2"/>
            </a:solidFill>
            <a:prstDash val="solid"/>
          </a:ln>
        </p:spPr>
      </p:sp>
      <p:sp>
        <p:nvSpPr>
          <p:cNvPr id="43" name="Text 40"/>
          <p:cNvSpPr txBox="1"/>
          <p:nvPr/>
        </p:nvSpPr>
        <p:spPr>
          <a:xfrm>
            <a:off x="960120"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letter 25</a:t>
            </a:r>
            <a:endParaRPr lang="en-US" sz="800" dirty="0"/>
          </a:p>
        </p:txBody>
      </p:sp>
      <p:sp>
        <p:nvSpPr>
          <p:cNvPr id="44" name="Shape 4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300" b="1" dirty="0">
                <a:solidFill>
                  <a:srgbClr val="1B3B6F"/>
                </a:solidFill>
                <a:latin typeface="Amiri" pitchFamily="2" charset="-78"/>
                <a:ea typeface="Amiri" pitchFamily="2" charset="-78"/>
                <a:cs typeface="Amiri" pitchFamily="2" charset="-78"/>
              </a:rPr>
              <a:t>ن</a:t>
            </a:r>
            <a:endParaRPr lang="ar-SA" sz="3300" dirty="0"/>
          </a:p>
        </p:txBody>
      </p:sp>
      <p:sp>
        <p:nvSpPr>
          <p:cNvPr id="47" name="Text 4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nūn — /n/</a:t>
            </a:r>
            <a:endParaRPr lang="en-US" sz="1350" dirty="0"/>
          </a:p>
          <a:p>
            <a:pPr indent="0" marL="0">
              <a:buNone/>
            </a:pPr>
            <a:r>
              <a:rPr lang="en-US" sz="1100" i="1" dirty="0">
                <a:solidFill>
                  <a:srgbClr val="5A6472"/>
                </a:solidFill>
                <a:latin typeface="Calibri" pitchFamily="34" charset="0"/>
                <a:cs typeface="Amiri" pitchFamily="2" charset="-78"/>
              </a:rPr>
              <a:t>ONE dot above · connector</a:t>
            </a:r>
            <a:endParaRPr lang="en-US" sz="1350" dirty="0"/>
          </a:p>
        </p:txBody>
      </p:sp>
      <p:sp>
        <p:nvSpPr>
          <p:cNvPr id="48" name="Shape 45"/>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name</a:t>
            </a:r>
            <a:endParaRPr lang="en-US" sz="700" dirty="0"/>
          </a:p>
        </p:txBody>
      </p:sp>
      <p:sp>
        <p:nvSpPr>
          <p:cNvPr id="50" name="Text 47"/>
          <p:cNvSpPr txBox="1"/>
          <p:nvPr/>
        </p:nvSpPr>
        <p:spPr>
          <a:xfrm>
            <a:off x="640080"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نُونٌ</a:t>
            </a:r>
            <a:endParaRPr lang="ar-SA" sz="1350" dirty="0"/>
          </a:p>
        </p:txBody>
      </p:sp>
      <p:sp>
        <p:nvSpPr>
          <p:cNvPr id="51" name="Shape 4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8211312" y="4261104"/>
            <a:ext cx="310896" cy="310896"/>
          </a:xfrm>
          <a:prstGeom prst="ellipse">
            <a:avLst/>
          </a:prstGeom>
          <a:solidFill>
            <a:srgbClr val="F4F1EA"/>
          </a:solidFill>
          <a:ln w="12700">
            <a:solidFill>
              <a:srgbClr val="F4F1EA"/>
            </a:solidFill>
            <a:prstDash val="solid"/>
          </a:ln>
        </p:spPr>
      </p:sp>
      <p:sp>
        <p:nvSpPr>
          <p:cNvPr id="53" name="Text 5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54" name="Shape 51"/>
          <p:cNvSpPr/>
          <p:nvPr/>
        </p:nvSpPr>
        <p:spPr>
          <a:xfrm>
            <a:off x="8604504" y="4279392"/>
            <a:ext cx="833933"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8604504"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letter 26</a:t>
            </a:r>
            <a:endParaRPr lang="en-US" sz="800" dirty="0"/>
          </a:p>
        </p:txBody>
      </p:sp>
      <p:sp>
        <p:nvSpPr>
          <p:cNvPr id="56" name="Shape 53"/>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8" name="Text 55"/>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300" b="1" dirty="0">
                <a:solidFill>
                  <a:srgbClr val="1B3B6F"/>
                </a:solidFill>
                <a:latin typeface="Amiri" pitchFamily="2" charset="-78"/>
                <a:ea typeface="Amiri" pitchFamily="2" charset="-78"/>
                <a:cs typeface="Amiri" pitchFamily="2" charset="-78"/>
              </a:rPr>
              <a:t>ه</a:t>
            </a:r>
            <a:endParaRPr lang="ar-SA" sz="3300" dirty="0"/>
          </a:p>
        </p:txBody>
      </p:sp>
      <p:sp>
        <p:nvSpPr>
          <p:cNvPr id="59" name="Text 56"/>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hāʾ — /h/ (hat)</a:t>
            </a:r>
            <a:endParaRPr lang="en-US" sz="1350" dirty="0"/>
          </a:p>
          <a:p>
            <a:pPr indent="0" marL="0">
              <a:buNone/>
            </a:pPr>
            <a:r>
              <a:rPr lang="en-US" sz="1100" i="1" dirty="0">
                <a:solidFill>
                  <a:srgbClr val="5A6472"/>
                </a:solidFill>
                <a:latin typeface="Calibri" pitchFamily="34" charset="0"/>
                <a:cs typeface="Amiri" pitchFamily="2" charset="-78"/>
              </a:rPr>
              <a:t>open loop · connector</a:t>
            </a:r>
            <a:endParaRPr lang="en-US" sz="1350" dirty="0"/>
          </a:p>
        </p:txBody>
      </p:sp>
      <p:sp>
        <p:nvSpPr>
          <p:cNvPr id="60" name="Shape 57"/>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name</a:t>
            </a:r>
            <a:endParaRPr lang="en-US" sz="700" dirty="0"/>
          </a:p>
        </p:txBody>
      </p:sp>
      <p:sp>
        <p:nvSpPr>
          <p:cNvPr id="62" name="Text 59"/>
          <p:cNvSpPr txBox="1"/>
          <p:nvPr/>
        </p:nvSpPr>
        <p:spPr>
          <a:xfrm>
            <a:off x="8284464"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هَاءٌ</a:t>
            </a:r>
            <a:endParaRPr lang="ar-SA" sz="1350" dirty="0"/>
          </a:p>
        </p:txBody>
      </p:sp>
      <p:sp>
        <p:nvSpPr>
          <p:cNvPr id="63" name="Shape 6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4389120" y="4261104"/>
            <a:ext cx="310896" cy="310896"/>
          </a:xfrm>
          <a:prstGeom prst="ellipse">
            <a:avLst/>
          </a:prstGeom>
          <a:solidFill>
            <a:srgbClr val="F4F1EA"/>
          </a:solidFill>
          <a:ln w="12700">
            <a:solidFill>
              <a:srgbClr val="F4F1EA"/>
            </a:solidFill>
            <a:prstDash val="solid"/>
          </a:ln>
        </p:spPr>
      </p:sp>
      <p:sp>
        <p:nvSpPr>
          <p:cNvPr id="65" name="Text 6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66" name="Shape 63"/>
          <p:cNvSpPr/>
          <p:nvPr/>
        </p:nvSpPr>
        <p:spPr>
          <a:xfrm>
            <a:off x="4782312" y="4279392"/>
            <a:ext cx="833933" cy="256032"/>
          </a:xfrm>
          <a:prstGeom prst="roundRect">
            <a:avLst>
              <a:gd name="adj" fmla="val 50000"/>
            </a:avLst>
          </a:prstGeom>
          <a:solidFill>
            <a:srgbClr val="EFE7D2"/>
          </a:solidFill>
          <a:ln w="12700">
            <a:solidFill>
              <a:srgbClr val="EFE7D2"/>
            </a:solidFill>
            <a:prstDash val="solid"/>
          </a:ln>
        </p:spPr>
      </p:sp>
      <p:sp>
        <p:nvSpPr>
          <p:cNvPr id="67" name="Text 64"/>
          <p:cNvSpPr txBox="1"/>
          <p:nvPr/>
        </p:nvSpPr>
        <p:spPr>
          <a:xfrm>
            <a:off x="4782312"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letter 27</a:t>
            </a:r>
            <a:endParaRPr lang="en-US" sz="800" dirty="0"/>
          </a:p>
        </p:txBody>
      </p:sp>
      <p:sp>
        <p:nvSpPr>
          <p:cNvPr id="68" name="Shape 65"/>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9" name="Text 66"/>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0" name="Text 67"/>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300" b="1" dirty="0">
                <a:solidFill>
                  <a:srgbClr val="1B3B6F"/>
                </a:solidFill>
                <a:latin typeface="Amiri" pitchFamily="2" charset="-78"/>
                <a:ea typeface="Amiri" pitchFamily="2" charset="-78"/>
                <a:cs typeface="Amiri" pitchFamily="2" charset="-78"/>
              </a:rPr>
              <a:t>و</a:t>
            </a:r>
            <a:endParaRPr lang="ar-SA" sz="3300" dirty="0"/>
          </a:p>
        </p:txBody>
      </p:sp>
      <p:sp>
        <p:nvSpPr>
          <p:cNvPr id="71" name="Text 68"/>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wāw — /w/ or long ū</a:t>
            </a:r>
            <a:endParaRPr lang="en-US" sz="1350" dirty="0"/>
          </a:p>
          <a:p>
            <a:pPr indent="0" marL="0">
              <a:buNone/>
            </a:pPr>
            <a:r>
              <a:rPr lang="en-US" sz="1100" i="1" dirty="0">
                <a:solidFill>
                  <a:srgbClr val="5A6472"/>
                </a:solidFill>
                <a:latin typeface="Calibri" pitchFamily="34" charset="0"/>
                <a:cs typeface="Amiri" pitchFamily="2" charset="-78"/>
              </a:rPr>
              <a:t>BREAKER</a:t>
            </a:r>
            <a:endParaRPr lang="en-US" sz="1350" dirty="0"/>
          </a:p>
        </p:txBody>
      </p:sp>
      <p:sp>
        <p:nvSpPr>
          <p:cNvPr id="72" name="Shape 69"/>
          <p:cNvSpPr/>
          <p:nvPr/>
        </p:nvSpPr>
        <p:spPr>
          <a:xfrm>
            <a:off x="4416552" y="5779008"/>
            <a:ext cx="3364992"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4471416"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name</a:t>
            </a:r>
            <a:endParaRPr lang="en-US" sz="700" dirty="0"/>
          </a:p>
        </p:txBody>
      </p:sp>
      <p:sp>
        <p:nvSpPr>
          <p:cNvPr id="74" name="Text 71"/>
          <p:cNvSpPr txBox="1"/>
          <p:nvPr/>
        </p:nvSpPr>
        <p:spPr>
          <a:xfrm>
            <a:off x="4462272"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وَاوٌ</a:t>
            </a:r>
            <a:endParaRPr lang="ar-SA" sz="1350" dirty="0"/>
          </a:p>
        </p:txBody>
      </p:sp>
      <p:sp>
        <p:nvSpPr>
          <p:cNvPr id="75" name="Shape 7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566928" y="4261104"/>
            <a:ext cx="310896" cy="310896"/>
          </a:xfrm>
          <a:prstGeom prst="ellipse">
            <a:avLst/>
          </a:prstGeom>
          <a:solidFill>
            <a:srgbClr val="F4F1EA"/>
          </a:solidFill>
          <a:ln w="12700">
            <a:solidFill>
              <a:srgbClr val="F4F1EA"/>
            </a:solidFill>
            <a:prstDash val="solid"/>
          </a:ln>
        </p:spPr>
      </p:sp>
      <p:sp>
        <p:nvSpPr>
          <p:cNvPr id="77" name="Text 7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78" name="Shape 75"/>
          <p:cNvSpPr/>
          <p:nvPr/>
        </p:nvSpPr>
        <p:spPr>
          <a:xfrm>
            <a:off x="960120" y="4279392"/>
            <a:ext cx="833933" cy="256032"/>
          </a:xfrm>
          <a:prstGeom prst="roundRect">
            <a:avLst>
              <a:gd name="adj" fmla="val 50000"/>
            </a:avLst>
          </a:prstGeom>
          <a:solidFill>
            <a:srgbClr val="EFE7D2"/>
          </a:solidFill>
          <a:ln w="12700">
            <a:solidFill>
              <a:srgbClr val="EFE7D2"/>
            </a:solidFill>
            <a:prstDash val="solid"/>
          </a:ln>
        </p:spPr>
      </p:sp>
      <p:sp>
        <p:nvSpPr>
          <p:cNvPr id="79" name="Text 76"/>
          <p:cNvSpPr txBox="1"/>
          <p:nvPr/>
        </p:nvSpPr>
        <p:spPr>
          <a:xfrm>
            <a:off x="960120"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letter 28</a:t>
            </a:r>
            <a:endParaRPr lang="en-US" sz="800" dirty="0"/>
          </a:p>
        </p:txBody>
      </p:sp>
      <p:sp>
        <p:nvSpPr>
          <p:cNvPr id="80" name="Shape 77"/>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81" name="Text 78"/>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82" name="Text 79"/>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300" b="1" dirty="0">
                <a:solidFill>
                  <a:srgbClr val="1B3B6F"/>
                </a:solidFill>
                <a:latin typeface="Amiri" pitchFamily="2" charset="-78"/>
                <a:ea typeface="Amiri" pitchFamily="2" charset="-78"/>
                <a:cs typeface="Amiri" pitchFamily="2" charset="-78"/>
              </a:rPr>
              <a:t>ي</a:t>
            </a:r>
            <a:endParaRPr lang="ar-SA" sz="3300" dirty="0"/>
          </a:p>
        </p:txBody>
      </p:sp>
      <p:sp>
        <p:nvSpPr>
          <p:cNvPr id="83" name="Text 80"/>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yāʾ — /y/ or long ī</a:t>
            </a:r>
            <a:endParaRPr lang="en-US" sz="1350" dirty="0"/>
          </a:p>
          <a:p>
            <a:pPr indent="0" marL="0">
              <a:buNone/>
            </a:pPr>
            <a:r>
              <a:rPr lang="en-US" sz="1100" i="1" dirty="0">
                <a:solidFill>
                  <a:srgbClr val="5A6472"/>
                </a:solidFill>
                <a:latin typeface="Calibri" pitchFamily="34" charset="0"/>
                <a:cs typeface="Amiri" pitchFamily="2" charset="-78"/>
              </a:rPr>
              <a:t>TWO dots BELOW · connector</a:t>
            </a:r>
            <a:endParaRPr lang="en-US" sz="1350" dirty="0"/>
          </a:p>
        </p:txBody>
      </p:sp>
      <p:sp>
        <p:nvSpPr>
          <p:cNvPr id="84" name="Shape 81"/>
          <p:cNvSpPr/>
          <p:nvPr/>
        </p:nvSpPr>
        <p:spPr>
          <a:xfrm>
            <a:off x="594360" y="5779008"/>
            <a:ext cx="3364992" cy="438912"/>
          </a:xfrm>
          <a:prstGeom prst="roundRect">
            <a:avLst>
              <a:gd name="adj" fmla="val 10417"/>
            </a:avLst>
          </a:prstGeom>
          <a:solidFill>
            <a:srgbClr val="F4F1EA"/>
          </a:solidFill>
          <a:ln w="9525">
            <a:solidFill>
              <a:srgbClr val="F4F1EA"/>
            </a:solidFill>
            <a:prstDash val="solid"/>
          </a:ln>
        </p:spPr>
      </p:sp>
      <p:sp>
        <p:nvSpPr>
          <p:cNvPr id="85" name="Text 82"/>
          <p:cNvSpPr txBox="1"/>
          <p:nvPr/>
        </p:nvSpPr>
        <p:spPr>
          <a:xfrm>
            <a:off x="649224"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name</a:t>
            </a:r>
            <a:endParaRPr lang="en-US" sz="700" dirty="0"/>
          </a:p>
        </p:txBody>
      </p:sp>
      <p:sp>
        <p:nvSpPr>
          <p:cNvPr id="86" name="Text 83"/>
          <p:cNvSpPr txBox="1"/>
          <p:nvPr/>
        </p:nvSpPr>
        <p:spPr>
          <a:xfrm>
            <a:off x="640080"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يَاءٌ</a:t>
            </a:r>
            <a:endParaRPr lang="ar-SA" sz="1350" dirty="0"/>
          </a:p>
        </p:txBody>
      </p:sp>
      <p:sp>
        <p:nvSpPr>
          <p:cNvPr id="87" name="Text 8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29</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F1-L04 · Letters 23–28 + vowels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TEACHER INSTRUCTION · ONE LETTER, MORE THAN ONE JOB (WEBSITE PART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wāw and yāʾ have two jobs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الوَاوُ وَاليَاءُ</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F1-L04</a:t>
            </a:r>
            <a:endParaRPr lang="en-US" sz="850" dirty="0"/>
          </a:p>
        </p:txBody>
      </p:sp>
      <p:sp>
        <p:nvSpPr>
          <p:cNvPr id="15" name="Shape 12"/>
          <p:cNvSpPr/>
          <p:nvPr/>
        </p:nvSpPr>
        <p:spPr>
          <a:xfrm>
            <a:off x="8095488" y="1810512"/>
            <a:ext cx="3636264" cy="431596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165860" cy="274320"/>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8232648" y="1920240"/>
            <a:ext cx="1165860" cy="274320"/>
          </a:xfrm>
          <a:prstGeom prst="rect">
            <a:avLst/>
          </a:prstGeom>
          <a:noFill/>
          <a:ln/>
        </p:spPr>
        <p:txBody>
          <a:bodyPr wrap="square" lIns="0" tIns="0" rIns="0" bIns="0" rtlCol="0" anchor="ctr"/>
          <a:lstStyle/>
          <a:p>
            <a:pPr algn="ctr" indent="0" marL="0">
              <a:buNone/>
            </a:pPr>
            <a:r>
              <a:rPr lang="ar-SA" sz="850" b="1" spc="100" kern="0" dirty="0">
                <a:solidFill>
                  <a:srgbClr val="FFFFFF"/>
                </a:solidFill>
                <a:latin typeface="Calibri" pitchFamily="34" charset="0"/>
                <a:ea typeface="Amiri" pitchFamily="2" charset="-78"/>
                <a:cs typeface="Amiri" pitchFamily="2" charset="-78"/>
              </a:rPr>
              <a:t>و · CONSONANT</a:t>
            </a:r>
            <a:endParaRPr lang="en-US" sz="850" dirty="0"/>
          </a:p>
        </p:txBody>
      </p:sp>
      <p:sp>
        <p:nvSpPr>
          <p:cNvPr id="18" name="Text 15"/>
          <p:cNvSpPr txBox="1"/>
          <p:nvPr/>
        </p:nvSpPr>
        <p:spPr>
          <a:xfrm>
            <a:off x="9444228" y="1874520"/>
            <a:ext cx="2150364" cy="365760"/>
          </a:xfrm>
          <a:prstGeom prst="rect">
            <a:avLst/>
          </a:prstGeom>
          <a:noFill/>
          <a:ln/>
        </p:spPr>
        <p:txBody>
          <a:bodyPr wrap="square" lIns="0" tIns="0" rIns="0" bIns="0" rtlCol="0" anchor="ctr"/>
          <a:lstStyle/>
          <a:p>
            <a:pPr algn="l" indent="0" marL="0">
              <a:buNone/>
            </a:pPr>
            <a:r>
              <a:rPr lang="en-US" sz="1600" b="1" dirty="0">
                <a:solidFill>
                  <a:srgbClr val="8A6D1E"/>
                </a:solidFill>
                <a:latin typeface="Calibri" pitchFamily="34" charset="0"/>
                <a:cs typeface="Amiri" pitchFamily="2" charset="-78"/>
              </a:rPr>
              <a:t>/w/</a:t>
            </a:r>
            <a:endParaRPr lang="en-US"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وَ</a:t>
            </a:r>
            <a:endParaRPr lang="ar-SA" sz="32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wa — wāw has its own vowel, so it is /w/.</a:t>
            </a:r>
            <a:endParaRPr lang="en-US" sz="1200" dirty="0"/>
          </a:p>
        </p:txBody>
      </p:sp>
      <p:sp>
        <p:nvSpPr>
          <p:cNvPr id="21" name="Shape 18"/>
          <p:cNvSpPr/>
          <p:nvPr/>
        </p:nvSpPr>
        <p:spPr>
          <a:xfrm>
            <a:off x="8205216" y="5212080"/>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5248656"/>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Compare: </a:t>
            </a:r>
            <a:pPr algn="l" indent="0" marL="0">
              <a:buNone/>
            </a:pPr>
            <a:r>
              <a:rPr lang="ar-SA" altLang="en-US" sz="1450" dirty="0">
                <a:solidFill>
                  <a:srgbClr val="1F2A37"/>
                </a:solidFill>
                <a:latin typeface="Amiri" pitchFamily="2" charset="-78"/>
                <a:ea typeface="Amiri" pitchFamily="2" charset="-78"/>
                <a:cs typeface="Amiri" pitchFamily="2" charset="-78"/>
              </a:rPr>
              <a:t>بُو</a:t>
            </a:r>
            <a:pPr algn="l" indent="0" marL="0">
              <a:buNone/>
            </a:pPr>
            <a:r>
              <a:rPr lang="en-US" sz="1100" dirty="0">
                <a:solidFill>
                  <a:srgbClr val="1F2A37"/>
                </a:solidFill>
                <a:latin typeface="Calibri" pitchFamily="34" charset="0"/>
                <a:cs typeface="Amiri" pitchFamily="2" charset="-78"/>
              </a:rPr>
              <a:t> = long ū (ḍamma before it matches).</a:t>
            </a:r>
            <a:endParaRPr lang="en-US" sz="1100" dirty="0"/>
          </a:p>
        </p:txBody>
      </p:sp>
      <p:sp>
        <p:nvSpPr>
          <p:cNvPr id="23" name="Shape 20"/>
          <p:cNvSpPr/>
          <p:nvPr/>
        </p:nvSpPr>
        <p:spPr>
          <a:xfrm>
            <a:off x="4276344" y="1810512"/>
            <a:ext cx="3636264" cy="431596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165860" cy="274320"/>
          </a:xfrm>
          <a:prstGeom prst="roundRect">
            <a:avLst>
              <a:gd name="adj" fmla="val 50000"/>
            </a:avLst>
          </a:prstGeom>
          <a:solidFill>
            <a:srgbClr val="0E7C86"/>
          </a:solidFill>
          <a:ln w="12700">
            <a:solidFill>
              <a:srgbClr val="0E7C86"/>
            </a:solidFill>
            <a:prstDash val="solid"/>
          </a:ln>
        </p:spPr>
      </p:sp>
      <p:sp>
        <p:nvSpPr>
          <p:cNvPr id="25" name="Text 22"/>
          <p:cNvSpPr txBox="1"/>
          <p:nvPr/>
        </p:nvSpPr>
        <p:spPr>
          <a:xfrm>
            <a:off x="4413504" y="1920240"/>
            <a:ext cx="1165860" cy="274320"/>
          </a:xfrm>
          <a:prstGeom prst="rect">
            <a:avLst/>
          </a:prstGeom>
          <a:noFill/>
          <a:ln/>
        </p:spPr>
        <p:txBody>
          <a:bodyPr wrap="square" lIns="0" tIns="0" rIns="0" bIns="0" rtlCol="0" anchor="ctr"/>
          <a:lstStyle/>
          <a:p>
            <a:pPr algn="ctr" indent="0" marL="0">
              <a:buNone/>
            </a:pPr>
            <a:r>
              <a:rPr lang="ar-SA" sz="850" b="1" spc="100" kern="0" dirty="0">
                <a:solidFill>
                  <a:srgbClr val="FFFFFF"/>
                </a:solidFill>
                <a:latin typeface="Calibri" pitchFamily="34" charset="0"/>
                <a:ea typeface="Amiri" pitchFamily="2" charset="-78"/>
                <a:cs typeface="Amiri" pitchFamily="2" charset="-78"/>
              </a:rPr>
              <a:t>ي · CONSONANT</a:t>
            </a:r>
            <a:endParaRPr lang="en-US" sz="850" dirty="0"/>
          </a:p>
        </p:txBody>
      </p:sp>
      <p:sp>
        <p:nvSpPr>
          <p:cNvPr id="26" name="Text 23"/>
          <p:cNvSpPr txBox="1"/>
          <p:nvPr/>
        </p:nvSpPr>
        <p:spPr>
          <a:xfrm>
            <a:off x="5625084" y="1874520"/>
            <a:ext cx="2150364" cy="365760"/>
          </a:xfrm>
          <a:prstGeom prst="rect">
            <a:avLst/>
          </a:prstGeom>
          <a:noFill/>
          <a:ln/>
        </p:spPr>
        <p:txBody>
          <a:bodyPr wrap="square" lIns="0" tIns="0" rIns="0" bIns="0" rtlCol="0" anchor="ctr"/>
          <a:lstStyle/>
          <a:p>
            <a:pPr algn="l" indent="0" marL="0">
              <a:buNone/>
            </a:pPr>
            <a:r>
              <a:rPr lang="en-US" sz="1600" b="1" dirty="0">
                <a:solidFill>
                  <a:srgbClr val="8A6D1E"/>
                </a:solidFill>
                <a:latin typeface="Calibri" pitchFamily="34" charset="0"/>
                <a:cs typeface="Amiri" pitchFamily="2" charset="-78"/>
              </a:rPr>
              <a:t>/y/</a:t>
            </a:r>
            <a:endParaRPr lang="en-US"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يَ</a:t>
            </a:r>
            <a:endParaRPr lang="ar-SA" sz="32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ya — yāʾ has its own vowel, so it is /y/.</a:t>
            </a:r>
            <a:endParaRPr lang="en-US" sz="1200" dirty="0"/>
          </a:p>
        </p:txBody>
      </p:sp>
      <p:sp>
        <p:nvSpPr>
          <p:cNvPr id="29" name="Shape 26"/>
          <p:cNvSpPr/>
          <p:nvPr/>
        </p:nvSpPr>
        <p:spPr>
          <a:xfrm>
            <a:off x="4386072" y="5212080"/>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5248656"/>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Compare: </a:t>
            </a:r>
            <a:pPr algn="l" indent="0" marL="0">
              <a:buNone/>
            </a:pPr>
            <a:r>
              <a:rPr lang="ar-SA" altLang="en-US" sz="1450" dirty="0">
                <a:solidFill>
                  <a:srgbClr val="1F2A37"/>
                </a:solidFill>
                <a:latin typeface="Amiri" pitchFamily="2" charset="-78"/>
                <a:ea typeface="Amiri" pitchFamily="2" charset="-78"/>
                <a:cs typeface="Amiri" pitchFamily="2" charset="-78"/>
              </a:rPr>
              <a:t>بِي</a:t>
            </a:r>
            <a:pPr algn="l" indent="0" marL="0">
              <a:buNone/>
            </a:pPr>
            <a:r>
              <a:rPr lang="en-US" sz="1100" dirty="0">
                <a:solidFill>
                  <a:srgbClr val="1F2A37"/>
                </a:solidFill>
                <a:latin typeface="Calibri" pitchFamily="34" charset="0"/>
                <a:cs typeface="Amiri" pitchFamily="2" charset="-78"/>
              </a:rPr>
              <a:t> = long ī (kasra before it matches).</a:t>
            </a:r>
            <a:endParaRPr lang="en-US" sz="1100" dirty="0"/>
          </a:p>
        </p:txBody>
      </p:sp>
      <p:sp>
        <p:nvSpPr>
          <p:cNvPr id="31" name="Shape 28"/>
          <p:cNvSpPr/>
          <p:nvPr/>
        </p:nvSpPr>
        <p:spPr>
          <a:xfrm>
            <a:off x="457200" y="1810512"/>
            <a:ext cx="3636264" cy="431596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097280" cy="274320"/>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594360" y="1920240"/>
            <a:ext cx="10972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SIX BREAKERS</a:t>
            </a:r>
            <a:endParaRPr lang="en-US" sz="850" dirty="0"/>
          </a:p>
        </p:txBody>
      </p:sp>
      <p:sp>
        <p:nvSpPr>
          <p:cNvPr id="34" name="Text 31"/>
          <p:cNvSpPr txBox="1"/>
          <p:nvPr/>
        </p:nvSpPr>
        <p:spPr>
          <a:xfrm>
            <a:off x="1737360" y="1874520"/>
            <a:ext cx="22189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ا د ذ ر ز و</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ا د ذ ر ز و</a:t>
            </a:r>
            <a:endParaRPr lang="ar-SA" sz="32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They do not join the NEXT letter (on their left).</a:t>
            </a:r>
            <a:endParaRPr lang="en-US" sz="1200" dirty="0"/>
          </a:p>
        </p:txBody>
      </p:sp>
      <p:sp>
        <p:nvSpPr>
          <p:cNvPr id="37" name="Shape 34"/>
          <p:cNvSpPr/>
          <p:nvPr/>
        </p:nvSpPr>
        <p:spPr>
          <a:xfrm>
            <a:off x="566928" y="5212080"/>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5248656"/>
            <a:ext cx="3233928" cy="731520"/>
          </a:xfrm>
          <a:prstGeom prst="rect">
            <a:avLst/>
          </a:prstGeom>
          <a:noFill/>
          <a:ln/>
        </p:spPr>
        <p:txBody>
          <a:bodyPr wrap="square" lIns="0" tIns="0" rIns="0" bIns="0" rtlCol="0" anchor="ctr"/>
          <a:lstStyle/>
          <a:p>
            <a:pPr algn="l" indent="0" marL="0">
              <a:buNone/>
            </a:pPr>
            <a:r>
              <a:rPr lang="ar-SA" altLang="en-US" sz="1450" dirty="0">
                <a:solidFill>
                  <a:srgbClr val="1F2A37"/>
                </a:solidFill>
                <a:latin typeface="Amiri" pitchFamily="2" charset="-78"/>
                <a:ea typeface="Amiri" pitchFamily="2" charset="-78"/>
                <a:cs typeface="Amiri" pitchFamily="2" charset="-78"/>
              </a:rPr>
              <a:t>ي</a:t>
            </a:r>
            <a:pPr algn="l" indent="0" marL="0">
              <a:buNone/>
            </a:pPr>
            <a:r>
              <a:rPr lang="en-US" sz="1100" dirty="0">
                <a:solidFill>
                  <a:srgbClr val="1F2A37"/>
                </a:solidFill>
                <a:latin typeface="Calibri" pitchFamily="34" charset="0"/>
                <a:cs typeface="Amiri" pitchFamily="2" charset="-78"/>
              </a:rPr>
              <a:t> is a connector — it can join on both sides.</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F1-L04 · Letters 23–28 + vowels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TEACHER INSTRUCTION · SPECIAL WRITING AWARENESS (WEBSITE PART 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Two special signs: </a:t>
            </a:r>
            <a:pPr algn="l" indent="0" marL="0">
              <a:buNone/>
            </a:pPr>
            <a:r>
              <a:rPr lang="ar-SA" altLang="en-US" sz="3650" b="1" dirty="0">
                <a:solidFill>
                  <a:srgbClr val="1B3B6F"/>
                </a:solidFill>
                <a:latin typeface="Amiri" pitchFamily="2" charset="-78"/>
                <a:ea typeface="Amiri" pitchFamily="2" charset="-78"/>
                <a:cs typeface="Amiri" pitchFamily="2" charset="-78"/>
              </a:rPr>
              <a:t>لا</a:t>
            </a:r>
            <a:pPr algn="l" indent="0" marL="0">
              <a:buNone/>
            </a:pPr>
            <a:r>
              <a:rPr lang="en-US" sz="2800" b="1" dirty="0">
                <a:solidFill>
                  <a:srgbClr val="1B3B6F"/>
                </a:solidFill>
                <a:latin typeface="Cambria" pitchFamily="34" charset="0"/>
                <a:cs typeface="Amiri" pitchFamily="2" charset="-78"/>
              </a:rPr>
              <a:t> and </a:t>
            </a:r>
            <a:pPr algn="l" indent="0" marL="0">
              <a:buNone/>
            </a:pPr>
            <a:r>
              <a:rPr lang="ar-SA" altLang="en-US" sz="3650" b="1" dirty="0">
                <a:solidFill>
                  <a:srgbClr val="1B3B6F"/>
                </a:solidFill>
                <a:latin typeface="Amiri" pitchFamily="2" charset="-78"/>
                <a:ea typeface="Amiri" pitchFamily="2" charset="-78"/>
                <a:cs typeface="Amiri" pitchFamily="2" charset="-78"/>
              </a:rPr>
              <a:t>ء</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لَامُ أَلِفٍ وَالهَمْزَةُ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F1-L04</a:t>
            </a:r>
            <a:endParaRPr lang="en-US" sz="850" dirty="0"/>
          </a:p>
        </p:txBody>
      </p:sp>
      <p:sp>
        <p:nvSpPr>
          <p:cNvPr id="15" name="Shape 12"/>
          <p:cNvSpPr/>
          <p:nvPr/>
        </p:nvSpPr>
        <p:spPr>
          <a:xfrm>
            <a:off x="8095488" y="1810512"/>
            <a:ext cx="3636264" cy="431596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960120" cy="274320"/>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8232648" y="1920240"/>
            <a:ext cx="9601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LĀM + ALIF</a:t>
            </a:r>
            <a:endParaRPr lang="en-US" sz="850" dirty="0"/>
          </a:p>
        </p:txBody>
      </p:sp>
      <p:sp>
        <p:nvSpPr>
          <p:cNvPr id="18" name="Text 15"/>
          <p:cNvSpPr txBox="1"/>
          <p:nvPr/>
        </p:nvSpPr>
        <p:spPr>
          <a:xfrm>
            <a:off x="9238488" y="1874520"/>
            <a:ext cx="23561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ل + ا ← لا</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لَا</a:t>
            </a:r>
            <a:endParaRPr lang="ar-SA" sz="32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lā — no. Two letters in one special shape.</a:t>
            </a:r>
            <a:endParaRPr lang="en-US" sz="1200" dirty="0"/>
          </a:p>
        </p:txBody>
      </p:sp>
      <p:sp>
        <p:nvSpPr>
          <p:cNvPr id="21" name="Shape 18"/>
          <p:cNvSpPr/>
          <p:nvPr/>
        </p:nvSpPr>
        <p:spPr>
          <a:xfrm>
            <a:off x="8205216" y="5212080"/>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5248656"/>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Also in </a:t>
            </a:r>
            <a:pPr algn="l" indent="0" marL="0">
              <a:buNone/>
            </a:pPr>
            <a:r>
              <a:rPr lang="ar-SA" altLang="en-US" sz="1450" dirty="0">
                <a:solidFill>
                  <a:srgbClr val="1F2A37"/>
                </a:solidFill>
                <a:latin typeface="Amiri" pitchFamily="2" charset="-78"/>
                <a:ea typeface="Amiri" pitchFamily="2" charset="-78"/>
                <a:cs typeface="Amiri" pitchFamily="2" charset="-78"/>
              </a:rPr>
              <a:t>سَلَامٌ</a:t>
            </a:r>
            <a:pPr algn="l" indent="0" marL="0">
              <a:buNone/>
            </a:pPr>
            <a:r>
              <a:rPr lang="en-US" sz="1100" dirty="0">
                <a:solidFill>
                  <a:srgbClr val="1F2A37"/>
                </a:solidFill>
                <a:latin typeface="Calibri" pitchFamily="34" charset="0"/>
                <a:cs typeface="Amiri" pitchFamily="2" charset="-78"/>
              </a:rPr>
              <a:t> (peace). It is NOT a 29th letter.</a:t>
            </a:r>
            <a:endParaRPr lang="en-US" sz="1100" dirty="0"/>
          </a:p>
        </p:txBody>
      </p:sp>
      <p:sp>
        <p:nvSpPr>
          <p:cNvPr id="23" name="Shape 20"/>
          <p:cNvSpPr/>
          <p:nvPr/>
        </p:nvSpPr>
        <p:spPr>
          <a:xfrm>
            <a:off x="4276344" y="1810512"/>
            <a:ext cx="3636264" cy="431596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61722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4413504" y="1920240"/>
            <a:ext cx="6172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HAMZA</a:t>
            </a:r>
            <a:endParaRPr lang="en-US" sz="850" dirty="0"/>
          </a:p>
        </p:txBody>
      </p:sp>
      <p:sp>
        <p:nvSpPr>
          <p:cNvPr id="26" name="Text 23"/>
          <p:cNvSpPr txBox="1"/>
          <p:nvPr/>
        </p:nvSpPr>
        <p:spPr>
          <a:xfrm>
            <a:off x="5076444" y="1874520"/>
            <a:ext cx="26990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ء /ʔ/</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ء  أ  ؤ  ئ</a:t>
            </a:r>
            <a:endParaRPr lang="ar-SA" sz="32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A “catch” in the throat, like the break in “uh-oh”.</a:t>
            </a:r>
            <a:endParaRPr lang="en-US" sz="1200" dirty="0"/>
          </a:p>
        </p:txBody>
      </p:sp>
      <p:sp>
        <p:nvSpPr>
          <p:cNvPr id="29" name="Shape 26"/>
          <p:cNvSpPr/>
          <p:nvPr/>
        </p:nvSpPr>
        <p:spPr>
          <a:xfrm>
            <a:off x="4386072" y="5212080"/>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5248656"/>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It can sit alone or on a seat. Seat rules come in F1-L06.</a:t>
            </a:r>
            <a:endParaRPr lang="en-US" sz="1100" dirty="0"/>
          </a:p>
        </p:txBody>
      </p:sp>
      <p:sp>
        <p:nvSpPr>
          <p:cNvPr id="31" name="Shape 28"/>
          <p:cNvSpPr/>
          <p:nvPr/>
        </p:nvSpPr>
        <p:spPr>
          <a:xfrm>
            <a:off x="457200" y="1810512"/>
            <a:ext cx="3636264" cy="431596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822960" cy="274320"/>
          </a:xfrm>
          <a:prstGeom prst="roundRect">
            <a:avLst>
              <a:gd name="adj" fmla="val 50000"/>
            </a:avLst>
          </a:prstGeom>
          <a:solidFill>
            <a:srgbClr val="8A6D1E"/>
          </a:solidFill>
          <a:ln w="12700">
            <a:solidFill>
              <a:srgbClr val="8A6D1E"/>
            </a:solidFill>
            <a:prstDash val="solid"/>
          </a:ln>
        </p:spPr>
      </p:sp>
      <p:sp>
        <p:nvSpPr>
          <p:cNvPr id="33" name="Text 30"/>
          <p:cNvSpPr txBox="1"/>
          <p:nvPr/>
        </p:nvSpPr>
        <p:spPr>
          <a:xfrm>
            <a:off x="594360" y="1920240"/>
            <a:ext cx="8229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ACCURACY</a:t>
            </a:r>
            <a:endParaRPr lang="en-US" sz="850" dirty="0"/>
          </a:p>
        </p:txBody>
      </p:sp>
      <p:sp>
        <p:nvSpPr>
          <p:cNvPr id="34" name="Text 31"/>
          <p:cNvSpPr txBox="1"/>
          <p:nvPr/>
        </p:nvSpPr>
        <p:spPr>
          <a:xfrm>
            <a:off x="1463040" y="1874520"/>
            <a:ext cx="24932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الله</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الله</a:t>
            </a:r>
            <a:endParaRPr lang="ar-SA" sz="32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This word has no </a:t>
            </a:r>
            <a:pPr algn="ctr" indent="0" marL="0">
              <a:buNone/>
            </a:pPr>
            <a:r>
              <a:rPr lang="ar-SA" altLang="en-US" sz="1550" dirty="0">
                <a:solidFill>
                  <a:srgbClr val="5A6472"/>
                </a:solidFill>
                <a:latin typeface="Amiri" pitchFamily="2" charset="-78"/>
                <a:ea typeface="Amiri" pitchFamily="2" charset="-78"/>
                <a:cs typeface="Amiri" pitchFamily="2" charset="-78"/>
              </a:rPr>
              <a:t>لا</a:t>
            </a:r>
            <a:pPr algn="ctr" indent="0" marL="0">
              <a:buNone/>
            </a:pPr>
            <a:r>
              <a:rPr lang="en-US" sz="1200" i="1" dirty="0">
                <a:solidFill>
                  <a:srgbClr val="5A6472"/>
                </a:solidFill>
                <a:latin typeface="Calibri" pitchFamily="34" charset="0"/>
                <a:cs typeface="Amiri" pitchFamily="2" charset="-78"/>
              </a:rPr>
              <a:t> shape.</a:t>
            </a:r>
            <a:endParaRPr lang="en-US" sz="1200" dirty="0"/>
          </a:p>
        </p:txBody>
      </p:sp>
      <p:sp>
        <p:nvSpPr>
          <p:cNvPr id="37" name="Shape 34"/>
          <p:cNvSpPr/>
          <p:nvPr/>
        </p:nvSpPr>
        <p:spPr>
          <a:xfrm>
            <a:off x="566928" y="5212080"/>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5248656"/>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Website note: it is not an example of lām + alif.</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29</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F1-L04 · Letters 23–28 + vowels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TEACHER INSTRUCTION · THE FOUR READING MARKS (WEBSITE PART 4)</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Make the letters readable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الحَرَكَاتُ القَصِيرَةُ وَالسُّكُونُ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610344"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Mark</a:t>
            </a:r>
            <a:endParaRPr lang="en-US" sz="1100" dirty="0"/>
          </a:p>
        </p:txBody>
      </p:sp>
      <p:sp>
        <p:nvSpPr>
          <p:cNvPr id="17" name="Text 14"/>
          <p:cNvSpPr txBox="1"/>
          <p:nvPr/>
        </p:nvSpPr>
        <p:spPr>
          <a:xfrm>
            <a:off x="7690104" y="1810512"/>
            <a:ext cx="1773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Where?</a:t>
            </a:r>
            <a:endParaRPr lang="en-US" sz="1100" dirty="0"/>
          </a:p>
        </p:txBody>
      </p:sp>
      <p:sp>
        <p:nvSpPr>
          <p:cNvPr id="18" name="Text 15"/>
          <p:cNvSpPr txBox="1"/>
          <p:nvPr/>
        </p:nvSpPr>
        <p:spPr>
          <a:xfrm>
            <a:off x="5861304" y="1810512"/>
            <a:ext cx="1682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On </a:t>
            </a:r>
            <a:pPr algn="ctr" indent="0" marL="0">
              <a:buNone/>
            </a:pPr>
            <a:r>
              <a:rPr lang="ar-SA" altLang="en-US" sz="1450" b="1" dirty="0">
                <a:solidFill>
                  <a:srgbClr val="FFFFFF"/>
                </a:solidFill>
                <a:latin typeface="Amiri" pitchFamily="2" charset="-78"/>
                <a:ea typeface="Amiri" pitchFamily="2" charset="-78"/>
                <a:cs typeface="Amiri" pitchFamily="2" charset="-78"/>
              </a:rPr>
              <a:t>ب</a:t>
            </a:r>
            <a:endParaRPr lang="en-US" sz="1100" dirty="0"/>
          </a:p>
        </p:txBody>
      </p:sp>
      <p:sp>
        <p:nvSpPr>
          <p:cNvPr id="19" name="Text 16"/>
          <p:cNvSpPr txBox="1"/>
          <p:nvPr/>
        </p:nvSpPr>
        <p:spPr>
          <a:xfrm>
            <a:off x="4215384" y="1810512"/>
            <a:ext cx="1499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a:t>
            </a:r>
            <a:endParaRPr lang="en-US" sz="1100" dirty="0"/>
          </a:p>
        </p:txBody>
      </p:sp>
      <p:sp>
        <p:nvSpPr>
          <p:cNvPr id="20" name="Text 17"/>
          <p:cNvSpPr txBox="1"/>
          <p:nvPr/>
        </p:nvSpPr>
        <p:spPr>
          <a:xfrm>
            <a:off x="530352" y="1810512"/>
            <a:ext cx="35387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 word</a:t>
            </a:r>
            <a:endParaRPr lang="en-US" sz="1100" dirty="0"/>
          </a:p>
        </p:txBody>
      </p:sp>
      <p:sp>
        <p:nvSpPr>
          <p:cNvPr id="21" name="Shape 18"/>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2" name="Text 19"/>
          <p:cNvSpPr txBox="1"/>
          <p:nvPr/>
        </p:nvSpPr>
        <p:spPr>
          <a:xfrm>
            <a:off x="9646920" y="2267712"/>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fatḥa  </a:t>
            </a:r>
            <a:pPr algn="l" indent="0" marL="0">
              <a:buNone/>
            </a:pPr>
            <a:r>
              <a:rPr lang="ar-SA" altLang="en-US" sz="1450" dirty="0">
                <a:solidFill>
                  <a:srgbClr val="5A6472"/>
                </a:solidFill>
                <a:latin typeface="Amiri" pitchFamily="2" charset="-78"/>
                <a:ea typeface="Amiri" pitchFamily="2" charset="-78"/>
                <a:cs typeface="Amiri" pitchFamily="2" charset="-78"/>
              </a:rPr>
              <a:t>فَتْحَةٌ</a:t>
            </a:r>
            <a:endParaRPr lang="en-US" sz="1100" dirty="0"/>
          </a:p>
        </p:txBody>
      </p:sp>
      <p:sp>
        <p:nvSpPr>
          <p:cNvPr id="23" name="Text 20"/>
          <p:cNvSpPr txBox="1"/>
          <p:nvPr/>
        </p:nvSpPr>
        <p:spPr>
          <a:xfrm>
            <a:off x="7726680" y="2267712"/>
            <a:ext cx="17373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small line ABOVE</a:t>
            </a:r>
            <a:endParaRPr lang="en-US" sz="1100" dirty="0"/>
          </a:p>
        </p:txBody>
      </p:sp>
      <p:sp>
        <p:nvSpPr>
          <p:cNvPr id="24" name="Text 21"/>
          <p:cNvSpPr txBox="1"/>
          <p:nvPr/>
        </p:nvSpPr>
        <p:spPr>
          <a:xfrm>
            <a:off x="5879592" y="2267712"/>
            <a:ext cx="1645920" cy="731520"/>
          </a:xfrm>
          <a:prstGeom prst="rect">
            <a:avLst/>
          </a:prstGeom>
          <a:noFill/>
          <a:ln/>
        </p:spPr>
        <p:txBody>
          <a:bodyPr wrap="square" lIns="0" tIns="0" rIns="0" bIns="0" rtlCol="0" anchor="ctr"/>
          <a:lstStyle/>
          <a:p>
            <a:pPr rtl="1" algn="ctr" indent="0" marL="0">
              <a:buNone/>
            </a:pPr>
            <a:r>
              <a:rPr lang="ar-SA" altLang="en-US" sz="3400" b="1" dirty="0">
                <a:solidFill>
                  <a:srgbClr val="1B3B6F"/>
                </a:solidFill>
                <a:latin typeface="Amiri" pitchFamily="2" charset="-78"/>
                <a:ea typeface="Amiri" pitchFamily="2" charset="-78"/>
                <a:cs typeface="Amiri" pitchFamily="2" charset="-78"/>
              </a:rPr>
              <a:t>بَ</a:t>
            </a:r>
            <a:endParaRPr lang="ar-SA" sz="3400" dirty="0"/>
          </a:p>
        </p:txBody>
      </p:sp>
      <p:sp>
        <p:nvSpPr>
          <p:cNvPr id="25" name="Text 22"/>
          <p:cNvSpPr txBox="1"/>
          <p:nvPr/>
        </p:nvSpPr>
        <p:spPr>
          <a:xfrm>
            <a:off x="4251960" y="2267712"/>
            <a:ext cx="1463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a:t>
            </a:r>
            <a:endParaRPr lang="en-US" sz="1100" dirty="0"/>
          </a:p>
        </p:txBody>
      </p:sp>
      <p:sp>
        <p:nvSpPr>
          <p:cNvPr id="26" name="Text 23"/>
          <p:cNvSpPr txBox="1"/>
          <p:nvPr/>
        </p:nvSpPr>
        <p:spPr>
          <a:xfrm>
            <a:off x="548640" y="2286000"/>
            <a:ext cx="3502152"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كَتَبَ</a:t>
            </a:r>
            <a:endParaRPr lang="ar-SA" sz="2100" dirty="0"/>
          </a:p>
        </p:txBody>
      </p:sp>
      <p:sp>
        <p:nvSpPr>
          <p:cNvPr id="27" name="Text 24"/>
          <p:cNvSpPr txBox="1"/>
          <p:nvPr/>
        </p:nvSpPr>
        <p:spPr>
          <a:xfrm>
            <a:off x="502920" y="2706624"/>
            <a:ext cx="359359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kataba · he wrote (three fatḥas)</a:t>
            </a:r>
            <a:endParaRPr lang="en-US" sz="950" dirty="0"/>
          </a:p>
        </p:txBody>
      </p:sp>
      <p:sp>
        <p:nvSpPr>
          <p:cNvPr id="28" name="Shape 25"/>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0" name="Shape 27"/>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31" name="Text 28"/>
          <p:cNvSpPr txBox="1"/>
          <p:nvPr/>
        </p:nvSpPr>
        <p:spPr>
          <a:xfrm>
            <a:off x="9646920" y="3054096"/>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ḍamma  </a:t>
            </a:r>
            <a:pPr algn="l" indent="0" marL="0">
              <a:buNone/>
            </a:pPr>
            <a:r>
              <a:rPr lang="ar-SA" altLang="en-US" sz="1450" dirty="0">
                <a:solidFill>
                  <a:srgbClr val="5A6472"/>
                </a:solidFill>
                <a:latin typeface="Amiri" pitchFamily="2" charset="-78"/>
                <a:ea typeface="Amiri" pitchFamily="2" charset="-78"/>
                <a:cs typeface="Amiri" pitchFamily="2" charset="-78"/>
              </a:rPr>
              <a:t>ضَمَّةٌ</a:t>
            </a:r>
            <a:endParaRPr lang="en-US" sz="1100" dirty="0"/>
          </a:p>
        </p:txBody>
      </p:sp>
      <p:sp>
        <p:nvSpPr>
          <p:cNvPr id="32" name="Text 29"/>
          <p:cNvSpPr txBox="1"/>
          <p:nvPr/>
        </p:nvSpPr>
        <p:spPr>
          <a:xfrm>
            <a:off x="7726680" y="3054096"/>
            <a:ext cx="17373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small curl ABOVE</a:t>
            </a:r>
            <a:endParaRPr lang="en-US" sz="1100" dirty="0"/>
          </a:p>
        </p:txBody>
      </p:sp>
      <p:sp>
        <p:nvSpPr>
          <p:cNvPr id="33" name="Text 30"/>
          <p:cNvSpPr txBox="1"/>
          <p:nvPr/>
        </p:nvSpPr>
        <p:spPr>
          <a:xfrm>
            <a:off x="5879592" y="3054096"/>
            <a:ext cx="1645920" cy="731520"/>
          </a:xfrm>
          <a:prstGeom prst="rect">
            <a:avLst/>
          </a:prstGeom>
          <a:noFill/>
          <a:ln/>
        </p:spPr>
        <p:txBody>
          <a:bodyPr wrap="square" lIns="0" tIns="0" rIns="0" bIns="0" rtlCol="0" anchor="ctr"/>
          <a:lstStyle/>
          <a:p>
            <a:pPr rtl="1" algn="ctr" indent="0" marL="0">
              <a:buNone/>
            </a:pPr>
            <a:r>
              <a:rPr lang="ar-SA" altLang="en-US" sz="3400" b="1" dirty="0">
                <a:solidFill>
                  <a:srgbClr val="1B3B6F"/>
                </a:solidFill>
                <a:latin typeface="Amiri" pitchFamily="2" charset="-78"/>
                <a:ea typeface="Amiri" pitchFamily="2" charset="-78"/>
                <a:cs typeface="Amiri" pitchFamily="2" charset="-78"/>
              </a:rPr>
              <a:t>بُ</a:t>
            </a:r>
            <a:endParaRPr lang="ar-SA" sz="3400" dirty="0"/>
          </a:p>
        </p:txBody>
      </p:sp>
      <p:sp>
        <p:nvSpPr>
          <p:cNvPr id="34" name="Text 31"/>
          <p:cNvSpPr txBox="1"/>
          <p:nvPr/>
        </p:nvSpPr>
        <p:spPr>
          <a:xfrm>
            <a:off x="4251960" y="3054096"/>
            <a:ext cx="1463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bu</a:t>
            </a:r>
            <a:endParaRPr lang="en-US" sz="1100" dirty="0"/>
          </a:p>
        </p:txBody>
      </p:sp>
      <p:sp>
        <p:nvSpPr>
          <p:cNvPr id="35" name="Text 32"/>
          <p:cNvSpPr txBox="1"/>
          <p:nvPr/>
        </p:nvSpPr>
        <p:spPr>
          <a:xfrm>
            <a:off x="548640" y="3072384"/>
            <a:ext cx="3502152"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هُوَ</a:t>
            </a:r>
            <a:endParaRPr lang="ar-SA" sz="2100" dirty="0"/>
          </a:p>
        </p:txBody>
      </p:sp>
      <p:sp>
        <p:nvSpPr>
          <p:cNvPr id="36" name="Text 33"/>
          <p:cNvSpPr txBox="1"/>
          <p:nvPr/>
        </p:nvSpPr>
        <p:spPr>
          <a:xfrm>
            <a:off x="502920" y="3493008"/>
            <a:ext cx="359359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huwa · he</a:t>
            </a:r>
            <a:endParaRPr lang="en-US" sz="950" dirty="0"/>
          </a:p>
        </p:txBody>
      </p:sp>
      <p:sp>
        <p:nvSpPr>
          <p:cNvPr id="37" name="Shape 34"/>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9" name="Shape 3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40" name="Text 37"/>
          <p:cNvSpPr txBox="1"/>
          <p:nvPr/>
        </p:nvSpPr>
        <p:spPr>
          <a:xfrm>
            <a:off x="9646920" y="3840480"/>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kasra  </a:t>
            </a:r>
            <a:pPr algn="l" indent="0" marL="0">
              <a:buNone/>
            </a:pPr>
            <a:r>
              <a:rPr lang="ar-SA" altLang="en-US" sz="1450" dirty="0">
                <a:solidFill>
                  <a:srgbClr val="5A6472"/>
                </a:solidFill>
                <a:latin typeface="Amiri" pitchFamily="2" charset="-78"/>
                <a:ea typeface="Amiri" pitchFamily="2" charset="-78"/>
                <a:cs typeface="Amiri" pitchFamily="2" charset="-78"/>
              </a:rPr>
              <a:t>كَسْرَةٌ</a:t>
            </a:r>
            <a:endParaRPr lang="en-US" sz="1100" dirty="0"/>
          </a:p>
        </p:txBody>
      </p:sp>
      <p:sp>
        <p:nvSpPr>
          <p:cNvPr id="41" name="Text 38"/>
          <p:cNvSpPr txBox="1"/>
          <p:nvPr/>
        </p:nvSpPr>
        <p:spPr>
          <a:xfrm>
            <a:off x="7726680" y="3840480"/>
            <a:ext cx="17373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small line BELOW</a:t>
            </a:r>
            <a:endParaRPr lang="en-US" sz="1100" dirty="0"/>
          </a:p>
        </p:txBody>
      </p:sp>
      <p:sp>
        <p:nvSpPr>
          <p:cNvPr id="42" name="Text 39"/>
          <p:cNvSpPr txBox="1"/>
          <p:nvPr/>
        </p:nvSpPr>
        <p:spPr>
          <a:xfrm>
            <a:off x="5879592" y="3840480"/>
            <a:ext cx="1645920" cy="731520"/>
          </a:xfrm>
          <a:prstGeom prst="rect">
            <a:avLst/>
          </a:prstGeom>
          <a:noFill/>
          <a:ln/>
        </p:spPr>
        <p:txBody>
          <a:bodyPr wrap="square" lIns="0" tIns="0" rIns="0" bIns="0" rtlCol="0" anchor="ctr"/>
          <a:lstStyle/>
          <a:p>
            <a:pPr rtl="1" algn="ctr" indent="0" marL="0">
              <a:buNone/>
            </a:pPr>
            <a:r>
              <a:rPr lang="ar-SA" altLang="en-US" sz="3400" b="1" dirty="0">
                <a:solidFill>
                  <a:srgbClr val="1B3B6F"/>
                </a:solidFill>
                <a:latin typeface="Amiri" pitchFamily="2" charset="-78"/>
                <a:ea typeface="Amiri" pitchFamily="2" charset="-78"/>
                <a:cs typeface="Amiri" pitchFamily="2" charset="-78"/>
              </a:rPr>
              <a:t>بِ</a:t>
            </a:r>
            <a:endParaRPr lang="ar-SA" sz="3400" dirty="0"/>
          </a:p>
        </p:txBody>
      </p:sp>
      <p:sp>
        <p:nvSpPr>
          <p:cNvPr id="43" name="Text 40"/>
          <p:cNvSpPr txBox="1"/>
          <p:nvPr/>
        </p:nvSpPr>
        <p:spPr>
          <a:xfrm>
            <a:off x="4251960" y="3840480"/>
            <a:ext cx="1463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bi</a:t>
            </a:r>
            <a:endParaRPr lang="en-US" sz="1100" dirty="0"/>
          </a:p>
        </p:txBody>
      </p:sp>
      <p:sp>
        <p:nvSpPr>
          <p:cNvPr id="44" name="Text 41"/>
          <p:cNvSpPr txBox="1"/>
          <p:nvPr/>
        </p:nvSpPr>
        <p:spPr>
          <a:xfrm>
            <a:off x="548640" y="3858768"/>
            <a:ext cx="3502152"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فَهِمَ</a:t>
            </a:r>
            <a:endParaRPr lang="ar-SA" sz="2100" dirty="0"/>
          </a:p>
        </p:txBody>
      </p:sp>
      <p:sp>
        <p:nvSpPr>
          <p:cNvPr id="45" name="Text 42"/>
          <p:cNvSpPr txBox="1"/>
          <p:nvPr/>
        </p:nvSpPr>
        <p:spPr>
          <a:xfrm>
            <a:off x="502920" y="4279392"/>
            <a:ext cx="359359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fahima · he understood</a:t>
            </a:r>
            <a:endParaRPr lang="en-US" sz="950" dirty="0"/>
          </a:p>
        </p:txBody>
      </p:sp>
      <p:sp>
        <p:nvSpPr>
          <p:cNvPr id="46" name="Shape 43"/>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9" name="Text 46"/>
          <p:cNvSpPr txBox="1"/>
          <p:nvPr/>
        </p:nvSpPr>
        <p:spPr>
          <a:xfrm>
            <a:off x="9646920" y="4626864"/>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sukūn  </a:t>
            </a:r>
            <a:pPr algn="l" indent="0" marL="0">
              <a:buNone/>
            </a:pPr>
            <a:r>
              <a:rPr lang="ar-SA" altLang="en-US" sz="1450" dirty="0">
                <a:solidFill>
                  <a:srgbClr val="5A6472"/>
                </a:solidFill>
                <a:latin typeface="Amiri" pitchFamily="2" charset="-78"/>
                <a:ea typeface="Amiri" pitchFamily="2" charset="-78"/>
                <a:cs typeface="Amiri" pitchFamily="2" charset="-78"/>
              </a:rPr>
              <a:t>سُكُونٌ</a:t>
            </a:r>
            <a:endParaRPr lang="en-US" sz="1100" dirty="0"/>
          </a:p>
        </p:txBody>
      </p:sp>
      <p:sp>
        <p:nvSpPr>
          <p:cNvPr id="50" name="Text 47"/>
          <p:cNvSpPr txBox="1"/>
          <p:nvPr/>
        </p:nvSpPr>
        <p:spPr>
          <a:xfrm>
            <a:off x="7726680" y="4626864"/>
            <a:ext cx="17373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small circle ABOVE</a:t>
            </a:r>
            <a:endParaRPr lang="en-US" sz="1100" dirty="0"/>
          </a:p>
        </p:txBody>
      </p:sp>
      <p:sp>
        <p:nvSpPr>
          <p:cNvPr id="51" name="Text 48"/>
          <p:cNvSpPr txBox="1"/>
          <p:nvPr/>
        </p:nvSpPr>
        <p:spPr>
          <a:xfrm>
            <a:off x="5879592" y="4626864"/>
            <a:ext cx="1645920" cy="731520"/>
          </a:xfrm>
          <a:prstGeom prst="rect">
            <a:avLst/>
          </a:prstGeom>
          <a:noFill/>
          <a:ln/>
        </p:spPr>
        <p:txBody>
          <a:bodyPr wrap="square" lIns="0" tIns="0" rIns="0" bIns="0" rtlCol="0" anchor="ctr"/>
          <a:lstStyle/>
          <a:p>
            <a:pPr rtl="1" algn="ctr" indent="0" marL="0">
              <a:buNone/>
            </a:pPr>
            <a:r>
              <a:rPr lang="ar-SA" altLang="en-US" sz="3400" b="1" dirty="0">
                <a:solidFill>
                  <a:srgbClr val="1B3B6F"/>
                </a:solidFill>
                <a:latin typeface="Amiri" pitchFamily="2" charset="-78"/>
                <a:ea typeface="Amiri" pitchFamily="2" charset="-78"/>
                <a:cs typeface="Amiri" pitchFamily="2" charset="-78"/>
              </a:rPr>
              <a:t>بْ</a:t>
            </a:r>
            <a:endParaRPr lang="ar-SA" sz="3400" dirty="0"/>
          </a:p>
        </p:txBody>
      </p:sp>
      <p:sp>
        <p:nvSpPr>
          <p:cNvPr id="52" name="Text 49"/>
          <p:cNvSpPr txBox="1"/>
          <p:nvPr/>
        </p:nvSpPr>
        <p:spPr>
          <a:xfrm>
            <a:off x="4251960" y="4626864"/>
            <a:ext cx="1463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 (no vowel)</a:t>
            </a:r>
            <a:endParaRPr lang="en-US" sz="1100" dirty="0"/>
          </a:p>
        </p:txBody>
      </p:sp>
      <p:sp>
        <p:nvSpPr>
          <p:cNvPr id="53" name="Text 50"/>
          <p:cNvSpPr txBox="1"/>
          <p:nvPr/>
        </p:nvSpPr>
        <p:spPr>
          <a:xfrm>
            <a:off x="548640" y="4645152"/>
            <a:ext cx="3502152"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مِنْ</a:t>
            </a:r>
            <a:endParaRPr lang="ar-SA" sz="2100" dirty="0"/>
          </a:p>
        </p:txBody>
      </p:sp>
      <p:sp>
        <p:nvSpPr>
          <p:cNvPr id="54" name="Text 51"/>
          <p:cNvSpPr txBox="1"/>
          <p:nvPr/>
        </p:nvSpPr>
        <p:spPr>
          <a:xfrm>
            <a:off x="502920" y="5065776"/>
            <a:ext cx="359359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min · from</a:t>
            </a:r>
            <a:endParaRPr lang="en-US" sz="950" dirty="0"/>
          </a:p>
        </p:txBody>
      </p:sp>
      <p:sp>
        <p:nvSpPr>
          <p:cNvPr id="55" name="Shape 52"/>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56" name="Text 53"/>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29</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F1-L04 · Letters 23–28 + vowels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F1-L04</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final letter in the 28-letter sequence?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ء</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final-group letter breaks before the next letter?</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Read </a:t>
            </a:r>
            <a:pPr algn="l" indent="0" marL="0">
              <a:buNone/>
            </a:pPr>
            <a:r>
              <a:rPr lang="ar-SA" altLang="en-US" sz="1650" b="1" dirty="0">
                <a:solidFill>
                  <a:srgbClr val="1B3B6F"/>
                </a:solidFill>
                <a:latin typeface="Amiri" pitchFamily="2" charset="-78"/>
                <a:ea typeface="Amiri" pitchFamily="2" charset="-78"/>
                <a:cs typeface="Amiri" pitchFamily="2" charset="-78"/>
              </a:rPr>
              <a:t>مُ</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a:t>
            </a:r>
            <a:endParaRPr lang="en-US" sz="12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mu</a:t>
            </a:r>
            <a:endParaRPr lang="en-US" sz="12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mi</a:t>
            </a:r>
            <a:endParaRPr lang="en-US" sz="12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Read </a:t>
            </a:r>
            <a:pPr algn="l" indent="0" marL="0">
              <a:buNone/>
            </a:pPr>
            <a:r>
              <a:rPr lang="ar-SA" altLang="en-US" sz="1650" b="1" dirty="0">
                <a:solidFill>
                  <a:srgbClr val="1B3B6F"/>
                </a:solidFill>
                <a:latin typeface="Amiri" pitchFamily="2" charset="-78"/>
                <a:ea typeface="Amiri" pitchFamily="2" charset="-78"/>
                <a:cs typeface="Amiri" pitchFamily="2" charset="-78"/>
              </a:rPr>
              <a:t>نِ</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ni</a:t>
            </a:r>
            <a:endParaRPr lang="en-US" sz="12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na</a:t>
            </a:r>
            <a:endParaRPr lang="en-US" sz="12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nu</a:t>
            </a:r>
            <a:endParaRPr lang="en-US" sz="12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29</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F1-L04 · Letters 23–28 + vowels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F1-L04</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final letter in the 28-letter sequence?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و</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ء</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a:t>
            </a:r>
            <a:pPr algn="l" indent="0" marL="0">
              <a:buNone/>
            </a:pPr>
            <a:r>
              <a:rPr lang="en-US" sz="1050" i="1" dirty="0">
                <a:solidFill>
                  <a:srgbClr val="8A6D1E"/>
                </a:solidFill>
                <a:latin typeface="Calibri" pitchFamily="34" charset="0"/>
                <a:cs typeface="Amiri" pitchFamily="2" charset="-78"/>
              </a:rPr>
              <a:t> yāʾ is letter 28 (website final check 2).</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final-group letter breaks before the next letter?</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و</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و</a:t>
            </a:r>
            <a:pPr algn="l" indent="0" marL="0">
              <a:buNone/>
            </a:pPr>
            <a:r>
              <a:rPr lang="en-US" sz="1050" i="1" dirty="0">
                <a:solidFill>
                  <a:srgbClr val="8A6D1E"/>
                </a:solidFill>
                <a:latin typeface="Calibri" pitchFamily="34" charset="0"/>
                <a:cs typeface="Amiri" pitchFamily="2" charset="-78"/>
              </a:rPr>
              <a:t> wāw is a breaker (website final check 3).</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Read </a:t>
            </a:r>
            <a:pPr algn="l" indent="0" marL="0">
              <a:buNone/>
            </a:pPr>
            <a:r>
              <a:rPr lang="ar-SA" altLang="en-US" sz="1650" b="1" dirty="0">
                <a:solidFill>
                  <a:srgbClr val="1B3B6F"/>
                </a:solidFill>
                <a:latin typeface="Amiri" pitchFamily="2" charset="-78"/>
                <a:ea typeface="Amiri" pitchFamily="2" charset="-78"/>
                <a:cs typeface="Amiri" pitchFamily="2" charset="-78"/>
              </a:rPr>
              <a:t>مُ</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ma</a:t>
            </a:r>
            <a:endParaRPr lang="en-US" sz="125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mu</a:t>
            </a:r>
            <a:endParaRPr lang="en-US" sz="125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mi</a:t>
            </a:r>
            <a:endParaRPr lang="en-US" sz="125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ḍamma = u (website final check 7).</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Read </a:t>
            </a:r>
            <a:pPr algn="l" indent="0" marL="0">
              <a:buNone/>
            </a:pPr>
            <a:r>
              <a:rPr lang="ar-SA" altLang="en-US" sz="1650" b="1" dirty="0">
                <a:solidFill>
                  <a:srgbClr val="1B3B6F"/>
                </a:solidFill>
                <a:latin typeface="Amiri" pitchFamily="2" charset="-78"/>
                <a:ea typeface="Amiri" pitchFamily="2" charset="-78"/>
                <a:cs typeface="Amiri" pitchFamily="2" charset="-78"/>
              </a:rPr>
              <a:t>نِ</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ni</a:t>
            </a:r>
            <a:endParaRPr lang="en-US" sz="125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na</a:t>
            </a:r>
            <a:endParaRPr lang="en-US" sz="125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nu</a:t>
            </a:r>
            <a:endParaRPr lang="en-US" sz="125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kasra = i (website final check 8).</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29</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F1-L04 · Letters 23–28 + vowels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6B4C9A"/>
                </a:solidFill>
                <a:latin typeface="Calibri" pitchFamily="34" charset="0"/>
                <a:cs typeface="Amiri" pitchFamily="2" charset="-78"/>
              </a:rPr>
              <a:t>I DO · WATCH → AIR-WRITE → TRACE → COPY (WEBSITE FORMATION TRACKER)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Watch me write the last six letters</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F1-L04</a:t>
            </a:r>
            <a:endParaRPr lang="en-US" sz="850" dirty="0"/>
          </a:p>
        </p:txBody>
      </p:sp>
      <p:sp>
        <p:nvSpPr>
          <p:cNvPr id="15" name="Shape 12"/>
          <p:cNvSpPr/>
          <p:nvPr/>
        </p:nvSpPr>
        <p:spPr>
          <a:xfrm>
            <a:off x="8083296" y="1810512"/>
            <a:ext cx="3648456" cy="2167128"/>
          </a:xfrm>
          <a:prstGeom prst="roundRect">
            <a:avLst>
              <a:gd name="adj" fmla="val 337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10326868" y="1883664"/>
            <a:ext cx="1313444" cy="1083564"/>
          </a:xfrm>
          <a:prstGeom prst="rect">
            <a:avLst/>
          </a:prstGeom>
          <a:noFill/>
          <a:ln/>
        </p:spPr>
        <p:txBody>
          <a:bodyPr wrap="square" lIns="0" tIns="0" rIns="0" bIns="0" rtlCol="0" anchor="ctr"/>
          <a:lstStyle/>
          <a:p>
            <a:pPr rtl="1" algn="ctr" indent="0" marL="0">
              <a:buNone/>
            </a:pPr>
            <a:r>
              <a:rPr lang="ar-SA" altLang="en-US" sz="5050" b="1" dirty="0">
                <a:solidFill>
                  <a:srgbClr val="1B3B6F"/>
                </a:solidFill>
                <a:latin typeface="Amiri" pitchFamily="2" charset="-78"/>
                <a:ea typeface="Amiri" pitchFamily="2" charset="-78"/>
                <a:cs typeface="Amiri" pitchFamily="2" charset="-78"/>
              </a:rPr>
              <a:t>ل</a:t>
            </a:r>
            <a:endParaRPr lang="ar-SA" sz="5050" dirty="0"/>
          </a:p>
        </p:txBody>
      </p:sp>
      <p:sp>
        <p:nvSpPr>
          <p:cNvPr id="17" name="Text 14"/>
          <p:cNvSpPr txBox="1"/>
          <p:nvPr/>
        </p:nvSpPr>
        <p:spPr>
          <a:xfrm>
            <a:off x="10326868" y="2937419"/>
            <a:ext cx="1313444" cy="310896"/>
          </a:xfrm>
          <a:prstGeom prst="rect">
            <a:avLst/>
          </a:prstGeom>
          <a:noFill/>
          <a:ln/>
        </p:spPr>
        <p:txBody>
          <a:bodyPr wrap="square" lIns="0" tIns="0" rIns="0" bIns="0" rtlCol="0" anchor="ctr"/>
          <a:lstStyle/>
          <a:p>
            <a:pPr rtl="1" algn="ctr" indent="0" marL="0">
              <a:buNone/>
            </a:pPr>
            <a:r>
              <a:rPr lang="ar-SA" altLang="en-US" sz="1450" b="1" dirty="0">
                <a:solidFill>
                  <a:srgbClr val="0E7C86"/>
                </a:solidFill>
                <a:latin typeface="Amiri" pitchFamily="2" charset="-78"/>
                <a:ea typeface="Amiri" pitchFamily="2" charset="-78"/>
                <a:cs typeface="Amiri" pitchFamily="2" charset="-78"/>
              </a:rPr>
              <a:t>لَام</a:t>
            </a:r>
            <a:endParaRPr lang="ar-SA" sz="1450" dirty="0"/>
          </a:p>
        </p:txBody>
      </p:sp>
      <p:sp>
        <p:nvSpPr>
          <p:cNvPr id="18" name="Shape 15"/>
          <p:cNvSpPr/>
          <p:nvPr/>
        </p:nvSpPr>
        <p:spPr>
          <a:xfrm>
            <a:off x="8220456" y="1956816"/>
            <a:ext cx="237744" cy="237744"/>
          </a:xfrm>
          <a:prstGeom prst="ellipse">
            <a:avLst/>
          </a:prstGeom>
          <a:solidFill>
            <a:srgbClr val="6B4C9A"/>
          </a:solidFill>
          <a:ln w="12700">
            <a:solidFill>
              <a:srgbClr val="6B4C9A"/>
            </a:solidFill>
            <a:prstDash val="solid"/>
          </a:ln>
        </p:spPr>
      </p:sp>
      <p:sp>
        <p:nvSpPr>
          <p:cNvPr id="19" name="Text 16"/>
          <p:cNvSpPr txBox="1"/>
          <p:nvPr/>
        </p:nvSpPr>
        <p:spPr>
          <a:xfrm>
            <a:off x="8220456" y="195681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1</a:t>
            </a:r>
            <a:endParaRPr lang="en-US" sz="900" dirty="0"/>
          </a:p>
        </p:txBody>
      </p:sp>
      <p:sp>
        <p:nvSpPr>
          <p:cNvPr id="20" name="Text 17"/>
          <p:cNvSpPr txBox="1"/>
          <p:nvPr/>
        </p:nvSpPr>
        <p:spPr>
          <a:xfrm>
            <a:off x="8531352" y="1911096"/>
            <a:ext cx="1704076"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tall stroke down from the top.</a:t>
            </a:r>
            <a:endParaRPr lang="en-US" sz="1050" dirty="0"/>
          </a:p>
        </p:txBody>
      </p:sp>
      <p:sp>
        <p:nvSpPr>
          <p:cNvPr id="21" name="Shape 18"/>
          <p:cNvSpPr/>
          <p:nvPr/>
        </p:nvSpPr>
        <p:spPr>
          <a:xfrm>
            <a:off x="8220456" y="2377440"/>
            <a:ext cx="237744" cy="237744"/>
          </a:xfrm>
          <a:prstGeom prst="ellipse">
            <a:avLst/>
          </a:prstGeom>
          <a:solidFill>
            <a:srgbClr val="6B4C9A"/>
          </a:solidFill>
          <a:ln w="12700">
            <a:solidFill>
              <a:srgbClr val="6B4C9A"/>
            </a:solidFill>
            <a:prstDash val="solid"/>
          </a:ln>
        </p:spPr>
      </p:sp>
      <p:sp>
        <p:nvSpPr>
          <p:cNvPr id="22" name="Text 19"/>
          <p:cNvSpPr txBox="1"/>
          <p:nvPr/>
        </p:nvSpPr>
        <p:spPr>
          <a:xfrm>
            <a:off x="8220456" y="2377440"/>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2</a:t>
            </a:r>
            <a:endParaRPr lang="en-US" sz="900" dirty="0"/>
          </a:p>
        </p:txBody>
      </p:sp>
      <p:sp>
        <p:nvSpPr>
          <p:cNvPr id="23" name="Text 20"/>
          <p:cNvSpPr txBox="1"/>
          <p:nvPr/>
        </p:nvSpPr>
        <p:spPr>
          <a:xfrm>
            <a:off x="8531352" y="2331720"/>
            <a:ext cx="1704076"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Curve round below the line.</a:t>
            </a:r>
            <a:endParaRPr lang="en-US" sz="1050" dirty="0"/>
          </a:p>
        </p:txBody>
      </p:sp>
      <p:sp>
        <p:nvSpPr>
          <p:cNvPr id="24" name="Shape 21"/>
          <p:cNvSpPr/>
          <p:nvPr/>
        </p:nvSpPr>
        <p:spPr>
          <a:xfrm>
            <a:off x="8220456" y="3813048"/>
            <a:ext cx="3374136" cy="0"/>
          </a:xfrm>
          <a:prstGeom prst="line">
            <a:avLst/>
          </a:prstGeom>
          <a:noFill/>
          <a:ln w="9525">
            <a:solidFill>
              <a:srgbClr val="C9BFA8"/>
            </a:solidFill>
            <a:prstDash val="dash"/>
          </a:ln>
        </p:spPr>
      </p:sp>
      <p:sp>
        <p:nvSpPr>
          <p:cNvPr id="25" name="Text 22"/>
          <p:cNvSpPr txBox="1"/>
          <p:nvPr/>
        </p:nvSpPr>
        <p:spPr>
          <a:xfrm>
            <a:off x="10919765" y="3337560"/>
            <a:ext cx="674827"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2" charset="-78"/>
                <a:ea typeface="Amiri" pitchFamily="2" charset="-78"/>
                <a:cs typeface="Amiri" pitchFamily="2" charset="-78"/>
              </a:rPr>
              <a:t>ل</a:t>
            </a:r>
            <a:endParaRPr lang="ar-SA" sz="2600" dirty="0"/>
          </a:p>
        </p:txBody>
      </p:sp>
      <p:sp>
        <p:nvSpPr>
          <p:cNvPr id="26" name="Text 23"/>
          <p:cNvSpPr txBox="1"/>
          <p:nvPr/>
        </p:nvSpPr>
        <p:spPr>
          <a:xfrm>
            <a:off x="10244938" y="3337560"/>
            <a:ext cx="674827"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2" charset="-78"/>
                <a:ea typeface="Amiri" pitchFamily="2" charset="-78"/>
                <a:cs typeface="Amiri" pitchFamily="2" charset="-78"/>
              </a:rPr>
              <a:t>ل</a:t>
            </a:r>
            <a:endParaRPr lang="ar-SA" sz="2600" dirty="0"/>
          </a:p>
        </p:txBody>
      </p:sp>
      <p:sp>
        <p:nvSpPr>
          <p:cNvPr id="27" name="Text 24"/>
          <p:cNvSpPr txBox="1"/>
          <p:nvPr/>
        </p:nvSpPr>
        <p:spPr>
          <a:xfrm>
            <a:off x="9570110" y="3337560"/>
            <a:ext cx="674827"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2" charset="-78"/>
                <a:ea typeface="Amiri" pitchFamily="2" charset="-78"/>
                <a:cs typeface="Amiri" pitchFamily="2" charset="-78"/>
              </a:rPr>
              <a:t>ل</a:t>
            </a:r>
            <a:endParaRPr lang="ar-SA" sz="2600" dirty="0"/>
          </a:p>
        </p:txBody>
      </p:sp>
      <p:sp>
        <p:nvSpPr>
          <p:cNvPr id="28" name="Text 25"/>
          <p:cNvSpPr txBox="1"/>
          <p:nvPr/>
        </p:nvSpPr>
        <p:spPr>
          <a:xfrm>
            <a:off x="8895283" y="3337560"/>
            <a:ext cx="674827"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cs typeface="Amiri" pitchFamily="2" charset="-78"/>
              </a:rPr>
              <a:t> </a:t>
            </a:r>
            <a:endParaRPr lang="en-US" sz="2600" dirty="0"/>
          </a:p>
        </p:txBody>
      </p:sp>
      <p:sp>
        <p:nvSpPr>
          <p:cNvPr id="29" name="Text 26"/>
          <p:cNvSpPr txBox="1"/>
          <p:nvPr/>
        </p:nvSpPr>
        <p:spPr>
          <a:xfrm>
            <a:off x="8220456" y="3337560"/>
            <a:ext cx="674827"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cs typeface="Amiri" pitchFamily="2" charset="-78"/>
              </a:rPr>
              <a:t> </a:t>
            </a:r>
            <a:endParaRPr lang="en-US" sz="2600" dirty="0"/>
          </a:p>
        </p:txBody>
      </p:sp>
      <p:sp>
        <p:nvSpPr>
          <p:cNvPr id="30" name="Shape 27"/>
          <p:cNvSpPr/>
          <p:nvPr/>
        </p:nvSpPr>
        <p:spPr>
          <a:xfrm>
            <a:off x="4270248" y="1810512"/>
            <a:ext cx="3648456" cy="2167128"/>
          </a:xfrm>
          <a:prstGeom prst="roundRect">
            <a:avLst>
              <a:gd name="adj" fmla="val 337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Text 28"/>
          <p:cNvSpPr txBox="1"/>
          <p:nvPr/>
        </p:nvSpPr>
        <p:spPr>
          <a:xfrm>
            <a:off x="6513820" y="1883664"/>
            <a:ext cx="1313444" cy="1083564"/>
          </a:xfrm>
          <a:prstGeom prst="rect">
            <a:avLst/>
          </a:prstGeom>
          <a:noFill/>
          <a:ln/>
        </p:spPr>
        <p:txBody>
          <a:bodyPr wrap="square" lIns="0" tIns="0" rIns="0" bIns="0" rtlCol="0" anchor="ctr"/>
          <a:lstStyle/>
          <a:p>
            <a:pPr rtl="1" algn="ctr" indent="0" marL="0">
              <a:buNone/>
            </a:pPr>
            <a:r>
              <a:rPr lang="ar-SA" altLang="en-US" sz="5050" b="1" dirty="0">
                <a:solidFill>
                  <a:srgbClr val="1B3B6F"/>
                </a:solidFill>
                <a:latin typeface="Amiri" pitchFamily="2" charset="-78"/>
                <a:ea typeface="Amiri" pitchFamily="2" charset="-78"/>
                <a:cs typeface="Amiri" pitchFamily="2" charset="-78"/>
              </a:rPr>
              <a:t>م</a:t>
            </a:r>
            <a:endParaRPr lang="ar-SA" sz="5050" dirty="0"/>
          </a:p>
        </p:txBody>
      </p:sp>
      <p:sp>
        <p:nvSpPr>
          <p:cNvPr id="32" name="Text 29"/>
          <p:cNvSpPr txBox="1"/>
          <p:nvPr/>
        </p:nvSpPr>
        <p:spPr>
          <a:xfrm>
            <a:off x="6513820" y="2937419"/>
            <a:ext cx="1313444" cy="310896"/>
          </a:xfrm>
          <a:prstGeom prst="rect">
            <a:avLst/>
          </a:prstGeom>
          <a:noFill/>
          <a:ln/>
        </p:spPr>
        <p:txBody>
          <a:bodyPr wrap="square" lIns="0" tIns="0" rIns="0" bIns="0" rtlCol="0" anchor="ctr"/>
          <a:lstStyle/>
          <a:p>
            <a:pPr rtl="1" algn="ctr" indent="0" marL="0">
              <a:buNone/>
            </a:pPr>
            <a:r>
              <a:rPr lang="ar-SA" altLang="en-US" sz="1450" b="1" dirty="0">
                <a:solidFill>
                  <a:srgbClr val="0E7C86"/>
                </a:solidFill>
                <a:latin typeface="Amiri" pitchFamily="2" charset="-78"/>
                <a:ea typeface="Amiri" pitchFamily="2" charset="-78"/>
                <a:cs typeface="Amiri" pitchFamily="2" charset="-78"/>
              </a:rPr>
              <a:t>مِيم</a:t>
            </a:r>
            <a:endParaRPr lang="ar-SA" sz="1450" dirty="0"/>
          </a:p>
        </p:txBody>
      </p:sp>
      <p:sp>
        <p:nvSpPr>
          <p:cNvPr id="33" name="Shape 30"/>
          <p:cNvSpPr/>
          <p:nvPr/>
        </p:nvSpPr>
        <p:spPr>
          <a:xfrm>
            <a:off x="4407408" y="1956816"/>
            <a:ext cx="237744" cy="237744"/>
          </a:xfrm>
          <a:prstGeom prst="ellipse">
            <a:avLst/>
          </a:prstGeom>
          <a:solidFill>
            <a:srgbClr val="6B4C9A"/>
          </a:solidFill>
          <a:ln w="12700">
            <a:solidFill>
              <a:srgbClr val="6B4C9A"/>
            </a:solidFill>
            <a:prstDash val="solid"/>
          </a:ln>
        </p:spPr>
      </p:sp>
      <p:sp>
        <p:nvSpPr>
          <p:cNvPr id="34" name="Text 31"/>
          <p:cNvSpPr txBox="1"/>
          <p:nvPr/>
        </p:nvSpPr>
        <p:spPr>
          <a:xfrm>
            <a:off x="4407408" y="195681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1</a:t>
            </a:r>
            <a:endParaRPr lang="en-US" sz="900" dirty="0"/>
          </a:p>
        </p:txBody>
      </p:sp>
      <p:sp>
        <p:nvSpPr>
          <p:cNvPr id="35" name="Text 32"/>
          <p:cNvSpPr txBox="1"/>
          <p:nvPr/>
        </p:nvSpPr>
        <p:spPr>
          <a:xfrm>
            <a:off x="4718304" y="1911096"/>
            <a:ext cx="1704076"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small round head on the line.</a:t>
            </a:r>
            <a:endParaRPr lang="en-US" sz="1050" dirty="0"/>
          </a:p>
        </p:txBody>
      </p:sp>
      <p:sp>
        <p:nvSpPr>
          <p:cNvPr id="36" name="Shape 33"/>
          <p:cNvSpPr/>
          <p:nvPr/>
        </p:nvSpPr>
        <p:spPr>
          <a:xfrm>
            <a:off x="4407408" y="2377440"/>
            <a:ext cx="237744" cy="237744"/>
          </a:xfrm>
          <a:prstGeom prst="ellipse">
            <a:avLst/>
          </a:prstGeom>
          <a:solidFill>
            <a:srgbClr val="6B4C9A"/>
          </a:solidFill>
          <a:ln w="12700">
            <a:solidFill>
              <a:srgbClr val="6B4C9A"/>
            </a:solidFill>
            <a:prstDash val="solid"/>
          </a:ln>
        </p:spPr>
      </p:sp>
      <p:sp>
        <p:nvSpPr>
          <p:cNvPr id="37" name="Text 34"/>
          <p:cNvSpPr txBox="1"/>
          <p:nvPr/>
        </p:nvSpPr>
        <p:spPr>
          <a:xfrm>
            <a:off x="4407408" y="2377440"/>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2</a:t>
            </a:r>
            <a:endParaRPr lang="en-US" sz="900" dirty="0"/>
          </a:p>
        </p:txBody>
      </p:sp>
      <p:sp>
        <p:nvSpPr>
          <p:cNvPr id="38" name="Text 35"/>
          <p:cNvSpPr txBox="1"/>
          <p:nvPr/>
        </p:nvSpPr>
        <p:spPr>
          <a:xfrm>
            <a:off x="4718304" y="2331720"/>
            <a:ext cx="1704076"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straight tail down.</a:t>
            </a:r>
            <a:endParaRPr lang="en-US" sz="1050" dirty="0"/>
          </a:p>
        </p:txBody>
      </p:sp>
      <p:sp>
        <p:nvSpPr>
          <p:cNvPr id="39" name="Shape 36"/>
          <p:cNvSpPr/>
          <p:nvPr/>
        </p:nvSpPr>
        <p:spPr>
          <a:xfrm>
            <a:off x="4407408" y="3813048"/>
            <a:ext cx="3374136" cy="0"/>
          </a:xfrm>
          <a:prstGeom prst="line">
            <a:avLst/>
          </a:prstGeom>
          <a:noFill/>
          <a:ln w="9525">
            <a:solidFill>
              <a:srgbClr val="C9BFA8"/>
            </a:solidFill>
            <a:prstDash val="dash"/>
          </a:ln>
        </p:spPr>
      </p:sp>
      <p:sp>
        <p:nvSpPr>
          <p:cNvPr id="40" name="Text 37"/>
          <p:cNvSpPr txBox="1"/>
          <p:nvPr/>
        </p:nvSpPr>
        <p:spPr>
          <a:xfrm>
            <a:off x="7106717" y="3337560"/>
            <a:ext cx="674827"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2" charset="-78"/>
                <a:ea typeface="Amiri" pitchFamily="2" charset="-78"/>
                <a:cs typeface="Amiri" pitchFamily="2" charset="-78"/>
              </a:rPr>
              <a:t>م</a:t>
            </a:r>
            <a:endParaRPr lang="ar-SA" sz="2600" dirty="0"/>
          </a:p>
        </p:txBody>
      </p:sp>
      <p:sp>
        <p:nvSpPr>
          <p:cNvPr id="41" name="Text 38"/>
          <p:cNvSpPr txBox="1"/>
          <p:nvPr/>
        </p:nvSpPr>
        <p:spPr>
          <a:xfrm>
            <a:off x="6431890" y="3337560"/>
            <a:ext cx="674827"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2" charset="-78"/>
                <a:ea typeface="Amiri" pitchFamily="2" charset="-78"/>
                <a:cs typeface="Amiri" pitchFamily="2" charset="-78"/>
              </a:rPr>
              <a:t>م</a:t>
            </a:r>
            <a:endParaRPr lang="ar-SA" sz="2600" dirty="0"/>
          </a:p>
        </p:txBody>
      </p:sp>
      <p:sp>
        <p:nvSpPr>
          <p:cNvPr id="42" name="Text 39"/>
          <p:cNvSpPr txBox="1"/>
          <p:nvPr/>
        </p:nvSpPr>
        <p:spPr>
          <a:xfrm>
            <a:off x="5757062" y="3337560"/>
            <a:ext cx="674827"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2" charset="-78"/>
                <a:ea typeface="Amiri" pitchFamily="2" charset="-78"/>
                <a:cs typeface="Amiri" pitchFamily="2" charset="-78"/>
              </a:rPr>
              <a:t>م</a:t>
            </a:r>
            <a:endParaRPr lang="ar-SA" sz="2600" dirty="0"/>
          </a:p>
        </p:txBody>
      </p:sp>
      <p:sp>
        <p:nvSpPr>
          <p:cNvPr id="43" name="Text 40"/>
          <p:cNvSpPr txBox="1"/>
          <p:nvPr/>
        </p:nvSpPr>
        <p:spPr>
          <a:xfrm>
            <a:off x="5082235" y="3337560"/>
            <a:ext cx="674827"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cs typeface="Amiri" pitchFamily="2" charset="-78"/>
              </a:rPr>
              <a:t> </a:t>
            </a:r>
            <a:endParaRPr lang="en-US" sz="2600" dirty="0"/>
          </a:p>
        </p:txBody>
      </p:sp>
      <p:sp>
        <p:nvSpPr>
          <p:cNvPr id="44" name="Text 41"/>
          <p:cNvSpPr txBox="1"/>
          <p:nvPr/>
        </p:nvSpPr>
        <p:spPr>
          <a:xfrm>
            <a:off x="4407408" y="3337560"/>
            <a:ext cx="674827"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cs typeface="Amiri" pitchFamily="2" charset="-78"/>
              </a:rPr>
              <a:t> </a:t>
            </a:r>
            <a:endParaRPr lang="en-US" sz="2600" dirty="0"/>
          </a:p>
        </p:txBody>
      </p:sp>
      <p:sp>
        <p:nvSpPr>
          <p:cNvPr id="45" name="Shape 42"/>
          <p:cNvSpPr/>
          <p:nvPr/>
        </p:nvSpPr>
        <p:spPr>
          <a:xfrm>
            <a:off x="457200" y="1810512"/>
            <a:ext cx="3648456" cy="2167128"/>
          </a:xfrm>
          <a:prstGeom prst="roundRect">
            <a:avLst>
              <a:gd name="adj" fmla="val 337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2700772" y="1883664"/>
            <a:ext cx="1313444" cy="1083564"/>
          </a:xfrm>
          <a:prstGeom prst="rect">
            <a:avLst/>
          </a:prstGeom>
          <a:noFill/>
          <a:ln/>
        </p:spPr>
        <p:txBody>
          <a:bodyPr wrap="square" lIns="0" tIns="0" rIns="0" bIns="0" rtlCol="0" anchor="ctr"/>
          <a:lstStyle/>
          <a:p>
            <a:pPr rtl="1" algn="ctr" indent="0" marL="0">
              <a:buNone/>
            </a:pPr>
            <a:r>
              <a:rPr lang="ar-SA" altLang="en-US" sz="5050" b="1" dirty="0">
                <a:solidFill>
                  <a:srgbClr val="1B3B6F"/>
                </a:solidFill>
                <a:latin typeface="Amiri" pitchFamily="2" charset="-78"/>
                <a:ea typeface="Amiri" pitchFamily="2" charset="-78"/>
                <a:cs typeface="Amiri" pitchFamily="2" charset="-78"/>
              </a:rPr>
              <a:t>ن</a:t>
            </a:r>
            <a:endParaRPr lang="ar-SA" sz="5050" dirty="0"/>
          </a:p>
        </p:txBody>
      </p:sp>
      <p:sp>
        <p:nvSpPr>
          <p:cNvPr id="47" name="Text 44"/>
          <p:cNvSpPr txBox="1"/>
          <p:nvPr/>
        </p:nvSpPr>
        <p:spPr>
          <a:xfrm>
            <a:off x="2700772" y="2937419"/>
            <a:ext cx="1313444" cy="310896"/>
          </a:xfrm>
          <a:prstGeom prst="rect">
            <a:avLst/>
          </a:prstGeom>
          <a:noFill/>
          <a:ln/>
        </p:spPr>
        <p:txBody>
          <a:bodyPr wrap="square" lIns="0" tIns="0" rIns="0" bIns="0" rtlCol="0" anchor="ctr"/>
          <a:lstStyle/>
          <a:p>
            <a:pPr rtl="1" algn="ctr" indent="0" marL="0">
              <a:buNone/>
            </a:pPr>
            <a:r>
              <a:rPr lang="ar-SA" altLang="en-US" sz="1450" b="1" dirty="0">
                <a:solidFill>
                  <a:srgbClr val="0E7C86"/>
                </a:solidFill>
                <a:latin typeface="Amiri" pitchFamily="2" charset="-78"/>
                <a:ea typeface="Amiri" pitchFamily="2" charset="-78"/>
                <a:cs typeface="Amiri" pitchFamily="2" charset="-78"/>
              </a:rPr>
              <a:t>نُون</a:t>
            </a:r>
            <a:endParaRPr lang="ar-SA" sz="1450" dirty="0"/>
          </a:p>
        </p:txBody>
      </p:sp>
      <p:sp>
        <p:nvSpPr>
          <p:cNvPr id="48" name="Shape 45"/>
          <p:cNvSpPr/>
          <p:nvPr/>
        </p:nvSpPr>
        <p:spPr>
          <a:xfrm>
            <a:off x="594360" y="1956816"/>
            <a:ext cx="237744" cy="237744"/>
          </a:xfrm>
          <a:prstGeom prst="ellipse">
            <a:avLst/>
          </a:prstGeom>
          <a:solidFill>
            <a:srgbClr val="6B4C9A"/>
          </a:solidFill>
          <a:ln w="12700">
            <a:solidFill>
              <a:srgbClr val="6B4C9A"/>
            </a:solidFill>
            <a:prstDash val="solid"/>
          </a:ln>
        </p:spPr>
      </p:sp>
      <p:sp>
        <p:nvSpPr>
          <p:cNvPr id="49" name="Text 46"/>
          <p:cNvSpPr txBox="1"/>
          <p:nvPr/>
        </p:nvSpPr>
        <p:spPr>
          <a:xfrm>
            <a:off x="594360" y="195681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1</a:t>
            </a:r>
            <a:endParaRPr lang="en-US" sz="900" dirty="0"/>
          </a:p>
        </p:txBody>
      </p:sp>
      <p:sp>
        <p:nvSpPr>
          <p:cNvPr id="50" name="Text 47"/>
          <p:cNvSpPr txBox="1"/>
          <p:nvPr/>
        </p:nvSpPr>
        <p:spPr>
          <a:xfrm>
            <a:off x="905256" y="1911096"/>
            <a:ext cx="1704076"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deep round bowl.</a:t>
            </a:r>
            <a:endParaRPr lang="en-US" sz="1050" dirty="0"/>
          </a:p>
        </p:txBody>
      </p:sp>
      <p:sp>
        <p:nvSpPr>
          <p:cNvPr id="51" name="Shape 48"/>
          <p:cNvSpPr/>
          <p:nvPr/>
        </p:nvSpPr>
        <p:spPr>
          <a:xfrm>
            <a:off x="594360" y="2377440"/>
            <a:ext cx="237744" cy="237744"/>
          </a:xfrm>
          <a:prstGeom prst="ellipse">
            <a:avLst/>
          </a:prstGeom>
          <a:solidFill>
            <a:srgbClr val="6B4C9A"/>
          </a:solidFill>
          <a:ln w="12700">
            <a:solidFill>
              <a:srgbClr val="6B4C9A"/>
            </a:solidFill>
            <a:prstDash val="solid"/>
          </a:ln>
        </p:spPr>
      </p:sp>
      <p:sp>
        <p:nvSpPr>
          <p:cNvPr id="52" name="Text 49"/>
          <p:cNvSpPr txBox="1"/>
          <p:nvPr/>
        </p:nvSpPr>
        <p:spPr>
          <a:xfrm>
            <a:off x="594360" y="2377440"/>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2</a:t>
            </a:r>
            <a:endParaRPr lang="en-US" sz="900" dirty="0"/>
          </a:p>
        </p:txBody>
      </p:sp>
      <p:sp>
        <p:nvSpPr>
          <p:cNvPr id="53" name="Text 50"/>
          <p:cNvSpPr txBox="1"/>
          <p:nvPr/>
        </p:nvSpPr>
        <p:spPr>
          <a:xfrm>
            <a:off x="905256" y="2331720"/>
            <a:ext cx="1704076"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ONE dot above, in the middle.</a:t>
            </a:r>
            <a:endParaRPr lang="en-US" sz="1050" dirty="0"/>
          </a:p>
        </p:txBody>
      </p:sp>
      <p:sp>
        <p:nvSpPr>
          <p:cNvPr id="54" name="Shape 51"/>
          <p:cNvSpPr/>
          <p:nvPr/>
        </p:nvSpPr>
        <p:spPr>
          <a:xfrm>
            <a:off x="594360" y="3813048"/>
            <a:ext cx="3374136" cy="0"/>
          </a:xfrm>
          <a:prstGeom prst="line">
            <a:avLst/>
          </a:prstGeom>
          <a:noFill/>
          <a:ln w="9525">
            <a:solidFill>
              <a:srgbClr val="C9BFA8"/>
            </a:solidFill>
            <a:prstDash val="dash"/>
          </a:ln>
        </p:spPr>
      </p:sp>
      <p:sp>
        <p:nvSpPr>
          <p:cNvPr id="55" name="Text 52"/>
          <p:cNvSpPr txBox="1"/>
          <p:nvPr/>
        </p:nvSpPr>
        <p:spPr>
          <a:xfrm>
            <a:off x="3293669" y="3337560"/>
            <a:ext cx="674827"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2" charset="-78"/>
                <a:ea typeface="Amiri" pitchFamily="2" charset="-78"/>
                <a:cs typeface="Amiri" pitchFamily="2" charset="-78"/>
              </a:rPr>
              <a:t>ن</a:t>
            </a:r>
            <a:endParaRPr lang="ar-SA" sz="2600" dirty="0"/>
          </a:p>
        </p:txBody>
      </p:sp>
      <p:sp>
        <p:nvSpPr>
          <p:cNvPr id="56" name="Text 53"/>
          <p:cNvSpPr txBox="1"/>
          <p:nvPr/>
        </p:nvSpPr>
        <p:spPr>
          <a:xfrm>
            <a:off x="2618842" y="3337560"/>
            <a:ext cx="674827"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2" charset="-78"/>
                <a:ea typeface="Amiri" pitchFamily="2" charset="-78"/>
                <a:cs typeface="Amiri" pitchFamily="2" charset="-78"/>
              </a:rPr>
              <a:t>ن</a:t>
            </a:r>
            <a:endParaRPr lang="ar-SA" sz="2600" dirty="0"/>
          </a:p>
        </p:txBody>
      </p:sp>
      <p:sp>
        <p:nvSpPr>
          <p:cNvPr id="57" name="Text 54"/>
          <p:cNvSpPr txBox="1"/>
          <p:nvPr/>
        </p:nvSpPr>
        <p:spPr>
          <a:xfrm>
            <a:off x="1944014" y="3337560"/>
            <a:ext cx="674827"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2" charset="-78"/>
                <a:ea typeface="Amiri" pitchFamily="2" charset="-78"/>
                <a:cs typeface="Amiri" pitchFamily="2" charset="-78"/>
              </a:rPr>
              <a:t>ن</a:t>
            </a:r>
            <a:endParaRPr lang="ar-SA" sz="2600" dirty="0"/>
          </a:p>
        </p:txBody>
      </p:sp>
      <p:sp>
        <p:nvSpPr>
          <p:cNvPr id="58" name="Text 55"/>
          <p:cNvSpPr txBox="1"/>
          <p:nvPr/>
        </p:nvSpPr>
        <p:spPr>
          <a:xfrm>
            <a:off x="1269187" y="3337560"/>
            <a:ext cx="674827"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cs typeface="Amiri" pitchFamily="2" charset="-78"/>
              </a:rPr>
              <a:t> </a:t>
            </a:r>
            <a:endParaRPr lang="en-US" sz="2600" dirty="0"/>
          </a:p>
        </p:txBody>
      </p:sp>
      <p:sp>
        <p:nvSpPr>
          <p:cNvPr id="59" name="Text 56"/>
          <p:cNvSpPr txBox="1"/>
          <p:nvPr/>
        </p:nvSpPr>
        <p:spPr>
          <a:xfrm>
            <a:off x="594360" y="3337560"/>
            <a:ext cx="674827"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cs typeface="Amiri" pitchFamily="2" charset="-78"/>
              </a:rPr>
              <a:t> </a:t>
            </a:r>
            <a:endParaRPr lang="en-US" sz="2600" dirty="0"/>
          </a:p>
        </p:txBody>
      </p:sp>
      <p:sp>
        <p:nvSpPr>
          <p:cNvPr id="60" name="Shape 57"/>
          <p:cNvSpPr/>
          <p:nvPr/>
        </p:nvSpPr>
        <p:spPr>
          <a:xfrm>
            <a:off x="8083296" y="4142232"/>
            <a:ext cx="3648456" cy="2167128"/>
          </a:xfrm>
          <a:prstGeom prst="roundRect">
            <a:avLst>
              <a:gd name="adj" fmla="val 337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10326868" y="4215384"/>
            <a:ext cx="1313444" cy="1083564"/>
          </a:xfrm>
          <a:prstGeom prst="rect">
            <a:avLst/>
          </a:prstGeom>
          <a:noFill/>
          <a:ln/>
        </p:spPr>
        <p:txBody>
          <a:bodyPr wrap="square" lIns="0" tIns="0" rIns="0" bIns="0" rtlCol="0" anchor="ctr"/>
          <a:lstStyle/>
          <a:p>
            <a:pPr rtl="1" algn="ctr" indent="0" marL="0">
              <a:buNone/>
            </a:pPr>
            <a:r>
              <a:rPr lang="ar-SA" altLang="en-US" sz="5050" b="1" dirty="0">
                <a:solidFill>
                  <a:srgbClr val="1B3B6F"/>
                </a:solidFill>
                <a:latin typeface="Amiri" pitchFamily="2" charset="-78"/>
                <a:ea typeface="Amiri" pitchFamily="2" charset="-78"/>
                <a:cs typeface="Amiri" pitchFamily="2" charset="-78"/>
              </a:rPr>
              <a:t>ه</a:t>
            </a:r>
            <a:endParaRPr lang="ar-SA" sz="5050" dirty="0"/>
          </a:p>
        </p:txBody>
      </p:sp>
      <p:sp>
        <p:nvSpPr>
          <p:cNvPr id="62" name="Text 59"/>
          <p:cNvSpPr txBox="1"/>
          <p:nvPr/>
        </p:nvSpPr>
        <p:spPr>
          <a:xfrm>
            <a:off x="10326868" y="5269139"/>
            <a:ext cx="1313444" cy="310896"/>
          </a:xfrm>
          <a:prstGeom prst="rect">
            <a:avLst/>
          </a:prstGeom>
          <a:noFill/>
          <a:ln/>
        </p:spPr>
        <p:txBody>
          <a:bodyPr wrap="square" lIns="0" tIns="0" rIns="0" bIns="0" rtlCol="0" anchor="ctr"/>
          <a:lstStyle/>
          <a:p>
            <a:pPr rtl="1" algn="ctr" indent="0" marL="0">
              <a:buNone/>
            </a:pPr>
            <a:r>
              <a:rPr lang="ar-SA" altLang="en-US" sz="1450" b="1" dirty="0">
                <a:solidFill>
                  <a:srgbClr val="0E7C86"/>
                </a:solidFill>
                <a:latin typeface="Amiri" pitchFamily="2" charset="-78"/>
                <a:ea typeface="Amiri" pitchFamily="2" charset="-78"/>
                <a:cs typeface="Amiri" pitchFamily="2" charset="-78"/>
              </a:rPr>
              <a:t>هَاء</a:t>
            </a:r>
            <a:endParaRPr lang="ar-SA" sz="1450" dirty="0"/>
          </a:p>
        </p:txBody>
      </p:sp>
      <p:sp>
        <p:nvSpPr>
          <p:cNvPr id="63" name="Shape 60"/>
          <p:cNvSpPr/>
          <p:nvPr/>
        </p:nvSpPr>
        <p:spPr>
          <a:xfrm>
            <a:off x="8220456" y="4288536"/>
            <a:ext cx="237744" cy="237744"/>
          </a:xfrm>
          <a:prstGeom prst="ellipse">
            <a:avLst/>
          </a:prstGeom>
          <a:solidFill>
            <a:srgbClr val="6B4C9A"/>
          </a:solidFill>
          <a:ln w="12700">
            <a:solidFill>
              <a:srgbClr val="6B4C9A"/>
            </a:solidFill>
            <a:prstDash val="solid"/>
          </a:ln>
        </p:spPr>
      </p:sp>
      <p:sp>
        <p:nvSpPr>
          <p:cNvPr id="64" name="Text 61"/>
          <p:cNvSpPr txBox="1"/>
          <p:nvPr/>
        </p:nvSpPr>
        <p:spPr>
          <a:xfrm>
            <a:off x="8220456" y="428853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1</a:t>
            </a:r>
            <a:endParaRPr lang="en-US" sz="900" dirty="0"/>
          </a:p>
        </p:txBody>
      </p:sp>
      <p:sp>
        <p:nvSpPr>
          <p:cNvPr id="65" name="Text 62"/>
          <p:cNvSpPr txBox="1"/>
          <p:nvPr/>
        </p:nvSpPr>
        <p:spPr>
          <a:xfrm>
            <a:off x="8531352" y="4242816"/>
            <a:ext cx="1704076"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Start at the top.</a:t>
            </a:r>
            <a:endParaRPr lang="en-US" sz="1050" dirty="0"/>
          </a:p>
        </p:txBody>
      </p:sp>
      <p:sp>
        <p:nvSpPr>
          <p:cNvPr id="66" name="Shape 63"/>
          <p:cNvSpPr/>
          <p:nvPr/>
        </p:nvSpPr>
        <p:spPr>
          <a:xfrm>
            <a:off x="8220456" y="4709160"/>
            <a:ext cx="237744" cy="237744"/>
          </a:xfrm>
          <a:prstGeom prst="ellipse">
            <a:avLst/>
          </a:prstGeom>
          <a:solidFill>
            <a:srgbClr val="6B4C9A"/>
          </a:solidFill>
          <a:ln w="12700">
            <a:solidFill>
              <a:srgbClr val="6B4C9A"/>
            </a:solidFill>
            <a:prstDash val="solid"/>
          </a:ln>
        </p:spPr>
      </p:sp>
      <p:sp>
        <p:nvSpPr>
          <p:cNvPr id="67" name="Text 64"/>
          <p:cNvSpPr txBox="1"/>
          <p:nvPr/>
        </p:nvSpPr>
        <p:spPr>
          <a:xfrm>
            <a:off x="8220456" y="4709160"/>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2</a:t>
            </a:r>
            <a:endParaRPr lang="en-US" sz="900" dirty="0"/>
          </a:p>
        </p:txBody>
      </p:sp>
      <p:sp>
        <p:nvSpPr>
          <p:cNvPr id="68" name="Text 65"/>
          <p:cNvSpPr txBox="1"/>
          <p:nvPr/>
        </p:nvSpPr>
        <p:spPr>
          <a:xfrm>
            <a:off x="8531352" y="4663440"/>
            <a:ext cx="1704076"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One round loop, closed.</a:t>
            </a:r>
            <a:endParaRPr lang="en-US" sz="1050" dirty="0"/>
          </a:p>
        </p:txBody>
      </p:sp>
      <p:sp>
        <p:nvSpPr>
          <p:cNvPr id="69" name="Shape 66"/>
          <p:cNvSpPr/>
          <p:nvPr/>
        </p:nvSpPr>
        <p:spPr>
          <a:xfrm>
            <a:off x="8220456" y="6144768"/>
            <a:ext cx="3374136" cy="0"/>
          </a:xfrm>
          <a:prstGeom prst="line">
            <a:avLst/>
          </a:prstGeom>
          <a:noFill/>
          <a:ln w="9525">
            <a:solidFill>
              <a:srgbClr val="C9BFA8"/>
            </a:solidFill>
            <a:prstDash val="dash"/>
          </a:ln>
        </p:spPr>
      </p:sp>
      <p:sp>
        <p:nvSpPr>
          <p:cNvPr id="70" name="Text 67"/>
          <p:cNvSpPr txBox="1"/>
          <p:nvPr/>
        </p:nvSpPr>
        <p:spPr>
          <a:xfrm>
            <a:off x="10919765" y="5669280"/>
            <a:ext cx="674827"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2" charset="-78"/>
                <a:ea typeface="Amiri" pitchFamily="2" charset="-78"/>
                <a:cs typeface="Amiri" pitchFamily="2" charset="-78"/>
              </a:rPr>
              <a:t>ه</a:t>
            </a:r>
            <a:endParaRPr lang="ar-SA" sz="2600" dirty="0"/>
          </a:p>
        </p:txBody>
      </p:sp>
      <p:sp>
        <p:nvSpPr>
          <p:cNvPr id="71" name="Text 68"/>
          <p:cNvSpPr txBox="1"/>
          <p:nvPr/>
        </p:nvSpPr>
        <p:spPr>
          <a:xfrm>
            <a:off x="10244938" y="5669280"/>
            <a:ext cx="674827"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2" charset="-78"/>
                <a:ea typeface="Amiri" pitchFamily="2" charset="-78"/>
                <a:cs typeface="Amiri" pitchFamily="2" charset="-78"/>
              </a:rPr>
              <a:t>ه</a:t>
            </a:r>
            <a:endParaRPr lang="ar-SA" sz="2600" dirty="0"/>
          </a:p>
        </p:txBody>
      </p:sp>
      <p:sp>
        <p:nvSpPr>
          <p:cNvPr id="72" name="Text 69"/>
          <p:cNvSpPr txBox="1"/>
          <p:nvPr/>
        </p:nvSpPr>
        <p:spPr>
          <a:xfrm>
            <a:off x="9570110" y="5669280"/>
            <a:ext cx="674827"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2" charset="-78"/>
                <a:ea typeface="Amiri" pitchFamily="2" charset="-78"/>
                <a:cs typeface="Amiri" pitchFamily="2" charset="-78"/>
              </a:rPr>
              <a:t>ه</a:t>
            </a:r>
            <a:endParaRPr lang="ar-SA" sz="2600" dirty="0"/>
          </a:p>
        </p:txBody>
      </p:sp>
      <p:sp>
        <p:nvSpPr>
          <p:cNvPr id="73" name="Text 70"/>
          <p:cNvSpPr txBox="1"/>
          <p:nvPr/>
        </p:nvSpPr>
        <p:spPr>
          <a:xfrm>
            <a:off x="8895283" y="5669280"/>
            <a:ext cx="674827"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cs typeface="Amiri" pitchFamily="2" charset="-78"/>
              </a:rPr>
              <a:t> </a:t>
            </a:r>
            <a:endParaRPr lang="en-US" sz="2600" dirty="0"/>
          </a:p>
        </p:txBody>
      </p:sp>
      <p:sp>
        <p:nvSpPr>
          <p:cNvPr id="74" name="Text 71"/>
          <p:cNvSpPr txBox="1"/>
          <p:nvPr/>
        </p:nvSpPr>
        <p:spPr>
          <a:xfrm>
            <a:off x="8220456" y="5669280"/>
            <a:ext cx="674827"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cs typeface="Amiri" pitchFamily="2" charset="-78"/>
              </a:rPr>
              <a:t> </a:t>
            </a:r>
            <a:endParaRPr lang="en-US" sz="2600" dirty="0"/>
          </a:p>
        </p:txBody>
      </p:sp>
      <p:sp>
        <p:nvSpPr>
          <p:cNvPr id="75" name="Shape 72"/>
          <p:cNvSpPr/>
          <p:nvPr/>
        </p:nvSpPr>
        <p:spPr>
          <a:xfrm>
            <a:off x="4270248" y="4142232"/>
            <a:ext cx="3648456" cy="2167128"/>
          </a:xfrm>
          <a:prstGeom prst="roundRect">
            <a:avLst>
              <a:gd name="adj" fmla="val 337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Text 73"/>
          <p:cNvSpPr txBox="1"/>
          <p:nvPr/>
        </p:nvSpPr>
        <p:spPr>
          <a:xfrm>
            <a:off x="6513820" y="4215384"/>
            <a:ext cx="1313444" cy="1083564"/>
          </a:xfrm>
          <a:prstGeom prst="rect">
            <a:avLst/>
          </a:prstGeom>
          <a:noFill/>
          <a:ln/>
        </p:spPr>
        <p:txBody>
          <a:bodyPr wrap="square" lIns="0" tIns="0" rIns="0" bIns="0" rtlCol="0" anchor="ctr"/>
          <a:lstStyle/>
          <a:p>
            <a:pPr rtl="1" algn="ctr" indent="0" marL="0">
              <a:buNone/>
            </a:pPr>
            <a:r>
              <a:rPr lang="ar-SA" altLang="en-US" sz="5050" b="1" dirty="0">
                <a:solidFill>
                  <a:srgbClr val="1B3B6F"/>
                </a:solidFill>
                <a:latin typeface="Amiri" pitchFamily="2" charset="-78"/>
                <a:ea typeface="Amiri" pitchFamily="2" charset="-78"/>
                <a:cs typeface="Amiri" pitchFamily="2" charset="-78"/>
              </a:rPr>
              <a:t>و</a:t>
            </a:r>
            <a:endParaRPr lang="ar-SA" sz="5050" dirty="0"/>
          </a:p>
        </p:txBody>
      </p:sp>
      <p:sp>
        <p:nvSpPr>
          <p:cNvPr id="77" name="Text 74"/>
          <p:cNvSpPr txBox="1"/>
          <p:nvPr/>
        </p:nvSpPr>
        <p:spPr>
          <a:xfrm>
            <a:off x="6513820" y="5269139"/>
            <a:ext cx="1313444" cy="310896"/>
          </a:xfrm>
          <a:prstGeom prst="rect">
            <a:avLst/>
          </a:prstGeom>
          <a:noFill/>
          <a:ln/>
        </p:spPr>
        <p:txBody>
          <a:bodyPr wrap="square" lIns="0" tIns="0" rIns="0" bIns="0" rtlCol="0" anchor="ctr"/>
          <a:lstStyle/>
          <a:p>
            <a:pPr rtl="1" algn="ctr" indent="0" marL="0">
              <a:buNone/>
            </a:pPr>
            <a:r>
              <a:rPr lang="ar-SA" altLang="en-US" sz="1450" b="1" dirty="0">
                <a:solidFill>
                  <a:srgbClr val="0E7C86"/>
                </a:solidFill>
                <a:latin typeface="Amiri" pitchFamily="2" charset="-78"/>
                <a:ea typeface="Amiri" pitchFamily="2" charset="-78"/>
                <a:cs typeface="Amiri" pitchFamily="2" charset="-78"/>
              </a:rPr>
              <a:t>وَاو</a:t>
            </a:r>
            <a:endParaRPr lang="ar-SA" sz="1450" dirty="0"/>
          </a:p>
        </p:txBody>
      </p:sp>
      <p:sp>
        <p:nvSpPr>
          <p:cNvPr id="78" name="Shape 75"/>
          <p:cNvSpPr/>
          <p:nvPr/>
        </p:nvSpPr>
        <p:spPr>
          <a:xfrm>
            <a:off x="4407408" y="4288536"/>
            <a:ext cx="237744" cy="237744"/>
          </a:xfrm>
          <a:prstGeom prst="ellipse">
            <a:avLst/>
          </a:prstGeom>
          <a:solidFill>
            <a:srgbClr val="6B4C9A"/>
          </a:solidFill>
          <a:ln w="12700">
            <a:solidFill>
              <a:srgbClr val="6B4C9A"/>
            </a:solidFill>
            <a:prstDash val="solid"/>
          </a:ln>
        </p:spPr>
      </p:sp>
      <p:sp>
        <p:nvSpPr>
          <p:cNvPr id="79" name="Text 76"/>
          <p:cNvSpPr txBox="1"/>
          <p:nvPr/>
        </p:nvSpPr>
        <p:spPr>
          <a:xfrm>
            <a:off x="4407408" y="428853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1</a:t>
            </a:r>
            <a:endParaRPr lang="en-US" sz="900" dirty="0"/>
          </a:p>
        </p:txBody>
      </p:sp>
      <p:sp>
        <p:nvSpPr>
          <p:cNvPr id="80" name="Text 77"/>
          <p:cNvSpPr txBox="1"/>
          <p:nvPr/>
        </p:nvSpPr>
        <p:spPr>
          <a:xfrm>
            <a:off x="4718304" y="4242816"/>
            <a:ext cx="1704076"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small round head.</a:t>
            </a:r>
            <a:endParaRPr lang="en-US" sz="1050" dirty="0"/>
          </a:p>
        </p:txBody>
      </p:sp>
      <p:sp>
        <p:nvSpPr>
          <p:cNvPr id="81" name="Shape 78"/>
          <p:cNvSpPr/>
          <p:nvPr/>
        </p:nvSpPr>
        <p:spPr>
          <a:xfrm>
            <a:off x="4407408" y="4709160"/>
            <a:ext cx="237744" cy="237744"/>
          </a:xfrm>
          <a:prstGeom prst="ellipse">
            <a:avLst/>
          </a:prstGeom>
          <a:solidFill>
            <a:srgbClr val="6B4C9A"/>
          </a:solidFill>
          <a:ln w="12700">
            <a:solidFill>
              <a:srgbClr val="6B4C9A"/>
            </a:solidFill>
            <a:prstDash val="solid"/>
          </a:ln>
        </p:spPr>
      </p:sp>
      <p:sp>
        <p:nvSpPr>
          <p:cNvPr id="82" name="Text 79"/>
          <p:cNvSpPr txBox="1"/>
          <p:nvPr/>
        </p:nvSpPr>
        <p:spPr>
          <a:xfrm>
            <a:off x="4407408" y="4709160"/>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2</a:t>
            </a:r>
            <a:endParaRPr lang="en-US" sz="900" dirty="0"/>
          </a:p>
        </p:txBody>
      </p:sp>
      <p:sp>
        <p:nvSpPr>
          <p:cNvPr id="83" name="Text 80"/>
          <p:cNvSpPr txBox="1"/>
          <p:nvPr/>
        </p:nvSpPr>
        <p:spPr>
          <a:xfrm>
            <a:off x="4718304" y="4663440"/>
            <a:ext cx="1704076"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tail curving down below the line.</a:t>
            </a:r>
            <a:endParaRPr lang="en-US" sz="1050" dirty="0"/>
          </a:p>
        </p:txBody>
      </p:sp>
      <p:sp>
        <p:nvSpPr>
          <p:cNvPr id="84" name="Shape 81"/>
          <p:cNvSpPr/>
          <p:nvPr/>
        </p:nvSpPr>
        <p:spPr>
          <a:xfrm>
            <a:off x="4407408" y="6144768"/>
            <a:ext cx="3374136" cy="0"/>
          </a:xfrm>
          <a:prstGeom prst="line">
            <a:avLst/>
          </a:prstGeom>
          <a:noFill/>
          <a:ln w="9525">
            <a:solidFill>
              <a:srgbClr val="C9BFA8"/>
            </a:solidFill>
            <a:prstDash val="dash"/>
          </a:ln>
        </p:spPr>
      </p:sp>
      <p:sp>
        <p:nvSpPr>
          <p:cNvPr id="85" name="Text 82"/>
          <p:cNvSpPr txBox="1"/>
          <p:nvPr/>
        </p:nvSpPr>
        <p:spPr>
          <a:xfrm>
            <a:off x="7106717" y="5669280"/>
            <a:ext cx="674827"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2" charset="-78"/>
                <a:ea typeface="Amiri" pitchFamily="2" charset="-78"/>
                <a:cs typeface="Amiri" pitchFamily="2" charset="-78"/>
              </a:rPr>
              <a:t>و</a:t>
            </a:r>
            <a:endParaRPr lang="ar-SA" sz="2600" dirty="0"/>
          </a:p>
        </p:txBody>
      </p:sp>
      <p:sp>
        <p:nvSpPr>
          <p:cNvPr id="86" name="Text 83"/>
          <p:cNvSpPr txBox="1"/>
          <p:nvPr/>
        </p:nvSpPr>
        <p:spPr>
          <a:xfrm>
            <a:off x="6431890" y="5669280"/>
            <a:ext cx="674827"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2" charset="-78"/>
                <a:ea typeface="Amiri" pitchFamily="2" charset="-78"/>
                <a:cs typeface="Amiri" pitchFamily="2" charset="-78"/>
              </a:rPr>
              <a:t>و</a:t>
            </a:r>
            <a:endParaRPr lang="ar-SA" sz="2600" dirty="0"/>
          </a:p>
        </p:txBody>
      </p:sp>
      <p:sp>
        <p:nvSpPr>
          <p:cNvPr id="87" name="Text 84"/>
          <p:cNvSpPr txBox="1"/>
          <p:nvPr/>
        </p:nvSpPr>
        <p:spPr>
          <a:xfrm>
            <a:off x="5757062" y="5669280"/>
            <a:ext cx="674827"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2" charset="-78"/>
                <a:ea typeface="Amiri" pitchFamily="2" charset="-78"/>
                <a:cs typeface="Amiri" pitchFamily="2" charset="-78"/>
              </a:rPr>
              <a:t>و</a:t>
            </a:r>
            <a:endParaRPr lang="ar-SA" sz="2600" dirty="0"/>
          </a:p>
        </p:txBody>
      </p:sp>
      <p:sp>
        <p:nvSpPr>
          <p:cNvPr id="88" name="Text 85"/>
          <p:cNvSpPr txBox="1"/>
          <p:nvPr/>
        </p:nvSpPr>
        <p:spPr>
          <a:xfrm>
            <a:off x="5082235" y="5669280"/>
            <a:ext cx="674827"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cs typeface="Amiri" pitchFamily="2" charset="-78"/>
              </a:rPr>
              <a:t> </a:t>
            </a:r>
            <a:endParaRPr lang="en-US" sz="2600" dirty="0"/>
          </a:p>
        </p:txBody>
      </p:sp>
      <p:sp>
        <p:nvSpPr>
          <p:cNvPr id="89" name="Text 86"/>
          <p:cNvSpPr txBox="1"/>
          <p:nvPr/>
        </p:nvSpPr>
        <p:spPr>
          <a:xfrm>
            <a:off x="4407408" y="5669280"/>
            <a:ext cx="674827"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cs typeface="Amiri" pitchFamily="2" charset="-78"/>
              </a:rPr>
              <a:t> </a:t>
            </a:r>
            <a:endParaRPr lang="en-US" sz="2600" dirty="0"/>
          </a:p>
        </p:txBody>
      </p:sp>
      <p:sp>
        <p:nvSpPr>
          <p:cNvPr id="90" name="Shape 87"/>
          <p:cNvSpPr/>
          <p:nvPr/>
        </p:nvSpPr>
        <p:spPr>
          <a:xfrm>
            <a:off x="457200" y="4142232"/>
            <a:ext cx="3648456" cy="2167128"/>
          </a:xfrm>
          <a:prstGeom prst="roundRect">
            <a:avLst>
              <a:gd name="adj" fmla="val 337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2700772" y="4215384"/>
            <a:ext cx="1313444" cy="1083564"/>
          </a:xfrm>
          <a:prstGeom prst="rect">
            <a:avLst/>
          </a:prstGeom>
          <a:noFill/>
          <a:ln/>
        </p:spPr>
        <p:txBody>
          <a:bodyPr wrap="square" lIns="0" tIns="0" rIns="0" bIns="0" rtlCol="0" anchor="ctr"/>
          <a:lstStyle/>
          <a:p>
            <a:pPr rtl="1" algn="ctr" indent="0" marL="0">
              <a:buNone/>
            </a:pPr>
            <a:r>
              <a:rPr lang="ar-SA" altLang="en-US" sz="5050" b="1" dirty="0">
                <a:solidFill>
                  <a:srgbClr val="1B3B6F"/>
                </a:solidFill>
                <a:latin typeface="Amiri" pitchFamily="2" charset="-78"/>
                <a:ea typeface="Amiri" pitchFamily="2" charset="-78"/>
                <a:cs typeface="Amiri" pitchFamily="2" charset="-78"/>
              </a:rPr>
              <a:t>ي</a:t>
            </a:r>
            <a:endParaRPr lang="ar-SA" sz="5050" dirty="0"/>
          </a:p>
        </p:txBody>
      </p:sp>
      <p:sp>
        <p:nvSpPr>
          <p:cNvPr id="92" name="Text 89"/>
          <p:cNvSpPr txBox="1"/>
          <p:nvPr/>
        </p:nvSpPr>
        <p:spPr>
          <a:xfrm>
            <a:off x="2700772" y="5269139"/>
            <a:ext cx="1313444" cy="310896"/>
          </a:xfrm>
          <a:prstGeom prst="rect">
            <a:avLst/>
          </a:prstGeom>
          <a:noFill/>
          <a:ln/>
        </p:spPr>
        <p:txBody>
          <a:bodyPr wrap="square" lIns="0" tIns="0" rIns="0" bIns="0" rtlCol="0" anchor="ctr"/>
          <a:lstStyle/>
          <a:p>
            <a:pPr rtl="1" algn="ctr" indent="0" marL="0">
              <a:buNone/>
            </a:pPr>
            <a:r>
              <a:rPr lang="ar-SA" altLang="en-US" sz="1450" b="1" dirty="0">
                <a:solidFill>
                  <a:srgbClr val="0E7C86"/>
                </a:solidFill>
                <a:latin typeface="Amiri" pitchFamily="2" charset="-78"/>
                <a:ea typeface="Amiri" pitchFamily="2" charset="-78"/>
                <a:cs typeface="Amiri" pitchFamily="2" charset="-78"/>
              </a:rPr>
              <a:t>يَاء</a:t>
            </a:r>
            <a:endParaRPr lang="ar-SA" sz="1450" dirty="0"/>
          </a:p>
        </p:txBody>
      </p:sp>
      <p:sp>
        <p:nvSpPr>
          <p:cNvPr id="93" name="Shape 90"/>
          <p:cNvSpPr/>
          <p:nvPr/>
        </p:nvSpPr>
        <p:spPr>
          <a:xfrm>
            <a:off x="594360" y="4288536"/>
            <a:ext cx="237744" cy="237744"/>
          </a:xfrm>
          <a:prstGeom prst="ellipse">
            <a:avLst/>
          </a:prstGeom>
          <a:solidFill>
            <a:srgbClr val="6B4C9A"/>
          </a:solidFill>
          <a:ln w="12700">
            <a:solidFill>
              <a:srgbClr val="6B4C9A"/>
            </a:solidFill>
            <a:prstDash val="solid"/>
          </a:ln>
        </p:spPr>
      </p:sp>
      <p:sp>
        <p:nvSpPr>
          <p:cNvPr id="94" name="Text 91"/>
          <p:cNvSpPr txBox="1"/>
          <p:nvPr/>
        </p:nvSpPr>
        <p:spPr>
          <a:xfrm>
            <a:off x="594360" y="428853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1</a:t>
            </a:r>
            <a:endParaRPr lang="en-US" sz="900" dirty="0"/>
          </a:p>
        </p:txBody>
      </p:sp>
      <p:sp>
        <p:nvSpPr>
          <p:cNvPr id="95" name="Text 92"/>
          <p:cNvSpPr txBox="1"/>
          <p:nvPr/>
        </p:nvSpPr>
        <p:spPr>
          <a:xfrm>
            <a:off x="905256" y="4242816"/>
            <a:ext cx="1704076"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curved body with a round tail.</a:t>
            </a:r>
            <a:endParaRPr lang="en-US" sz="1050" dirty="0"/>
          </a:p>
        </p:txBody>
      </p:sp>
      <p:sp>
        <p:nvSpPr>
          <p:cNvPr id="96" name="Shape 93"/>
          <p:cNvSpPr/>
          <p:nvPr/>
        </p:nvSpPr>
        <p:spPr>
          <a:xfrm>
            <a:off x="594360" y="4709160"/>
            <a:ext cx="237744" cy="237744"/>
          </a:xfrm>
          <a:prstGeom prst="ellipse">
            <a:avLst/>
          </a:prstGeom>
          <a:solidFill>
            <a:srgbClr val="6B4C9A"/>
          </a:solidFill>
          <a:ln w="12700">
            <a:solidFill>
              <a:srgbClr val="6B4C9A"/>
            </a:solidFill>
            <a:prstDash val="solid"/>
          </a:ln>
        </p:spPr>
      </p:sp>
      <p:sp>
        <p:nvSpPr>
          <p:cNvPr id="97" name="Text 94"/>
          <p:cNvSpPr txBox="1"/>
          <p:nvPr/>
        </p:nvSpPr>
        <p:spPr>
          <a:xfrm>
            <a:off x="594360" y="4709160"/>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2</a:t>
            </a:r>
            <a:endParaRPr lang="en-US" sz="900" dirty="0"/>
          </a:p>
        </p:txBody>
      </p:sp>
      <p:sp>
        <p:nvSpPr>
          <p:cNvPr id="98" name="Text 95"/>
          <p:cNvSpPr txBox="1"/>
          <p:nvPr/>
        </p:nvSpPr>
        <p:spPr>
          <a:xfrm>
            <a:off x="905256" y="4663440"/>
            <a:ext cx="1704076"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TWO dots BELOW.</a:t>
            </a:r>
            <a:endParaRPr lang="en-US" sz="1050" dirty="0"/>
          </a:p>
        </p:txBody>
      </p:sp>
      <p:sp>
        <p:nvSpPr>
          <p:cNvPr id="99" name="Shape 96"/>
          <p:cNvSpPr/>
          <p:nvPr/>
        </p:nvSpPr>
        <p:spPr>
          <a:xfrm>
            <a:off x="594360" y="6144768"/>
            <a:ext cx="3374136" cy="0"/>
          </a:xfrm>
          <a:prstGeom prst="line">
            <a:avLst/>
          </a:prstGeom>
          <a:noFill/>
          <a:ln w="9525">
            <a:solidFill>
              <a:srgbClr val="C9BFA8"/>
            </a:solidFill>
            <a:prstDash val="dash"/>
          </a:ln>
        </p:spPr>
      </p:sp>
      <p:sp>
        <p:nvSpPr>
          <p:cNvPr id="100" name="Text 97"/>
          <p:cNvSpPr txBox="1"/>
          <p:nvPr/>
        </p:nvSpPr>
        <p:spPr>
          <a:xfrm>
            <a:off x="3293669" y="5669280"/>
            <a:ext cx="674827"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2" charset="-78"/>
                <a:ea typeface="Amiri" pitchFamily="2" charset="-78"/>
                <a:cs typeface="Amiri" pitchFamily="2" charset="-78"/>
              </a:rPr>
              <a:t>ي</a:t>
            </a:r>
            <a:endParaRPr lang="ar-SA" sz="2600" dirty="0"/>
          </a:p>
        </p:txBody>
      </p:sp>
      <p:sp>
        <p:nvSpPr>
          <p:cNvPr id="101" name="Text 98"/>
          <p:cNvSpPr txBox="1"/>
          <p:nvPr/>
        </p:nvSpPr>
        <p:spPr>
          <a:xfrm>
            <a:off x="2618842" y="5669280"/>
            <a:ext cx="674827"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2" charset="-78"/>
                <a:ea typeface="Amiri" pitchFamily="2" charset="-78"/>
                <a:cs typeface="Amiri" pitchFamily="2" charset="-78"/>
              </a:rPr>
              <a:t>ي</a:t>
            </a:r>
            <a:endParaRPr lang="ar-SA" sz="2600" dirty="0"/>
          </a:p>
        </p:txBody>
      </p:sp>
      <p:sp>
        <p:nvSpPr>
          <p:cNvPr id="102" name="Text 99"/>
          <p:cNvSpPr txBox="1"/>
          <p:nvPr/>
        </p:nvSpPr>
        <p:spPr>
          <a:xfrm>
            <a:off x="1944014" y="5669280"/>
            <a:ext cx="674827"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2" charset="-78"/>
                <a:ea typeface="Amiri" pitchFamily="2" charset="-78"/>
                <a:cs typeface="Amiri" pitchFamily="2" charset="-78"/>
              </a:rPr>
              <a:t>ي</a:t>
            </a:r>
            <a:endParaRPr lang="ar-SA" sz="2600" dirty="0"/>
          </a:p>
        </p:txBody>
      </p:sp>
      <p:sp>
        <p:nvSpPr>
          <p:cNvPr id="103" name="Text 100"/>
          <p:cNvSpPr txBox="1"/>
          <p:nvPr/>
        </p:nvSpPr>
        <p:spPr>
          <a:xfrm>
            <a:off x="1269187" y="5669280"/>
            <a:ext cx="674827"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cs typeface="Amiri" pitchFamily="2" charset="-78"/>
              </a:rPr>
              <a:t> </a:t>
            </a:r>
            <a:endParaRPr lang="en-US" sz="2600" dirty="0"/>
          </a:p>
        </p:txBody>
      </p:sp>
      <p:sp>
        <p:nvSpPr>
          <p:cNvPr id="104" name="Text 101"/>
          <p:cNvSpPr txBox="1"/>
          <p:nvPr/>
        </p:nvSpPr>
        <p:spPr>
          <a:xfrm>
            <a:off x="594360" y="5669280"/>
            <a:ext cx="674827"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cs typeface="Amiri" pitchFamily="2" charset="-78"/>
              </a:rPr>
              <a:t> </a:t>
            </a:r>
            <a:endParaRPr lang="en-US" sz="2600" dirty="0"/>
          </a:p>
        </p:txBody>
      </p:sp>
      <p:sp>
        <p:nvSpPr>
          <p:cNvPr id="105" name="Text 10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29</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F1-L04 · Letters 23–28 + vowels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GAME “FINAL-LETTER DETECTIVE”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Final-letter detective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مُحَقِّقُ الحُرُوفِ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What is this letter called?</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ن</a:t>
            </a:r>
            <a:endParaRPr lang="ar-SA" sz="22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نُونٌ</a:t>
            </a:r>
            <a:endParaRPr lang="ar-SA" sz="20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بَاءٌ</a:t>
            </a:r>
            <a:endParaRPr lang="ar-SA" sz="20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يَاءٌ</a:t>
            </a:r>
            <a:endParaRPr lang="ar-SA" sz="2050" dirty="0"/>
          </a:p>
        </p:txBody>
      </p:sp>
      <p:sp>
        <p:nvSpPr>
          <p:cNvPr id="29" name="Shape 26"/>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4404360"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2" name="Text 29"/>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What is this letter called?</a:t>
            </a:r>
            <a:endParaRPr lang="en-US" sz="1200" dirty="0"/>
          </a:p>
        </p:txBody>
      </p:sp>
      <p:sp>
        <p:nvSpPr>
          <p:cNvPr id="33" name="Text 30"/>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ي</a:t>
            </a:r>
            <a:endParaRPr lang="ar-SA" sz="220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تَاءٌ</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نُونٌ</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يَاءٌ</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What is this letter called?</a:t>
            </a:r>
            <a:endParaRPr lang="en-US" sz="1200" dirty="0"/>
          </a:p>
        </p:txBody>
      </p:sp>
      <p:sp>
        <p:nvSpPr>
          <p:cNvPr id="47" name="Text 44"/>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و</a:t>
            </a:r>
            <a:endParaRPr lang="ar-SA" sz="2200" dirty="0"/>
          </a:p>
        </p:txBody>
      </p:sp>
      <p:sp>
        <p:nvSpPr>
          <p:cNvPr id="48" name="Shape 45"/>
          <p:cNvSpPr/>
          <p:nvPr/>
        </p:nvSpPr>
        <p:spPr>
          <a:xfrm>
            <a:off x="8278368" y="25328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مِيمٌ</a:t>
            </a:r>
            <a:endParaRPr lang="ar-SA" sz="2050" dirty="0"/>
          </a:p>
        </p:txBody>
      </p:sp>
      <p:sp>
        <p:nvSpPr>
          <p:cNvPr id="51" name="Shape 48"/>
          <p:cNvSpPr/>
          <p:nvPr/>
        </p:nvSpPr>
        <p:spPr>
          <a:xfrm>
            <a:off x="8278368" y="29900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رَاءٌ</a:t>
            </a:r>
            <a:endParaRPr lang="ar-SA" sz="2050" dirty="0"/>
          </a:p>
        </p:txBody>
      </p:sp>
      <p:sp>
        <p:nvSpPr>
          <p:cNvPr id="54" name="Shape 51"/>
          <p:cNvSpPr/>
          <p:nvPr/>
        </p:nvSpPr>
        <p:spPr>
          <a:xfrm>
            <a:off x="8278368" y="3447288"/>
            <a:ext cx="256032" cy="256032"/>
          </a:xfrm>
          <a:prstGeom prst="ellipse">
            <a:avLst/>
          </a:prstGeom>
          <a:solidFill>
            <a:srgbClr val="F4F1EA"/>
          </a:solidFill>
          <a:ln w="12700">
            <a:solidFill>
              <a:srgbClr val="F4F1EA"/>
            </a:solidFill>
            <a:prstDash val="solid"/>
          </a:ln>
        </p:spPr>
      </p:sp>
      <p:sp>
        <p:nvSpPr>
          <p:cNvPr id="55" name="Text 52"/>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وَاوٌ</a:t>
            </a:r>
            <a:endParaRPr lang="ar-SA" sz="2050" dirty="0"/>
          </a:p>
        </p:txBody>
      </p:sp>
      <p:sp>
        <p:nvSpPr>
          <p:cNvPr id="57" name="Shape 54"/>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585216"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0" name="Text 57"/>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What is this letter called?</a:t>
            </a:r>
            <a:endParaRPr lang="en-US" sz="1200" dirty="0"/>
          </a:p>
        </p:txBody>
      </p:sp>
      <p:sp>
        <p:nvSpPr>
          <p:cNvPr id="61" name="Text 58"/>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ه</a:t>
            </a:r>
            <a:endParaRPr lang="ar-SA" sz="2200" dirty="0"/>
          </a:p>
        </p:txBody>
      </p:sp>
      <p:sp>
        <p:nvSpPr>
          <p:cNvPr id="62" name="Shape 59"/>
          <p:cNvSpPr/>
          <p:nvPr/>
        </p:nvSpPr>
        <p:spPr>
          <a:xfrm>
            <a:off x="640080" y="48737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4" name="Text 61"/>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هَاءٌ</a:t>
            </a:r>
            <a:endParaRPr lang="ar-SA" sz="2050" dirty="0"/>
          </a:p>
        </p:txBody>
      </p:sp>
      <p:sp>
        <p:nvSpPr>
          <p:cNvPr id="65" name="Shape 62"/>
          <p:cNvSpPr/>
          <p:nvPr/>
        </p:nvSpPr>
        <p:spPr>
          <a:xfrm>
            <a:off x="640080" y="53309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7" name="Text 64"/>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حَاءٌ</a:t>
            </a:r>
            <a:endParaRPr lang="ar-SA" sz="2050" dirty="0"/>
          </a:p>
        </p:txBody>
      </p:sp>
      <p:sp>
        <p:nvSpPr>
          <p:cNvPr id="68" name="Shape 65"/>
          <p:cNvSpPr/>
          <p:nvPr/>
        </p:nvSpPr>
        <p:spPr>
          <a:xfrm>
            <a:off x="640080" y="5788152"/>
            <a:ext cx="256032" cy="256032"/>
          </a:xfrm>
          <a:prstGeom prst="ellipse">
            <a:avLst/>
          </a:prstGeom>
          <a:solidFill>
            <a:srgbClr val="F4F1EA"/>
          </a:solidFill>
          <a:ln w="12700">
            <a:solidFill>
              <a:srgbClr val="F4F1EA"/>
            </a:solidFill>
            <a:prstDash val="solid"/>
          </a:ln>
        </p:spPr>
      </p:sp>
      <p:sp>
        <p:nvSpPr>
          <p:cNvPr id="69" name="Text 66"/>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0" name="Text 67"/>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خَاءٌ</a:t>
            </a:r>
            <a:endParaRPr lang="ar-SA" sz="2050" dirty="0"/>
          </a:p>
        </p:txBody>
      </p:sp>
      <p:sp>
        <p:nvSpPr>
          <p:cNvPr id="71" name="Shape 68"/>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2" name="Shape 69"/>
          <p:cNvSpPr/>
          <p:nvPr/>
        </p:nvSpPr>
        <p:spPr>
          <a:xfrm>
            <a:off x="4404360" y="4288536"/>
            <a:ext cx="310896" cy="310896"/>
          </a:xfrm>
          <a:prstGeom prst="ellipse">
            <a:avLst/>
          </a:prstGeom>
          <a:solidFill>
            <a:srgbClr val="1B3B6F"/>
          </a:solidFill>
          <a:ln w="12700">
            <a:solidFill>
              <a:srgbClr val="1B3B6F"/>
            </a:solidFill>
            <a:prstDash val="solid"/>
          </a:ln>
        </p:spPr>
      </p:sp>
      <p:sp>
        <p:nvSpPr>
          <p:cNvPr id="73" name="Text 70"/>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4" name="Text 71"/>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What is this letter called?</a:t>
            </a:r>
            <a:endParaRPr lang="en-US" sz="1200" dirty="0"/>
          </a:p>
        </p:txBody>
      </p:sp>
      <p:sp>
        <p:nvSpPr>
          <p:cNvPr id="75" name="Text 72"/>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ل</a:t>
            </a:r>
            <a:endParaRPr lang="ar-SA" sz="2200" dirty="0"/>
          </a:p>
        </p:txBody>
      </p:sp>
      <p:sp>
        <p:nvSpPr>
          <p:cNvPr id="76" name="Shape 73"/>
          <p:cNvSpPr/>
          <p:nvPr/>
        </p:nvSpPr>
        <p:spPr>
          <a:xfrm>
            <a:off x="4459224" y="48737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8" name="Text 75"/>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أَلِفٌ</a:t>
            </a:r>
            <a:endParaRPr lang="ar-SA" sz="2050" dirty="0"/>
          </a:p>
        </p:txBody>
      </p:sp>
      <p:sp>
        <p:nvSpPr>
          <p:cNvPr id="79" name="Shape 76"/>
          <p:cNvSpPr/>
          <p:nvPr/>
        </p:nvSpPr>
        <p:spPr>
          <a:xfrm>
            <a:off x="4459224" y="53309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1" name="Text 78"/>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لَامٌ</a:t>
            </a:r>
            <a:endParaRPr lang="ar-SA" sz="2050" dirty="0"/>
          </a:p>
        </p:txBody>
      </p:sp>
      <p:sp>
        <p:nvSpPr>
          <p:cNvPr id="82" name="Shape 79"/>
          <p:cNvSpPr/>
          <p:nvPr/>
        </p:nvSpPr>
        <p:spPr>
          <a:xfrm>
            <a:off x="4459224" y="5788152"/>
            <a:ext cx="256032" cy="256032"/>
          </a:xfrm>
          <a:prstGeom prst="ellipse">
            <a:avLst/>
          </a:prstGeom>
          <a:solidFill>
            <a:srgbClr val="F4F1EA"/>
          </a:solidFill>
          <a:ln w="12700">
            <a:solidFill>
              <a:srgbClr val="F4F1EA"/>
            </a:solidFill>
            <a:prstDash val="solid"/>
          </a:ln>
        </p:spPr>
      </p:sp>
      <p:sp>
        <p:nvSpPr>
          <p:cNvPr id="83" name="Text 80"/>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4" name="Text 81"/>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كَافٌ</a:t>
            </a:r>
            <a:endParaRPr lang="ar-SA" sz="2050" dirty="0"/>
          </a:p>
        </p:txBody>
      </p:sp>
      <p:sp>
        <p:nvSpPr>
          <p:cNvPr id="85" name="Shape 82"/>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6" name="Shape 83"/>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7" name="Text 84"/>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8" name="Text 85"/>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Use shape, dots, sound and role together.</a:t>
            </a:r>
            <a:endParaRPr lang="en-US" sz="1250" dirty="0"/>
          </a:p>
          <a:p>
            <a:pPr algn="l" indent="0" marL="0">
              <a:buNone/>
            </a:pPr>
            <a:r>
              <a:rPr lang="en-US" sz="1250" dirty="0">
                <a:solidFill>
                  <a:srgbClr val="1E6B52"/>
                </a:solidFill>
                <a:latin typeface="Calibri" pitchFamily="34" charset="0"/>
                <a:cs typeface="Amiri" pitchFamily="2" charset="-78"/>
              </a:rPr>
              <a:t>Two dots below → yāʾ</a:t>
            </a:r>
            <a:endParaRPr lang="en-US" sz="1250" dirty="0"/>
          </a:p>
          <a:p>
            <a:pPr algn="l" indent="0" marL="0">
              <a:buNone/>
            </a:pPr>
            <a:r>
              <a:rPr lang="en-US" sz="1250" dirty="0">
                <a:solidFill>
                  <a:srgbClr val="1E6B52"/>
                </a:solidFill>
                <a:latin typeface="Calibri" pitchFamily="34" charset="0"/>
                <a:cs typeface="Amiri" pitchFamily="2" charset="-78"/>
              </a:rPr>
              <a:t>One dot above a bowl → nūn</a:t>
            </a:r>
            <a:endParaRPr lang="en-US" sz="1250" dirty="0"/>
          </a:p>
        </p:txBody>
      </p:sp>
      <p:sp>
        <p:nvSpPr>
          <p:cNvPr id="89" name="Text 8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29</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F1-L04 · Letters 23–28 + vowels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FINAL-LETTER DETECTIVE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What is this letter called?</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ن</a:t>
            </a:r>
            <a:endParaRPr lang="ar-SA" sz="2200" dirty="0"/>
          </a:p>
        </p:txBody>
      </p:sp>
      <p:sp>
        <p:nvSpPr>
          <p:cNvPr id="20" name="Shape 17"/>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1" name="Shape 18"/>
          <p:cNvSpPr/>
          <p:nvPr/>
        </p:nvSpPr>
        <p:spPr>
          <a:xfrm>
            <a:off x="640080" y="2490216"/>
            <a:ext cx="256032" cy="256032"/>
          </a:xfrm>
          <a:prstGeom prst="ellipse">
            <a:avLst/>
          </a:prstGeom>
          <a:solidFill>
            <a:srgbClr val="2E8B57"/>
          </a:solidFill>
          <a:ln w="12700">
            <a:solidFill>
              <a:srgbClr val="2E8B57"/>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نُونٌ</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بَاءٌ</a:t>
            </a:r>
            <a:endParaRPr lang="ar-SA" sz="1700" dirty="0"/>
          </a:p>
        </p:txBody>
      </p:sp>
      <p:sp>
        <p:nvSpPr>
          <p:cNvPr id="27" name="Shape 24"/>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يَاءٌ</a:t>
            </a:r>
            <a:endParaRPr lang="ar-SA" sz="1700" dirty="0"/>
          </a:p>
        </p:txBody>
      </p:sp>
      <p:sp>
        <p:nvSpPr>
          <p:cNvPr id="30" name="Text 27"/>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Deep bowl + one dot above.</a:t>
            </a:r>
            <a:endParaRPr lang="en-US" sz="1050" dirty="0"/>
          </a:p>
        </p:txBody>
      </p:sp>
      <p:sp>
        <p:nvSpPr>
          <p:cNvPr id="31" name="Shape 28"/>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What is this letter called?</a:t>
            </a:r>
            <a:endParaRPr lang="en-US" sz="1200" dirty="0"/>
          </a:p>
        </p:txBody>
      </p:sp>
      <p:sp>
        <p:nvSpPr>
          <p:cNvPr id="35" name="Text 32"/>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ي</a:t>
            </a:r>
            <a:endParaRPr lang="ar-SA" sz="220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تَاءٌ</a:t>
            </a:r>
            <a:endParaRPr lang="ar-SA" sz="170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نُونٌ</a:t>
            </a:r>
            <a:endParaRPr lang="ar-SA" sz="170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يَاءٌ</a:t>
            </a:r>
            <a:endParaRPr lang="ar-SA" sz="170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Two dots below.</a:t>
            </a:r>
            <a:endParaRPr lang="en-US" sz="10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What is this letter called?</a:t>
            </a:r>
            <a:endParaRPr lang="en-US" sz="1200" dirty="0"/>
          </a:p>
        </p:txBody>
      </p:sp>
      <p:sp>
        <p:nvSpPr>
          <p:cNvPr id="51" name="Text 48"/>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و</a:t>
            </a:r>
            <a:endParaRPr lang="ar-SA" sz="2200" dirty="0"/>
          </a:p>
        </p:txBody>
      </p:sp>
      <p:sp>
        <p:nvSpPr>
          <p:cNvPr id="52" name="Shape 49"/>
          <p:cNvSpPr/>
          <p:nvPr/>
        </p:nvSpPr>
        <p:spPr>
          <a:xfrm>
            <a:off x="8278368" y="2490216"/>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مِيمٌ</a:t>
            </a:r>
            <a:endParaRPr lang="ar-SA" sz="170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رَاءٌ</a:t>
            </a:r>
            <a:endParaRPr lang="ar-SA" sz="1700" dirty="0"/>
          </a:p>
        </p:txBody>
      </p:sp>
      <p:sp>
        <p:nvSpPr>
          <p:cNvPr id="58" name="Shape 55"/>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9" name="Shape 56"/>
          <p:cNvSpPr/>
          <p:nvPr/>
        </p:nvSpPr>
        <p:spPr>
          <a:xfrm>
            <a:off x="8278368" y="3233928"/>
            <a:ext cx="256032" cy="256032"/>
          </a:xfrm>
          <a:prstGeom prst="ellipse">
            <a:avLst/>
          </a:prstGeom>
          <a:solidFill>
            <a:srgbClr val="2E8B57"/>
          </a:solidFill>
          <a:ln w="12700">
            <a:solidFill>
              <a:srgbClr val="2E8B57"/>
            </a:solidFill>
            <a:prstDash val="solid"/>
          </a:ln>
        </p:spPr>
      </p:sp>
      <p:sp>
        <p:nvSpPr>
          <p:cNvPr id="60" name="Text 57"/>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61" name="Text 58"/>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وَاوٌ</a:t>
            </a:r>
            <a:endParaRPr lang="ar-SA" sz="1700" dirty="0"/>
          </a:p>
        </p:txBody>
      </p:sp>
      <p:sp>
        <p:nvSpPr>
          <p:cNvPr id="62" name="Text 59"/>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Round head, tail down — a breaker.</a:t>
            </a:r>
            <a:endParaRPr lang="en-US" sz="1050" dirty="0"/>
          </a:p>
        </p:txBody>
      </p:sp>
      <p:sp>
        <p:nvSpPr>
          <p:cNvPr id="63" name="Shape 60"/>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585216"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6" name="Text 63"/>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What is this letter called?</a:t>
            </a:r>
            <a:endParaRPr lang="en-US" sz="1200" dirty="0"/>
          </a:p>
        </p:txBody>
      </p:sp>
      <p:sp>
        <p:nvSpPr>
          <p:cNvPr id="67" name="Text 64"/>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ه</a:t>
            </a:r>
            <a:endParaRPr lang="ar-SA" sz="2200" dirty="0"/>
          </a:p>
        </p:txBody>
      </p:sp>
      <p:sp>
        <p:nvSpPr>
          <p:cNvPr id="68" name="Shape 65"/>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9" name="Shape 66"/>
          <p:cNvSpPr/>
          <p:nvPr/>
        </p:nvSpPr>
        <p:spPr>
          <a:xfrm>
            <a:off x="640080" y="4831080"/>
            <a:ext cx="256032" cy="256032"/>
          </a:xfrm>
          <a:prstGeom prst="ellipse">
            <a:avLst/>
          </a:prstGeom>
          <a:solidFill>
            <a:srgbClr val="2E8B57"/>
          </a:solidFill>
          <a:ln w="12700">
            <a:solidFill>
              <a:srgbClr val="2E8B57"/>
            </a:solidFill>
            <a:prstDash val="solid"/>
          </a:ln>
        </p:spPr>
      </p:sp>
      <p:sp>
        <p:nvSpPr>
          <p:cNvPr id="70" name="Text 6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71" name="Text 68"/>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هَاءٌ</a:t>
            </a:r>
            <a:endParaRPr lang="ar-SA" sz="1700" dirty="0"/>
          </a:p>
        </p:txBody>
      </p:sp>
      <p:sp>
        <p:nvSpPr>
          <p:cNvPr id="72" name="Shape 69"/>
          <p:cNvSpPr/>
          <p:nvPr/>
        </p:nvSpPr>
        <p:spPr>
          <a:xfrm>
            <a:off x="640080" y="5202936"/>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4" name="Text 71"/>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حَاءٌ</a:t>
            </a:r>
            <a:endParaRPr lang="ar-SA" sz="1700" dirty="0"/>
          </a:p>
        </p:txBody>
      </p:sp>
      <p:sp>
        <p:nvSpPr>
          <p:cNvPr id="75" name="Shape 72"/>
          <p:cNvSpPr/>
          <p:nvPr/>
        </p:nvSpPr>
        <p:spPr>
          <a:xfrm>
            <a:off x="640080" y="5574792"/>
            <a:ext cx="256032" cy="256032"/>
          </a:xfrm>
          <a:prstGeom prst="ellipse">
            <a:avLst/>
          </a:prstGeom>
          <a:solidFill>
            <a:srgbClr val="C9CED6"/>
          </a:solidFill>
          <a:ln w="12700">
            <a:solidFill>
              <a:srgbClr val="C9CED6"/>
            </a:solidFill>
            <a:prstDash val="solid"/>
          </a:ln>
        </p:spPr>
      </p:sp>
      <p:sp>
        <p:nvSpPr>
          <p:cNvPr id="76" name="Text 73"/>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7" name="Text 74"/>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خَاءٌ</a:t>
            </a:r>
            <a:endParaRPr lang="ar-SA" sz="1700" dirty="0"/>
          </a:p>
        </p:txBody>
      </p:sp>
      <p:sp>
        <p:nvSpPr>
          <p:cNvPr id="78" name="Text 75"/>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ordinary h — a closed loop.</a:t>
            </a:r>
            <a:endParaRPr lang="en-US" sz="1050" dirty="0"/>
          </a:p>
        </p:txBody>
      </p:sp>
      <p:sp>
        <p:nvSpPr>
          <p:cNvPr id="79" name="Shape 7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0" name="Shape 77"/>
          <p:cNvSpPr/>
          <p:nvPr/>
        </p:nvSpPr>
        <p:spPr>
          <a:xfrm>
            <a:off x="4404360" y="4288536"/>
            <a:ext cx="310896" cy="310896"/>
          </a:xfrm>
          <a:prstGeom prst="ellipse">
            <a:avLst/>
          </a:prstGeom>
          <a:solidFill>
            <a:srgbClr val="1B3B6F"/>
          </a:solidFill>
          <a:ln w="12700">
            <a:solidFill>
              <a:srgbClr val="1B3B6F"/>
            </a:solidFill>
            <a:prstDash val="solid"/>
          </a:ln>
        </p:spPr>
      </p:sp>
      <p:sp>
        <p:nvSpPr>
          <p:cNvPr id="81" name="Text 7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2" name="Text 79"/>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What is this letter called?</a:t>
            </a:r>
            <a:endParaRPr lang="en-US" sz="1200" dirty="0"/>
          </a:p>
        </p:txBody>
      </p:sp>
      <p:sp>
        <p:nvSpPr>
          <p:cNvPr id="83" name="Text 80"/>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ل</a:t>
            </a:r>
            <a:endParaRPr lang="ar-SA" sz="2200" dirty="0"/>
          </a:p>
        </p:txBody>
      </p:sp>
      <p:sp>
        <p:nvSpPr>
          <p:cNvPr id="84" name="Shape 81"/>
          <p:cNvSpPr/>
          <p:nvPr/>
        </p:nvSpPr>
        <p:spPr>
          <a:xfrm>
            <a:off x="4459224" y="4831080"/>
            <a:ext cx="256032" cy="256032"/>
          </a:xfrm>
          <a:prstGeom prst="ellipse">
            <a:avLst/>
          </a:prstGeom>
          <a:solidFill>
            <a:srgbClr val="C9CED6"/>
          </a:solidFill>
          <a:ln w="12700">
            <a:solidFill>
              <a:srgbClr val="C9CED6"/>
            </a:solidFill>
            <a:prstDash val="solid"/>
          </a:ln>
        </p:spPr>
      </p:sp>
      <p:sp>
        <p:nvSpPr>
          <p:cNvPr id="85" name="Text 82"/>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6" name="Text 83"/>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أَلِفٌ</a:t>
            </a:r>
            <a:endParaRPr lang="ar-SA" sz="1700" dirty="0"/>
          </a:p>
        </p:txBody>
      </p:sp>
      <p:sp>
        <p:nvSpPr>
          <p:cNvPr id="87" name="Shape 84"/>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8" name="Shape 85"/>
          <p:cNvSpPr/>
          <p:nvPr/>
        </p:nvSpPr>
        <p:spPr>
          <a:xfrm>
            <a:off x="4459224" y="5202936"/>
            <a:ext cx="256032" cy="256032"/>
          </a:xfrm>
          <a:prstGeom prst="ellipse">
            <a:avLst/>
          </a:prstGeom>
          <a:solidFill>
            <a:srgbClr val="2E8B57"/>
          </a:solidFill>
          <a:ln w="12700">
            <a:solidFill>
              <a:srgbClr val="2E8B57"/>
            </a:solidFill>
            <a:prstDash val="solid"/>
          </a:ln>
        </p:spPr>
      </p:sp>
      <p:sp>
        <p:nvSpPr>
          <p:cNvPr id="89" name="Text 86"/>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90" name="Text 87"/>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لَامٌ</a:t>
            </a:r>
            <a:endParaRPr lang="ar-SA" sz="1700" dirty="0"/>
          </a:p>
        </p:txBody>
      </p:sp>
      <p:sp>
        <p:nvSpPr>
          <p:cNvPr id="91" name="Shape 88"/>
          <p:cNvSpPr/>
          <p:nvPr/>
        </p:nvSpPr>
        <p:spPr>
          <a:xfrm>
            <a:off x="4459224" y="5574792"/>
            <a:ext cx="256032" cy="256032"/>
          </a:xfrm>
          <a:prstGeom prst="ellipse">
            <a:avLst/>
          </a:prstGeom>
          <a:solidFill>
            <a:srgbClr val="C9CED6"/>
          </a:solidFill>
          <a:ln w="12700">
            <a:solidFill>
              <a:srgbClr val="C9CED6"/>
            </a:solidFill>
            <a:prstDash val="solid"/>
          </a:ln>
        </p:spPr>
      </p:sp>
      <p:sp>
        <p:nvSpPr>
          <p:cNvPr id="92" name="Text 89"/>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3" name="Text 90"/>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كَافٌ</a:t>
            </a:r>
            <a:endParaRPr lang="ar-SA" sz="1700" dirty="0"/>
          </a:p>
        </p:txBody>
      </p:sp>
      <p:sp>
        <p:nvSpPr>
          <p:cNvPr id="94" name="Text 91"/>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Tall stem with a curve below.</a:t>
            </a:r>
            <a:endParaRPr lang="en-US" sz="1050" dirty="0"/>
          </a:p>
        </p:txBody>
      </p:sp>
      <p:sp>
        <p:nvSpPr>
          <p:cNvPr id="95" name="Shape 92"/>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6" name="Shape 93"/>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7" name="Text 94"/>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8" name="Text 95"/>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Use shape, dots, sound and role together.</a:t>
            </a:r>
            <a:endParaRPr lang="en-US" sz="1250" dirty="0"/>
          </a:p>
          <a:p>
            <a:pPr algn="l" indent="0" marL="0">
              <a:buNone/>
            </a:pPr>
            <a:r>
              <a:rPr lang="en-US" sz="1250" dirty="0">
                <a:solidFill>
                  <a:srgbClr val="1E6B52"/>
                </a:solidFill>
                <a:latin typeface="Calibri" pitchFamily="34" charset="0"/>
                <a:cs typeface="Amiri" pitchFamily="2" charset="-78"/>
              </a:rPr>
              <a:t>Two dots below → yāʾ</a:t>
            </a:r>
            <a:endParaRPr lang="en-US" sz="1250" dirty="0"/>
          </a:p>
          <a:p>
            <a:pPr algn="l" indent="0" marL="0">
              <a:buNone/>
            </a:pPr>
            <a:r>
              <a:rPr lang="en-US" sz="1250" dirty="0">
                <a:solidFill>
                  <a:srgbClr val="1E6B52"/>
                </a:solidFill>
                <a:latin typeface="Calibri" pitchFamily="34" charset="0"/>
                <a:cs typeface="Amiri" pitchFamily="2" charset="-78"/>
              </a:rPr>
              <a:t>One dot above a bowl → nūn</a:t>
            </a:r>
            <a:endParaRPr lang="en-US" sz="1250" dirty="0"/>
          </a:p>
        </p:txBody>
      </p:sp>
      <p:sp>
        <p:nvSpPr>
          <p:cNvPr id="99" name="Text 9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29</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F1-L04 · Letters 23–28 + vowels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GAME “CONNECTION GATE”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letters break the chain?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بَوَّابَةُ الاِتِّصَالِ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F1-L04</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و</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ر</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د</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Breaks after it</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Connects on both sides</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29</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F1-L04 · Letters 23–28 + vowels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CONNECTION GATE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F1-L04</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Breaks after it</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و</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ر</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د</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Connects on both sides</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29</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F1-L04 · Letters 23–28 + vowels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WE DO · WEBSITE GAME “DIACRITIC DECODER” AND THE LESSON VOWEL GAME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Diacritic decoder: read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اِقْرَأِ الحَرَكَاتِ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Read</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بَ</a:t>
            </a:r>
            <a:endParaRPr lang="ar-SA" sz="22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bu</a:t>
            </a:r>
            <a:endParaRPr lang="en-US" sz="12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bi</a:t>
            </a:r>
            <a:endParaRPr lang="en-US" sz="12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ba</a:t>
            </a:r>
            <a:endParaRPr lang="en-US" sz="1250" dirty="0"/>
          </a:p>
        </p:txBody>
      </p:sp>
      <p:sp>
        <p:nvSpPr>
          <p:cNvPr id="29" name="Shape 26"/>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4404360"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2" name="Text 29"/>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Read</a:t>
            </a:r>
            <a:endParaRPr lang="en-US" sz="1200" dirty="0"/>
          </a:p>
        </p:txBody>
      </p:sp>
      <p:sp>
        <p:nvSpPr>
          <p:cNvPr id="33" name="Text 30"/>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بِ</a:t>
            </a:r>
            <a:endParaRPr lang="ar-SA" sz="220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ba</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bu</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bi</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Read</a:t>
            </a:r>
            <a:endParaRPr lang="en-US" sz="1200" dirty="0"/>
          </a:p>
        </p:txBody>
      </p:sp>
      <p:sp>
        <p:nvSpPr>
          <p:cNvPr id="47" name="Text 44"/>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بُ</a:t>
            </a:r>
            <a:endParaRPr lang="ar-SA" sz="2200" dirty="0"/>
          </a:p>
        </p:txBody>
      </p:sp>
      <p:sp>
        <p:nvSpPr>
          <p:cNvPr id="48" name="Shape 45"/>
          <p:cNvSpPr/>
          <p:nvPr/>
        </p:nvSpPr>
        <p:spPr>
          <a:xfrm>
            <a:off x="8278368" y="25328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bu</a:t>
            </a:r>
            <a:endParaRPr lang="en-US" sz="1250" dirty="0"/>
          </a:p>
        </p:txBody>
      </p:sp>
      <p:sp>
        <p:nvSpPr>
          <p:cNvPr id="51" name="Shape 48"/>
          <p:cNvSpPr/>
          <p:nvPr/>
        </p:nvSpPr>
        <p:spPr>
          <a:xfrm>
            <a:off x="8278368" y="29900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bi</a:t>
            </a:r>
            <a:endParaRPr lang="en-US" sz="1250" dirty="0"/>
          </a:p>
        </p:txBody>
      </p:sp>
      <p:sp>
        <p:nvSpPr>
          <p:cNvPr id="54" name="Shape 51"/>
          <p:cNvSpPr/>
          <p:nvPr/>
        </p:nvSpPr>
        <p:spPr>
          <a:xfrm>
            <a:off x="8278368" y="3447288"/>
            <a:ext cx="256032" cy="256032"/>
          </a:xfrm>
          <a:prstGeom prst="ellipse">
            <a:avLst/>
          </a:prstGeom>
          <a:solidFill>
            <a:srgbClr val="F4F1EA"/>
          </a:solidFill>
          <a:ln w="12700">
            <a:solidFill>
              <a:srgbClr val="F4F1EA"/>
            </a:solidFill>
            <a:prstDash val="solid"/>
          </a:ln>
        </p:spPr>
      </p:sp>
      <p:sp>
        <p:nvSpPr>
          <p:cNvPr id="55" name="Text 52"/>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ba</a:t>
            </a:r>
            <a:endParaRPr lang="en-US" sz="1250" dirty="0"/>
          </a:p>
        </p:txBody>
      </p:sp>
      <p:sp>
        <p:nvSpPr>
          <p:cNvPr id="57" name="Shape 54"/>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585216"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0" name="Text 57"/>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Read</a:t>
            </a:r>
            <a:endParaRPr lang="en-US" sz="1200" dirty="0"/>
          </a:p>
        </p:txBody>
      </p:sp>
      <p:sp>
        <p:nvSpPr>
          <p:cNvPr id="61" name="Text 58"/>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مِنْ</a:t>
            </a:r>
            <a:endParaRPr lang="ar-SA" sz="2200" dirty="0"/>
          </a:p>
        </p:txBody>
      </p:sp>
      <p:sp>
        <p:nvSpPr>
          <p:cNvPr id="62" name="Shape 59"/>
          <p:cNvSpPr/>
          <p:nvPr/>
        </p:nvSpPr>
        <p:spPr>
          <a:xfrm>
            <a:off x="640080" y="48737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4" name="Text 61"/>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mina</a:t>
            </a:r>
            <a:endParaRPr lang="en-US" sz="1250" dirty="0"/>
          </a:p>
        </p:txBody>
      </p:sp>
      <p:sp>
        <p:nvSpPr>
          <p:cNvPr id="65" name="Shape 62"/>
          <p:cNvSpPr/>
          <p:nvPr/>
        </p:nvSpPr>
        <p:spPr>
          <a:xfrm>
            <a:off x="640080" y="53309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7" name="Text 64"/>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min</a:t>
            </a:r>
            <a:endParaRPr lang="en-US" sz="1250" dirty="0"/>
          </a:p>
        </p:txBody>
      </p:sp>
      <p:sp>
        <p:nvSpPr>
          <p:cNvPr id="68" name="Shape 65"/>
          <p:cNvSpPr/>
          <p:nvPr/>
        </p:nvSpPr>
        <p:spPr>
          <a:xfrm>
            <a:off x="640080" y="5788152"/>
            <a:ext cx="256032" cy="256032"/>
          </a:xfrm>
          <a:prstGeom prst="ellipse">
            <a:avLst/>
          </a:prstGeom>
          <a:solidFill>
            <a:srgbClr val="F4F1EA"/>
          </a:solidFill>
          <a:ln w="12700">
            <a:solidFill>
              <a:srgbClr val="F4F1EA"/>
            </a:solidFill>
            <a:prstDash val="solid"/>
          </a:ln>
        </p:spPr>
      </p:sp>
      <p:sp>
        <p:nvSpPr>
          <p:cNvPr id="69" name="Text 66"/>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0" name="Text 67"/>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mun</a:t>
            </a:r>
            <a:endParaRPr lang="en-US" sz="1250" dirty="0"/>
          </a:p>
        </p:txBody>
      </p:sp>
      <p:sp>
        <p:nvSpPr>
          <p:cNvPr id="71" name="Shape 68"/>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2" name="Shape 69"/>
          <p:cNvSpPr/>
          <p:nvPr/>
        </p:nvSpPr>
        <p:spPr>
          <a:xfrm>
            <a:off x="4404360" y="4288536"/>
            <a:ext cx="310896" cy="310896"/>
          </a:xfrm>
          <a:prstGeom prst="ellipse">
            <a:avLst/>
          </a:prstGeom>
          <a:solidFill>
            <a:srgbClr val="1B3B6F"/>
          </a:solidFill>
          <a:ln w="12700">
            <a:solidFill>
              <a:srgbClr val="1B3B6F"/>
            </a:solidFill>
            <a:prstDash val="solid"/>
          </a:ln>
        </p:spPr>
      </p:sp>
      <p:sp>
        <p:nvSpPr>
          <p:cNvPr id="73" name="Text 70"/>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4" name="Text 71"/>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sukūn show?</a:t>
            </a:r>
            <a:endParaRPr lang="en-US" sz="1250" dirty="0"/>
          </a:p>
        </p:txBody>
      </p:sp>
      <p:sp>
        <p:nvSpPr>
          <p:cNvPr id="75" name="Shape 72"/>
          <p:cNvSpPr/>
          <p:nvPr/>
        </p:nvSpPr>
        <p:spPr>
          <a:xfrm>
            <a:off x="4459224" y="4873752"/>
            <a:ext cx="256032" cy="256032"/>
          </a:xfrm>
          <a:prstGeom prst="ellipse">
            <a:avLst/>
          </a:prstGeom>
          <a:solidFill>
            <a:srgbClr val="F4F1EA"/>
          </a:solidFill>
          <a:ln w="12700">
            <a:solidFill>
              <a:srgbClr val="F4F1EA"/>
            </a:solidFill>
            <a:prstDash val="solid"/>
          </a:ln>
        </p:spPr>
      </p:sp>
      <p:sp>
        <p:nvSpPr>
          <p:cNvPr id="76" name="Text 73"/>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7" name="Text 74"/>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 following short vowel</a:t>
            </a:r>
            <a:endParaRPr lang="en-US" sz="1250" dirty="0"/>
          </a:p>
        </p:txBody>
      </p:sp>
      <p:sp>
        <p:nvSpPr>
          <p:cNvPr id="78" name="Shape 75"/>
          <p:cNvSpPr/>
          <p:nvPr/>
        </p:nvSpPr>
        <p:spPr>
          <a:xfrm>
            <a:off x="4459224" y="5330952"/>
            <a:ext cx="256032" cy="256032"/>
          </a:xfrm>
          <a:prstGeom prst="ellipse">
            <a:avLst/>
          </a:prstGeom>
          <a:solidFill>
            <a:srgbClr val="F4F1EA"/>
          </a:solidFill>
          <a:ln w="12700">
            <a:solidFill>
              <a:srgbClr val="F4F1EA"/>
            </a:solidFill>
            <a:prstDash val="solid"/>
          </a:ln>
        </p:spPr>
      </p:sp>
      <p:sp>
        <p:nvSpPr>
          <p:cNvPr id="79" name="Text 76"/>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0" name="Text 77"/>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letter is always silent</a:t>
            </a:r>
            <a:endParaRPr lang="en-US" sz="1250" dirty="0"/>
          </a:p>
        </p:txBody>
      </p:sp>
      <p:sp>
        <p:nvSpPr>
          <p:cNvPr id="81" name="Shape 78"/>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2" name="Shape 79"/>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3" name="Text 80"/>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4" name="Text 81"/>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Line above → a</a:t>
            </a:r>
            <a:endParaRPr lang="en-US" sz="1250" dirty="0"/>
          </a:p>
          <a:p>
            <a:pPr algn="l" indent="0" marL="0">
              <a:buNone/>
            </a:pPr>
            <a:r>
              <a:rPr lang="en-US" sz="1250" dirty="0">
                <a:solidFill>
                  <a:srgbClr val="1E6B52"/>
                </a:solidFill>
                <a:latin typeface="Calibri" pitchFamily="34" charset="0"/>
                <a:cs typeface="Amiri" pitchFamily="2" charset="-78"/>
              </a:rPr>
              <a:t>Curl above → u</a:t>
            </a:r>
            <a:endParaRPr lang="en-US" sz="1250" dirty="0"/>
          </a:p>
          <a:p>
            <a:pPr algn="l" indent="0" marL="0">
              <a:buNone/>
            </a:pPr>
            <a:r>
              <a:rPr lang="en-US" sz="1250" dirty="0">
                <a:solidFill>
                  <a:srgbClr val="1E6B52"/>
                </a:solidFill>
                <a:latin typeface="Calibri" pitchFamily="34" charset="0"/>
                <a:cs typeface="Amiri" pitchFamily="2" charset="-78"/>
              </a:rPr>
              <a:t>Line below → i</a:t>
            </a:r>
            <a:endParaRPr lang="en-US" sz="1250" dirty="0"/>
          </a:p>
          <a:p>
            <a:pPr algn="l" indent="0" marL="0">
              <a:buNone/>
            </a:pPr>
            <a:r>
              <a:rPr lang="en-US" sz="1250" dirty="0">
                <a:solidFill>
                  <a:srgbClr val="1E6B52"/>
                </a:solidFill>
                <a:latin typeface="Calibri" pitchFamily="34" charset="0"/>
                <a:cs typeface="Amiri" pitchFamily="2" charset="-78"/>
              </a:rPr>
              <a:t>Circle → stop</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29</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F1-L04 · Letters 23–28 + vowels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DIACRITIC DECODER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Read</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بَ</a:t>
            </a:r>
            <a:endParaRPr lang="ar-SA" sz="2200" dirty="0"/>
          </a:p>
        </p:txBody>
      </p:sp>
      <p:sp>
        <p:nvSpPr>
          <p:cNvPr id="20" name="Shape 17"/>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bu</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bi</a:t>
            </a:r>
            <a:endParaRPr lang="en-US" sz="1250" dirty="0"/>
          </a:p>
        </p:txBody>
      </p:sp>
      <p:sp>
        <p:nvSpPr>
          <p:cNvPr id="26" name="Shape 23"/>
          <p:cNvSpPr/>
          <p:nvPr/>
        </p:nvSpPr>
        <p:spPr>
          <a:xfrm>
            <a:off x="548640" y="3197352"/>
            <a:ext cx="3453384" cy="347472"/>
          </a:xfrm>
          <a:prstGeom prst="roundRect">
            <a:avLst>
              <a:gd name="adj" fmla="val 15789"/>
            </a:avLst>
          </a:prstGeom>
          <a:solidFill>
            <a:srgbClr val="E6F4EC"/>
          </a:solidFill>
          <a:ln w="9525">
            <a:solidFill>
              <a:srgbClr val="2E8B57"/>
            </a:solidFill>
            <a:prstDash val="solid"/>
          </a:ln>
        </p:spPr>
      </p:sp>
      <p:sp>
        <p:nvSpPr>
          <p:cNvPr id="27" name="Shape 24"/>
          <p:cNvSpPr/>
          <p:nvPr/>
        </p:nvSpPr>
        <p:spPr>
          <a:xfrm>
            <a:off x="640080" y="3233928"/>
            <a:ext cx="256032" cy="256032"/>
          </a:xfrm>
          <a:prstGeom prst="ellipse">
            <a:avLst/>
          </a:prstGeom>
          <a:solidFill>
            <a:srgbClr val="2E8B57"/>
          </a:solidFill>
          <a:ln w="12700">
            <a:solidFill>
              <a:srgbClr val="2E8B57"/>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9" name="Text 26"/>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ba</a:t>
            </a:r>
            <a:endParaRPr lang="en-US" sz="1250" dirty="0"/>
          </a:p>
        </p:txBody>
      </p:sp>
      <p:sp>
        <p:nvSpPr>
          <p:cNvPr id="30" name="Text 27"/>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Fatḥa gives a short a sound.</a:t>
            </a:r>
            <a:endParaRPr lang="en-US" sz="1050" dirty="0"/>
          </a:p>
        </p:txBody>
      </p:sp>
      <p:sp>
        <p:nvSpPr>
          <p:cNvPr id="31" name="Shape 28"/>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Read</a:t>
            </a:r>
            <a:endParaRPr lang="en-US" sz="1200" dirty="0"/>
          </a:p>
        </p:txBody>
      </p:sp>
      <p:sp>
        <p:nvSpPr>
          <p:cNvPr id="35" name="Text 32"/>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بِ</a:t>
            </a:r>
            <a:endParaRPr lang="ar-SA" sz="220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ba</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bu</a:t>
            </a:r>
            <a:endParaRPr lang="en-US" sz="125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bi</a:t>
            </a:r>
            <a:endParaRPr lang="en-US" sz="12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Kasra gives a short i sound.</a:t>
            </a:r>
            <a:endParaRPr lang="en-US" sz="10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Read</a:t>
            </a:r>
            <a:endParaRPr lang="en-US" sz="1200" dirty="0"/>
          </a:p>
        </p:txBody>
      </p:sp>
      <p:sp>
        <p:nvSpPr>
          <p:cNvPr id="51" name="Text 48"/>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بُ</a:t>
            </a:r>
            <a:endParaRPr lang="ar-SA" sz="2200" dirty="0"/>
          </a:p>
        </p:txBody>
      </p:sp>
      <p:sp>
        <p:nvSpPr>
          <p:cNvPr id="52" name="Shape 49"/>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8278368" y="249021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5" name="Text 52"/>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bu</a:t>
            </a:r>
            <a:endParaRPr lang="en-US" sz="1250" dirty="0"/>
          </a:p>
        </p:txBody>
      </p:sp>
      <p:sp>
        <p:nvSpPr>
          <p:cNvPr id="56" name="Shape 53"/>
          <p:cNvSpPr/>
          <p:nvPr/>
        </p:nvSpPr>
        <p:spPr>
          <a:xfrm>
            <a:off x="8278368" y="286207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8" name="Text 55"/>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bi</a:t>
            </a:r>
            <a:endParaRPr lang="en-US" sz="1250" dirty="0"/>
          </a:p>
        </p:txBody>
      </p:sp>
      <p:sp>
        <p:nvSpPr>
          <p:cNvPr id="59" name="Shape 56"/>
          <p:cNvSpPr/>
          <p:nvPr/>
        </p:nvSpPr>
        <p:spPr>
          <a:xfrm>
            <a:off x="8278368" y="3233928"/>
            <a:ext cx="256032" cy="256032"/>
          </a:xfrm>
          <a:prstGeom prst="ellipse">
            <a:avLst/>
          </a:prstGeom>
          <a:solidFill>
            <a:srgbClr val="C9CED6"/>
          </a:solidFill>
          <a:ln w="12700">
            <a:solidFill>
              <a:srgbClr val="C9CED6"/>
            </a:solidFill>
            <a:prstDash val="solid"/>
          </a:ln>
        </p:spPr>
      </p:sp>
      <p:sp>
        <p:nvSpPr>
          <p:cNvPr id="60" name="Text 57"/>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ba</a:t>
            </a:r>
            <a:endParaRPr lang="en-US" sz="1250" dirty="0"/>
          </a:p>
        </p:txBody>
      </p:sp>
      <p:sp>
        <p:nvSpPr>
          <p:cNvPr id="62" name="Text 59"/>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Ḍamma gives a short u sound.</a:t>
            </a:r>
            <a:endParaRPr lang="en-US" sz="1050" dirty="0"/>
          </a:p>
        </p:txBody>
      </p:sp>
      <p:sp>
        <p:nvSpPr>
          <p:cNvPr id="63" name="Shape 60"/>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585216"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6" name="Text 63"/>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Read</a:t>
            </a:r>
            <a:endParaRPr lang="en-US" sz="1200" dirty="0"/>
          </a:p>
        </p:txBody>
      </p:sp>
      <p:sp>
        <p:nvSpPr>
          <p:cNvPr id="67" name="Text 64"/>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مِنْ</a:t>
            </a:r>
            <a:endParaRPr lang="ar-SA" sz="2200" dirty="0"/>
          </a:p>
        </p:txBody>
      </p:sp>
      <p:sp>
        <p:nvSpPr>
          <p:cNvPr id="68" name="Shape 65"/>
          <p:cNvSpPr/>
          <p:nvPr/>
        </p:nvSpPr>
        <p:spPr>
          <a:xfrm>
            <a:off x="640080" y="4831080"/>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0" name="Text 67"/>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mina</a:t>
            </a:r>
            <a:endParaRPr lang="en-US" sz="1250" dirty="0"/>
          </a:p>
        </p:txBody>
      </p:sp>
      <p:sp>
        <p:nvSpPr>
          <p:cNvPr id="71" name="Shape 68"/>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2" name="Shape 69"/>
          <p:cNvSpPr/>
          <p:nvPr/>
        </p:nvSpPr>
        <p:spPr>
          <a:xfrm>
            <a:off x="640080" y="5202936"/>
            <a:ext cx="256032" cy="256032"/>
          </a:xfrm>
          <a:prstGeom prst="ellipse">
            <a:avLst/>
          </a:prstGeom>
          <a:solidFill>
            <a:srgbClr val="2E8B57"/>
          </a:solidFill>
          <a:ln w="12700">
            <a:solidFill>
              <a:srgbClr val="2E8B57"/>
            </a:solidFill>
            <a:prstDash val="solid"/>
          </a:ln>
        </p:spPr>
      </p:sp>
      <p:sp>
        <p:nvSpPr>
          <p:cNvPr id="73" name="Text 70"/>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4" name="Text 71"/>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min</a:t>
            </a:r>
            <a:endParaRPr lang="en-US" sz="1250" dirty="0"/>
          </a:p>
        </p:txBody>
      </p:sp>
      <p:sp>
        <p:nvSpPr>
          <p:cNvPr id="75" name="Shape 72"/>
          <p:cNvSpPr/>
          <p:nvPr/>
        </p:nvSpPr>
        <p:spPr>
          <a:xfrm>
            <a:off x="640080" y="5574792"/>
            <a:ext cx="256032" cy="256032"/>
          </a:xfrm>
          <a:prstGeom prst="ellipse">
            <a:avLst/>
          </a:prstGeom>
          <a:solidFill>
            <a:srgbClr val="C9CED6"/>
          </a:solidFill>
          <a:ln w="12700">
            <a:solidFill>
              <a:srgbClr val="C9CED6"/>
            </a:solidFill>
            <a:prstDash val="solid"/>
          </a:ln>
        </p:spPr>
      </p:sp>
      <p:sp>
        <p:nvSpPr>
          <p:cNvPr id="76" name="Text 73"/>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7" name="Text 74"/>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mun</a:t>
            </a:r>
            <a:endParaRPr lang="en-US" sz="1250" dirty="0"/>
          </a:p>
        </p:txBody>
      </p:sp>
      <p:sp>
        <p:nvSpPr>
          <p:cNvPr id="78" name="Text 75"/>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kasra then sukūn (website final check 10).</a:t>
            </a:r>
            <a:endParaRPr lang="en-US" sz="1050" dirty="0"/>
          </a:p>
        </p:txBody>
      </p:sp>
      <p:sp>
        <p:nvSpPr>
          <p:cNvPr id="79" name="Shape 7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0" name="Shape 77"/>
          <p:cNvSpPr/>
          <p:nvPr/>
        </p:nvSpPr>
        <p:spPr>
          <a:xfrm>
            <a:off x="4404360" y="4288536"/>
            <a:ext cx="310896" cy="310896"/>
          </a:xfrm>
          <a:prstGeom prst="ellipse">
            <a:avLst/>
          </a:prstGeom>
          <a:solidFill>
            <a:srgbClr val="1B3B6F"/>
          </a:solidFill>
          <a:ln w="12700">
            <a:solidFill>
              <a:srgbClr val="1B3B6F"/>
            </a:solidFill>
            <a:prstDash val="solid"/>
          </a:ln>
        </p:spPr>
      </p:sp>
      <p:sp>
        <p:nvSpPr>
          <p:cNvPr id="81" name="Text 7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2" name="Text 7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sukūn show?</a:t>
            </a:r>
            <a:endParaRPr lang="en-US" sz="1250" dirty="0"/>
          </a:p>
        </p:txBody>
      </p:sp>
      <p:sp>
        <p:nvSpPr>
          <p:cNvPr id="83" name="Shape 80"/>
          <p:cNvSpPr/>
          <p:nvPr/>
        </p:nvSpPr>
        <p:spPr>
          <a:xfrm>
            <a:off x="4367784" y="4837176"/>
            <a:ext cx="3453384" cy="347472"/>
          </a:xfrm>
          <a:prstGeom prst="roundRect">
            <a:avLst>
              <a:gd name="adj" fmla="val 15789"/>
            </a:avLst>
          </a:prstGeom>
          <a:solidFill>
            <a:srgbClr val="E6F4EC"/>
          </a:solidFill>
          <a:ln w="9525">
            <a:solidFill>
              <a:srgbClr val="2E8B57"/>
            </a:solidFill>
            <a:prstDash val="solid"/>
          </a:ln>
        </p:spPr>
      </p:sp>
      <p:sp>
        <p:nvSpPr>
          <p:cNvPr id="84" name="Shape 81"/>
          <p:cNvSpPr/>
          <p:nvPr/>
        </p:nvSpPr>
        <p:spPr>
          <a:xfrm>
            <a:off x="4459224" y="4873752"/>
            <a:ext cx="256032" cy="256032"/>
          </a:xfrm>
          <a:prstGeom prst="ellipse">
            <a:avLst/>
          </a:prstGeom>
          <a:solidFill>
            <a:srgbClr val="2E8B57"/>
          </a:solidFill>
          <a:ln w="12700">
            <a:solidFill>
              <a:srgbClr val="2E8B57"/>
            </a:solidFill>
            <a:prstDash val="solid"/>
          </a:ln>
        </p:spPr>
      </p:sp>
      <p:sp>
        <p:nvSpPr>
          <p:cNvPr id="85" name="Text 82"/>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6" name="Text 83"/>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No following short vowel</a:t>
            </a:r>
            <a:endParaRPr lang="en-US" sz="1250" dirty="0"/>
          </a:p>
        </p:txBody>
      </p:sp>
      <p:sp>
        <p:nvSpPr>
          <p:cNvPr id="87" name="Shape 84"/>
          <p:cNvSpPr/>
          <p:nvPr/>
        </p:nvSpPr>
        <p:spPr>
          <a:xfrm>
            <a:off x="4459224" y="5330952"/>
            <a:ext cx="256032" cy="256032"/>
          </a:xfrm>
          <a:prstGeom prst="ellipse">
            <a:avLst/>
          </a:prstGeom>
          <a:solidFill>
            <a:srgbClr val="C9CED6"/>
          </a:solidFill>
          <a:ln w="12700">
            <a:solidFill>
              <a:srgbClr val="C9CED6"/>
            </a:solidFill>
            <a:prstDash val="solid"/>
          </a:ln>
        </p:spPr>
      </p:sp>
      <p:sp>
        <p:nvSpPr>
          <p:cNvPr id="88" name="Text 85"/>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9" name="Text 86"/>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letter is always silent</a:t>
            </a:r>
            <a:endParaRPr lang="en-US" sz="1250" dirty="0"/>
          </a:p>
        </p:txBody>
      </p:sp>
      <p:sp>
        <p:nvSpPr>
          <p:cNvPr id="90" name="Text 87"/>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consonant is said; no vowel follows (website final check 9).</a:t>
            </a:r>
            <a:endParaRPr lang="en-US" sz="1050" dirty="0"/>
          </a:p>
        </p:txBody>
      </p:sp>
      <p:sp>
        <p:nvSpPr>
          <p:cNvPr id="91" name="Shape 88"/>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2" name="Shape 89"/>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3" name="Text 90"/>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4" name="Text 91"/>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Line above → a</a:t>
            </a:r>
            <a:endParaRPr lang="en-US" sz="1250" dirty="0"/>
          </a:p>
          <a:p>
            <a:pPr algn="l" indent="0" marL="0">
              <a:buNone/>
            </a:pPr>
            <a:r>
              <a:rPr lang="en-US" sz="1250" dirty="0">
                <a:solidFill>
                  <a:srgbClr val="1E6B52"/>
                </a:solidFill>
                <a:latin typeface="Calibri" pitchFamily="34" charset="0"/>
                <a:cs typeface="Amiri" pitchFamily="2" charset="-78"/>
              </a:rPr>
              <a:t>Curl above → u</a:t>
            </a:r>
            <a:endParaRPr lang="en-US" sz="1250" dirty="0"/>
          </a:p>
          <a:p>
            <a:pPr algn="l" indent="0" marL="0">
              <a:buNone/>
            </a:pPr>
            <a:r>
              <a:rPr lang="en-US" sz="1250" dirty="0">
                <a:solidFill>
                  <a:srgbClr val="1E6B52"/>
                </a:solidFill>
                <a:latin typeface="Calibri" pitchFamily="34" charset="0"/>
                <a:cs typeface="Amiri" pitchFamily="2" charset="-78"/>
              </a:rPr>
              <a:t>Line below → i</a:t>
            </a:r>
            <a:endParaRPr lang="en-US" sz="1250" dirty="0"/>
          </a:p>
          <a:p>
            <a:pPr algn="l" indent="0" marL="0">
              <a:buNone/>
            </a:pPr>
            <a:r>
              <a:rPr lang="en-US" sz="1250" dirty="0">
                <a:solidFill>
                  <a:srgbClr val="1E6B52"/>
                </a:solidFill>
                <a:latin typeface="Calibri" pitchFamily="34" charset="0"/>
                <a:cs typeface="Amiri" pitchFamily="2" charset="-78"/>
              </a:rPr>
              <a:t>Circle → stop</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29</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F1-L04 · Letters 23–28 + vowels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 ALOUD · THE WEBSITE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first Arabic words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كَلِمَاتِي الأُولَى</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F1-L04</a:t>
            </a:r>
            <a:endParaRPr lang="en-US" sz="850" dirty="0"/>
          </a:p>
        </p:txBody>
      </p:sp>
      <p:sp>
        <p:nvSpPr>
          <p:cNvPr id="15" name="Shape 12"/>
          <p:cNvSpPr/>
          <p:nvPr/>
        </p:nvSpPr>
        <p:spPr>
          <a:xfrm>
            <a:off x="457200" y="1810512"/>
            <a:ext cx="11274552" cy="688848"/>
          </a:xfrm>
          <a:prstGeom prst="roundRect">
            <a:avLst>
              <a:gd name="adj" fmla="val 6637"/>
            </a:avLst>
          </a:prstGeom>
          <a:solidFill>
            <a:srgbClr val="FFFFFF"/>
          </a:solidFill>
          <a:ln w="9525">
            <a:solidFill>
              <a:srgbClr val="D8D0BF"/>
            </a:solidFill>
            <a:prstDash val="solid"/>
          </a:ln>
        </p:spPr>
      </p:sp>
      <p:sp>
        <p:nvSpPr>
          <p:cNvPr id="16" name="Text 13"/>
          <p:cNvSpPr txBox="1"/>
          <p:nvPr/>
        </p:nvSpPr>
        <p:spPr>
          <a:xfrm>
            <a:off x="4937760" y="1828800"/>
            <a:ext cx="6675120" cy="652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كَتَبَ</a:t>
            </a:r>
            <a:endParaRPr lang="ar-SA" sz="2000" dirty="0"/>
          </a:p>
        </p:txBody>
      </p:sp>
      <p:sp>
        <p:nvSpPr>
          <p:cNvPr id="17" name="Text 14"/>
          <p:cNvSpPr txBox="1"/>
          <p:nvPr/>
        </p:nvSpPr>
        <p:spPr>
          <a:xfrm>
            <a:off x="640080" y="1828800"/>
            <a:ext cx="4160520" cy="652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kataba — he wrote (three fatḥas)</a:t>
            </a:r>
            <a:endParaRPr lang="en-US" sz="1250" dirty="0"/>
          </a:p>
        </p:txBody>
      </p:sp>
      <p:sp>
        <p:nvSpPr>
          <p:cNvPr id="18" name="Shape 15"/>
          <p:cNvSpPr/>
          <p:nvPr/>
        </p:nvSpPr>
        <p:spPr>
          <a:xfrm>
            <a:off x="457200" y="2572512"/>
            <a:ext cx="11274552" cy="688848"/>
          </a:xfrm>
          <a:prstGeom prst="roundRect">
            <a:avLst>
              <a:gd name="adj" fmla="val 6637"/>
            </a:avLst>
          </a:prstGeom>
          <a:solidFill>
            <a:srgbClr val="F4F1EA"/>
          </a:solidFill>
          <a:ln w="9525">
            <a:solidFill>
              <a:srgbClr val="D8D0BF"/>
            </a:solidFill>
            <a:prstDash val="solid"/>
          </a:ln>
        </p:spPr>
      </p:sp>
      <p:sp>
        <p:nvSpPr>
          <p:cNvPr id="19" name="Text 16"/>
          <p:cNvSpPr txBox="1"/>
          <p:nvPr/>
        </p:nvSpPr>
        <p:spPr>
          <a:xfrm>
            <a:off x="4937760" y="2590800"/>
            <a:ext cx="6675120" cy="652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فَهِمَ</a:t>
            </a:r>
            <a:endParaRPr lang="ar-SA" sz="2000" dirty="0"/>
          </a:p>
        </p:txBody>
      </p:sp>
      <p:sp>
        <p:nvSpPr>
          <p:cNvPr id="20" name="Text 17"/>
          <p:cNvSpPr txBox="1"/>
          <p:nvPr/>
        </p:nvSpPr>
        <p:spPr>
          <a:xfrm>
            <a:off x="640080" y="2590800"/>
            <a:ext cx="4160520" cy="652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fahima — he understood (fatḥa, kasra, fatḥa)</a:t>
            </a:r>
            <a:endParaRPr lang="en-US" sz="1250" dirty="0"/>
          </a:p>
        </p:txBody>
      </p:sp>
      <p:sp>
        <p:nvSpPr>
          <p:cNvPr id="21" name="Shape 18"/>
          <p:cNvSpPr/>
          <p:nvPr/>
        </p:nvSpPr>
        <p:spPr>
          <a:xfrm>
            <a:off x="457200" y="3334512"/>
            <a:ext cx="11274552" cy="688848"/>
          </a:xfrm>
          <a:prstGeom prst="roundRect">
            <a:avLst>
              <a:gd name="adj" fmla="val 6637"/>
            </a:avLst>
          </a:prstGeom>
          <a:solidFill>
            <a:srgbClr val="FFFFFF"/>
          </a:solidFill>
          <a:ln w="9525">
            <a:solidFill>
              <a:srgbClr val="D8D0BF"/>
            </a:solidFill>
            <a:prstDash val="solid"/>
          </a:ln>
        </p:spPr>
      </p:sp>
      <p:sp>
        <p:nvSpPr>
          <p:cNvPr id="22" name="Text 19"/>
          <p:cNvSpPr txBox="1"/>
          <p:nvPr/>
        </p:nvSpPr>
        <p:spPr>
          <a:xfrm>
            <a:off x="4937760" y="3352800"/>
            <a:ext cx="6675120" cy="652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هُوَ</a:t>
            </a:r>
            <a:endParaRPr lang="ar-SA" sz="2000" dirty="0"/>
          </a:p>
        </p:txBody>
      </p:sp>
      <p:sp>
        <p:nvSpPr>
          <p:cNvPr id="23" name="Text 20"/>
          <p:cNvSpPr txBox="1"/>
          <p:nvPr/>
        </p:nvSpPr>
        <p:spPr>
          <a:xfrm>
            <a:off x="640080" y="3352800"/>
            <a:ext cx="4160520" cy="652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huwa — he (ḍamma, then fatḥa)</a:t>
            </a:r>
            <a:endParaRPr lang="en-US" sz="1250" dirty="0"/>
          </a:p>
        </p:txBody>
      </p:sp>
      <p:sp>
        <p:nvSpPr>
          <p:cNvPr id="24" name="Shape 21"/>
          <p:cNvSpPr/>
          <p:nvPr/>
        </p:nvSpPr>
        <p:spPr>
          <a:xfrm>
            <a:off x="457200" y="4096512"/>
            <a:ext cx="11274552" cy="688848"/>
          </a:xfrm>
          <a:prstGeom prst="roundRect">
            <a:avLst>
              <a:gd name="adj" fmla="val 6637"/>
            </a:avLst>
          </a:prstGeom>
          <a:solidFill>
            <a:srgbClr val="F4F1EA"/>
          </a:solidFill>
          <a:ln w="9525">
            <a:solidFill>
              <a:srgbClr val="D8D0BF"/>
            </a:solidFill>
            <a:prstDash val="solid"/>
          </a:ln>
        </p:spPr>
      </p:sp>
      <p:sp>
        <p:nvSpPr>
          <p:cNvPr id="25" name="Text 22"/>
          <p:cNvSpPr txBox="1"/>
          <p:nvPr/>
        </p:nvSpPr>
        <p:spPr>
          <a:xfrm>
            <a:off x="4937760" y="4114800"/>
            <a:ext cx="6675120" cy="652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مِنْ</a:t>
            </a:r>
            <a:endParaRPr lang="ar-SA" sz="2000" dirty="0"/>
          </a:p>
        </p:txBody>
      </p:sp>
      <p:sp>
        <p:nvSpPr>
          <p:cNvPr id="26" name="Text 23"/>
          <p:cNvSpPr txBox="1"/>
          <p:nvPr/>
        </p:nvSpPr>
        <p:spPr>
          <a:xfrm>
            <a:off x="640080" y="4114800"/>
            <a:ext cx="4160520" cy="652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min — from (kasra, then sukūn)</a:t>
            </a:r>
            <a:endParaRPr lang="en-US" sz="1250" dirty="0"/>
          </a:p>
        </p:txBody>
      </p:sp>
      <p:sp>
        <p:nvSpPr>
          <p:cNvPr id="27" name="Shape 24"/>
          <p:cNvSpPr/>
          <p:nvPr/>
        </p:nvSpPr>
        <p:spPr>
          <a:xfrm>
            <a:off x="457200" y="4858512"/>
            <a:ext cx="11274552" cy="688848"/>
          </a:xfrm>
          <a:prstGeom prst="roundRect">
            <a:avLst>
              <a:gd name="adj" fmla="val 6637"/>
            </a:avLst>
          </a:prstGeom>
          <a:solidFill>
            <a:srgbClr val="FFFFFF"/>
          </a:solidFill>
          <a:ln w="9525">
            <a:solidFill>
              <a:srgbClr val="D8D0BF"/>
            </a:solidFill>
            <a:prstDash val="solid"/>
          </a:ln>
        </p:spPr>
      </p:sp>
      <p:sp>
        <p:nvSpPr>
          <p:cNvPr id="28" name="Text 25"/>
          <p:cNvSpPr txBox="1"/>
          <p:nvPr/>
        </p:nvSpPr>
        <p:spPr>
          <a:xfrm>
            <a:off x="4937760" y="4876800"/>
            <a:ext cx="6675120" cy="652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لَا</a:t>
            </a:r>
            <a:endParaRPr lang="ar-SA" sz="2000" dirty="0"/>
          </a:p>
        </p:txBody>
      </p:sp>
      <p:sp>
        <p:nvSpPr>
          <p:cNvPr id="29" name="Text 26"/>
          <p:cNvSpPr txBox="1"/>
          <p:nvPr/>
        </p:nvSpPr>
        <p:spPr>
          <a:xfrm>
            <a:off x="640080" y="4876800"/>
            <a:ext cx="4160520" cy="652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lā — no (lām + alif)</a:t>
            </a:r>
            <a:endParaRPr lang="en-US" sz="1250" dirty="0"/>
          </a:p>
        </p:txBody>
      </p:sp>
      <p:sp>
        <p:nvSpPr>
          <p:cNvPr id="30" name="Shape 27"/>
          <p:cNvSpPr/>
          <p:nvPr/>
        </p:nvSpPr>
        <p:spPr>
          <a:xfrm>
            <a:off x="457200" y="5620512"/>
            <a:ext cx="11274552" cy="688848"/>
          </a:xfrm>
          <a:prstGeom prst="roundRect">
            <a:avLst>
              <a:gd name="adj" fmla="val 6637"/>
            </a:avLst>
          </a:prstGeom>
          <a:solidFill>
            <a:srgbClr val="F4F1EA"/>
          </a:solidFill>
          <a:ln w="9525">
            <a:solidFill>
              <a:srgbClr val="D8D0BF"/>
            </a:solidFill>
            <a:prstDash val="solid"/>
          </a:ln>
        </p:spPr>
      </p:sp>
      <p:sp>
        <p:nvSpPr>
          <p:cNvPr id="31" name="Text 28"/>
          <p:cNvSpPr txBox="1"/>
          <p:nvPr/>
        </p:nvSpPr>
        <p:spPr>
          <a:xfrm>
            <a:off x="4937760" y="5638800"/>
            <a:ext cx="6675120" cy="652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سَلَامٌ</a:t>
            </a:r>
            <a:endParaRPr lang="ar-SA" sz="2000" dirty="0"/>
          </a:p>
        </p:txBody>
      </p:sp>
      <p:sp>
        <p:nvSpPr>
          <p:cNvPr id="32" name="Text 29"/>
          <p:cNvSpPr txBox="1"/>
          <p:nvPr/>
        </p:nvSpPr>
        <p:spPr>
          <a:xfrm>
            <a:off x="640080" y="5638800"/>
            <a:ext cx="4160520" cy="652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salām — peace</a:t>
            </a:r>
            <a:endParaRPr lang="en-US" sz="12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29</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F1-L04 · Letters 23–28 + vowels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7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F1-L04</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6 letters + 4 marks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Copy the six new letters 3 times each. Then write </a:t>
            </a:r>
            <a:pPr algn="l" indent="0" marL="0">
              <a:buNone/>
            </a:pPr>
            <a:r>
              <a:rPr lang="ar-SA" altLang="en-US" sz="1800" b="1" dirty="0">
                <a:solidFill>
                  <a:srgbClr val="1F2A37"/>
                </a:solidFill>
                <a:latin typeface="Amiri" pitchFamily="2" charset="-78"/>
                <a:ea typeface="Amiri" pitchFamily="2" charset="-78"/>
                <a:cs typeface="Amiri" pitchFamily="2" charset="-78"/>
              </a:rPr>
              <a:t>بَ بُ بِ بْ</a:t>
            </a:r>
            <a:pPr algn="l" indent="0" marL="0">
              <a:buNone/>
            </a:pPr>
            <a:r>
              <a:rPr lang="en-US" sz="1400" b="1" dirty="0">
                <a:solidFill>
                  <a:srgbClr val="1F2A37"/>
                </a:solidFill>
                <a:latin typeface="Calibri" pitchFamily="34" charset="0"/>
                <a:cs typeface="Amiri" pitchFamily="2" charset="-78"/>
              </a:rPr>
              <a:t> and read them aloud.</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Trace first. Say each name as you write.</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four-way build</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Copy the six letters. Then choose 3 letters you know and write each with fatḥa, ḍamma, kasra and sukūn.</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Your partner reads your rows (website four-way build).</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all 28</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all 28 letters in order from memory and circle the six breakers. Copy </a:t>
            </a:r>
            <a:pPr algn="l" indent="0" marL="0">
              <a:buNone/>
            </a:pPr>
            <a:r>
              <a:rPr lang="ar-SA" altLang="en-US" sz="1800" b="1" dirty="0">
                <a:solidFill>
                  <a:srgbClr val="1F2A37"/>
                </a:solidFill>
                <a:latin typeface="Amiri" pitchFamily="2" charset="-78"/>
                <a:ea typeface="Amiri" pitchFamily="2" charset="-78"/>
                <a:cs typeface="Amiri" pitchFamily="2" charset="-78"/>
              </a:rPr>
              <a:t>كَتَبَ فَهِمَ هُوَ مِنْ</a:t>
            </a:r>
            <a:pPr algn="l" indent="0" marL="0">
              <a:buNone/>
            </a:pPr>
            <a:r>
              <a:rPr lang="en-US" sz="1400" b="1" dirty="0">
                <a:solidFill>
                  <a:srgbClr val="1F2A37"/>
                </a:solidFill>
                <a:latin typeface="Calibri" pitchFamily="34" charset="0"/>
                <a:cs typeface="Amiri" pitchFamily="2" charset="-78"/>
              </a:rPr>
              <a:t> and colour each mark.</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fatḥa gold · ḍamma blue · kasra green · sukūn purple (website vowel detective).</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29</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F1-L04 · Letters 23–28 + vowels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Four-way build: write it, your partner reads it</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F1-L04</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اِقْرَأْ: بَ · بُ · بِ · بْ</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هٰذَا الحَرْفُ؟</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اِقْرَأْ: كَتَبَ · هُوَ · مِنْ</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اِقْرَأِ الحُرُوفَ كُلَّهَا.</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هٰذَا ___ .</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هٰذِهِ فَتْحَةٌ / ضَمَّةٌ / كَسْرَةٌ / سُكُونٌ .</a:t>
            </a:r>
            <a:endParaRPr lang="ar-SA" sz="1600" dirty="0"/>
          </a:p>
        </p:txBody>
      </p:sp>
      <p:sp>
        <p:nvSpPr>
          <p:cNvPr id="54" name="Shape 51"/>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ا ب ت ث … ن ه و ي</a:t>
            </a:r>
            <a:endParaRPr lang="ar-SA" sz="1600" dirty="0"/>
          </a:p>
        </p:txBody>
      </p:sp>
      <p:sp>
        <p:nvSpPr>
          <p:cNvPr id="57" name="Shape 54"/>
          <p:cNvSpPr/>
          <p:nvPr/>
        </p:nvSpPr>
        <p:spPr>
          <a:xfrm>
            <a:off x="640080" y="4681728"/>
            <a:ext cx="1051560" cy="256032"/>
          </a:xfrm>
          <a:prstGeom prst="roundRect">
            <a:avLst>
              <a:gd name="adj" fmla="val 50000"/>
            </a:avLst>
          </a:prstGeom>
          <a:solidFill>
            <a:srgbClr val="1B3B6F"/>
          </a:solidFill>
          <a:ln w="12700">
            <a:solidFill>
              <a:srgbClr val="1B3B6F"/>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 SUM UP</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قَرَأَ / قَرَأَتْ ___ .</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اِقْرَأْ: نَ · نُ · نِ · نْ</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Read: na · nu · ni · n</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نَ، نُ، نِ، نْ.</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na, nu, ni, n.</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29</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F1-L04 · Letters 23–28 + vowels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MIX-UPS AND REPAIRS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Mistakes that help us learn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أَخْطَاءٌ شَائِعَةٌ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684264" y="1810512"/>
            <a:ext cx="49743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Likely mix-up</a:t>
            </a:r>
            <a:endParaRPr lang="en-US" sz="1100" dirty="0"/>
          </a:p>
        </p:txBody>
      </p:sp>
      <p:sp>
        <p:nvSpPr>
          <p:cNvPr id="17" name="Text 14"/>
          <p:cNvSpPr txBox="1"/>
          <p:nvPr/>
        </p:nvSpPr>
        <p:spPr>
          <a:xfrm>
            <a:off x="530352" y="1810512"/>
            <a:ext cx="60076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Repair cue</a:t>
            </a:r>
            <a:endParaRPr lang="en-US" sz="1100" dirty="0"/>
          </a:p>
        </p:txBody>
      </p:sp>
      <p:sp>
        <p:nvSpPr>
          <p:cNvPr id="18" name="Shape 15"/>
          <p:cNvSpPr/>
          <p:nvPr/>
        </p:nvSpPr>
        <p:spPr>
          <a:xfrm>
            <a:off x="457200" y="2267712"/>
            <a:ext cx="11274552" cy="627888"/>
          </a:xfrm>
          <a:prstGeom prst="roundRect">
            <a:avLst>
              <a:gd name="adj" fmla="val 7282"/>
            </a:avLst>
          </a:prstGeom>
          <a:solidFill>
            <a:srgbClr val="FFFFFF"/>
          </a:solidFill>
          <a:ln w="9525">
            <a:solidFill>
              <a:srgbClr val="D8D0BF"/>
            </a:solidFill>
            <a:prstDash val="solid"/>
          </a:ln>
        </p:spPr>
      </p:sp>
      <p:sp>
        <p:nvSpPr>
          <p:cNvPr id="19" name="Text 16"/>
          <p:cNvSpPr txBox="1"/>
          <p:nvPr/>
        </p:nvSpPr>
        <p:spPr>
          <a:xfrm>
            <a:off x="6720840" y="2267712"/>
            <a:ext cx="49377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Mixing fatḥa and kasra</a:t>
            </a:r>
            <a:endParaRPr lang="en-US" sz="1100" dirty="0"/>
          </a:p>
        </p:txBody>
      </p:sp>
      <p:sp>
        <p:nvSpPr>
          <p:cNvPr id="20" name="Text 17"/>
          <p:cNvSpPr txBox="1"/>
          <p:nvPr/>
        </p:nvSpPr>
        <p:spPr>
          <a:xfrm>
            <a:off x="566928" y="2267712"/>
            <a:ext cx="59710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Same small line: ABOVE = a, BELOW = i.</a:t>
            </a:r>
            <a:endParaRPr lang="en-US" sz="1100" dirty="0"/>
          </a:p>
        </p:txBody>
      </p:sp>
      <p:sp>
        <p:nvSpPr>
          <p:cNvPr id="21" name="Shape 18"/>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2" name="Text 19"/>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3" name="Shape 20"/>
          <p:cNvSpPr/>
          <p:nvPr/>
        </p:nvSpPr>
        <p:spPr>
          <a:xfrm>
            <a:off x="457200" y="2950464"/>
            <a:ext cx="11274552" cy="627888"/>
          </a:xfrm>
          <a:prstGeom prst="roundRect">
            <a:avLst>
              <a:gd name="adj" fmla="val 7282"/>
            </a:avLst>
          </a:prstGeom>
          <a:solidFill>
            <a:srgbClr val="F4F1EA"/>
          </a:solidFill>
          <a:ln w="9525">
            <a:solidFill>
              <a:srgbClr val="D8D0BF"/>
            </a:solidFill>
            <a:prstDash val="solid"/>
          </a:ln>
        </p:spPr>
      </p:sp>
      <p:sp>
        <p:nvSpPr>
          <p:cNvPr id="24" name="Text 21"/>
          <p:cNvSpPr txBox="1"/>
          <p:nvPr/>
        </p:nvSpPr>
        <p:spPr>
          <a:xfrm>
            <a:off x="6720840" y="2950464"/>
            <a:ext cx="49377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Joining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to the next letter</a:t>
            </a:r>
            <a:endParaRPr lang="en-US" sz="1100" dirty="0"/>
          </a:p>
        </p:txBody>
      </p:sp>
      <p:sp>
        <p:nvSpPr>
          <p:cNvPr id="25" name="Text 22"/>
          <p:cNvSpPr txBox="1"/>
          <p:nvPr/>
        </p:nvSpPr>
        <p:spPr>
          <a:xfrm>
            <a:off x="566928" y="2950464"/>
            <a:ext cx="59710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wāw is a breaker — like </a:t>
            </a:r>
            <a:pPr algn="l" indent="0" marL="0">
              <a:buNone/>
            </a:pPr>
            <a:r>
              <a:rPr lang="ar-SA" altLang="en-US" sz="1450" dirty="0">
                <a:solidFill>
                  <a:srgbClr val="5A6472"/>
                </a:solidFill>
                <a:latin typeface="Amiri" pitchFamily="2" charset="-78"/>
                <a:ea typeface="Amiri" pitchFamily="2" charset="-78"/>
                <a:cs typeface="Amiri" pitchFamily="2" charset="-78"/>
              </a:rPr>
              <a:t>ا د ذ ر ز</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26" name="Shape 23"/>
          <p:cNvSpPr/>
          <p:nvPr/>
        </p:nvSpPr>
        <p:spPr>
          <a:xfrm>
            <a:off x="11091672" y="2996184"/>
            <a:ext cx="548640" cy="182880"/>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11091672" y="29961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8" name="Shape 25"/>
          <p:cNvSpPr/>
          <p:nvPr/>
        </p:nvSpPr>
        <p:spPr>
          <a:xfrm>
            <a:off x="457200" y="3633216"/>
            <a:ext cx="11274552" cy="627888"/>
          </a:xfrm>
          <a:prstGeom prst="roundRect">
            <a:avLst>
              <a:gd name="adj" fmla="val 7282"/>
            </a:avLst>
          </a:prstGeom>
          <a:solidFill>
            <a:srgbClr val="FFFFFF"/>
          </a:solidFill>
          <a:ln w="9525">
            <a:solidFill>
              <a:srgbClr val="D8D0BF"/>
            </a:solidFill>
            <a:prstDash val="solid"/>
          </a:ln>
        </p:spPr>
      </p:sp>
      <p:sp>
        <p:nvSpPr>
          <p:cNvPr id="29" name="Text 26"/>
          <p:cNvSpPr txBox="1"/>
          <p:nvPr/>
        </p:nvSpPr>
        <p:spPr>
          <a:xfrm>
            <a:off x="6720840" y="3633216"/>
            <a:ext cx="49377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Mixing </a:t>
            </a:r>
            <a:pPr algn="l" indent="0" marL="0">
              <a:buNone/>
            </a:pPr>
            <a:r>
              <a:rPr lang="ar-SA" altLang="en-US" sz="1450" dirty="0">
                <a:solidFill>
                  <a:srgbClr val="5A6472"/>
                </a:solidFill>
                <a:latin typeface="Amiri" pitchFamily="2" charset="-78"/>
                <a:ea typeface="Amiri" pitchFamily="2" charset="-78"/>
                <a:cs typeface="Amiri" pitchFamily="2" charset="-78"/>
              </a:rPr>
              <a:t>ه</a:t>
            </a:r>
            <a:pPr algn="l" indent="0" marL="0">
              <a:buNone/>
            </a:pPr>
            <a:r>
              <a:rPr lang="en-US" sz="1100" dirty="0">
                <a:solidFill>
                  <a:srgbClr val="5A6472"/>
                </a:solidFill>
                <a:latin typeface="Calibri" pitchFamily="34" charset="0"/>
                <a:cs typeface="Amiri" pitchFamily="2" charset="-78"/>
              </a:rPr>
              <a:t> and </a:t>
            </a:r>
            <a:pPr algn="l" indent="0" marL="0">
              <a:buNone/>
            </a:pPr>
            <a:r>
              <a:rPr lang="ar-SA" altLang="en-US" sz="1450" dirty="0">
                <a:solidFill>
                  <a:srgbClr val="5A6472"/>
                </a:solidFill>
                <a:latin typeface="Amiri" pitchFamily="2" charset="-78"/>
                <a:ea typeface="Amiri" pitchFamily="2" charset="-78"/>
                <a:cs typeface="Amiri" pitchFamily="2" charset="-78"/>
              </a:rPr>
              <a:t>ح</a:t>
            </a:r>
            <a:endParaRPr lang="en-US" sz="1100" dirty="0"/>
          </a:p>
        </p:txBody>
      </p:sp>
      <p:sp>
        <p:nvSpPr>
          <p:cNvPr id="30" name="Text 27"/>
          <p:cNvSpPr txBox="1"/>
          <p:nvPr/>
        </p:nvSpPr>
        <p:spPr>
          <a:xfrm>
            <a:off x="566928" y="3633216"/>
            <a:ext cx="5971032" cy="627888"/>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ه</a:t>
            </a:r>
            <a:pPr algn="l" indent="0" marL="0">
              <a:buNone/>
            </a:pPr>
            <a:r>
              <a:rPr lang="en-US" sz="1100" dirty="0">
                <a:solidFill>
                  <a:srgbClr val="5A6472"/>
                </a:solidFill>
                <a:latin typeface="Calibri" pitchFamily="34" charset="0"/>
                <a:cs typeface="Amiri" pitchFamily="2" charset="-78"/>
              </a:rPr>
              <a:t> is the ordinary h; </a:t>
            </a:r>
            <a:pPr algn="l" indent="0" marL="0">
              <a:buNone/>
            </a:pPr>
            <a:r>
              <a:rPr lang="ar-SA" altLang="en-US" sz="1450" dirty="0">
                <a:solidFill>
                  <a:srgbClr val="5A6472"/>
                </a:solidFill>
                <a:latin typeface="Amiri" pitchFamily="2" charset="-78"/>
                <a:ea typeface="Amiri" pitchFamily="2" charset="-78"/>
                <a:cs typeface="Amiri" pitchFamily="2" charset="-78"/>
              </a:rPr>
              <a:t>ح</a:t>
            </a:r>
            <a:pPr algn="l" indent="0" marL="0">
              <a:buNone/>
            </a:pPr>
            <a:r>
              <a:rPr lang="en-US" sz="1100" dirty="0">
                <a:solidFill>
                  <a:srgbClr val="5A6472"/>
                </a:solidFill>
                <a:latin typeface="Calibri" pitchFamily="34" charset="0"/>
                <a:cs typeface="Amiri" pitchFamily="2" charset="-78"/>
              </a:rPr>
              <a:t> is the deep breath.</a:t>
            </a:r>
            <a:endParaRPr lang="en-US" sz="1100" dirty="0"/>
          </a:p>
        </p:txBody>
      </p:sp>
      <p:sp>
        <p:nvSpPr>
          <p:cNvPr id="31" name="Shape 28"/>
          <p:cNvSpPr/>
          <p:nvPr/>
        </p:nvSpPr>
        <p:spPr>
          <a:xfrm>
            <a:off x="11091672" y="3678936"/>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367893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3" name="Shape 30"/>
          <p:cNvSpPr/>
          <p:nvPr/>
        </p:nvSpPr>
        <p:spPr>
          <a:xfrm>
            <a:off x="457200" y="4315968"/>
            <a:ext cx="11274552" cy="627888"/>
          </a:xfrm>
          <a:prstGeom prst="roundRect">
            <a:avLst>
              <a:gd name="adj" fmla="val 7282"/>
            </a:avLst>
          </a:prstGeom>
          <a:solidFill>
            <a:srgbClr val="F4F1EA"/>
          </a:solidFill>
          <a:ln w="9525">
            <a:solidFill>
              <a:srgbClr val="D8D0BF"/>
            </a:solidFill>
            <a:prstDash val="solid"/>
          </a:ln>
        </p:spPr>
      </p:sp>
      <p:sp>
        <p:nvSpPr>
          <p:cNvPr id="34" name="Text 31"/>
          <p:cNvSpPr txBox="1"/>
          <p:nvPr/>
        </p:nvSpPr>
        <p:spPr>
          <a:xfrm>
            <a:off x="6720840" y="4315968"/>
            <a:ext cx="49377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Treating sukūn as a silent letter</a:t>
            </a:r>
            <a:endParaRPr lang="en-US" sz="1100" dirty="0"/>
          </a:p>
        </p:txBody>
      </p:sp>
      <p:sp>
        <p:nvSpPr>
          <p:cNvPr id="35" name="Text 32"/>
          <p:cNvSpPr txBox="1"/>
          <p:nvPr/>
        </p:nvSpPr>
        <p:spPr>
          <a:xfrm>
            <a:off x="566928" y="4315968"/>
            <a:ext cx="59710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Say the consonant — just add no vowel (</a:t>
            </a:r>
            <a:pPr algn="l" indent="0" marL="0">
              <a:buNone/>
            </a:pPr>
            <a:r>
              <a:rPr lang="ar-SA" altLang="en-US" sz="1450" dirty="0">
                <a:solidFill>
                  <a:srgbClr val="5A6472"/>
                </a:solidFill>
                <a:latin typeface="Amiri" pitchFamily="2" charset="-78"/>
                <a:ea typeface="Amiri" pitchFamily="2" charset="-78"/>
                <a:cs typeface="Amiri" pitchFamily="2" charset="-78"/>
              </a:rPr>
              <a:t>هَلْ</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6" name="Shape 33"/>
          <p:cNvSpPr/>
          <p:nvPr/>
        </p:nvSpPr>
        <p:spPr>
          <a:xfrm>
            <a:off x="457200" y="4998720"/>
            <a:ext cx="11274552" cy="627888"/>
          </a:xfrm>
          <a:prstGeom prst="roundRect">
            <a:avLst>
              <a:gd name="adj" fmla="val 7282"/>
            </a:avLst>
          </a:prstGeom>
          <a:solidFill>
            <a:srgbClr val="FFFFFF"/>
          </a:solidFill>
          <a:ln w="9525">
            <a:solidFill>
              <a:srgbClr val="D8D0BF"/>
            </a:solidFill>
            <a:prstDash val="solid"/>
          </a:ln>
        </p:spPr>
      </p:sp>
      <p:sp>
        <p:nvSpPr>
          <p:cNvPr id="37" name="Text 34"/>
          <p:cNvSpPr txBox="1"/>
          <p:nvPr/>
        </p:nvSpPr>
        <p:spPr>
          <a:xfrm>
            <a:off x="6720840" y="4998720"/>
            <a:ext cx="49377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Counting </a:t>
            </a:r>
            <a:pPr algn="l" indent="0" marL="0">
              <a:buNone/>
            </a:pPr>
            <a:r>
              <a:rPr lang="ar-SA" altLang="en-US" sz="1450" dirty="0">
                <a:solidFill>
                  <a:srgbClr val="5A6472"/>
                </a:solidFill>
                <a:latin typeface="Amiri" pitchFamily="2" charset="-78"/>
                <a:ea typeface="Amiri" pitchFamily="2" charset="-78"/>
                <a:cs typeface="Amiri" pitchFamily="2" charset="-78"/>
              </a:rPr>
              <a:t>لا</a:t>
            </a:r>
            <a:pPr algn="l" indent="0" marL="0">
              <a:buNone/>
            </a:pPr>
            <a:r>
              <a:rPr lang="en-US" sz="1100" dirty="0">
                <a:solidFill>
                  <a:srgbClr val="5A6472"/>
                </a:solidFill>
                <a:latin typeface="Calibri" pitchFamily="34" charset="0"/>
                <a:cs typeface="Amiri" pitchFamily="2" charset="-78"/>
              </a:rPr>
              <a:t> as a new letter</a:t>
            </a:r>
            <a:endParaRPr lang="en-US" sz="1100" dirty="0"/>
          </a:p>
        </p:txBody>
      </p:sp>
      <p:sp>
        <p:nvSpPr>
          <p:cNvPr id="38" name="Text 35"/>
          <p:cNvSpPr txBox="1"/>
          <p:nvPr/>
        </p:nvSpPr>
        <p:spPr>
          <a:xfrm>
            <a:off x="566928" y="4998720"/>
            <a:ext cx="59710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It is lām + alif — still 28 letters.</a:t>
            </a:r>
            <a:endParaRPr lang="en-US" sz="1100" dirty="0"/>
          </a:p>
        </p:txBody>
      </p:sp>
      <p:sp>
        <p:nvSpPr>
          <p:cNvPr id="39" name="Shape 36"/>
          <p:cNvSpPr/>
          <p:nvPr/>
        </p:nvSpPr>
        <p:spPr>
          <a:xfrm>
            <a:off x="457200" y="5681472"/>
            <a:ext cx="11274552" cy="627888"/>
          </a:xfrm>
          <a:prstGeom prst="roundRect">
            <a:avLst>
              <a:gd name="adj" fmla="val 7282"/>
            </a:avLst>
          </a:prstGeom>
          <a:solidFill>
            <a:srgbClr val="F4F1EA"/>
          </a:solidFill>
          <a:ln w="9525">
            <a:solidFill>
              <a:srgbClr val="D8D0BF"/>
            </a:solidFill>
            <a:prstDash val="solid"/>
          </a:ln>
        </p:spPr>
      </p:sp>
      <p:sp>
        <p:nvSpPr>
          <p:cNvPr id="40" name="Text 37"/>
          <p:cNvSpPr txBox="1"/>
          <p:nvPr/>
        </p:nvSpPr>
        <p:spPr>
          <a:xfrm>
            <a:off x="6720840" y="5681472"/>
            <a:ext cx="49377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Thinking </a:t>
            </a:r>
            <a:pPr algn="l" indent="0" marL="0">
              <a:buNone/>
            </a:pPr>
            <a:r>
              <a:rPr lang="ar-SA" altLang="en-US" sz="1450" dirty="0">
                <a:solidFill>
                  <a:srgbClr val="5A6472"/>
                </a:solidFill>
                <a:latin typeface="Amiri" pitchFamily="2" charset="-78"/>
                <a:ea typeface="Amiri" pitchFamily="2" charset="-78"/>
                <a:cs typeface="Amiri" pitchFamily="2" charset="-78"/>
              </a:rPr>
              <a:t>الله</a:t>
            </a:r>
            <a:pPr algn="l" indent="0" marL="0">
              <a:buNone/>
            </a:pPr>
            <a:r>
              <a:rPr lang="en-US" sz="1100" dirty="0">
                <a:solidFill>
                  <a:srgbClr val="5A6472"/>
                </a:solidFill>
                <a:latin typeface="Calibri" pitchFamily="34" charset="0"/>
                <a:cs typeface="Amiri" pitchFamily="2" charset="-78"/>
              </a:rPr>
              <a:t> contains </a:t>
            </a:r>
            <a:pPr algn="l" indent="0" marL="0">
              <a:buNone/>
            </a:pPr>
            <a:r>
              <a:rPr lang="ar-SA" altLang="en-US" sz="1450" dirty="0">
                <a:solidFill>
                  <a:srgbClr val="5A6472"/>
                </a:solidFill>
                <a:latin typeface="Amiri" pitchFamily="2" charset="-78"/>
                <a:ea typeface="Amiri" pitchFamily="2" charset="-78"/>
                <a:cs typeface="Amiri" pitchFamily="2" charset="-78"/>
              </a:rPr>
              <a:t>لا</a:t>
            </a:r>
            <a:endParaRPr lang="en-US" sz="1100" dirty="0"/>
          </a:p>
        </p:txBody>
      </p:sp>
      <p:sp>
        <p:nvSpPr>
          <p:cNvPr id="41" name="Text 38"/>
          <p:cNvSpPr txBox="1"/>
          <p:nvPr/>
        </p:nvSpPr>
        <p:spPr>
          <a:xfrm>
            <a:off x="566928" y="5681472"/>
            <a:ext cx="59710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It does not (website accuracy note).</a:t>
            </a:r>
            <a:endParaRPr lang="en-US" sz="11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29</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F1-L04 · Letters 23–28 + vowels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F1-L04</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name letters 23–28.</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read </a:t>
            </a:r>
            <a:pPr algn="l" indent="0" marL="0">
              <a:buNone/>
            </a:pPr>
            <a:r>
              <a:rPr lang="ar-SA" altLang="en-US" sz="1700" dirty="0">
                <a:solidFill>
                  <a:srgbClr val="1F2A37"/>
                </a:solidFill>
                <a:latin typeface="Amiri" pitchFamily="2" charset="-78"/>
                <a:ea typeface="Amiri" pitchFamily="2" charset="-78"/>
                <a:cs typeface="Amiri" pitchFamily="2" charset="-78"/>
              </a:rPr>
              <a:t>بَ بُ بِ بْ</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blend </a:t>
            </a:r>
            <a:pPr algn="l" indent="0" marL="0">
              <a:buNone/>
            </a:pPr>
            <a:r>
              <a:rPr lang="ar-SA" altLang="en-US" sz="1700" dirty="0">
                <a:solidFill>
                  <a:srgbClr val="1F2A37"/>
                </a:solidFill>
                <a:latin typeface="Amiri" pitchFamily="2" charset="-78"/>
                <a:ea typeface="Amiri" pitchFamily="2" charset="-78"/>
                <a:cs typeface="Amiri" pitchFamily="2" charset="-78"/>
              </a:rPr>
              <a:t>كَتَبَ</a:t>
            </a:r>
            <a:pPr algn="l" indent="0" marL="0">
              <a:buNone/>
            </a:pPr>
            <a:r>
              <a:rPr lang="en-US" sz="1300" dirty="0">
                <a:solidFill>
                  <a:srgbClr val="1F2A37"/>
                </a:solidFill>
                <a:latin typeface="Calibri" pitchFamily="34" charset="0"/>
                <a:cs typeface="Amiri" pitchFamily="2" charset="-78"/>
              </a:rPr>
              <a:t> · </a:t>
            </a:r>
            <a:pPr algn="l" indent="0" marL="0">
              <a:buNone/>
            </a:pPr>
            <a:r>
              <a:rPr lang="ar-SA" altLang="en-US" sz="1700" dirty="0">
                <a:solidFill>
                  <a:srgbClr val="1F2A37"/>
                </a:solidFill>
                <a:latin typeface="Amiri" pitchFamily="2" charset="-78"/>
                <a:ea typeface="Amiri" pitchFamily="2" charset="-78"/>
                <a:cs typeface="Amiri" pitchFamily="2" charset="-78"/>
              </a:rPr>
              <a:t>فَهِمَ</a:t>
            </a:r>
            <a:pPr algn="l" indent="0" marL="0">
              <a:buNone/>
            </a:pPr>
            <a:r>
              <a:rPr lang="en-US" sz="1300" dirty="0">
                <a:solidFill>
                  <a:srgbClr val="1F2A37"/>
                </a:solidFill>
                <a:latin typeface="Calibri" pitchFamily="34" charset="0"/>
                <a:cs typeface="Amiri" pitchFamily="2" charset="-78"/>
              </a:rPr>
              <a:t> · </a:t>
            </a:r>
            <a:pPr algn="l" indent="0" marL="0">
              <a:buNone/>
            </a:pPr>
            <a:r>
              <a:rPr lang="ar-SA" altLang="en-US" sz="1700" dirty="0">
                <a:solidFill>
                  <a:srgbClr val="1F2A37"/>
                </a:solidFill>
                <a:latin typeface="Amiri" pitchFamily="2" charset="-78"/>
                <a:ea typeface="Amiri" pitchFamily="2" charset="-78"/>
                <a:cs typeface="Amiri" pitchFamily="2" charset="-78"/>
              </a:rPr>
              <a:t>هُوَ</a:t>
            </a:r>
            <a:pPr algn="l" indent="0" marL="0">
              <a:buNone/>
            </a:pPr>
            <a:r>
              <a:rPr lang="en-US" sz="1300" dirty="0">
                <a:solidFill>
                  <a:srgbClr val="1F2A37"/>
                </a:solidFill>
                <a:latin typeface="Calibri" pitchFamily="34" charset="0"/>
                <a:cs typeface="Amiri" pitchFamily="2" charset="-78"/>
              </a:rPr>
              <a:t> · </a:t>
            </a:r>
            <a:pPr algn="l" indent="0" marL="0">
              <a:buNone/>
            </a:pPr>
            <a:r>
              <a:rPr lang="ar-SA" altLang="en-US" sz="1700" dirty="0">
                <a:solidFill>
                  <a:srgbClr val="1F2A37"/>
                </a:solidFill>
                <a:latin typeface="Amiri" pitchFamily="2" charset="-78"/>
                <a:ea typeface="Amiri" pitchFamily="2" charset="-78"/>
                <a:cs typeface="Amiri" pitchFamily="2" charset="-78"/>
              </a:rPr>
              <a:t>مِنْ</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explain the two jobs of </a:t>
            </a:r>
            <a:pPr algn="l" indent="0" marL="0">
              <a:buNone/>
            </a:pPr>
            <a:r>
              <a:rPr lang="ar-SA" altLang="en-US" sz="1700" dirty="0">
                <a:solidFill>
                  <a:srgbClr val="1F2A37"/>
                </a:solidFill>
                <a:latin typeface="Amiri" pitchFamily="2" charset="-78"/>
                <a:ea typeface="Amiri" pitchFamily="2" charset="-78"/>
                <a:cs typeface="Amiri" pitchFamily="2" charset="-78"/>
              </a:rPr>
              <a:t>و</a:t>
            </a:r>
            <a:pPr algn="l" indent="0" marL="0">
              <a:buNone/>
            </a:pPr>
            <a:r>
              <a:rPr lang="en-US" sz="1300" dirty="0">
                <a:solidFill>
                  <a:srgbClr val="1F2A37"/>
                </a:solidFill>
                <a:latin typeface="Calibri" pitchFamily="34" charset="0"/>
                <a:cs typeface="Amiri" pitchFamily="2" charset="-78"/>
              </a:rPr>
              <a:t> and </a:t>
            </a:r>
            <a:pPr algn="l" indent="0" marL="0">
              <a:buNone/>
            </a:pPr>
            <a:r>
              <a:rPr lang="ar-SA" altLang="en-US" sz="1700" dirty="0">
                <a:solidFill>
                  <a:srgbClr val="1F2A37"/>
                </a:solidFill>
                <a:latin typeface="Amiri" pitchFamily="2" charset="-78"/>
                <a:ea typeface="Amiri" pitchFamily="2" charset="-78"/>
                <a:cs typeface="Amiri" pitchFamily="2" charset="-78"/>
              </a:rPr>
              <a:t>ي</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recite all 28 letters and name the six breakers.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29</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F1-L04 · Letters 23–28 + vowels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F1-L04</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لا</a:t>
            </a:r>
            <a:pPr algn="l" indent="0" marL="0">
              <a:buNone/>
            </a:pPr>
            <a:r>
              <a:rPr lang="en-US" sz="1250" b="1" dirty="0">
                <a:solidFill>
                  <a:srgbClr val="1B3B6F"/>
                </a:solidFill>
                <a:latin typeface="Calibri" pitchFamily="34" charset="0"/>
                <a:cs typeface="Amiri" pitchFamily="2" charset="-78"/>
              </a:rPr>
              <a:t> represent?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twenty-ninth letter</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Two letters: lām + alif</a:t>
            </a:r>
            <a:endParaRPr lang="en-US" sz="1250" dirty="0"/>
          </a:p>
        </p:txBody>
      </p:sp>
      <p:sp>
        <p:nvSpPr>
          <p:cNvPr id="25" name="Shape 22"/>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4404360" y="1947672"/>
            <a:ext cx="310896" cy="310896"/>
          </a:xfrm>
          <a:prstGeom prst="ellipse">
            <a:avLst/>
          </a:prstGeom>
          <a:solidFill>
            <a:srgbClr val="1B3B6F"/>
          </a:solidFill>
          <a:ln w="12700">
            <a:solidFill>
              <a:srgbClr val="1B3B6F"/>
            </a:solidFill>
            <a:prstDash val="solid"/>
          </a:ln>
        </p:spPr>
      </p:sp>
      <p:sp>
        <p:nvSpPr>
          <p:cNvPr id="27" name="Text 24"/>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28" name="Text 25"/>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sign represents the glottal stop /ʔ/?</a:t>
            </a:r>
            <a:endParaRPr lang="en-US" sz="1250" dirty="0"/>
          </a:p>
        </p:txBody>
      </p:sp>
      <p:sp>
        <p:nvSpPr>
          <p:cNvPr id="29" name="Shape 26"/>
          <p:cNvSpPr/>
          <p:nvPr/>
        </p:nvSpPr>
        <p:spPr>
          <a:xfrm>
            <a:off x="4459224" y="2532888"/>
            <a:ext cx="256032" cy="256032"/>
          </a:xfrm>
          <a:prstGeom prst="ellipse">
            <a:avLst/>
          </a:prstGeom>
          <a:solidFill>
            <a:srgbClr val="F4F1EA"/>
          </a:solidFill>
          <a:ln w="12700">
            <a:solidFill>
              <a:srgbClr val="F4F1EA"/>
            </a:solidFill>
            <a:prstDash val="solid"/>
          </a:ln>
        </p:spPr>
      </p:sp>
      <p:sp>
        <p:nvSpPr>
          <p:cNvPr id="30" name="Text 27"/>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1" name="Text 28"/>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a:t>
            </a:r>
            <a:endParaRPr lang="ar-SA" sz="2050" dirty="0"/>
          </a:p>
        </p:txBody>
      </p:sp>
      <p:sp>
        <p:nvSpPr>
          <p:cNvPr id="32" name="Shape 29"/>
          <p:cNvSpPr/>
          <p:nvPr/>
        </p:nvSpPr>
        <p:spPr>
          <a:xfrm>
            <a:off x="4459224" y="29900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4" name="Text 31"/>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ء</a:t>
            </a:r>
            <a:endParaRPr lang="ar-SA" sz="2050" dirty="0"/>
          </a:p>
        </p:txBody>
      </p:sp>
      <p:sp>
        <p:nvSpPr>
          <p:cNvPr id="35" name="Shape 32"/>
          <p:cNvSpPr/>
          <p:nvPr/>
        </p:nvSpPr>
        <p:spPr>
          <a:xfrm>
            <a:off x="4459224" y="34472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7" name="Text 34"/>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a:t>
            </a:r>
            <a:endParaRPr lang="ar-SA" sz="2050" dirty="0"/>
          </a:p>
        </p:txBody>
      </p:sp>
      <p:sp>
        <p:nvSpPr>
          <p:cNvPr id="38" name="Shape 35"/>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8223504" y="1947672"/>
            <a:ext cx="310896" cy="310896"/>
          </a:xfrm>
          <a:prstGeom prst="ellipse">
            <a:avLst/>
          </a:prstGeom>
          <a:solidFill>
            <a:srgbClr val="1B3B6F"/>
          </a:solidFill>
          <a:ln w="12700">
            <a:solidFill>
              <a:srgbClr val="1B3B6F"/>
            </a:solidFill>
            <a:prstDash val="solid"/>
          </a:ln>
        </p:spPr>
      </p:sp>
      <p:sp>
        <p:nvSpPr>
          <p:cNvPr id="40" name="Text 37"/>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1" name="Text 38"/>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fatḥa supply? (as in </a:t>
            </a:r>
            <a:pPr algn="l" indent="0" marL="0">
              <a:buNone/>
            </a:pPr>
            <a:r>
              <a:rPr lang="ar-SA" altLang="en-US" sz="1650" b="1" dirty="0">
                <a:solidFill>
                  <a:srgbClr val="1B3B6F"/>
                </a:solidFill>
                <a:latin typeface="Amiri" pitchFamily="2" charset="-78"/>
                <a:ea typeface="Amiri" pitchFamily="2" charset="-78"/>
                <a:cs typeface="Amiri" pitchFamily="2" charset="-78"/>
              </a:rPr>
              <a:t>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2" name="Shape 39"/>
          <p:cNvSpPr/>
          <p:nvPr/>
        </p:nvSpPr>
        <p:spPr>
          <a:xfrm>
            <a:off x="8278368" y="2532888"/>
            <a:ext cx="256032" cy="256032"/>
          </a:xfrm>
          <a:prstGeom prst="ellipse">
            <a:avLst/>
          </a:prstGeom>
          <a:solidFill>
            <a:srgbClr val="F4F1EA"/>
          </a:solidFill>
          <a:ln w="12700">
            <a:solidFill>
              <a:srgbClr val="F4F1EA"/>
            </a:solidFill>
            <a:prstDash val="solid"/>
          </a:ln>
        </p:spPr>
      </p:sp>
      <p:sp>
        <p:nvSpPr>
          <p:cNvPr id="43" name="Text 40"/>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4" name="Text 41"/>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Short /a/</a:t>
            </a:r>
            <a:endParaRPr lang="en-US" sz="1250" dirty="0"/>
          </a:p>
        </p:txBody>
      </p:sp>
      <p:sp>
        <p:nvSpPr>
          <p:cNvPr id="45" name="Shape 42"/>
          <p:cNvSpPr/>
          <p:nvPr/>
        </p:nvSpPr>
        <p:spPr>
          <a:xfrm>
            <a:off x="8278368" y="29900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7" name="Text 44"/>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Short /u/</a:t>
            </a:r>
            <a:endParaRPr lang="en-US" sz="1250" dirty="0"/>
          </a:p>
        </p:txBody>
      </p:sp>
      <p:sp>
        <p:nvSpPr>
          <p:cNvPr id="48" name="Shape 45"/>
          <p:cNvSpPr/>
          <p:nvPr/>
        </p:nvSpPr>
        <p:spPr>
          <a:xfrm>
            <a:off x="8278368" y="34472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0" name="Text 47"/>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Short /i/</a:t>
            </a:r>
            <a:endParaRPr lang="en-US" sz="1250" dirty="0"/>
          </a:p>
        </p:txBody>
      </p:sp>
      <p:sp>
        <p:nvSpPr>
          <p:cNvPr id="51" name="Shape 48"/>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2" name="Text 49"/>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3" name="Text 50"/>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4" name="Text 5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29</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F1-L04 · Letters 23–28 + vowels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F1-L04</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لا</a:t>
            </a:r>
            <a:pPr algn="l" indent="0" marL="0">
              <a:buNone/>
            </a:pPr>
            <a:r>
              <a:rPr lang="en-US" sz="1250" b="1" dirty="0">
                <a:solidFill>
                  <a:srgbClr val="1B3B6F"/>
                </a:solidFill>
                <a:latin typeface="Calibri" pitchFamily="34" charset="0"/>
                <a:cs typeface="Amiri" pitchFamily="2" charset="-78"/>
              </a:rPr>
              <a:t> represent?</a:t>
            </a:r>
            <a:endParaRPr lang="en-US" sz="1250" dirty="0"/>
          </a:p>
        </p:txBody>
      </p:sp>
      <p:sp>
        <p:nvSpPr>
          <p:cNvPr id="19" name="Shape 16"/>
          <p:cNvSpPr/>
          <p:nvPr/>
        </p:nvSpPr>
        <p:spPr>
          <a:xfrm>
            <a:off x="640080" y="2532888"/>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twenty-ninth letter</a:t>
            </a:r>
            <a:endParaRPr lang="en-US" sz="1250" dirty="0"/>
          </a:p>
        </p:txBody>
      </p:sp>
      <p:sp>
        <p:nvSpPr>
          <p:cNvPr id="22" name="Shape 19"/>
          <p:cNvSpPr/>
          <p:nvPr/>
        </p:nvSpPr>
        <p:spPr>
          <a:xfrm>
            <a:off x="548640" y="2953512"/>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990088"/>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Two letters: lām + alif</a:t>
            </a:r>
            <a:endParaRPr lang="en-US" sz="1250" dirty="0"/>
          </a:p>
        </p:txBody>
      </p:sp>
      <p:sp>
        <p:nvSpPr>
          <p:cNvPr id="26" name="Text 23"/>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lām + alif (website final check 4).</a:t>
            </a:r>
            <a:endParaRPr lang="en-US" sz="1050" dirty="0"/>
          </a:p>
        </p:txBody>
      </p:sp>
      <p:sp>
        <p:nvSpPr>
          <p:cNvPr id="27" name="Shape 24"/>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404360" y="1947672"/>
            <a:ext cx="310896" cy="310896"/>
          </a:xfrm>
          <a:prstGeom prst="ellipse">
            <a:avLst/>
          </a:prstGeom>
          <a:solidFill>
            <a:srgbClr val="1B3B6F"/>
          </a:solidFill>
          <a:ln w="12700">
            <a:solidFill>
              <a:srgbClr val="1B3B6F"/>
            </a:solidFill>
            <a:prstDash val="solid"/>
          </a:ln>
        </p:spPr>
      </p:sp>
      <p:sp>
        <p:nvSpPr>
          <p:cNvPr id="29" name="Text 26"/>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0" name="Text 27"/>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sign represents the glottal stop /ʔ/?</a:t>
            </a:r>
            <a:endParaRPr lang="en-US" sz="1250" dirty="0"/>
          </a:p>
        </p:txBody>
      </p:sp>
      <p:sp>
        <p:nvSpPr>
          <p:cNvPr id="31" name="Shape 28"/>
          <p:cNvSpPr/>
          <p:nvPr/>
        </p:nvSpPr>
        <p:spPr>
          <a:xfrm>
            <a:off x="4459224" y="2532888"/>
            <a:ext cx="256032" cy="256032"/>
          </a:xfrm>
          <a:prstGeom prst="ellipse">
            <a:avLst/>
          </a:prstGeom>
          <a:solidFill>
            <a:srgbClr val="C9CED6"/>
          </a:solidFill>
          <a:ln w="12700">
            <a:solidFill>
              <a:srgbClr val="C9CED6"/>
            </a:solidFill>
            <a:prstDash val="solid"/>
          </a:ln>
        </p:spPr>
      </p:sp>
      <p:sp>
        <p:nvSpPr>
          <p:cNvPr id="32" name="Text 29"/>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3" name="Text 30"/>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ع</a:t>
            </a:r>
            <a:endParaRPr lang="ar-SA" sz="2050" dirty="0"/>
          </a:p>
        </p:txBody>
      </p:sp>
      <p:sp>
        <p:nvSpPr>
          <p:cNvPr id="34" name="Shape 31"/>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990088"/>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ء</a:t>
            </a:r>
            <a:endParaRPr lang="ar-SA" sz="2050" dirty="0"/>
          </a:p>
        </p:txBody>
      </p:sp>
      <p:sp>
        <p:nvSpPr>
          <p:cNvPr id="38" name="Shape 35"/>
          <p:cNvSpPr/>
          <p:nvPr/>
        </p:nvSpPr>
        <p:spPr>
          <a:xfrm>
            <a:off x="4459224" y="3447288"/>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ه</a:t>
            </a:r>
            <a:endParaRPr lang="ar-SA" sz="2050" dirty="0"/>
          </a:p>
        </p:txBody>
      </p:sp>
      <p:sp>
        <p:nvSpPr>
          <p:cNvPr id="41" name="Text 38"/>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hamza (website final check 5).</a:t>
            </a:r>
            <a:endParaRPr lang="en-US" sz="1050" dirty="0"/>
          </a:p>
        </p:txBody>
      </p:sp>
      <p:sp>
        <p:nvSpPr>
          <p:cNvPr id="42" name="Shape 39"/>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23504" y="1947672"/>
            <a:ext cx="310896" cy="310896"/>
          </a:xfrm>
          <a:prstGeom prst="ellipse">
            <a:avLst/>
          </a:prstGeom>
          <a:solidFill>
            <a:srgbClr val="1B3B6F"/>
          </a:solidFill>
          <a:ln w="12700">
            <a:solidFill>
              <a:srgbClr val="1B3B6F"/>
            </a:solidFill>
            <a:prstDash val="solid"/>
          </a:ln>
        </p:spPr>
      </p:sp>
      <p:sp>
        <p:nvSpPr>
          <p:cNvPr id="44" name="Text 41"/>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5" name="Text 42"/>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fatḥa supply? (as in </a:t>
            </a:r>
            <a:pPr algn="l" indent="0" marL="0">
              <a:buNone/>
            </a:pPr>
            <a:r>
              <a:rPr lang="ar-SA" altLang="en-US" sz="1650" b="1" dirty="0">
                <a:solidFill>
                  <a:srgbClr val="1B3B6F"/>
                </a:solidFill>
                <a:latin typeface="Amiri" pitchFamily="2" charset="-78"/>
                <a:ea typeface="Amiri" pitchFamily="2" charset="-78"/>
                <a:cs typeface="Amiri" pitchFamily="2" charset="-78"/>
              </a:rPr>
              <a:t>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6" name="Shape 43"/>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47" name="Shape 44"/>
          <p:cNvSpPr/>
          <p:nvPr/>
        </p:nvSpPr>
        <p:spPr>
          <a:xfrm>
            <a:off x="8278368" y="2532888"/>
            <a:ext cx="256032" cy="256032"/>
          </a:xfrm>
          <a:prstGeom prst="ellipse">
            <a:avLst/>
          </a:prstGeom>
          <a:solidFill>
            <a:srgbClr val="2E8B57"/>
          </a:solidFill>
          <a:ln w="12700">
            <a:solidFill>
              <a:srgbClr val="2E8B57"/>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Short /a/</a:t>
            </a:r>
            <a:endParaRPr lang="en-US" sz="1250" dirty="0"/>
          </a:p>
        </p:txBody>
      </p:sp>
      <p:sp>
        <p:nvSpPr>
          <p:cNvPr id="50" name="Shape 47"/>
          <p:cNvSpPr/>
          <p:nvPr/>
        </p:nvSpPr>
        <p:spPr>
          <a:xfrm>
            <a:off x="8278368" y="2990088"/>
            <a:ext cx="256032" cy="256032"/>
          </a:xfrm>
          <a:prstGeom prst="ellipse">
            <a:avLst/>
          </a:prstGeom>
          <a:solidFill>
            <a:srgbClr val="C9CED6"/>
          </a:solidFill>
          <a:ln w="12700">
            <a:solidFill>
              <a:srgbClr val="C9CED6"/>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Short /u/</a:t>
            </a:r>
            <a:endParaRPr lang="en-US" sz="1250" dirty="0"/>
          </a:p>
        </p:txBody>
      </p:sp>
      <p:sp>
        <p:nvSpPr>
          <p:cNvPr id="53" name="Shape 50"/>
          <p:cNvSpPr/>
          <p:nvPr/>
        </p:nvSpPr>
        <p:spPr>
          <a:xfrm>
            <a:off x="8278368" y="34472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Short /i/</a:t>
            </a:r>
            <a:endParaRPr lang="en-US" sz="1250" dirty="0"/>
          </a:p>
        </p:txBody>
      </p:sp>
      <p:sp>
        <p:nvSpPr>
          <p:cNvPr id="56" name="Text 53"/>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fatḥa = short a (website final check 6).</a:t>
            </a:r>
            <a:endParaRPr lang="en-US" sz="1050" dirty="0"/>
          </a:p>
        </p:txBody>
      </p:sp>
      <p:sp>
        <p:nvSpPr>
          <p:cNvPr id="57" name="Shape 54"/>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58" name="Text 55"/>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59" name="Text 56"/>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0" name="Text 5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29</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F1-L04 · Letters 23–28 + vowels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F1-L05: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F1-L04</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F1-L05 · One Letter, Four Positions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بـ</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bāʾ at the START of a word</a:t>
            </a:r>
            <a:pPr indent="0" marL="0">
              <a:buNone/>
            </a:pP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ـبـ</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bāʾ in the MIDDLE</a:t>
            </a:r>
            <a:pPr indent="0" marL="0">
              <a:buNone/>
            </a:pP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ـب</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bāʾ at the END</a:t>
            </a:r>
            <a:pPr indent="0" marL="0">
              <a:buNone/>
            </a:pP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كَتَبَ</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he wrote</a:t>
            </a:r>
            <a:pPr indent="0" marL="0">
              <a:buNone/>
            </a:pP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بَيْتٌ</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house</a:t>
            </a:r>
            <a:pPr indent="0" marL="0">
              <a:buNone/>
            </a:pPr>
            <a:r>
              <a:rPr lang="ar-SA" sz="1000" i="1" dirty="0">
                <a:solidFill>
                  <a:srgbClr val="5A6472"/>
                </a:solidFill>
                <a:latin typeface="Calibri" pitchFamily="34" charset="0"/>
                <a:ea typeface="Amiri" pitchFamily="2" charset="-78"/>
                <a:cs typeface="Amiri" pitchFamily="2" charset="-78"/>
              </a:rPr>
              <a:t>  pl. بُيُوتٌ</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Write all 28 letters in order and circle the six breakers.</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ا د ذ ر ز و</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 F1-L04 · play the vowel game; write </a:t>
            </a:r>
            <a:pPr algn="l" indent="0" marL="0">
              <a:buNone/>
            </a:pPr>
            <a:r>
              <a:rPr lang="ar-SA" altLang="en-US" sz="1550" dirty="0">
                <a:solidFill>
                  <a:srgbClr val="1F2A37"/>
                </a:solidFill>
                <a:latin typeface="Amiri" pitchFamily="2" charset="-78"/>
                <a:ea typeface="Amiri" pitchFamily="2" charset="-78"/>
                <a:cs typeface="Amiri" pitchFamily="2" charset="-78"/>
              </a:rPr>
              <a:t>بَ بُ بِ بْ</a:t>
            </a:r>
            <a:pPr algn="l" indent="0" marL="0">
              <a:buNone/>
            </a:pPr>
            <a:r>
              <a:rPr lang="en-US" sz="1200" dirty="0">
                <a:solidFill>
                  <a:srgbClr val="1F2A37"/>
                </a:solidFill>
                <a:latin typeface="Calibri" pitchFamily="34" charset="0"/>
                <a:cs typeface="Amiri" pitchFamily="2" charset="-78"/>
              </a:rPr>
              <a:t> with three letters.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homework: all 28 letters in order; circle the six breakers.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 F1-L04 · Heritage precision: fully vowel a familiar word and justify every mark.</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29</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F1-L04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700" b="1" dirty="0">
                <a:solidFill>
                  <a:srgbClr val="FFFFFF"/>
                </a:solidFill>
                <a:latin typeface="Cambria" pitchFamily="34" charset="0"/>
                <a:cs typeface="Amiri" pitchFamily="2" charset="-78"/>
              </a:rPr>
              <a:t>F1-L05 · One Letter, Four Positions</a:t>
            </a:r>
            <a:endParaRPr lang="en-US" sz="27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أَشْكَالُ الحُرُوفِ فِي الكَلِمَةِ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all 28 letters + the six breakers.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F1-L04 · Complete the Alphabet &amp; Read Short Vowels</dc:title>
  <dc:subject>PptxGenJS Presentation</dc:subject>
  <dc:creator>Al Madina Online School · Arabic Department</dc:creator>
  <cp:lastModifiedBy>Al Madina Online School · Arabic Department</cp:lastModifiedBy>
  <cp:revision>1</cp:revision>
  <dcterms:created xsi:type="dcterms:W3CDTF">2026-10-11T06:41:16Z</dcterms:created>
  <dcterms:modified xsi:type="dcterms:W3CDTF">2026-10-11T06:41:16Z</dcterms:modified>
</cp:coreProperties>
</file>