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6 (F1-L06). The website lesson teaches shadda (gemination: دَرَسَ vs دَرَّسَ, مُحَمَّد, مَرَّ, حَقّ), the three tanwīn endings (كِتَابٌ، كِتَابٍ، كِتَابًا), alif madda آ (آدَم، آمَنَ، قُرْآن vs بَاب) and five printed hamza shapes (أَكَلَ، إِمَام، سُؤَال، بِئْر، شَيْء). The retrieval check, reading lab, listening script, writing rehearsal and ten-item final check are the website’s. (The website’s visual game for this lesson repeats the F1-L03 vowel game, so it is not used.)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mark and sound — point to the mark, say its job, read the word. DEVELOP: compare two forms and name exactly what changes. STRETCH: notice why tanwīn belongs to indefinite nouns (not with الـ).
• Accuracy boundaries (website): tanwīn is not simply “a/an”; case endings are scored in careful connected MSA (stopping rules come later); for hamza the honest target is RECOGNITION of five shapes — not choosing seats.
• Heritage / Urdu readers: tashdīd, tanwīn and madd are familiar from Qur’an reading. Distinguish script rules from recitation (tajwīd) rules (website Heritage route).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“F1-L05 readiness check” (3–4 → continue; 0–2 → revisit F1-L04 and F1-L05).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See the mark → name its job → read the whole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F1-L06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tashdīd = shadda; tanwīn is called do zabar / do zēr / do pēsh (two fatḥas, kasras, ḍammas); madd = madda; hamza. Students who read the Qur’an know these marks — ask them to explain one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SHADDA (website Part 1): not an extra vowel and not a command to shout — it shows a long or doubled consonant: the first half closes what came before; the second half begins what follows.
Blend routine (website): in دَرَّسَ, arrive on /r/, hold the closure briefly, then release into /ra/. Do not insert a vowel between the two /r/ timings.
A shadda changes the MEANING: دَرَسَ he studied → دَرَّسَ he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TANWĪN (website Part 2): the pair of marks spells a vowel + final /n/ (/u+n/, /i+n/, /a+n/). The /n/ is heard although no nūn is written.
Tanwīn fatḥ often has a supporting alif (كِتَابًا) — but not always (e.g. words ending in ة), so do not add alif mechanically.
Grammar boundary (website): tanwīn is not simply “a/an”; it is a grammatical ending. A noun with الـ does not normally take tanwīn: كِتَابٌ vs الكِتَابُ.
Speech boundary (website): at a pause speakers stop without the ending; today we score the careful connected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ALIF MADDA (website Part 3): the wavy sign above alif (آ) = hamza /ʔ/ + long /ā/. It does not replace every ordinary long ā: بَاب has long ā but no hamza before it, so it uses ordinary alif (website).
Other website word: آمَنَ ʾāmana — he believed.
Terminology note (website): “madd” can also mean vowel lengthening in general; here we mean the written character 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HAMZA (website Part 4): the glottal stop /ʔ/ — the brief catch in “uh-oh”. Its small head may sit above or below alif, on wāw, on a tooth-like seat, or alone.
Foundation target (website): RECOGNISE the five shapes أ إ ؤ ئ ء. Choosing the correct seat depends on position and vowels — a later orthography lesson. Avoid shortcuts like “the strongest vowel decides” for every hamza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1, 3, 6 and 9.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READING LAB (4 min), the website routine:
1 INSPECT — circle the focus mark and name it precisely (shadda, one of three tanwīns, alif madda or hamza).
2 DECODE — state its sound job (double a consonant, add /n/, read /ʔā/, pronounce /ʔ/).
3 BLEND — read the full word, keeping vowel length, consonant timing and direction accurate.
Think aloud for each word, then echo-read with the class. Students copy the six words and circle each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games “Shadda Signal” (one timing or two?) and “Ending Ear” (read the doubled mark and select the ending). Read each word aloud before students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read each word together. Partner accuracy check (website): the shadda consonant has two timings; tanwīn ends with an audible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LISTENING (3 min). Read each word twice; students first write the feature in their books.
Script: مُعَلِّمٌ. كِتَابٌ. بَابٌ. سَأَلَ.
Answers (website): 1 shadda · 2 tanwīn · 3 long ā · 4 hamza.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Show the four words on the board and circle the mark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“Mark Detective” (identify the exact focus mark or character inside each word). Words from the website lesson; items chosen so each has ONE main focus mark (إِمَامٌ also has tanwīn — accept both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“Mark Detective” (identify the exact focus mark or character inside each word). Words from the website lesson; items chosen so each has ONE main focus mark (إِمَامٌ also has tanwīn — accept both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 the website writing rehearsal and homework, split by route. LIVE FEEDBACK after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وَ«كِتَابٌ»؟ (And “kitābun”?)
B: كِتَابٌ. فِيهَا تَنْوِينٌ. (kitābun. It has tanwīn.)
PARTNER ACCURACY CHECK (website): the shadda consonant has two timings; tanwīn ends with an audible /n/; long /ā/ lasts about twice a short /a/; hamza is heard as /ʔ/ whatever its seat. A reads a word, B names the mark and checks the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based on the website boundaries and blend routine. Students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(F1-L07 · Read the Number, Keep the Order) will spend class time USING this language, so students prepare it tonight — short, simple, easy to access (school guidance: “Simple, Short, Interesting, Relevant, Easy to access”). Next lesson: Arabic-Indic numerals 0–100. Note: the numbers are written left to right even inside Arabic text!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2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Small Marks, Big Changes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الشَّدَّةُ وَالتَّنْوِينُ وَأَلِفُ المَدِّ وَالهَمْزَةُ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Read four new marks: shadda doubles a letter (</a:t>
            </a:r>
            <a:pPr algn="l" indent="0" marL="0">
              <a:buNone/>
            </a:pPr>
            <a:r>
              <a:rPr lang="ar-SA" altLang="en-US" sz="1800" dirty="0">
                <a:solidFill>
                  <a:srgbClr val="C6D2E6"/>
                </a:solidFill>
                <a:latin typeface="Amiri" pitchFamily="34" charset="0"/>
                <a:ea typeface="Amiri" pitchFamily="34" charset="-122"/>
                <a:cs typeface="Amiri" pitchFamily="34" charset="-120"/>
              </a:rPr>
              <a:t>دَرَّسَ</a:t>
            </a:r>
            <a:pPr algn="l" indent="0" marL="0">
              <a:buNone/>
            </a:pPr>
            <a:r>
              <a:rPr lang="en-US" sz="1400" dirty="0">
                <a:solidFill>
                  <a:srgbClr val="C6D2E6"/>
                </a:solidFill>
                <a:latin typeface="Calibri" pitchFamily="34" charset="0"/>
                <a:ea typeface="Calibri" pitchFamily="34" charset="-122"/>
                <a:cs typeface="Calibri" pitchFamily="34" charset="-120"/>
              </a:rPr>
              <a:t>), tanwīn adds an “n” ending (</a:t>
            </a:r>
            <a:pPr algn="l" indent="0" marL="0">
              <a:buNone/>
            </a:pPr>
            <a:r>
              <a:rPr lang="ar-SA" altLang="en-US" sz="1800" dirty="0">
                <a:solidFill>
                  <a:srgbClr val="C6D2E6"/>
                </a:solidFill>
                <a:latin typeface="Amiri" pitchFamily="34" charset="0"/>
                <a:ea typeface="Amiri" pitchFamily="34" charset="-122"/>
                <a:cs typeface="Amiri" pitchFamily="34" charset="-120"/>
              </a:rPr>
              <a:t>كِتَابٌ</a:t>
            </a:r>
            <a:pPr algn="l" indent="0" marL="0">
              <a:buNone/>
            </a:pPr>
            <a:r>
              <a:rPr lang="en-US" sz="1400" dirty="0">
                <a:solidFill>
                  <a:srgbClr val="C6D2E6"/>
                </a:solidFill>
                <a:latin typeface="Calibri" pitchFamily="34" charset="0"/>
                <a:ea typeface="Calibri" pitchFamily="34" charset="-122"/>
                <a:cs typeface="Calibri" pitchFamily="34" charset="-120"/>
              </a:rPr>
              <a:t>), alif madda says ʾā (</a:t>
            </a:r>
            <a:pPr algn="l" indent="0" marL="0">
              <a:buNone/>
            </a:pPr>
            <a:r>
              <a:rPr lang="ar-SA" altLang="en-US" sz="1800" dirty="0">
                <a:solidFill>
                  <a:srgbClr val="C6D2E6"/>
                </a:solidFill>
                <a:latin typeface="Amiri" pitchFamily="34" charset="0"/>
                <a:ea typeface="Amiri" pitchFamily="34" charset="-122"/>
                <a:cs typeface="Amiri" pitchFamily="34" charset="-120"/>
              </a:rPr>
              <a:t>آدَم</a:t>
            </a:r>
            <a:pPr algn="l" indent="0" marL="0">
              <a:buNone/>
            </a:pPr>
            <a:r>
              <a:rPr lang="en-US" sz="1400" dirty="0">
                <a:solidFill>
                  <a:srgbClr val="C6D2E6"/>
                </a:solidFill>
                <a:latin typeface="Calibri" pitchFamily="34" charset="0"/>
                <a:ea typeface="Calibri" pitchFamily="34" charset="-122"/>
                <a:cs typeface="Calibri" pitchFamily="34" charset="-120"/>
              </a:rPr>
              <a:t>), and hamza is a catch in the throat (</a:t>
            </a:r>
            <a:pPr algn="l" indent="0" marL="0">
              <a:buNone/>
            </a:pPr>
            <a:r>
              <a:rPr lang="ar-SA" altLang="en-US" sz="1800" dirty="0">
                <a:solidFill>
                  <a:srgbClr val="C6D2E6"/>
                </a:solidFill>
                <a:latin typeface="Amiri" pitchFamily="34" charset="0"/>
                <a:ea typeface="Amiri" pitchFamily="34" charset="-122"/>
                <a:cs typeface="Amiri" pitchFamily="34" charset="-120"/>
              </a:rPr>
              <a:t>سُؤَال</a:t>
            </a:r>
            <a:pPr algn="l" indent="0" marL="0">
              <a:buNone/>
            </a:pPr>
            <a:r>
              <a:rPr lang="en-US" sz="1400" dirty="0">
                <a:solidFill>
                  <a:srgbClr val="C6D2E6"/>
                </a:solidFill>
                <a:latin typeface="Calibri" pitchFamily="34" charset="0"/>
                <a:ea typeface="Calibri" pitchFamily="34" charset="-122"/>
                <a:cs typeface="Calibri" pitchFamily="34" charset="-120"/>
              </a:rPr>
              <a:t>). See the mark → name its job → read the word.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F1-L06 · Week 2,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Four small marks and what they do to the sound.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Shadda signal, ending ear, mark detective, reading lab.</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the form </a:t>
            </a:r>
            <a:pPr algn="l" indent="0" marL="0">
              <a:buNone/>
            </a:pPr>
            <a:r>
              <a:rPr lang="ar-SA" altLang="en-US" sz="1650" b="1" dirty="0">
                <a:solidFill>
                  <a:srgbClr val="1B3B6F"/>
                </a:solidFill>
                <a:latin typeface="Amiri" pitchFamily="34" charset="0"/>
                <a:ea typeface="Amiri" pitchFamily="34" charset="-122"/>
                <a:cs typeface="Amiri" pitchFamily="34" charset="-120"/>
              </a:rPr>
              <a:t>ـبـ</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alif do to the connection after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Breaks it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Continues it</a:t>
            </a:r>
            <a:endParaRPr lang="en-US" sz="12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job of fatḥa in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long /ā/</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vowel</a:t>
            </a:r>
            <a:endParaRPr lang="en-US" sz="12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short /a/</a:t>
            </a:r>
            <a:endParaRPr lang="en-US" sz="12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sukūn show in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following short vowel</a:t>
            </a:r>
            <a:endParaRPr lang="en-US" sz="12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consonant disappears</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read </a:t>
            </a:r>
            <a:pPr algn="l" indent="0" marL="0">
              <a:buNone/>
            </a:pPr>
            <a:r>
              <a:rPr lang="ar-SA" altLang="en-US" sz="1650" b="1" dirty="0">
                <a:solidFill>
                  <a:srgbClr val="1B3B6F"/>
                </a:solidFill>
                <a:latin typeface="Amiri" pitchFamily="34" charset="0"/>
                <a:ea typeface="Amiri" pitchFamily="34" charset="-122"/>
                <a:cs typeface="Amiri" pitchFamily="34" charset="-120"/>
              </a:rPr>
              <a:t>مُحَمَّدٌ</a:t>
            </a:r>
            <a:pPr algn="l" indent="0" marL="0">
              <a:buNone/>
            </a:pPr>
            <a:r>
              <a:rPr lang="en-US" sz="1250" b="1" dirty="0">
                <a:solidFill>
                  <a:srgbClr val="1B3B6F"/>
                </a:solidFill>
                <a:latin typeface="Calibri" pitchFamily="34" charset="0"/>
                <a:ea typeface="Calibri" pitchFamily="34" charset="-122"/>
                <a:cs typeface="Calibri" pitchFamily="34" charset="-120"/>
              </a:rPr>
              <a:t> (prepared at home)?</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mu-ḥam-mad-un</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mu-ḥa-mad</a:t>
            </a:r>
            <a:endParaRPr lang="en-US" sz="12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ma-ḥ-mud</a:t>
            </a:r>
            <a:endParaRPr lang="en-US" sz="1250" dirty="0"/>
          </a:p>
        </p:txBody>
      </p:sp>
      <p:sp>
        <p:nvSpPr>
          <p:cNvPr id="74" name="Shape 7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76" name="Text 7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77" name="Text 7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78" name="Text 7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the form </a:t>
            </a:r>
            <a:pPr algn="l" indent="0" marL="0">
              <a:buNone/>
            </a:pPr>
            <a:r>
              <a:rPr lang="ar-SA" altLang="en-US" sz="1650" b="1" dirty="0">
                <a:solidFill>
                  <a:srgbClr val="1B3B6F"/>
                </a:solidFill>
                <a:latin typeface="Amiri" pitchFamily="34" charset="0"/>
                <a:ea typeface="Amiri" pitchFamily="34" charset="-122"/>
                <a:cs typeface="Amiri" pitchFamily="34" charset="-120"/>
              </a:rPr>
              <a:t>ـبـ</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Initial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Medial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F1-L05: joined on both sides.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alif do to the connection after it?</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Breaks it</a:t>
            </a:r>
            <a:endParaRPr lang="en-US" sz="12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Continues it</a:t>
            </a:r>
            <a:endParaRPr lang="en-US" sz="12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Alif is a breaker.</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job of fatḥa in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6" name="Shape 43"/>
          <p:cNvSpPr/>
          <p:nvPr/>
        </p:nvSpPr>
        <p:spPr>
          <a:xfrm>
            <a:off x="8278368" y="2490216"/>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long /ā/</a:t>
            </a:r>
            <a:endParaRPr lang="en-US" sz="1250" dirty="0"/>
          </a:p>
        </p:txBody>
      </p:sp>
      <p:sp>
        <p:nvSpPr>
          <p:cNvPr id="49" name="Shape 46"/>
          <p:cNvSpPr/>
          <p:nvPr/>
        </p:nvSpPr>
        <p:spPr>
          <a:xfrm>
            <a:off x="8278368" y="2862072"/>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vowel</a:t>
            </a:r>
            <a:endParaRPr lang="en-US" sz="1250" dirty="0"/>
          </a:p>
        </p:txBody>
      </p:sp>
      <p:sp>
        <p:nvSpPr>
          <p:cNvPr id="52" name="Shape 49"/>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323392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short /a/</a:t>
            </a:r>
            <a:endParaRPr lang="en-US" sz="125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F1-L04.</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sukūn show in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1" name="Shape 58"/>
          <p:cNvSpPr/>
          <p:nvPr/>
        </p:nvSpPr>
        <p:spPr>
          <a:xfrm>
            <a:off x="548640" y="4837176"/>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4873752"/>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 following short vowel</a:t>
            </a:r>
            <a:endParaRPr lang="en-US" sz="1250" dirty="0"/>
          </a:p>
        </p:txBody>
      </p:sp>
      <p:sp>
        <p:nvSpPr>
          <p:cNvPr id="65" name="Shape 62"/>
          <p:cNvSpPr/>
          <p:nvPr/>
        </p:nvSpPr>
        <p:spPr>
          <a:xfrm>
            <a:off x="640080" y="533095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consonant disappears</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F1-L04.</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read </a:t>
            </a:r>
            <a:pPr algn="l" indent="0" marL="0">
              <a:buNone/>
            </a:pPr>
            <a:r>
              <a:rPr lang="ar-SA" altLang="en-US" sz="1650" b="1" dirty="0">
                <a:solidFill>
                  <a:srgbClr val="1B3B6F"/>
                </a:solidFill>
                <a:latin typeface="Amiri" pitchFamily="34" charset="0"/>
                <a:ea typeface="Amiri" pitchFamily="34" charset="-122"/>
                <a:cs typeface="Amiri" pitchFamily="34" charset="-120"/>
              </a:rPr>
              <a:t>مُحَمَّدٌ</a:t>
            </a:r>
            <a:pPr algn="l" indent="0" marL="0">
              <a:buNone/>
            </a:pPr>
            <a:r>
              <a:rPr lang="en-US" sz="1250" b="1" dirty="0">
                <a:solidFill>
                  <a:srgbClr val="1B3B6F"/>
                </a:solidFill>
                <a:latin typeface="Calibri" pitchFamily="34" charset="0"/>
                <a:ea typeface="Calibri" pitchFamily="34" charset="-122"/>
                <a:cs typeface="Calibri" pitchFamily="34" charset="-120"/>
              </a:rPr>
              <a:t> (prepared at home)?</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mu-ḥam-mad-un</a:t>
            </a:r>
            <a:endParaRPr lang="en-US" sz="125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mu-ḥa-mad</a:t>
            </a:r>
            <a:endParaRPr lang="en-US" sz="125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ma-ḥ-mud</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shadda doubles the m.</a:t>
            </a:r>
            <a:endParaRPr lang="en-US" sz="1050" dirty="0"/>
          </a:p>
        </p:txBody>
      </p:sp>
      <p:sp>
        <p:nvSpPr>
          <p:cNvPr id="84" name="Shape 8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86" name="Text 8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See the mark → name its job → read the whole word.</a:t>
            </a:r>
            <a:endParaRPr lang="en-US" sz="1300" dirty="0"/>
          </a:p>
        </p:txBody>
      </p:sp>
      <p:sp>
        <p:nvSpPr>
          <p:cNvPr id="87" name="Text 8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ـّ   ـٌ   آ   ء</a:t>
            </a:r>
            <a:endParaRPr lang="ar-SA" sz="24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a doubled consonant with shadda.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the three tanwīn endings /un/ /in/ /an/.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Tell ordinary long ā from alif madda </a:t>
            </a:r>
            <a:pPr algn="l" indent="0" marL="0">
              <a:buNone/>
            </a:pPr>
            <a:r>
              <a:rPr lang="ar-SA" altLang="en-US" sz="1700" dirty="0">
                <a:solidFill>
                  <a:srgbClr val="1F2A37"/>
                </a:solidFill>
                <a:latin typeface="Amiri" pitchFamily="34" charset="0"/>
                <a:ea typeface="Amiri" pitchFamily="34" charset="-122"/>
                <a:cs typeface="Amiri" pitchFamily="34" charset="-120"/>
              </a:rPr>
              <a:t>آ</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hamza in five printed shapes.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point to each mark and say its job.</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read </a:t>
            </a:r>
            <a:pPr algn="l" indent="0" marL="0">
              <a:buNone/>
            </a:pPr>
            <a:r>
              <a:rPr lang="ar-SA" altLang="en-US" sz="1700" b="1" dirty="0">
                <a:solidFill>
                  <a:srgbClr val="2E8B57"/>
                </a:solidFill>
                <a:latin typeface="Amiri" pitchFamily="34" charset="0"/>
                <a:ea typeface="Amiri" pitchFamily="34" charset="-122"/>
                <a:cs typeface="Amiri" pitchFamily="34" charset="-120"/>
              </a:rPr>
              <a:t>مُحَمَّد</a:t>
            </a:r>
            <a:pPr algn="l" indent="0" marL="0">
              <a:buNone/>
            </a:pPr>
            <a:r>
              <a:rPr lang="en-US" sz="1300" b="1" dirty="0">
                <a:solidFill>
                  <a:srgbClr val="2E8B57"/>
                </a:solidFill>
                <a:latin typeface="Calibri" pitchFamily="34" charset="0"/>
                <a:ea typeface="Calibri" pitchFamily="34" charset="-122"/>
                <a:cs typeface="Calibri" pitchFamily="34" charset="-120"/>
              </a:rPr>
              <a:t> and </a:t>
            </a:r>
            <a:pPr algn="l" indent="0" marL="0">
              <a:buNone/>
            </a:pPr>
            <a:r>
              <a:rPr lang="ar-SA" altLang="en-US" sz="1700" b="1" dirty="0">
                <a:solidFill>
                  <a:srgbClr val="2E8B57"/>
                </a:solidFill>
                <a:latin typeface="Amiri" pitchFamily="34" charset="0"/>
                <a:ea typeface="Amiri" pitchFamily="34" charset="-122"/>
                <a:cs typeface="Amiri" pitchFamily="34" charset="-120"/>
              </a:rPr>
              <a:t>كِتَابٌ</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the difference between </a:t>
            </a:r>
            <a:pPr algn="l" indent="0" marL="0">
              <a:buNone/>
            </a:pPr>
            <a:r>
              <a:rPr lang="ar-SA" altLang="en-US" sz="1700" b="1" dirty="0">
                <a:solidFill>
                  <a:srgbClr val="C9780A"/>
                </a:solidFill>
                <a:latin typeface="Amiri" pitchFamily="34" charset="0"/>
                <a:ea typeface="Amiri" pitchFamily="34" charset="-122"/>
                <a:cs typeface="Amiri" pitchFamily="34" charset="-120"/>
              </a:rPr>
              <a:t>دَرَسَ</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دَرَّسَ</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read all three tanwīn endings.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explain why </a:t>
            </a:r>
            <a:pPr algn="l" indent="0" marL="0">
              <a:buNone/>
            </a:pPr>
            <a:r>
              <a:rPr lang="ar-SA" altLang="en-US" sz="1700" b="1" dirty="0">
                <a:solidFill>
                  <a:srgbClr val="B83227"/>
                </a:solidFill>
                <a:latin typeface="Amiri" pitchFamily="34" charset="0"/>
                <a:ea typeface="Amiri" pitchFamily="34" charset="-122"/>
                <a:cs typeface="Amiri" pitchFamily="34" charset="-120"/>
              </a:rPr>
              <a:t>الكِتَابُ</a:t>
            </a:r>
            <a:pPr algn="l" indent="0" marL="0">
              <a:buNone/>
            </a:pPr>
            <a:r>
              <a:rPr lang="en-US" sz="1300" b="1" dirty="0">
                <a:solidFill>
                  <a:srgbClr val="B83227"/>
                </a:solidFill>
                <a:latin typeface="Calibri" pitchFamily="34" charset="0"/>
                <a:ea typeface="Calibri" pitchFamily="34" charset="-122"/>
                <a:cs typeface="Calibri" pitchFamily="34" charset="-120"/>
              </a:rPr>
              <a:t> has no tanwīn.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find two different hamza shapes in a text.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4 marks in 4 groups, each with real words. Point to the mark, say its job, read the word.</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MARK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Shadda</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MARK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Tanwīn · 3</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MARK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Alif madda</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MARK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Hamza · 5 shapes</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شَدَّةٌ</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‎تشدید‎ </a:t>
            </a:r>
            <a:pPr indent="0" marL="0">
              <a:buNone/>
            </a:pPr>
            <a:r>
              <a:rPr lang="en-US" sz="950" b="1" dirty="0">
                <a:solidFill>
                  <a:srgbClr val="2E8B57"/>
                </a:solidFill>
                <a:latin typeface="Calibri" pitchFamily="34" charset="0"/>
                <a:ea typeface="Calibri" pitchFamily="34" charset="-122"/>
                <a:cs typeface="Calibri" pitchFamily="34" charset="-120"/>
              </a:rPr>
              <a:t> tashdīd · shadda</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تَنْوِينٌ</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‎تنوین‎ </a:t>
            </a:r>
            <a:pPr indent="0" marL="0">
              <a:buNone/>
            </a:pPr>
            <a:r>
              <a:rPr lang="en-US" sz="950" b="1" dirty="0">
                <a:solidFill>
                  <a:srgbClr val="2E8B57"/>
                </a:solidFill>
                <a:latin typeface="Calibri" pitchFamily="34" charset="0"/>
                <a:ea typeface="Calibri" pitchFamily="34" charset="-122"/>
                <a:cs typeface="Calibri" pitchFamily="34" charset="-120"/>
              </a:rPr>
              <a:t> tanwīn · tanwīn (do zabar …)</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مَدٌّ</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‎مد‎ </a:t>
            </a:r>
            <a:pPr indent="0" marL="0">
              <a:buNone/>
            </a:pPr>
            <a:r>
              <a:rPr lang="en-US" sz="950" b="1" dirty="0">
                <a:solidFill>
                  <a:srgbClr val="2E8B57"/>
                </a:solidFill>
                <a:latin typeface="Calibri" pitchFamily="34" charset="0"/>
                <a:ea typeface="Calibri" pitchFamily="34" charset="-122"/>
                <a:cs typeface="Calibri" pitchFamily="34" charset="-120"/>
              </a:rPr>
              <a:t> madd · madda</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هَمْزَةٌ</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‎ہمزہ‎ </a:t>
            </a:r>
            <a:pPr indent="0" marL="0">
              <a:buNone/>
            </a:pPr>
            <a:r>
              <a:rPr lang="en-US" sz="950" b="1" dirty="0">
                <a:solidFill>
                  <a:srgbClr val="2E8B57"/>
                </a:solidFill>
                <a:latin typeface="Calibri" pitchFamily="34" charset="0"/>
                <a:ea typeface="Calibri" pitchFamily="34" charset="-122"/>
                <a:cs typeface="Calibri" pitchFamily="34" charset="-120"/>
              </a:rPr>
              <a:t> hamza · hamza</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قُرْآنٌ</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‎قرآن‎ </a:t>
            </a:r>
            <a:pPr indent="0" marL="0">
              <a:buNone/>
            </a:pPr>
            <a:r>
              <a:rPr lang="en-US" sz="950" b="1" dirty="0">
                <a:solidFill>
                  <a:srgbClr val="2E8B57"/>
                </a:solidFill>
                <a:latin typeface="Calibri" pitchFamily="34" charset="0"/>
                <a:ea typeface="Calibri" pitchFamily="34" charset="-122"/>
                <a:cs typeface="Calibri" pitchFamily="34" charset="-120"/>
              </a:rPr>
              <a:t> Qurʾān · Qur’an (has آ)</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PART 1 · SHADDA DOUBLES THE CONSONANT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Shadda: say it twice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الشَّدَّةُ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THE RULE</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رْ + رَ = 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One written letter, two timings.</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The vowel on the shadda comes after the second half.</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229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CONTRAST</a:t>
            </a:r>
            <a:endParaRPr lang="en-US" sz="850" dirty="0"/>
          </a:p>
        </p:txBody>
      </p:sp>
      <p:sp>
        <p:nvSpPr>
          <p:cNvPr id="26" name="Text 23"/>
          <p:cNvSpPr txBox="1"/>
          <p:nvPr/>
        </p:nvSpPr>
        <p:spPr>
          <a:xfrm>
            <a:off x="5282184" y="1874520"/>
            <a:ext cx="24932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studied → taught</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دَرَسَ  ·  دَرَّسَ</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darasa (he studied) · darrasa (he taught)</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Hold the /r/, then release into /ra/.</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NAMES</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mu-ḥam-mad</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مُحَمَّدٌ</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Double the marked m.</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Also: </a:t>
            </a:r>
            <a:pPr algn="l" indent="0" marL="0">
              <a:buNone/>
            </a:pPr>
            <a:r>
              <a:rPr lang="ar-SA" altLang="en-US" sz="1450" dirty="0">
                <a:solidFill>
                  <a:srgbClr val="1F2A37"/>
                </a:solidFill>
                <a:latin typeface="Amiri" pitchFamily="34" charset="0"/>
                <a:ea typeface="Amiri" pitchFamily="34" charset="-122"/>
                <a:cs typeface="Amiri" pitchFamily="34" charset="-120"/>
              </a:rPr>
              <a:t>مَرَّ</a:t>
            </a:r>
            <a:pPr algn="l" indent="0" marL="0">
              <a:buNone/>
            </a:pPr>
            <a:r>
              <a:rPr lang="en-US" sz="1100" dirty="0">
                <a:solidFill>
                  <a:srgbClr val="1F2A37"/>
                </a:solidFill>
                <a:latin typeface="Calibri" pitchFamily="34" charset="0"/>
                <a:ea typeface="Calibri" pitchFamily="34" charset="-122"/>
                <a:cs typeface="Calibri" pitchFamily="34" charset="-120"/>
              </a:rPr>
              <a:t> marra (he passed) · </a:t>
            </a:r>
            <a:pPr algn="l" indent="0" marL="0">
              <a:buNone/>
            </a:pPr>
            <a:r>
              <a:rPr lang="ar-SA" altLang="en-US" sz="1450" dirty="0">
                <a:solidFill>
                  <a:srgbClr val="1F2A37"/>
                </a:solidFill>
                <a:latin typeface="Amiri" pitchFamily="34" charset="0"/>
                <a:ea typeface="Amiri" pitchFamily="34" charset="-122"/>
                <a:cs typeface="Amiri" pitchFamily="34" charset="-120"/>
              </a:rPr>
              <a:t>حَقّ</a:t>
            </a:r>
            <a:pPr algn="l" indent="0" marL="0">
              <a:buNone/>
            </a:pPr>
            <a:r>
              <a:rPr lang="en-US" sz="1100" dirty="0">
                <a:solidFill>
                  <a:srgbClr val="1F2A37"/>
                </a:solidFill>
                <a:latin typeface="Calibri" pitchFamily="34" charset="0"/>
                <a:ea typeface="Calibri" pitchFamily="34" charset="-122"/>
                <a:cs typeface="Calibri" pitchFamily="34" charset="-120"/>
              </a:rPr>
              <a:t> ḥaqq (truth).</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PART 2 · TANWĪN ADDS /N/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Tanwīn: three “n” endings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التَّنْوِينُ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Name</a:t>
            </a:r>
            <a:endParaRPr lang="en-US" sz="1100" dirty="0"/>
          </a:p>
        </p:txBody>
      </p:sp>
      <p:sp>
        <p:nvSpPr>
          <p:cNvPr id="17" name="Text 14"/>
          <p:cNvSpPr txBox="1"/>
          <p:nvPr/>
        </p:nvSpPr>
        <p:spPr>
          <a:xfrm>
            <a:off x="778154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a:t>
            </a:r>
            <a:endParaRPr lang="en-US" sz="1100" dirty="0"/>
          </a:p>
        </p:txBody>
      </p:sp>
      <p:sp>
        <p:nvSpPr>
          <p:cNvPr id="18" name="Text 15"/>
          <p:cNvSpPr txBox="1"/>
          <p:nvPr/>
        </p:nvSpPr>
        <p:spPr>
          <a:xfrm>
            <a:off x="613562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Sound</a:t>
            </a:r>
            <a:endParaRPr lang="en-US" sz="1100" dirty="0"/>
          </a:p>
        </p:txBody>
      </p:sp>
      <p:sp>
        <p:nvSpPr>
          <p:cNvPr id="19" name="Text 16"/>
          <p:cNvSpPr txBox="1"/>
          <p:nvPr/>
        </p:nvSpPr>
        <p:spPr>
          <a:xfrm>
            <a:off x="357530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20" name="Text 17"/>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Read it</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tanwīn ḍamm (two ḍammas)</a:t>
            </a:r>
            <a:endParaRPr lang="en-US" sz="1100" dirty="0"/>
          </a:p>
        </p:txBody>
      </p:sp>
      <p:sp>
        <p:nvSpPr>
          <p:cNvPr id="23" name="Text 20"/>
          <p:cNvSpPr txBox="1"/>
          <p:nvPr/>
        </p:nvSpPr>
        <p:spPr>
          <a:xfrm>
            <a:off x="7799832" y="2267712"/>
            <a:ext cx="146304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ـٌ</a:t>
            </a:r>
            <a:endParaRPr lang="ar-SA" sz="3400" dirty="0"/>
          </a:p>
        </p:txBody>
      </p:sp>
      <p:sp>
        <p:nvSpPr>
          <p:cNvPr id="24" name="Text 21"/>
          <p:cNvSpPr txBox="1"/>
          <p:nvPr/>
        </p:nvSpPr>
        <p:spPr>
          <a:xfrm>
            <a:off x="6172200" y="2267712"/>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/un/</a:t>
            </a:r>
            <a:endParaRPr lang="en-US" sz="1100" dirty="0"/>
          </a:p>
        </p:txBody>
      </p:sp>
      <p:sp>
        <p:nvSpPr>
          <p:cNvPr id="25" name="Text 22"/>
          <p:cNvSpPr txBox="1"/>
          <p:nvPr/>
        </p:nvSpPr>
        <p:spPr>
          <a:xfrm>
            <a:off x="3593592" y="2267712"/>
            <a:ext cx="23774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كِتَابٌ</a:t>
            </a:r>
            <a:endParaRPr lang="ar-SA" sz="3000" dirty="0"/>
          </a:p>
        </p:txBody>
      </p:sp>
      <p:sp>
        <p:nvSpPr>
          <p:cNvPr id="26" name="Text 23"/>
          <p:cNvSpPr txBox="1"/>
          <p:nvPr/>
        </p:nvSpPr>
        <p:spPr>
          <a:xfrm>
            <a:off x="5669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kitābun</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tanwīn kasr (two kasras)</a:t>
            </a:r>
            <a:endParaRPr lang="en-US" sz="1100" dirty="0"/>
          </a:p>
        </p:txBody>
      </p:sp>
      <p:sp>
        <p:nvSpPr>
          <p:cNvPr id="31" name="Text 28"/>
          <p:cNvSpPr txBox="1"/>
          <p:nvPr/>
        </p:nvSpPr>
        <p:spPr>
          <a:xfrm>
            <a:off x="7799832" y="3054096"/>
            <a:ext cx="146304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ـٍ</a:t>
            </a:r>
            <a:endParaRPr lang="ar-SA" sz="3400" dirty="0"/>
          </a:p>
        </p:txBody>
      </p:sp>
      <p:sp>
        <p:nvSpPr>
          <p:cNvPr id="32" name="Text 29"/>
          <p:cNvSpPr txBox="1"/>
          <p:nvPr/>
        </p:nvSpPr>
        <p:spPr>
          <a:xfrm>
            <a:off x="6172200" y="3054096"/>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a:t>
            </a:r>
            <a:endParaRPr lang="en-US" sz="1100" dirty="0"/>
          </a:p>
        </p:txBody>
      </p:sp>
      <p:sp>
        <p:nvSpPr>
          <p:cNvPr id="33" name="Text 30"/>
          <p:cNvSpPr txBox="1"/>
          <p:nvPr/>
        </p:nvSpPr>
        <p:spPr>
          <a:xfrm>
            <a:off x="3593592" y="3054096"/>
            <a:ext cx="23774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كِتَابٍ</a:t>
            </a:r>
            <a:endParaRPr lang="ar-SA" sz="3000" dirty="0"/>
          </a:p>
        </p:txBody>
      </p:sp>
      <p:sp>
        <p:nvSpPr>
          <p:cNvPr id="34" name="Text 31"/>
          <p:cNvSpPr txBox="1"/>
          <p:nvPr/>
        </p:nvSpPr>
        <p:spPr>
          <a:xfrm>
            <a:off x="5669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kitābin</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tanwīn fatḥ (two fatḥas)</a:t>
            </a:r>
            <a:endParaRPr lang="en-US" sz="1100" dirty="0"/>
          </a:p>
        </p:txBody>
      </p:sp>
      <p:sp>
        <p:nvSpPr>
          <p:cNvPr id="39" name="Text 36"/>
          <p:cNvSpPr txBox="1"/>
          <p:nvPr/>
        </p:nvSpPr>
        <p:spPr>
          <a:xfrm>
            <a:off x="7799832" y="3840480"/>
            <a:ext cx="146304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ـً</a:t>
            </a:r>
            <a:endParaRPr lang="ar-SA" sz="3400" dirty="0"/>
          </a:p>
        </p:txBody>
      </p:sp>
      <p:sp>
        <p:nvSpPr>
          <p:cNvPr id="40" name="Text 37"/>
          <p:cNvSpPr txBox="1"/>
          <p:nvPr/>
        </p:nvSpPr>
        <p:spPr>
          <a:xfrm>
            <a:off x="6172200" y="3840480"/>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a:t>
            </a:r>
            <a:endParaRPr lang="en-US" sz="1100" dirty="0"/>
          </a:p>
        </p:txBody>
      </p:sp>
      <p:sp>
        <p:nvSpPr>
          <p:cNvPr id="41" name="Text 38"/>
          <p:cNvSpPr txBox="1"/>
          <p:nvPr/>
        </p:nvSpPr>
        <p:spPr>
          <a:xfrm>
            <a:off x="3593592" y="3840480"/>
            <a:ext cx="23774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كِتَابًا</a:t>
            </a:r>
            <a:endParaRPr lang="ar-SA" sz="3000" dirty="0"/>
          </a:p>
        </p:txBody>
      </p:sp>
      <p:sp>
        <p:nvSpPr>
          <p:cNvPr id="42" name="Text 39"/>
          <p:cNvSpPr txBox="1"/>
          <p:nvPr/>
        </p:nvSpPr>
        <p:spPr>
          <a:xfrm>
            <a:off x="5669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kitāban — often with an extra alif</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with </a:t>
            </a:r>
            <a:pPr algn="l" indent="0" marL="0">
              <a:buNone/>
            </a:pPr>
            <a:r>
              <a:rPr lang="ar-SA" altLang="en-US" sz="1450" dirty="0">
                <a:solidFill>
                  <a:srgbClr val="5A6472"/>
                </a:solidFill>
                <a:latin typeface="Amiri" pitchFamily="34" charset="0"/>
                <a:ea typeface="Amiri" pitchFamily="34" charset="-122"/>
                <a:cs typeface="Amiri" pitchFamily="34" charset="-120"/>
              </a:rPr>
              <a:t>الـ</a:t>
            </a:r>
            <a:pPr algn="l" indent="0" marL="0">
              <a:buNone/>
            </a:pPr>
            <a:r>
              <a:rPr lang="en-US" sz="1100" dirty="0">
                <a:solidFill>
                  <a:srgbClr val="5A6472"/>
                </a:solidFill>
                <a:latin typeface="Calibri" pitchFamily="34" charset="0"/>
                <a:ea typeface="Calibri" pitchFamily="34" charset="-122"/>
                <a:cs typeface="Calibri" pitchFamily="34" charset="-120"/>
              </a:rPr>
              <a:t> → no tanwīn</a:t>
            </a:r>
            <a:endParaRPr lang="en-US" sz="1100" dirty="0"/>
          </a:p>
        </p:txBody>
      </p:sp>
      <p:sp>
        <p:nvSpPr>
          <p:cNvPr id="47" name="Text 44"/>
          <p:cNvSpPr txBox="1"/>
          <p:nvPr/>
        </p:nvSpPr>
        <p:spPr>
          <a:xfrm>
            <a:off x="7818120" y="4626864"/>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48" name="Text 45"/>
          <p:cNvSpPr txBox="1"/>
          <p:nvPr/>
        </p:nvSpPr>
        <p:spPr>
          <a:xfrm>
            <a:off x="6172200" y="4626864"/>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a:t>
            </a:r>
            <a:endParaRPr lang="en-US" sz="1100" dirty="0"/>
          </a:p>
        </p:txBody>
      </p:sp>
      <p:sp>
        <p:nvSpPr>
          <p:cNvPr id="49" name="Text 46"/>
          <p:cNvSpPr txBox="1"/>
          <p:nvPr/>
        </p:nvSpPr>
        <p:spPr>
          <a:xfrm>
            <a:off x="3593592" y="4626864"/>
            <a:ext cx="23774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الكِتَابُ</a:t>
            </a:r>
            <a:endParaRPr lang="ar-SA" sz="3000" dirty="0"/>
          </a:p>
        </p:txBody>
      </p:sp>
      <p:sp>
        <p:nvSpPr>
          <p:cNvPr id="50" name="Text 47"/>
          <p:cNvSpPr txBox="1"/>
          <p:nvPr/>
        </p:nvSpPr>
        <p:spPr>
          <a:xfrm>
            <a:off x="5669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al-kitābu — the book</a:t>
            </a:r>
            <a:endParaRPr lang="en-US" sz="11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PART 3 · ALIF MADDA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Alif madda: hamza + long 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أَلِفُ المَدِّ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Spelling</a:t>
            </a:r>
            <a:endParaRPr lang="en-US" sz="1100" dirty="0"/>
          </a:p>
        </p:txBody>
      </p:sp>
      <p:sp>
        <p:nvSpPr>
          <p:cNvPr id="17" name="Text 14"/>
          <p:cNvSpPr txBox="1"/>
          <p:nvPr/>
        </p:nvSpPr>
        <p:spPr>
          <a:xfrm>
            <a:off x="77815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Sound</a:t>
            </a:r>
            <a:endParaRPr lang="en-US" sz="1100" dirty="0"/>
          </a:p>
        </p:txBody>
      </p:sp>
      <p:sp>
        <p:nvSpPr>
          <p:cNvPr id="18" name="Text 15"/>
          <p:cNvSpPr txBox="1"/>
          <p:nvPr/>
        </p:nvSpPr>
        <p:spPr>
          <a:xfrm>
            <a:off x="540410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Word</a:t>
            </a:r>
            <a:endParaRPr lang="en-US" sz="1100" dirty="0"/>
          </a:p>
        </p:txBody>
      </p:sp>
      <p:sp>
        <p:nvSpPr>
          <p:cNvPr id="19" name="Text 16"/>
          <p:cNvSpPr txBox="1"/>
          <p:nvPr/>
        </p:nvSpPr>
        <p:spPr>
          <a:xfrm>
            <a:off x="3392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0" name="Text 17"/>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Decode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811512" y="2267712"/>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أَ</a:t>
            </a:r>
            <a:endParaRPr lang="ar-SA" sz="3400" dirty="0"/>
          </a:p>
        </p:txBody>
      </p:sp>
      <p:sp>
        <p:nvSpPr>
          <p:cNvPr id="23" name="Text 20"/>
          <p:cNvSpPr txBox="1"/>
          <p:nvPr/>
        </p:nvSpPr>
        <p:spPr>
          <a:xfrm>
            <a:off x="781812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/ʔa/ short</a:t>
            </a:r>
            <a:endParaRPr lang="en-US" sz="1100" dirty="0"/>
          </a:p>
        </p:txBody>
      </p:sp>
      <p:sp>
        <p:nvSpPr>
          <p:cNvPr id="24" name="Text 21"/>
          <p:cNvSpPr txBox="1"/>
          <p:nvPr/>
        </p:nvSpPr>
        <p:spPr>
          <a:xfrm>
            <a:off x="5422392" y="2286000"/>
            <a:ext cx="2194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أَكَلَ</a:t>
            </a:r>
            <a:endParaRPr lang="ar-SA" sz="2100" dirty="0"/>
          </a:p>
        </p:txBody>
      </p:sp>
      <p:sp>
        <p:nvSpPr>
          <p:cNvPr id="25" name="Text 22"/>
          <p:cNvSpPr txBox="1"/>
          <p:nvPr/>
        </p:nvSpPr>
        <p:spPr>
          <a:xfrm>
            <a:off x="5376672" y="2706624"/>
            <a:ext cx="2286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ʾakala</a:t>
            </a:r>
            <a:endParaRPr lang="en-US" sz="950" dirty="0"/>
          </a:p>
        </p:txBody>
      </p:sp>
      <p:sp>
        <p:nvSpPr>
          <p:cNvPr id="26" name="Text 23"/>
          <p:cNvSpPr txBox="1"/>
          <p:nvPr/>
        </p:nvSpPr>
        <p:spPr>
          <a:xfrm>
            <a:off x="34290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he ate</a:t>
            </a:r>
            <a:endParaRPr lang="en-US" sz="1100" dirty="0"/>
          </a:p>
        </p:txBody>
      </p:sp>
      <p:sp>
        <p:nvSpPr>
          <p:cNvPr id="27" name="Text 24"/>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hamza + short fatḥa</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811512" y="3054096"/>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آ</a:t>
            </a:r>
            <a:endParaRPr lang="ar-SA" sz="3400" dirty="0"/>
          </a:p>
        </p:txBody>
      </p:sp>
      <p:sp>
        <p:nvSpPr>
          <p:cNvPr id="32" name="Text 29"/>
          <p:cNvSpPr txBox="1"/>
          <p:nvPr/>
        </p:nvSpPr>
        <p:spPr>
          <a:xfrm>
            <a:off x="781812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/ʔā/ long</a:t>
            </a:r>
            <a:endParaRPr lang="en-US" sz="1100" dirty="0"/>
          </a:p>
        </p:txBody>
      </p:sp>
      <p:sp>
        <p:nvSpPr>
          <p:cNvPr id="33" name="Text 30"/>
          <p:cNvSpPr txBox="1"/>
          <p:nvPr/>
        </p:nvSpPr>
        <p:spPr>
          <a:xfrm>
            <a:off x="5422392" y="3072384"/>
            <a:ext cx="2194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آدَمُ</a:t>
            </a:r>
            <a:endParaRPr lang="ar-SA" sz="2100" dirty="0"/>
          </a:p>
        </p:txBody>
      </p:sp>
      <p:sp>
        <p:nvSpPr>
          <p:cNvPr id="34" name="Text 31"/>
          <p:cNvSpPr txBox="1"/>
          <p:nvPr/>
        </p:nvSpPr>
        <p:spPr>
          <a:xfrm>
            <a:off x="5376672" y="3493008"/>
            <a:ext cx="2286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ʾĀdam</a:t>
            </a:r>
            <a:endParaRPr lang="en-US" sz="950" dirty="0"/>
          </a:p>
        </p:txBody>
      </p:sp>
      <p:sp>
        <p:nvSpPr>
          <p:cNvPr id="35" name="Text 32"/>
          <p:cNvSpPr txBox="1"/>
          <p:nvPr/>
        </p:nvSpPr>
        <p:spPr>
          <a:xfrm>
            <a:off x="34290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Adam</a:t>
            </a:r>
            <a:endParaRPr lang="en-US" sz="1100" dirty="0"/>
          </a:p>
        </p:txBody>
      </p:sp>
      <p:sp>
        <p:nvSpPr>
          <p:cNvPr id="36" name="Text 33"/>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/ʔā/ + dam</a:t>
            </a:r>
            <a:endParaRPr lang="en-US" sz="1100" dirty="0"/>
          </a:p>
        </p:txBody>
      </p:sp>
      <p:sp>
        <p:nvSpPr>
          <p:cNvPr id="37" name="Shape 34"/>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9" name="Shape 3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0" name="Text 37"/>
          <p:cNvSpPr txBox="1"/>
          <p:nvPr/>
        </p:nvSpPr>
        <p:spPr>
          <a:xfrm>
            <a:off x="9811512" y="3840480"/>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آ</a:t>
            </a:r>
            <a:endParaRPr lang="ar-SA" sz="3400" dirty="0"/>
          </a:p>
        </p:txBody>
      </p:sp>
      <p:sp>
        <p:nvSpPr>
          <p:cNvPr id="41" name="Text 38"/>
          <p:cNvSpPr txBox="1"/>
          <p:nvPr/>
        </p:nvSpPr>
        <p:spPr>
          <a:xfrm>
            <a:off x="781812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/ʔā/ long</a:t>
            </a:r>
            <a:endParaRPr lang="en-US" sz="1100" dirty="0"/>
          </a:p>
        </p:txBody>
      </p:sp>
      <p:sp>
        <p:nvSpPr>
          <p:cNvPr id="42" name="Text 39"/>
          <p:cNvSpPr txBox="1"/>
          <p:nvPr/>
        </p:nvSpPr>
        <p:spPr>
          <a:xfrm>
            <a:off x="5422392" y="3858768"/>
            <a:ext cx="2194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قُرْآنٌ</a:t>
            </a:r>
            <a:endParaRPr lang="ar-SA" sz="2100" dirty="0"/>
          </a:p>
        </p:txBody>
      </p:sp>
      <p:sp>
        <p:nvSpPr>
          <p:cNvPr id="43" name="Text 40"/>
          <p:cNvSpPr txBox="1"/>
          <p:nvPr/>
        </p:nvSpPr>
        <p:spPr>
          <a:xfrm>
            <a:off x="5376672" y="4279392"/>
            <a:ext cx="2286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qurʾān</a:t>
            </a:r>
            <a:endParaRPr lang="en-US" sz="950" dirty="0"/>
          </a:p>
        </p:txBody>
      </p:sp>
      <p:sp>
        <p:nvSpPr>
          <p:cNvPr id="44" name="Text 41"/>
          <p:cNvSpPr txBox="1"/>
          <p:nvPr/>
        </p:nvSpPr>
        <p:spPr>
          <a:xfrm>
            <a:off x="34290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Qur’an</a:t>
            </a:r>
            <a:endParaRPr lang="en-US" sz="1100" dirty="0"/>
          </a:p>
        </p:txBody>
      </p:sp>
      <p:sp>
        <p:nvSpPr>
          <p:cNvPr id="45" name="Text 42"/>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qur + /ʔā/ + n</a:t>
            </a:r>
            <a:endParaRPr lang="en-US" sz="1100" dirty="0"/>
          </a:p>
        </p:txBody>
      </p:sp>
      <p:sp>
        <p:nvSpPr>
          <p:cNvPr id="46" name="Shape 43"/>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811512" y="4626864"/>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بَا</a:t>
            </a:r>
            <a:endParaRPr lang="ar-SA" sz="3400" dirty="0"/>
          </a:p>
        </p:txBody>
      </p:sp>
      <p:sp>
        <p:nvSpPr>
          <p:cNvPr id="50" name="Text 47"/>
          <p:cNvSpPr txBox="1"/>
          <p:nvPr/>
        </p:nvSpPr>
        <p:spPr>
          <a:xfrm>
            <a:off x="781812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/bā/ long</a:t>
            </a:r>
            <a:endParaRPr lang="en-US" sz="1100" dirty="0"/>
          </a:p>
        </p:txBody>
      </p:sp>
      <p:sp>
        <p:nvSpPr>
          <p:cNvPr id="51" name="Text 48"/>
          <p:cNvSpPr txBox="1"/>
          <p:nvPr/>
        </p:nvSpPr>
        <p:spPr>
          <a:xfrm>
            <a:off x="5422392" y="4645152"/>
            <a:ext cx="2194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بَابٌ</a:t>
            </a:r>
            <a:endParaRPr lang="ar-SA" sz="2100" dirty="0"/>
          </a:p>
        </p:txBody>
      </p:sp>
      <p:sp>
        <p:nvSpPr>
          <p:cNvPr id="52" name="Text 49"/>
          <p:cNvSpPr txBox="1"/>
          <p:nvPr/>
        </p:nvSpPr>
        <p:spPr>
          <a:xfrm>
            <a:off x="5376672" y="5065776"/>
            <a:ext cx="2286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bāb</a:t>
            </a:r>
            <a:endParaRPr lang="en-US" sz="950" dirty="0"/>
          </a:p>
        </p:txBody>
      </p:sp>
      <p:sp>
        <p:nvSpPr>
          <p:cNvPr id="53" name="Text 50"/>
          <p:cNvSpPr txBox="1"/>
          <p:nvPr/>
        </p:nvSpPr>
        <p:spPr>
          <a:xfrm>
            <a:off x="34290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door</a:t>
            </a:r>
            <a:endParaRPr lang="en-US" sz="1100" dirty="0"/>
          </a:p>
        </p:txBody>
      </p:sp>
      <p:sp>
        <p:nvSpPr>
          <p:cNvPr id="54" name="Text 51"/>
          <p:cNvSpPr txBox="1"/>
          <p:nvPr/>
        </p:nvSpPr>
        <p:spPr>
          <a:xfrm>
            <a:off x="56692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ordinary long ā — no hamza, so no madda</a:t>
            </a:r>
            <a:endParaRPr lang="en-US" sz="11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ea typeface="Calibri" pitchFamily="34" charset="-122"/>
                <a:cs typeface="Calibri" pitchFamily="34" charset="-120"/>
              </a:rPr>
              <a:t>TEACHER INSTRUCTION · PART 4 · HAMZA KEEPS ITS SOUND, CHANGES ITS SEAT (WEBSITE)</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Hamza: five printed shapes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الهَمْزَةُ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Shape</a:t>
            </a:r>
            <a:endParaRPr lang="en-US" sz="1100" dirty="0"/>
          </a:p>
        </p:txBody>
      </p:sp>
      <p:sp>
        <p:nvSpPr>
          <p:cNvPr id="17" name="Text 14"/>
          <p:cNvSpPr txBox="1"/>
          <p:nvPr/>
        </p:nvSpPr>
        <p:spPr>
          <a:xfrm>
            <a:off x="74157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Where it sits</a:t>
            </a:r>
            <a:endParaRPr lang="en-US" sz="1100" dirty="0"/>
          </a:p>
        </p:txBody>
      </p:sp>
      <p:sp>
        <p:nvSpPr>
          <p:cNvPr id="18" name="Text 15"/>
          <p:cNvSpPr txBox="1"/>
          <p:nvPr/>
        </p:nvSpPr>
        <p:spPr>
          <a:xfrm>
            <a:off x="50383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Word</a:t>
            </a:r>
            <a:endParaRPr lang="en-US" sz="1100" dirty="0"/>
          </a:p>
        </p:txBody>
      </p:sp>
      <p:sp>
        <p:nvSpPr>
          <p:cNvPr id="19" name="Text 16"/>
          <p:cNvSpPr txBox="1"/>
          <p:nvPr/>
        </p:nvSpPr>
        <p:spPr>
          <a:xfrm>
            <a:off x="30266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Read it</a:t>
            </a:r>
            <a:endParaRPr lang="en-US" sz="1100" dirty="0"/>
          </a:p>
        </p:txBody>
      </p:sp>
      <p:sp>
        <p:nvSpPr>
          <p:cNvPr id="20" name="Text 17"/>
          <p:cNvSpPr txBox="1"/>
          <p:nvPr/>
        </p:nvSpPr>
        <p:spPr>
          <a:xfrm>
            <a:off x="5303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994392" y="2267712"/>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أ</a:t>
            </a:r>
            <a:endParaRPr lang="ar-SA" sz="3400" dirty="0"/>
          </a:p>
        </p:txBody>
      </p:sp>
      <p:sp>
        <p:nvSpPr>
          <p:cNvPr id="23" name="Text 20"/>
          <p:cNvSpPr txBox="1"/>
          <p:nvPr/>
        </p:nvSpPr>
        <p:spPr>
          <a:xfrm>
            <a:off x="745236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above alif</a:t>
            </a:r>
            <a:endParaRPr lang="en-US" sz="1100" dirty="0"/>
          </a:p>
        </p:txBody>
      </p:sp>
      <p:sp>
        <p:nvSpPr>
          <p:cNvPr id="24" name="Text 21"/>
          <p:cNvSpPr txBox="1"/>
          <p:nvPr/>
        </p:nvSpPr>
        <p:spPr>
          <a:xfrm>
            <a:off x="5056632" y="2267712"/>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أَكَلَ</a:t>
            </a:r>
            <a:endParaRPr lang="ar-SA" sz="3000" dirty="0"/>
          </a:p>
        </p:txBody>
      </p:sp>
      <p:sp>
        <p:nvSpPr>
          <p:cNvPr id="25" name="Text 22"/>
          <p:cNvSpPr txBox="1"/>
          <p:nvPr/>
        </p:nvSpPr>
        <p:spPr>
          <a:xfrm>
            <a:off x="306324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ʾakala</a:t>
            </a:r>
            <a:endParaRPr lang="en-US" sz="1100" dirty="0"/>
          </a:p>
        </p:txBody>
      </p:sp>
      <p:sp>
        <p:nvSpPr>
          <p:cNvPr id="26" name="Text 23"/>
          <p:cNvSpPr txBox="1"/>
          <p:nvPr/>
        </p:nvSpPr>
        <p:spPr>
          <a:xfrm>
            <a:off x="56692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he ate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994392" y="3054096"/>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إ</a:t>
            </a:r>
            <a:endParaRPr lang="ar-SA" sz="3400" dirty="0"/>
          </a:p>
        </p:txBody>
      </p:sp>
      <p:sp>
        <p:nvSpPr>
          <p:cNvPr id="31" name="Text 28"/>
          <p:cNvSpPr txBox="1"/>
          <p:nvPr/>
        </p:nvSpPr>
        <p:spPr>
          <a:xfrm>
            <a:off x="745236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below alif</a:t>
            </a:r>
            <a:endParaRPr lang="en-US" sz="1100" dirty="0"/>
          </a:p>
        </p:txBody>
      </p:sp>
      <p:sp>
        <p:nvSpPr>
          <p:cNvPr id="32" name="Text 29"/>
          <p:cNvSpPr txBox="1"/>
          <p:nvPr/>
        </p:nvSpPr>
        <p:spPr>
          <a:xfrm>
            <a:off x="5056632" y="3054096"/>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إِمَامٌ</a:t>
            </a:r>
            <a:endParaRPr lang="ar-SA" sz="3000" dirty="0"/>
          </a:p>
        </p:txBody>
      </p:sp>
      <p:sp>
        <p:nvSpPr>
          <p:cNvPr id="33" name="Text 30"/>
          <p:cNvSpPr txBox="1"/>
          <p:nvPr/>
        </p:nvSpPr>
        <p:spPr>
          <a:xfrm>
            <a:off x="306324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ʾimām</a:t>
            </a:r>
            <a:endParaRPr lang="en-US" sz="1100" dirty="0"/>
          </a:p>
        </p:txBody>
      </p:sp>
      <p:sp>
        <p:nvSpPr>
          <p:cNvPr id="34" name="Text 31"/>
          <p:cNvSpPr txBox="1"/>
          <p:nvPr/>
        </p:nvSpPr>
        <p:spPr>
          <a:xfrm>
            <a:off x="56692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imam, leader</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994392" y="3840480"/>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ؤ</a:t>
            </a:r>
            <a:endParaRPr lang="ar-SA" sz="3400" dirty="0"/>
          </a:p>
        </p:txBody>
      </p:sp>
      <p:sp>
        <p:nvSpPr>
          <p:cNvPr id="39" name="Text 36"/>
          <p:cNvSpPr txBox="1"/>
          <p:nvPr/>
        </p:nvSpPr>
        <p:spPr>
          <a:xfrm>
            <a:off x="745236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on wāw</a:t>
            </a:r>
            <a:endParaRPr lang="en-US" sz="1100" dirty="0"/>
          </a:p>
        </p:txBody>
      </p:sp>
      <p:sp>
        <p:nvSpPr>
          <p:cNvPr id="40" name="Text 37"/>
          <p:cNvSpPr txBox="1"/>
          <p:nvPr/>
        </p:nvSpPr>
        <p:spPr>
          <a:xfrm>
            <a:off x="5056632" y="3840480"/>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سُؤَالٌ</a:t>
            </a:r>
            <a:endParaRPr lang="ar-SA" sz="3000" dirty="0"/>
          </a:p>
        </p:txBody>
      </p:sp>
      <p:sp>
        <p:nvSpPr>
          <p:cNvPr id="41" name="Text 38"/>
          <p:cNvSpPr txBox="1"/>
          <p:nvPr/>
        </p:nvSpPr>
        <p:spPr>
          <a:xfrm>
            <a:off x="306324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suʾāl</a:t>
            </a:r>
            <a:endParaRPr lang="en-US" sz="1100" dirty="0"/>
          </a:p>
        </p:txBody>
      </p:sp>
      <p:sp>
        <p:nvSpPr>
          <p:cNvPr id="42" name="Text 39"/>
          <p:cNvSpPr txBox="1"/>
          <p:nvPr/>
        </p:nvSpPr>
        <p:spPr>
          <a:xfrm>
            <a:off x="56692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question</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994392" y="4626864"/>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ئ</a:t>
            </a:r>
            <a:endParaRPr lang="ar-SA" sz="3400" dirty="0"/>
          </a:p>
        </p:txBody>
      </p:sp>
      <p:sp>
        <p:nvSpPr>
          <p:cNvPr id="47" name="Text 44"/>
          <p:cNvSpPr txBox="1"/>
          <p:nvPr/>
        </p:nvSpPr>
        <p:spPr>
          <a:xfrm>
            <a:off x="745236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on a seat (dotless yāʾ)</a:t>
            </a:r>
            <a:endParaRPr lang="en-US" sz="1100" dirty="0"/>
          </a:p>
        </p:txBody>
      </p:sp>
      <p:sp>
        <p:nvSpPr>
          <p:cNvPr id="48" name="Text 45"/>
          <p:cNvSpPr txBox="1"/>
          <p:nvPr/>
        </p:nvSpPr>
        <p:spPr>
          <a:xfrm>
            <a:off x="5056632" y="4626864"/>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بِئْرٌ</a:t>
            </a:r>
            <a:endParaRPr lang="ar-SA" sz="3000" dirty="0"/>
          </a:p>
        </p:txBody>
      </p:sp>
      <p:sp>
        <p:nvSpPr>
          <p:cNvPr id="49" name="Text 46"/>
          <p:cNvSpPr txBox="1"/>
          <p:nvPr/>
        </p:nvSpPr>
        <p:spPr>
          <a:xfrm>
            <a:off x="306324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biʾr</a:t>
            </a:r>
            <a:endParaRPr lang="en-US" sz="1100" dirty="0"/>
          </a:p>
        </p:txBody>
      </p:sp>
      <p:sp>
        <p:nvSpPr>
          <p:cNvPr id="50" name="Text 47"/>
          <p:cNvSpPr txBox="1"/>
          <p:nvPr/>
        </p:nvSpPr>
        <p:spPr>
          <a:xfrm>
            <a:off x="56692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well</a:t>
            </a:r>
            <a:endParaRPr lang="en-US" sz="1100" dirty="0"/>
          </a:p>
        </p:txBody>
      </p:sp>
      <p:sp>
        <p:nvSpPr>
          <p:cNvPr id="51" name="Shape 48"/>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2" name="Text 49"/>
          <p:cNvSpPr txBox="1"/>
          <p:nvPr/>
        </p:nvSpPr>
        <p:spPr>
          <a:xfrm>
            <a:off x="9994392" y="5413248"/>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ء</a:t>
            </a:r>
            <a:endParaRPr lang="ar-SA" sz="3400" dirty="0"/>
          </a:p>
        </p:txBody>
      </p:sp>
      <p:sp>
        <p:nvSpPr>
          <p:cNvPr id="53" name="Text 50"/>
          <p:cNvSpPr txBox="1"/>
          <p:nvPr/>
        </p:nvSpPr>
        <p:spPr>
          <a:xfrm>
            <a:off x="745236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alone</a:t>
            </a:r>
            <a:endParaRPr lang="en-US" sz="1100" dirty="0"/>
          </a:p>
        </p:txBody>
      </p:sp>
      <p:sp>
        <p:nvSpPr>
          <p:cNvPr id="54" name="Text 51"/>
          <p:cNvSpPr txBox="1"/>
          <p:nvPr/>
        </p:nvSpPr>
        <p:spPr>
          <a:xfrm>
            <a:off x="5056632" y="5413248"/>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شَيْءٌ</a:t>
            </a:r>
            <a:endParaRPr lang="ar-SA" sz="3000" dirty="0"/>
          </a:p>
        </p:txBody>
      </p:sp>
      <p:sp>
        <p:nvSpPr>
          <p:cNvPr id="55" name="Text 52"/>
          <p:cNvSpPr txBox="1"/>
          <p:nvPr/>
        </p:nvSpPr>
        <p:spPr>
          <a:xfrm>
            <a:off x="3063240" y="5413248"/>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shayʾ</a:t>
            </a:r>
            <a:endParaRPr lang="en-US" sz="1100" dirty="0"/>
          </a:p>
        </p:txBody>
      </p:sp>
      <p:sp>
        <p:nvSpPr>
          <p:cNvPr id="56" name="Text 53"/>
          <p:cNvSpPr txBox="1"/>
          <p:nvPr/>
        </p:nvSpPr>
        <p:spPr>
          <a:xfrm>
            <a:off x="566928" y="5413248"/>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thing</a:t>
            </a:r>
            <a:endParaRPr lang="en-US" sz="11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shadda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Doubles the consonant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Makes a long vowel</a:t>
            </a:r>
            <a:endParaRPr lang="en-US" sz="1250" dirty="0"/>
          </a:p>
        </p:txBody>
      </p:sp>
      <p:sp>
        <p:nvSpPr>
          <p:cNvPr id="25" name="Shape 22"/>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313932"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the ending of </a:t>
            </a:r>
            <a:pPr algn="l" indent="0" marL="0">
              <a:buNone/>
            </a:pPr>
            <a:r>
              <a:rPr lang="ar-SA" altLang="en-US" sz="1650" b="1" dirty="0">
                <a:solidFill>
                  <a:srgbClr val="1B3B6F"/>
                </a:solidFill>
                <a:latin typeface="Amiri" pitchFamily="34" charset="0"/>
                <a:ea typeface="Amiri" pitchFamily="34" charset="-122"/>
                <a:cs typeface="Amiri" pitchFamily="34" charset="-120"/>
              </a:rPr>
              <a:t>كِتَابٌ</a:t>
            </a:r>
            <a:endParaRPr lang="en-US" sz="1250" dirty="0"/>
          </a:p>
        </p:txBody>
      </p:sp>
      <p:sp>
        <p:nvSpPr>
          <p:cNvPr id="29" name="Shape 26"/>
          <p:cNvSpPr/>
          <p:nvPr/>
        </p:nvSpPr>
        <p:spPr>
          <a:xfrm>
            <a:off x="6368796"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/un/</a:t>
            </a:r>
            <a:endParaRPr lang="en-US" sz="1250" dirty="0"/>
          </a:p>
        </p:txBody>
      </p:sp>
      <p:sp>
        <p:nvSpPr>
          <p:cNvPr id="32" name="Shape 29"/>
          <p:cNvSpPr/>
          <p:nvPr/>
        </p:nvSpPr>
        <p:spPr>
          <a:xfrm>
            <a:off x="6368796"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a:t>
            </a:r>
            <a:endParaRPr lang="en-US" sz="1250" dirty="0"/>
          </a:p>
        </p:txBody>
      </p:sp>
      <p:sp>
        <p:nvSpPr>
          <p:cNvPr id="35" name="Shape 32"/>
          <p:cNvSpPr/>
          <p:nvPr/>
        </p:nvSpPr>
        <p:spPr>
          <a:xfrm>
            <a:off x="6368796"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7" name="Text 34"/>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a:t>
            </a:r>
            <a:endParaRPr lang="en-US" sz="1250" dirty="0"/>
          </a:p>
        </p:txBody>
      </p:sp>
      <p:sp>
        <p:nvSpPr>
          <p:cNvPr id="38" name="Shape 3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85216" y="4288536"/>
            <a:ext cx="310896" cy="310896"/>
          </a:xfrm>
          <a:prstGeom prst="ellipse">
            <a:avLst/>
          </a:prstGeom>
          <a:solidFill>
            <a:srgbClr val="1B3B6F"/>
          </a:solidFill>
          <a:ln w="12700">
            <a:solidFill>
              <a:srgbClr val="1B3B6F"/>
            </a:solidFill>
            <a:prstDash val="solid"/>
          </a:ln>
        </p:spPr>
      </p:sp>
      <p:sp>
        <p:nvSpPr>
          <p:cNvPr id="40" name="Text 3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آ</a:t>
            </a:r>
            <a:pPr algn="l" indent="0" marL="0">
              <a:buNone/>
            </a:pPr>
            <a:r>
              <a:rPr lang="en-US" sz="1250" b="1" dirty="0">
                <a:solidFill>
                  <a:srgbClr val="1B3B6F"/>
                </a:solidFill>
                <a:latin typeface="Calibri" pitchFamily="34" charset="0"/>
                <a:ea typeface="Calibri" pitchFamily="34" charset="-122"/>
                <a:cs typeface="Calibri" pitchFamily="34" charset="-120"/>
              </a:rPr>
              <a:t> represent?</a:t>
            </a:r>
            <a:endParaRPr lang="en-US" sz="1250" dirty="0"/>
          </a:p>
        </p:txBody>
      </p:sp>
      <p:sp>
        <p:nvSpPr>
          <p:cNvPr id="42" name="Shape 39"/>
          <p:cNvSpPr/>
          <p:nvPr/>
        </p:nvSpPr>
        <p:spPr>
          <a:xfrm>
            <a:off x="640080" y="48737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/ʔ/ + long /ā/</a:t>
            </a:r>
            <a:endParaRPr lang="en-US" sz="1250" dirty="0"/>
          </a:p>
        </p:txBody>
      </p:sp>
      <p:sp>
        <p:nvSpPr>
          <p:cNvPr id="45" name="Shape 42"/>
          <p:cNvSpPr/>
          <p:nvPr/>
        </p:nvSpPr>
        <p:spPr>
          <a:xfrm>
            <a:off x="640080" y="53309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long /ā/</a:t>
            </a:r>
            <a:endParaRPr lang="en-US" sz="1250" dirty="0"/>
          </a:p>
        </p:txBody>
      </p:sp>
      <p:sp>
        <p:nvSpPr>
          <p:cNvPr id="48" name="Shape 4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6313932"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Identify the hamza form in </a:t>
            </a:r>
            <a:pPr algn="l" indent="0" marL="0">
              <a:buNone/>
            </a:pPr>
            <a:r>
              <a:rPr lang="ar-SA" altLang="en-US" sz="1650" b="1" dirty="0">
                <a:solidFill>
                  <a:srgbClr val="1B3B6F"/>
                </a:solidFill>
                <a:latin typeface="Amiri" pitchFamily="34" charset="0"/>
                <a:ea typeface="Amiri" pitchFamily="34" charset="-122"/>
                <a:cs typeface="Amiri" pitchFamily="34" charset="-120"/>
              </a:rPr>
              <a:t>سُؤَال</a:t>
            </a:r>
            <a:endParaRPr lang="en-US" sz="1250" dirty="0"/>
          </a:p>
        </p:txBody>
      </p:sp>
      <p:sp>
        <p:nvSpPr>
          <p:cNvPr id="52" name="Shape 49"/>
          <p:cNvSpPr/>
          <p:nvPr/>
        </p:nvSpPr>
        <p:spPr>
          <a:xfrm>
            <a:off x="6368796"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hamza on wāw</a:t>
            </a:r>
            <a:endParaRPr lang="en-US" sz="1250" dirty="0"/>
          </a:p>
        </p:txBody>
      </p:sp>
      <p:sp>
        <p:nvSpPr>
          <p:cNvPr id="55" name="Shape 52"/>
          <p:cNvSpPr/>
          <p:nvPr/>
        </p:nvSpPr>
        <p:spPr>
          <a:xfrm>
            <a:off x="6368796"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plain wāw only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shadda do?</a:t>
            </a:r>
            <a:endParaRPr lang="en-US" sz="1250" dirty="0"/>
          </a:p>
        </p:txBody>
      </p:sp>
      <p:sp>
        <p:nvSpPr>
          <p:cNvPr id="19" name="Shape 16"/>
          <p:cNvSpPr/>
          <p:nvPr/>
        </p:nvSpPr>
        <p:spPr>
          <a:xfrm>
            <a:off x="548640" y="2496312"/>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Doubles the consonant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Makes a long vowel</a:t>
            </a:r>
            <a:endParaRPr lang="en-US" sz="1250" dirty="0"/>
          </a:p>
        </p:txBody>
      </p:sp>
      <p:sp>
        <p:nvSpPr>
          <p:cNvPr id="26" name="Text 23"/>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1.</a:t>
            </a:r>
            <a:endParaRPr lang="en-US" sz="1050" dirty="0"/>
          </a:p>
        </p:txBody>
      </p:sp>
      <p:sp>
        <p:nvSpPr>
          <p:cNvPr id="27" name="Shape 24"/>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6313932"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the ending of </a:t>
            </a:r>
            <a:pPr algn="l" indent="0" marL="0">
              <a:buNone/>
            </a:pPr>
            <a:r>
              <a:rPr lang="ar-SA" altLang="en-US" sz="1650" b="1" dirty="0">
                <a:solidFill>
                  <a:srgbClr val="1B3B6F"/>
                </a:solidFill>
                <a:latin typeface="Amiri" pitchFamily="34" charset="0"/>
                <a:ea typeface="Amiri" pitchFamily="34" charset="-122"/>
                <a:cs typeface="Amiri" pitchFamily="34" charset="-120"/>
              </a:rPr>
              <a:t>كِتَابٌ</a:t>
            </a:r>
            <a:endParaRPr lang="en-US" sz="1250" dirty="0"/>
          </a:p>
        </p:txBody>
      </p:sp>
      <p:sp>
        <p:nvSpPr>
          <p:cNvPr id="31" name="Shape 28"/>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6368796" y="2490216"/>
            <a:ext cx="256032" cy="256032"/>
          </a:xfrm>
          <a:prstGeom prst="ellipse">
            <a:avLst/>
          </a:prstGeom>
          <a:solidFill>
            <a:srgbClr val="2E8B57"/>
          </a:solidFill>
          <a:ln w="12700">
            <a:solidFill>
              <a:srgbClr val="2E8B57"/>
            </a:solidFill>
            <a:prstDash val="solid"/>
          </a:ln>
        </p:spPr>
      </p:sp>
      <p:sp>
        <p:nvSpPr>
          <p:cNvPr id="33" name="Text 3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/un/</a:t>
            </a:r>
            <a:endParaRPr lang="en-US" sz="1250" dirty="0"/>
          </a:p>
        </p:txBody>
      </p:sp>
      <p:sp>
        <p:nvSpPr>
          <p:cNvPr id="35" name="Shape 32"/>
          <p:cNvSpPr/>
          <p:nvPr/>
        </p:nvSpPr>
        <p:spPr>
          <a:xfrm>
            <a:off x="6368796" y="2862072"/>
            <a:ext cx="256032" cy="256032"/>
          </a:xfrm>
          <a:prstGeom prst="ellipse">
            <a:avLst/>
          </a:prstGeom>
          <a:solidFill>
            <a:srgbClr val="C9CED6"/>
          </a:solidFill>
          <a:ln w="12700">
            <a:solidFill>
              <a:srgbClr val="C9CED6"/>
            </a:solidFill>
            <a:prstDash val="solid"/>
          </a:ln>
        </p:spPr>
      </p:sp>
      <p:sp>
        <p:nvSpPr>
          <p:cNvPr id="36" name="Text 3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a:t>
            </a:r>
            <a:endParaRPr lang="en-US" sz="1250" dirty="0"/>
          </a:p>
        </p:txBody>
      </p:sp>
      <p:sp>
        <p:nvSpPr>
          <p:cNvPr id="38" name="Shape 35"/>
          <p:cNvSpPr/>
          <p:nvPr/>
        </p:nvSpPr>
        <p:spPr>
          <a:xfrm>
            <a:off x="6368796" y="323392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a:t>
            </a:r>
            <a:endParaRPr lang="en-US" sz="1250" dirty="0"/>
          </a:p>
        </p:txBody>
      </p:sp>
      <p:sp>
        <p:nvSpPr>
          <p:cNvPr id="41" name="Text 38"/>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Two ḍammas (website final check 3).</a:t>
            </a:r>
            <a:endParaRPr lang="en-US" sz="1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آ</a:t>
            </a:r>
            <a:pPr algn="l" indent="0" marL="0">
              <a:buNone/>
            </a:pPr>
            <a:r>
              <a:rPr lang="en-US" sz="1250" b="1" dirty="0">
                <a:solidFill>
                  <a:srgbClr val="1B3B6F"/>
                </a:solidFill>
                <a:latin typeface="Calibri" pitchFamily="34" charset="0"/>
                <a:ea typeface="Calibri" pitchFamily="34" charset="-122"/>
                <a:cs typeface="Calibri" pitchFamily="34" charset="-120"/>
              </a:rPr>
              <a:t> represent?</a:t>
            </a:r>
            <a:endParaRPr lang="en-US" sz="1250" dirty="0"/>
          </a:p>
        </p:txBody>
      </p:sp>
      <p:sp>
        <p:nvSpPr>
          <p:cNvPr id="46" name="Shape 43"/>
          <p:cNvSpPr/>
          <p:nvPr/>
        </p:nvSpPr>
        <p:spPr>
          <a:xfrm>
            <a:off x="548640" y="4837176"/>
            <a:ext cx="5362956"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40080" y="4873752"/>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/ʔ/ + long /ā/</a:t>
            </a:r>
            <a:endParaRPr lang="en-US" sz="1250" dirty="0"/>
          </a:p>
        </p:txBody>
      </p:sp>
      <p:sp>
        <p:nvSpPr>
          <p:cNvPr id="50" name="Shape 47"/>
          <p:cNvSpPr/>
          <p:nvPr/>
        </p:nvSpPr>
        <p:spPr>
          <a:xfrm>
            <a:off x="640080" y="5330952"/>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Every long /ā/</a:t>
            </a:r>
            <a:endParaRPr lang="en-US" sz="1250" dirty="0"/>
          </a:p>
        </p:txBody>
      </p:sp>
      <p:sp>
        <p:nvSpPr>
          <p:cNvPr id="53" name="Text 5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6.</a:t>
            </a:r>
            <a:endParaRPr lang="en-US" sz="1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Identify the hamza form in </a:t>
            </a:r>
            <a:pPr algn="l" indent="0" marL="0">
              <a:buNone/>
            </a:pPr>
            <a:r>
              <a:rPr lang="ar-SA" altLang="en-US" sz="1650" b="1" dirty="0">
                <a:solidFill>
                  <a:srgbClr val="1B3B6F"/>
                </a:solidFill>
                <a:latin typeface="Amiri" pitchFamily="34" charset="0"/>
                <a:ea typeface="Amiri" pitchFamily="34" charset="-122"/>
                <a:cs typeface="Amiri" pitchFamily="34" charset="-120"/>
              </a:rPr>
              <a:t>سُؤَال</a:t>
            </a:r>
            <a:endParaRPr lang="en-US" sz="1250" dirty="0"/>
          </a:p>
        </p:txBody>
      </p:sp>
      <p:sp>
        <p:nvSpPr>
          <p:cNvPr id="58" name="Shape 55"/>
          <p:cNvSpPr/>
          <p:nvPr/>
        </p:nvSpPr>
        <p:spPr>
          <a:xfrm>
            <a:off x="6277356" y="4837176"/>
            <a:ext cx="5362956"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6368796" y="4873752"/>
            <a:ext cx="256032" cy="256032"/>
          </a:xfrm>
          <a:prstGeom prst="ellipse">
            <a:avLst/>
          </a:prstGeom>
          <a:solidFill>
            <a:srgbClr val="2E8B57"/>
          </a:solidFill>
          <a:ln w="12700">
            <a:solidFill>
              <a:srgbClr val="2E8B57"/>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hamza on wāw</a:t>
            </a:r>
            <a:endParaRPr lang="en-US" sz="1250" dirty="0"/>
          </a:p>
        </p:txBody>
      </p:sp>
      <p:sp>
        <p:nvSpPr>
          <p:cNvPr id="62" name="Shape 59"/>
          <p:cNvSpPr/>
          <p:nvPr/>
        </p:nvSpPr>
        <p:spPr>
          <a:xfrm>
            <a:off x="6368796" y="5330952"/>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plain wāw only</a:t>
            </a:r>
            <a:endParaRPr lang="en-US" sz="1250" dirty="0"/>
          </a:p>
        </p:txBody>
      </p:sp>
      <p:sp>
        <p:nvSpPr>
          <p:cNvPr id="65" name="Text 6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9.</a:t>
            </a:r>
            <a:endParaRPr lang="en-US" sz="10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READING LAB: INSPECT → DECODE → BLEND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read six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مَعْمَلُ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مُحَمَّدٌ</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mu-ḥam-mad-un — shadda: /mm/</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بَيْتٌ</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bay-tun — tanwīn: /un/ (a house)</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قَلَمًا</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qa-la-man — tanwīn: /an/ (a pen)</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آدَمُ</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ʾā-dam — alif madda: /ʔā/</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سُؤَالٌ</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su-ʾā-lun — hamza on wāw: /ʔ/ (a question)</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دَرَّسَ</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dar-ra-sa — shadda: /rr/ (he taught)</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GAMES “SHADDA SIGNAL” AND “ENDING EAR”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Shadda signal and ending 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اِسْتَمِعْ وَاقْرَأْ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has a doubled /r/?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دَرَّسَ</a:t>
            </a:r>
            <a:endParaRPr lang="ar-SA" sz="20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has a doubled /m/?</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مُحَمَدٌ</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مُحَمَّدٌ</a:t>
            </a:r>
            <a:endParaRPr lang="ar-SA" sz="20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the ending of </a:t>
            </a:r>
            <a:pPr algn="l" indent="0" marL="0">
              <a:buNone/>
            </a:pPr>
            <a:r>
              <a:rPr lang="ar-SA" altLang="en-US" sz="1650" b="1" dirty="0">
                <a:solidFill>
                  <a:srgbClr val="1B3B6F"/>
                </a:solidFill>
                <a:latin typeface="Amiri" pitchFamily="34" charset="0"/>
                <a:ea typeface="Amiri" pitchFamily="34" charset="-122"/>
                <a:cs typeface="Amiri" pitchFamily="34" charset="-120"/>
              </a:rPr>
              <a:t>قَلَمٍ</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/un/</a:t>
            </a:r>
            <a:endParaRPr lang="en-US" sz="12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a:t>
            </a:r>
            <a:endParaRPr lang="en-US" sz="1250" dirty="0"/>
          </a:p>
        </p:txBody>
      </p:sp>
      <p:sp>
        <p:nvSpPr>
          <p:cNvPr id="45" name="Shape 42"/>
          <p:cNvSpPr/>
          <p:nvPr/>
        </p:nvSpPr>
        <p:spPr>
          <a:xfrm>
            <a:off x="8278368" y="34472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7" name="Text 44"/>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the ending of </a:t>
            </a:r>
            <a:pPr algn="l" indent="0" marL="0">
              <a:buNone/>
            </a:pPr>
            <a:r>
              <a:rPr lang="ar-SA" altLang="en-US" sz="1650" b="1" dirty="0">
                <a:solidFill>
                  <a:srgbClr val="1B3B6F"/>
                </a:solidFill>
                <a:latin typeface="Amiri" pitchFamily="34" charset="0"/>
                <a:ea typeface="Amiri" pitchFamily="34" charset="-122"/>
                <a:cs typeface="Amiri" pitchFamily="34" charset="-120"/>
              </a:rPr>
              <a:t>بَيْتًا</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/un/</a:t>
            </a:r>
            <a:endParaRPr lang="en-US" sz="12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a:t>
            </a:r>
            <a:endParaRPr lang="en-US" sz="12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sound is marked in </a:t>
            </a:r>
            <a:pPr algn="l" indent="0" marL="0">
              <a:buNone/>
            </a:pPr>
            <a:r>
              <a:rPr lang="ar-SA" altLang="en-US" sz="1650" b="1" dirty="0">
                <a:solidFill>
                  <a:srgbClr val="1B3B6F"/>
                </a:solidFill>
                <a:latin typeface="Amiri" pitchFamily="34" charset="0"/>
                <a:ea typeface="Amiri" pitchFamily="34" charset="-122"/>
                <a:cs typeface="Amiri" pitchFamily="34" charset="-120"/>
              </a:rPr>
              <a:t>دَرَّسَ</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doubled /rr/</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single /r/</a:t>
            </a:r>
            <a:endParaRPr lang="en-US" sz="1250" dirty="0"/>
          </a:p>
        </p:txBody>
      </p:sp>
      <p:sp>
        <p:nvSpPr>
          <p:cNvPr id="71" name="Shape 6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74" name="Text 7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Shadda → say the letter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Two ḍammas → un</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Two kasras → in</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Two fatḥas → an</a:t>
            </a:r>
            <a:endParaRPr lang="en-US" sz="12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has a doubled /r/?</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دَرَسَ</a:t>
            </a:r>
            <a:endParaRPr lang="ar-SA" sz="20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دَرَّسَ</a:t>
            </a:r>
            <a:endParaRPr lang="ar-SA" sz="20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shadda on </a:t>
            </a:r>
            <a:pPr algn="l" indent="0" marL="0">
              <a:buNone/>
            </a:pPr>
            <a:r>
              <a:rPr lang="ar-SA" altLang="en-US" sz="1350" dirty="0">
                <a:solidFill>
                  <a:srgbClr val="8A6D1E"/>
                </a:solidFill>
                <a:latin typeface="Amiri" pitchFamily="34" charset="0"/>
                <a:ea typeface="Amiri" pitchFamily="34" charset="-122"/>
                <a:cs typeface="Amiri" pitchFamily="34" charset="-120"/>
              </a:rPr>
              <a:t>رّ</a:t>
            </a:r>
            <a:pPr algn="l" indent="0" marL="0">
              <a:buNone/>
            </a:pPr>
            <a:r>
              <a:rPr lang="en-US" sz="1050" i="1" dirty="0">
                <a:solidFill>
                  <a:srgbClr val="8A6D1E"/>
                </a:solidFill>
                <a:latin typeface="Calibri" pitchFamily="34" charset="0"/>
                <a:ea typeface="Calibri" pitchFamily="34" charset="-122"/>
                <a:cs typeface="Calibri" pitchFamily="34" charset="-120"/>
              </a:rPr>
              <a:t> = two timings.</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has a doubled /m/?</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مُحَمَدٌ</a:t>
            </a:r>
            <a:endParaRPr lang="ar-SA" sz="20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مُحَمَّدٌ</a:t>
            </a:r>
            <a:endParaRPr lang="ar-SA" sz="20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mu-ḥam-mad.</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the ending of </a:t>
            </a:r>
            <a:pPr algn="l" indent="0" marL="0">
              <a:buNone/>
            </a:pPr>
            <a:r>
              <a:rPr lang="ar-SA" altLang="en-US" sz="1650" b="1" dirty="0">
                <a:solidFill>
                  <a:srgbClr val="1B3B6F"/>
                </a:solidFill>
                <a:latin typeface="Amiri" pitchFamily="34" charset="0"/>
                <a:ea typeface="Amiri" pitchFamily="34" charset="-122"/>
                <a:cs typeface="Amiri" pitchFamily="34" charset="-120"/>
              </a:rPr>
              <a:t>قَلَمٍ</a:t>
            </a:r>
            <a:endParaRPr lang="en-US" sz="1250" dirty="0"/>
          </a:p>
        </p:txBody>
      </p:sp>
      <p:sp>
        <p:nvSpPr>
          <p:cNvPr id="43" name="Shape 40"/>
          <p:cNvSpPr/>
          <p:nvPr/>
        </p:nvSpPr>
        <p:spPr>
          <a:xfrm>
            <a:off x="8278368" y="2490216"/>
            <a:ext cx="256032" cy="256032"/>
          </a:xfrm>
          <a:prstGeom prst="ellipse">
            <a:avLst/>
          </a:prstGeom>
          <a:solidFill>
            <a:srgbClr val="C9CED6"/>
          </a:solidFill>
          <a:ln w="12700">
            <a:solidFill>
              <a:srgbClr val="C9CED6"/>
            </a:solidFill>
            <a:prstDash val="solid"/>
          </a:ln>
        </p:spPr>
      </p:sp>
      <p:sp>
        <p:nvSpPr>
          <p:cNvPr id="44" name="Text 4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5" name="Text 4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/un/</a:t>
            </a:r>
            <a:endParaRPr lang="en-US" sz="1250" dirty="0"/>
          </a:p>
        </p:txBody>
      </p:sp>
      <p:sp>
        <p:nvSpPr>
          <p:cNvPr id="46" name="Shape 43"/>
          <p:cNvSpPr/>
          <p:nvPr/>
        </p:nvSpPr>
        <p:spPr>
          <a:xfrm>
            <a:off x="8278368" y="2862072"/>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8" name="Text 4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a:t>
            </a:r>
            <a:endParaRPr lang="en-US" sz="1250" dirty="0"/>
          </a:p>
        </p:txBody>
      </p:sp>
      <p:sp>
        <p:nvSpPr>
          <p:cNvPr id="49" name="Shape 4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323392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2" name="Text 49"/>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Two kasras (website final check 4).</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the ending of </a:t>
            </a:r>
            <a:pPr algn="l" indent="0" marL="0">
              <a:buNone/>
            </a:pPr>
            <a:r>
              <a:rPr lang="ar-SA" altLang="en-US" sz="1650" b="1" dirty="0">
                <a:solidFill>
                  <a:srgbClr val="1B3B6F"/>
                </a:solidFill>
                <a:latin typeface="Amiri" pitchFamily="34" charset="0"/>
                <a:ea typeface="Amiri" pitchFamily="34" charset="-122"/>
                <a:cs typeface="Amiri" pitchFamily="34" charset="-120"/>
              </a:rPr>
              <a:t>بَيْتًا</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/un/</a:t>
            </a:r>
            <a:endParaRPr lang="en-US" sz="1250" dirty="0"/>
          </a:p>
        </p:txBody>
      </p:sp>
      <p:sp>
        <p:nvSpPr>
          <p:cNvPr id="61" name="Shape 5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5202936"/>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a:t>
            </a:r>
            <a:endParaRPr lang="en-US" sz="1250" dirty="0"/>
          </a:p>
        </p:txBody>
      </p:sp>
      <p:sp>
        <p:nvSpPr>
          <p:cNvPr id="65" name="Shape 62"/>
          <p:cNvSpPr/>
          <p:nvPr/>
        </p:nvSpPr>
        <p:spPr>
          <a:xfrm>
            <a:off x="640080" y="557479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Two fatḥas + alif (website final check 5).</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sound is marked in </a:t>
            </a:r>
            <a:pPr algn="l" indent="0" marL="0">
              <a:buNone/>
            </a:pPr>
            <a:r>
              <a:rPr lang="ar-SA" altLang="en-US" sz="1650" b="1" dirty="0">
                <a:solidFill>
                  <a:srgbClr val="1B3B6F"/>
                </a:solidFill>
                <a:latin typeface="Amiri" pitchFamily="34" charset="0"/>
                <a:ea typeface="Amiri" pitchFamily="34" charset="-122"/>
                <a:cs typeface="Amiri" pitchFamily="34" charset="-120"/>
              </a:rPr>
              <a:t>دَرَّسَ</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3" name="Shape 70"/>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7375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doubled /rr/</a:t>
            </a:r>
            <a:endParaRPr lang="en-US" sz="1250" dirty="0"/>
          </a:p>
        </p:txBody>
      </p:sp>
      <p:sp>
        <p:nvSpPr>
          <p:cNvPr id="77" name="Shape 74"/>
          <p:cNvSpPr/>
          <p:nvPr/>
        </p:nvSpPr>
        <p:spPr>
          <a:xfrm>
            <a:off x="4459224" y="5330952"/>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single /r/</a:t>
            </a:r>
            <a:endParaRPr lang="en-US" sz="1250" dirty="0"/>
          </a:p>
        </p:txBody>
      </p:sp>
      <p:sp>
        <p:nvSpPr>
          <p:cNvPr id="80" name="Text 7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2.</a:t>
            </a:r>
            <a:endParaRPr lang="en-US" sz="10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Shadda → say the letter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Two ḍammas → un</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Two kasras → in</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Two fatḥas → an</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LISTENING · HEAR THE MARK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do you hear?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اِسْتَمِعْ إِلَى العَلَامَةِ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1: </a:t>
            </a:r>
            <a:pPr algn="l" indent="0" marL="0">
              <a:buNone/>
            </a:pPr>
            <a:r>
              <a:rPr lang="ar-SA" altLang="en-US" sz="1650" b="1" dirty="0">
                <a:solidFill>
                  <a:srgbClr val="1B3B6F"/>
                </a:solidFill>
                <a:latin typeface="Amiri" pitchFamily="34" charset="0"/>
                <a:ea typeface="Amiri" pitchFamily="34" charset="-122"/>
                <a:cs typeface="Amiri" pitchFamily="34" charset="-120"/>
              </a:rPr>
              <a:t>مُعَلِّمٌ</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shadda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hamza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long ā</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2: </a:t>
            </a:r>
            <a:pPr algn="l" indent="0" marL="0">
              <a:buNone/>
            </a:pPr>
            <a:r>
              <a:rPr lang="ar-SA" altLang="en-US" sz="1650" b="1" dirty="0">
                <a:solidFill>
                  <a:srgbClr val="1B3B6F"/>
                </a:solidFill>
                <a:latin typeface="Amiri" pitchFamily="34" charset="0"/>
                <a:ea typeface="Amiri" pitchFamily="34" charset="-122"/>
                <a:cs typeface="Amiri" pitchFamily="34" charset="-120"/>
              </a:rPr>
              <a:t>كِتَابٌ</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shadda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hamza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tanwīn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3: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hamza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long ā</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shadda</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4: </a:t>
            </a:r>
            <a:pPr algn="l" indent="0" marL="0">
              <a:buNone/>
            </a:pPr>
            <a:r>
              <a:rPr lang="ar-SA" altLang="en-US" sz="1650" b="1" dirty="0">
                <a:solidFill>
                  <a:srgbClr val="1B3B6F"/>
                </a:solidFill>
                <a:latin typeface="Amiri" pitchFamily="34" charset="0"/>
                <a:ea typeface="Amiri" pitchFamily="34" charset="-122"/>
                <a:cs typeface="Amiri" pitchFamily="34" charset="-120"/>
              </a:rPr>
              <a:t>سَأَلَ</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tanwīn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hamza</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shadda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For each word: shadda, tanwīn, long ā or hamza?</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1: </a:t>
            </a:r>
            <a:pPr algn="l" indent="0" marL="0">
              <a:buNone/>
            </a:pPr>
            <a:r>
              <a:rPr lang="ar-SA" altLang="en-US" sz="1650" b="1" dirty="0">
                <a:solidFill>
                  <a:srgbClr val="1B3B6F"/>
                </a:solidFill>
                <a:latin typeface="Amiri" pitchFamily="34" charset="0"/>
                <a:ea typeface="Amiri" pitchFamily="34" charset="-122"/>
                <a:cs typeface="Amiri" pitchFamily="34" charset="-120"/>
              </a:rPr>
              <a:t>مُعَلِّمٌ</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shadda</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hamza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long ā</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mu-ʿal-lim: the l is doubled (also tanwīn at the end).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2: </a:t>
            </a:r>
            <a:pPr algn="l" indent="0" marL="0">
              <a:buNone/>
            </a:pPr>
            <a:r>
              <a:rPr lang="ar-SA" altLang="en-US" sz="1650" b="1" dirty="0">
                <a:solidFill>
                  <a:srgbClr val="1B3B6F"/>
                </a:solidFill>
                <a:latin typeface="Amiri" pitchFamily="34" charset="0"/>
                <a:ea typeface="Amiri" pitchFamily="34" charset="-122"/>
                <a:cs typeface="Amiri" pitchFamily="34" charset="-120"/>
              </a:rPr>
              <a:t>كِتَابٌ</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shadda</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hamza</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tanwīn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kitābun: the /n/ ending.</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3: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hamza</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long ā</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shadda</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bāb: ordinary long 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4: </a:t>
            </a:r>
            <a:pPr algn="l" indent="0" marL="0">
              <a:buNone/>
            </a:pPr>
            <a:r>
              <a:rPr lang="ar-SA" altLang="en-US" sz="1650" b="1" dirty="0">
                <a:solidFill>
                  <a:srgbClr val="1B3B6F"/>
                </a:solidFill>
                <a:latin typeface="Amiri" pitchFamily="34" charset="0"/>
                <a:ea typeface="Amiri" pitchFamily="34" charset="-122"/>
                <a:cs typeface="Amiri" pitchFamily="34" charset="-120"/>
              </a:rPr>
              <a:t>سَأَلَ</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tanwīn</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hamza</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shadda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sa-ʾa-la: the catch /ʔ/ (he asked).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For each word: shadda, tanwīn, long ā or hamza?</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“MARK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mark is in focus?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العَلَامَاتِ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قَلَمٌ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آمَنَ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إِمَامٌ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حَقّ</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كِتَابًا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قُرْآن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بِئْر</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Shadda</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Tanwīn</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Alif madda</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 Hamza</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MARK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Shadda</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مَرَّ</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حَقّ</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Tanwīn</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قَلَمٌ</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كِتَابًا</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Alif madda</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آمَنَ</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قُرْآن</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 Hamza</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إِمَامٌ</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بِئْر</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six reading-lab words and circle the mark in each. Write its job underneath (double · n · ʾā · catch).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Read each word aloud after you write it.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writing rehearsal</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Website writing rehearsal: write the doubled rāʾ three times; build kitābun, kitābin, kitāban and circle only the ending.</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Then contrast ʾa, ʾā and bā and label each sound.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find and label</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five hamza shapes with one word each. Then copy five vowelled words from a Qur’an or reading book and label one shadda, one tanwīn, one madda and two hamzas.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Under each, write its sound job (website homework).</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ea typeface="Cambria" pitchFamily="34" charset="-122"/>
                <a:cs typeface="Cambria" pitchFamily="34" charset="-120"/>
              </a:rPr>
              <a:t>Partner accuracy check: read and name the mark</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مُحَمَّدٌ</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كِتَابٌ · كِتَابٍ · كِتَابًا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دَرَسَ أَمْ دَرَّسَ؟</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الهَمْزَةُ؟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فِيهَا شَدَّةٌ / تَنْوِينٌ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فِيهَا مَدٌّ / هَمْزَةٌ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الهَمْزَةُ عَلَى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اِقْرَأْ: دَرَّسَ</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Read: darrasa</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دَرَّسَ. فِيهَا شَدَّةٌ.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darrasa. It has a shadda.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 shadda as a vowel</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Shadda doubles the consonant — no extra vowel.</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 tanwīn as two vowels</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pair = one vowel + /n/: un · in · an.</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Writing </a:t>
            </a:r>
            <a:pPr algn="l" indent="0" marL="0">
              <a:buNone/>
            </a:pPr>
            <a:r>
              <a:rPr lang="ar-SA" altLang="en-US" sz="1450" dirty="0">
                <a:solidFill>
                  <a:srgbClr val="5A6472"/>
                </a:solidFill>
                <a:latin typeface="Amiri" pitchFamily="34" charset="0"/>
                <a:ea typeface="Amiri" pitchFamily="34" charset="-122"/>
                <a:cs typeface="Amiri" pitchFamily="34" charset="-120"/>
              </a:rPr>
              <a:t>آ</a:t>
            </a:r>
            <a:pPr algn="l" indent="0" marL="0">
              <a:buNone/>
            </a:pPr>
            <a:r>
              <a:rPr lang="en-US" sz="1100" dirty="0">
                <a:solidFill>
                  <a:srgbClr val="5A6472"/>
                </a:solidFill>
                <a:latin typeface="Calibri" pitchFamily="34" charset="0"/>
                <a:ea typeface="Calibri" pitchFamily="34" charset="-122"/>
                <a:cs typeface="Calibri" pitchFamily="34" charset="-120"/>
              </a:rPr>
              <a:t> for every long ā</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Only when hamza comes first: </a:t>
            </a:r>
            <a:pPr algn="l" indent="0" marL="0">
              <a:buNone/>
            </a:pPr>
            <a:r>
              <a:rPr lang="ar-SA" altLang="en-US" sz="1450" dirty="0">
                <a:solidFill>
                  <a:srgbClr val="5A6472"/>
                </a:solidFill>
                <a:latin typeface="Amiri" pitchFamily="34" charset="0"/>
                <a:ea typeface="Amiri" pitchFamily="34" charset="-122"/>
                <a:cs typeface="Amiri" pitchFamily="34" charset="-120"/>
              </a:rPr>
              <a:t>آدَم</a:t>
            </a:r>
            <a:pPr algn="l" indent="0" marL="0">
              <a:buNone/>
            </a:pPr>
            <a:r>
              <a:rPr lang="en-US" sz="1100" dirty="0">
                <a:solidFill>
                  <a:srgbClr val="5A6472"/>
                </a:solidFill>
                <a:latin typeface="Calibri" pitchFamily="34" charset="0"/>
                <a:ea typeface="Calibri" pitchFamily="34" charset="-122"/>
                <a:cs typeface="Calibri" pitchFamily="34" charset="-120"/>
              </a:rPr>
              <a:t> but </a:t>
            </a:r>
            <a:pPr algn="l" indent="0" marL="0">
              <a:buNone/>
            </a:pPr>
            <a:r>
              <a:rPr lang="ar-SA" altLang="en-US" sz="1450" dirty="0">
                <a:solidFill>
                  <a:srgbClr val="5A6472"/>
                </a:solidFill>
                <a:latin typeface="Amiri" pitchFamily="34" charset="0"/>
                <a:ea typeface="Amiri" pitchFamily="34" charset="-122"/>
                <a:cs typeface="Amiri" pitchFamily="34" charset="-120"/>
              </a:rPr>
              <a:t>بَاب</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Adding a vowel between the two halves of shadda</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Hold, then release: dar-ra-sa, not da-ra-ra-sa.</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Tanwīn with </a:t>
            </a:r>
            <a:pPr algn="l" indent="0" marL="0">
              <a:buNone/>
            </a:pPr>
            <a:r>
              <a:rPr lang="ar-SA" altLang="en-US" sz="1450" dirty="0">
                <a:solidFill>
                  <a:srgbClr val="5A6472"/>
                </a:solidFill>
                <a:latin typeface="Amiri" pitchFamily="34" charset="0"/>
                <a:ea typeface="Amiri" pitchFamily="34" charset="-122"/>
                <a:cs typeface="Amiri" pitchFamily="34" charset="-120"/>
              </a:rPr>
              <a:t>الـ</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الكِتَابُ</a:t>
            </a:r>
            <a:pPr algn="l" indent="0" marL="0">
              <a:buNone/>
            </a:pPr>
            <a:r>
              <a:rPr lang="en-US" sz="1100" dirty="0">
                <a:solidFill>
                  <a:srgbClr val="5A6472"/>
                </a:solidFill>
                <a:latin typeface="Calibri" pitchFamily="34" charset="0"/>
                <a:ea typeface="Calibri" pitchFamily="34" charset="-122"/>
                <a:cs typeface="Calibri" pitchFamily="34" charset="-120"/>
              </a:rPr>
              <a:t> — the article removes tanwīn.</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Guessing hamza seats</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Today: recognise the five shapes only.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decode a consonant with shadda.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all three tanwīn endings.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distinguish </a:t>
            </a:r>
            <a:pPr algn="l" indent="0" marL="0">
              <a:buNone/>
            </a:pPr>
            <a:r>
              <a:rPr lang="ar-SA" altLang="en-US" sz="1700" dirty="0">
                <a:solidFill>
                  <a:srgbClr val="1F2A37"/>
                </a:solidFill>
                <a:latin typeface="Amiri" pitchFamily="34" charset="0"/>
                <a:ea typeface="Amiri" pitchFamily="34" charset="-122"/>
                <a:cs typeface="Amiri" pitchFamily="34" charset="-120"/>
              </a:rPr>
              <a:t>أَ، آ، بَا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find hamza in five printed forms.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why a word with </a:t>
            </a:r>
            <a:pPr algn="l" indent="0" marL="0">
              <a:buNone/>
            </a:pPr>
            <a:r>
              <a:rPr lang="ar-SA" altLang="en-US" sz="1700" dirty="0">
                <a:solidFill>
                  <a:srgbClr val="1F2A37"/>
                </a:solidFill>
                <a:latin typeface="Amiri" pitchFamily="34" charset="0"/>
                <a:ea typeface="Amiri" pitchFamily="34" charset="-122"/>
                <a:cs typeface="Amiri" pitchFamily="34" charset="-120"/>
              </a:rPr>
              <a:t>الـ</a:t>
            </a:r>
            <a:pPr algn="l" indent="0" marL="0">
              <a:buNone/>
            </a:pPr>
            <a:r>
              <a:rPr lang="en-US" sz="1300" dirty="0">
                <a:solidFill>
                  <a:srgbClr val="1F2A37"/>
                </a:solidFill>
                <a:latin typeface="Calibri" pitchFamily="34" charset="0"/>
                <a:ea typeface="Calibri" pitchFamily="34" charset="-122"/>
                <a:cs typeface="Calibri" pitchFamily="34" charset="-120"/>
              </a:rPr>
              <a:t> has no tanwīn.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pPr algn="l" indent="0" marL="0">
              <a:buNone/>
            </a:pPr>
            <a:r>
              <a:rPr lang="en-US" sz="1250" b="1" dirty="0">
                <a:solidFill>
                  <a:srgbClr val="1B3B6F"/>
                </a:solidFill>
                <a:latin typeface="Calibri" pitchFamily="34" charset="0"/>
                <a:ea typeface="Calibri" pitchFamily="34" charset="-122"/>
                <a:cs typeface="Calibri" pitchFamily="34" charset="-120"/>
              </a:rPr>
              <a:t> not use </a:t>
            </a:r>
            <a:pPr algn="l" indent="0" marL="0">
              <a:buNone/>
            </a:pPr>
            <a:r>
              <a:rPr lang="ar-SA" altLang="en-US" sz="1650" b="1" dirty="0">
                <a:solidFill>
                  <a:srgbClr val="1B3B6F"/>
                </a:solidFill>
                <a:latin typeface="Amiri" pitchFamily="34" charset="0"/>
                <a:ea typeface="Amiri" pitchFamily="34" charset="-122"/>
                <a:cs typeface="Amiri" pitchFamily="34" charset="-120"/>
              </a:rPr>
              <a:t>آ</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Its /ā/ has no preceding hamza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Its vowel is short</a:t>
            </a:r>
            <a:endParaRPr lang="en-US" sz="1250" dirty="0"/>
          </a:p>
        </p:txBody>
      </p:sp>
      <p:sp>
        <p:nvSpPr>
          <p:cNvPr id="25" name="Shape 22"/>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consonant sound does hamza represent?</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glottal stop /ʔ/</a:t>
            </a:r>
            <a:endParaRPr lang="en-US" sz="12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today’s honest hamza spelling target?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Guess every seat from one shortcut</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Recognise all common shapes</a:t>
            </a:r>
            <a:endParaRPr lang="en-US" sz="1250" dirty="0"/>
          </a:p>
        </p:txBody>
      </p:sp>
      <p:sp>
        <p:nvSpPr>
          <p:cNvPr id="48" name="Shape 45"/>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0" name="Text 47"/>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pPr algn="l" indent="0" marL="0">
              <a:buNone/>
            </a:pPr>
            <a:r>
              <a:rPr lang="en-US" sz="1250" b="1" dirty="0">
                <a:solidFill>
                  <a:srgbClr val="1B3B6F"/>
                </a:solidFill>
                <a:latin typeface="Calibri" pitchFamily="34" charset="0"/>
                <a:ea typeface="Calibri" pitchFamily="34" charset="-122"/>
                <a:cs typeface="Calibri" pitchFamily="34" charset="-120"/>
              </a:rPr>
              <a:t> not use </a:t>
            </a:r>
            <a:pPr algn="l" indent="0" marL="0">
              <a:buNone/>
            </a:pPr>
            <a:r>
              <a:rPr lang="ar-SA" altLang="en-US" sz="1650" b="1" dirty="0">
                <a:solidFill>
                  <a:srgbClr val="1B3B6F"/>
                </a:solidFill>
                <a:latin typeface="Amiri" pitchFamily="34" charset="0"/>
                <a:ea typeface="Amiri" pitchFamily="34" charset="-122"/>
                <a:cs typeface="Amiri" pitchFamily="34" charset="-120"/>
              </a:rPr>
              <a:t>آ</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Its /ā/ has no preceding hamza</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Its vowel is short</a:t>
            </a:r>
            <a:endParaRPr lang="en-US" sz="1250" dirty="0"/>
          </a:p>
        </p:txBody>
      </p:sp>
      <p:sp>
        <p:nvSpPr>
          <p:cNvPr id="26" name="Text 23"/>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7.</a:t>
            </a:r>
            <a:endParaRPr lang="en-US" sz="1050" dirty="0"/>
          </a:p>
        </p:txBody>
      </p:sp>
      <p:sp>
        <p:nvSpPr>
          <p:cNvPr id="27" name="Shape 24"/>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consonant sound does hamza represent?</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a:t>
            </a:r>
            <a:endParaRPr lang="en-US" sz="12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glottal stop /ʔ/</a:t>
            </a:r>
            <a:endParaRPr lang="en-US" sz="1250" dirty="0"/>
          </a:p>
        </p:txBody>
      </p:sp>
      <p:sp>
        <p:nvSpPr>
          <p:cNvPr id="38" name="Shape 35"/>
          <p:cNvSpPr/>
          <p:nvPr/>
        </p:nvSpPr>
        <p:spPr>
          <a:xfrm>
            <a:off x="4459224" y="34472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8.</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today’s honest hamza spelling target?</a:t>
            </a:r>
            <a:endParaRPr lang="en-US" sz="125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Guess every seat from one shortcut</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Recognise all common shapes</a:t>
            </a:r>
            <a:endParaRPr lang="en-US" sz="1250" dirty="0"/>
          </a:p>
        </p:txBody>
      </p:sp>
      <p:sp>
        <p:nvSpPr>
          <p:cNvPr id="53" name="Text 50"/>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10.</a:t>
            </a:r>
            <a:endParaRPr lang="en-US" sz="1050" dirty="0"/>
          </a:p>
        </p:txBody>
      </p:sp>
      <p:sp>
        <p:nvSpPr>
          <p:cNvPr id="54" name="Shape 51"/>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56" name="Text 53"/>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F1-L06 · Small marks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F1-L07 · Read the Number, Keep the Order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٠ ١ ٢ ٣</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zero, one, two, three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وَاحِدٌ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one</a:t>
            </a:r>
            <a:pPr indent="0" marL="0">
              <a:buNone/>
            </a:pPr>
            <a:r>
              <a:rPr lang="en-US" sz="1000" i="1" dirty="0">
                <a:solidFill>
                  <a:srgbClr val="5A6472"/>
                </a:solidFill>
                <a:latin typeface="Calibri" pitchFamily="34" charset="0"/>
                <a:ea typeface="Calibri" pitchFamily="34" charset="-122"/>
                <a:cs typeface="Calibri" pitchFamily="34" charset="-120"/>
              </a:rPr>
              <a:t>  f. وَاحِدَةٌ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اِثْنَانِ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two</a:t>
            </a:r>
            <a:pPr indent="0" marL="0">
              <a:buNone/>
            </a:pPr>
            <a:r>
              <a:rPr lang="en-US" sz="1000" i="1" dirty="0">
                <a:solidFill>
                  <a:srgbClr val="5A6472"/>
                </a:solidFill>
                <a:latin typeface="Calibri" pitchFamily="34" charset="0"/>
                <a:ea typeface="Calibri" pitchFamily="34" charset="-122"/>
                <a:cs typeface="Calibri" pitchFamily="34" charset="-120"/>
              </a:rPr>
              <a:t>  f. اِثْنَتَانِ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ثَلَاثَةٌ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three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عَشَرَةٌ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ten  ١٠</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the digits </a:t>
            </a:r>
            <a:pPr algn="l" indent="0" marL="0">
              <a:buNone/>
            </a:pPr>
            <a:r>
              <a:rPr lang="ar-SA" altLang="en-US" sz="1350" dirty="0">
                <a:solidFill>
                  <a:srgbClr val="1F2A37"/>
                </a:solidFill>
                <a:latin typeface="Amiri" pitchFamily="34" charset="0"/>
                <a:ea typeface="Amiri" pitchFamily="34" charset="-122"/>
                <a:cs typeface="Amiri" pitchFamily="34" charset="-120"/>
              </a:rPr>
              <a:t>٠</a:t>
            </a:r>
            <a:pPr algn="l" indent="0" marL="0">
              <a:buNone/>
            </a:pPr>
            <a:r>
              <a:rPr lang="en-US" sz="1050" dirty="0">
                <a:solidFill>
                  <a:srgbClr val="1F2A37"/>
                </a:solidFill>
                <a:latin typeface="Calibri" pitchFamily="34" charset="0"/>
                <a:ea typeface="Calibri" pitchFamily="34" charset="-122"/>
                <a:cs typeface="Calibri" pitchFamily="34" charset="-120"/>
              </a:rPr>
              <a:t> to </a:t>
            </a:r>
            <a:pPr algn="l" indent="0" marL="0">
              <a:buNone/>
            </a:pPr>
            <a:r>
              <a:rPr lang="ar-SA" altLang="en-US" sz="1350" dirty="0">
                <a:solidFill>
                  <a:srgbClr val="1F2A37"/>
                </a:solidFill>
                <a:latin typeface="Amiri" pitchFamily="34" charset="0"/>
                <a:ea typeface="Amiri" pitchFamily="34" charset="-122"/>
                <a:cs typeface="Amiri" pitchFamily="34" charset="-120"/>
              </a:rPr>
              <a:t>٩</a:t>
            </a:r>
            <a:pPr algn="l" indent="0" marL="0">
              <a:buNone/>
            </a:pPr>
            <a:r>
              <a:rPr lang="en-US" sz="1050" dirty="0">
                <a:solidFill>
                  <a:srgbClr val="1F2A37"/>
                </a:solidFill>
                <a:latin typeface="Calibri" pitchFamily="34" charset="0"/>
                <a:ea typeface="Calibri" pitchFamily="34" charset="-122"/>
                <a:cs typeface="Calibri" pitchFamily="34" charset="-120"/>
              </a:rPr>
              <a:t> and say them aloud.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٠ ١ ٢ ٣ ٤ ٥ ٦ ٧ ٨ 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F1-L06 · Shadda Signal and Ending Ear games.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rehearsal: shadda, three tanwīn endings, </a:t>
            </a:r>
            <a:pPr algn="l" indent="0" marL="0">
              <a:buNone/>
            </a:pPr>
            <a:r>
              <a:rPr lang="ar-SA" altLang="en-US" sz="1550" dirty="0">
                <a:solidFill>
                  <a:srgbClr val="1F2A37"/>
                </a:solidFill>
                <a:latin typeface="Amiri" pitchFamily="34" charset="0"/>
                <a:ea typeface="Amiri" pitchFamily="34" charset="-122"/>
                <a:cs typeface="Amiri" pitchFamily="34" charset="-120"/>
              </a:rPr>
              <a:t>أَ آ بَا</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five vowelled words from a trusted source; label shadda, tanwīn, madda and two hamzas.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ea typeface="Cambria" pitchFamily="34" charset="-122"/>
                <a:cs typeface="Cambria" pitchFamily="34" charset="-120"/>
              </a:rPr>
              <a:t>F1-L07 · Read the Number, Keep the Order</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الأَرْقَامُ الهِنْدِيَّةُ مِنْ ٠ إِلَى ١٠٠</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digits </a:t>
            </a:r>
            <a:pPr algn="l" indent="0" marL="0">
              <a:buNone/>
            </a:pPr>
            <a:r>
              <a:rPr lang="ar-SA" altLang="en-US" sz="1700" b="1" dirty="0">
                <a:solidFill>
                  <a:srgbClr val="FFFFFF"/>
                </a:solidFill>
                <a:latin typeface="Amiri" pitchFamily="34" charset="0"/>
                <a:ea typeface="Amiri" pitchFamily="34" charset="-122"/>
                <a:cs typeface="Amiri" pitchFamily="34" charset="-120"/>
              </a:rPr>
              <a:t>٠</a:t>
            </a:r>
            <a:pPr algn="l" indent="0" marL="0">
              <a:buNone/>
            </a:pPr>
            <a:r>
              <a:rPr lang="en-US" sz="1300" b="1" dirty="0">
                <a:solidFill>
                  <a:srgbClr val="FFFFFF"/>
                </a:solidFill>
                <a:latin typeface="Calibri" pitchFamily="34" charset="0"/>
                <a:ea typeface="Calibri" pitchFamily="34" charset="-122"/>
                <a:cs typeface="Calibri" pitchFamily="34" charset="-120"/>
              </a:rPr>
              <a:t>–</a:t>
            </a:r>
            <a:pPr algn="l" indent="0" marL="0">
              <a:buNone/>
            </a:pPr>
            <a:r>
              <a:rPr lang="ar-SA" altLang="en-US" sz="1700" b="1" dirty="0">
                <a:solidFill>
                  <a:srgbClr val="FFFFFF"/>
                </a:solidFill>
                <a:latin typeface="Amiri" pitchFamily="34" charset="0"/>
                <a:ea typeface="Amiri" pitchFamily="34" charset="-122"/>
                <a:cs typeface="Amiri" pitchFamily="34" charset="-120"/>
              </a:rPr>
              <a:t>٩</a:t>
            </a:r>
            <a:pPr algn="l" indent="0" marL="0">
              <a:buNone/>
            </a:pPr>
            <a:r>
              <a:rPr lang="en-US" sz="1300" b="1" dirty="0">
                <a:solidFill>
                  <a:srgbClr val="FFFFFF"/>
                </a:solidFill>
                <a:latin typeface="Calibri" pitchFamily="34" charset="0"/>
                <a:ea typeface="Calibri" pitchFamily="34" charset="-122"/>
                <a:cs typeface="Calibri" pitchFamily="34" charset="-120"/>
              </a:rPr>
              <a:t> + your labelled words.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F1-L06 · Small Marks, Big Changes</dc:title>
  <dc:subject>PptxGenJS Presentation</dc:subject>
  <dc:creator>Al Madina Online School · Arabic Department</dc:creator>
  <cp:lastModifiedBy>Al Madina Online School · Arabic Department</cp:lastModifiedBy>
  <cp:revision>1</cp:revision>
  <dcterms:created xsi:type="dcterms:W3CDTF">2026-09-27T09:28:07Z</dcterms:created>
  <dcterms:modified xsi:type="dcterms:W3CDTF">2026-09-27T09:28:07Z</dcterms:modified>
</cp:coreProperties>
</file>