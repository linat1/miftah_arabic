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10–20 New letters and sounds · 20–23 Quick check · 23–27 I Do (formation) · 27–38 We Do (listen, sort, detect) · 38–49 You Do (write, then show-and-say) · 49–54 Feedback · 54–56 Preparation.
FLEX slides are optional. Use them if the class is moving quickly; otherwise the same activities are on the website for homework.
Content source: Miftah Arabic website, Pathways › Foundation › F1 Arabic Script &amp; Sounds › Lesson 11 (F1-L11). The website lesson teaches that script, language and meaning are three different questions; Modern Standard Arabic and regional spoken varieties (flexible repertoires); where Arabic appears in the UK (food, business, community, media, travel, digital); three calligraphic traditions (Naskh, Ruqʿah, Thuluth); a west-to-east route through ten countries; and the ABCD detective chain (worked example مَخْبَز). The vocabulary, context table, country list, games and final checklist are the website’s.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key vocabulary (لُغَة، ثَقَافَة، عَالَم …), read five country names, sort six real-world contexts. DEVELOP: explain script vs language vs meaning; MSA vs dialects. STRETCH: the ABCD detective chain with an uncertain example; the name-design studio.
• Culture without stereotypes (website): do not infer religion, nationality or dialect from one sign; Arabic belongs to Muslim, Christian, Jewish and non-religious communities. Spoken varieties are NOT “bad Arabic”.
• Safe collection (website): no photographs of people, addresses or private information. Heritage / Urdu readers: Urdu uses an adapted Perso-Arabic script — a perfect example of “same script, different language”.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retrieve F1-L10 (website retrieval). Q4 tests the home preparation. Q5 launches the website “four-part share routine”: Source — “I found this on …”; Script — name letters and dots; Reading — apply SCOPE; Confidence — secure, likely or uncertain.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Seeing Arabic script does not always mean the language is Arabic. Investigate!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the website F1-L11 outcomes (Recognise · Explain · Compare · Verify).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website key vocabulary (also دِين religion). Hear → say → see → use. Urdu bridge: زبان is Urdu for language, but ثقافت، عالم، فن، تجارت are shared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LITERACY (website Part 2). Foundation principle: recognise the script without claiming a language you have not verified.
Arabic belongs to many communities (website): people of many nationalities, religions and identities — a liturgical language in Islam, and part of the history of Muslim, Christian, Jewish and non-religious Arabic speakers. Do NOT infer a person’s religion, nationality or dialect from one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LANGUAGE AWARENESS (website Part 3). Continuum (website): family chat · friends/community · interview/classroom · public presentation · formal writing — from more local to more MSA.
Respect rule (website): spoken varieties are not “bad Arabic” or failed MSA. Course standard: our classroom speaking and writing use MSA.
Heritage students: invite them (by choice) to share a greeting from their family variety and compare it with MSA.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teacher-made from the website Parts 2–3.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 ABCD (website Part 7): the aim is not instant certainty but a transparent, checkable interpretation. Think aloud each step.
When to say “uncertain” (website): stylised word with hidden dots; the script may represent another language; cropped image with no source; several meanings fit; a dialect or cultural label not verified.
Strong sentence (website): “I can identify the Arabic script, but I cannot yet verify the language or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 context table. Read each pair together (SCOPE). Website game “Context Sort”: classify real-world examples by PURPOSE, not by stereotype.
Accuracy check (website): do not claim a transport operator routinely provides Arabic signs without a dated, local example. Scale with care: UNESCO says Arabic is used daily by more than 400 million people — reach, but not uniformity.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game “Context Sort” (a category describes function, not identity). Read each word aloud before sorting.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game “Context Sort” (a category describes function, not identity). Read each word aloud before sorting.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CALLIGRAPHY (website Part 5): a disciplined visual art with specialist proportions and tools. Show real examples from a museum or library website if possible (e.g. mosque inscriptions for Thuluth).
Website game “Style &amp; Purpose Matcher”: choose the most likely tradition — or the safest interpretation.
Name-design studio (website, Stretch/extension): confirm the person’s preferred Arabic spelling; write it first in the Naskh school hand; enlarge and decorate without breaking letter identity; label it “Arabic-inspired name design”, not master calligraphy. Ask permission before using a sacred phrase — a personal name is the safest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 ten-country route (schematic, not to scale; not a political map). Read each name with SCOPE: many start with الـ — sun or moon letter? (المَغْرِب moon; الجَزَائِر moon; السُّودَان sun; العِرَاق moon; السُّعُودِيَّة sun).
Language map ≠ identity map (website): Arabic may be official while people also use Amazigh languages, Kurdish, Nubian languages, South Arabian languages, English, French and more.
Website game “World Route”: read each Arabic country name, then match its English name or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(7 min) — the website private script record (Locate · Copy · Decode · Verify) and name-design studio, split by route. Remind: no personal information in copied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مَاذَا تَقُولُ؟ (What does it say?)
B: تَقُولُ «مَطْعَم». أَنَا مُتَأَكِّدٌ. (It says “restaurant”. I am sure.)
FOUR-PART SHARE (website): Source — “I found this on …”; Script — letters, dots, marks; Reading — SCOPE; Confidence — secure / likely / uncertain and why. Prompts (translation): Where did you see Arabic writing? · Read a country name. · Is it Arabic? How do you know? · What is the difference between MSA and a dialect? Sentence stems are teacher-made.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(2 min) — the website respect and evidence rules. Students rewrite one of their own claims in the “careful”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10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(F1-L12 · Review &amp; Assessment) will spend class time USING this language, so students prepare it tonight — short, simple, easy to access (school guidance: “Simple, Short, Interesting, Relevant, Easy to access”). Next lesson is the F1 review and assessment. These are the five areas to revise (website “prepare for Lesson 12”).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F1  ·  F1-L11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F1-L11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Arabic Around Us</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خَطٌّ وَاحِدٌ، أَصْوَاتٌ كَثِيرَةٌ، ثَقَافَاتٌ كَثِيرَةٌ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Use your reading skills on Arabic from real life: tell script, language and meaning apart, understand formal Arabic and spoken dialects, meet three styles of calligraphy and travel through ten Arabic-speaking countries.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F1-L11 · Foundation F1 · Arabic Script &amp; Sounds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beginner</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F1 › F1-L11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Arabic around us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Arabic around us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Script, language, meaning; MSA and dialects.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Context sort, calligraphy, the ten-country route.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F1-L12.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Arabic around us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SCOPE start with?</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Look at the picture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Scan every letter and dot</a:t>
            </a:r>
            <a:endParaRPr lang="en-US" sz="1250" dirty="0"/>
          </a:p>
        </p:txBody>
      </p:sp>
      <p:sp>
        <p:nvSpPr>
          <p:cNvPr id="25" name="Shape 22"/>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404360" y="1947672"/>
            <a:ext cx="310896" cy="310896"/>
          </a:xfrm>
          <a:prstGeom prst="ellipse">
            <a:avLst/>
          </a:prstGeom>
          <a:solidFill>
            <a:srgbClr val="1B3B6F"/>
          </a:solidFill>
          <a:ln w="12700">
            <a:solidFill>
              <a:srgbClr val="1B3B6F"/>
            </a:solidFill>
            <a:prstDash val="solid"/>
          </a:ln>
        </p:spPr>
      </p:sp>
      <p:sp>
        <p:nvSpPr>
          <p:cNvPr id="27" name="Text 24"/>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28" name="Text 25"/>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مطعم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29" name="Shape 26"/>
          <p:cNvSpPr/>
          <p:nvPr/>
        </p:nvSpPr>
        <p:spPr>
          <a:xfrm>
            <a:off x="4459224" y="2532888"/>
            <a:ext cx="256032" cy="256032"/>
          </a:xfrm>
          <a:prstGeom prst="ellipse">
            <a:avLst/>
          </a:prstGeom>
          <a:solidFill>
            <a:srgbClr val="F4F1EA"/>
          </a:solidFill>
          <a:ln w="12700">
            <a:solidFill>
              <a:srgbClr val="F4F1EA"/>
            </a:solidFill>
            <a:prstDash val="solid"/>
          </a:ln>
        </p:spPr>
      </p:sp>
      <p:sp>
        <p:nvSpPr>
          <p:cNvPr id="30" name="Text 27"/>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1" name="Text 28"/>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restaurant</a:t>
            </a:r>
            <a:endParaRPr lang="en-US" sz="1250" dirty="0"/>
          </a:p>
        </p:txBody>
      </p:sp>
      <p:sp>
        <p:nvSpPr>
          <p:cNvPr id="32" name="Shape 29"/>
          <p:cNvSpPr/>
          <p:nvPr/>
        </p:nvSpPr>
        <p:spPr>
          <a:xfrm>
            <a:off x="4459224" y="29900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4" name="Text 31"/>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school</a:t>
            </a:r>
            <a:endParaRPr lang="en-US" sz="1250" dirty="0"/>
          </a:p>
        </p:txBody>
      </p:sp>
      <p:sp>
        <p:nvSpPr>
          <p:cNvPr id="35" name="Shape 32"/>
          <p:cNvSpPr/>
          <p:nvPr/>
        </p:nvSpPr>
        <p:spPr>
          <a:xfrm>
            <a:off x="4459224" y="34472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7" name="Text 34"/>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station</a:t>
            </a:r>
            <a:endParaRPr lang="en-US" sz="1250" dirty="0"/>
          </a:p>
        </p:txBody>
      </p:sp>
      <p:sp>
        <p:nvSpPr>
          <p:cNvPr id="38" name="Shape 35"/>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23504" y="1947672"/>
            <a:ext cx="310896" cy="310896"/>
          </a:xfrm>
          <a:prstGeom prst="ellipse">
            <a:avLst/>
          </a:prstGeom>
          <a:solidFill>
            <a:srgbClr val="1B3B6F"/>
          </a:solidFill>
          <a:ln w="12700">
            <a:solidFill>
              <a:srgbClr val="1B3B6F"/>
            </a:solidFill>
            <a:prstDash val="solid"/>
          </a:ln>
        </p:spPr>
      </p:sp>
      <p:sp>
        <p:nvSpPr>
          <p:cNvPr id="40" name="Text 3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1" name="Text 3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Can context turn </a:t>
            </a:r>
            <a:pPr algn="l" indent="0" marL="0">
              <a:buNone/>
            </a:pPr>
            <a:r>
              <a:rPr lang="ar-SA" altLang="en-US" sz="1650" b="1" dirty="0">
                <a:solidFill>
                  <a:srgbClr val="1B3B6F"/>
                </a:solidFill>
                <a:latin typeface="Amiri" pitchFamily="2" charset="-78"/>
                <a:cs typeface="Amiri" pitchFamily="2" charset="-78"/>
              </a:rPr>
              <a:t>بت</a:t>
            </a:r>
            <a:pPr algn="l" indent="0" marL="0">
              <a:buNone/>
            </a:pPr>
            <a:r>
              <a:rPr lang="en-US" sz="1250" b="1" dirty="0">
                <a:solidFill>
                  <a:srgbClr val="1B3B6F"/>
                </a:solidFill>
                <a:latin typeface="Calibri" pitchFamily="34" charset="0"/>
                <a:cs typeface="Amiri" pitchFamily="2" charset="-78"/>
              </a:rPr>
              <a:t> into </a:t>
            </a:r>
            <a:pPr algn="l" indent="0" marL="0">
              <a:buNone/>
            </a:pPr>
            <a:r>
              <a:rPr lang="ar-SA" altLang="en-US" sz="1650" b="1" dirty="0">
                <a:solidFill>
                  <a:srgbClr val="1B3B6F"/>
                </a:solidFill>
                <a:latin typeface="Amiri" pitchFamily="2" charset="-78"/>
                <a:cs typeface="Amiri" pitchFamily="2" charset="-78"/>
              </a:rPr>
              <a:t>بيت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2" name="Shape 39"/>
          <p:cNvSpPr/>
          <p:nvPr/>
        </p:nvSpPr>
        <p:spPr>
          <a:xfrm>
            <a:off x="8278368" y="25328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4" name="Text 41"/>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a:t>
            </a:r>
            <a:endParaRPr lang="en-US" sz="1250" dirty="0"/>
          </a:p>
        </p:txBody>
      </p:sp>
      <p:sp>
        <p:nvSpPr>
          <p:cNvPr id="45" name="Shape 42"/>
          <p:cNvSpPr/>
          <p:nvPr/>
        </p:nvSpPr>
        <p:spPr>
          <a:xfrm>
            <a:off x="8278368" y="29900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7" name="Text 44"/>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a:t>
            </a:r>
            <a:endParaRPr lang="en-US" sz="1250" dirty="0"/>
          </a:p>
        </p:txBody>
      </p:sp>
      <p:sp>
        <p:nvSpPr>
          <p:cNvPr id="48" name="Shape 45"/>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1" name="Text 48"/>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لُغَةٌ</a:t>
            </a:r>
            <a:pPr algn="l" indent="0" marL="0">
              <a:buNone/>
            </a:pPr>
            <a:r>
              <a:rPr lang="en-US" sz="1250" b="1" dirty="0">
                <a:solidFill>
                  <a:srgbClr val="1B3B6F"/>
                </a:solidFill>
                <a:latin typeface="Calibri" pitchFamily="34" charset="0"/>
                <a:cs typeface="Amiri" pitchFamily="2" charset="-78"/>
              </a:rPr>
              <a:t> mean (prepared at home)?</a:t>
            </a:r>
            <a:endParaRPr lang="en-US" sz="1250" dirty="0"/>
          </a:p>
        </p:txBody>
      </p:sp>
      <p:sp>
        <p:nvSpPr>
          <p:cNvPr id="52" name="Shape 49"/>
          <p:cNvSpPr/>
          <p:nvPr/>
        </p:nvSpPr>
        <p:spPr>
          <a:xfrm>
            <a:off x="640080" y="48737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country</a:t>
            </a:r>
            <a:endParaRPr lang="en-US" sz="1250" dirty="0"/>
          </a:p>
        </p:txBody>
      </p:sp>
      <p:sp>
        <p:nvSpPr>
          <p:cNvPr id="55" name="Shape 52"/>
          <p:cNvSpPr/>
          <p:nvPr/>
        </p:nvSpPr>
        <p:spPr>
          <a:xfrm>
            <a:off x="640080" y="53309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sign</a:t>
            </a:r>
            <a:endParaRPr lang="en-US" sz="1250" dirty="0"/>
          </a:p>
        </p:txBody>
      </p:sp>
      <p:sp>
        <p:nvSpPr>
          <p:cNvPr id="58" name="Shape 55"/>
          <p:cNvSpPr/>
          <p:nvPr/>
        </p:nvSpPr>
        <p:spPr>
          <a:xfrm>
            <a:off x="640080" y="57881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language</a:t>
            </a:r>
            <a:endParaRPr lang="en-US" sz="1250" dirty="0"/>
          </a:p>
        </p:txBody>
      </p:sp>
      <p:sp>
        <p:nvSpPr>
          <p:cNvPr id="61" name="Shape 5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404360"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64" name="Text 61"/>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you find Arabic script recently?</a:t>
            </a:r>
            <a:endParaRPr lang="en-US" sz="1250" dirty="0"/>
          </a:p>
        </p:txBody>
      </p:sp>
      <p:sp>
        <p:nvSpPr>
          <p:cNvPr id="65" name="Shape 62"/>
          <p:cNvSpPr/>
          <p:nvPr/>
        </p:nvSpPr>
        <p:spPr>
          <a:xfrm>
            <a:off x="4459224" y="48737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Any safe example is right!</a:t>
            </a:r>
            <a:endParaRPr lang="en-US" sz="1250" dirty="0"/>
          </a:p>
        </p:txBody>
      </p:sp>
      <p:sp>
        <p:nvSpPr>
          <p:cNvPr id="68" name="Shape 65"/>
          <p:cNvSpPr/>
          <p:nvPr/>
        </p:nvSpPr>
        <p:spPr>
          <a:xfrm>
            <a:off x="4459224" y="53309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Nowhere — Arabic is only in books</a:t>
            </a:r>
            <a:endParaRPr lang="en-US" sz="1250" dirty="0"/>
          </a:p>
        </p:txBody>
      </p:sp>
      <p:sp>
        <p:nvSpPr>
          <p:cNvPr id="71" name="Shape 6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73" name="Text 7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74" name="Text 7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75" name="Text 7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Arabic around us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SCOPE start with?</a:t>
            </a:r>
            <a:endParaRPr lang="en-US" sz="1250" dirty="0"/>
          </a:p>
        </p:txBody>
      </p:sp>
      <p:sp>
        <p:nvSpPr>
          <p:cNvPr id="19" name="Shape 16"/>
          <p:cNvSpPr/>
          <p:nvPr/>
        </p:nvSpPr>
        <p:spPr>
          <a:xfrm>
            <a:off x="640080" y="2532888"/>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Look at the picture</a:t>
            </a:r>
            <a:endParaRPr lang="en-US" sz="1250" dirty="0"/>
          </a:p>
        </p:txBody>
      </p:sp>
      <p:sp>
        <p:nvSpPr>
          <p:cNvPr id="22" name="Shape 19"/>
          <p:cNvSpPr/>
          <p:nvPr/>
        </p:nvSpPr>
        <p:spPr>
          <a:xfrm>
            <a:off x="548640" y="2953512"/>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990088"/>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Scan every letter and dot</a:t>
            </a:r>
            <a:endParaRPr lang="en-US" sz="1250" dirty="0"/>
          </a:p>
        </p:txBody>
      </p:sp>
      <p:sp>
        <p:nvSpPr>
          <p:cNvPr id="26" name="Text 23"/>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F1-L10: letters first.</a:t>
            </a:r>
            <a:endParaRPr lang="en-US" sz="1050" dirty="0"/>
          </a:p>
        </p:txBody>
      </p:sp>
      <p:sp>
        <p:nvSpPr>
          <p:cNvPr id="27" name="Shape 24"/>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404360" y="1947672"/>
            <a:ext cx="310896" cy="310896"/>
          </a:xfrm>
          <a:prstGeom prst="ellipse">
            <a:avLst/>
          </a:prstGeom>
          <a:solidFill>
            <a:srgbClr val="1B3B6F"/>
          </a:solidFill>
          <a:ln w="12700">
            <a:solidFill>
              <a:srgbClr val="1B3B6F"/>
            </a:solidFill>
            <a:prstDash val="solid"/>
          </a:ln>
        </p:spPr>
      </p:sp>
      <p:sp>
        <p:nvSpPr>
          <p:cNvPr id="29" name="Text 26"/>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0" name="Text 27"/>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مطعم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1" name="Shape 28"/>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2" name="Shape 29"/>
          <p:cNvSpPr/>
          <p:nvPr/>
        </p:nvSpPr>
        <p:spPr>
          <a:xfrm>
            <a:off x="4459224" y="2490216"/>
            <a:ext cx="256032" cy="256032"/>
          </a:xfrm>
          <a:prstGeom prst="ellipse">
            <a:avLst/>
          </a:prstGeom>
          <a:solidFill>
            <a:srgbClr val="2E8B57"/>
          </a:solidFill>
          <a:ln w="12700">
            <a:solidFill>
              <a:srgbClr val="2E8B57"/>
            </a:solidFill>
            <a:prstDash val="solid"/>
          </a:ln>
        </p:spPr>
      </p:sp>
      <p:sp>
        <p:nvSpPr>
          <p:cNvPr id="33" name="Text 30"/>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restaurant</a:t>
            </a:r>
            <a:endParaRPr lang="en-US" sz="1250" dirty="0"/>
          </a:p>
        </p:txBody>
      </p:sp>
      <p:sp>
        <p:nvSpPr>
          <p:cNvPr id="35" name="Shape 32"/>
          <p:cNvSpPr/>
          <p:nvPr/>
        </p:nvSpPr>
        <p:spPr>
          <a:xfrm>
            <a:off x="4459224" y="2862072"/>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school</a:t>
            </a:r>
            <a:endParaRPr lang="en-US" sz="1250" dirty="0"/>
          </a:p>
        </p:txBody>
      </p:sp>
      <p:sp>
        <p:nvSpPr>
          <p:cNvPr id="38" name="Shape 35"/>
          <p:cNvSpPr/>
          <p:nvPr/>
        </p:nvSpPr>
        <p:spPr>
          <a:xfrm>
            <a:off x="4459224" y="3233928"/>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station</a:t>
            </a:r>
            <a:endParaRPr lang="en-US" sz="1250" dirty="0"/>
          </a:p>
        </p:txBody>
      </p:sp>
      <p:sp>
        <p:nvSpPr>
          <p:cNvPr id="41" name="Text 38"/>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F1-L10 sign.</a:t>
            </a:r>
            <a:endParaRPr lang="en-US" sz="1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Can context turn </a:t>
            </a:r>
            <a:pPr algn="l" indent="0" marL="0">
              <a:buNone/>
            </a:pPr>
            <a:r>
              <a:rPr lang="ar-SA" altLang="en-US" sz="1650" b="1" dirty="0">
                <a:solidFill>
                  <a:srgbClr val="1B3B6F"/>
                </a:solidFill>
                <a:latin typeface="Amiri" pitchFamily="2" charset="-78"/>
                <a:cs typeface="Amiri" pitchFamily="2" charset="-78"/>
              </a:rPr>
              <a:t>بت</a:t>
            </a:r>
            <a:pPr algn="l" indent="0" marL="0">
              <a:buNone/>
            </a:pPr>
            <a:r>
              <a:rPr lang="en-US" sz="1250" b="1" dirty="0">
                <a:solidFill>
                  <a:srgbClr val="1B3B6F"/>
                </a:solidFill>
                <a:latin typeface="Calibri" pitchFamily="34" charset="0"/>
                <a:cs typeface="Amiri" pitchFamily="2" charset="-78"/>
              </a:rPr>
              <a:t> into </a:t>
            </a:r>
            <a:pPr algn="l" indent="0" marL="0">
              <a:buNone/>
            </a:pPr>
            <a:r>
              <a:rPr lang="ar-SA" altLang="en-US" sz="1650" b="1" dirty="0">
                <a:solidFill>
                  <a:srgbClr val="1B3B6F"/>
                </a:solidFill>
                <a:latin typeface="Amiri" pitchFamily="2" charset="-78"/>
                <a:cs typeface="Amiri" pitchFamily="2" charset="-78"/>
              </a:rPr>
              <a:t>بيت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6" name="Shape 43"/>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47" name="Shape 44"/>
          <p:cNvSpPr/>
          <p:nvPr/>
        </p:nvSpPr>
        <p:spPr>
          <a:xfrm>
            <a:off x="8278368" y="2532888"/>
            <a:ext cx="256032" cy="256032"/>
          </a:xfrm>
          <a:prstGeom prst="ellipse">
            <a:avLst/>
          </a:prstGeom>
          <a:solidFill>
            <a:srgbClr val="2E8B57"/>
          </a:solidFill>
          <a:ln w="12700">
            <a:solidFill>
              <a:srgbClr val="2E8B57"/>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No</a:t>
            </a:r>
            <a:endParaRPr lang="en-US" sz="1250" dirty="0"/>
          </a:p>
        </p:txBody>
      </p:sp>
      <p:sp>
        <p:nvSpPr>
          <p:cNvPr id="50" name="Shape 47"/>
          <p:cNvSpPr/>
          <p:nvPr/>
        </p:nvSpPr>
        <p:spPr>
          <a:xfrm>
            <a:off x="8278368" y="2990088"/>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Yes</a:t>
            </a:r>
            <a:endParaRPr lang="en-US" sz="1250" dirty="0"/>
          </a:p>
        </p:txBody>
      </p:sp>
      <p:sp>
        <p:nvSpPr>
          <p:cNvPr id="53" name="Text 50"/>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F1-L10: the hard boundary.</a:t>
            </a:r>
            <a:endParaRPr lang="en-US" sz="1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لُغَةٌ</a:t>
            </a:r>
            <a:pPr algn="l" indent="0" marL="0">
              <a:buNone/>
            </a:pPr>
            <a:r>
              <a:rPr lang="en-US" sz="1250" b="1" dirty="0">
                <a:solidFill>
                  <a:srgbClr val="1B3B6F"/>
                </a:solidFill>
                <a:latin typeface="Calibri" pitchFamily="34" charset="0"/>
                <a:cs typeface="Amiri" pitchFamily="2" charset="-78"/>
              </a:rPr>
              <a:t> mean (prepared at home)?</a:t>
            </a:r>
            <a:endParaRPr lang="en-US" sz="1250" dirty="0"/>
          </a:p>
        </p:txBody>
      </p:sp>
      <p:sp>
        <p:nvSpPr>
          <p:cNvPr id="58" name="Shape 55"/>
          <p:cNvSpPr/>
          <p:nvPr/>
        </p:nvSpPr>
        <p:spPr>
          <a:xfrm>
            <a:off x="640080" y="4831080"/>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country</a:t>
            </a:r>
            <a:endParaRPr lang="en-US" sz="1250" dirty="0"/>
          </a:p>
        </p:txBody>
      </p:sp>
      <p:sp>
        <p:nvSpPr>
          <p:cNvPr id="61" name="Shape 58"/>
          <p:cNvSpPr/>
          <p:nvPr/>
        </p:nvSpPr>
        <p:spPr>
          <a:xfrm>
            <a:off x="640080" y="5202936"/>
            <a:ext cx="256032" cy="256032"/>
          </a:xfrm>
          <a:prstGeom prst="ellipse">
            <a:avLst/>
          </a:prstGeom>
          <a:solidFill>
            <a:srgbClr val="C9CED6"/>
          </a:solidFill>
          <a:ln w="12700">
            <a:solidFill>
              <a:srgbClr val="C9CED6"/>
            </a:solidFill>
            <a:prstDash val="solid"/>
          </a:ln>
        </p:spPr>
      </p:sp>
      <p:sp>
        <p:nvSpPr>
          <p:cNvPr id="62" name="Text 59"/>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sign</a:t>
            </a:r>
            <a:endParaRPr lang="en-US" sz="1250" dirty="0"/>
          </a:p>
        </p:txBody>
      </p:sp>
      <p:sp>
        <p:nvSpPr>
          <p:cNvPr id="64" name="Shape 61"/>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5574792"/>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7" name="Text 64"/>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language</a:t>
            </a:r>
            <a:endParaRPr lang="en-US" sz="1250" dirty="0"/>
          </a:p>
        </p:txBody>
      </p:sp>
      <p:sp>
        <p:nvSpPr>
          <p:cNvPr id="68" name="Text 6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you find Arabic script recently?</a:t>
            </a:r>
            <a:endParaRPr lang="en-US" sz="1250" dirty="0"/>
          </a:p>
        </p:txBody>
      </p:sp>
      <p:sp>
        <p:nvSpPr>
          <p:cNvPr id="73" name="Shape 70"/>
          <p:cNvSpPr/>
          <p:nvPr/>
        </p:nvSpPr>
        <p:spPr>
          <a:xfrm>
            <a:off x="4367784" y="4837176"/>
            <a:ext cx="3453384"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4459224" y="487375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6" name="Text 73"/>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Any safe example is right!</a:t>
            </a:r>
            <a:endParaRPr lang="en-US" sz="1250" dirty="0"/>
          </a:p>
        </p:txBody>
      </p:sp>
      <p:sp>
        <p:nvSpPr>
          <p:cNvPr id="77" name="Shape 74"/>
          <p:cNvSpPr/>
          <p:nvPr/>
        </p:nvSpPr>
        <p:spPr>
          <a:xfrm>
            <a:off x="4459224" y="5330952"/>
            <a:ext cx="256032" cy="256032"/>
          </a:xfrm>
          <a:prstGeom prst="ellipse">
            <a:avLst/>
          </a:prstGeom>
          <a:solidFill>
            <a:srgbClr val="C9CED6"/>
          </a:solidFill>
          <a:ln w="12700">
            <a:solidFill>
              <a:srgbClr val="C9CED6"/>
            </a:solidFill>
            <a:prstDash val="solid"/>
          </a:ln>
        </p:spPr>
      </p:sp>
      <p:sp>
        <p:nvSpPr>
          <p:cNvPr id="78" name="Text 75"/>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9" name="Text 76"/>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Nowhere — Arabic is only in books</a:t>
            </a:r>
            <a:endParaRPr lang="en-US" sz="1250" dirty="0"/>
          </a:p>
        </p:txBody>
      </p:sp>
      <p:sp>
        <p:nvSpPr>
          <p:cNvPr id="80" name="Text 7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Share your example: source, script, reading, confidence.</a:t>
            </a:r>
            <a:endParaRPr lang="en-US" sz="1050" dirty="0"/>
          </a:p>
        </p:txBody>
      </p:sp>
      <p:sp>
        <p:nvSpPr>
          <p:cNvPr id="81" name="Shape 7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83" name="Text 8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Seeing Arabic script does not always mean the language is Arabic. Investigate!</a:t>
            </a:r>
            <a:endParaRPr lang="en-US" sz="1300" dirty="0"/>
          </a:p>
        </p:txBody>
      </p:sp>
      <p:sp>
        <p:nvSpPr>
          <p:cNvPr id="84" name="Text 81"/>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خَطٌّ · لُغَةٌ · مَعْنًى</a:t>
            </a:r>
            <a:endParaRPr lang="ar-SA" sz="24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Arabic around us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Separate script, language and meaning.</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Explain formal Arabic and spoken varieties respectfully.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Connect examples and calligraphy styles to their purpose.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Make claims with evidence — and say when you are not sure.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where Arabic appears around me.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read five Arabic country names.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explain script vs language vs meaning.</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explain MSA and dialects respectfully.</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use the ABCD detective chain.</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say “I can identify the script, but I cannot yet verify the meaning.”</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Arabic around us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WEBSITE KEY VOCABULARY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Words for talking about Arabic in the world</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عَنِ العَالَمِ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لُغَةٌ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language</a:t>
            </a:r>
            <a:endParaRPr lang="en-US" sz="1350" dirty="0"/>
          </a:p>
          <a:p>
            <a:pPr indent="0" marL="0">
              <a:buNone/>
            </a:pPr>
            <a:r>
              <a:rPr lang="en-US" sz="1100" i="1" dirty="0">
                <a:solidFill>
                  <a:srgbClr val="5A6472"/>
                </a:solidFill>
                <a:latin typeface="Calibri" pitchFamily="34" charset="0"/>
                <a:cs typeface="Amiri" pitchFamily="2" charset="-78"/>
              </a:rPr>
              <a:t>lugha · pl. lughāt</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لُغَةٌ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لُغَاتٌ</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ثَقَافَةٌ</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culture</a:t>
            </a:r>
            <a:endParaRPr lang="en-US" sz="1350" dirty="0"/>
          </a:p>
          <a:p>
            <a:pPr indent="0" marL="0">
              <a:buNone/>
            </a:pPr>
            <a:r>
              <a:rPr lang="en-US" sz="1100" i="1" dirty="0">
                <a:solidFill>
                  <a:srgbClr val="5A6472"/>
                </a:solidFill>
                <a:latin typeface="Calibri" pitchFamily="34" charset="0"/>
                <a:cs typeface="Amiri" pitchFamily="2" charset="-78"/>
              </a:rPr>
              <a:t>thaqāfa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ثَقَافَةٌ</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ثَقَافَاتٌ</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عَالَمٌ</a:t>
            </a:r>
            <a:endParaRPr lang="ar-SA" sz="3000" dirty="0"/>
          </a:p>
        </p:txBody>
      </p:sp>
      <p:sp>
        <p:nvSpPr>
          <p:cNvPr id="53" name="Text 5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world</a:t>
            </a:r>
            <a:endParaRPr lang="en-US" sz="1350" dirty="0"/>
          </a:p>
          <a:p>
            <a:pPr indent="0" marL="0">
              <a:buNone/>
            </a:pPr>
            <a:r>
              <a:rPr lang="en-US" sz="1100" i="1" dirty="0">
                <a:solidFill>
                  <a:srgbClr val="5A6472"/>
                </a:solidFill>
                <a:latin typeface="Calibri" pitchFamily="34" charset="0"/>
                <a:cs typeface="Amiri" pitchFamily="2" charset="-78"/>
              </a:rPr>
              <a:t>ʿālam</a:t>
            </a:r>
            <a:endParaRPr lang="en-US" sz="1350" dirty="0"/>
          </a:p>
        </p:txBody>
      </p:sp>
      <p:sp>
        <p:nvSpPr>
          <p:cNvPr id="54" name="Text 51"/>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cs typeface="Amiri" pitchFamily="2" charset="-78"/>
              </a:rPr>
              <a:t>العَالَمُ العَرَبِيُّ</a:t>
            </a:r>
            <a:pPr algn="l" indent="0" marL="0">
              <a:buNone/>
            </a:pPr>
            <a:r>
              <a:rPr lang="en-US" sz="1000" i="1" dirty="0">
                <a:solidFill>
                  <a:srgbClr val="8A6D1E"/>
                </a:solidFill>
                <a:latin typeface="Calibri" pitchFamily="34" charset="0"/>
                <a:cs typeface="Amiri" pitchFamily="2" charset="-78"/>
              </a:rPr>
              <a:t> = the Arab world</a:t>
            </a:r>
            <a:endParaRPr lang="en-US" sz="1000" dirty="0"/>
          </a:p>
        </p:txBody>
      </p:sp>
      <p:sp>
        <p:nvSpPr>
          <p:cNvPr id="55" name="Shape 5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211312"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8" name="Shape 5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59" name="Text 5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pl.</a:t>
            </a:r>
            <a:endParaRPr lang="en-US" sz="800" dirty="0"/>
          </a:p>
        </p:txBody>
      </p:sp>
      <p:sp>
        <p:nvSpPr>
          <p:cNvPr id="60" name="Shape 5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2" name="Text 5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بِلَادٌ</a:t>
            </a:r>
            <a:endParaRPr lang="ar-SA" sz="3000" dirty="0"/>
          </a:p>
        </p:txBody>
      </p:sp>
      <p:sp>
        <p:nvSpPr>
          <p:cNvPr id="63" name="Text 6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countries, lands</a:t>
            </a:r>
            <a:endParaRPr lang="en-US" sz="1350" dirty="0"/>
          </a:p>
          <a:p>
            <a:pPr indent="0" marL="0">
              <a:buNone/>
            </a:pPr>
            <a:r>
              <a:rPr lang="en-US" sz="1100" i="1" dirty="0">
                <a:solidFill>
                  <a:srgbClr val="5A6472"/>
                </a:solidFill>
                <a:latin typeface="Calibri" pitchFamily="34" charset="0"/>
                <a:cs typeface="Amiri" pitchFamily="2" charset="-78"/>
              </a:rPr>
              <a:t>bilād</a:t>
            </a:r>
            <a:endParaRPr lang="en-US" sz="1350" dirty="0"/>
          </a:p>
        </p:txBody>
      </p:sp>
      <p:sp>
        <p:nvSpPr>
          <p:cNvPr id="64" name="Shape 61"/>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66" name="Text 63"/>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بَلَدٌ</a:t>
            </a:r>
            <a:endParaRPr lang="ar-SA" sz="1500" dirty="0"/>
          </a:p>
        </p:txBody>
      </p:sp>
      <p:sp>
        <p:nvSpPr>
          <p:cNvPr id="67" name="Shape 64"/>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9" name="Text 66"/>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بِلَادٌ</a:t>
            </a:r>
            <a:endParaRPr lang="ar-SA" sz="1500" dirty="0"/>
          </a:p>
        </p:txBody>
      </p:sp>
      <p:sp>
        <p:nvSpPr>
          <p:cNvPr id="70" name="Shape 6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389120" y="4261104"/>
            <a:ext cx="310896" cy="310896"/>
          </a:xfrm>
          <a:prstGeom prst="ellipse">
            <a:avLst/>
          </a:prstGeom>
          <a:solidFill>
            <a:srgbClr val="F4F1EA"/>
          </a:solidFill>
          <a:ln w="12700">
            <a:solidFill>
              <a:srgbClr val="F4F1EA"/>
            </a:solidFill>
            <a:prstDash val="solid"/>
          </a:ln>
        </p:spPr>
      </p:sp>
      <p:sp>
        <p:nvSpPr>
          <p:cNvPr id="72" name="Text 6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3" name="Shape 70"/>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74" name="Text 71"/>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75" name="Text 72"/>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فَنٌّ</a:t>
            </a:r>
            <a:endParaRPr lang="ar-SA" sz="3000" dirty="0"/>
          </a:p>
        </p:txBody>
      </p:sp>
      <p:sp>
        <p:nvSpPr>
          <p:cNvPr id="76" name="Text 73"/>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art</a:t>
            </a:r>
            <a:endParaRPr lang="en-US" sz="1350" dirty="0"/>
          </a:p>
          <a:p>
            <a:pPr indent="0" marL="0">
              <a:buNone/>
            </a:pPr>
            <a:r>
              <a:rPr lang="en-US" sz="1100" i="1" dirty="0">
                <a:solidFill>
                  <a:srgbClr val="5A6472"/>
                </a:solidFill>
                <a:latin typeface="Calibri" pitchFamily="34" charset="0"/>
                <a:cs typeface="Amiri" pitchFamily="2" charset="-78"/>
              </a:rPr>
              <a:t>fann · pl. funūn</a:t>
            </a:r>
            <a:endParaRPr lang="en-US" sz="1350" dirty="0"/>
          </a:p>
        </p:txBody>
      </p:sp>
      <p:sp>
        <p:nvSpPr>
          <p:cNvPr id="77" name="Shape 74"/>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78" name="Text 75"/>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79" name="Text 76"/>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فَنٌّ</a:t>
            </a:r>
            <a:endParaRPr lang="ar-SA" sz="1500" dirty="0"/>
          </a:p>
        </p:txBody>
      </p:sp>
      <p:sp>
        <p:nvSpPr>
          <p:cNvPr id="80" name="Shape 77"/>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2" name="Text 79"/>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فُنُونٌ</a:t>
            </a:r>
            <a:endParaRPr lang="ar-SA" sz="1500" dirty="0"/>
          </a:p>
        </p:txBody>
      </p:sp>
      <p:sp>
        <p:nvSpPr>
          <p:cNvPr id="83" name="Shape 8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566928" y="4261104"/>
            <a:ext cx="310896" cy="310896"/>
          </a:xfrm>
          <a:prstGeom prst="ellipse">
            <a:avLst/>
          </a:prstGeom>
          <a:solidFill>
            <a:srgbClr val="F4F1EA"/>
          </a:solidFill>
          <a:ln w="12700">
            <a:solidFill>
              <a:srgbClr val="F4F1EA"/>
            </a:solidFill>
            <a:prstDash val="solid"/>
          </a:ln>
        </p:spPr>
      </p:sp>
      <p:sp>
        <p:nvSpPr>
          <p:cNvPr id="85" name="Text 8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6" name="Shape 83"/>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87" name="Text 84"/>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88" name="Text 85"/>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تِجَارَةٌ</a:t>
            </a:r>
            <a:endParaRPr lang="ar-SA" sz="3000" dirty="0"/>
          </a:p>
        </p:txBody>
      </p:sp>
      <p:sp>
        <p:nvSpPr>
          <p:cNvPr id="89" name="Text 86"/>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commerce, trade</a:t>
            </a:r>
            <a:endParaRPr lang="en-US" sz="1350" dirty="0"/>
          </a:p>
          <a:p>
            <a:pPr indent="0" marL="0">
              <a:buNone/>
            </a:pPr>
            <a:r>
              <a:rPr lang="en-US" sz="1100" i="1" dirty="0">
                <a:solidFill>
                  <a:srgbClr val="5A6472"/>
                </a:solidFill>
                <a:latin typeface="Calibri" pitchFamily="34" charset="0"/>
                <a:cs typeface="Amiri" pitchFamily="2" charset="-78"/>
              </a:rPr>
              <a:t>tijāra</a:t>
            </a:r>
            <a:endParaRPr lang="en-US" sz="13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Arabic around us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TEACHER INSTRUCTION · SCRIPT, LANGUAGE AND MEANING ARE THREE QUESTIONS (WEBSITE PART 2)</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Three different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الخَطُّ وَاللُّغَةُ وَالمَعْنَى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a:t>
            </a:r>
            <a:endParaRPr lang="en-US" sz="850" dirty="0"/>
          </a:p>
        </p:txBody>
      </p:sp>
      <p:sp>
        <p:nvSpPr>
          <p:cNvPr id="15" name="Shape 12"/>
          <p:cNvSpPr/>
          <p:nvPr/>
        </p:nvSpPr>
        <p:spPr>
          <a:xfrm>
            <a:off x="8095488"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57734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1 · WHAT CAN I SEE?</a:t>
            </a:r>
            <a:endParaRPr lang="en-US" sz="850" dirty="0"/>
          </a:p>
        </p:txBody>
      </p:sp>
      <p:sp>
        <p:nvSpPr>
          <p:cNvPr id="18" name="Text 15"/>
          <p:cNvSpPr txBox="1"/>
          <p:nvPr/>
        </p:nvSpPr>
        <p:spPr>
          <a:xfrm>
            <a:off x="9855708" y="1874520"/>
            <a:ext cx="173888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cs typeface="Amiri" pitchFamily="2" charset="-78"/>
              </a:rPr>
              <a:t>the script</a:t>
            </a:r>
            <a:endParaRPr lang="en-US"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مَطْعَم</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Letter shapes, joins, dots, numerals and marks.</a:t>
            </a:r>
            <a:endParaRPr lang="en-US" sz="1200" dirty="0"/>
          </a:p>
        </p:txBody>
      </p:sp>
      <p:sp>
        <p:nvSpPr>
          <p:cNvPr id="21" name="Shape 18"/>
          <p:cNvSpPr/>
          <p:nvPr/>
        </p:nvSpPr>
        <p:spPr>
          <a:xfrm>
            <a:off x="8205216" y="5212080"/>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This is evidence you can observe.</a:t>
            </a:r>
            <a:endParaRPr lang="en-US" sz="1100" dirty="0"/>
          </a:p>
        </p:txBody>
      </p:sp>
      <p:sp>
        <p:nvSpPr>
          <p:cNvPr id="23" name="Shape 20"/>
          <p:cNvSpPr/>
          <p:nvPr/>
        </p:nvSpPr>
        <p:spPr>
          <a:xfrm>
            <a:off x="4276344"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77340" cy="274320"/>
          </a:xfrm>
          <a:prstGeom prst="roundRect">
            <a:avLst>
              <a:gd name="adj" fmla="val 50000"/>
            </a:avLst>
          </a:prstGeom>
          <a:solidFill>
            <a:srgbClr val="0E7C86"/>
          </a:solidFill>
          <a:ln w="12700">
            <a:solidFill>
              <a:srgbClr val="0E7C86"/>
            </a:solidFill>
            <a:prstDash val="solid"/>
          </a:ln>
        </p:spPr>
      </p:sp>
      <p:sp>
        <p:nvSpPr>
          <p:cNvPr id="25" name="Text 22"/>
          <p:cNvSpPr txBox="1"/>
          <p:nvPr/>
        </p:nvSpPr>
        <p:spPr>
          <a:xfrm>
            <a:off x="4413504"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2 · WHICH LANGUAGE?</a:t>
            </a:r>
            <a:endParaRPr lang="en-US" sz="850" dirty="0"/>
          </a:p>
        </p:txBody>
      </p:sp>
      <p:sp>
        <p:nvSpPr>
          <p:cNvPr id="26" name="Text 23"/>
          <p:cNvSpPr txBox="1"/>
          <p:nvPr/>
        </p:nvSpPr>
        <p:spPr>
          <a:xfrm>
            <a:off x="6036564" y="1874520"/>
            <a:ext cx="1738884" cy="365760"/>
          </a:xfrm>
          <a:prstGeom prst="rect">
            <a:avLst/>
          </a:prstGeom>
          <a:noFill/>
          <a:ln/>
        </p:spPr>
        <p:txBody>
          <a:bodyPr wrap="square" lIns="0" tIns="0" rIns="0" bIns="0" rtlCol="0" anchor="ctr"/>
          <a:lstStyle/>
          <a:p>
            <a:pPr algn="l" indent="0" marL="0">
              <a:buNone/>
            </a:pPr>
            <a:r>
              <a:rPr lang="en-US" sz="1400" b="1" dirty="0">
                <a:solidFill>
                  <a:srgbClr val="8A6D1E"/>
                </a:solidFill>
                <a:latin typeface="Calibri" pitchFamily="34" charset="0"/>
                <a:cs typeface="Amiri" pitchFamily="2" charset="-78"/>
              </a:rPr>
              <a:t>check, don’t assume</a:t>
            </a:r>
            <a:endParaRPr lang="en-US" sz="14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كِتَاب · کتاب</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Arabic </a:t>
            </a:r>
            <a:pPr algn="ctr" indent="0" marL="0">
              <a:buNone/>
            </a:pPr>
            <a:r>
              <a:rPr lang="ar-SA" altLang="en-US" sz="1550" dirty="0">
                <a:solidFill>
                  <a:srgbClr val="5A6472"/>
                </a:solidFill>
                <a:latin typeface="Amiri" pitchFamily="2" charset="-78"/>
                <a:cs typeface="Amiri" pitchFamily="2" charset="-78"/>
              </a:rPr>
              <a:t>كِتَاب</a:t>
            </a:r>
            <a:pPr algn="ctr" indent="0" marL="0">
              <a:buNone/>
            </a:pPr>
            <a:r>
              <a:rPr lang="en-US" sz="1200" i="1" dirty="0">
                <a:solidFill>
                  <a:srgbClr val="5A6472"/>
                </a:solidFill>
                <a:latin typeface="Calibri" pitchFamily="34" charset="0"/>
                <a:cs typeface="Amiri" pitchFamily="2" charset="-78"/>
              </a:rPr>
              <a:t> and Persian/Urdu </a:t>
            </a:r>
            <a:pPr algn="ctr" indent="0" marL="0">
              <a:buNone/>
            </a:pPr>
            <a:r>
              <a:rPr lang="ar-SA" altLang="en-US" sz="1550" dirty="0">
                <a:solidFill>
                  <a:srgbClr val="5A6472"/>
                </a:solidFill>
                <a:latin typeface="Amiri" pitchFamily="2" charset="-78"/>
                <a:cs typeface="Amiri" pitchFamily="2" charset="-78"/>
              </a:rPr>
              <a:t>کتاب</a:t>
            </a:r>
            <a:pPr algn="ctr" indent="0" marL="0">
              <a:buNone/>
            </a:pPr>
            <a:r>
              <a:rPr lang="en-US" sz="1200" i="1" dirty="0">
                <a:solidFill>
                  <a:srgbClr val="5A6472"/>
                </a:solidFill>
                <a:latin typeface="Calibri" pitchFamily="34" charset="0"/>
                <a:cs typeface="Amiri" pitchFamily="2" charset="-78"/>
              </a:rPr>
              <a:t> — same script family.</a:t>
            </a:r>
            <a:endParaRPr lang="en-US" sz="1200" dirty="0"/>
          </a:p>
        </p:txBody>
      </p:sp>
      <p:sp>
        <p:nvSpPr>
          <p:cNvPr id="29" name="Shape 26"/>
          <p:cNvSpPr/>
          <p:nvPr/>
        </p:nvSpPr>
        <p:spPr>
          <a:xfrm>
            <a:off x="4386072" y="5212080"/>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Arabic script also writes Persian, Urdu and other languages.</a:t>
            </a:r>
            <a:endParaRPr lang="en-US" sz="1100" dirty="0"/>
          </a:p>
        </p:txBody>
      </p:sp>
      <p:sp>
        <p:nvSpPr>
          <p:cNvPr id="31" name="Shape 28"/>
          <p:cNvSpPr/>
          <p:nvPr/>
        </p:nvSpPr>
        <p:spPr>
          <a:xfrm>
            <a:off x="457200"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851660" cy="274320"/>
          </a:xfrm>
          <a:prstGeom prst="roundRect">
            <a:avLst>
              <a:gd name="adj" fmla="val 50000"/>
            </a:avLst>
          </a:prstGeom>
          <a:solidFill>
            <a:srgbClr val="7B3FA0"/>
          </a:solidFill>
          <a:ln w="12700">
            <a:solidFill>
              <a:srgbClr val="7B3FA0"/>
            </a:solidFill>
            <a:prstDash val="solid"/>
          </a:ln>
        </p:spPr>
      </p:sp>
      <p:sp>
        <p:nvSpPr>
          <p:cNvPr id="33" name="Text 30"/>
          <p:cNvSpPr txBox="1"/>
          <p:nvPr/>
        </p:nvSpPr>
        <p:spPr>
          <a:xfrm>
            <a:off x="594360" y="1920240"/>
            <a:ext cx="18516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3 · WHAT MIGHT IT MEAN?</a:t>
            </a:r>
            <a:endParaRPr lang="en-US" sz="850" dirty="0"/>
          </a:p>
        </p:txBody>
      </p:sp>
      <p:sp>
        <p:nvSpPr>
          <p:cNvPr id="34" name="Text 31"/>
          <p:cNvSpPr txBox="1"/>
          <p:nvPr/>
        </p:nvSpPr>
        <p:spPr>
          <a:xfrm>
            <a:off x="2491740" y="1874520"/>
            <a:ext cx="146456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cs typeface="Amiri" pitchFamily="2" charset="-78"/>
              </a:rPr>
              <a:t>decode first</a:t>
            </a:r>
            <a:endParaRPr lang="en-US"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مَا المَعْنَى؟</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Read the letters, then use the setting to check.</a:t>
            </a:r>
            <a:endParaRPr lang="en-US" sz="1200" dirty="0"/>
          </a:p>
        </p:txBody>
      </p:sp>
      <p:sp>
        <p:nvSpPr>
          <p:cNvPr id="37" name="Shape 34"/>
          <p:cNvSpPr/>
          <p:nvPr/>
        </p:nvSpPr>
        <p:spPr>
          <a:xfrm>
            <a:off x="566928" y="5212080"/>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Context checks a reading; it does not replace it.</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Arabic around us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B3B6F"/>
                </a:solidFill>
                <a:latin typeface="Calibri" pitchFamily="34" charset="0"/>
                <a:cs typeface="Amiri" pitchFamily="2" charset="-78"/>
              </a:rPr>
              <a:t>TEACHER INSTRUCTION · FORMAL ARABIC AND EVERYDAY VOICES (WEBSITE PART 3)</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language, many voices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الفُصْحَى وَاللَّهَجَاتُ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a:t>
            </a:r>
            <a:endParaRPr lang="en-US" sz="850" dirty="0"/>
          </a:p>
        </p:txBody>
      </p:sp>
      <p:sp>
        <p:nvSpPr>
          <p:cNvPr id="15" name="Shape 12"/>
          <p:cNvSpPr/>
          <p:nvPr/>
        </p:nvSpPr>
        <p:spPr>
          <a:xfrm>
            <a:off x="8095488"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48006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4800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MSA</a:t>
            </a:r>
            <a:endParaRPr lang="en-US" sz="850" dirty="0"/>
          </a:p>
        </p:txBody>
      </p:sp>
      <p:sp>
        <p:nvSpPr>
          <p:cNvPr id="18" name="Text 15"/>
          <p:cNvSpPr txBox="1"/>
          <p:nvPr/>
        </p:nvSpPr>
        <p:spPr>
          <a:xfrm>
            <a:off x="8758428" y="1874520"/>
            <a:ext cx="283616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cs typeface="Amiri" pitchFamily="2" charset="-78"/>
              </a:rPr>
              <a:t>Modern Standard Arabic</a:t>
            </a:r>
            <a:endParaRPr lang="en-US"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الفُصْحَى</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Shared formal Arabic: school, news, books, speeches.</a:t>
            </a:r>
            <a:endParaRPr lang="en-US" sz="1200" dirty="0"/>
          </a:p>
        </p:txBody>
      </p:sp>
      <p:sp>
        <p:nvSpPr>
          <p:cNvPr id="21" name="Shape 18"/>
          <p:cNvSpPr/>
          <p:nvPr/>
        </p:nvSpPr>
        <p:spPr>
          <a:xfrm>
            <a:off x="8205216" y="5212080"/>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This course teaches MSA.</a:t>
            </a:r>
            <a:endParaRPr lang="en-US" sz="1100" dirty="0"/>
          </a:p>
        </p:txBody>
      </p:sp>
      <p:sp>
        <p:nvSpPr>
          <p:cNvPr id="23" name="Shape 20"/>
          <p:cNvSpPr/>
          <p:nvPr/>
        </p:nvSpPr>
        <p:spPr>
          <a:xfrm>
            <a:off x="4276344"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822960" cy="274320"/>
          </a:xfrm>
          <a:prstGeom prst="roundRect">
            <a:avLst>
              <a:gd name="adj" fmla="val 50000"/>
            </a:avLst>
          </a:prstGeom>
          <a:solidFill>
            <a:srgbClr val="0E7C86"/>
          </a:solidFill>
          <a:ln w="12700">
            <a:solidFill>
              <a:srgbClr val="0E7C86"/>
            </a:solidFill>
            <a:prstDash val="solid"/>
          </a:ln>
        </p:spPr>
      </p:sp>
      <p:sp>
        <p:nvSpPr>
          <p:cNvPr id="25" name="Text 22"/>
          <p:cNvSpPr txBox="1"/>
          <p:nvPr/>
        </p:nvSpPr>
        <p:spPr>
          <a:xfrm>
            <a:off x="4413504" y="1920240"/>
            <a:ext cx="8229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DIALECTS</a:t>
            </a:r>
            <a:endParaRPr lang="en-US" sz="850" dirty="0"/>
          </a:p>
        </p:txBody>
      </p:sp>
      <p:sp>
        <p:nvSpPr>
          <p:cNvPr id="26" name="Text 23"/>
          <p:cNvSpPr txBox="1"/>
          <p:nvPr/>
        </p:nvSpPr>
        <p:spPr>
          <a:xfrm>
            <a:off x="5282184" y="1874520"/>
            <a:ext cx="249326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cs typeface="Amiri" pitchFamily="2" charset="-78"/>
              </a:rPr>
              <a:t>regional spoken varieties</a:t>
            </a:r>
            <a:endParaRPr lang="en-US"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اللَّهَجَاتُ</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Egyptian, Levantine, Gulf, Iraqi, Sudanese, Maghrebi …</a:t>
            </a:r>
            <a:endParaRPr lang="en-US" sz="1200" dirty="0"/>
          </a:p>
        </p:txBody>
      </p:sp>
      <p:sp>
        <p:nvSpPr>
          <p:cNvPr id="29" name="Shape 26"/>
          <p:cNvSpPr/>
          <p:nvPr/>
        </p:nvSpPr>
        <p:spPr>
          <a:xfrm>
            <a:off x="4386072" y="5212080"/>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Systematic varieties with their own rules — not “bad Arabic”.</a:t>
            </a:r>
            <a:endParaRPr lang="en-US" sz="1100" dirty="0"/>
          </a:p>
        </p:txBody>
      </p:sp>
      <p:sp>
        <p:nvSpPr>
          <p:cNvPr id="31" name="Shape 28"/>
          <p:cNvSpPr/>
          <p:nvPr/>
        </p:nvSpPr>
        <p:spPr>
          <a:xfrm>
            <a:off x="457200"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685800" cy="274320"/>
          </a:xfrm>
          <a:prstGeom prst="roundRect">
            <a:avLst>
              <a:gd name="adj" fmla="val 50000"/>
            </a:avLst>
          </a:prstGeom>
          <a:solidFill>
            <a:srgbClr val="7B3FA0"/>
          </a:solidFill>
          <a:ln w="12700">
            <a:solidFill>
              <a:srgbClr val="7B3FA0"/>
            </a:solidFill>
            <a:prstDash val="solid"/>
          </a:ln>
        </p:spPr>
      </p:sp>
      <p:sp>
        <p:nvSpPr>
          <p:cNvPr id="33" name="Text 30"/>
          <p:cNvSpPr txBox="1"/>
          <p:nvPr/>
        </p:nvSpPr>
        <p:spPr>
          <a:xfrm>
            <a:off x="594360" y="1920240"/>
            <a:ext cx="6858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CHOICE</a:t>
            </a:r>
            <a:endParaRPr lang="en-US" sz="850" dirty="0"/>
          </a:p>
        </p:txBody>
      </p:sp>
      <p:sp>
        <p:nvSpPr>
          <p:cNvPr id="34" name="Text 31"/>
          <p:cNvSpPr txBox="1"/>
          <p:nvPr/>
        </p:nvSpPr>
        <p:spPr>
          <a:xfrm>
            <a:off x="1325880" y="1874520"/>
            <a:ext cx="263042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cs typeface="Amiri" pitchFamily="2" charset="-78"/>
              </a:rPr>
              <a:t>flexible repertoires</a:t>
            </a:r>
            <a:endParaRPr lang="en-US"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حَسَبَ السِّيَاقِ</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Family chat → more local · formal writing → more MSA.</a:t>
            </a:r>
            <a:endParaRPr lang="en-US" sz="1200" dirty="0"/>
          </a:p>
        </p:txBody>
      </p:sp>
      <p:sp>
        <p:nvSpPr>
          <p:cNvPr id="37" name="Shape 34"/>
          <p:cNvSpPr/>
          <p:nvPr/>
        </p:nvSpPr>
        <p:spPr>
          <a:xfrm>
            <a:off x="566928" y="5212080"/>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Speakers shift and blend with audience, place and purpose.</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Arabic around us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Does Arabic script always mean the language is Arabic?</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 it also writes Persian, Urdu and more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 always</a:t>
            </a:r>
            <a:endParaRPr lang="en-US" sz="1250" dirty="0"/>
          </a:p>
        </p:txBody>
      </p:sp>
      <p:sp>
        <p:nvSpPr>
          <p:cNvPr id="25" name="Shape 22"/>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313932" y="1947672"/>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28" name="Text 25"/>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dialects?</a:t>
            </a:r>
            <a:endParaRPr lang="en-US" sz="1250" dirty="0"/>
          </a:p>
        </p:txBody>
      </p:sp>
      <p:sp>
        <p:nvSpPr>
          <p:cNvPr id="29" name="Shape 26"/>
          <p:cNvSpPr/>
          <p:nvPr/>
        </p:nvSpPr>
        <p:spPr>
          <a:xfrm>
            <a:off x="6368796" y="2532888"/>
            <a:ext cx="256032" cy="256032"/>
          </a:xfrm>
          <a:prstGeom prst="ellipse">
            <a:avLst/>
          </a:prstGeom>
          <a:solidFill>
            <a:srgbClr val="F4F1EA"/>
          </a:solidFill>
          <a:ln w="12700">
            <a:solidFill>
              <a:srgbClr val="F4F1EA"/>
            </a:solidFill>
            <a:prstDash val="solid"/>
          </a:ln>
        </p:spPr>
      </p:sp>
      <p:sp>
        <p:nvSpPr>
          <p:cNvPr id="30" name="Text 27"/>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1" name="Text 28"/>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Mistakes in Arabic</a:t>
            </a:r>
            <a:endParaRPr lang="en-US" sz="1250" dirty="0"/>
          </a:p>
        </p:txBody>
      </p:sp>
      <p:sp>
        <p:nvSpPr>
          <p:cNvPr id="32" name="Shape 29"/>
          <p:cNvSpPr/>
          <p:nvPr/>
        </p:nvSpPr>
        <p:spPr>
          <a:xfrm>
            <a:off x="6368796" y="29900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4" name="Text 31"/>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Systematic spoken varieties</a:t>
            </a:r>
            <a:endParaRPr lang="en-US" sz="1250" dirty="0"/>
          </a:p>
        </p:txBody>
      </p:sp>
      <p:sp>
        <p:nvSpPr>
          <p:cNvPr id="35" name="Shape 3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85216" y="4288536"/>
            <a:ext cx="310896" cy="310896"/>
          </a:xfrm>
          <a:prstGeom prst="ellipse">
            <a:avLst/>
          </a:prstGeom>
          <a:solidFill>
            <a:srgbClr val="1B3B6F"/>
          </a:solidFill>
          <a:ln w="12700">
            <a:solidFill>
              <a:srgbClr val="1B3B6F"/>
            </a:solidFill>
            <a:prstDash val="solid"/>
          </a:ln>
        </p:spPr>
      </p:sp>
      <p:sp>
        <p:nvSpPr>
          <p:cNvPr id="37" name="Text 3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38" name="Text 3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Arabic do we use in class tasks?</a:t>
            </a:r>
            <a:endParaRPr lang="en-US" sz="1250" dirty="0"/>
          </a:p>
        </p:txBody>
      </p:sp>
      <p:sp>
        <p:nvSpPr>
          <p:cNvPr id="39" name="Shape 36"/>
          <p:cNvSpPr/>
          <p:nvPr/>
        </p:nvSpPr>
        <p:spPr>
          <a:xfrm>
            <a:off x="640080" y="4873752"/>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1" name="Text 38"/>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Modern Standard Arabic</a:t>
            </a:r>
            <a:endParaRPr lang="en-US" sz="1250" dirty="0"/>
          </a:p>
        </p:txBody>
      </p:sp>
      <p:sp>
        <p:nvSpPr>
          <p:cNvPr id="42" name="Shape 39"/>
          <p:cNvSpPr/>
          <p:nvPr/>
        </p:nvSpPr>
        <p:spPr>
          <a:xfrm>
            <a:off x="640080" y="5330952"/>
            <a:ext cx="256032" cy="256032"/>
          </a:xfrm>
          <a:prstGeom prst="ellipse">
            <a:avLst/>
          </a:prstGeom>
          <a:solidFill>
            <a:srgbClr val="F4F1EA"/>
          </a:solidFill>
          <a:ln w="12700">
            <a:solidFill>
              <a:srgbClr val="F4F1EA"/>
            </a:solidFill>
            <a:prstDash val="solid"/>
          </a:ln>
        </p:spPr>
      </p:sp>
      <p:sp>
        <p:nvSpPr>
          <p:cNvPr id="43" name="Text 4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4" name="Text 41"/>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Egyptian Arabic</a:t>
            </a:r>
            <a:endParaRPr lang="en-US" sz="1250" dirty="0"/>
          </a:p>
        </p:txBody>
      </p:sp>
      <p:sp>
        <p:nvSpPr>
          <p:cNvPr id="45" name="Shape 4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48" name="Text 4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ثَقَافَةٌ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6368796" y="48737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culture</a:t>
            </a:r>
            <a:endParaRPr lang="en-US" sz="1250" dirty="0"/>
          </a:p>
        </p:txBody>
      </p:sp>
      <p:sp>
        <p:nvSpPr>
          <p:cNvPr id="52" name="Shape 49"/>
          <p:cNvSpPr/>
          <p:nvPr/>
        </p:nvSpPr>
        <p:spPr>
          <a:xfrm>
            <a:off x="6368796" y="53309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language</a:t>
            </a:r>
            <a:endParaRPr lang="en-US" sz="1250" dirty="0"/>
          </a:p>
        </p:txBody>
      </p:sp>
      <p:sp>
        <p:nvSpPr>
          <p:cNvPr id="55" name="Shape 52"/>
          <p:cNvSpPr/>
          <p:nvPr/>
        </p:nvSpPr>
        <p:spPr>
          <a:xfrm>
            <a:off x="6368796" y="57881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7" name="Text 54"/>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art</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Arabic around us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Does Arabic script always mean the language is Arabic?</a:t>
            </a:r>
            <a:endParaRPr lang="en-US" sz="1250" dirty="0"/>
          </a:p>
        </p:txBody>
      </p:sp>
      <p:sp>
        <p:nvSpPr>
          <p:cNvPr id="19" name="Shape 16"/>
          <p:cNvSpPr/>
          <p:nvPr/>
        </p:nvSpPr>
        <p:spPr>
          <a:xfrm>
            <a:off x="548640" y="2496312"/>
            <a:ext cx="5362956"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No — it also writes Persian, Urdu and more</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Yes, always</a:t>
            </a:r>
            <a:endParaRPr lang="en-US" sz="1250" dirty="0"/>
          </a:p>
        </p:txBody>
      </p:sp>
      <p:sp>
        <p:nvSpPr>
          <p:cNvPr id="26" name="Text 23"/>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Part 2.</a:t>
            </a:r>
            <a:endParaRPr lang="en-US" sz="1050" dirty="0"/>
          </a:p>
        </p:txBody>
      </p:sp>
      <p:sp>
        <p:nvSpPr>
          <p:cNvPr id="27" name="Shape 24"/>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6313932" y="1947672"/>
            <a:ext cx="310896" cy="310896"/>
          </a:xfrm>
          <a:prstGeom prst="ellipse">
            <a:avLst/>
          </a:prstGeom>
          <a:solidFill>
            <a:srgbClr val="1B3B6F"/>
          </a:solidFill>
          <a:ln w="12700">
            <a:solidFill>
              <a:srgbClr val="1B3B6F"/>
            </a:solidFill>
            <a:prstDash val="solid"/>
          </a:ln>
        </p:spPr>
      </p:sp>
      <p:sp>
        <p:nvSpPr>
          <p:cNvPr id="29" name="Text 2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0" name="Text 27"/>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dialects?</a:t>
            </a:r>
            <a:endParaRPr lang="en-US" sz="1250" dirty="0"/>
          </a:p>
        </p:txBody>
      </p:sp>
      <p:sp>
        <p:nvSpPr>
          <p:cNvPr id="31" name="Shape 28"/>
          <p:cNvSpPr/>
          <p:nvPr/>
        </p:nvSpPr>
        <p:spPr>
          <a:xfrm>
            <a:off x="6368796" y="2532888"/>
            <a:ext cx="256032" cy="256032"/>
          </a:xfrm>
          <a:prstGeom prst="ellipse">
            <a:avLst/>
          </a:prstGeom>
          <a:solidFill>
            <a:srgbClr val="C9CED6"/>
          </a:solidFill>
          <a:ln w="12700">
            <a:solidFill>
              <a:srgbClr val="C9CED6"/>
            </a:solidFill>
            <a:prstDash val="solid"/>
          </a:ln>
        </p:spPr>
      </p:sp>
      <p:sp>
        <p:nvSpPr>
          <p:cNvPr id="32" name="Text 29"/>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3" name="Text 30"/>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Mistakes in Arabic</a:t>
            </a:r>
            <a:endParaRPr lang="en-US" sz="1250" dirty="0"/>
          </a:p>
        </p:txBody>
      </p:sp>
      <p:sp>
        <p:nvSpPr>
          <p:cNvPr id="34" name="Shape 31"/>
          <p:cNvSpPr/>
          <p:nvPr/>
        </p:nvSpPr>
        <p:spPr>
          <a:xfrm>
            <a:off x="6277356" y="2953512"/>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990088"/>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Systematic spoken varieties</a:t>
            </a:r>
            <a:endParaRPr lang="en-US" sz="1250" dirty="0"/>
          </a:p>
        </p:txBody>
      </p:sp>
      <p:sp>
        <p:nvSpPr>
          <p:cNvPr id="38" name="Text 35"/>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respect rule.</a:t>
            </a:r>
            <a:endParaRPr lang="en-US" sz="1050" dirty="0"/>
          </a:p>
        </p:txBody>
      </p:sp>
      <p:sp>
        <p:nvSpPr>
          <p:cNvPr id="39" name="Shape 36"/>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85216" y="4288536"/>
            <a:ext cx="310896" cy="310896"/>
          </a:xfrm>
          <a:prstGeom prst="ellipse">
            <a:avLst/>
          </a:prstGeom>
          <a:solidFill>
            <a:srgbClr val="1B3B6F"/>
          </a:solidFill>
          <a:ln w="12700">
            <a:solidFill>
              <a:srgbClr val="1B3B6F"/>
            </a:solidFill>
            <a:prstDash val="solid"/>
          </a:ln>
        </p:spPr>
      </p:sp>
      <p:sp>
        <p:nvSpPr>
          <p:cNvPr id="41" name="Text 3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2" name="Text 39"/>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Arabic do we use in class tasks?</a:t>
            </a:r>
            <a:endParaRPr lang="en-US" sz="1250" dirty="0"/>
          </a:p>
        </p:txBody>
      </p:sp>
      <p:sp>
        <p:nvSpPr>
          <p:cNvPr id="43" name="Shape 40"/>
          <p:cNvSpPr/>
          <p:nvPr/>
        </p:nvSpPr>
        <p:spPr>
          <a:xfrm>
            <a:off x="548640" y="4837176"/>
            <a:ext cx="5362956" cy="347472"/>
          </a:xfrm>
          <a:prstGeom prst="roundRect">
            <a:avLst>
              <a:gd name="adj" fmla="val 15789"/>
            </a:avLst>
          </a:prstGeom>
          <a:solidFill>
            <a:srgbClr val="E6F4EC"/>
          </a:solidFill>
          <a:ln w="9525">
            <a:solidFill>
              <a:srgbClr val="2E8B57"/>
            </a:solidFill>
            <a:prstDash val="solid"/>
          </a:ln>
        </p:spPr>
      </p:sp>
      <p:sp>
        <p:nvSpPr>
          <p:cNvPr id="44" name="Shape 41"/>
          <p:cNvSpPr/>
          <p:nvPr/>
        </p:nvSpPr>
        <p:spPr>
          <a:xfrm>
            <a:off x="640080" y="4873752"/>
            <a:ext cx="256032" cy="256032"/>
          </a:xfrm>
          <a:prstGeom prst="ellipse">
            <a:avLst/>
          </a:prstGeom>
          <a:solidFill>
            <a:srgbClr val="2E8B57"/>
          </a:solidFill>
          <a:ln w="12700">
            <a:solidFill>
              <a:srgbClr val="2E8B57"/>
            </a:solidFill>
            <a:prstDash val="solid"/>
          </a:ln>
        </p:spPr>
      </p:sp>
      <p:sp>
        <p:nvSpPr>
          <p:cNvPr id="45" name="Text 42"/>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46" name="Text 43"/>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Modern Standard Arabic</a:t>
            </a:r>
            <a:endParaRPr lang="en-US" sz="1250" dirty="0"/>
          </a:p>
        </p:txBody>
      </p:sp>
      <p:sp>
        <p:nvSpPr>
          <p:cNvPr id="47" name="Shape 44"/>
          <p:cNvSpPr/>
          <p:nvPr/>
        </p:nvSpPr>
        <p:spPr>
          <a:xfrm>
            <a:off x="640080" y="5330952"/>
            <a:ext cx="256032" cy="256032"/>
          </a:xfrm>
          <a:prstGeom prst="ellipse">
            <a:avLst/>
          </a:prstGeom>
          <a:solidFill>
            <a:srgbClr val="C9CED6"/>
          </a:solidFill>
          <a:ln w="12700">
            <a:solidFill>
              <a:srgbClr val="C9CED6"/>
            </a:solidFill>
            <a:prstDash val="solid"/>
          </a:ln>
        </p:spPr>
      </p:sp>
      <p:sp>
        <p:nvSpPr>
          <p:cNvPr id="48" name="Text 45"/>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9" name="Text 46"/>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Egyptian Arabic</a:t>
            </a:r>
            <a:endParaRPr lang="en-US" sz="1250" dirty="0"/>
          </a:p>
        </p:txBody>
      </p:sp>
      <p:sp>
        <p:nvSpPr>
          <p:cNvPr id="50" name="Text 4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Course standard.</a:t>
            </a:r>
            <a:endParaRPr lang="en-US" sz="1050" dirty="0"/>
          </a:p>
        </p:txBody>
      </p:sp>
      <p:sp>
        <p:nvSpPr>
          <p:cNvPr id="51" name="Shape 4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6313932" y="4288536"/>
            <a:ext cx="310896" cy="310896"/>
          </a:xfrm>
          <a:prstGeom prst="ellipse">
            <a:avLst/>
          </a:prstGeom>
          <a:solidFill>
            <a:srgbClr val="1B3B6F"/>
          </a:solidFill>
          <a:ln w="12700">
            <a:solidFill>
              <a:srgbClr val="1B3B6F"/>
            </a:solidFill>
            <a:prstDash val="solid"/>
          </a:ln>
        </p:spPr>
      </p:sp>
      <p:sp>
        <p:nvSpPr>
          <p:cNvPr id="53" name="Text 5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4" name="Text 5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ثَقَافَةٌ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55" name="Shape 5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4831080"/>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8" name="Text 55"/>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culture</a:t>
            </a:r>
            <a:endParaRPr lang="en-US" sz="1250" dirty="0"/>
          </a:p>
        </p:txBody>
      </p:sp>
      <p:sp>
        <p:nvSpPr>
          <p:cNvPr id="59" name="Shape 56"/>
          <p:cNvSpPr/>
          <p:nvPr/>
        </p:nvSpPr>
        <p:spPr>
          <a:xfrm>
            <a:off x="6368796" y="5202936"/>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1" name="Text 58"/>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language</a:t>
            </a:r>
            <a:endParaRPr lang="en-US" sz="1250" dirty="0"/>
          </a:p>
        </p:txBody>
      </p:sp>
      <p:sp>
        <p:nvSpPr>
          <p:cNvPr id="62" name="Shape 59"/>
          <p:cNvSpPr/>
          <p:nvPr/>
        </p:nvSpPr>
        <p:spPr>
          <a:xfrm>
            <a:off x="6368796" y="5574792"/>
            <a:ext cx="256032" cy="256032"/>
          </a:xfrm>
          <a:prstGeom prst="ellipse">
            <a:avLst/>
          </a:prstGeom>
          <a:solidFill>
            <a:srgbClr val="C9CED6"/>
          </a:solidFill>
          <a:ln w="12700">
            <a:solidFill>
              <a:srgbClr val="C9CED6"/>
            </a:solidFill>
            <a:prstDash val="solid"/>
          </a:ln>
        </p:spPr>
      </p:sp>
      <p:sp>
        <p:nvSpPr>
          <p:cNvPr id="63" name="Text 6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4" name="Text 61"/>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art</a:t>
            </a:r>
            <a:endParaRPr lang="en-US" sz="1250" dirty="0"/>
          </a:p>
        </p:txBody>
      </p:sp>
      <p:sp>
        <p:nvSpPr>
          <p:cNvPr id="65" name="Text 6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Key vocabulary.</a:t>
            </a:r>
            <a:endParaRPr lang="en-US" sz="10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Arabic around us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cs typeface="Amiri" pitchFamily="2" charset="-78"/>
              </a:rPr>
              <a:t>I DO · THE ABCD DETECTIVE CHAIN (WEBSITE PART 7) · WORKED EXAMPLE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investigate a shop sign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كُنْ مُحَقِّقًا لِلْخَطِّ العَرَبِيِّ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24458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Step</a:t>
            </a:r>
            <a:endParaRPr lang="en-US" sz="1100" dirty="0"/>
          </a:p>
        </p:txBody>
      </p:sp>
      <p:sp>
        <p:nvSpPr>
          <p:cNvPr id="17" name="Text 14"/>
          <p:cNvSpPr txBox="1"/>
          <p:nvPr/>
        </p:nvSpPr>
        <p:spPr>
          <a:xfrm>
            <a:off x="5404104"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18" name="Text 15"/>
          <p:cNvSpPr txBox="1"/>
          <p:nvPr/>
        </p:nvSpPr>
        <p:spPr>
          <a:xfrm>
            <a:off x="530352" y="1810512"/>
            <a:ext cx="4727448" cy="384048"/>
          </a:xfrm>
          <a:prstGeom prst="rect">
            <a:avLst/>
          </a:prstGeom>
          <a:noFill/>
          <a:ln/>
        </p:spPr>
        <p:txBody>
          <a:bodyPr wrap="square" lIns="0" tIns="0" rIns="0" bIns="0" rtlCol="0" anchor="ctr"/>
          <a:lstStyle/>
          <a:p>
            <a:pPr algn="ctr" indent="0" marL="0">
              <a:buNone/>
            </a:pPr>
            <a:r>
              <a:rPr lang="ar-SA" altLang="en-US" sz="1450" b="1" dirty="0">
                <a:solidFill>
                  <a:srgbClr val="FFFFFF"/>
                </a:solidFill>
                <a:latin typeface="Amiri" pitchFamily="2" charset="-78"/>
                <a:cs typeface="Amiri" pitchFamily="2" charset="-78"/>
              </a:rPr>
              <a:t>مَخْبَز</a:t>
            </a:r>
            <a:pPr algn="ctr" indent="0" marL="0">
              <a:buNone/>
            </a:pPr>
            <a:r>
              <a:rPr lang="en-US" sz="1100" b="1" dirty="0">
                <a:solidFill>
                  <a:srgbClr val="FFFFFF"/>
                </a:solidFill>
                <a:latin typeface="Calibri" pitchFamily="34" charset="0"/>
                <a:cs typeface="Amiri" pitchFamily="2" charset="-78"/>
              </a:rPr>
              <a:t> on a shop front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281160" y="2267712"/>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Attend</a:t>
            </a:r>
            <a:endParaRPr lang="en-US" sz="1100" dirty="0"/>
          </a:p>
        </p:txBody>
      </p:sp>
      <p:sp>
        <p:nvSpPr>
          <p:cNvPr id="21" name="Text 18"/>
          <p:cNvSpPr txBox="1"/>
          <p:nvPr/>
        </p:nvSpPr>
        <p:spPr>
          <a:xfrm>
            <a:off x="5440680" y="2267712"/>
            <a:ext cx="36576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can I observe?</a:t>
            </a:r>
            <a:endParaRPr lang="en-US" sz="1100" dirty="0"/>
          </a:p>
        </p:txBody>
      </p:sp>
      <p:sp>
        <p:nvSpPr>
          <p:cNvPr id="22" name="Text 19"/>
          <p:cNvSpPr txBox="1"/>
          <p:nvPr/>
        </p:nvSpPr>
        <p:spPr>
          <a:xfrm>
            <a:off x="566928" y="2267712"/>
            <a:ext cx="4690872" cy="73152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cs typeface="Amiri" pitchFamily="2" charset="-78"/>
              </a:rPr>
              <a:t>م خ ب ز</a:t>
            </a:r>
            <a:pPr algn="l" indent="0" marL="0">
              <a:buNone/>
            </a:pPr>
            <a:r>
              <a:rPr lang="en-US" sz="1100" dirty="0">
                <a:solidFill>
                  <a:srgbClr val="5A6472"/>
                </a:solidFill>
                <a:latin typeface="Calibri" pitchFamily="34" charset="0"/>
                <a:cs typeface="Amiri" pitchFamily="2" charset="-78"/>
              </a:rPr>
              <a:t> — final </a:t>
            </a:r>
            <a:pPr algn="l" indent="0" marL="0">
              <a:buNone/>
            </a:pPr>
            <a:r>
              <a:rPr lang="ar-SA" altLang="en-US" sz="1450" dirty="0">
                <a:solidFill>
                  <a:srgbClr val="5A6472"/>
                </a:solidFill>
                <a:latin typeface="Amiri" pitchFamily="2" charset="-78"/>
                <a:cs typeface="Amiri" pitchFamily="2" charset="-78"/>
              </a:rPr>
              <a:t>ز</a:t>
            </a:r>
            <a:pPr algn="l" indent="0" marL="0">
              <a:buNone/>
            </a:pPr>
            <a:r>
              <a:rPr lang="en-US" sz="1100" dirty="0">
                <a:solidFill>
                  <a:srgbClr val="5A6472"/>
                </a:solidFill>
                <a:latin typeface="Calibri" pitchFamily="34" charset="0"/>
                <a:cs typeface="Amiri" pitchFamily="2" charset="-78"/>
              </a:rPr>
              <a:t> does not connect onwards</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9281160" y="3054096"/>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 · Build</a:t>
            </a:r>
            <a:endParaRPr lang="en-US" sz="1100" dirty="0"/>
          </a:p>
        </p:txBody>
      </p:sp>
      <p:sp>
        <p:nvSpPr>
          <p:cNvPr id="27" name="Text 24"/>
          <p:cNvSpPr txBox="1"/>
          <p:nvPr/>
        </p:nvSpPr>
        <p:spPr>
          <a:xfrm>
            <a:off x="5440680" y="3054096"/>
            <a:ext cx="36576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could it say? How sure am I?</a:t>
            </a:r>
            <a:endParaRPr lang="en-US" sz="1100" dirty="0"/>
          </a:p>
        </p:txBody>
      </p:sp>
      <p:sp>
        <p:nvSpPr>
          <p:cNvPr id="28" name="Text 25"/>
          <p:cNvSpPr txBox="1"/>
          <p:nvPr/>
        </p:nvSpPr>
        <p:spPr>
          <a:xfrm>
            <a:off x="566928" y="3054096"/>
            <a:ext cx="4690872" cy="73152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cs typeface="Amiri" pitchFamily="2" charset="-78"/>
              </a:rPr>
              <a:t>مَخْبَز</a:t>
            </a:r>
            <a:pPr algn="l" indent="0" marL="0">
              <a:buNone/>
            </a:pPr>
            <a:r>
              <a:rPr lang="en-US" sz="1100" dirty="0">
                <a:solidFill>
                  <a:srgbClr val="5A6472"/>
                </a:solidFill>
                <a:latin typeface="Calibri" pitchFamily="34" charset="0"/>
                <a:cs typeface="Amiri" pitchFamily="2" charset="-78"/>
              </a:rPr>
              <a:t> — makhbaz</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9281160" y="3840480"/>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Contextualise</a:t>
            </a:r>
            <a:endParaRPr lang="en-US" sz="1100" dirty="0"/>
          </a:p>
        </p:txBody>
      </p:sp>
      <p:sp>
        <p:nvSpPr>
          <p:cNvPr id="33" name="Text 30"/>
          <p:cNvSpPr txBox="1"/>
          <p:nvPr/>
        </p:nvSpPr>
        <p:spPr>
          <a:xfrm>
            <a:off x="5440680" y="3840480"/>
            <a:ext cx="36576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wrote it, for whom, why?</a:t>
            </a:r>
            <a:endParaRPr lang="en-US" sz="1100" dirty="0"/>
          </a:p>
        </p:txBody>
      </p:sp>
      <p:sp>
        <p:nvSpPr>
          <p:cNvPr id="34" name="Text 31"/>
          <p:cNvSpPr txBox="1"/>
          <p:nvPr/>
        </p:nvSpPr>
        <p:spPr>
          <a:xfrm>
            <a:off x="566928" y="3840480"/>
            <a:ext cx="46908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shop front with pictures of bread</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9281160" y="4626864"/>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 · Double-check</a:t>
            </a:r>
            <a:endParaRPr lang="en-US" sz="1100" dirty="0"/>
          </a:p>
        </p:txBody>
      </p:sp>
      <p:sp>
        <p:nvSpPr>
          <p:cNvPr id="39" name="Text 36"/>
          <p:cNvSpPr txBox="1"/>
          <p:nvPr/>
        </p:nvSpPr>
        <p:spPr>
          <a:xfrm>
            <a:off x="5440680" y="4626864"/>
            <a:ext cx="36576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Can I verify it?</a:t>
            </a:r>
            <a:endParaRPr lang="en-US" sz="1100" dirty="0"/>
          </a:p>
        </p:txBody>
      </p:sp>
      <p:sp>
        <p:nvSpPr>
          <p:cNvPr id="40" name="Text 37"/>
          <p:cNvSpPr txBox="1"/>
          <p:nvPr/>
        </p:nvSpPr>
        <p:spPr>
          <a:xfrm>
            <a:off x="566928" y="4626864"/>
            <a:ext cx="46908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shop’s bilingual listing says “bakery” ✓ secure</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Arabic around us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WHERE ARABIC APPEARS AROUND US (WEBSITE PART 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Arabic in everyday life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العَرَبِيَّةُ فِي الحَيَاةِ اليَوْمِيَّةِ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06170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Context</a:t>
            </a:r>
            <a:endParaRPr lang="en-US" sz="1100" dirty="0"/>
          </a:p>
        </p:txBody>
      </p:sp>
      <p:sp>
        <p:nvSpPr>
          <p:cNvPr id="17" name="Text 14"/>
          <p:cNvSpPr txBox="1"/>
          <p:nvPr/>
        </p:nvSpPr>
        <p:spPr>
          <a:xfrm>
            <a:off x="5221224"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you may see</a:t>
            </a:r>
            <a:endParaRPr lang="en-US" sz="1100" dirty="0"/>
          </a:p>
        </p:txBody>
      </p:sp>
      <p:sp>
        <p:nvSpPr>
          <p:cNvPr id="18" name="Text 15"/>
          <p:cNvSpPr txBox="1"/>
          <p:nvPr/>
        </p:nvSpPr>
        <p:spPr>
          <a:xfrm>
            <a:off x="530352" y="1810512"/>
            <a:ext cx="4544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Shape 16"/>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20" name="Text 17"/>
          <p:cNvSpPr txBox="1"/>
          <p:nvPr/>
        </p:nvSpPr>
        <p:spPr>
          <a:xfrm>
            <a:off x="9098280" y="2267712"/>
            <a:ext cx="256032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Food and packaging</a:t>
            </a:r>
            <a:endParaRPr lang="en-US" sz="1100" dirty="0"/>
          </a:p>
        </p:txBody>
      </p:sp>
      <p:sp>
        <p:nvSpPr>
          <p:cNvPr id="21" name="Text 18"/>
          <p:cNvSpPr txBox="1"/>
          <p:nvPr/>
        </p:nvSpPr>
        <p:spPr>
          <a:xfrm>
            <a:off x="5239512" y="2267712"/>
            <a:ext cx="3657600" cy="62788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مُكَوِّنَات · تَارِيخ</a:t>
            </a:r>
            <a:endParaRPr lang="ar-SA" sz="2400" dirty="0"/>
          </a:p>
        </p:txBody>
      </p:sp>
      <p:sp>
        <p:nvSpPr>
          <p:cNvPr id="22" name="Text 19"/>
          <p:cNvSpPr txBox="1"/>
          <p:nvPr/>
        </p:nvSpPr>
        <p:spPr>
          <a:xfrm>
            <a:off x="566928" y="2267712"/>
            <a:ext cx="45079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ingredients · date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26" name="Text 23"/>
          <p:cNvSpPr txBox="1"/>
          <p:nvPr/>
        </p:nvSpPr>
        <p:spPr>
          <a:xfrm>
            <a:off x="9098280" y="2950464"/>
            <a:ext cx="256032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Business</a:t>
            </a:r>
            <a:endParaRPr lang="en-US" sz="1100" dirty="0"/>
          </a:p>
        </p:txBody>
      </p:sp>
      <p:sp>
        <p:nvSpPr>
          <p:cNvPr id="27" name="Text 24"/>
          <p:cNvSpPr txBox="1"/>
          <p:nvPr/>
        </p:nvSpPr>
        <p:spPr>
          <a:xfrm>
            <a:off x="5239512" y="2950464"/>
            <a:ext cx="3657600" cy="62788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مَطْعَم · مَخْبَز</a:t>
            </a:r>
            <a:endParaRPr lang="ar-SA" sz="2400" dirty="0"/>
          </a:p>
        </p:txBody>
      </p:sp>
      <p:sp>
        <p:nvSpPr>
          <p:cNvPr id="28" name="Text 25"/>
          <p:cNvSpPr txBox="1"/>
          <p:nvPr/>
        </p:nvSpPr>
        <p:spPr>
          <a:xfrm>
            <a:off x="566928" y="2950464"/>
            <a:ext cx="45079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restaurant · bakery</a:t>
            </a:r>
            <a:endParaRPr lang="en-US" sz="1100" dirty="0"/>
          </a:p>
        </p:txBody>
      </p:sp>
      <p:sp>
        <p:nvSpPr>
          <p:cNvPr id="29" name="Shape 26"/>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32" name="Text 29"/>
          <p:cNvSpPr txBox="1"/>
          <p:nvPr/>
        </p:nvSpPr>
        <p:spPr>
          <a:xfrm>
            <a:off x="9098280" y="3633216"/>
            <a:ext cx="256032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Community and faith</a:t>
            </a:r>
            <a:endParaRPr lang="en-US" sz="1100" dirty="0"/>
          </a:p>
        </p:txBody>
      </p:sp>
      <p:sp>
        <p:nvSpPr>
          <p:cNvPr id="33" name="Text 30"/>
          <p:cNvSpPr txBox="1"/>
          <p:nvPr/>
        </p:nvSpPr>
        <p:spPr>
          <a:xfrm>
            <a:off x="5239512" y="3633216"/>
            <a:ext cx="3657600" cy="62788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مَرْكَز · مَسْجِد</a:t>
            </a:r>
            <a:endParaRPr lang="ar-SA" sz="2400" dirty="0"/>
          </a:p>
        </p:txBody>
      </p:sp>
      <p:sp>
        <p:nvSpPr>
          <p:cNvPr id="34" name="Text 31"/>
          <p:cNvSpPr txBox="1"/>
          <p:nvPr/>
        </p:nvSpPr>
        <p:spPr>
          <a:xfrm>
            <a:off x="566928" y="3633216"/>
            <a:ext cx="45079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centre · mosque</a:t>
            </a:r>
            <a:endParaRPr lang="en-US" sz="1100" dirty="0"/>
          </a:p>
        </p:txBody>
      </p:sp>
      <p:sp>
        <p:nvSpPr>
          <p:cNvPr id="35" name="Shape 32"/>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38" name="Text 35"/>
          <p:cNvSpPr txBox="1"/>
          <p:nvPr/>
        </p:nvSpPr>
        <p:spPr>
          <a:xfrm>
            <a:off x="9098280" y="4315968"/>
            <a:ext cx="256032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Media</a:t>
            </a:r>
            <a:endParaRPr lang="en-US" sz="1100" dirty="0"/>
          </a:p>
        </p:txBody>
      </p:sp>
      <p:sp>
        <p:nvSpPr>
          <p:cNvPr id="39" name="Text 36"/>
          <p:cNvSpPr txBox="1"/>
          <p:nvPr/>
        </p:nvSpPr>
        <p:spPr>
          <a:xfrm>
            <a:off x="5239512" y="4315968"/>
            <a:ext cx="3657600" cy="62788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أَخْبَار · صَحِيفَة</a:t>
            </a:r>
            <a:endParaRPr lang="ar-SA" sz="2400" dirty="0"/>
          </a:p>
        </p:txBody>
      </p:sp>
      <p:sp>
        <p:nvSpPr>
          <p:cNvPr id="40" name="Text 37"/>
          <p:cNvSpPr txBox="1"/>
          <p:nvPr/>
        </p:nvSpPr>
        <p:spPr>
          <a:xfrm>
            <a:off x="566928" y="4315968"/>
            <a:ext cx="45079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news · newspaper</a:t>
            </a:r>
            <a:endParaRPr lang="en-US" sz="1100" dirty="0"/>
          </a:p>
        </p:txBody>
      </p:sp>
      <p:sp>
        <p:nvSpPr>
          <p:cNvPr id="41" name="Shape 38"/>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42" name="Text 39"/>
          <p:cNvSpPr txBox="1"/>
          <p:nvPr/>
        </p:nvSpPr>
        <p:spPr>
          <a:xfrm>
            <a:off x="9098280" y="4998720"/>
            <a:ext cx="256032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Travel</a:t>
            </a:r>
            <a:endParaRPr lang="en-US" sz="1100" dirty="0"/>
          </a:p>
        </p:txBody>
      </p:sp>
      <p:sp>
        <p:nvSpPr>
          <p:cNvPr id="43" name="Text 40"/>
          <p:cNvSpPr txBox="1"/>
          <p:nvPr/>
        </p:nvSpPr>
        <p:spPr>
          <a:xfrm>
            <a:off x="5239512" y="4998720"/>
            <a:ext cx="3657600" cy="62788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وُصُول · مُغَادَرَة</a:t>
            </a:r>
            <a:endParaRPr lang="ar-SA" sz="2400" dirty="0"/>
          </a:p>
        </p:txBody>
      </p:sp>
      <p:sp>
        <p:nvSpPr>
          <p:cNvPr id="44" name="Text 41"/>
          <p:cNvSpPr txBox="1"/>
          <p:nvPr/>
        </p:nvSpPr>
        <p:spPr>
          <a:xfrm>
            <a:off x="566928" y="4998720"/>
            <a:ext cx="45079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arrivals · departures</a:t>
            </a:r>
            <a:endParaRPr lang="en-US" sz="1100" dirty="0"/>
          </a:p>
        </p:txBody>
      </p:sp>
      <p:sp>
        <p:nvSpPr>
          <p:cNvPr id="45" name="Shape 42"/>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46" name="Text 43"/>
          <p:cNvSpPr txBox="1"/>
          <p:nvPr/>
        </p:nvSpPr>
        <p:spPr>
          <a:xfrm>
            <a:off x="9098280" y="5681472"/>
            <a:ext cx="256032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Digital life</a:t>
            </a:r>
            <a:endParaRPr lang="en-US" sz="1100" dirty="0"/>
          </a:p>
        </p:txBody>
      </p:sp>
      <p:sp>
        <p:nvSpPr>
          <p:cNvPr id="47" name="Text 44"/>
          <p:cNvSpPr txBox="1"/>
          <p:nvPr/>
        </p:nvSpPr>
        <p:spPr>
          <a:xfrm>
            <a:off x="5239512" y="5681472"/>
            <a:ext cx="3657600" cy="62788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بَحْث · رِسَالَة</a:t>
            </a:r>
            <a:endParaRPr lang="ar-SA" sz="2400" dirty="0"/>
          </a:p>
        </p:txBody>
      </p:sp>
      <p:sp>
        <p:nvSpPr>
          <p:cNvPr id="48" name="Text 45"/>
          <p:cNvSpPr txBox="1"/>
          <p:nvPr/>
        </p:nvSpPr>
        <p:spPr>
          <a:xfrm>
            <a:off x="566928" y="5681472"/>
            <a:ext cx="45079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search · message</a:t>
            </a:r>
            <a:endParaRPr lang="en-US" sz="11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Arabic around us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GAME “CONTEXT SORT”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context?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 الأَمْثِلَةَ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مَطْعَم</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أَخْبَار</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وُصُول</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مُكَوِّنَات</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رِسَالَة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مُغَادَرَة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مَخْبَز</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بَحْث</a:t>
            </a:r>
            <a:endParaRPr lang="ar-SA" sz="1800" dirty="0"/>
          </a:p>
        </p:txBody>
      </p:sp>
      <p:sp>
        <p:nvSpPr>
          <p:cNvPr id="31" name="Shape 28"/>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Food / business</a:t>
            </a:r>
            <a:endParaRPr lang="en-US" sz="950" dirty="0"/>
          </a:p>
        </p:txBody>
      </p:sp>
      <p:sp>
        <p:nvSpPr>
          <p:cNvPr id="34" name="Shape 31"/>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Media / digital</a:t>
            </a:r>
            <a:endParaRPr lang="en-US" sz="950" dirty="0"/>
          </a:p>
        </p:txBody>
      </p:sp>
      <p:sp>
        <p:nvSpPr>
          <p:cNvPr id="37" name="Shape 34"/>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8" name="Shape 35"/>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Travel</a:t>
            </a:r>
            <a:endParaRPr lang="en-US" sz="9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Arabic around us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CONTEXT SORT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Food / business</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مَطْعَم</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مُكَوِّنَات</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مَخْبَز</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Media / digital</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أَخْبَار</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رِسَالَة</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بَحْث</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Travel</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وُصُول</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مُغَادَرَة</a:t>
            </a:r>
            <a:endParaRPr lang="ar-SA" sz="18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Arabic around us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Shape 8"/>
          <p:cNvSpPr/>
          <p:nvPr/>
        </p:nvSpPr>
        <p:spPr>
          <a:xfrm>
            <a:off x="6273698"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73698"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THREE CALLIGRAPHIC TRADITIONS (WEBSITE PART 5)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Three styles, three jobs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فُنُونُ الخَطِّ العَرَبِيِّ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a:t>
            </a:r>
            <a:endParaRPr lang="en-US" sz="850" dirty="0"/>
          </a:p>
        </p:txBody>
      </p:sp>
      <p:sp>
        <p:nvSpPr>
          <p:cNvPr id="17" name="Shape 14"/>
          <p:cNvSpPr/>
          <p:nvPr/>
        </p:nvSpPr>
        <p:spPr>
          <a:xfrm>
            <a:off x="457200" y="1810512"/>
            <a:ext cx="11274552" cy="384048"/>
          </a:xfrm>
          <a:prstGeom prst="rect">
            <a:avLst/>
          </a:prstGeom>
          <a:solidFill>
            <a:srgbClr val="1B3B6F"/>
          </a:solidFill>
          <a:ln w="12700">
            <a:solidFill>
              <a:srgbClr val="1B3B6F"/>
            </a:solidFill>
            <a:prstDash val="solid"/>
          </a:ln>
        </p:spPr>
      </p:sp>
      <p:sp>
        <p:nvSpPr>
          <p:cNvPr id="18" name="Text 15"/>
          <p:cNvSpPr txBox="1"/>
          <p:nvPr/>
        </p:nvSpPr>
        <p:spPr>
          <a:xfrm>
            <a:off x="9427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Style</a:t>
            </a:r>
            <a:endParaRPr lang="en-US" sz="1100" dirty="0"/>
          </a:p>
        </p:txBody>
      </p:sp>
      <p:sp>
        <p:nvSpPr>
          <p:cNvPr id="19" name="Text 16"/>
          <p:cNvSpPr txBox="1"/>
          <p:nvPr/>
        </p:nvSpPr>
        <p:spPr>
          <a:xfrm>
            <a:off x="7232904"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Name</a:t>
            </a:r>
            <a:endParaRPr lang="en-US" sz="1100" dirty="0"/>
          </a:p>
        </p:txBody>
      </p:sp>
      <p:sp>
        <p:nvSpPr>
          <p:cNvPr id="20" name="Text 17"/>
          <p:cNvSpPr txBox="1"/>
          <p:nvPr/>
        </p:nvSpPr>
        <p:spPr>
          <a:xfrm>
            <a:off x="3941064"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it looks like</a:t>
            </a:r>
            <a:endParaRPr lang="en-US" sz="1100" dirty="0"/>
          </a:p>
        </p:txBody>
      </p:sp>
      <p:sp>
        <p:nvSpPr>
          <p:cNvPr id="21" name="Text 18"/>
          <p:cNvSpPr txBox="1"/>
          <p:nvPr/>
        </p:nvSpPr>
        <p:spPr>
          <a:xfrm>
            <a:off x="53035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Its job</a:t>
            </a:r>
            <a:endParaRPr lang="en-US" sz="1100" dirty="0"/>
          </a:p>
        </p:txBody>
      </p:sp>
      <p:sp>
        <p:nvSpPr>
          <p:cNvPr id="22" name="Shape 19"/>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3" name="Text 20"/>
          <p:cNvSpPr txBox="1"/>
          <p:nvPr/>
        </p:nvSpPr>
        <p:spPr>
          <a:xfrm>
            <a:off x="9464040" y="2267712"/>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Naskh</a:t>
            </a:r>
            <a:endParaRPr lang="en-US" sz="1100" dirty="0"/>
          </a:p>
        </p:txBody>
      </p:sp>
      <p:sp>
        <p:nvSpPr>
          <p:cNvPr id="24" name="Text 21"/>
          <p:cNvSpPr txBox="1"/>
          <p:nvPr/>
        </p:nvSpPr>
        <p:spPr>
          <a:xfrm>
            <a:off x="7251192" y="2267712"/>
            <a:ext cx="201168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النَّسْخ</a:t>
            </a:r>
            <a:endParaRPr lang="ar-SA" sz="2600" dirty="0"/>
          </a:p>
        </p:txBody>
      </p:sp>
      <p:sp>
        <p:nvSpPr>
          <p:cNvPr id="25" name="Text 22"/>
          <p:cNvSpPr txBox="1"/>
          <p:nvPr/>
        </p:nvSpPr>
        <p:spPr>
          <a:xfrm>
            <a:off x="3977640"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clear, rounded, very readable</a:t>
            </a:r>
            <a:endParaRPr lang="en-US" sz="1100" dirty="0"/>
          </a:p>
        </p:txBody>
      </p:sp>
      <p:sp>
        <p:nvSpPr>
          <p:cNvPr id="26" name="Text 23"/>
          <p:cNvSpPr txBox="1"/>
          <p:nvPr/>
        </p:nvSpPr>
        <p:spPr>
          <a:xfrm>
            <a:off x="56692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manuscripts, print, screens — our school hand</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0" name="Text 27"/>
          <p:cNvSpPr txBox="1"/>
          <p:nvPr/>
        </p:nvSpPr>
        <p:spPr>
          <a:xfrm>
            <a:off x="9464040" y="3054096"/>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Ruqʿah</a:t>
            </a:r>
            <a:endParaRPr lang="en-US" sz="1100" dirty="0"/>
          </a:p>
        </p:txBody>
      </p:sp>
      <p:sp>
        <p:nvSpPr>
          <p:cNvPr id="31" name="Text 28"/>
          <p:cNvSpPr txBox="1"/>
          <p:nvPr/>
        </p:nvSpPr>
        <p:spPr>
          <a:xfrm>
            <a:off x="7251192" y="3054096"/>
            <a:ext cx="201168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الرُّقْعَة</a:t>
            </a:r>
            <a:endParaRPr lang="ar-SA" sz="2600" dirty="0"/>
          </a:p>
        </p:txBody>
      </p:sp>
      <p:sp>
        <p:nvSpPr>
          <p:cNvPr id="32" name="Text 29"/>
          <p:cNvSpPr txBox="1"/>
          <p:nvPr/>
        </p:nvSpPr>
        <p:spPr>
          <a:xfrm>
            <a:off x="3977640"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compact, simplified shapes</a:t>
            </a:r>
            <a:endParaRPr lang="en-US" sz="1100" dirty="0"/>
          </a:p>
        </p:txBody>
      </p:sp>
      <p:sp>
        <p:nvSpPr>
          <p:cNvPr id="33" name="Text 30"/>
          <p:cNvSpPr txBox="1"/>
          <p:nvPr/>
        </p:nvSpPr>
        <p:spPr>
          <a:xfrm>
            <a:off x="56692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quick everyday handwriting</a:t>
            </a:r>
            <a:endParaRPr lang="en-US" sz="110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9464040" y="3840480"/>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Thuluth</a:t>
            </a:r>
            <a:endParaRPr lang="en-US" sz="1100" dirty="0"/>
          </a:p>
        </p:txBody>
      </p:sp>
      <p:sp>
        <p:nvSpPr>
          <p:cNvPr id="36" name="Text 33"/>
          <p:cNvSpPr txBox="1"/>
          <p:nvPr/>
        </p:nvSpPr>
        <p:spPr>
          <a:xfrm>
            <a:off x="7251192" y="3840480"/>
            <a:ext cx="201168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الثُّلُث</a:t>
            </a:r>
            <a:endParaRPr lang="ar-SA" sz="2600" dirty="0"/>
          </a:p>
        </p:txBody>
      </p:sp>
      <p:sp>
        <p:nvSpPr>
          <p:cNvPr id="37" name="Text 34"/>
          <p:cNvSpPr txBox="1"/>
          <p:nvPr/>
        </p:nvSpPr>
        <p:spPr>
          <a:xfrm>
            <a:off x="3977640"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large, sweeping, carefully proportioned</a:t>
            </a:r>
            <a:endParaRPr lang="en-US" sz="1100" dirty="0"/>
          </a:p>
        </p:txBody>
      </p:sp>
      <p:sp>
        <p:nvSpPr>
          <p:cNvPr id="38" name="Text 35"/>
          <p:cNvSpPr txBox="1"/>
          <p:nvPr/>
        </p:nvSpPr>
        <p:spPr>
          <a:xfrm>
            <a:off x="566928" y="3840480"/>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monumental inscriptions, architecture</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Arabic around us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A WEST-TO-EAST ROUTE THROUGH TEN COUNTRIES (WEBSITE PART 6)</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Journey across the Arab world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رِحْلَةٌ فِي العَالَمِ العَرَبِيِّ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964424"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Country (Arabic)</a:t>
            </a:r>
            <a:endParaRPr lang="en-US" sz="1100" dirty="0"/>
          </a:p>
        </p:txBody>
      </p:sp>
      <p:sp>
        <p:nvSpPr>
          <p:cNvPr id="17" name="Text 14"/>
          <p:cNvSpPr txBox="1"/>
          <p:nvPr/>
        </p:nvSpPr>
        <p:spPr>
          <a:xfrm>
            <a:off x="485546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8" name="Text 15"/>
          <p:cNvSpPr txBox="1"/>
          <p:nvPr/>
        </p:nvSpPr>
        <p:spPr>
          <a:xfrm>
            <a:off x="530352" y="1810512"/>
            <a:ext cx="4178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Region</a:t>
            </a:r>
            <a:endParaRPr lang="en-US" sz="1100" dirty="0"/>
          </a:p>
        </p:txBody>
      </p:sp>
      <p:sp>
        <p:nvSpPr>
          <p:cNvPr id="19" name="Shape 16"/>
          <p:cNvSpPr/>
          <p:nvPr/>
        </p:nvSpPr>
        <p:spPr>
          <a:xfrm>
            <a:off x="457200" y="2267712"/>
            <a:ext cx="11274552" cy="354787"/>
          </a:xfrm>
          <a:prstGeom prst="roundRect">
            <a:avLst>
              <a:gd name="adj" fmla="val 12887"/>
            </a:avLst>
          </a:prstGeom>
          <a:solidFill>
            <a:srgbClr val="FFFFFF"/>
          </a:solidFill>
          <a:ln w="9525">
            <a:solidFill>
              <a:srgbClr val="D8D0BF"/>
            </a:solidFill>
            <a:prstDash val="solid"/>
          </a:ln>
        </p:spPr>
      </p:sp>
      <p:sp>
        <p:nvSpPr>
          <p:cNvPr id="20" name="Text 17"/>
          <p:cNvSpPr txBox="1"/>
          <p:nvPr/>
        </p:nvSpPr>
        <p:spPr>
          <a:xfrm>
            <a:off x="7982712" y="2267712"/>
            <a:ext cx="365760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cs typeface="Amiri" pitchFamily="2" charset="-78"/>
              </a:rPr>
              <a:t>المَغْرِب</a:t>
            </a:r>
            <a:endParaRPr lang="ar-SA" sz="1650" dirty="0"/>
          </a:p>
        </p:txBody>
      </p:sp>
      <p:sp>
        <p:nvSpPr>
          <p:cNvPr id="21" name="Text 18"/>
          <p:cNvSpPr txBox="1"/>
          <p:nvPr/>
        </p:nvSpPr>
        <p:spPr>
          <a:xfrm>
            <a:off x="4892040" y="2267712"/>
            <a:ext cx="29260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Morocco</a:t>
            </a:r>
            <a:endParaRPr lang="en-US" sz="1100" dirty="0"/>
          </a:p>
        </p:txBody>
      </p:sp>
      <p:sp>
        <p:nvSpPr>
          <p:cNvPr id="22" name="Text 19"/>
          <p:cNvSpPr txBox="1"/>
          <p:nvPr/>
        </p:nvSpPr>
        <p:spPr>
          <a:xfrm>
            <a:off x="566928" y="2267712"/>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Maghreb · North-west Africa</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677363"/>
            <a:ext cx="11274552" cy="354787"/>
          </a:xfrm>
          <a:prstGeom prst="roundRect">
            <a:avLst>
              <a:gd name="adj" fmla="val 12887"/>
            </a:avLst>
          </a:prstGeom>
          <a:solidFill>
            <a:srgbClr val="F4F1EA"/>
          </a:solidFill>
          <a:ln w="9525">
            <a:solidFill>
              <a:srgbClr val="D8D0BF"/>
            </a:solidFill>
            <a:prstDash val="solid"/>
          </a:ln>
        </p:spPr>
      </p:sp>
      <p:sp>
        <p:nvSpPr>
          <p:cNvPr id="26" name="Text 23"/>
          <p:cNvSpPr txBox="1"/>
          <p:nvPr/>
        </p:nvSpPr>
        <p:spPr>
          <a:xfrm>
            <a:off x="7982712" y="2677363"/>
            <a:ext cx="365760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cs typeface="Amiri" pitchFamily="2" charset="-78"/>
              </a:rPr>
              <a:t>الجَزَائِر</a:t>
            </a:r>
            <a:endParaRPr lang="ar-SA" sz="1650" dirty="0"/>
          </a:p>
        </p:txBody>
      </p:sp>
      <p:sp>
        <p:nvSpPr>
          <p:cNvPr id="27" name="Text 24"/>
          <p:cNvSpPr txBox="1"/>
          <p:nvPr/>
        </p:nvSpPr>
        <p:spPr>
          <a:xfrm>
            <a:off x="4892040" y="2677363"/>
            <a:ext cx="29260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Algeria</a:t>
            </a:r>
            <a:endParaRPr lang="en-US" sz="1100" dirty="0"/>
          </a:p>
        </p:txBody>
      </p:sp>
      <p:sp>
        <p:nvSpPr>
          <p:cNvPr id="28" name="Text 25"/>
          <p:cNvSpPr txBox="1"/>
          <p:nvPr/>
        </p:nvSpPr>
        <p:spPr>
          <a:xfrm>
            <a:off x="566928" y="2677363"/>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Maghreb</a:t>
            </a:r>
            <a:endParaRPr lang="en-US" sz="1100" dirty="0"/>
          </a:p>
        </p:txBody>
      </p:sp>
      <p:sp>
        <p:nvSpPr>
          <p:cNvPr id="29" name="Shape 26"/>
          <p:cNvSpPr/>
          <p:nvPr/>
        </p:nvSpPr>
        <p:spPr>
          <a:xfrm>
            <a:off x="11091672" y="2723083"/>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723083"/>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087014"/>
            <a:ext cx="11274552" cy="354787"/>
          </a:xfrm>
          <a:prstGeom prst="roundRect">
            <a:avLst>
              <a:gd name="adj" fmla="val 12887"/>
            </a:avLst>
          </a:prstGeom>
          <a:solidFill>
            <a:srgbClr val="FFFFFF"/>
          </a:solidFill>
          <a:ln w="9525">
            <a:solidFill>
              <a:srgbClr val="D8D0BF"/>
            </a:solidFill>
            <a:prstDash val="solid"/>
          </a:ln>
        </p:spPr>
      </p:sp>
      <p:sp>
        <p:nvSpPr>
          <p:cNvPr id="32" name="Text 29"/>
          <p:cNvSpPr txBox="1"/>
          <p:nvPr/>
        </p:nvSpPr>
        <p:spPr>
          <a:xfrm>
            <a:off x="7982712" y="3087014"/>
            <a:ext cx="365760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cs typeface="Amiri" pitchFamily="2" charset="-78"/>
              </a:rPr>
              <a:t>تُونِس</a:t>
            </a:r>
            <a:endParaRPr lang="ar-SA" sz="1650" dirty="0"/>
          </a:p>
        </p:txBody>
      </p:sp>
      <p:sp>
        <p:nvSpPr>
          <p:cNvPr id="33" name="Text 30"/>
          <p:cNvSpPr txBox="1"/>
          <p:nvPr/>
        </p:nvSpPr>
        <p:spPr>
          <a:xfrm>
            <a:off x="4892040" y="3087014"/>
            <a:ext cx="29260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Tunisia</a:t>
            </a:r>
            <a:endParaRPr lang="en-US" sz="1100" dirty="0"/>
          </a:p>
        </p:txBody>
      </p:sp>
      <p:sp>
        <p:nvSpPr>
          <p:cNvPr id="34" name="Text 31"/>
          <p:cNvSpPr txBox="1"/>
          <p:nvPr/>
        </p:nvSpPr>
        <p:spPr>
          <a:xfrm>
            <a:off x="566928" y="3087014"/>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Maghreb</a:t>
            </a:r>
            <a:endParaRPr lang="en-US" sz="1100" dirty="0"/>
          </a:p>
        </p:txBody>
      </p:sp>
      <p:sp>
        <p:nvSpPr>
          <p:cNvPr id="35" name="Shape 32"/>
          <p:cNvSpPr/>
          <p:nvPr/>
        </p:nvSpPr>
        <p:spPr>
          <a:xfrm>
            <a:off x="457200" y="3496666"/>
            <a:ext cx="11274552" cy="354787"/>
          </a:xfrm>
          <a:prstGeom prst="roundRect">
            <a:avLst>
              <a:gd name="adj" fmla="val 12887"/>
            </a:avLst>
          </a:prstGeom>
          <a:solidFill>
            <a:srgbClr val="F4F1EA"/>
          </a:solidFill>
          <a:ln w="9525">
            <a:solidFill>
              <a:srgbClr val="D8D0BF"/>
            </a:solidFill>
            <a:prstDash val="solid"/>
          </a:ln>
        </p:spPr>
      </p:sp>
      <p:sp>
        <p:nvSpPr>
          <p:cNvPr id="36" name="Text 33"/>
          <p:cNvSpPr txBox="1"/>
          <p:nvPr/>
        </p:nvSpPr>
        <p:spPr>
          <a:xfrm>
            <a:off x="7982712" y="3496666"/>
            <a:ext cx="365760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cs typeface="Amiri" pitchFamily="2" charset="-78"/>
              </a:rPr>
              <a:t>مِصْر</a:t>
            </a:r>
            <a:endParaRPr lang="ar-SA" sz="1650" dirty="0"/>
          </a:p>
        </p:txBody>
      </p:sp>
      <p:sp>
        <p:nvSpPr>
          <p:cNvPr id="37" name="Text 34"/>
          <p:cNvSpPr txBox="1"/>
          <p:nvPr/>
        </p:nvSpPr>
        <p:spPr>
          <a:xfrm>
            <a:off x="4892040" y="3496666"/>
            <a:ext cx="29260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Egypt</a:t>
            </a:r>
            <a:endParaRPr lang="en-US" sz="1100" dirty="0"/>
          </a:p>
        </p:txBody>
      </p:sp>
      <p:sp>
        <p:nvSpPr>
          <p:cNvPr id="38" name="Text 35"/>
          <p:cNvSpPr txBox="1"/>
          <p:nvPr/>
        </p:nvSpPr>
        <p:spPr>
          <a:xfrm>
            <a:off x="566928" y="3496666"/>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Nile Valley</a:t>
            </a:r>
            <a:endParaRPr lang="en-US" sz="1100" dirty="0"/>
          </a:p>
        </p:txBody>
      </p:sp>
      <p:sp>
        <p:nvSpPr>
          <p:cNvPr id="39" name="Shape 36"/>
          <p:cNvSpPr/>
          <p:nvPr/>
        </p:nvSpPr>
        <p:spPr>
          <a:xfrm>
            <a:off x="11091672" y="354238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238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906317"/>
            <a:ext cx="11274552" cy="354787"/>
          </a:xfrm>
          <a:prstGeom prst="roundRect">
            <a:avLst>
              <a:gd name="adj" fmla="val 12887"/>
            </a:avLst>
          </a:prstGeom>
          <a:solidFill>
            <a:srgbClr val="FFFFFF"/>
          </a:solidFill>
          <a:ln w="9525">
            <a:solidFill>
              <a:srgbClr val="D8D0BF"/>
            </a:solidFill>
            <a:prstDash val="solid"/>
          </a:ln>
        </p:spPr>
      </p:sp>
      <p:sp>
        <p:nvSpPr>
          <p:cNvPr id="42" name="Text 39"/>
          <p:cNvSpPr txBox="1"/>
          <p:nvPr/>
        </p:nvSpPr>
        <p:spPr>
          <a:xfrm>
            <a:off x="7982712" y="3906317"/>
            <a:ext cx="365760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cs typeface="Amiri" pitchFamily="2" charset="-78"/>
              </a:rPr>
              <a:t>السُّودَان</a:t>
            </a:r>
            <a:endParaRPr lang="ar-SA" sz="1650" dirty="0"/>
          </a:p>
        </p:txBody>
      </p:sp>
      <p:sp>
        <p:nvSpPr>
          <p:cNvPr id="43" name="Text 40"/>
          <p:cNvSpPr txBox="1"/>
          <p:nvPr/>
        </p:nvSpPr>
        <p:spPr>
          <a:xfrm>
            <a:off x="4892040" y="3906317"/>
            <a:ext cx="29260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Sudan</a:t>
            </a:r>
            <a:endParaRPr lang="en-US" sz="1100" dirty="0"/>
          </a:p>
        </p:txBody>
      </p:sp>
      <p:sp>
        <p:nvSpPr>
          <p:cNvPr id="44" name="Text 41"/>
          <p:cNvSpPr txBox="1"/>
          <p:nvPr/>
        </p:nvSpPr>
        <p:spPr>
          <a:xfrm>
            <a:off x="566928" y="3906317"/>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Nile Valley</a:t>
            </a:r>
            <a:endParaRPr lang="en-US" sz="1100" dirty="0"/>
          </a:p>
        </p:txBody>
      </p:sp>
      <p:sp>
        <p:nvSpPr>
          <p:cNvPr id="45" name="Shape 42"/>
          <p:cNvSpPr/>
          <p:nvPr/>
        </p:nvSpPr>
        <p:spPr>
          <a:xfrm>
            <a:off x="457200" y="4315968"/>
            <a:ext cx="11274552" cy="354787"/>
          </a:xfrm>
          <a:prstGeom prst="roundRect">
            <a:avLst>
              <a:gd name="adj" fmla="val 12887"/>
            </a:avLst>
          </a:prstGeom>
          <a:solidFill>
            <a:srgbClr val="F4F1EA"/>
          </a:solidFill>
          <a:ln w="9525">
            <a:solidFill>
              <a:srgbClr val="D8D0BF"/>
            </a:solidFill>
            <a:prstDash val="solid"/>
          </a:ln>
        </p:spPr>
      </p:sp>
      <p:sp>
        <p:nvSpPr>
          <p:cNvPr id="46" name="Text 43"/>
          <p:cNvSpPr txBox="1"/>
          <p:nvPr/>
        </p:nvSpPr>
        <p:spPr>
          <a:xfrm>
            <a:off x="7982712" y="4315968"/>
            <a:ext cx="365760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cs typeface="Amiri" pitchFamily="2" charset="-78"/>
              </a:rPr>
              <a:t>لُبْنَان</a:t>
            </a:r>
            <a:endParaRPr lang="ar-SA" sz="1650" dirty="0"/>
          </a:p>
        </p:txBody>
      </p:sp>
      <p:sp>
        <p:nvSpPr>
          <p:cNvPr id="47" name="Text 44"/>
          <p:cNvSpPr txBox="1"/>
          <p:nvPr/>
        </p:nvSpPr>
        <p:spPr>
          <a:xfrm>
            <a:off x="4892040" y="4315968"/>
            <a:ext cx="29260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Lebanon</a:t>
            </a:r>
            <a:endParaRPr lang="en-US" sz="1100" dirty="0"/>
          </a:p>
        </p:txBody>
      </p:sp>
      <p:sp>
        <p:nvSpPr>
          <p:cNvPr id="48" name="Text 45"/>
          <p:cNvSpPr txBox="1"/>
          <p:nvPr/>
        </p:nvSpPr>
        <p:spPr>
          <a:xfrm>
            <a:off x="566928" y="4315968"/>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Levant</a:t>
            </a:r>
            <a:endParaRPr lang="en-US" sz="1100" dirty="0"/>
          </a:p>
        </p:txBody>
      </p:sp>
      <p:sp>
        <p:nvSpPr>
          <p:cNvPr id="49" name="Shape 46"/>
          <p:cNvSpPr/>
          <p:nvPr/>
        </p:nvSpPr>
        <p:spPr>
          <a:xfrm>
            <a:off x="457200" y="4725619"/>
            <a:ext cx="11274552" cy="354787"/>
          </a:xfrm>
          <a:prstGeom prst="roundRect">
            <a:avLst>
              <a:gd name="adj" fmla="val 12887"/>
            </a:avLst>
          </a:prstGeom>
          <a:solidFill>
            <a:srgbClr val="FFFFFF"/>
          </a:solidFill>
          <a:ln w="9525">
            <a:solidFill>
              <a:srgbClr val="D8D0BF"/>
            </a:solidFill>
            <a:prstDash val="solid"/>
          </a:ln>
        </p:spPr>
      </p:sp>
      <p:sp>
        <p:nvSpPr>
          <p:cNvPr id="50" name="Text 47"/>
          <p:cNvSpPr txBox="1"/>
          <p:nvPr/>
        </p:nvSpPr>
        <p:spPr>
          <a:xfrm>
            <a:off x="7982712" y="4725619"/>
            <a:ext cx="365760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cs typeface="Amiri" pitchFamily="2" charset="-78"/>
              </a:rPr>
              <a:t>سُورِيَا</a:t>
            </a:r>
            <a:endParaRPr lang="ar-SA" sz="1650" dirty="0"/>
          </a:p>
        </p:txBody>
      </p:sp>
      <p:sp>
        <p:nvSpPr>
          <p:cNvPr id="51" name="Text 48"/>
          <p:cNvSpPr txBox="1"/>
          <p:nvPr/>
        </p:nvSpPr>
        <p:spPr>
          <a:xfrm>
            <a:off x="4892040" y="4725619"/>
            <a:ext cx="29260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Syria</a:t>
            </a:r>
            <a:endParaRPr lang="en-US" sz="1100" dirty="0"/>
          </a:p>
        </p:txBody>
      </p:sp>
      <p:sp>
        <p:nvSpPr>
          <p:cNvPr id="52" name="Text 49"/>
          <p:cNvSpPr txBox="1"/>
          <p:nvPr/>
        </p:nvSpPr>
        <p:spPr>
          <a:xfrm>
            <a:off x="566928" y="4725619"/>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Levant</a:t>
            </a:r>
            <a:endParaRPr lang="en-US" sz="1100" dirty="0"/>
          </a:p>
        </p:txBody>
      </p:sp>
      <p:sp>
        <p:nvSpPr>
          <p:cNvPr id="53" name="Shape 50"/>
          <p:cNvSpPr/>
          <p:nvPr/>
        </p:nvSpPr>
        <p:spPr>
          <a:xfrm>
            <a:off x="457200" y="5135270"/>
            <a:ext cx="11274552" cy="354787"/>
          </a:xfrm>
          <a:prstGeom prst="roundRect">
            <a:avLst>
              <a:gd name="adj" fmla="val 12887"/>
            </a:avLst>
          </a:prstGeom>
          <a:solidFill>
            <a:srgbClr val="F4F1EA"/>
          </a:solidFill>
          <a:ln w="9525">
            <a:solidFill>
              <a:srgbClr val="D8D0BF"/>
            </a:solidFill>
            <a:prstDash val="solid"/>
          </a:ln>
        </p:spPr>
      </p:sp>
      <p:sp>
        <p:nvSpPr>
          <p:cNvPr id="54" name="Text 51"/>
          <p:cNvSpPr txBox="1"/>
          <p:nvPr/>
        </p:nvSpPr>
        <p:spPr>
          <a:xfrm>
            <a:off x="7982712" y="5135270"/>
            <a:ext cx="365760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cs typeface="Amiri" pitchFamily="2" charset="-78"/>
              </a:rPr>
              <a:t>العِرَاق</a:t>
            </a:r>
            <a:endParaRPr lang="ar-SA" sz="1650" dirty="0"/>
          </a:p>
        </p:txBody>
      </p:sp>
      <p:sp>
        <p:nvSpPr>
          <p:cNvPr id="55" name="Text 52"/>
          <p:cNvSpPr txBox="1"/>
          <p:nvPr/>
        </p:nvSpPr>
        <p:spPr>
          <a:xfrm>
            <a:off x="4892040" y="5135270"/>
            <a:ext cx="29260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Iraq</a:t>
            </a:r>
            <a:endParaRPr lang="en-US" sz="1100" dirty="0"/>
          </a:p>
        </p:txBody>
      </p:sp>
      <p:sp>
        <p:nvSpPr>
          <p:cNvPr id="56" name="Text 53"/>
          <p:cNvSpPr txBox="1"/>
          <p:nvPr/>
        </p:nvSpPr>
        <p:spPr>
          <a:xfrm>
            <a:off x="566928" y="5135270"/>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Iraq</a:t>
            </a:r>
            <a:endParaRPr lang="en-US" sz="1100" dirty="0"/>
          </a:p>
        </p:txBody>
      </p:sp>
      <p:sp>
        <p:nvSpPr>
          <p:cNvPr id="57" name="Shape 54"/>
          <p:cNvSpPr/>
          <p:nvPr/>
        </p:nvSpPr>
        <p:spPr>
          <a:xfrm>
            <a:off x="11091672" y="5180990"/>
            <a:ext cx="548640" cy="182880"/>
          </a:xfrm>
          <a:prstGeom prst="roundRect">
            <a:avLst>
              <a:gd name="adj" fmla="val 50000"/>
            </a:avLst>
          </a:prstGeom>
          <a:solidFill>
            <a:srgbClr val="2E8B57"/>
          </a:solidFill>
          <a:ln w="12700">
            <a:solidFill>
              <a:srgbClr val="2E8B57"/>
            </a:solidFill>
            <a:prstDash val="solid"/>
          </a:ln>
        </p:spPr>
      </p:sp>
      <p:sp>
        <p:nvSpPr>
          <p:cNvPr id="58" name="Text 55"/>
          <p:cNvSpPr txBox="1"/>
          <p:nvPr/>
        </p:nvSpPr>
        <p:spPr>
          <a:xfrm>
            <a:off x="11091672" y="51809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9" name="Shape 56"/>
          <p:cNvSpPr/>
          <p:nvPr/>
        </p:nvSpPr>
        <p:spPr>
          <a:xfrm>
            <a:off x="457200" y="5544922"/>
            <a:ext cx="11274552" cy="354787"/>
          </a:xfrm>
          <a:prstGeom prst="roundRect">
            <a:avLst>
              <a:gd name="adj" fmla="val 12887"/>
            </a:avLst>
          </a:prstGeom>
          <a:solidFill>
            <a:srgbClr val="FFFFFF"/>
          </a:solidFill>
          <a:ln w="9525">
            <a:solidFill>
              <a:srgbClr val="D8D0BF"/>
            </a:solidFill>
            <a:prstDash val="solid"/>
          </a:ln>
        </p:spPr>
      </p:sp>
      <p:sp>
        <p:nvSpPr>
          <p:cNvPr id="60" name="Text 57"/>
          <p:cNvSpPr txBox="1"/>
          <p:nvPr/>
        </p:nvSpPr>
        <p:spPr>
          <a:xfrm>
            <a:off x="7982712" y="5544922"/>
            <a:ext cx="365760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cs typeface="Amiri" pitchFamily="2" charset="-78"/>
              </a:rPr>
              <a:t>المَمْلَكَةُ العَرَبِيَّةُ السُّعُودِيَّة</a:t>
            </a:r>
            <a:endParaRPr lang="ar-SA" sz="1650" dirty="0"/>
          </a:p>
        </p:txBody>
      </p:sp>
      <p:sp>
        <p:nvSpPr>
          <p:cNvPr id="61" name="Text 58"/>
          <p:cNvSpPr txBox="1"/>
          <p:nvPr/>
        </p:nvSpPr>
        <p:spPr>
          <a:xfrm>
            <a:off x="4892040" y="5544922"/>
            <a:ext cx="29260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Saudi Arabia</a:t>
            </a:r>
            <a:endParaRPr lang="en-US" sz="1100" dirty="0"/>
          </a:p>
        </p:txBody>
      </p:sp>
      <p:sp>
        <p:nvSpPr>
          <p:cNvPr id="62" name="Text 59"/>
          <p:cNvSpPr txBox="1"/>
          <p:nvPr/>
        </p:nvSpPr>
        <p:spPr>
          <a:xfrm>
            <a:off x="566928" y="5544922"/>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Arabian Peninsula</a:t>
            </a:r>
            <a:endParaRPr lang="en-US" sz="1100" dirty="0"/>
          </a:p>
        </p:txBody>
      </p:sp>
      <p:sp>
        <p:nvSpPr>
          <p:cNvPr id="63" name="Shape 60"/>
          <p:cNvSpPr/>
          <p:nvPr/>
        </p:nvSpPr>
        <p:spPr>
          <a:xfrm>
            <a:off x="11091672" y="5590642"/>
            <a:ext cx="548640" cy="182880"/>
          </a:xfrm>
          <a:prstGeom prst="roundRect">
            <a:avLst>
              <a:gd name="adj" fmla="val 50000"/>
            </a:avLst>
          </a:prstGeom>
          <a:solidFill>
            <a:srgbClr val="2E8B57"/>
          </a:solidFill>
          <a:ln w="12700">
            <a:solidFill>
              <a:srgbClr val="2E8B57"/>
            </a:solidFill>
            <a:prstDash val="solid"/>
          </a:ln>
        </p:spPr>
      </p:sp>
      <p:sp>
        <p:nvSpPr>
          <p:cNvPr id="64" name="Text 61"/>
          <p:cNvSpPr txBox="1"/>
          <p:nvPr/>
        </p:nvSpPr>
        <p:spPr>
          <a:xfrm>
            <a:off x="11091672" y="559064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5" name="Shape 62"/>
          <p:cNvSpPr/>
          <p:nvPr/>
        </p:nvSpPr>
        <p:spPr>
          <a:xfrm>
            <a:off x="457200" y="5954573"/>
            <a:ext cx="11274552" cy="354787"/>
          </a:xfrm>
          <a:prstGeom prst="roundRect">
            <a:avLst>
              <a:gd name="adj" fmla="val 12887"/>
            </a:avLst>
          </a:prstGeom>
          <a:solidFill>
            <a:srgbClr val="F4F1EA"/>
          </a:solidFill>
          <a:ln w="9525">
            <a:solidFill>
              <a:srgbClr val="D8D0BF"/>
            </a:solidFill>
            <a:prstDash val="solid"/>
          </a:ln>
        </p:spPr>
      </p:sp>
      <p:sp>
        <p:nvSpPr>
          <p:cNvPr id="66" name="Text 63"/>
          <p:cNvSpPr txBox="1"/>
          <p:nvPr/>
        </p:nvSpPr>
        <p:spPr>
          <a:xfrm>
            <a:off x="7982712" y="5954573"/>
            <a:ext cx="365760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cs typeface="Amiri" pitchFamily="2" charset="-78"/>
              </a:rPr>
              <a:t>عُمَان</a:t>
            </a:r>
            <a:endParaRPr lang="ar-SA" sz="1650" dirty="0"/>
          </a:p>
        </p:txBody>
      </p:sp>
      <p:sp>
        <p:nvSpPr>
          <p:cNvPr id="67" name="Text 64"/>
          <p:cNvSpPr txBox="1"/>
          <p:nvPr/>
        </p:nvSpPr>
        <p:spPr>
          <a:xfrm>
            <a:off x="4892040" y="5954573"/>
            <a:ext cx="29260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Oman</a:t>
            </a:r>
            <a:endParaRPr lang="en-US" sz="1100" dirty="0"/>
          </a:p>
        </p:txBody>
      </p:sp>
      <p:sp>
        <p:nvSpPr>
          <p:cNvPr id="68" name="Text 65"/>
          <p:cNvSpPr txBox="1"/>
          <p:nvPr/>
        </p:nvSpPr>
        <p:spPr>
          <a:xfrm>
            <a:off x="566928" y="5954573"/>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Arabian Peninsula</a:t>
            </a:r>
            <a:endParaRPr lang="en-US" sz="110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Arabic around us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7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Investigate: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اِبْحَثْ وَاكْتُبْ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1800" b="1" dirty="0">
                <a:solidFill>
                  <a:srgbClr val="2E8B57"/>
                </a:solidFill>
                <a:latin typeface="Cambria" pitchFamily="34" charset="0"/>
                <a:cs typeface="Amiri" pitchFamily="2" charset="-78"/>
              </a:rPr>
              <a:t>5 countries + 3 contexts</a:t>
            </a:r>
            <a:endParaRPr lang="en-US" sz="18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Copy five country names in Arabic with the English. Then copy three everyday words from the context table.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Say each word aloud as you copy it.</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1600" b="1" dirty="0">
                <a:solidFill>
                  <a:srgbClr val="C9780A"/>
                </a:solidFill>
                <a:latin typeface="Cambria" pitchFamily="34" charset="0"/>
                <a:cs typeface="Amiri" pitchFamily="2" charset="-78"/>
              </a:rPr>
              <a:t>script · language · meaning</a:t>
            </a:r>
            <a:endParaRPr lang="en-US" sz="16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your own example from home (or </a:t>
            </a:r>
            <a:pPr algn="l" indent="0" marL="0">
              <a:buNone/>
            </a:pPr>
            <a:r>
              <a:rPr lang="ar-SA" altLang="en-US" sz="1800" b="1" dirty="0">
                <a:solidFill>
                  <a:srgbClr val="1F2A37"/>
                </a:solidFill>
                <a:latin typeface="Amiri" pitchFamily="2" charset="-78"/>
                <a:cs typeface="Amiri" pitchFamily="2" charset="-78"/>
              </a:rPr>
              <a:t>مَطْعَم</a:t>
            </a:r>
            <a:pPr algn="l" indent="0" marL="0">
              <a:buNone/>
            </a:pPr>
            <a:r>
              <a:rPr lang="en-US" sz="1400" b="1" dirty="0">
                <a:solidFill>
                  <a:srgbClr val="1F2A37"/>
                </a:solidFill>
                <a:latin typeface="Calibri" pitchFamily="34" charset="0"/>
                <a:cs typeface="Amiri" pitchFamily="2" charset="-78"/>
              </a:rPr>
              <a:t>). Write the three questions and your answer to each.</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Finish with: secure, likely or uncertain — and why.</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ABCD + name design</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Complete the ABCD chain for your own example. Then design your name in Arabic (Naskh first).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Label it “Arabic-inspired name design” and write an artist’s note: spelling, legibility, visual idea.</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Arabic around us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Share your example: source, script, reading, confidence</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أَيْنَ رَأَيْتَ الكِتَابَةَ العَرَبِيَّةَ؟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اِقْرَأِ اسْمَ بَلَدٍ.</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هِيَ العَرَبِيَّةُ؟ كَيْفَ تَعْرِفُ؟</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الفَرْقُ بَيْنَ الفُصْحَى وَاللَّهْجَةِ؟</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رَأَيْتُهَا عَلَى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أَنَا مُتَأَكِّدٌ / لَسْتُ مُتَأَكِّدًا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الفُصْحَى لِـ ___ ، وَاللَّهْجَةُ لِـ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رَأَى / رَأَتْ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أَيْنَ رَأَيْتَ الكِتَابَةَ العَرَبِيَّةَ؟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Where did you see Arabic writing?</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رَأَيْتُهَا عَلَى مَطْعَمٍ.</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saw it on a restaurant.</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Arabic around us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CAREFUL CLAIMS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Strong claims and careful claims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الدَّلِيلُ أَوَّلًا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684264"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Risky claim</a:t>
            </a:r>
            <a:endParaRPr lang="en-US" sz="1100" dirty="0"/>
          </a:p>
        </p:txBody>
      </p:sp>
      <p:sp>
        <p:nvSpPr>
          <p:cNvPr id="17" name="Text 14"/>
          <p:cNvSpPr txBox="1"/>
          <p:nvPr/>
        </p:nvSpPr>
        <p:spPr>
          <a:xfrm>
            <a:off x="530352" y="1810512"/>
            <a:ext cx="6007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Stronger, careful claim</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6720840" y="2267712"/>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“It’s Arabic script, so it’s Arabic.”</a:t>
            </a:r>
            <a:endParaRPr lang="en-US" sz="1100" dirty="0"/>
          </a:p>
        </p:txBody>
      </p:sp>
      <p:sp>
        <p:nvSpPr>
          <p:cNvPr id="20" name="Text 17"/>
          <p:cNvSpPr txBox="1"/>
          <p:nvPr/>
        </p:nvSpPr>
        <p:spPr>
          <a:xfrm>
            <a:off x="566928" y="2267712"/>
            <a:ext cx="59710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is Arabic script; I need to check the language.”</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6720840" y="3054096"/>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sign tells me the owner’s religion.”</a:t>
            </a:r>
            <a:endParaRPr lang="en-US" sz="1100" dirty="0"/>
          </a:p>
        </p:txBody>
      </p:sp>
      <p:sp>
        <p:nvSpPr>
          <p:cNvPr id="25" name="Text 22"/>
          <p:cNvSpPr txBox="1"/>
          <p:nvPr/>
        </p:nvSpPr>
        <p:spPr>
          <a:xfrm>
            <a:off x="566928" y="3054096"/>
            <a:ext cx="59710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sign tells me what the business is — not who people are.”</a:t>
            </a:r>
            <a:endParaRPr lang="en-US" sz="1100" dirty="0"/>
          </a:p>
        </p:txBody>
      </p:sp>
      <p:sp>
        <p:nvSpPr>
          <p:cNvPr id="26" name="Shape 23"/>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9" name="Text 26"/>
          <p:cNvSpPr txBox="1"/>
          <p:nvPr/>
        </p:nvSpPr>
        <p:spPr>
          <a:xfrm>
            <a:off x="6720840" y="3840480"/>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“Dialects are bad Arabic.”</a:t>
            </a:r>
            <a:endParaRPr lang="en-US" sz="1100" dirty="0"/>
          </a:p>
        </p:txBody>
      </p:sp>
      <p:sp>
        <p:nvSpPr>
          <p:cNvPr id="30" name="Text 27"/>
          <p:cNvSpPr txBox="1"/>
          <p:nvPr/>
        </p:nvSpPr>
        <p:spPr>
          <a:xfrm>
            <a:off x="566928" y="3840480"/>
            <a:ext cx="59710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“Dialects are spoken varieties with their own rules; MSA is the shared formal variety.”</a:t>
            </a:r>
            <a:endParaRPr lang="en-US" sz="1100" dirty="0"/>
          </a:p>
        </p:txBody>
      </p:sp>
      <p:sp>
        <p:nvSpPr>
          <p:cNvPr id="31" name="Shape 28"/>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4" name="Text 31"/>
          <p:cNvSpPr txBox="1"/>
          <p:nvPr/>
        </p:nvSpPr>
        <p:spPr>
          <a:xfrm>
            <a:off x="6720840" y="4626864"/>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must mean bakery — there’s bread.”</a:t>
            </a:r>
            <a:endParaRPr lang="en-US" sz="1100" dirty="0"/>
          </a:p>
        </p:txBody>
      </p:sp>
      <p:sp>
        <p:nvSpPr>
          <p:cNvPr id="35" name="Text 32"/>
          <p:cNvSpPr txBox="1"/>
          <p:nvPr/>
        </p:nvSpPr>
        <p:spPr>
          <a:xfrm>
            <a:off x="566928" y="4626864"/>
            <a:ext cx="59710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letters read </a:t>
            </a:r>
            <a:pPr algn="l" indent="0" marL="0">
              <a:buNone/>
            </a:pPr>
            <a:r>
              <a:rPr lang="ar-SA" altLang="en-US" sz="1450" dirty="0">
                <a:solidFill>
                  <a:srgbClr val="5A6472"/>
                </a:solidFill>
                <a:latin typeface="Amiri" pitchFamily="2" charset="-78"/>
                <a:cs typeface="Amiri" pitchFamily="2" charset="-78"/>
              </a:rPr>
              <a:t>مَخْبَز</a:t>
            </a:r>
            <a:pPr algn="l" indent="0" marL="0">
              <a:buNone/>
            </a:pPr>
            <a:r>
              <a:rPr lang="en-US" sz="1100" dirty="0">
                <a:solidFill>
                  <a:srgbClr val="5A6472"/>
                </a:solidFill>
                <a:latin typeface="Calibri" pitchFamily="34" charset="0"/>
                <a:cs typeface="Amiri" pitchFamily="2" charset="-78"/>
              </a:rPr>
              <a:t>, and the picture agrees.”</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Arabic around us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say where Arabic appears around me.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read five Arabic country names.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distinguish script, language, context and meaning.</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explain MSA and spoken varieties respectfully.</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use ABCD and say when evidence is uncertain.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Arabic around us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country is </a:t>
            </a:r>
            <a:pPr algn="l" indent="0" marL="0">
              <a:buNone/>
            </a:pPr>
            <a:r>
              <a:rPr lang="ar-SA" altLang="en-US" sz="1650" b="1" dirty="0">
                <a:solidFill>
                  <a:srgbClr val="1B3B6F"/>
                </a:solidFill>
                <a:latin typeface="Amiri" pitchFamily="2" charset="-78"/>
                <a:cs typeface="Amiri" pitchFamily="2" charset="-78"/>
              </a:rPr>
              <a:t>مِصْر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Egypt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Morocco</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Iraq</a:t>
            </a:r>
            <a:endParaRPr lang="en-US" sz="12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calligraphy style is our clear school hand based 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Thuluth</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Naskh</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Ruqʿah</a:t>
            </a:r>
            <a:endParaRPr lang="en-US" sz="12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sign is cropped and has no source. What do you say?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am sure what it means.”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can identify the script, but I cannot yet verify the meaning.”</a:t>
            </a:r>
            <a:endParaRPr lang="en-US" sz="1250" dirty="0"/>
          </a:p>
        </p:txBody>
      </p:sp>
      <p:sp>
        <p:nvSpPr>
          <p:cNvPr id="51" name="Shape 48"/>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2" name="Text 49"/>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3" name="Text 50"/>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Arabic around us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country is </a:t>
            </a:r>
            <a:pPr algn="l" indent="0" marL="0">
              <a:buNone/>
            </a:pPr>
            <a:r>
              <a:rPr lang="ar-SA" altLang="en-US" sz="1650" b="1" dirty="0">
                <a:solidFill>
                  <a:srgbClr val="1B3B6F"/>
                </a:solidFill>
                <a:latin typeface="Amiri" pitchFamily="2" charset="-78"/>
                <a:cs typeface="Amiri" pitchFamily="2" charset="-78"/>
              </a:rPr>
              <a:t>مِصْر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Egypt</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Morocco</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Iraq</a:t>
            </a:r>
            <a:endParaRPr lang="en-US" sz="12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Nile Valley.</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calligraphy style is our clear school hand based on?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Thuluth</a:t>
            </a:r>
            <a:endParaRPr lang="en-US" sz="12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Naskh</a:t>
            </a:r>
            <a:endParaRPr lang="en-US" sz="12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Ruqʿah</a:t>
            </a:r>
            <a:endParaRPr lang="en-US" sz="12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Part 5.</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sign is cropped and has no source. What do you say?</a:t>
            </a:r>
            <a:endParaRPr lang="en-US" sz="1250" dirty="0"/>
          </a:p>
        </p:txBody>
      </p:sp>
      <p:sp>
        <p:nvSpPr>
          <p:cNvPr id="49" name="Shape 46"/>
          <p:cNvSpPr/>
          <p:nvPr/>
        </p:nvSpPr>
        <p:spPr>
          <a:xfrm>
            <a:off x="8278368" y="2532888"/>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am sure what it means.”</a:t>
            </a:r>
            <a:endParaRPr lang="en-US" sz="1250" dirty="0"/>
          </a:p>
        </p:txBody>
      </p:sp>
      <p:sp>
        <p:nvSpPr>
          <p:cNvPr id="52" name="Shape 49"/>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990088"/>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can identify the script, but I cannot yet verify the meaning.”</a:t>
            </a:r>
            <a:endParaRPr lang="en-US" sz="1250" dirty="0"/>
          </a:p>
        </p:txBody>
      </p:sp>
      <p:sp>
        <p:nvSpPr>
          <p:cNvPr id="56" name="Text 53"/>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strong sentence.</a:t>
            </a:r>
            <a:endParaRPr lang="en-US" sz="1050" dirty="0"/>
          </a:p>
        </p:txBody>
      </p:sp>
      <p:sp>
        <p:nvSpPr>
          <p:cNvPr id="57" name="Shape 54"/>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58" name="Text 55"/>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59" name="Text 56"/>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Arabic around us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F1-L12: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F1-L12 · Review &amp; Assessment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 د ذ ر ز و</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six non-connectors</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بَ  بُ  بِ  بْ</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fatḥa · ḍamma · kasra · sukūn</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بّ  بٌ  آ  ء</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shadda · tanwīn · madda · hamza</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١ ٢ ٣ … ٢٠</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numerals 0–20</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مطعم · مدرسة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two sign words</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Review the 28-letter chart and circle three letter families you feel unsure about.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ا ب ت ث … ن ه و ي</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“Next step”: review the 28-letter chart; practise the six non-connectors.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“Next step”: review diacritics, numerals 0–20 and five sign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“Next step”: prepare a short vowelled read-aloud passage and one question for the review lesson.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25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F1-L11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F1-L12 · Review &amp; Assessment</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مُرَاجَعَةُ الوَحْدَةِ الأُولَى</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revise the 5 areas + bring one question.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F1-L11 · Arabic Around Us</dc:title>
  <dc:subject>PptxGenJS Presentation</dc:subject>
  <dc:creator>Al Madina Online School · Arabic Department</dc:creator>
  <cp:lastModifiedBy>Al Madina Online School · Arabic Department</cp:lastModifiedBy>
  <cp:revision>1</cp:revision>
  <dcterms:created xsi:type="dcterms:W3CDTF">2026-10-11T06:41:19Z</dcterms:created>
  <dcterms:modified xsi:type="dcterms:W3CDTF">2026-10-11T06:41:19Z</dcterms:modified>
</cp:coreProperties>
</file>