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4 (F1-L04). The website lesson teaches letters 23–28 (ل م ن ه و ي), the two roles of wāw and yāʾ, the six connection breakers, awareness of لا and hamza ء, and the four marks fatḥa, ḍamma, kasra and sukūn with the words كَتَبَ، فَهِمَ، هُوَ، مِنْ. The retrieval check, games, formation tracker, partner tasks and the ten-item final check are the website’s; the vowel picture game is the website game for this lesson.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see · say · select — one letter or vowel card at a time; read بَ بُ بِ بْ. DEVELOP: combine consonants and marks, then blend short fully vowelled words. STRETCH: justify each choice with position, dot, connection or vowel terms.
• Alphabet milestone: all 28 letters today — celebrate, but accurate retrieval (not speed) is the success criterion (website).
• Heritage / Urdu readers know zabar (fatḥa), pesh (ḍamma), zer (kasra) and jazm (sukūn) from Qur’an reading — use those names as the bridge.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“F1-L03 readiness check” (3–4 → continue; 0–2 → repair the F1-L03 letters and long vowels first).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Today we finish all 28 letters, and small marks tell us which vowel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F1-L04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 the Qur’an-reading names students may already know: zabar = fatḥa, pēsh = ḍamma, zēr = kasra, jazm = sukūn, hamza = hamza. Teach the Arabic names, but welcome the familiar ones as a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LETTERS 23–28 (website Part 1). Standard alphabet positions 23–28; hamza is a separate writing sign.
• ه hāʾ /h/ is a normal h — different from ح (deep breath, F1-L01).
• ن nūn: one dot above a deep bowl — do not confuse with ب ت (they are flat).
• ي yāʾ: two dots BELOW — the only letter with two dots below.
Milestone: recite all 28 together at the end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WĀW AND YĀʾ (website Part 2): context and vowel marks show whether they are consonants or long-vowel carriers.
The six connection breakers are now complete: ا د ذ ر ز و. “Breaker” means it does not connect to the FOLLOWING letter on its left — it can still join the letter before it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LĀM–ALIF AND HAMZA (website Part 3). Boundary: recognise hamza and its /ʔ/ sound today; do not ask beginners to choose the correct seat yet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MARKS (website Part 4). The first three add a short vowel; sukūn shows that NO short vowel follows that consonant.
Website accuracy point: sukūn is not a “silent letter” — the consonant is pronounced; it just has no vowel after it. In هَلْ the lām is heard and closes the syllable.
Gestures: fatḥa = hand up and open (a); ḍamma = lips rounded (u); kasra = hand points down (i); sukūn = fist, stop.
Colour game (website “Vowel detective”): fatḥa gold, ḍamma blue, kasra green, sukūn purple.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2, 3, 7 and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FORMATION (5 min). Website: write each new letter four times, then check the baseline, dot placement and proportions. Positional forms are previewed only; F1-L05 teaches them.
Then the website “four-way build”: choose a learned consonant and write it with fatḥa, ḍamma, kasra and sukūn (e.g. نَ نُ نِ 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“Final-Letter Detective” (use shape, dots, sound and role together). Teacher-made items with today’s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all 28 letters recited together (alphabet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“Connection Gate” (classify each final letter; pay special attention to wāw and yāʾ). Revision letters ا ر د added so the six breakers can be reviewed. Stretch: name all six breakers (ا د ذ ر ز 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“Connection Gate” (classify each final letter; pay special attention to wāw and yāʾ). Revision letters ا ر د added so the six breakers can be reviewed. Stretch: name all six breakers (ا د ذ ر ز 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“Diacritic Decoder” (name the short vowel or explain the sukūn) and the website lesson game (بَ بِ بُ). Read each item aloud together after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chorally read the four website words: كَتَبَ · فَهِمَ · هُوَ ·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(3 min) — the website example words. Routine: point to each letter → say its mark → blend. Echo reading first (teacher, then class), then volunteers (invitation; “pass” allowed).
Heritage precision (website): read in careful MSA and justify every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 the website homework (all 28 letters, circle the six breakers, write and read بَ بُ بِ بْ and one fully vowelled word) split by route. LIVE FEEDBACK after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وَهٰذِهِ الكَلِمَةُ؟ هُوَ (And this word? huwa)
B: هُوَ: ضَمَّةٌ ثُمَّ فَتْحَةٌ. (huwa: ḍamma, then fatḥa.)
FOUR-WAY BUILD (website): A writes a consonant with fatḥa, ḍamma, kasra and sukūn; B reads the four results. Stretch: alphabet milestone — recite all 28 letters in order, then name the six breakers (accuracy, not speed —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based on the website accuracy points. Students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(F1-L05 · One Letter, Four Positions) will spend class time USING this language, so students prepare it tonight — short, simple, easy to access (school guidance: “Simple, Short, Interesting, Relevant, Easy to access”). Next lesson: letters change shape at the start, middle and end of a word. Look at how ب changes in the three shapes above.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2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Complete the Alphabet &amp; Read Short Vowels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أَكْمِلِ الحُرُوفَ وَاقْرَأِ الحَرَكَاتِ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Meet the last six letters (</a:t>
            </a:r>
            <a:pPr algn="l" indent="0" marL="0">
              <a:buNone/>
            </a:pPr>
            <a:r>
              <a:rPr lang="ar-SA" altLang="en-US" sz="1800" dirty="0">
                <a:solidFill>
                  <a:srgbClr val="C6D2E6"/>
                </a:solidFill>
                <a:latin typeface="Amiri" pitchFamily="34" charset="0"/>
                <a:ea typeface="Amiri" pitchFamily="34" charset="-122"/>
                <a:cs typeface="Amiri" pitchFamily="34" charset="-120"/>
              </a:rPr>
              <a:t>ل م ن ه و ي</a:t>
            </a:r>
            <a:pPr algn="l" indent="0" marL="0">
              <a:buNone/>
            </a:pPr>
            <a:r>
              <a:rPr lang="en-US" sz="1400" dirty="0">
                <a:solidFill>
                  <a:srgbClr val="C6D2E6"/>
                </a:solidFill>
                <a:latin typeface="Calibri" pitchFamily="34" charset="0"/>
                <a:ea typeface="Calibri" pitchFamily="34" charset="-122"/>
                <a:cs typeface="Calibri" pitchFamily="34" charset="-120"/>
              </a:rPr>
              <a:t>), see that </a:t>
            </a:r>
            <a:pPr algn="l" indent="0" marL="0">
              <a:buNone/>
            </a:pPr>
            <a:r>
              <a:rPr lang="ar-SA" altLang="en-US" sz="1800" dirty="0">
                <a:solidFill>
                  <a:srgbClr val="C6D2E6"/>
                </a:solidFill>
                <a:latin typeface="Amiri" pitchFamily="34" charset="0"/>
                <a:ea typeface="Amiri" pitchFamily="34" charset="-122"/>
                <a:cs typeface="Amiri" pitchFamily="34" charset="-120"/>
              </a:rPr>
              <a:t>و</a:t>
            </a:r>
            <a:pPr algn="l" indent="0" marL="0">
              <a:buNone/>
            </a:pPr>
            <a:r>
              <a:rPr lang="en-US" sz="1400" dirty="0">
                <a:solidFill>
                  <a:srgbClr val="C6D2E6"/>
                </a:solidFill>
                <a:latin typeface="Calibri" pitchFamily="34" charset="0"/>
                <a:ea typeface="Calibri" pitchFamily="34" charset="-122"/>
                <a:cs typeface="Calibri" pitchFamily="34" charset="-120"/>
              </a:rPr>
              <a:t> also breaks a connection, and use the four marks — fatḥa, ḍamma, kasra, sukūn — to read your first fully vowelled words.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F1-L04 · Week 2,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The last six letters and four reading marks.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Final-letter detective, connection gate, vowel decoder.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ended F1-L03?</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Select ghayn.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can carry long /ū/?</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is a long vowel in the beginner timing model?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beat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Roughly two beats</a:t>
            </a:r>
            <a:endParaRPr lang="en-US" sz="1250" dirty="0"/>
          </a:p>
        </p:txBody>
      </p:sp>
      <p:sp>
        <p:nvSpPr>
          <p:cNvPr id="64" name="Shape 61"/>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404360"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7" name="Text 64"/>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mīm (prepared at home)?</a:t>
            </a:r>
            <a:endParaRPr lang="en-US" sz="1250" dirty="0"/>
          </a:p>
        </p:txBody>
      </p:sp>
      <p:sp>
        <p:nvSpPr>
          <p:cNvPr id="68" name="Shape 65"/>
          <p:cNvSpPr/>
          <p:nvPr/>
        </p:nvSpPr>
        <p:spPr>
          <a:xfrm>
            <a:off x="4459224" y="48737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a:t>
            </a:r>
            <a:endParaRPr lang="ar-SA" sz="2050" dirty="0"/>
          </a:p>
        </p:txBody>
      </p:sp>
      <p:sp>
        <p:nvSpPr>
          <p:cNvPr id="71" name="Shape 68"/>
          <p:cNvSpPr/>
          <p:nvPr/>
        </p:nvSpPr>
        <p:spPr>
          <a:xfrm>
            <a:off x="4459224" y="53309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a:t>
            </a:r>
            <a:endParaRPr lang="ar-SA" sz="2050" dirty="0"/>
          </a:p>
        </p:txBody>
      </p:sp>
      <p:sp>
        <p:nvSpPr>
          <p:cNvPr id="74" name="Shape 71"/>
          <p:cNvSpPr/>
          <p:nvPr/>
        </p:nvSpPr>
        <p:spPr>
          <a:xfrm>
            <a:off x="4459224" y="57881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a:t>
            </a:r>
            <a:endParaRPr lang="ar-SA" sz="2050" dirty="0"/>
          </a:p>
        </p:txBody>
      </p:sp>
      <p:sp>
        <p:nvSpPr>
          <p:cNvPr id="77" name="Shape 74"/>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8" name="Text 75"/>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79" name="Text 76"/>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0" name="Text 77"/>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1" name="Text 78"/>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ended F1-L03?</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Letter 22 is </a:t>
            </a:r>
            <a:pPr algn="l" indent="0" marL="0">
              <a:buNone/>
            </a:pPr>
            <a:r>
              <a:rPr lang="ar-SA" altLang="en-US" sz="1350" dirty="0">
                <a:solidFill>
                  <a:srgbClr val="8A6D1E"/>
                </a:solidFill>
                <a:latin typeface="Amiri" pitchFamily="34" charset="0"/>
                <a:ea typeface="Amiri" pitchFamily="34" charset="-122"/>
                <a:cs typeface="Amiri" pitchFamily="34" charset="-120"/>
              </a:rPr>
              <a:t>ك</a:t>
            </a:r>
            <a:pPr algn="l" indent="0" marL="0">
              <a:buNone/>
            </a:pPr>
            <a:r>
              <a:rPr lang="en-US" sz="1050" i="1" dirty="0">
                <a:solidFill>
                  <a:srgbClr val="8A6D1E"/>
                </a:solidFill>
                <a:latin typeface="Calibri" pitchFamily="34" charset="0"/>
                <a:ea typeface="Calibri" pitchFamily="34" charset="-122"/>
                <a:cs typeface="Calibri" pitchFamily="34" charset="-120"/>
              </a:rPr>
              <a:t> kāf (website retrieval).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Select ghayn.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غ</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غ</a:t>
            </a:r>
            <a:pPr algn="l" indent="0" marL="0">
              <a:buNone/>
            </a:pPr>
            <a:r>
              <a:rPr lang="en-US" sz="1050" i="1" dirty="0">
                <a:solidFill>
                  <a:srgbClr val="8A6D1E"/>
                </a:solidFill>
                <a:latin typeface="Calibri" pitchFamily="34" charset="0"/>
                <a:ea typeface="Calibri" pitchFamily="34" charset="-122"/>
                <a:cs typeface="Calibri" pitchFamily="34" charset="-120"/>
              </a:rPr>
              <a:t> = ʿayn + one dot.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can carry long /ū/?</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ḍamma + wāw = /ū/.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is a long vowel in the beginner timing model?</a:t>
            </a:r>
            <a:endParaRPr lang="en-US" sz="1250" dirty="0"/>
          </a:p>
        </p:txBody>
      </p:sp>
      <p:sp>
        <p:nvSpPr>
          <p:cNvPr id="64" name="Shape 61"/>
          <p:cNvSpPr/>
          <p:nvPr/>
        </p:nvSpPr>
        <p:spPr>
          <a:xfrm>
            <a:off x="640080" y="4873752"/>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 beat</a:t>
            </a:r>
            <a:endParaRPr lang="en-US" sz="1250" dirty="0"/>
          </a:p>
        </p:txBody>
      </p:sp>
      <p:sp>
        <p:nvSpPr>
          <p:cNvPr id="67" name="Shape 64"/>
          <p:cNvSpPr/>
          <p:nvPr/>
        </p:nvSpPr>
        <p:spPr>
          <a:xfrm>
            <a:off x="548640" y="5294376"/>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33095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Roughly two beats</a:t>
            </a:r>
            <a:endParaRPr lang="en-US" sz="1250" dirty="0"/>
          </a:p>
        </p:txBody>
      </p:sp>
      <p:sp>
        <p:nvSpPr>
          <p:cNvPr id="71" name="Text 6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Long = about two beats.</a:t>
            </a:r>
            <a:endParaRPr lang="en-US" sz="1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mīm (prepared at home)?</a:t>
            </a:r>
            <a:endParaRPr lang="en-US" sz="1250" dirty="0"/>
          </a:p>
        </p:txBody>
      </p:sp>
      <p:sp>
        <p:nvSpPr>
          <p:cNvPr id="76" name="Shape 73"/>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7" name="Shape 74"/>
          <p:cNvSpPr/>
          <p:nvPr/>
        </p:nvSpPr>
        <p:spPr>
          <a:xfrm>
            <a:off x="4459224" y="4831080"/>
            <a:ext cx="256032" cy="256032"/>
          </a:xfrm>
          <a:prstGeom prst="ellipse">
            <a:avLst/>
          </a:prstGeom>
          <a:solidFill>
            <a:srgbClr val="2E8B57"/>
          </a:solidFill>
          <a:ln w="12700">
            <a:solidFill>
              <a:srgbClr val="2E8B57"/>
            </a:solidFill>
            <a:prstDash val="solid"/>
          </a:ln>
        </p:spPr>
      </p:sp>
      <p:sp>
        <p:nvSpPr>
          <p:cNvPr id="78" name="Text 75"/>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9" name="Text 76"/>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a:t>
            </a:r>
            <a:endParaRPr lang="ar-SA" sz="1700" dirty="0"/>
          </a:p>
        </p:txBody>
      </p:sp>
      <p:sp>
        <p:nvSpPr>
          <p:cNvPr id="80" name="Shape 77"/>
          <p:cNvSpPr/>
          <p:nvPr/>
        </p:nvSpPr>
        <p:spPr>
          <a:xfrm>
            <a:off x="4459224" y="5202936"/>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2" name="Text 79"/>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a:t>
            </a:r>
            <a:endParaRPr lang="ar-SA" sz="1700" dirty="0"/>
          </a:p>
        </p:txBody>
      </p:sp>
      <p:sp>
        <p:nvSpPr>
          <p:cNvPr id="83" name="Shape 80"/>
          <p:cNvSpPr/>
          <p:nvPr/>
        </p:nvSpPr>
        <p:spPr>
          <a:xfrm>
            <a:off x="4459224" y="557479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5" name="Text 82"/>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a:t>
            </a:r>
            <a:endParaRPr lang="ar-SA" sz="1700" dirty="0"/>
          </a:p>
        </p:txBody>
      </p:sp>
      <p:sp>
        <p:nvSpPr>
          <p:cNvPr id="86" name="Text 8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a:t>
            </a:r>
            <a:pPr algn="l" indent="0" marL="0">
              <a:buNone/>
            </a:pPr>
            <a:r>
              <a:rPr lang="en-US" sz="1050" i="1" dirty="0">
                <a:solidFill>
                  <a:srgbClr val="8A6D1E"/>
                </a:solidFill>
                <a:latin typeface="Calibri" pitchFamily="34" charset="0"/>
                <a:ea typeface="Calibri" pitchFamily="34" charset="-122"/>
                <a:cs typeface="Calibri" pitchFamily="34" charset="-120"/>
              </a:rPr>
              <a:t> mīm /m/.</a:t>
            </a:r>
            <a:endParaRPr lang="en-US" sz="1050" dirty="0"/>
          </a:p>
        </p:txBody>
      </p:sp>
      <p:sp>
        <p:nvSpPr>
          <p:cNvPr id="87" name="Shape 84"/>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8" name="Text 85"/>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89" name="Text 86"/>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Today we finish all 28 letters, and small marks tell us which vowel to say.</a:t>
            </a:r>
            <a:endParaRPr lang="en-US" sz="1300" dirty="0"/>
          </a:p>
        </p:txBody>
      </p:sp>
      <p:sp>
        <p:nvSpPr>
          <p:cNvPr id="90" name="Text 87"/>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بَ   بُ   بِ   بْ</a:t>
            </a:r>
            <a:endParaRPr lang="ar-SA" sz="24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and name letters 23–28.</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the two jobs of </a:t>
            </a:r>
            <a:pPr algn="l" indent="0" marL="0">
              <a:buNone/>
            </a:pPr>
            <a:r>
              <a:rPr lang="ar-SA" altLang="en-US" sz="1700" dirty="0">
                <a:solidFill>
                  <a:srgbClr val="1F2A37"/>
                </a:solidFill>
                <a:latin typeface="Amiri" pitchFamily="34" charset="0"/>
                <a:ea typeface="Amiri" pitchFamily="34" charset="-122"/>
                <a:cs typeface="Amiri" pitchFamily="34" charset="-120"/>
              </a:rPr>
              <a:t>و</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ي</a:t>
            </a:r>
            <a:pPr algn="l" indent="0" marL="0">
              <a:buNone/>
            </a:pPr>
            <a:r>
              <a:rPr lang="en-US" sz="1300" dirty="0">
                <a:solidFill>
                  <a:srgbClr val="1F2A37"/>
                </a:solidFill>
                <a:latin typeface="Calibri" pitchFamily="34" charset="0"/>
                <a:ea typeface="Calibri" pitchFamily="34" charset="-122"/>
                <a:cs typeface="Calibri" pitchFamily="34" charset="-120"/>
              </a:rPr>
              <a:t> and name the six breakers.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a:t>
            </a:r>
            <a:pPr algn="l" indent="0" marL="0">
              <a:buNone/>
            </a:pPr>
            <a:r>
              <a:rPr lang="ar-SA" altLang="en-US" sz="1700" dirty="0">
                <a:solidFill>
                  <a:srgbClr val="1F2A37"/>
                </a:solidFill>
                <a:latin typeface="Amiri" pitchFamily="34" charset="0"/>
                <a:ea typeface="Amiri" pitchFamily="34" charset="-122"/>
                <a:cs typeface="Amiri" pitchFamily="34" charset="-120"/>
              </a:rPr>
              <a:t>لا</a:t>
            </a:r>
            <a:pPr algn="l" indent="0" marL="0">
              <a:buNone/>
            </a:pPr>
            <a:r>
              <a:rPr lang="en-US" sz="1300" dirty="0">
                <a:solidFill>
                  <a:srgbClr val="1F2A37"/>
                </a:solidFill>
                <a:latin typeface="Calibri" pitchFamily="34" charset="0"/>
                <a:ea typeface="Calibri" pitchFamily="34" charset="-122"/>
                <a:cs typeface="Calibri" pitchFamily="34" charset="-120"/>
              </a:rPr>
              <a:t> and hamza </a:t>
            </a:r>
            <a:pPr algn="l" indent="0" marL="0">
              <a:buNone/>
            </a:pPr>
            <a:r>
              <a:rPr lang="ar-SA" altLang="en-US" sz="1700" dirty="0">
                <a:solidFill>
                  <a:srgbClr val="1F2A37"/>
                </a:solidFill>
                <a:latin typeface="Amiri" pitchFamily="34" charset="0"/>
                <a:ea typeface="Amiri" pitchFamily="34" charset="-122"/>
                <a:cs typeface="Amiri" pitchFamily="34" charset="-120"/>
              </a:rPr>
              <a:t>ء</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Read fatḥa, ḍamma, kasra and sukūn.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the last six letters.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read </a:t>
            </a:r>
            <a:pPr algn="l" indent="0" marL="0">
              <a:buNone/>
            </a:pPr>
            <a:r>
              <a:rPr lang="ar-SA" altLang="en-US" sz="1700" b="1" dirty="0">
                <a:solidFill>
                  <a:srgbClr val="2E8B57"/>
                </a:solidFill>
                <a:latin typeface="Amiri" pitchFamily="34" charset="0"/>
                <a:ea typeface="Amiri" pitchFamily="34" charset="-122"/>
                <a:cs typeface="Amiri" pitchFamily="34" charset="-120"/>
              </a:rPr>
              <a:t>بَ بُ بِ بْ</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blend short fully vowelled words.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when </a:t>
            </a:r>
            <a:pPr algn="l" indent="0" marL="0">
              <a:buNone/>
            </a:pPr>
            <a:r>
              <a:rPr lang="ar-SA" altLang="en-US" sz="1700" b="1" dirty="0">
                <a:solidFill>
                  <a:srgbClr val="C9780A"/>
                </a:solidFill>
                <a:latin typeface="Amiri" pitchFamily="34" charset="0"/>
                <a:ea typeface="Amiri" pitchFamily="34" charset="-122"/>
                <a:cs typeface="Amiri" pitchFamily="34" charset="-120"/>
              </a:rPr>
              <a:t>و</a:t>
            </a:r>
            <a:pPr algn="l" indent="0" marL="0">
              <a:buNone/>
            </a:pPr>
            <a:r>
              <a:rPr lang="en-US" sz="1300" b="1" dirty="0">
                <a:solidFill>
                  <a:srgbClr val="C9780A"/>
                </a:solidFill>
                <a:latin typeface="Calibri" pitchFamily="34" charset="0"/>
                <a:ea typeface="Calibri" pitchFamily="34" charset="-122"/>
                <a:cs typeface="Calibri" pitchFamily="34" charset="-120"/>
              </a:rPr>
              <a:t> and </a:t>
            </a:r>
            <a:pPr algn="l" indent="0" marL="0">
              <a:buNone/>
            </a:pPr>
            <a:r>
              <a:rPr lang="ar-SA" altLang="en-US" sz="1700" b="1" dirty="0">
                <a:solidFill>
                  <a:srgbClr val="C9780A"/>
                </a:solidFill>
                <a:latin typeface="Amiri" pitchFamily="34" charset="0"/>
                <a:ea typeface="Amiri" pitchFamily="34" charset="-122"/>
                <a:cs typeface="Amiri" pitchFamily="34" charset="-120"/>
              </a:rPr>
              <a:t>ي</a:t>
            </a:r>
            <a:pPr algn="l" indent="0" marL="0">
              <a:buNone/>
            </a:pPr>
            <a:r>
              <a:rPr lang="en-US" sz="1300" b="1" dirty="0">
                <a:solidFill>
                  <a:srgbClr val="C9780A"/>
                </a:solidFill>
                <a:latin typeface="Calibri" pitchFamily="34" charset="0"/>
                <a:ea typeface="Calibri" pitchFamily="34" charset="-122"/>
                <a:cs typeface="Calibri" pitchFamily="34" charset="-120"/>
              </a:rPr>
              <a:t> are consonants or long vowels.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justify each choice with the correct term.</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recite all 28 letters and name the six breakers.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6 final letters, 2 special signs and 4 reading marks. After today: all 28 letters!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Letters 23–28 · 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لا and ء · 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Reading marks · 4</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فَتْحَةٌ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‎زبر‎ </a:t>
            </a:r>
            <a:pPr indent="0" marL="0">
              <a:buNone/>
            </a:pPr>
            <a:r>
              <a:rPr lang="en-US" sz="950" b="1" dirty="0">
                <a:solidFill>
                  <a:srgbClr val="2E8B57"/>
                </a:solidFill>
                <a:latin typeface="Calibri" pitchFamily="34" charset="0"/>
                <a:ea typeface="Calibri" pitchFamily="34" charset="-122"/>
                <a:cs typeface="Calibri" pitchFamily="34" charset="-120"/>
              </a:rPr>
              <a:t> zabar · fatḥa · short a</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ضَمَّةٌ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‎پیش‎ </a:t>
            </a:r>
            <a:pPr indent="0" marL="0">
              <a:buNone/>
            </a:pPr>
            <a:r>
              <a:rPr lang="en-US" sz="950" b="1" dirty="0">
                <a:solidFill>
                  <a:srgbClr val="2E8B57"/>
                </a:solidFill>
                <a:latin typeface="Calibri" pitchFamily="34" charset="0"/>
                <a:ea typeface="Calibri" pitchFamily="34" charset="-122"/>
                <a:cs typeface="Calibri" pitchFamily="34" charset="-120"/>
              </a:rPr>
              <a:t> pēsh · ḍamma · short u</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كَسْرَةٌ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‎زیر‎ </a:t>
            </a:r>
            <a:pPr indent="0" marL="0">
              <a:buNone/>
            </a:pPr>
            <a:r>
              <a:rPr lang="en-US" sz="950" b="1" dirty="0">
                <a:solidFill>
                  <a:srgbClr val="2E8B57"/>
                </a:solidFill>
                <a:latin typeface="Calibri" pitchFamily="34" charset="0"/>
                <a:ea typeface="Calibri" pitchFamily="34" charset="-122"/>
                <a:cs typeface="Calibri" pitchFamily="34" charset="-120"/>
              </a:rPr>
              <a:t> zēr · kasra · short i</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سُكُونٌ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‎جزم‎ </a:t>
            </a:r>
            <a:pPr indent="0" marL="0">
              <a:buNone/>
            </a:pPr>
            <a:r>
              <a:rPr lang="en-US" sz="950" b="1" dirty="0">
                <a:solidFill>
                  <a:srgbClr val="2E8B57"/>
                </a:solidFill>
                <a:latin typeface="Calibri" pitchFamily="34" charset="0"/>
                <a:ea typeface="Calibri" pitchFamily="34" charset="-122"/>
                <a:cs typeface="Calibri" pitchFamily="34" charset="-120"/>
              </a:rPr>
              <a:t> jazm · sukūn · no vowel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هَمْزَةٌ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‎ہمزہ‎ </a:t>
            </a:r>
            <a:pPr indent="0" marL="0">
              <a:buNone/>
            </a:pPr>
            <a:r>
              <a:rPr lang="en-US" sz="950" b="1" dirty="0">
                <a:solidFill>
                  <a:srgbClr val="2E8B57"/>
                </a:solidFill>
                <a:latin typeface="Calibri" pitchFamily="34" charset="0"/>
                <a:ea typeface="Calibri" pitchFamily="34" charset="-122"/>
                <a:cs typeface="Calibri" pitchFamily="34" charset="-120"/>
              </a:rPr>
              <a:t> hamza · hamza · /ʔ/</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LETTERS · LETTERS 23–28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last six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آخِرُ سِتَّةِ 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letter 23</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ل</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lām — /l/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tall stem · connector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لَامٌ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0" name="Shape 27"/>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letter 24</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م</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mīm — /m/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rounded head · connector</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مِيمٌ</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2" name="Shape 3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letter 25</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ن</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nūn — /n/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above · connector</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نُونٌ</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4" name="Shape 5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letter 26</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ه</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hāʾ — /h/ (hat)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open loop · connector</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هَاءٌ</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6" name="Shape 63"/>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letter 27</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و</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wāw — /w/ or long ū</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BREAKER</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وَاوٌ</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78" name="Shape 75"/>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letter 28</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ي</a:t>
            </a:r>
            <a:endParaRPr lang="ar-SA" sz="33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yāʾ — /y/ or long ī</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TWO dots BELOW · connector</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يَاءٌ</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ONE LETTER, MORE THAN ONE JOB (WEBSITE PART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wāw and yāʾ have two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الوَاوُ وَاليَاءُ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و · CONSONANT</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/w/</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وَ</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wa — wāw has its own vowel, so it is /w/.</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Compare: </a:t>
            </a:r>
            <a:pPr algn="l" indent="0" marL="0">
              <a:buNone/>
            </a:pPr>
            <a:r>
              <a:rPr lang="ar-SA" altLang="en-US" sz="1450" dirty="0">
                <a:solidFill>
                  <a:srgbClr val="1F2A37"/>
                </a:solidFill>
                <a:latin typeface="Amiri" pitchFamily="34" charset="0"/>
                <a:ea typeface="Amiri" pitchFamily="34" charset="-122"/>
                <a:cs typeface="Amiri" pitchFamily="34" charset="-120"/>
              </a:rPr>
              <a:t>بُو</a:t>
            </a:r>
            <a:pPr algn="l" indent="0" marL="0">
              <a:buNone/>
            </a:pPr>
            <a:r>
              <a:rPr lang="en-US" sz="1100" dirty="0">
                <a:solidFill>
                  <a:srgbClr val="1F2A37"/>
                </a:solidFill>
                <a:latin typeface="Calibri" pitchFamily="34" charset="0"/>
                <a:ea typeface="Calibri" pitchFamily="34" charset="-122"/>
                <a:cs typeface="Calibri" pitchFamily="34" charset="-120"/>
              </a:rPr>
              <a:t> = long ū (ḍamma before it matches).</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ي · CONSONANT</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/y/</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يَ</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ya — yāʾ has its own vowel, so it is /y/.</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Compare: </a:t>
            </a:r>
            <a:pPr algn="l" indent="0" marL="0">
              <a:buNone/>
            </a:pPr>
            <a:r>
              <a:rPr lang="ar-SA" altLang="en-US" sz="1450" dirty="0">
                <a:solidFill>
                  <a:srgbClr val="1F2A37"/>
                </a:solidFill>
                <a:latin typeface="Amiri" pitchFamily="34" charset="0"/>
                <a:ea typeface="Amiri" pitchFamily="34" charset="-122"/>
                <a:cs typeface="Amiri" pitchFamily="34" charset="-120"/>
              </a:rPr>
              <a:t>بِي</a:t>
            </a:r>
            <a:pPr algn="l" indent="0" marL="0">
              <a:buNone/>
            </a:pPr>
            <a:r>
              <a:rPr lang="en-US" sz="1100" dirty="0">
                <a:solidFill>
                  <a:srgbClr val="1F2A37"/>
                </a:solidFill>
                <a:latin typeface="Calibri" pitchFamily="34" charset="0"/>
                <a:ea typeface="Calibri" pitchFamily="34" charset="-122"/>
                <a:cs typeface="Calibri" pitchFamily="34" charset="-120"/>
              </a:rPr>
              <a:t> = long ī (kasra before it matches).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SIX BREAKERS</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ا د ذ ر ز و</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 د ذ ر ز و</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They do not join the NEXT letter (on their left).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ي</a:t>
            </a:r>
            <a:pPr algn="l" indent="0" marL="0">
              <a:buNone/>
            </a:pPr>
            <a:r>
              <a:rPr lang="en-US" sz="1100" dirty="0">
                <a:solidFill>
                  <a:srgbClr val="1F2A37"/>
                </a:solidFill>
                <a:latin typeface="Calibri" pitchFamily="34" charset="0"/>
                <a:ea typeface="Calibri" pitchFamily="34" charset="-122"/>
                <a:cs typeface="Calibri" pitchFamily="34" charset="-120"/>
              </a:rPr>
              <a:t> is a connector — it can join on both sides.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SPECIAL WRITING AWARENESS (WEBSITE PART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Two special signs: </a:t>
            </a:r>
            <a:pPr algn="l" indent="0" marL="0">
              <a:buNone/>
            </a:pPr>
            <a:r>
              <a:rPr lang="ar-SA" altLang="en-US" sz="3650" b="1" dirty="0">
                <a:solidFill>
                  <a:srgbClr val="1B3B6F"/>
                </a:solidFill>
                <a:latin typeface="Amiri" pitchFamily="34" charset="0"/>
                <a:ea typeface="Amiri" pitchFamily="34" charset="-122"/>
                <a:cs typeface="Amiri" pitchFamily="34" charset="-120"/>
              </a:rPr>
              <a:t>لا</a:t>
            </a:r>
            <a:pPr algn="l" indent="0" marL="0">
              <a:buNone/>
            </a:pPr>
            <a:r>
              <a:rPr lang="en-US" sz="2800" b="1" dirty="0">
                <a:solidFill>
                  <a:srgbClr val="1B3B6F"/>
                </a:solidFill>
                <a:latin typeface="Cambria" pitchFamily="34" charset="0"/>
                <a:ea typeface="Cambria" pitchFamily="34" charset="-122"/>
                <a:cs typeface="Cambria" pitchFamily="34" charset="-120"/>
              </a:rPr>
              <a:t> and </a:t>
            </a:r>
            <a:pPr algn="l" indent="0" marL="0">
              <a:buNone/>
            </a:pPr>
            <a:r>
              <a:rPr lang="ar-SA" altLang="en-US" sz="3650" b="1" dirty="0">
                <a:solidFill>
                  <a:srgbClr val="1B3B6F"/>
                </a:solidFill>
                <a:latin typeface="Amiri" pitchFamily="34" charset="0"/>
                <a:ea typeface="Amiri" pitchFamily="34" charset="-122"/>
                <a:cs typeface="Amiri" pitchFamily="34" charset="-120"/>
              </a:rPr>
              <a:t>ء</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لَامُ أَلِفٍ وَالهَمْزَةُ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LĀM + ALIF</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ل + ا ← لا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لَا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lā — no. Two letters in one special shape.</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Also in </a:t>
            </a:r>
            <a:pPr algn="l" indent="0" marL="0">
              <a:buNone/>
            </a:pPr>
            <a:r>
              <a:rPr lang="ar-SA" altLang="en-US" sz="1450" dirty="0">
                <a:solidFill>
                  <a:srgbClr val="1F2A37"/>
                </a:solidFill>
                <a:latin typeface="Amiri" pitchFamily="34" charset="0"/>
                <a:ea typeface="Amiri" pitchFamily="34" charset="-122"/>
                <a:cs typeface="Amiri" pitchFamily="34" charset="-120"/>
              </a:rPr>
              <a:t>سَلَامٌ</a:t>
            </a:r>
            <a:pPr algn="l" indent="0" marL="0">
              <a:buNone/>
            </a:pPr>
            <a:r>
              <a:rPr lang="en-US" sz="1100" dirty="0">
                <a:solidFill>
                  <a:srgbClr val="1F2A37"/>
                </a:solidFill>
                <a:latin typeface="Calibri" pitchFamily="34" charset="0"/>
                <a:ea typeface="Calibri" pitchFamily="34" charset="-122"/>
                <a:cs typeface="Calibri" pitchFamily="34" charset="-120"/>
              </a:rPr>
              <a:t> (peace). It is NOT a 29th letter.</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61722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HAMZA</a:t>
            </a:r>
            <a:endParaRPr lang="en-US" sz="850" dirty="0"/>
          </a:p>
        </p:txBody>
      </p:sp>
      <p:sp>
        <p:nvSpPr>
          <p:cNvPr id="26" name="Text 23"/>
          <p:cNvSpPr txBox="1"/>
          <p:nvPr/>
        </p:nvSpPr>
        <p:spPr>
          <a:xfrm>
            <a:off x="5076444"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ء /ʔ/</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ء  أ  ؤ  ئ</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 “catch” in the throat, like the break in “uh-oh”.</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It can sit alone or on a seat. Seat rules come in F1-L06.</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8A6D1E"/>
          </a:solidFill>
          <a:ln w="12700">
            <a:solidFill>
              <a:srgbClr val="8A6D1E"/>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ACCURACY</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الله</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الله</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This word has no </a:t>
            </a:r>
            <a:pPr algn="ctr" indent="0" marL="0">
              <a:buNone/>
            </a:pPr>
            <a:r>
              <a:rPr lang="ar-SA" altLang="en-US" sz="1550" dirty="0">
                <a:solidFill>
                  <a:srgbClr val="5A6472"/>
                </a:solidFill>
                <a:latin typeface="Amiri" pitchFamily="34" charset="0"/>
                <a:ea typeface="Amiri" pitchFamily="34" charset="-122"/>
                <a:cs typeface="Amiri" pitchFamily="34" charset="-120"/>
              </a:rPr>
              <a:t>لا</a:t>
            </a:r>
            <a:pPr algn="ctr" indent="0" marL="0">
              <a:buNone/>
            </a:pPr>
            <a:r>
              <a:rPr lang="en-US" sz="1200" i="1" dirty="0">
                <a:solidFill>
                  <a:srgbClr val="5A6472"/>
                </a:solidFill>
                <a:latin typeface="Calibri" pitchFamily="34" charset="0"/>
                <a:ea typeface="Calibri" pitchFamily="34" charset="-122"/>
                <a:cs typeface="Calibri" pitchFamily="34" charset="-120"/>
              </a:rPr>
              <a:t> shape.</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Website note: it is not an example of lām + alif.</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THE FOUR READING MARKS (WEBSITE PART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Make the letters readable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الحَرَكَاتُ القَصِيرَةُ وَالسُّكُونُ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a:t>
            </a:r>
            <a:endParaRPr lang="en-US" sz="1100" dirty="0"/>
          </a:p>
        </p:txBody>
      </p:sp>
      <p:sp>
        <p:nvSpPr>
          <p:cNvPr id="17" name="Text 14"/>
          <p:cNvSpPr txBox="1"/>
          <p:nvPr/>
        </p:nvSpPr>
        <p:spPr>
          <a:xfrm>
            <a:off x="7690104"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Where?</a:t>
            </a:r>
            <a:endParaRPr lang="en-US" sz="1100" dirty="0"/>
          </a:p>
        </p:txBody>
      </p:sp>
      <p:sp>
        <p:nvSpPr>
          <p:cNvPr id="18" name="Text 15"/>
          <p:cNvSpPr txBox="1"/>
          <p:nvPr/>
        </p:nvSpPr>
        <p:spPr>
          <a:xfrm>
            <a:off x="58613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 </a:t>
            </a:r>
            <a:pPr algn="ctr" indent="0" marL="0">
              <a:buNone/>
            </a:pPr>
            <a:r>
              <a:rPr lang="ar-SA" altLang="en-US" sz="1450" b="1" dirty="0">
                <a:solidFill>
                  <a:srgbClr val="FFFFFF"/>
                </a:solidFill>
                <a:latin typeface="Amiri" pitchFamily="34" charset="0"/>
                <a:ea typeface="Amiri" pitchFamily="34" charset="-122"/>
                <a:cs typeface="Amiri" pitchFamily="34" charset="-120"/>
              </a:rPr>
              <a:t>ب</a:t>
            </a:r>
            <a:endParaRPr lang="en-US" sz="1100" dirty="0"/>
          </a:p>
        </p:txBody>
      </p:sp>
      <p:sp>
        <p:nvSpPr>
          <p:cNvPr id="19" name="Text 16"/>
          <p:cNvSpPr txBox="1"/>
          <p:nvPr/>
        </p:nvSpPr>
        <p:spPr>
          <a:xfrm>
            <a:off x="421538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Say</a:t>
            </a:r>
            <a:endParaRPr lang="en-US" sz="1100" dirty="0"/>
          </a:p>
        </p:txBody>
      </p:sp>
      <p:sp>
        <p:nvSpPr>
          <p:cNvPr id="20" name="Text 17"/>
          <p:cNvSpPr txBox="1"/>
          <p:nvPr/>
        </p:nvSpPr>
        <p:spPr>
          <a:xfrm>
            <a:off x="530352" y="1810512"/>
            <a:ext cx="3538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 word</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fatḥa  </a:t>
            </a:r>
            <a:pPr algn="l" indent="0" marL="0">
              <a:buNone/>
            </a:pPr>
            <a:r>
              <a:rPr lang="ar-SA" altLang="en-US" sz="1450" dirty="0">
                <a:solidFill>
                  <a:srgbClr val="5A6472"/>
                </a:solidFill>
                <a:latin typeface="Amiri" pitchFamily="34" charset="0"/>
                <a:ea typeface="Amiri" pitchFamily="34" charset="-122"/>
                <a:cs typeface="Amiri" pitchFamily="34" charset="-120"/>
              </a:rPr>
              <a:t>فَتْحَةٌ</a:t>
            </a:r>
            <a:endParaRPr lang="en-US" sz="1100" dirty="0"/>
          </a:p>
        </p:txBody>
      </p:sp>
      <p:sp>
        <p:nvSpPr>
          <p:cNvPr id="23" name="Text 20"/>
          <p:cNvSpPr txBox="1"/>
          <p:nvPr/>
        </p:nvSpPr>
        <p:spPr>
          <a:xfrm>
            <a:off x="7726680"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small line ABOVE</a:t>
            </a:r>
            <a:endParaRPr lang="en-US" sz="1100" dirty="0"/>
          </a:p>
        </p:txBody>
      </p:sp>
      <p:sp>
        <p:nvSpPr>
          <p:cNvPr id="24" name="Text 21"/>
          <p:cNvSpPr txBox="1"/>
          <p:nvPr/>
        </p:nvSpPr>
        <p:spPr>
          <a:xfrm>
            <a:off x="5879592" y="2267712"/>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بَ</a:t>
            </a:r>
            <a:endParaRPr lang="ar-SA" sz="3400" dirty="0"/>
          </a:p>
        </p:txBody>
      </p:sp>
      <p:sp>
        <p:nvSpPr>
          <p:cNvPr id="25" name="Text 22"/>
          <p:cNvSpPr txBox="1"/>
          <p:nvPr/>
        </p:nvSpPr>
        <p:spPr>
          <a:xfrm>
            <a:off x="4251960" y="2267712"/>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a:t>
            </a:r>
            <a:endParaRPr lang="en-US" sz="1100" dirty="0"/>
          </a:p>
        </p:txBody>
      </p:sp>
      <p:sp>
        <p:nvSpPr>
          <p:cNvPr id="26" name="Text 23"/>
          <p:cNvSpPr txBox="1"/>
          <p:nvPr/>
        </p:nvSpPr>
        <p:spPr>
          <a:xfrm>
            <a:off x="548640" y="2286000"/>
            <a:ext cx="35021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كَتَبَ</a:t>
            </a:r>
            <a:endParaRPr lang="ar-SA" sz="2100" dirty="0"/>
          </a:p>
        </p:txBody>
      </p:sp>
      <p:sp>
        <p:nvSpPr>
          <p:cNvPr id="27" name="Text 24"/>
          <p:cNvSpPr txBox="1"/>
          <p:nvPr/>
        </p:nvSpPr>
        <p:spPr>
          <a:xfrm>
            <a:off x="502920" y="2706624"/>
            <a:ext cx="35935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kataba · he wrote (three fatḥas)</a:t>
            </a:r>
            <a:endParaRPr lang="en-US" sz="95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ḍamma  </a:t>
            </a:r>
            <a:pPr algn="l" indent="0" marL="0">
              <a:buNone/>
            </a:pPr>
            <a:r>
              <a:rPr lang="ar-SA" altLang="en-US" sz="1450" dirty="0">
                <a:solidFill>
                  <a:srgbClr val="5A6472"/>
                </a:solidFill>
                <a:latin typeface="Amiri" pitchFamily="34" charset="0"/>
                <a:ea typeface="Amiri" pitchFamily="34" charset="-122"/>
                <a:cs typeface="Amiri" pitchFamily="34" charset="-120"/>
              </a:rPr>
              <a:t>ضَمَّةٌ</a:t>
            </a:r>
            <a:endParaRPr lang="en-US" sz="1100" dirty="0"/>
          </a:p>
        </p:txBody>
      </p:sp>
      <p:sp>
        <p:nvSpPr>
          <p:cNvPr id="32" name="Text 29"/>
          <p:cNvSpPr txBox="1"/>
          <p:nvPr/>
        </p:nvSpPr>
        <p:spPr>
          <a:xfrm>
            <a:off x="7726680"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small curl ABOVE</a:t>
            </a:r>
            <a:endParaRPr lang="en-US" sz="1100" dirty="0"/>
          </a:p>
        </p:txBody>
      </p:sp>
      <p:sp>
        <p:nvSpPr>
          <p:cNvPr id="33" name="Text 30"/>
          <p:cNvSpPr txBox="1"/>
          <p:nvPr/>
        </p:nvSpPr>
        <p:spPr>
          <a:xfrm>
            <a:off x="5879592" y="3054096"/>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بُ</a:t>
            </a:r>
            <a:endParaRPr lang="ar-SA" sz="3400" dirty="0"/>
          </a:p>
        </p:txBody>
      </p:sp>
      <p:sp>
        <p:nvSpPr>
          <p:cNvPr id="34" name="Text 31"/>
          <p:cNvSpPr txBox="1"/>
          <p:nvPr/>
        </p:nvSpPr>
        <p:spPr>
          <a:xfrm>
            <a:off x="4251960" y="3054096"/>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bu</a:t>
            </a:r>
            <a:endParaRPr lang="en-US" sz="1100" dirty="0"/>
          </a:p>
        </p:txBody>
      </p:sp>
      <p:sp>
        <p:nvSpPr>
          <p:cNvPr id="35" name="Text 32"/>
          <p:cNvSpPr txBox="1"/>
          <p:nvPr/>
        </p:nvSpPr>
        <p:spPr>
          <a:xfrm>
            <a:off x="548640" y="3072384"/>
            <a:ext cx="35021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هُوَ</a:t>
            </a:r>
            <a:endParaRPr lang="ar-SA" sz="2100" dirty="0"/>
          </a:p>
        </p:txBody>
      </p:sp>
      <p:sp>
        <p:nvSpPr>
          <p:cNvPr id="36" name="Text 33"/>
          <p:cNvSpPr txBox="1"/>
          <p:nvPr/>
        </p:nvSpPr>
        <p:spPr>
          <a:xfrm>
            <a:off x="502920" y="3493008"/>
            <a:ext cx="35935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huwa · he</a:t>
            </a:r>
            <a:endParaRPr lang="en-US" sz="950" dirty="0"/>
          </a:p>
        </p:txBody>
      </p:sp>
      <p:sp>
        <p:nvSpPr>
          <p:cNvPr id="37" name="Shape 34"/>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9" name="Shape 3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0" name="Text 37"/>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kasra  </a:t>
            </a:r>
            <a:pPr algn="l" indent="0" marL="0">
              <a:buNone/>
            </a:pPr>
            <a:r>
              <a:rPr lang="ar-SA" altLang="en-US" sz="1450" dirty="0">
                <a:solidFill>
                  <a:srgbClr val="5A6472"/>
                </a:solidFill>
                <a:latin typeface="Amiri" pitchFamily="34" charset="0"/>
                <a:ea typeface="Amiri" pitchFamily="34" charset="-122"/>
                <a:cs typeface="Amiri" pitchFamily="34" charset="-120"/>
              </a:rPr>
              <a:t>كَسْرَةٌ</a:t>
            </a:r>
            <a:endParaRPr lang="en-US" sz="1100" dirty="0"/>
          </a:p>
        </p:txBody>
      </p:sp>
      <p:sp>
        <p:nvSpPr>
          <p:cNvPr id="41" name="Text 38"/>
          <p:cNvSpPr txBox="1"/>
          <p:nvPr/>
        </p:nvSpPr>
        <p:spPr>
          <a:xfrm>
            <a:off x="7726680"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small line BELOW</a:t>
            </a:r>
            <a:endParaRPr lang="en-US" sz="1100" dirty="0"/>
          </a:p>
        </p:txBody>
      </p:sp>
      <p:sp>
        <p:nvSpPr>
          <p:cNvPr id="42" name="Text 39"/>
          <p:cNvSpPr txBox="1"/>
          <p:nvPr/>
        </p:nvSpPr>
        <p:spPr>
          <a:xfrm>
            <a:off x="5879592" y="3840480"/>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بِ</a:t>
            </a:r>
            <a:endParaRPr lang="ar-SA" sz="3400" dirty="0"/>
          </a:p>
        </p:txBody>
      </p:sp>
      <p:sp>
        <p:nvSpPr>
          <p:cNvPr id="43" name="Text 40"/>
          <p:cNvSpPr txBox="1"/>
          <p:nvPr/>
        </p:nvSpPr>
        <p:spPr>
          <a:xfrm>
            <a:off x="4251960" y="3840480"/>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a:t>
            </a:r>
            <a:endParaRPr lang="en-US" sz="1100" dirty="0"/>
          </a:p>
        </p:txBody>
      </p:sp>
      <p:sp>
        <p:nvSpPr>
          <p:cNvPr id="44" name="Text 41"/>
          <p:cNvSpPr txBox="1"/>
          <p:nvPr/>
        </p:nvSpPr>
        <p:spPr>
          <a:xfrm>
            <a:off x="548640" y="3858768"/>
            <a:ext cx="35021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فَهِمَ</a:t>
            </a:r>
            <a:endParaRPr lang="ar-SA" sz="2100" dirty="0"/>
          </a:p>
        </p:txBody>
      </p:sp>
      <p:sp>
        <p:nvSpPr>
          <p:cNvPr id="45" name="Text 42"/>
          <p:cNvSpPr txBox="1"/>
          <p:nvPr/>
        </p:nvSpPr>
        <p:spPr>
          <a:xfrm>
            <a:off x="502920" y="4279392"/>
            <a:ext cx="35935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fahima · he understood</a:t>
            </a:r>
            <a:endParaRPr lang="en-US" sz="950" dirty="0"/>
          </a:p>
        </p:txBody>
      </p:sp>
      <p:sp>
        <p:nvSpPr>
          <p:cNvPr id="46" name="Shape 43"/>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sukūn  </a:t>
            </a:r>
            <a:pPr algn="l" indent="0" marL="0">
              <a:buNone/>
            </a:pPr>
            <a:r>
              <a:rPr lang="ar-SA" altLang="en-US" sz="1450" dirty="0">
                <a:solidFill>
                  <a:srgbClr val="5A6472"/>
                </a:solidFill>
                <a:latin typeface="Amiri" pitchFamily="34" charset="0"/>
                <a:ea typeface="Amiri" pitchFamily="34" charset="-122"/>
                <a:cs typeface="Amiri" pitchFamily="34" charset="-120"/>
              </a:rPr>
              <a:t>سُكُونٌ</a:t>
            </a:r>
            <a:endParaRPr lang="en-US" sz="1100" dirty="0"/>
          </a:p>
        </p:txBody>
      </p:sp>
      <p:sp>
        <p:nvSpPr>
          <p:cNvPr id="50" name="Text 47"/>
          <p:cNvSpPr txBox="1"/>
          <p:nvPr/>
        </p:nvSpPr>
        <p:spPr>
          <a:xfrm>
            <a:off x="7726680" y="4626864"/>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small circle ABOVE</a:t>
            </a:r>
            <a:endParaRPr lang="en-US" sz="1100" dirty="0"/>
          </a:p>
        </p:txBody>
      </p:sp>
      <p:sp>
        <p:nvSpPr>
          <p:cNvPr id="51" name="Text 48"/>
          <p:cNvSpPr txBox="1"/>
          <p:nvPr/>
        </p:nvSpPr>
        <p:spPr>
          <a:xfrm>
            <a:off x="5879592" y="4626864"/>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بْ</a:t>
            </a:r>
            <a:endParaRPr lang="ar-SA" sz="3400" dirty="0"/>
          </a:p>
        </p:txBody>
      </p:sp>
      <p:sp>
        <p:nvSpPr>
          <p:cNvPr id="52" name="Text 49"/>
          <p:cNvSpPr txBox="1"/>
          <p:nvPr/>
        </p:nvSpPr>
        <p:spPr>
          <a:xfrm>
            <a:off x="4251960" y="4626864"/>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 (no vowel)</a:t>
            </a:r>
            <a:endParaRPr lang="en-US" sz="1100" dirty="0"/>
          </a:p>
        </p:txBody>
      </p:sp>
      <p:sp>
        <p:nvSpPr>
          <p:cNvPr id="53" name="Text 50"/>
          <p:cNvSpPr txBox="1"/>
          <p:nvPr/>
        </p:nvSpPr>
        <p:spPr>
          <a:xfrm>
            <a:off x="548640" y="4645152"/>
            <a:ext cx="35021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مِنْ</a:t>
            </a:r>
            <a:endParaRPr lang="ar-SA" sz="2100" dirty="0"/>
          </a:p>
        </p:txBody>
      </p:sp>
      <p:sp>
        <p:nvSpPr>
          <p:cNvPr id="54" name="Text 51"/>
          <p:cNvSpPr txBox="1"/>
          <p:nvPr/>
        </p:nvSpPr>
        <p:spPr>
          <a:xfrm>
            <a:off x="502920" y="5065776"/>
            <a:ext cx="35935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min · from</a:t>
            </a:r>
            <a:endParaRPr lang="en-US" sz="950" dirty="0"/>
          </a:p>
        </p:txBody>
      </p:sp>
      <p:sp>
        <p:nvSpPr>
          <p:cNvPr id="55" name="Shape 52"/>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final letter in the 28-letter sequence?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final-group letter breaks before the next letter?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a:t>
            </a:r>
            <a:pPr algn="l" indent="0" marL="0">
              <a:buNone/>
            </a:pPr>
            <a:r>
              <a:rPr lang="ar-SA" altLang="en-US" sz="1650" b="1" dirty="0">
                <a:solidFill>
                  <a:srgbClr val="1B3B6F"/>
                </a:solidFill>
                <a:latin typeface="Amiri" pitchFamily="34" charset="0"/>
                <a:ea typeface="Amiri" pitchFamily="34" charset="-122"/>
                <a:cs typeface="Amiri" pitchFamily="34" charset="-120"/>
              </a:rPr>
              <a:t>مُ</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mi</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a:t>
            </a:r>
            <a:pPr algn="l" indent="0" marL="0">
              <a:buNone/>
            </a:pPr>
            <a:r>
              <a:rPr lang="ar-SA" altLang="en-US" sz="1650" b="1" dirty="0">
                <a:solidFill>
                  <a:srgbClr val="1B3B6F"/>
                </a:solidFill>
                <a:latin typeface="Amiri" pitchFamily="34" charset="0"/>
                <a:ea typeface="Amiri" pitchFamily="34" charset="-122"/>
                <a:cs typeface="Amiri" pitchFamily="34" charset="-120"/>
              </a:rPr>
              <a:t>نِ</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ni</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na</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nu</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final letter in the 28-letter sequence?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ء</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a:t>
            </a:r>
            <a:pPr algn="l" indent="0" marL="0">
              <a:buNone/>
            </a:pPr>
            <a:r>
              <a:rPr lang="en-US" sz="1050" i="1" dirty="0">
                <a:solidFill>
                  <a:srgbClr val="8A6D1E"/>
                </a:solidFill>
                <a:latin typeface="Calibri" pitchFamily="34" charset="0"/>
                <a:ea typeface="Calibri" pitchFamily="34" charset="-122"/>
                <a:cs typeface="Calibri" pitchFamily="34" charset="-120"/>
              </a:rPr>
              <a:t> yāʾ is letter 28 (website final check 2).</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final-group letter breaks before the next letter?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a:t>
            </a:r>
            <a:pPr algn="l" indent="0" marL="0">
              <a:buNone/>
            </a:pPr>
            <a:r>
              <a:rPr lang="en-US" sz="1050" i="1" dirty="0">
                <a:solidFill>
                  <a:srgbClr val="8A6D1E"/>
                </a:solidFill>
                <a:latin typeface="Calibri" pitchFamily="34" charset="0"/>
                <a:ea typeface="Calibri" pitchFamily="34" charset="-122"/>
                <a:cs typeface="Calibri" pitchFamily="34" charset="-120"/>
              </a:rPr>
              <a:t> wāw is a breaker (website final check 3).</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a:t>
            </a:r>
            <a:pPr algn="l" indent="0" marL="0">
              <a:buNone/>
            </a:pPr>
            <a:r>
              <a:rPr lang="ar-SA" altLang="en-US" sz="1650" b="1" dirty="0">
                <a:solidFill>
                  <a:srgbClr val="1B3B6F"/>
                </a:solidFill>
                <a:latin typeface="Amiri" pitchFamily="34" charset="0"/>
                <a:ea typeface="Amiri" pitchFamily="34" charset="-122"/>
                <a:cs typeface="Amiri" pitchFamily="34" charset="-120"/>
              </a:rPr>
              <a:t>مُ</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mu</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mi</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ḍamma = u (website final check 7).</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a:t>
            </a:r>
            <a:pPr algn="l" indent="0" marL="0">
              <a:buNone/>
            </a:pPr>
            <a:r>
              <a:rPr lang="ar-SA" altLang="en-US" sz="1650" b="1" dirty="0">
                <a:solidFill>
                  <a:srgbClr val="1B3B6F"/>
                </a:solidFill>
                <a:latin typeface="Amiri" pitchFamily="34" charset="0"/>
                <a:ea typeface="Amiri" pitchFamily="34" charset="-122"/>
                <a:cs typeface="Amiri" pitchFamily="34" charset="-120"/>
              </a:rPr>
              <a:t>نِ</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ni</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na</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nu</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kasra = i (website final check 8).</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WATCH → AIR-WRITE → TRACE → COPY (WEBSITE FORMATION TRACKER)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Watch me write the last six letters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8083296" y="181051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326868" y="188366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ل</a:t>
            </a:r>
            <a:endParaRPr lang="ar-SA" sz="5050" dirty="0"/>
          </a:p>
        </p:txBody>
      </p:sp>
      <p:sp>
        <p:nvSpPr>
          <p:cNvPr id="17" name="Text 14"/>
          <p:cNvSpPr txBox="1"/>
          <p:nvPr/>
        </p:nvSpPr>
        <p:spPr>
          <a:xfrm>
            <a:off x="10326868" y="293741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لَام</a:t>
            </a:r>
            <a:endParaRPr lang="ar-SA" sz="1450" dirty="0"/>
          </a:p>
        </p:txBody>
      </p:sp>
      <p:sp>
        <p:nvSpPr>
          <p:cNvPr id="18" name="Shape 15"/>
          <p:cNvSpPr/>
          <p:nvPr/>
        </p:nvSpPr>
        <p:spPr>
          <a:xfrm>
            <a:off x="8220456"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822045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7"/>
          <p:cNvSpPr txBox="1"/>
          <p:nvPr/>
        </p:nvSpPr>
        <p:spPr>
          <a:xfrm>
            <a:off x="8531352" y="191109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tall stroke down from the top.</a:t>
            </a:r>
            <a:endParaRPr lang="en-US" sz="1050" dirty="0"/>
          </a:p>
        </p:txBody>
      </p:sp>
      <p:sp>
        <p:nvSpPr>
          <p:cNvPr id="21" name="Shape 18"/>
          <p:cNvSpPr/>
          <p:nvPr/>
        </p:nvSpPr>
        <p:spPr>
          <a:xfrm>
            <a:off x="8220456" y="2377440"/>
            <a:ext cx="237744" cy="237744"/>
          </a:xfrm>
          <a:prstGeom prst="ellipse">
            <a:avLst/>
          </a:prstGeom>
          <a:solidFill>
            <a:srgbClr val="6B4C9A"/>
          </a:solidFill>
          <a:ln w="12700">
            <a:solidFill>
              <a:srgbClr val="6B4C9A"/>
            </a:solidFill>
            <a:prstDash val="solid"/>
          </a:ln>
        </p:spPr>
      </p:sp>
      <p:sp>
        <p:nvSpPr>
          <p:cNvPr id="22" name="Text 19"/>
          <p:cNvSpPr txBox="1"/>
          <p:nvPr/>
        </p:nvSpPr>
        <p:spPr>
          <a:xfrm>
            <a:off x="8220456"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3" name="Text 20"/>
          <p:cNvSpPr txBox="1"/>
          <p:nvPr/>
        </p:nvSpPr>
        <p:spPr>
          <a:xfrm>
            <a:off x="8531352" y="233172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Curve round below the line.</a:t>
            </a:r>
            <a:endParaRPr lang="en-US" sz="1050" dirty="0"/>
          </a:p>
        </p:txBody>
      </p:sp>
      <p:sp>
        <p:nvSpPr>
          <p:cNvPr id="24" name="Shape 21"/>
          <p:cNvSpPr/>
          <p:nvPr/>
        </p:nvSpPr>
        <p:spPr>
          <a:xfrm>
            <a:off x="8220456" y="3813048"/>
            <a:ext cx="3374136" cy="0"/>
          </a:xfrm>
          <a:prstGeom prst="line">
            <a:avLst/>
          </a:prstGeom>
          <a:noFill/>
          <a:ln w="9525">
            <a:solidFill>
              <a:srgbClr val="C9BFA8"/>
            </a:solidFill>
            <a:prstDash val="dash"/>
          </a:ln>
        </p:spPr>
      </p:sp>
      <p:sp>
        <p:nvSpPr>
          <p:cNvPr id="25" name="Text 22"/>
          <p:cNvSpPr txBox="1"/>
          <p:nvPr/>
        </p:nvSpPr>
        <p:spPr>
          <a:xfrm>
            <a:off x="10919765"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ل</a:t>
            </a:r>
            <a:endParaRPr lang="ar-SA" sz="2600" dirty="0"/>
          </a:p>
        </p:txBody>
      </p:sp>
      <p:sp>
        <p:nvSpPr>
          <p:cNvPr id="26" name="Text 23"/>
          <p:cNvSpPr txBox="1"/>
          <p:nvPr/>
        </p:nvSpPr>
        <p:spPr>
          <a:xfrm>
            <a:off x="10244938"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ل</a:t>
            </a:r>
            <a:endParaRPr lang="ar-SA" sz="2600" dirty="0"/>
          </a:p>
        </p:txBody>
      </p:sp>
      <p:sp>
        <p:nvSpPr>
          <p:cNvPr id="27" name="Text 24"/>
          <p:cNvSpPr txBox="1"/>
          <p:nvPr/>
        </p:nvSpPr>
        <p:spPr>
          <a:xfrm>
            <a:off x="9570110"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ل</a:t>
            </a:r>
            <a:endParaRPr lang="ar-SA" sz="2600" dirty="0"/>
          </a:p>
        </p:txBody>
      </p:sp>
      <p:sp>
        <p:nvSpPr>
          <p:cNvPr id="28" name="Text 25"/>
          <p:cNvSpPr txBox="1"/>
          <p:nvPr/>
        </p:nvSpPr>
        <p:spPr>
          <a:xfrm>
            <a:off x="8895283"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29" name="Text 26"/>
          <p:cNvSpPr txBox="1"/>
          <p:nvPr/>
        </p:nvSpPr>
        <p:spPr>
          <a:xfrm>
            <a:off x="8220456"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30" name="Shape 27"/>
          <p:cNvSpPr/>
          <p:nvPr/>
        </p:nvSpPr>
        <p:spPr>
          <a:xfrm>
            <a:off x="4270248" y="181051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Text 28"/>
          <p:cNvSpPr txBox="1"/>
          <p:nvPr/>
        </p:nvSpPr>
        <p:spPr>
          <a:xfrm>
            <a:off x="6513820" y="188366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م</a:t>
            </a:r>
            <a:endParaRPr lang="ar-SA" sz="5050" dirty="0"/>
          </a:p>
        </p:txBody>
      </p:sp>
      <p:sp>
        <p:nvSpPr>
          <p:cNvPr id="32" name="Text 29"/>
          <p:cNvSpPr txBox="1"/>
          <p:nvPr/>
        </p:nvSpPr>
        <p:spPr>
          <a:xfrm>
            <a:off x="6513820" y="293741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مِيم</a:t>
            </a:r>
            <a:endParaRPr lang="ar-SA" sz="1450" dirty="0"/>
          </a:p>
        </p:txBody>
      </p:sp>
      <p:sp>
        <p:nvSpPr>
          <p:cNvPr id="33" name="Shape 30"/>
          <p:cNvSpPr/>
          <p:nvPr/>
        </p:nvSpPr>
        <p:spPr>
          <a:xfrm>
            <a:off x="4407408" y="1956816"/>
            <a:ext cx="237744" cy="237744"/>
          </a:xfrm>
          <a:prstGeom prst="ellipse">
            <a:avLst/>
          </a:prstGeom>
          <a:solidFill>
            <a:srgbClr val="6B4C9A"/>
          </a:solidFill>
          <a:ln w="12700">
            <a:solidFill>
              <a:srgbClr val="6B4C9A"/>
            </a:solidFill>
            <a:prstDash val="solid"/>
          </a:ln>
        </p:spPr>
      </p:sp>
      <p:sp>
        <p:nvSpPr>
          <p:cNvPr id="34" name="Text 31"/>
          <p:cNvSpPr txBox="1"/>
          <p:nvPr/>
        </p:nvSpPr>
        <p:spPr>
          <a:xfrm>
            <a:off x="440740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5" name="Text 32"/>
          <p:cNvSpPr txBox="1"/>
          <p:nvPr/>
        </p:nvSpPr>
        <p:spPr>
          <a:xfrm>
            <a:off x="4718304" y="191109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small round head on the line.</a:t>
            </a:r>
            <a:endParaRPr lang="en-US" sz="1050" dirty="0"/>
          </a:p>
        </p:txBody>
      </p:sp>
      <p:sp>
        <p:nvSpPr>
          <p:cNvPr id="36" name="Shape 33"/>
          <p:cNvSpPr/>
          <p:nvPr/>
        </p:nvSpPr>
        <p:spPr>
          <a:xfrm>
            <a:off x="4407408" y="2377440"/>
            <a:ext cx="237744" cy="237744"/>
          </a:xfrm>
          <a:prstGeom prst="ellipse">
            <a:avLst/>
          </a:prstGeom>
          <a:solidFill>
            <a:srgbClr val="6B4C9A"/>
          </a:solidFill>
          <a:ln w="12700">
            <a:solidFill>
              <a:srgbClr val="6B4C9A"/>
            </a:solidFill>
            <a:prstDash val="solid"/>
          </a:ln>
        </p:spPr>
      </p:sp>
      <p:sp>
        <p:nvSpPr>
          <p:cNvPr id="37" name="Text 34"/>
          <p:cNvSpPr txBox="1"/>
          <p:nvPr/>
        </p:nvSpPr>
        <p:spPr>
          <a:xfrm>
            <a:off x="4407408"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8" name="Text 35"/>
          <p:cNvSpPr txBox="1"/>
          <p:nvPr/>
        </p:nvSpPr>
        <p:spPr>
          <a:xfrm>
            <a:off x="4718304" y="233172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straight tail down.</a:t>
            </a:r>
            <a:endParaRPr lang="en-US" sz="1050" dirty="0"/>
          </a:p>
        </p:txBody>
      </p:sp>
      <p:sp>
        <p:nvSpPr>
          <p:cNvPr id="39" name="Shape 36"/>
          <p:cNvSpPr/>
          <p:nvPr/>
        </p:nvSpPr>
        <p:spPr>
          <a:xfrm>
            <a:off x="4407408" y="3813048"/>
            <a:ext cx="3374136" cy="0"/>
          </a:xfrm>
          <a:prstGeom prst="line">
            <a:avLst/>
          </a:prstGeom>
          <a:noFill/>
          <a:ln w="9525">
            <a:solidFill>
              <a:srgbClr val="C9BFA8"/>
            </a:solidFill>
            <a:prstDash val="dash"/>
          </a:ln>
        </p:spPr>
      </p:sp>
      <p:sp>
        <p:nvSpPr>
          <p:cNvPr id="40" name="Text 37"/>
          <p:cNvSpPr txBox="1"/>
          <p:nvPr/>
        </p:nvSpPr>
        <p:spPr>
          <a:xfrm>
            <a:off x="7106717"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م</a:t>
            </a:r>
            <a:endParaRPr lang="ar-SA" sz="2600" dirty="0"/>
          </a:p>
        </p:txBody>
      </p:sp>
      <p:sp>
        <p:nvSpPr>
          <p:cNvPr id="41" name="Text 38"/>
          <p:cNvSpPr txBox="1"/>
          <p:nvPr/>
        </p:nvSpPr>
        <p:spPr>
          <a:xfrm>
            <a:off x="6431890"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م</a:t>
            </a:r>
            <a:endParaRPr lang="ar-SA" sz="2600" dirty="0"/>
          </a:p>
        </p:txBody>
      </p:sp>
      <p:sp>
        <p:nvSpPr>
          <p:cNvPr id="42" name="Text 39"/>
          <p:cNvSpPr txBox="1"/>
          <p:nvPr/>
        </p:nvSpPr>
        <p:spPr>
          <a:xfrm>
            <a:off x="5757062"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م</a:t>
            </a:r>
            <a:endParaRPr lang="ar-SA" sz="2600" dirty="0"/>
          </a:p>
        </p:txBody>
      </p:sp>
      <p:sp>
        <p:nvSpPr>
          <p:cNvPr id="43" name="Text 40"/>
          <p:cNvSpPr txBox="1"/>
          <p:nvPr/>
        </p:nvSpPr>
        <p:spPr>
          <a:xfrm>
            <a:off x="5082235"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4" name="Text 41"/>
          <p:cNvSpPr txBox="1"/>
          <p:nvPr/>
        </p:nvSpPr>
        <p:spPr>
          <a:xfrm>
            <a:off x="4407408"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5" name="Shape 42"/>
          <p:cNvSpPr/>
          <p:nvPr/>
        </p:nvSpPr>
        <p:spPr>
          <a:xfrm>
            <a:off x="457200" y="181051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2700772" y="188366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ن</a:t>
            </a:r>
            <a:endParaRPr lang="ar-SA" sz="5050" dirty="0"/>
          </a:p>
        </p:txBody>
      </p:sp>
      <p:sp>
        <p:nvSpPr>
          <p:cNvPr id="47" name="Text 44"/>
          <p:cNvSpPr txBox="1"/>
          <p:nvPr/>
        </p:nvSpPr>
        <p:spPr>
          <a:xfrm>
            <a:off x="2700772" y="293741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نُون</a:t>
            </a:r>
            <a:endParaRPr lang="ar-SA" sz="1450" dirty="0"/>
          </a:p>
        </p:txBody>
      </p:sp>
      <p:sp>
        <p:nvSpPr>
          <p:cNvPr id="48" name="Shape 45"/>
          <p:cNvSpPr/>
          <p:nvPr/>
        </p:nvSpPr>
        <p:spPr>
          <a:xfrm>
            <a:off x="594360" y="1956816"/>
            <a:ext cx="237744" cy="237744"/>
          </a:xfrm>
          <a:prstGeom prst="ellipse">
            <a:avLst/>
          </a:prstGeom>
          <a:solidFill>
            <a:srgbClr val="6B4C9A"/>
          </a:solidFill>
          <a:ln w="12700">
            <a:solidFill>
              <a:srgbClr val="6B4C9A"/>
            </a:solidFill>
            <a:prstDash val="solid"/>
          </a:ln>
        </p:spPr>
      </p:sp>
      <p:sp>
        <p:nvSpPr>
          <p:cNvPr id="49" name="Text 46"/>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0" name="Text 47"/>
          <p:cNvSpPr txBox="1"/>
          <p:nvPr/>
        </p:nvSpPr>
        <p:spPr>
          <a:xfrm>
            <a:off x="905256" y="191109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deep round bowl.</a:t>
            </a:r>
            <a:endParaRPr lang="en-US" sz="1050" dirty="0"/>
          </a:p>
        </p:txBody>
      </p:sp>
      <p:sp>
        <p:nvSpPr>
          <p:cNvPr id="51" name="Shape 48"/>
          <p:cNvSpPr/>
          <p:nvPr/>
        </p:nvSpPr>
        <p:spPr>
          <a:xfrm>
            <a:off x="594360" y="2377440"/>
            <a:ext cx="237744" cy="237744"/>
          </a:xfrm>
          <a:prstGeom prst="ellipse">
            <a:avLst/>
          </a:prstGeom>
          <a:solidFill>
            <a:srgbClr val="6B4C9A"/>
          </a:solidFill>
          <a:ln w="12700">
            <a:solidFill>
              <a:srgbClr val="6B4C9A"/>
            </a:solidFill>
            <a:prstDash val="solid"/>
          </a:ln>
        </p:spPr>
      </p:sp>
      <p:sp>
        <p:nvSpPr>
          <p:cNvPr id="52" name="Text 49"/>
          <p:cNvSpPr txBox="1"/>
          <p:nvPr/>
        </p:nvSpPr>
        <p:spPr>
          <a:xfrm>
            <a:off x="594360"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3" name="Text 50"/>
          <p:cNvSpPr txBox="1"/>
          <p:nvPr/>
        </p:nvSpPr>
        <p:spPr>
          <a:xfrm>
            <a:off x="905256" y="233172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dot above, in the middle.</a:t>
            </a:r>
            <a:endParaRPr lang="en-US" sz="1050" dirty="0"/>
          </a:p>
        </p:txBody>
      </p:sp>
      <p:sp>
        <p:nvSpPr>
          <p:cNvPr id="54" name="Shape 51"/>
          <p:cNvSpPr/>
          <p:nvPr/>
        </p:nvSpPr>
        <p:spPr>
          <a:xfrm>
            <a:off x="594360" y="3813048"/>
            <a:ext cx="3374136" cy="0"/>
          </a:xfrm>
          <a:prstGeom prst="line">
            <a:avLst/>
          </a:prstGeom>
          <a:noFill/>
          <a:ln w="9525">
            <a:solidFill>
              <a:srgbClr val="C9BFA8"/>
            </a:solidFill>
            <a:prstDash val="dash"/>
          </a:ln>
        </p:spPr>
      </p:sp>
      <p:sp>
        <p:nvSpPr>
          <p:cNvPr id="55" name="Text 52"/>
          <p:cNvSpPr txBox="1"/>
          <p:nvPr/>
        </p:nvSpPr>
        <p:spPr>
          <a:xfrm>
            <a:off x="3293669"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ن</a:t>
            </a:r>
            <a:endParaRPr lang="ar-SA" sz="2600" dirty="0"/>
          </a:p>
        </p:txBody>
      </p:sp>
      <p:sp>
        <p:nvSpPr>
          <p:cNvPr id="56" name="Text 53"/>
          <p:cNvSpPr txBox="1"/>
          <p:nvPr/>
        </p:nvSpPr>
        <p:spPr>
          <a:xfrm>
            <a:off x="2618842"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ن</a:t>
            </a:r>
            <a:endParaRPr lang="ar-SA" sz="2600" dirty="0"/>
          </a:p>
        </p:txBody>
      </p:sp>
      <p:sp>
        <p:nvSpPr>
          <p:cNvPr id="57" name="Text 54"/>
          <p:cNvSpPr txBox="1"/>
          <p:nvPr/>
        </p:nvSpPr>
        <p:spPr>
          <a:xfrm>
            <a:off x="1944014"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ن</a:t>
            </a:r>
            <a:endParaRPr lang="ar-SA" sz="2600" dirty="0"/>
          </a:p>
        </p:txBody>
      </p:sp>
      <p:sp>
        <p:nvSpPr>
          <p:cNvPr id="58" name="Text 55"/>
          <p:cNvSpPr txBox="1"/>
          <p:nvPr/>
        </p:nvSpPr>
        <p:spPr>
          <a:xfrm>
            <a:off x="1269187"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59" name="Text 56"/>
          <p:cNvSpPr txBox="1"/>
          <p:nvPr/>
        </p:nvSpPr>
        <p:spPr>
          <a:xfrm>
            <a:off x="594360"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60" name="Shape 57"/>
          <p:cNvSpPr/>
          <p:nvPr/>
        </p:nvSpPr>
        <p:spPr>
          <a:xfrm>
            <a:off x="8083296" y="414223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10326868" y="421538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ه</a:t>
            </a:r>
            <a:endParaRPr lang="ar-SA" sz="5050" dirty="0"/>
          </a:p>
        </p:txBody>
      </p:sp>
      <p:sp>
        <p:nvSpPr>
          <p:cNvPr id="62" name="Text 59"/>
          <p:cNvSpPr txBox="1"/>
          <p:nvPr/>
        </p:nvSpPr>
        <p:spPr>
          <a:xfrm>
            <a:off x="10326868" y="526913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هَاء</a:t>
            </a:r>
            <a:endParaRPr lang="ar-SA" sz="1450" dirty="0"/>
          </a:p>
        </p:txBody>
      </p:sp>
      <p:sp>
        <p:nvSpPr>
          <p:cNvPr id="63" name="Shape 60"/>
          <p:cNvSpPr/>
          <p:nvPr/>
        </p:nvSpPr>
        <p:spPr>
          <a:xfrm>
            <a:off x="8220456" y="4288536"/>
            <a:ext cx="237744" cy="237744"/>
          </a:xfrm>
          <a:prstGeom prst="ellipse">
            <a:avLst/>
          </a:prstGeom>
          <a:solidFill>
            <a:srgbClr val="6B4C9A"/>
          </a:solidFill>
          <a:ln w="12700">
            <a:solidFill>
              <a:srgbClr val="6B4C9A"/>
            </a:solidFill>
            <a:prstDash val="solid"/>
          </a:ln>
        </p:spPr>
      </p:sp>
      <p:sp>
        <p:nvSpPr>
          <p:cNvPr id="64" name="Text 61"/>
          <p:cNvSpPr txBox="1"/>
          <p:nvPr/>
        </p:nvSpPr>
        <p:spPr>
          <a:xfrm>
            <a:off x="822045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5" name="Text 62"/>
          <p:cNvSpPr txBox="1"/>
          <p:nvPr/>
        </p:nvSpPr>
        <p:spPr>
          <a:xfrm>
            <a:off x="8531352" y="424281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Start at the top.</a:t>
            </a:r>
            <a:endParaRPr lang="en-US" sz="1050" dirty="0"/>
          </a:p>
        </p:txBody>
      </p:sp>
      <p:sp>
        <p:nvSpPr>
          <p:cNvPr id="66" name="Shape 63"/>
          <p:cNvSpPr/>
          <p:nvPr/>
        </p:nvSpPr>
        <p:spPr>
          <a:xfrm>
            <a:off x="8220456" y="4709160"/>
            <a:ext cx="237744" cy="237744"/>
          </a:xfrm>
          <a:prstGeom prst="ellipse">
            <a:avLst/>
          </a:prstGeom>
          <a:solidFill>
            <a:srgbClr val="6B4C9A"/>
          </a:solidFill>
          <a:ln w="12700">
            <a:solidFill>
              <a:srgbClr val="6B4C9A"/>
            </a:solidFill>
            <a:prstDash val="solid"/>
          </a:ln>
        </p:spPr>
      </p:sp>
      <p:sp>
        <p:nvSpPr>
          <p:cNvPr id="67" name="Text 64"/>
          <p:cNvSpPr txBox="1"/>
          <p:nvPr/>
        </p:nvSpPr>
        <p:spPr>
          <a:xfrm>
            <a:off x="8220456"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68" name="Text 65"/>
          <p:cNvSpPr txBox="1"/>
          <p:nvPr/>
        </p:nvSpPr>
        <p:spPr>
          <a:xfrm>
            <a:off x="8531352" y="466344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round loop, closed.</a:t>
            </a:r>
            <a:endParaRPr lang="en-US" sz="1050" dirty="0"/>
          </a:p>
        </p:txBody>
      </p:sp>
      <p:sp>
        <p:nvSpPr>
          <p:cNvPr id="69" name="Shape 66"/>
          <p:cNvSpPr/>
          <p:nvPr/>
        </p:nvSpPr>
        <p:spPr>
          <a:xfrm>
            <a:off x="8220456" y="6144768"/>
            <a:ext cx="3374136" cy="0"/>
          </a:xfrm>
          <a:prstGeom prst="line">
            <a:avLst/>
          </a:prstGeom>
          <a:noFill/>
          <a:ln w="9525">
            <a:solidFill>
              <a:srgbClr val="C9BFA8"/>
            </a:solidFill>
            <a:prstDash val="dash"/>
          </a:ln>
        </p:spPr>
      </p:sp>
      <p:sp>
        <p:nvSpPr>
          <p:cNvPr id="70" name="Text 67"/>
          <p:cNvSpPr txBox="1"/>
          <p:nvPr/>
        </p:nvSpPr>
        <p:spPr>
          <a:xfrm>
            <a:off x="10919765"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ه</a:t>
            </a:r>
            <a:endParaRPr lang="ar-SA" sz="2600" dirty="0"/>
          </a:p>
        </p:txBody>
      </p:sp>
      <p:sp>
        <p:nvSpPr>
          <p:cNvPr id="71" name="Text 68"/>
          <p:cNvSpPr txBox="1"/>
          <p:nvPr/>
        </p:nvSpPr>
        <p:spPr>
          <a:xfrm>
            <a:off x="10244938"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ه</a:t>
            </a:r>
            <a:endParaRPr lang="ar-SA" sz="2600" dirty="0"/>
          </a:p>
        </p:txBody>
      </p:sp>
      <p:sp>
        <p:nvSpPr>
          <p:cNvPr id="72" name="Text 69"/>
          <p:cNvSpPr txBox="1"/>
          <p:nvPr/>
        </p:nvSpPr>
        <p:spPr>
          <a:xfrm>
            <a:off x="9570110"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ه</a:t>
            </a:r>
            <a:endParaRPr lang="ar-SA" sz="2600" dirty="0"/>
          </a:p>
        </p:txBody>
      </p:sp>
      <p:sp>
        <p:nvSpPr>
          <p:cNvPr id="73" name="Text 70"/>
          <p:cNvSpPr txBox="1"/>
          <p:nvPr/>
        </p:nvSpPr>
        <p:spPr>
          <a:xfrm>
            <a:off x="8895283"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4" name="Text 71"/>
          <p:cNvSpPr txBox="1"/>
          <p:nvPr/>
        </p:nvSpPr>
        <p:spPr>
          <a:xfrm>
            <a:off x="8220456"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5" name="Shape 72"/>
          <p:cNvSpPr/>
          <p:nvPr/>
        </p:nvSpPr>
        <p:spPr>
          <a:xfrm>
            <a:off x="4270248" y="414223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6513820" y="421538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و</a:t>
            </a:r>
            <a:endParaRPr lang="ar-SA" sz="5050" dirty="0"/>
          </a:p>
        </p:txBody>
      </p:sp>
      <p:sp>
        <p:nvSpPr>
          <p:cNvPr id="77" name="Text 74"/>
          <p:cNvSpPr txBox="1"/>
          <p:nvPr/>
        </p:nvSpPr>
        <p:spPr>
          <a:xfrm>
            <a:off x="6513820" y="526913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وَاو</a:t>
            </a:r>
            <a:endParaRPr lang="ar-SA" sz="1450" dirty="0"/>
          </a:p>
        </p:txBody>
      </p:sp>
      <p:sp>
        <p:nvSpPr>
          <p:cNvPr id="78" name="Shape 75"/>
          <p:cNvSpPr/>
          <p:nvPr/>
        </p:nvSpPr>
        <p:spPr>
          <a:xfrm>
            <a:off x="4407408" y="4288536"/>
            <a:ext cx="237744" cy="237744"/>
          </a:xfrm>
          <a:prstGeom prst="ellipse">
            <a:avLst/>
          </a:prstGeom>
          <a:solidFill>
            <a:srgbClr val="6B4C9A"/>
          </a:solidFill>
          <a:ln w="12700">
            <a:solidFill>
              <a:srgbClr val="6B4C9A"/>
            </a:solidFill>
            <a:prstDash val="solid"/>
          </a:ln>
        </p:spPr>
      </p:sp>
      <p:sp>
        <p:nvSpPr>
          <p:cNvPr id="79" name="Text 76"/>
          <p:cNvSpPr txBox="1"/>
          <p:nvPr/>
        </p:nvSpPr>
        <p:spPr>
          <a:xfrm>
            <a:off x="440740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0" name="Text 77"/>
          <p:cNvSpPr txBox="1"/>
          <p:nvPr/>
        </p:nvSpPr>
        <p:spPr>
          <a:xfrm>
            <a:off x="4718304" y="424281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small round head.</a:t>
            </a:r>
            <a:endParaRPr lang="en-US" sz="1050" dirty="0"/>
          </a:p>
        </p:txBody>
      </p:sp>
      <p:sp>
        <p:nvSpPr>
          <p:cNvPr id="81" name="Shape 78"/>
          <p:cNvSpPr/>
          <p:nvPr/>
        </p:nvSpPr>
        <p:spPr>
          <a:xfrm>
            <a:off x="4407408" y="4709160"/>
            <a:ext cx="237744" cy="237744"/>
          </a:xfrm>
          <a:prstGeom prst="ellipse">
            <a:avLst/>
          </a:prstGeom>
          <a:solidFill>
            <a:srgbClr val="6B4C9A"/>
          </a:solidFill>
          <a:ln w="12700">
            <a:solidFill>
              <a:srgbClr val="6B4C9A"/>
            </a:solidFill>
            <a:prstDash val="solid"/>
          </a:ln>
        </p:spPr>
      </p:sp>
      <p:sp>
        <p:nvSpPr>
          <p:cNvPr id="82" name="Text 79"/>
          <p:cNvSpPr txBox="1"/>
          <p:nvPr/>
        </p:nvSpPr>
        <p:spPr>
          <a:xfrm>
            <a:off x="4407408"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3" name="Text 80"/>
          <p:cNvSpPr txBox="1"/>
          <p:nvPr/>
        </p:nvSpPr>
        <p:spPr>
          <a:xfrm>
            <a:off x="4718304" y="466344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tail curving down below the line.</a:t>
            </a:r>
            <a:endParaRPr lang="en-US" sz="1050" dirty="0"/>
          </a:p>
        </p:txBody>
      </p:sp>
      <p:sp>
        <p:nvSpPr>
          <p:cNvPr id="84" name="Shape 81"/>
          <p:cNvSpPr/>
          <p:nvPr/>
        </p:nvSpPr>
        <p:spPr>
          <a:xfrm>
            <a:off x="4407408" y="6144768"/>
            <a:ext cx="3374136" cy="0"/>
          </a:xfrm>
          <a:prstGeom prst="line">
            <a:avLst/>
          </a:prstGeom>
          <a:noFill/>
          <a:ln w="9525">
            <a:solidFill>
              <a:srgbClr val="C9BFA8"/>
            </a:solidFill>
            <a:prstDash val="dash"/>
          </a:ln>
        </p:spPr>
      </p:sp>
      <p:sp>
        <p:nvSpPr>
          <p:cNvPr id="85" name="Text 82"/>
          <p:cNvSpPr txBox="1"/>
          <p:nvPr/>
        </p:nvSpPr>
        <p:spPr>
          <a:xfrm>
            <a:off x="7106717"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و</a:t>
            </a:r>
            <a:endParaRPr lang="ar-SA" sz="2600" dirty="0"/>
          </a:p>
        </p:txBody>
      </p:sp>
      <p:sp>
        <p:nvSpPr>
          <p:cNvPr id="86" name="Text 83"/>
          <p:cNvSpPr txBox="1"/>
          <p:nvPr/>
        </p:nvSpPr>
        <p:spPr>
          <a:xfrm>
            <a:off x="6431890"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و</a:t>
            </a:r>
            <a:endParaRPr lang="ar-SA" sz="2600" dirty="0"/>
          </a:p>
        </p:txBody>
      </p:sp>
      <p:sp>
        <p:nvSpPr>
          <p:cNvPr id="87" name="Text 84"/>
          <p:cNvSpPr txBox="1"/>
          <p:nvPr/>
        </p:nvSpPr>
        <p:spPr>
          <a:xfrm>
            <a:off x="5757062"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و</a:t>
            </a:r>
            <a:endParaRPr lang="ar-SA" sz="2600" dirty="0"/>
          </a:p>
        </p:txBody>
      </p:sp>
      <p:sp>
        <p:nvSpPr>
          <p:cNvPr id="88" name="Text 85"/>
          <p:cNvSpPr txBox="1"/>
          <p:nvPr/>
        </p:nvSpPr>
        <p:spPr>
          <a:xfrm>
            <a:off x="5082235"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89" name="Text 86"/>
          <p:cNvSpPr txBox="1"/>
          <p:nvPr/>
        </p:nvSpPr>
        <p:spPr>
          <a:xfrm>
            <a:off x="4407408"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90" name="Shape 87"/>
          <p:cNvSpPr/>
          <p:nvPr/>
        </p:nvSpPr>
        <p:spPr>
          <a:xfrm>
            <a:off x="457200" y="414223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2700772" y="421538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ي</a:t>
            </a:r>
            <a:endParaRPr lang="ar-SA" sz="5050" dirty="0"/>
          </a:p>
        </p:txBody>
      </p:sp>
      <p:sp>
        <p:nvSpPr>
          <p:cNvPr id="92" name="Text 89"/>
          <p:cNvSpPr txBox="1"/>
          <p:nvPr/>
        </p:nvSpPr>
        <p:spPr>
          <a:xfrm>
            <a:off x="2700772" y="526913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يَاء</a:t>
            </a:r>
            <a:endParaRPr lang="ar-SA" sz="1450" dirty="0"/>
          </a:p>
        </p:txBody>
      </p:sp>
      <p:sp>
        <p:nvSpPr>
          <p:cNvPr id="93" name="Shape 90"/>
          <p:cNvSpPr/>
          <p:nvPr/>
        </p:nvSpPr>
        <p:spPr>
          <a:xfrm>
            <a:off x="594360" y="4288536"/>
            <a:ext cx="237744" cy="237744"/>
          </a:xfrm>
          <a:prstGeom prst="ellipse">
            <a:avLst/>
          </a:prstGeom>
          <a:solidFill>
            <a:srgbClr val="6B4C9A"/>
          </a:solidFill>
          <a:ln w="12700">
            <a:solidFill>
              <a:srgbClr val="6B4C9A"/>
            </a:solidFill>
            <a:prstDash val="solid"/>
          </a:ln>
        </p:spPr>
      </p:sp>
      <p:sp>
        <p:nvSpPr>
          <p:cNvPr id="94" name="Text 91"/>
          <p:cNvSpPr txBox="1"/>
          <p:nvPr/>
        </p:nvSpPr>
        <p:spPr>
          <a:xfrm>
            <a:off x="594360"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5" name="Text 92"/>
          <p:cNvSpPr txBox="1"/>
          <p:nvPr/>
        </p:nvSpPr>
        <p:spPr>
          <a:xfrm>
            <a:off x="905256" y="424281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curved body with a round tail.</a:t>
            </a:r>
            <a:endParaRPr lang="en-US" sz="1050" dirty="0"/>
          </a:p>
        </p:txBody>
      </p:sp>
      <p:sp>
        <p:nvSpPr>
          <p:cNvPr id="96" name="Shape 93"/>
          <p:cNvSpPr/>
          <p:nvPr/>
        </p:nvSpPr>
        <p:spPr>
          <a:xfrm>
            <a:off x="594360" y="4709160"/>
            <a:ext cx="237744" cy="237744"/>
          </a:xfrm>
          <a:prstGeom prst="ellipse">
            <a:avLst/>
          </a:prstGeom>
          <a:solidFill>
            <a:srgbClr val="6B4C9A"/>
          </a:solidFill>
          <a:ln w="12700">
            <a:solidFill>
              <a:srgbClr val="6B4C9A"/>
            </a:solidFill>
            <a:prstDash val="solid"/>
          </a:ln>
        </p:spPr>
      </p:sp>
      <p:sp>
        <p:nvSpPr>
          <p:cNvPr id="97" name="Text 94"/>
          <p:cNvSpPr txBox="1"/>
          <p:nvPr/>
        </p:nvSpPr>
        <p:spPr>
          <a:xfrm>
            <a:off x="594360"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95"/>
          <p:cNvSpPr txBox="1"/>
          <p:nvPr/>
        </p:nvSpPr>
        <p:spPr>
          <a:xfrm>
            <a:off x="905256" y="466344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TWO dots BELOW.</a:t>
            </a:r>
            <a:endParaRPr lang="en-US" sz="1050" dirty="0"/>
          </a:p>
        </p:txBody>
      </p:sp>
      <p:sp>
        <p:nvSpPr>
          <p:cNvPr id="99" name="Shape 96"/>
          <p:cNvSpPr/>
          <p:nvPr/>
        </p:nvSpPr>
        <p:spPr>
          <a:xfrm>
            <a:off x="594360" y="6144768"/>
            <a:ext cx="3374136" cy="0"/>
          </a:xfrm>
          <a:prstGeom prst="line">
            <a:avLst/>
          </a:prstGeom>
          <a:noFill/>
          <a:ln w="9525">
            <a:solidFill>
              <a:srgbClr val="C9BFA8"/>
            </a:solidFill>
            <a:prstDash val="dash"/>
          </a:ln>
        </p:spPr>
      </p:sp>
      <p:sp>
        <p:nvSpPr>
          <p:cNvPr id="100" name="Text 97"/>
          <p:cNvSpPr txBox="1"/>
          <p:nvPr/>
        </p:nvSpPr>
        <p:spPr>
          <a:xfrm>
            <a:off x="3293669"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ي</a:t>
            </a:r>
            <a:endParaRPr lang="ar-SA" sz="2600" dirty="0"/>
          </a:p>
        </p:txBody>
      </p:sp>
      <p:sp>
        <p:nvSpPr>
          <p:cNvPr id="101" name="Text 98"/>
          <p:cNvSpPr txBox="1"/>
          <p:nvPr/>
        </p:nvSpPr>
        <p:spPr>
          <a:xfrm>
            <a:off x="2618842"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ي</a:t>
            </a:r>
            <a:endParaRPr lang="ar-SA" sz="2600" dirty="0"/>
          </a:p>
        </p:txBody>
      </p:sp>
      <p:sp>
        <p:nvSpPr>
          <p:cNvPr id="102" name="Text 99"/>
          <p:cNvSpPr txBox="1"/>
          <p:nvPr/>
        </p:nvSpPr>
        <p:spPr>
          <a:xfrm>
            <a:off x="1944014"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ي</a:t>
            </a:r>
            <a:endParaRPr lang="ar-SA" sz="2600" dirty="0"/>
          </a:p>
        </p:txBody>
      </p:sp>
      <p:sp>
        <p:nvSpPr>
          <p:cNvPr id="103" name="Text 100"/>
          <p:cNvSpPr txBox="1"/>
          <p:nvPr/>
        </p:nvSpPr>
        <p:spPr>
          <a:xfrm>
            <a:off x="1269187"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04" name="Text 101"/>
          <p:cNvSpPr txBox="1"/>
          <p:nvPr/>
        </p:nvSpPr>
        <p:spPr>
          <a:xfrm>
            <a:off x="594360"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“FINAL-LETTER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Final-letter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ن</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نُونٌ</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بَاءٌ</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ي</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تَاءٌ</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نُونٌ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يَاءٌ</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و</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مِيمٌ</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رَاءٌ</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وَاوٌ</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ه</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هَاءٌ</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حَاءٌ</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خَاءٌ</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ل</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أَلِفٌ</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لَامٌ</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كَافٌ</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Use shape, dots, sound and role together.</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Two dots below → yāʾ</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One dot above a bowl → nūn</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FINAL-LETTER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ن</a:t>
            </a:r>
            <a:endParaRPr lang="ar-SA" sz="22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نُونٌ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بَاءٌ</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Deep bowl + one dot above.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ي</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تَاءٌ</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نُونٌ</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يَاءٌ</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Two dots below.</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و</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مِيمٌ</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رَاءٌ</a:t>
            </a:r>
            <a:endParaRPr lang="ar-SA" sz="1700" dirty="0"/>
          </a:p>
        </p:txBody>
      </p:sp>
      <p:sp>
        <p:nvSpPr>
          <p:cNvPr id="58"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وَاوٌ</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Round head, tail down — a breaker.</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ه</a:t>
            </a:r>
            <a:endParaRPr lang="ar-SA" sz="2200" dirty="0"/>
          </a:p>
        </p:txBody>
      </p:sp>
      <p:sp>
        <p:nvSpPr>
          <p:cNvPr id="68" name="Shape 65"/>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هَاءٌ</a:t>
            </a:r>
            <a:endParaRPr lang="ar-SA" sz="1700" dirty="0"/>
          </a:p>
        </p:txBody>
      </p:sp>
      <p:sp>
        <p:nvSpPr>
          <p:cNvPr id="72"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حَاءٌ</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خَاءٌ</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ordinary h — a closed loop.</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ل</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أَلِفٌ</a:t>
            </a:r>
            <a:endParaRPr lang="ar-SA" sz="1700" dirty="0"/>
          </a:p>
        </p:txBody>
      </p:sp>
      <p:sp>
        <p:nvSpPr>
          <p:cNvPr id="87" name="Shape 84"/>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202936"/>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لَامٌ</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كَافٌ</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Tall stem with a curve below.</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Use shape, dots, sound and role together.</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Two dots below → yāʾ</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One dot above a bowl → nūn</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“CONNECTION GATE”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letters break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بَوَّابَةُ الاِتِّصَالِ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د</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Breaks after it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Connects on both sides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CONNECTION GATE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Breaks after it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د</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Connects on both sides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WEBSITE GAME “DIACRITIC DECODER” AND THE LESSON VOWEL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Diacritic decoder: read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الحَرَكَاتِ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مِنْ</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mina</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min</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mun</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sukūn show?</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following short vowel</a:t>
            </a:r>
            <a:endParaRPr lang="en-US" sz="12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letter is always silent</a:t>
            </a:r>
            <a:endParaRPr lang="en-US" sz="12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Line above → a</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Curl above → u</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Line below → i</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Circle → stop</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DIACRITIC DECODER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bi</a:t>
            </a:r>
            <a:endParaRPr lang="en-US" sz="125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ba</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Fatḥa gives a short a sound.</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ba</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bi</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Kasra gives a short i sound.</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bu</a:t>
            </a:r>
            <a:endParaRPr lang="en-US" sz="125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bi</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ba</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Ḍamma gives a short u sound.</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مِنْ</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mina</a:t>
            </a:r>
            <a:endParaRPr lang="en-US" sz="125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min</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mun</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kasra then sukūn (website final check 10).</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sukūn show?</a:t>
            </a:r>
            <a:endParaRPr lang="en-US" sz="1250" dirty="0"/>
          </a:p>
        </p:txBody>
      </p:sp>
      <p:sp>
        <p:nvSpPr>
          <p:cNvPr id="83" name="Shape 80"/>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4873752"/>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 following short vowel</a:t>
            </a:r>
            <a:endParaRPr lang="en-US" sz="1250" dirty="0"/>
          </a:p>
        </p:txBody>
      </p:sp>
      <p:sp>
        <p:nvSpPr>
          <p:cNvPr id="87" name="Shape 84"/>
          <p:cNvSpPr/>
          <p:nvPr/>
        </p:nvSpPr>
        <p:spPr>
          <a:xfrm>
            <a:off x="4459224" y="533095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letter is always silent</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consonant is said; no vowel follows (website final check 9).</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Line above → a</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Curl above → u</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Line below → i</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Circle → stop</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ALOUD · THE WEBSITE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Your first Arabic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كَلِمَاتِي الأُولَى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كَتَبَ</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kataba — he wrote (three fatḥas)</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فَهِمَ</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fahima — he understood (fatḥa, kasra, fatḥa)</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huwa — he (ḍamma, then fatḥa)</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min — from (kasra, then sukūn)</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لَا</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lā — no (lām + alif)</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سَلَامٌ</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salām — peace</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6 letters + 4 marks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the six new letters 3 times each. Then write </a:t>
            </a:r>
            <a:pPr algn="l" indent="0" marL="0">
              <a:buNone/>
            </a:pPr>
            <a:r>
              <a:rPr lang="ar-SA" altLang="en-US" sz="1800" b="1" dirty="0">
                <a:solidFill>
                  <a:srgbClr val="1F2A37"/>
                </a:solidFill>
                <a:latin typeface="Amiri" pitchFamily="34" charset="0"/>
                <a:ea typeface="Amiri" pitchFamily="34" charset="-122"/>
                <a:cs typeface="Amiri" pitchFamily="34" charset="-120"/>
              </a:rPr>
              <a:t>بَ بُ بِ بْ</a:t>
            </a:r>
            <a:pPr algn="l" indent="0" marL="0">
              <a:buNone/>
            </a:pPr>
            <a:r>
              <a:rPr lang="en-US" sz="1400" b="1" dirty="0">
                <a:solidFill>
                  <a:srgbClr val="1F2A37"/>
                </a:solidFill>
                <a:latin typeface="Calibri" pitchFamily="34" charset="0"/>
                <a:ea typeface="Calibri" pitchFamily="34" charset="-122"/>
                <a:cs typeface="Calibri" pitchFamily="34" charset="-120"/>
              </a:rPr>
              <a:t> and read them aloud.</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Trace first. Say each name as you write.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four-way build</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the six letters. Then choose 3 letters you know and write each with fatḥa, ḍamma, kasra and sukūn.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Your partner reads your rows (website four-way build).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all 28</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all 28 letters in order from memory and circle the six breakers. Copy </a:t>
            </a:r>
            <a:pPr algn="l" indent="0" marL="0">
              <a:buNone/>
            </a:pPr>
            <a:r>
              <a:rPr lang="ar-SA" altLang="en-US" sz="1800" b="1" dirty="0">
                <a:solidFill>
                  <a:srgbClr val="1F2A37"/>
                </a:solidFill>
                <a:latin typeface="Amiri" pitchFamily="34" charset="0"/>
                <a:ea typeface="Amiri" pitchFamily="34" charset="-122"/>
                <a:cs typeface="Amiri" pitchFamily="34" charset="-120"/>
              </a:rPr>
              <a:t>كَتَبَ فَهِمَ هُوَ مِنْ</a:t>
            </a:r>
            <a:pPr algn="l" indent="0" marL="0">
              <a:buNone/>
            </a:pPr>
            <a:r>
              <a:rPr lang="en-US" sz="1400" b="1" dirty="0">
                <a:solidFill>
                  <a:srgbClr val="1F2A37"/>
                </a:solidFill>
                <a:latin typeface="Calibri" pitchFamily="34" charset="0"/>
                <a:ea typeface="Calibri" pitchFamily="34" charset="-122"/>
                <a:cs typeface="Calibri" pitchFamily="34" charset="-120"/>
              </a:rPr>
              <a:t> and colour each mark.</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fatḥa gold · ḍamma blue · kasra green · sukūn purple (website vowel detective).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ea typeface="Cambria" pitchFamily="34" charset="-122"/>
                <a:cs typeface="Cambria" pitchFamily="34" charset="-120"/>
              </a:rPr>
              <a:t>Four-way build: write it, your partner reads it</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بَ · بُ · بِ · 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هٰذَا الحَرْفُ؟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كَتَبَ · هُوَ · مِنْ</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الحُرُوفَ كُلَّهَا.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هٰذِهِ فَتْحَةٌ / ضَمَّةٌ / كَسْرَةٌ / سُكُونٌ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 ب ت ث … ن ه و ي</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اِقْرَأْ: نَ · نُ · نِ · 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Read: na · nu · ni · 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نَ، نُ، نِ، نْ.</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na, nu, ni, 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Mixing fatḥa and kasra</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Same small line: ABOVE = a, BELOW = i.</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Joining </a:t>
            </a:r>
            <a:pPr algn="l" indent="0" marL="0">
              <a:buNone/>
            </a:pPr>
            <a:r>
              <a:rPr lang="ar-SA" altLang="en-US" sz="1450" dirty="0">
                <a:solidFill>
                  <a:srgbClr val="5A6472"/>
                </a:solidFill>
                <a:latin typeface="Amiri" pitchFamily="34" charset="0"/>
                <a:ea typeface="Amiri" pitchFamily="34" charset="-122"/>
                <a:cs typeface="Amiri" pitchFamily="34" charset="-120"/>
              </a:rPr>
              <a:t>و</a:t>
            </a:r>
            <a:pPr algn="l" indent="0" marL="0">
              <a:buNone/>
            </a:pPr>
            <a:r>
              <a:rPr lang="en-US" sz="1100" dirty="0">
                <a:solidFill>
                  <a:srgbClr val="5A6472"/>
                </a:solidFill>
                <a:latin typeface="Calibri" pitchFamily="34" charset="0"/>
                <a:ea typeface="Calibri" pitchFamily="34" charset="-122"/>
                <a:cs typeface="Calibri" pitchFamily="34" charset="-120"/>
              </a:rPr>
              <a:t> to the next letter</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wāw is a breaker — like </a:t>
            </a:r>
            <a:pPr algn="l" indent="0" marL="0">
              <a:buNone/>
            </a:pPr>
            <a:r>
              <a:rPr lang="ar-SA" altLang="en-US" sz="1450" dirty="0">
                <a:solidFill>
                  <a:srgbClr val="5A6472"/>
                </a:solidFill>
                <a:latin typeface="Amiri" pitchFamily="34" charset="0"/>
                <a:ea typeface="Amiri" pitchFamily="34" charset="-122"/>
                <a:cs typeface="Amiri" pitchFamily="34" charset="-120"/>
              </a:rPr>
              <a:t>ا د ذ ر ز</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Mixing </a:t>
            </a:r>
            <a:pPr algn="l" indent="0" marL="0">
              <a:buNone/>
            </a:pPr>
            <a:r>
              <a:rPr lang="ar-SA" altLang="en-US" sz="1450" dirty="0">
                <a:solidFill>
                  <a:srgbClr val="5A6472"/>
                </a:solidFill>
                <a:latin typeface="Amiri" pitchFamily="34" charset="0"/>
                <a:ea typeface="Amiri" pitchFamily="34" charset="-122"/>
                <a:cs typeface="Amiri" pitchFamily="34" charset="-120"/>
              </a:rPr>
              <a:t>ه</a:t>
            </a:r>
            <a:pPr algn="l" indent="0" marL="0">
              <a:buNone/>
            </a:pPr>
            <a:r>
              <a:rPr lang="en-US" sz="1100" dirty="0">
                <a:solidFill>
                  <a:srgbClr val="5A6472"/>
                </a:solidFill>
                <a:latin typeface="Calibri" pitchFamily="34" charset="0"/>
                <a:ea typeface="Calibri" pitchFamily="34" charset="-122"/>
                <a:cs typeface="Calibri" pitchFamily="34" charset="-120"/>
              </a:rPr>
              <a:t> and </a:t>
            </a:r>
            <a:pPr algn="l" indent="0" marL="0">
              <a:buNone/>
            </a:pPr>
            <a:r>
              <a:rPr lang="ar-SA" altLang="en-US" sz="1450" dirty="0">
                <a:solidFill>
                  <a:srgbClr val="5A6472"/>
                </a:solidFill>
                <a:latin typeface="Amiri" pitchFamily="34" charset="0"/>
                <a:ea typeface="Amiri" pitchFamily="34" charset="-122"/>
                <a:cs typeface="Amiri" pitchFamily="34" charset="-120"/>
              </a:rPr>
              <a:t>ح</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ه</a:t>
            </a:r>
            <a:pPr algn="l" indent="0" marL="0">
              <a:buNone/>
            </a:pPr>
            <a:r>
              <a:rPr lang="en-US" sz="1100" dirty="0">
                <a:solidFill>
                  <a:srgbClr val="5A6472"/>
                </a:solidFill>
                <a:latin typeface="Calibri" pitchFamily="34" charset="0"/>
                <a:ea typeface="Calibri" pitchFamily="34" charset="-122"/>
                <a:cs typeface="Calibri" pitchFamily="34" charset="-120"/>
              </a:rPr>
              <a:t> is the ordinary h; </a:t>
            </a:r>
            <a:pPr algn="l" indent="0" marL="0">
              <a:buNone/>
            </a:pPr>
            <a:r>
              <a:rPr lang="ar-SA" altLang="en-US" sz="1450" dirty="0">
                <a:solidFill>
                  <a:srgbClr val="5A6472"/>
                </a:solidFill>
                <a:latin typeface="Amiri" pitchFamily="34" charset="0"/>
                <a:ea typeface="Amiri" pitchFamily="34" charset="-122"/>
                <a:cs typeface="Amiri" pitchFamily="34" charset="-120"/>
              </a:rPr>
              <a:t>ح</a:t>
            </a:r>
            <a:pPr algn="l" indent="0" marL="0">
              <a:buNone/>
            </a:pPr>
            <a:r>
              <a:rPr lang="en-US" sz="1100" dirty="0">
                <a:solidFill>
                  <a:srgbClr val="5A6472"/>
                </a:solidFill>
                <a:latin typeface="Calibri" pitchFamily="34" charset="0"/>
                <a:ea typeface="Calibri" pitchFamily="34" charset="-122"/>
                <a:cs typeface="Calibri" pitchFamily="34" charset="-120"/>
              </a:rPr>
              <a:t> is the deep breath.</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Treating sukūn as a silent letter</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 the consonant — just add no vowel (</a:t>
            </a:r>
            <a:pPr algn="l" indent="0" marL="0">
              <a:buNone/>
            </a:pPr>
            <a:r>
              <a:rPr lang="ar-SA" altLang="en-US" sz="1450" dirty="0">
                <a:solidFill>
                  <a:srgbClr val="5A6472"/>
                </a:solidFill>
                <a:latin typeface="Amiri" pitchFamily="34" charset="0"/>
                <a:ea typeface="Amiri" pitchFamily="34" charset="-122"/>
                <a:cs typeface="Amiri" pitchFamily="34" charset="-120"/>
              </a:rPr>
              <a:t>هَلْ</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Counting </a:t>
            </a:r>
            <a:pPr algn="l" indent="0" marL="0">
              <a:buNone/>
            </a:pPr>
            <a:r>
              <a:rPr lang="ar-SA" altLang="en-US" sz="1450" dirty="0">
                <a:solidFill>
                  <a:srgbClr val="5A6472"/>
                </a:solidFill>
                <a:latin typeface="Amiri" pitchFamily="34" charset="0"/>
                <a:ea typeface="Amiri" pitchFamily="34" charset="-122"/>
                <a:cs typeface="Amiri" pitchFamily="34" charset="-120"/>
              </a:rPr>
              <a:t>لا</a:t>
            </a:r>
            <a:pPr algn="l" indent="0" marL="0">
              <a:buNone/>
            </a:pPr>
            <a:r>
              <a:rPr lang="en-US" sz="1100" dirty="0">
                <a:solidFill>
                  <a:srgbClr val="5A6472"/>
                </a:solidFill>
                <a:latin typeface="Calibri" pitchFamily="34" charset="0"/>
                <a:ea typeface="Calibri" pitchFamily="34" charset="-122"/>
                <a:cs typeface="Calibri" pitchFamily="34" charset="-120"/>
              </a:rPr>
              <a:t> as a new letter</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It is lām + alif — still 28 letters.</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Thinking </a:t>
            </a:r>
            <a:pPr algn="l" indent="0" marL="0">
              <a:buNone/>
            </a:pPr>
            <a:r>
              <a:rPr lang="ar-SA" altLang="en-US" sz="1450" dirty="0">
                <a:solidFill>
                  <a:srgbClr val="5A6472"/>
                </a:solidFill>
                <a:latin typeface="Amiri" pitchFamily="34" charset="0"/>
                <a:ea typeface="Amiri" pitchFamily="34" charset="-122"/>
                <a:cs typeface="Amiri" pitchFamily="34" charset="-120"/>
              </a:rPr>
              <a:t>الله</a:t>
            </a:r>
            <a:pPr algn="l" indent="0" marL="0">
              <a:buNone/>
            </a:pPr>
            <a:r>
              <a:rPr lang="en-US" sz="1100" dirty="0">
                <a:solidFill>
                  <a:srgbClr val="5A6472"/>
                </a:solidFill>
                <a:latin typeface="Calibri" pitchFamily="34" charset="0"/>
                <a:ea typeface="Calibri" pitchFamily="34" charset="-122"/>
                <a:cs typeface="Calibri" pitchFamily="34" charset="-120"/>
              </a:rPr>
              <a:t> contains </a:t>
            </a:r>
            <a:pPr algn="l" indent="0" marL="0">
              <a:buNone/>
            </a:pPr>
            <a:r>
              <a:rPr lang="ar-SA" altLang="en-US" sz="1450" dirty="0">
                <a:solidFill>
                  <a:srgbClr val="5A6472"/>
                </a:solidFill>
                <a:latin typeface="Amiri" pitchFamily="34" charset="0"/>
                <a:ea typeface="Amiri" pitchFamily="34" charset="-122"/>
                <a:cs typeface="Amiri" pitchFamily="34" charset="-120"/>
              </a:rPr>
              <a:t>لا</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It does not (website accuracy note).</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letters 23–28.</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read </a:t>
            </a:r>
            <a:pPr algn="l" indent="0" marL="0">
              <a:buNone/>
            </a:pPr>
            <a:r>
              <a:rPr lang="ar-SA" altLang="en-US" sz="1700" dirty="0">
                <a:solidFill>
                  <a:srgbClr val="1F2A37"/>
                </a:solidFill>
                <a:latin typeface="Amiri" pitchFamily="34" charset="0"/>
                <a:ea typeface="Amiri" pitchFamily="34" charset="-122"/>
                <a:cs typeface="Amiri" pitchFamily="34" charset="-120"/>
              </a:rPr>
              <a:t>بَ بُ بِ بْ</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blend </a:t>
            </a:r>
            <a:pPr algn="l" indent="0" marL="0">
              <a:buNone/>
            </a:pPr>
            <a:r>
              <a:rPr lang="ar-SA" altLang="en-US" sz="1700" dirty="0">
                <a:solidFill>
                  <a:srgbClr val="1F2A37"/>
                </a:solidFill>
                <a:latin typeface="Amiri" pitchFamily="34" charset="0"/>
                <a:ea typeface="Amiri" pitchFamily="34" charset="-122"/>
                <a:cs typeface="Amiri" pitchFamily="34" charset="-120"/>
              </a:rPr>
              <a:t>كَتَبَ</a:t>
            </a:r>
            <a:pPr algn="l" indent="0" marL="0">
              <a:buNone/>
            </a:pPr>
            <a:r>
              <a:rPr lang="en-US" sz="1300" dirty="0">
                <a:solidFill>
                  <a:srgbClr val="1F2A37"/>
                </a:solidFill>
                <a:latin typeface="Calibri" pitchFamily="34" charset="0"/>
                <a:ea typeface="Calibri" pitchFamily="34" charset="-122"/>
                <a:cs typeface="Calibri" pitchFamily="34" charset="-120"/>
              </a:rPr>
              <a:t> · </a:t>
            </a:r>
            <a:pPr algn="l" indent="0" marL="0">
              <a:buNone/>
            </a:pPr>
            <a:r>
              <a:rPr lang="ar-SA" altLang="en-US" sz="1700" dirty="0">
                <a:solidFill>
                  <a:srgbClr val="1F2A37"/>
                </a:solidFill>
                <a:latin typeface="Amiri" pitchFamily="34" charset="0"/>
                <a:ea typeface="Amiri" pitchFamily="34" charset="-122"/>
                <a:cs typeface="Amiri" pitchFamily="34" charset="-120"/>
              </a:rPr>
              <a:t>فَهِمَ</a:t>
            </a:r>
            <a:pPr algn="l" indent="0" marL="0">
              <a:buNone/>
            </a:pPr>
            <a:r>
              <a:rPr lang="en-US" sz="1300" dirty="0">
                <a:solidFill>
                  <a:srgbClr val="1F2A37"/>
                </a:solidFill>
                <a:latin typeface="Calibri" pitchFamily="34" charset="0"/>
                <a:ea typeface="Calibri" pitchFamily="34" charset="-122"/>
                <a:cs typeface="Calibri" pitchFamily="34" charset="-120"/>
              </a:rPr>
              <a:t> · </a:t>
            </a:r>
            <a:pPr algn="l" indent="0" marL="0">
              <a:buNone/>
            </a:pPr>
            <a:r>
              <a:rPr lang="ar-SA" altLang="en-US" sz="1700" dirty="0">
                <a:solidFill>
                  <a:srgbClr val="1F2A37"/>
                </a:solidFill>
                <a:latin typeface="Amiri" pitchFamily="34" charset="0"/>
                <a:ea typeface="Amiri" pitchFamily="34" charset="-122"/>
                <a:cs typeface="Amiri" pitchFamily="34" charset="-120"/>
              </a:rPr>
              <a:t>هُوَ</a:t>
            </a:r>
            <a:pPr algn="l" indent="0" marL="0">
              <a:buNone/>
            </a:pPr>
            <a:r>
              <a:rPr lang="en-US" sz="1300" dirty="0">
                <a:solidFill>
                  <a:srgbClr val="1F2A37"/>
                </a:solidFill>
                <a:latin typeface="Calibri" pitchFamily="34" charset="0"/>
                <a:ea typeface="Calibri" pitchFamily="34" charset="-122"/>
                <a:cs typeface="Calibri" pitchFamily="34" charset="-120"/>
              </a:rPr>
              <a:t> · </a:t>
            </a:r>
            <a:pPr algn="l" indent="0" marL="0">
              <a:buNone/>
            </a:pPr>
            <a:r>
              <a:rPr lang="ar-SA" altLang="en-US" sz="1700" dirty="0">
                <a:solidFill>
                  <a:srgbClr val="1F2A37"/>
                </a:solidFill>
                <a:latin typeface="Amiri" pitchFamily="34" charset="0"/>
                <a:ea typeface="Amiri" pitchFamily="34" charset="-122"/>
                <a:cs typeface="Amiri" pitchFamily="34" charset="-120"/>
              </a:rPr>
              <a:t>مِنْ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the two jobs of </a:t>
            </a:r>
            <a:pPr algn="l" indent="0" marL="0">
              <a:buNone/>
            </a:pPr>
            <a:r>
              <a:rPr lang="ar-SA" altLang="en-US" sz="1700" dirty="0">
                <a:solidFill>
                  <a:srgbClr val="1F2A37"/>
                </a:solidFill>
                <a:latin typeface="Amiri" pitchFamily="34" charset="0"/>
                <a:ea typeface="Amiri" pitchFamily="34" charset="-122"/>
                <a:cs typeface="Amiri" pitchFamily="34" charset="-120"/>
              </a:rPr>
              <a:t>و</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ي</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recite all 28 letters and name the six breakers.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29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لا</a:t>
            </a:r>
            <a:pPr algn="l" indent="0" marL="0">
              <a:buNone/>
            </a:pPr>
            <a:r>
              <a:rPr lang="en-US" sz="1250" b="1" dirty="0">
                <a:solidFill>
                  <a:srgbClr val="1B3B6F"/>
                </a:solidFill>
                <a:latin typeface="Calibri" pitchFamily="34" charset="0"/>
                <a:ea typeface="Calibri" pitchFamily="34" charset="-122"/>
                <a:cs typeface="Calibri" pitchFamily="34" charset="-120"/>
              </a:rPr>
              <a:t> represent?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twenty-ninth letter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 letters: lām + alif</a:t>
            </a:r>
            <a:endParaRPr lang="en-US" sz="1250" dirty="0"/>
          </a:p>
        </p:txBody>
      </p:sp>
      <p:sp>
        <p:nvSpPr>
          <p:cNvPr id="25" name="Shape 22"/>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sign represents the glottal stop /ʔ/?</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ء</a:t>
            </a:r>
            <a:endParaRPr lang="ar-SA" sz="20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a:t>
            </a:r>
            <a:endParaRPr lang="ar-SA" sz="20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fatḥa supply? (as in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Short /a/</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Short /u/</a:t>
            </a:r>
            <a:endParaRPr lang="en-US" sz="12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Short /i/</a:t>
            </a:r>
            <a:endParaRPr lang="en-US" sz="1250" dirty="0"/>
          </a:p>
        </p:txBody>
      </p:sp>
      <p:sp>
        <p:nvSpPr>
          <p:cNvPr id="51" name="Shape 48"/>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2" name="Text 49"/>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3" name="Text 50"/>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29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لا</a:t>
            </a:r>
            <a:pPr algn="l" indent="0" marL="0">
              <a:buNone/>
            </a:pPr>
            <a:r>
              <a:rPr lang="en-US" sz="1250" b="1" dirty="0">
                <a:solidFill>
                  <a:srgbClr val="1B3B6F"/>
                </a:solidFill>
                <a:latin typeface="Calibri" pitchFamily="34" charset="0"/>
                <a:ea typeface="Calibri" pitchFamily="34" charset="-122"/>
                <a:cs typeface="Calibri" pitchFamily="34" charset="-120"/>
              </a:rPr>
              <a:t> represent?</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twenty-ninth letter</a:t>
            </a:r>
            <a:endParaRPr lang="en-US" sz="12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Two letters: lām + alif</a:t>
            </a:r>
            <a:endParaRPr lang="en-US" sz="1250" dirty="0"/>
          </a:p>
        </p:txBody>
      </p:sp>
      <p:sp>
        <p:nvSpPr>
          <p:cNvPr id="26" name="Text 23"/>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lām + alif (website final check 4).</a:t>
            </a:r>
            <a:endParaRPr lang="en-US" sz="1050" dirty="0"/>
          </a:p>
        </p:txBody>
      </p:sp>
      <p:sp>
        <p:nvSpPr>
          <p:cNvPr id="27" name="Shape 24"/>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sign represents the glottal stop /ʔ/?</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a:t>
            </a:r>
            <a:endParaRPr lang="ar-SA" sz="20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ء</a:t>
            </a:r>
            <a:endParaRPr lang="ar-SA" sz="2050" dirty="0"/>
          </a:p>
        </p:txBody>
      </p:sp>
      <p:sp>
        <p:nvSpPr>
          <p:cNvPr id="38" name="Shape 35"/>
          <p:cNvSpPr/>
          <p:nvPr/>
        </p:nvSpPr>
        <p:spPr>
          <a:xfrm>
            <a:off x="4459224" y="34472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a:t>
            </a:r>
            <a:endParaRPr lang="ar-SA" sz="20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hamza (website final check 5).</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fatḥa supply? (as in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Short /a/</a:t>
            </a:r>
            <a:endParaRPr lang="en-US" sz="12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Short /u/</a:t>
            </a:r>
            <a:endParaRPr lang="en-US" sz="1250" dirty="0"/>
          </a:p>
        </p:txBody>
      </p:sp>
      <p:sp>
        <p:nvSpPr>
          <p:cNvPr id="53" name="Shape 50"/>
          <p:cNvSpPr/>
          <p:nvPr/>
        </p:nvSpPr>
        <p:spPr>
          <a:xfrm>
            <a:off x="8278368" y="34472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Short /i/</a:t>
            </a:r>
            <a:endParaRPr lang="en-US" sz="1250" dirty="0"/>
          </a:p>
        </p:txBody>
      </p:sp>
      <p:sp>
        <p:nvSpPr>
          <p:cNvPr id="56" name="Text 53"/>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fatḥa = short a (website final check 6).</a:t>
            </a:r>
            <a:endParaRPr lang="en-US" sz="1050" dirty="0"/>
          </a:p>
        </p:txBody>
      </p:sp>
      <p:sp>
        <p:nvSpPr>
          <p:cNvPr id="57" name="Shape 54"/>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59" name="Text 56"/>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29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F1-L04 · Letters 23–28 + vowels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F1-L05 · One Letter, Four Positions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بـ</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bāʾ at the START of a word</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ـبـ</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bāʾ in the MIDDLE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ـب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bāʾ at the END</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كَتَبَ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he wrote</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بَيْتٌ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house</a:t>
            </a:r>
            <a:pPr indent="0" marL="0">
              <a:buNone/>
            </a:pPr>
            <a:r>
              <a:rPr lang="en-US" sz="1000" i="1" dirty="0">
                <a:solidFill>
                  <a:srgbClr val="5A6472"/>
                </a:solidFill>
                <a:latin typeface="Calibri" pitchFamily="34" charset="0"/>
                <a:ea typeface="Calibri" pitchFamily="34" charset="-122"/>
                <a:cs typeface="Calibri" pitchFamily="34" charset="-120"/>
              </a:rPr>
              <a:t>  pl. بُيُوتٌ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all 28 letters in order and circle the six breakers.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ا د ذ ر ز و</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F1-L04 · play the vowel game; write </a:t>
            </a:r>
            <a:pPr algn="l" indent="0" marL="0">
              <a:buNone/>
            </a:pPr>
            <a:r>
              <a:rPr lang="ar-SA" altLang="en-US" sz="1550" dirty="0">
                <a:solidFill>
                  <a:srgbClr val="1F2A37"/>
                </a:solidFill>
                <a:latin typeface="Amiri" pitchFamily="34" charset="0"/>
                <a:ea typeface="Amiri" pitchFamily="34" charset="-122"/>
                <a:cs typeface="Amiri" pitchFamily="34" charset="-120"/>
              </a:rPr>
              <a:t>بَ بُ بِ بْ</a:t>
            </a:r>
            <a:pPr algn="l" indent="0" marL="0">
              <a:buNone/>
            </a:pPr>
            <a:r>
              <a:rPr lang="en-US" sz="1200" dirty="0">
                <a:solidFill>
                  <a:srgbClr val="1F2A37"/>
                </a:solidFill>
                <a:latin typeface="Calibri" pitchFamily="34" charset="0"/>
                <a:ea typeface="Calibri" pitchFamily="34" charset="-122"/>
                <a:cs typeface="Calibri" pitchFamily="34" charset="-120"/>
              </a:rPr>
              <a:t> with three letters.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all 28 letters in order; circle the six breakers.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F1-L04 · Heritage precision: fully vowel a familiar word and justify every mark.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29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F1-L05 · One Letter, Four Positions</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أَشْكَالُ الحُرُوفِ فِي الكَلِمَةِ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all 28 letters + the six breakers.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F1-L04 · Complete the Alphabet &amp; Read Short Vowels</dc:title>
  <dc:subject>PptxGenJS Presentation</dc:subject>
  <dc:creator>Al Madina Online School · Arabic Department</dc:creator>
  <cp:lastModifiedBy>Al Madina Online School · Arabic Department</cp:lastModifiedBy>
  <cp:revision>1</cp:revision>
  <dcterms:created xsi:type="dcterms:W3CDTF">2026-09-27T09:24:06Z</dcterms:created>
  <dcterms:modified xsi:type="dcterms:W3CDTF">2026-09-27T09:24:06Z</dcterms:modified>
</cp:coreProperties>
</file>