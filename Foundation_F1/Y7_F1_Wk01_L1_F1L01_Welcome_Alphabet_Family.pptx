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1 (F1-L01). The website lesson teaches alif (introductory letter, no fixed sound in this lesson), Family 1 ب ت ث (shared base; dots below/above) and Family 2 ج ح خ (shared bowl; dot inside/below, none, above), line direction (right → left) and isolated formation. The listening scripts, mini-checks, dot detective, sorting task, formation steps, mix-up/repair table and final check are the website’s; the letter-name game is the website game “The Alphabet Family”.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A first lesson for complete beginners, with heritage readers in the same class. CORE: recognise the 7 names, the 6 sounds and the two families; show the right-hand start; write 2 letters. DEVELOP: explain both dot rules; copy all 7 accurately. STRETCH: fast recognition, /t/ vs /θ/ and /ħ/ vs /x/, all 7 from memory, teach the family rule.
• Heritage / Urdu readers already know these shapes: the Urdu bridge shows the Arabic NAME for each familiar letter. Their target is formal names, exact dots and neat formation (website Heritage route).
• No transliteration for letters on the listening tasks (website rule) — students choose the shape they hear.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FIRST LESSON — a “what do you already know?” warm-up, not a test. Celebrate any prior knowledge (heritage readers, Qur’an classes). Use it to spot who already reads.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Arabic starts on the RIGHT. Letters come in families: same shape, different dots.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four objectives on the left summarise the website F1-L01 outcomes; the routes are the website’s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 the SHAPES are the same in Urdu; the NAMES change a little: Urdu bē → Arabic bāʾ, tē → tāʾ, sē → thāʾ (and in Arabic ث is /θ/ as in “thin”, not /s/), jīm → jīm, baṛī ḥē → ḥāʾ, khē → khāʾ.
Heritage readers: praise what they know, then insist on the formal Arabic names and sounds (website Heritage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INSTRUCTION (2 min) — website “Orient” section: a 28-letter alphabet; Arabic lines begin on the right; the first letters come in families that share a shape.
Stress the website distinction: the right-to-left arrow is about the LINE, not about the stroke order of each letter.
Gesture: every student puts a finger on the RIGHT edge of their screen — “Arabic starts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LETTERS 1–4 (website Part 1). Hear → say → see → write.
• ا أَلِف: first in the alphabet; kept SEPARATE from both families; in this lesson we learn its name only — no fixed sound yet (website rule).
• Family 1 shares one body (a shallow bowl). The dots tell the members apart: ب one below · ت two above · ث three above.
Pronunciation (website): ب /b/ close both lips (“book”) · ت clear /t/, tongue inside the mouth · ث /θ/ tongue tip lightly between the teeth (“thin”) — do not turn it into /t/ or /s/.
Gesture: hand flat = the body; fingers below/above = the dots.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LETTERS 5–7 (website Part 2). Same bowl, different dot.
Pronunciation (website, MSA model): ج /dʒ/ like “jam” — heritage learners may know /g/ or /ʒ/ from dialects; respect it, but the lesson uses /dʒ/ · ح /ħ/ a strong, voiceless breath from deep in the throat — NOT English h (“fog on a mirror”, but deeper) · خ /x/ friction at the back, like Scottish “loch” — never /k/.
Memory hook: ج dot IN the bowl, ح NO dot, خ dot ON TOP (“kh is on the 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DOT RULE (website): Family 1 — one below, two above, three above. Family 2 — one inside/below, none, one above.
Seven NAMES but only six consonant SOUNDS today (alif is taught by name only) — a website check question.
Cover-the-dots game: hide the dots with your hand on camera; students say which family; reveal and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(2 min) — website “Pronunciation focus”. Model each sound 3 times; students echo with mics muted, then 3 volunteers on open mic (invitation only; “pass” allowed).
Minimal pairs from the website: /t/ vs /θ/ (ت vs ث) and /ħ/ vs /x/ (ح vs خ).
Heritage / Urdu speakers often say ث as /s/ (Urdu sē) — this is the key correction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 1 and Dot detective.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FORMATION (5 min). Website sequence: WATCH → AIR-WRITE → TRACE → COPY → WRITE FROM MEMORY. Isolated forms only today.
Model each letter large on the whiteboard / pen tablet, saying the steps aloud. Students air-write with a big arm, then trace the pale letters and copy twice on the dashed line in their books.
Website reminder: the line-direction arrow does NOT tell you the stroke order; each letter has its own steps. Dots go on LAST and close to the body.
SEND: large squared paper; a highlighter baseline; model one letter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lesson game “The Alphabet Family” (مُحَقِّقُ الحُرُوفِ): see the letter, choose its name. Students type 5 letters in the chat. Core: use the dot clue in the green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Whole class says each name aloud together (mics on for a moment), then two volunteers.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AND CHOOSE (3 min) — website “Hear the letter name → select the letter”. Read each cue aloud twice; do not show the Arabic spelling or any transliteration. Students choose the letter shape.
CUES (read aloud):
1. تَاءٌ
2. أَلِفٌ
3. حَاءٌ
4. ثَاءٌ
5. جِيمٌ
Heritage readers may answer fastest — ask them to wait 5 seconds (think time) before 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Say the cue once more while pointing to the right letter; students repeat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AND CHOOSE (3 min) — website “Hear a consonant sound → select the letter” and the sound discrimination circuit. Read each cue aloud twice; do not show the Arabic spelling or any transliteration. Students choose the letter shape.
CUES (read aloud):
1. /b/ (as in “book”)
2. /θ/ (as in “thin”)
3. /x/ (as in “loch”)
4. /ħ/ (deep breath)
5. /t/
Say only the short consonant sound — not the letter name. Alif is not included: it has no fixed sound in this lesson (website).
Stretch challenge: /t/ vs /θ/ and /ħ/ vs /x/ are the website’s minimal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Say the cue once more while pointing to the right letter; students repeat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 the seven letters” (2 min). Students write the three headings in their books and copy each letter under the right one. Clue: look at the BODY, not the dots.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 the seven letters” (2 min). Students write the three headings in their books and copy each letter under the right one. Clue: look at the BODY, not the dots.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LISTENING PRACTICE (3 min). Read each script twice, slowly, with a pause between names. Students first WRITE the letters in order in their books (website response task), then choose.
Script 1: أَلِفٌ. بَاءٌ. تَاءٌ. ثَاءٌ. (then: circle the letter with one dot below)
Script 2: جِيمٌ. حَاءٌ. خَاءٌ. (then: underline the letter with no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check the written order in books (cameras: hold books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WRITING (7 min). Website routes: Core “form at least two letters”; Develop “copy all seven isolated forms accurately”; Stretch “write all seven from memory and teach the family principle”.
LIVE FEEDBACK: after 3 minutes students hold their book up to the camera. Check dots (position and number) and that dots are close to the letter body (website mix-up table).
Work with the less able first. SEND: squared paper, one letter per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وَهٰذِهِ العَائِلَةُ؟ (And this family?)
B: بَاءٌ، تَاءٌ، ثَاءٌ — نَفْسُ الشَّكْلِ وَنِقَاطٌ مُخْتَلِفَةٌ. (bāʾ, tāʾ, thāʾ — the same shape and different dots.)
SHOW AND SAY — website performance task “My Letter Family” (60–90 s each). Evidence checklist (website): introduce ا as أَلِف, the first letter · present ب ت ث OR ج ح خ · say the three sounds · explain the dot rule · point to the right-hand line start · form one letter · answer one audience challenge.
Audience challenges (website): “Point to خَاء.” · “Which letter has two dots on top?” · “Which letter comes first?” · “How many letters does Arabic have?” · “Show me where an Arabic line starts.”
Dignified routes (website): individual, paired, or quiet route with one trusted partner. Prompt translations: What is this letter? · Where does the line begin? · Explain the dot rule. · Teach your classmate a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website “Common mix-ups and repairs”. Students check their own writing against rows 1–3 and correct in green pen. Other website repairs: ح is deeper than English h; the line arrow is not a stroke-order rule; dots must stay close to the letter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(F1-L02 · New Letter Families &amp; Connection Breakers) will spend class time USING this language, so students prepare it tonight — short, simple, easy to access (school guidance: “Simple, Short, Interesting, Relevant, Easy to access”). Next lesson adds seven letters (د ذ ر ز س ش ص). Preview five of them tonight: look at the shape, say the name.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F1  ·  WEEK 1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F1-L01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Welcome to Arabic — The Alphabet Family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مَرْحَبًا بِكُمْ فِي اللُّغَةِ العَرَبِيَّةِ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Meet your first seven letters: alif (</a:t>
            </a:r>
            <a:pPr algn="l" indent="0" marL="0">
              <a:buNone/>
            </a:pPr>
            <a:r>
              <a:rPr lang="ar-SA" altLang="en-US" sz="1800" dirty="0">
                <a:solidFill>
                  <a:srgbClr val="C6D2E6"/>
                </a:solidFill>
                <a:latin typeface="Amiri" pitchFamily="34" charset="0"/>
                <a:ea typeface="Amiri" pitchFamily="34" charset="-122"/>
                <a:cs typeface="Amiri" pitchFamily="34" charset="-120"/>
              </a:rPr>
              <a:t>ا</a:t>
            </a:r>
            <a:pPr algn="l" indent="0" marL="0">
              <a:buNone/>
            </a:pPr>
            <a:r>
              <a:rPr lang="en-US" sz="1400" dirty="0">
                <a:solidFill>
                  <a:srgbClr val="C6D2E6"/>
                </a:solidFill>
                <a:latin typeface="Calibri" pitchFamily="34" charset="0"/>
                <a:ea typeface="Calibri" pitchFamily="34" charset="-122"/>
                <a:cs typeface="Calibri" pitchFamily="34" charset="-120"/>
              </a:rPr>
              <a:t>) and two letter families that share a shape (</a:t>
            </a:r>
            <a:pPr algn="l" indent="0" marL="0">
              <a:buNone/>
            </a:pPr>
            <a:r>
              <a:rPr lang="ar-SA" altLang="en-US" sz="1800" dirty="0">
                <a:solidFill>
                  <a:srgbClr val="C6D2E6"/>
                </a:solidFill>
                <a:latin typeface="Amiri" pitchFamily="34" charset="0"/>
                <a:ea typeface="Amiri" pitchFamily="34" charset="-122"/>
                <a:cs typeface="Amiri" pitchFamily="34" charset="-120"/>
              </a:rPr>
              <a:t>ب ت ث</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ج ح خ</a:t>
            </a:r>
            <a:pPr algn="l" indent="0" marL="0">
              <a:buNone/>
            </a:pPr>
            <a:r>
              <a:rPr lang="en-US" sz="1400" dirty="0">
                <a:solidFill>
                  <a:srgbClr val="C6D2E6"/>
                </a:solidFill>
                <a:latin typeface="Calibri" pitchFamily="34" charset="0"/>
                <a:ea typeface="Calibri" pitchFamily="34" charset="-122"/>
                <a:cs typeface="Calibri" pitchFamily="34" charset="-120"/>
              </a:rPr>
              <a:t>). Learn their names and sounds, use the dots to tell them apart, and write each letter carefully.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F1-L01 · Week 1,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complete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F1 › Lesson 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Right to left, alif, and two letter families.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Listen and choose, sort the families, dot detective.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F1-L02.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a line of Arabic begin?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the left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the right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middle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many letters are in the Arabic alphabet?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28</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26</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32</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of these is written in Arabic script?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Hello</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Bonjour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34" charset="0"/>
                <a:ea typeface="Amiri" pitchFamily="34" charset="-122"/>
                <a:cs typeface="Amiri" pitchFamily="34" charset="-120"/>
              </a:rPr>
              <a:t>مَرْحَبًا</a:t>
            </a:r>
            <a:endParaRPr lang="ar-SA" sz="220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 uses almost the same letters as Arabic?</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English</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Chinese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Urdu</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The Qur’an was revealed in which language?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Urdu</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Persian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a line of Arabic begin?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 the left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On the right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the middle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Arabic is written and read from right to left.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many letters are in the Arabic alphabet?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28</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26</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32</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Arabic has 28 letters — today we open the first 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of these is written in Arabic script?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Hello</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Bonjour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2200" b="1" dirty="0">
                <a:solidFill>
                  <a:srgbClr val="1F2A37"/>
                </a:solidFill>
                <a:latin typeface="Amiri" pitchFamily="34" charset="0"/>
                <a:ea typeface="Amiri" pitchFamily="34" charset="-122"/>
                <a:cs typeface="Amiri" pitchFamily="34" charset="-120"/>
              </a:rPr>
              <a:t>مَرْحَبًا</a:t>
            </a:r>
            <a:endParaRPr lang="ar-SA" sz="22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مَرْحَبًا</a:t>
            </a:r>
            <a:pPr algn="l" indent="0" marL="0">
              <a:buNone/>
            </a:pPr>
            <a:r>
              <a:rPr lang="en-US" sz="1050" i="1" dirty="0">
                <a:solidFill>
                  <a:srgbClr val="8A6D1E"/>
                </a:solidFill>
                <a:latin typeface="Calibri" pitchFamily="34" charset="0"/>
                <a:ea typeface="Calibri" pitchFamily="34" charset="-122"/>
                <a:cs typeface="Calibri" pitchFamily="34" charset="-120"/>
              </a:rPr>
              <a:t> = hello / welcome.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 uses almost the same letters as Arabic?</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English</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Chinese</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Urdu</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Urdu (and Persian) use the Arabic alphabet with a few extra letters.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The Qur’an was revealed in which language?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Arabic</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Urdu</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Persian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Arabic — the language of the Qur’an, spoken in more than 20 countries.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Arabic starts on the RIGHT. Letters come in families: same shape, different dots.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   ·   ب ت ث   ·   ج ح خ</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Know that Arabic lines begin on the right.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alif and the six letters of two families.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Say each letter name and consonant sound.</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the dots to tell family members apart and form each letter.</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recognise all 7 letters and say their names.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show where an Arabic line starts and write 2 letters.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explain both dot rules.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copy all 7 letters accurately.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hear /t/ vs /θ/ and /ħ/ vs /x/.</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all 7 from memory and teach the family rule.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7 letters in 3 groups. Learn the NAME and the SOUND of each one. See it → hear it → say it → write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FIRST</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Alif · 1</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FAMILY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ب ت ث · 3</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FAMILY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ج ح خ · 3</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ا</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‎الف‎ </a:t>
            </a:r>
            <a:pPr indent="0" marL="0">
              <a:buNone/>
            </a:pPr>
            <a:r>
              <a:rPr lang="en-US" sz="950" b="1" dirty="0">
                <a:solidFill>
                  <a:srgbClr val="2E8B57"/>
                </a:solidFill>
                <a:latin typeface="Calibri" pitchFamily="34" charset="0"/>
                <a:ea typeface="Calibri" pitchFamily="34" charset="-122"/>
                <a:cs typeface="Calibri" pitchFamily="34" charset="-120"/>
              </a:rPr>
              <a:t> alif · alif (the same!)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‎بے‎ </a:t>
            </a:r>
            <a:pPr indent="0" marL="0">
              <a:buNone/>
            </a:pPr>
            <a:r>
              <a:rPr lang="en-US" sz="950" b="1" dirty="0">
                <a:solidFill>
                  <a:srgbClr val="2E8B57"/>
                </a:solidFill>
                <a:latin typeface="Calibri" pitchFamily="34" charset="0"/>
                <a:ea typeface="Calibri" pitchFamily="34" charset="-122"/>
                <a:cs typeface="Calibri" pitchFamily="34" charset="-120"/>
              </a:rPr>
              <a:t> bē · Arabic: bāʾ</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ث</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‎ثے‎ </a:t>
            </a:r>
            <a:pPr indent="0" marL="0">
              <a:buNone/>
            </a:pPr>
            <a:r>
              <a:rPr lang="en-US" sz="950" b="1" dirty="0">
                <a:solidFill>
                  <a:srgbClr val="2E8B57"/>
                </a:solidFill>
                <a:latin typeface="Calibri" pitchFamily="34" charset="0"/>
                <a:ea typeface="Calibri" pitchFamily="34" charset="-122"/>
                <a:cs typeface="Calibri" pitchFamily="34" charset="-120"/>
              </a:rPr>
              <a:t> sē · Arabic: thāʾ /θ/</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‎بڑی حے‎ </a:t>
            </a:r>
            <a:pPr indent="0" marL="0">
              <a:buNone/>
            </a:pPr>
            <a:r>
              <a:rPr lang="en-US" sz="950" b="1" dirty="0">
                <a:solidFill>
                  <a:srgbClr val="2E8B57"/>
                </a:solidFill>
                <a:latin typeface="Calibri" pitchFamily="34" charset="0"/>
                <a:ea typeface="Calibri" pitchFamily="34" charset="-122"/>
                <a:cs typeface="Calibri" pitchFamily="34" charset="-120"/>
              </a:rPr>
              <a:t> baṛī ḥē · Arabic: ḥāʾ</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خ</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‎خے‎ </a:t>
            </a:r>
            <a:pPr indent="0" marL="0">
              <a:buNone/>
            </a:pPr>
            <a:r>
              <a:rPr lang="en-US" sz="950" b="1" dirty="0">
                <a:solidFill>
                  <a:srgbClr val="2E8B57"/>
                </a:solidFill>
                <a:latin typeface="Calibri" pitchFamily="34" charset="0"/>
                <a:ea typeface="Calibri" pitchFamily="34" charset="-122"/>
                <a:cs typeface="Calibri" pitchFamily="34" charset="-120"/>
              </a:rPr>
              <a:t> khē · Arabic: khāʾ</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TEACHER INSTRUCTION · THREE BIG IDEAS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Before we start: how Arabic works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كَيْفَ تَعْمَلُ العَرَبِيَّةُ؟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9154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DIRECTION</a:t>
            </a:r>
            <a:endParaRPr lang="en-US" sz="850" dirty="0"/>
          </a:p>
        </p:txBody>
      </p:sp>
      <p:sp>
        <p:nvSpPr>
          <p:cNvPr id="18" name="Text 15"/>
          <p:cNvSpPr txBox="1"/>
          <p:nvPr/>
        </p:nvSpPr>
        <p:spPr>
          <a:xfrm>
            <a:off x="9169908" y="1874520"/>
            <a:ext cx="242468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right → left</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 اِبْدَأْ هُنَا</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Start here — on the RIGHT.</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Lines go from the right-hand side towards the left. (This is NOT how to draw each letter.)</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96012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28 LETTERS</a:t>
            </a:r>
            <a:endParaRPr lang="en-US" sz="850" dirty="0"/>
          </a:p>
        </p:txBody>
      </p:sp>
      <p:sp>
        <p:nvSpPr>
          <p:cNvPr id="26" name="Text 23"/>
          <p:cNvSpPr txBox="1"/>
          <p:nvPr/>
        </p:nvSpPr>
        <p:spPr>
          <a:xfrm>
            <a:off x="5419344"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٢٨ حَرْفًا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ا ب ت ث ج ح خ …</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Today: the first 7 of 28.</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The other 21 stay closed for later lessons.</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82296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FAMILIES</a:t>
            </a:r>
            <a:endParaRPr lang="en-US" sz="850" dirty="0"/>
          </a:p>
        </p:txBody>
      </p:sp>
      <p:sp>
        <p:nvSpPr>
          <p:cNvPr id="34" name="Text 31"/>
          <p:cNvSpPr txBox="1"/>
          <p:nvPr/>
        </p:nvSpPr>
        <p:spPr>
          <a:xfrm>
            <a:off x="1463040" y="1874520"/>
            <a:ext cx="2493264" cy="365760"/>
          </a:xfrm>
          <a:prstGeom prst="rect">
            <a:avLst/>
          </a:prstGeom>
          <a:noFill/>
          <a:ln/>
        </p:spPr>
        <p:txBody>
          <a:bodyPr wrap="square" lIns="0" tIns="0" rIns="0" bIns="0" rtlCol="0" anchor="ctr"/>
          <a:lstStyle/>
          <a:p>
            <a:pPr algn="l" indent="0" marL="0">
              <a:buNone/>
            </a:pPr>
            <a:r>
              <a:rPr lang="en-US" sz="1500" b="1" dirty="0">
                <a:solidFill>
                  <a:srgbClr val="8A6D1E"/>
                </a:solidFill>
                <a:latin typeface="Calibri" pitchFamily="34" charset="0"/>
                <a:ea typeface="Calibri" pitchFamily="34" charset="-122"/>
                <a:cs typeface="Calibri" pitchFamily="34" charset="-120"/>
              </a:rPr>
              <a:t>same shape, different dots</a:t>
            </a:r>
            <a:endParaRPr lang="en-US" sz="15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ب ت ث</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One body, three letters.</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Look at the SHAPE first, then COUNT the dots and see WHERE they are.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LETTERS · ALIF + FAMILY 1 (SHARED BASE SHAPE)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Alif and the first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الأَلِفُ وَالعَائِلَةُ الأُولَى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first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ا</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alif — the first letter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stands alone · no dots</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أَلِفٌ</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0" name="Shape 27"/>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Family 1</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ب</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bāʾ — sound /b/</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ONE dot BELOW</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بَاءٌ</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2" name="Shape 39"/>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Family 1</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ت</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tāʾ — sound /t/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TWO dots ABOVE</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تَاءٌ</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4" name="Shape 51"/>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Family 1</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ث</a:t>
            </a:r>
            <a:endParaRPr lang="ar-SA" sz="33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thāʾ — sound /θ/ (thin)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THREE dots ABOVE</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ثَاءٌ</a:t>
            </a:r>
            <a:endParaRPr lang="ar-SA"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LETTERS · FAMILY 2 (SHARED BOWL SHAPE)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second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العَائِلَةُ الثَّانِيَةُ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Family 2</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ج</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jīm — sound /dʒ/ (jam)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ONE dot INSIDE / below the bowl</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جِيمٌ</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30" name="Shape 27"/>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Family 2</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ح</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ḥāʾ — sound /ħ/ (deep breath)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NO dot</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حَاءٌ</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42" name="Shape 39"/>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Family 2</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خ</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khāʾ — sound /x/ (loch)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ONE dot ABOVE</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خَاءٌ</a:t>
            </a:r>
            <a:endParaRPr lang="ar-SA"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TEACHER INSTRUCTION · THE DOT RULE · ALL 7 LETTERS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Shape first, then count the dots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قَاعِدَةُ النِّقَاطِ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Group</a:t>
            </a:r>
            <a:endParaRPr lang="en-US" sz="1100" dirty="0"/>
          </a:p>
        </p:txBody>
      </p:sp>
      <p:sp>
        <p:nvSpPr>
          <p:cNvPr id="17" name="Text 14"/>
          <p:cNvSpPr txBox="1"/>
          <p:nvPr/>
        </p:nvSpPr>
        <p:spPr>
          <a:xfrm>
            <a:off x="8330184"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Letter</a:t>
            </a:r>
            <a:endParaRPr lang="en-US" sz="1100" dirty="0"/>
          </a:p>
        </p:txBody>
      </p:sp>
      <p:sp>
        <p:nvSpPr>
          <p:cNvPr id="18" name="Text 15"/>
          <p:cNvSpPr txBox="1"/>
          <p:nvPr/>
        </p:nvSpPr>
        <p:spPr>
          <a:xfrm>
            <a:off x="631850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Name</a:t>
            </a:r>
            <a:endParaRPr lang="en-US" sz="1100" dirty="0"/>
          </a:p>
        </p:txBody>
      </p:sp>
      <p:sp>
        <p:nvSpPr>
          <p:cNvPr id="19" name="Text 16"/>
          <p:cNvSpPr txBox="1"/>
          <p:nvPr/>
        </p:nvSpPr>
        <p:spPr>
          <a:xfrm>
            <a:off x="33924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Dots</a:t>
            </a:r>
            <a:endParaRPr lang="en-US" sz="1100" dirty="0"/>
          </a:p>
        </p:txBody>
      </p:sp>
      <p:sp>
        <p:nvSpPr>
          <p:cNvPr id="20" name="Text 17"/>
          <p:cNvSpPr txBox="1"/>
          <p:nvPr/>
        </p:nvSpPr>
        <p:spPr>
          <a:xfrm>
            <a:off x="53035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Sound</a:t>
            </a:r>
            <a:endParaRPr lang="en-US" sz="1100" dirty="0"/>
          </a:p>
        </p:txBody>
      </p:sp>
      <p:sp>
        <p:nvSpPr>
          <p:cNvPr id="21" name="Shape 18"/>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2" name="Text 19"/>
          <p:cNvSpPr txBox="1"/>
          <p:nvPr/>
        </p:nvSpPr>
        <p:spPr>
          <a:xfrm>
            <a:off x="9829800" y="2267712"/>
            <a:ext cx="18288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First · separate</a:t>
            </a:r>
            <a:endParaRPr lang="en-US" sz="1100" dirty="0"/>
          </a:p>
        </p:txBody>
      </p:sp>
      <p:sp>
        <p:nvSpPr>
          <p:cNvPr id="23" name="Text 20"/>
          <p:cNvSpPr txBox="1"/>
          <p:nvPr/>
        </p:nvSpPr>
        <p:spPr>
          <a:xfrm>
            <a:off x="8348472" y="2267712"/>
            <a:ext cx="1280160" cy="530352"/>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34" charset="0"/>
                <a:ea typeface="Amiri" pitchFamily="34" charset="-122"/>
                <a:cs typeface="Amiri" pitchFamily="34" charset="-120"/>
              </a:rPr>
              <a:t>ا</a:t>
            </a:r>
            <a:endParaRPr lang="ar-SA" sz="2450" dirty="0"/>
          </a:p>
        </p:txBody>
      </p:sp>
      <p:sp>
        <p:nvSpPr>
          <p:cNvPr id="24" name="Text 21"/>
          <p:cNvSpPr txBox="1"/>
          <p:nvPr/>
        </p:nvSpPr>
        <p:spPr>
          <a:xfrm>
            <a:off x="6336792" y="2267712"/>
            <a:ext cx="18288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أَلِفٌ</a:t>
            </a:r>
            <a:endParaRPr lang="ar-SA" sz="2200" dirty="0"/>
          </a:p>
        </p:txBody>
      </p:sp>
      <p:sp>
        <p:nvSpPr>
          <p:cNvPr id="25" name="Text 22"/>
          <p:cNvSpPr txBox="1"/>
          <p:nvPr/>
        </p:nvSpPr>
        <p:spPr>
          <a:xfrm>
            <a:off x="3429000" y="2267712"/>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none</a:t>
            </a:r>
            <a:endParaRPr lang="en-US" sz="1100" dirty="0"/>
          </a:p>
        </p:txBody>
      </p:sp>
      <p:sp>
        <p:nvSpPr>
          <p:cNvPr id="26" name="Text 23"/>
          <p:cNvSpPr txBox="1"/>
          <p:nvPr/>
        </p:nvSpPr>
        <p:spPr>
          <a:xfrm>
            <a:off x="566928" y="2267712"/>
            <a:ext cx="26791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name only (no fixed sound today)</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30" name="Text 27"/>
          <p:cNvSpPr txBox="1"/>
          <p:nvPr/>
        </p:nvSpPr>
        <p:spPr>
          <a:xfrm>
            <a:off x="9829800" y="2852928"/>
            <a:ext cx="18288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Family 1</a:t>
            </a:r>
            <a:endParaRPr lang="en-US" sz="1100" dirty="0"/>
          </a:p>
        </p:txBody>
      </p:sp>
      <p:sp>
        <p:nvSpPr>
          <p:cNvPr id="31" name="Text 28"/>
          <p:cNvSpPr txBox="1"/>
          <p:nvPr/>
        </p:nvSpPr>
        <p:spPr>
          <a:xfrm>
            <a:off x="8348472" y="2852928"/>
            <a:ext cx="1280160" cy="530352"/>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34" charset="0"/>
                <a:ea typeface="Amiri" pitchFamily="34" charset="-122"/>
                <a:cs typeface="Amiri" pitchFamily="34" charset="-120"/>
              </a:rPr>
              <a:t>ب</a:t>
            </a:r>
            <a:endParaRPr lang="ar-SA" sz="2450" dirty="0"/>
          </a:p>
        </p:txBody>
      </p:sp>
      <p:sp>
        <p:nvSpPr>
          <p:cNvPr id="32" name="Text 29"/>
          <p:cNvSpPr txBox="1"/>
          <p:nvPr/>
        </p:nvSpPr>
        <p:spPr>
          <a:xfrm>
            <a:off x="6336792" y="2852928"/>
            <a:ext cx="18288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بَاءٌ</a:t>
            </a:r>
            <a:endParaRPr lang="ar-SA" sz="2200" dirty="0"/>
          </a:p>
        </p:txBody>
      </p:sp>
      <p:sp>
        <p:nvSpPr>
          <p:cNvPr id="33" name="Text 30"/>
          <p:cNvSpPr txBox="1"/>
          <p:nvPr/>
        </p:nvSpPr>
        <p:spPr>
          <a:xfrm>
            <a:off x="3429000" y="2852928"/>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 below</a:t>
            </a:r>
            <a:endParaRPr lang="en-US" sz="1100" dirty="0"/>
          </a:p>
        </p:txBody>
      </p:sp>
      <p:sp>
        <p:nvSpPr>
          <p:cNvPr id="34" name="Text 31"/>
          <p:cNvSpPr txBox="1"/>
          <p:nvPr/>
        </p:nvSpPr>
        <p:spPr>
          <a:xfrm>
            <a:off x="566928" y="2852928"/>
            <a:ext cx="26791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 — book</a:t>
            </a:r>
            <a:endParaRPr lang="en-US" sz="1100" dirty="0"/>
          </a:p>
        </p:txBody>
      </p:sp>
      <p:sp>
        <p:nvSpPr>
          <p:cNvPr id="35" name="Shape 32"/>
          <p:cNvSpPr/>
          <p:nvPr/>
        </p:nvSpPr>
        <p:spPr>
          <a:xfrm>
            <a:off x="11091672" y="289864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8986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8" name="Text 35"/>
          <p:cNvSpPr txBox="1"/>
          <p:nvPr/>
        </p:nvSpPr>
        <p:spPr>
          <a:xfrm>
            <a:off x="9829800" y="3438144"/>
            <a:ext cx="18288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Family 1</a:t>
            </a:r>
            <a:endParaRPr lang="en-US" sz="1100" dirty="0"/>
          </a:p>
        </p:txBody>
      </p:sp>
      <p:sp>
        <p:nvSpPr>
          <p:cNvPr id="39" name="Text 36"/>
          <p:cNvSpPr txBox="1"/>
          <p:nvPr/>
        </p:nvSpPr>
        <p:spPr>
          <a:xfrm>
            <a:off x="8348472" y="3438144"/>
            <a:ext cx="1280160" cy="530352"/>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34" charset="0"/>
                <a:ea typeface="Amiri" pitchFamily="34" charset="-122"/>
                <a:cs typeface="Amiri" pitchFamily="34" charset="-120"/>
              </a:rPr>
              <a:t>ت</a:t>
            </a:r>
            <a:endParaRPr lang="ar-SA" sz="2450" dirty="0"/>
          </a:p>
        </p:txBody>
      </p:sp>
      <p:sp>
        <p:nvSpPr>
          <p:cNvPr id="40" name="Text 37"/>
          <p:cNvSpPr txBox="1"/>
          <p:nvPr/>
        </p:nvSpPr>
        <p:spPr>
          <a:xfrm>
            <a:off x="6336792" y="3438144"/>
            <a:ext cx="18288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تَاءٌ</a:t>
            </a:r>
            <a:endParaRPr lang="ar-SA" sz="2200" dirty="0"/>
          </a:p>
        </p:txBody>
      </p:sp>
      <p:sp>
        <p:nvSpPr>
          <p:cNvPr id="41" name="Text 38"/>
          <p:cNvSpPr txBox="1"/>
          <p:nvPr/>
        </p:nvSpPr>
        <p:spPr>
          <a:xfrm>
            <a:off x="3429000" y="3438144"/>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2 above</a:t>
            </a:r>
            <a:endParaRPr lang="en-US" sz="1100" dirty="0"/>
          </a:p>
        </p:txBody>
      </p:sp>
      <p:sp>
        <p:nvSpPr>
          <p:cNvPr id="42" name="Text 39"/>
          <p:cNvSpPr txBox="1"/>
          <p:nvPr/>
        </p:nvSpPr>
        <p:spPr>
          <a:xfrm>
            <a:off x="566928" y="3438144"/>
            <a:ext cx="26791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 — tap</a:t>
            </a:r>
            <a:endParaRPr lang="en-US" sz="1100" dirty="0"/>
          </a:p>
        </p:txBody>
      </p:sp>
      <p:sp>
        <p:nvSpPr>
          <p:cNvPr id="43" name="Shape 40"/>
          <p:cNvSpPr/>
          <p:nvPr/>
        </p:nvSpPr>
        <p:spPr>
          <a:xfrm>
            <a:off x="11091672" y="3483864"/>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48386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46" name="Text 43"/>
          <p:cNvSpPr txBox="1"/>
          <p:nvPr/>
        </p:nvSpPr>
        <p:spPr>
          <a:xfrm>
            <a:off x="9829800" y="4023360"/>
            <a:ext cx="18288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Family 1</a:t>
            </a:r>
            <a:endParaRPr lang="en-US" sz="1100" dirty="0"/>
          </a:p>
        </p:txBody>
      </p:sp>
      <p:sp>
        <p:nvSpPr>
          <p:cNvPr id="47" name="Text 44"/>
          <p:cNvSpPr txBox="1"/>
          <p:nvPr/>
        </p:nvSpPr>
        <p:spPr>
          <a:xfrm>
            <a:off x="8348472" y="4023360"/>
            <a:ext cx="1280160" cy="530352"/>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34" charset="0"/>
                <a:ea typeface="Amiri" pitchFamily="34" charset="-122"/>
                <a:cs typeface="Amiri" pitchFamily="34" charset="-120"/>
              </a:rPr>
              <a:t>ث</a:t>
            </a:r>
            <a:endParaRPr lang="ar-SA" sz="2450" dirty="0"/>
          </a:p>
        </p:txBody>
      </p:sp>
      <p:sp>
        <p:nvSpPr>
          <p:cNvPr id="48" name="Text 45"/>
          <p:cNvSpPr txBox="1"/>
          <p:nvPr/>
        </p:nvSpPr>
        <p:spPr>
          <a:xfrm>
            <a:off x="6336792" y="4023360"/>
            <a:ext cx="18288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ثَاءٌ</a:t>
            </a:r>
            <a:endParaRPr lang="ar-SA" sz="2200" dirty="0"/>
          </a:p>
        </p:txBody>
      </p:sp>
      <p:sp>
        <p:nvSpPr>
          <p:cNvPr id="49" name="Text 46"/>
          <p:cNvSpPr txBox="1"/>
          <p:nvPr/>
        </p:nvSpPr>
        <p:spPr>
          <a:xfrm>
            <a:off x="3429000" y="4023360"/>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 above</a:t>
            </a:r>
            <a:endParaRPr lang="en-US" sz="1100" dirty="0"/>
          </a:p>
        </p:txBody>
      </p:sp>
      <p:sp>
        <p:nvSpPr>
          <p:cNvPr id="50" name="Text 47"/>
          <p:cNvSpPr txBox="1"/>
          <p:nvPr/>
        </p:nvSpPr>
        <p:spPr>
          <a:xfrm>
            <a:off x="566928" y="4023360"/>
            <a:ext cx="26791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/θ/ — thin</a:t>
            </a:r>
            <a:endParaRPr lang="en-US" sz="1100" dirty="0"/>
          </a:p>
        </p:txBody>
      </p:sp>
      <p:sp>
        <p:nvSpPr>
          <p:cNvPr id="51" name="Shape 48"/>
          <p:cNvSpPr/>
          <p:nvPr/>
        </p:nvSpPr>
        <p:spPr>
          <a:xfrm>
            <a:off x="11091672" y="4069080"/>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06908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3" name="Shape 50"/>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54" name="Text 51"/>
          <p:cNvSpPr txBox="1"/>
          <p:nvPr/>
        </p:nvSpPr>
        <p:spPr>
          <a:xfrm>
            <a:off x="9829800" y="4608576"/>
            <a:ext cx="18288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Family 2</a:t>
            </a:r>
            <a:endParaRPr lang="en-US" sz="1100" dirty="0"/>
          </a:p>
        </p:txBody>
      </p:sp>
      <p:sp>
        <p:nvSpPr>
          <p:cNvPr id="55" name="Text 52"/>
          <p:cNvSpPr txBox="1"/>
          <p:nvPr/>
        </p:nvSpPr>
        <p:spPr>
          <a:xfrm>
            <a:off x="8348472" y="4608576"/>
            <a:ext cx="1280160" cy="530352"/>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34" charset="0"/>
                <a:ea typeface="Amiri" pitchFamily="34" charset="-122"/>
                <a:cs typeface="Amiri" pitchFamily="34" charset="-120"/>
              </a:rPr>
              <a:t>ج</a:t>
            </a:r>
            <a:endParaRPr lang="ar-SA" sz="2450" dirty="0"/>
          </a:p>
        </p:txBody>
      </p:sp>
      <p:sp>
        <p:nvSpPr>
          <p:cNvPr id="56" name="Text 53"/>
          <p:cNvSpPr txBox="1"/>
          <p:nvPr/>
        </p:nvSpPr>
        <p:spPr>
          <a:xfrm>
            <a:off x="6336792" y="4608576"/>
            <a:ext cx="18288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جِيمٌ</a:t>
            </a:r>
            <a:endParaRPr lang="ar-SA" sz="2200" dirty="0"/>
          </a:p>
        </p:txBody>
      </p:sp>
      <p:sp>
        <p:nvSpPr>
          <p:cNvPr id="57" name="Text 54"/>
          <p:cNvSpPr txBox="1"/>
          <p:nvPr/>
        </p:nvSpPr>
        <p:spPr>
          <a:xfrm>
            <a:off x="3429000" y="4608576"/>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 inside / below</a:t>
            </a:r>
            <a:endParaRPr lang="en-US" sz="1100" dirty="0"/>
          </a:p>
        </p:txBody>
      </p:sp>
      <p:sp>
        <p:nvSpPr>
          <p:cNvPr id="58" name="Text 55"/>
          <p:cNvSpPr txBox="1"/>
          <p:nvPr/>
        </p:nvSpPr>
        <p:spPr>
          <a:xfrm>
            <a:off x="566928" y="4608576"/>
            <a:ext cx="26791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/dʒ/ — jam</a:t>
            </a:r>
            <a:endParaRPr lang="en-US" sz="1100" dirty="0"/>
          </a:p>
        </p:txBody>
      </p:sp>
      <p:sp>
        <p:nvSpPr>
          <p:cNvPr id="59" name="Shape 56"/>
          <p:cNvSpPr/>
          <p:nvPr/>
        </p:nvSpPr>
        <p:spPr>
          <a:xfrm>
            <a:off x="11091672" y="4654296"/>
            <a:ext cx="548640" cy="182880"/>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1091672" y="46542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61" name="Shape 58"/>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62" name="Text 59"/>
          <p:cNvSpPr txBox="1"/>
          <p:nvPr/>
        </p:nvSpPr>
        <p:spPr>
          <a:xfrm>
            <a:off x="9829800" y="5193792"/>
            <a:ext cx="18288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Family 2</a:t>
            </a:r>
            <a:endParaRPr lang="en-US" sz="1100" dirty="0"/>
          </a:p>
        </p:txBody>
      </p:sp>
      <p:sp>
        <p:nvSpPr>
          <p:cNvPr id="63" name="Text 60"/>
          <p:cNvSpPr txBox="1"/>
          <p:nvPr/>
        </p:nvSpPr>
        <p:spPr>
          <a:xfrm>
            <a:off x="8348472" y="5193792"/>
            <a:ext cx="1280160" cy="530352"/>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34" charset="0"/>
                <a:ea typeface="Amiri" pitchFamily="34" charset="-122"/>
                <a:cs typeface="Amiri" pitchFamily="34" charset="-120"/>
              </a:rPr>
              <a:t>ح</a:t>
            </a:r>
            <a:endParaRPr lang="ar-SA" sz="2450" dirty="0"/>
          </a:p>
        </p:txBody>
      </p:sp>
      <p:sp>
        <p:nvSpPr>
          <p:cNvPr id="64" name="Text 61"/>
          <p:cNvSpPr txBox="1"/>
          <p:nvPr/>
        </p:nvSpPr>
        <p:spPr>
          <a:xfrm>
            <a:off x="6336792" y="5193792"/>
            <a:ext cx="18288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حَاءٌ</a:t>
            </a:r>
            <a:endParaRPr lang="ar-SA" sz="2200" dirty="0"/>
          </a:p>
        </p:txBody>
      </p:sp>
      <p:sp>
        <p:nvSpPr>
          <p:cNvPr id="65" name="Text 62"/>
          <p:cNvSpPr txBox="1"/>
          <p:nvPr/>
        </p:nvSpPr>
        <p:spPr>
          <a:xfrm>
            <a:off x="3429000" y="5193792"/>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none</a:t>
            </a:r>
            <a:endParaRPr lang="en-US" sz="1100" dirty="0"/>
          </a:p>
        </p:txBody>
      </p:sp>
      <p:sp>
        <p:nvSpPr>
          <p:cNvPr id="66" name="Text 63"/>
          <p:cNvSpPr txBox="1"/>
          <p:nvPr/>
        </p:nvSpPr>
        <p:spPr>
          <a:xfrm>
            <a:off x="566928" y="5193792"/>
            <a:ext cx="26791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/ħ/ — deep breath</a:t>
            </a:r>
            <a:endParaRPr lang="en-US" sz="1100" dirty="0"/>
          </a:p>
        </p:txBody>
      </p:sp>
      <p:sp>
        <p:nvSpPr>
          <p:cNvPr id="67" name="Shape 64"/>
          <p:cNvSpPr/>
          <p:nvPr/>
        </p:nvSpPr>
        <p:spPr>
          <a:xfrm>
            <a:off x="11091672" y="5239512"/>
            <a:ext cx="548640" cy="182880"/>
          </a:xfrm>
          <a:prstGeom prst="roundRect">
            <a:avLst>
              <a:gd name="adj" fmla="val 50000"/>
            </a:avLst>
          </a:prstGeom>
          <a:solidFill>
            <a:srgbClr val="2E8B57"/>
          </a:solidFill>
          <a:ln w="12700">
            <a:solidFill>
              <a:srgbClr val="2E8B57"/>
            </a:solidFill>
            <a:prstDash val="solid"/>
          </a:ln>
        </p:spPr>
      </p:sp>
      <p:sp>
        <p:nvSpPr>
          <p:cNvPr id="68" name="Text 65"/>
          <p:cNvSpPr txBox="1"/>
          <p:nvPr/>
        </p:nvSpPr>
        <p:spPr>
          <a:xfrm>
            <a:off x="11091672" y="523951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69" name="Shape 66"/>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70" name="Text 67"/>
          <p:cNvSpPr txBox="1"/>
          <p:nvPr/>
        </p:nvSpPr>
        <p:spPr>
          <a:xfrm>
            <a:off x="9829800" y="5779008"/>
            <a:ext cx="18288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Family 2</a:t>
            </a:r>
            <a:endParaRPr lang="en-US" sz="1100" dirty="0"/>
          </a:p>
        </p:txBody>
      </p:sp>
      <p:sp>
        <p:nvSpPr>
          <p:cNvPr id="71" name="Text 68"/>
          <p:cNvSpPr txBox="1"/>
          <p:nvPr/>
        </p:nvSpPr>
        <p:spPr>
          <a:xfrm>
            <a:off x="8348472" y="5779008"/>
            <a:ext cx="1280160" cy="530352"/>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34" charset="0"/>
                <a:ea typeface="Amiri" pitchFamily="34" charset="-122"/>
                <a:cs typeface="Amiri" pitchFamily="34" charset="-120"/>
              </a:rPr>
              <a:t>خ</a:t>
            </a:r>
            <a:endParaRPr lang="ar-SA" sz="2450" dirty="0"/>
          </a:p>
        </p:txBody>
      </p:sp>
      <p:sp>
        <p:nvSpPr>
          <p:cNvPr id="72" name="Text 69"/>
          <p:cNvSpPr txBox="1"/>
          <p:nvPr/>
        </p:nvSpPr>
        <p:spPr>
          <a:xfrm>
            <a:off x="6336792" y="5779008"/>
            <a:ext cx="18288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خَاءٌ</a:t>
            </a:r>
            <a:endParaRPr lang="ar-SA" sz="2200" dirty="0"/>
          </a:p>
        </p:txBody>
      </p:sp>
      <p:sp>
        <p:nvSpPr>
          <p:cNvPr id="73" name="Text 70"/>
          <p:cNvSpPr txBox="1"/>
          <p:nvPr/>
        </p:nvSpPr>
        <p:spPr>
          <a:xfrm>
            <a:off x="3429000" y="5779008"/>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 above</a:t>
            </a:r>
            <a:endParaRPr lang="en-US" sz="1100" dirty="0"/>
          </a:p>
        </p:txBody>
      </p:sp>
      <p:sp>
        <p:nvSpPr>
          <p:cNvPr id="74" name="Text 71"/>
          <p:cNvSpPr txBox="1"/>
          <p:nvPr/>
        </p:nvSpPr>
        <p:spPr>
          <a:xfrm>
            <a:off x="566928" y="5779008"/>
            <a:ext cx="26791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/x/ — loch</a:t>
            </a:r>
            <a:endParaRPr lang="en-US" sz="1100" dirty="0"/>
          </a:p>
        </p:txBody>
      </p:sp>
      <p:sp>
        <p:nvSpPr>
          <p:cNvPr id="75" name="Shape 72"/>
          <p:cNvSpPr/>
          <p:nvPr/>
        </p:nvSpPr>
        <p:spPr>
          <a:xfrm>
            <a:off x="11091672" y="5824728"/>
            <a:ext cx="548640" cy="182880"/>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11091672" y="582472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TEACHER INSTRUCTION · SAY IT RIGHT (WEBSITE PRONUNCIATION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Three sounds to practise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أَصْوَاتٌ جَدِيدَةٌ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75438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ث · /θ/</a:t>
            </a:r>
            <a:endParaRPr lang="en-US" sz="850" dirty="0"/>
          </a:p>
        </p:txBody>
      </p:sp>
      <p:sp>
        <p:nvSpPr>
          <p:cNvPr id="18" name="Text 15"/>
          <p:cNvSpPr txBox="1"/>
          <p:nvPr/>
        </p:nvSpPr>
        <p:spPr>
          <a:xfrm>
            <a:off x="9032748" y="1874520"/>
            <a:ext cx="256184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tongue out a little</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ث</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Like “thin” — tongue tip between the teeth.</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Not /t/ (</a:t>
            </a:r>
            <a:pPr algn="l" indent="0" marL="0">
              <a:buNone/>
            </a:pPr>
            <a:r>
              <a:rPr lang="ar-SA" altLang="en-US" sz="1450" dirty="0">
                <a:solidFill>
                  <a:srgbClr val="1F2A37"/>
                </a:solidFill>
                <a:latin typeface="Amiri" pitchFamily="34" charset="0"/>
                <a:ea typeface="Amiri" pitchFamily="34" charset="-122"/>
                <a:cs typeface="Amiri" pitchFamily="34" charset="-120"/>
              </a:rPr>
              <a:t>ت</a:t>
            </a:r>
            <a:pPr algn="l" indent="0" marL="0">
              <a:buNone/>
            </a:pPr>
            <a:r>
              <a:rPr lang="en-US" sz="1100" dirty="0">
                <a:solidFill>
                  <a:srgbClr val="1F2A37"/>
                </a:solidFill>
                <a:latin typeface="Calibri" pitchFamily="34" charset="0"/>
                <a:ea typeface="Calibri" pitchFamily="34" charset="-122"/>
                <a:cs typeface="Calibri" pitchFamily="34" charset="-120"/>
              </a:rPr>
              <a:t>) and not /s/.</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75438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ح · /ħ/</a:t>
            </a:r>
            <a:endParaRPr lang="en-US" sz="850" dirty="0"/>
          </a:p>
        </p:txBody>
      </p:sp>
      <p:sp>
        <p:nvSpPr>
          <p:cNvPr id="26" name="Text 23"/>
          <p:cNvSpPr txBox="1"/>
          <p:nvPr/>
        </p:nvSpPr>
        <p:spPr>
          <a:xfrm>
            <a:off x="5213604" y="1874520"/>
            <a:ext cx="256184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deep, breathy</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ح</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A strong breath from deep in the throat.</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Not the English h — deeper, no scratch.</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75438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خ · /x/</a:t>
            </a:r>
            <a:endParaRPr lang="en-US" sz="850" dirty="0"/>
          </a:p>
        </p:txBody>
      </p:sp>
      <p:sp>
        <p:nvSpPr>
          <p:cNvPr id="34" name="Text 31"/>
          <p:cNvSpPr txBox="1"/>
          <p:nvPr/>
        </p:nvSpPr>
        <p:spPr>
          <a:xfrm>
            <a:off x="1394460" y="1874520"/>
            <a:ext cx="256184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scratchy, at the back</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خ</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Like Scottish “loch”.</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Never /k/. Keep the friction going.</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alif?</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has ONE dot BELOW?</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has TWO dots ABOVE?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bowl-family letter has NO dot?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alif?</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a:t>
            </a:r>
            <a:pPr algn="l" indent="0" marL="0">
              <a:buNone/>
            </a:pPr>
            <a:r>
              <a:rPr lang="en-US" sz="1050" i="1" dirty="0">
                <a:solidFill>
                  <a:srgbClr val="8A6D1E"/>
                </a:solidFill>
                <a:latin typeface="Calibri" pitchFamily="34" charset="0"/>
                <a:ea typeface="Calibri" pitchFamily="34" charset="-122"/>
                <a:cs typeface="Calibri" pitchFamily="34" charset="-120"/>
              </a:rPr>
              <a:t> is alif — first and separate.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has ONE dot BELOW?</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ب</a:t>
            </a:r>
            <a:pPr algn="l" indent="0" marL="0">
              <a:buNone/>
            </a:pPr>
            <a:r>
              <a:rPr lang="en-US" sz="1050" i="1" dirty="0">
                <a:solidFill>
                  <a:srgbClr val="8A6D1E"/>
                </a:solidFill>
                <a:latin typeface="Calibri" pitchFamily="34" charset="0"/>
                <a:ea typeface="Calibri" pitchFamily="34" charset="-122"/>
                <a:cs typeface="Calibri" pitchFamily="34" charset="-120"/>
              </a:rPr>
              <a:t> bāʾ: one dot below.</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has TWO dots ABOVE?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a:t>
            </a:r>
            <a:pPr algn="l" indent="0" marL="0">
              <a:buNone/>
            </a:pPr>
            <a:r>
              <a:rPr lang="en-US" sz="1050" i="1" dirty="0">
                <a:solidFill>
                  <a:srgbClr val="8A6D1E"/>
                </a:solidFill>
                <a:latin typeface="Calibri" pitchFamily="34" charset="0"/>
                <a:ea typeface="Calibri" pitchFamily="34" charset="-122"/>
                <a:cs typeface="Calibri" pitchFamily="34" charset="-120"/>
              </a:rPr>
              <a:t> tāʾ: two dots above.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bowl-family letter has NO dot?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ح</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ح</a:t>
            </a:r>
            <a:pPr algn="l" indent="0" marL="0">
              <a:buNone/>
            </a:pPr>
            <a:r>
              <a:rPr lang="en-US" sz="1050" i="1" dirty="0">
                <a:solidFill>
                  <a:srgbClr val="8A6D1E"/>
                </a:solidFill>
                <a:latin typeface="Calibri" pitchFamily="34" charset="0"/>
                <a:ea typeface="Calibri" pitchFamily="34" charset="-122"/>
                <a:cs typeface="Calibri" pitchFamily="34" charset="-120"/>
              </a:rPr>
              <a:t> ḥāʾ: same bowl, no dot.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I DO · WATCH → AIR-WRITE → TRACE → COPY (WEBSITE FORMATION WORKSHOP)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Watch me write the seven letters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9036558"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0670042"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ا</a:t>
            </a:r>
            <a:endParaRPr lang="ar-SA" sz="5050" dirty="0"/>
          </a:p>
        </p:txBody>
      </p:sp>
      <p:sp>
        <p:nvSpPr>
          <p:cNvPr id="17" name="Text 14"/>
          <p:cNvSpPr txBox="1"/>
          <p:nvPr/>
        </p:nvSpPr>
        <p:spPr>
          <a:xfrm>
            <a:off x="10670042"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أَلِف</a:t>
            </a:r>
            <a:endParaRPr lang="ar-SA" sz="1450" dirty="0"/>
          </a:p>
        </p:txBody>
      </p:sp>
      <p:sp>
        <p:nvSpPr>
          <p:cNvPr id="18" name="Shape 15"/>
          <p:cNvSpPr/>
          <p:nvPr/>
        </p:nvSpPr>
        <p:spPr>
          <a:xfrm>
            <a:off x="9173718" y="1956816"/>
            <a:ext cx="237744" cy="237744"/>
          </a:xfrm>
          <a:prstGeom prst="ellipse">
            <a:avLst/>
          </a:prstGeom>
          <a:solidFill>
            <a:srgbClr val="6B4C9A"/>
          </a:solidFill>
          <a:ln w="12700">
            <a:solidFill>
              <a:srgbClr val="6B4C9A"/>
            </a:solidFill>
            <a:prstDash val="solid"/>
          </a:ln>
        </p:spPr>
      </p:sp>
      <p:sp>
        <p:nvSpPr>
          <p:cNvPr id="19" name="Text 16"/>
          <p:cNvSpPr txBox="1"/>
          <p:nvPr/>
        </p:nvSpPr>
        <p:spPr>
          <a:xfrm>
            <a:off x="9173718"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7"/>
          <p:cNvSpPr txBox="1"/>
          <p:nvPr/>
        </p:nvSpPr>
        <p:spPr>
          <a:xfrm>
            <a:off x="9484614"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Begin at the top.</a:t>
            </a:r>
            <a:endParaRPr lang="en-US" sz="1050" dirty="0"/>
          </a:p>
        </p:txBody>
      </p:sp>
      <p:sp>
        <p:nvSpPr>
          <p:cNvPr id="21" name="Shape 18"/>
          <p:cNvSpPr/>
          <p:nvPr/>
        </p:nvSpPr>
        <p:spPr>
          <a:xfrm>
            <a:off x="9173718" y="2377440"/>
            <a:ext cx="237744" cy="237744"/>
          </a:xfrm>
          <a:prstGeom prst="ellipse">
            <a:avLst/>
          </a:prstGeom>
          <a:solidFill>
            <a:srgbClr val="6B4C9A"/>
          </a:solidFill>
          <a:ln w="12700">
            <a:solidFill>
              <a:srgbClr val="6B4C9A"/>
            </a:solidFill>
            <a:prstDash val="solid"/>
          </a:ln>
        </p:spPr>
      </p:sp>
      <p:sp>
        <p:nvSpPr>
          <p:cNvPr id="22" name="Text 19"/>
          <p:cNvSpPr txBox="1"/>
          <p:nvPr/>
        </p:nvSpPr>
        <p:spPr>
          <a:xfrm>
            <a:off x="9173718"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3" name="Text 20"/>
          <p:cNvSpPr txBox="1"/>
          <p:nvPr/>
        </p:nvSpPr>
        <p:spPr>
          <a:xfrm>
            <a:off x="9484614"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One straight stroke down.</a:t>
            </a:r>
            <a:endParaRPr lang="en-US" sz="1050" dirty="0"/>
          </a:p>
        </p:txBody>
      </p:sp>
      <p:sp>
        <p:nvSpPr>
          <p:cNvPr id="24" name="Shape 21"/>
          <p:cNvSpPr/>
          <p:nvPr/>
        </p:nvSpPr>
        <p:spPr>
          <a:xfrm>
            <a:off x="9173718" y="3813048"/>
            <a:ext cx="2420874" cy="0"/>
          </a:xfrm>
          <a:prstGeom prst="line">
            <a:avLst/>
          </a:prstGeom>
          <a:noFill/>
          <a:ln w="9525">
            <a:solidFill>
              <a:srgbClr val="C9BFA8"/>
            </a:solidFill>
            <a:prstDash val="dash"/>
          </a:ln>
        </p:spPr>
      </p:sp>
      <p:sp>
        <p:nvSpPr>
          <p:cNvPr id="25" name="Text 22"/>
          <p:cNvSpPr txBox="1"/>
          <p:nvPr/>
        </p:nvSpPr>
        <p:spPr>
          <a:xfrm>
            <a:off x="10989374"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ا</a:t>
            </a:r>
            <a:endParaRPr lang="ar-SA" sz="2600" dirty="0"/>
          </a:p>
        </p:txBody>
      </p:sp>
      <p:sp>
        <p:nvSpPr>
          <p:cNvPr id="26" name="Text 23"/>
          <p:cNvSpPr txBox="1"/>
          <p:nvPr/>
        </p:nvSpPr>
        <p:spPr>
          <a:xfrm>
            <a:off x="10384155"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ا</a:t>
            </a:r>
            <a:endParaRPr lang="ar-SA" sz="2600" dirty="0"/>
          </a:p>
        </p:txBody>
      </p:sp>
      <p:sp>
        <p:nvSpPr>
          <p:cNvPr id="27" name="Text 24"/>
          <p:cNvSpPr txBox="1"/>
          <p:nvPr/>
        </p:nvSpPr>
        <p:spPr>
          <a:xfrm>
            <a:off x="9778937"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28" name="Text 25"/>
          <p:cNvSpPr txBox="1"/>
          <p:nvPr/>
        </p:nvSpPr>
        <p:spPr>
          <a:xfrm>
            <a:off x="9173718"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29" name="Shape 26"/>
          <p:cNvSpPr/>
          <p:nvPr/>
        </p:nvSpPr>
        <p:spPr>
          <a:xfrm>
            <a:off x="6176772"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7810256"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ب</a:t>
            </a:r>
            <a:endParaRPr lang="ar-SA" sz="5050" dirty="0"/>
          </a:p>
        </p:txBody>
      </p:sp>
      <p:sp>
        <p:nvSpPr>
          <p:cNvPr id="31" name="Text 28"/>
          <p:cNvSpPr txBox="1"/>
          <p:nvPr/>
        </p:nvSpPr>
        <p:spPr>
          <a:xfrm>
            <a:off x="7810256"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بَاء</a:t>
            </a:r>
            <a:endParaRPr lang="ar-SA" sz="1450" dirty="0"/>
          </a:p>
        </p:txBody>
      </p:sp>
      <p:sp>
        <p:nvSpPr>
          <p:cNvPr id="32" name="Shape 29"/>
          <p:cNvSpPr/>
          <p:nvPr/>
        </p:nvSpPr>
        <p:spPr>
          <a:xfrm>
            <a:off x="6313932" y="1956816"/>
            <a:ext cx="237744" cy="237744"/>
          </a:xfrm>
          <a:prstGeom prst="ellipse">
            <a:avLst/>
          </a:prstGeom>
          <a:solidFill>
            <a:srgbClr val="6B4C9A"/>
          </a:solidFill>
          <a:ln w="12700">
            <a:solidFill>
              <a:srgbClr val="6B4C9A"/>
            </a:solidFill>
            <a:prstDash val="solid"/>
          </a:ln>
        </p:spPr>
      </p:sp>
      <p:sp>
        <p:nvSpPr>
          <p:cNvPr id="33" name="Text 30"/>
          <p:cNvSpPr txBox="1"/>
          <p:nvPr/>
        </p:nvSpPr>
        <p:spPr>
          <a:xfrm>
            <a:off x="6313932"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34" name="Text 31"/>
          <p:cNvSpPr txBox="1"/>
          <p:nvPr/>
        </p:nvSpPr>
        <p:spPr>
          <a:xfrm>
            <a:off x="6624828"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Draw the body right → left.</a:t>
            </a:r>
            <a:endParaRPr lang="en-US" sz="1050" dirty="0"/>
          </a:p>
        </p:txBody>
      </p:sp>
      <p:sp>
        <p:nvSpPr>
          <p:cNvPr id="35" name="Shape 32"/>
          <p:cNvSpPr/>
          <p:nvPr/>
        </p:nvSpPr>
        <p:spPr>
          <a:xfrm>
            <a:off x="6313932" y="2377440"/>
            <a:ext cx="237744" cy="237744"/>
          </a:xfrm>
          <a:prstGeom prst="ellipse">
            <a:avLst/>
          </a:prstGeom>
          <a:solidFill>
            <a:srgbClr val="6B4C9A"/>
          </a:solidFill>
          <a:ln w="12700">
            <a:solidFill>
              <a:srgbClr val="6B4C9A"/>
            </a:solidFill>
            <a:prstDash val="solid"/>
          </a:ln>
        </p:spPr>
      </p:sp>
      <p:sp>
        <p:nvSpPr>
          <p:cNvPr id="36" name="Text 33"/>
          <p:cNvSpPr txBox="1"/>
          <p:nvPr/>
        </p:nvSpPr>
        <p:spPr>
          <a:xfrm>
            <a:off x="6313932"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37" name="Text 34"/>
          <p:cNvSpPr txBox="1"/>
          <p:nvPr/>
        </p:nvSpPr>
        <p:spPr>
          <a:xfrm>
            <a:off x="6624828"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Add ONE dot below.</a:t>
            </a:r>
            <a:endParaRPr lang="en-US" sz="1050" dirty="0"/>
          </a:p>
        </p:txBody>
      </p:sp>
      <p:sp>
        <p:nvSpPr>
          <p:cNvPr id="38" name="Shape 35"/>
          <p:cNvSpPr/>
          <p:nvPr/>
        </p:nvSpPr>
        <p:spPr>
          <a:xfrm>
            <a:off x="6313932" y="3813048"/>
            <a:ext cx="2420874" cy="0"/>
          </a:xfrm>
          <a:prstGeom prst="line">
            <a:avLst/>
          </a:prstGeom>
          <a:noFill/>
          <a:ln w="9525">
            <a:solidFill>
              <a:srgbClr val="C9BFA8"/>
            </a:solidFill>
            <a:prstDash val="dash"/>
          </a:ln>
        </p:spPr>
      </p:sp>
      <p:sp>
        <p:nvSpPr>
          <p:cNvPr id="39" name="Text 36"/>
          <p:cNvSpPr txBox="1"/>
          <p:nvPr/>
        </p:nvSpPr>
        <p:spPr>
          <a:xfrm>
            <a:off x="8129588"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ب</a:t>
            </a:r>
            <a:endParaRPr lang="ar-SA" sz="2600" dirty="0"/>
          </a:p>
        </p:txBody>
      </p:sp>
      <p:sp>
        <p:nvSpPr>
          <p:cNvPr id="40" name="Text 37"/>
          <p:cNvSpPr txBox="1"/>
          <p:nvPr/>
        </p:nvSpPr>
        <p:spPr>
          <a:xfrm>
            <a:off x="7524369"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ب</a:t>
            </a:r>
            <a:endParaRPr lang="ar-SA" sz="2600" dirty="0"/>
          </a:p>
        </p:txBody>
      </p:sp>
      <p:sp>
        <p:nvSpPr>
          <p:cNvPr id="41" name="Text 38"/>
          <p:cNvSpPr txBox="1"/>
          <p:nvPr/>
        </p:nvSpPr>
        <p:spPr>
          <a:xfrm>
            <a:off x="6919151"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42" name="Text 39"/>
          <p:cNvSpPr txBox="1"/>
          <p:nvPr/>
        </p:nvSpPr>
        <p:spPr>
          <a:xfrm>
            <a:off x="6313932"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43" name="Shape 40"/>
          <p:cNvSpPr/>
          <p:nvPr/>
        </p:nvSpPr>
        <p:spPr>
          <a:xfrm>
            <a:off x="3316986"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Text 41"/>
          <p:cNvSpPr txBox="1"/>
          <p:nvPr/>
        </p:nvSpPr>
        <p:spPr>
          <a:xfrm>
            <a:off x="4950470"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ت</a:t>
            </a:r>
            <a:endParaRPr lang="ar-SA" sz="5050" dirty="0"/>
          </a:p>
        </p:txBody>
      </p:sp>
      <p:sp>
        <p:nvSpPr>
          <p:cNvPr id="45" name="Text 42"/>
          <p:cNvSpPr txBox="1"/>
          <p:nvPr/>
        </p:nvSpPr>
        <p:spPr>
          <a:xfrm>
            <a:off x="4950470"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تَاء</a:t>
            </a:r>
            <a:endParaRPr lang="ar-SA" sz="1450" dirty="0"/>
          </a:p>
        </p:txBody>
      </p:sp>
      <p:sp>
        <p:nvSpPr>
          <p:cNvPr id="46" name="Shape 43"/>
          <p:cNvSpPr/>
          <p:nvPr/>
        </p:nvSpPr>
        <p:spPr>
          <a:xfrm>
            <a:off x="3454146" y="1956816"/>
            <a:ext cx="237744" cy="237744"/>
          </a:xfrm>
          <a:prstGeom prst="ellipse">
            <a:avLst/>
          </a:prstGeom>
          <a:solidFill>
            <a:srgbClr val="6B4C9A"/>
          </a:solidFill>
          <a:ln w="12700">
            <a:solidFill>
              <a:srgbClr val="6B4C9A"/>
            </a:solidFill>
            <a:prstDash val="solid"/>
          </a:ln>
        </p:spPr>
      </p:sp>
      <p:sp>
        <p:nvSpPr>
          <p:cNvPr id="47" name="Text 44"/>
          <p:cNvSpPr txBox="1"/>
          <p:nvPr/>
        </p:nvSpPr>
        <p:spPr>
          <a:xfrm>
            <a:off x="3454146"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48" name="Text 45"/>
          <p:cNvSpPr txBox="1"/>
          <p:nvPr/>
        </p:nvSpPr>
        <p:spPr>
          <a:xfrm>
            <a:off x="3765042"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Draw the body right → left.</a:t>
            </a:r>
            <a:endParaRPr lang="en-US" sz="1050" dirty="0"/>
          </a:p>
        </p:txBody>
      </p:sp>
      <p:sp>
        <p:nvSpPr>
          <p:cNvPr id="49" name="Shape 46"/>
          <p:cNvSpPr/>
          <p:nvPr/>
        </p:nvSpPr>
        <p:spPr>
          <a:xfrm>
            <a:off x="3454146" y="2377440"/>
            <a:ext cx="237744" cy="237744"/>
          </a:xfrm>
          <a:prstGeom prst="ellipse">
            <a:avLst/>
          </a:prstGeom>
          <a:solidFill>
            <a:srgbClr val="6B4C9A"/>
          </a:solidFill>
          <a:ln w="12700">
            <a:solidFill>
              <a:srgbClr val="6B4C9A"/>
            </a:solidFill>
            <a:prstDash val="solid"/>
          </a:ln>
        </p:spPr>
      </p:sp>
      <p:sp>
        <p:nvSpPr>
          <p:cNvPr id="50" name="Text 47"/>
          <p:cNvSpPr txBox="1"/>
          <p:nvPr/>
        </p:nvSpPr>
        <p:spPr>
          <a:xfrm>
            <a:off x="3454146"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51" name="Text 48"/>
          <p:cNvSpPr txBox="1"/>
          <p:nvPr/>
        </p:nvSpPr>
        <p:spPr>
          <a:xfrm>
            <a:off x="3765042"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Add TWO dots above.</a:t>
            </a:r>
            <a:endParaRPr lang="en-US" sz="1050" dirty="0"/>
          </a:p>
        </p:txBody>
      </p:sp>
      <p:sp>
        <p:nvSpPr>
          <p:cNvPr id="52" name="Shape 49"/>
          <p:cNvSpPr/>
          <p:nvPr/>
        </p:nvSpPr>
        <p:spPr>
          <a:xfrm>
            <a:off x="3454146" y="3813048"/>
            <a:ext cx="2420874" cy="0"/>
          </a:xfrm>
          <a:prstGeom prst="line">
            <a:avLst/>
          </a:prstGeom>
          <a:noFill/>
          <a:ln w="9525">
            <a:solidFill>
              <a:srgbClr val="C9BFA8"/>
            </a:solidFill>
            <a:prstDash val="dash"/>
          </a:ln>
        </p:spPr>
      </p:sp>
      <p:sp>
        <p:nvSpPr>
          <p:cNvPr id="53" name="Text 50"/>
          <p:cNvSpPr txBox="1"/>
          <p:nvPr/>
        </p:nvSpPr>
        <p:spPr>
          <a:xfrm>
            <a:off x="5269802"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ت</a:t>
            </a:r>
            <a:endParaRPr lang="ar-SA" sz="2600" dirty="0"/>
          </a:p>
        </p:txBody>
      </p:sp>
      <p:sp>
        <p:nvSpPr>
          <p:cNvPr id="54" name="Text 51"/>
          <p:cNvSpPr txBox="1"/>
          <p:nvPr/>
        </p:nvSpPr>
        <p:spPr>
          <a:xfrm>
            <a:off x="4664583"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ت</a:t>
            </a:r>
            <a:endParaRPr lang="ar-SA" sz="2600" dirty="0"/>
          </a:p>
        </p:txBody>
      </p:sp>
      <p:sp>
        <p:nvSpPr>
          <p:cNvPr id="55" name="Text 52"/>
          <p:cNvSpPr txBox="1"/>
          <p:nvPr/>
        </p:nvSpPr>
        <p:spPr>
          <a:xfrm>
            <a:off x="4059365"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56" name="Text 53"/>
          <p:cNvSpPr txBox="1"/>
          <p:nvPr/>
        </p:nvSpPr>
        <p:spPr>
          <a:xfrm>
            <a:off x="3454146"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57" name="Shape 54"/>
          <p:cNvSpPr/>
          <p:nvPr/>
        </p:nvSpPr>
        <p:spPr>
          <a:xfrm>
            <a:off x="457200"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2090684"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ث</a:t>
            </a:r>
            <a:endParaRPr lang="ar-SA" sz="5050" dirty="0"/>
          </a:p>
        </p:txBody>
      </p:sp>
      <p:sp>
        <p:nvSpPr>
          <p:cNvPr id="59" name="Text 56"/>
          <p:cNvSpPr txBox="1"/>
          <p:nvPr/>
        </p:nvSpPr>
        <p:spPr>
          <a:xfrm>
            <a:off x="2090684"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ثَاء</a:t>
            </a:r>
            <a:endParaRPr lang="ar-SA" sz="1450" dirty="0"/>
          </a:p>
        </p:txBody>
      </p:sp>
      <p:sp>
        <p:nvSpPr>
          <p:cNvPr id="60" name="Shape 57"/>
          <p:cNvSpPr/>
          <p:nvPr/>
        </p:nvSpPr>
        <p:spPr>
          <a:xfrm>
            <a:off x="594360" y="1956816"/>
            <a:ext cx="237744" cy="237744"/>
          </a:xfrm>
          <a:prstGeom prst="ellipse">
            <a:avLst/>
          </a:prstGeom>
          <a:solidFill>
            <a:srgbClr val="6B4C9A"/>
          </a:solidFill>
          <a:ln w="12700">
            <a:solidFill>
              <a:srgbClr val="6B4C9A"/>
            </a:solidFill>
            <a:prstDash val="solid"/>
          </a:ln>
        </p:spPr>
      </p:sp>
      <p:sp>
        <p:nvSpPr>
          <p:cNvPr id="61" name="Text 58"/>
          <p:cNvSpPr txBox="1"/>
          <p:nvPr/>
        </p:nvSpPr>
        <p:spPr>
          <a:xfrm>
            <a:off x="594360"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2" name="Text 59"/>
          <p:cNvSpPr txBox="1"/>
          <p:nvPr/>
        </p:nvSpPr>
        <p:spPr>
          <a:xfrm>
            <a:off x="905256"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Draw the body right → left.</a:t>
            </a:r>
            <a:endParaRPr lang="en-US" sz="1050" dirty="0"/>
          </a:p>
        </p:txBody>
      </p:sp>
      <p:sp>
        <p:nvSpPr>
          <p:cNvPr id="63" name="Shape 60"/>
          <p:cNvSpPr/>
          <p:nvPr/>
        </p:nvSpPr>
        <p:spPr>
          <a:xfrm>
            <a:off x="594360" y="2377440"/>
            <a:ext cx="237744" cy="237744"/>
          </a:xfrm>
          <a:prstGeom prst="ellipse">
            <a:avLst/>
          </a:prstGeom>
          <a:solidFill>
            <a:srgbClr val="6B4C9A"/>
          </a:solidFill>
          <a:ln w="12700">
            <a:solidFill>
              <a:srgbClr val="6B4C9A"/>
            </a:solidFill>
            <a:prstDash val="solid"/>
          </a:ln>
        </p:spPr>
      </p:sp>
      <p:sp>
        <p:nvSpPr>
          <p:cNvPr id="64" name="Text 61"/>
          <p:cNvSpPr txBox="1"/>
          <p:nvPr/>
        </p:nvSpPr>
        <p:spPr>
          <a:xfrm>
            <a:off x="594360"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65" name="Text 62"/>
          <p:cNvSpPr txBox="1"/>
          <p:nvPr/>
        </p:nvSpPr>
        <p:spPr>
          <a:xfrm>
            <a:off x="905256"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Add THREE dots above.</a:t>
            </a:r>
            <a:endParaRPr lang="en-US" sz="1050" dirty="0"/>
          </a:p>
        </p:txBody>
      </p:sp>
      <p:sp>
        <p:nvSpPr>
          <p:cNvPr id="66" name="Shape 63"/>
          <p:cNvSpPr/>
          <p:nvPr/>
        </p:nvSpPr>
        <p:spPr>
          <a:xfrm>
            <a:off x="594360" y="3813048"/>
            <a:ext cx="2420874" cy="0"/>
          </a:xfrm>
          <a:prstGeom prst="line">
            <a:avLst/>
          </a:prstGeom>
          <a:noFill/>
          <a:ln w="9525">
            <a:solidFill>
              <a:srgbClr val="C9BFA8"/>
            </a:solidFill>
            <a:prstDash val="dash"/>
          </a:ln>
        </p:spPr>
      </p:sp>
      <p:sp>
        <p:nvSpPr>
          <p:cNvPr id="67" name="Text 64"/>
          <p:cNvSpPr txBox="1"/>
          <p:nvPr/>
        </p:nvSpPr>
        <p:spPr>
          <a:xfrm>
            <a:off x="2410016"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ث</a:t>
            </a:r>
            <a:endParaRPr lang="ar-SA" sz="2600" dirty="0"/>
          </a:p>
        </p:txBody>
      </p:sp>
      <p:sp>
        <p:nvSpPr>
          <p:cNvPr id="68" name="Text 65"/>
          <p:cNvSpPr txBox="1"/>
          <p:nvPr/>
        </p:nvSpPr>
        <p:spPr>
          <a:xfrm>
            <a:off x="1804797"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ث</a:t>
            </a:r>
            <a:endParaRPr lang="ar-SA" sz="2600" dirty="0"/>
          </a:p>
        </p:txBody>
      </p:sp>
      <p:sp>
        <p:nvSpPr>
          <p:cNvPr id="69" name="Text 66"/>
          <p:cNvSpPr txBox="1"/>
          <p:nvPr/>
        </p:nvSpPr>
        <p:spPr>
          <a:xfrm>
            <a:off x="1199579"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70" name="Text 67"/>
          <p:cNvSpPr txBox="1"/>
          <p:nvPr/>
        </p:nvSpPr>
        <p:spPr>
          <a:xfrm>
            <a:off x="594360"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71" name="Shape 68"/>
          <p:cNvSpPr/>
          <p:nvPr/>
        </p:nvSpPr>
        <p:spPr>
          <a:xfrm>
            <a:off x="9036558"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10670042"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ج</a:t>
            </a:r>
            <a:endParaRPr lang="ar-SA" sz="5050" dirty="0"/>
          </a:p>
        </p:txBody>
      </p:sp>
      <p:sp>
        <p:nvSpPr>
          <p:cNvPr id="73" name="Text 70"/>
          <p:cNvSpPr txBox="1"/>
          <p:nvPr/>
        </p:nvSpPr>
        <p:spPr>
          <a:xfrm>
            <a:off x="10670042"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جِيم</a:t>
            </a:r>
            <a:endParaRPr lang="ar-SA" sz="1450" dirty="0"/>
          </a:p>
        </p:txBody>
      </p:sp>
      <p:sp>
        <p:nvSpPr>
          <p:cNvPr id="74" name="Shape 71"/>
          <p:cNvSpPr/>
          <p:nvPr/>
        </p:nvSpPr>
        <p:spPr>
          <a:xfrm>
            <a:off x="9173718" y="4288536"/>
            <a:ext cx="237744" cy="237744"/>
          </a:xfrm>
          <a:prstGeom prst="ellipse">
            <a:avLst/>
          </a:prstGeom>
          <a:solidFill>
            <a:srgbClr val="6B4C9A"/>
          </a:solidFill>
          <a:ln w="12700">
            <a:solidFill>
              <a:srgbClr val="6B4C9A"/>
            </a:solidFill>
            <a:prstDash val="solid"/>
          </a:ln>
        </p:spPr>
      </p:sp>
      <p:sp>
        <p:nvSpPr>
          <p:cNvPr id="75" name="Text 72"/>
          <p:cNvSpPr txBox="1"/>
          <p:nvPr/>
        </p:nvSpPr>
        <p:spPr>
          <a:xfrm>
            <a:off x="9173718"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6" name="Text 73"/>
          <p:cNvSpPr txBox="1"/>
          <p:nvPr/>
        </p:nvSpPr>
        <p:spPr>
          <a:xfrm>
            <a:off x="9484614"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Top curve, then the bowl.</a:t>
            </a:r>
            <a:endParaRPr lang="en-US" sz="1050" dirty="0"/>
          </a:p>
        </p:txBody>
      </p:sp>
      <p:sp>
        <p:nvSpPr>
          <p:cNvPr id="77" name="Shape 74"/>
          <p:cNvSpPr/>
          <p:nvPr/>
        </p:nvSpPr>
        <p:spPr>
          <a:xfrm>
            <a:off x="9173718" y="4709160"/>
            <a:ext cx="237744" cy="237744"/>
          </a:xfrm>
          <a:prstGeom prst="ellipse">
            <a:avLst/>
          </a:prstGeom>
          <a:solidFill>
            <a:srgbClr val="6B4C9A"/>
          </a:solidFill>
          <a:ln w="12700">
            <a:solidFill>
              <a:srgbClr val="6B4C9A"/>
            </a:solidFill>
            <a:prstDash val="solid"/>
          </a:ln>
        </p:spPr>
      </p:sp>
      <p:sp>
        <p:nvSpPr>
          <p:cNvPr id="78" name="Text 75"/>
          <p:cNvSpPr txBox="1"/>
          <p:nvPr/>
        </p:nvSpPr>
        <p:spPr>
          <a:xfrm>
            <a:off x="9173718"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79" name="Text 76"/>
          <p:cNvSpPr txBox="1"/>
          <p:nvPr/>
        </p:nvSpPr>
        <p:spPr>
          <a:xfrm>
            <a:off x="9484614"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ONE dot inside the bowl.</a:t>
            </a:r>
            <a:endParaRPr lang="en-US" sz="1050" dirty="0"/>
          </a:p>
        </p:txBody>
      </p:sp>
      <p:sp>
        <p:nvSpPr>
          <p:cNvPr id="80" name="Shape 77"/>
          <p:cNvSpPr/>
          <p:nvPr/>
        </p:nvSpPr>
        <p:spPr>
          <a:xfrm>
            <a:off x="9173718" y="6144768"/>
            <a:ext cx="2420874" cy="0"/>
          </a:xfrm>
          <a:prstGeom prst="line">
            <a:avLst/>
          </a:prstGeom>
          <a:noFill/>
          <a:ln w="9525">
            <a:solidFill>
              <a:srgbClr val="C9BFA8"/>
            </a:solidFill>
            <a:prstDash val="dash"/>
          </a:ln>
        </p:spPr>
      </p:sp>
      <p:sp>
        <p:nvSpPr>
          <p:cNvPr id="81" name="Text 78"/>
          <p:cNvSpPr txBox="1"/>
          <p:nvPr/>
        </p:nvSpPr>
        <p:spPr>
          <a:xfrm>
            <a:off x="10989374"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ج</a:t>
            </a:r>
            <a:endParaRPr lang="ar-SA" sz="2600" dirty="0"/>
          </a:p>
        </p:txBody>
      </p:sp>
      <p:sp>
        <p:nvSpPr>
          <p:cNvPr id="82" name="Text 79"/>
          <p:cNvSpPr txBox="1"/>
          <p:nvPr/>
        </p:nvSpPr>
        <p:spPr>
          <a:xfrm>
            <a:off x="10384155"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ج</a:t>
            </a:r>
            <a:endParaRPr lang="ar-SA" sz="2600" dirty="0"/>
          </a:p>
        </p:txBody>
      </p:sp>
      <p:sp>
        <p:nvSpPr>
          <p:cNvPr id="83" name="Text 80"/>
          <p:cNvSpPr txBox="1"/>
          <p:nvPr/>
        </p:nvSpPr>
        <p:spPr>
          <a:xfrm>
            <a:off x="9778937"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84" name="Text 81"/>
          <p:cNvSpPr txBox="1"/>
          <p:nvPr/>
        </p:nvSpPr>
        <p:spPr>
          <a:xfrm>
            <a:off x="9173718"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85" name="Shape 82"/>
          <p:cNvSpPr/>
          <p:nvPr/>
        </p:nvSpPr>
        <p:spPr>
          <a:xfrm>
            <a:off x="6176772"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Text 83"/>
          <p:cNvSpPr txBox="1"/>
          <p:nvPr/>
        </p:nvSpPr>
        <p:spPr>
          <a:xfrm>
            <a:off x="7810256"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ح</a:t>
            </a:r>
            <a:endParaRPr lang="ar-SA" sz="5050" dirty="0"/>
          </a:p>
        </p:txBody>
      </p:sp>
      <p:sp>
        <p:nvSpPr>
          <p:cNvPr id="87" name="Text 84"/>
          <p:cNvSpPr txBox="1"/>
          <p:nvPr/>
        </p:nvSpPr>
        <p:spPr>
          <a:xfrm>
            <a:off x="7810256"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حَاء</a:t>
            </a:r>
            <a:endParaRPr lang="ar-SA" sz="1450" dirty="0"/>
          </a:p>
        </p:txBody>
      </p:sp>
      <p:sp>
        <p:nvSpPr>
          <p:cNvPr id="88" name="Shape 85"/>
          <p:cNvSpPr/>
          <p:nvPr/>
        </p:nvSpPr>
        <p:spPr>
          <a:xfrm>
            <a:off x="6313932" y="4288536"/>
            <a:ext cx="237744" cy="237744"/>
          </a:xfrm>
          <a:prstGeom prst="ellipse">
            <a:avLst/>
          </a:prstGeom>
          <a:solidFill>
            <a:srgbClr val="6B4C9A"/>
          </a:solidFill>
          <a:ln w="12700">
            <a:solidFill>
              <a:srgbClr val="6B4C9A"/>
            </a:solidFill>
            <a:prstDash val="solid"/>
          </a:ln>
        </p:spPr>
      </p:sp>
      <p:sp>
        <p:nvSpPr>
          <p:cNvPr id="89" name="Text 86"/>
          <p:cNvSpPr txBox="1"/>
          <p:nvPr/>
        </p:nvSpPr>
        <p:spPr>
          <a:xfrm>
            <a:off x="6313932"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0" name="Text 87"/>
          <p:cNvSpPr txBox="1"/>
          <p:nvPr/>
        </p:nvSpPr>
        <p:spPr>
          <a:xfrm>
            <a:off x="6624828"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Top curve, then the bowl.</a:t>
            </a:r>
            <a:endParaRPr lang="en-US" sz="1050" dirty="0"/>
          </a:p>
        </p:txBody>
      </p:sp>
      <p:sp>
        <p:nvSpPr>
          <p:cNvPr id="91" name="Shape 88"/>
          <p:cNvSpPr/>
          <p:nvPr/>
        </p:nvSpPr>
        <p:spPr>
          <a:xfrm>
            <a:off x="6313932" y="4709160"/>
            <a:ext cx="237744" cy="237744"/>
          </a:xfrm>
          <a:prstGeom prst="ellipse">
            <a:avLst/>
          </a:prstGeom>
          <a:solidFill>
            <a:srgbClr val="6B4C9A"/>
          </a:solidFill>
          <a:ln w="12700">
            <a:solidFill>
              <a:srgbClr val="6B4C9A"/>
            </a:solidFill>
            <a:prstDash val="solid"/>
          </a:ln>
        </p:spPr>
      </p:sp>
      <p:sp>
        <p:nvSpPr>
          <p:cNvPr id="92" name="Text 89"/>
          <p:cNvSpPr txBox="1"/>
          <p:nvPr/>
        </p:nvSpPr>
        <p:spPr>
          <a:xfrm>
            <a:off x="6313932"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3" name="Text 90"/>
          <p:cNvSpPr txBox="1"/>
          <p:nvPr/>
        </p:nvSpPr>
        <p:spPr>
          <a:xfrm>
            <a:off x="6624828"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No dot.</a:t>
            </a:r>
            <a:endParaRPr lang="en-US" sz="1050" dirty="0"/>
          </a:p>
        </p:txBody>
      </p:sp>
      <p:sp>
        <p:nvSpPr>
          <p:cNvPr id="94" name="Shape 91"/>
          <p:cNvSpPr/>
          <p:nvPr/>
        </p:nvSpPr>
        <p:spPr>
          <a:xfrm>
            <a:off x="6313932" y="6144768"/>
            <a:ext cx="2420874" cy="0"/>
          </a:xfrm>
          <a:prstGeom prst="line">
            <a:avLst/>
          </a:prstGeom>
          <a:noFill/>
          <a:ln w="9525">
            <a:solidFill>
              <a:srgbClr val="C9BFA8"/>
            </a:solidFill>
            <a:prstDash val="dash"/>
          </a:ln>
        </p:spPr>
      </p:sp>
      <p:sp>
        <p:nvSpPr>
          <p:cNvPr id="95" name="Text 92"/>
          <p:cNvSpPr txBox="1"/>
          <p:nvPr/>
        </p:nvSpPr>
        <p:spPr>
          <a:xfrm>
            <a:off x="8129588"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ح</a:t>
            </a:r>
            <a:endParaRPr lang="ar-SA" sz="2600" dirty="0"/>
          </a:p>
        </p:txBody>
      </p:sp>
      <p:sp>
        <p:nvSpPr>
          <p:cNvPr id="96" name="Text 93"/>
          <p:cNvSpPr txBox="1"/>
          <p:nvPr/>
        </p:nvSpPr>
        <p:spPr>
          <a:xfrm>
            <a:off x="7524369"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ح</a:t>
            </a:r>
            <a:endParaRPr lang="ar-SA" sz="2600" dirty="0"/>
          </a:p>
        </p:txBody>
      </p:sp>
      <p:sp>
        <p:nvSpPr>
          <p:cNvPr id="97" name="Text 94"/>
          <p:cNvSpPr txBox="1"/>
          <p:nvPr/>
        </p:nvSpPr>
        <p:spPr>
          <a:xfrm>
            <a:off x="6919151"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98" name="Text 95"/>
          <p:cNvSpPr txBox="1"/>
          <p:nvPr/>
        </p:nvSpPr>
        <p:spPr>
          <a:xfrm>
            <a:off x="6313932"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99" name="Shape 96"/>
          <p:cNvSpPr/>
          <p:nvPr/>
        </p:nvSpPr>
        <p:spPr>
          <a:xfrm>
            <a:off x="3316986"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Text 97"/>
          <p:cNvSpPr txBox="1"/>
          <p:nvPr/>
        </p:nvSpPr>
        <p:spPr>
          <a:xfrm>
            <a:off x="4950470"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خ</a:t>
            </a:r>
            <a:endParaRPr lang="ar-SA" sz="5050" dirty="0"/>
          </a:p>
        </p:txBody>
      </p:sp>
      <p:sp>
        <p:nvSpPr>
          <p:cNvPr id="101" name="Text 98"/>
          <p:cNvSpPr txBox="1"/>
          <p:nvPr/>
        </p:nvSpPr>
        <p:spPr>
          <a:xfrm>
            <a:off x="4950470"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خَاء</a:t>
            </a:r>
            <a:endParaRPr lang="ar-SA" sz="1450" dirty="0"/>
          </a:p>
        </p:txBody>
      </p:sp>
      <p:sp>
        <p:nvSpPr>
          <p:cNvPr id="102" name="Shape 99"/>
          <p:cNvSpPr/>
          <p:nvPr/>
        </p:nvSpPr>
        <p:spPr>
          <a:xfrm>
            <a:off x="3454146" y="4288536"/>
            <a:ext cx="237744" cy="237744"/>
          </a:xfrm>
          <a:prstGeom prst="ellipse">
            <a:avLst/>
          </a:prstGeom>
          <a:solidFill>
            <a:srgbClr val="6B4C9A"/>
          </a:solidFill>
          <a:ln w="12700">
            <a:solidFill>
              <a:srgbClr val="6B4C9A"/>
            </a:solidFill>
            <a:prstDash val="solid"/>
          </a:ln>
        </p:spPr>
      </p:sp>
      <p:sp>
        <p:nvSpPr>
          <p:cNvPr id="103" name="Text 100"/>
          <p:cNvSpPr txBox="1"/>
          <p:nvPr/>
        </p:nvSpPr>
        <p:spPr>
          <a:xfrm>
            <a:off x="3454146"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4" name="Text 101"/>
          <p:cNvSpPr txBox="1"/>
          <p:nvPr/>
        </p:nvSpPr>
        <p:spPr>
          <a:xfrm>
            <a:off x="3765042"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Top curve, then the bowl.</a:t>
            </a:r>
            <a:endParaRPr lang="en-US" sz="1050" dirty="0"/>
          </a:p>
        </p:txBody>
      </p:sp>
      <p:sp>
        <p:nvSpPr>
          <p:cNvPr id="105" name="Shape 102"/>
          <p:cNvSpPr/>
          <p:nvPr/>
        </p:nvSpPr>
        <p:spPr>
          <a:xfrm>
            <a:off x="3454146" y="4709160"/>
            <a:ext cx="237744" cy="237744"/>
          </a:xfrm>
          <a:prstGeom prst="ellipse">
            <a:avLst/>
          </a:prstGeom>
          <a:solidFill>
            <a:srgbClr val="6B4C9A"/>
          </a:solidFill>
          <a:ln w="12700">
            <a:solidFill>
              <a:srgbClr val="6B4C9A"/>
            </a:solidFill>
            <a:prstDash val="solid"/>
          </a:ln>
        </p:spPr>
      </p:sp>
      <p:sp>
        <p:nvSpPr>
          <p:cNvPr id="106" name="Text 103"/>
          <p:cNvSpPr txBox="1"/>
          <p:nvPr/>
        </p:nvSpPr>
        <p:spPr>
          <a:xfrm>
            <a:off x="3454146"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07" name="Text 104"/>
          <p:cNvSpPr txBox="1"/>
          <p:nvPr/>
        </p:nvSpPr>
        <p:spPr>
          <a:xfrm>
            <a:off x="3765042"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ONE dot above.</a:t>
            </a:r>
            <a:endParaRPr lang="en-US" sz="1050" dirty="0"/>
          </a:p>
        </p:txBody>
      </p:sp>
      <p:sp>
        <p:nvSpPr>
          <p:cNvPr id="108" name="Shape 105"/>
          <p:cNvSpPr/>
          <p:nvPr/>
        </p:nvSpPr>
        <p:spPr>
          <a:xfrm>
            <a:off x="3454146" y="6144768"/>
            <a:ext cx="2420874" cy="0"/>
          </a:xfrm>
          <a:prstGeom prst="line">
            <a:avLst/>
          </a:prstGeom>
          <a:noFill/>
          <a:ln w="9525">
            <a:solidFill>
              <a:srgbClr val="C9BFA8"/>
            </a:solidFill>
            <a:prstDash val="dash"/>
          </a:ln>
        </p:spPr>
      </p:sp>
      <p:sp>
        <p:nvSpPr>
          <p:cNvPr id="109" name="Text 106"/>
          <p:cNvSpPr txBox="1"/>
          <p:nvPr/>
        </p:nvSpPr>
        <p:spPr>
          <a:xfrm>
            <a:off x="5269802"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خ</a:t>
            </a:r>
            <a:endParaRPr lang="ar-SA" sz="2600" dirty="0"/>
          </a:p>
        </p:txBody>
      </p:sp>
      <p:sp>
        <p:nvSpPr>
          <p:cNvPr id="110" name="Text 107"/>
          <p:cNvSpPr txBox="1"/>
          <p:nvPr/>
        </p:nvSpPr>
        <p:spPr>
          <a:xfrm>
            <a:off x="4664583"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خ</a:t>
            </a:r>
            <a:endParaRPr lang="ar-SA" sz="2600" dirty="0"/>
          </a:p>
        </p:txBody>
      </p:sp>
      <p:sp>
        <p:nvSpPr>
          <p:cNvPr id="111" name="Text 108"/>
          <p:cNvSpPr txBox="1"/>
          <p:nvPr/>
        </p:nvSpPr>
        <p:spPr>
          <a:xfrm>
            <a:off x="4059365"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112" name="Text 109"/>
          <p:cNvSpPr txBox="1"/>
          <p:nvPr/>
        </p:nvSpPr>
        <p:spPr>
          <a:xfrm>
            <a:off x="3454146"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113" name="Text 11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“THE ALPHABET FAMILY”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Letter detective: what is its name?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مُحَقِّقُ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بَاءٌ</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تَاءٌ</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ثَاءٌ</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ث</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تَاءٌ</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ثَاءٌ</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بَاءٌ</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ج</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جِيمٌ</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حَاءٌ</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خَاءٌ</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خ</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جِيمٌ</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حَاءٌ</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خَاءٌ</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ت</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بَاءٌ</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تَاءٌ</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ثَاءٌ</a:t>
            </a:r>
            <a:endParaRPr lang="ar-SA" sz="20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Look at the SHAPE, then count the DOTS.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1 below → bāʾ</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2 above → tāʾ</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3 above → thāʾ</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LETTER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Letter detective: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a:t>
            </a:r>
            <a:endParaRPr lang="ar-SA" sz="220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بَاءٌ</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تَاءٌ</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ثَاءٌ</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This is the letter </a:t>
            </a:r>
            <a:pPr algn="l" indent="0" marL="0">
              <a:buNone/>
            </a:pPr>
            <a:r>
              <a:rPr lang="ar-SA" altLang="en-US" sz="1350" dirty="0">
                <a:solidFill>
                  <a:srgbClr val="8A6D1E"/>
                </a:solidFill>
                <a:latin typeface="Amiri" pitchFamily="34" charset="0"/>
                <a:ea typeface="Amiri" pitchFamily="34" charset="-122"/>
                <a:cs typeface="Amiri" pitchFamily="34" charset="-120"/>
              </a:rPr>
              <a:t>ب</a:t>
            </a:r>
            <a:pPr algn="l" indent="0" marL="0">
              <a:buNone/>
            </a:pPr>
            <a:r>
              <a:rPr lang="en-US" sz="1050" i="1" dirty="0">
                <a:solidFill>
                  <a:srgbClr val="8A6D1E"/>
                </a:solidFill>
                <a:latin typeface="Calibri" pitchFamily="34" charset="0"/>
                <a:ea typeface="Calibri" pitchFamily="34" charset="-122"/>
                <a:cs typeface="Calibri" pitchFamily="34" charset="-120"/>
              </a:rPr>
              <a:t> (baa).</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ث</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تَاءٌ</a:t>
            </a:r>
            <a:endParaRPr lang="ar-SA" sz="1700" dirty="0"/>
          </a:p>
        </p:txBody>
      </p:sp>
      <p:sp>
        <p:nvSpPr>
          <p:cNvPr id="39" name="Shape 36"/>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ثَاءٌ</a:t>
            </a:r>
            <a:endParaRPr lang="ar-SA" sz="170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بَاءٌ</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This is the letter </a:t>
            </a:r>
            <a:pPr algn="l" indent="0" marL="0">
              <a:buNone/>
            </a:pPr>
            <a:r>
              <a:rPr lang="ar-SA" altLang="en-US" sz="1350" dirty="0">
                <a:solidFill>
                  <a:srgbClr val="8A6D1E"/>
                </a:solidFill>
                <a:latin typeface="Amiri" pitchFamily="34" charset="0"/>
                <a:ea typeface="Amiri" pitchFamily="34" charset="-122"/>
                <a:cs typeface="Amiri" pitchFamily="34" charset="-120"/>
              </a:rPr>
              <a:t>ث</a:t>
            </a:r>
            <a:pPr algn="l" indent="0" marL="0">
              <a:buNone/>
            </a:pPr>
            <a:r>
              <a:rPr lang="en-US" sz="1050" i="1" dirty="0">
                <a:solidFill>
                  <a:srgbClr val="8A6D1E"/>
                </a:solidFill>
                <a:latin typeface="Calibri" pitchFamily="34" charset="0"/>
                <a:ea typeface="Calibri" pitchFamily="34" charset="-122"/>
                <a:cs typeface="Calibri" pitchFamily="34" charset="-120"/>
              </a:rPr>
              <a:t> (thaa).</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ج</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جِيمٌ</a:t>
            </a:r>
            <a:endParaRPr lang="ar-SA" sz="170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حَاءٌ</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خَاءٌ</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This is the letter </a:t>
            </a:r>
            <a:pPr algn="l" indent="0" marL="0">
              <a:buNone/>
            </a:pPr>
            <a:r>
              <a:rPr lang="ar-SA" altLang="en-US" sz="1350" dirty="0">
                <a:solidFill>
                  <a:srgbClr val="8A6D1E"/>
                </a:solidFill>
                <a:latin typeface="Amiri" pitchFamily="34" charset="0"/>
                <a:ea typeface="Amiri" pitchFamily="34" charset="-122"/>
                <a:cs typeface="Amiri" pitchFamily="34" charset="-120"/>
              </a:rPr>
              <a:t>ج</a:t>
            </a:r>
            <a:pPr algn="l" indent="0" marL="0">
              <a:buNone/>
            </a:pPr>
            <a:r>
              <a:rPr lang="en-US" sz="1050" i="1" dirty="0">
                <a:solidFill>
                  <a:srgbClr val="8A6D1E"/>
                </a:solidFill>
                <a:latin typeface="Calibri" pitchFamily="34" charset="0"/>
                <a:ea typeface="Calibri" pitchFamily="34" charset="-122"/>
                <a:cs typeface="Calibri" pitchFamily="34" charset="-120"/>
              </a:rPr>
              <a:t> (jiim).</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خ</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جِيمٌ</a:t>
            </a:r>
            <a:endParaRPr lang="ar-SA" sz="1700" dirty="0"/>
          </a:p>
        </p:txBody>
      </p:sp>
      <p:sp>
        <p:nvSpPr>
          <p:cNvPr id="71"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3"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حَاءٌ</a:t>
            </a:r>
            <a:endParaRPr lang="ar-SA" sz="1700" dirty="0"/>
          </a:p>
        </p:txBody>
      </p:sp>
      <p:sp>
        <p:nvSpPr>
          <p:cNvPr id="74"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خَاءٌ</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This is the letter </a:t>
            </a:r>
            <a:pPr algn="l" indent="0" marL="0">
              <a:buNone/>
            </a:pPr>
            <a:r>
              <a:rPr lang="ar-SA" altLang="en-US" sz="1350" dirty="0">
                <a:solidFill>
                  <a:srgbClr val="8A6D1E"/>
                </a:solidFill>
                <a:latin typeface="Amiri" pitchFamily="34" charset="0"/>
                <a:ea typeface="Amiri" pitchFamily="34" charset="-122"/>
                <a:cs typeface="Amiri" pitchFamily="34" charset="-120"/>
              </a:rPr>
              <a:t>خ</a:t>
            </a:r>
            <a:pPr algn="l" indent="0" marL="0">
              <a:buNone/>
            </a:pPr>
            <a:r>
              <a:rPr lang="en-US" sz="1050" i="1" dirty="0">
                <a:solidFill>
                  <a:srgbClr val="8A6D1E"/>
                </a:solidFill>
                <a:latin typeface="Calibri" pitchFamily="34" charset="0"/>
                <a:ea typeface="Calibri" pitchFamily="34" charset="-122"/>
                <a:cs typeface="Calibri" pitchFamily="34" charset="-120"/>
              </a:rPr>
              <a:t> (khaa).</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ت</a:t>
            </a:r>
            <a:endParaRPr lang="ar-SA" sz="2200" dirty="0"/>
          </a:p>
        </p:txBody>
      </p:sp>
      <p:sp>
        <p:nvSpPr>
          <p:cNvPr id="84" name="Shape 81"/>
          <p:cNvSpPr/>
          <p:nvPr/>
        </p:nvSpPr>
        <p:spPr>
          <a:xfrm>
            <a:off x="4459224" y="4831080"/>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بَاءٌ</a:t>
            </a:r>
            <a:endParaRPr lang="ar-SA" sz="1700" dirty="0"/>
          </a:p>
        </p:txBody>
      </p:sp>
      <p:sp>
        <p:nvSpPr>
          <p:cNvPr id="87" name="Shape 84"/>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8" name="Shape 85"/>
          <p:cNvSpPr/>
          <p:nvPr/>
        </p:nvSpPr>
        <p:spPr>
          <a:xfrm>
            <a:off x="4459224" y="5202936"/>
            <a:ext cx="256032" cy="256032"/>
          </a:xfrm>
          <a:prstGeom prst="ellipse">
            <a:avLst/>
          </a:prstGeom>
          <a:solidFill>
            <a:srgbClr val="2E8B57"/>
          </a:solidFill>
          <a:ln w="12700">
            <a:solidFill>
              <a:srgbClr val="2E8B57"/>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تَاءٌ</a:t>
            </a:r>
            <a:endParaRPr lang="ar-SA" sz="170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ثَاءٌ</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This is the letter </a:t>
            </a:r>
            <a:pPr algn="l" indent="0" marL="0">
              <a:buNone/>
            </a:pPr>
            <a:r>
              <a:rPr lang="ar-SA" altLang="en-US" sz="1350" dirty="0">
                <a:solidFill>
                  <a:srgbClr val="8A6D1E"/>
                </a:solidFill>
                <a:latin typeface="Amiri" pitchFamily="34" charset="0"/>
                <a:ea typeface="Amiri" pitchFamily="34" charset="-122"/>
                <a:cs typeface="Amiri" pitchFamily="34" charset="-120"/>
              </a:rPr>
              <a:t>ت</a:t>
            </a:r>
            <a:pPr algn="l" indent="0" marL="0">
              <a:buNone/>
            </a:pPr>
            <a:r>
              <a:rPr lang="en-US" sz="1050" i="1" dirty="0">
                <a:solidFill>
                  <a:srgbClr val="8A6D1E"/>
                </a:solidFill>
                <a:latin typeface="Calibri" pitchFamily="34" charset="0"/>
                <a:ea typeface="Calibri" pitchFamily="34" charset="-122"/>
                <a:cs typeface="Calibri" pitchFamily="34" charset="-120"/>
              </a:rPr>
              <a:t> (taa).</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Look at the SHAPE, then count the DOTS.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1 below → bāʾ</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2 above → tāʾ</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3 above → thāʾ</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 AND CHOOSE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ea typeface="Cambria" pitchFamily="34" charset="-122"/>
                <a:cs typeface="Cambria" pitchFamily="34" charset="-120"/>
              </a:rPr>
              <a:t>Hear the letter NAME → choose the letter</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اِسْتَمِعْ وَاخْتَرْ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1. Which letter?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2. Which letter?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3. Which letter?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4. Which letter?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5. Which letter?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a:t>
            </a:r>
            <a:endParaRPr lang="ar-SA" sz="20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HOW TO ANSWER</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Teacher reads each cue twice.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Look, listen, then choose.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1_ 2_ 3_ 4_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 AND CHOOSE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1. Which letter?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a:t>
            </a:r>
            <a:endParaRPr lang="ar-SA" sz="170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Cue: </a:t>
            </a:r>
            <a:pPr algn="l" indent="0" marL="0">
              <a:buNone/>
            </a:pPr>
            <a:r>
              <a:rPr lang="ar-SA" altLang="en-US" sz="1350" dirty="0">
                <a:solidFill>
                  <a:srgbClr val="8A6D1E"/>
                </a:solidFill>
                <a:latin typeface="Amiri" pitchFamily="34" charset="0"/>
                <a:ea typeface="Amiri" pitchFamily="34" charset="-122"/>
                <a:cs typeface="Amiri" pitchFamily="34" charset="-120"/>
              </a:rPr>
              <a:t>تَاءٌ</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2. Which letter?</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Cue: </a:t>
            </a:r>
            <a:pPr algn="l" indent="0" marL="0">
              <a:buNone/>
            </a:pPr>
            <a:r>
              <a:rPr lang="ar-SA" altLang="en-US" sz="1350" dirty="0">
                <a:solidFill>
                  <a:srgbClr val="8A6D1E"/>
                </a:solidFill>
                <a:latin typeface="Amiri" pitchFamily="34" charset="0"/>
                <a:ea typeface="Amiri" pitchFamily="34" charset="-122"/>
                <a:cs typeface="Amiri" pitchFamily="34" charset="-120"/>
              </a:rPr>
              <a:t>أَلِفٌ</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3. Which letter?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ح</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Cue: </a:t>
            </a:r>
            <a:pPr algn="l" indent="0" marL="0">
              <a:buNone/>
            </a:pPr>
            <a:r>
              <a:rPr lang="ar-SA" altLang="en-US" sz="1350" dirty="0">
                <a:solidFill>
                  <a:srgbClr val="8A6D1E"/>
                </a:solidFill>
                <a:latin typeface="Amiri" pitchFamily="34" charset="0"/>
                <a:ea typeface="Amiri" pitchFamily="34" charset="-122"/>
                <a:cs typeface="Amiri" pitchFamily="34" charset="-120"/>
              </a:rPr>
              <a:t>حَاءٌ</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4. Which letter?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ث</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Cue: </a:t>
            </a:r>
            <a:pPr algn="l" indent="0" marL="0">
              <a:buNone/>
            </a:pPr>
            <a:r>
              <a:rPr lang="ar-SA" altLang="en-US" sz="1350" dirty="0">
                <a:solidFill>
                  <a:srgbClr val="8A6D1E"/>
                </a:solidFill>
                <a:latin typeface="Amiri" pitchFamily="34" charset="0"/>
                <a:ea typeface="Amiri" pitchFamily="34" charset="-122"/>
                <a:cs typeface="Amiri" pitchFamily="34" charset="-120"/>
              </a:rPr>
              <a:t>ثَاءٌ</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5. Which letter?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a:t>
            </a:r>
            <a:endParaRPr lang="ar-SA" sz="170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a:t>
            </a:r>
            <a:endParaRPr lang="ar-SA" sz="170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Cue: </a:t>
            </a:r>
            <a:pPr algn="l" indent="0" marL="0">
              <a:buNone/>
            </a:pPr>
            <a:r>
              <a:rPr lang="ar-SA" altLang="en-US" sz="1350" dirty="0">
                <a:solidFill>
                  <a:srgbClr val="8A6D1E"/>
                </a:solidFill>
                <a:latin typeface="Amiri" pitchFamily="34" charset="0"/>
                <a:ea typeface="Amiri" pitchFamily="34" charset="-122"/>
                <a:cs typeface="Amiri" pitchFamily="34" charset="-120"/>
              </a:rPr>
              <a:t>جِيمٌ</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HOW TO ANSWER</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Teacher reads each cue twice.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Look, listen, then choose.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1_ 2_ 3_ 4_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 AND CHOOSE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Hear the SOUND → choose the letter</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اِسْتَمِعْ وَاخْتَرْ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1. Which letter?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2. Which letter?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3. Which letter?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4. Which letter?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5. Which letter?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HOW TO ANSWER</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Teacher reads each cue twice.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Look, listen, then choose.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1_ 2_ 3_ 4_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 AND CHOOSE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1. Which letter?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Cue: /b/ (as in “book”)</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2. Which letter?</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ث</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Cue: /θ/ (as in “thin”)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3. Which letter?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خ</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Cue: /x/ (as in “loch”)</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4. Which letter?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ح</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Cue: /ħ/ (deep breath)</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5. Which letter?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Cue: /t/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HOW TO ANSWER</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Teacher reads each cue twice.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Look, listen, then choose.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1_ 2_ 3_ 4_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 the seven letters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ث</a:t>
            </a:r>
            <a:endParaRPr lang="ar-SA" sz="1800" dirty="0"/>
          </a:p>
        </p:txBody>
      </p:sp>
      <p:sp>
        <p:nvSpPr>
          <p:cNvPr id="29" name="Shape 26"/>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0" name="Shape 27"/>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Alif (first, separate)</a:t>
            </a:r>
            <a:endParaRPr lang="en-US" sz="950" dirty="0"/>
          </a:p>
        </p:txBody>
      </p:sp>
      <p:sp>
        <p:nvSpPr>
          <p:cNvPr id="32" name="Shape 29"/>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3" name="Shape 30"/>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4" name="Text 31"/>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Family 1</a:t>
            </a:r>
            <a:endParaRPr lang="en-US" sz="950" dirty="0"/>
          </a:p>
        </p:txBody>
      </p:sp>
      <p:sp>
        <p:nvSpPr>
          <p:cNvPr id="35" name="Shape 32"/>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6" name="Shape 33"/>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Family 2</a:t>
            </a:r>
            <a:endParaRPr lang="en-US" sz="9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Alif (first, separate)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a:t>
            </a:r>
            <a:endParaRPr lang="ar-SA" sz="1800" dirty="0"/>
          </a:p>
        </p:txBody>
      </p:sp>
      <p:sp>
        <p:nvSpPr>
          <p:cNvPr id="20" name="Shape 17"/>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1" name="Shape 18"/>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2" name="Text 19"/>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Family 1</a:t>
            </a:r>
            <a:endParaRPr lang="en-US" sz="950" dirty="0"/>
          </a:p>
        </p:txBody>
      </p:sp>
      <p:sp>
        <p:nvSpPr>
          <p:cNvPr id="23" name="Shape 20"/>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4" name="Text 21"/>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a:t>
            </a:r>
            <a:endParaRPr lang="ar-SA" sz="1800" dirty="0"/>
          </a:p>
        </p:txBody>
      </p:sp>
      <p:sp>
        <p:nvSpPr>
          <p:cNvPr id="25" name="Shape 22"/>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a:t>
            </a:r>
            <a:endParaRPr lang="ar-SA" sz="1800" dirty="0"/>
          </a:p>
        </p:txBody>
      </p:sp>
      <p:sp>
        <p:nvSpPr>
          <p:cNvPr id="27" name="Shape 24"/>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ث</a:t>
            </a:r>
            <a:endParaRPr lang="ar-SA" sz="1800" dirty="0"/>
          </a:p>
        </p:txBody>
      </p:sp>
      <p:sp>
        <p:nvSpPr>
          <p:cNvPr id="29" name="Shape 26"/>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0" name="Shape 27"/>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Family 2</a:t>
            </a:r>
            <a:endParaRPr lang="en-US" sz="950" dirty="0"/>
          </a:p>
        </p:txBody>
      </p:sp>
      <p:sp>
        <p:nvSpPr>
          <p:cNvPr id="32" name="Shape 29"/>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a:t>
            </a:r>
            <a:endParaRPr lang="ar-SA" sz="1800" dirty="0"/>
          </a:p>
        </p:txBody>
      </p:sp>
      <p:sp>
        <p:nvSpPr>
          <p:cNvPr id="34" name="Shape 31"/>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a:t>
            </a:r>
            <a:endParaRPr lang="ar-SA" sz="1800" dirty="0"/>
          </a:p>
        </p:txBody>
      </p:sp>
      <p:sp>
        <p:nvSpPr>
          <p:cNvPr id="36" name="Shape 33"/>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a:t>
            </a:r>
            <a:endParaRPr lang="ar-SA" sz="18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LISTENING · WRITE THE LETTERS IN ORDER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 and write the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اِسْتَمِعْ وَاكْتُبْ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Listening 1: which order did you hear?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  ب  ت  ث</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  ت  ب  ث</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  ا  ث  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Listening 1: which letter has one dot below?</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Listening 2: which order did you hear?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  ح  ج</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  ح  خ</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  ج  خ</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Listening 2: which letter has no dot?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a:t>
            </a:r>
            <a:endParaRPr lang="ar-SA" sz="2050" dirty="0"/>
          </a:p>
        </p:txBody>
      </p:sp>
      <p:sp>
        <p:nvSpPr>
          <p:cNvPr id="67" name="Shape 64"/>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FIRST, WRITE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Listen and WRITE the letters in your book in the order you hear.</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Then choose here.</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Listening 1: which order did you hear?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  ب  ت  ث</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  ت  ب  ث</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  ا  ث  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Script: </a:t>
            </a:r>
            <a:pPr algn="l" indent="0" marL="0">
              <a:buNone/>
            </a:pPr>
            <a:r>
              <a:rPr lang="ar-SA" altLang="en-US" sz="1350" dirty="0">
                <a:solidFill>
                  <a:srgbClr val="8A6D1E"/>
                </a:solidFill>
                <a:latin typeface="Amiri" pitchFamily="34" charset="0"/>
                <a:ea typeface="Amiri" pitchFamily="34" charset="-122"/>
                <a:cs typeface="Amiri" pitchFamily="34" charset="-120"/>
              </a:rPr>
              <a:t>أَلِفٌ</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بَاءٌ</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تَاءٌ</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ثَاءٌ</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Listening 1: which letter has one dot below?</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Circle </a:t>
            </a:r>
            <a:pPr algn="l" indent="0" marL="0">
              <a:buNone/>
            </a:pPr>
            <a:r>
              <a:rPr lang="ar-SA" altLang="en-US" sz="1350" dirty="0">
                <a:solidFill>
                  <a:srgbClr val="8A6D1E"/>
                </a:solidFill>
                <a:latin typeface="Amiri" pitchFamily="34" charset="0"/>
                <a:ea typeface="Amiri" pitchFamily="34" charset="-122"/>
                <a:cs typeface="Amiri" pitchFamily="34" charset="-120"/>
              </a:rPr>
              <a:t>ب</a:t>
            </a:r>
            <a:pPr algn="l" indent="0" marL="0">
              <a:buNone/>
            </a:pPr>
            <a:r>
              <a:rPr lang="en-US" sz="1050" i="1" dirty="0">
                <a:solidFill>
                  <a:srgbClr val="8A6D1E"/>
                </a:solidFill>
                <a:latin typeface="Calibri" pitchFamily="34" charset="0"/>
                <a:ea typeface="Calibri" pitchFamily="34" charset="-122"/>
                <a:cs typeface="Calibri" pitchFamily="34" charset="-120"/>
              </a:rPr>
              <a:t> — one dot below.</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Listening 2: which order did you hear?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  ح  ج</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  ح  خ</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  ج  خ</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Script: </a:t>
            </a:r>
            <a:pPr algn="l" indent="0" marL="0">
              <a:buNone/>
            </a:pPr>
            <a:r>
              <a:rPr lang="ar-SA" altLang="en-US" sz="1350" dirty="0">
                <a:solidFill>
                  <a:srgbClr val="8A6D1E"/>
                </a:solidFill>
                <a:latin typeface="Amiri" pitchFamily="34" charset="0"/>
                <a:ea typeface="Amiri" pitchFamily="34" charset="-122"/>
                <a:cs typeface="Amiri" pitchFamily="34" charset="-120"/>
              </a:rPr>
              <a:t>جِيمٌ</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حَاءٌ</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خَاءٌ</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Listening 2: which letter has no dot?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ح</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Underline </a:t>
            </a:r>
            <a:pPr algn="l" indent="0" marL="0">
              <a:buNone/>
            </a:pPr>
            <a:r>
              <a:rPr lang="ar-SA" altLang="en-US" sz="1350" dirty="0">
                <a:solidFill>
                  <a:srgbClr val="8A6D1E"/>
                </a:solidFill>
                <a:latin typeface="Amiri" pitchFamily="34" charset="0"/>
                <a:ea typeface="Amiri" pitchFamily="34" charset="-122"/>
                <a:cs typeface="Amiri" pitchFamily="34" charset="-120"/>
              </a:rPr>
              <a:t>ح</a:t>
            </a:r>
            <a:pPr algn="l" indent="0" marL="0">
              <a:buNone/>
            </a:pPr>
            <a:r>
              <a:rPr lang="en-US" sz="1050" i="1" dirty="0">
                <a:solidFill>
                  <a:srgbClr val="8A6D1E"/>
                </a:solidFill>
                <a:latin typeface="Calibri" pitchFamily="34" charset="0"/>
                <a:ea typeface="Calibri" pitchFamily="34" charset="-122"/>
                <a:cs typeface="Calibri" pitchFamily="34" charset="-120"/>
              </a:rPr>
              <a:t> — no dot.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FIRST, WRITE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Listen and WRITE the letters in your book in the order you hear.</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Then choose here.</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000" b="1" dirty="0">
                <a:solidFill>
                  <a:srgbClr val="2E8B57"/>
                </a:solidFill>
                <a:latin typeface="Cambria" pitchFamily="34" charset="0"/>
                <a:ea typeface="Cambria" pitchFamily="34" charset="-122"/>
                <a:cs typeface="Cambria" pitchFamily="34" charset="-120"/>
              </a:rPr>
              <a:t>2 letters + all 7 names</a:t>
            </a:r>
            <a:endParaRPr lang="en-US" sz="20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Copy </a:t>
            </a:r>
            <a:pPr algn="l" indent="0" marL="0">
              <a:buNone/>
            </a:pPr>
            <a:r>
              <a:rPr lang="ar-SA" altLang="en-US" sz="1800" b="1" dirty="0">
                <a:solidFill>
                  <a:srgbClr val="1F2A37"/>
                </a:solidFill>
                <a:latin typeface="Amiri" pitchFamily="34" charset="0"/>
                <a:ea typeface="Amiri" pitchFamily="34" charset="-122"/>
                <a:cs typeface="Amiri" pitchFamily="34" charset="-120"/>
              </a:rPr>
              <a:t>ا</a:t>
            </a:r>
            <a:pPr algn="l" indent="0" marL="0">
              <a:buNone/>
            </a:pPr>
            <a:r>
              <a:rPr lang="en-US" sz="1400" b="1" dirty="0">
                <a:solidFill>
                  <a:srgbClr val="1F2A37"/>
                </a:solidFill>
                <a:latin typeface="Calibri" pitchFamily="34" charset="0"/>
                <a:ea typeface="Calibri" pitchFamily="34" charset="-122"/>
                <a:cs typeface="Calibri" pitchFamily="34" charset="-120"/>
              </a:rPr>
              <a:t> and one family neatly (4 times each). Say every name as you write it.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Trace the pale letters on the I do slide first, then copy on the line in your book.</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all 7 letters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Copy all seven letters accurately, twice each, with the dots in the right place.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Under each family, write the dot rule in English (1 below, 2 above, 3 above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all 7 from memory</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Close the slides and write all seven letters from memory in alphabet order.</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Then write one sentence in English that explains the family rule to a new learner.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ea typeface="Cambria" pitchFamily="34" charset="-122"/>
                <a:cs typeface="Cambria" pitchFamily="34" charset="-120"/>
              </a:rPr>
              <a:t>Show and say: My Letter Family (</a:t>
            </a:r>
            <a:pPr algn="l" indent="0" marL="0">
              <a:buNone/>
            </a:pPr>
            <a:r>
              <a:rPr lang="ar-SA" altLang="en-US" sz="2450" b="1" dirty="0">
                <a:solidFill>
                  <a:srgbClr val="1B3B6F"/>
                </a:solidFill>
                <a:latin typeface="Amiri" pitchFamily="34" charset="0"/>
                <a:ea typeface="Amiri" pitchFamily="34" charset="-122"/>
                <a:cs typeface="Amiri" pitchFamily="34" charset="-120"/>
              </a:rPr>
              <a:t>عَائِلَةُ حُرُوفِي</a:t>
            </a:r>
            <a:pPr algn="l" indent="0" marL="0">
              <a:buNone/>
            </a:pPr>
            <a:r>
              <a:rPr lang="en-US" sz="1900" b="1" dirty="0">
                <a:solidFill>
                  <a:srgbClr val="1B3B6F"/>
                </a:solidFill>
                <a:latin typeface="Cambria" pitchFamily="34" charset="0"/>
                <a:ea typeface="Cambria" pitchFamily="34" charset="-122"/>
                <a:cs typeface="Cambria" pitchFamily="34" charset="-120"/>
              </a:rPr>
              <a:t>)</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هٰذَا الحَرْفُ؟</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أَيْنَ يَبْدَأُ السَّطْرُ؟</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اِشْرَحْ قَاعِدَةَ النِّقَاطِ.</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عَلِّمْ زَمِيلَكَ عَائِلَةً.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هٰذَا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 نُقْطَةٌ تَحْتَ / فَوْقَ</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نَفْسُ الشَّكْلِ ، نِقَاطٌ مُخْتَلِفَةٌ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قَالَ / قَالَتْ : هٰذَا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هٰذَا الحَرْفُ؟</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is this letter?</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هٰذَا أَلِفٌ. هُوَ الحَرْفُ الأَوَّلُ.</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This is alif. It is the first letter.</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COMMON MIX-UPS AND REPAIRS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Mistakes that help us learn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Likely mix-up</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Repair cue</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6720840" y="226771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Putting alif in Family 1</a:t>
            </a:r>
            <a:endParaRPr lang="en-US" sz="1100" dirty="0"/>
          </a:p>
        </p:txBody>
      </p:sp>
      <p:sp>
        <p:nvSpPr>
          <p:cNvPr id="20" name="Text 17"/>
          <p:cNvSpPr txBox="1"/>
          <p:nvPr/>
        </p:nvSpPr>
        <p:spPr>
          <a:xfrm>
            <a:off x="566928" y="2267712"/>
            <a:ext cx="5971032" cy="62788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a:t>
            </a:r>
            <a:pPr algn="l" indent="0" marL="0">
              <a:buNone/>
            </a:pPr>
            <a:r>
              <a:rPr lang="en-US" sz="1100" dirty="0">
                <a:solidFill>
                  <a:srgbClr val="5A6472"/>
                </a:solidFill>
                <a:latin typeface="Calibri" pitchFamily="34" charset="0"/>
                <a:ea typeface="Calibri" pitchFamily="34" charset="-122"/>
                <a:cs typeface="Calibri" pitchFamily="34" charset="-120"/>
              </a:rPr>
              <a:t> is FIRST and SEPARATE. Say its name: alif.</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6720840" y="2950464"/>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Mixing </a:t>
            </a:r>
            <a:pPr algn="l" indent="0" marL="0">
              <a:buNone/>
            </a:pPr>
            <a:r>
              <a:rPr lang="ar-SA" altLang="en-US" sz="1450" dirty="0">
                <a:solidFill>
                  <a:srgbClr val="5A6472"/>
                </a:solidFill>
                <a:latin typeface="Amiri" pitchFamily="34" charset="0"/>
                <a:ea typeface="Amiri" pitchFamily="34" charset="-122"/>
                <a:cs typeface="Amiri" pitchFamily="34" charset="-120"/>
              </a:rPr>
              <a:t>ب ت ث</a:t>
            </a:r>
            <a:endParaRPr lang="en-US" sz="1100" dirty="0"/>
          </a:p>
        </p:txBody>
      </p:sp>
      <p:sp>
        <p:nvSpPr>
          <p:cNvPr id="25" name="Text 22"/>
          <p:cNvSpPr txBox="1"/>
          <p:nvPr/>
        </p:nvSpPr>
        <p:spPr>
          <a:xfrm>
            <a:off x="566928" y="2950464"/>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Cover the dots, see the same body, then count: 1 below · 2 above · 3 above.</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6720840" y="3633216"/>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dot of </a:t>
            </a:r>
            <a:pPr algn="l" indent="0" marL="0">
              <a:buNone/>
            </a:pPr>
            <a:r>
              <a:rPr lang="ar-SA" altLang="en-US" sz="1450" dirty="0">
                <a:solidFill>
                  <a:srgbClr val="5A6472"/>
                </a:solidFill>
                <a:latin typeface="Amiri" pitchFamily="34" charset="0"/>
                <a:ea typeface="Amiri" pitchFamily="34" charset="-122"/>
                <a:cs typeface="Amiri" pitchFamily="34" charset="-120"/>
              </a:rPr>
              <a:t>ج</a:t>
            </a:r>
            <a:pPr algn="l" indent="0" marL="0">
              <a:buNone/>
            </a:pPr>
            <a:r>
              <a:rPr lang="en-US" sz="1100" dirty="0">
                <a:solidFill>
                  <a:srgbClr val="5A6472"/>
                </a:solidFill>
                <a:latin typeface="Calibri" pitchFamily="34" charset="0"/>
                <a:ea typeface="Calibri" pitchFamily="34" charset="-122"/>
                <a:cs typeface="Calibri" pitchFamily="34" charset="-120"/>
              </a:rPr>
              <a:t> drawn above</a:t>
            </a:r>
            <a:endParaRPr lang="en-US" sz="1100" dirty="0"/>
          </a:p>
        </p:txBody>
      </p:sp>
      <p:sp>
        <p:nvSpPr>
          <p:cNvPr id="30" name="Text 27"/>
          <p:cNvSpPr txBox="1"/>
          <p:nvPr/>
        </p:nvSpPr>
        <p:spPr>
          <a:xfrm>
            <a:off x="566928" y="3633216"/>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dot of jīm sits INSIDE the bowl. khāʾ has its dot on top.</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6720840" y="4315968"/>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Adding a dot to </a:t>
            </a:r>
            <a:pPr algn="l" indent="0" marL="0">
              <a:buNone/>
            </a:pPr>
            <a:r>
              <a:rPr lang="ar-SA" altLang="en-US" sz="1450" dirty="0">
                <a:solidFill>
                  <a:srgbClr val="5A6472"/>
                </a:solidFill>
                <a:latin typeface="Amiri" pitchFamily="34" charset="0"/>
                <a:ea typeface="Amiri" pitchFamily="34" charset="-122"/>
                <a:cs typeface="Amiri" pitchFamily="34" charset="-120"/>
              </a:rPr>
              <a:t>ح</a:t>
            </a:r>
            <a:endParaRPr lang="en-US" sz="1100" dirty="0"/>
          </a:p>
        </p:txBody>
      </p:sp>
      <p:sp>
        <p:nvSpPr>
          <p:cNvPr id="35" name="Text 32"/>
          <p:cNvSpPr txBox="1"/>
          <p:nvPr/>
        </p:nvSpPr>
        <p:spPr>
          <a:xfrm>
            <a:off x="566928" y="4315968"/>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Say: “same bowl, no dot.”</a:t>
            </a:r>
            <a:endParaRPr lang="en-US" sz="1100" dirty="0"/>
          </a:p>
        </p:txBody>
      </p:sp>
      <p:sp>
        <p:nvSpPr>
          <p:cNvPr id="36" name="Shape 3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7" name="Text 34"/>
          <p:cNvSpPr txBox="1"/>
          <p:nvPr/>
        </p:nvSpPr>
        <p:spPr>
          <a:xfrm>
            <a:off x="6720840" y="4998720"/>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Saying </a:t>
            </a:r>
            <a:pPr algn="l" indent="0" marL="0">
              <a:buNone/>
            </a:pPr>
            <a:r>
              <a:rPr lang="ar-SA" altLang="en-US" sz="1450" dirty="0">
                <a:solidFill>
                  <a:srgbClr val="5A6472"/>
                </a:solidFill>
                <a:latin typeface="Amiri" pitchFamily="34" charset="0"/>
                <a:ea typeface="Amiri" pitchFamily="34" charset="-122"/>
                <a:cs typeface="Amiri" pitchFamily="34" charset="-120"/>
              </a:rPr>
              <a:t>ث</a:t>
            </a:r>
            <a:pPr algn="l" indent="0" marL="0">
              <a:buNone/>
            </a:pPr>
            <a:r>
              <a:rPr lang="en-US" sz="1100" dirty="0">
                <a:solidFill>
                  <a:srgbClr val="5A6472"/>
                </a:solidFill>
                <a:latin typeface="Calibri" pitchFamily="34" charset="0"/>
                <a:ea typeface="Calibri" pitchFamily="34" charset="-122"/>
                <a:cs typeface="Calibri" pitchFamily="34" charset="-120"/>
              </a:rPr>
              <a:t> as /t/ or /s/</a:t>
            </a:r>
            <a:endParaRPr lang="en-US" sz="1100" dirty="0"/>
          </a:p>
        </p:txBody>
      </p:sp>
      <p:sp>
        <p:nvSpPr>
          <p:cNvPr id="38" name="Text 35"/>
          <p:cNvSpPr txBox="1"/>
          <p:nvPr/>
        </p:nvSpPr>
        <p:spPr>
          <a:xfrm>
            <a:off x="566928" y="4998720"/>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Show the tongue lightly between the teeth: /θ/.</a:t>
            </a:r>
            <a:endParaRPr lang="en-US" sz="1100" dirty="0"/>
          </a:p>
        </p:txBody>
      </p:sp>
      <p:sp>
        <p:nvSpPr>
          <p:cNvPr id="39" name="Shape 36"/>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0" name="Text 37"/>
          <p:cNvSpPr txBox="1"/>
          <p:nvPr/>
        </p:nvSpPr>
        <p:spPr>
          <a:xfrm>
            <a:off x="6720840" y="568147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Saying </a:t>
            </a:r>
            <a:pPr algn="l" indent="0" marL="0">
              <a:buNone/>
            </a:pPr>
            <a:r>
              <a:rPr lang="ar-SA" altLang="en-US" sz="1450" dirty="0">
                <a:solidFill>
                  <a:srgbClr val="5A6472"/>
                </a:solidFill>
                <a:latin typeface="Amiri" pitchFamily="34" charset="0"/>
                <a:ea typeface="Amiri" pitchFamily="34" charset="-122"/>
                <a:cs typeface="Amiri" pitchFamily="34" charset="-120"/>
              </a:rPr>
              <a:t>خ</a:t>
            </a:r>
            <a:pPr algn="l" indent="0" marL="0">
              <a:buNone/>
            </a:pPr>
            <a:r>
              <a:rPr lang="en-US" sz="1100" dirty="0">
                <a:solidFill>
                  <a:srgbClr val="5A6472"/>
                </a:solidFill>
                <a:latin typeface="Calibri" pitchFamily="34" charset="0"/>
                <a:ea typeface="Calibri" pitchFamily="34" charset="-122"/>
                <a:cs typeface="Calibri" pitchFamily="34" charset="-120"/>
              </a:rPr>
              <a:t> as /k/</a:t>
            </a:r>
            <a:endParaRPr lang="en-US" sz="1100" dirty="0"/>
          </a:p>
        </p:txBody>
      </p:sp>
      <p:sp>
        <p:nvSpPr>
          <p:cNvPr id="41" name="Text 38"/>
          <p:cNvSpPr txBox="1"/>
          <p:nvPr/>
        </p:nvSpPr>
        <p:spPr>
          <a:xfrm>
            <a:off x="566928" y="568147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Keep the friction going at the back, like “loch”.</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point to where an Arabic line starts.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recognise the 7 letters and say their names.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explain the dot rule for both families.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copied all 7 letters with the dots in the right place.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write all 7 from memory and hear </a:t>
            </a:r>
            <a:pPr algn="l" indent="0" marL="0">
              <a:buNone/>
            </a:pPr>
            <a:r>
              <a:rPr lang="ar-SA" altLang="en-US" sz="1700" dirty="0">
                <a:solidFill>
                  <a:srgbClr val="1F2A37"/>
                </a:solidFill>
                <a:latin typeface="Amiri" pitchFamily="34" charset="0"/>
                <a:ea typeface="Amiri" pitchFamily="34" charset="-122"/>
                <a:cs typeface="Amiri" pitchFamily="34" charset="-120"/>
              </a:rPr>
              <a:t>ت / ث</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ح / خ</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has THREE dots above?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matches the sound /x/ (loch)?</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correct?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7 names and 6 consonant sounds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7 names and 7 fixed sounds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6 names and 7 sounds</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has THREE dots above?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ث</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ب</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ث</a:t>
            </a:r>
            <a:pPr algn="l" indent="0" marL="0">
              <a:buNone/>
            </a:pPr>
            <a:r>
              <a:rPr lang="en-US" sz="1050" i="1" dirty="0">
                <a:solidFill>
                  <a:srgbClr val="8A6D1E"/>
                </a:solidFill>
                <a:latin typeface="Calibri" pitchFamily="34" charset="0"/>
                <a:ea typeface="Calibri" pitchFamily="34" charset="-122"/>
                <a:cs typeface="Calibri" pitchFamily="34" charset="-120"/>
              </a:rPr>
              <a:t> thāʾ: three dots above.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matches the sound /x/ (loch)?</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ح</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خ</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ج</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خ</a:t>
            </a:r>
            <a:pPr algn="l" indent="0" marL="0">
              <a:buNone/>
            </a:pPr>
            <a:r>
              <a:rPr lang="en-US" sz="1050" i="1" dirty="0">
                <a:solidFill>
                  <a:srgbClr val="8A6D1E"/>
                </a:solidFill>
                <a:latin typeface="Calibri" pitchFamily="34" charset="0"/>
                <a:ea typeface="Calibri" pitchFamily="34" charset="-122"/>
                <a:cs typeface="Calibri" pitchFamily="34" charset="-120"/>
              </a:rPr>
              <a:t> khāʾ.</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is correct?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7 names and 6 consonant sounds</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7 names and 7 fixed sounds</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6 names and 7 sounds</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Alif is taught by name only today (website final check).</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F1-L01 · The Alphabet Family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F1-L02: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F1-L02 · New Letter Families &amp; Connection Breakers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د  دَالٌ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dāl · /d/</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ذ  ذَالٌ</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dhāl · /ð/ (this)</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ر  رَاءٌ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rāʾ · /r/</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ز  زَايٌ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zāy · /z/</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  سِينٌ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sīn · /s/</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the 7 letters you learnt today in order, from memory.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ا ب ت ث ج ح خ</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F1-L01 · play “The Alphabet Family”, then trace and copy the 7 letters (website formation cards).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F1-L01 · the recognition, sorting and bingo activities.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Teach the two families to someone at home (60 seconds), then write all 7 from memory.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F1-L01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ea typeface="Cambria" pitchFamily="34" charset="-122"/>
                <a:cs typeface="Cambria" pitchFamily="34" charset="-120"/>
              </a:rPr>
              <a:t>F1-L02 · New Letter Families &amp; Connection Breakers</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الحُرُوفُ مِنْ ٨ إِلَى ١٤</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new letters + write today’s 7 from memory.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F1-L01 · Welcome to Arabic — The Alphabet Family</dc:title>
  <dc:subject>PptxGenJS Presentation</dc:subject>
  <dc:creator>Al Madina Online School · Arabic Department</dc:creator>
  <cp:lastModifiedBy>Al Madina Online School · Arabic Department</cp:lastModifiedBy>
  <cp:revision>1</cp:revision>
  <dcterms:created xsi:type="dcterms:W3CDTF">2026-09-27T09:16:46Z</dcterms:created>
  <dcterms:modified xsi:type="dcterms:W3CDTF">2026-09-27T09:16:46Z</dcterms:modified>
</cp:coreProperties>
</file>