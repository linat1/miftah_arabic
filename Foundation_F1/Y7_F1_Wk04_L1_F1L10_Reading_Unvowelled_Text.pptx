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10 (F1-L10). The website lesson explains what stays visible in unvowelled Arabic, teaches the SCOPE routine (Scan · Chunk · Observe · Predict · Evaluate) with the worked example المكتبة, a vowel ladder (full → one anchor → everyday print), eight everyday signs, genuine ambiguity (كتب، علم، دخل) and a three-sentence context mission. All signs, tables, the passage, the rubric, the three-sign oral exit and the homework are the website’s.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read at least six of the eight signs with the scene clue and the support form. DEVELOP: use SCOPE on new words; explain one clue. STRETCH: explain ambiguity (كَتَبَ / كُتُب) and read the unvowelled passage.
• Hard boundary (website): context may choose a reading of the printed letters; it cannot invent different letters (بت can never be بيت).
• Heritage / Urdu readers: Urdu is normally written without vowel marks too — they already read this way. Their challenge: show the evidence and mark words as secure / likely / uncertain (website Heritage extension).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are the website “F1-L09 bridge” (writing knowledge becomes reading evidence). Questions 4–5 test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letters stay. The short vowels disappear. You use the letters FIRST, then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the website F1-L10 success criteria.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all five are written without marks in Urdu too (مسجد، مدرسہ، علم، کتب، شارع عام). Urdu readers already read unvowelled words — ask them HOW they know, and name the clue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STAYS (website Part 1): ✓ base letters, positional forms, dots and breaks stay; ✓ long-vowel letters ا و ي stay; ○ fatḥa, ḍamma, kasra, sukūn and tanwīn (and often shadda) disappear; ? the reader supplies the sound from vocabulary, patterns and context.
Starter (website): English readers can often read “ths s wht Englsh lks lk wtht vwls” — but Arabic keeps its long vowels, so it is easier than that!
HARD BOUNDARY (website): context chooses a reading of the printed letters; it cannot invent different letters — بت can never become بيت or بنت.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(website Part 2): a strong reader does not guess from a picture and ignore the print — SCOPE moves from certain visual evidence to a checked interpretation.
Confidence labels (website): SECURE — I can point to the skeleton, a known chunk and a context fit · LIKELY — letters fit and context supports it, but the word is not yet familiar · UNCERTAIN — more than one reading still fits; mark it and keep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teacher-made from the website Parts 1–2.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THE VOWEL LADDER (website Part 3). Read Level 1, cover it, reread Levels 2 and 3. The letters never change; only the scaffolding is removed.
Anchors (website): فُندق keeps the less predictable opening فُـ; مَطْعم keeps the closed chunk مَطْـ. Point to the skeleton (م ط ع م) at every level — the anchor helps pronunciation; it does not replace letter analysis.
If the final read is uncertain, go back ONE step — not to permanent transliteration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(“Sign Scan”)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game “Sign Scan” (first three of eight signs). SCAN the letters FIRST, then use the scene clue (website: the setting is evidence after scanning, not a substitute for reading). Clues: مطعم — ط has no dot, ع is open; مستشفى — final ى; محطة — final ة, shadda inferred.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(“Sign Scan”)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game “Sign Scan” (first three of eight signs). SCAN the letters FIRST, then use the scene clue (website: the setting is evidence after scanning, not a substitute for reading). Clues: مطعم — ط has no dot, ع is open; مستشفى — final ى; محطة — final ة, shadda inferred.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eight signs and letter clues. Read each with SCOPE together: cover the support column first. Then image-to-word recall (website): hide the Arabic, show only the scene words, students say each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“genuine ambiguity” table and game “Pattern Detective” (read the unvowelled sentence, choose the meaning of the highlighted skeleton). Sentences are teacher-made in the website style.
Website skeletons: كتب (كَتَبَ he wrote · كُتُب books · كُتِبَ it was written), علم (عِلْم knowledge · عَلَم flag · عَلِمَ he knew), دخل (دَخَلَ he entered · دَخْل income).
Good uncertainty language (website): “The letters allow two readings. This sentence makes one more likely because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students to explain each choice with “because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CONTEXT MISSION (website). Show the slide with the English column COVERED (or read aloud only the Arabic) for the first 3 minutes.
Routes: Core — find five words you know and say what they mean (مدرسة، فصل، مكتبة، كتبا، الطلاب). Develop — read each sentence aloud using SCOPE. Stretch — explain كتبا (books, not “he wrote”) with evidence.
Then reveal the support column. Website pronunciation-support version: هَذِهِ مَدْرَسَةٌ كَبِيرَةٌ. فِي الْمَدْرَسَةِ فَصْلٌ وَمَكْتَبَةٌ. يَقْرَأُ الطُّلَّابُ كُتُبًا فِي الْمَكْتَبَةِ.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WRITING (5 min). LIVE FEEDBACK after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وَهٰذِهِ؟ (And this one? (محطة))
B: هٰذِهِ مَحَطَّةٌ. الشَّدَّةُ لَيْسَتْ مَكْتُوبَةً. (This is a station. The shadda is not written.)
THREE-SIGN ORAL EXIT (website): مدرسة — identify letters, read, give meaning; محطة — explain the inferred shadda; مستشفى — identify final ى. Record: secure / one prompt / practise again, plus the evidence language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the website context-reading rubric. Students complete: “My strongest evidence was …” and “I stayed uncertain when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(F1-L11 · Arabic Around Us) will spend class time USING this language, so students prepare it tonight — short, simple, easy to access (school guidance: “Simple, Short, Interesting, Relevant, Easy to access”). Next lesson: Arabic around the world — where the script appears and what it communicates. Do not photograph people or private information.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F1  ·  WEEK 4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F1-L10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Read What Is Written: Unvowelled Text</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قِرَاءَةُ النُّصُوصِ غَيْرِ المَشْكُولَةِ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Most everyday Arabic has no short-vowel marks. Learn what stays visible, use the SCOPE routine (letters first, context second), read eight real signs, and say “I’m not sure yet” when a word could be read two ways.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F1-L10 · Week 4,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F1 › Lesson 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What stays visible, and the SCOPE routine.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Vowel ladder, sign scan, pattern detective.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F1-L11.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feature changes </a:t>
            </a:r>
            <a:pPr algn="l" indent="0" marL="0">
              <a:buNone/>
            </a:pPr>
            <a:r>
              <a:rPr lang="ar-SA" altLang="en-US" sz="1650" b="1" dirty="0">
                <a:solidFill>
                  <a:srgbClr val="1B3B6F"/>
                </a:solidFill>
                <a:latin typeface="Amiri" pitchFamily="34" charset="0"/>
                <a:ea typeface="Amiri" pitchFamily="34" charset="-122"/>
                <a:cs typeface="Amiri" pitchFamily="34" charset="-120"/>
              </a:rPr>
              <a:t>ب</a:t>
            </a:r>
            <a:pPr algn="l" indent="0" marL="0">
              <a:buNone/>
            </a:pPr>
            <a:r>
              <a:rPr lang="en-US" sz="1250" b="1" dirty="0">
                <a:solidFill>
                  <a:srgbClr val="1B3B6F"/>
                </a:solidFill>
                <a:latin typeface="Calibri" pitchFamily="34" charset="0"/>
                <a:ea typeface="Calibri" pitchFamily="34" charset="-122"/>
                <a:cs typeface="Calibri" pitchFamily="34" charset="-120"/>
              </a:rPr>
              <a:t> into </a:t>
            </a:r>
            <a:pPr algn="l" indent="0" marL="0">
              <a:buNone/>
            </a:pPr>
            <a:r>
              <a:rPr lang="ar-SA" altLang="en-US" sz="1650" b="1" dirty="0">
                <a:solidFill>
                  <a:srgbClr val="1B3B6F"/>
                </a:solidFill>
                <a:latin typeface="Amiri" pitchFamily="34" charset="0"/>
                <a:ea typeface="Amiri" pitchFamily="34" charset="-122"/>
                <a:cs typeface="Amiri" pitchFamily="34" charset="-120"/>
              </a:rPr>
              <a:t>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Joins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Dots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Spacing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letters never join the letter after them?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 د ذ ر ز و</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 ت ث ن ي</a:t>
            </a:r>
            <a:endParaRPr lang="ar-SA" sz="2050" dirty="0"/>
          </a:p>
        </p:txBody>
      </p:sp>
      <p:sp>
        <p:nvSpPr>
          <p:cNvPr id="38" name="Shape 3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code means a mark is on the wrong letter?</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t>
            </a:r>
            <a:endParaRPr lang="en-US" sz="1250" dirty="0"/>
          </a:p>
        </p:txBody>
      </p:sp>
      <p:sp>
        <p:nvSpPr>
          <p:cNvPr id="48" name="Shape 45"/>
          <p:cNvSpPr/>
          <p:nvPr/>
        </p:nvSpPr>
        <p:spPr>
          <a:xfrm>
            <a:off x="8278368" y="34472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0" name="Text 47"/>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t>
            </a:r>
            <a:endParaRPr lang="en-US" sz="1250" dirty="0"/>
          </a:p>
        </p:txBody>
      </p:sp>
      <p:sp>
        <p:nvSpPr>
          <p:cNvPr id="51" name="Shape 4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85216"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4" name="Text 5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مدرسة</a:t>
            </a:r>
            <a:pPr algn="l" indent="0" marL="0">
              <a:buNone/>
            </a:pPr>
            <a:r>
              <a:rPr lang="en-US" sz="1250" b="1" dirty="0">
                <a:solidFill>
                  <a:srgbClr val="1B3B6F"/>
                </a:solidFill>
                <a:latin typeface="Calibri" pitchFamily="34" charset="0"/>
                <a:ea typeface="Calibri" pitchFamily="34" charset="-122"/>
                <a:cs typeface="Calibri" pitchFamily="34" charset="-120"/>
              </a:rPr>
              <a:t> mean (prepared at home)?</a:t>
            </a:r>
            <a:endParaRPr lang="en-US" sz="1250" dirty="0"/>
          </a:p>
        </p:txBody>
      </p:sp>
      <p:sp>
        <p:nvSpPr>
          <p:cNvPr id="55" name="Shape 52"/>
          <p:cNvSpPr/>
          <p:nvPr/>
        </p:nvSpPr>
        <p:spPr>
          <a:xfrm>
            <a:off x="640080" y="48737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7" name="Text 54"/>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door</a:t>
            </a:r>
            <a:endParaRPr lang="en-US" sz="1250" dirty="0"/>
          </a:p>
        </p:txBody>
      </p:sp>
      <p:sp>
        <p:nvSpPr>
          <p:cNvPr id="58" name="Shape 55"/>
          <p:cNvSpPr/>
          <p:nvPr/>
        </p:nvSpPr>
        <p:spPr>
          <a:xfrm>
            <a:off x="640080" y="53309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0" name="Text 57"/>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exit</a:t>
            </a:r>
            <a:endParaRPr lang="en-US" sz="1250" dirty="0"/>
          </a:p>
        </p:txBody>
      </p:sp>
      <p:sp>
        <p:nvSpPr>
          <p:cNvPr id="61" name="Shape 58"/>
          <p:cNvSpPr/>
          <p:nvPr/>
        </p:nvSpPr>
        <p:spPr>
          <a:xfrm>
            <a:off x="640080" y="57881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3" name="Text 60"/>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school</a:t>
            </a:r>
            <a:endParaRPr lang="en-US" sz="1250" dirty="0"/>
          </a:p>
        </p:txBody>
      </p:sp>
      <p:sp>
        <p:nvSpPr>
          <p:cNvPr id="64" name="Shape 61"/>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404360"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7" name="Text 64"/>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مغلق</a:t>
            </a:r>
            <a:pPr algn="l" indent="0" marL="0">
              <a:buNone/>
            </a:pPr>
            <a:r>
              <a:rPr lang="en-US" sz="1250" b="1" dirty="0">
                <a:solidFill>
                  <a:srgbClr val="1B3B6F"/>
                </a:solidFill>
                <a:latin typeface="Calibri" pitchFamily="34" charset="0"/>
                <a:ea typeface="Calibri" pitchFamily="34" charset="-122"/>
                <a:cs typeface="Calibri" pitchFamily="34" charset="-120"/>
              </a:rPr>
              <a:t> mean on a sign (prepared at home)?</a:t>
            </a:r>
            <a:endParaRPr lang="en-US" sz="1250" dirty="0"/>
          </a:p>
        </p:txBody>
      </p:sp>
      <p:sp>
        <p:nvSpPr>
          <p:cNvPr id="68" name="Shape 65"/>
          <p:cNvSpPr/>
          <p:nvPr/>
        </p:nvSpPr>
        <p:spPr>
          <a:xfrm>
            <a:off x="4459224" y="48737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closed</a:t>
            </a:r>
            <a:endParaRPr lang="en-US" sz="1250" dirty="0"/>
          </a:p>
        </p:txBody>
      </p:sp>
      <p:sp>
        <p:nvSpPr>
          <p:cNvPr id="71" name="Shape 68"/>
          <p:cNvSpPr/>
          <p:nvPr/>
        </p:nvSpPr>
        <p:spPr>
          <a:xfrm>
            <a:off x="4459224" y="53309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open</a:t>
            </a:r>
            <a:endParaRPr lang="en-US" sz="1250" dirty="0"/>
          </a:p>
        </p:txBody>
      </p:sp>
      <p:sp>
        <p:nvSpPr>
          <p:cNvPr id="74" name="Shape 71"/>
          <p:cNvSpPr/>
          <p:nvPr/>
        </p:nvSpPr>
        <p:spPr>
          <a:xfrm>
            <a:off x="4459224" y="57881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6" name="Text 73"/>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exit</a:t>
            </a:r>
            <a:endParaRPr lang="en-US" sz="1250" dirty="0"/>
          </a:p>
        </p:txBody>
      </p:sp>
      <p:sp>
        <p:nvSpPr>
          <p:cNvPr id="77" name="Shape 74"/>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8" name="Text 75"/>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79" name="Text 76"/>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0" name="Text 77"/>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1" name="Text 78"/>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feature changes </a:t>
            </a:r>
            <a:pPr algn="l" indent="0" marL="0">
              <a:buNone/>
            </a:pPr>
            <a:r>
              <a:rPr lang="ar-SA" altLang="en-US" sz="1650" b="1" dirty="0">
                <a:solidFill>
                  <a:srgbClr val="1B3B6F"/>
                </a:solidFill>
                <a:latin typeface="Amiri" pitchFamily="34" charset="0"/>
                <a:ea typeface="Amiri" pitchFamily="34" charset="-122"/>
                <a:cs typeface="Amiri" pitchFamily="34" charset="-120"/>
              </a:rPr>
              <a:t>ب</a:t>
            </a:r>
            <a:pPr algn="l" indent="0" marL="0">
              <a:buNone/>
            </a:pPr>
            <a:r>
              <a:rPr lang="en-US" sz="1250" b="1" dirty="0">
                <a:solidFill>
                  <a:srgbClr val="1B3B6F"/>
                </a:solidFill>
                <a:latin typeface="Calibri" pitchFamily="34" charset="0"/>
                <a:ea typeface="Calibri" pitchFamily="34" charset="-122"/>
                <a:cs typeface="Calibri" pitchFamily="34" charset="-120"/>
              </a:rPr>
              <a:t> into </a:t>
            </a:r>
            <a:pPr algn="l" indent="0" marL="0">
              <a:buNone/>
            </a:pPr>
            <a:r>
              <a:rPr lang="ar-SA" altLang="en-US" sz="1650" b="1" dirty="0">
                <a:solidFill>
                  <a:srgbClr val="1B3B6F"/>
                </a:solidFill>
                <a:latin typeface="Amiri" pitchFamily="34" charset="0"/>
                <a:ea typeface="Amiri" pitchFamily="34" charset="-122"/>
                <a:cs typeface="Amiri" pitchFamily="34" charset="-120"/>
              </a:rPr>
              <a:t>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Joins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Dots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Spacing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F1-L09 bridge: dots identify the letter.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letters never join the letter after them?</a:t>
            </a:r>
            <a:endParaRPr lang="en-US" sz="1250" dirty="0"/>
          </a:p>
        </p:txBody>
      </p:sp>
      <p:sp>
        <p:nvSpPr>
          <p:cNvPr id="34" name="Shape 31"/>
          <p:cNvSpPr/>
          <p:nvPr/>
        </p:nvSpPr>
        <p:spPr>
          <a:xfrm>
            <a:off x="4367784" y="24963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5328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 د ذ ر ز و</a:t>
            </a:r>
            <a:endParaRPr lang="ar-SA" sz="2050" dirty="0"/>
          </a:p>
        </p:txBody>
      </p:sp>
      <p:sp>
        <p:nvSpPr>
          <p:cNvPr id="38" name="Shape 35"/>
          <p:cNvSpPr/>
          <p:nvPr/>
        </p:nvSpPr>
        <p:spPr>
          <a:xfrm>
            <a:off x="4459224" y="29900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 ت ث ن ي</a:t>
            </a:r>
            <a:endParaRPr lang="ar-SA" sz="2050" dirty="0"/>
          </a:p>
        </p:txBody>
      </p:sp>
      <p:sp>
        <p:nvSpPr>
          <p:cNvPr id="41" name="Text 38"/>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F1-L05 / L09.</a:t>
            </a:r>
            <a:endParaRPr lang="en-US" sz="1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code means a mark is on the wrong letter?</a:t>
            </a:r>
            <a:endParaRPr lang="en-US" sz="1250" dirty="0"/>
          </a:p>
        </p:txBody>
      </p:sp>
      <p:sp>
        <p:nvSpPr>
          <p:cNvPr id="46" name="Shape 43"/>
          <p:cNvSpPr/>
          <p:nvPr/>
        </p:nvSpPr>
        <p:spPr>
          <a:xfrm>
            <a:off x="8278368" y="2490216"/>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t>
            </a:r>
            <a:endParaRPr lang="en-US" sz="1250" dirty="0"/>
          </a:p>
        </p:txBody>
      </p:sp>
      <p:sp>
        <p:nvSpPr>
          <p:cNvPr id="49" name="Shape 46"/>
          <p:cNvSpPr/>
          <p:nvPr/>
        </p:nvSpPr>
        <p:spPr>
          <a:xfrm>
            <a:off x="8278368" y="2862072"/>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a:t>
            </a:r>
            <a:endParaRPr lang="en-US" sz="1250" dirty="0"/>
          </a:p>
        </p:txBody>
      </p:sp>
      <p:sp>
        <p:nvSpPr>
          <p:cNvPr id="52" name="Shape 49"/>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3233928"/>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a:t>
            </a:r>
            <a:endParaRPr lang="en-US" sz="1250" dirty="0"/>
          </a:p>
        </p:txBody>
      </p:sp>
      <p:sp>
        <p:nvSpPr>
          <p:cNvPr id="56" name="Text 53"/>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F1-L09 repair codes.</a:t>
            </a:r>
            <a:endParaRPr lang="en-US" sz="1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مدرسة</a:t>
            </a:r>
            <a:pPr algn="l" indent="0" marL="0">
              <a:buNone/>
            </a:pPr>
            <a:r>
              <a:rPr lang="en-US" sz="1250" b="1" dirty="0">
                <a:solidFill>
                  <a:srgbClr val="1B3B6F"/>
                </a:solidFill>
                <a:latin typeface="Calibri" pitchFamily="34" charset="0"/>
                <a:ea typeface="Calibri" pitchFamily="34" charset="-122"/>
                <a:cs typeface="Calibri" pitchFamily="34" charset="-120"/>
              </a:rPr>
              <a:t> mean (prepared at home)?</a:t>
            </a:r>
            <a:endParaRPr lang="en-US" sz="1250" dirty="0"/>
          </a:p>
        </p:txBody>
      </p:sp>
      <p:sp>
        <p:nvSpPr>
          <p:cNvPr id="61" name="Shape 58"/>
          <p:cNvSpPr/>
          <p:nvPr/>
        </p:nvSpPr>
        <p:spPr>
          <a:xfrm>
            <a:off x="640080" y="4831080"/>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3" name="Text 60"/>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door</a:t>
            </a:r>
            <a:endParaRPr lang="en-US" sz="1250" dirty="0"/>
          </a:p>
        </p:txBody>
      </p:sp>
      <p:sp>
        <p:nvSpPr>
          <p:cNvPr id="64" name="Shape 61"/>
          <p:cNvSpPr/>
          <p:nvPr/>
        </p:nvSpPr>
        <p:spPr>
          <a:xfrm>
            <a:off x="640080" y="520293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6" name="Text 63"/>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exit</a:t>
            </a:r>
            <a:endParaRPr lang="en-US" sz="1250" dirty="0"/>
          </a:p>
        </p:txBody>
      </p:sp>
      <p:sp>
        <p:nvSpPr>
          <p:cNvPr id="67" name="Shape 64"/>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57479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school</a:t>
            </a:r>
            <a:endParaRPr lang="en-US" sz="1250" dirty="0"/>
          </a:p>
        </p:txBody>
      </p:sp>
      <p:sp>
        <p:nvSpPr>
          <p:cNvPr id="71" name="Text 6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مَدْرَسَةٌ</a:t>
            </a:r>
            <a:pPr algn="l" indent="0" marL="0">
              <a:buNone/>
            </a:pPr>
            <a:r>
              <a:rPr lang="en-US" sz="1050" i="1" dirty="0">
                <a:solidFill>
                  <a:srgbClr val="8A6D1E"/>
                </a:solidFill>
                <a:latin typeface="Calibri" pitchFamily="34" charset="0"/>
                <a:ea typeface="Calibri" pitchFamily="34" charset="-122"/>
                <a:cs typeface="Calibri" pitchFamily="34" charset="-120"/>
              </a:rPr>
              <a:t> without marks.</a:t>
            </a:r>
            <a:endParaRPr lang="en-US" sz="1050" dirty="0"/>
          </a:p>
        </p:txBody>
      </p:sp>
      <p:sp>
        <p:nvSpPr>
          <p:cNvPr id="72" name="Shape 69"/>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4404360" y="4288536"/>
            <a:ext cx="310896" cy="310896"/>
          </a:xfrm>
          <a:prstGeom prst="ellipse">
            <a:avLst/>
          </a:prstGeom>
          <a:solidFill>
            <a:srgbClr val="1B3B6F"/>
          </a:solidFill>
          <a:ln w="12700">
            <a:solidFill>
              <a:srgbClr val="1B3B6F"/>
            </a:solidFill>
            <a:prstDash val="solid"/>
          </a:ln>
        </p:spPr>
      </p:sp>
      <p:sp>
        <p:nvSpPr>
          <p:cNvPr id="74" name="Text 71"/>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5" name="Text 72"/>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مغلق</a:t>
            </a:r>
            <a:pPr algn="l" indent="0" marL="0">
              <a:buNone/>
            </a:pPr>
            <a:r>
              <a:rPr lang="en-US" sz="1250" b="1" dirty="0">
                <a:solidFill>
                  <a:srgbClr val="1B3B6F"/>
                </a:solidFill>
                <a:latin typeface="Calibri" pitchFamily="34" charset="0"/>
                <a:ea typeface="Calibri" pitchFamily="34" charset="-122"/>
                <a:cs typeface="Calibri" pitchFamily="34" charset="-120"/>
              </a:rPr>
              <a:t> mean on a sign (prepared at home)?</a:t>
            </a:r>
            <a:endParaRPr lang="en-US" sz="1250" dirty="0"/>
          </a:p>
        </p:txBody>
      </p:sp>
      <p:sp>
        <p:nvSpPr>
          <p:cNvPr id="76" name="Shape 73"/>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7" name="Shape 74"/>
          <p:cNvSpPr/>
          <p:nvPr/>
        </p:nvSpPr>
        <p:spPr>
          <a:xfrm>
            <a:off x="4459224" y="4831080"/>
            <a:ext cx="256032" cy="256032"/>
          </a:xfrm>
          <a:prstGeom prst="ellipse">
            <a:avLst/>
          </a:prstGeom>
          <a:solidFill>
            <a:srgbClr val="2E8B57"/>
          </a:solidFill>
          <a:ln w="12700">
            <a:solidFill>
              <a:srgbClr val="2E8B57"/>
            </a:solidFill>
            <a:prstDash val="solid"/>
          </a:ln>
        </p:spPr>
      </p:sp>
      <p:sp>
        <p:nvSpPr>
          <p:cNvPr id="78" name="Text 75"/>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9" name="Text 76"/>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closed</a:t>
            </a:r>
            <a:endParaRPr lang="en-US" sz="1250" dirty="0"/>
          </a:p>
        </p:txBody>
      </p:sp>
      <p:sp>
        <p:nvSpPr>
          <p:cNvPr id="80" name="Shape 77"/>
          <p:cNvSpPr/>
          <p:nvPr/>
        </p:nvSpPr>
        <p:spPr>
          <a:xfrm>
            <a:off x="4459224" y="5202936"/>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2" name="Text 79"/>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open</a:t>
            </a:r>
            <a:endParaRPr lang="en-US" sz="1250" dirty="0"/>
          </a:p>
        </p:txBody>
      </p:sp>
      <p:sp>
        <p:nvSpPr>
          <p:cNvPr id="83" name="Shape 80"/>
          <p:cNvSpPr/>
          <p:nvPr/>
        </p:nvSpPr>
        <p:spPr>
          <a:xfrm>
            <a:off x="4459224" y="5574792"/>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5" name="Text 82"/>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exit</a:t>
            </a:r>
            <a:endParaRPr lang="en-US" sz="1250" dirty="0"/>
          </a:p>
        </p:txBody>
      </p:sp>
      <p:sp>
        <p:nvSpPr>
          <p:cNvPr id="86" name="Text 8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مُغْلَقٌ</a:t>
            </a:r>
            <a:pPr algn="l" indent="0" marL="0">
              <a:buNone/>
            </a:pPr>
            <a:r>
              <a:rPr lang="en-US" sz="1050" i="1" dirty="0">
                <a:solidFill>
                  <a:srgbClr val="8A6D1E"/>
                </a:solidFill>
                <a:latin typeface="Calibri" pitchFamily="34" charset="0"/>
                <a:ea typeface="Calibri" pitchFamily="34" charset="-122"/>
                <a:cs typeface="Calibri" pitchFamily="34" charset="-120"/>
              </a:rPr>
              <a:t> = closed; </a:t>
            </a:r>
            <a:pPr algn="l" indent="0" marL="0">
              <a:buNone/>
            </a:pPr>
            <a:r>
              <a:rPr lang="ar-SA" altLang="en-US" sz="1350" dirty="0">
                <a:solidFill>
                  <a:srgbClr val="8A6D1E"/>
                </a:solidFill>
                <a:latin typeface="Amiri" pitchFamily="34" charset="0"/>
                <a:ea typeface="Amiri" pitchFamily="34" charset="-122"/>
                <a:cs typeface="Amiri" pitchFamily="34" charset="-120"/>
              </a:rPr>
              <a:t>مَفْتُوحٌ</a:t>
            </a:r>
            <a:pPr algn="l" indent="0" marL="0">
              <a:buNone/>
            </a:pPr>
            <a:r>
              <a:rPr lang="en-US" sz="1050" i="1" dirty="0">
                <a:solidFill>
                  <a:srgbClr val="8A6D1E"/>
                </a:solidFill>
                <a:latin typeface="Calibri" pitchFamily="34" charset="0"/>
                <a:ea typeface="Calibri" pitchFamily="34" charset="-122"/>
                <a:cs typeface="Calibri" pitchFamily="34" charset="-120"/>
              </a:rPr>
              <a:t> = open.</a:t>
            </a:r>
            <a:endParaRPr lang="en-US" sz="1050" dirty="0"/>
          </a:p>
        </p:txBody>
      </p:sp>
      <p:sp>
        <p:nvSpPr>
          <p:cNvPr id="87" name="Shape 84"/>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8" name="Text 85"/>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89" name="Text 86"/>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The letters stay. The short vowels disappear. You use the letters FIRST, then the context.</a:t>
            </a:r>
            <a:endParaRPr lang="en-US" sz="1300" dirty="0"/>
          </a:p>
        </p:txBody>
      </p:sp>
      <p:sp>
        <p:nvSpPr>
          <p:cNvPr id="90" name="Text 87"/>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مدرسة ← مَدْرَسَة</a:t>
            </a:r>
            <a:endParaRPr lang="ar-SA" sz="240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26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why everyday Arabic leaves out most vowel marks.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the SCOPE routine: letters first, then context.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Read eight everyday signs.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Say when a word could still be read in two ways.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read at least six of the eight signs.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know which clues stay visible.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explain all five SCOPE steps.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use context only after checking the letters.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explain </a:t>
            </a:r>
            <a:pPr algn="l" indent="0" marL="0">
              <a:buNone/>
            </a:pPr>
            <a:r>
              <a:rPr lang="ar-SA" altLang="en-US" sz="1700" b="1" dirty="0">
                <a:solidFill>
                  <a:srgbClr val="B83227"/>
                </a:solidFill>
                <a:latin typeface="Amiri" pitchFamily="34" charset="0"/>
                <a:ea typeface="Amiri" pitchFamily="34" charset="-122"/>
                <a:cs typeface="Amiri" pitchFamily="34" charset="-120"/>
              </a:rPr>
              <a:t>كَتَبَ / كُتُب / كُتِبَ</a:t>
            </a:r>
            <a:pPr algn="l" indent="0" marL="0">
              <a:buNone/>
            </a:pPr>
            <a:r>
              <a:rPr lang="en-US" sz="1300" b="1" dirty="0">
                <a:solidFill>
                  <a:srgbClr val="B83227"/>
                </a:solidFill>
                <a:latin typeface="Calibri" pitchFamily="34" charset="0"/>
                <a:ea typeface="Calibri" pitchFamily="34" charset="-122"/>
                <a:cs typeface="Calibri" pitchFamily="34" charset="-120"/>
              </a:rPr>
              <a:t> from one skeleton.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mark a reading as uncertain and say why.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8 everyday signs, 5 SCOPE steps and 3 skeletons with more than one reading.</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ROUTINE</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 · C · O · P · E</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SIGNS</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Everyday signs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SKELETONS</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Two readings · 3</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مسجد</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‎مسجد‎ </a:t>
            </a:r>
            <a:pPr indent="0" marL="0">
              <a:buNone/>
            </a:pPr>
            <a:r>
              <a:rPr lang="en-US" sz="950" b="1" dirty="0">
                <a:solidFill>
                  <a:srgbClr val="2E8B57"/>
                </a:solidFill>
                <a:latin typeface="Calibri" pitchFamily="34" charset="0"/>
                <a:ea typeface="Calibri" pitchFamily="34" charset="-122"/>
                <a:cs typeface="Calibri" pitchFamily="34" charset="-120"/>
              </a:rPr>
              <a:t> masjid · mosque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مدرسة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‎مدرسہ‎ </a:t>
            </a:r>
            <a:pPr indent="0" marL="0">
              <a:buNone/>
            </a:pPr>
            <a:r>
              <a:rPr lang="en-US" sz="950" b="1" dirty="0">
                <a:solidFill>
                  <a:srgbClr val="2E8B57"/>
                </a:solidFill>
                <a:latin typeface="Calibri" pitchFamily="34" charset="0"/>
                <a:ea typeface="Calibri" pitchFamily="34" charset="-122"/>
                <a:cs typeface="Calibri" pitchFamily="34" charset="-120"/>
              </a:rPr>
              <a:t> madrasa · school</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علم</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‎علم‎ </a:t>
            </a:r>
            <a:pPr indent="0" marL="0">
              <a:buNone/>
            </a:pPr>
            <a:r>
              <a:rPr lang="en-US" sz="950" b="1" dirty="0">
                <a:solidFill>
                  <a:srgbClr val="2E8B57"/>
                </a:solidFill>
                <a:latin typeface="Calibri" pitchFamily="34" charset="0"/>
                <a:ea typeface="Calibri" pitchFamily="34" charset="-122"/>
                <a:cs typeface="Calibri" pitchFamily="34" charset="-120"/>
              </a:rPr>
              <a:t> ʿilm · knowledge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كتب</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‎کتب‎ </a:t>
            </a:r>
            <a:pPr indent="0" marL="0">
              <a:buNone/>
            </a:pPr>
            <a:r>
              <a:rPr lang="en-US" sz="950" b="1" dirty="0">
                <a:solidFill>
                  <a:srgbClr val="2E8B57"/>
                </a:solidFill>
                <a:latin typeface="Calibri" pitchFamily="34" charset="0"/>
                <a:ea typeface="Calibri" pitchFamily="34" charset="-122"/>
                <a:cs typeface="Calibri" pitchFamily="34" charset="-120"/>
              </a:rPr>
              <a:t> kutub · books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شارع</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‎شارع‎ </a:t>
            </a:r>
            <a:pPr indent="0" marL="0">
              <a:buNone/>
            </a:pPr>
            <a:r>
              <a:rPr lang="en-US" sz="950" b="1" dirty="0">
                <a:solidFill>
                  <a:srgbClr val="2E8B57"/>
                </a:solidFill>
                <a:latin typeface="Calibri" pitchFamily="34" charset="0"/>
                <a:ea typeface="Calibri" pitchFamily="34" charset="-122"/>
                <a:cs typeface="Calibri" pitchFamily="34" charset="-120"/>
              </a:rPr>
              <a:t> shāriʿ · street, avenue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TEACHER INSTRUCTION · WHAT REMAINS VISIBLE? (WEBSITE PART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letters stay; most marks go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مَاذَا يَبْقَى فِي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Printed (everyday)</a:t>
            </a:r>
            <a:endParaRPr lang="en-US" sz="1100" dirty="0"/>
          </a:p>
        </p:txBody>
      </p:sp>
      <p:sp>
        <p:nvSpPr>
          <p:cNvPr id="17" name="Text 14"/>
          <p:cNvSpPr txBox="1"/>
          <p:nvPr/>
        </p:nvSpPr>
        <p:spPr>
          <a:xfrm>
            <a:off x="686714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With support marks</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Clue that stays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445752" y="2267712"/>
            <a:ext cx="219456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مدرسة</a:t>
            </a:r>
            <a:endParaRPr lang="ar-SA" sz="3200" dirty="0"/>
          </a:p>
        </p:txBody>
      </p:sp>
      <p:sp>
        <p:nvSpPr>
          <p:cNvPr id="21" name="Text 18"/>
          <p:cNvSpPr txBox="1"/>
          <p:nvPr/>
        </p:nvSpPr>
        <p:spPr>
          <a:xfrm>
            <a:off x="6885432" y="2267712"/>
            <a:ext cx="237744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مَدْرَسَة</a:t>
            </a:r>
            <a:endParaRPr lang="ar-SA" sz="28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All five letters, including the final </a:t>
            </a:r>
            <a:pPr algn="l" indent="0" marL="0">
              <a:buNone/>
            </a:pPr>
            <a:r>
              <a:rPr lang="ar-SA" altLang="en-US" sz="1450" dirty="0">
                <a:solidFill>
                  <a:srgbClr val="5A6472"/>
                </a:solidFill>
                <a:latin typeface="Amiri" pitchFamily="34" charset="0"/>
                <a:ea typeface="Amiri" pitchFamily="34" charset="-122"/>
                <a:cs typeface="Amiri" pitchFamily="34" charset="-120"/>
              </a:rPr>
              <a:t>ة</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445752" y="3054096"/>
            <a:ext cx="219456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شارع</a:t>
            </a:r>
            <a:endParaRPr lang="ar-SA" sz="3200" dirty="0"/>
          </a:p>
        </p:txBody>
      </p:sp>
      <p:sp>
        <p:nvSpPr>
          <p:cNvPr id="27" name="Text 24"/>
          <p:cNvSpPr txBox="1"/>
          <p:nvPr/>
        </p:nvSpPr>
        <p:spPr>
          <a:xfrm>
            <a:off x="6885432" y="3054096"/>
            <a:ext cx="237744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شَارِع</a:t>
            </a:r>
            <a:endParaRPr lang="ar-SA" sz="28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written alif shows the long ā</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445752" y="3840480"/>
            <a:ext cx="219456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فندق</a:t>
            </a:r>
            <a:endParaRPr lang="ar-SA" sz="3200" dirty="0"/>
          </a:p>
        </p:txBody>
      </p:sp>
      <p:sp>
        <p:nvSpPr>
          <p:cNvPr id="33" name="Text 30"/>
          <p:cNvSpPr txBox="1"/>
          <p:nvPr/>
        </p:nvSpPr>
        <p:spPr>
          <a:xfrm>
            <a:off x="6885432" y="3840480"/>
            <a:ext cx="237744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فُنْدُق</a:t>
            </a:r>
            <a:endParaRPr lang="ar-SA" sz="28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Dots tell </a:t>
            </a:r>
            <a:pPr algn="l" indent="0" marL="0">
              <a:buNone/>
            </a:pPr>
            <a:r>
              <a:rPr lang="ar-SA" altLang="en-US" sz="1450" dirty="0">
                <a:solidFill>
                  <a:srgbClr val="5A6472"/>
                </a:solidFill>
                <a:latin typeface="Amiri" pitchFamily="34" charset="0"/>
                <a:ea typeface="Amiri" pitchFamily="34" charset="-122"/>
                <a:cs typeface="Amiri" pitchFamily="34" charset="-120"/>
              </a:rPr>
              <a:t>ف ن ق</a:t>
            </a:r>
            <a:pPr algn="l" indent="0" marL="0">
              <a:buNone/>
            </a:pPr>
            <a:r>
              <a:rPr lang="en-US" sz="1100" dirty="0">
                <a:solidFill>
                  <a:srgbClr val="5A6472"/>
                </a:solidFill>
                <a:latin typeface="Calibri" pitchFamily="34" charset="0"/>
                <a:ea typeface="Calibri" pitchFamily="34" charset="-122"/>
                <a:cs typeface="Calibri" pitchFamily="34" charset="-120"/>
              </a:rPr>
              <a:t> apart; vocabulary gives the vowels</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9445752" y="4626864"/>
            <a:ext cx="219456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يقرأ</a:t>
            </a:r>
            <a:endParaRPr lang="ar-SA" sz="3200" dirty="0"/>
          </a:p>
        </p:txBody>
      </p:sp>
      <p:sp>
        <p:nvSpPr>
          <p:cNvPr id="39" name="Text 36"/>
          <p:cNvSpPr txBox="1"/>
          <p:nvPr/>
        </p:nvSpPr>
        <p:spPr>
          <a:xfrm>
            <a:off x="6885432" y="4626864"/>
            <a:ext cx="237744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يَقْرَأ</a:t>
            </a:r>
            <a:endParaRPr lang="ar-SA" sz="28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Hamza stays visible — it is a letter-sign, not a vowel mark</a:t>
            </a:r>
            <a:endParaRPr lang="en-US" sz="110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26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dirty="0">
                <a:solidFill>
                  <a:srgbClr val="1B3B6F"/>
                </a:solidFill>
                <a:latin typeface="Calibri" pitchFamily="34" charset="0"/>
                <a:ea typeface="Calibri" pitchFamily="34" charset="-122"/>
                <a:cs typeface="Calibri" pitchFamily="34" charset="-120"/>
              </a:rPr>
              <a:t>TEACHER INSTRUCTION · THE SCOPE ROUTINE (WEBSITE PART 2) · WORKED EXAMPLE </a:t>
            </a:r>
            <a:pPr algn="l" indent="0" marL="0">
              <a:buNone/>
            </a:pPr>
            <a:r>
              <a:rPr lang="ar-SA" altLang="en-US" sz="1100" b="1" dirty="0">
                <a:solidFill>
                  <a:srgbClr val="1B3B6F"/>
                </a:solidFill>
                <a:latin typeface="Amiri" pitchFamily="34" charset="0"/>
                <a:ea typeface="Amiri" pitchFamily="34" charset="-122"/>
                <a:cs typeface="Amiri" pitchFamily="34" charset="-120"/>
              </a:rPr>
              <a:t>المكتبة</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SCOPE the word before you say it</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اِجْمَعِ الأَدِلَّةَ قَبْلَ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445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p>
        </p:txBody>
      </p:sp>
      <p:sp>
        <p:nvSpPr>
          <p:cNvPr id="17" name="Text 14"/>
          <p:cNvSpPr txBox="1"/>
          <p:nvPr/>
        </p:nvSpPr>
        <p:spPr>
          <a:xfrm>
            <a:off x="503834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to do</a:t>
            </a:r>
            <a:endParaRPr lang="en-US" sz="1100" dirty="0"/>
          </a:p>
        </p:txBody>
      </p:sp>
      <p:sp>
        <p:nvSpPr>
          <p:cNvPr id="18" name="Text 15"/>
          <p:cNvSpPr txBox="1"/>
          <p:nvPr/>
        </p:nvSpPr>
        <p:spPr>
          <a:xfrm>
            <a:off x="530352" y="1810512"/>
            <a:ext cx="4361688"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34" charset="0"/>
                <a:ea typeface="Amiri" pitchFamily="34" charset="-122"/>
                <a:cs typeface="Amiri" pitchFamily="34" charset="-120"/>
              </a:rPr>
              <a:t>المكتبة</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281160"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 · Scan the skeleton</a:t>
            </a:r>
            <a:endParaRPr lang="en-US" sz="1100" dirty="0"/>
          </a:p>
        </p:txBody>
      </p:sp>
      <p:sp>
        <p:nvSpPr>
          <p:cNvPr id="21" name="Text 18"/>
          <p:cNvSpPr txBox="1"/>
          <p:nvPr/>
        </p:nvSpPr>
        <p:spPr>
          <a:xfrm>
            <a:off x="5074920" y="2267712"/>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Right to left: name every letter and dot; notice breaks.</a:t>
            </a:r>
            <a:endParaRPr lang="en-US" sz="1100" dirty="0"/>
          </a:p>
        </p:txBody>
      </p:sp>
      <p:sp>
        <p:nvSpPr>
          <p:cNvPr id="22" name="Text 19"/>
          <p:cNvSpPr txBox="1"/>
          <p:nvPr/>
        </p:nvSpPr>
        <p:spPr>
          <a:xfrm>
            <a:off x="566928" y="2267712"/>
            <a:ext cx="432511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 ل م ك ت ب ة</a:t>
            </a:r>
            <a:pPr algn="l" indent="0" marL="0">
              <a:buNone/>
            </a:pPr>
            <a:r>
              <a:rPr lang="en-US" sz="1100" dirty="0">
                <a:solidFill>
                  <a:srgbClr val="5A6472"/>
                </a:solidFill>
                <a:latin typeface="Calibri" pitchFamily="34" charset="0"/>
                <a:ea typeface="Calibri" pitchFamily="34" charset="-122"/>
                <a:cs typeface="Calibri" pitchFamily="34" charset="-120"/>
              </a:rPr>
              <a:t> — seven letters, one word</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281160"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 · Chunk what is known</a:t>
            </a:r>
            <a:endParaRPr lang="en-US" sz="1100" dirty="0"/>
          </a:p>
        </p:txBody>
      </p:sp>
      <p:sp>
        <p:nvSpPr>
          <p:cNvPr id="27" name="Text 24"/>
          <p:cNvSpPr txBox="1"/>
          <p:nvPr/>
        </p:nvSpPr>
        <p:spPr>
          <a:xfrm>
            <a:off x="5074920" y="3054096"/>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Spot </a:t>
            </a:r>
            <a:pPr algn="l" indent="0" marL="0">
              <a:buNone/>
            </a:pPr>
            <a:r>
              <a:rPr lang="ar-SA" altLang="en-US" sz="1450" dirty="0">
                <a:solidFill>
                  <a:srgbClr val="5A6472"/>
                </a:solidFill>
                <a:latin typeface="Amiri" pitchFamily="34" charset="0"/>
                <a:ea typeface="Amiri" pitchFamily="34" charset="-122"/>
                <a:cs typeface="Amiri" pitchFamily="34" charset="-120"/>
              </a:rPr>
              <a:t>ال ، و ، بـ ، ة ، ات</a:t>
            </a:r>
            <a:pPr algn="l" indent="0" marL="0">
              <a:buNone/>
            </a:pPr>
            <a:r>
              <a:rPr lang="en-US" sz="1100" dirty="0">
                <a:solidFill>
                  <a:srgbClr val="5A6472"/>
                </a:solidFill>
                <a:latin typeface="Calibri" pitchFamily="34" charset="0"/>
                <a:ea typeface="Calibri" pitchFamily="34" charset="-122"/>
                <a:cs typeface="Calibri" pitchFamily="34" charset="-120"/>
              </a:rPr>
              <a:t> …</a:t>
            </a:r>
            <a:endParaRPr lang="en-US" sz="1100" dirty="0"/>
          </a:p>
        </p:txBody>
      </p:sp>
      <p:sp>
        <p:nvSpPr>
          <p:cNvPr id="28" name="Text 25"/>
          <p:cNvSpPr txBox="1"/>
          <p:nvPr/>
        </p:nvSpPr>
        <p:spPr>
          <a:xfrm>
            <a:off x="548640" y="3054096"/>
            <a:ext cx="432511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ال + مكتب + ة</a:t>
            </a:r>
            <a:endParaRPr lang="ar-SA" sz="20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281160"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 · Observe vowel clues</a:t>
            </a:r>
            <a:endParaRPr lang="en-US" sz="1100" dirty="0"/>
          </a:p>
        </p:txBody>
      </p:sp>
      <p:sp>
        <p:nvSpPr>
          <p:cNvPr id="33" name="Text 30"/>
          <p:cNvSpPr txBox="1"/>
          <p:nvPr/>
        </p:nvSpPr>
        <p:spPr>
          <a:xfrm>
            <a:off x="5074920" y="3840480"/>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Look for written </a:t>
            </a:r>
            <a:pPr algn="l" indent="0" marL="0">
              <a:buNone/>
            </a:pPr>
            <a:r>
              <a:rPr lang="ar-SA" altLang="en-US" sz="1450" dirty="0">
                <a:solidFill>
                  <a:srgbClr val="5A6472"/>
                </a:solidFill>
                <a:latin typeface="Amiri" pitchFamily="34" charset="0"/>
                <a:ea typeface="Amiri" pitchFamily="34" charset="-122"/>
                <a:cs typeface="Amiri" pitchFamily="34" charset="-120"/>
              </a:rPr>
              <a:t>ا و ي</a:t>
            </a:r>
            <a:pPr algn="l" indent="0" marL="0">
              <a:buNone/>
            </a:pPr>
            <a:r>
              <a:rPr lang="en-US" sz="1100" dirty="0">
                <a:solidFill>
                  <a:srgbClr val="5A6472"/>
                </a:solidFill>
                <a:latin typeface="Calibri" pitchFamily="34" charset="0"/>
                <a:ea typeface="Calibri" pitchFamily="34" charset="-122"/>
                <a:cs typeface="Calibri" pitchFamily="34" charset="-120"/>
              </a:rPr>
              <a:t>; compare with words you know.</a:t>
            </a:r>
            <a:endParaRPr lang="en-US" sz="1100" dirty="0"/>
          </a:p>
        </p:txBody>
      </p:sp>
      <p:sp>
        <p:nvSpPr>
          <p:cNvPr id="34" name="Text 31"/>
          <p:cNvSpPr txBox="1"/>
          <p:nvPr/>
        </p:nvSpPr>
        <p:spPr>
          <a:xfrm>
            <a:off x="566928" y="3840480"/>
            <a:ext cx="4325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 long vowel inside </a:t>
            </a:r>
            <a:pPr algn="l" indent="0" marL="0">
              <a:buNone/>
            </a:pPr>
            <a:r>
              <a:rPr lang="ar-SA" altLang="en-US" sz="1450" dirty="0">
                <a:solidFill>
                  <a:srgbClr val="5A6472"/>
                </a:solidFill>
                <a:latin typeface="Amiri" pitchFamily="34" charset="0"/>
                <a:ea typeface="Amiri" pitchFamily="34" charset="-122"/>
                <a:cs typeface="Amiri" pitchFamily="34" charset="-120"/>
              </a:rPr>
              <a:t>مكتب</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9281160"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 · Predict with context</a:t>
            </a:r>
            <a:endParaRPr lang="en-US" sz="1100" dirty="0"/>
          </a:p>
        </p:txBody>
      </p:sp>
      <p:sp>
        <p:nvSpPr>
          <p:cNvPr id="39" name="Text 36"/>
          <p:cNvSpPr txBox="1"/>
          <p:nvPr/>
        </p:nvSpPr>
        <p:spPr>
          <a:xfrm>
            <a:off x="5074920" y="4626864"/>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Use the sign, the topic, the other words.</a:t>
            </a:r>
            <a:endParaRPr lang="en-US" sz="1100" dirty="0"/>
          </a:p>
        </p:txBody>
      </p:sp>
      <p:sp>
        <p:nvSpPr>
          <p:cNvPr id="40" name="Text 37"/>
          <p:cNvSpPr txBox="1"/>
          <p:nvPr/>
        </p:nvSpPr>
        <p:spPr>
          <a:xfrm>
            <a:off x="566928" y="4626864"/>
            <a:ext cx="43251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School topic; students read books there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Shape 4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9281160" y="5413248"/>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 · Evaluate everything</a:t>
            </a:r>
            <a:endParaRPr lang="en-US" sz="1100" dirty="0"/>
          </a:p>
        </p:txBody>
      </p:sp>
      <p:sp>
        <p:nvSpPr>
          <p:cNvPr id="45" name="Text 42"/>
          <p:cNvSpPr txBox="1"/>
          <p:nvPr/>
        </p:nvSpPr>
        <p:spPr>
          <a:xfrm>
            <a:off x="5074920" y="5413248"/>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Does it fit every letter AND the meaning?</a:t>
            </a:r>
            <a:endParaRPr lang="en-US" sz="1100" dirty="0"/>
          </a:p>
        </p:txBody>
      </p:sp>
      <p:sp>
        <p:nvSpPr>
          <p:cNvPr id="46" name="Text 43"/>
          <p:cNvSpPr txBox="1"/>
          <p:nvPr/>
        </p:nvSpPr>
        <p:spPr>
          <a:xfrm>
            <a:off x="566928" y="5413248"/>
            <a:ext cx="432511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الْمَكْتَبَة</a:t>
            </a:r>
            <a:pPr algn="l" indent="0" marL="0">
              <a:buNone/>
            </a:pPr>
            <a:r>
              <a:rPr lang="en-US" sz="1100" dirty="0">
                <a:solidFill>
                  <a:srgbClr val="5A6472"/>
                </a:solidFill>
                <a:latin typeface="Calibri" pitchFamily="34" charset="0"/>
                <a:ea typeface="Calibri" pitchFamily="34" charset="-122"/>
                <a:cs typeface="Calibri" pitchFamily="34" charset="-120"/>
              </a:rPr>
              <a:t> — the library ✓</a:t>
            </a:r>
            <a:endParaRPr lang="en-US" sz="1100" dirty="0"/>
          </a:p>
        </p:txBody>
      </p:sp>
      <p:sp>
        <p:nvSpPr>
          <p:cNvPr id="47" name="Shape 44"/>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26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stays visible in unvowelled Arabic?</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the first letter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Short vowel marks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Letters, dots and long vowels</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Can context turn </a:t>
            </a:r>
            <a:pPr algn="l" indent="0" marL="0">
              <a:buNone/>
            </a:pPr>
            <a:r>
              <a:rPr lang="ar-SA" altLang="en-US" sz="1650" b="1" dirty="0">
                <a:solidFill>
                  <a:srgbClr val="1B3B6F"/>
                </a:solidFill>
                <a:latin typeface="Amiri" pitchFamily="34" charset="0"/>
                <a:ea typeface="Amiri" pitchFamily="34" charset="-122"/>
                <a:cs typeface="Amiri" pitchFamily="34" charset="-120"/>
              </a:rPr>
              <a:t>بت</a:t>
            </a:r>
            <a:pPr algn="l" indent="0" marL="0">
              <a:buNone/>
            </a:pPr>
            <a:r>
              <a:rPr lang="en-US" sz="1250" b="1" dirty="0">
                <a:solidFill>
                  <a:srgbClr val="1B3B6F"/>
                </a:solidFill>
                <a:latin typeface="Calibri" pitchFamily="34" charset="0"/>
                <a:ea typeface="Calibri" pitchFamily="34" charset="-122"/>
                <a:cs typeface="Calibri" pitchFamily="34" charset="-120"/>
              </a:rPr>
              <a:t> into </a:t>
            </a:r>
            <a:pPr algn="l" indent="0" marL="0">
              <a:buNone/>
            </a:pPr>
            <a:r>
              <a:rPr lang="ar-SA" altLang="en-US" sz="1650" b="1" dirty="0">
                <a:solidFill>
                  <a:srgbClr val="1B3B6F"/>
                </a:solidFill>
                <a:latin typeface="Amiri" pitchFamily="34" charset="0"/>
                <a:ea typeface="Amiri" pitchFamily="34" charset="-122"/>
                <a:cs typeface="Amiri" pitchFamily="34" charset="-120"/>
              </a:rPr>
              <a:t>بيت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 the </a:t>
            </a:r>
            <a:pPr algn="l" indent="0" marL="0">
              <a:buNone/>
            </a:pPr>
            <a:r>
              <a:rPr lang="ar-SA" altLang="en-US" sz="1650" dirty="0">
                <a:solidFill>
                  <a:srgbClr val="1F2A37"/>
                </a:solidFill>
                <a:latin typeface="Amiri" pitchFamily="34" charset="0"/>
                <a:ea typeface="Amiri" pitchFamily="34" charset="-122"/>
                <a:cs typeface="Amiri" pitchFamily="34" charset="-120"/>
              </a:rPr>
              <a:t>ي</a:t>
            </a:r>
            <a:pPr algn="l" indent="0" marL="0">
              <a:buNone/>
            </a:pPr>
            <a:r>
              <a:rPr lang="en-US" sz="1250" dirty="0">
                <a:solidFill>
                  <a:srgbClr val="1F2A37"/>
                </a:solidFill>
                <a:latin typeface="Calibri" pitchFamily="34" charset="0"/>
                <a:ea typeface="Calibri" pitchFamily="34" charset="-122"/>
                <a:cs typeface="Calibri" pitchFamily="34" charset="-120"/>
              </a:rPr>
              <a:t> is not printed</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 if the picture shows a house</a:t>
            </a:r>
            <a:endParaRPr lang="en-US" sz="1250" dirty="0"/>
          </a:p>
        </p:txBody>
      </p:sp>
      <p:sp>
        <p:nvSpPr>
          <p:cNvPr id="38" name="Shape 3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85216" y="4288536"/>
            <a:ext cx="310896" cy="310896"/>
          </a:xfrm>
          <a:prstGeom prst="ellipse">
            <a:avLst/>
          </a:prstGeom>
          <a:solidFill>
            <a:srgbClr val="1B3B6F"/>
          </a:solidFill>
          <a:ln w="12700">
            <a:solidFill>
              <a:srgbClr val="1B3B6F"/>
            </a:solidFill>
            <a:prstDash val="solid"/>
          </a:ln>
        </p:spPr>
      </p:sp>
      <p:sp>
        <p:nvSpPr>
          <p:cNvPr id="40" name="Text 3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SCOPE step uses the sign or topic?</a:t>
            </a:r>
            <a:endParaRPr lang="en-US" sz="1250" dirty="0"/>
          </a:p>
        </p:txBody>
      </p:sp>
      <p:sp>
        <p:nvSpPr>
          <p:cNvPr id="42" name="Shape 39"/>
          <p:cNvSpPr/>
          <p:nvPr/>
        </p:nvSpPr>
        <p:spPr>
          <a:xfrm>
            <a:off x="640080" y="4873752"/>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 · Scan</a:t>
            </a:r>
            <a:endParaRPr lang="en-US" sz="1250" dirty="0"/>
          </a:p>
        </p:txBody>
      </p:sp>
      <p:sp>
        <p:nvSpPr>
          <p:cNvPr id="45" name="Shape 42"/>
          <p:cNvSpPr/>
          <p:nvPr/>
        </p:nvSpPr>
        <p:spPr>
          <a:xfrm>
            <a:off x="640080" y="53309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 · Predict with context</a:t>
            </a:r>
            <a:endParaRPr lang="en-US" sz="1250" dirty="0"/>
          </a:p>
        </p:txBody>
      </p:sp>
      <p:sp>
        <p:nvSpPr>
          <p:cNvPr id="48" name="Shape 45"/>
          <p:cNvSpPr/>
          <p:nvPr/>
        </p:nvSpPr>
        <p:spPr>
          <a:xfrm>
            <a:off x="640080" y="57881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0" name="Text 47"/>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 · Chunk</a:t>
            </a:r>
            <a:endParaRPr lang="en-US" sz="1250" dirty="0"/>
          </a:p>
        </p:txBody>
      </p:sp>
      <p:sp>
        <p:nvSpPr>
          <p:cNvPr id="51" name="Shape 4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6313932"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4" name="Text 5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chunk </a:t>
            </a:r>
            <a:pPr algn="l" indent="0" marL="0">
              <a:buNone/>
            </a:pPr>
            <a:r>
              <a:rPr lang="ar-SA" altLang="en-US" sz="1650" b="1" dirty="0">
                <a:solidFill>
                  <a:srgbClr val="1B3B6F"/>
                </a:solidFill>
                <a:latin typeface="Amiri" pitchFamily="34" charset="0"/>
                <a:ea typeface="Amiri" pitchFamily="34" charset="-122"/>
                <a:cs typeface="Amiri" pitchFamily="34" charset="-120"/>
              </a:rPr>
              <a:t>ة</a:t>
            </a:r>
            <a:pPr algn="l" indent="0" marL="0">
              <a:buNone/>
            </a:pPr>
            <a:r>
              <a:rPr lang="en-US" sz="1250" b="1" dirty="0">
                <a:solidFill>
                  <a:srgbClr val="1B3B6F"/>
                </a:solidFill>
                <a:latin typeface="Calibri" pitchFamily="34" charset="0"/>
                <a:ea typeface="Calibri" pitchFamily="34" charset="-122"/>
                <a:cs typeface="Calibri" pitchFamily="34" charset="-120"/>
              </a:rPr>
              <a:t> at the end of </a:t>
            </a:r>
            <a:pPr algn="l" indent="0" marL="0">
              <a:buNone/>
            </a:pPr>
            <a:r>
              <a:rPr lang="ar-SA" altLang="en-US" sz="1650" b="1" dirty="0">
                <a:solidFill>
                  <a:srgbClr val="1B3B6F"/>
                </a:solidFill>
                <a:latin typeface="Amiri" pitchFamily="34" charset="0"/>
                <a:ea typeface="Amiri" pitchFamily="34" charset="-122"/>
                <a:cs typeface="Amiri" pitchFamily="34" charset="-120"/>
              </a:rPr>
              <a:t>مدرسة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5" name="Shape 52"/>
          <p:cNvSpPr/>
          <p:nvPr/>
        </p:nvSpPr>
        <p:spPr>
          <a:xfrm>
            <a:off x="6368796" y="48737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7" name="Text 54"/>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tāʾ marbūṭa (feminine ending)</a:t>
            </a:r>
            <a:endParaRPr lang="en-US" sz="1250" dirty="0"/>
          </a:p>
        </p:txBody>
      </p:sp>
      <p:sp>
        <p:nvSpPr>
          <p:cNvPr id="58" name="Shape 55"/>
          <p:cNvSpPr/>
          <p:nvPr/>
        </p:nvSpPr>
        <p:spPr>
          <a:xfrm>
            <a:off x="6368796" y="53309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0" name="Text 57"/>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article “the”</a:t>
            </a:r>
            <a:endParaRPr lang="en-US" sz="1250" dirty="0"/>
          </a:p>
        </p:txBody>
      </p:sp>
      <p:sp>
        <p:nvSpPr>
          <p:cNvPr id="61" name="Shape 58"/>
          <p:cNvSpPr/>
          <p:nvPr/>
        </p:nvSpPr>
        <p:spPr>
          <a:xfrm>
            <a:off x="6368796" y="57881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3" name="Text 60"/>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long vowel</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stays visible in unvowelled Arabic?</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the first letter</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Short vowel marks</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Letters, dots and long vowels</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Part 1.</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Can context turn </a:t>
            </a:r>
            <a:pPr algn="l" indent="0" marL="0">
              <a:buNone/>
            </a:pPr>
            <a:r>
              <a:rPr lang="ar-SA" altLang="en-US" sz="1650" b="1" dirty="0">
                <a:solidFill>
                  <a:srgbClr val="1B3B6F"/>
                </a:solidFill>
                <a:latin typeface="Amiri" pitchFamily="34" charset="0"/>
                <a:ea typeface="Amiri" pitchFamily="34" charset="-122"/>
                <a:cs typeface="Amiri" pitchFamily="34" charset="-120"/>
              </a:rPr>
              <a:t>بت</a:t>
            </a:r>
            <a:pPr algn="l" indent="0" marL="0">
              <a:buNone/>
            </a:pPr>
            <a:r>
              <a:rPr lang="en-US" sz="1250" b="1" dirty="0">
                <a:solidFill>
                  <a:srgbClr val="1B3B6F"/>
                </a:solidFill>
                <a:latin typeface="Calibri" pitchFamily="34" charset="0"/>
                <a:ea typeface="Calibri" pitchFamily="34" charset="-122"/>
                <a:cs typeface="Calibri" pitchFamily="34" charset="-120"/>
              </a:rPr>
              <a:t> into </a:t>
            </a:r>
            <a:pPr algn="l" indent="0" marL="0">
              <a:buNone/>
            </a:pPr>
            <a:r>
              <a:rPr lang="ar-SA" altLang="en-US" sz="1650" b="1" dirty="0">
                <a:solidFill>
                  <a:srgbClr val="1B3B6F"/>
                </a:solidFill>
                <a:latin typeface="Amiri" pitchFamily="34" charset="0"/>
                <a:ea typeface="Amiri" pitchFamily="34" charset="-122"/>
                <a:cs typeface="Amiri" pitchFamily="34" charset="-120"/>
              </a:rPr>
              <a:t>بيت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6277356" y="2496312"/>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5328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No — the </a:t>
            </a:r>
            <a:pPr algn="l" indent="0" marL="0">
              <a:buNone/>
            </a:pPr>
            <a:r>
              <a:rPr lang="ar-SA" altLang="en-US" sz="1650" b="1" dirty="0">
                <a:solidFill>
                  <a:srgbClr val="1F2A37"/>
                </a:solidFill>
                <a:latin typeface="Amiri" pitchFamily="34" charset="0"/>
                <a:ea typeface="Amiri" pitchFamily="34" charset="-122"/>
                <a:cs typeface="Amiri" pitchFamily="34" charset="-120"/>
              </a:rPr>
              <a:t>ي</a:t>
            </a:r>
            <a:pPr algn="l" indent="0" marL="0">
              <a:buNone/>
            </a:pPr>
            <a:r>
              <a:rPr lang="en-US" sz="1250" b="1" dirty="0">
                <a:solidFill>
                  <a:srgbClr val="1F2A37"/>
                </a:solidFill>
                <a:latin typeface="Calibri" pitchFamily="34" charset="0"/>
                <a:ea typeface="Calibri" pitchFamily="34" charset="-122"/>
                <a:cs typeface="Calibri" pitchFamily="34" charset="-120"/>
              </a:rPr>
              <a:t> is not printed</a:t>
            </a:r>
            <a:endParaRPr lang="en-US" sz="1250" dirty="0"/>
          </a:p>
        </p:txBody>
      </p:sp>
      <p:sp>
        <p:nvSpPr>
          <p:cNvPr id="38" name="Shape 35"/>
          <p:cNvSpPr/>
          <p:nvPr/>
        </p:nvSpPr>
        <p:spPr>
          <a:xfrm>
            <a:off x="6368796" y="29900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Yes, if the picture shows a house</a:t>
            </a:r>
            <a:endParaRPr lang="en-US" sz="1250" dirty="0"/>
          </a:p>
        </p:txBody>
      </p:sp>
      <p:sp>
        <p:nvSpPr>
          <p:cNvPr id="41" name="Text 38"/>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hard boundary.</a:t>
            </a:r>
            <a:endParaRPr lang="en-US" sz="1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SCOPE step uses the sign or topic?</a:t>
            </a:r>
            <a:endParaRPr lang="en-US" sz="1250" dirty="0"/>
          </a:p>
        </p:txBody>
      </p:sp>
      <p:sp>
        <p:nvSpPr>
          <p:cNvPr id="46" name="Shape 43"/>
          <p:cNvSpPr/>
          <p:nvPr/>
        </p:nvSpPr>
        <p:spPr>
          <a:xfrm>
            <a:off x="640080" y="4831080"/>
            <a:ext cx="256032" cy="256032"/>
          </a:xfrm>
          <a:prstGeom prst="ellipse">
            <a:avLst/>
          </a:prstGeom>
          <a:solidFill>
            <a:srgbClr val="C9CED6"/>
          </a:solidFill>
          <a:ln w="12700">
            <a:solidFill>
              <a:srgbClr val="C9CED6"/>
            </a:solidFill>
            <a:prstDash val="solid"/>
          </a:ln>
        </p:spPr>
      </p:sp>
      <p:sp>
        <p:nvSpPr>
          <p:cNvPr id="47" name="Text 4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 · Scan</a:t>
            </a:r>
            <a:endParaRPr lang="en-US" sz="1250" dirty="0"/>
          </a:p>
        </p:txBody>
      </p:sp>
      <p:sp>
        <p:nvSpPr>
          <p:cNvPr id="49" name="Shape 46"/>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40080" y="520293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 · Predict with context</a:t>
            </a:r>
            <a:endParaRPr lang="en-US" sz="1250" dirty="0"/>
          </a:p>
        </p:txBody>
      </p:sp>
      <p:sp>
        <p:nvSpPr>
          <p:cNvPr id="53" name="Shape 50"/>
          <p:cNvSpPr/>
          <p:nvPr/>
        </p:nvSpPr>
        <p:spPr>
          <a:xfrm>
            <a:off x="640080" y="557479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 · Chunk</a:t>
            </a:r>
            <a:endParaRPr lang="en-US" sz="1250" dirty="0"/>
          </a:p>
        </p:txBody>
      </p:sp>
      <p:sp>
        <p:nvSpPr>
          <p:cNvPr id="56" name="Text 53"/>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Letters first, then context.</a:t>
            </a:r>
            <a:endParaRPr lang="en-US" sz="1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chunk </a:t>
            </a:r>
            <a:pPr algn="l" indent="0" marL="0">
              <a:buNone/>
            </a:pPr>
            <a:r>
              <a:rPr lang="ar-SA" altLang="en-US" sz="1650" b="1" dirty="0">
                <a:solidFill>
                  <a:srgbClr val="1B3B6F"/>
                </a:solidFill>
                <a:latin typeface="Amiri" pitchFamily="34" charset="0"/>
                <a:ea typeface="Amiri" pitchFamily="34" charset="-122"/>
                <a:cs typeface="Amiri" pitchFamily="34" charset="-120"/>
              </a:rPr>
              <a:t>ة</a:t>
            </a:r>
            <a:pPr algn="l" indent="0" marL="0">
              <a:buNone/>
            </a:pPr>
            <a:r>
              <a:rPr lang="en-US" sz="1250" b="1" dirty="0">
                <a:solidFill>
                  <a:srgbClr val="1B3B6F"/>
                </a:solidFill>
                <a:latin typeface="Calibri" pitchFamily="34" charset="0"/>
                <a:ea typeface="Calibri" pitchFamily="34" charset="-122"/>
                <a:cs typeface="Calibri" pitchFamily="34" charset="-120"/>
              </a:rPr>
              <a:t> at the end of </a:t>
            </a:r>
            <a:pPr algn="l" indent="0" marL="0">
              <a:buNone/>
            </a:pPr>
            <a:r>
              <a:rPr lang="ar-SA" altLang="en-US" sz="1650" b="1" dirty="0">
                <a:solidFill>
                  <a:srgbClr val="1B3B6F"/>
                </a:solidFill>
                <a:latin typeface="Amiri" pitchFamily="34" charset="0"/>
                <a:ea typeface="Amiri" pitchFamily="34" charset="-122"/>
                <a:cs typeface="Amiri" pitchFamily="34" charset="-120"/>
              </a:rPr>
              <a:t>مدرسة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1" name="Shape 58"/>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368796" y="4831080"/>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tāʾ marbūṭa (feminine ending)</a:t>
            </a:r>
            <a:endParaRPr lang="en-US" sz="1250" dirty="0"/>
          </a:p>
        </p:txBody>
      </p:sp>
      <p:sp>
        <p:nvSpPr>
          <p:cNvPr id="65" name="Shape 62"/>
          <p:cNvSpPr/>
          <p:nvPr/>
        </p:nvSpPr>
        <p:spPr>
          <a:xfrm>
            <a:off x="6368796" y="5202936"/>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article “the”</a:t>
            </a:r>
            <a:endParaRPr lang="en-US" sz="1250" dirty="0"/>
          </a:p>
        </p:txBody>
      </p:sp>
      <p:sp>
        <p:nvSpPr>
          <p:cNvPr id="68" name="Shape 65"/>
          <p:cNvSpPr/>
          <p:nvPr/>
        </p:nvSpPr>
        <p:spPr>
          <a:xfrm>
            <a:off x="6368796" y="557479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long vowel</a:t>
            </a:r>
            <a:endParaRPr lang="en-US" sz="1250" dirty="0"/>
          </a:p>
        </p:txBody>
      </p:sp>
      <p:sp>
        <p:nvSpPr>
          <p:cNvPr id="71" name="Text 68"/>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known chunk.</a:t>
            </a:r>
            <a:endParaRPr lang="en-US" sz="10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WALK DOWN THE VOWEL LADDER (WEBSITE PART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Remove the support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سُلَّمُ الحَرَكَاتِ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Word</a:t>
            </a:r>
            <a:endParaRPr lang="en-US" sz="1100" dirty="0"/>
          </a:p>
        </p:txBody>
      </p:sp>
      <p:sp>
        <p:nvSpPr>
          <p:cNvPr id="17" name="Text 14"/>
          <p:cNvSpPr txBox="1"/>
          <p:nvPr/>
        </p:nvSpPr>
        <p:spPr>
          <a:xfrm>
            <a:off x="668426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Level 1 · full support</a:t>
            </a:r>
            <a:endParaRPr lang="en-US" sz="1100" dirty="0"/>
          </a:p>
        </p:txBody>
      </p:sp>
      <p:sp>
        <p:nvSpPr>
          <p:cNvPr id="18" name="Text 15"/>
          <p:cNvSpPr txBox="1"/>
          <p:nvPr/>
        </p:nvSpPr>
        <p:spPr>
          <a:xfrm>
            <a:off x="357530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Level 2 · one anchor</a:t>
            </a:r>
            <a:endParaRPr lang="en-US" sz="1100" dirty="0"/>
          </a:p>
        </p:txBody>
      </p:sp>
      <p:sp>
        <p:nvSpPr>
          <p:cNvPr id="19" name="Text 16"/>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Level 3 · everyday print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82980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hotel</a:t>
            </a:r>
            <a:endParaRPr lang="en-US" sz="1100" dirty="0"/>
          </a:p>
        </p:txBody>
      </p:sp>
      <p:sp>
        <p:nvSpPr>
          <p:cNvPr id="22" name="Text 19"/>
          <p:cNvSpPr txBox="1"/>
          <p:nvPr/>
        </p:nvSpPr>
        <p:spPr>
          <a:xfrm>
            <a:off x="6702552" y="2267712"/>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فُنْدُقٌ</a:t>
            </a:r>
            <a:endParaRPr lang="ar-SA" sz="2800" dirty="0"/>
          </a:p>
        </p:txBody>
      </p:sp>
      <p:sp>
        <p:nvSpPr>
          <p:cNvPr id="23" name="Text 20"/>
          <p:cNvSpPr txBox="1"/>
          <p:nvPr/>
        </p:nvSpPr>
        <p:spPr>
          <a:xfrm>
            <a:off x="3593592" y="2267712"/>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فُندق</a:t>
            </a:r>
            <a:endParaRPr lang="ar-SA" sz="2800" dirty="0"/>
          </a:p>
        </p:txBody>
      </p:sp>
      <p:sp>
        <p:nvSpPr>
          <p:cNvPr id="24" name="Text 21"/>
          <p:cNvSpPr txBox="1"/>
          <p:nvPr/>
        </p:nvSpPr>
        <p:spPr>
          <a:xfrm>
            <a:off x="548640" y="2267712"/>
            <a:ext cx="2862072"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فندق</a:t>
            </a:r>
            <a:endParaRPr lang="ar-SA" sz="28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82980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restaurant</a:t>
            </a:r>
            <a:endParaRPr lang="en-US" sz="1100" dirty="0"/>
          </a:p>
        </p:txBody>
      </p:sp>
      <p:sp>
        <p:nvSpPr>
          <p:cNvPr id="29" name="Text 26"/>
          <p:cNvSpPr txBox="1"/>
          <p:nvPr/>
        </p:nvSpPr>
        <p:spPr>
          <a:xfrm>
            <a:off x="6702552" y="3054096"/>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مَطْعَمٌ</a:t>
            </a:r>
            <a:endParaRPr lang="ar-SA" sz="2800" dirty="0"/>
          </a:p>
        </p:txBody>
      </p:sp>
      <p:sp>
        <p:nvSpPr>
          <p:cNvPr id="30" name="Text 27"/>
          <p:cNvSpPr txBox="1"/>
          <p:nvPr/>
        </p:nvSpPr>
        <p:spPr>
          <a:xfrm>
            <a:off x="3593592" y="3054096"/>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مَطْعم</a:t>
            </a:r>
            <a:endParaRPr lang="ar-SA" sz="2800" dirty="0"/>
          </a:p>
        </p:txBody>
      </p:sp>
      <p:sp>
        <p:nvSpPr>
          <p:cNvPr id="31" name="Text 28"/>
          <p:cNvSpPr txBox="1"/>
          <p:nvPr/>
        </p:nvSpPr>
        <p:spPr>
          <a:xfrm>
            <a:off x="548640" y="3054096"/>
            <a:ext cx="2862072"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مطعم</a:t>
            </a:r>
            <a:endParaRPr lang="ar-SA" sz="28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82980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school</a:t>
            </a:r>
            <a:endParaRPr lang="en-US" sz="1100" dirty="0"/>
          </a:p>
        </p:txBody>
      </p:sp>
      <p:sp>
        <p:nvSpPr>
          <p:cNvPr id="36" name="Text 33"/>
          <p:cNvSpPr txBox="1"/>
          <p:nvPr/>
        </p:nvSpPr>
        <p:spPr>
          <a:xfrm>
            <a:off x="6702552" y="3840480"/>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مَدْرَسَةٌ</a:t>
            </a:r>
            <a:endParaRPr lang="ar-SA" sz="2800" dirty="0"/>
          </a:p>
        </p:txBody>
      </p:sp>
      <p:sp>
        <p:nvSpPr>
          <p:cNvPr id="37" name="Text 34"/>
          <p:cNvSpPr txBox="1"/>
          <p:nvPr/>
        </p:nvSpPr>
        <p:spPr>
          <a:xfrm>
            <a:off x="3593592" y="3840480"/>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مَدْرسة</a:t>
            </a:r>
            <a:endParaRPr lang="ar-SA" sz="2800" dirty="0"/>
          </a:p>
        </p:txBody>
      </p:sp>
      <p:sp>
        <p:nvSpPr>
          <p:cNvPr id="38" name="Text 35"/>
          <p:cNvSpPr txBox="1"/>
          <p:nvPr/>
        </p:nvSpPr>
        <p:spPr>
          <a:xfrm>
            <a:off x="548640" y="3840480"/>
            <a:ext cx="2862072"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مدرسة</a:t>
            </a:r>
            <a:endParaRPr lang="ar-SA" sz="28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82980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station</a:t>
            </a:r>
            <a:endParaRPr lang="en-US" sz="1100" dirty="0"/>
          </a:p>
        </p:txBody>
      </p:sp>
      <p:sp>
        <p:nvSpPr>
          <p:cNvPr id="43" name="Text 40"/>
          <p:cNvSpPr txBox="1"/>
          <p:nvPr/>
        </p:nvSpPr>
        <p:spPr>
          <a:xfrm>
            <a:off x="6702552" y="4626864"/>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مَحَطَّةٌ</a:t>
            </a:r>
            <a:endParaRPr lang="ar-SA" sz="2800" dirty="0"/>
          </a:p>
        </p:txBody>
      </p:sp>
      <p:sp>
        <p:nvSpPr>
          <p:cNvPr id="44" name="Text 41"/>
          <p:cNvSpPr txBox="1"/>
          <p:nvPr/>
        </p:nvSpPr>
        <p:spPr>
          <a:xfrm>
            <a:off x="3593592" y="4626864"/>
            <a:ext cx="292608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محطَّة</a:t>
            </a:r>
            <a:endParaRPr lang="ar-SA" sz="2800" dirty="0"/>
          </a:p>
        </p:txBody>
      </p:sp>
      <p:sp>
        <p:nvSpPr>
          <p:cNvPr id="45" name="Text 42"/>
          <p:cNvSpPr txBox="1"/>
          <p:nvPr/>
        </p:nvSpPr>
        <p:spPr>
          <a:xfrm>
            <a:off x="548640" y="4626864"/>
            <a:ext cx="2862072"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محطة</a:t>
            </a:r>
            <a:endParaRPr lang="ar-SA" sz="28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26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“SIGN SCAN”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Sign scan: read, then match the scene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اِقْرَأِ اللَّافِتَةَ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Shape 16"/>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7"/>
          <p:cNvSpPr/>
          <p:nvPr/>
        </p:nvSpPr>
        <p:spPr>
          <a:xfrm>
            <a:off x="4404360" y="1938528"/>
            <a:ext cx="365760" cy="365760"/>
          </a:xfrm>
          <a:prstGeom prst="ellipse">
            <a:avLst/>
          </a:prstGeom>
          <a:solidFill>
            <a:srgbClr val="1B3B6F"/>
          </a:solidFill>
          <a:ln w="12700">
            <a:solidFill>
              <a:srgbClr val="1B3B6F"/>
            </a:solidFill>
            <a:prstDash val="solid"/>
          </a:ln>
        </p:spPr>
      </p:sp>
      <p:sp>
        <p:nvSpPr>
          <p:cNvPr id="22" name="Text 18"/>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Shape 19"/>
          <p:cNvSpPr/>
          <p:nvPr/>
        </p:nvSpPr>
        <p:spPr>
          <a:xfrm>
            <a:off x="5586984" y="2066544"/>
            <a:ext cx="1014984" cy="1014984"/>
          </a:xfrm>
          <a:prstGeom prst="ellipse">
            <a:avLst/>
          </a:prstGeom>
          <a:solidFill>
            <a:srgbClr val="F4F1EA"/>
          </a:solidFill>
          <a:ln w="12700">
            <a:solidFill>
              <a:srgbClr val="F4F1EA"/>
            </a:solidFill>
            <a:prstDash val="solid"/>
          </a:ln>
        </p:spPr>
      </p:sp>
      <p:pic>
        <p:nvPicPr>
          <p:cNvPr id="24"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5" name="Shape 20"/>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585216"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Shape 23"/>
          <p:cNvSpPr/>
          <p:nvPr/>
        </p:nvSpPr>
        <p:spPr>
          <a:xfrm>
            <a:off x="1767840"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0" name="Shape 24"/>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1" name="Shape 25"/>
          <p:cNvSpPr/>
          <p:nvPr/>
        </p:nvSpPr>
        <p:spPr>
          <a:xfrm>
            <a:off x="11247120" y="3831336"/>
            <a:ext cx="292608" cy="292608"/>
          </a:xfrm>
          <a:prstGeom prst="ellipse">
            <a:avLst/>
          </a:prstGeom>
          <a:solidFill>
            <a:srgbClr val="2F6FB0"/>
          </a:solidFill>
          <a:ln w="12700">
            <a:solidFill>
              <a:srgbClr val="2F6FB0"/>
            </a:solidFill>
            <a:prstDash val="solid"/>
          </a:ln>
        </p:spPr>
      </p:sp>
      <p:sp>
        <p:nvSpPr>
          <p:cNvPr id="32" name="Text 26"/>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33" name="Text 27"/>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مستشفى</a:t>
            </a:r>
            <a:endParaRPr lang="ar-SA" sz="2000" dirty="0"/>
          </a:p>
        </p:txBody>
      </p:sp>
      <p:sp>
        <p:nvSpPr>
          <p:cNvPr id="34" name="Shape 28"/>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5" name="Shape 29"/>
          <p:cNvSpPr/>
          <p:nvPr/>
        </p:nvSpPr>
        <p:spPr>
          <a:xfrm>
            <a:off x="11247120" y="4398264"/>
            <a:ext cx="292608" cy="292608"/>
          </a:xfrm>
          <a:prstGeom prst="ellipse">
            <a:avLst/>
          </a:prstGeom>
          <a:solidFill>
            <a:srgbClr val="2F6FB0"/>
          </a:solidFill>
          <a:ln w="12700">
            <a:solidFill>
              <a:srgbClr val="2F6FB0"/>
            </a:solidFill>
            <a:prstDash val="solid"/>
          </a:ln>
        </p:spPr>
      </p:sp>
      <p:sp>
        <p:nvSpPr>
          <p:cNvPr id="36" name="Text 30"/>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37" name="Text 31"/>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محطة</a:t>
            </a:r>
            <a:endParaRPr lang="ar-SA" sz="2000" dirty="0"/>
          </a:p>
        </p:txBody>
      </p:sp>
      <p:sp>
        <p:nvSpPr>
          <p:cNvPr id="38" name="Shape 32"/>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39" name="Shape 33"/>
          <p:cNvSpPr/>
          <p:nvPr/>
        </p:nvSpPr>
        <p:spPr>
          <a:xfrm>
            <a:off x="11247120" y="4965192"/>
            <a:ext cx="292608" cy="292608"/>
          </a:xfrm>
          <a:prstGeom prst="ellipse">
            <a:avLst/>
          </a:prstGeom>
          <a:solidFill>
            <a:srgbClr val="2F6FB0"/>
          </a:solidFill>
          <a:ln w="12700">
            <a:solidFill>
              <a:srgbClr val="2F6FB0"/>
            </a:solidFill>
            <a:prstDash val="solid"/>
          </a:ln>
        </p:spPr>
      </p:sp>
      <p:sp>
        <p:nvSpPr>
          <p:cNvPr id="40" name="Text 34"/>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41" name="Text 35"/>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مطعم</a:t>
            </a:r>
            <a:endParaRPr lang="ar-SA" sz="2000" dirty="0"/>
          </a:p>
        </p:txBody>
      </p:sp>
      <p:sp>
        <p:nvSpPr>
          <p:cNvPr id="42" name="Text 36"/>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43" name="Text 37"/>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44"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26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اِقْرَأِ اللَّافِتَةَ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Shape 16"/>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1" name="Shape 17"/>
          <p:cNvSpPr/>
          <p:nvPr/>
        </p:nvSpPr>
        <p:spPr>
          <a:xfrm>
            <a:off x="11256264" y="3785616"/>
            <a:ext cx="329184" cy="329184"/>
          </a:xfrm>
          <a:prstGeom prst="ellipse">
            <a:avLst/>
          </a:prstGeom>
          <a:solidFill>
            <a:srgbClr val="2E8B57"/>
          </a:solidFill>
          <a:ln w="12700">
            <a:solidFill>
              <a:srgbClr val="2E8B57"/>
            </a:solidFill>
            <a:prstDash val="solid"/>
          </a:ln>
        </p:spPr>
      </p:sp>
      <p:sp>
        <p:nvSpPr>
          <p:cNvPr id="22" name="Text 18"/>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3" name="Text 19"/>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مطعم</a:t>
            </a:r>
            <a:endParaRPr lang="ar-SA" sz="2200" dirty="0"/>
          </a:p>
        </p:txBody>
      </p:sp>
      <p:sp>
        <p:nvSpPr>
          <p:cNvPr id="24" name="Text 20"/>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restaurant</a:t>
            </a:r>
            <a:endParaRPr lang="en-US" sz="1200" dirty="0"/>
          </a:p>
        </p:txBody>
      </p:sp>
      <p:sp>
        <p:nvSpPr>
          <p:cNvPr id="25" name="Shape 21"/>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2"/>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3"/>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Shape 24"/>
          <p:cNvSpPr/>
          <p:nvPr/>
        </p:nvSpPr>
        <p:spPr>
          <a:xfrm>
            <a:off x="5586984" y="2066544"/>
            <a:ext cx="1014984" cy="1014984"/>
          </a:xfrm>
          <a:prstGeom prst="ellipse">
            <a:avLst/>
          </a:prstGeom>
          <a:solidFill>
            <a:srgbClr val="F4F1EA"/>
          </a:solidFill>
          <a:ln w="12700">
            <a:solidFill>
              <a:srgbClr val="F4F1EA"/>
            </a:solidFill>
            <a:prstDash val="solid"/>
          </a:ln>
        </p:spPr>
      </p:sp>
      <p:pic>
        <p:nvPicPr>
          <p:cNvPr id="29"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0" name="Shape 25"/>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7437120" y="3785616"/>
            <a:ext cx="329184" cy="329184"/>
          </a:xfrm>
          <a:prstGeom prst="ellipse">
            <a:avLst/>
          </a:prstGeom>
          <a:solidFill>
            <a:srgbClr val="2E8B57"/>
          </a:solidFill>
          <a:ln w="12700">
            <a:solidFill>
              <a:srgbClr val="2E8B57"/>
            </a:solidFill>
            <a:prstDash val="solid"/>
          </a:ln>
        </p:spPr>
      </p:sp>
      <p:sp>
        <p:nvSpPr>
          <p:cNvPr id="32" name="Text 27"/>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3" name="Text 28"/>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مستشفى</a:t>
            </a:r>
            <a:endParaRPr lang="ar-SA" sz="2200" dirty="0"/>
          </a:p>
        </p:txBody>
      </p:sp>
      <p:sp>
        <p:nvSpPr>
          <p:cNvPr id="34" name="Text 29"/>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hospital</a:t>
            </a:r>
            <a:endParaRPr lang="en-US" sz="1200" dirty="0"/>
          </a:p>
        </p:txBody>
      </p:sp>
      <p:sp>
        <p:nvSpPr>
          <p:cNvPr id="35" name="Shape 30"/>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1"/>
          <p:cNvSpPr/>
          <p:nvPr/>
        </p:nvSpPr>
        <p:spPr>
          <a:xfrm>
            <a:off x="585216" y="1938528"/>
            <a:ext cx="365760" cy="365760"/>
          </a:xfrm>
          <a:prstGeom prst="ellipse">
            <a:avLst/>
          </a:prstGeom>
          <a:solidFill>
            <a:srgbClr val="1B3B6F"/>
          </a:solidFill>
          <a:ln w="12700">
            <a:solidFill>
              <a:srgbClr val="1B3B6F"/>
            </a:solidFill>
            <a:prstDash val="solid"/>
          </a:ln>
        </p:spPr>
      </p:sp>
      <p:sp>
        <p:nvSpPr>
          <p:cNvPr id="37" name="Text 32"/>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Shape 33"/>
          <p:cNvSpPr/>
          <p:nvPr/>
        </p:nvSpPr>
        <p:spPr>
          <a:xfrm>
            <a:off x="1767840" y="2066544"/>
            <a:ext cx="1014984" cy="1014984"/>
          </a:xfrm>
          <a:prstGeom prst="ellipse">
            <a:avLst/>
          </a:prstGeom>
          <a:solidFill>
            <a:srgbClr val="F4F1EA"/>
          </a:solidFill>
          <a:ln w="12700">
            <a:solidFill>
              <a:srgbClr val="F4F1EA"/>
            </a:solidFill>
            <a:prstDash val="solid"/>
          </a:ln>
        </p:spPr>
      </p:sp>
      <p:pic>
        <p:nvPicPr>
          <p:cNvPr id="39"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0" name="Shape 34"/>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Shape 35"/>
          <p:cNvSpPr/>
          <p:nvPr/>
        </p:nvSpPr>
        <p:spPr>
          <a:xfrm>
            <a:off x="3617976" y="3785616"/>
            <a:ext cx="329184" cy="329184"/>
          </a:xfrm>
          <a:prstGeom prst="ellipse">
            <a:avLst/>
          </a:prstGeom>
          <a:solidFill>
            <a:srgbClr val="2E8B57"/>
          </a:solidFill>
          <a:ln w="12700">
            <a:solidFill>
              <a:srgbClr val="2E8B57"/>
            </a:solidFill>
            <a:prstDash val="solid"/>
          </a:ln>
        </p:spPr>
      </p:sp>
      <p:sp>
        <p:nvSpPr>
          <p:cNvPr id="42" name="Text 36"/>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43" name="Text 37"/>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محطة</a:t>
            </a:r>
            <a:endParaRPr lang="ar-SA" sz="2200" dirty="0"/>
          </a:p>
        </p:txBody>
      </p:sp>
      <p:sp>
        <p:nvSpPr>
          <p:cNvPr id="44" name="Text 38"/>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station</a:t>
            </a:r>
            <a:endParaRPr lang="en-US" sz="1200" dirty="0"/>
          </a:p>
        </p:txBody>
      </p:sp>
      <p:sp>
        <p:nvSpPr>
          <p:cNvPr id="45"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26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EIGHT SIGNS YOU CAN MEET IN THE WORLD (WEBSITE PART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Everyday signs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لَافِتَاتٌ مِنَ الحَيَاةِ اليَوْمِيَّةِ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Sign</a:t>
            </a:r>
            <a:endParaRPr lang="en-US" sz="1100" dirty="0"/>
          </a:p>
        </p:txBody>
      </p:sp>
      <p:sp>
        <p:nvSpPr>
          <p:cNvPr id="17" name="Text 14"/>
          <p:cNvSpPr txBox="1"/>
          <p:nvPr/>
        </p:nvSpPr>
        <p:spPr>
          <a:xfrm>
            <a:off x="741578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Support form</a:t>
            </a:r>
            <a:endParaRPr lang="en-US" sz="1100" dirty="0"/>
          </a:p>
        </p:txBody>
      </p:sp>
      <p:sp>
        <p:nvSpPr>
          <p:cNvPr id="18" name="Text 15"/>
          <p:cNvSpPr txBox="1"/>
          <p:nvPr/>
        </p:nvSpPr>
        <p:spPr>
          <a:xfrm>
            <a:off x="540410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9" name="Text 16"/>
          <p:cNvSpPr txBox="1"/>
          <p:nvPr/>
        </p:nvSpPr>
        <p:spPr>
          <a:xfrm>
            <a:off x="530352" y="1810512"/>
            <a:ext cx="4727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Letter clue</a:t>
            </a:r>
            <a:endParaRPr lang="en-US" sz="1100" dirty="0"/>
          </a:p>
        </p:txBody>
      </p:sp>
      <p:sp>
        <p:nvSpPr>
          <p:cNvPr id="20" name="Shape 17"/>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1" name="Text 18"/>
          <p:cNvSpPr txBox="1"/>
          <p:nvPr/>
        </p:nvSpPr>
        <p:spPr>
          <a:xfrm>
            <a:off x="9811512" y="2267712"/>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مطعم</a:t>
            </a:r>
            <a:endParaRPr lang="ar-SA" sz="2100" dirty="0"/>
          </a:p>
        </p:txBody>
      </p:sp>
      <p:sp>
        <p:nvSpPr>
          <p:cNvPr id="22" name="Text 19"/>
          <p:cNvSpPr txBox="1"/>
          <p:nvPr/>
        </p:nvSpPr>
        <p:spPr>
          <a:xfrm>
            <a:off x="7434072" y="2267712"/>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مَطْعَم</a:t>
            </a:r>
            <a:endParaRPr lang="ar-SA" sz="2100" dirty="0"/>
          </a:p>
        </p:txBody>
      </p:sp>
      <p:sp>
        <p:nvSpPr>
          <p:cNvPr id="23" name="Text 20"/>
          <p:cNvSpPr txBox="1"/>
          <p:nvPr/>
        </p:nvSpPr>
        <p:spPr>
          <a:xfrm>
            <a:off x="5440680" y="2267712"/>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restaurant</a:t>
            </a:r>
            <a:endParaRPr lang="en-US" sz="1100" dirty="0"/>
          </a:p>
        </p:txBody>
      </p:sp>
      <p:sp>
        <p:nvSpPr>
          <p:cNvPr id="24" name="Text 21"/>
          <p:cNvSpPr txBox="1"/>
          <p:nvPr/>
        </p:nvSpPr>
        <p:spPr>
          <a:xfrm>
            <a:off x="566928" y="2267712"/>
            <a:ext cx="469087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ط</a:t>
            </a:r>
            <a:pPr algn="l" indent="0" marL="0">
              <a:buNone/>
            </a:pPr>
            <a:r>
              <a:rPr lang="en-US" sz="1100" dirty="0">
                <a:solidFill>
                  <a:srgbClr val="5A6472"/>
                </a:solidFill>
                <a:latin typeface="Calibri" pitchFamily="34" charset="0"/>
                <a:ea typeface="Calibri" pitchFamily="34" charset="-122"/>
                <a:cs typeface="Calibri" pitchFamily="34" charset="-120"/>
              </a:rPr>
              <a:t> has no dot; </a:t>
            </a:r>
            <a:pPr algn="l" indent="0" marL="0">
              <a:buNone/>
            </a:pPr>
            <a:r>
              <a:rPr lang="ar-SA" altLang="en-US" sz="1450" dirty="0">
                <a:solidFill>
                  <a:srgbClr val="5A6472"/>
                </a:solidFill>
                <a:latin typeface="Amiri" pitchFamily="34" charset="0"/>
                <a:ea typeface="Amiri" pitchFamily="34" charset="-122"/>
                <a:cs typeface="Amiri" pitchFamily="34" charset="-120"/>
              </a:rPr>
              <a:t>ع</a:t>
            </a:r>
            <a:pPr algn="l" indent="0" marL="0">
              <a:buNone/>
            </a:pPr>
            <a:r>
              <a:rPr lang="en-US" sz="1100" dirty="0">
                <a:solidFill>
                  <a:srgbClr val="5A6472"/>
                </a:solidFill>
                <a:latin typeface="Calibri" pitchFamily="34" charset="0"/>
                <a:ea typeface="Calibri" pitchFamily="34" charset="-122"/>
                <a:cs typeface="Calibri" pitchFamily="34" charset="-120"/>
              </a:rPr>
              <a:t> is open</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8" name="Text 25"/>
          <p:cNvSpPr txBox="1"/>
          <p:nvPr/>
        </p:nvSpPr>
        <p:spPr>
          <a:xfrm>
            <a:off x="9811512" y="2779776"/>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مدرسة</a:t>
            </a:r>
            <a:endParaRPr lang="ar-SA" sz="2100" dirty="0"/>
          </a:p>
        </p:txBody>
      </p:sp>
      <p:sp>
        <p:nvSpPr>
          <p:cNvPr id="29" name="Text 26"/>
          <p:cNvSpPr txBox="1"/>
          <p:nvPr/>
        </p:nvSpPr>
        <p:spPr>
          <a:xfrm>
            <a:off x="7434072" y="2779776"/>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مَدْرَسَة</a:t>
            </a:r>
            <a:endParaRPr lang="ar-SA" sz="2100" dirty="0"/>
          </a:p>
        </p:txBody>
      </p:sp>
      <p:sp>
        <p:nvSpPr>
          <p:cNvPr id="30" name="Text 27"/>
          <p:cNvSpPr txBox="1"/>
          <p:nvPr/>
        </p:nvSpPr>
        <p:spPr>
          <a:xfrm>
            <a:off x="5440680" y="2779776"/>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school</a:t>
            </a:r>
            <a:endParaRPr lang="en-US" sz="1100" dirty="0"/>
          </a:p>
        </p:txBody>
      </p:sp>
      <p:sp>
        <p:nvSpPr>
          <p:cNvPr id="31" name="Text 28"/>
          <p:cNvSpPr txBox="1"/>
          <p:nvPr/>
        </p:nvSpPr>
        <p:spPr>
          <a:xfrm>
            <a:off x="566928" y="2779776"/>
            <a:ext cx="469087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final </a:t>
            </a:r>
            <a:pPr algn="l" indent="0" marL="0">
              <a:buNone/>
            </a:pPr>
            <a:r>
              <a:rPr lang="ar-SA" altLang="en-US" sz="1450" dirty="0">
                <a:solidFill>
                  <a:srgbClr val="5A6472"/>
                </a:solidFill>
                <a:latin typeface="Amiri" pitchFamily="34" charset="0"/>
                <a:ea typeface="Amiri" pitchFamily="34" charset="-122"/>
                <a:cs typeface="Amiri" pitchFamily="34" charset="-120"/>
              </a:rPr>
              <a:t>ة</a:t>
            </a:r>
            <a:endParaRPr lang="en-US" sz="1100" dirty="0"/>
          </a:p>
        </p:txBody>
      </p:sp>
      <p:sp>
        <p:nvSpPr>
          <p:cNvPr id="32" name="Shape 29"/>
          <p:cNvSpPr/>
          <p:nvPr/>
        </p:nvSpPr>
        <p:spPr>
          <a:xfrm>
            <a:off x="11091672" y="282549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8254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5" name="Text 32"/>
          <p:cNvSpPr txBox="1"/>
          <p:nvPr/>
        </p:nvSpPr>
        <p:spPr>
          <a:xfrm>
            <a:off x="9811512" y="3291840"/>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مستشفى</a:t>
            </a:r>
            <a:endParaRPr lang="ar-SA" sz="2100" dirty="0"/>
          </a:p>
        </p:txBody>
      </p:sp>
      <p:sp>
        <p:nvSpPr>
          <p:cNvPr id="36" name="Text 33"/>
          <p:cNvSpPr txBox="1"/>
          <p:nvPr/>
        </p:nvSpPr>
        <p:spPr>
          <a:xfrm>
            <a:off x="7434072" y="3291840"/>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مُسْتَشْفَى</a:t>
            </a:r>
            <a:endParaRPr lang="ar-SA" sz="2100" dirty="0"/>
          </a:p>
        </p:txBody>
      </p:sp>
      <p:sp>
        <p:nvSpPr>
          <p:cNvPr id="37" name="Text 34"/>
          <p:cNvSpPr txBox="1"/>
          <p:nvPr/>
        </p:nvSpPr>
        <p:spPr>
          <a:xfrm>
            <a:off x="5440680" y="3291840"/>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hospital</a:t>
            </a:r>
            <a:endParaRPr lang="en-US" sz="1100" dirty="0"/>
          </a:p>
        </p:txBody>
      </p:sp>
      <p:sp>
        <p:nvSpPr>
          <p:cNvPr id="38" name="Text 35"/>
          <p:cNvSpPr txBox="1"/>
          <p:nvPr/>
        </p:nvSpPr>
        <p:spPr>
          <a:xfrm>
            <a:off x="566928" y="3291840"/>
            <a:ext cx="469087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final </a:t>
            </a:r>
            <a:pPr algn="l" indent="0" marL="0">
              <a:buNone/>
            </a:pPr>
            <a:r>
              <a:rPr lang="ar-SA" altLang="en-US" sz="1450" dirty="0">
                <a:solidFill>
                  <a:srgbClr val="5A6472"/>
                </a:solidFill>
                <a:latin typeface="Amiri" pitchFamily="34" charset="0"/>
                <a:ea typeface="Amiri" pitchFamily="34" charset="-122"/>
                <a:cs typeface="Amiri" pitchFamily="34" charset="-120"/>
              </a:rPr>
              <a:t>ى</a:t>
            </a:r>
            <a:pPr algn="l" indent="0" marL="0">
              <a:buNone/>
            </a:pPr>
            <a:r>
              <a:rPr lang="en-US" sz="1100" dirty="0">
                <a:solidFill>
                  <a:srgbClr val="5A6472"/>
                </a:solidFill>
                <a:latin typeface="Calibri" pitchFamily="34" charset="0"/>
                <a:ea typeface="Calibri" pitchFamily="34" charset="-122"/>
                <a:cs typeface="Calibri" pitchFamily="34" charset="-120"/>
              </a:rPr>
              <a:t> (alif maqṣūra)</a:t>
            </a:r>
            <a:endParaRPr lang="en-US" sz="1100" dirty="0"/>
          </a:p>
        </p:txBody>
      </p:sp>
      <p:sp>
        <p:nvSpPr>
          <p:cNvPr id="39" name="Shape 36"/>
          <p:cNvSpPr/>
          <p:nvPr/>
        </p:nvSpPr>
        <p:spPr>
          <a:xfrm>
            <a:off x="11091672" y="333756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33756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1" name="Shape 38"/>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42" name="Text 39"/>
          <p:cNvSpPr txBox="1"/>
          <p:nvPr/>
        </p:nvSpPr>
        <p:spPr>
          <a:xfrm>
            <a:off x="9811512" y="3803904"/>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مسجد</a:t>
            </a:r>
            <a:endParaRPr lang="ar-SA" sz="2100" dirty="0"/>
          </a:p>
        </p:txBody>
      </p:sp>
      <p:sp>
        <p:nvSpPr>
          <p:cNvPr id="43" name="Text 40"/>
          <p:cNvSpPr txBox="1"/>
          <p:nvPr/>
        </p:nvSpPr>
        <p:spPr>
          <a:xfrm>
            <a:off x="7434072" y="3803904"/>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مَسْجِد</a:t>
            </a:r>
            <a:endParaRPr lang="ar-SA" sz="2100" dirty="0"/>
          </a:p>
        </p:txBody>
      </p:sp>
      <p:sp>
        <p:nvSpPr>
          <p:cNvPr id="44" name="Text 41"/>
          <p:cNvSpPr txBox="1"/>
          <p:nvPr/>
        </p:nvSpPr>
        <p:spPr>
          <a:xfrm>
            <a:off x="5440680" y="3803904"/>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mosque</a:t>
            </a:r>
            <a:endParaRPr lang="en-US" sz="1100" dirty="0"/>
          </a:p>
        </p:txBody>
      </p:sp>
      <p:sp>
        <p:nvSpPr>
          <p:cNvPr id="45" name="Text 42"/>
          <p:cNvSpPr txBox="1"/>
          <p:nvPr/>
        </p:nvSpPr>
        <p:spPr>
          <a:xfrm>
            <a:off x="566928" y="3803904"/>
            <a:ext cx="469087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final non-connecting </a:t>
            </a:r>
            <a:pPr algn="l" indent="0" marL="0">
              <a:buNone/>
            </a:pPr>
            <a:r>
              <a:rPr lang="ar-SA" altLang="en-US" sz="1450" dirty="0">
                <a:solidFill>
                  <a:srgbClr val="5A6472"/>
                </a:solidFill>
                <a:latin typeface="Amiri" pitchFamily="34" charset="0"/>
                <a:ea typeface="Amiri" pitchFamily="34" charset="-122"/>
                <a:cs typeface="Amiri" pitchFamily="34" charset="-120"/>
              </a:rPr>
              <a:t>د</a:t>
            </a:r>
            <a:endParaRPr lang="en-US" sz="1100" dirty="0"/>
          </a:p>
        </p:txBody>
      </p:sp>
      <p:sp>
        <p:nvSpPr>
          <p:cNvPr id="46" name="Shape 43"/>
          <p:cNvSpPr/>
          <p:nvPr/>
        </p:nvSpPr>
        <p:spPr>
          <a:xfrm>
            <a:off x="11091672" y="384962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84962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8" name="Shape 45"/>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49" name="Text 46"/>
          <p:cNvSpPr txBox="1"/>
          <p:nvPr/>
        </p:nvSpPr>
        <p:spPr>
          <a:xfrm>
            <a:off x="9811512" y="4315968"/>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محطة</a:t>
            </a:r>
            <a:endParaRPr lang="ar-SA" sz="2100" dirty="0"/>
          </a:p>
        </p:txBody>
      </p:sp>
      <p:sp>
        <p:nvSpPr>
          <p:cNvPr id="50" name="Text 47"/>
          <p:cNvSpPr txBox="1"/>
          <p:nvPr/>
        </p:nvSpPr>
        <p:spPr>
          <a:xfrm>
            <a:off x="7434072" y="4315968"/>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مَحَطَّة</a:t>
            </a:r>
            <a:endParaRPr lang="ar-SA" sz="2100" dirty="0"/>
          </a:p>
        </p:txBody>
      </p:sp>
      <p:sp>
        <p:nvSpPr>
          <p:cNvPr id="51" name="Text 48"/>
          <p:cNvSpPr txBox="1"/>
          <p:nvPr/>
        </p:nvSpPr>
        <p:spPr>
          <a:xfrm>
            <a:off x="5440680" y="4315968"/>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station</a:t>
            </a:r>
            <a:endParaRPr lang="en-US" sz="1100" dirty="0"/>
          </a:p>
        </p:txBody>
      </p:sp>
      <p:sp>
        <p:nvSpPr>
          <p:cNvPr id="52" name="Text 49"/>
          <p:cNvSpPr txBox="1"/>
          <p:nvPr/>
        </p:nvSpPr>
        <p:spPr>
          <a:xfrm>
            <a:off x="566928" y="4315968"/>
            <a:ext cx="469087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final </a:t>
            </a:r>
            <a:pPr algn="l" indent="0" marL="0">
              <a:buNone/>
            </a:pPr>
            <a:r>
              <a:rPr lang="ar-SA" altLang="en-US" sz="1450" dirty="0">
                <a:solidFill>
                  <a:srgbClr val="5A6472"/>
                </a:solidFill>
                <a:latin typeface="Amiri" pitchFamily="34" charset="0"/>
                <a:ea typeface="Amiri" pitchFamily="34" charset="-122"/>
                <a:cs typeface="Amiri" pitchFamily="34" charset="-120"/>
              </a:rPr>
              <a:t>ة</a:t>
            </a:r>
            <a:pPr algn="l" indent="0" marL="0">
              <a:buNone/>
            </a:pPr>
            <a:r>
              <a:rPr lang="en-US" sz="1100" dirty="0">
                <a:solidFill>
                  <a:srgbClr val="5A6472"/>
                </a:solidFill>
                <a:latin typeface="Calibri" pitchFamily="34" charset="0"/>
                <a:ea typeface="Calibri" pitchFamily="34" charset="-122"/>
                <a:cs typeface="Calibri" pitchFamily="34" charset="-120"/>
              </a:rPr>
              <a:t>; shadda inferred</a:t>
            </a:r>
            <a:endParaRPr lang="en-US" sz="1100" dirty="0"/>
          </a:p>
        </p:txBody>
      </p:sp>
      <p:sp>
        <p:nvSpPr>
          <p:cNvPr id="53" name="Shape 50"/>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54" name="Text 51"/>
          <p:cNvSpPr txBox="1"/>
          <p:nvPr/>
        </p:nvSpPr>
        <p:spPr>
          <a:xfrm>
            <a:off x="9811512" y="4828032"/>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شارع</a:t>
            </a:r>
            <a:endParaRPr lang="ar-SA" sz="2100" dirty="0"/>
          </a:p>
        </p:txBody>
      </p:sp>
      <p:sp>
        <p:nvSpPr>
          <p:cNvPr id="55" name="Text 52"/>
          <p:cNvSpPr txBox="1"/>
          <p:nvPr/>
        </p:nvSpPr>
        <p:spPr>
          <a:xfrm>
            <a:off x="7434072" y="4828032"/>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شَارِع</a:t>
            </a:r>
            <a:endParaRPr lang="ar-SA" sz="2100" dirty="0"/>
          </a:p>
        </p:txBody>
      </p:sp>
      <p:sp>
        <p:nvSpPr>
          <p:cNvPr id="56" name="Text 53"/>
          <p:cNvSpPr txBox="1"/>
          <p:nvPr/>
        </p:nvSpPr>
        <p:spPr>
          <a:xfrm>
            <a:off x="5440680" y="4828032"/>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street</a:t>
            </a:r>
            <a:endParaRPr lang="en-US" sz="1100" dirty="0"/>
          </a:p>
        </p:txBody>
      </p:sp>
      <p:sp>
        <p:nvSpPr>
          <p:cNvPr id="57" name="Text 54"/>
          <p:cNvSpPr txBox="1"/>
          <p:nvPr/>
        </p:nvSpPr>
        <p:spPr>
          <a:xfrm>
            <a:off x="566928" y="4828032"/>
            <a:ext cx="469087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visible alif = long ā</a:t>
            </a:r>
            <a:endParaRPr lang="en-US" sz="1100" dirty="0"/>
          </a:p>
        </p:txBody>
      </p:sp>
      <p:sp>
        <p:nvSpPr>
          <p:cNvPr id="58" name="Shape 55"/>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59" name="Text 56"/>
          <p:cNvSpPr txBox="1"/>
          <p:nvPr/>
        </p:nvSpPr>
        <p:spPr>
          <a:xfrm>
            <a:off x="9811512" y="5340096"/>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بنك</a:t>
            </a:r>
            <a:endParaRPr lang="ar-SA" sz="2100" dirty="0"/>
          </a:p>
        </p:txBody>
      </p:sp>
      <p:sp>
        <p:nvSpPr>
          <p:cNvPr id="60" name="Text 57"/>
          <p:cNvSpPr txBox="1"/>
          <p:nvPr/>
        </p:nvSpPr>
        <p:spPr>
          <a:xfrm>
            <a:off x="7434072" y="5340096"/>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بَنْك</a:t>
            </a:r>
            <a:endParaRPr lang="ar-SA" sz="2100" dirty="0"/>
          </a:p>
        </p:txBody>
      </p:sp>
      <p:sp>
        <p:nvSpPr>
          <p:cNvPr id="61" name="Text 58"/>
          <p:cNvSpPr txBox="1"/>
          <p:nvPr/>
        </p:nvSpPr>
        <p:spPr>
          <a:xfrm>
            <a:off x="5440680" y="5340096"/>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bank</a:t>
            </a:r>
            <a:endParaRPr lang="en-US" sz="1100" dirty="0"/>
          </a:p>
        </p:txBody>
      </p:sp>
      <p:sp>
        <p:nvSpPr>
          <p:cNvPr id="62" name="Text 59"/>
          <p:cNvSpPr txBox="1"/>
          <p:nvPr/>
        </p:nvSpPr>
        <p:spPr>
          <a:xfrm>
            <a:off x="566928" y="5340096"/>
            <a:ext cx="469087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distinct dots on </a:t>
            </a:r>
            <a:pPr algn="l" indent="0" marL="0">
              <a:buNone/>
            </a:pPr>
            <a:r>
              <a:rPr lang="ar-SA" altLang="en-US" sz="1450" dirty="0">
                <a:solidFill>
                  <a:srgbClr val="5A6472"/>
                </a:solidFill>
                <a:latin typeface="Amiri" pitchFamily="34" charset="0"/>
                <a:ea typeface="Amiri" pitchFamily="34" charset="-122"/>
                <a:cs typeface="Amiri" pitchFamily="34" charset="-120"/>
              </a:rPr>
              <a:t>ب ن</a:t>
            </a:r>
            <a:endParaRPr lang="en-US" sz="1100" dirty="0"/>
          </a:p>
        </p:txBody>
      </p:sp>
      <p:sp>
        <p:nvSpPr>
          <p:cNvPr id="63" name="Shape 60"/>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64" name="Text 61"/>
          <p:cNvSpPr txBox="1"/>
          <p:nvPr/>
        </p:nvSpPr>
        <p:spPr>
          <a:xfrm>
            <a:off x="9811512" y="5852160"/>
            <a:ext cx="182880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فندق</a:t>
            </a:r>
            <a:endParaRPr lang="ar-SA" sz="2100" dirty="0"/>
          </a:p>
        </p:txBody>
      </p:sp>
      <p:sp>
        <p:nvSpPr>
          <p:cNvPr id="65" name="Text 62"/>
          <p:cNvSpPr txBox="1"/>
          <p:nvPr/>
        </p:nvSpPr>
        <p:spPr>
          <a:xfrm>
            <a:off x="7434072" y="5852160"/>
            <a:ext cx="219456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فُنْدُق</a:t>
            </a:r>
            <a:endParaRPr lang="ar-SA" sz="2100" dirty="0"/>
          </a:p>
        </p:txBody>
      </p:sp>
      <p:sp>
        <p:nvSpPr>
          <p:cNvPr id="66" name="Text 63"/>
          <p:cNvSpPr txBox="1"/>
          <p:nvPr/>
        </p:nvSpPr>
        <p:spPr>
          <a:xfrm>
            <a:off x="5440680" y="5852160"/>
            <a:ext cx="182880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hotel</a:t>
            </a:r>
            <a:endParaRPr lang="en-US" sz="1100" dirty="0"/>
          </a:p>
        </p:txBody>
      </p:sp>
      <p:sp>
        <p:nvSpPr>
          <p:cNvPr id="67" name="Text 64"/>
          <p:cNvSpPr txBox="1"/>
          <p:nvPr/>
        </p:nvSpPr>
        <p:spPr>
          <a:xfrm>
            <a:off x="566928" y="5852160"/>
            <a:ext cx="4690872" cy="45720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ف</a:t>
            </a:r>
            <a:pPr algn="l" indent="0" marL="0">
              <a:buNone/>
            </a:pPr>
            <a:r>
              <a:rPr lang="en-US" sz="1100" dirty="0">
                <a:solidFill>
                  <a:srgbClr val="5A6472"/>
                </a:solidFill>
                <a:latin typeface="Calibri" pitchFamily="34" charset="0"/>
                <a:ea typeface="Calibri" pitchFamily="34" charset="-122"/>
                <a:cs typeface="Calibri" pitchFamily="34" charset="-120"/>
              </a:rPr>
              <a:t> (one dot) vs final </a:t>
            </a:r>
            <a:pPr algn="l" indent="0" marL="0">
              <a:buNone/>
            </a:pPr>
            <a:r>
              <a:rPr lang="ar-SA" altLang="en-US" sz="1450" dirty="0">
                <a:solidFill>
                  <a:srgbClr val="5A6472"/>
                </a:solidFill>
                <a:latin typeface="Amiri" pitchFamily="34" charset="0"/>
                <a:ea typeface="Amiri" pitchFamily="34" charset="-122"/>
                <a:cs typeface="Amiri" pitchFamily="34" charset="-120"/>
              </a:rPr>
              <a:t>ق</a:t>
            </a:r>
            <a:pPr algn="l" indent="0" marL="0">
              <a:buNone/>
            </a:pPr>
            <a:r>
              <a:rPr lang="en-US" sz="1100" dirty="0">
                <a:solidFill>
                  <a:srgbClr val="5A6472"/>
                </a:solidFill>
                <a:latin typeface="Calibri" pitchFamily="34" charset="0"/>
                <a:ea typeface="Calibri" pitchFamily="34" charset="-122"/>
                <a:cs typeface="Calibri" pitchFamily="34" charset="-120"/>
              </a:rPr>
              <a:t> (two)</a:t>
            </a:r>
            <a:endParaRPr lang="en-US" sz="110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26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2F6FB0"/>
                </a:solidFill>
                <a:latin typeface="Calibri" pitchFamily="34" charset="0"/>
                <a:ea typeface="Calibri" pitchFamily="34" charset="-122"/>
                <a:cs typeface="Calibri" pitchFamily="34" charset="-120"/>
              </a:rPr>
              <a:t>WE DO · GENUINE AMBIGUITY · WEBSITE GAME “PATTERN DETECTIVE” · DEVELOP / STRETCH</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One skeleton, more than one word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هَيْكَلٌ وَاحِدٌ، قِرَاءَاتٌ مُخْتَلِفَةٌ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Books or “he wrote”?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في الحقيبة ثلاثة كتب.</a:t>
            </a:r>
            <a:endParaRPr lang="ar-SA" sz="145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books</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wrote</a:t>
            </a:r>
            <a:endParaRPr lang="en-US" sz="1250" dirty="0"/>
          </a:p>
        </p:txBody>
      </p:sp>
      <p:sp>
        <p:nvSpPr>
          <p:cNvPr id="26" name="Shape 23"/>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4404360" y="1947672"/>
            <a:ext cx="310896" cy="310896"/>
          </a:xfrm>
          <a:prstGeom prst="ellipse">
            <a:avLst/>
          </a:prstGeom>
          <a:solidFill>
            <a:srgbClr val="1B3B6F"/>
          </a:solidFill>
          <a:ln w="12700">
            <a:solidFill>
              <a:srgbClr val="1B3B6F"/>
            </a:solidFill>
            <a:prstDash val="solid"/>
          </a:ln>
        </p:spPr>
      </p:sp>
      <p:sp>
        <p:nvSpPr>
          <p:cNvPr id="28" name="Text 25"/>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9" name="Text 26"/>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Books or “he wrote”?</a:t>
            </a:r>
            <a:endParaRPr lang="en-US" sz="1200" dirty="0"/>
          </a:p>
        </p:txBody>
      </p:sp>
      <p:sp>
        <p:nvSpPr>
          <p:cNvPr id="30" name="Text 27"/>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كتب أحمد درسا.</a:t>
            </a:r>
            <a:endParaRPr lang="ar-SA" sz="1500" dirty="0"/>
          </a:p>
        </p:txBody>
      </p:sp>
      <p:sp>
        <p:nvSpPr>
          <p:cNvPr id="31" name="Shape 28"/>
          <p:cNvSpPr/>
          <p:nvPr/>
        </p:nvSpPr>
        <p:spPr>
          <a:xfrm>
            <a:off x="4459224" y="2532888"/>
            <a:ext cx="256032" cy="256032"/>
          </a:xfrm>
          <a:prstGeom prst="ellipse">
            <a:avLst/>
          </a:prstGeom>
          <a:solidFill>
            <a:srgbClr val="F4F1EA"/>
          </a:solidFill>
          <a:ln w="12700">
            <a:solidFill>
              <a:srgbClr val="F4F1EA"/>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books</a:t>
            </a:r>
            <a:endParaRPr lang="en-US" sz="1250" dirty="0"/>
          </a:p>
        </p:txBody>
      </p:sp>
      <p:sp>
        <p:nvSpPr>
          <p:cNvPr id="34" name="Shape 31"/>
          <p:cNvSpPr/>
          <p:nvPr/>
        </p:nvSpPr>
        <p:spPr>
          <a:xfrm>
            <a:off x="4459224" y="29900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6" name="Text 33"/>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wrote</a:t>
            </a:r>
            <a:endParaRPr lang="en-US" sz="1250" dirty="0"/>
          </a:p>
        </p:txBody>
      </p:sp>
      <p:sp>
        <p:nvSpPr>
          <p:cNvPr id="37" name="Shape 3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23504" y="1947672"/>
            <a:ext cx="310896" cy="310896"/>
          </a:xfrm>
          <a:prstGeom prst="ellipse">
            <a:avLst/>
          </a:prstGeom>
          <a:solidFill>
            <a:srgbClr val="1B3B6F"/>
          </a:solidFill>
          <a:ln w="12700">
            <a:solidFill>
              <a:srgbClr val="1B3B6F"/>
            </a:solidFill>
            <a:prstDash val="solid"/>
          </a:ln>
        </p:spPr>
      </p:sp>
      <p:sp>
        <p:nvSpPr>
          <p:cNvPr id="39" name="Text 3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Text 3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Flag or knowledge?</a:t>
            </a:r>
            <a:endParaRPr lang="en-US" sz="1200" dirty="0"/>
          </a:p>
        </p:txBody>
      </p:sp>
      <p:sp>
        <p:nvSpPr>
          <p:cNvPr id="41" name="Text 3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رفع الطالب العلم.</a:t>
            </a:r>
            <a:endParaRPr lang="ar-SA" sz="150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knowledge</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flag</a:t>
            </a:r>
            <a:endParaRPr lang="en-US" sz="1250" dirty="0"/>
          </a:p>
        </p:txBody>
      </p:sp>
      <p:sp>
        <p:nvSpPr>
          <p:cNvPr id="48" name="Shape 4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1" name="Text 48"/>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“He entered” or income?</a:t>
            </a:r>
            <a:endParaRPr lang="en-US" sz="1200" dirty="0"/>
          </a:p>
        </p:txBody>
      </p:sp>
      <p:sp>
        <p:nvSpPr>
          <p:cNvPr id="52" name="Text 49"/>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دخل المعلم الفصل.</a:t>
            </a:r>
            <a:endParaRPr lang="ar-SA" sz="1500" dirty="0"/>
          </a:p>
        </p:txBody>
      </p:sp>
      <p:sp>
        <p:nvSpPr>
          <p:cNvPr id="53" name="Shape 50"/>
          <p:cNvSpPr/>
          <p:nvPr/>
        </p:nvSpPr>
        <p:spPr>
          <a:xfrm>
            <a:off x="640080" y="48737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5" name="Text 52"/>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entered</a:t>
            </a:r>
            <a:endParaRPr lang="en-US" sz="1250" dirty="0"/>
          </a:p>
        </p:txBody>
      </p:sp>
      <p:sp>
        <p:nvSpPr>
          <p:cNvPr id="56" name="Shape 53"/>
          <p:cNvSpPr/>
          <p:nvPr/>
        </p:nvSpPr>
        <p:spPr>
          <a:xfrm>
            <a:off x="640080" y="5330952"/>
            <a:ext cx="256032" cy="256032"/>
          </a:xfrm>
          <a:prstGeom prst="ellipse">
            <a:avLst/>
          </a:prstGeom>
          <a:solidFill>
            <a:srgbClr val="F4F1EA"/>
          </a:solidFill>
          <a:ln w="12700">
            <a:solidFill>
              <a:srgbClr val="F4F1EA"/>
            </a:solidFill>
            <a:prstDash val="solid"/>
          </a:ln>
        </p:spPr>
      </p:sp>
      <p:sp>
        <p:nvSpPr>
          <p:cNvPr id="57" name="Text 5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income</a:t>
            </a:r>
            <a:endParaRPr lang="en-US" sz="1250" dirty="0"/>
          </a:p>
        </p:txBody>
      </p:sp>
      <p:sp>
        <p:nvSpPr>
          <p:cNvPr id="59" name="Shape 5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404360" y="4288536"/>
            <a:ext cx="310896" cy="310896"/>
          </a:xfrm>
          <a:prstGeom prst="ellipse">
            <a:avLst/>
          </a:prstGeom>
          <a:solidFill>
            <a:srgbClr val="1B3B6F"/>
          </a:solidFill>
          <a:ln w="12700">
            <a:solidFill>
              <a:srgbClr val="1B3B6F"/>
            </a:solidFill>
            <a:prstDash val="solid"/>
          </a:ln>
        </p:spPr>
      </p:sp>
      <p:sp>
        <p:nvSpPr>
          <p:cNvPr id="61" name="Text 5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2" name="Text 5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Can </a:t>
            </a:r>
            <a:pPr algn="l" indent="0" marL="0">
              <a:buNone/>
            </a:pPr>
            <a:r>
              <a:rPr lang="ar-SA" altLang="en-US" sz="1650" b="1" dirty="0">
                <a:solidFill>
                  <a:srgbClr val="1B3B6F"/>
                </a:solidFill>
                <a:latin typeface="Amiri" pitchFamily="34" charset="0"/>
                <a:ea typeface="Amiri" pitchFamily="34" charset="-122"/>
                <a:cs typeface="Amiri" pitchFamily="34" charset="-120"/>
              </a:rPr>
              <a:t>بت</a:t>
            </a:r>
            <a:pPr algn="l" indent="0" marL="0">
              <a:buNone/>
            </a:pPr>
            <a:r>
              <a:rPr lang="en-US" sz="1250" b="1" dirty="0">
                <a:solidFill>
                  <a:srgbClr val="1B3B6F"/>
                </a:solidFill>
                <a:latin typeface="Calibri" pitchFamily="34" charset="0"/>
                <a:ea typeface="Calibri" pitchFamily="34" charset="-122"/>
                <a:cs typeface="Calibri" pitchFamily="34" charset="-120"/>
              </a:rPr>
              <a:t> be read as </a:t>
            </a:r>
            <a:pPr algn="l" indent="0" marL="0">
              <a:buNone/>
            </a:pPr>
            <a:r>
              <a:rPr lang="ar-SA" altLang="en-US" sz="1650" b="1" dirty="0">
                <a:solidFill>
                  <a:srgbClr val="1B3B6F"/>
                </a:solidFill>
                <a:latin typeface="Amiri" pitchFamily="34" charset="0"/>
                <a:ea typeface="Amiri" pitchFamily="34" charset="-122"/>
                <a:cs typeface="Amiri" pitchFamily="34" charset="-120"/>
              </a:rPr>
              <a:t>بيت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3" name="Shape 60"/>
          <p:cNvSpPr/>
          <p:nvPr/>
        </p:nvSpPr>
        <p:spPr>
          <a:xfrm>
            <a:off x="4459224"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5" name="Text 6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a:t>
            </a:r>
            <a:endParaRPr lang="en-US" sz="1250" dirty="0"/>
          </a:p>
        </p:txBody>
      </p:sp>
      <p:sp>
        <p:nvSpPr>
          <p:cNvPr id="66" name="Shape 63"/>
          <p:cNvSpPr/>
          <p:nvPr/>
        </p:nvSpPr>
        <p:spPr>
          <a:xfrm>
            <a:off x="4459224"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8" name="Text 6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a:t>
            </a:r>
            <a:endParaRPr lang="en-US" sz="1250" dirty="0"/>
          </a:p>
        </p:txBody>
      </p:sp>
      <p:sp>
        <p:nvSpPr>
          <p:cNvPr id="69" name="Shape 66"/>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72" name="Text 69"/>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Letters first.</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Then ask: which reading makes sense in THIS sentence?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kutub = books · kataba = he wrote</a:t>
            </a:r>
            <a:endParaRPr lang="en-US" sz="12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26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PATTERN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Books or “he wrote”?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في الحقيبة ثلاثة كتب.</a:t>
            </a:r>
            <a:endParaRPr lang="ar-SA" sz="145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books</a:t>
            </a:r>
            <a:endParaRPr lang="en-US" sz="12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 wrote</a:t>
            </a:r>
            <a:endParaRPr lang="en-US" sz="1250" dirty="0"/>
          </a:p>
        </p:txBody>
      </p:sp>
      <p:sp>
        <p:nvSpPr>
          <p:cNvPr id="27" name="Text 24"/>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bag contains books: </a:t>
            </a:r>
            <a:pPr algn="l" indent="0" marL="0">
              <a:buNone/>
            </a:pPr>
            <a:r>
              <a:rPr lang="ar-SA" altLang="en-US" sz="1350" dirty="0">
                <a:solidFill>
                  <a:srgbClr val="8A6D1E"/>
                </a:solidFill>
                <a:latin typeface="Amiri" pitchFamily="34" charset="0"/>
                <a:ea typeface="Amiri" pitchFamily="34" charset="-122"/>
                <a:cs typeface="Amiri" pitchFamily="34" charset="-120"/>
              </a:rPr>
              <a:t>كُتُب</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Books or “he wrote”?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كتب أحمد درسا.</a:t>
            </a:r>
            <a:endParaRPr lang="ar-SA" sz="1500" dirty="0"/>
          </a:p>
        </p:txBody>
      </p:sp>
      <p:sp>
        <p:nvSpPr>
          <p:cNvPr id="33" name="Shape 30"/>
          <p:cNvSpPr/>
          <p:nvPr/>
        </p:nvSpPr>
        <p:spPr>
          <a:xfrm>
            <a:off x="4459224" y="2532888"/>
            <a:ext cx="256032" cy="256032"/>
          </a:xfrm>
          <a:prstGeom prst="ellipse">
            <a:avLst/>
          </a:prstGeom>
          <a:solidFill>
            <a:srgbClr val="C9CED6"/>
          </a:solidFill>
          <a:ln w="12700">
            <a:solidFill>
              <a:srgbClr val="C9CED6"/>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books</a:t>
            </a:r>
            <a:endParaRPr lang="en-US" sz="1250" dirty="0"/>
          </a:p>
        </p:txBody>
      </p:sp>
      <p:sp>
        <p:nvSpPr>
          <p:cNvPr id="36" name="Shape 33"/>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4459224" y="2990088"/>
            <a:ext cx="256032" cy="256032"/>
          </a:xfrm>
          <a:prstGeom prst="ellipse">
            <a:avLst/>
          </a:prstGeom>
          <a:solidFill>
            <a:srgbClr val="2E8B57"/>
          </a:solidFill>
          <a:ln w="12700">
            <a:solidFill>
              <a:srgbClr val="2E8B57"/>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he wrote</a:t>
            </a:r>
            <a:endParaRPr lang="en-US" sz="1250" dirty="0"/>
          </a:p>
        </p:txBody>
      </p:sp>
      <p:sp>
        <p:nvSpPr>
          <p:cNvPr id="40" name="Text 37"/>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person + an object → a verb: </a:t>
            </a:r>
            <a:pPr algn="l" indent="0" marL="0">
              <a:buNone/>
            </a:pPr>
            <a:r>
              <a:rPr lang="ar-SA" altLang="en-US" sz="1350" dirty="0">
                <a:solidFill>
                  <a:srgbClr val="8A6D1E"/>
                </a:solidFill>
                <a:latin typeface="Amiri" pitchFamily="34" charset="0"/>
                <a:ea typeface="Amiri" pitchFamily="34" charset="-122"/>
                <a:cs typeface="Amiri" pitchFamily="34" charset="-120"/>
              </a:rPr>
              <a:t>كَتَبَ</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Flag or knowledge?</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رفع الطالب العلم.</a:t>
            </a:r>
            <a:endParaRPr lang="ar-SA" sz="1500" dirty="0"/>
          </a:p>
        </p:txBody>
      </p:sp>
      <p:sp>
        <p:nvSpPr>
          <p:cNvPr id="46" name="Shape 43"/>
          <p:cNvSpPr/>
          <p:nvPr/>
        </p:nvSpPr>
        <p:spPr>
          <a:xfrm>
            <a:off x="8278368" y="2532888"/>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knowledge</a:t>
            </a:r>
            <a:endParaRPr lang="en-US" sz="1250" dirty="0"/>
          </a:p>
        </p:txBody>
      </p:sp>
      <p:sp>
        <p:nvSpPr>
          <p:cNvPr id="49" name="Shape 46"/>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9900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flag</a:t>
            </a:r>
            <a:endParaRPr lang="en-US" sz="1250" dirty="0"/>
          </a:p>
        </p:txBody>
      </p:sp>
      <p:sp>
        <p:nvSpPr>
          <p:cNvPr id="53" name="Text 5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You raise a flag: </a:t>
            </a:r>
            <a:pPr algn="l" indent="0" marL="0">
              <a:buNone/>
            </a:pPr>
            <a:r>
              <a:rPr lang="ar-SA" altLang="en-US" sz="1350" dirty="0">
                <a:solidFill>
                  <a:srgbClr val="8A6D1E"/>
                </a:solidFill>
                <a:latin typeface="Amiri" pitchFamily="34" charset="0"/>
                <a:ea typeface="Amiri" pitchFamily="34" charset="-122"/>
                <a:cs typeface="Amiri" pitchFamily="34" charset="-120"/>
              </a:rPr>
              <a:t>العَلَم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“He entered” or income?</a:t>
            </a:r>
            <a:endParaRPr lang="en-US" sz="120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دخل المعلم الفصل.</a:t>
            </a:r>
            <a:endParaRPr lang="ar-SA" sz="1500" dirty="0"/>
          </a:p>
        </p:txBody>
      </p:sp>
      <p:sp>
        <p:nvSpPr>
          <p:cNvPr id="59" name="Shape 56"/>
          <p:cNvSpPr/>
          <p:nvPr/>
        </p:nvSpPr>
        <p:spPr>
          <a:xfrm>
            <a:off x="548640" y="4837176"/>
            <a:ext cx="3453384" cy="347472"/>
          </a:xfrm>
          <a:prstGeom prst="roundRect">
            <a:avLst>
              <a:gd name="adj" fmla="val 15789"/>
            </a:avLst>
          </a:prstGeom>
          <a:solidFill>
            <a:srgbClr val="E6F4EC"/>
          </a:solidFill>
          <a:ln w="9525">
            <a:solidFill>
              <a:srgbClr val="2E8B57"/>
            </a:solidFill>
            <a:prstDash val="solid"/>
          </a:ln>
        </p:spPr>
      </p:sp>
      <p:sp>
        <p:nvSpPr>
          <p:cNvPr id="60" name="Shape 57"/>
          <p:cNvSpPr/>
          <p:nvPr/>
        </p:nvSpPr>
        <p:spPr>
          <a:xfrm>
            <a:off x="640080" y="4873752"/>
            <a:ext cx="256032" cy="256032"/>
          </a:xfrm>
          <a:prstGeom prst="ellipse">
            <a:avLst/>
          </a:prstGeom>
          <a:solidFill>
            <a:srgbClr val="2E8B57"/>
          </a:solidFill>
          <a:ln w="12700">
            <a:solidFill>
              <a:srgbClr val="2E8B57"/>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he entered</a:t>
            </a:r>
            <a:endParaRPr lang="en-US" sz="1250" dirty="0"/>
          </a:p>
        </p:txBody>
      </p:sp>
      <p:sp>
        <p:nvSpPr>
          <p:cNvPr id="63" name="Shape 60"/>
          <p:cNvSpPr/>
          <p:nvPr/>
        </p:nvSpPr>
        <p:spPr>
          <a:xfrm>
            <a:off x="640080" y="5330952"/>
            <a:ext cx="256032" cy="256032"/>
          </a:xfrm>
          <a:prstGeom prst="ellipse">
            <a:avLst/>
          </a:prstGeom>
          <a:solidFill>
            <a:srgbClr val="C9CED6"/>
          </a:solidFill>
          <a:ln w="12700">
            <a:solidFill>
              <a:srgbClr val="C9CED6"/>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income</a:t>
            </a:r>
            <a:endParaRPr lang="en-US" sz="1250" dirty="0"/>
          </a:p>
        </p:txBody>
      </p:sp>
      <p:sp>
        <p:nvSpPr>
          <p:cNvPr id="66" name="Text 6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person entering a classroom: </a:t>
            </a:r>
            <a:pPr algn="l" indent="0" marL="0">
              <a:buNone/>
            </a:pPr>
            <a:r>
              <a:rPr lang="ar-SA" altLang="en-US" sz="1350" dirty="0">
                <a:solidFill>
                  <a:srgbClr val="8A6D1E"/>
                </a:solidFill>
                <a:latin typeface="Amiri" pitchFamily="34" charset="0"/>
                <a:ea typeface="Amiri" pitchFamily="34" charset="-122"/>
                <a:cs typeface="Amiri" pitchFamily="34" charset="-120"/>
              </a:rPr>
              <a:t>دَخَلَ</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Can </a:t>
            </a:r>
            <a:pPr algn="l" indent="0" marL="0">
              <a:buNone/>
            </a:pPr>
            <a:r>
              <a:rPr lang="ar-SA" altLang="en-US" sz="1650" b="1" dirty="0">
                <a:solidFill>
                  <a:srgbClr val="1B3B6F"/>
                </a:solidFill>
                <a:latin typeface="Amiri" pitchFamily="34" charset="0"/>
                <a:ea typeface="Amiri" pitchFamily="34" charset="-122"/>
                <a:cs typeface="Amiri" pitchFamily="34" charset="-120"/>
              </a:rPr>
              <a:t>بت</a:t>
            </a:r>
            <a:pPr algn="l" indent="0" marL="0">
              <a:buNone/>
            </a:pPr>
            <a:r>
              <a:rPr lang="en-US" sz="1250" b="1" dirty="0">
                <a:solidFill>
                  <a:srgbClr val="1B3B6F"/>
                </a:solidFill>
                <a:latin typeface="Calibri" pitchFamily="34" charset="0"/>
                <a:ea typeface="Calibri" pitchFamily="34" charset="-122"/>
                <a:cs typeface="Calibri" pitchFamily="34" charset="-120"/>
              </a:rPr>
              <a:t> be read as </a:t>
            </a:r>
            <a:pPr algn="l" indent="0" marL="0">
              <a:buNone/>
            </a:pPr>
            <a:r>
              <a:rPr lang="ar-SA" altLang="en-US" sz="1650" b="1" dirty="0">
                <a:solidFill>
                  <a:srgbClr val="1B3B6F"/>
                </a:solidFill>
                <a:latin typeface="Amiri" pitchFamily="34" charset="0"/>
                <a:ea typeface="Amiri" pitchFamily="34" charset="-122"/>
                <a:cs typeface="Amiri" pitchFamily="34" charset="-120"/>
              </a:rPr>
              <a:t>بيت</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1" name="Shape 68"/>
          <p:cNvSpPr/>
          <p:nvPr/>
        </p:nvSpPr>
        <p:spPr>
          <a:xfrm>
            <a:off x="4367784" y="483717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4459224" y="487375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No</a:t>
            </a:r>
            <a:endParaRPr lang="en-US" sz="1250" dirty="0"/>
          </a:p>
        </p:txBody>
      </p:sp>
      <p:sp>
        <p:nvSpPr>
          <p:cNvPr id="75" name="Shape 72"/>
          <p:cNvSpPr/>
          <p:nvPr/>
        </p:nvSpPr>
        <p:spPr>
          <a:xfrm>
            <a:off x="4459224" y="533095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Yes</a:t>
            </a:r>
            <a:endParaRPr lang="en-US" sz="1250" dirty="0"/>
          </a:p>
        </p:txBody>
      </p:sp>
      <p:sp>
        <p:nvSpPr>
          <p:cNvPr id="78" name="Text 75"/>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t>
            </a:r>
            <a:pPr algn="l" indent="0" marL="0">
              <a:buNone/>
            </a:pPr>
            <a:r>
              <a:rPr lang="ar-SA" altLang="en-US" sz="1350" dirty="0">
                <a:solidFill>
                  <a:srgbClr val="8A6D1E"/>
                </a:solidFill>
                <a:latin typeface="Amiri" pitchFamily="34" charset="0"/>
                <a:ea typeface="Amiri" pitchFamily="34" charset="-122"/>
                <a:cs typeface="Amiri" pitchFamily="34" charset="-120"/>
              </a:rPr>
              <a:t>ي</a:t>
            </a:r>
            <a:pPr algn="l" indent="0" marL="0">
              <a:buNone/>
            </a:pPr>
            <a:r>
              <a:rPr lang="en-US" sz="1050" i="1" dirty="0">
                <a:solidFill>
                  <a:srgbClr val="8A6D1E"/>
                </a:solidFill>
                <a:latin typeface="Calibri" pitchFamily="34" charset="0"/>
                <a:ea typeface="Calibri" pitchFamily="34" charset="-122"/>
                <a:cs typeface="Calibri" pitchFamily="34" charset="-120"/>
              </a:rPr>
              <a:t> is not printed — the hard boundary.</a:t>
            </a:r>
            <a:endParaRPr lang="en-US" sz="1050" dirty="0"/>
          </a:p>
        </p:txBody>
      </p:sp>
      <p:sp>
        <p:nvSpPr>
          <p:cNvPr id="79" name="Shape 76"/>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2" name="Text 79"/>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Letters first.</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Then ask: which reading makes sense in THIS sentence?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kutub = books · kataba = he wrote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26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THREE-SENTENCE MISSION (WEBSITE PART 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the passage — no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اِفْهَمِ النَّصَّ مِنَ السِّيَاقِ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هذه مدرسة كبيرة.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hādhihi madrasatun kabīratun — This is a big school.</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المدرسة فصل ومكتبة.</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fī l-madrasati faṣlun wa-maktabatun — In the school there is a classroom and a library.</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يقرأ الطلاب كتبا في المكتبة.</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yaqraʾu ṭ-ṭullābu kutuban fī l-maktabati — The students read books in the library.</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26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6 signs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Copy six of the eight signs without marks. Write the English meaning and ONE letter clue under each.</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sign table: e.g. مدرسة — final ة.</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SCOPE × 2</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the five SCOPE steps for </a:t>
            </a:r>
            <a:pPr algn="l" indent="0" marL="0">
              <a:buNone/>
            </a:pPr>
            <a:r>
              <a:rPr lang="ar-SA" altLang="en-US" sz="1800" b="1" dirty="0">
                <a:solidFill>
                  <a:srgbClr val="1F2A37"/>
                </a:solidFill>
                <a:latin typeface="Amiri" pitchFamily="34" charset="0"/>
                <a:ea typeface="Amiri" pitchFamily="34" charset="-122"/>
                <a:cs typeface="Amiri" pitchFamily="34" charset="-120"/>
              </a:rPr>
              <a:t>مستشفى</a:t>
            </a:r>
            <a:pPr algn="l" indent="0" marL="0">
              <a:buNone/>
            </a:pPr>
            <a:r>
              <a:rPr lang="en-US" sz="1400" b="1" dirty="0">
                <a:solidFill>
                  <a:srgbClr val="1F2A37"/>
                </a:solidFill>
                <a:latin typeface="Calibri" pitchFamily="34" charset="0"/>
                <a:ea typeface="Calibri" pitchFamily="34" charset="-122"/>
                <a:cs typeface="Calibri" pitchFamily="34" charset="-120"/>
              </a:rPr>
              <a:t> and </a:t>
            </a:r>
            <a:pPr algn="l" indent="0" marL="0">
              <a:buNone/>
            </a:pPr>
            <a:r>
              <a:rPr lang="ar-SA" altLang="en-US" sz="1800" b="1" dirty="0">
                <a:solidFill>
                  <a:srgbClr val="1F2A37"/>
                </a:solidFill>
                <a:latin typeface="Amiri" pitchFamily="34" charset="0"/>
                <a:ea typeface="Amiri" pitchFamily="34" charset="-122"/>
                <a:cs typeface="Amiri" pitchFamily="34" charset="-120"/>
              </a:rPr>
              <a:t>محطة</a:t>
            </a:r>
            <a:pPr algn="l" indent="0" marL="0">
              <a:buNone/>
            </a:pPr>
            <a:r>
              <a:rPr lang="en-US" sz="1400" b="1" dirty="0">
                <a:solidFill>
                  <a:srgbClr val="1F2A37"/>
                </a:solidFill>
                <a:latin typeface="Calibri" pitchFamily="34" charset="0"/>
                <a:ea typeface="Calibri" pitchFamily="34" charset="-122"/>
                <a:cs typeface="Calibri" pitchFamily="34" charset="-120"/>
              </a:rPr>
              <a:t>, like the worked example.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S · C · O · P · E — one line each.</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1700" b="1" dirty="0">
                <a:solidFill>
                  <a:srgbClr val="B83227"/>
                </a:solidFill>
                <a:latin typeface="Cambria" pitchFamily="34" charset="0"/>
                <a:ea typeface="Cambria" pitchFamily="34" charset="-122"/>
                <a:cs typeface="Cambria" pitchFamily="34" charset="-120"/>
              </a:rPr>
              <a:t>secure · likely · uncertain</a:t>
            </a:r>
            <a:endParaRPr lang="en-US" sz="17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Copy the mission passage. Label every word secure, likely or uncertain and write the evidence.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Heritage extension: do not reward silent guessing.</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26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ea typeface="Cambria" pitchFamily="34" charset="-122"/>
                <a:cs typeface="Cambria" pitchFamily="34" charset="-120"/>
              </a:rPr>
              <a:t>Three-sign oral exit: read and explain your evidence</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مدرسة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مَعْنَى «مطعم»؟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محطة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مستشفى</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هٰذِهِ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فِي آخِرِهَا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لَسْتُ مُتَأَكِّدًا لِأَنَّ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قَرَأَ / قَرَأَتْ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هٰذِهِ اللَّافِتَةُ؟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is this sign? (</a:t>
            </a:r>
            <a:pPr algn="l" indent="0" marL="0">
              <a:buNone/>
            </a:pPr>
            <a:r>
              <a:rPr lang="ar-SA" altLang="en-US" sz="1250" dirty="0">
                <a:solidFill>
                  <a:srgbClr val="5A6472"/>
                </a:solidFill>
                <a:latin typeface="Amiri" pitchFamily="34" charset="0"/>
                <a:ea typeface="Amiri" pitchFamily="34" charset="-122"/>
                <a:cs typeface="Amiri" pitchFamily="34" charset="-120"/>
              </a:rPr>
              <a:t>مدرسة</a:t>
            </a:r>
            <a:pPr algn="l" indent="0" marL="0">
              <a:buNone/>
            </a:pPr>
            <a:r>
              <a:rPr lang="en-US" sz="950" i="1" dirty="0">
                <a:solidFill>
                  <a:srgbClr val="5A6472"/>
                </a:solidFill>
                <a:latin typeface="Calibri" pitchFamily="34" charset="0"/>
                <a:ea typeface="Calibri" pitchFamily="34" charset="-122"/>
                <a:cs typeface="Calibri" pitchFamily="34" charset="-120"/>
              </a:rPr>
              <a:t>)</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هٰذِهِ مَدْرَسَةٌ. فِي آخِرِهَا تَاءٌ مَرْبُوطَةٌ.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This is a school. It ends in tāʾ marbūṭa.</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26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CONTEXT-READING RUBRIC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Evidence, not guessing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الدَّلِيلُ قَبْلَ التَّخْمِينِ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788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Evidence</a:t>
            </a:r>
            <a:endParaRPr lang="en-US" sz="1100" dirty="0"/>
          </a:p>
        </p:txBody>
      </p:sp>
      <p:sp>
        <p:nvSpPr>
          <p:cNvPr id="17" name="Text 14"/>
          <p:cNvSpPr txBox="1"/>
          <p:nvPr/>
        </p:nvSpPr>
        <p:spPr>
          <a:xfrm>
            <a:off x="375818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Secure looks like</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 ~ · ↻</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915400"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Skeleton</a:t>
            </a:r>
            <a:endParaRPr lang="en-US" sz="1100" dirty="0"/>
          </a:p>
        </p:txBody>
      </p:sp>
      <p:sp>
        <p:nvSpPr>
          <p:cNvPr id="21" name="Text 18"/>
          <p:cNvSpPr txBox="1"/>
          <p:nvPr/>
        </p:nvSpPr>
        <p:spPr>
          <a:xfrm>
            <a:off x="3794760" y="2267712"/>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Tracks every visible letter and dot.</a:t>
            </a:r>
            <a:endParaRPr lang="en-US" sz="1100" dirty="0"/>
          </a:p>
        </p:txBody>
      </p:sp>
      <p:sp>
        <p:nvSpPr>
          <p:cNvPr id="22" name="Text 19"/>
          <p:cNvSpPr txBox="1"/>
          <p:nvPr/>
        </p:nvSpPr>
        <p:spPr>
          <a:xfrm>
            <a:off x="566928" y="2267712"/>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secure · ~ nearly · ↻ repair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915400"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Chunks and pattern</a:t>
            </a:r>
            <a:endParaRPr lang="en-US" sz="1100" dirty="0"/>
          </a:p>
        </p:txBody>
      </p:sp>
      <p:sp>
        <p:nvSpPr>
          <p:cNvPr id="27" name="Text 24"/>
          <p:cNvSpPr txBox="1"/>
          <p:nvPr/>
        </p:nvSpPr>
        <p:spPr>
          <a:xfrm>
            <a:off x="3794760" y="3054096"/>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Uses known pieces and durable spelling clues.</a:t>
            </a:r>
            <a:endParaRPr lang="en-US" sz="1100" dirty="0"/>
          </a:p>
        </p:txBody>
      </p:sp>
      <p:sp>
        <p:nvSpPr>
          <p:cNvPr id="28" name="Text 25"/>
          <p:cNvSpPr txBox="1"/>
          <p:nvPr/>
        </p:nvSpPr>
        <p:spPr>
          <a:xfrm>
            <a:off x="566928" y="3054096"/>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 ~ · ↻</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915400"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Context</a:t>
            </a:r>
            <a:endParaRPr lang="en-US" sz="1100" dirty="0"/>
          </a:p>
        </p:txBody>
      </p:sp>
      <p:sp>
        <p:nvSpPr>
          <p:cNvPr id="33" name="Text 30"/>
          <p:cNvSpPr txBox="1"/>
          <p:nvPr/>
        </p:nvSpPr>
        <p:spPr>
          <a:xfrm>
            <a:off x="3794760" y="3840480"/>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Uses the scene and other words AFTER the print.</a:t>
            </a:r>
            <a:endParaRPr lang="en-US" sz="1100" dirty="0"/>
          </a:p>
        </p:txBody>
      </p:sp>
      <p:sp>
        <p:nvSpPr>
          <p:cNvPr id="34" name="Text 31"/>
          <p:cNvSpPr txBox="1"/>
          <p:nvPr/>
        </p:nvSpPr>
        <p:spPr>
          <a:xfrm>
            <a:off x="566928" y="3840480"/>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 ~ · ↻</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915400"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Verification</a:t>
            </a:r>
            <a:endParaRPr lang="en-US" sz="1100" dirty="0"/>
          </a:p>
        </p:txBody>
      </p:sp>
      <p:sp>
        <p:nvSpPr>
          <p:cNvPr id="39" name="Text 36"/>
          <p:cNvSpPr txBox="1"/>
          <p:nvPr/>
        </p:nvSpPr>
        <p:spPr>
          <a:xfrm>
            <a:off x="3794760" y="4626864"/>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Rejects readings that clash with letters or meaning.</a:t>
            </a:r>
            <a:endParaRPr lang="en-US" sz="1100" dirty="0"/>
          </a:p>
        </p:txBody>
      </p:sp>
      <p:sp>
        <p:nvSpPr>
          <p:cNvPr id="40" name="Text 37"/>
          <p:cNvSpPr txBox="1"/>
          <p:nvPr/>
        </p:nvSpPr>
        <p:spPr>
          <a:xfrm>
            <a:off x="566928" y="4626864"/>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 ~ · ↻</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26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know which written clues remain.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read at least six of the eight signs.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all five SCOPE steps.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 context after checking letters.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mark a reading as uncertain.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26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sign means “hospital”?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مستشفى</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مسجد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مطعم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marks are usually NOT printed?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Letters and dots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Short vowels and sukūn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Long-vowel letters</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you check before using the picture?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Every letter and dot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the first letter</a:t>
            </a:r>
            <a:endParaRPr lang="en-US" sz="1250" dirty="0"/>
          </a:p>
        </p:txBody>
      </p:sp>
      <p:sp>
        <p:nvSpPr>
          <p:cNvPr id="51" name="Shape 48"/>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2" name="Text 49"/>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3" name="Text 50"/>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26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sign means “hospital”?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مستشفى</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مسجد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مطعم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Final </a:t>
            </a:r>
            <a:pPr algn="l" indent="0" marL="0">
              <a:buNone/>
            </a:pPr>
            <a:r>
              <a:rPr lang="ar-SA" altLang="en-US" sz="1350" dirty="0">
                <a:solidFill>
                  <a:srgbClr val="8A6D1E"/>
                </a:solidFill>
                <a:latin typeface="Amiri" pitchFamily="34" charset="0"/>
                <a:ea typeface="Amiri" pitchFamily="34" charset="-122"/>
                <a:cs typeface="Amiri" pitchFamily="34" charset="-120"/>
              </a:rPr>
              <a:t>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marks are usually NOT printed?</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Letters and dots</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Short vowels and sukūn</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Long-vowel letters</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Website Part 1.</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you check before using the picture?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Every letter and dot</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the first letter</a:t>
            </a:r>
            <a:endParaRPr lang="en-US" sz="1250" dirty="0"/>
          </a:p>
        </p:txBody>
      </p:sp>
      <p:sp>
        <p:nvSpPr>
          <p:cNvPr id="56" name="Text 53"/>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SCOPE: Scan first.</a:t>
            </a:r>
            <a:endParaRPr lang="en-US" sz="1050" dirty="0"/>
          </a:p>
        </p:txBody>
      </p:sp>
      <p:sp>
        <p:nvSpPr>
          <p:cNvPr id="57" name="Shape 54"/>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59" name="Text 56"/>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26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F1-L10 · Unvowelled text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F1-L11: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4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F1-L11 · Arabic Around Us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العَرَبِيَّةُ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Arabic (the language)</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لُغَةٌ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language</a:t>
            </a:r>
            <a:pPr indent="0" marL="0">
              <a:buNone/>
            </a:pPr>
            <a:r>
              <a:rPr lang="en-US" sz="1000" i="1" dirty="0">
                <a:solidFill>
                  <a:srgbClr val="5A6472"/>
                </a:solidFill>
                <a:latin typeface="Calibri" pitchFamily="34" charset="0"/>
                <a:ea typeface="Calibri" pitchFamily="34" charset="-122"/>
                <a:cs typeface="Calibri" pitchFamily="34" charset="-120"/>
              </a:rPr>
              <a:t>  pl. لُغَاتٌ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خَطٌّ</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script, handwriting</a:t>
            </a:r>
            <a:pPr indent="0" marL="0">
              <a:buNone/>
            </a:pPr>
            <a:r>
              <a:rPr lang="en-US" sz="1000" i="1" dirty="0">
                <a:solidFill>
                  <a:srgbClr val="5A6472"/>
                </a:solidFill>
                <a:latin typeface="Calibri" pitchFamily="34" charset="0"/>
                <a:ea typeface="Calibri" pitchFamily="34" charset="-122"/>
                <a:cs typeface="Calibri" pitchFamily="34" charset="-120"/>
              </a:rPr>
              <a:t>  pl. خُطُوطٌ</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بَلَدٌ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country</a:t>
            </a:r>
            <a:pPr indent="0" marL="0">
              <a:buNone/>
            </a:pPr>
            <a:r>
              <a:rPr lang="en-US" sz="1000" i="1" dirty="0">
                <a:solidFill>
                  <a:srgbClr val="5A6472"/>
                </a:solidFill>
                <a:latin typeface="Calibri" pitchFamily="34" charset="0"/>
                <a:ea typeface="Calibri" pitchFamily="34" charset="-122"/>
                <a:cs typeface="Calibri" pitchFamily="34" charset="-120"/>
              </a:rPr>
              <a:t>  pl. بُلْدَانٌ</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لَافِتَةٌ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sign</a:t>
            </a:r>
            <a:pPr indent="0" marL="0">
              <a:buNone/>
            </a:pPr>
            <a:r>
              <a:rPr lang="en-US" sz="1000" i="1" dirty="0">
                <a:solidFill>
                  <a:srgbClr val="5A6472"/>
                </a:solidFill>
                <a:latin typeface="Calibri" pitchFamily="34" charset="0"/>
                <a:ea typeface="Calibri" pitchFamily="34" charset="-122"/>
                <a:cs typeface="Calibri" pitchFamily="34" charset="-120"/>
              </a:rPr>
              <a:t>  pl. لَافِتَاتٌ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Find three examples of Arabic script around you (a shop, a website, packaging) and try to read them with SCOPE.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مطعم · مدرسة · مسجد</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F1-L10 · Sign Scan game (all eight signs).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homework: three Arabic examples from around you; mark each secure, likely or uncertain.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Heritage extension: a four-line unvowelled paragraph; sort words and annotate the evidence.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26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F1-L10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F1-L11 · Arabic Around Us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خَطٌّ وَاحِدٌ، أَصْوَاتٌ كَثِيرَةٌ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find 3 real Arabic examples + 5 words.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F1-L10 · Read What Is Written: Unvowelled Text</dc:title>
  <dc:subject>PptxGenJS Presentation</dc:subject>
  <dc:creator>Al Madina Online School · Arabic Department</dc:creator>
  <cp:lastModifiedBy>Al Madina Online School · Arabic Department</cp:lastModifiedBy>
  <cp:revision>1</cp:revision>
  <dcterms:created xsi:type="dcterms:W3CDTF">2026-09-27T09:36:35Z</dcterms:created>
  <dcterms:modified xsi:type="dcterms:W3CDTF">2026-09-27T09:36:35Z</dcterms:modified>
</cp:coreProperties>
</file>