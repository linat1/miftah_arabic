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10–20 New letters and sounds · 20–23 Quick check · 23–27 I Do (formation) · 27–38 We Do (listen, sort, detect) · 38–49 You Do (write, then show-and-say) · 49–54 Feedback · 54–56 Preparation.
FLEX slides are optional. Use them if the class is moving quickly; otherwise the same activities are on the website for homework.
Content source: Miftah Arabic website, Pathways › Foundation › F1 Arabic Script &amp; Sounds › Lesson 7 (F1-L07). The website lesson teaches the Eastern Arabic-Indic digits ٠–٩ (with formation cues and common confusions), number words 0–10 and 11–20, place value inside Arabic text, real-world numbers (price, room, score, time), a listening call-and-write, and an extension to 100. The digit table, number tables, listening script, games and final check are the website’s; the digit picture game is the website game for this lesson.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digits 0–10 — match each shape to one value and one spoken word. DEVELOP: random 11–20 beyond the memorised chain. STRETCH: place value to 100.
• Boundary (website): this is a digit-and-sound lesson; number–noun agreement (gender, case) comes later — the words here are standalone counting forms.
• Heritage / Urdu readers: Urdu digits are related but some shapes differ (e.g. ۴ ۵ ۶ in Urdu vs ٤ ٥ ٦ in Arabic) — recognise both without calling one “wrong” (website regional note).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retrieve the F1-L06 reading marks (website retrieval bridge). Questions 4–5 test the home preparation.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Arabic words go right to left, but a number keeps its own order: the tens are on the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and routes are the website F1-L07 outcomes.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Urdu uses related digits, but ۴ ۵ ۶ are drawn differently from Arabic ٤ ٥ ٦ (website regional note). صفر (zero) is the same word — and it gave English “cipher” and “zero”. حساب =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DIGIT REFERENCE (website). Called Eastern Arabic-Indic digits in English, الأَرْقَامُ الهِنْدِيَّةُ in Arabic. Many Arab countries and websites also use 0–9.
History (website): both sets descend from the Hindu-Arabic place-value system — developed in India, transmitted and developed through Arabic-language scholarship.
Four high-value contrasts (website): ٠ zero · dot / ٥ five · ring / ٦ six · hook / ٧ seven · V. Say the value while forming the digit.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DIRECTION WITHOUT REVERSAL (website): an Arabic sentence runs right-to-left, but a multi-digit numeral keeps its internal numeric order — the highest place value on the left. Write ١٥ on the board and ask: “fifteen or fifty-one?”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NUMBERS 0–10 (website table). Decode, do not guess (website): ثَلَاثَةٌ and ثَمَانِيَةٌ both begin with ثَ — read beyond the first syllable; سَبْعَةٌ (7) vs تِسْعَةٌ (9) — listen for sab- vs tis-; سِتَّةٌ has a shadda — hold the /t/.
Three-pass drill (website): (1) count forward 0–10, (2) backward 10–0, (3) random flashes — only pass 3 proves real knowledge.
Gesture: show fingers as you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NUMBERS 0–10 (website table). Decode, do not guess (website): ثَلَاثَةٌ and ثَمَانِيَةٌ both begin with ثَ — read beyond the first syllable; سَبْعَةٌ (7) vs تِسْعَةٌ (9) — listen for sab- vs tis-; سِتَّةٌ has a shadda — hold the /t/.
Three-pass drill (website): (1) count forward 0–10, (2) backward 10–0, (3) random flashes — only pass 3 proves real knowledge.
Gesture: show fingers as you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NUMBERS 11–20 (website). For standalone counting, 11–19 put the unit BEFORE the ten. 11 and 12 need their own start (أَحَدَ, اِثْنَا) — do not build 11 from وَاحِدٌ. 13–19: unit + عَشَرَ — tap once per element: خَمْسَةَ | عَشَرَ.
Accuracy boundary (website): number words change with noun gender and case (e.g. age phrases with سَنَة) — agreement is taught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teacher-made from the website digit table and number words.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FORMATION STRIP (website): digits are separate symbols. Trace once with your finger, copy once while looking, then cover and write from memory. Say the value aloud while forming each digit (“dot — zero, ring — five, hook — six, V — seven”).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 lesson game (digits 3, 5, 7, 9, 10, 12) and games “Digit Pair Sprint” / “Figure Flash” (read the numeral in place-value order and choose its Western equivalent).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Then random flash: hold up a digit on a card; the class says the Arabic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LISTENING — partner call-and-write (3 min). Read each word twice. Students write the digits first.
Script: ثَلَاثَةٌ. سَبْعَةٌ. عَشَرَةٌ. خَمْسَةَ عَشَرَ. عِشْرُونَ. — Answers (website): ٣، ٧، ١٠، ١٥، ٢٠.
Then pairs (website): A secretly chooses five values 0–20 and says each once, then repeats; B writes the numeral; compare and swap.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Reveal and compare with books. Common errors: ٠١ for 10 and ٥١ for 15 — the tens go on the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REAL-WORLD NUMBER LAB (website): the same digits in different contexts; what you SAY can differ — a quantity is a number word; phone digits and codes are read one digit at a time. Ask students to read each sign aloud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 WRITING (7 min) = the website homework split by route. LIVE FEEDBACK after 3 minutes: check ٠/٥, ٦/٧ and the order of two-digit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وَهٰذَا؟ ٧ (And this? 7)
B: سَبْعَةٌ. (Seven.)
LIVE CALLER BINGO (website): students draw a 3×3 grid and fill it with numerals from 0–20; the teacher (or a student) calls Arabic number words; three in a row wins. Then pairs ask كَمْ هٰذَا؟ with digit cards. Three-pass drill: forward, backward, random.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(2 min) — mix-ups from the website confusion column and number notes. Students correct in green 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(F1-L08 · From Marks to Meaning: Reading Aloud) will spend class time USING this language, so students prepare it tonight — short, simple, easy to access (school guidance: “Simple, Short, Interesting, Relevant, Easy to access”). Next lesson: reading aloud — we use every mark we have learnt. Read these five fully vowelled words tonight.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300" b="1" dirty="0">
                <a:solidFill>
                  <a:srgbClr val="FFFFFF"/>
                </a:solidFill>
                <a:latin typeface="Cambria" pitchFamily="34" charset="0"/>
                <a:cs typeface="Amiri" pitchFamily="2" charset="-78"/>
              </a:rPr>
              <a:t>Read the Number, Keep the Order</a:t>
            </a:r>
            <a:endParaRPr lang="en-US" sz="33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الأَرْقَامُ الهِنْدِيَّةُ مِنْ ٠ إِلَى ١٠٠</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Read and write the ten Arabic digits, say the numbers 0–20 in Arabic, keep a two-digit number in the right order (</a:t>
            </a:r>
            <a:pPr algn="l" indent="0" marL="0">
              <a:buNone/>
            </a:pPr>
            <a:r>
              <a:rPr lang="ar-SA" altLang="en-US" sz="1800" dirty="0">
                <a:solidFill>
                  <a:srgbClr val="C6D2E6"/>
                </a:solidFill>
                <a:latin typeface="Amiri" pitchFamily="2" charset="-78"/>
                <a:ea typeface="Amiri" pitchFamily="2" charset="-78"/>
                <a:cs typeface="Amiri" pitchFamily="2" charset="-78"/>
              </a:rPr>
              <a:t>١٥</a:t>
            </a:r>
            <a:pPr algn="l" indent="0" marL="0">
              <a:buNone/>
            </a:pPr>
            <a:r>
              <a:rPr lang="en-US" sz="1400" dirty="0">
                <a:solidFill>
                  <a:srgbClr val="C6D2E6"/>
                </a:solidFill>
                <a:latin typeface="Calibri" pitchFamily="34" charset="0"/>
                <a:cs typeface="Amiri" pitchFamily="2" charset="-78"/>
              </a:rPr>
              <a:t> = 15), and read real numbers in prices, rooms, scores and times.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F1-L07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Ten digit shapes, numbers 0–20, place value.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Digit match, figure flash, call-and-write, bingo.</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F1-L08.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shadda do?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Doubles the consonant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Makes a long vowel</a:t>
            </a:r>
            <a:endParaRPr lang="en-US" sz="1250" dirty="0"/>
          </a:p>
        </p:txBody>
      </p:sp>
      <p:sp>
        <p:nvSpPr>
          <p:cNvPr id="25" name="Shape 22"/>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04360"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28" name="Text 25"/>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Read the ending of </a:t>
            </a:r>
            <a:pPr algn="l" indent="0" marL="0">
              <a:buNone/>
            </a:pPr>
            <a:r>
              <a:rPr lang="ar-SA" altLang="en-US" sz="1650" b="1" dirty="0">
                <a:solidFill>
                  <a:srgbClr val="1B3B6F"/>
                </a:solidFill>
                <a:latin typeface="Amiri" pitchFamily="2" charset="-78"/>
                <a:ea typeface="Amiri" pitchFamily="2" charset="-78"/>
                <a:cs typeface="Amiri" pitchFamily="2" charset="-78"/>
              </a:rPr>
              <a:t>كِتَابٍ</a:t>
            </a:r>
            <a:endParaRPr lang="en-US" sz="1250" dirty="0"/>
          </a:p>
        </p:txBody>
      </p:sp>
      <p:sp>
        <p:nvSpPr>
          <p:cNvPr id="29" name="Shape 26"/>
          <p:cNvSpPr/>
          <p:nvPr/>
        </p:nvSpPr>
        <p:spPr>
          <a:xfrm>
            <a:off x="4459224"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1" name="Text 28"/>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a:t>
            </a:r>
            <a:endParaRPr lang="en-US" sz="1250" dirty="0"/>
          </a:p>
        </p:txBody>
      </p:sp>
      <p:sp>
        <p:nvSpPr>
          <p:cNvPr id="32" name="Shape 29"/>
          <p:cNvSpPr/>
          <p:nvPr/>
        </p:nvSpPr>
        <p:spPr>
          <a:xfrm>
            <a:off x="4459224"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4" name="Text 31"/>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a:t>
            </a:r>
            <a:endParaRPr lang="en-US" sz="1250" dirty="0"/>
          </a:p>
        </p:txBody>
      </p:sp>
      <p:sp>
        <p:nvSpPr>
          <p:cNvPr id="35" name="Shape 32"/>
          <p:cNvSpPr/>
          <p:nvPr/>
        </p:nvSpPr>
        <p:spPr>
          <a:xfrm>
            <a:off x="4459224" y="34472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7" name="Text 34"/>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a:t>
            </a:r>
            <a:endParaRPr lang="en-US" sz="1250" dirty="0"/>
          </a:p>
        </p:txBody>
      </p:sp>
      <p:sp>
        <p:nvSpPr>
          <p:cNvPr id="38" name="Shape 3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آ</a:t>
            </a:r>
            <a:pPr algn="l" indent="0" marL="0">
              <a:buNone/>
            </a:pPr>
            <a:r>
              <a:rPr lang="en-US" sz="1250" b="1" dirty="0">
                <a:solidFill>
                  <a:srgbClr val="1B3B6F"/>
                </a:solidFill>
                <a:latin typeface="Calibri" pitchFamily="34" charset="0"/>
                <a:cs typeface="Amiri" pitchFamily="2" charset="-78"/>
              </a:rPr>
              <a:t> represent?</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long ā</a:t>
            </a:r>
            <a:endParaRPr lang="en-US" sz="12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hamza + long ā</a:t>
            </a:r>
            <a:endParaRPr lang="en-US" sz="1250" dirty="0"/>
          </a:p>
        </p:txBody>
      </p:sp>
      <p:sp>
        <p:nvSpPr>
          <p:cNvPr id="48" name="Shape 45"/>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1" name="Text 48"/>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digit is </a:t>
            </a:r>
            <a:pPr algn="l" indent="0" marL="0">
              <a:buNone/>
            </a:pPr>
            <a:r>
              <a:rPr lang="ar-SA" altLang="en-US" sz="1650" b="1" dirty="0">
                <a:solidFill>
                  <a:srgbClr val="1B3B6F"/>
                </a:solidFill>
                <a:latin typeface="Amiri" pitchFamily="2" charset="-78"/>
                <a:ea typeface="Amiri" pitchFamily="2" charset="-78"/>
                <a:cs typeface="Amiri" pitchFamily="2" charset="-78"/>
              </a:rPr>
              <a:t>٣</a:t>
            </a:r>
            <a:pPr algn="l" indent="0" marL="0">
              <a:buNone/>
            </a:pPr>
            <a:r>
              <a:rPr lang="en-US" sz="1250" b="1" dirty="0">
                <a:solidFill>
                  <a:srgbClr val="1B3B6F"/>
                </a:solidFill>
                <a:latin typeface="Calibri" pitchFamily="34" charset="0"/>
                <a:cs typeface="Amiri" pitchFamily="2" charset="-78"/>
              </a:rPr>
              <a:t> (prepared at home)?</a:t>
            </a:r>
            <a:endParaRPr lang="en-US" sz="1250" dirty="0"/>
          </a:p>
        </p:txBody>
      </p:sp>
      <p:sp>
        <p:nvSpPr>
          <p:cNvPr id="52" name="Shape 49"/>
          <p:cNvSpPr/>
          <p:nvPr/>
        </p:nvSpPr>
        <p:spPr>
          <a:xfrm>
            <a:off x="640080" y="48737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a:t>
            </a:r>
            <a:endParaRPr lang="en-US" sz="1250" dirty="0"/>
          </a:p>
        </p:txBody>
      </p:sp>
      <p:sp>
        <p:nvSpPr>
          <p:cNvPr id="55" name="Shape 52"/>
          <p:cNvSpPr/>
          <p:nvPr/>
        </p:nvSpPr>
        <p:spPr>
          <a:xfrm>
            <a:off x="640080" y="53309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a:t>
            </a:r>
            <a:endParaRPr lang="en-US" sz="1250" dirty="0"/>
          </a:p>
        </p:txBody>
      </p:sp>
      <p:sp>
        <p:nvSpPr>
          <p:cNvPr id="58" name="Shape 55"/>
          <p:cNvSpPr/>
          <p:nvPr/>
        </p:nvSpPr>
        <p:spPr>
          <a:xfrm>
            <a:off x="640080" y="57881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a:t>
            </a:r>
            <a:endParaRPr lang="en-US" sz="1250" dirty="0"/>
          </a:p>
        </p:txBody>
      </p:sp>
      <p:sp>
        <p:nvSpPr>
          <p:cNvPr id="61" name="Shape 5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404360"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64" name="Text 6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عَشَرَةٌ</a:t>
            </a:r>
            <a:pPr algn="l" indent="0" marL="0">
              <a:buNone/>
            </a:pPr>
            <a:r>
              <a:rPr lang="en-US" sz="1250" b="1" dirty="0">
                <a:solidFill>
                  <a:srgbClr val="1B3B6F"/>
                </a:solidFill>
                <a:latin typeface="Calibri" pitchFamily="34" charset="0"/>
                <a:cs typeface="Amiri" pitchFamily="2" charset="-78"/>
              </a:rPr>
              <a:t> mean (prepared at home)?</a:t>
            </a:r>
            <a:endParaRPr lang="en-US" sz="1250" dirty="0"/>
          </a:p>
        </p:txBody>
      </p:sp>
      <p:sp>
        <p:nvSpPr>
          <p:cNvPr id="65" name="Shape 62"/>
          <p:cNvSpPr/>
          <p:nvPr/>
        </p:nvSpPr>
        <p:spPr>
          <a:xfrm>
            <a:off x="4459224" y="48737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ten</a:t>
            </a:r>
            <a:endParaRPr lang="en-US" sz="1250" dirty="0"/>
          </a:p>
        </p:txBody>
      </p:sp>
      <p:sp>
        <p:nvSpPr>
          <p:cNvPr id="68" name="Shape 65"/>
          <p:cNvSpPr/>
          <p:nvPr/>
        </p:nvSpPr>
        <p:spPr>
          <a:xfrm>
            <a:off x="4459224" y="53309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71" name="Shape 68"/>
          <p:cNvSpPr/>
          <p:nvPr/>
        </p:nvSpPr>
        <p:spPr>
          <a:xfrm>
            <a:off x="4459224" y="57881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74" name="Shape 71"/>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75" name="Text 72"/>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76" name="Text 73"/>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77" name="Text 74"/>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78" name="Text 75"/>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shadda do?</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Doubles the consonant</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Makes a long vowel</a:t>
            </a:r>
            <a:endParaRPr lang="en-US" sz="1250" dirty="0"/>
          </a:p>
        </p:txBody>
      </p:sp>
      <p:sp>
        <p:nvSpPr>
          <p:cNvPr id="26" name="Text 23"/>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F1-L06.</a:t>
            </a:r>
            <a:endParaRPr lang="en-US" sz="1050" dirty="0"/>
          </a:p>
        </p:txBody>
      </p:sp>
      <p:sp>
        <p:nvSpPr>
          <p:cNvPr id="27" name="Shape 24"/>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Read the ending of </a:t>
            </a:r>
            <a:pPr algn="l" indent="0" marL="0">
              <a:buNone/>
            </a:pPr>
            <a:r>
              <a:rPr lang="ar-SA" altLang="en-US" sz="1650" b="1" dirty="0">
                <a:solidFill>
                  <a:srgbClr val="1B3B6F"/>
                </a:solidFill>
                <a:latin typeface="Amiri" pitchFamily="2" charset="-78"/>
                <a:ea typeface="Amiri" pitchFamily="2" charset="-78"/>
                <a:cs typeface="Amiri" pitchFamily="2" charset="-78"/>
              </a:rPr>
              <a:t>كِتَابٍ</a:t>
            </a:r>
            <a:endParaRPr lang="en-US" sz="1250" dirty="0"/>
          </a:p>
        </p:txBody>
      </p:sp>
      <p:sp>
        <p:nvSpPr>
          <p:cNvPr id="31" name="Shape 28"/>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2" name="Shape 29"/>
          <p:cNvSpPr/>
          <p:nvPr/>
        </p:nvSpPr>
        <p:spPr>
          <a:xfrm>
            <a:off x="4459224" y="2490216"/>
            <a:ext cx="256032" cy="256032"/>
          </a:xfrm>
          <a:prstGeom prst="ellipse">
            <a:avLst/>
          </a:prstGeom>
          <a:solidFill>
            <a:srgbClr val="2E8B57"/>
          </a:solidFill>
          <a:ln w="12700">
            <a:solidFill>
              <a:srgbClr val="2E8B57"/>
            </a:solidFill>
            <a:prstDash val="solid"/>
          </a:ln>
        </p:spPr>
      </p:sp>
      <p:sp>
        <p:nvSpPr>
          <p:cNvPr id="33" name="Text 30"/>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a:t>
            </a:r>
            <a:endParaRPr lang="en-US" sz="1250" dirty="0"/>
          </a:p>
        </p:txBody>
      </p:sp>
      <p:sp>
        <p:nvSpPr>
          <p:cNvPr id="35" name="Shape 32"/>
          <p:cNvSpPr/>
          <p:nvPr/>
        </p:nvSpPr>
        <p:spPr>
          <a:xfrm>
            <a:off x="4459224" y="2862072"/>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a:t>
            </a:r>
            <a:endParaRPr lang="en-US" sz="1250" dirty="0"/>
          </a:p>
        </p:txBody>
      </p:sp>
      <p:sp>
        <p:nvSpPr>
          <p:cNvPr id="38" name="Shape 35"/>
          <p:cNvSpPr/>
          <p:nvPr/>
        </p:nvSpPr>
        <p:spPr>
          <a:xfrm>
            <a:off x="4459224" y="323392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a:t>
            </a:r>
            <a:endParaRPr lang="en-US" sz="1250" dirty="0"/>
          </a:p>
        </p:txBody>
      </p:sp>
      <p:sp>
        <p:nvSpPr>
          <p:cNvPr id="41" name="Text 38"/>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F1-L06: two kasras.</a:t>
            </a:r>
            <a:endParaRPr lang="en-US" sz="1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آ</a:t>
            </a:r>
            <a:pPr algn="l" indent="0" marL="0">
              <a:buNone/>
            </a:pPr>
            <a:r>
              <a:rPr lang="en-US" sz="1250" b="1" dirty="0">
                <a:solidFill>
                  <a:srgbClr val="1B3B6F"/>
                </a:solidFill>
                <a:latin typeface="Calibri" pitchFamily="34" charset="0"/>
                <a:cs typeface="Amiri" pitchFamily="2" charset="-78"/>
              </a:rPr>
              <a:t> represent?</a:t>
            </a:r>
            <a:endParaRPr lang="en-US" sz="1250" dirty="0"/>
          </a:p>
        </p:txBody>
      </p:sp>
      <p:sp>
        <p:nvSpPr>
          <p:cNvPr id="46" name="Shape 43"/>
          <p:cNvSpPr/>
          <p:nvPr/>
        </p:nvSpPr>
        <p:spPr>
          <a:xfrm>
            <a:off x="8278368" y="2532888"/>
            <a:ext cx="256032" cy="256032"/>
          </a:xfrm>
          <a:prstGeom prst="ellipse">
            <a:avLst/>
          </a:prstGeom>
          <a:solidFill>
            <a:srgbClr val="C9CED6"/>
          </a:solidFill>
          <a:ln w="12700">
            <a:solidFill>
              <a:srgbClr val="C9CED6"/>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long ā</a:t>
            </a:r>
            <a:endParaRPr lang="en-US" sz="1250" dirty="0"/>
          </a:p>
        </p:txBody>
      </p:sp>
      <p:sp>
        <p:nvSpPr>
          <p:cNvPr id="49" name="Shape 46"/>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9900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hamza + long ā</a:t>
            </a:r>
            <a:endParaRPr lang="en-US" sz="1250" dirty="0"/>
          </a:p>
        </p:txBody>
      </p:sp>
      <p:sp>
        <p:nvSpPr>
          <p:cNvPr id="53" name="Text 50"/>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F1-L06.</a:t>
            </a:r>
            <a:endParaRPr lang="en-US" sz="1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digit is </a:t>
            </a:r>
            <a:pPr algn="l" indent="0" marL="0">
              <a:buNone/>
            </a:pPr>
            <a:r>
              <a:rPr lang="ar-SA" altLang="en-US" sz="1650" b="1" dirty="0">
                <a:solidFill>
                  <a:srgbClr val="1B3B6F"/>
                </a:solidFill>
                <a:latin typeface="Amiri" pitchFamily="2" charset="-78"/>
                <a:ea typeface="Amiri" pitchFamily="2" charset="-78"/>
                <a:cs typeface="Amiri" pitchFamily="2" charset="-78"/>
              </a:rPr>
              <a:t>٣</a:t>
            </a:r>
            <a:pPr algn="l" indent="0" marL="0">
              <a:buNone/>
            </a:pPr>
            <a:r>
              <a:rPr lang="en-US" sz="1250" b="1" dirty="0">
                <a:solidFill>
                  <a:srgbClr val="1B3B6F"/>
                </a:solidFill>
                <a:latin typeface="Calibri" pitchFamily="34" charset="0"/>
                <a:cs typeface="Amiri" pitchFamily="2" charset="-78"/>
              </a:rPr>
              <a:t> (prepared at home)?</a:t>
            </a:r>
            <a:endParaRPr lang="en-US" sz="1250" dirty="0"/>
          </a:p>
        </p:txBody>
      </p:sp>
      <p:sp>
        <p:nvSpPr>
          <p:cNvPr id="58" name="Shape 55"/>
          <p:cNvSpPr/>
          <p:nvPr/>
        </p:nvSpPr>
        <p:spPr>
          <a:xfrm>
            <a:off x="640080" y="4831080"/>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a:t>
            </a:r>
            <a:endParaRPr lang="en-US" sz="1250" dirty="0"/>
          </a:p>
        </p:txBody>
      </p:sp>
      <p:sp>
        <p:nvSpPr>
          <p:cNvPr id="61" name="Shape 58"/>
          <p:cNvSpPr/>
          <p:nvPr/>
        </p:nvSpPr>
        <p:spPr>
          <a:xfrm>
            <a:off x="640080" y="5202936"/>
            <a:ext cx="256032" cy="256032"/>
          </a:xfrm>
          <a:prstGeom prst="ellipse">
            <a:avLst/>
          </a:prstGeom>
          <a:solidFill>
            <a:srgbClr val="C9CED6"/>
          </a:solidFill>
          <a:ln w="12700">
            <a:solidFill>
              <a:srgbClr val="C9CED6"/>
            </a:solidFill>
            <a:prstDash val="solid"/>
          </a:ln>
        </p:spPr>
      </p:sp>
      <p:sp>
        <p:nvSpPr>
          <p:cNvPr id="62" name="Text 5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a:t>
            </a:r>
            <a:endParaRPr lang="en-US" sz="1250" dirty="0"/>
          </a:p>
        </p:txBody>
      </p:sp>
      <p:sp>
        <p:nvSpPr>
          <p:cNvPr id="64" name="Shape 6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5574792"/>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7" name="Text 64"/>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a:t>
            </a:r>
            <a:endParaRPr lang="en-US" sz="1250" dirty="0"/>
          </a:p>
        </p:txBody>
      </p:sp>
      <p:sp>
        <p:nvSpPr>
          <p:cNvPr id="68" name="Text 6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ea typeface="Amiri" pitchFamily="2" charset="-78"/>
                <a:cs typeface="Amiri" pitchFamily="2" charset="-78"/>
              </a:rPr>
              <a:t>٣</a:t>
            </a:r>
            <a:pPr algn="l" indent="0" marL="0">
              <a:buNone/>
            </a:pPr>
            <a:r>
              <a:rPr lang="en-US" sz="1050" i="1" dirty="0">
                <a:solidFill>
                  <a:srgbClr val="8A6D1E"/>
                </a:solidFill>
                <a:latin typeface="Calibri" pitchFamily="34" charset="0"/>
                <a:cs typeface="Amiri" pitchFamily="2" charset="-78"/>
              </a:rPr>
              <a:t> = 3 (two humps on top).</a:t>
            </a:r>
            <a:endParaRPr lang="en-US" sz="1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عَشَرَةٌ</a:t>
            </a:r>
            <a:pPr algn="l" indent="0" marL="0">
              <a:buNone/>
            </a:pPr>
            <a:r>
              <a:rPr lang="en-US" sz="1250" b="1" dirty="0">
                <a:solidFill>
                  <a:srgbClr val="1B3B6F"/>
                </a:solidFill>
                <a:latin typeface="Calibri" pitchFamily="34" charset="0"/>
                <a:cs typeface="Amiri" pitchFamily="2" charset="-78"/>
              </a:rPr>
              <a:t> mean (prepared at home)?</a:t>
            </a:r>
            <a:endParaRPr lang="en-US" sz="1250" dirty="0"/>
          </a:p>
        </p:txBody>
      </p:sp>
      <p:sp>
        <p:nvSpPr>
          <p:cNvPr id="73" name="Shape 7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4459224" y="4831080"/>
            <a:ext cx="256032" cy="256032"/>
          </a:xfrm>
          <a:prstGeom prst="ellipse">
            <a:avLst/>
          </a:prstGeom>
          <a:solidFill>
            <a:srgbClr val="2E8B57"/>
          </a:solidFill>
          <a:ln w="12700">
            <a:solidFill>
              <a:srgbClr val="2E8B57"/>
            </a:solidFill>
            <a:prstDash val="solid"/>
          </a:ln>
        </p:spPr>
      </p:sp>
      <p:sp>
        <p:nvSpPr>
          <p:cNvPr id="75" name="Text 7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ten</a:t>
            </a:r>
            <a:endParaRPr lang="en-US" sz="1250" dirty="0"/>
          </a:p>
        </p:txBody>
      </p:sp>
      <p:sp>
        <p:nvSpPr>
          <p:cNvPr id="77" name="Shape 74"/>
          <p:cNvSpPr/>
          <p:nvPr/>
        </p:nvSpPr>
        <p:spPr>
          <a:xfrm>
            <a:off x="4459224" y="5202936"/>
            <a:ext cx="256032" cy="256032"/>
          </a:xfrm>
          <a:prstGeom prst="ellipse">
            <a:avLst/>
          </a:prstGeom>
          <a:solidFill>
            <a:srgbClr val="C9CED6"/>
          </a:solidFill>
          <a:ln w="12700">
            <a:solidFill>
              <a:srgbClr val="C9CED6"/>
            </a:solidFill>
            <a:prstDash val="solid"/>
          </a:ln>
        </p:spPr>
      </p:sp>
      <p:sp>
        <p:nvSpPr>
          <p:cNvPr id="78" name="Text 7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80" name="Shape 77"/>
          <p:cNvSpPr/>
          <p:nvPr/>
        </p:nvSpPr>
        <p:spPr>
          <a:xfrm>
            <a:off x="4459224" y="5574792"/>
            <a:ext cx="256032" cy="256032"/>
          </a:xfrm>
          <a:prstGeom prst="ellipse">
            <a:avLst/>
          </a:prstGeom>
          <a:solidFill>
            <a:srgbClr val="C9CED6"/>
          </a:solidFill>
          <a:ln w="12700">
            <a:solidFill>
              <a:srgbClr val="C9CED6"/>
            </a:solidFill>
            <a:prstDash val="solid"/>
          </a:ln>
        </p:spPr>
      </p:sp>
      <p:sp>
        <p:nvSpPr>
          <p:cNvPr id="81" name="Text 7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83" name="Text 8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ea typeface="Amiri" pitchFamily="2" charset="-78"/>
                <a:cs typeface="Amiri" pitchFamily="2" charset="-78"/>
              </a:rPr>
              <a:t>عَشَرَةٌ</a:t>
            </a:r>
            <a:pPr algn="l" indent="0" marL="0">
              <a:buNone/>
            </a:pPr>
            <a:r>
              <a:rPr lang="en-US" sz="1050" i="1" dirty="0">
                <a:solidFill>
                  <a:srgbClr val="8A6D1E"/>
                </a:solidFill>
                <a:latin typeface="Calibri" pitchFamily="34" charset="0"/>
                <a:cs typeface="Amiri" pitchFamily="2" charset="-78"/>
              </a:rPr>
              <a:t> = 10.</a:t>
            </a:r>
            <a:endParaRPr lang="en-US" sz="1050" dirty="0"/>
          </a:p>
        </p:txBody>
      </p:sp>
      <p:sp>
        <p:nvSpPr>
          <p:cNvPr id="84" name="Shape 81"/>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85" name="Text 82"/>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86" name="Text 83"/>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Arabic words go right to left, but a number keeps its own order: the tens are on the LEFT.</a:t>
            </a:r>
            <a:endParaRPr lang="en-US" sz="1300" dirty="0"/>
          </a:p>
        </p:txBody>
      </p:sp>
      <p:sp>
        <p:nvSpPr>
          <p:cNvPr id="87" name="Text 84"/>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١٥ = 15</a:t>
            </a:r>
            <a:endParaRPr lang="ar-SA" sz="240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Match each Arabic-Indic digit to its value.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the ten digits clearly, keeping zero, five, six and seven distinct.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the numbers 0–20 in Arabic.</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two- and three-digit numbers in real contexts.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match each Arabic digit to 0–9.</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0–10 in Arabic.</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answer random flashes from 11 to 20.</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read a price or a score.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read numbers to 100 with place value.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explain “five and twenty” vs </a:t>
            </a:r>
            <a:pPr algn="l" indent="0" marL="0">
              <a:buNone/>
            </a:pPr>
            <a:r>
              <a:rPr lang="ar-SA" altLang="en-US" sz="1700" b="1" dirty="0">
                <a:solidFill>
                  <a:srgbClr val="B83227"/>
                </a:solidFill>
                <a:latin typeface="Amiri" pitchFamily="2" charset="-78"/>
                <a:ea typeface="Amiri" pitchFamily="2" charset="-78"/>
                <a:cs typeface="Amiri" pitchFamily="2" charset="-78"/>
              </a:rPr>
              <a:t>٢٥</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10 digits, 21 number words and 4 real-life contexts. Shape → value → place → spoken number.</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DIGITS</a:t>
            </a:r>
            <a:endParaRPr lang="en-US" sz="900" dirty="0"/>
          </a:p>
          <a:p>
            <a:pPr indent="0" marL="0">
              <a:buNone/>
            </a:pPr>
            <a:r>
              <a:rPr lang="en-US" sz="1200" b="1" dirty="0">
                <a:solidFill>
                  <a:srgbClr val="FFFFFF"/>
                </a:solidFill>
                <a:latin typeface="Calibri" pitchFamily="34" charset="0"/>
                <a:cs typeface="Amiri" pitchFamily="2" charset="-78"/>
              </a:rPr>
              <a:t>Digits 0–9 · 10</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WORDS</a:t>
            </a:r>
            <a:endParaRPr lang="en-US" sz="900" dirty="0"/>
          </a:p>
          <a:p>
            <a:pPr indent="0" marL="0">
              <a:buNone/>
            </a:pPr>
            <a:r>
              <a:rPr lang="en-US" sz="1200" b="1" dirty="0">
                <a:solidFill>
                  <a:srgbClr val="FFFFFF"/>
                </a:solidFill>
                <a:latin typeface="Calibri" pitchFamily="34" charset="0"/>
                <a:cs typeface="Amiri" pitchFamily="2" charset="-78"/>
              </a:rPr>
              <a:t>0–10 · 11</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WORDS</a:t>
            </a:r>
            <a:endParaRPr lang="en-US" sz="900" dirty="0"/>
          </a:p>
          <a:p>
            <a:pPr indent="0" marL="0">
              <a:buNone/>
            </a:pPr>
            <a:r>
              <a:rPr lang="en-US" sz="1200" b="1" dirty="0">
                <a:solidFill>
                  <a:srgbClr val="FFFFFF"/>
                </a:solidFill>
                <a:latin typeface="Calibri" pitchFamily="34" charset="0"/>
                <a:cs typeface="Amiri" pitchFamily="2" charset="-78"/>
              </a:rPr>
              <a:t>11–20 · 10</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USE</a:t>
            </a:r>
            <a:endParaRPr lang="en-US" sz="900" dirty="0"/>
          </a:p>
          <a:p>
            <a:pPr indent="0" marL="0">
              <a:buNone/>
            </a:pPr>
            <a:r>
              <a:rPr lang="en-US" sz="1200" b="1" dirty="0">
                <a:solidFill>
                  <a:srgbClr val="FFFFFF"/>
                </a:solidFill>
                <a:latin typeface="Calibri" pitchFamily="34" charset="0"/>
                <a:cs typeface="Amiri" pitchFamily="2" charset="-78"/>
              </a:rPr>
              <a:t>Real numbers · 4</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٤</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‎۴‎ </a:t>
            </a:r>
            <a:pPr indent="0" marL="0">
              <a:buNone/>
            </a:pPr>
            <a:r>
              <a:rPr lang="en-US" sz="950" b="1" dirty="0">
                <a:solidFill>
                  <a:srgbClr val="2E8B57"/>
                </a:solidFill>
                <a:latin typeface="Calibri" pitchFamily="34" charset="0"/>
                <a:cs typeface="Amiri" pitchFamily="2" charset="-78"/>
              </a:rPr>
              <a:t> chār · four — shape differs</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٥</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‎۵‎ </a:t>
            </a:r>
            <a:pPr indent="0" marL="0">
              <a:buNone/>
            </a:pPr>
            <a:r>
              <a:rPr lang="en-US" sz="950" b="1" dirty="0">
                <a:solidFill>
                  <a:srgbClr val="2E8B57"/>
                </a:solidFill>
                <a:latin typeface="Calibri" pitchFamily="34" charset="0"/>
                <a:cs typeface="Amiri" pitchFamily="2" charset="-78"/>
              </a:rPr>
              <a:t> pānch · five — a ring</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٦</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‎۶‎ </a:t>
            </a:r>
            <a:pPr indent="0" marL="0">
              <a:buNone/>
            </a:pPr>
            <a:r>
              <a:rPr lang="en-US" sz="950" b="1" dirty="0">
                <a:solidFill>
                  <a:srgbClr val="2E8B57"/>
                </a:solidFill>
                <a:latin typeface="Calibri" pitchFamily="34" charset="0"/>
                <a:cs typeface="Amiri" pitchFamily="2" charset="-78"/>
              </a:rPr>
              <a:t> chhe · six — shape differs</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صِفْرٌ</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‎صفر‎ </a:t>
            </a:r>
            <a:pPr indent="0" marL="0">
              <a:buNone/>
            </a:pPr>
            <a:r>
              <a:rPr lang="en-US" sz="950" b="1" dirty="0">
                <a:solidFill>
                  <a:srgbClr val="2E8B57"/>
                </a:solidFill>
                <a:latin typeface="Calibri" pitchFamily="34" charset="0"/>
                <a:cs typeface="Amiri" pitchFamily="2" charset="-78"/>
              </a:rPr>
              <a:t> sifr · zero (→ English “cipher”)</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حِسَابٌ</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‎حساب‎ </a:t>
            </a:r>
            <a:pPr indent="0" marL="0">
              <a:buNone/>
            </a:pPr>
            <a:r>
              <a:rPr lang="en-US" sz="950" b="1" dirty="0">
                <a:solidFill>
                  <a:srgbClr val="2E8B57"/>
                </a:solidFill>
                <a:latin typeface="Calibri" pitchFamily="34" charset="0"/>
                <a:cs typeface="Amiri" pitchFamily="2" charset="-78"/>
              </a:rPr>
              <a:t> hisāb · maths, arithmetic</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TEACHER INSTRUCTION · TWO RELATED DIGIT SETS (WEBSITE DIGIT REFERENCE)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ten digits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الأَرْقَامُ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341864"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Western</a:t>
            </a:r>
            <a:endParaRPr lang="en-US" sz="1100" dirty="0"/>
          </a:p>
        </p:txBody>
      </p:sp>
      <p:sp>
        <p:nvSpPr>
          <p:cNvPr id="17" name="Text 14"/>
          <p:cNvSpPr txBox="1"/>
          <p:nvPr/>
        </p:nvSpPr>
        <p:spPr>
          <a:xfrm>
            <a:off x="8695944"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485546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Formation cue</a:t>
            </a:r>
            <a:endParaRPr lang="en-US" sz="1100" dirty="0"/>
          </a:p>
        </p:txBody>
      </p:sp>
      <p:sp>
        <p:nvSpPr>
          <p:cNvPr id="19" name="Text 16"/>
          <p:cNvSpPr txBox="1"/>
          <p:nvPr/>
        </p:nvSpPr>
        <p:spPr>
          <a:xfrm>
            <a:off x="53035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Watch out</a:t>
            </a:r>
            <a:endParaRPr lang="en-US" sz="1100" dirty="0"/>
          </a:p>
        </p:txBody>
      </p:sp>
      <p:sp>
        <p:nvSpPr>
          <p:cNvPr id="20" name="Shape 17"/>
          <p:cNvSpPr/>
          <p:nvPr/>
        </p:nvSpPr>
        <p:spPr>
          <a:xfrm>
            <a:off x="457200" y="2267712"/>
            <a:ext cx="11274552" cy="354787"/>
          </a:xfrm>
          <a:prstGeom prst="roundRect">
            <a:avLst>
              <a:gd name="adj" fmla="val 12887"/>
            </a:avLst>
          </a:prstGeom>
          <a:solidFill>
            <a:srgbClr val="FFFFFF"/>
          </a:solidFill>
          <a:ln w="9525">
            <a:solidFill>
              <a:srgbClr val="D8D0BF"/>
            </a:solidFill>
            <a:prstDash val="solid"/>
          </a:ln>
        </p:spPr>
      </p:sp>
      <p:sp>
        <p:nvSpPr>
          <p:cNvPr id="21" name="Text 18"/>
          <p:cNvSpPr txBox="1"/>
          <p:nvPr/>
        </p:nvSpPr>
        <p:spPr>
          <a:xfrm>
            <a:off x="10378440" y="2267712"/>
            <a:ext cx="128016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0</a:t>
            </a:r>
            <a:endParaRPr lang="en-US" sz="1100" dirty="0"/>
          </a:p>
        </p:txBody>
      </p:sp>
      <p:sp>
        <p:nvSpPr>
          <p:cNvPr id="22" name="Text 19"/>
          <p:cNvSpPr txBox="1"/>
          <p:nvPr/>
        </p:nvSpPr>
        <p:spPr>
          <a:xfrm>
            <a:off x="8714232" y="2267712"/>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٠</a:t>
            </a:r>
            <a:endParaRPr lang="ar-SA" sz="1650" dirty="0"/>
          </a:p>
        </p:txBody>
      </p:sp>
      <p:sp>
        <p:nvSpPr>
          <p:cNvPr id="23" name="Text 20"/>
          <p:cNvSpPr txBox="1"/>
          <p:nvPr/>
        </p:nvSpPr>
        <p:spPr>
          <a:xfrm>
            <a:off x="4892040" y="2267712"/>
            <a:ext cx="36576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small dot-like zero.</a:t>
            </a:r>
            <a:endParaRPr lang="en-US" sz="1100" dirty="0"/>
          </a:p>
        </p:txBody>
      </p:sp>
      <p:sp>
        <p:nvSpPr>
          <p:cNvPr id="24" name="Text 21"/>
          <p:cNvSpPr txBox="1"/>
          <p:nvPr/>
        </p:nvSpPr>
        <p:spPr>
          <a:xfrm>
            <a:off x="566928" y="2267712"/>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not enlarge it into </a:t>
            </a:r>
            <a:pPr algn="l" indent="0" marL="0">
              <a:buNone/>
            </a:pPr>
            <a:r>
              <a:rPr lang="ar-SA" altLang="en-US" sz="1450" dirty="0">
                <a:solidFill>
                  <a:srgbClr val="5A6472"/>
                </a:solidFill>
                <a:latin typeface="Amiri" pitchFamily="2" charset="-78"/>
                <a:ea typeface="Amiri" pitchFamily="2" charset="-78"/>
                <a:cs typeface="Amiri" pitchFamily="2" charset="-78"/>
              </a:rPr>
              <a:t>٥</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677363"/>
            <a:ext cx="11274552" cy="354787"/>
          </a:xfrm>
          <a:prstGeom prst="roundRect">
            <a:avLst>
              <a:gd name="adj" fmla="val 12887"/>
            </a:avLst>
          </a:prstGeom>
          <a:solidFill>
            <a:srgbClr val="F4F1EA"/>
          </a:solidFill>
          <a:ln w="9525">
            <a:solidFill>
              <a:srgbClr val="D8D0BF"/>
            </a:solidFill>
            <a:prstDash val="solid"/>
          </a:ln>
        </p:spPr>
      </p:sp>
      <p:sp>
        <p:nvSpPr>
          <p:cNvPr id="28" name="Text 25"/>
          <p:cNvSpPr txBox="1"/>
          <p:nvPr/>
        </p:nvSpPr>
        <p:spPr>
          <a:xfrm>
            <a:off x="10378440" y="2677363"/>
            <a:ext cx="128016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Text 26"/>
          <p:cNvSpPr txBox="1"/>
          <p:nvPr/>
        </p:nvSpPr>
        <p:spPr>
          <a:xfrm>
            <a:off x="8714232" y="2677363"/>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١</a:t>
            </a:r>
            <a:endParaRPr lang="ar-SA" sz="1650" dirty="0"/>
          </a:p>
        </p:txBody>
      </p:sp>
      <p:sp>
        <p:nvSpPr>
          <p:cNvPr id="30" name="Text 27"/>
          <p:cNvSpPr txBox="1"/>
          <p:nvPr/>
        </p:nvSpPr>
        <p:spPr>
          <a:xfrm>
            <a:off x="4892040" y="2677363"/>
            <a:ext cx="36576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upright stroke.</a:t>
            </a:r>
            <a:endParaRPr lang="en-US" sz="1100" dirty="0"/>
          </a:p>
        </p:txBody>
      </p:sp>
      <p:sp>
        <p:nvSpPr>
          <p:cNvPr id="31" name="Text 28"/>
          <p:cNvSpPr txBox="1"/>
          <p:nvPr/>
        </p:nvSpPr>
        <p:spPr>
          <a:xfrm>
            <a:off x="566928" y="2677363"/>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Usually the easiest.</a:t>
            </a:r>
            <a:endParaRPr lang="en-US" sz="1100" dirty="0"/>
          </a:p>
        </p:txBody>
      </p:sp>
      <p:sp>
        <p:nvSpPr>
          <p:cNvPr id="32" name="Shape 29"/>
          <p:cNvSpPr/>
          <p:nvPr/>
        </p:nvSpPr>
        <p:spPr>
          <a:xfrm>
            <a:off x="11091672" y="2723083"/>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23083"/>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087014"/>
            <a:ext cx="11274552" cy="354787"/>
          </a:xfrm>
          <a:prstGeom prst="roundRect">
            <a:avLst>
              <a:gd name="adj" fmla="val 12887"/>
            </a:avLst>
          </a:prstGeom>
          <a:solidFill>
            <a:srgbClr val="FFFFFF"/>
          </a:solidFill>
          <a:ln w="9525">
            <a:solidFill>
              <a:srgbClr val="D8D0BF"/>
            </a:solidFill>
            <a:prstDash val="solid"/>
          </a:ln>
        </p:spPr>
      </p:sp>
      <p:sp>
        <p:nvSpPr>
          <p:cNvPr id="35" name="Text 32"/>
          <p:cNvSpPr txBox="1"/>
          <p:nvPr/>
        </p:nvSpPr>
        <p:spPr>
          <a:xfrm>
            <a:off x="10378440" y="3087014"/>
            <a:ext cx="128016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6" name="Text 33"/>
          <p:cNvSpPr txBox="1"/>
          <p:nvPr/>
        </p:nvSpPr>
        <p:spPr>
          <a:xfrm>
            <a:off x="8714232" y="3087014"/>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٢</a:t>
            </a:r>
            <a:endParaRPr lang="ar-SA" sz="1650" dirty="0"/>
          </a:p>
        </p:txBody>
      </p:sp>
      <p:sp>
        <p:nvSpPr>
          <p:cNvPr id="37" name="Text 34"/>
          <p:cNvSpPr txBox="1"/>
          <p:nvPr/>
        </p:nvSpPr>
        <p:spPr>
          <a:xfrm>
            <a:off x="4892040" y="3087014"/>
            <a:ext cx="36576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Hooked top, then down.</a:t>
            </a:r>
            <a:endParaRPr lang="en-US" sz="1100" dirty="0"/>
          </a:p>
        </p:txBody>
      </p:sp>
      <p:sp>
        <p:nvSpPr>
          <p:cNvPr id="38" name="Text 35"/>
          <p:cNvSpPr txBox="1"/>
          <p:nvPr/>
        </p:nvSpPr>
        <p:spPr>
          <a:xfrm>
            <a:off x="566928" y="3087014"/>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Not </a:t>
            </a:r>
            <a:pPr algn="l" indent="0" marL="0">
              <a:buNone/>
            </a:pPr>
            <a:r>
              <a:rPr lang="ar-SA" altLang="en-US" sz="1450" dirty="0">
                <a:solidFill>
                  <a:srgbClr val="5A6472"/>
                </a:solidFill>
                <a:latin typeface="Amiri" pitchFamily="2" charset="-78"/>
                <a:ea typeface="Amiri" pitchFamily="2" charset="-78"/>
                <a:cs typeface="Amiri" pitchFamily="2" charset="-78"/>
              </a:rPr>
              <a:t>٣</a:t>
            </a:r>
            <a:pPr algn="l" indent="0" marL="0">
              <a:buNone/>
            </a:pPr>
            <a:r>
              <a:rPr lang="en-US" sz="1100" dirty="0">
                <a:solidFill>
                  <a:srgbClr val="5A6472"/>
                </a:solidFill>
                <a:latin typeface="Calibri" pitchFamily="34" charset="0"/>
                <a:cs typeface="Amiri" pitchFamily="2" charset="-78"/>
              </a:rPr>
              <a:t> — count the humps.</a:t>
            </a:r>
            <a:endParaRPr lang="en-US" sz="1100" dirty="0"/>
          </a:p>
        </p:txBody>
      </p:sp>
      <p:sp>
        <p:nvSpPr>
          <p:cNvPr id="39" name="Shape 36"/>
          <p:cNvSpPr/>
          <p:nvPr/>
        </p:nvSpPr>
        <p:spPr>
          <a:xfrm>
            <a:off x="11091672" y="3132734"/>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13273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496666"/>
            <a:ext cx="11274552" cy="354787"/>
          </a:xfrm>
          <a:prstGeom prst="roundRect">
            <a:avLst>
              <a:gd name="adj" fmla="val 12887"/>
            </a:avLst>
          </a:prstGeom>
          <a:solidFill>
            <a:srgbClr val="F4F1EA"/>
          </a:solidFill>
          <a:ln w="9525">
            <a:solidFill>
              <a:srgbClr val="D8D0BF"/>
            </a:solidFill>
            <a:prstDash val="solid"/>
          </a:ln>
        </p:spPr>
      </p:sp>
      <p:sp>
        <p:nvSpPr>
          <p:cNvPr id="42" name="Text 39"/>
          <p:cNvSpPr txBox="1"/>
          <p:nvPr/>
        </p:nvSpPr>
        <p:spPr>
          <a:xfrm>
            <a:off x="10378440" y="3496666"/>
            <a:ext cx="128016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Text 40"/>
          <p:cNvSpPr txBox="1"/>
          <p:nvPr/>
        </p:nvSpPr>
        <p:spPr>
          <a:xfrm>
            <a:off x="8714232" y="3496666"/>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٣</a:t>
            </a:r>
            <a:endParaRPr lang="ar-SA" sz="1650" dirty="0"/>
          </a:p>
        </p:txBody>
      </p:sp>
      <p:sp>
        <p:nvSpPr>
          <p:cNvPr id="44" name="Text 41"/>
          <p:cNvSpPr txBox="1"/>
          <p:nvPr/>
        </p:nvSpPr>
        <p:spPr>
          <a:xfrm>
            <a:off x="4892040" y="3496666"/>
            <a:ext cx="36576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top humps, then down.</a:t>
            </a:r>
            <a:endParaRPr lang="en-US" sz="1100" dirty="0"/>
          </a:p>
        </p:txBody>
      </p:sp>
      <p:sp>
        <p:nvSpPr>
          <p:cNvPr id="45" name="Text 42"/>
          <p:cNvSpPr txBox="1"/>
          <p:nvPr/>
        </p:nvSpPr>
        <p:spPr>
          <a:xfrm>
            <a:off x="566928" y="3496666"/>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Count the humps.</a:t>
            </a:r>
            <a:endParaRPr lang="en-US" sz="1100" dirty="0"/>
          </a:p>
        </p:txBody>
      </p:sp>
      <p:sp>
        <p:nvSpPr>
          <p:cNvPr id="46" name="Shape 43"/>
          <p:cNvSpPr/>
          <p:nvPr/>
        </p:nvSpPr>
        <p:spPr>
          <a:xfrm>
            <a:off x="11091672" y="3542386"/>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54238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3906317"/>
            <a:ext cx="11274552" cy="354787"/>
          </a:xfrm>
          <a:prstGeom prst="roundRect">
            <a:avLst>
              <a:gd name="adj" fmla="val 12887"/>
            </a:avLst>
          </a:prstGeom>
          <a:solidFill>
            <a:srgbClr val="FFFFFF"/>
          </a:solidFill>
          <a:ln w="9525">
            <a:solidFill>
              <a:srgbClr val="D8D0BF"/>
            </a:solidFill>
            <a:prstDash val="solid"/>
          </a:ln>
        </p:spPr>
      </p:sp>
      <p:sp>
        <p:nvSpPr>
          <p:cNvPr id="49" name="Text 46"/>
          <p:cNvSpPr txBox="1"/>
          <p:nvPr/>
        </p:nvSpPr>
        <p:spPr>
          <a:xfrm>
            <a:off x="10378440" y="3906317"/>
            <a:ext cx="128016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0" name="Text 47"/>
          <p:cNvSpPr txBox="1"/>
          <p:nvPr/>
        </p:nvSpPr>
        <p:spPr>
          <a:xfrm>
            <a:off x="8714232" y="3906317"/>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٤</a:t>
            </a:r>
            <a:endParaRPr lang="ar-SA" sz="1650" dirty="0"/>
          </a:p>
        </p:txBody>
      </p:sp>
      <p:sp>
        <p:nvSpPr>
          <p:cNvPr id="51" name="Text 48"/>
          <p:cNvSpPr txBox="1"/>
          <p:nvPr/>
        </p:nvSpPr>
        <p:spPr>
          <a:xfrm>
            <a:off x="4892040" y="3906317"/>
            <a:ext cx="36576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Angular open form.</a:t>
            </a:r>
            <a:endParaRPr lang="en-US" sz="1100" dirty="0"/>
          </a:p>
        </p:txBody>
      </p:sp>
      <p:sp>
        <p:nvSpPr>
          <p:cNvPr id="52" name="Text 49"/>
          <p:cNvSpPr txBox="1"/>
          <p:nvPr/>
        </p:nvSpPr>
        <p:spPr>
          <a:xfrm>
            <a:off x="566928" y="3906317"/>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Can look like a reversed 3.</a:t>
            </a:r>
            <a:endParaRPr lang="en-US" sz="1100" dirty="0"/>
          </a:p>
        </p:txBody>
      </p:sp>
      <p:sp>
        <p:nvSpPr>
          <p:cNvPr id="53" name="Shape 50"/>
          <p:cNvSpPr/>
          <p:nvPr/>
        </p:nvSpPr>
        <p:spPr>
          <a:xfrm>
            <a:off x="11091672" y="3952037"/>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395203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315968"/>
            <a:ext cx="11274552" cy="354787"/>
          </a:xfrm>
          <a:prstGeom prst="roundRect">
            <a:avLst>
              <a:gd name="adj" fmla="val 12887"/>
            </a:avLst>
          </a:prstGeom>
          <a:solidFill>
            <a:srgbClr val="F4F1EA"/>
          </a:solidFill>
          <a:ln w="9525">
            <a:solidFill>
              <a:srgbClr val="D8D0BF"/>
            </a:solidFill>
            <a:prstDash val="solid"/>
          </a:ln>
        </p:spPr>
      </p:sp>
      <p:sp>
        <p:nvSpPr>
          <p:cNvPr id="56" name="Text 53"/>
          <p:cNvSpPr txBox="1"/>
          <p:nvPr/>
        </p:nvSpPr>
        <p:spPr>
          <a:xfrm>
            <a:off x="10378440" y="4315968"/>
            <a:ext cx="128016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8714232" y="4315968"/>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٥</a:t>
            </a:r>
            <a:endParaRPr lang="ar-SA" sz="1650" dirty="0"/>
          </a:p>
        </p:txBody>
      </p:sp>
      <p:sp>
        <p:nvSpPr>
          <p:cNvPr id="58" name="Text 55"/>
          <p:cNvSpPr txBox="1"/>
          <p:nvPr/>
        </p:nvSpPr>
        <p:spPr>
          <a:xfrm>
            <a:off x="4892040" y="4315968"/>
            <a:ext cx="36576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small ring.</a:t>
            </a:r>
            <a:endParaRPr lang="en-US" sz="1100" dirty="0"/>
          </a:p>
        </p:txBody>
      </p:sp>
      <p:sp>
        <p:nvSpPr>
          <p:cNvPr id="59" name="Text 56"/>
          <p:cNvSpPr txBox="1"/>
          <p:nvPr/>
        </p:nvSpPr>
        <p:spPr>
          <a:xfrm>
            <a:off x="566928" y="4315968"/>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RING is five; the DOT is zero.</a:t>
            </a:r>
            <a:endParaRPr lang="en-US" sz="1100" dirty="0"/>
          </a:p>
        </p:txBody>
      </p:sp>
      <p:sp>
        <p:nvSpPr>
          <p:cNvPr id="60" name="Shape 57"/>
          <p:cNvSpPr/>
          <p:nvPr/>
        </p:nvSpPr>
        <p:spPr>
          <a:xfrm>
            <a:off x="11091672" y="4361688"/>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36168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4725619"/>
            <a:ext cx="11274552" cy="354787"/>
          </a:xfrm>
          <a:prstGeom prst="roundRect">
            <a:avLst>
              <a:gd name="adj" fmla="val 12887"/>
            </a:avLst>
          </a:prstGeom>
          <a:solidFill>
            <a:srgbClr val="FFFFFF"/>
          </a:solidFill>
          <a:ln w="9525">
            <a:solidFill>
              <a:srgbClr val="D8D0BF"/>
            </a:solidFill>
            <a:prstDash val="solid"/>
          </a:ln>
        </p:spPr>
      </p:sp>
      <p:sp>
        <p:nvSpPr>
          <p:cNvPr id="63" name="Text 60"/>
          <p:cNvSpPr txBox="1"/>
          <p:nvPr/>
        </p:nvSpPr>
        <p:spPr>
          <a:xfrm>
            <a:off x="10378440" y="4725619"/>
            <a:ext cx="128016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4" name="Text 61"/>
          <p:cNvSpPr txBox="1"/>
          <p:nvPr/>
        </p:nvSpPr>
        <p:spPr>
          <a:xfrm>
            <a:off x="8714232" y="4725619"/>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٦</a:t>
            </a:r>
            <a:endParaRPr lang="ar-SA" sz="1650" dirty="0"/>
          </a:p>
        </p:txBody>
      </p:sp>
      <p:sp>
        <p:nvSpPr>
          <p:cNvPr id="65" name="Text 62"/>
          <p:cNvSpPr txBox="1"/>
          <p:nvPr/>
        </p:nvSpPr>
        <p:spPr>
          <a:xfrm>
            <a:off x="4892040" y="4725619"/>
            <a:ext cx="36576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Curved hook with a stem.</a:t>
            </a:r>
            <a:endParaRPr lang="en-US" sz="1100" dirty="0"/>
          </a:p>
        </p:txBody>
      </p:sp>
      <p:sp>
        <p:nvSpPr>
          <p:cNvPr id="66" name="Text 63"/>
          <p:cNvSpPr txBox="1"/>
          <p:nvPr/>
        </p:nvSpPr>
        <p:spPr>
          <a:xfrm>
            <a:off x="566928" y="4725619"/>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May look like Western 7.</a:t>
            </a:r>
            <a:endParaRPr lang="en-US" sz="1100" dirty="0"/>
          </a:p>
        </p:txBody>
      </p:sp>
      <p:sp>
        <p:nvSpPr>
          <p:cNvPr id="67" name="Shape 64"/>
          <p:cNvSpPr/>
          <p:nvPr/>
        </p:nvSpPr>
        <p:spPr>
          <a:xfrm>
            <a:off x="11091672" y="4771339"/>
            <a:ext cx="548640" cy="182880"/>
          </a:xfrm>
          <a:prstGeom prst="roundRect">
            <a:avLst>
              <a:gd name="adj" fmla="val 50000"/>
            </a:avLst>
          </a:prstGeom>
          <a:solidFill>
            <a:srgbClr val="2E8B57"/>
          </a:solidFill>
          <a:ln w="12700">
            <a:solidFill>
              <a:srgbClr val="2E8B57"/>
            </a:solidFill>
            <a:prstDash val="solid"/>
          </a:ln>
        </p:spPr>
      </p:sp>
      <p:sp>
        <p:nvSpPr>
          <p:cNvPr id="68" name="Text 65"/>
          <p:cNvSpPr txBox="1"/>
          <p:nvPr/>
        </p:nvSpPr>
        <p:spPr>
          <a:xfrm>
            <a:off x="11091672" y="477133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9" name="Shape 66"/>
          <p:cNvSpPr/>
          <p:nvPr/>
        </p:nvSpPr>
        <p:spPr>
          <a:xfrm>
            <a:off x="457200" y="5135270"/>
            <a:ext cx="11274552" cy="354787"/>
          </a:xfrm>
          <a:prstGeom prst="roundRect">
            <a:avLst>
              <a:gd name="adj" fmla="val 12887"/>
            </a:avLst>
          </a:prstGeom>
          <a:solidFill>
            <a:srgbClr val="F4F1EA"/>
          </a:solidFill>
          <a:ln w="9525">
            <a:solidFill>
              <a:srgbClr val="D8D0BF"/>
            </a:solidFill>
            <a:prstDash val="solid"/>
          </a:ln>
        </p:spPr>
      </p:sp>
      <p:sp>
        <p:nvSpPr>
          <p:cNvPr id="70" name="Text 67"/>
          <p:cNvSpPr txBox="1"/>
          <p:nvPr/>
        </p:nvSpPr>
        <p:spPr>
          <a:xfrm>
            <a:off x="10378440" y="5135270"/>
            <a:ext cx="128016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71" name="Text 68"/>
          <p:cNvSpPr txBox="1"/>
          <p:nvPr/>
        </p:nvSpPr>
        <p:spPr>
          <a:xfrm>
            <a:off x="8714232" y="5135270"/>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٧</a:t>
            </a:r>
            <a:endParaRPr lang="ar-SA" sz="1650" dirty="0"/>
          </a:p>
        </p:txBody>
      </p:sp>
      <p:sp>
        <p:nvSpPr>
          <p:cNvPr id="72" name="Text 69"/>
          <p:cNvSpPr txBox="1"/>
          <p:nvPr/>
        </p:nvSpPr>
        <p:spPr>
          <a:xfrm>
            <a:off x="4892040" y="5135270"/>
            <a:ext cx="36576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Open V shape.</a:t>
            </a:r>
            <a:endParaRPr lang="en-US" sz="1100" dirty="0"/>
          </a:p>
        </p:txBody>
      </p:sp>
      <p:sp>
        <p:nvSpPr>
          <p:cNvPr id="73" name="Text 70"/>
          <p:cNvSpPr txBox="1"/>
          <p:nvPr/>
        </p:nvSpPr>
        <p:spPr>
          <a:xfrm>
            <a:off x="566928" y="5135270"/>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Pair it with </a:t>
            </a:r>
            <a:pPr algn="l" indent="0" marL="0">
              <a:buNone/>
            </a:pPr>
            <a:r>
              <a:rPr lang="ar-SA" altLang="en-US" sz="1450" dirty="0">
                <a:solidFill>
                  <a:srgbClr val="5A6472"/>
                </a:solidFill>
                <a:latin typeface="Amiri" pitchFamily="2" charset="-78"/>
                <a:ea typeface="Amiri" pitchFamily="2" charset="-78"/>
                <a:cs typeface="Amiri" pitchFamily="2" charset="-78"/>
              </a:rPr>
              <a:t>٨</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74" name="Shape 71"/>
          <p:cNvSpPr/>
          <p:nvPr/>
        </p:nvSpPr>
        <p:spPr>
          <a:xfrm>
            <a:off x="11091672" y="5180990"/>
            <a:ext cx="548640" cy="182880"/>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1091672" y="51809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76" name="Shape 73"/>
          <p:cNvSpPr/>
          <p:nvPr/>
        </p:nvSpPr>
        <p:spPr>
          <a:xfrm>
            <a:off x="457200" y="5544922"/>
            <a:ext cx="11274552" cy="354787"/>
          </a:xfrm>
          <a:prstGeom prst="roundRect">
            <a:avLst>
              <a:gd name="adj" fmla="val 12887"/>
            </a:avLst>
          </a:prstGeom>
          <a:solidFill>
            <a:srgbClr val="FFFFFF"/>
          </a:solidFill>
          <a:ln w="9525">
            <a:solidFill>
              <a:srgbClr val="D8D0BF"/>
            </a:solidFill>
            <a:prstDash val="solid"/>
          </a:ln>
        </p:spPr>
      </p:sp>
      <p:sp>
        <p:nvSpPr>
          <p:cNvPr id="77" name="Text 74"/>
          <p:cNvSpPr txBox="1"/>
          <p:nvPr/>
        </p:nvSpPr>
        <p:spPr>
          <a:xfrm>
            <a:off x="10378440" y="5544922"/>
            <a:ext cx="128016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8" name="Text 75"/>
          <p:cNvSpPr txBox="1"/>
          <p:nvPr/>
        </p:nvSpPr>
        <p:spPr>
          <a:xfrm>
            <a:off x="8714232" y="5544922"/>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٨</a:t>
            </a:r>
            <a:endParaRPr lang="ar-SA" sz="1650" dirty="0"/>
          </a:p>
        </p:txBody>
      </p:sp>
      <p:sp>
        <p:nvSpPr>
          <p:cNvPr id="79" name="Text 76"/>
          <p:cNvSpPr txBox="1"/>
          <p:nvPr/>
        </p:nvSpPr>
        <p:spPr>
          <a:xfrm>
            <a:off x="4892040" y="5544922"/>
            <a:ext cx="36576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Pointed cap shape.</a:t>
            </a:r>
            <a:endParaRPr lang="en-US" sz="1100" dirty="0"/>
          </a:p>
        </p:txBody>
      </p:sp>
      <p:sp>
        <p:nvSpPr>
          <p:cNvPr id="80" name="Text 77"/>
          <p:cNvSpPr txBox="1"/>
          <p:nvPr/>
        </p:nvSpPr>
        <p:spPr>
          <a:xfrm>
            <a:off x="566928" y="5544922"/>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Upside-down </a:t>
            </a:r>
            <a:pPr algn="l" indent="0" marL="0">
              <a:buNone/>
            </a:pPr>
            <a:r>
              <a:rPr lang="ar-SA" altLang="en-US" sz="1450" dirty="0">
                <a:solidFill>
                  <a:srgbClr val="5A6472"/>
                </a:solidFill>
                <a:latin typeface="Amiri" pitchFamily="2" charset="-78"/>
                <a:ea typeface="Amiri" pitchFamily="2" charset="-78"/>
                <a:cs typeface="Amiri" pitchFamily="2" charset="-78"/>
              </a:rPr>
              <a:t>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81" name="Shape 78"/>
          <p:cNvSpPr/>
          <p:nvPr/>
        </p:nvSpPr>
        <p:spPr>
          <a:xfrm>
            <a:off x="11091672" y="5590642"/>
            <a:ext cx="548640" cy="18288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11091672" y="559064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83" name="Shape 80"/>
          <p:cNvSpPr/>
          <p:nvPr/>
        </p:nvSpPr>
        <p:spPr>
          <a:xfrm>
            <a:off x="457200" y="5954573"/>
            <a:ext cx="11274552" cy="354787"/>
          </a:xfrm>
          <a:prstGeom prst="roundRect">
            <a:avLst>
              <a:gd name="adj" fmla="val 12887"/>
            </a:avLst>
          </a:prstGeom>
          <a:solidFill>
            <a:srgbClr val="F4F1EA"/>
          </a:solidFill>
          <a:ln w="9525">
            <a:solidFill>
              <a:srgbClr val="D8D0BF"/>
            </a:solidFill>
            <a:prstDash val="solid"/>
          </a:ln>
        </p:spPr>
      </p:sp>
      <p:sp>
        <p:nvSpPr>
          <p:cNvPr id="84" name="Text 81"/>
          <p:cNvSpPr txBox="1"/>
          <p:nvPr/>
        </p:nvSpPr>
        <p:spPr>
          <a:xfrm>
            <a:off x="10378440" y="5954573"/>
            <a:ext cx="128016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9</a:t>
            </a:r>
            <a:endParaRPr lang="en-US" sz="1100" dirty="0"/>
          </a:p>
        </p:txBody>
      </p:sp>
      <p:sp>
        <p:nvSpPr>
          <p:cNvPr id="85" name="Text 82"/>
          <p:cNvSpPr txBox="1"/>
          <p:nvPr/>
        </p:nvSpPr>
        <p:spPr>
          <a:xfrm>
            <a:off x="8714232" y="5954573"/>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٩</a:t>
            </a:r>
            <a:endParaRPr lang="ar-SA" sz="1650" dirty="0"/>
          </a:p>
        </p:txBody>
      </p:sp>
      <p:sp>
        <p:nvSpPr>
          <p:cNvPr id="86" name="Text 83"/>
          <p:cNvSpPr txBox="1"/>
          <p:nvPr/>
        </p:nvSpPr>
        <p:spPr>
          <a:xfrm>
            <a:off x="4892040" y="5954573"/>
            <a:ext cx="36576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Round head, stroke down.</a:t>
            </a:r>
            <a:endParaRPr lang="en-US" sz="1100" dirty="0"/>
          </a:p>
        </p:txBody>
      </p:sp>
      <p:sp>
        <p:nvSpPr>
          <p:cNvPr id="87" name="Text 84"/>
          <p:cNvSpPr txBox="1"/>
          <p:nvPr/>
        </p:nvSpPr>
        <p:spPr>
          <a:xfrm>
            <a:off x="566928" y="5954573"/>
            <a:ext cx="4142232"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Close to Western 9.</a:t>
            </a:r>
            <a:endParaRPr lang="en-US" sz="1100" dirty="0"/>
          </a:p>
        </p:txBody>
      </p:sp>
      <p:sp>
        <p:nvSpPr>
          <p:cNvPr id="88" name="Shape 85"/>
          <p:cNvSpPr/>
          <p:nvPr/>
        </p:nvSpPr>
        <p:spPr>
          <a:xfrm>
            <a:off x="11091672" y="6000293"/>
            <a:ext cx="548640" cy="182880"/>
          </a:xfrm>
          <a:prstGeom prst="roundRect">
            <a:avLst>
              <a:gd name="adj" fmla="val 50000"/>
            </a:avLst>
          </a:prstGeom>
          <a:solidFill>
            <a:srgbClr val="2E8B57"/>
          </a:solidFill>
          <a:ln w="12700">
            <a:solidFill>
              <a:srgbClr val="2E8B57"/>
            </a:solidFill>
            <a:prstDash val="solid"/>
          </a:ln>
        </p:spPr>
      </p:sp>
      <p:sp>
        <p:nvSpPr>
          <p:cNvPr id="89" name="Text 86"/>
          <p:cNvSpPr txBox="1"/>
          <p:nvPr/>
        </p:nvSpPr>
        <p:spPr>
          <a:xfrm>
            <a:off x="11091672" y="6000293"/>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TEACHER INSTRUCTION · DIRECTION WITHOUT REVERSAL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Numbers keep their own order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الأَرْقَامُ مِنَ اليَسَارِ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2870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PLACE VALUE</a:t>
            </a:r>
            <a:endParaRPr lang="en-US" sz="850" dirty="0"/>
          </a:p>
        </p:txBody>
      </p:sp>
      <p:sp>
        <p:nvSpPr>
          <p:cNvPr id="18" name="Text 15"/>
          <p:cNvSpPr txBox="1"/>
          <p:nvPr/>
        </p:nvSpPr>
        <p:spPr>
          <a:xfrm>
            <a:off x="9307068" y="1874520"/>
            <a:ext cx="228752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tens on the LEFT</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١٥</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15 — fifteen, not fifty-one.</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١</a:t>
            </a:r>
            <a:pPr algn="l" indent="0" marL="0">
              <a:buNone/>
            </a:pPr>
            <a:r>
              <a:rPr lang="en-US" sz="1100" dirty="0">
                <a:solidFill>
                  <a:srgbClr val="1F2A37"/>
                </a:solidFill>
                <a:latin typeface="Calibri" pitchFamily="34" charset="0"/>
                <a:cs typeface="Amiri" pitchFamily="2" charset="-78"/>
              </a:rPr>
              <a:t> = 1 ten · </a:t>
            </a:r>
            <a:pPr algn="l" indent="0" marL="0">
              <a:buNone/>
            </a:pPr>
            <a:r>
              <a:rPr lang="ar-SA" altLang="en-US" sz="1450" dirty="0">
                <a:solidFill>
                  <a:srgbClr val="1F2A37"/>
                </a:solidFill>
                <a:latin typeface="Amiri" pitchFamily="2" charset="-78"/>
                <a:ea typeface="Amiri" pitchFamily="2" charset="-78"/>
                <a:cs typeface="Amiri" pitchFamily="2" charset="-78"/>
              </a:rPr>
              <a:t>٥</a:t>
            </a:r>
            <a:pPr algn="l" indent="0" marL="0">
              <a:buNone/>
            </a:pPr>
            <a:r>
              <a:rPr lang="en-US" sz="1100" dirty="0">
                <a:solidFill>
                  <a:srgbClr val="1F2A37"/>
                </a:solidFill>
                <a:latin typeface="Calibri" pitchFamily="34" charset="0"/>
                <a:cs typeface="Amiri" pitchFamily="2" charset="-78"/>
              </a:rPr>
              <a:t> = 5 ones.</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16586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IN A SENTENCE</a:t>
            </a:r>
            <a:endParaRPr lang="en-US" sz="850" dirty="0"/>
          </a:p>
        </p:txBody>
      </p:sp>
      <p:sp>
        <p:nvSpPr>
          <p:cNvPr id="26" name="Text 23"/>
          <p:cNvSpPr txBox="1"/>
          <p:nvPr/>
        </p:nvSpPr>
        <p:spPr>
          <a:xfrm>
            <a:off x="5625084" y="1874520"/>
            <a:ext cx="2150364" cy="365760"/>
          </a:xfrm>
          <a:prstGeom prst="rect">
            <a:avLst/>
          </a:prstGeom>
          <a:noFill/>
          <a:ln/>
        </p:spPr>
        <p:txBody>
          <a:bodyPr wrap="square" lIns="0" tIns="0" rIns="0" bIns="0" rtlCol="0" anchor="ctr"/>
          <a:lstStyle/>
          <a:p>
            <a:pPr algn="l" indent="0" marL="0">
              <a:buNone/>
            </a:pPr>
            <a:r>
              <a:rPr lang="en-US" sz="1250" b="1" dirty="0">
                <a:solidFill>
                  <a:srgbClr val="8A6D1E"/>
                </a:solidFill>
                <a:latin typeface="Calibri" pitchFamily="34" charset="0"/>
                <a:cs typeface="Amiri" pitchFamily="2" charset="-78"/>
              </a:rPr>
              <a:t>read the words right → left</a:t>
            </a:r>
            <a:endParaRPr lang="en-US" sz="125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السِّعْرُ ١٥</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price is 15.</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sentence runs right to left; the number stays as it is.</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82296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SEPARATE</a:t>
            </a:r>
            <a:endParaRPr lang="en-US" sz="850" dirty="0"/>
          </a:p>
        </p:txBody>
      </p:sp>
      <p:sp>
        <p:nvSpPr>
          <p:cNvPr id="34" name="Text 31"/>
          <p:cNvSpPr txBox="1"/>
          <p:nvPr/>
        </p:nvSpPr>
        <p:spPr>
          <a:xfrm>
            <a:off x="1463040" y="1874520"/>
            <a:ext cx="249326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digits never join</a:t>
            </a:r>
            <a:endParaRPr lang="en-US"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٢٠٢٦</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2026 — each digit is a separate symbol.</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They do not join to each other or to letters.</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cs typeface="Amiri" pitchFamily="2" charset="-78"/>
              </a:rPr>
              <a:t>TEACHER INSTRUCTION · COUNT FROM ZERO TO TEN (WEBSITE CORE NUMBER WORDS)</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Numbers 0–5</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صِفْرٍ إِلَى عَشَرَةٍ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433304" y="1810512"/>
            <a:ext cx="1225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Value</a:t>
            </a:r>
            <a:endParaRPr lang="en-US" sz="1100" dirty="0"/>
          </a:p>
        </p:txBody>
      </p:sp>
      <p:sp>
        <p:nvSpPr>
          <p:cNvPr id="17" name="Text 14"/>
          <p:cNvSpPr txBox="1"/>
          <p:nvPr/>
        </p:nvSpPr>
        <p:spPr>
          <a:xfrm>
            <a:off x="8787384"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Numeral</a:t>
            </a:r>
            <a:endParaRPr lang="en-US" sz="1100" dirty="0"/>
          </a:p>
        </p:txBody>
      </p:sp>
      <p:sp>
        <p:nvSpPr>
          <p:cNvPr id="18" name="Text 15"/>
          <p:cNvSpPr txBox="1"/>
          <p:nvPr/>
        </p:nvSpPr>
        <p:spPr>
          <a:xfrm>
            <a:off x="512978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word</a:t>
            </a:r>
            <a:endParaRPr lang="en-US" sz="1100" dirty="0"/>
          </a:p>
        </p:txBody>
      </p:sp>
      <p:sp>
        <p:nvSpPr>
          <p:cNvPr id="19" name="Shape 16"/>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0" name="Text 17"/>
          <p:cNvSpPr txBox="1"/>
          <p:nvPr/>
        </p:nvSpPr>
        <p:spPr>
          <a:xfrm>
            <a:off x="10469880" y="2267712"/>
            <a:ext cx="11887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0</a:t>
            </a:r>
            <a:endParaRPr lang="en-US" sz="1100" dirty="0"/>
          </a:p>
        </p:txBody>
      </p:sp>
      <p:sp>
        <p:nvSpPr>
          <p:cNvPr id="21" name="Text 18"/>
          <p:cNvSpPr txBox="1"/>
          <p:nvPr/>
        </p:nvSpPr>
        <p:spPr>
          <a:xfrm>
            <a:off x="8805672" y="2267712"/>
            <a:ext cx="146304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٠</a:t>
            </a:r>
            <a:endParaRPr lang="ar-SA" sz="2900" dirty="0"/>
          </a:p>
        </p:txBody>
      </p:sp>
      <p:sp>
        <p:nvSpPr>
          <p:cNvPr id="22" name="Text 19"/>
          <p:cNvSpPr txBox="1"/>
          <p:nvPr/>
        </p:nvSpPr>
        <p:spPr>
          <a:xfrm>
            <a:off x="5148072" y="2286000"/>
            <a:ext cx="34747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صِفْرٌ</a:t>
            </a:r>
            <a:endParaRPr lang="ar-SA" sz="1800" dirty="0"/>
          </a:p>
        </p:txBody>
      </p:sp>
      <p:sp>
        <p:nvSpPr>
          <p:cNvPr id="23" name="Text 20"/>
          <p:cNvSpPr txBox="1"/>
          <p:nvPr/>
        </p:nvSpPr>
        <p:spPr>
          <a:xfrm>
            <a:off x="5102352" y="2644445"/>
            <a:ext cx="35661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ṣifr</a:t>
            </a:r>
            <a:endParaRPr lang="en-US" sz="95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7" name="Text 24"/>
          <p:cNvSpPr txBox="1"/>
          <p:nvPr/>
        </p:nvSpPr>
        <p:spPr>
          <a:xfrm>
            <a:off x="10469880" y="2950464"/>
            <a:ext cx="11887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8" name="Text 25"/>
          <p:cNvSpPr txBox="1"/>
          <p:nvPr/>
        </p:nvSpPr>
        <p:spPr>
          <a:xfrm>
            <a:off x="8805672" y="2950464"/>
            <a:ext cx="146304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١</a:t>
            </a:r>
            <a:endParaRPr lang="ar-SA" sz="2900" dirty="0"/>
          </a:p>
        </p:txBody>
      </p:sp>
      <p:sp>
        <p:nvSpPr>
          <p:cNvPr id="29" name="Text 26"/>
          <p:cNvSpPr txBox="1"/>
          <p:nvPr/>
        </p:nvSpPr>
        <p:spPr>
          <a:xfrm>
            <a:off x="5148072" y="2968752"/>
            <a:ext cx="34747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وَاحِدٌ</a:t>
            </a:r>
            <a:endParaRPr lang="ar-SA" sz="1800" dirty="0"/>
          </a:p>
        </p:txBody>
      </p:sp>
      <p:sp>
        <p:nvSpPr>
          <p:cNvPr id="30" name="Text 27"/>
          <p:cNvSpPr txBox="1"/>
          <p:nvPr/>
        </p:nvSpPr>
        <p:spPr>
          <a:xfrm>
            <a:off x="5102352" y="3327197"/>
            <a:ext cx="35661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wāḥid</a:t>
            </a:r>
            <a:endParaRPr lang="en-US" sz="950" dirty="0"/>
          </a:p>
        </p:txBody>
      </p:sp>
      <p:sp>
        <p:nvSpPr>
          <p:cNvPr id="31" name="Shape 28"/>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4" name="Text 31"/>
          <p:cNvSpPr txBox="1"/>
          <p:nvPr/>
        </p:nvSpPr>
        <p:spPr>
          <a:xfrm>
            <a:off x="10469880" y="3633216"/>
            <a:ext cx="11887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Text 32"/>
          <p:cNvSpPr txBox="1"/>
          <p:nvPr/>
        </p:nvSpPr>
        <p:spPr>
          <a:xfrm>
            <a:off x="8805672" y="3633216"/>
            <a:ext cx="146304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٢</a:t>
            </a:r>
            <a:endParaRPr lang="ar-SA" sz="2900" dirty="0"/>
          </a:p>
        </p:txBody>
      </p:sp>
      <p:sp>
        <p:nvSpPr>
          <p:cNvPr id="36" name="Text 33"/>
          <p:cNvSpPr txBox="1"/>
          <p:nvPr/>
        </p:nvSpPr>
        <p:spPr>
          <a:xfrm>
            <a:off x="5148072" y="3651504"/>
            <a:ext cx="34747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اِثْنَانِ</a:t>
            </a:r>
            <a:endParaRPr lang="ar-SA" sz="1800" dirty="0"/>
          </a:p>
        </p:txBody>
      </p:sp>
      <p:sp>
        <p:nvSpPr>
          <p:cNvPr id="37" name="Text 34"/>
          <p:cNvSpPr txBox="1"/>
          <p:nvPr/>
        </p:nvSpPr>
        <p:spPr>
          <a:xfrm>
            <a:off x="5102352" y="4009949"/>
            <a:ext cx="35661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ithnān</a:t>
            </a:r>
            <a:endParaRPr lang="en-US" sz="950" dirty="0"/>
          </a:p>
        </p:txBody>
      </p:sp>
      <p:sp>
        <p:nvSpPr>
          <p:cNvPr id="38" name="Shape 35"/>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41" name="Text 38"/>
          <p:cNvSpPr txBox="1"/>
          <p:nvPr/>
        </p:nvSpPr>
        <p:spPr>
          <a:xfrm>
            <a:off x="10469880" y="4315968"/>
            <a:ext cx="11887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2" name="Text 39"/>
          <p:cNvSpPr txBox="1"/>
          <p:nvPr/>
        </p:nvSpPr>
        <p:spPr>
          <a:xfrm>
            <a:off x="8805672" y="4315968"/>
            <a:ext cx="146304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٣</a:t>
            </a:r>
            <a:endParaRPr lang="ar-SA" sz="2900" dirty="0"/>
          </a:p>
        </p:txBody>
      </p:sp>
      <p:sp>
        <p:nvSpPr>
          <p:cNvPr id="43" name="Text 40"/>
          <p:cNvSpPr txBox="1"/>
          <p:nvPr/>
        </p:nvSpPr>
        <p:spPr>
          <a:xfrm>
            <a:off x="5148072" y="4334256"/>
            <a:ext cx="34747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ثَلَاثَةٌ</a:t>
            </a:r>
            <a:endParaRPr lang="ar-SA" sz="1800" dirty="0"/>
          </a:p>
        </p:txBody>
      </p:sp>
      <p:sp>
        <p:nvSpPr>
          <p:cNvPr id="44" name="Text 41"/>
          <p:cNvSpPr txBox="1"/>
          <p:nvPr/>
        </p:nvSpPr>
        <p:spPr>
          <a:xfrm>
            <a:off x="5102352" y="4692701"/>
            <a:ext cx="35661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thalātha</a:t>
            </a:r>
            <a:endParaRPr lang="en-US" sz="950" dirty="0"/>
          </a:p>
        </p:txBody>
      </p:sp>
      <p:sp>
        <p:nvSpPr>
          <p:cNvPr id="45" name="Shape 42"/>
          <p:cNvSpPr/>
          <p:nvPr/>
        </p:nvSpPr>
        <p:spPr>
          <a:xfrm>
            <a:off x="11091672" y="4361688"/>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436168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7" name="Shape 44"/>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48" name="Text 45"/>
          <p:cNvSpPr txBox="1"/>
          <p:nvPr/>
        </p:nvSpPr>
        <p:spPr>
          <a:xfrm>
            <a:off x="10469880" y="4998720"/>
            <a:ext cx="11887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8805672" y="4998720"/>
            <a:ext cx="146304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٤</a:t>
            </a:r>
            <a:endParaRPr lang="ar-SA" sz="2900" dirty="0"/>
          </a:p>
        </p:txBody>
      </p:sp>
      <p:sp>
        <p:nvSpPr>
          <p:cNvPr id="50" name="Text 47"/>
          <p:cNvSpPr txBox="1"/>
          <p:nvPr/>
        </p:nvSpPr>
        <p:spPr>
          <a:xfrm>
            <a:off x="5148072" y="5017008"/>
            <a:ext cx="34747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أَرْبَعَةٌ</a:t>
            </a:r>
            <a:endParaRPr lang="ar-SA" sz="1800" dirty="0"/>
          </a:p>
        </p:txBody>
      </p:sp>
      <p:sp>
        <p:nvSpPr>
          <p:cNvPr id="51" name="Text 48"/>
          <p:cNvSpPr txBox="1"/>
          <p:nvPr/>
        </p:nvSpPr>
        <p:spPr>
          <a:xfrm>
            <a:off x="5102352" y="5375453"/>
            <a:ext cx="35661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arbaʿa</a:t>
            </a:r>
            <a:endParaRPr lang="en-US" sz="950" dirty="0"/>
          </a:p>
        </p:txBody>
      </p:sp>
      <p:sp>
        <p:nvSpPr>
          <p:cNvPr id="52" name="Shape 49"/>
          <p:cNvSpPr/>
          <p:nvPr/>
        </p:nvSpPr>
        <p:spPr>
          <a:xfrm>
            <a:off x="11091672" y="5044440"/>
            <a:ext cx="548640" cy="182880"/>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11091672" y="504444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4" name="Shape 51"/>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55" name="Text 52"/>
          <p:cNvSpPr txBox="1"/>
          <p:nvPr/>
        </p:nvSpPr>
        <p:spPr>
          <a:xfrm>
            <a:off x="10469880" y="5681472"/>
            <a:ext cx="118872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6" name="Text 53"/>
          <p:cNvSpPr txBox="1"/>
          <p:nvPr/>
        </p:nvSpPr>
        <p:spPr>
          <a:xfrm>
            <a:off x="8805672" y="5681472"/>
            <a:ext cx="146304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٥</a:t>
            </a:r>
            <a:endParaRPr lang="ar-SA" sz="2900" dirty="0"/>
          </a:p>
        </p:txBody>
      </p:sp>
      <p:sp>
        <p:nvSpPr>
          <p:cNvPr id="57" name="Text 54"/>
          <p:cNvSpPr txBox="1"/>
          <p:nvPr/>
        </p:nvSpPr>
        <p:spPr>
          <a:xfrm>
            <a:off x="5148072" y="5699760"/>
            <a:ext cx="347472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خَمْسَةٌ</a:t>
            </a:r>
            <a:endParaRPr lang="ar-SA" sz="1800" dirty="0"/>
          </a:p>
        </p:txBody>
      </p:sp>
      <p:sp>
        <p:nvSpPr>
          <p:cNvPr id="58" name="Text 55"/>
          <p:cNvSpPr txBox="1"/>
          <p:nvPr/>
        </p:nvSpPr>
        <p:spPr>
          <a:xfrm>
            <a:off x="5102352" y="6058205"/>
            <a:ext cx="356616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khamsa</a:t>
            </a:r>
            <a:endParaRPr lang="en-US" sz="950" dirty="0"/>
          </a:p>
        </p:txBody>
      </p:sp>
      <p:sp>
        <p:nvSpPr>
          <p:cNvPr id="59" name="Shape 56"/>
          <p:cNvSpPr/>
          <p:nvPr/>
        </p:nvSpPr>
        <p:spPr>
          <a:xfrm>
            <a:off x="11091672" y="5727192"/>
            <a:ext cx="548640" cy="182880"/>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11091672" y="57271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TEACHER INSTRUCTION · COUNT TO TEN, PART 2 (WEBSITE CORE NUMBER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Numbers 6–10</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صِفْرٍ إِلَى عَشَرَةٍ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433304" y="1810512"/>
            <a:ext cx="1225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Value</a:t>
            </a:r>
            <a:endParaRPr lang="en-US" sz="1100" dirty="0"/>
          </a:p>
        </p:txBody>
      </p:sp>
      <p:sp>
        <p:nvSpPr>
          <p:cNvPr id="17" name="Text 14"/>
          <p:cNvSpPr txBox="1"/>
          <p:nvPr/>
        </p:nvSpPr>
        <p:spPr>
          <a:xfrm>
            <a:off x="8787384"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Numeral</a:t>
            </a:r>
            <a:endParaRPr lang="en-US" sz="1100" dirty="0"/>
          </a:p>
        </p:txBody>
      </p:sp>
      <p:sp>
        <p:nvSpPr>
          <p:cNvPr id="18" name="Text 15"/>
          <p:cNvSpPr txBox="1"/>
          <p:nvPr/>
        </p:nvSpPr>
        <p:spPr>
          <a:xfrm>
            <a:off x="512978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word</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469880" y="2267712"/>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21" name="Text 18"/>
          <p:cNvSpPr txBox="1"/>
          <p:nvPr/>
        </p:nvSpPr>
        <p:spPr>
          <a:xfrm>
            <a:off x="8805672" y="2267712"/>
            <a:ext cx="146304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٦</a:t>
            </a:r>
            <a:endParaRPr lang="ar-SA" sz="3200" dirty="0"/>
          </a:p>
        </p:txBody>
      </p:sp>
      <p:sp>
        <p:nvSpPr>
          <p:cNvPr id="22" name="Text 19"/>
          <p:cNvSpPr txBox="1"/>
          <p:nvPr/>
        </p:nvSpPr>
        <p:spPr>
          <a:xfrm>
            <a:off x="5148072" y="2286000"/>
            <a:ext cx="34747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سِتَّةٌ</a:t>
            </a:r>
            <a:endParaRPr lang="ar-SA" sz="2100" dirty="0"/>
          </a:p>
        </p:txBody>
      </p:sp>
      <p:sp>
        <p:nvSpPr>
          <p:cNvPr id="23" name="Text 20"/>
          <p:cNvSpPr txBox="1"/>
          <p:nvPr/>
        </p:nvSpPr>
        <p:spPr>
          <a:xfrm>
            <a:off x="5102352" y="2706624"/>
            <a:ext cx="35661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sitta · doubled t</a:t>
            </a:r>
            <a:endParaRPr lang="en-US" sz="95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7" name="Text 24"/>
          <p:cNvSpPr txBox="1"/>
          <p:nvPr/>
        </p:nvSpPr>
        <p:spPr>
          <a:xfrm>
            <a:off x="10469880" y="3054096"/>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28" name="Text 25"/>
          <p:cNvSpPr txBox="1"/>
          <p:nvPr/>
        </p:nvSpPr>
        <p:spPr>
          <a:xfrm>
            <a:off x="8805672" y="3054096"/>
            <a:ext cx="146304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٧</a:t>
            </a:r>
            <a:endParaRPr lang="ar-SA" sz="3200" dirty="0"/>
          </a:p>
        </p:txBody>
      </p:sp>
      <p:sp>
        <p:nvSpPr>
          <p:cNvPr id="29" name="Text 26"/>
          <p:cNvSpPr txBox="1"/>
          <p:nvPr/>
        </p:nvSpPr>
        <p:spPr>
          <a:xfrm>
            <a:off x="5148072" y="3072384"/>
            <a:ext cx="34747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سَبْعَةٌ</a:t>
            </a:r>
            <a:endParaRPr lang="ar-SA" sz="2100" dirty="0"/>
          </a:p>
        </p:txBody>
      </p:sp>
      <p:sp>
        <p:nvSpPr>
          <p:cNvPr id="30" name="Text 27"/>
          <p:cNvSpPr txBox="1"/>
          <p:nvPr/>
        </p:nvSpPr>
        <p:spPr>
          <a:xfrm>
            <a:off x="5102352" y="3493008"/>
            <a:ext cx="35661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sabʿa</a:t>
            </a:r>
            <a:endParaRPr lang="en-US" sz="950" dirty="0"/>
          </a:p>
        </p:txBody>
      </p:sp>
      <p:sp>
        <p:nvSpPr>
          <p:cNvPr id="31" name="Shape 28"/>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4" name="Text 31"/>
          <p:cNvSpPr txBox="1"/>
          <p:nvPr/>
        </p:nvSpPr>
        <p:spPr>
          <a:xfrm>
            <a:off x="10469880" y="3840480"/>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35" name="Text 32"/>
          <p:cNvSpPr txBox="1"/>
          <p:nvPr/>
        </p:nvSpPr>
        <p:spPr>
          <a:xfrm>
            <a:off x="8805672" y="3840480"/>
            <a:ext cx="146304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٨</a:t>
            </a:r>
            <a:endParaRPr lang="ar-SA" sz="3200" dirty="0"/>
          </a:p>
        </p:txBody>
      </p:sp>
      <p:sp>
        <p:nvSpPr>
          <p:cNvPr id="36" name="Text 33"/>
          <p:cNvSpPr txBox="1"/>
          <p:nvPr/>
        </p:nvSpPr>
        <p:spPr>
          <a:xfrm>
            <a:off x="5148072" y="3858768"/>
            <a:ext cx="34747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ثَمَانِيَةٌ</a:t>
            </a:r>
            <a:endParaRPr lang="ar-SA" sz="2100" dirty="0"/>
          </a:p>
        </p:txBody>
      </p:sp>
      <p:sp>
        <p:nvSpPr>
          <p:cNvPr id="37" name="Text 34"/>
          <p:cNvSpPr txBox="1"/>
          <p:nvPr/>
        </p:nvSpPr>
        <p:spPr>
          <a:xfrm>
            <a:off x="5102352" y="4279392"/>
            <a:ext cx="35661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thamāniya</a:t>
            </a:r>
            <a:endParaRPr lang="en-US" sz="950" dirty="0"/>
          </a:p>
        </p:txBody>
      </p:sp>
      <p:sp>
        <p:nvSpPr>
          <p:cNvPr id="38" name="Shape 35"/>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1" name="Text 38"/>
          <p:cNvSpPr txBox="1"/>
          <p:nvPr/>
        </p:nvSpPr>
        <p:spPr>
          <a:xfrm>
            <a:off x="10469880" y="4626864"/>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9</a:t>
            </a:r>
            <a:endParaRPr lang="en-US" sz="1100" dirty="0"/>
          </a:p>
        </p:txBody>
      </p:sp>
      <p:sp>
        <p:nvSpPr>
          <p:cNvPr id="42" name="Text 39"/>
          <p:cNvSpPr txBox="1"/>
          <p:nvPr/>
        </p:nvSpPr>
        <p:spPr>
          <a:xfrm>
            <a:off x="8805672" y="4626864"/>
            <a:ext cx="146304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٩</a:t>
            </a:r>
            <a:endParaRPr lang="ar-SA" sz="3200" dirty="0"/>
          </a:p>
        </p:txBody>
      </p:sp>
      <p:sp>
        <p:nvSpPr>
          <p:cNvPr id="43" name="Text 40"/>
          <p:cNvSpPr txBox="1"/>
          <p:nvPr/>
        </p:nvSpPr>
        <p:spPr>
          <a:xfrm>
            <a:off x="5148072" y="4645152"/>
            <a:ext cx="34747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تِسْعَةٌ</a:t>
            </a:r>
            <a:endParaRPr lang="ar-SA" sz="2100" dirty="0"/>
          </a:p>
        </p:txBody>
      </p:sp>
      <p:sp>
        <p:nvSpPr>
          <p:cNvPr id="44" name="Text 41"/>
          <p:cNvSpPr txBox="1"/>
          <p:nvPr/>
        </p:nvSpPr>
        <p:spPr>
          <a:xfrm>
            <a:off x="5102352" y="5065776"/>
            <a:ext cx="35661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tisʿa</a:t>
            </a:r>
            <a:endParaRPr lang="en-US" sz="950" dirty="0"/>
          </a:p>
        </p:txBody>
      </p:sp>
      <p:sp>
        <p:nvSpPr>
          <p:cNvPr id="45" name="Shape 42"/>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7" name="Shape 44"/>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8" name="Text 45"/>
          <p:cNvSpPr txBox="1"/>
          <p:nvPr/>
        </p:nvSpPr>
        <p:spPr>
          <a:xfrm>
            <a:off x="10469880" y="5413248"/>
            <a:ext cx="1188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9" name="Text 46"/>
          <p:cNvSpPr txBox="1"/>
          <p:nvPr/>
        </p:nvSpPr>
        <p:spPr>
          <a:xfrm>
            <a:off x="8805672" y="5413248"/>
            <a:ext cx="146304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١٠</a:t>
            </a:r>
            <a:endParaRPr lang="ar-SA" sz="3200" dirty="0"/>
          </a:p>
        </p:txBody>
      </p:sp>
      <p:sp>
        <p:nvSpPr>
          <p:cNvPr id="50" name="Text 47"/>
          <p:cNvSpPr txBox="1"/>
          <p:nvPr/>
        </p:nvSpPr>
        <p:spPr>
          <a:xfrm>
            <a:off x="5148072" y="5431536"/>
            <a:ext cx="34747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عَشَرَةٌ</a:t>
            </a:r>
            <a:endParaRPr lang="ar-SA" sz="2100" dirty="0"/>
          </a:p>
        </p:txBody>
      </p:sp>
      <p:sp>
        <p:nvSpPr>
          <p:cNvPr id="51" name="Text 48"/>
          <p:cNvSpPr txBox="1"/>
          <p:nvPr/>
        </p:nvSpPr>
        <p:spPr>
          <a:xfrm>
            <a:off x="5102352" y="5852160"/>
            <a:ext cx="35661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ʿashara</a:t>
            </a:r>
            <a:endParaRPr lang="en-US" sz="950" dirty="0"/>
          </a:p>
        </p:txBody>
      </p:sp>
      <p:sp>
        <p:nvSpPr>
          <p:cNvPr id="52" name="Shape 49"/>
          <p:cNvSpPr/>
          <p:nvPr/>
        </p:nvSpPr>
        <p:spPr>
          <a:xfrm>
            <a:off x="11091672" y="5458968"/>
            <a:ext cx="548640" cy="182880"/>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11091672" y="545896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TEACHER INSTRUCTION · DEVELOP · NUMBERS 11–20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Numbers 11–20: unit + ten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أَحَدَ عَشَرَ إِلَى عِشْرِينَ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524744"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Value</a:t>
            </a:r>
            <a:endParaRPr lang="en-US" sz="1100" dirty="0"/>
          </a:p>
        </p:txBody>
      </p:sp>
      <p:sp>
        <p:nvSpPr>
          <p:cNvPr id="17" name="Text 14"/>
          <p:cNvSpPr txBox="1"/>
          <p:nvPr/>
        </p:nvSpPr>
        <p:spPr>
          <a:xfrm>
            <a:off x="8878824"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Numeral</a:t>
            </a:r>
            <a:endParaRPr lang="en-US" sz="1100" dirty="0"/>
          </a:p>
        </p:txBody>
      </p:sp>
      <p:sp>
        <p:nvSpPr>
          <p:cNvPr id="18" name="Text 15"/>
          <p:cNvSpPr txBox="1"/>
          <p:nvPr/>
        </p:nvSpPr>
        <p:spPr>
          <a:xfrm>
            <a:off x="5586984"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Counting form</a:t>
            </a:r>
            <a:endParaRPr lang="en-US" sz="1100" dirty="0"/>
          </a:p>
        </p:txBody>
      </p:sp>
      <p:sp>
        <p:nvSpPr>
          <p:cNvPr id="19" name="Text 16"/>
          <p:cNvSpPr txBox="1"/>
          <p:nvPr/>
        </p:nvSpPr>
        <p:spPr>
          <a:xfrm>
            <a:off x="357530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20" name="Shape 17"/>
          <p:cNvSpPr/>
          <p:nvPr/>
        </p:nvSpPr>
        <p:spPr>
          <a:xfrm>
            <a:off x="457200" y="2267712"/>
            <a:ext cx="11274552" cy="354787"/>
          </a:xfrm>
          <a:prstGeom prst="roundRect">
            <a:avLst>
              <a:gd name="adj" fmla="val 12887"/>
            </a:avLst>
          </a:prstGeom>
          <a:solidFill>
            <a:srgbClr val="FFFFFF"/>
          </a:solidFill>
          <a:ln w="9525">
            <a:solidFill>
              <a:srgbClr val="D8D0BF"/>
            </a:solidFill>
            <a:prstDash val="solid"/>
          </a:ln>
        </p:spPr>
      </p:sp>
      <p:sp>
        <p:nvSpPr>
          <p:cNvPr id="21" name="Text 18"/>
          <p:cNvSpPr txBox="1"/>
          <p:nvPr/>
        </p:nvSpPr>
        <p:spPr>
          <a:xfrm>
            <a:off x="10561320" y="2267712"/>
            <a:ext cx="10972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11</a:t>
            </a:r>
            <a:endParaRPr lang="en-US" sz="1100" dirty="0"/>
          </a:p>
        </p:txBody>
      </p:sp>
      <p:sp>
        <p:nvSpPr>
          <p:cNvPr id="22" name="Text 19"/>
          <p:cNvSpPr txBox="1"/>
          <p:nvPr/>
        </p:nvSpPr>
        <p:spPr>
          <a:xfrm>
            <a:off x="8897112" y="2267712"/>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١١</a:t>
            </a:r>
            <a:endParaRPr lang="ar-SA" sz="1650" dirty="0"/>
          </a:p>
        </p:txBody>
      </p:sp>
      <p:sp>
        <p:nvSpPr>
          <p:cNvPr id="23" name="Text 20"/>
          <p:cNvSpPr txBox="1"/>
          <p:nvPr/>
        </p:nvSpPr>
        <p:spPr>
          <a:xfrm>
            <a:off x="5605272" y="2267712"/>
            <a:ext cx="310896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أَحَدَ عَشَرَ</a:t>
            </a:r>
            <a:endParaRPr lang="ar-SA" sz="1650" dirty="0"/>
          </a:p>
        </p:txBody>
      </p:sp>
      <p:sp>
        <p:nvSpPr>
          <p:cNvPr id="24" name="Text 21"/>
          <p:cNvSpPr txBox="1"/>
          <p:nvPr/>
        </p:nvSpPr>
        <p:spPr>
          <a:xfrm>
            <a:off x="3611880" y="2267712"/>
            <a:ext cx="18288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 ten (own start)</a:t>
            </a:r>
            <a:endParaRPr lang="en-US" sz="1100" dirty="0"/>
          </a:p>
        </p:txBody>
      </p:sp>
      <p:sp>
        <p:nvSpPr>
          <p:cNvPr id="25" name="Shape 22"/>
          <p:cNvSpPr/>
          <p:nvPr/>
        </p:nvSpPr>
        <p:spPr>
          <a:xfrm>
            <a:off x="457200" y="2677363"/>
            <a:ext cx="11274552" cy="354787"/>
          </a:xfrm>
          <a:prstGeom prst="roundRect">
            <a:avLst>
              <a:gd name="adj" fmla="val 12887"/>
            </a:avLst>
          </a:prstGeom>
          <a:solidFill>
            <a:srgbClr val="F4F1EA"/>
          </a:solidFill>
          <a:ln w="9525">
            <a:solidFill>
              <a:srgbClr val="D8D0BF"/>
            </a:solidFill>
            <a:prstDash val="solid"/>
          </a:ln>
        </p:spPr>
      </p:sp>
      <p:sp>
        <p:nvSpPr>
          <p:cNvPr id="26" name="Text 23"/>
          <p:cNvSpPr txBox="1"/>
          <p:nvPr/>
        </p:nvSpPr>
        <p:spPr>
          <a:xfrm>
            <a:off x="10561320" y="2677363"/>
            <a:ext cx="10972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12</a:t>
            </a:r>
            <a:endParaRPr lang="en-US" sz="1100" dirty="0"/>
          </a:p>
        </p:txBody>
      </p:sp>
      <p:sp>
        <p:nvSpPr>
          <p:cNvPr id="27" name="Text 24"/>
          <p:cNvSpPr txBox="1"/>
          <p:nvPr/>
        </p:nvSpPr>
        <p:spPr>
          <a:xfrm>
            <a:off x="8897112" y="2677363"/>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١٢</a:t>
            </a:r>
            <a:endParaRPr lang="ar-SA" sz="1650" dirty="0"/>
          </a:p>
        </p:txBody>
      </p:sp>
      <p:sp>
        <p:nvSpPr>
          <p:cNvPr id="28" name="Text 25"/>
          <p:cNvSpPr txBox="1"/>
          <p:nvPr/>
        </p:nvSpPr>
        <p:spPr>
          <a:xfrm>
            <a:off x="5605272" y="2677363"/>
            <a:ext cx="310896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اِثْنَا عَشَرَ</a:t>
            </a:r>
            <a:endParaRPr lang="ar-SA" sz="1650" dirty="0"/>
          </a:p>
        </p:txBody>
      </p:sp>
      <p:sp>
        <p:nvSpPr>
          <p:cNvPr id="29" name="Text 26"/>
          <p:cNvSpPr txBox="1"/>
          <p:nvPr/>
        </p:nvSpPr>
        <p:spPr>
          <a:xfrm>
            <a:off x="3611880" y="2677363"/>
            <a:ext cx="18288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 ten (own start)</a:t>
            </a:r>
            <a:endParaRPr lang="en-US" sz="1100" dirty="0"/>
          </a:p>
        </p:txBody>
      </p:sp>
      <p:sp>
        <p:nvSpPr>
          <p:cNvPr id="30" name="Shape 27"/>
          <p:cNvSpPr/>
          <p:nvPr/>
        </p:nvSpPr>
        <p:spPr>
          <a:xfrm>
            <a:off x="457200" y="3087014"/>
            <a:ext cx="11274552" cy="354787"/>
          </a:xfrm>
          <a:prstGeom prst="roundRect">
            <a:avLst>
              <a:gd name="adj" fmla="val 12887"/>
            </a:avLst>
          </a:prstGeom>
          <a:solidFill>
            <a:srgbClr val="FFFFFF"/>
          </a:solidFill>
          <a:ln w="9525">
            <a:solidFill>
              <a:srgbClr val="D8D0BF"/>
            </a:solidFill>
            <a:prstDash val="solid"/>
          </a:ln>
        </p:spPr>
      </p:sp>
      <p:sp>
        <p:nvSpPr>
          <p:cNvPr id="31" name="Text 28"/>
          <p:cNvSpPr txBox="1"/>
          <p:nvPr/>
        </p:nvSpPr>
        <p:spPr>
          <a:xfrm>
            <a:off x="10561320" y="3087014"/>
            <a:ext cx="10972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13</a:t>
            </a:r>
            <a:endParaRPr lang="en-US" sz="1100" dirty="0"/>
          </a:p>
        </p:txBody>
      </p:sp>
      <p:sp>
        <p:nvSpPr>
          <p:cNvPr id="32" name="Text 29"/>
          <p:cNvSpPr txBox="1"/>
          <p:nvPr/>
        </p:nvSpPr>
        <p:spPr>
          <a:xfrm>
            <a:off x="8897112" y="3087014"/>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١٣</a:t>
            </a:r>
            <a:endParaRPr lang="ar-SA" sz="1650" dirty="0"/>
          </a:p>
        </p:txBody>
      </p:sp>
      <p:sp>
        <p:nvSpPr>
          <p:cNvPr id="33" name="Text 30"/>
          <p:cNvSpPr txBox="1"/>
          <p:nvPr/>
        </p:nvSpPr>
        <p:spPr>
          <a:xfrm>
            <a:off x="5605272" y="3087014"/>
            <a:ext cx="310896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ثَلَاثَةَ عَشَرَ</a:t>
            </a:r>
            <a:endParaRPr lang="ar-SA" sz="1650" dirty="0"/>
          </a:p>
        </p:txBody>
      </p:sp>
      <p:sp>
        <p:nvSpPr>
          <p:cNvPr id="34" name="Text 31"/>
          <p:cNvSpPr txBox="1"/>
          <p:nvPr/>
        </p:nvSpPr>
        <p:spPr>
          <a:xfrm>
            <a:off x="3611880" y="3087014"/>
            <a:ext cx="18288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 ten</a:t>
            </a:r>
            <a:endParaRPr lang="en-US" sz="1100" dirty="0"/>
          </a:p>
        </p:txBody>
      </p:sp>
      <p:sp>
        <p:nvSpPr>
          <p:cNvPr id="35" name="Shape 32"/>
          <p:cNvSpPr/>
          <p:nvPr/>
        </p:nvSpPr>
        <p:spPr>
          <a:xfrm>
            <a:off x="457200" y="3496666"/>
            <a:ext cx="11274552" cy="354787"/>
          </a:xfrm>
          <a:prstGeom prst="roundRect">
            <a:avLst>
              <a:gd name="adj" fmla="val 12887"/>
            </a:avLst>
          </a:prstGeom>
          <a:solidFill>
            <a:srgbClr val="F4F1EA"/>
          </a:solidFill>
          <a:ln w="9525">
            <a:solidFill>
              <a:srgbClr val="D8D0BF"/>
            </a:solidFill>
            <a:prstDash val="solid"/>
          </a:ln>
        </p:spPr>
      </p:sp>
      <p:sp>
        <p:nvSpPr>
          <p:cNvPr id="36" name="Text 33"/>
          <p:cNvSpPr txBox="1"/>
          <p:nvPr/>
        </p:nvSpPr>
        <p:spPr>
          <a:xfrm>
            <a:off x="10561320" y="3496666"/>
            <a:ext cx="10972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14</a:t>
            </a:r>
            <a:endParaRPr lang="en-US" sz="1100" dirty="0"/>
          </a:p>
        </p:txBody>
      </p:sp>
      <p:sp>
        <p:nvSpPr>
          <p:cNvPr id="37" name="Text 34"/>
          <p:cNvSpPr txBox="1"/>
          <p:nvPr/>
        </p:nvSpPr>
        <p:spPr>
          <a:xfrm>
            <a:off x="8897112" y="3496666"/>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١٤</a:t>
            </a:r>
            <a:endParaRPr lang="ar-SA" sz="1650" dirty="0"/>
          </a:p>
        </p:txBody>
      </p:sp>
      <p:sp>
        <p:nvSpPr>
          <p:cNvPr id="38" name="Text 35"/>
          <p:cNvSpPr txBox="1"/>
          <p:nvPr/>
        </p:nvSpPr>
        <p:spPr>
          <a:xfrm>
            <a:off x="5605272" y="3496666"/>
            <a:ext cx="310896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أَرْبَعَةَ عَشَرَ</a:t>
            </a:r>
            <a:endParaRPr lang="ar-SA" sz="1650" dirty="0"/>
          </a:p>
        </p:txBody>
      </p:sp>
      <p:sp>
        <p:nvSpPr>
          <p:cNvPr id="39" name="Text 36"/>
          <p:cNvSpPr txBox="1"/>
          <p:nvPr/>
        </p:nvSpPr>
        <p:spPr>
          <a:xfrm>
            <a:off x="3611880" y="3496666"/>
            <a:ext cx="18288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four + ten</a:t>
            </a:r>
            <a:endParaRPr lang="en-US" sz="1100" dirty="0"/>
          </a:p>
        </p:txBody>
      </p:sp>
      <p:sp>
        <p:nvSpPr>
          <p:cNvPr id="40" name="Shape 37"/>
          <p:cNvSpPr/>
          <p:nvPr/>
        </p:nvSpPr>
        <p:spPr>
          <a:xfrm>
            <a:off x="457200" y="3906317"/>
            <a:ext cx="11274552" cy="354787"/>
          </a:xfrm>
          <a:prstGeom prst="roundRect">
            <a:avLst>
              <a:gd name="adj" fmla="val 12887"/>
            </a:avLst>
          </a:prstGeom>
          <a:solidFill>
            <a:srgbClr val="FFFFFF"/>
          </a:solidFill>
          <a:ln w="9525">
            <a:solidFill>
              <a:srgbClr val="D8D0BF"/>
            </a:solidFill>
            <a:prstDash val="solid"/>
          </a:ln>
        </p:spPr>
      </p:sp>
      <p:sp>
        <p:nvSpPr>
          <p:cNvPr id="41" name="Text 38"/>
          <p:cNvSpPr txBox="1"/>
          <p:nvPr/>
        </p:nvSpPr>
        <p:spPr>
          <a:xfrm>
            <a:off x="10561320" y="3906317"/>
            <a:ext cx="10972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a:t>
            </a:r>
            <a:endParaRPr lang="en-US" sz="1100" dirty="0"/>
          </a:p>
        </p:txBody>
      </p:sp>
      <p:sp>
        <p:nvSpPr>
          <p:cNvPr id="42" name="Text 39"/>
          <p:cNvSpPr txBox="1"/>
          <p:nvPr/>
        </p:nvSpPr>
        <p:spPr>
          <a:xfrm>
            <a:off x="8897112" y="3906317"/>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١٥</a:t>
            </a:r>
            <a:endParaRPr lang="ar-SA" sz="1650" dirty="0"/>
          </a:p>
        </p:txBody>
      </p:sp>
      <p:sp>
        <p:nvSpPr>
          <p:cNvPr id="43" name="Text 40"/>
          <p:cNvSpPr txBox="1"/>
          <p:nvPr/>
        </p:nvSpPr>
        <p:spPr>
          <a:xfrm>
            <a:off x="5605272" y="3906317"/>
            <a:ext cx="310896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خَمْسَةَ عَشَرَ</a:t>
            </a:r>
            <a:endParaRPr lang="ar-SA" sz="1650" dirty="0"/>
          </a:p>
        </p:txBody>
      </p:sp>
      <p:sp>
        <p:nvSpPr>
          <p:cNvPr id="44" name="Text 41"/>
          <p:cNvSpPr txBox="1"/>
          <p:nvPr/>
        </p:nvSpPr>
        <p:spPr>
          <a:xfrm>
            <a:off x="3611880" y="3906317"/>
            <a:ext cx="18288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five + ten</a:t>
            </a:r>
            <a:endParaRPr lang="en-US" sz="1100" dirty="0"/>
          </a:p>
        </p:txBody>
      </p:sp>
      <p:sp>
        <p:nvSpPr>
          <p:cNvPr id="45" name="Shape 42"/>
          <p:cNvSpPr/>
          <p:nvPr/>
        </p:nvSpPr>
        <p:spPr>
          <a:xfrm>
            <a:off x="457200" y="4315968"/>
            <a:ext cx="11274552" cy="354787"/>
          </a:xfrm>
          <a:prstGeom prst="roundRect">
            <a:avLst>
              <a:gd name="adj" fmla="val 12887"/>
            </a:avLst>
          </a:prstGeom>
          <a:solidFill>
            <a:srgbClr val="F4F1EA"/>
          </a:solidFill>
          <a:ln w="9525">
            <a:solidFill>
              <a:srgbClr val="D8D0BF"/>
            </a:solidFill>
            <a:prstDash val="solid"/>
          </a:ln>
        </p:spPr>
      </p:sp>
      <p:sp>
        <p:nvSpPr>
          <p:cNvPr id="46" name="Text 43"/>
          <p:cNvSpPr txBox="1"/>
          <p:nvPr/>
        </p:nvSpPr>
        <p:spPr>
          <a:xfrm>
            <a:off x="10561320" y="4315968"/>
            <a:ext cx="10972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16</a:t>
            </a:r>
            <a:endParaRPr lang="en-US" sz="1100" dirty="0"/>
          </a:p>
        </p:txBody>
      </p:sp>
      <p:sp>
        <p:nvSpPr>
          <p:cNvPr id="47" name="Text 44"/>
          <p:cNvSpPr txBox="1"/>
          <p:nvPr/>
        </p:nvSpPr>
        <p:spPr>
          <a:xfrm>
            <a:off x="8897112" y="4315968"/>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١٦</a:t>
            </a:r>
            <a:endParaRPr lang="ar-SA" sz="1650" dirty="0"/>
          </a:p>
        </p:txBody>
      </p:sp>
      <p:sp>
        <p:nvSpPr>
          <p:cNvPr id="48" name="Text 45"/>
          <p:cNvSpPr txBox="1"/>
          <p:nvPr/>
        </p:nvSpPr>
        <p:spPr>
          <a:xfrm>
            <a:off x="5605272" y="4315968"/>
            <a:ext cx="310896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سِتَّةَ عَشَرَ</a:t>
            </a:r>
            <a:endParaRPr lang="ar-SA" sz="1650" dirty="0"/>
          </a:p>
        </p:txBody>
      </p:sp>
      <p:sp>
        <p:nvSpPr>
          <p:cNvPr id="49" name="Text 46"/>
          <p:cNvSpPr txBox="1"/>
          <p:nvPr/>
        </p:nvSpPr>
        <p:spPr>
          <a:xfrm>
            <a:off x="3611880" y="4315968"/>
            <a:ext cx="18288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six + ten</a:t>
            </a:r>
            <a:endParaRPr lang="en-US" sz="1100" dirty="0"/>
          </a:p>
        </p:txBody>
      </p:sp>
      <p:sp>
        <p:nvSpPr>
          <p:cNvPr id="50" name="Shape 47"/>
          <p:cNvSpPr/>
          <p:nvPr/>
        </p:nvSpPr>
        <p:spPr>
          <a:xfrm>
            <a:off x="457200" y="4725619"/>
            <a:ext cx="11274552" cy="354787"/>
          </a:xfrm>
          <a:prstGeom prst="roundRect">
            <a:avLst>
              <a:gd name="adj" fmla="val 12887"/>
            </a:avLst>
          </a:prstGeom>
          <a:solidFill>
            <a:srgbClr val="FFFFFF"/>
          </a:solidFill>
          <a:ln w="9525">
            <a:solidFill>
              <a:srgbClr val="D8D0BF"/>
            </a:solidFill>
            <a:prstDash val="solid"/>
          </a:ln>
        </p:spPr>
      </p:sp>
      <p:sp>
        <p:nvSpPr>
          <p:cNvPr id="51" name="Text 48"/>
          <p:cNvSpPr txBox="1"/>
          <p:nvPr/>
        </p:nvSpPr>
        <p:spPr>
          <a:xfrm>
            <a:off x="10561320" y="4725619"/>
            <a:ext cx="10972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17</a:t>
            </a:r>
            <a:endParaRPr lang="en-US" sz="1100" dirty="0"/>
          </a:p>
        </p:txBody>
      </p:sp>
      <p:sp>
        <p:nvSpPr>
          <p:cNvPr id="52" name="Text 49"/>
          <p:cNvSpPr txBox="1"/>
          <p:nvPr/>
        </p:nvSpPr>
        <p:spPr>
          <a:xfrm>
            <a:off x="8897112" y="4725619"/>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١٧</a:t>
            </a:r>
            <a:endParaRPr lang="ar-SA" sz="1650" dirty="0"/>
          </a:p>
        </p:txBody>
      </p:sp>
      <p:sp>
        <p:nvSpPr>
          <p:cNvPr id="53" name="Text 50"/>
          <p:cNvSpPr txBox="1"/>
          <p:nvPr/>
        </p:nvSpPr>
        <p:spPr>
          <a:xfrm>
            <a:off x="5605272" y="4725619"/>
            <a:ext cx="310896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سَبْعَةَ عَشَرَ</a:t>
            </a:r>
            <a:endParaRPr lang="ar-SA" sz="1650" dirty="0"/>
          </a:p>
        </p:txBody>
      </p:sp>
      <p:sp>
        <p:nvSpPr>
          <p:cNvPr id="54" name="Text 51"/>
          <p:cNvSpPr txBox="1"/>
          <p:nvPr/>
        </p:nvSpPr>
        <p:spPr>
          <a:xfrm>
            <a:off x="3611880" y="4725619"/>
            <a:ext cx="18288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seven + ten</a:t>
            </a:r>
            <a:endParaRPr lang="en-US" sz="1100" dirty="0"/>
          </a:p>
        </p:txBody>
      </p:sp>
      <p:sp>
        <p:nvSpPr>
          <p:cNvPr id="55" name="Shape 52"/>
          <p:cNvSpPr/>
          <p:nvPr/>
        </p:nvSpPr>
        <p:spPr>
          <a:xfrm>
            <a:off x="457200" y="5135270"/>
            <a:ext cx="11274552" cy="354787"/>
          </a:xfrm>
          <a:prstGeom prst="roundRect">
            <a:avLst>
              <a:gd name="adj" fmla="val 12887"/>
            </a:avLst>
          </a:prstGeom>
          <a:solidFill>
            <a:srgbClr val="F4F1EA"/>
          </a:solidFill>
          <a:ln w="9525">
            <a:solidFill>
              <a:srgbClr val="D8D0BF"/>
            </a:solidFill>
            <a:prstDash val="solid"/>
          </a:ln>
        </p:spPr>
      </p:sp>
      <p:sp>
        <p:nvSpPr>
          <p:cNvPr id="56" name="Text 53"/>
          <p:cNvSpPr txBox="1"/>
          <p:nvPr/>
        </p:nvSpPr>
        <p:spPr>
          <a:xfrm>
            <a:off x="10561320" y="5135270"/>
            <a:ext cx="10972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18</a:t>
            </a:r>
            <a:endParaRPr lang="en-US" sz="1100" dirty="0"/>
          </a:p>
        </p:txBody>
      </p:sp>
      <p:sp>
        <p:nvSpPr>
          <p:cNvPr id="57" name="Text 54"/>
          <p:cNvSpPr txBox="1"/>
          <p:nvPr/>
        </p:nvSpPr>
        <p:spPr>
          <a:xfrm>
            <a:off x="8897112" y="5135270"/>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١٨</a:t>
            </a:r>
            <a:endParaRPr lang="ar-SA" sz="1650" dirty="0"/>
          </a:p>
        </p:txBody>
      </p:sp>
      <p:sp>
        <p:nvSpPr>
          <p:cNvPr id="58" name="Text 55"/>
          <p:cNvSpPr txBox="1"/>
          <p:nvPr/>
        </p:nvSpPr>
        <p:spPr>
          <a:xfrm>
            <a:off x="5605272" y="5135270"/>
            <a:ext cx="310896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ثَمَانِيَةَ عَشَرَ</a:t>
            </a:r>
            <a:endParaRPr lang="ar-SA" sz="1650" dirty="0"/>
          </a:p>
        </p:txBody>
      </p:sp>
      <p:sp>
        <p:nvSpPr>
          <p:cNvPr id="59" name="Text 56"/>
          <p:cNvSpPr txBox="1"/>
          <p:nvPr/>
        </p:nvSpPr>
        <p:spPr>
          <a:xfrm>
            <a:off x="3611880" y="5135270"/>
            <a:ext cx="18288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eight + ten</a:t>
            </a:r>
            <a:endParaRPr lang="en-US" sz="1100" dirty="0"/>
          </a:p>
        </p:txBody>
      </p:sp>
      <p:sp>
        <p:nvSpPr>
          <p:cNvPr id="60" name="Shape 57"/>
          <p:cNvSpPr/>
          <p:nvPr/>
        </p:nvSpPr>
        <p:spPr>
          <a:xfrm>
            <a:off x="457200" y="5544922"/>
            <a:ext cx="11274552" cy="354787"/>
          </a:xfrm>
          <a:prstGeom prst="roundRect">
            <a:avLst>
              <a:gd name="adj" fmla="val 12887"/>
            </a:avLst>
          </a:prstGeom>
          <a:solidFill>
            <a:srgbClr val="FFFFFF"/>
          </a:solidFill>
          <a:ln w="9525">
            <a:solidFill>
              <a:srgbClr val="D8D0BF"/>
            </a:solidFill>
            <a:prstDash val="solid"/>
          </a:ln>
        </p:spPr>
      </p:sp>
      <p:sp>
        <p:nvSpPr>
          <p:cNvPr id="61" name="Text 58"/>
          <p:cNvSpPr txBox="1"/>
          <p:nvPr/>
        </p:nvSpPr>
        <p:spPr>
          <a:xfrm>
            <a:off x="10561320" y="5544922"/>
            <a:ext cx="10972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19</a:t>
            </a:r>
            <a:endParaRPr lang="en-US" sz="1100" dirty="0"/>
          </a:p>
        </p:txBody>
      </p:sp>
      <p:sp>
        <p:nvSpPr>
          <p:cNvPr id="62" name="Text 59"/>
          <p:cNvSpPr txBox="1"/>
          <p:nvPr/>
        </p:nvSpPr>
        <p:spPr>
          <a:xfrm>
            <a:off x="8897112" y="5544922"/>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١٩</a:t>
            </a:r>
            <a:endParaRPr lang="ar-SA" sz="1650" dirty="0"/>
          </a:p>
        </p:txBody>
      </p:sp>
      <p:sp>
        <p:nvSpPr>
          <p:cNvPr id="63" name="Text 60"/>
          <p:cNvSpPr txBox="1"/>
          <p:nvPr/>
        </p:nvSpPr>
        <p:spPr>
          <a:xfrm>
            <a:off x="5605272" y="5544922"/>
            <a:ext cx="310896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تِسْعَةَ عَشَرَ</a:t>
            </a:r>
            <a:endParaRPr lang="ar-SA" sz="1650" dirty="0"/>
          </a:p>
        </p:txBody>
      </p:sp>
      <p:sp>
        <p:nvSpPr>
          <p:cNvPr id="64" name="Text 61"/>
          <p:cNvSpPr txBox="1"/>
          <p:nvPr/>
        </p:nvSpPr>
        <p:spPr>
          <a:xfrm>
            <a:off x="3611880" y="5544922"/>
            <a:ext cx="18288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nine + ten</a:t>
            </a:r>
            <a:endParaRPr lang="en-US" sz="1100" dirty="0"/>
          </a:p>
        </p:txBody>
      </p:sp>
      <p:sp>
        <p:nvSpPr>
          <p:cNvPr id="65" name="Shape 62"/>
          <p:cNvSpPr/>
          <p:nvPr/>
        </p:nvSpPr>
        <p:spPr>
          <a:xfrm>
            <a:off x="457200" y="5954573"/>
            <a:ext cx="11274552" cy="354787"/>
          </a:xfrm>
          <a:prstGeom prst="roundRect">
            <a:avLst>
              <a:gd name="adj" fmla="val 12887"/>
            </a:avLst>
          </a:prstGeom>
          <a:solidFill>
            <a:srgbClr val="F4F1EA"/>
          </a:solidFill>
          <a:ln w="9525">
            <a:solidFill>
              <a:srgbClr val="D8D0BF"/>
            </a:solidFill>
            <a:prstDash val="solid"/>
          </a:ln>
        </p:spPr>
      </p:sp>
      <p:sp>
        <p:nvSpPr>
          <p:cNvPr id="66" name="Text 63"/>
          <p:cNvSpPr txBox="1"/>
          <p:nvPr/>
        </p:nvSpPr>
        <p:spPr>
          <a:xfrm>
            <a:off x="10561320" y="5954573"/>
            <a:ext cx="109728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67" name="Text 64"/>
          <p:cNvSpPr txBox="1"/>
          <p:nvPr/>
        </p:nvSpPr>
        <p:spPr>
          <a:xfrm>
            <a:off x="8897112" y="5954573"/>
            <a:ext cx="146304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٢٠</a:t>
            </a:r>
            <a:endParaRPr lang="ar-SA" sz="1650" dirty="0"/>
          </a:p>
        </p:txBody>
      </p:sp>
      <p:sp>
        <p:nvSpPr>
          <p:cNvPr id="68" name="Text 65"/>
          <p:cNvSpPr txBox="1"/>
          <p:nvPr/>
        </p:nvSpPr>
        <p:spPr>
          <a:xfrm>
            <a:off x="5605272" y="5954573"/>
            <a:ext cx="3108960" cy="354787"/>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عِشْرُونَ</a:t>
            </a:r>
            <a:endParaRPr lang="ar-SA" sz="1650" dirty="0"/>
          </a:p>
        </p:txBody>
      </p:sp>
      <p:sp>
        <p:nvSpPr>
          <p:cNvPr id="69" name="Text 66"/>
          <p:cNvSpPr txBox="1"/>
          <p:nvPr/>
        </p:nvSpPr>
        <p:spPr>
          <a:xfrm>
            <a:off x="3611880" y="5954573"/>
            <a:ext cx="1828800" cy="354787"/>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new tens word</a:t>
            </a:r>
            <a:endParaRPr lang="en-US" sz="11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٠</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٦</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٥</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seven?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٨</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٦</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١٥</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51</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15</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سِتَّةٌ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six</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seven</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nine</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five?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٠</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٦</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٥</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ring is five; the dot is zero.</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seven?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٨</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٦</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Open V = seven; the cap </a:t>
            </a:r>
            <a:pPr algn="l" indent="0" marL="0">
              <a:buNone/>
            </a:pPr>
            <a:r>
              <a:rPr lang="ar-SA" altLang="en-US" sz="1350" dirty="0">
                <a:solidFill>
                  <a:srgbClr val="8A6D1E"/>
                </a:solidFill>
                <a:latin typeface="Amiri" pitchFamily="2" charset="-78"/>
                <a:ea typeface="Amiri" pitchFamily="2" charset="-78"/>
                <a:cs typeface="Amiri" pitchFamily="2" charset="-78"/>
              </a:rPr>
              <a:t>٨</a:t>
            </a:r>
            <a:pPr algn="l" indent="0" marL="0">
              <a:buNone/>
            </a:pPr>
            <a:r>
              <a:rPr lang="en-US" sz="1050" i="1" dirty="0">
                <a:solidFill>
                  <a:srgbClr val="8A6D1E"/>
                </a:solidFill>
                <a:latin typeface="Calibri" pitchFamily="34" charset="0"/>
                <a:cs typeface="Amiri" pitchFamily="2" charset="-78"/>
              </a:rPr>
              <a:t> = eight.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١٥</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51</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15</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Tens on the left: 1 ten, 5 ones.</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سِتَّةٌ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six</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seven</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nine</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sitta — hear the doubled 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FORMATION STRIP: TRACE → COVER → REPRODUCE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write the ten digits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الأَرْقَامَ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9608515" y="1810512"/>
            <a:ext cx="2123237" cy="2167128"/>
          </a:xfrm>
          <a:prstGeom prst="roundRect">
            <a:avLst>
              <a:gd name="adj" fmla="val 3445"/>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0875947" y="1883664"/>
            <a:ext cx="764365"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٠</a:t>
            </a:r>
            <a:endParaRPr lang="ar-SA" sz="5050" dirty="0"/>
          </a:p>
        </p:txBody>
      </p:sp>
      <p:sp>
        <p:nvSpPr>
          <p:cNvPr id="17" name="Text 14"/>
          <p:cNvSpPr txBox="1"/>
          <p:nvPr/>
        </p:nvSpPr>
        <p:spPr>
          <a:xfrm>
            <a:off x="10875947" y="2937419"/>
            <a:ext cx="764365"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صِفْر</a:t>
            </a:r>
            <a:endParaRPr lang="ar-SA" sz="1450" dirty="0"/>
          </a:p>
        </p:txBody>
      </p:sp>
      <p:sp>
        <p:nvSpPr>
          <p:cNvPr id="18" name="Shape 15"/>
          <p:cNvSpPr/>
          <p:nvPr/>
        </p:nvSpPr>
        <p:spPr>
          <a:xfrm>
            <a:off x="9745675" y="1956816"/>
            <a:ext cx="237744" cy="237744"/>
          </a:xfrm>
          <a:prstGeom prst="ellipse">
            <a:avLst/>
          </a:prstGeom>
          <a:solidFill>
            <a:srgbClr val="6B4C9A"/>
          </a:solidFill>
          <a:ln w="12700">
            <a:solidFill>
              <a:srgbClr val="6B4C9A"/>
            </a:solidFill>
            <a:prstDash val="solid"/>
          </a:ln>
        </p:spPr>
      </p:sp>
      <p:sp>
        <p:nvSpPr>
          <p:cNvPr id="19" name="Text 16"/>
          <p:cNvSpPr txBox="1"/>
          <p:nvPr/>
        </p:nvSpPr>
        <p:spPr>
          <a:xfrm>
            <a:off x="9745675"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20" name="Text 17"/>
          <p:cNvSpPr txBox="1"/>
          <p:nvPr/>
        </p:nvSpPr>
        <p:spPr>
          <a:xfrm>
            <a:off x="10056571" y="1911096"/>
            <a:ext cx="72793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small dot.</a:t>
            </a:r>
            <a:endParaRPr lang="en-US" sz="1050" dirty="0"/>
          </a:p>
        </p:txBody>
      </p:sp>
      <p:sp>
        <p:nvSpPr>
          <p:cNvPr id="21" name="Shape 18"/>
          <p:cNvSpPr/>
          <p:nvPr/>
        </p:nvSpPr>
        <p:spPr>
          <a:xfrm>
            <a:off x="9745675" y="3813048"/>
            <a:ext cx="1848917" cy="0"/>
          </a:xfrm>
          <a:prstGeom prst="line">
            <a:avLst/>
          </a:prstGeom>
          <a:noFill/>
          <a:ln w="9525">
            <a:solidFill>
              <a:srgbClr val="C9BFA8"/>
            </a:solidFill>
            <a:prstDash val="dash"/>
          </a:ln>
        </p:spPr>
      </p:sp>
      <p:sp>
        <p:nvSpPr>
          <p:cNvPr id="22" name="Text 19"/>
          <p:cNvSpPr txBox="1"/>
          <p:nvPr/>
        </p:nvSpPr>
        <p:spPr>
          <a:xfrm>
            <a:off x="10978286" y="3337560"/>
            <a:ext cx="616306"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٠</a:t>
            </a:r>
            <a:endParaRPr lang="ar-SA" sz="2600" dirty="0"/>
          </a:p>
        </p:txBody>
      </p:sp>
      <p:sp>
        <p:nvSpPr>
          <p:cNvPr id="23" name="Text 20"/>
          <p:cNvSpPr txBox="1"/>
          <p:nvPr/>
        </p:nvSpPr>
        <p:spPr>
          <a:xfrm>
            <a:off x="10361981" y="333756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24" name="Text 21"/>
          <p:cNvSpPr txBox="1"/>
          <p:nvPr/>
        </p:nvSpPr>
        <p:spPr>
          <a:xfrm>
            <a:off x="9745675" y="333756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25" name="Shape 22"/>
          <p:cNvSpPr/>
          <p:nvPr/>
        </p:nvSpPr>
        <p:spPr>
          <a:xfrm>
            <a:off x="7320686" y="1810512"/>
            <a:ext cx="2123237" cy="2167128"/>
          </a:xfrm>
          <a:prstGeom prst="roundRect">
            <a:avLst>
              <a:gd name="adj" fmla="val 3445"/>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8588118" y="1883664"/>
            <a:ext cx="764365"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١</a:t>
            </a:r>
            <a:endParaRPr lang="ar-SA" sz="5050" dirty="0"/>
          </a:p>
        </p:txBody>
      </p:sp>
      <p:sp>
        <p:nvSpPr>
          <p:cNvPr id="27" name="Text 24"/>
          <p:cNvSpPr txBox="1"/>
          <p:nvPr/>
        </p:nvSpPr>
        <p:spPr>
          <a:xfrm>
            <a:off x="8588118" y="2937419"/>
            <a:ext cx="764365"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وَاحِد</a:t>
            </a:r>
            <a:endParaRPr lang="ar-SA" sz="1450" dirty="0"/>
          </a:p>
        </p:txBody>
      </p:sp>
      <p:sp>
        <p:nvSpPr>
          <p:cNvPr id="28" name="Shape 25"/>
          <p:cNvSpPr/>
          <p:nvPr/>
        </p:nvSpPr>
        <p:spPr>
          <a:xfrm>
            <a:off x="7457846" y="1956816"/>
            <a:ext cx="237744" cy="237744"/>
          </a:xfrm>
          <a:prstGeom prst="ellipse">
            <a:avLst/>
          </a:prstGeom>
          <a:solidFill>
            <a:srgbClr val="6B4C9A"/>
          </a:solidFill>
          <a:ln w="12700">
            <a:solidFill>
              <a:srgbClr val="6B4C9A"/>
            </a:solidFill>
            <a:prstDash val="solid"/>
          </a:ln>
        </p:spPr>
      </p:sp>
      <p:sp>
        <p:nvSpPr>
          <p:cNvPr id="29" name="Text 26"/>
          <p:cNvSpPr txBox="1"/>
          <p:nvPr/>
        </p:nvSpPr>
        <p:spPr>
          <a:xfrm>
            <a:off x="7457846"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30" name="Text 27"/>
          <p:cNvSpPr txBox="1"/>
          <p:nvPr/>
        </p:nvSpPr>
        <p:spPr>
          <a:xfrm>
            <a:off x="7768742" y="1911096"/>
            <a:ext cx="72793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One stroke down.</a:t>
            </a:r>
            <a:endParaRPr lang="en-US" sz="1050" dirty="0"/>
          </a:p>
        </p:txBody>
      </p:sp>
      <p:sp>
        <p:nvSpPr>
          <p:cNvPr id="31" name="Shape 28"/>
          <p:cNvSpPr/>
          <p:nvPr/>
        </p:nvSpPr>
        <p:spPr>
          <a:xfrm>
            <a:off x="7457846" y="3813048"/>
            <a:ext cx="1848917" cy="0"/>
          </a:xfrm>
          <a:prstGeom prst="line">
            <a:avLst/>
          </a:prstGeom>
          <a:noFill/>
          <a:ln w="9525">
            <a:solidFill>
              <a:srgbClr val="C9BFA8"/>
            </a:solidFill>
            <a:prstDash val="dash"/>
          </a:ln>
        </p:spPr>
      </p:sp>
      <p:sp>
        <p:nvSpPr>
          <p:cNvPr id="32" name="Text 29"/>
          <p:cNvSpPr txBox="1"/>
          <p:nvPr/>
        </p:nvSpPr>
        <p:spPr>
          <a:xfrm>
            <a:off x="8690458" y="3337560"/>
            <a:ext cx="616306"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١</a:t>
            </a:r>
            <a:endParaRPr lang="ar-SA" sz="2600" dirty="0"/>
          </a:p>
        </p:txBody>
      </p:sp>
      <p:sp>
        <p:nvSpPr>
          <p:cNvPr id="33" name="Text 30"/>
          <p:cNvSpPr txBox="1"/>
          <p:nvPr/>
        </p:nvSpPr>
        <p:spPr>
          <a:xfrm>
            <a:off x="8074152" y="333756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34" name="Text 31"/>
          <p:cNvSpPr txBox="1"/>
          <p:nvPr/>
        </p:nvSpPr>
        <p:spPr>
          <a:xfrm>
            <a:off x="7457846" y="333756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35" name="Shape 32"/>
          <p:cNvSpPr/>
          <p:nvPr/>
        </p:nvSpPr>
        <p:spPr>
          <a:xfrm>
            <a:off x="5032858" y="1810512"/>
            <a:ext cx="2123237" cy="2167128"/>
          </a:xfrm>
          <a:prstGeom prst="roundRect">
            <a:avLst>
              <a:gd name="adj" fmla="val 3445"/>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300289" y="1883664"/>
            <a:ext cx="764365"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٢</a:t>
            </a:r>
            <a:endParaRPr lang="ar-SA" sz="5050" dirty="0"/>
          </a:p>
        </p:txBody>
      </p:sp>
      <p:sp>
        <p:nvSpPr>
          <p:cNvPr id="37" name="Text 34"/>
          <p:cNvSpPr txBox="1"/>
          <p:nvPr/>
        </p:nvSpPr>
        <p:spPr>
          <a:xfrm>
            <a:off x="6300289" y="2937419"/>
            <a:ext cx="764365"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اِثْنَان</a:t>
            </a:r>
            <a:endParaRPr lang="ar-SA" sz="1450" dirty="0"/>
          </a:p>
        </p:txBody>
      </p:sp>
      <p:sp>
        <p:nvSpPr>
          <p:cNvPr id="38" name="Shape 35"/>
          <p:cNvSpPr/>
          <p:nvPr/>
        </p:nvSpPr>
        <p:spPr>
          <a:xfrm>
            <a:off x="5170018" y="1956816"/>
            <a:ext cx="237744" cy="237744"/>
          </a:xfrm>
          <a:prstGeom prst="ellipse">
            <a:avLst/>
          </a:prstGeom>
          <a:solidFill>
            <a:srgbClr val="6B4C9A"/>
          </a:solidFill>
          <a:ln w="12700">
            <a:solidFill>
              <a:srgbClr val="6B4C9A"/>
            </a:solidFill>
            <a:prstDash val="solid"/>
          </a:ln>
        </p:spPr>
      </p:sp>
      <p:sp>
        <p:nvSpPr>
          <p:cNvPr id="39" name="Text 36"/>
          <p:cNvSpPr txBox="1"/>
          <p:nvPr/>
        </p:nvSpPr>
        <p:spPr>
          <a:xfrm>
            <a:off x="5170018"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40" name="Text 37"/>
          <p:cNvSpPr txBox="1"/>
          <p:nvPr/>
        </p:nvSpPr>
        <p:spPr>
          <a:xfrm>
            <a:off x="5480914" y="1911096"/>
            <a:ext cx="72793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One hook, then down.</a:t>
            </a:r>
            <a:endParaRPr lang="en-US" sz="1050" dirty="0"/>
          </a:p>
        </p:txBody>
      </p:sp>
      <p:sp>
        <p:nvSpPr>
          <p:cNvPr id="41" name="Shape 38"/>
          <p:cNvSpPr/>
          <p:nvPr/>
        </p:nvSpPr>
        <p:spPr>
          <a:xfrm>
            <a:off x="5170018" y="3813048"/>
            <a:ext cx="1848917" cy="0"/>
          </a:xfrm>
          <a:prstGeom prst="line">
            <a:avLst/>
          </a:prstGeom>
          <a:noFill/>
          <a:ln w="9525">
            <a:solidFill>
              <a:srgbClr val="C9BFA8"/>
            </a:solidFill>
            <a:prstDash val="dash"/>
          </a:ln>
        </p:spPr>
      </p:sp>
      <p:sp>
        <p:nvSpPr>
          <p:cNvPr id="42" name="Text 39"/>
          <p:cNvSpPr txBox="1"/>
          <p:nvPr/>
        </p:nvSpPr>
        <p:spPr>
          <a:xfrm>
            <a:off x="6402629" y="3337560"/>
            <a:ext cx="616306"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٢</a:t>
            </a:r>
            <a:endParaRPr lang="ar-SA" sz="2600" dirty="0"/>
          </a:p>
        </p:txBody>
      </p:sp>
      <p:sp>
        <p:nvSpPr>
          <p:cNvPr id="43" name="Text 40"/>
          <p:cNvSpPr txBox="1"/>
          <p:nvPr/>
        </p:nvSpPr>
        <p:spPr>
          <a:xfrm>
            <a:off x="5786323" y="333756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44" name="Text 41"/>
          <p:cNvSpPr txBox="1"/>
          <p:nvPr/>
        </p:nvSpPr>
        <p:spPr>
          <a:xfrm>
            <a:off x="5170018" y="333756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45" name="Shape 42"/>
          <p:cNvSpPr/>
          <p:nvPr/>
        </p:nvSpPr>
        <p:spPr>
          <a:xfrm>
            <a:off x="2745029" y="1810512"/>
            <a:ext cx="2123237" cy="2167128"/>
          </a:xfrm>
          <a:prstGeom prst="roundRect">
            <a:avLst>
              <a:gd name="adj" fmla="val 3445"/>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4012460" y="1883664"/>
            <a:ext cx="764365"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٣</a:t>
            </a:r>
            <a:endParaRPr lang="ar-SA" sz="5050" dirty="0"/>
          </a:p>
        </p:txBody>
      </p:sp>
      <p:sp>
        <p:nvSpPr>
          <p:cNvPr id="47" name="Text 44"/>
          <p:cNvSpPr txBox="1"/>
          <p:nvPr/>
        </p:nvSpPr>
        <p:spPr>
          <a:xfrm>
            <a:off x="4012460" y="2937419"/>
            <a:ext cx="764365"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ثَلَاثَة</a:t>
            </a:r>
            <a:endParaRPr lang="ar-SA" sz="1450" dirty="0"/>
          </a:p>
        </p:txBody>
      </p:sp>
      <p:sp>
        <p:nvSpPr>
          <p:cNvPr id="48" name="Shape 45"/>
          <p:cNvSpPr/>
          <p:nvPr/>
        </p:nvSpPr>
        <p:spPr>
          <a:xfrm>
            <a:off x="2882189" y="1956816"/>
            <a:ext cx="237744" cy="237744"/>
          </a:xfrm>
          <a:prstGeom prst="ellipse">
            <a:avLst/>
          </a:prstGeom>
          <a:solidFill>
            <a:srgbClr val="6B4C9A"/>
          </a:solidFill>
          <a:ln w="12700">
            <a:solidFill>
              <a:srgbClr val="6B4C9A"/>
            </a:solidFill>
            <a:prstDash val="solid"/>
          </a:ln>
        </p:spPr>
      </p:sp>
      <p:sp>
        <p:nvSpPr>
          <p:cNvPr id="49" name="Text 46"/>
          <p:cNvSpPr txBox="1"/>
          <p:nvPr/>
        </p:nvSpPr>
        <p:spPr>
          <a:xfrm>
            <a:off x="2882189"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50" name="Text 47"/>
          <p:cNvSpPr txBox="1"/>
          <p:nvPr/>
        </p:nvSpPr>
        <p:spPr>
          <a:xfrm>
            <a:off x="3193085" y="1911096"/>
            <a:ext cx="727936" cy="365760"/>
          </a:xfrm>
          <a:prstGeom prst="rect">
            <a:avLst/>
          </a:prstGeom>
          <a:noFill/>
          <a:ln/>
        </p:spPr>
        <p:txBody>
          <a:bodyPr wrap="square" lIns="0" tIns="0" rIns="0" bIns="0" rtlCol="0" anchor="ctr"/>
          <a:lstStyle/>
          <a:p>
            <a:pPr algn="l" indent="0" marL="0">
              <a:buNone/>
            </a:pPr>
            <a:r>
              <a:rPr lang="en-US" sz="1000" dirty="0">
                <a:solidFill>
                  <a:srgbClr val="1F2A37"/>
                </a:solidFill>
                <a:latin typeface="Calibri" pitchFamily="34" charset="0"/>
                <a:cs typeface="Amiri" pitchFamily="2" charset="-78"/>
              </a:rPr>
              <a:t>Two humps, then down.</a:t>
            </a:r>
            <a:endParaRPr lang="en-US" sz="1000" dirty="0"/>
          </a:p>
        </p:txBody>
      </p:sp>
      <p:sp>
        <p:nvSpPr>
          <p:cNvPr id="51" name="Shape 48"/>
          <p:cNvSpPr/>
          <p:nvPr/>
        </p:nvSpPr>
        <p:spPr>
          <a:xfrm>
            <a:off x="2882189" y="3813048"/>
            <a:ext cx="1848917" cy="0"/>
          </a:xfrm>
          <a:prstGeom prst="line">
            <a:avLst/>
          </a:prstGeom>
          <a:noFill/>
          <a:ln w="9525">
            <a:solidFill>
              <a:srgbClr val="C9BFA8"/>
            </a:solidFill>
            <a:prstDash val="dash"/>
          </a:ln>
        </p:spPr>
      </p:sp>
      <p:sp>
        <p:nvSpPr>
          <p:cNvPr id="52" name="Text 49"/>
          <p:cNvSpPr txBox="1"/>
          <p:nvPr/>
        </p:nvSpPr>
        <p:spPr>
          <a:xfrm>
            <a:off x="4114800" y="3337560"/>
            <a:ext cx="616306"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٣</a:t>
            </a:r>
            <a:endParaRPr lang="ar-SA" sz="2600" dirty="0"/>
          </a:p>
        </p:txBody>
      </p:sp>
      <p:sp>
        <p:nvSpPr>
          <p:cNvPr id="53" name="Text 50"/>
          <p:cNvSpPr txBox="1"/>
          <p:nvPr/>
        </p:nvSpPr>
        <p:spPr>
          <a:xfrm>
            <a:off x="3498494" y="333756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54" name="Text 51"/>
          <p:cNvSpPr txBox="1"/>
          <p:nvPr/>
        </p:nvSpPr>
        <p:spPr>
          <a:xfrm>
            <a:off x="2882189" y="333756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55" name="Shape 52"/>
          <p:cNvSpPr/>
          <p:nvPr/>
        </p:nvSpPr>
        <p:spPr>
          <a:xfrm>
            <a:off x="457200" y="1810512"/>
            <a:ext cx="2123237" cy="2167128"/>
          </a:xfrm>
          <a:prstGeom prst="roundRect">
            <a:avLst>
              <a:gd name="adj" fmla="val 3445"/>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1724632" y="1883664"/>
            <a:ext cx="764365"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٤</a:t>
            </a:r>
            <a:endParaRPr lang="ar-SA" sz="5050" dirty="0"/>
          </a:p>
        </p:txBody>
      </p:sp>
      <p:sp>
        <p:nvSpPr>
          <p:cNvPr id="57" name="Text 54"/>
          <p:cNvSpPr txBox="1"/>
          <p:nvPr/>
        </p:nvSpPr>
        <p:spPr>
          <a:xfrm>
            <a:off x="1724632" y="2937419"/>
            <a:ext cx="764365"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أَرْبَعَة</a:t>
            </a:r>
            <a:endParaRPr lang="ar-SA" sz="1450" dirty="0"/>
          </a:p>
        </p:txBody>
      </p:sp>
      <p:sp>
        <p:nvSpPr>
          <p:cNvPr id="58" name="Shape 55"/>
          <p:cNvSpPr/>
          <p:nvPr/>
        </p:nvSpPr>
        <p:spPr>
          <a:xfrm>
            <a:off x="594360" y="1956816"/>
            <a:ext cx="237744" cy="237744"/>
          </a:xfrm>
          <a:prstGeom prst="ellipse">
            <a:avLst/>
          </a:prstGeom>
          <a:solidFill>
            <a:srgbClr val="6B4C9A"/>
          </a:solidFill>
          <a:ln w="12700">
            <a:solidFill>
              <a:srgbClr val="6B4C9A"/>
            </a:solidFill>
            <a:prstDash val="solid"/>
          </a:ln>
        </p:spPr>
      </p:sp>
      <p:sp>
        <p:nvSpPr>
          <p:cNvPr id="59" name="Text 56"/>
          <p:cNvSpPr txBox="1"/>
          <p:nvPr/>
        </p:nvSpPr>
        <p:spPr>
          <a:xfrm>
            <a:off x="594360"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60" name="Text 57"/>
          <p:cNvSpPr txBox="1"/>
          <p:nvPr/>
        </p:nvSpPr>
        <p:spPr>
          <a:xfrm>
            <a:off x="905256" y="1911096"/>
            <a:ext cx="72793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Angular, open.</a:t>
            </a:r>
            <a:endParaRPr lang="en-US" sz="1050" dirty="0"/>
          </a:p>
        </p:txBody>
      </p:sp>
      <p:sp>
        <p:nvSpPr>
          <p:cNvPr id="61" name="Shape 58"/>
          <p:cNvSpPr/>
          <p:nvPr/>
        </p:nvSpPr>
        <p:spPr>
          <a:xfrm>
            <a:off x="594360" y="3813048"/>
            <a:ext cx="1848917" cy="0"/>
          </a:xfrm>
          <a:prstGeom prst="line">
            <a:avLst/>
          </a:prstGeom>
          <a:noFill/>
          <a:ln w="9525">
            <a:solidFill>
              <a:srgbClr val="C9BFA8"/>
            </a:solidFill>
            <a:prstDash val="dash"/>
          </a:ln>
        </p:spPr>
      </p:sp>
      <p:sp>
        <p:nvSpPr>
          <p:cNvPr id="62" name="Text 59"/>
          <p:cNvSpPr txBox="1"/>
          <p:nvPr/>
        </p:nvSpPr>
        <p:spPr>
          <a:xfrm>
            <a:off x="1826971" y="3337560"/>
            <a:ext cx="616306"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٤</a:t>
            </a:r>
            <a:endParaRPr lang="ar-SA" sz="2600" dirty="0"/>
          </a:p>
        </p:txBody>
      </p:sp>
      <p:sp>
        <p:nvSpPr>
          <p:cNvPr id="63" name="Text 60"/>
          <p:cNvSpPr txBox="1"/>
          <p:nvPr/>
        </p:nvSpPr>
        <p:spPr>
          <a:xfrm>
            <a:off x="1210666" y="333756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64" name="Text 61"/>
          <p:cNvSpPr txBox="1"/>
          <p:nvPr/>
        </p:nvSpPr>
        <p:spPr>
          <a:xfrm>
            <a:off x="594360" y="333756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65" name="Shape 62"/>
          <p:cNvSpPr/>
          <p:nvPr/>
        </p:nvSpPr>
        <p:spPr>
          <a:xfrm>
            <a:off x="9608515" y="4142232"/>
            <a:ext cx="2123237" cy="2167128"/>
          </a:xfrm>
          <a:prstGeom prst="roundRect">
            <a:avLst>
              <a:gd name="adj" fmla="val 3445"/>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Text 63"/>
          <p:cNvSpPr txBox="1"/>
          <p:nvPr/>
        </p:nvSpPr>
        <p:spPr>
          <a:xfrm>
            <a:off x="10875947" y="4215384"/>
            <a:ext cx="764365"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٥</a:t>
            </a:r>
            <a:endParaRPr lang="ar-SA" sz="5050" dirty="0"/>
          </a:p>
        </p:txBody>
      </p:sp>
      <p:sp>
        <p:nvSpPr>
          <p:cNvPr id="67" name="Text 64"/>
          <p:cNvSpPr txBox="1"/>
          <p:nvPr/>
        </p:nvSpPr>
        <p:spPr>
          <a:xfrm>
            <a:off x="10875947" y="5269139"/>
            <a:ext cx="764365"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خَمْسَة</a:t>
            </a:r>
            <a:endParaRPr lang="ar-SA" sz="1450" dirty="0"/>
          </a:p>
        </p:txBody>
      </p:sp>
      <p:sp>
        <p:nvSpPr>
          <p:cNvPr id="68" name="Shape 65"/>
          <p:cNvSpPr/>
          <p:nvPr/>
        </p:nvSpPr>
        <p:spPr>
          <a:xfrm>
            <a:off x="9745675" y="4288536"/>
            <a:ext cx="237744" cy="237744"/>
          </a:xfrm>
          <a:prstGeom prst="ellipse">
            <a:avLst/>
          </a:prstGeom>
          <a:solidFill>
            <a:srgbClr val="6B4C9A"/>
          </a:solidFill>
          <a:ln w="12700">
            <a:solidFill>
              <a:srgbClr val="6B4C9A"/>
            </a:solidFill>
            <a:prstDash val="solid"/>
          </a:ln>
        </p:spPr>
      </p:sp>
      <p:sp>
        <p:nvSpPr>
          <p:cNvPr id="69" name="Text 66"/>
          <p:cNvSpPr txBox="1"/>
          <p:nvPr/>
        </p:nvSpPr>
        <p:spPr>
          <a:xfrm>
            <a:off x="9745675"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70" name="Text 67"/>
          <p:cNvSpPr txBox="1"/>
          <p:nvPr/>
        </p:nvSpPr>
        <p:spPr>
          <a:xfrm>
            <a:off x="10056571" y="4242816"/>
            <a:ext cx="72793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small ring.</a:t>
            </a:r>
            <a:endParaRPr lang="en-US" sz="1050" dirty="0"/>
          </a:p>
        </p:txBody>
      </p:sp>
      <p:sp>
        <p:nvSpPr>
          <p:cNvPr id="71" name="Shape 68"/>
          <p:cNvSpPr/>
          <p:nvPr/>
        </p:nvSpPr>
        <p:spPr>
          <a:xfrm>
            <a:off x="9745675" y="6144768"/>
            <a:ext cx="1848917" cy="0"/>
          </a:xfrm>
          <a:prstGeom prst="line">
            <a:avLst/>
          </a:prstGeom>
          <a:noFill/>
          <a:ln w="9525">
            <a:solidFill>
              <a:srgbClr val="C9BFA8"/>
            </a:solidFill>
            <a:prstDash val="dash"/>
          </a:ln>
        </p:spPr>
      </p:sp>
      <p:sp>
        <p:nvSpPr>
          <p:cNvPr id="72" name="Text 69"/>
          <p:cNvSpPr txBox="1"/>
          <p:nvPr/>
        </p:nvSpPr>
        <p:spPr>
          <a:xfrm>
            <a:off x="10978286" y="5669280"/>
            <a:ext cx="616306"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٥</a:t>
            </a:r>
            <a:endParaRPr lang="ar-SA" sz="2600" dirty="0"/>
          </a:p>
        </p:txBody>
      </p:sp>
      <p:sp>
        <p:nvSpPr>
          <p:cNvPr id="73" name="Text 70"/>
          <p:cNvSpPr txBox="1"/>
          <p:nvPr/>
        </p:nvSpPr>
        <p:spPr>
          <a:xfrm>
            <a:off x="10361981" y="566928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74" name="Text 71"/>
          <p:cNvSpPr txBox="1"/>
          <p:nvPr/>
        </p:nvSpPr>
        <p:spPr>
          <a:xfrm>
            <a:off x="9745675" y="566928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75" name="Shape 72"/>
          <p:cNvSpPr/>
          <p:nvPr/>
        </p:nvSpPr>
        <p:spPr>
          <a:xfrm>
            <a:off x="7320686" y="4142232"/>
            <a:ext cx="2123237" cy="2167128"/>
          </a:xfrm>
          <a:prstGeom prst="roundRect">
            <a:avLst>
              <a:gd name="adj" fmla="val 3445"/>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8588118" y="4215384"/>
            <a:ext cx="764365"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٦</a:t>
            </a:r>
            <a:endParaRPr lang="ar-SA" sz="5050" dirty="0"/>
          </a:p>
        </p:txBody>
      </p:sp>
      <p:sp>
        <p:nvSpPr>
          <p:cNvPr id="77" name="Text 74"/>
          <p:cNvSpPr txBox="1"/>
          <p:nvPr/>
        </p:nvSpPr>
        <p:spPr>
          <a:xfrm>
            <a:off x="8588118" y="5269139"/>
            <a:ext cx="764365"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سِتَّة</a:t>
            </a:r>
            <a:endParaRPr lang="ar-SA" sz="1450" dirty="0"/>
          </a:p>
        </p:txBody>
      </p:sp>
      <p:sp>
        <p:nvSpPr>
          <p:cNvPr id="78" name="Shape 75"/>
          <p:cNvSpPr/>
          <p:nvPr/>
        </p:nvSpPr>
        <p:spPr>
          <a:xfrm>
            <a:off x="7457846" y="4288536"/>
            <a:ext cx="237744" cy="237744"/>
          </a:xfrm>
          <a:prstGeom prst="ellipse">
            <a:avLst/>
          </a:prstGeom>
          <a:solidFill>
            <a:srgbClr val="6B4C9A"/>
          </a:solidFill>
          <a:ln w="12700">
            <a:solidFill>
              <a:srgbClr val="6B4C9A"/>
            </a:solidFill>
            <a:prstDash val="solid"/>
          </a:ln>
        </p:spPr>
      </p:sp>
      <p:sp>
        <p:nvSpPr>
          <p:cNvPr id="79" name="Text 76"/>
          <p:cNvSpPr txBox="1"/>
          <p:nvPr/>
        </p:nvSpPr>
        <p:spPr>
          <a:xfrm>
            <a:off x="7457846"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80" name="Text 77"/>
          <p:cNvSpPr txBox="1"/>
          <p:nvPr/>
        </p:nvSpPr>
        <p:spPr>
          <a:xfrm>
            <a:off x="7768742" y="4242816"/>
            <a:ext cx="72793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Hook with a stem.</a:t>
            </a:r>
            <a:endParaRPr lang="en-US" sz="1050" dirty="0"/>
          </a:p>
        </p:txBody>
      </p:sp>
      <p:sp>
        <p:nvSpPr>
          <p:cNvPr id="81" name="Shape 78"/>
          <p:cNvSpPr/>
          <p:nvPr/>
        </p:nvSpPr>
        <p:spPr>
          <a:xfrm>
            <a:off x="7457846" y="6144768"/>
            <a:ext cx="1848917" cy="0"/>
          </a:xfrm>
          <a:prstGeom prst="line">
            <a:avLst/>
          </a:prstGeom>
          <a:noFill/>
          <a:ln w="9525">
            <a:solidFill>
              <a:srgbClr val="C9BFA8"/>
            </a:solidFill>
            <a:prstDash val="dash"/>
          </a:ln>
        </p:spPr>
      </p:sp>
      <p:sp>
        <p:nvSpPr>
          <p:cNvPr id="82" name="Text 79"/>
          <p:cNvSpPr txBox="1"/>
          <p:nvPr/>
        </p:nvSpPr>
        <p:spPr>
          <a:xfrm>
            <a:off x="8690458" y="5669280"/>
            <a:ext cx="616306"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٦</a:t>
            </a:r>
            <a:endParaRPr lang="ar-SA" sz="2600" dirty="0"/>
          </a:p>
        </p:txBody>
      </p:sp>
      <p:sp>
        <p:nvSpPr>
          <p:cNvPr id="83" name="Text 80"/>
          <p:cNvSpPr txBox="1"/>
          <p:nvPr/>
        </p:nvSpPr>
        <p:spPr>
          <a:xfrm>
            <a:off x="8074152" y="566928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84" name="Text 81"/>
          <p:cNvSpPr txBox="1"/>
          <p:nvPr/>
        </p:nvSpPr>
        <p:spPr>
          <a:xfrm>
            <a:off x="7457846" y="566928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85" name="Shape 82"/>
          <p:cNvSpPr/>
          <p:nvPr/>
        </p:nvSpPr>
        <p:spPr>
          <a:xfrm>
            <a:off x="5032858" y="4142232"/>
            <a:ext cx="2123237" cy="2167128"/>
          </a:xfrm>
          <a:prstGeom prst="roundRect">
            <a:avLst>
              <a:gd name="adj" fmla="val 3445"/>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Text 83"/>
          <p:cNvSpPr txBox="1"/>
          <p:nvPr/>
        </p:nvSpPr>
        <p:spPr>
          <a:xfrm>
            <a:off x="6300289" y="4215384"/>
            <a:ext cx="764365"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٧</a:t>
            </a:r>
            <a:endParaRPr lang="ar-SA" sz="5050" dirty="0"/>
          </a:p>
        </p:txBody>
      </p:sp>
      <p:sp>
        <p:nvSpPr>
          <p:cNvPr id="87" name="Text 84"/>
          <p:cNvSpPr txBox="1"/>
          <p:nvPr/>
        </p:nvSpPr>
        <p:spPr>
          <a:xfrm>
            <a:off x="6300289" y="5269139"/>
            <a:ext cx="764365"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سَبْعَة</a:t>
            </a:r>
            <a:endParaRPr lang="ar-SA" sz="1450" dirty="0"/>
          </a:p>
        </p:txBody>
      </p:sp>
      <p:sp>
        <p:nvSpPr>
          <p:cNvPr id="88" name="Shape 85"/>
          <p:cNvSpPr/>
          <p:nvPr/>
        </p:nvSpPr>
        <p:spPr>
          <a:xfrm>
            <a:off x="5170018" y="4288536"/>
            <a:ext cx="237744" cy="237744"/>
          </a:xfrm>
          <a:prstGeom prst="ellipse">
            <a:avLst/>
          </a:prstGeom>
          <a:solidFill>
            <a:srgbClr val="6B4C9A"/>
          </a:solidFill>
          <a:ln w="12700">
            <a:solidFill>
              <a:srgbClr val="6B4C9A"/>
            </a:solidFill>
            <a:prstDash val="solid"/>
          </a:ln>
        </p:spPr>
      </p:sp>
      <p:sp>
        <p:nvSpPr>
          <p:cNvPr id="89" name="Text 86"/>
          <p:cNvSpPr txBox="1"/>
          <p:nvPr/>
        </p:nvSpPr>
        <p:spPr>
          <a:xfrm>
            <a:off x="5170018"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90" name="Text 87"/>
          <p:cNvSpPr txBox="1"/>
          <p:nvPr/>
        </p:nvSpPr>
        <p:spPr>
          <a:xfrm>
            <a:off x="5480914" y="4242816"/>
            <a:ext cx="727936"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 open V.</a:t>
            </a:r>
            <a:endParaRPr lang="en-US" sz="1050" dirty="0"/>
          </a:p>
        </p:txBody>
      </p:sp>
      <p:sp>
        <p:nvSpPr>
          <p:cNvPr id="91" name="Shape 88"/>
          <p:cNvSpPr/>
          <p:nvPr/>
        </p:nvSpPr>
        <p:spPr>
          <a:xfrm>
            <a:off x="5170018" y="6144768"/>
            <a:ext cx="1848917" cy="0"/>
          </a:xfrm>
          <a:prstGeom prst="line">
            <a:avLst/>
          </a:prstGeom>
          <a:noFill/>
          <a:ln w="9525">
            <a:solidFill>
              <a:srgbClr val="C9BFA8"/>
            </a:solidFill>
            <a:prstDash val="dash"/>
          </a:ln>
        </p:spPr>
      </p:sp>
      <p:sp>
        <p:nvSpPr>
          <p:cNvPr id="92" name="Text 89"/>
          <p:cNvSpPr txBox="1"/>
          <p:nvPr/>
        </p:nvSpPr>
        <p:spPr>
          <a:xfrm>
            <a:off x="6402629" y="5669280"/>
            <a:ext cx="616306"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٧</a:t>
            </a:r>
            <a:endParaRPr lang="ar-SA" sz="2600" dirty="0"/>
          </a:p>
        </p:txBody>
      </p:sp>
      <p:sp>
        <p:nvSpPr>
          <p:cNvPr id="93" name="Text 90"/>
          <p:cNvSpPr txBox="1"/>
          <p:nvPr/>
        </p:nvSpPr>
        <p:spPr>
          <a:xfrm>
            <a:off x="5786323" y="566928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94" name="Text 91"/>
          <p:cNvSpPr txBox="1"/>
          <p:nvPr/>
        </p:nvSpPr>
        <p:spPr>
          <a:xfrm>
            <a:off x="5170018" y="566928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95" name="Shape 92"/>
          <p:cNvSpPr/>
          <p:nvPr/>
        </p:nvSpPr>
        <p:spPr>
          <a:xfrm>
            <a:off x="2745029" y="4142232"/>
            <a:ext cx="2123237" cy="2167128"/>
          </a:xfrm>
          <a:prstGeom prst="roundRect">
            <a:avLst>
              <a:gd name="adj" fmla="val 3445"/>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4012460" y="4215384"/>
            <a:ext cx="764365"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٨</a:t>
            </a:r>
            <a:endParaRPr lang="ar-SA" sz="5050" dirty="0"/>
          </a:p>
        </p:txBody>
      </p:sp>
      <p:sp>
        <p:nvSpPr>
          <p:cNvPr id="97" name="Text 94"/>
          <p:cNvSpPr txBox="1"/>
          <p:nvPr/>
        </p:nvSpPr>
        <p:spPr>
          <a:xfrm>
            <a:off x="4012460" y="5269139"/>
            <a:ext cx="764365"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ثَمَانِيَة</a:t>
            </a:r>
            <a:endParaRPr lang="ar-SA" sz="1450" dirty="0"/>
          </a:p>
        </p:txBody>
      </p:sp>
      <p:sp>
        <p:nvSpPr>
          <p:cNvPr id="98" name="Shape 95"/>
          <p:cNvSpPr/>
          <p:nvPr/>
        </p:nvSpPr>
        <p:spPr>
          <a:xfrm>
            <a:off x="2882189" y="4288536"/>
            <a:ext cx="237744" cy="237744"/>
          </a:xfrm>
          <a:prstGeom prst="ellipse">
            <a:avLst/>
          </a:prstGeom>
          <a:solidFill>
            <a:srgbClr val="6B4C9A"/>
          </a:solidFill>
          <a:ln w="12700">
            <a:solidFill>
              <a:srgbClr val="6B4C9A"/>
            </a:solidFill>
            <a:prstDash val="solid"/>
          </a:ln>
        </p:spPr>
      </p:sp>
      <p:sp>
        <p:nvSpPr>
          <p:cNvPr id="99" name="Text 96"/>
          <p:cNvSpPr txBox="1"/>
          <p:nvPr/>
        </p:nvSpPr>
        <p:spPr>
          <a:xfrm>
            <a:off x="2882189"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100" name="Text 97"/>
          <p:cNvSpPr txBox="1"/>
          <p:nvPr/>
        </p:nvSpPr>
        <p:spPr>
          <a:xfrm>
            <a:off x="3193085" y="4242816"/>
            <a:ext cx="727936" cy="365760"/>
          </a:xfrm>
          <a:prstGeom prst="rect">
            <a:avLst/>
          </a:prstGeom>
          <a:noFill/>
          <a:ln/>
        </p:spPr>
        <p:txBody>
          <a:bodyPr wrap="square" lIns="0" tIns="0" rIns="0" bIns="0" rtlCol="0" anchor="ctr"/>
          <a:lstStyle/>
          <a:p>
            <a:pPr algn="l" indent="0" marL="0">
              <a:buNone/>
            </a:pPr>
            <a:r>
              <a:rPr lang="en-US" sz="800" dirty="0">
                <a:solidFill>
                  <a:srgbClr val="1F2A37"/>
                </a:solidFill>
                <a:latin typeface="Calibri" pitchFamily="34" charset="0"/>
                <a:cs typeface="Amiri" pitchFamily="2" charset="-78"/>
              </a:rPr>
              <a:t>An upside-down V.</a:t>
            </a:r>
            <a:endParaRPr lang="en-US" sz="800" dirty="0"/>
          </a:p>
        </p:txBody>
      </p:sp>
      <p:sp>
        <p:nvSpPr>
          <p:cNvPr id="101" name="Shape 98"/>
          <p:cNvSpPr/>
          <p:nvPr/>
        </p:nvSpPr>
        <p:spPr>
          <a:xfrm>
            <a:off x="2882189" y="6144768"/>
            <a:ext cx="1848917" cy="0"/>
          </a:xfrm>
          <a:prstGeom prst="line">
            <a:avLst/>
          </a:prstGeom>
          <a:noFill/>
          <a:ln w="9525">
            <a:solidFill>
              <a:srgbClr val="C9BFA8"/>
            </a:solidFill>
            <a:prstDash val="dash"/>
          </a:ln>
        </p:spPr>
      </p:sp>
      <p:sp>
        <p:nvSpPr>
          <p:cNvPr id="102" name="Text 99"/>
          <p:cNvSpPr txBox="1"/>
          <p:nvPr/>
        </p:nvSpPr>
        <p:spPr>
          <a:xfrm>
            <a:off x="4114800" y="5669280"/>
            <a:ext cx="616306"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٨</a:t>
            </a:r>
            <a:endParaRPr lang="ar-SA" sz="2600" dirty="0"/>
          </a:p>
        </p:txBody>
      </p:sp>
      <p:sp>
        <p:nvSpPr>
          <p:cNvPr id="103" name="Text 100"/>
          <p:cNvSpPr txBox="1"/>
          <p:nvPr/>
        </p:nvSpPr>
        <p:spPr>
          <a:xfrm>
            <a:off x="3498494" y="566928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104" name="Text 101"/>
          <p:cNvSpPr txBox="1"/>
          <p:nvPr/>
        </p:nvSpPr>
        <p:spPr>
          <a:xfrm>
            <a:off x="2882189" y="566928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105" name="Shape 102"/>
          <p:cNvSpPr/>
          <p:nvPr/>
        </p:nvSpPr>
        <p:spPr>
          <a:xfrm>
            <a:off x="457200" y="4142232"/>
            <a:ext cx="2123237" cy="2167128"/>
          </a:xfrm>
          <a:prstGeom prst="roundRect">
            <a:avLst>
              <a:gd name="adj" fmla="val 3445"/>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Text 103"/>
          <p:cNvSpPr txBox="1"/>
          <p:nvPr/>
        </p:nvSpPr>
        <p:spPr>
          <a:xfrm>
            <a:off x="1724632" y="4215384"/>
            <a:ext cx="764365"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2" charset="-78"/>
                <a:ea typeface="Amiri" pitchFamily="2" charset="-78"/>
                <a:cs typeface="Amiri" pitchFamily="2" charset="-78"/>
              </a:rPr>
              <a:t>٩</a:t>
            </a:r>
            <a:endParaRPr lang="ar-SA" sz="5050" dirty="0"/>
          </a:p>
        </p:txBody>
      </p:sp>
      <p:sp>
        <p:nvSpPr>
          <p:cNvPr id="107" name="Text 104"/>
          <p:cNvSpPr txBox="1"/>
          <p:nvPr/>
        </p:nvSpPr>
        <p:spPr>
          <a:xfrm>
            <a:off x="1724632" y="5269139"/>
            <a:ext cx="764365"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2" charset="-78"/>
                <a:ea typeface="Amiri" pitchFamily="2" charset="-78"/>
                <a:cs typeface="Amiri" pitchFamily="2" charset="-78"/>
              </a:rPr>
              <a:t>تِسْعَة</a:t>
            </a:r>
            <a:endParaRPr lang="ar-SA" sz="1450" dirty="0"/>
          </a:p>
        </p:txBody>
      </p:sp>
      <p:sp>
        <p:nvSpPr>
          <p:cNvPr id="108" name="Shape 105"/>
          <p:cNvSpPr/>
          <p:nvPr/>
        </p:nvSpPr>
        <p:spPr>
          <a:xfrm>
            <a:off x="594360" y="4288536"/>
            <a:ext cx="237744" cy="237744"/>
          </a:xfrm>
          <a:prstGeom prst="ellipse">
            <a:avLst/>
          </a:prstGeom>
          <a:solidFill>
            <a:srgbClr val="6B4C9A"/>
          </a:solidFill>
          <a:ln w="12700">
            <a:solidFill>
              <a:srgbClr val="6B4C9A"/>
            </a:solidFill>
            <a:prstDash val="solid"/>
          </a:ln>
        </p:spPr>
      </p:sp>
      <p:sp>
        <p:nvSpPr>
          <p:cNvPr id="109" name="Text 106"/>
          <p:cNvSpPr txBox="1"/>
          <p:nvPr/>
        </p:nvSpPr>
        <p:spPr>
          <a:xfrm>
            <a:off x="594360"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1</a:t>
            </a:r>
            <a:endParaRPr lang="en-US" sz="900" dirty="0"/>
          </a:p>
        </p:txBody>
      </p:sp>
      <p:sp>
        <p:nvSpPr>
          <p:cNvPr id="110" name="Text 107"/>
          <p:cNvSpPr txBox="1"/>
          <p:nvPr/>
        </p:nvSpPr>
        <p:spPr>
          <a:xfrm>
            <a:off x="905256" y="4242816"/>
            <a:ext cx="727936" cy="365760"/>
          </a:xfrm>
          <a:prstGeom prst="rect">
            <a:avLst/>
          </a:prstGeom>
          <a:noFill/>
          <a:ln/>
        </p:spPr>
        <p:txBody>
          <a:bodyPr wrap="square" lIns="0" tIns="0" rIns="0" bIns="0" rtlCol="0" anchor="ctr"/>
          <a:lstStyle/>
          <a:p>
            <a:pPr algn="l" indent="0" marL="0">
              <a:buNone/>
            </a:pPr>
            <a:r>
              <a:rPr lang="en-US" sz="900" dirty="0">
                <a:solidFill>
                  <a:srgbClr val="1F2A37"/>
                </a:solidFill>
                <a:latin typeface="Calibri" pitchFamily="34" charset="0"/>
                <a:cs typeface="Amiri" pitchFamily="2" charset="-78"/>
              </a:rPr>
              <a:t>Round head, stroke down.</a:t>
            </a:r>
            <a:endParaRPr lang="en-US" sz="900" dirty="0"/>
          </a:p>
        </p:txBody>
      </p:sp>
      <p:sp>
        <p:nvSpPr>
          <p:cNvPr id="111" name="Shape 108"/>
          <p:cNvSpPr/>
          <p:nvPr/>
        </p:nvSpPr>
        <p:spPr>
          <a:xfrm>
            <a:off x="594360" y="6144768"/>
            <a:ext cx="1848917" cy="0"/>
          </a:xfrm>
          <a:prstGeom prst="line">
            <a:avLst/>
          </a:prstGeom>
          <a:noFill/>
          <a:ln w="9525">
            <a:solidFill>
              <a:srgbClr val="C9BFA8"/>
            </a:solidFill>
            <a:prstDash val="dash"/>
          </a:ln>
        </p:spPr>
      </p:sp>
      <p:sp>
        <p:nvSpPr>
          <p:cNvPr id="112" name="Text 109"/>
          <p:cNvSpPr txBox="1"/>
          <p:nvPr/>
        </p:nvSpPr>
        <p:spPr>
          <a:xfrm>
            <a:off x="1826971" y="5669280"/>
            <a:ext cx="616306"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2" charset="-78"/>
                <a:ea typeface="Amiri" pitchFamily="2" charset="-78"/>
                <a:cs typeface="Amiri" pitchFamily="2" charset="-78"/>
              </a:rPr>
              <a:t>٩</a:t>
            </a:r>
            <a:endParaRPr lang="ar-SA" sz="2600" dirty="0"/>
          </a:p>
        </p:txBody>
      </p:sp>
      <p:sp>
        <p:nvSpPr>
          <p:cNvPr id="113" name="Text 110"/>
          <p:cNvSpPr txBox="1"/>
          <p:nvPr/>
        </p:nvSpPr>
        <p:spPr>
          <a:xfrm>
            <a:off x="1210666" y="566928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114" name="Text 111"/>
          <p:cNvSpPr txBox="1"/>
          <p:nvPr/>
        </p:nvSpPr>
        <p:spPr>
          <a:xfrm>
            <a:off x="594360" y="5669280"/>
            <a:ext cx="616306"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cs typeface="Amiri" pitchFamily="2" charset="-78"/>
              </a:rPr>
              <a:t> </a:t>
            </a:r>
            <a:endParaRPr lang="en-US" sz="2600" dirty="0"/>
          </a:p>
        </p:txBody>
      </p:sp>
      <p:sp>
        <p:nvSpPr>
          <p:cNvPr id="115" name="Text 11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WEBSITE GAMES “DIGIT PAIR SPRINT” AND “FIGURE FLASH”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Figure flash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بَرْقُ الأَرْقَامِ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digit is 3?</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٢</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٤</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٣</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digit is 5?</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٠</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٥</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٦</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digit is 7?</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٦</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١٢</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21</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12</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٧٢</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72</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27</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702</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dot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٠</a:t>
            </a:r>
            <a:pPr algn="l" indent="0" marL="0">
              <a:lnSpc>
                <a:spcPct val="115000"/>
              </a:lnSpc>
              <a:buNone/>
            </a:pPr>
            <a:r>
              <a:rPr lang="en-US" sz="1250" dirty="0">
                <a:solidFill>
                  <a:srgbClr val="1E6B52"/>
                </a:solidFill>
                <a:latin typeface="Calibri" pitchFamily="34" charset="0"/>
                <a:cs typeface="Amiri" pitchFamily="2" charset="-78"/>
              </a:rPr>
              <a:t> = 0 · ring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٥</a:t>
            </a:r>
            <a:pPr algn="l" indent="0" marL="0">
              <a:lnSpc>
                <a:spcPct val="115000"/>
              </a:lnSpc>
              <a:buNone/>
            </a:pPr>
            <a:r>
              <a:rPr lang="en-US" sz="1250" dirty="0">
                <a:solidFill>
                  <a:srgbClr val="1E6B52"/>
                </a:solidFill>
                <a:latin typeface="Calibri" pitchFamily="34" charset="0"/>
                <a:cs typeface="Amiri" pitchFamily="2" charset="-78"/>
              </a:rPr>
              <a:t> =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hook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٦</a:t>
            </a:r>
            <a:pPr algn="l" indent="0" marL="0">
              <a:lnSpc>
                <a:spcPct val="115000"/>
              </a:lnSpc>
              <a:buNone/>
            </a:pPr>
            <a:r>
              <a:rPr lang="en-US" sz="1250" dirty="0">
                <a:solidFill>
                  <a:srgbClr val="1E6B52"/>
                </a:solidFill>
                <a:latin typeface="Calibri" pitchFamily="34" charset="0"/>
                <a:cs typeface="Amiri" pitchFamily="2" charset="-78"/>
              </a:rPr>
              <a:t> = 6 · V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٧</a:t>
            </a:r>
            <a:pPr algn="l" indent="0" marL="0">
              <a:lnSpc>
                <a:spcPct val="115000"/>
              </a:lnSpc>
              <a:buNone/>
            </a:pPr>
            <a:r>
              <a:rPr lang="en-US" sz="1250" dirty="0">
                <a:solidFill>
                  <a:srgbClr val="1E6B52"/>
                </a:solidFill>
                <a:latin typeface="Calibri" pitchFamily="34" charset="0"/>
                <a:cs typeface="Amiri" pitchFamily="2" charset="-78"/>
              </a:rPr>
              <a:t> = 7</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Tens are on the LEFT.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FIGURE FLASH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digit is 3?</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٢</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٤</a:t>
            </a:r>
            <a:endParaRPr lang="ar-SA" sz="170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٣</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Arabic-Indic digit for three is </a:t>
            </a:r>
            <a:pPr algn="l" indent="0" marL="0">
              <a:buNone/>
            </a:pPr>
            <a:r>
              <a:rPr lang="ar-SA" altLang="en-US" sz="1350" dirty="0">
                <a:solidFill>
                  <a:srgbClr val="8A6D1E"/>
                </a:solidFill>
                <a:latin typeface="Amiri" pitchFamily="2" charset="-78"/>
                <a:ea typeface="Amiri" pitchFamily="2" charset="-78"/>
                <a:cs typeface="Amiri" pitchFamily="2" charset="-78"/>
              </a:rPr>
              <a:t>٣</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digit is 5?</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٠</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٥</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٦</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Arabic-Indic digit for five is </a:t>
            </a:r>
            <a:pPr algn="l" indent="0" marL="0">
              <a:buNone/>
            </a:pPr>
            <a:r>
              <a:rPr lang="ar-SA" altLang="en-US" sz="1350" dirty="0">
                <a:solidFill>
                  <a:srgbClr val="8A6D1E"/>
                </a:solidFill>
                <a:latin typeface="Amiri" pitchFamily="2" charset="-78"/>
                <a:ea typeface="Amiri" pitchFamily="2" charset="-78"/>
                <a:cs typeface="Amiri" pitchFamily="2" charset="-78"/>
              </a:rPr>
              <a:t>٥</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digit is 7?</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٨</a:t>
            </a:r>
            <a:endParaRPr lang="ar-SA" sz="170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٧</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٦</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Arabic-Indic digit for seven is </a:t>
            </a:r>
            <a:pPr algn="l" indent="0" marL="0">
              <a:buNone/>
            </a:pPr>
            <a:r>
              <a:rPr lang="ar-SA" altLang="en-US" sz="1350" dirty="0">
                <a:solidFill>
                  <a:srgbClr val="8A6D1E"/>
                </a:solidFill>
                <a:latin typeface="Amiri" pitchFamily="2" charset="-78"/>
                <a:ea typeface="Amiri" pitchFamily="2" charset="-78"/>
                <a:cs typeface="Amiri" pitchFamily="2" charset="-78"/>
              </a:rPr>
              <a:t>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١٢</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21</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12</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Twelve is written </a:t>
            </a:r>
            <a:pPr algn="l" indent="0" marL="0">
              <a:buNone/>
            </a:pPr>
            <a:r>
              <a:rPr lang="ar-SA" altLang="en-US" sz="1350" dirty="0">
                <a:solidFill>
                  <a:srgbClr val="8A6D1E"/>
                </a:solidFill>
                <a:latin typeface="Amiri" pitchFamily="2" charset="-78"/>
                <a:ea typeface="Amiri" pitchFamily="2" charset="-78"/>
                <a:cs typeface="Amiri" pitchFamily="2" charset="-78"/>
              </a:rPr>
              <a:t>١٢</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٧٢</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72</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27</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702</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7 tens and 2 ones (website extension).</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dot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٠</a:t>
            </a:r>
            <a:pPr algn="l" indent="0" marL="0">
              <a:lnSpc>
                <a:spcPct val="115000"/>
              </a:lnSpc>
              <a:buNone/>
            </a:pPr>
            <a:r>
              <a:rPr lang="en-US" sz="1250" dirty="0">
                <a:solidFill>
                  <a:srgbClr val="1E6B52"/>
                </a:solidFill>
                <a:latin typeface="Calibri" pitchFamily="34" charset="0"/>
                <a:cs typeface="Amiri" pitchFamily="2" charset="-78"/>
              </a:rPr>
              <a:t> = 0 · ring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٥</a:t>
            </a:r>
            <a:pPr algn="l" indent="0" marL="0">
              <a:lnSpc>
                <a:spcPct val="115000"/>
              </a:lnSpc>
              <a:buNone/>
            </a:pPr>
            <a:r>
              <a:rPr lang="en-US" sz="1250" dirty="0">
                <a:solidFill>
                  <a:srgbClr val="1E6B52"/>
                </a:solidFill>
                <a:latin typeface="Calibri" pitchFamily="34" charset="0"/>
                <a:cs typeface="Amiri" pitchFamily="2" charset="-78"/>
              </a:rPr>
              <a:t> =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hook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٦</a:t>
            </a:r>
            <a:pPr algn="l" indent="0" marL="0">
              <a:lnSpc>
                <a:spcPct val="115000"/>
              </a:lnSpc>
              <a:buNone/>
            </a:pPr>
            <a:r>
              <a:rPr lang="en-US" sz="1250" dirty="0">
                <a:solidFill>
                  <a:srgbClr val="1E6B52"/>
                </a:solidFill>
                <a:latin typeface="Calibri" pitchFamily="34" charset="0"/>
                <a:cs typeface="Amiri" pitchFamily="2" charset="-78"/>
              </a:rPr>
              <a:t> = 6 · V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٧</a:t>
            </a:r>
            <a:pPr algn="l" indent="0" marL="0">
              <a:lnSpc>
                <a:spcPct val="115000"/>
              </a:lnSpc>
              <a:buNone/>
            </a:pPr>
            <a:r>
              <a:rPr lang="en-US" sz="1250" dirty="0">
                <a:solidFill>
                  <a:srgbClr val="1E6B52"/>
                </a:solidFill>
                <a:latin typeface="Calibri" pitchFamily="34" charset="0"/>
                <a:cs typeface="Amiri" pitchFamily="2" charset="-78"/>
              </a:rPr>
              <a:t> = 7</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Tens are on the LEFT.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LISTENING · PARTNER CALL-AND-WRITE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 and write the number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اِسْتَمِعْ وَاكْتُبْ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Number 1</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٣</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٢</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Number 2</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٦</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Number 3</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٠١</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٢</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١٠</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Number 4</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١٥</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٥١</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٥</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Number 5</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١٢</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٢٠</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٢</a:t>
            </a:r>
            <a:endParaRPr lang="ar-SA" sz="20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LISTEN WITHOUT LOOKING</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Write each number in Arabic digits in your book.</a:t>
            </a:r>
            <a:endParaRPr lang="en-US" sz="1250" dirty="0"/>
          </a:p>
          <a:p>
            <a:pPr algn="l" indent="0" marL="0">
              <a:buNone/>
            </a:pPr>
            <a:r>
              <a:rPr lang="en-US" sz="1250" dirty="0">
                <a:solidFill>
                  <a:srgbClr val="1F2A37"/>
                </a:solidFill>
                <a:latin typeface="Calibri" pitchFamily="34" charset="0"/>
                <a:cs typeface="Amiri" pitchFamily="2" charset="-78"/>
              </a:rPr>
              <a:t>Then choose here.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Number 1</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٨</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٣</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٢</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ثَلَاثَةٌ = 3</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Number 2</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٩</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٧</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٦</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سَبْعَةٌ = 7</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Number 3</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٠١</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٢</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١٠</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عَشَرَةٌ = 10</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Number 4</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١٥</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٥١</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٥</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خَمْسَةَ عَشَرَ = 15</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Number 5</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١٢</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٢٠</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٢</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عِشْرُونَ = 20</a:t>
            </a:r>
            <a:endParaRPr lang="ar-SA" sz="13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LISTEN WITHOUT LOOKING</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Write each number in Arabic digits in your book.</a:t>
            </a:r>
            <a:endParaRPr lang="en-US" sz="1250" dirty="0"/>
          </a:p>
          <a:p>
            <a:pPr algn="l" indent="0" marL="0">
              <a:buNone/>
            </a:pPr>
            <a:r>
              <a:rPr lang="en-US" sz="1250" dirty="0">
                <a:solidFill>
                  <a:srgbClr val="1F2A37"/>
                </a:solidFill>
                <a:latin typeface="Calibri" pitchFamily="34" charset="0"/>
                <a:cs typeface="Amiri" pitchFamily="2" charset="-78"/>
              </a:rPr>
              <a:t>Then choose here.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REAL-WORLD NUMBER LAB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Numbers around us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الأَرْقَامُ حَوْلَنَا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7610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Context</a:t>
            </a:r>
            <a:endParaRPr lang="en-US" sz="1100" dirty="0"/>
          </a:p>
        </p:txBody>
      </p:sp>
      <p:sp>
        <p:nvSpPr>
          <p:cNvPr id="17" name="Text 14"/>
          <p:cNvSpPr txBox="1"/>
          <p:nvPr/>
        </p:nvSpPr>
        <p:spPr>
          <a:xfrm>
            <a:off x="705002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Sign</a:t>
            </a:r>
            <a:endParaRPr lang="en-US" sz="1100" dirty="0"/>
          </a:p>
        </p:txBody>
      </p:sp>
      <p:sp>
        <p:nvSpPr>
          <p:cNvPr id="18" name="Text 15"/>
          <p:cNvSpPr txBox="1"/>
          <p:nvPr/>
        </p:nvSpPr>
        <p:spPr>
          <a:xfrm>
            <a:off x="412394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a:t>
            </a:r>
            <a:endParaRPr lang="en-US" sz="1100" dirty="0"/>
          </a:p>
        </p:txBody>
      </p:sp>
      <p:sp>
        <p:nvSpPr>
          <p:cNvPr id="19" name="Text 16"/>
          <p:cNvSpPr txBox="1"/>
          <p:nvPr/>
        </p:nvSpPr>
        <p:spPr>
          <a:xfrm>
            <a:off x="53035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How to read it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10012680"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Price</a:t>
            </a:r>
            <a:endParaRPr lang="en-US" sz="1100" dirty="0"/>
          </a:p>
        </p:txBody>
      </p:sp>
      <p:sp>
        <p:nvSpPr>
          <p:cNvPr id="22" name="Text 19"/>
          <p:cNvSpPr txBox="1"/>
          <p:nvPr/>
        </p:nvSpPr>
        <p:spPr>
          <a:xfrm>
            <a:off x="7068312" y="2267712"/>
            <a:ext cx="274320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السِّعْرُ ١٥</a:t>
            </a:r>
            <a:endParaRPr lang="ar-SA" sz="2800" dirty="0"/>
          </a:p>
        </p:txBody>
      </p:sp>
      <p:sp>
        <p:nvSpPr>
          <p:cNvPr id="23" name="Text 20"/>
          <p:cNvSpPr txBox="1"/>
          <p:nvPr/>
        </p:nvSpPr>
        <p:spPr>
          <a:xfrm>
            <a:off x="4160520"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fifteen</a:t>
            </a:r>
            <a:endParaRPr lang="en-US" sz="1100" dirty="0"/>
          </a:p>
        </p:txBody>
      </p:sp>
      <p:sp>
        <p:nvSpPr>
          <p:cNvPr id="24" name="Text 21"/>
          <p:cNvSpPr txBox="1"/>
          <p:nvPr/>
        </p:nvSpPr>
        <p:spPr>
          <a:xfrm>
            <a:off x="566928" y="2267712"/>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whole value; the currency word comes after.</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10012680"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Room</a:t>
            </a:r>
            <a:endParaRPr lang="en-US" sz="1100" dirty="0"/>
          </a:p>
        </p:txBody>
      </p:sp>
      <p:sp>
        <p:nvSpPr>
          <p:cNvPr id="29" name="Text 26"/>
          <p:cNvSpPr txBox="1"/>
          <p:nvPr/>
        </p:nvSpPr>
        <p:spPr>
          <a:xfrm>
            <a:off x="7068312" y="3054096"/>
            <a:ext cx="274320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الغُرْفَةُ ١٠٤</a:t>
            </a:r>
            <a:endParaRPr lang="ar-SA" sz="2800" dirty="0"/>
          </a:p>
        </p:txBody>
      </p:sp>
      <p:sp>
        <p:nvSpPr>
          <p:cNvPr id="30" name="Text 27"/>
          <p:cNvSpPr txBox="1"/>
          <p:nvPr/>
        </p:nvSpPr>
        <p:spPr>
          <a:xfrm>
            <a:off x="4160520"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hundred and four</a:t>
            </a:r>
            <a:endParaRPr lang="en-US" sz="1100" dirty="0"/>
          </a:p>
        </p:txBody>
      </p:sp>
      <p:sp>
        <p:nvSpPr>
          <p:cNvPr id="31" name="Text 28"/>
          <p:cNvSpPr txBox="1"/>
          <p:nvPr/>
        </p:nvSpPr>
        <p:spPr>
          <a:xfrm>
            <a:off x="566928" y="3054096"/>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number — or a code read digit by digit.</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10012680"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Score</a:t>
            </a:r>
            <a:endParaRPr lang="en-US" sz="1100" dirty="0"/>
          </a:p>
        </p:txBody>
      </p:sp>
      <p:sp>
        <p:nvSpPr>
          <p:cNvPr id="36" name="Text 33"/>
          <p:cNvSpPr txBox="1"/>
          <p:nvPr/>
        </p:nvSpPr>
        <p:spPr>
          <a:xfrm>
            <a:off x="7068312" y="3840480"/>
            <a:ext cx="274320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النَّتِيجَةُ ٢–١</a:t>
            </a:r>
            <a:endParaRPr lang="ar-SA" sz="2800" dirty="0"/>
          </a:p>
        </p:txBody>
      </p:sp>
      <p:sp>
        <p:nvSpPr>
          <p:cNvPr id="37" name="Text 34"/>
          <p:cNvSpPr txBox="1"/>
          <p:nvPr/>
        </p:nvSpPr>
        <p:spPr>
          <a:xfrm>
            <a:off x="4160520"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 one</a:t>
            </a:r>
            <a:endParaRPr lang="en-US" sz="1100" dirty="0"/>
          </a:p>
        </p:txBody>
      </p:sp>
      <p:sp>
        <p:nvSpPr>
          <p:cNvPr id="38" name="Text 35"/>
          <p:cNvSpPr txBox="1"/>
          <p:nvPr/>
        </p:nvSpPr>
        <p:spPr>
          <a:xfrm>
            <a:off x="566928" y="3840480"/>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Each side in display order.</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10012680"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Time</a:t>
            </a:r>
            <a:endParaRPr lang="en-US" sz="1100" dirty="0"/>
          </a:p>
        </p:txBody>
      </p:sp>
      <p:sp>
        <p:nvSpPr>
          <p:cNvPr id="41" name="Text 38"/>
          <p:cNvSpPr txBox="1"/>
          <p:nvPr/>
        </p:nvSpPr>
        <p:spPr>
          <a:xfrm>
            <a:off x="7068312" y="4626864"/>
            <a:ext cx="274320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السَّاعَةُ ٨:٣٠</a:t>
            </a:r>
            <a:endParaRPr lang="ar-SA" sz="2800" dirty="0"/>
          </a:p>
        </p:txBody>
      </p:sp>
      <p:sp>
        <p:nvSpPr>
          <p:cNvPr id="42" name="Text 39"/>
          <p:cNvSpPr txBox="1"/>
          <p:nvPr/>
        </p:nvSpPr>
        <p:spPr>
          <a:xfrm>
            <a:off x="4160520"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eight … thirty</a:t>
            </a:r>
            <a:endParaRPr lang="en-US" sz="1100" dirty="0"/>
          </a:p>
        </p:txBody>
      </p:sp>
      <p:sp>
        <p:nvSpPr>
          <p:cNvPr id="43" name="Text 40"/>
          <p:cNvSpPr txBox="1"/>
          <p:nvPr/>
        </p:nvSpPr>
        <p:spPr>
          <a:xfrm>
            <a:off x="566928" y="4626864"/>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Hour and minutes; full time phrases later.</a:t>
            </a:r>
            <a:endParaRPr lang="en-US" sz="1100" dirty="0"/>
          </a:p>
        </p:txBody>
      </p:sp>
      <p:sp>
        <p:nvSpPr>
          <p:cNvPr id="44" name="Shape 41"/>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5" name="Text 42"/>
          <p:cNvSpPr txBox="1"/>
          <p:nvPr/>
        </p:nvSpPr>
        <p:spPr>
          <a:xfrm>
            <a:off x="10012680" y="5413248"/>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Phone</a:t>
            </a:r>
            <a:endParaRPr lang="en-US" sz="1100" dirty="0"/>
          </a:p>
        </p:txBody>
      </p:sp>
      <p:sp>
        <p:nvSpPr>
          <p:cNvPr id="46" name="Text 43"/>
          <p:cNvSpPr txBox="1"/>
          <p:nvPr/>
        </p:nvSpPr>
        <p:spPr>
          <a:xfrm>
            <a:off x="7068312" y="5413248"/>
            <a:ext cx="2743200" cy="73152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٠١٢٣</a:t>
            </a:r>
            <a:endParaRPr lang="ar-SA" sz="2800" dirty="0"/>
          </a:p>
        </p:txBody>
      </p:sp>
      <p:sp>
        <p:nvSpPr>
          <p:cNvPr id="47" name="Text 44"/>
          <p:cNvSpPr txBox="1"/>
          <p:nvPr/>
        </p:nvSpPr>
        <p:spPr>
          <a:xfrm>
            <a:off x="4160520" y="5413248"/>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zero, one, two, three</a:t>
            </a:r>
            <a:endParaRPr lang="en-US" sz="1100" dirty="0"/>
          </a:p>
        </p:txBody>
      </p:sp>
      <p:sp>
        <p:nvSpPr>
          <p:cNvPr id="48" name="Text 45"/>
          <p:cNvSpPr txBox="1"/>
          <p:nvPr/>
        </p:nvSpPr>
        <p:spPr>
          <a:xfrm>
            <a:off x="566928" y="5413248"/>
            <a:ext cx="34107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each digit separately.</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7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0–10</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the Arabic digits for 0–10 twice from the model, then once from memory. Write the Arabic word under 0–5.</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Say “dot — zero, ring — five” as you write.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1–20</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1–20 as Arabic digits and as Arabic words (website homework). Cover and repeat the five hardest.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Use the 11–20 table: unit + عَشَرَ.</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to 100</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your age, your house number and a year you remember in Arabic digits; then write the tens from 20 to 100 with their words.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Label each context in English (website homework).</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Live caller bingo and number talk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عُدَّ مِنْ ٠ إِلَى ١٠.</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هٰذَا؟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عُدَّ مِنْ ١١ إِلَى ٢٠.</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اِقْرَأْ: ٣٠ · ٥٠ · ١٠٠</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هٰذَا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___ عَشَرَ</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ثَلَاثُونَ · خَمْسُونَ · مِائَةٌ</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قَالَ / قَالَتْ :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كَمْ هٰذَا؟ ١٥</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much is this? 15</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خَمْسَةَ عَشَرَ.</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Fifteen.</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MIX-UPS AND REPAIRS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Mistakes that help us learn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أَخْطَاءٌ شَائِعَةٌ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68426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Likely mix-up</a:t>
            </a:r>
            <a:endParaRPr lang="en-US" sz="1100" dirty="0"/>
          </a:p>
        </p:txBody>
      </p:sp>
      <p:sp>
        <p:nvSpPr>
          <p:cNvPr id="17" name="Text 14"/>
          <p:cNvSpPr txBox="1"/>
          <p:nvPr/>
        </p:nvSpPr>
        <p:spPr>
          <a:xfrm>
            <a:off x="53035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Repair cue</a:t>
            </a:r>
            <a:endParaRPr lang="en-US" sz="1100" dirty="0"/>
          </a:p>
        </p:txBody>
      </p:sp>
      <p:sp>
        <p:nvSpPr>
          <p:cNvPr id="18" name="Shape 15"/>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19" name="Text 16"/>
          <p:cNvSpPr txBox="1"/>
          <p:nvPr/>
        </p:nvSpPr>
        <p:spPr>
          <a:xfrm>
            <a:off x="6720840" y="226771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Reading </a:t>
            </a:r>
            <a:pPr algn="l" indent="0" marL="0">
              <a:buNone/>
            </a:pPr>
            <a:r>
              <a:rPr lang="ar-SA" altLang="en-US" sz="1450" dirty="0">
                <a:solidFill>
                  <a:srgbClr val="5A6472"/>
                </a:solidFill>
                <a:latin typeface="Amiri" pitchFamily="2" charset="-78"/>
                <a:ea typeface="Amiri" pitchFamily="2" charset="-78"/>
                <a:cs typeface="Amiri" pitchFamily="2" charset="-78"/>
              </a:rPr>
              <a:t>٥</a:t>
            </a:r>
            <a:pPr algn="l" indent="0" marL="0">
              <a:buNone/>
            </a:pPr>
            <a:r>
              <a:rPr lang="en-US" sz="1100" dirty="0">
                <a:solidFill>
                  <a:srgbClr val="5A6472"/>
                </a:solidFill>
                <a:latin typeface="Calibri" pitchFamily="34" charset="0"/>
                <a:cs typeface="Amiri" pitchFamily="2" charset="-78"/>
              </a:rPr>
              <a:t> as zero</a:t>
            </a:r>
            <a:endParaRPr lang="en-US" sz="1100" dirty="0"/>
          </a:p>
        </p:txBody>
      </p:sp>
      <p:sp>
        <p:nvSpPr>
          <p:cNvPr id="20" name="Text 17"/>
          <p:cNvSpPr txBox="1"/>
          <p:nvPr/>
        </p:nvSpPr>
        <p:spPr>
          <a:xfrm>
            <a:off x="566928" y="226771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ring is five; the small dot </a:t>
            </a:r>
            <a:pPr algn="l" indent="0" marL="0">
              <a:buNone/>
            </a:pPr>
            <a:r>
              <a:rPr lang="ar-SA" altLang="en-US" sz="1450" dirty="0">
                <a:solidFill>
                  <a:srgbClr val="5A6472"/>
                </a:solidFill>
                <a:latin typeface="Amiri" pitchFamily="2" charset="-78"/>
                <a:ea typeface="Amiri" pitchFamily="2" charset="-78"/>
                <a:cs typeface="Amiri" pitchFamily="2" charset="-78"/>
              </a:rPr>
              <a:t>٠</a:t>
            </a:r>
            <a:pPr algn="l" indent="0" marL="0">
              <a:buNone/>
            </a:pPr>
            <a:r>
              <a:rPr lang="en-US" sz="1100" dirty="0">
                <a:solidFill>
                  <a:srgbClr val="5A6472"/>
                </a:solidFill>
                <a:latin typeface="Calibri" pitchFamily="34" charset="0"/>
                <a:cs typeface="Amiri" pitchFamily="2" charset="-78"/>
              </a:rPr>
              <a:t> is zero.</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4" name="Text 21"/>
          <p:cNvSpPr txBox="1"/>
          <p:nvPr/>
        </p:nvSpPr>
        <p:spPr>
          <a:xfrm>
            <a:off x="6720840" y="2950464"/>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Reading </a:t>
            </a:r>
            <a:pPr algn="l" indent="0" marL="0">
              <a:buNone/>
            </a:pPr>
            <a:r>
              <a:rPr lang="ar-SA" altLang="en-US" sz="1450" dirty="0">
                <a:solidFill>
                  <a:srgbClr val="5A6472"/>
                </a:solidFill>
                <a:latin typeface="Amiri" pitchFamily="2" charset="-78"/>
                <a:ea typeface="Amiri" pitchFamily="2" charset="-78"/>
                <a:cs typeface="Amiri" pitchFamily="2" charset="-78"/>
              </a:rPr>
              <a:t>٦</a:t>
            </a:r>
            <a:pPr algn="l" indent="0" marL="0">
              <a:buNone/>
            </a:pPr>
            <a:r>
              <a:rPr lang="en-US" sz="1100" dirty="0">
                <a:solidFill>
                  <a:srgbClr val="5A6472"/>
                </a:solidFill>
                <a:latin typeface="Calibri" pitchFamily="34" charset="0"/>
                <a:cs typeface="Amiri" pitchFamily="2" charset="-78"/>
              </a:rPr>
              <a:t> as 7</a:t>
            </a:r>
            <a:endParaRPr lang="en-US" sz="1100" dirty="0"/>
          </a:p>
        </p:txBody>
      </p:sp>
      <p:sp>
        <p:nvSpPr>
          <p:cNvPr id="25" name="Text 22"/>
          <p:cNvSpPr txBox="1"/>
          <p:nvPr/>
        </p:nvSpPr>
        <p:spPr>
          <a:xfrm>
            <a:off x="566928" y="2950464"/>
            <a:ext cx="5971032" cy="62788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٦</a:t>
            </a:r>
            <a:pPr algn="l" indent="0" marL="0">
              <a:buNone/>
            </a:pPr>
            <a:r>
              <a:rPr lang="en-US" sz="1100" dirty="0">
                <a:solidFill>
                  <a:srgbClr val="5A6472"/>
                </a:solidFill>
                <a:latin typeface="Calibri" pitchFamily="34" charset="0"/>
                <a:cs typeface="Amiri" pitchFamily="2" charset="-78"/>
              </a:rPr>
              <a:t> is a hook = six; </a:t>
            </a:r>
            <a:pPr algn="l" indent="0" marL="0">
              <a:buNone/>
            </a:pPr>
            <a:r>
              <a:rPr lang="ar-SA" altLang="en-US" sz="1450" dirty="0">
                <a:solidFill>
                  <a:srgbClr val="5A6472"/>
                </a:solidFill>
                <a:latin typeface="Amiri" pitchFamily="2" charset="-78"/>
                <a:ea typeface="Amiri" pitchFamily="2" charset="-78"/>
                <a:cs typeface="Amiri" pitchFamily="2" charset="-78"/>
              </a:rPr>
              <a:t>٧</a:t>
            </a:r>
            <a:pPr algn="l" indent="0" marL="0">
              <a:buNone/>
            </a:pPr>
            <a:r>
              <a:rPr lang="en-US" sz="1100" dirty="0">
                <a:solidFill>
                  <a:srgbClr val="5A6472"/>
                </a:solidFill>
                <a:latin typeface="Calibri" pitchFamily="34" charset="0"/>
                <a:cs typeface="Amiri" pitchFamily="2" charset="-78"/>
              </a:rPr>
              <a:t> is a V = seven.</a:t>
            </a:r>
            <a:endParaRPr lang="en-US" sz="1100" dirty="0"/>
          </a:p>
        </p:txBody>
      </p:sp>
      <p:sp>
        <p:nvSpPr>
          <p:cNvPr id="26" name="Shape 23"/>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29" name="Text 26"/>
          <p:cNvSpPr txBox="1"/>
          <p:nvPr/>
        </p:nvSpPr>
        <p:spPr>
          <a:xfrm>
            <a:off x="6720840" y="3633216"/>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Reading </a:t>
            </a:r>
            <a:pPr algn="l" indent="0" marL="0">
              <a:buNone/>
            </a:pPr>
            <a:r>
              <a:rPr lang="ar-SA" altLang="en-US" sz="1450" dirty="0">
                <a:solidFill>
                  <a:srgbClr val="5A6472"/>
                </a:solidFill>
                <a:latin typeface="Amiri" pitchFamily="2" charset="-78"/>
                <a:ea typeface="Amiri" pitchFamily="2" charset="-78"/>
                <a:cs typeface="Amiri" pitchFamily="2" charset="-78"/>
              </a:rPr>
              <a:t>١٥</a:t>
            </a:r>
            <a:pPr algn="l" indent="0" marL="0">
              <a:buNone/>
            </a:pPr>
            <a:r>
              <a:rPr lang="en-US" sz="1100" dirty="0">
                <a:solidFill>
                  <a:srgbClr val="5A6472"/>
                </a:solidFill>
                <a:latin typeface="Calibri" pitchFamily="34" charset="0"/>
                <a:cs typeface="Amiri" pitchFamily="2" charset="-78"/>
              </a:rPr>
              <a:t> as 51</a:t>
            </a:r>
            <a:endParaRPr lang="en-US" sz="1100" dirty="0"/>
          </a:p>
        </p:txBody>
      </p:sp>
      <p:sp>
        <p:nvSpPr>
          <p:cNvPr id="30" name="Text 27"/>
          <p:cNvSpPr txBox="1"/>
          <p:nvPr/>
        </p:nvSpPr>
        <p:spPr>
          <a:xfrm>
            <a:off x="566928" y="3633216"/>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Tens on the left: 1 ten, 5 ones.</a:t>
            </a:r>
            <a:endParaRPr lang="en-US" sz="1100" dirty="0"/>
          </a:p>
        </p:txBody>
      </p:sp>
      <p:sp>
        <p:nvSpPr>
          <p:cNvPr id="31" name="Shape 28"/>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4" name="Text 31"/>
          <p:cNvSpPr txBox="1"/>
          <p:nvPr/>
        </p:nvSpPr>
        <p:spPr>
          <a:xfrm>
            <a:off x="6720840" y="4315968"/>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Mixing </a:t>
            </a:r>
            <a:pPr algn="l" indent="0" marL="0">
              <a:buNone/>
            </a:pPr>
            <a:r>
              <a:rPr lang="ar-SA" altLang="en-US" sz="1450" dirty="0">
                <a:solidFill>
                  <a:srgbClr val="5A6472"/>
                </a:solidFill>
                <a:latin typeface="Amiri" pitchFamily="2" charset="-78"/>
                <a:ea typeface="Amiri" pitchFamily="2" charset="-78"/>
                <a:cs typeface="Amiri" pitchFamily="2" charset="-78"/>
              </a:rPr>
              <a:t>سَبْعَةٌ</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تِسْعَةٌ</a:t>
            </a:r>
            <a:endParaRPr lang="en-US" sz="1100" dirty="0"/>
          </a:p>
        </p:txBody>
      </p:sp>
      <p:sp>
        <p:nvSpPr>
          <p:cNvPr id="35" name="Text 32"/>
          <p:cNvSpPr txBox="1"/>
          <p:nvPr/>
        </p:nvSpPr>
        <p:spPr>
          <a:xfrm>
            <a:off x="566928" y="4315968"/>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Listen for sab- (7) vs tis- (9).</a:t>
            </a:r>
            <a:endParaRPr lang="en-US" sz="1100" dirty="0"/>
          </a:p>
        </p:txBody>
      </p:sp>
      <p:sp>
        <p:nvSpPr>
          <p:cNvPr id="36" name="Shape 3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37" name="Text 34"/>
          <p:cNvSpPr txBox="1"/>
          <p:nvPr/>
        </p:nvSpPr>
        <p:spPr>
          <a:xfrm>
            <a:off x="6720840" y="4998720"/>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Building 11 from </a:t>
            </a:r>
            <a:pPr algn="l" indent="0" marL="0">
              <a:buNone/>
            </a:pPr>
            <a:r>
              <a:rPr lang="ar-SA" altLang="en-US" sz="1450" dirty="0">
                <a:solidFill>
                  <a:srgbClr val="5A6472"/>
                </a:solidFill>
                <a:latin typeface="Amiri" pitchFamily="2" charset="-78"/>
                <a:ea typeface="Amiri" pitchFamily="2" charset="-78"/>
                <a:cs typeface="Amiri" pitchFamily="2" charset="-78"/>
              </a:rPr>
              <a:t>وَاحِدٌ</a:t>
            </a:r>
            <a:endParaRPr lang="en-US" sz="1100" dirty="0"/>
          </a:p>
        </p:txBody>
      </p:sp>
      <p:sp>
        <p:nvSpPr>
          <p:cNvPr id="38" name="Text 35"/>
          <p:cNvSpPr txBox="1"/>
          <p:nvPr/>
        </p:nvSpPr>
        <p:spPr>
          <a:xfrm>
            <a:off x="566928" y="4998720"/>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Eleven has its own start: </a:t>
            </a:r>
            <a:pPr algn="l" indent="0" marL="0">
              <a:buNone/>
            </a:pPr>
            <a:r>
              <a:rPr lang="ar-SA" altLang="en-US" sz="1450" dirty="0">
                <a:solidFill>
                  <a:srgbClr val="5A6472"/>
                </a:solidFill>
                <a:latin typeface="Amiri" pitchFamily="2" charset="-78"/>
                <a:ea typeface="Amiri" pitchFamily="2" charset="-78"/>
                <a:cs typeface="Amiri" pitchFamily="2" charset="-78"/>
              </a:rPr>
              <a:t>أَحَدَ عَشَرَ</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0" name="Text 37"/>
          <p:cNvSpPr txBox="1"/>
          <p:nvPr/>
        </p:nvSpPr>
        <p:spPr>
          <a:xfrm>
            <a:off x="6720840" y="568147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Joining digits together</a:t>
            </a:r>
            <a:endParaRPr lang="en-US" sz="1100" dirty="0"/>
          </a:p>
        </p:txBody>
      </p:sp>
      <p:sp>
        <p:nvSpPr>
          <p:cNvPr id="41" name="Text 38"/>
          <p:cNvSpPr txBox="1"/>
          <p:nvPr/>
        </p:nvSpPr>
        <p:spPr>
          <a:xfrm>
            <a:off x="566928" y="568147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Digits are separate symbols.</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convert all ten digit shapes.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write the digits 0–9 clearly from memory.</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say 0–20 and answer random flashes.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keep multi-digit numerals in place-value order.</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read tens to 100.</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zero?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٠</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٥</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١</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١٩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91</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19</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9</a:t>
            </a:r>
            <a:endParaRPr lang="en-US" sz="12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you say 20?</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عِشْرُونَ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عَشَرَةٌ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اِثْنَا عَشَرَ</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28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zero?</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٠</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٥</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١</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small dot.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a:t>
            </a:r>
            <a:pPr algn="l" indent="0" marL="0">
              <a:buNone/>
            </a:pPr>
            <a:r>
              <a:rPr lang="ar-SA" altLang="en-US" sz="1650" b="1" dirty="0">
                <a:solidFill>
                  <a:srgbClr val="1B3B6F"/>
                </a:solidFill>
                <a:latin typeface="Amiri" pitchFamily="2" charset="-78"/>
                <a:ea typeface="Amiri" pitchFamily="2" charset="-78"/>
                <a:cs typeface="Amiri" pitchFamily="2" charset="-78"/>
              </a:rPr>
              <a:t>١٩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91</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19</a:t>
            </a:r>
            <a:endParaRPr lang="en-US" sz="12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9</a:t>
            </a:r>
            <a:endParaRPr lang="en-US" sz="12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Tens on the left.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you say 20?</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عِشْرُونَ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عَشَرَةٌ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اِثْنَا عَشَرَ</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new tens word.</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28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F1-L07 · Numerals 0–100</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F1-L08: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F1-L08 · From Marks to Meaning: Reading Aloud</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قَرَأَ</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read</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كَتَبَ</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wrote</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دَرْسٌ</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lesson</a:t>
            </a:r>
            <a:pPr indent="0" marL="0">
              <a:buNone/>
            </a:pPr>
            <a:r>
              <a:rPr lang="ar-SA" sz="1000" i="1" dirty="0">
                <a:solidFill>
                  <a:srgbClr val="5A6472"/>
                </a:solidFill>
                <a:latin typeface="Calibri" pitchFamily="34" charset="0"/>
                <a:ea typeface="Amiri" pitchFamily="2" charset="-78"/>
                <a:cs typeface="Amiri" pitchFamily="2" charset="-78"/>
              </a:rPr>
              <a:t>  pl. دُرُوسٌ</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قَلَمٌ</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pen</a:t>
            </a:r>
            <a:pPr indent="0" marL="0">
              <a:buNone/>
            </a:pPr>
            <a:r>
              <a:rPr lang="ar-SA" sz="1000" i="1" dirty="0">
                <a:solidFill>
                  <a:srgbClr val="5A6472"/>
                </a:solidFill>
                <a:latin typeface="Calibri" pitchFamily="34" charset="0"/>
                <a:ea typeface="Amiri" pitchFamily="2" charset="-78"/>
                <a:cs typeface="Amiri" pitchFamily="2" charset="-78"/>
              </a:rPr>
              <a:t>  pl. أَقْلَامٌ</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بَيْتٌ</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house</a:t>
            </a:r>
            <a:pPr indent="0" marL="0">
              <a:buNone/>
            </a:pPr>
            <a:r>
              <a:rPr lang="ar-SA" sz="1000" i="1" dirty="0">
                <a:solidFill>
                  <a:srgbClr val="5A6472"/>
                </a:solidFill>
                <a:latin typeface="Calibri" pitchFamily="34" charset="0"/>
                <a:ea typeface="Amiri" pitchFamily="2" charset="-78"/>
                <a:cs typeface="Amiri" pitchFamily="2" charset="-78"/>
              </a:rPr>
              <a:t>  pl. بُيُوتٌ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1–20 in Arabic digits and in Arabic words.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١ ٢ ٣ … ٢٠</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F1-L07 · Digit Pair Sprint game; write the ten digits from memory.</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homework: 1–20 as digits and words; repeat the five hardest from memory.</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homework: your age, house or room number and a memorable year in Arabic digits.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28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F1-L08 · From Marks to Meaning: Reading Aloud</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القِرَاءَةُ الجَهْرِيَّةُ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1–20 in digits and words + 5 words to read.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F1-L07 · Read the Number, Keep the Order</dc:title>
  <dc:subject>PptxGenJS Presentation</dc:subject>
  <dc:creator>Al Madina Online School · Arabic Department</dc:creator>
  <cp:lastModifiedBy>Al Madina Online School · Arabic Department</cp:lastModifiedBy>
  <cp:revision>1</cp:revision>
  <dcterms:created xsi:type="dcterms:W3CDTF">2026-10-11T06:41:17Z</dcterms:created>
  <dcterms:modified xsi:type="dcterms:W3CDTF">2026-10-11T06:41:17Z</dcterms:modified>
</cp:coreProperties>
</file>