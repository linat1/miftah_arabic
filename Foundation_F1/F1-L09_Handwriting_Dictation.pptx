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10–20 New letters and sounds · 20–23 Quick check · 23–27 I Do (formation) · 27–38 We Do (listen, sort, detect) · 38–49 You Do (write, then show-and-say) · 49–54 Feedback · 54–56 Preparation.
FLEX slides are optional. Use them if the class is moving quickly; otherwise the same activities are on the website for homework.
Content source: Miftah Arabic website, Pathways › Foundation › F1 Arabic Script &amp; Sounds › Lesson 9 (F1-L09). The website lesson is a writing workshop: alphabet recall from memory, five observable handwriting features, the WRITE routine (Watch · Repeat · Imagine · Try · Examine), five repair codes (L · D · J · M · S), targeted repair lines, a 15-word dictation in three rounds, games (Exact Match, Repair-Code Detective) and an evidence rubric. The dictation script, repair lines, rubric, three-word exit and homework are the website’s. (The website’s visual game for this lesson is a copy-the-letter task, covered by the formation slide.)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write the 28 letters in order (with chart support if needed) and dictation Round A (5 words). DEVELOP: Rounds A–B (10 words) with repair codes. STRETCH: all 15 words and a fully marked personal paragraph (website Heritage extension).
• Assess READABILITY, not artistic taste (website). A beautiful calligraphic hand is not the goal; a reader must identify every letter without guessing.
• SEND: squared or lined paper with a highlighted baseline; slower dictation pace; allow a word bank of letter shapes for Core. Books to camera for feedback — only the teacher sees private corrections.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are the website “F1-L08 bridge” (sound to script). Q4 revises F1-L05. Q5 tests the home preparation. Then: ALPHABET RECALL — students write all 28 letters from memory BEFORE the next slide (website).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Clear writing first. Speed only when it stays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ALPHABET RECALL (website). Students write the sequence on paper from memory FIRST (2 min), then reveal this slide and self-mark in a different colour: one point for each correct letter in the correct position; record the total and the FIRST break in the sequence.
If fewer than 20 are correct → chart support and a private recheck later (website evidence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the website F1-L09 success criteria (28 letters in order; simple fully marked words from dictation; a consistent, legible Naskh-based school hand).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خط (in Urdu also “a letter/post”), املا (Urdu “imlā” = spelling/dictation — the same word!), سطر, قلم. Naskh (نسخ) is the clear school script used in this lesson; Urdu is usually written in Nastaʿlīq, which slopes — Arabic school handwriting sits flat on the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FIVE FEATURES (website Part 1): Direction · Shape · Dots · Joins · Marks — and a stable baseline with space below for letters such as final ي ج ع.
Training text vs ordinary Arabic (website): today’s words are fully marked because the task checks diacritic placement; everyday Arabic (مدرسة جديدة) omits most marks — do not call that misspelled.
Legibility before speed: a faster sample with lost dots or broken joins is not more fluent.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WRITE ROUTINE + REPAIR CODES (website Part 2). Memory line: Look or listen → Say it → Picture it → Write it → Check it.
Model → cover → write → compare (website): look at بَيْتٌ for 3 seconds; say baytun and notice يْ; cover and write; reveal, circle the FIRST mismatch and add ONE code; correct and reproduce from memory.
Website warning: copying with the model always visible trains the hand but not recall — the COVER step is essential.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teacher-made from the website features, routine and codes.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 REPAIR LINES (5 min), website Part 3. Model each line on the pen tablet with a think-aloud:
“بَابٌ: bāʾ joins to alif; alif STOPS, so the last bāʾ stands alone.” “وَلَدٌ: wāw does not join on; lām joins to final dāl.” “جَدِيدٌ: both dāls make stops.”
Efficient habit (website): write the legible base-and-joins first, then add dots and marks in one consistent pass.
Students copy each line twice: first with the model visible, then covered (website: two sets of five).
Stroke order note (website): assess the readable outcome, not one pen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game “Exact Match” (choose the fully marked form that exactly matches the sound target; tests dots, sukūn, shadda, long vowels and tanwīn). Say each target word aloud twice. Items are dictation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Reveal. For each wrong option, ask: which repair code? (e.g. بَيتٌ → M, missing sukūn; حَدِيدٌ → D, missing dot).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game “Repair-Code Detective” (compare the written form with the model and name the primary repair code). Teacher-made items in the website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Fair peer marking (website): check letter order and identity before presentation; underline the exact place of ONE mismatch; add ONE code; the writer repairs — the partner does not redraw it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DICTATION (10 min) — the website script. HIDE this slide while dictating (show the previous slide or a blank). Read each word TWICE at a measured pace, including the final -un; allow a brief HOLD after the second reading. Do not spell aloud or show the Arabic.
Script: بَابٌ. كِتَابٌ. قَلَمٌ. مَدْرَسَةٌ. بَيْتٌ. / مُعَلِّمٌ. طَالِبٌ. يَدٌ. عَيْنٌ. كَلِمَةٌ. / ثَلَاثَةٌ. سَبْعَةٌ. وَلَدٌ. بِنْتٌ. جَدِيدٌ.
After EACH round (website): reveal the round, count exact words /5, count repair codes by category, practise the most common repair once, re-dictate one repaired word.
Routes: Core — Round A; Develop — A and B; Stretch — all three.
Exact convention (website): tanwīn is part of today’s written target; this is a controlled script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النُّقَاطُ تَحْتَ اليَاءِ. «D». (The dots go under the yāʾ. “D”.)
B: شُكْرًا. سَأُصْلِحُهُ. (Thank you. I will fix it.)
PEER MARKING (website “How to peer mark fairly”). Three-word paper exit (website): a partner reads بَابٌ (non-connector break), بَيْتٌ (sukūn and dot identity), مُعَلِّمٌ (shadda, kasra and joins) twice each; the writer records exact /3 plus one primary repair code.
Stretch / Heritage extension (website): write 4–5 fully marked sentences about yourself, then check the marks in a separate second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(2 min) — the website evidence rubric on one five-word sample. Record: alphabet /28 + first break; dictation /15 + counts of L D J M S. Progress reflection (website): compare with Lesson 1 — one visible improvement, one feature to keep practising.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10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(F1-L10 · Read What Is Written: Unvowelled Text) will spend class time USING this language, so students prepare it tonight — short, simple, easy to access (school guidance: “Simple, Short, Interesting, Relevant, Easy to access”). Next lesson: reading Arabic WITHOUT the vowel marks — like real signs. Tonight, look at these five words with and without marks.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F1  ·  F1-L09</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F1-L09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950" b="1" dirty="0">
                <a:solidFill>
                  <a:srgbClr val="FFFFFF"/>
                </a:solidFill>
                <a:latin typeface="Cambria" pitchFamily="34" charset="0"/>
                <a:cs typeface="Amiri" pitchFamily="2" charset="-78"/>
              </a:rPr>
              <a:t>Write Clearly, Then Fluently</a:t>
            </a:r>
            <a:endParaRPr lang="en-US" sz="39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التَّدْرِيبُ عَلَى الكِتَابَةِ — الدِّقَّةُ وَالطَّلَاقَةُ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Write all 28 letters in order, check five features of clear handwriting (direction, shape, dots, joins, marks), and write 15 words from dictation using a fair listen – hold – write – check routine.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F1-L09 · Foundation F1 · Arabic Script &amp; Sounds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beginner</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F1 › F1-L09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Handwriting &amp; dictation</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Handwriting &amp; dictation</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Five features of clear handwriting and the WRITE routine.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Repair lines, a 15-word dictation in three rounds.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F1-L10.</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Handwriting &amp; dictation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an Arabic word begin?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left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right</a:t>
            </a:r>
            <a:endParaRPr lang="en-US" sz="1250" dirty="0"/>
          </a:p>
        </p:txBody>
      </p:sp>
      <p:sp>
        <p:nvSpPr>
          <p:cNvPr id="25" name="Shape 22"/>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404360" y="1947672"/>
            <a:ext cx="310896" cy="310896"/>
          </a:xfrm>
          <a:prstGeom prst="ellipse">
            <a:avLst/>
          </a:prstGeom>
          <a:solidFill>
            <a:srgbClr val="1B3B6F"/>
          </a:solidFill>
          <a:ln w="12700">
            <a:solidFill>
              <a:srgbClr val="1B3B6F"/>
            </a:solidFill>
            <a:prstDash val="solid"/>
          </a:ln>
        </p:spPr>
      </p:sp>
      <p:sp>
        <p:nvSpPr>
          <p:cNvPr id="27" name="Text 24"/>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28" name="Text 25"/>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you read </a:t>
            </a:r>
            <a:pPr algn="l" indent="0" marL="0">
              <a:buNone/>
            </a:pPr>
            <a:r>
              <a:rPr lang="ar-SA" altLang="en-US" sz="1650" b="1" dirty="0">
                <a:solidFill>
                  <a:srgbClr val="1B3B6F"/>
                </a:solidFill>
                <a:latin typeface="Amiri" pitchFamily="2" charset="-78"/>
                <a:ea typeface="Amiri" pitchFamily="2" charset="-78"/>
                <a:cs typeface="Amiri" pitchFamily="2" charset="-78"/>
              </a:rPr>
              <a:t>مَكْتَبٌ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9" name="Shape 26"/>
          <p:cNvSpPr/>
          <p:nvPr/>
        </p:nvSpPr>
        <p:spPr>
          <a:xfrm>
            <a:off x="4459224" y="2532888"/>
            <a:ext cx="256032" cy="256032"/>
          </a:xfrm>
          <a:prstGeom prst="ellipse">
            <a:avLst/>
          </a:prstGeom>
          <a:solidFill>
            <a:srgbClr val="F4F1EA"/>
          </a:solidFill>
          <a:ln w="12700">
            <a:solidFill>
              <a:srgbClr val="F4F1EA"/>
            </a:solidFill>
            <a:prstDash val="solid"/>
          </a:ln>
        </p:spPr>
      </p:sp>
      <p:sp>
        <p:nvSpPr>
          <p:cNvPr id="30" name="Text 27"/>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1" name="Text 28"/>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ma-ka-ta-bun</a:t>
            </a:r>
            <a:endParaRPr lang="en-US" sz="1250" dirty="0"/>
          </a:p>
        </p:txBody>
      </p:sp>
      <p:sp>
        <p:nvSpPr>
          <p:cNvPr id="32" name="Shape 29"/>
          <p:cNvSpPr/>
          <p:nvPr/>
        </p:nvSpPr>
        <p:spPr>
          <a:xfrm>
            <a:off x="4459224" y="29900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4" name="Text 31"/>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mak-ta-bun</a:t>
            </a:r>
            <a:endParaRPr lang="en-US" sz="1250" dirty="0"/>
          </a:p>
        </p:txBody>
      </p:sp>
      <p:sp>
        <p:nvSpPr>
          <p:cNvPr id="35" name="Shape 3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8223504" y="1947672"/>
            <a:ext cx="310896" cy="310896"/>
          </a:xfrm>
          <a:prstGeom prst="ellipse">
            <a:avLst/>
          </a:prstGeom>
          <a:solidFill>
            <a:srgbClr val="1B3B6F"/>
          </a:solidFill>
          <a:ln w="12700">
            <a:solidFill>
              <a:srgbClr val="1B3B6F"/>
            </a:solidFill>
            <a:prstDash val="solid"/>
          </a:ln>
        </p:spPr>
      </p:sp>
      <p:sp>
        <p:nvSpPr>
          <p:cNvPr id="37" name="Text 3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38" name="Text 3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shadda do in </a:t>
            </a:r>
            <a:pPr algn="l" indent="0" marL="0">
              <a:buNone/>
            </a:pPr>
            <a:r>
              <a:rPr lang="ar-SA" altLang="en-US" sz="1650" b="1" dirty="0">
                <a:solidFill>
                  <a:srgbClr val="1B3B6F"/>
                </a:solidFill>
                <a:latin typeface="Amiri" pitchFamily="2" charset="-78"/>
                <a:ea typeface="Amiri" pitchFamily="2" charset="-78"/>
                <a:cs typeface="Amiri" pitchFamily="2" charset="-78"/>
              </a:rPr>
              <a:t>مُعَلِّمٌ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9" name="Shape 36"/>
          <p:cNvSpPr/>
          <p:nvPr/>
        </p:nvSpPr>
        <p:spPr>
          <a:xfrm>
            <a:off x="8278368" y="25328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1" name="Text 38"/>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Doubles the l</a:t>
            </a:r>
            <a:endParaRPr lang="en-US" sz="1250" dirty="0"/>
          </a:p>
        </p:txBody>
      </p:sp>
      <p:sp>
        <p:nvSpPr>
          <p:cNvPr id="42" name="Shape 39"/>
          <p:cNvSpPr/>
          <p:nvPr/>
        </p:nvSpPr>
        <p:spPr>
          <a:xfrm>
            <a:off x="8278368" y="29900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4" name="Text 41"/>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Makes a long vowel</a:t>
            </a:r>
            <a:endParaRPr lang="en-US" sz="1250" dirty="0"/>
          </a:p>
        </p:txBody>
      </p:sp>
      <p:sp>
        <p:nvSpPr>
          <p:cNvPr id="45" name="Shape 4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48" name="Text 4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letters do NOT join the next letter?</a:t>
            </a:r>
            <a:endParaRPr lang="en-US" sz="1250" dirty="0"/>
          </a:p>
        </p:txBody>
      </p:sp>
      <p:sp>
        <p:nvSpPr>
          <p:cNvPr id="49" name="Shape 46"/>
          <p:cNvSpPr/>
          <p:nvPr/>
        </p:nvSpPr>
        <p:spPr>
          <a:xfrm>
            <a:off x="640080" y="48737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 ت ث ن ي</a:t>
            </a:r>
            <a:endParaRPr lang="ar-SA" sz="2050" dirty="0"/>
          </a:p>
        </p:txBody>
      </p:sp>
      <p:sp>
        <p:nvSpPr>
          <p:cNvPr id="52" name="Shape 49"/>
          <p:cNvSpPr/>
          <p:nvPr/>
        </p:nvSpPr>
        <p:spPr>
          <a:xfrm>
            <a:off x="640080" y="53309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 ش ص ض</a:t>
            </a:r>
            <a:endParaRPr lang="ar-SA" sz="2050" dirty="0"/>
          </a:p>
        </p:txBody>
      </p:sp>
      <p:sp>
        <p:nvSpPr>
          <p:cNvPr id="55" name="Shape 52"/>
          <p:cNvSpPr/>
          <p:nvPr/>
        </p:nvSpPr>
        <p:spPr>
          <a:xfrm>
            <a:off x="640080" y="57881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7" name="Text 5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 د ذ ر ز و</a:t>
            </a:r>
            <a:endParaRPr lang="ar-SA" sz="2050" dirty="0"/>
          </a:p>
        </p:txBody>
      </p:sp>
      <p:sp>
        <p:nvSpPr>
          <p:cNvPr id="58" name="Shape 5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4404360" y="4288536"/>
            <a:ext cx="310896" cy="310896"/>
          </a:xfrm>
          <a:prstGeom prst="ellipse">
            <a:avLst/>
          </a:prstGeom>
          <a:solidFill>
            <a:srgbClr val="1B3B6F"/>
          </a:solidFill>
          <a:ln w="12700">
            <a:solidFill>
              <a:srgbClr val="1B3B6F"/>
            </a:solidFill>
            <a:prstDash val="solid"/>
          </a:ln>
        </p:spPr>
      </p:sp>
      <p:sp>
        <p:nvSpPr>
          <p:cNvPr id="60" name="Text 5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61" name="Text 5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إِمْلَاءٌ</a:t>
            </a:r>
            <a:pPr algn="l" indent="0" marL="0">
              <a:buNone/>
            </a:pPr>
            <a:r>
              <a:rPr lang="en-US" sz="1250" b="1" dirty="0">
                <a:solidFill>
                  <a:srgbClr val="1B3B6F"/>
                </a:solidFill>
                <a:latin typeface="Calibri" pitchFamily="34" charset="0"/>
                <a:cs typeface="Amiri" pitchFamily="2" charset="-78"/>
              </a:rPr>
              <a:t> (prepared at home)?</a:t>
            </a:r>
            <a:endParaRPr lang="en-US" sz="1250" dirty="0"/>
          </a:p>
        </p:txBody>
      </p:sp>
      <p:sp>
        <p:nvSpPr>
          <p:cNvPr id="62" name="Shape 59"/>
          <p:cNvSpPr/>
          <p:nvPr/>
        </p:nvSpPr>
        <p:spPr>
          <a:xfrm>
            <a:off x="4459224"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dictation</a:t>
            </a:r>
            <a:endParaRPr lang="en-US" sz="1250" dirty="0"/>
          </a:p>
        </p:txBody>
      </p:sp>
      <p:sp>
        <p:nvSpPr>
          <p:cNvPr id="65" name="Shape 62"/>
          <p:cNvSpPr/>
          <p:nvPr/>
        </p:nvSpPr>
        <p:spPr>
          <a:xfrm>
            <a:off x="4459224"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handwriting</a:t>
            </a:r>
            <a:endParaRPr lang="en-US" sz="1250" dirty="0"/>
          </a:p>
        </p:txBody>
      </p:sp>
      <p:sp>
        <p:nvSpPr>
          <p:cNvPr id="68" name="Shape 65"/>
          <p:cNvSpPr/>
          <p:nvPr/>
        </p:nvSpPr>
        <p:spPr>
          <a:xfrm>
            <a:off x="4459224"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line</a:t>
            </a:r>
            <a:endParaRPr lang="en-US" sz="1250" dirty="0"/>
          </a:p>
        </p:txBody>
      </p:sp>
      <p:sp>
        <p:nvSpPr>
          <p:cNvPr id="71" name="Shape 6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73" name="Text 7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74" name="Text 7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75" name="Text 7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Handwriting &amp; dictation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an Arabic word begin?</a:t>
            </a:r>
            <a:endParaRPr lang="en-US" sz="1250" dirty="0"/>
          </a:p>
        </p:txBody>
      </p:sp>
      <p:sp>
        <p:nvSpPr>
          <p:cNvPr id="19" name="Shape 16"/>
          <p:cNvSpPr/>
          <p:nvPr/>
        </p:nvSpPr>
        <p:spPr>
          <a:xfrm>
            <a:off x="640080" y="2532888"/>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the left</a:t>
            </a:r>
            <a:endParaRPr lang="en-US" sz="1250" dirty="0"/>
          </a:p>
        </p:txBody>
      </p:sp>
      <p:sp>
        <p:nvSpPr>
          <p:cNvPr id="22" name="Shape 19"/>
          <p:cNvSpPr/>
          <p:nvPr/>
        </p:nvSpPr>
        <p:spPr>
          <a:xfrm>
            <a:off x="548640" y="2953512"/>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990088"/>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 the right</a:t>
            </a:r>
            <a:endParaRPr lang="en-US" sz="1250" dirty="0"/>
          </a:p>
        </p:txBody>
      </p:sp>
      <p:sp>
        <p:nvSpPr>
          <p:cNvPr id="26" name="Text 23"/>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F1-L08: R — right edge.</a:t>
            </a:r>
            <a:endParaRPr lang="en-US" sz="1050" dirty="0"/>
          </a:p>
        </p:txBody>
      </p:sp>
      <p:sp>
        <p:nvSpPr>
          <p:cNvPr id="27" name="Shape 24"/>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404360" y="1947672"/>
            <a:ext cx="310896" cy="310896"/>
          </a:xfrm>
          <a:prstGeom prst="ellipse">
            <a:avLst/>
          </a:prstGeom>
          <a:solidFill>
            <a:srgbClr val="1B3B6F"/>
          </a:solidFill>
          <a:ln w="12700">
            <a:solidFill>
              <a:srgbClr val="1B3B6F"/>
            </a:solidFill>
            <a:prstDash val="solid"/>
          </a:ln>
        </p:spPr>
      </p:sp>
      <p:sp>
        <p:nvSpPr>
          <p:cNvPr id="29" name="Text 26"/>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0" name="Text 27"/>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you read </a:t>
            </a:r>
            <a:pPr algn="l" indent="0" marL="0">
              <a:buNone/>
            </a:pPr>
            <a:r>
              <a:rPr lang="ar-SA" altLang="en-US" sz="1650" b="1" dirty="0">
                <a:solidFill>
                  <a:srgbClr val="1B3B6F"/>
                </a:solidFill>
                <a:latin typeface="Amiri" pitchFamily="2" charset="-78"/>
                <a:ea typeface="Amiri" pitchFamily="2" charset="-78"/>
                <a:cs typeface="Amiri" pitchFamily="2" charset="-78"/>
              </a:rPr>
              <a:t>مَكْتَبٌ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1" name="Shape 28"/>
          <p:cNvSpPr/>
          <p:nvPr/>
        </p:nvSpPr>
        <p:spPr>
          <a:xfrm>
            <a:off x="4459224" y="2532888"/>
            <a:ext cx="256032" cy="256032"/>
          </a:xfrm>
          <a:prstGeom prst="ellipse">
            <a:avLst/>
          </a:prstGeom>
          <a:solidFill>
            <a:srgbClr val="C9CED6"/>
          </a:solidFill>
          <a:ln w="12700">
            <a:solidFill>
              <a:srgbClr val="C9CED6"/>
            </a:solidFill>
            <a:prstDash val="solid"/>
          </a:ln>
        </p:spPr>
      </p:sp>
      <p:sp>
        <p:nvSpPr>
          <p:cNvPr id="32" name="Text 29"/>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3" name="Text 30"/>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ma-ka-ta-bun</a:t>
            </a:r>
            <a:endParaRPr lang="en-US" sz="1250" dirty="0"/>
          </a:p>
        </p:txBody>
      </p:sp>
      <p:sp>
        <p:nvSpPr>
          <p:cNvPr id="34" name="Shape 31"/>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990088"/>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mak-ta-bun</a:t>
            </a:r>
            <a:endParaRPr lang="en-US" sz="1250" dirty="0"/>
          </a:p>
        </p:txBody>
      </p:sp>
      <p:sp>
        <p:nvSpPr>
          <p:cNvPr id="38" name="Text 35"/>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F1-L08: the sukūn closes the chunk.</a:t>
            </a:r>
            <a:endParaRPr lang="en-US" sz="1050" dirty="0"/>
          </a:p>
        </p:txBody>
      </p:sp>
      <p:sp>
        <p:nvSpPr>
          <p:cNvPr id="39" name="Shape 36"/>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23504" y="1947672"/>
            <a:ext cx="310896" cy="310896"/>
          </a:xfrm>
          <a:prstGeom prst="ellipse">
            <a:avLst/>
          </a:prstGeom>
          <a:solidFill>
            <a:srgbClr val="1B3B6F"/>
          </a:solidFill>
          <a:ln w="12700">
            <a:solidFill>
              <a:srgbClr val="1B3B6F"/>
            </a:solidFill>
            <a:prstDash val="solid"/>
          </a:ln>
        </p:spPr>
      </p:sp>
      <p:sp>
        <p:nvSpPr>
          <p:cNvPr id="41" name="Text 38"/>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2" name="Text 39"/>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shadda do in </a:t>
            </a:r>
            <a:pPr algn="l" indent="0" marL="0">
              <a:buNone/>
            </a:pPr>
            <a:r>
              <a:rPr lang="ar-SA" altLang="en-US" sz="1650" b="1" dirty="0">
                <a:solidFill>
                  <a:srgbClr val="1B3B6F"/>
                </a:solidFill>
                <a:latin typeface="Amiri" pitchFamily="2" charset="-78"/>
                <a:ea typeface="Amiri" pitchFamily="2" charset="-78"/>
                <a:cs typeface="Amiri" pitchFamily="2" charset="-78"/>
              </a:rPr>
              <a:t>مُعَلِّمٌ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3" name="Shape 40"/>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44" name="Shape 41"/>
          <p:cNvSpPr/>
          <p:nvPr/>
        </p:nvSpPr>
        <p:spPr>
          <a:xfrm>
            <a:off x="8278368" y="2532888"/>
            <a:ext cx="256032" cy="256032"/>
          </a:xfrm>
          <a:prstGeom prst="ellipse">
            <a:avLst/>
          </a:prstGeom>
          <a:solidFill>
            <a:srgbClr val="2E8B57"/>
          </a:solidFill>
          <a:ln w="12700">
            <a:solidFill>
              <a:srgbClr val="2E8B57"/>
            </a:solidFill>
            <a:prstDash val="solid"/>
          </a:ln>
        </p:spPr>
      </p:sp>
      <p:sp>
        <p:nvSpPr>
          <p:cNvPr id="45" name="Text 42"/>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46" name="Text 43"/>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Doubles the l</a:t>
            </a:r>
            <a:endParaRPr lang="en-US" sz="1250" dirty="0"/>
          </a:p>
        </p:txBody>
      </p:sp>
      <p:sp>
        <p:nvSpPr>
          <p:cNvPr id="47" name="Shape 44"/>
          <p:cNvSpPr/>
          <p:nvPr/>
        </p:nvSpPr>
        <p:spPr>
          <a:xfrm>
            <a:off x="8278368" y="2990088"/>
            <a:ext cx="256032" cy="256032"/>
          </a:xfrm>
          <a:prstGeom prst="ellipse">
            <a:avLst/>
          </a:prstGeom>
          <a:solidFill>
            <a:srgbClr val="C9CED6"/>
          </a:solidFill>
          <a:ln w="12700">
            <a:solidFill>
              <a:srgbClr val="C9CED6"/>
            </a:solidFill>
            <a:prstDash val="solid"/>
          </a:ln>
        </p:spPr>
      </p:sp>
      <p:sp>
        <p:nvSpPr>
          <p:cNvPr id="48" name="Text 45"/>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9" name="Text 46"/>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Makes a long vowel</a:t>
            </a:r>
            <a:endParaRPr lang="en-US" sz="1250" dirty="0"/>
          </a:p>
        </p:txBody>
      </p:sp>
      <p:sp>
        <p:nvSpPr>
          <p:cNvPr id="50" name="Text 4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F1-L06.</a:t>
            </a:r>
            <a:endParaRPr lang="en-US" sz="1050" dirty="0"/>
          </a:p>
        </p:txBody>
      </p:sp>
      <p:sp>
        <p:nvSpPr>
          <p:cNvPr id="51" name="Shape 4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85216" y="4288536"/>
            <a:ext cx="310896" cy="310896"/>
          </a:xfrm>
          <a:prstGeom prst="ellipse">
            <a:avLst/>
          </a:prstGeom>
          <a:solidFill>
            <a:srgbClr val="1B3B6F"/>
          </a:solidFill>
          <a:ln w="12700">
            <a:solidFill>
              <a:srgbClr val="1B3B6F"/>
            </a:solidFill>
            <a:prstDash val="solid"/>
          </a:ln>
        </p:spPr>
      </p:sp>
      <p:sp>
        <p:nvSpPr>
          <p:cNvPr id="53" name="Text 5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4" name="Text 5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letters do NOT join the next letter?</a:t>
            </a:r>
            <a:endParaRPr lang="en-US" sz="1250" dirty="0"/>
          </a:p>
        </p:txBody>
      </p:sp>
      <p:sp>
        <p:nvSpPr>
          <p:cNvPr id="55" name="Shape 52"/>
          <p:cNvSpPr/>
          <p:nvPr/>
        </p:nvSpPr>
        <p:spPr>
          <a:xfrm>
            <a:off x="640080" y="4831080"/>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7" name="Text 5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 ت ث ن ي</a:t>
            </a:r>
            <a:endParaRPr lang="ar-SA" sz="1700" dirty="0"/>
          </a:p>
        </p:txBody>
      </p:sp>
      <p:sp>
        <p:nvSpPr>
          <p:cNvPr id="58" name="Shape 55"/>
          <p:cNvSpPr/>
          <p:nvPr/>
        </p:nvSpPr>
        <p:spPr>
          <a:xfrm>
            <a:off x="640080" y="5202936"/>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0" name="Text 5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 ش ص ض</a:t>
            </a:r>
            <a:endParaRPr lang="ar-SA" sz="1700" dirty="0"/>
          </a:p>
        </p:txBody>
      </p:sp>
      <p:sp>
        <p:nvSpPr>
          <p:cNvPr id="61" name="Shape 5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62" name="Shape 59"/>
          <p:cNvSpPr/>
          <p:nvPr/>
        </p:nvSpPr>
        <p:spPr>
          <a:xfrm>
            <a:off x="640080" y="5574792"/>
            <a:ext cx="256032" cy="256032"/>
          </a:xfrm>
          <a:prstGeom prst="ellipse">
            <a:avLst/>
          </a:prstGeom>
          <a:solidFill>
            <a:srgbClr val="2E8B57"/>
          </a:solidFill>
          <a:ln w="12700">
            <a:solidFill>
              <a:srgbClr val="2E8B57"/>
            </a:solidFill>
            <a:prstDash val="solid"/>
          </a:ln>
        </p:spPr>
      </p:sp>
      <p:sp>
        <p:nvSpPr>
          <p:cNvPr id="63" name="Text 6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4" name="Text 6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 د ذ ر ز و</a:t>
            </a:r>
            <a:endParaRPr lang="ar-SA" sz="1700" dirty="0"/>
          </a:p>
        </p:txBody>
      </p:sp>
      <p:sp>
        <p:nvSpPr>
          <p:cNvPr id="65" name="Text 6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six non-connectors.</a:t>
            </a:r>
            <a:endParaRPr lang="en-US" sz="1050" dirty="0"/>
          </a:p>
        </p:txBody>
      </p:sp>
      <p:sp>
        <p:nvSpPr>
          <p:cNvPr id="66" name="Shape 6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7" name="Shape 64"/>
          <p:cNvSpPr/>
          <p:nvPr/>
        </p:nvSpPr>
        <p:spPr>
          <a:xfrm>
            <a:off x="4404360" y="4288536"/>
            <a:ext cx="310896" cy="310896"/>
          </a:xfrm>
          <a:prstGeom prst="ellipse">
            <a:avLst/>
          </a:prstGeom>
          <a:solidFill>
            <a:srgbClr val="1B3B6F"/>
          </a:solidFill>
          <a:ln w="12700">
            <a:solidFill>
              <a:srgbClr val="1B3B6F"/>
            </a:solidFill>
            <a:prstDash val="solid"/>
          </a:ln>
        </p:spPr>
      </p:sp>
      <p:sp>
        <p:nvSpPr>
          <p:cNvPr id="68" name="Text 6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69" name="Text 6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إِمْلَاءٌ</a:t>
            </a:r>
            <a:pPr algn="l" indent="0" marL="0">
              <a:buNone/>
            </a:pPr>
            <a:r>
              <a:rPr lang="en-US" sz="1250" b="1" dirty="0">
                <a:solidFill>
                  <a:srgbClr val="1B3B6F"/>
                </a:solidFill>
                <a:latin typeface="Calibri" pitchFamily="34" charset="0"/>
                <a:cs typeface="Amiri" pitchFamily="2" charset="-78"/>
              </a:rPr>
              <a:t> (prepared at home)?</a:t>
            </a:r>
            <a:endParaRPr lang="en-US" sz="1250" dirty="0"/>
          </a:p>
        </p:txBody>
      </p:sp>
      <p:sp>
        <p:nvSpPr>
          <p:cNvPr id="70" name="Shape 6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4459224" y="4831080"/>
            <a:ext cx="256032" cy="256032"/>
          </a:xfrm>
          <a:prstGeom prst="ellipse">
            <a:avLst/>
          </a:prstGeom>
          <a:solidFill>
            <a:srgbClr val="2E8B57"/>
          </a:solidFill>
          <a:ln w="12700">
            <a:solidFill>
              <a:srgbClr val="2E8B57"/>
            </a:solidFill>
            <a:prstDash val="solid"/>
          </a:ln>
        </p:spPr>
      </p:sp>
      <p:sp>
        <p:nvSpPr>
          <p:cNvPr id="72" name="Text 6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dictation</a:t>
            </a:r>
            <a:endParaRPr lang="en-US" sz="1250" dirty="0"/>
          </a:p>
        </p:txBody>
      </p:sp>
      <p:sp>
        <p:nvSpPr>
          <p:cNvPr id="74" name="Shape 71"/>
          <p:cNvSpPr/>
          <p:nvPr/>
        </p:nvSpPr>
        <p:spPr>
          <a:xfrm>
            <a:off x="4459224" y="5202936"/>
            <a:ext cx="256032" cy="256032"/>
          </a:xfrm>
          <a:prstGeom prst="ellipse">
            <a:avLst/>
          </a:prstGeom>
          <a:solidFill>
            <a:srgbClr val="C9CED6"/>
          </a:solidFill>
          <a:ln w="12700">
            <a:solidFill>
              <a:srgbClr val="C9CED6"/>
            </a:solidFill>
            <a:prstDash val="solid"/>
          </a:ln>
        </p:spPr>
      </p:sp>
      <p:sp>
        <p:nvSpPr>
          <p:cNvPr id="75" name="Text 7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handwriting</a:t>
            </a:r>
            <a:endParaRPr lang="en-US" sz="1250" dirty="0"/>
          </a:p>
        </p:txBody>
      </p:sp>
      <p:sp>
        <p:nvSpPr>
          <p:cNvPr id="77" name="Shape 74"/>
          <p:cNvSpPr/>
          <p:nvPr/>
        </p:nvSpPr>
        <p:spPr>
          <a:xfrm>
            <a:off x="4459224" y="5574792"/>
            <a:ext cx="256032" cy="256032"/>
          </a:xfrm>
          <a:prstGeom prst="ellipse">
            <a:avLst/>
          </a:prstGeom>
          <a:solidFill>
            <a:srgbClr val="C9CED6"/>
          </a:solidFill>
          <a:ln w="12700">
            <a:solidFill>
              <a:srgbClr val="C9CED6"/>
            </a:solidFill>
            <a:prstDash val="solid"/>
          </a:ln>
        </p:spPr>
      </p:sp>
      <p:sp>
        <p:nvSpPr>
          <p:cNvPr id="78" name="Text 7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line</a:t>
            </a:r>
            <a:endParaRPr lang="en-US" sz="1250" dirty="0"/>
          </a:p>
        </p:txBody>
      </p:sp>
      <p:sp>
        <p:nvSpPr>
          <p:cNvPr id="80" name="Text 7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81" name="Shape 7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83" name="Text 8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Clear writing first. Speed only when it stays clear.</a:t>
            </a:r>
            <a:endParaRPr lang="en-US" sz="1300" dirty="0"/>
          </a:p>
        </p:txBody>
      </p:sp>
      <p:sp>
        <p:nvSpPr>
          <p:cNvPr id="84" name="Text 81"/>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مَدْرَسَةٌ</a:t>
            </a:r>
            <a:endParaRPr lang="ar-SA" sz="24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Handwriting &amp; dictation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0E7C86"/>
                </a:solidFill>
                <a:latin typeface="Calibri" pitchFamily="34" charset="0"/>
                <a:cs typeface="Amiri" pitchFamily="2" charset="-78"/>
              </a:rPr>
              <a:t>DO NOW · PART 2 · ALPHABET RECALL (WEBSITE) · WRITE FIRST, THEN CHECK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Write the 28 letters from memory</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الحُرُوفُ الهِجَائِيَّةُ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988552" y="1810512"/>
            <a:ext cx="2670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1–7</a:t>
            </a:r>
            <a:endParaRPr lang="en-US" sz="1100" dirty="0"/>
          </a:p>
        </p:txBody>
      </p:sp>
      <p:sp>
        <p:nvSpPr>
          <p:cNvPr id="17" name="Text 14"/>
          <p:cNvSpPr txBox="1"/>
          <p:nvPr/>
        </p:nvSpPr>
        <p:spPr>
          <a:xfrm>
            <a:off x="6172200" y="1810512"/>
            <a:ext cx="2670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8–14</a:t>
            </a:r>
            <a:endParaRPr lang="en-US" sz="1100" dirty="0"/>
          </a:p>
        </p:txBody>
      </p:sp>
      <p:sp>
        <p:nvSpPr>
          <p:cNvPr id="18" name="Text 15"/>
          <p:cNvSpPr txBox="1"/>
          <p:nvPr/>
        </p:nvSpPr>
        <p:spPr>
          <a:xfrm>
            <a:off x="3355848" y="1810512"/>
            <a:ext cx="2670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15–21</a:t>
            </a:r>
            <a:endParaRPr lang="en-US" sz="1100" dirty="0"/>
          </a:p>
        </p:txBody>
      </p:sp>
      <p:sp>
        <p:nvSpPr>
          <p:cNvPr id="19" name="Text 16"/>
          <p:cNvSpPr txBox="1"/>
          <p:nvPr/>
        </p:nvSpPr>
        <p:spPr>
          <a:xfrm>
            <a:off x="530352" y="1810512"/>
            <a:ext cx="2679192"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22–28</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006840" y="2267712"/>
            <a:ext cx="2633472"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ea typeface="Amiri" pitchFamily="2" charset="-78"/>
                <a:cs typeface="Amiri" pitchFamily="2" charset="-78"/>
              </a:rPr>
              <a:t>ا ب ت ث ج ح خ</a:t>
            </a:r>
            <a:endParaRPr lang="ar-SA" sz="3000" dirty="0"/>
          </a:p>
        </p:txBody>
      </p:sp>
      <p:sp>
        <p:nvSpPr>
          <p:cNvPr id="22" name="Text 19"/>
          <p:cNvSpPr txBox="1"/>
          <p:nvPr/>
        </p:nvSpPr>
        <p:spPr>
          <a:xfrm>
            <a:off x="6190488" y="2267712"/>
            <a:ext cx="2633472"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ea typeface="Amiri" pitchFamily="2" charset="-78"/>
                <a:cs typeface="Amiri" pitchFamily="2" charset="-78"/>
              </a:rPr>
              <a:t>د ذ ر ز س ش ص</a:t>
            </a:r>
            <a:endParaRPr lang="ar-SA" sz="3000" dirty="0"/>
          </a:p>
        </p:txBody>
      </p:sp>
      <p:sp>
        <p:nvSpPr>
          <p:cNvPr id="23" name="Text 20"/>
          <p:cNvSpPr txBox="1"/>
          <p:nvPr/>
        </p:nvSpPr>
        <p:spPr>
          <a:xfrm>
            <a:off x="3374136" y="2267712"/>
            <a:ext cx="2633472"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ea typeface="Amiri" pitchFamily="2" charset="-78"/>
                <a:cs typeface="Amiri" pitchFamily="2" charset="-78"/>
              </a:rPr>
              <a:t>ض ط ظ ع غ ف ق</a:t>
            </a:r>
            <a:endParaRPr lang="ar-SA" sz="3000" dirty="0"/>
          </a:p>
        </p:txBody>
      </p:sp>
      <p:sp>
        <p:nvSpPr>
          <p:cNvPr id="24" name="Text 21"/>
          <p:cNvSpPr txBox="1"/>
          <p:nvPr/>
        </p:nvSpPr>
        <p:spPr>
          <a:xfrm>
            <a:off x="548640" y="2267712"/>
            <a:ext cx="2642616"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ea typeface="Amiri" pitchFamily="2" charset="-78"/>
                <a:cs typeface="Amiri" pitchFamily="2" charset="-78"/>
              </a:rPr>
              <a:t>ك ل م ن ه و ي</a:t>
            </a:r>
            <a:endParaRPr lang="ar-SA" sz="30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Text 2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Hamza </a:t>
            </a:r>
            <a:pPr algn="l" indent="0" marL="0">
              <a:buNone/>
            </a:pPr>
            <a:r>
              <a:rPr lang="ar-SA" altLang="en-US" sz="1500" b="1" dirty="0">
                <a:solidFill>
                  <a:srgbClr val="1B3B6F"/>
                </a:solidFill>
                <a:latin typeface="Amiri" pitchFamily="2" charset="-78"/>
                <a:ea typeface="Amiri" pitchFamily="2" charset="-78"/>
                <a:cs typeface="Amiri" pitchFamily="2" charset="-78"/>
              </a:rPr>
              <a:t>ء</a:t>
            </a:r>
            <a:pPr algn="l" indent="0" marL="0">
              <a:buNone/>
            </a:pPr>
            <a:r>
              <a:rPr lang="en-US" sz="1150" b="1" dirty="0">
                <a:solidFill>
                  <a:srgbClr val="1B3B6F"/>
                </a:solidFill>
                <a:latin typeface="Calibri" pitchFamily="34" charset="0"/>
                <a:cs typeface="Amiri" pitchFamily="2" charset="-78"/>
              </a:rPr>
              <a:t> and tāʾ marbūṭa </a:t>
            </a:r>
            <a:pPr algn="l" indent="0" marL="0">
              <a:buNone/>
            </a:pPr>
            <a:r>
              <a:rPr lang="ar-SA" altLang="en-US" sz="1500" b="1" dirty="0">
                <a:solidFill>
                  <a:srgbClr val="1B3B6F"/>
                </a:solidFill>
                <a:latin typeface="Amiri" pitchFamily="2" charset="-78"/>
                <a:ea typeface="Amiri" pitchFamily="2" charset="-78"/>
                <a:cs typeface="Amiri" pitchFamily="2" charset="-78"/>
              </a:rPr>
              <a:t>ة</a:t>
            </a:r>
            <a:pPr algn="l" indent="0" marL="0">
              <a:buNone/>
            </a:pPr>
            <a:r>
              <a:rPr lang="en-US" sz="1150" b="1" dirty="0">
                <a:solidFill>
                  <a:srgbClr val="1B3B6F"/>
                </a:solidFill>
                <a:latin typeface="Calibri" pitchFamily="34" charset="0"/>
                <a:cs typeface="Amiri" pitchFamily="2" charset="-78"/>
              </a:rPr>
              <a:t> are writing symbols, but they are not extra letters of the 28-letter alphabet.</a:t>
            </a:r>
            <a:endParaRPr lang="en-US" sz="11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Handwriting &amp; dictation</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all 28 letters in the standard order.</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Check five features: direction, shape, dots, joins, marks.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WRITE routine and five repair codes.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simple, fully marked words from dictation.</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write the 28 letters in order.</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write dictation Round A (5 words).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L, D, J, M and S to repair a word.</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write Rounds A and B (10 words).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all 15 dictation words exactly.</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keep my writing clear when I speed up.</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5 features, 5 WRITE steps, 5 repair codes and 15 dictation words.</a:t>
            </a:r>
            <a:endParaRPr lang="en-US" sz="1600" dirty="0"/>
          </a:p>
        </p:txBody>
      </p:sp>
      <p:sp>
        <p:nvSpPr>
          <p:cNvPr id="8" name="Shape 6"/>
          <p:cNvSpPr/>
          <p:nvPr/>
        </p:nvSpPr>
        <p:spPr>
          <a:xfrm>
            <a:off x="457200" y="4572000"/>
            <a:ext cx="186309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CHECK</a:t>
            </a:r>
            <a:endParaRPr lang="en-US" sz="900" dirty="0"/>
          </a:p>
          <a:p>
            <a:pPr indent="0" marL="0">
              <a:buNone/>
            </a:pPr>
            <a:r>
              <a:rPr lang="en-US" sz="1200" b="1" dirty="0">
                <a:solidFill>
                  <a:srgbClr val="FFFFFF"/>
                </a:solidFill>
                <a:latin typeface="Calibri" pitchFamily="34" charset="0"/>
                <a:cs typeface="Amiri" pitchFamily="2" charset="-78"/>
              </a:rPr>
              <a:t>Five features · 5</a:t>
            </a:r>
            <a:endParaRPr lang="en-US" sz="900" dirty="0"/>
          </a:p>
        </p:txBody>
      </p:sp>
      <p:sp>
        <p:nvSpPr>
          <p:cNvPr id="10" name="Shape 8"/>
          <p:cNvSpPr/>
          <p:nvPr/>
        </p:nvSpPr>
        <p:spPr>
          <a:xfrm>
            <a:off x="2457450" y="4572000"/>
            <a:ext cx="186309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5946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ROUTINE</a:t>
            </a:r>
            <a:endParaRPr lang="en-US" sz="900" dirty="0"/>
          </a:p>
          <a:p>
            <a:pPr indent="0" marL="0">
              <a:buNone/>
            </a:pPr>
            <a:r>
              <a:rPr lang="en-US" sz="1200" b="1" dirty="0">
                <a:solidFill>
                  <a:srgbClr val="FFFFFF"/>
                </a:solidFill>
                <a:latin typeface="Calibri" pitchFamily="34" charset="0"/>
                <a:cs typeface="Amiri" pitchFamily="2" charset="-78"/>
              </a:rPr>
              <a:t>W · R · I · T · E</a:t>
            </a:r>
            <a:endParaRPr lang="en-US" sz="900" dirty="0"/>
          </a:p>
        </p:txBody>
      </p:sp>
      <p:sp>
        <p:nvSpPr>
          <p:cNvPr id="12" name="Shape 10"/>
          <p:cNvSpPr/>
          <p:nvPr/>
        </p:nvSpPr>
        <p:spPr>
          <a:xfrm>
            <a:off x="4457700" y="4572000"/>
            <a:ext cx="186309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45948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REPAIR</a:t>
            </a:r>
            <a:endParaRPr lang="en-US" sz="900" dirty="0"/>
          </a:p>
          <a:p>
            <a:pPr indent="0" marL="0">
              <a:buNone/>
            </a:pPr>
            <a:r>
              <a:rPr lang="en-US" sz="1200" b="1" dirty="0">
                <a:solidFill>
                  <a:srgbClr val="FFFFFF"/>
                </a:solidFill>
                <a:latin typeface="Calibri" pitchFamily="34" charset="0"/>
                <a:cs typeface="Amiri" pitchFamily="2" charset="-78"/>
              </a:rPr>
              <a:t>L · D · J · M · S</a:t>
            </a:r>
            <a:endParaRPr lang="en-US" sz="900" dirty="0"/>
          </a:p>
        </p:txBody>
      </p:sp>
      <p:sp>
        <p:nvSpPr>
          <p:cNvPr id="14" name="Shape 12"/>
          <p:cNvSpPr/>
          <p:nvPr/>
        </p:nvSpPr>
        <p:spPr>
          <a:xfrm>
            <a:off x="6457950" y="4572000"/>
            <a:ext cx="186309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65951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DICTATION</a:t>
            </a:r>
            <a:endParaRPr lang="en-US" sz="900" dirty="0"/>
          </a:p>
          <a:p>
            <a:pPr indent="0" marL="0">
              <a:buNone/>
            </a:pPr>
            <a:r>
              <a:rPr lang="en-US" sz="1200" b="1" dirty="0">
                <a:solidFill>
                  <a:srgbClr val="FFFFFF"/>
                </a:solidFill>
                <a:latin typeface="Calibri" pitchFamily="34" charset="0"/>
                <a:cs typeface="Amiri" pitchFamily="2" charset="-78"/>
              </a:rPr>
              <a:t>3 rounds · 15</a:t>
            </a:r>
            <a:endParaRPr lang="en-US" sz="900" dirty="0"/>
          </a:p>
        </p:txBody>
      </p:sp>
      <p:sp>
        <p:nvSpPr>
          <p:cNvPr id="16" name="Shape 14"/>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7" name="Text 15"/>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8" name="Text 16"/>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خَطٌّ</a:t>
            </a:r>
            <a:endParaRPr lang="ar-SA" sz="1900" dirty="0"/>
          </a:p>
        </p:txBody>
      </p:sp>
      <p:sp>
        <p:nvSpPr>
          <p:cNvPr id="19" name="Text 17"/>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‎خط‎ </a:t>
            </a:r>
            <a:pPr indent="0" marL="0">
              <a:buNone/>
            </a:pPr>
            <a:r>
              <a:rPr lang="en-US" sz="950" b="1" dirty="0">
                <a:solidFill>
                  <a:srgbClr val="2E8B57"/>
                </a:solidFill>
                <a:latin typeface="Calibri" pitchFamily="34" charset="0"/>
                <a:cs typeface="Amiri" pitchFamily="2" charset="-78"/>
              </a:rPr>
              <a:t> khat · handwriting · a letter</a:t>
            </a:r>
            <a:endParaRPr lang="en-US" sz="1400" dirty="0"/>
          </a:p>
        </p:txBody>
      </p:sp>
      <p:sp>
        <p:nvSpPr>
          <p:cNvPr id="20" name="Text 18"/>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إِمْلَاءٌ</a:t>
            </a:r>
            <a:endParaRPr lang="ar-SA" sz="1900" dirty="0"/>
          </a:p>
        </p:txBody>
      </p:sp>
      <p:sp>
        <p:nvSpPr>
          <p:cNvPr id="21" name="Text 19"/>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‎املا‎ </a:t>
            </a:r>
            <a:pPr indent="0" marL="0">
              <a:buNone/>
            </a:pPr>
            <a:r>
              <a:rPr lang="en-US" sz="950" b="1" dirty="0">
                <a:solidFill>
                  <a:srgbClr val="2E8B57"/>
                </a:solidFill>
                <a:latin typeface="Calibri" pitchFamily="34" charset="0"/>
                <a:cs typeface="Amiri" pitchFamily="2" charset="-78"/>
              </a:rPr>
              <a:t> imlā · dictation, spelling</a:t>
            </a:r>
            <a:endParaRPr lang="en-US" sz="1400" dirty="0"/>
          </a:p>
        </p:txBody>
      </p:sp>
      <p:sp>
        <p:nvSpPr>
          <p:cNvPr id="22" name="Text 20"/>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سَطْرٌ</a:t>
            </a:r>
            <a:endParaRPr lang="ar-SA" sz="1900" dirty="0"/>
          </a:p>
        </p:txBody>
      </p:sp>
      <p:sp>
        <p:nvSpPr>
          <p:cNvPr id="23" name="Text 21"/>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‎سطر‎ </a:t>
            </a:r>
            <a:pPr indent="0" marL="0">
              <a:buNone/>
            </a:pPr>
            <a:r>
              <a:rPr lang="en-US" sz="950" b="1" dirty="0">
                <a:solidFill>
                  <a:srgbClr val="2E8B57"/>
                </a:solidFill>
                <a:latin typeface="Calibri" pitchFamily="34" charset="0"/>
                <a:cs typeface="Amiri" pitchFamily="2" charset="-78"/>
              </a:rPr>
              <a:t> satar · a line of writing</a:t>
            </a:r>
            <a:endParaRPr lang="en-US" sz="1400" dirty="0"/>
          </a:p>
        </p:txBody>
      </p:sp>
      <p:sp>
        <p:nvSpPr>
          <p:cNvPr id="24" name="Text 22"/>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نَسْخٌ</a:t>
            </a:r>
            <a:endParaRPr lang="ar-SA" sz="1900" dirty="0"/>
          </a:p>
        </p:txBody>
      </p:sp>
      <p:sp>
        <p:nvSpPr>
          <p:cNvPr id="25" name="Text 23"/>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‎نسخ‎ </a:t>
            </a:r>
            <a:pPr indent="0" marL="0">
              <a:buNone/>
            </a:pPr>
            <a:r>
              <a:rPr lang="en-US" sz="950" b="1" dirty="0">
                <a:solidFill>
                  <a:srgbClr val="2E8B57"/>
                </a:solidFill>
                <a:latin typeface="Calibri" pitchFamily="34" charset="0"/>
                <a:cs typeface="Amiri" pitchFamily="2" charset="-78"/>
              </a:rPr>
              <a:t> naskh · Naskh — the school script</a:t>
            </a:r>
            <a:endParaRPr lang="en-US" sz="1400" dirty="0"/>
          </a:p>
        </p:txBody>
      </p:sp>
      <p:sp>
        <p:nvSpPr>
          <p:cNvPr id="26" name="Text 24"/>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قَلَمٌ</a:t>
            </a:r>
            <a:endParaRPr lang="ar-SA" sz="1900" dirty="0"/>
          </a:p>
        </p:txBody>
      </p:sp>
      <p:sp>
        <p:nvSpPr>
          <p:cNvPr id="27" name="Text 25"/>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‎قلم‎ </a:t>
            </a:r>
            <a:pPr indent="0" marL="0">
              <a:buNone/>
            </a:pPr>
            <a:r>
              <a:rPr lang="en-US" sz="950" b="1" dirty="0">
                <a:solidFill>
                  <a:srgbClr val="2E8B57"/>
                </a:solidFill>
                <a:latin typeface="Calibri" pitchFamily="34" charset="0"/>
                <a:cs typeface="Amiri" pitchFamily="2" charset="-78"/>
              </a:rPr>
              <a:t> qalam · pen</a:t>
            </a:r>
            <a:endParaRPr lang="en-US" sz="140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Handwriting &amp; dictation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TEACHER INSTRUCTION · FIVE OBSERVABLE FEATURES (WEBSITE PART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clear handwriting means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 الخَطُّ الوَاضِحُ؟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a:t>
            </a:r>
            <a:endParaRPr lang="en-US" sz="850" dirty="0"/>
          </a:p>
        </p:txBody>
      </p:sp>
      <p:sp>
        <p:nvSpPr>
          <p:cNvPr id="15" name="Shape 12"/>
          <p:cNvSpPr/>
          <p:nvPr/>
        </p:nvSpPr>
        <p:spPr>
          <a:xfrm>
            <a:off x="8095488"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85166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18516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1 · 2 DIRECTION + SHAPE</a:t>
            </a:r>
            <a:endParaRPr lang="en-US" sz="850" dirty="0"/>
          </a:p>
        </p:txBody>
      </p:sp>
      <p:sp>
        <p:nvSpPr>
          <p:cNvPr id="18" name="Text 15"/>
          <p:cNvSpPr txBox="1"/>
          <p:nvPr/>
        </p:nvSpPr>
        <p:spPr>
          <a:xfrm>
            <a:off x="10130028" y="1874520"/>
            <a:ext cx="1464564" cy="365760"/>
          </a:xfrm>
          <a:prstGeom prst="rect">
            <a:avLst/>
          </a:prstGeom>
          <a:noFill/>
          <a:ln/>
        </p:spPr>
        <p:txBody>
          <a:bodyPr wrap="square" lIns="0" tIns="0" rIns="0" bIns="0" rtlCol="0" anchor="ctr"/>
          <a:lstStyle/>
          <a:p>
            <a:pPr algn="l" indent="0" marL="0">
              <a:buNone/>
            </a:pPr>
            <a:r>
              <a:rPr lang="en-US" sz="1100" b="1" dirty="0">
                <a:solidFill>
                  <a:srgbClr val="8A6D1E"/>
                </a:solidFill>
                <a:latin typeface="Calibri" pitchFamily="34" charset="0"/>
                <a:cs typeface="Amiri" pitchFamily="2" charset="-78"/>
              </a:rPr>
              <a:t>right → left · clear body</a:t>
            </a:r>
            <a:endParaRPr lang="en-US" sz="11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بَيْتٌ</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Words start on the right; each letter body is recognisable.</a:t>
            </a:r>
            <a:endParaRPr lang="en-US" sz="1200" dirty="0"/>
          </a:p>
        </p:txBody>
      </p:sp>
      <p:sp>
        <p:nvSpPr>
          <p:cNvPr id="21" name="Shape 18"/>
          <p:cNvSpPr/>
          <p:nvPr/>
        </p:nvSpPr>
        <p:spPr>
          <a:xfrm>
            <a:off x="8205216" y="5212080"/>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Keep a consistent size — but some letters go below the line.</a:t>
            </a:r>
            <a:endParaRPr lang="en-US" sz="1100" dirty="0"/>
          </a:p>
        </p:txBody>
      </p:sp>
      <p:sp>
        <p:nvSpPr>
          <p:cNvPr id="23" name="Shape 20"/>
          <p:cNvSpPr/>
          <p:nvPr/>
        </p:nvSpPr>
        <p:spPr>
          <a:xfrm>
            <a:off x="4276344"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08760" cy="274320"/>
          </a:xfrm>
          <a:prstGeom prst="roundRect">
            <a:avLst>
              <a:gd name="adj" fmla="val 50000"/>
            </a:avLst>
          </a:prstGeom>
          <a:solidFill>
            <a:srgbClr val="0E7C86"/>
          </a:solidFill>
          <a:ln w="12700">
            <a:solidFill>
              <a:srgbClr val="0E7C86"/>
            </a:solidFill>
            <a:prstDash val="solid"/>
          </a:ln>
        </p:spPr>
      </p:sp>
      <p:sp>
        <p:nvSpPr>
          <p:cNvPr id="25" name="Text 22"/>
          <p:cNvSpPr txBox="1"/>
          <p:nvPr/>
        </p:nvSpPr>
        <p:spPr>
          <a:xfrm>
            <a:off x="4413504"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3 · 4 DOTS + JOINS</a:t>
            </a:r>
            <a:endParaRPr lang="en-US" sz="850" dirty="0"/>
          </a:p>
        </p:txBody>
      </p:sp>
      <p:sp>
        <p:nvSpPr>
          <p:cNvPr id="26" name="Text 23"/>
          <p:cNvSpPr txBox="1"/>
          <p:nvPr/>
        </p:nvSpPr>
        <p:spPr>
          <a:xfrm>
            <a:off x="5967984" y="1874520"/>
            <a:ext cx="1807464" cy="365760"/>
          </a:xfrm>
          <a:prstGeom prst="rect">
            <a:avLst/>
          </a:prstGeom>
          <a:noFill/>
          <a:ln/>
        </p:spPr>
        <p:txBody>
          <a:bodyPr wrap="square" lIns="0" tIns="0" rIns="0" bIns="0" rtlCol="0" anchor="ctr"/>
          <a:lstStyle/>
          <a:p>
            <a:pPr algn="l" indent="0" marL="0">
              <a:buNone/>
            </a:pPr>
            <a:r>
              <a:rPr lang="en-US" sz="1100" b="1" dirty="0">
                <a:solidFill>
                  <a:srgbClr val="8A6D1E"/>
                </a:solidFill>
                <a:latin typeface="Calibri" pitchFamily="34" charset="0"/>
                <a:cs typeface="Amiri" pitchFamily="2" charset="-78"/>
              </a:rPr>
              <a:t>exact dots · correct joins</a:t>
            </a:r>
            <a:endParaRPr lang="en-US" sz="11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جَدِيدٌ</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Dots change the letter. Stop after </a:t>
            </a:r>
            <a:pPr algn="ctr" indent="0" marL="0">
              <a:buNone/>
            </a:pPr>
            <a:r>
              <a:rPr lang="ar-SA" altLang="en-US" sz="1550" dirty="0">
                <a:solidFill>
                  <a:srgbClr val="5A6472"/>
                </a:solidFill>
                <a:latin typeface="Amiri" pitchFamily="2" charset="-78"/>
                <a:ea typeface="Amiri" pitchFamily="2" charset="-78"/>
                <a:cs typeface="Amiri" pitchFamily="2" charset="-78"/>
              </a:rPr>
              <a:t>ا د ذ ر ز و</a:t>
            </a:r>
            <a:pPr algn="ctr" indent="0" marL="0">
              <a:buNone/>
            </a:pPr>
            <a:r>
              <a:rPr lang="en-US" sz="1200" i="1" dirty="0">
                <a:solidFill>
                  <a:srgbClr val="5A6472"/>
                </a:solidFill>
                <a:latin typeface="Calibri" pitchFamily="34" charset="0"/>
                <a:cs typeface="Amiri" pitchFamily="2" charset="-78"/>
              </a:rPr>
              <a:t>.</a:t>
            </a:r>
            <a:endParaRPr lang="en-US" sz="1200" dirty="0"/>
          </a:p>
        </p:txBody>
      </p:sp>
      <p:sp>
        <p:nvSpPr>
          <p:cNvPr id="29" name="Shape 26"/>
          <p:cNvSpPr/>
          <p:nvPr/>
        </p:nvSpPr>
        <p:spPr>
          <a:xfrm>
            <a:off x="4386072" y="5212080"/>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Both </a:t>
            </a:r>
            <a:pPr algn="l" indent="0" marL="0">
              <a:buNone/>
            </a:pPr>
            <a:r>
              <a:rPr lang="ar-SA" altLang="en-US" sz="1450" dirty="0">
                <a:solidFill>
                  <a:srgbClr val="1F2A37"/>
                </a:solidFill>
                <a:latin typeface="Amiri" pitchFamily="2" charset="-78"/>
                <a:ea typeface="Amiri" pitchFamily="2" charset="-78"/>
                <a:cs typeface="Amiri" pitchFamily="2" charset="-78"/>
              </a:rPr>
              <a:t>د</a:t>
            </a:r>
            <a:pPr algn="l" indent="0" marL="0">
              <a:buNone/>
            </a:pPr>
            <a:r>
              <a:rPr lang="en-US" sz="1100" dirty="0">
                <a:solidFill>
                  <a:srgbClr val="1F2A37"/>
                </a:solidFill>
                <a:latin typeface="Calibri" pitchFamily="34" charset="0"/>
                <a:cs typeface="Amiri" pitchFamily="2" charset="-78"/>
              </a:rPr>
              <a:t> in </a:t>
            </a:r>
            <a:pPr algn="l" indent="0" marL="0">
              <a:buNone/>
            </a:pPr>
            <a:r>
              <a:rPr lang="ar-SA" altLang="en-US" sz="1450" dirty="0">
                <a:solidFill>
                  <a:srgbClr val="1F2A37"/>
                </a:solidFill>
                <a:latin typeface="Amiri" pitchFamily="2" charset="-78"/>
                <a:ea typeface="Amiri" pitchFamily="2" charset="-78"/>
                <a:cs typeface="Amiri" pitchFamily="2" charset="-78"/>
              </a:rPr>
              <a:t>جَدِيدٌ</a:t>
            </a:r>
            <a:pPr algn="l" indent="0" marL="0">
              <a:buNone/>
            </a:pPr>
            <a:r>
              <a:rPr lang="en-US" sz="1100" dirty="0">
                <a:solidFill>
                  <a:srgbClr val="1F2A37"/>
                </a:solidFill>
                <a:latin typeface="Calibri" pitchFamily="34" charset="0"/>
                <a:cs typeface="Amiri" pitchFamily="2" charset="-78"/>
              </a:rPr>
              <a:t> make visible stops.</a:t>
            </a:r>
            <a:endParaRPr lang="en-US" sz="1100" dirty="0"/>
          </a:p>
        </p:txBody>
      </p:sp>
      <p:sp>
        <p:nvSpPr>
          <p:cNvPr id="31" name="Shape 28"/>
          <p:cNvSpPr/>
          <p:nvPr/>
        </p:nvSpPr>
        <p:spPr>
          <a:xfrm>
            <a:off x="457200"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440180" cy="274320"/>
          </a:xfrm>
          <a:prstGeom prst="roundRect">
            <a:avLst>
              <a:gd name="adj" fmla="val 50000"/>
            </a:avLst>
          </a:prstGeom>
          <a:solidFill>
            <a:srgbClr val="7B3FA0"/>
          </a:solidFill>
          <a:ln w="12700">
            <a:solidFill>
              <a:srgbClr val="7B3FA0"/>
            </a:solidFill>
            <a:prstDash val="solid"/>
          </a:ln>
        </p:spPr>
      </p:sp>
      <p:sp>
        <p:nvSpPr>
          <p:cNvPr id="33" name="Text 30"/>
          <p:cNvSpPr txBox="1"/>
          <p:nvPr/>
        </p:nvSpPr>
        <p:spPr>
          <a:xfrm>
            <a:off x="594360"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5 MARKS + SPACING</a:t>
            </a:r>
            <a:endParaRPr lang="en-US" sz="850" dirty="0"/>
          </a:p>
        </p:txBody>
      </p:sp>
      <p:sp>
        <p:nvSpPr>
          <p:cNvPr id="34" name="Text 31"/>
          <p:cNvSpPr txBox="1"/>
          <p:nvPr/>
        </p:nvSpPr>
        <p:spPr>
          <a:xfrm>
            <a:off x="2080260" y="1874520"/>
            <a:ext cx="1876044" cy="365760"/>
          </a:xfrm>
          <a:prstGeom prst="rect">
            <a:avLst/>
          </a:prstGeom>
          <a:noFill/>
          <a:ln/>
        </p:spPr>
        <p:txBody>
          <a:bodyPr wrap="square" lIns="0" tIns="0" rIns="0" bIns="0" rtlCol="0" anchor="ctr"/>
          <a:lstStyle/>
          <a:p>
            <a:pPr algn="l" indent="0" marL="0">
              <a:buNone/>
            </a:pPr>
            <a:r>
              <a:rPr lang="en-US" sz="1200" b="1" dirty="0">
                <a:solidFill>
                  <a:srgbClr val="8A6D1E"/>
                </a:solidFill>
                <a:latin typeface="Calibri" pitchFamily="34" charset="0"/>
                <a:cs typeface="Amiri" pitchFamily="2" charset="-78"/>
              </a:rPr>
              <a:t>marks on the right letter</a:t>
            </a:r>
            <a:endParaRPr lang="en-US" sz="12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قَلَمٌ جَدِيدٌ</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Every mark above or below its own letter.</a:t>
            </a:r>
            <a:endParaRPr lang="en-US" sz="1200" dirty="0"/>
          </a:p>
        </p:txBody>
      </p:sp>
      <p:sp>
        <p:nvSpPr>
          <p:cNvPr id="37" name="Shape 34"/>
          <p:cNvSpPr/>
          <p:nvPr/>
        </p:nvSpPr>
        <p:spPr>
          <a:xfrm>
            <a:off x="566928" y="5212080"/>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Joined letters close together; one clear gap between words.</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Handwriting &amp; dictation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88" b="1" spc="150" kern="0" dirty="0">
                <a:solidFill>
                  <a:srgbClr val="1B3B6F"/>
                </a:solidFill>
                <a:latin typeface="Calibri" pitchFamily="34" charset="0"/>
                <a:cs typeface="Amiri" pitchFamily="2" charset="-78"/>
              </a:rPr>
              <a:t>TEACHER INSTRUCTION · THE WRITE ROUTINE AND FIVE REPAIR CODES (WEBSITE PART 2)</a:t>
            </a:r>
            <a:endParaRPr lang="en-US" sz="88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then repair with a code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7882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WRITE step</a:t>
            </a:r>
            <a:endParaRPr lang="en-US" sz="1100" dirty="0"/>
          </a:p>
        </p:txBody>
      </p:sp>
      <p:sp>
        <p:nvSpPr>
          <p:cNvPr id="17" name="Text 14"/>
          <p:cNvSpPr txBox="1"/>
          <p:nvPr/>
        </p:nvSpPr>
        <p:spPr>
          <a:xfrm>
            <a:off x="4672584"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do</a:t>
            </a:r>
            <a:endParaRPr lang="en-US" sz="1100" dirty="0"/>
          </a:p>
        </p:txBody>
      </p:sp>
      <p:sp>
        <p:nvSpPr>
          <p:cNvPr id="18" name="Text 15"/>
          <p:cNvSpPr txBox="1"/>
          <p:nvPr/>
        </p:nvSpPr>
        <p:spPr>
          <a:xfrm>
            <a:off x="3575304"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Code</a:t>
            </a:r>
            <a:endParaRPr lang="en-US" sz="1100" dirty="0"/>
          </a:p>
        </p:txBody>
      </p:sp>
      <p:sp>
        <p:nvSpPr>
          <p:cNvPr id="19" name="Text 16"/>
          <p:cNvSpPr txBox="1"/>
          <p:nvPr/>
        </p:nvSpPr>
        <p:spPr>
          <a:xfrm>
            <a:off x="5303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Repair check</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915400" y="2267712"/>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 · Watch or listen</a:t>
            </a:r>
            <a:endParaRPr lang="en-US" sz="1100" dirty="0"/>
          </a:p>
        </p:txBody>
      </p:sp>
      <p:sp>
        <p:nvSpPr>
          <p:cNvPr id="22" name="Text 19"/>
          <p:cNvSpPr txBox="1"/>
          <p:nvPr/>
        </p:nvSpPr>
        <p:spPr>
          <a:xfrm>
            <a:off x="4709160" y="2267712"/>
            <a:ext cx="4023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See or hear the whole word twice first.</a:t>
            </a:r>
            <a:endParaRPr lang="en-US" sz="1100" dirty="0"/>
          </a:p>
        </p:txBody>
      </p:sp>
      <p:sp>
        <p:nvSpPr>
          <p:cNvPr id="23" name="Text 20"/>
          <p:cNvSpPr txBox="1"/>
          <p:nvPr/>
        </p:nvSpPr>
        <p:spPr>
          <a:xfrm>
            <a:off x="3611880" y="2267712"/>
            <a:ext cx="9144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t>
            </a:r>
            <a:endParaRPr lang="en-US" sz="1100" dirty="0"/>
          </a:p>
        </p:txBody>
      </p:sp>
      <p:sp>
        <p:nvSpPr>
          <p:cNvPr id="24" name="Text 21"/>
          <p:cNvSpPr txBox="1"/>
          <p:nvPr/>
        </p:nvSpPr>
        <p:spPr>
          <a:xfrm>
            <a:off x="566928" y="2267712"/>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Letter shape / order recognisable?</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915400" y="3054096"/>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 · Repeat and notice</a:t>
            </a:r>
            <a:endParaRPr lang="en-US" sz="1100" dirty="0"/>
          </a:p>
        </p:txBody>
      </p:sp>
      <p:sp>
        <p:nvSpPr>
          <p:cNvPr id="29" name="Text 26"/>
          <p:cNvSpPr txBox="1"/>
          <p:nvPr/>
        </p:nvSpPr>
        <p:spPr>
          <a:xfrm>
            <a:off x="4709160" y="3054096"/>
            <a:ext cx="4023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it quietly; notice letters, dots, marks.</a:t>
            </a:r>
            <a:endParaRPr lang="en-US" sz="1100" dirty="0"/>
          </a:p>
        </p:txBody>
      </p:sp>
      <p:sp>
        <p:nvSpPr>
          <p:cNvPr id="30" name="Text 27"/>
          <p:cNvSpPr txBox="1"/>
          <p:nvPr/>
        </p:nvSpPr>
        <p:spPr>
          <a:xfrm>
            <a:off x="3611880" y="3054096"/>
            <a:ext cx="9144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t>
            </a:r>
            <a:endParaRPr lang="en-US" sz="1100" dirty="0"/>
          </a:p>
        </p:txBody>
      </p:sp>
      <p:sp>
        <p:nvSpPr>
          <p:cNvPr id="31" name="Text 28"/>
          <p:cNvSpPr txBox="1"/>
          <p:nvPr/>
        </p:nvSpPr>
        <p:spPr>
          <a:xfrm>
            <a:off x="566928" y="3054096"/>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Dots: number and position exact?</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915400" y="3840480"/>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 Imagine</a:t>
            </a:r>
            <a:endParaRPr lang="en-US" sz="1100" dirty="0"/>
          </a:p>
        </p:txBody>
      </p:sp>
      <p:sp>
        <p:nvSpPr>
          <p:cNvPr id="36" name="Text 33"/>
          <p:cNvSpPr txBox="1"/>
          <p:nvPr/>
        </p:nvSpPr>
        <p:spPr>
          <a:xfrm>
            <a:off x="4709160" y="3840480"/>
            <a:ext cx="4023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Hide the model; picture the word.</a:t>
            </a:r>
            <a:endParaRPr lang="en-US" sz="1100" dirty="0"/>
          </a:p>
        </p:txBody>
      </p:sp>
      <p:sp>
        <p:nvSpPr>
          <p:cNvPr id="37" name="Text 34"/>
          <p:cNvSpPr txBox="1"/>
          <p:nvPr/>
        </p:nvSpPr>
        <p:spPr>
          <a:xfrm>
            <a:off x="3611880" y="3840480"/>
            <a:ext cx="9144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a:t>
            </a:r>
            <a:endParaRPr lang="en-US" sz="1100" dirty="0"/>
          </a:p>
        </p:txBody>
      </p:sp>
      <p:sp>
        <p:nvSpPr>
          <p:cNvPr id="38" name="Text 35"/>
          <p:cNvSpPr txBox="1"/>
          <p:nvPr/>
        </p:nvSpPr>
        <p:spPr>
          <a:xfrm>
            <a:off x="566928" y="3840480"/>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Join: connected or stopped correctly?</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915400" y="4626864"/>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 · Try writing</a:t>
            </a:r>
            <a:endParaRPr lang="en-US" sz="1100" dirty="0"/>
          </a:p>
        </p:txBody>
      </p:sp>
      <p:sp>
        <p:nvSpPr>
          <p:cNvPr id="43" name="Text 40"/>
          <p:cNvSpPr txBox="1"/>
          <p:nvPr/>
        </p:nvSpPr>
        <p:spPr>
          <a:xfrm>
            <a:off x="4709160" y="4626864"/>
            <a:ext cx="4023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it once, right to left.</a:t>
            </a:r>
            <a:endParaRPr lang="en-US" sz="1100" dirty="0"/>
          </a:p>
        </p:txBody>
      </p:sp>
      <p:sp>
        <p:nvSpPr>
          <p:cNvPr id="44" name="Text 41"/>
          <p:cNvSpPr txBox="1"/>
          <p:nvPr/>
        </p:nvSpPr>
        <p:spPr>
          <a:xfrm>
            <a:off x="3611880" y="4626864"/>
            <a:ext cx="9144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t>
            </a:r>
            <a:endParaRPr lang="en-US" sz="1100" dirty="0"/>
          </a:p>
        </p:txBody>
      </p:sp>
      <p:sp>
        <p:nvSpPr>
          <p:cNvPr id="45" name="Text 42"/>
          <p:cNvSpPr txBox="1"/>
          <p:nvPr/>
        </p:nvSpPr>
        <p:spPr>
          <a:xfrm>
            <a:off x="566928" y="4626864"/>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Mark on the correct letter?</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49" name="Text 46"/>
          <p:cNvSpPr txBox="1"/>
          <p:nvPr/>
        </p:nvSpPr>
        <p:spPr>
          <a:xfrm>
            <a:off x="8915400" y="5413248"/>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 · Examine and improve</a:t>
            </a:r>
            <a:endParaRPr lang="en-US" sz="1100" dirty="0"/>
          </a:p>
        </p:txBody>
      </p:sp>
      <p:sp>
        <p:nvSpPr>
          <p:cNvPr id="50" name="Text 47"/>
          <p:cNvSpPr txBox="1"/>
          <p:nvPr/>
        </p:nvSpPr>
        <p:spPr>
          <a:xfrm>
            <a:off x="4709160" y="5413248"/>
            <a:ext cx="4023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Compare, correct, write it again from memory.</a:t>
            </a:r>
            <a:endParaRPr lang="en-US" sz="1100" dirty="0"/>
          </a:p>
        </p:txBody>
      </p:sp>
      <p:sp>
        <p:nvSpPr>
          <p:cNvPr id="51" name="Text 48"/>
          <p:cNvSpPr txBox="1"/>
          <p:nvPr/>
        </p:nvSpPr>
        <p:spPr>
          <a:xfrm>
            <a:off x="3611880" y="5413248"/>
            <a:ext cx="9144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t>
            </a:r>
            <a:endParaRPr lang="en-US" sz="1100" dirty="0"/>
          </a:p>
        </p:txBody>
      </p:sp>
      <p:sp>
        <p:nvSpPr>
          <p:cNvPr id="52" name="Text 49"/>
          <p:cNvSpPr txBox="1"/>
          <p:nvPr/>
        </p:nvSpPr>
        <p:spPr>
          <a:xfrm>
            <a:off x="566928" y="5413248"/>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Spacing and baseline clear?</a:t>
            </a:r>
            <a:endParaRPr lang="en-US" sz="1100" dirty="0"/>
          </a:p>
        </p:txBody>
      </p:sp>
      <p:sp>
        <p:nvSpPr>
          <p:cNvPr id="53" name="Shape 50"/>
          <p:cNvSpPr/>
          <p:nvPr/>
        </p:nvSpPr>
        <p:spPr>
          <a:xfrm>
            <a:off x="11091672" y="545896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45896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Handwriting &amp; dictation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code do you use if a dot is missing?</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J</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ea typeface="Amiri" pitchFamily="2" charset="-78"/>
                <a:cs typeface="Amiri" pitchFamily="2" charset="-78"/>
              </a:rPr>
              <a:t>بَابٌ</a:t>
            </a:r>
            <a:pPr algn="l" indent="0" marL="0">
              <a:buNone/>
            </a:pPr>
            <a:r>
              <a:rPr lang="en-US" sz="1250" b="1" dirty="0">
                <a:solidFill>
                  <a:srgbClr val="1B3B6F"/>
                </a:solidFill>
                <a:latin typeface="Calibri" pitchFamily="34" charset="0"/>
                <a:cs typeface="Amiri" pitchFamily="2" charset="-78"/>
              </a:rPr>
              <a:t>, where does the join stop?</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the alif</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the first </a:t>
            </a:r>
            <a:pPr algn="l" indent="0" marL="0">
              <a:buNone/>
            </a:pPr>
            <a:r>
              <a:rPr lang="ar-SA" altLang="en-US" sz="1650" dirty="0">
                <a:solidFill>
                  <a:srgbClr val="1F2A37"/>
                </a:solidFill>
                <a:latin typeface="Amiri" pitchFamily="2" charset="-78"/>
                <a:ea typeface="Amiri" pitchFamily="2" charset="-78"/>
                <a:cs typeface="Amiri" pitchFamily="2" charset="-78"/>
              </a:rPr>
              <a:t>ب</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is no stop</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WRITE step hides the model?</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 — Watch</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 Imagine</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 — Try</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Is </a:t>
            </a:r>
            <a:pPr algn="l" indent="0" marL="0">
              <a:buNone/>
            </a:pPr>
            <a:r>
              <a:rPr lang="ar-SA" altLang="en-US" sz="1650" b="1" dirty="0">
                <a:solidFill>
                  <a:srgbClr val="1B3B6F"/>
                </a:solidFill>
                <a:latin typeface="Amiri" pitchFamily="2" charset="-78"/>
                <a:ea typeface="Amiri" pitchFamily="2" charset="-78"/>
                <a:cs typeface="Amiri" pitchFamily="2" charset="-78"/>
              </a:rPr>
              <a:t>مدرسة</a:t>
            </a:r>
            <a:pPr algn="l" indent="0" marL="0">
              <a:buNone/>
            </a:pPr>
            <a:r>
              <a:rPr lang="en-US" sz="1250" b="1" dirty="0">
                <a:solidFill>
                  <a:srgbClr val="1B3B6F"/>
                </a:solidFill>
                <a:latin typeface="Calibri" pitchFamily="34" charset="0"/>
                <a:cs typeface="Amiri" pitchFamily="2" charset="-78"/>
              </a:rPr>
              <a:t> (no marks) misspelled?</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 everyday Arabic omits marks</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 marks are always required</a:t>
            </a:r>
            <a:endParaRPr lang="en-US" sz="12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Handwriting &amp; dictation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code do you use if a dot is missing?</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J</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 = dots.</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ea typeface="Amiri" pitchFamily="2" charset="-78"/>
                <a:cs typeface="Amiri" pitchFamily="2" charset="-78"/>
              </a:rPr>
              <a:t>بَابٌ</a:t>
            </a:r>
            <a:pPr algn="l" indent="0" marL="0">
              <a:buNone/>
            </a:pPr>
            <a:r>
              <a:rPr lang="en-US" sz="1250" b="1" dirty="0">
                <a:solidFill>
                  <a:srgbClr val="1B3B6F"/>
                </a:solidFill>
                <a:latin typeface="Calibri" pitchFamily="34" charset="0"/>
                <a:cs typeface="Amiri" pitchFamily="2" charset="-78"/>
              </a:rPr>
              <a:t>, where does the join stop?</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After the alif</a:t>
            </a:r>
            <a:endParaRPr lang="en-US" sz="125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After the first </a:t>
            </a:r>
            <a:pPr algn="l" indent="0" marL="0">
              <a:buNone/>
            </a:pPr>
            <a:r>
              <a:rPr lang="ar-SA" altLang="en-US" sz="1650" dirty="0">
                <a:solidFill>
                  <a:srgbClr val="9AA1AB"/>
                </a:solidFill>
                <a:latin typeface="Amiri" pitchFamily="2" charset="-78"/>
                <a:ea typeface="Amiri" pitchFamily="2" charset="-78"/>
                <a:cs typeface="Amiri" pitchFamily="2" charset="-78"/>
              </a:rPr>
              <a:t>ب</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There is no stop</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Alif is a non-connector.</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WRITE step hides the model?</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 — Watch</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 Imagine</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 — Try</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Picture it in your mind.</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Is </a:t>
            </a:r>
            <a:pPr algn="l" indent="0" marL="0">
              <a:buNone/>
            </a:pPr>
            <a:r>
              <a:rPr lang="ar-SA" altLang="en-US" sz="1650" b="1" dirty="0">
                <a:solidFill>
                  <a:srgbClr val="1B3B6F"/>
                </a:solidFill>
                <a:latin typeface="Amiri" pitchFamily="2" charset="-78"/>
                <a:ea typeface="Amiri" pitchFamily="2" charset="-78"/>
                <a:cs typeface="Amiri" pitchFamily="2" charset="-78"/>
              </a:rPr>
              <a:t>مدرسة</a:t>
            </a:r>
            <a:pPr algn="l" indent="0" marL="0">
              <a:buNone/>
            </a:pPr>
            <a:r>
              <a:rPr lang="en-US" sz="1250" b="1" dirty="0">
                <a:solidFill>
                  <a:srgbClr val="1B3B6F"/>
                </a:solidFill>
                <a:latin typeface="Calibri" pitchFamily="34" charset="0"/>
                <a:cs typeface="Amiri" pitchFamily="2" charset="-78"/>
              </a:rPr>
              <a:t> (no marks) misspelled?</a:t>
            </a:r>
            <a:endParaRPr lang="en-US" sz="1250" dirty="0"/>
          </a:p>
        </p:txBody>
      </p:sp>
      <p:sp>
        <p:nvSpPr>
          <p:cNvPr id="64" name="Shape 61"/>
          <p:cNvSpPr/>
          <p:nvPr/>
        </p:nvSpPr>
        <p:spPr>
          <a:xfrm>
            <a:off x="6277356" y="4837176"/>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73752"/>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No — everyday Arabic omits marks</a:t>
            </a:r>
            <a:endParaRPr lang="en-US" sz="1250" dirty="0"/>
          </a:p>
        </p:txBody>
      </p:sp>
      <p:sp>
        <p:nvSpPr>
          <p:cNvPr id="68" name="Shape 65"/>
          <p:cNvSpPr/>
          <p:nvPr/>
        </p:nvSpPr>
        <p:spPr>
          <a:xfrm>
            <a:off x="6368796" y="533095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Yes, marks are always required</a:t>
            </a:r>
            <a:endParaRPr lang="en-US" sz="1250" dirty="0"/>
          </a:p>
        </p:txBody>
      </p:sp>
      <p:sp>
        <p:nvSpPr>
          <p:cNvPr id="71" name="Text 68"/>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training-text note.</a:t>
            </a:r>
            <a:endParaRPr lang="en-US" sz="10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Handwriting &amp; dictation</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cs typeface="Amiri" pitchFamily="2" charset="-78"/>
              </a:rPr>
              <a:t>I DO · TARGETED REPAIR LINES (WEBSITE PART 3)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Watch me write three repair lines</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أَصْلِحِ الحَرْفَ بِدِقَّةٍ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9322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a:t>
            </a:r>
            <a:endParaRPr lang="en-US" sz="1100" dirty="0"/>
          </a:p>
        </p:txBody>
      </p:sp>
      <p:sp>
        <p:nvSpPr>
          <p:cNvPr id="17" name="Text 14"/>
          <p:cNvSpPr txBox="1"/>
          <p:nvPr/>
        </p:nvSpPr>
        <p:spPr>
          <a:xfrm>
            <a:off x="5221224"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words</a:t>
            </a:r>
            <a:endParaRPr lang="en-US" sz="1100" dirty="0"/>
          </a:p>
        </p:txBody>
      </p:sp>
      <p:sp>
        <p:nvSpPr>
          <p:cNvPr id="18" name="Text 15"/>
          <p:cNvSpPr txBox="1"/>
          <p:nvPr/>
        </p:nvSpPr>
        <p:spPr>
          <a:xfrm>
            <a:off x="530352" y="1810512"/>
            <a:ext cx="4544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check</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9829800" y="2267712"/>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joins</a:t>
            </a:r>
            <a:endParaRPr lang="en-US" sz="1100" dirty="0"/>
          </a:p>
        </p:txBody>
      </p:sp>
      <p:sp>
        <p:nvSpPr>
          <p:cNvPr id="21" name="Text 18"/>
          <p:cNvSpPr txBox="1"/>
          <p:nvPr/>
        </p:nvSpPr>
        <p:spPr>
          <a:xfrm>
            <a:off x="5239512" y="2267712"/>
            <a:ext cx="4389120"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ea typeface="Amiri" pitchFamily="2" charset="-78"/>
                <a:cs typeface="Amiri" pitchFamily="2" charset="-78"/>
              </a:rPr>
              <a:t>بَابٌ · وَلَدٌ · جَدِيدٌ</a:t>
            </a:r>
            <a:endParaRPr lang="ar-SA" sz="3000" dirty="0"/>
          </a:p>
        </p:txBody>
      </p:sp>
      <p:sp>
        <p:nvSpPr>
          <p:cNvPr id="22" name="Text 19"/>
          <p:cNvSpPr txBox="1"/>
          <p:nvPr/>
        </p:nvSpPr>
        <p:spPr>
          <a:xfrm>
            <a:off x="566928" y="2267712"/>
            <a:ext cx="4507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Circle every non-connector break; no pen line crosses it.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9829800" y="3054096"/>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 · marks</a:t>
            </a:r>
            <a:endParaRPr lang="en-US" sz="1100" dirty="0"/>
          </a:p>
        </p:txBody>
      </p:sp>
      <p:sp>
        <p:nvSpPr>
          <p:cNvPr id="27" name="Text 24"/>
          <p:cNvSpPr txBox="1"/>
          <p:nvPr/>
        </p:nvSpPr>
        <p:spPr>
          <a:xfrm>
            <a:off x="5239512" y="3054096"/>
            <a:ext cx="4389120"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ea typeface="Amiri" pitchFamily="2" charset="-78"/>
                <a:cs typeface="Amiri" pitchFamily="2" charset="-78"/>
              </a:rPr>
              <a:t>بَيْتٌ · مُعَلِّمٌ · عَيْنٌ</a:t>
            </a:r>
            <a:endParaRPr lang="ar-SA" sz="3000" dirty="0"/>
          </a:p>
        </p:txBody>
      </p:sp>
      <p:sp>
        <p:nvSpPr>
          <p:cNvPr id="28" name="Text 25"/>
          <p:cNvSpPr txBox="1"/>
          <p:nvPr/>
        </p:nvSpPr>
        <p:spPr>
          <a:xfrm>
            <a:off x="566928" y="3054096"/>
            <a:ext cx="4507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Point from every sukūn or shadda to its letter before copying.</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9829800" y="3840480"/>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 · spacing</a:t>
            </a:r>
            <a:endParaRPr lang="en-US" sz="1100" dirty="0"/>
          </a:p>
        </p:txBody>
      </p:sp>
      <p:sp>
        <p:nvSpPr>
          <p:cNvPr id="33" name="Text 30"/>
          <p:cNvSpPr txBox="1"/>
          <p:nvPr/>
        </p:nvSpPr>
        <p:spPr>
          <a:xfrm>
            <a:off x="5239512" y="3840480"/>
            <a:ext cx="4389120"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ea typeface="Amiri" pitchFamily="2" charset="-78"/>
                <a:cs typeface="Amiri" pitchFamily="2" charset="-78"/>
              </a:rPr>
              <a:t>قَلَمٌ جَدِيدٌ</a:t>
            </a:r>
            <a:endParaRPr lang="ar-SA" sz="3000" dirty="0"/>
          </a:p>
        </p:txBody>
      </p:sp>
      <p:sp>
        <p:nvSpPr>
          <p:cNvPr id="34" name="Text 31"/>
          <p:cNvSpPr txBox="1"/>
          <p:nvPr/>
        </p:nvSpPr>
        <p:spPr>
          <a:xfrm>
            <a:off x="566928" y="3840480"/>
            <a:ext cx="4507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Joined letters close; ONE clear gap between the two words.</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9829800" y="4626864"/>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Dot contrasts</a:t>
            </a:r>
            <a:endParaRPr lang="en-US" sz="1100" dirty="0"/>
          </a:p>
        </p:txBody>
      </p:sp>
      <p:sp>
        <p:nvSpPr>
          <p:cNvPr id="39" name="Text 36"/>
          <p:cNvSpPr txBox="1"/>
          <p:nvPr/>
        </p:nvSpPr>
        <p:spPr>
          <a:xfrm>
            <a:off x="5239512" y="4626864"/>
            <a:ext cx="4389120" cy="731520"/>
          </a:xfrm>
          <a:prstGeom prst="rect">
            <a:avLst/>
          </a:prstGeom>
          <a:noFill/>
          <a:ln/>
        </p:spPr>
        <p:txBody>
          <a:bodyPr wrap="square" lIns="0" tIns="0" rIns="0" bIns="0" rtlCol="0" anchor="ctr"/>
          <a:lstStyle/>
          <a:p>
            <a:pPr rtl="1" algn="ctr" indent="0" marL="0">
              <a:buNone/>
            </a:pPr>
            <a:r>
              <a:rPr lang="ar-SA" altLang="en-US" sz="2950" b="1" dirty="0">
                <a:solidFill>
                  <a:srgbClr val="1B3B6F"/>
                </a:solidFill>
                <a:latin typeface="Amiri" pitchFamily="2" charset="-78"/>
                <a:ea typeface="Amiri" pitchFamily="2" charset="-78"/>
                <a:cs typeface="Amiri" pitchFamily="2" charset="-78"/>
              </a:rPr>
              <a:t>ب ت ث ن ي · ج ح خ · ع غ · ف ق</a:t>
            </a:r>
            <a:endParaRPr lang="ar-SA" sz="2950" dirty="0"/>
          </a:p>
        </p:txBody>
      </p:sp>
      <p:sp>
        <p:nvSpPr>
          <p:cNvPr id="40" name="Text 37"/>
          <p:cNvSpPr txBox="1"/>
          <p:nvPr/>
        </p:nvSpPr>
        <p:spPr>
          <a:xfrm>
            <a:off x="566928" y="4626864"/>
            <a:ext cx="4507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Count and place the dots before leaving the word.</a:t>
            </a:r>
            <a:endParaRPr lang="en-US" sz="110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Handwriting &amp; dictation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GAME “EXACT MATCH”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form matches exactly?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الشَّكْلَ الصَّحِيحَ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Target: baytun (house)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بَيْتٌ</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Target: muʿallimun (teacher)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مُعَلِّمٌ</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مُعَلِمٌ</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مَعَلِّمٌ</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Target: kitābun (book)</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Target: bintun (girl)</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بِنْتٌ</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بَيْتٌ</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بِتْنٌ</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Target: jadīdun (new)</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جَدِدٌ</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حَدِيدٌ</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جَدِيدٌ</a:t>
            </a:r>
            <a:endParaRPr lang="ar-SA" sz="20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Check each feature:</a:t>
            </a:r>
            <a:endParaRPr lang="en-US" sz="1250" dirty="0"/>
          </a:p>
          <a:p>
            <a:pPr algn="l" indent="0" marL="0">
              <a:buNone/>
            </a:pPr>
            <a:r>
              <a:rPr lang="en-US" sz="1250" dirty="0">
                <a:solidFill>
                  <a:srgbClr val="1E6B52"/>
                </a:solidFill>
                <a:latin typeface="Calibri" pitchFamily="34" charset="0"/>
                <a:cs typeface="Amiri" pitchFamily="2" charset="-78"/>
              </a:rPr>
              <a:t>letters · dots · long vowels · marks</a:t>
            </a:r>
            <a:endParaRPr lang="en-US" sz="1250" dirty="0"/>
          </a:p>
          <a:p>
            <a:pPr algn="l" indent="0" marL="0">
              <a:buNone/>
            </a:pPr>
            <a:r>
              <a:rPr lang="en-US" sz="1250" dirty="0">
                <a:solidFill>
                  <a:srgbClr val="1E6B52"/>
                </a:solidFill>
                <a:latin typeface="Calibri" pitchFamily="34" charset="0"/>
                <a:cs typeface="Amiri" pitchFamily="2" charset="-78"/>
              </a:rPr>
              <a:t>The first difference decides.</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Handwriting &amp; dictation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EXACT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Target: baytun (house)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بَيتٌ</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بَنْتٌ</a:t>
            </a:r>
            <a:endParaRPr lang="ar-SA" sz="170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بَيْتٌ</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Two dots below the yāʾ, with sukūn.</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Target: muʿallimun (teacher)</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مُعَلِّمٌ</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مُعَلِمٌ</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مَعَلِّمٌ</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Shadda on the lām; ḍamma on mīm.</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Target: kitābun (book)</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a:t>
            </a:r>
            <a:endParaRPr lang="ar-SA" sz="170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كِتَابٌ</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كُتَابٌ</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Long ā needs the alif.</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Target: bintun (girl)</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بِنْتٌ</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بَيْتٌ</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بِتْنٌ</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nūn has one dot above; sukūn on nūn.</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Target: jadīdun (new)</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جَدِدٌ</a:t>
            </a:r>
            <a:endParaRPr lang="ar-SA" sz="170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حَدِيدٌ</a:t>
            </a:r>
            <a:endParaRPr lang="ar-SA" sz="170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جَدِيدٌ</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Long ī with yāʾ; jīm has a dot.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Check each feature:</a:t>
            </a:r>
            <a:endParaRPr lang="en-US" sz="1250" dirty="0"/>
          </a:p>
          <a:p>
            <a:pPr algn="l" indent="0" marL="0">
              <a:buNone/>
            </a:pPr>
            <a:r>
              <a:rPr lang="en-US" sz="1250" dirty="0">
                <a:solidFill>
                  <a:srgbClr val="1E6B52"/>
                </a:solidFill>
                <a:latin typeface="Calibri" pitchFamily="34" charset="0"/>
                <a:cs typeface="Amiri" pitchFamily="2" charset="-78"/>
              </a:rPr>
              <a:t>letters · dots · long vowels · marks</a:t>
            </a:r>
            <a:endParaRPr lang="en-US" sz="1250" dirty="0"/>
          </a:p>
          <a:p>
            <a:pPr algn="l" indent="0" marL="0">
              <a:buNone/>
            </a:pPr>
            <a:r>
              <a:rPr lang="en-US" sz="1250" dirty="0">
                <a:solidFill>
                  <a:srgbClr val="1E6B52"/>
                </a:solidFill>
                <a:latin typeface="Calibri" pitchFamily="34" charset="0"/>
                <a:cs typeface="Amiri" pitchFamily="2" charset="-78"/>
              </a:rPr>
              <a:t>The first difference decides.</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Handwriting &amp; dictation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GAME “REPAIR-CODE DETECTIVE”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Name the repair code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Model </a:t>
            </a:r>
            <a:pPr algn="l" indent="0" marL="0">
              <a:buNone/>
            </a:pPr>
            <a:r>
              <a:rPr lang="ar-SA" altLang="en-US" sz="1650" b="1" dirty="0">
                <a:solidFill>
                  <a:srgbClr val="1B3B6F"/>
                </a:solidFill>
                <a:latin typeface="Amiri" pitchFamily="2" charset="-78"/>
                <a:ea typeface="Amiri" pitchFamily="2" charset="-78"/>
                <a:cs typeface="Amiri" pitchFamily="2" charset="-78"/>
              </a:rPr>
              <a:t>بَيْتٌ</a:t>
            </a:r>
            <a:pPr algn="l" indent="0" marL="0">
              <a:buNone/>
            </a:pPr>
            <a:r>
              <a:rPr lang="en-US" sz="1250" b="1" dirty="0">
                <a:solidFill>
                  <a:srgbClr val="1B3B6F"/>
                </a:solidFill>
                <a:latin typeface="Calibri" pitchFamily="34" charset="0"/>
                <a:cs typeface="Amiri" pitchFamily="2" charset="-78"/>
              </a:rPr>
              <a:t> — written </a:t>
            </a:r>
            <a:pPr algn="l" indent="0" marL="0">
              <a:buNone/>
            </a:pPr>
            <a:r>
              <a:rPr lang="ar-SA" altLang="en-US" sz="1650" b="1" dirty="0">
                <a:solidFill>
                  <a:srgbClr val="1B3B6F"/>
                </a:solidFill>
                <a:latin typeface="Amiri" pitchFamily="2" charset="-78"/>
                <a:ea typeface="Amiri" pitchFamily="2" charset="-78"/>
                <a:cs typeface="Amiri" pitchFamily="2" charset="-78"/>
              </a:rPr>
              <a:t>بَنْتٌ</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 · dots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J · join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 · spacing</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Model </a:t>
            </a:r>
            <a:pPr algn="l" indent="0" marL="0">
              <a:buNone/>
            </a:pPr>
            <a:r>
              <a:rPr lang="ar-SA" altLang="en-US" sz="1650" b="1" dirty="0">
                <a:solidFill>
                  <a:srgbClr val="1B3B6F"/>
                </a:solidFill>
                <a:latin typeface="Amiri" pitchFamily="2" charset="-78"/>
                <a:ea typeface="Amiri" pitchFamily="2" charset="-78"/>
                <a:cs typeface="Amiri" pitchFamily="2" charset="-78"/>
              </a:rPr>
              <a:t>بَابٌ</a:t>
            </a:r>
            <a:pPr algn="l" indent="0" marL="0">
              <a:buNone/>
            </a:pPr>
            <a:r>
              <a:rPr lang="en-US" sz="1250" b="1" dirty="0">
                <a:solidFill>
                  <a:srgbClr val="1B3B6F"/>
                </a:solidFill>
                <a:latin typeface="Calibri" pitchFamily="34" charset="0"/>
                <a:cs typeface="Amiri" pitchFamily="2" charset="-78"/>
              </a:rPr>
              <a:t> — written with alif joined to the last </a:t>
            </a:r>
            <a:pPr algn="l" indent="0" marL="0">
              <a:buNone/>
            </a:pPr>
            <a:r>
              <a:rPr lang="ar-SA" altLang="en-US" sz="1650" b="1" dirty="0">
                <a:solidFill>
                  <a:srgbClr val="1B3B6F"/>
                </a:solidFill>
                <a:latin typeface="Amiri" pitchFamily="2" charset="-78"/>
                <a:ea typeface="Amiri" pitchFamily="2" charset="-78"/>
                <a:cs typeface="Amiri" pitchFamily="2" charset="-78"/>
              </a:rPr>
              <a:t>ب</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 · mark</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J · join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 · letter</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Model </a:t>
            </a:r>
            <a:pPr algn="l" indent="0" marL="0">
              <a:buNone/>
            </a:pPr>
            <a:r>
              <a:rPr lang="ar-SA" altLang="en-US" sz="1650" b="1" dirty="0">
                <a:solidFill>
                  <a:srgbClr val="1B3B6F"/>
                </a:solidFill>
                <a:latin typeface="Amiri" pitchFamily="2" charset="-78"/>
                <a:ea typeface="Amiri" pitchFamily="2" charset="-78"/>
                <a:cs typeface="Amiri" pitchFamily="2" charset="-78"/>
              </a:rPr>
              <a:t>مُعَلِّمٌ</a:t>
            </a:r>
            <a:pPr algn="l" indent="0" marL="0">
              <a:buNone/>
            </a:pPr>
            <a:r>
              <a:rPr lang="en-US" sz="1250" b="1" dirty="0">
                <a:solidFill>
                  <a:srgbClr val="1B3B6F"/>
                </a:solidFill>
                <a:latin typeface="Calibri" pitchFamily="34" charset="0"/>
                <a:cs typeface="Amiri" pitchFamily="2" charset="-78"/>
              </a:rPr>
              <a:t> — written </a:t>
            </a:r>
            <a:pPr algn="l" indent="0" marL="0">
              <a:buNone/>
            </a:pPr>
            <a:r>
              <a:rPr lang="ar-SA" altLang="en-US" sz="1650" b="1" dirty="0">
                <a:solidFill>
                  <a:srgbClr val="1B3B6F"/>
                </a:solidFill>
                <a:latin typeface="Amiri" pitchFamily="2" charset="-78"/>
                <a:ea typeface="Amiri" pitchFamily="2" charset="-78"/>
                <a:cs typeface="Amiri" pitchFamily="2" charset="-78"/>
              </a:rPr>
              <a:t>مُعَلِمٌ</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 · mark</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 · dots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J · join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Model </a:t>
            </a:r>
            <a:pPr algn="l" indent="0" marL="0">
              <a:buNone/>
            </a:pPr>
            <a:r>
              <a:rPr lang="ar-SA" altLang="en-US" sz="1650" b="1" dirty="0">
                <a:solidFill>
                  <a:srgbClr val="1B3B6F"/>
                </a:solidFill>
                <a:latin typeface="Amiri" pitchFamily="2" charset="-78"/>
                <a:ea typeface="Amiri" pitchFamily="2" charset="-78"/>
                <a:cs typeface="Amiri" pitchFamily="2" charset="-78"/>
              </a:rPr>
              <a:t>قَلَمٌ جَدِيدٌ</a:t>
            </a:r>
            <a:pPr algn="l" indent="0" marL="0">
              <a:buNone/>
            </a:pPr>
            <a:r>
              <a:rPr lang="en-US" sz="1250" b="1" dirty="0">
                <a:solidFill>
                  <a:srgbClr val="1B3B6F"/>
                </a:solidFill>
                <a:latin typeface="Calibri" pitchFamily="34" charset="0"/>
                <a:cs typeface="Amiri" pitchFamily="2" charset="-78"/>
              </a:rPr>
              <a:t> — written as one joined word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 · letter</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 · dots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 · spacing</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Model </a:t>
            </a:r>
            <a:pPr algn="l" indent="0" marL="0">
              <a:buNone/>
            </a:pPr>
            <a:r>
              <a:rPr lang="ar-SA" altLang="en-US" sz="1650" b="1" dirty="0">
                <a:solidFill>
                  <a:srgbClr val="1B3B6F"/>
                </a:solidFill>
                <a:latin typeface="Amiri" pitchFamily="2" charset="-78"/>
                <a:ea typeface="Amiri" pitchFamily="2" charset="-78"/>
                <a:cs typeface="Amiri" pitchFamily="2" charset="-78"/>
              </a:rPr>
              <a:t>عَيْنٌ</a:t>
            </a:r>
            <a:pPr algn="l" indent="0" marL="0">
              <a:buNone/>
            </a:pPr>
            <a:r>
              <a:rPr lang="en-US" sz="1250" b="1" dirty="0">
                <a:solidFill>
                  <a:srgbClr val="1B3B6F"/>
                </a:solidFill>
                <a:latin typeface="Calibri" pitchFamily="34" charset="0"/>
                <a:cs typeface="Amiri" pitchFamily="2" charset="-78"/>
              </a:rPr>
              <a:t> — written </a:t>
            </a:r>
            <a:pPr algn="l" indent="0" marL="0">
              <a:buNone/>
            </a:pPr>
            <a:r>
              <a:rPr lang="ar-SA" altLang="en-US" sz="1650" b="1" dirty="0">
                <a:solidFill>
                  <a:srgbClr val="1B3B6F"/>
                </a:solidFill>
                <a:latin typeface="Amiri" pitchFamily="2" charset="-78"/>
                <a:ea typeface="Amiri" pitchFamily="2" charset="-78"/>
                <a:cs typeface="Amiri" pitchFamily="2" charset="-78"/>
              </a:rPr>
              <a:t>غَيْنٌ</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 · mark</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 · spacing</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 · dots</a:t>
            </a:r>
            <a:endParaRPr lang="en-US" sz="1250" dirty="0"/>
          </a:p>
        </p:txBody>
      </p:sp>
      <p:sp>
        <p:nvSpPr>
          <p:cNvPr id="80" name="Shape 7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FIVE CODES</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 letter · D dots · J join</a:t>
            </a:r>
            <a:endParaRPr lang="en-US" sz="1250" dirty="0"/>
          </a:p>
          <a:p>
            <a:pPr algn="l" indent="0" marL="0">
              <a:buNone/>
            </a:pPr>
            <a:r>
              <a:rPr lang="en-US" sz="1250" dirty="0">
                <a:solidFill>
                  <a:srgbClr val="1F2A37"/>
                </a:solidFill>
                <a:latin typeface="Calibri" pitchFamily="34" charset="0"/>
                <a:cs typeface="Amiri" pitchFamily="2" charset="-78"/>
              </a:rPr>
              <a:t>M mark · S spacing / baseline</a:t>
            </a:r>
            <a:endParaRPr lang="en-US" sz="1250" dirty="0"/>
          </a:p>
          <a:p>
            <a:pPr algn="l" indent="0" marL="0">
              <a:buNone/>
            </a:pPr>
            <a:r>
              <a:rPr lang="en-US" sz="1250" dirty="0">
                <a:solidFill>
                  <a:srgbClr val="1F2A37"/>
                </a:solidFill>
                <a:latin typeface="Calibri" pitchFamily="34" charset="0"/>
                <a:cs typeface="Amiri" pitchFamily="2" charset="-78"/>
              </a:rPr>
              <a:t>Choose ONE primary code.</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Handwriting &amp; dictation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REPAIR-CODE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Model </a:t>
            </a:r>
            <a:pPr algn="l" indent="0" marL="0">
              <a:buNone/>
            </a:pPr>
            <a:r>
              <a:rPr lang="ar-SA" altLang="en-US" sz="1650" b="1" dirty="0">
                <a:solidFill>
                  <a:srgbClr val="1B3B6F"/>
                </a:solidFill>
                <a:latin typeface="Amiri" pitchFamily="2" charset="-78"/>
                <a:ea typeface="Amiri" pitchFamily="2" charset="-78"/>
                <a:cs typeface="Amiri" pitchFamily="2" charset="-78"/>
              </a:rPr>
              <a:t>بَيْتٌ</a:t>
            </a:r>
            <a:pPr algn="l" indent="0" marL="0">
              <a:buNone/>
            </a:pPr>
            <a:r>
              <a:rPr lang="en-US" sz="1250" b="1" dirty="0">
                <a:solidFill>
                  <a:srgbClr val="1B3B6F"/>
                </a:solidFill>
                <a:latin typeface="Calibri" pitchFamily="34" charset="0"/>
                <a:cs typeface="Amiri" pitchFamily="2" charset="-78"/>
              </a:rPr>
              <a:t> — written </a:t>
            </a:r>
            <a:pPr algn="l" indent="0" marL="0">
              <a:buNone/>
            </a:pPr>
            <a:r>
              <a:rPr lang="ar-SA" altLang="en-US" sz="1650" b="1" dirty="0">
                <a:solidFill>
                  <a:srgbClr val="1B3B6F"/>
                </a:solidFill>
                <a:latin typeface="Amiri" pitchFamily="2" charset="-78"/>
                <a:ea typeface="Amiri" pitchFamily="2" charset="-78"/>
                <a:cs typeface="Amiri" pitchFamily="2" charset="-78"/>
              </a:rPr>
              <a:t>بَنْتٌ</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 · dots</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J · join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 · spacing</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One dot above instead of two below.</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Model </a:t>
            </a:r>
            <a:pPr algn="l" indent="0" marL="0">
              <a:buNone/>
            </a:pPr>
            <a:r>
              <a:rPr lang="ar-SA" altLang="en-US" sz="1650" b="1" dirty="0">
                <a:solidFill>
                  <a:srgbClr val="1B3B6F"/>
                </a:solidFill>
                <a:latin typeface="Amiri" pitchFamily="2" charset="-78"/>
                <a:ea typeface="Amiri" pitchFamily="2" charset="-78"/>
                <a:cs typeface="Amiri" pitchFamily="2" charset="-78"/>
              </a:rPr>
              <a:t>بَابٌ</a:t>
            </a:r>
            <a:pPr algn="l" indent="0" marL="0">
              <a:buNone/>
            </a:pPr>
            <a:r>
              <a:rPr lang="en-US" sz="1250" b="1" dirty="0">
                <a:solidFill>
                  <a:srgbClr val="1B3B6F"/>
                </a:solidFill>
                <a:latin typeface="Calibri" pitchFamily="34" charset="0"/>
                <a:cs typeface="Amiri" pitchFamily="2" charset="-78"/>
              </a:rPr>
              <a:t> — written with alif joined to the last </a:t>
            </a:r>
            <a:pPr algn="l" indent="0" marL="0">
              <a:buNone/>
            </a:pPr>
            <a:r>
              <a:rPr lang="ar-SA" altLang="en-US" sz="1650" b="1" dirty="0">
                <a:solidFill>
                  <a:srgbClr val="1B3B6F"/>
                </a:solidFill>
                <a:latin typeface="Amiri" pitchFamily="2" charset="-78"/>
                <a:ea typeface="Amiri" pitchFamily="2" charset="-78"/>
                <a:cs typeface="Amiri" pitchFamily="2" charset="-78"/>
              </a:rPr>
              <a:t>ب</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 · mark</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J · join</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 · letter</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Alif never joins onward.</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Model </a:t>
            </a:r>
            <a:pPr algn="l" indent="0" marL="0">
              <a:buNone/>
            </a:pPr>
            <a:r>
              <a:rPr lang="ar-SA" altLang="en-US" sz="1650" b="1" dirty="0">
                <a:solidFill>
                  <a:srgbClr val="1B3B6F"/>
                </a:solidFill>
                <a:latin typeface="Amiri" pitchFamily="2" charset="-78"/>
                <a:ea typeface="Amiri" pitchFamily="2" charset="-78"/>
                <a:cs typeface="Amiri" pitchFamily="2" charset="-78"/>
              </a:rPr>
              <a:t>مُعَلِّمٌ</a:t>
            </a:r>
            <a:pPr algn="l" indent="0" marL="0">
              <a:buNone/>
            </a:pPr>
            <a:r>
              <a:rPr lang="en-US" sz="1250" b="1" dirty="0">
                <a:solidFill>
                  <a:srgbClr val="1B3B6F"/>
                </a:solidFill>
                <a:latin typeface="Calibri" pitchFamily="34" charset="0"/>
                <a:cs typeface="Amiri" pitchFamily="2" charset="-78"/>
              </a:rPr>
              <a:t> — written </a:t>
            </a:r>
            <a:pPr algn="l" indent="0" marL="0">
              <a:buNone/>
            </a:pPr>
            <a:r>
              <a:rPr lang="ar-SA" altLang="en-US" sz="1650" b="1" dirty="0">
                <a:solidFill>
                  <a:srgbClr val="1B3B6F"/>
                </a:solidFill>
                <a:latin typeface="Amiri" pitchFamily="2" charset="-78"/>
                <a:ea typeface="Amiri" pitchFamily="2" charset="-78"/>
                <a:cs typeface="Amiri" pitchFamily="2" charset="-78"/>
              </a:rPr>
              <a:t>مُعَلِمٌ</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 · mark</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 · dots</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J · join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shadda is missing.</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Model </a:t>
            </a:r>
            <a:pPr algn="l" indent="0" marL="0">
              <a:buNone/>
            </a:pPr>
            <a:r>
              <a:rPr lang="ar-SA" altLang="en-US" sz="1650" b="1" dirty="0">
                <a:solidFill>
                  <a:srgbClr val="1B3B6F"/>
                </a:solidFill>
                <a:latin typeface="Amiri" pitchFamily="2" charset="-78"/>
                <a:ea typeface="Amiri" pitchFamily="2" charset="-78"/>
                <a:cs typeface="Amiri" pitchFamily="2" charset="-78"/>
              </a:rPr>
              <a:t>قَلَمٌ جَدِيدٌ</a:t>
            </a:r>
            <a:pPr algn="l" indent="0" marL="0">
              <a:buNone/>
            </a:pPr>
            <a:r>
              <a:rPr lang="en-US" sz="1250" b="1" dirty="0">
                <a:solidFill>
                  <a:srgbClr val="1B3B6F"/>
                </a:solidFill>
                <a:latin typeface="Calibri" pitchFamily="34" charset="0"/>
                <a:cs typeface="Amiri" pitchFamily="2" charset="-78"/>
              </a:rPr>
              <a:t> — written as one joined word</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 · letter</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 · dots</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 · spacing</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One clear gap between words.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Model </a:t>
            </a:r>
            <a:pPr algn="l" indent="0" marL="0">
              <a:buNone/>
            </a:pPr>
            <a:r>
              <a:rPr lang="ar-SA" altLang="en-US" sz="1650" b="1" dirty="0">
                <a:solidFill>
                  <a:srgbClr val="1B3B6F"/>
                </a:solidFill>
                <a:latin typeface="Amiri" pitchFamily="2" charset="-78"/>
                <a:ea typeface="Amiri" pitchFamily="2" charset="-78"/>
                <a:cs typeface="Amiri" pitchFamily="2" charset="-78"/>
              </a:rPr>
              <a:t>عَيْنٌ</a:t>
            </a:r>
            <a:pPr algn="l" indent="0" marL="0">
              <a:buNone/>
            </a:pPr>
            <a:r>
              <a:rPr lang="en-US" sz="1250" b="1" dirty="0">
                <a:solidFill>
                  <a:srgbClr val="1B3B6F"/>
                </a:solidFill>
                <a:latin typeface="Calibri" pitchFamily="34" charset="0"/>
                <a:cs typeface="Amiri" pitchFamily="2" charset="-78"/>
              </a:rPr>
              <a:t> — written </a:t>
            </a:r>
            <a:pPr algn="l" indent="0" marL="0">
              <a:buNone/>
            </a:pPr>
            <a:r>
              <a:rPr lang="ar-SA" altLang="en-US" sz="1650" b="1" dirty="0">
                <a:solidFill>
                  <a:srgbClr val="1B3B6F"/>
                </a:solidFill>
                <a:latin typeface="Amiri" pitchFamily="2" charset="-78"/>
                <a:ea typeface="Amiri" pitchFamily="2" charset="-78"/>
                <a:cs typeface="Amiri" pitchFamily="2" charset="-78"/>
              </a:rPr>
              <a:t>غَيْنٌ</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 · mark</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 · spacing</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 · dots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 extra dot turns ʿayn into ghayn.</a:t>
            </a:r>
            <a:endParaRPr lang="en-US" sz="1050" dirty="0"/>
          </a:p>
        </p:txBody>
      </p:sp>
      <p:sp>
        <p:nvSpPr>
          <p:cNvPr id="90" name="Shape 8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FIVE CODES</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 letter · D dots · J join</a:t>
            </a:r>
            <a:endParaRPr lang="en-US" sz="1250" dirty="0"/>
          </a:p>
          <a:p>
            <a:pPr algn="l" indent="0" marL="0">
              <a:buNone/>
            </a:pPr>
            <a:r>
              <a:rPr lang="en-US" sz="1250" dirty="0">
                <a:solidFill>
                  <a:srgbClr val="1F2A37"/>
                </a:solidFill>
                <a:latin typeface="Calibri" pitchFamily="34" charset="0"/>
                <a:cs typeface="Amiri" pitchFamily="2" charset="-78"/>
              </a:rPr>
              <a:t>M mark · S spacing / baseline</a:t>
            </a:r>
            <a:endParaRPr lang="en-US" sz="1250" dirty="0"/>
          </a:p>
          <a:p>
            <a:pPr algn="l" indent="0" marL="0">
              <a:buNone/>
            </a:pPr>
            <a:r>
              <a:rPr lang="en-US" sz="1250" dirty="0">
                <a:solidFill>
                  <a:srgbClr val="1F2A37"/>
                </a:solidFill>
                <a:latin typeface="Calibri" pitchFamily="34" charset="0"/>
                <a:cs typeface="Amiri" pitchFamily="2" charset="-78"/>
              </a:rPr>
              <a:t>Choose ONE primary code.</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Handwriting &amp; dictation</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60" b="1" spc="150" kern="0" dirty="0">
                <a:solidFill>
                  <a:srgbClr val="1E6B52"/>
                </a:solidFill>
                <a:latin typeface="Calibri" pitchFamily="34" charset="0"/>
                <a:cs typeface="Amiri" pitchFamily="2" charset="-78"/>
              </a:rPr>
              <a:t>YOU DO · 15-WORD CONTROLLED DICTATION (WEBSITE) · LISTEN → HOLD → WRITE → REVEAL</a:t>
            </a:r>
            <a:endParaRPr lang="en-US" sz="86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Dictation: three rounds of five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اِسْمَعْ، تَذَكَّرْ، اُكْتُبْ، ثُمَّ صَحِّحْ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10344"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Round</a:t>
            </a:r>
            <a:endParaRPr lang="en-US" sz="1100" dirty="0"/>
          </a:p>
        </p:txBody>
      </p:sp>
      <p:sp>
        <p:nvSpPr>
          <p:cNvPr id="17" name="Text 14"/>
          <p:cNvSpPr txBox="1"/>
          <p:nvPr/>
        </p:nvSpPr>
        <p:spPr>
          <a:xfrm>
            <a:off x="3758184" y="1810512"/>
            <a:ext cx="5705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Words (reveal AFTER writing)</a:t>
            </a:r>
            <a:endParaRPr lang="en-US" sz="1100" dirty="0"/>
          </a:p>
        </p:txBody>
      </p:sp>
      <p:sp>
        <p:nvSpPr>
          <p:cNvPr id="18" name="Text 15"/>
          <p:cNvSpPr txBox="1"/>
          <p:nvPr/>
        </p:nvSpPr>
        <p:spPr>
          <a:xfrm>
            <a:off x="53035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Focus</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9646920" y="2267712"/>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anchors  (Core)</a:t>
            </a:r>
            <a:endParaRPr lang="en-US" sz="1100" dirty="0"/>
          </a:p>
        </p:txBody>
      </p:sp>
      <p:sp>
        <p:nvSpPr>
          <p:cNvPr id="21" name="Text 18"/>
          <p:cNvSpPr txBox="1"/>
          <p:nvPr/>
        </p:nvSpPr>
        <p:spPr>
          <a:xfrm>
            <a:off x="3776472" y="2286000"/>
            <a:ext cx="56692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بَابٌ · كِتَابٌ · قَلَمٌ · مَدْرَسَةٌ · بَيْتٌ</a:t>
            </a:r>
            <a:endParaRPr lang="ar-SA" sz="2100" dirty="0"/>
          </a:p>
        </p:txBody>
      </p:sp>
      <p:sp>
        <p:nvSpPr>
          <p:cNvPr id="22" name="Text 19"/>
          <p:cNvSpPr txBox="1"/>
          <p:nvPr/>
        </p:nvSpPr>
        <p:spPr>
          <a:xfrm>
            <a:off x="3730752" y="2706624"/>
            <a:ext cx="57607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door · book · pen · school · house</a:t>
            </a:r>
            <a:endParaRPr lang="en-US" sz="950" dirty="0"/>
          </a:p>
        </p:txBody>
      </p:sp>
      <p:sp>
        <p:nvSpPr>
          <p:cNvPr id="23" name="Text 20"/>
          <p:cNvSpPr txBox="1"/>
          <p:nvPr/>
        </p:nvSpPr>
        <p:spPr>
          <a:xfrm>
            <a:off x="566928" y="2267712"/>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breakers, long vowels, dots, sukūn, </a:t>
            </a:r>
            <a:pPr algn="l" indent="0" marL="0">
              <a:buNone/>
            </a:pPr>
            <a:r>
              <a:rPr lang="ar-SA" altLang="en-US" sz="1450" dirty="0">
                <a:solidFill>
                  <a:srgbClr val="5A6472"/>
                </a:solidFill>
                <a:latin typeface="Amiri" pitchFamily="2" charset="-78"/>
                <a:ea typeface="Amiri" pitchFamily="2" charset="-78"/>
                <a:cs typeface="Amiri" pitchFamily="2" charset="-78"/>
              </a:rPr>
              <a:t>ة</a:t>
            </a:r>
            <a:endParaRPr lang="en-US" sz="11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7" name="Text 24"/>
          <p:cNvSpPr txBox="1"/>
          <p:nvPr/>
        </p:nvSpPr>
        <p:spPr>
          <a:xfrm>
            <a:off x="9646920" y="3054096"/>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 · contrasts  (Develop)</a:t>
            </a:r>
            <a:endParaRPr lang="en-US" sz="1100" dirty="0"/>
          </a:p>
        </p:txBody>
      </p:sp>
      <p:sp>
        <p:nvSpPr>
          <p:cNvPr id="28" name="Text 25"/>
          <p:cNvSpPr txBox="1"/>
          <p:nvPr/>
        </p:nvSpPr>
        <p:spPr>
          <a:xfrm>
            <a:off x="3776472" y="3072384"/>
            <a:ext cx="56692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مُعَلِّمٌ · طَالِبٌ · يَدٌ · عَيْنٌ · كَلِمَةٌ</a:t>
            </a:r>
            <a:endParaRPr lang="ar-SA" sz="2100" dirty="0"/>
          </a:p>
        </p:txBody>
      </p:sp>
      <p:sp>
        <p:nvSpPr>
          <p:cNvPr id="29" name="Text 26"/>
          <p:cNvSpPr txBox="1"/>
          <p:nvPr/>
        </p:nvSpPr>
        <p:spPr>
          <a:xfrm>
            <a:off x="3730752" y="3493008"/>
            <a:ext cx="57607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teacher · student · hand · eye · word</a:t>
            </a:r>
            <a:endParaRPr lang="en-US" sz="950" dirty="0"/>
          </a:p>
        </p:txBody>
      </p:sp>
      <p:sp>
        <p:nvSpPr>
          <p:cNvPr id="30" name="Text 27"/>
          <p:cNvSpPr txBox="1"/>
          <p:nvPr/>
        </p:nvSpPr>
        <p:spPr>
          <a:xfrm>
            <a:off x="566928" y="3054096"/>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shadda, letter families, dots</a:t>
            </a:r>
            <a:endParaRPr lang="en-US" sz="110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9646920" y="3840480"/>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 · transfer  (Stretch)</a:t>
            </a:r>
            <a:endParaRPr lang="en-US" sz="1100" dirty="0"/>
          </a:p>
        </p:txBody>
      </p:sp>
      <p:sp>
        <p:nvSpPr>
          <p:cNvPr id="33" name="Text 30"/>
          <p:cNvSpPr txBox="1"/>
          <p:nvPr/>
        </p:nvSpPr>
        <p:spPr>
          <a:xfrm>
            <a:off x="3776472" y="3858768"/>
            <a:ext cx="56692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ثَلَاثَةٌ · سَبْعَةٌ · وَلَدٌ · بِنْتٌ · جَدِيدٌ</a:t>
            </a:r>
            <a:endParaRPr lang="ar-SA" sz="2100" dirty="0"/>
          </a:p>
        </p:txBody>
      </p:sp>
      <p:sp>
        <p:nvSpPr>
          <p:cNvPr id="34" name="Text 31"/>
          <p:cNvSpPr txBox="1"/>
          <p:nvPr/>
        </p:nvSpPr>
        <p:spPr>
          <a:xfrm>
            <a:off x="3730752" y="4279392"/>
            <a:ext cx="57607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three · seven · boy · girl · new</a:t>
            </a:r>
            <a:endParaRPr lang="en-US" sz="950" dirty="0"/>
          </a:p>
        </p:txBody>
      </p:sp>
      <p:sp>
        <p:nvSpPr>
          <p:cNvPr id="35" name="Text 32"/>
          <p:cNvSpPr txBox="1"/>
          <p:nvPr/>
        </p:nvSpPr>
        <p:spPr>
          <a:xfrm>
            <a:off x="566928" y="3840480"/>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length, clusters, spacing</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Handwriting &amp; dictation</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Peer marking: one code, one repair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اُكْتُبْ: بَابٌ</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هُوَ صَحِيحٌ؟</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الرَّمْزُ؟</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اُكْتُبْ جُمْلَةً عَنْ نَفْسِكَ.</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صَحِيحٌ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الرَّمْزُ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أَنَا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كَتَبَ / كَتَبَتْ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اُكْتُبْ: بَيْتٌ</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Write: baytun</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كَتَبْتُ. هَلْ هُوَ صَحِيحٌ؟</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have written it. Is it correct?</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Handwriting &amp; dictation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HANDWRITING EVIDENCE RUBRIC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Assess readability, not artistic taste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الوُضُوحَ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7882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Feature</a:t>
            </a:r>
            <a:endParaRPr lang="en-US" sz="1100" dirty="0"/>
          </a:p>
        </p:txBody>
      </p:sp>
      <p:sp>
        <p:nvSpPr>
          <p:cNvPr id="17" name="Text 14"/>
          <p:cNvSpPr txBox="1"/>
          <p:nvPr/>
        </p:nvSpPr>
        <p:spPr>
          <a:xfrm>
            <a:off x="3758184"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Secure looks like</a:t>
            </a:r>
            <a:endParaRPr lang="en-US" sz="1100" dirty="0"/>
          </a:p>
        </p:txBody>
      </p:sp>
      <p:sp>
        <p:nvSpPr>
          <p:cNvPr id="18" name="Text 15"/>
          <p:cNvSpPr txBox="1"/>
          <p:nvPr/>
        </p:nvSpPr>
        <p:spPr>
          <a:xfrm>
            <a:off x="53035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 · ↻</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915400" y="2267712"/>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Direction and order</a:t>
            </a:r>
            <a:endParaRPr lang="en-US" sz="1100" dirty="0"/>
          </a:p>
        </p:txBody>
      </p:sp>
      <p:sp>
        <p:nvSpPr>
          <p:cNvPr id="21" name="Text 18"/>
          <p:cNvSpPr txBox="1"/>
          <p:nvPr/>
        </p:nvSpPr>
        <p:spPr>
          <a:xfrm>
            <a:off x="3794760" y="2267712"/>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Words run right to left; letters stay in sequence.</a:t>
            </a:r>
            <a:endParaRPr lang="en-US" sz="1100" dirty="0"/>
          </a:p>
        </p:txBody>
      </p:sp>
      <p:sp>
        <p:nvSpPr>
          <p:cNvPr id="22" name="Text 19"/>
          <p:cNvSpPr txBox="1"/>
          <p:nvPr/>
        </p:nvSpPr>
        <p:spPr>
          <a:xfrm>
            <a:off x="566928" y="2267712"/>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secure · ~ nearly · ↻ repair</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915400" y="3054096"/>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Letter identity and dots</a:t>
            </a:r>
            <a:endParaRPr lang="en-US" sz="1100" dirty="0"/>
          </a:p>
        </p:txBody>
      </p:sp>
      <p:sp>
        <p:nvSpPr>
          <p:cNvPr id="27" name="Text 24"/>
          <p:cNvSpPr txBox="1"/>
          <p:nvPr/>
        </p:nvSpPr>
        <p:spPr>
          <a:xfrm>
            <a:off x="3794760" y="3054096"/>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Recognisable bodies; exact dot number and position.</a:t>
            </a:r>
            <a:endParaRPr lang="en-US" sz="1100" dirty="0"/>
          </a:p>
        </p:txBody>
      </p:sp>
      <p:sp>
        <p:nvSpPr>
          <p:cNvPr id="28" name="Text 25"/>
          <p:cNvSpPr txBox="1"/>
          <p:nvPr/>
        </p:nvSpPr>
        <p:spPr>
          <a:xfrm>
            <a:off x="566928" y="3054096"/>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 ~ · ↻</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915400" y="3840480"/>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Joining and spacing</a:t>
            </a:r>
            <a:endParaRPr lang="en-US" sz="1100" dirty="0"/>
          </a:p>
        </p:txBody>
      </p:sp>
      <p:sp>
        <p:nvSpPr>
          <p:cNvPr id="33" name="Text 30"/>
          <p:cNvSpPr txBox="1"/>
          <p:nvPr/>
        </p:nvSpPr>
        <p:spPr>
          <a:xfrm>
            <a:off x="3794760" y="3840480"/>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Correct joins and stops; clear gaps between words.</a:t>
            </a:r>
            <a:endParaRPr lang="en-US" sz="1100" dirty="0"/>
          </a:p>
        </p:txBody>
      </p:sp>
      <p:sp>
        <p:nvSpPr>
          <p:cNvPr id="34" name="Text 31"/>
          <p:cNvSpPr txBox="1"/>
          <p:nvPr/>
        </p:nvSpPr>
        <p:spPr>
          <a:xfrm>
            <a:off x="566928" y="3840480"/>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 ~ · ↻</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915400" y="4626864"/>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Requested diacritics</a:t>
            </a:r>
            <a:endParaRPr lang="en-US" sz="1100" dirty="0"/>
          </a:p>
        </p:txBody>
      </p:sp>
      <p:sp>
        <p:nvSpPr>
          <p:cNvPr id="39" name="Text 36"/>
          <p:cNvSpPr txBox="1"/>
          <p:nvPr/>
        </p:nvSpPr>
        <p:spPr>
          <a:xfrm>
            <a:off x="3794760" y="4626864"/>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Marks present, clear and on the intended letter.</a:t>
            </a:r>
            <a:endParaRPr lang="en-US" sz="1100" dirty="0"/>
          </a:p>
        </p:txBody>
      </p:sp>
      <p:sp>
        <p:nvSpPr>
          <p:cNvPr id="40" name="Text 37"/>
          <p:cNvSpPr txBox="1"/>
          <p:nvPr/>
        </p:nvSpPr>
        <p:spPr>
          <a:xfrm>
            <a:off x="566928" y="4626864"/>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 ~ · ↻</a:t>
            </a:r>
            <a:endParaRPr lang="en-US" sz="1100" dirty="0"/>
          </a:p>
        </p:txBody>
      </p:sp>
      <p:sp>
        <p:nvSpPr>
          <p:cNvPr id="41" name="Shape 38"/>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42" name="Text 39"/>
          <p:cNvSpPr txBox="1"/>
          <p:nvPr/>
        </p:nvSpPr>
        <p:spPr>
          <a:xfrm>
            <a:off x="8915400" y="5413248"/>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Baseline and consistency</a:t>
            </a:r>
            <a:endParaRPr lang="en-US" sz="1100" dirty="0"/>
          </a:p>
        </p:txBody>
      </p:sp>
      <p:sp>
        <p:nvSpPr>
          <p:cNvPr id="43" name="Text 40"/>
          <p:cNvSpPr txBox="1"/>
          <p:nvPr/>
        </p:nvSpPr>
        <p:spPr>
          <a:xfrm>
            <a:off x="3794760" y="5413248"/>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Size and line placement readable across the sample.</a:t>
            </a:r>
            <a:endParaRPr lang="en-US" sz="1100" dirty="0"/>
          </a:p>
        </p:txBody>
      </p:sp>
      <p:sp>
        <p:nvSpPr>
          <p:cNvPr id="44" name="Text 41"/>
          <p:cNvSpPr txBox="1"/>
          <p:nvPr/>
        </p:nvSpPr>
        <p:spPr>
          <a:xfrm>
            <a:off x="566928" y="5413248"/>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 ~ · ↻</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Handwriting &amp; dictation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write the 28 letters in order.</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identify the six non-connectors.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explain all five WRITE steps.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use L, D, J, M and S to repair a word.</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protect legibility when I increase pace.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Handwriting &amp; dictation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correct spelling of “school”?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مَدْرَسَةٌ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مَدَرَسَةٌ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مَدْرَسَهٌ</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copying with the model always visible not enough?</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too slow</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trains the hand but not recall</a:t>
            </a:r>
            <a:endParaRPr lang="en-US" sz="1250" dirty="0"/>
          </a:p>
        </p:txBody>
      </p:sp>
      <p:sp>
        <p:nvSpPr>
          <p:cNvPr id="38" name="Shape 35"/>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23504" y="1947672"/>
            <a:ext cx="310896" cy="310896"/>
          </a:xfrm>
          <a:prstGeom prst="ellipse">
            <a:avLst/>
          </a:prstGeom>
          <a:solidFill>
            <a:srgbClr val="1B3B6F"/>
          </a:solidFill>
          <a:ln w="12700">
            <a:solidFill>
              <a:srgbClr val="1B3B6F"/>
            </a:solidFill>
            <a:prstDash val="solid"/>
          </a:ln>
        </p:spPr>
      </p:sp>
      <p:sp>
        <p:nvSpPr>
          <p:cNvPr id="40" name="Text 3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1" name="Text 3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Is Arabic fluency “writing faster”?</a:t>
            </a:r>
            <a:endParaRPr lang="en-US" sz="1250" dirty="0"/>
          </a:p>
        </p:txBody>
      </p:sp>
      <p:sp>
        <p:nvSpPr>
          <p:cNvPr id="42" name="Shape 39"/>
          <p:cNvSpPr/>
          <p:nvPr/>
        </p:nvSpPr>
        <p:spPr>
          <a:xfrm>
            <a:off x="8278368" y="25328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4" name="Text 41"/>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 efficient, readable writing</a:t>
            </a:r>
            <a:endParaRPr lang="en-US" sz="1250" dirty="0"/>
          </a:p>
        </p:txBody>
      </p:sp>
      <p:sp>
        <p:nvSpPr>
          <p:cNvPr id="45" name="Shape 42"/>
          <p:cNvSpPr/>
          <p:nvPr/>
        </p:nvSpPr>
        <p:spPr>
          <a:xfrm>
            <a:off x="8278368" y="29900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7" name="Text 44"/>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 — the fastest wins</a:t>
            </a:r>
            <a:endParaRPr lang="en-US" sz="1250" dirty="0"/>
          </a:p>
        </p:txBody>
      </p:sp>
      <p:sp>
        <p:nvSpPr>
          <p:cNvPr id="48" name="Shape 45"/>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9" name="Text 46"/>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0" name="Text 47"/>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Handwriting &amp; dictation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correct spelling of “school”?</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مَدْرَسَةٌ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مَدَرَسَةٌ</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مَدْرَسَهٌ</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Sukūn on dāl; the word ends in </a:t>
            </a:r>
            <a:pPr algn="l" indent="0" marL="0">
              <a:buNone/>
            </a:pPr>
            <a:r>
              <a:rPr lang="ar-SA" altLang="en-US" sz="1350" dirty="0">
                <a:solidFill>
                  <a:srgbClr val="8A6D1E"/>
                </a:solidFill>
                <a:latin typeface="Amiri" pitchFamily="2" charset="-78"/>
                <a:ea typeface="Amiri" pitchFamily="2" charset="-78"/>
                <a:cs typeface="Amiri" pitchFamily="2" charset="-78"/>
              </a:rPr>
              <a:t>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copying with the model always visible not enough?</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too slow</a:t>
            </a:r>
            <a:endParaRPr lang="en-US" sz="12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trains the hand but not recall</a:t>
            </a:r>
            <a:endParaRPr lang="en-US" sz="1250" dirty="0"/>
          </a:p>
        </p:txBody>
      </p:sp>
      <p:sp>
        <p:nvSpPr>
          <p:cNvPr id="41" name="Text 38"/>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cover step is essential (website).</a:t>
            </a:r>
            <a:endParaRPr lang="en-US" sz="1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Is Arabic fluency “writing faster”?</a:t>
            </a:r>
            <a:endParaRPr lang="en-US" sz="1250" dirty="0"/>
          </a:p>
        </p:txBody>
      </p:sp>
      <p:sp>
        <p:nvSpPr>
          <p:cNvPr id="46" name="Shape 43"/>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47" name="Shape 44"/>
          <p:cNvSpPr/>
          <p:nvPr/>
        </p:nvSpPr>
        <p:spPr>
          <a:xfrm>
            <a:off x="8278368" y="2532888"/>
            <a:ext cx="256032" cy="256032"/>
          </a:xfrm>
          <a:prstGeom prst="ellipse">
            <a:avLst/>
          </a:prstGeom>
          <a:solidFill>
            <a:srgbClr val="2E8B57"/>
          </a:solidFill>
          <a:ln w="12700">
            <a:solidFill>
              <a:srgbClr val="2E8B57"/>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No — efficient, readable writing</a:t>
            </a:r>
            <a:endParaRPr lang="en-US" sz="1250" dirty="0"/>
          </a:p>
        </p:txBody>
      </p:sp>
      <p:sp>
        <p:nvSpPr>
          <p:cNvPr id="50" name="Shape 47"/>
          <p:cNvSpPr/>
          <p:nvPr/>
        </p:nvSpPr>
        <p:spPr>
          <a:xfrm>
            <a:off x="8278368" y="2990088"/>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Yes — the fastest wins</a:t>
            </a:r>
            <a:endParaRPr lang="en-US" sz="1250" dirty="0"/>
          </a:p>
        </p:txBody>
      </p:sp>
      <p:sp>
        <p:nvSpPr>
          <p:cNvPr id="53" name="Text 50"/>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accuracy before speed.</a:t>
            </a:r>
            <a:endParaRPr lang="en-US" sz="1050" dirty="0"/>
          </a:p>
        </p:txBody>
      </p:sp>
      <p:sp>
        <p:nvSpPr>
          <p:cNvPr id="54" name="Shape 51"/>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56" name="Text 53"/>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F1-L09 · Handwriting &amp; dictation</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F1-L10: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F1-L09</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F1-L10 · Read What Is Written: Unvowelled Text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مدرسة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school (no marks)</a:t>
            </a:r>
            <a:pPr indent="0" marL="0">
              <a:buNone/>
            </a:pPr>
            <a:r>
              <a:rPr lang="ar-SA" sz="1000" i="1" dirty="0">
                <a:solidFill>
                  <a:srgbClr val="5A6472"/>
                </a:solidFill>
                <a:latin typeface="Amiri" pitchFamily="2" charset="-78"/>
                <a:ea typeface="Amiri" pitchFamily="2" charset="-78"/>
                <a:cs typeface="Amiri" pitchFamily="2" charset="-78"/>
              </a:rPr>
              <a:t>  مَدْرَسَةٌ</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باب</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door (no marks)</a:t>
            </a:r>
            <a:pPr indent="0" marL="0">
              <a:buNone/>
            </a:pPr>
            <a:r>
              <a:rPr lang="ar-SA" sz="1000" i="1" dirty="0">
                <a:solidFill>
                  <a:srgbClr val="5A6472"/>
                </a:solidFill>
                <a:latin typeface="Amiri" pitchFamily="2" charset="-78"/>
                <a:ea typeface="Amiri" pitchFamily="2" charset="-78"/>
                <a:cs typeface="Amiri" pitchFamily="2" charset="-78"/>
              </a:rPr>
              <a:t>  بَابٌ</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مخرج</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exit (on signs)</a:t>
            </a:r>
            <a:pPr indent="0" marL="0">
              <a:buNone/>
            </a:pPr>
            <a:r>
              <a:rPr lang="ar-SA" sz="1000" i="1" dirty="0">
                <a:solidFill>
                  <a:srgbClr val="5A6472"/>
                </a:solidFill>
                <a:latin typeface="Amiri" pitchFamily="2" charset="-78"/>
                <a:ea typeface="Amiri" pitchFamily="2" charset="-78"/>
                <a:cs typeface="Amiri" pitchFamily="2" charset="-78"/>
              </a:rPr>
              <a:t>  مَخْرَجٌ</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مفتوح</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open</a:t>
            </a:r>
            <a:pPr indent="0" marL="0">
              <a:buNone/>
            </a:pPr>
            <a:r>
              <a:rPr lang="ar-SA" sz="1000" i="1" dirty="0">
                <a:solidFill>
                  <a:srgbClr val="5A6472"/>
                </a:solidFill>
                <a:latin typeface="Amiri" pitchFamily="2" charset="-78"/>
                <a:ea typeface="Amiri" pitchFamily="2" charset="-78"/>
                <a:cs typeface="Amiri" pitchFamily="2" charset="-78"/>
              </a:rPr>
              <a:t>  مَفْتُوحٌ</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مغلق</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closed</a:t>
            </a:r>
            <a:pPr indent="0" marL="0">
              <a:buNone/>
            </a:pPr>
            <a:r>
              <a:rPr lang="ar-SA" sz="1000" i="1" dirty="0">
                <a:solidFill>
                  <a:srgbClr val="5A6472"/>
                </a:solidFill>
                <a:latin typeface="Amiri" pitchFamily="2" charset="-78"/>
                <a:ea typeface="Amiri" pitchFamily="2" charset="-78"/>
                <a:cs typeface="Amiri" pitchFamily="2" charset="-78"/>
              </a:rPr>
              <a:t>  مُغْلَقٌ</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Rewrite the 15 dictation words without looking, then check and mark with L/D/J/M/S.</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بَابٌ · كِتَابٌ · قَلَمٌ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homework (Round A): rewrite the five anchor words from memory, then check and repair.</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homework: all 15 words from memory; mark with L/D/J/M/S; rewrite only repaired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Heritage extension: 4–5 fully marked sentences about yourself; check the marks in a second pass.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25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F1-L09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50" b="1" dirty="0">
                <a:solidFill>
                  <a:srgbClr val="FFFFFF"/>
                </a:solidFill>
                <a:latin typeface="Cambria" pitchFamily="34" charset="0"/>
                <a:cs typeface="Amiri" pitchFamily="2" charset="-78"/>
              </a:rPr>
              <a:t>F1-L10 · Read What Is Written: Unvowelled Text</a:t>
            </a:r>
            <a:endParaRPr lang="en-US" sz="20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قِرَاءَةُ النُّصُوصِ غَيْرِ المُشَكَّلَةِ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15 dictation words from memory + 5 sign words.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F1-L09 · Write Clearly, Then Fluently</dc:title>
  <dc:subject>PptxGenJS Presentation</dc:subject>
  <dc:creator>Al Madina Online School · Arabic Department</dc:creator>
  <cp:lastModifiedBy>Al Madina Online School · Arabic Department</cp:lastModifiedBy>
  <cp:revision>1</cp:revision>
  <dcterms:created xsi:type="dcterms:W3CDTF">2026-10-11T06:41:18Z</dcterms:created>
  <dcterms:modified xsi:type="dcterms:W3CDTF">2026-10-11T06:41:18Z</dcterms:modified>
</cp:coreProperties>
</file>