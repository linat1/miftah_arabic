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2–7 Warm-up (not marked) · 7–9 Assessment map · 9–25 Part A (alphabet 14, forms 6, marks 5, numerals 5) · 25–40 Part B (dictation 10, vowelled reading 5, signs 5) · 40–52 Reading aloud (10, in pairs / with the teacher) · 52–56 Score profile and F2 target.
FLEX slides are optional. Use them if the class is moving quickly; otherwise the same activities are on the website for homework.
Content source: Miftah Arabic website, Pathways › Foundation › F1 Arabic Script &amp; Sounds › Lesson 12 (F1-L12). The website F1-L12 is a transparent 60-mark unit assessment (not an external exam paper): A1 alphabet 14 · A2 positional forms 6 · A3 diacritics 5 · A4 numerals 5 · B1 ten-word dictation 10 · B2 vowelled reading 5 · B3 signs 5 · oral reading aloud 10. Every assessment item, the dictation script, the oral passage, the mark scheme and the grade bands are the website’s.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 student sits the same 60-mark assessment (website: heritage experience may change the challenge TEXT of the oral task, not the 10-mark scale).
• Access arrangements: extra time, questions read aloud in English, one section on screen at a time, squared paper for A1 and B1. The oral task is done one-to-one (teacher, or a trusted partner with the teacher checking).
• Answer slides follow each section — mark live, or hide them and mark later (teacher choice).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If time is short, the reading-aloud component can be completed at the start of the next lesson or by a short voice recording (the website allows a trusted partner to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Website warm-up “Letter &amp; Number Sprint” (ungraded). Then chorally recite the 28 letters and read the digit strip.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Say every letter aloud in order, then the ten digits.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30 marks script and diacritics · 20 reading and writing · 10 reading aloud. This is an F1 unit assessment, not an external examination paper. Students record each component score on the score profile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 (website). HIDE this slide until everyone has written all 28 isolated letters in order, right to left, on paper, without the alphabet wall (5 min). Then reveal; students compare and count correct positions.
Marking rule (website): letter identity and sequence earn the mark; a recognisable alternative handwritten shape is acceptable; an omitted, duplicated or displaced letter loses that position’s ½ mark. Give formation feedback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 (website): six items, 1 mark each. Private chat: A2: 1_ 2_ 3_ 4_ 5_ 6_.</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A3 (website). Review beyond the five marks (website): tanwīn, alif madda, hamza forms, long vowels, sun and moon letters remain on the end-of-unit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A4 (website). Part A total /30 (A1 14 + A2 6 + A3 5 + A4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Students add up Part A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B1 DICTATION (website). HIDE this slide during the dictation.
Before: students write numbers 1–10; pens down; read the whole list once so the rhythm is predictable.
During: say each word TWICE at a measured pace; leave a blank if needed and continue.
Script: بَابٌ. كِتَابٌ. قَلَمٌ. مَدْرَسَةٌ. بَيْتٌ. مُعَلِّمٌ. طَالِبٌ. يَدٌ. عَيْنٌ. كَلِمَةٌ.
Mark consistently (website): one whole-word mark; record recurring errors separately (L letter, J join, D dot, M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B2 (website). Transliteration is only an assessment bridge; the Arabic remains primary. An equivalent consistent transliteration can be accepted (website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B3 (website): four meaning marks and one evidence mark. Part B total /20 (B1 10 + B2 5 + B3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Students add up Part B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ORAL (website). One-to-one with the teacher (or a trusted partner, teacher checking), in a quiet space — e.g. breakout pairs while others complete their score profile.
Score each of the five target words: 2 = consonants, vowels and length secure (self-correction allowed); 1 = partly correct and recognisable, one material sound/length error; 0 = unable to attempt or not recognisable. Do not award or remove marks for accent alone when the intended sound is identifiable.
Heritage extension (website): read the longer, partly unvowelled passage, but score the SAME five target words so the total stays comparable. Fairness: heritage experience may change the challenge text, not the 10-mark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SCORE PROFILE (website). Students copy the table into their books and write their total /60. Website: these are course progress guides, not external examination thresholds.
Next step (website): a strong F2 target names ONE skill, ONE repeated action and a check date — e.g. “Dictation: I will write five words from memory every evening; check on Friday.”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(F2-L01 · Greetings — meeting people) will spend class time USING this language, so students prepare it tonight — short, simple, easy to access (school guidance: “Simple, Short, Interesting, Relevant, Easy to access”). F2 preview (website): next you will greet someone, say your name and age, ask simple personal questions and introduce yourself.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F1  ·  F1-L12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F1-L12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Show What You Know: F1 Review &amp; Assessment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مُرَاجَعَةُ الوَحْدَةِ الأُولَى وَتَقْيِيمُهَا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Celebrate eleven lessons of progress, complete a clear 60-mark assessment (alphabet, letter forms, marks, numerals, dictation, reading, signs and reading aloud), and choose one precise next step before F2.</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F1-L12 · Foundation F1 · Arabic Script &amp; Sounds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end of unit F1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F1 › F1-L12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F1-L12 · F1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F1-L12 · F1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Warm-up: letters and digits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هَيَّا نُرَاجِعْ</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16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A: alphabet, forms, marks, numerals.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الجُزْءُ أ</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15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B: dictation, reading, signs.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الجُزْءُ ب</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Reading aloud, one by one.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القِرَاءَةُ الجَهْرِيَّةُ</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Score profile and my F2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F2: greetings.</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Every section starts with the easiest questions. Work calmly; leave a blank and come back. The warm-up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F1-L12 · F1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ج</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حَاءٌ</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جِيمٌ</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خَاءٌ</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value is this digit?</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٥</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0</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name matches?</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ق</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fāʾ</a:t>
            </a:r>
            <a:endParaRPr lang="en-US" sz="12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kāf</a:t>
            </a:r>
            <a:endParaRPr lang="en-US" sz="12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qāf</a:t>
            </a:r>
            <a:endParaRPr lang="en-US" sz="12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connection rule applies to </a:t>
            </a:r>
            <a:pPr algn="l" indent="0" marL="0">
              <a:buNone/>
            </a:pPr>
            <a:r>
              <a:rPr lang="ar-SA" altLang="en-US" sz="1550" b="1" dirty="0">
                <a:solidFill>
                  <a:srgbClr val="1B3B6F"/>
                </a:solidFill>
                <a:latin typeface="Amiri" pitchFamily="2" charset="-78"/>
                <a:ea typeface="Amiri" pitchFamily="2" charset="-78"/>
                <a:cs typeface="Amiri" pitchFamily="2" charset="-78"/>
              </a:rPr>
              <a:t>د</a:t>
            </a:r>
            <a:pPr algn="l" indent="0" marL="0">
              <a:buNone/>
            </a:pPr>
            <a:r>
              <a:rPr lang="en-US" sz="1200" b="1" dirty="0">
                <a:solidFill>
                  <a:srgbClr val="1B3B6F"/>
                </a:solidFill>
                <a:latin typeface="Calibri" pitchFamily="34" charset="0"/>
                <a:cs typeface="Amiri" pitchFamily="2" charset="-78"/>
              </a:rPr>
              <a:t>?</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د</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does not join the next letter</a:t>
            </a:r>
            <a:endParaRPr lang="en-US" sz="12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joins on both sides</a:t>
            </a:r>
            <a:endParaRPr lang="en-US" sz="12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“achievement”?</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إِنْجَازٌ</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مُرَاجَعَةٌ</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تَقْيِيمٌ</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F1-L12 · F1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ج</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حَاءٌ</a:t>
            </a:r>
            <a:endParaRPr lang="ar-SA" sz="17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جِيمٌ</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خَاءٌ</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Warm-up: dot inside the bowl.</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value is this digit?</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٥</a:t>
            </a:r>
            <a:endParaRPr lang="ar-SA" sz="2200" dirty="0"/>
          </a:p>
        </p:txBody>
      </p:sp>
      <p:sp>
        <p:nvSpPr>
          <p:cNvPr id="36"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5</a:t>
            </a:r>
            <a:endParaRPr lang="en-US" sz="1250" dirty="0"/>
          </a:p>
        </p:txBody>
      </p:sp>
      <p:sp>
        <p:nvSpPr>
          <p:cNvPr id="40"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0</a:t>
            </a:r>
            <a:endParaRPr lang="en-US" sz="125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Five. Remember: the small dot digit is zero (website warm-up).</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name matches?</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ق</a:t>
            </a:r>
            <a:endParaRPr lang="ar-SA" sz="2200" dirty="0"/>
          </a:p>
        </p:txBody>
      </p:sp>
      <p:sp>
        <p:nvSpPr>
          <p:cNvPr id="52"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fāʾ</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kāf</a:t>
            </a:r>
            <a:endParaRPr lang="en-US" sz="1250" dirty="0"/>
          </a:p>
        </p:txBody>
      </p:sp>
      <p:sp>
        <p:nvSpPr>
          <p:cNvPr id="58"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9"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qāf</a:t>
            </a:r>
            <a:endParaRPr lang="en-US" sz="125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Qāf has two dots above (website warm-up).</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connection rule applies to </a:t>
            </a:r>
            <a:pPr algn="l" indent="0" marL="0">
              <a:buNone/>
            </a:pPr>
            <a:r>
              <a:rPr lang="ar-SA" altLang="en-US" sz="1550" b="1" dirty="0">
                <a:solidFill>
                  <a:srgbClr val="1B3B6F"/>
                </a:solidFill>
                <a:latin typeface="Amiri" pitchFamily="2" charset="-78"/>
                <a:ea typeface="Amiri" pitchFamily="2" charset="-78"/>
                <a:cs typeface="Amiri" pitchFamily="2" charset="-78"/>
              </a:rPr>
              <a:t>د</a:t>
            </a:r>
            <a:pPr algn="l" indent="0" marL="0">
              <a:buNone/>
            </a:pPr>
            <a:r>
              <a:rPr lang="en-US" sz="1200" b="1" dirty="0">
                <a:solidFill>
                  <a:srgbClr val="1B3B6F"/>
                </a:solidFill>
                <a:latin typeface="Calibri" pitchFamily="34" charset="0"/>
                <a:cs typeface="Amiri" pitchFamily="2" charset="-78"/>
              </a:rPr>
              <a:t>?</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د</a:t>
            </a:r>
            <a:endParaRPr lang="ar-SA" sz="2200" dirty="0"/>
          </a:p>
        </p:txBody>
      </p:sp>
      <p:sp>
        <p:nvSpPr>
          <p:cNvPr id="68" name="Shape 65"/>
          <p:cNvSpPr/>
          <p:nvPr/>
        </p:nvSpPr>
        <p:spPr>
          <a:xfrm>
            <a:off x="548640" y="4837176"/>
            <a:ext cx="3453384"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40080" y="4873752"/>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1" name="Text 68"/>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does not join the next letter</a:t>
            </a:r>
            <a:endParaRPr lang="en-US" sz="1250" dirty="0"/>
          </a:p>
        </p:txBody>
      </p:sp>
      <p:sp>
        <p:nvSpPr>
          <p:cNvPr id="72" name="Shape 69"/>
          <p:cNvSpPr/>
          <p:nvPr/>
        </p:nvSpPr>
        <p:spPr>
          <a:xfrm>
            <a:off x="640080" y="533095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1"/>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joins on both sides</a:t>
            </a:r>
            <a:endParaRPr lang="en-US" sz="125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non-connector.</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“achievement”?</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إِنْجَازٌ</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مُرَاجَعَةٌ</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تَقْيِيمٌ</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words: review · assessment · achievement · progress · target.</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This warm-up does NOT count. Say every letter aloud in order, then the ten digits.</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 ب ت ث … ن ه و ي</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F1-L12 · F1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Know the task, the marks and the evidence</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2474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7" name="Text 14"/>
          <p:cNvSpPr txBox="1"/>
          <p:nvPr/>
        </p:nvSpPr>
        <p:spPr>
          <a:xfrm>
            <a:off x="5221224" y="1810512"/>
            <a:ext cx="5157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Text 15"/>
          <p:cNvSpPr txBox="1"/>
          <p:nvPr/>
        </p:nvSpPr>
        <p:spPr>
          <a:xfrm>
            <a:off x="211226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Component</a:t>
            </a:r>
            <a:endParaRPr lang="en-US" sz="1100" dirty="0"/>
          </a:p>
        </p:txBody>
      </p:sp>
      <p:sp>
        <p:nvSpPr>
          <p:cNvPr id="19" name="Text 16"/>
          <p:cNvSpPr txBox="1"/>
          <p:nvPr/>
        </p:nvSpPr>
        <p:spPr>
          <a:xfrm>
            <a:off x="530352" y="1810512"/>
            <a:ext cx="1435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10561320"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14</a:t>
            </a:r>
            <a:endParaRPr lang="en-US" sz="1100" dirty="0"/>
          </a:p>
        </p:txBody>
      </p:sp>
      <p:sp>
        <p:nvSpPr>
          <p:cNvPr id="22" name="Text 19"/>
          <p:cNvSpPr txBox="1"/>
          <p:nvPr/>
        </p:nvSpPr>
        <p:spPr>
          <a:xfrm>
            <a:off x="5257800" y="2267712"/>
            <a:ext cx="51206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the 28 letters in order from memory (½ mark each).</a:t>
            </a:r>
            <a:endParaRPr lang="en-US" sz="1100" dirty="0"/>
          </a:p>
        </p:txBody>
      </p:sp>
      <p:sp>
        <p:nvSpPr>
          <p:cNvPr id="23" name="Text 20"/>
          <p:cNvSpPr txBox="1"/>
          <p:nvPr/>
        </p:nvSpPr>
        <p:spPr>
          <a:xfrm>
            <a:off x="214884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Alphabet</a:t>
            </a:r>
            <a:endParaRPr lang="en-US" sz="1100" dirty="0"/>
          </a:p>
        </p:txBody>
      </p:sp>
      <p:sp>
        <p:nvSpPr>
          <p:cNvPr id="24" name="Text 21"/>
          <p:cNvSpPr txBox="1"/>
          <p:nvPr/>
        </p:nvSpPr>
        <p:spPr>
          <a:xfrm>
            <a:off x="566928" y="2267712"/>
            <a:ext cx="13990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10561320"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29" name="Text 26"/>
          <p:cNvSpPr txBox="1"/>
          <p:nvPr/>
        </p:nvSpPr>
        <p:spPr>
          <a:xfrm>
            <a:off x="5257800" y="3054096"/>
            <a:ext cx="51206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Choose six initial, medial or final forms.</a:t>
            </a:r>
            <a:endParaRPr lang="en-US" sz="1100" dirty="0"/>
          </a:p>
        </p:txBody>
      </p:sp>
      <p:sp>
        <p:nvSpPr>
          <p:cNvPr id="30" name="Text 27"/>
          <p:cNvSpPr txBox="1"/>
          <p:nvPr/>
        </p:nvSpPr>
        <p:spPr>
          <a:xfrm>
            <a:off x="214884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Letter forms</a:t>
            </a:r>
            <a:endParaRPr lang="en-US" sz="1100" dirty="0"/>
          </a:p>
        </p:txBody>
      </p:sp>
      <p:sp>
        <p:nvSpPr>
          <p:cNvPr id="31" name="Text 28"/>
          <p:cNvSpPr txBox="1"/>
          <p:nvPr/>
        </p:nvSpPr>
        <p:spPr>
          <a:xfrm>
            <a:off x="566928" y="3054096"/>
            <a:ext cx="13990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A2</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10561320"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36" name="Text 33"/>
          <p:cNvSpPr txBox="1"/>
          <p:nvPr/>
        </p:nvSpPr>
        <p:spPr>
          <a:xfrm>
            <a:off x="5257800" y="3840480"/>
            <a:ext cx="51206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five marks; convert five numbers.</a:t>
            </a:r>
            <a:endParaRPr lang="en-US" sz="1100" dirty="0"/>
          </a:p>
        </p:txBody>
      </p:sp>
      <p:sp>
        <p:nvSpPr>
          <p:cNvPr id="37" name="Text 34"/>
          <p:cNvSpPr txBox="1"/>
          <p:nvPr/>
        </p:nvSpPr>
        <p:spPr>
          <a:xfrm>
            <a:off x="214884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Marks and numerals</a:t>
            </a:r>
            <a:endParaRPr lang="en-US" sz="1100" dirty="0"/>
          </a:p>
        </p:txBody>
      </p:sp>
      <p:sp>
        <p:nvSpPr>
          <p:cNvPr id="38" name="Text 35"/>
          <p:cNvSpPr txBox="1"/>
          <p:nvPr/>
        </p:nvSpPr>
        <p:spPr>
          <a:xfrm>
            <a:off x="566928" y="3840480"/>
            <a:ext cx="13990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A3 · A4</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10561320"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43" name="Text 40"/>
          <p:cNvSpPr txBox="1"/>
          <p:nvPr/>
        </p:nvSpPr>
        <p:spPr>
          <a:xfrm>
            <a:off x="5257800" y="4626864"/>
            <a:ext cx="51206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Dictation (10) · vowelled reading (5) · signs (5).</a:t>
            </a:r>
            <a:endParaRPr lang="en-US" sz="1100" dirty="0"/>
          </a:p>
        </p:txBody>
      </p:sp>
      <p:sp>
        <p:nvSpPr>
          <p:cNvPr id="44" name="Text 41"/>
          <p:cNvSpPr txBox="1"/>
          <p:nvPr/>
        </p:nvSpPr>
        <p:spPr>
          <a:xfrm>
            <a:off x="214884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Writing and reading</a:t>
            </a:r>
            <a:endParaRPr lang="en-US" sz="1100" dirty="0"/>
          </a:p>
        </p:txBody>
      </p:sp>
      <p:sp>
        <p:nvSpPr>
          <p:cNvPr id="45" name="Text 42"/>
          <p:cNvSpPr txBox="1"/>
          <p:nvPr/>
        </p:nvSpPr>
        <p:spPr>
          <a:xfrm>
            <a:off x="566928" y="4626864"/>
            <a:ext cx="13990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B1–B3</a:t>
            </a:r>
            <a:endParaRPr lang="en-US" sz="1100" dirty="0"/>
          </a:p>
        </p:txBody>
      </p:sp>
      <p:sp>
        <p:nvSpPr>
          <p:cNvPr id="46" name="Shape 4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9" name="Text 46"/>
          <p:cNvSpPr txBox="1"/>
          <p:nvPr/>
        </p:nvSpPr>
        <p:spPr>
          <a:xfrm>
            <a:off x="10561320" y="5413248"/>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50" name="Text 47"/>
          <p:cNvSpPr txBox="1"/>
          <p:nvPr/>
        </p:nvSpPr>
        <p:spPr>
          <a:xfrm>
            <a:off x="5257800" y="5413248"/>
            <a:ext cx="51206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Five words in a short passage, 0–2 each.</a:t>
            </a:r>
            <a:endParaRPr lang="en-US" sz="1100" dirty="0"/>
          </a:p>
        </p:txBody>
      </p:sp>
      <p:sp>
        <p:nvSpPr>
          <p:cNvPr id="51" name="Text 48"/>
          <p:cNvSpPr txBox="1"/>
          <p:nvPr/>
        </p:nvSpPr>
        <p:spPr>
          <a:xfrm>
            <a:off x="2148840" y="5413248"/>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Reading aloud</a:t>
            </a:r>
            <a:endParaRPr lang="en-US" sz="1100" dirty="0"/>
          </a:p>
        </p:txBody>
      </p:sp>
      <p:sp>
        <p:nvSpPr>
          <p:cNvPr id="52" name="Text 49"/>
          <p:cNvSpPr txBox="1"/>
          <p:nvPr/>
        </p:nvSpPr>
        <p:spPr>
          <a:xfrm>
            <a:off x="566928" y="5413248"/>
            <a:ext cx="13990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Oral</a:t>
            </a:r>
            <a:endParaRPr lang="en-US" sz="1100" dirty="0"/>
          </a:p>
        </p:txBody>
      </p:sp>
      <p:sp>
        <p:nvSpPr>
          <p:cNvPr id="53" name="Shape 50"/>
          <p:cNvSpPr/>
          <p:nvPr/>
        </p:nvSpPr>
        <p:spPr>
          <a:xfrm>
            <a:off x="11091672" y="545896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45896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F1-L12 · F1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PART A1 · 14 MARKS · WRITE FIRST, THEN REVEAL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A1 · Write the alphabet from memory</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 الحُرُوفَ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88552" y="1810512"/>
            <a:ext cx="2670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1–7</a:t>
            </a:r>
            <a:endParaRPr lang="en-US" sz="1100" dirty="0"/>
          </a:p>
        </p:txBody>
      </p:sp>
      <p:sp>
        <p:nvSpPr>
          <p:cNvPr id="17" name="Text 14"/>
          <p:cNvSpPr txBox="1"/>
          <p:nvPr/>
        </p:nvSpPr>
        <p:spPr>
          <a:xfrm>
            <a:off x="6172200" y="1810512"/>
            <a:ext cx="2670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8–14</a:t>
            </a:r>
            <a:endParaRPr lang="en-US" sz="1100" dirty="0"/>
          </a:p>
        </p:txBody>
      </p:sp>
      <p:sp>
        <p:nvSpPr>
          <p:cNvPr id="18" name="Text 15"/>
          <p:cNvSpPr txBox="1"/>
          <p:nvPr/>
        </p:nvSpPr>
        <p:spPr>
          <a:xfrm>
            <a:off x="3355848" y="1810512"/>
            <a:ext cx="2670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15–21</a:t>
            </a:r>
            <a:endParaRPr lang="en-US" sz="1100" dirty="0"/>
          </a:p>
        </p:txBody>
      </p:sp>
      <p:sp>
        <p:nvSpPr>
          <p:cNvPr id="19" name="Text 16"/>
          <p:cNvSpPr txBox="1"/>
          <p:nvPr/>
        </p:nvSpPr>
        <p:spPr>
          <a:xfrm>
            <a:off x="530352" y="1810512"/>
            <a:ext cx="2679192"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22–28</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006840" y="2267712"/>
            <a:ext cx="2633472"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 ب ت ث ج ح خ</a:t>
            </a:r>
            <a:endParaRPr lang="ar-SA" sz="2600" dirty="0"/>
          </a:p>
        </p:txBody>
      </p:sp>
      <p:sp>
        <p:nvSpPr>
          <p:cNvPr id="22" name="Text 19"/>
          <p:cNvSpPr txBox="1"/>
          <p:nvPr/>
        </p:nvSpPr>
        <p:spPr>
          <a:xfrm>
            <a:off x="6190488" y="2267712"/>
            <a:ext cx="2633472"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د ذ ر ز س ش ص</a:t>
            </a:r>
            <a:endParaRPr lang="ar-SA" sz="2600" dirty="0"/>
          </a:p>
        </p:txBody>
      </p:sp>
      <p:sp>
        <p:nvSpPr>
          <p:cNvPr id="23" name="Text 20"/>
          <p:cNvSpPr txBox="1"/>
          <p:nvPr/>
        </p:nvSpPr>
        <p:spPr>
          <a:xfrm>
            <a:off x="3374136" y="2267712"/>
            <a:ext cx="2633472"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ض ط ظ ع غ ف ق</a:t>
            </a:r>
            <a:endParaRPr lang="ar-SA" sz="2600" dirty="0"/>
          </a:p>
        </p:txBody>
      </p:sp>
      <p:sp>
        <p:nvSpPr>
          <p:cNvPr id="24" name="Text 21"/>
          <p:cNvSpPr txBox="1"/>
          <p:nvPr/>
        </p:nvSpPr>
        <p:spPr>
          <a:xfrm>
            <a:off x="548640" y="2267712"/>
            <a:ext cx="2642616"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 ل م ن ه و ي</a:t>
            </a:r>
            <a:endParaRPr lang="ar-SA" sz="2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Text 2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Each letter in the correct position = ½ mark (28 × ½ = 14).</a:t>
            </a:r>
            <a:endParaRPr lang="en-US" sz="11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F1-L12 · F1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PART A2 · 6 MARKS · POSITIONAL FORMS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A2 · Choose the exact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أَشْكَالُ الحُرُوفِ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initial form of </a:t>
            </a:r>
            <a:pPr algn="l" indent="0" marL="0">
              <a:buNone/>
            </a:pPr>
            <a:r>
              <a:rPr lang="ar-SA" altLang="en-US" sz="1650" b="1" dirty="0">
                <a:solidFill>
                  <a:srgbClr val="1B3B6F"/>
                </a:solidFill>
                <a:latin typeface="Amiri" pitchFamily="2" charset="-78"/>
                <a:ea typeface="Amiri" pitchFamily="2" charset="-78"/>
                <a:cs typeface="Amiri" pitchFamily="2" charset="-78"/>
              </a:rPr>
              <a:t>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ـبـ</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medial form of </a:t>
            </a:r>
            <a:pPr algn="l" indent="0" marL="0">
              <a:buNone/>
            </a:pPr>
            <a:r>
              <a:rPr lang="ar-SA" altLang="en-US" sz="1650" b="1" dirty="0">
                <a:solidFill>
                  <a:srgbClr val="1B3B6F"/>
                </a:solidFill>
                <a:latin typeface="Amiri" pitchFamily="2" charset="-78"/>
                <a:ea typeface="Amiri" pitchFamily="2" charset="-78"/>
                <a:cs typeface="Amiri" pitchFamily="2" charset="-78"/>
              </a:rPr>
              <a:t>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عـ</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ـعـ</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final form of </a:t>
            </a:r>
            <a:pPr algn="l" indent="0" marL="0">
              <a:buNone/>
            </a:pPr>
            <a:r>
              <a:rPr lang="ar-SA" altLang="en-US" sz="1650" b="1" dirty="0">
                <a:solidFill>
                  <a:srgbClr val="1B3B6F"/>
                </a:solidFill>
                <a:latin typeface="Amiri" pitchFamily="2" charset="-78"/>
                <a:ea typeface="Amiri" pitchFamily="2" charset="-78"/>
                <a:cs typeface="Amiri" pitchFamily="2" charset="-78"/>
              </a:rPr>
              <a:t>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فـ</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ـف</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ـفـ</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initial form of </a:t>
            </a:r>
            <a:pPr algn="l" indent="0" marL="0">
              <a:buNone/>
            </a:pPr>
            <a:r>
              <a:rPr lang="ar-SA" altLang="en-US" sz="1650" b="1" dirty="0">
                <a:solidFill>
                  <a:srgbClr val="1B3B6F"/>
                </a:solidFill>
                <a:latin typeface="Amiri" pitchFamily="2" charset="-78"/>
                <a:ea typeface="Amiri" pitchFamily="2" charset="-78"/>
                <a:cs typeface="Amiri" pitchFamily="2" charset="-78"/>
              </a:rPr>
              <a:t>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ـك</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كـ</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ـكـ</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medial form of </a:t>
            </a:r>
            <a:pPr algn="l" indent="0" marL="0">
              <a:buNone/>
            </a:pPr>
            <a:r>
              <a:rPr lang="ar-SA" altLang="en-US" sz="1650" b="1" dirty="0">
                <a:solidFill>
                  <a:srgbClr val="1B3B6F"/>
                </a:solidFill>
                <a:latin typeface="Amiri" pitchFamily="2" charset="-78"/>
                <a:ea typeface="Amiri" pitchFamily="2" charset="-78"/>
                <a:cs typeface="Amiri" pitchFamily="2" charset="-78"/>
              </a:rPr>
              <a:t>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مـ</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ـم</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ـمـ</a:t>
            </a:r>
            <a:endParaRPr lang="ar-SA" sz="20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final form of </a:t>
            </a:r>
            <a:pPr algn="l" indent="0" marL="0">
              <a:buNone/>
            </a:pPr>
            <a:r>
              <a:rPr lang="ar-SA" altLang="en-US" sz="1650" b="1" dirty="0">
                <a:solidFill>
                  <a:srgbClr val="1B3B6F"/>
                </a:solidFill>
                <a:latin typeface="Amiri" pitchFamily="2" charset="-78"/>
                <a:ea typeface="Amiri" pitchFamily="2" charset="-78"/>
                <a:cs typeface="Amiri" pitchFamily="2" charset="-78"/>
              </a:rPr>
              <a:t>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ـي</a:t>
            </a:r>
            <a:endParaRPr lang="ar-SA" sz="20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يـ</a:t>
            </a:r>
            <a:endParaRPr lang="ar-SA" sz="20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ـيـ</a:t>
            </a:r>
            <a:endParaRPr lang="ar-SA" sz="20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F1-L12 · F1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PART A2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A2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initial form of </a:t>
            </a:r>
            <a:pPr algn="l" indent="0" marL="0">
              <a:buNone/>
            </a:pPr>
            <a:r>
              <a:rPr lang="ar-SA" altLang="en-US" sz="1650" b="1" dirty="0">
                <a:solidFill>
                  <a:srgbClr val="1B3B6F"/>
                </a:solidFill>
                <a:latin typeface="Amiri" pitchFamily="2" charset="-78"/>
                <a:ea typeface="Amiri" pitchFamily="2" charset="-78"/>
                <a:cs typeface="Amiri" pitchFamily="2" charset="-78"/>
              </a:rPr>
              <a:t>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ـبـ</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ـب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Initial bāʾ connects onward.</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medial form of </a:t>
            </a:r>
            <a:pPr algn="l" indent="0" marL="0">
              <a:buNone/>
            </a:pPr>
            <a:r>
              <a:rPr lang="ar-SA" altLang="en-US" sz="1650" b="1" dirty="0">
                <a:solidFill>
                  <a:srgbClr val="1B3B6F"/>
                </a:solidFill>
                <a:latin typeface="Amiri" pitchFamily="2" charset="-78"/>
                <a:ea typeface="Amiri" pitchFamily="2" charset="-78"/>
                <a:cs typeface="Amiri" pitchFamily="2" charset="-78"/>
              </a:rPr>
              <a:t>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عـ</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ـع</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ـعـ</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Medial ʿayn connects on both sides.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final form of </a:t>
            </a:r>
            <a:pPr algn="l" indent="0" marL="0">
              <a:buNone/>
            </a:pPr>
            <a:r>
              <a:rPr lang="ar-SA" altLang="en-US" sz="1650" b="1" dirty="0">
                <a:solidFill>
                  <a:srgbClr val="1B3B6F"/>
                </a:solidFill>
                <a:latin typeface="Amiri" pitchFamily="2" charset="-78"/>
                <a:ea typeface="Amiri" pitchFamily="2" charset="-78"/>
                <a:cs typeface="Amiri" pitchFamily="2" charset="-78"/>
              </a:rPr>
              <a:t>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فـ</a:t>
            </a:r>
            <a:endParaRPr lang="ar-SA" sz="170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ـف</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ـفـ</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Final fāʾ joins from the right only.</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initial form of </a:t>
            </a:r>
            <a:pPr algn="l" indent="0" marL="0">
              <a:buNone/>
            </a:pPr>
            <a:r>
              <a:rPr lang="ar-SA" altLang="en-US" sz="1650" b="1" dirty="0">
                <a:solidFill>
                  <a:srgbClr val="1B3B6F"/>
                </a:solidFill>
                <a:latin typeface="Amiri" pitchFamily="2" charset="-78"/>
                <a:ea typeface="Amiri" pitchFamily="2" charset="-78"/>
                <a:cs typeface="Amiri" pitchFamily="2" charset="-78"/>
              </a:rPr>
              <a:t>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ـك</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كـ</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ـكـ</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Initial kāf joins onward only.</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medial form of </a:t>
            </a:r>
            <a:pPr algn="l" indent="0" marL="0">
              <a:buNone/>
            </a:pPr>
            <a:r>
              <a:rPr lang="ar-SA" altLang="en-US" sz="1650" b="1" dirty="0">
                <a:solidFill>
                  <a:srgbClr val="1B3B6F"/>
                </a:solidFill>
                <a:latin typeface="Amiri" pitchFamily="2" charset="-78"/>
                <a:ea typeface="Amiri" pitchFamily="2" charset="-78"/>
                <a:cs typeface="Amiri" pitchFamily="2" charset="-78"/>
              </a:rPr>
              <a:t>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مـ</a:t>
            </a:r>
            <a:endParaRPr lang="ar-SA" sz="170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ـم</a:t>
            </a:r>
            <a:endParaRPr lang="ar-SA" sz="170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ـمـ</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Medial mīm joins on both sides.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final form of </a:t>
            </a:r>
            <a:pPr algn="l" indent="0" marL="0">
              <a:buNone/>
            </a:pPr>
            <a:r>
              <a:rPr lang="ar-SA" altLang="en-US" sz="1650" b="1" dirty="0">
                <a:solidFill>
                  <a:srgbClr val="1B3B6F"/>
                </a:solidFill>
                <a:latin typeface="Amiri" pitchFamily="2" charset="-78"/>
                <a:ea typeface="Amiri" pitchFamily="2" charset="-78"/>
                <a:cs typeface="Amiri" pitchFamily="2" charset="-78"/>
              </a:rPr>
              <a:t>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4" name="Shape 91"/>
          <p:cNvSpPr/>
          <p:nvPr/>
        </p:nvSpPr>
        <p:spPr>
          <a:xfrm>
            <a:off x="8186928" y="4794504"/>
            <a:ext cx="3453384"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827836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ـي</a:t>
            </a:r>
            <a:endParaRPr lang="ar-SA" sz="1700" dirty="0"/>
          </a:p>
        </p:txBody>
      </p:sp>
      <p:sp>
        <p:nvSpPr>
          <p:cNvPr id="98" name="Shape 95"/>
          <p:cNvSpPr/>
          <p:nvPr/>
        </p:nvSpPr>
        <p:spPr>
          <a:xfrm>
            <a:off x="827836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يـ</a:t>
            </a:r>
            <a:endParaRPr lang="ar-SA" sz="170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ـيـ</a:t>
            </a:r>
            <a:endParaRPr lang="ar-SA" sz="170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Final yāʾ keeps its tail and two dots below.</a:t>
            </a:r>
            <a:endParaRPr lang="en-US" sz="10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F1-L12 · F1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PART A3 · 5 MARKS · DIACRITIC NAMES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A3 · Name the mark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العَلَامَاتُ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Name the mark.</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بَ</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kasra</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ḍamma</a:t>
            </a:r>
            <a:endParaRPr lang="en-US" sz="12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fatḥa</a:t>
            </a:r>
            <a:endParaRPr lang="en-US" sz="12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Name the mark.</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بُ</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sukūn</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ḍamma</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shadda</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Name the mark.</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بِ</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fatḥa</a:t>
            </a:r>
            <a:endParaRPr lang="en-US" sz="12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kasra</a:t>
            </a:r>
            <a:endParaRPr lang="en-US" sz="12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tanwīn</a:t>
            </a:r>
            <a:endParaRPr lang="en-US" sz="12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Name the mark.</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بْ</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shadda</a:t>
            </a:r>
            <a:endParaRPr lang="en-US" sz="12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madda</a:t>
            </a:r>
            <a:endParaRPr lang="en-US" sz="12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sukūn</a:t>
            </a:r>
            <a:endParaRPr lang="en-US" sz="12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Name the mark.</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بّ</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shadda</a:t>
            </a:r>
            <a:endParaRPr lang="en-US" sz="12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fatḥa</a:t>
            </a:r>
            <a:endParaRPr lang="en-US" sz="12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hamza</a:t>
            </a:r>
            <a:endParaRPr lang="en-US" sz="1250" dirty="0"/>
          </a:p>
        </p:txBody>
      </p:sp>
      <p:sp>
        <p:nvSpPr>
          <p:cNvPr id="85" name="Shape 82"/>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6" name="Text 83"/>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A3 · 5 MARKS</a:t>
            </a:r>
            <a:endParaRPr lang="en-US" sz="1000" dirty="0"/>
          </a:p>
        </p:txBody>
      </p:sp>
      <p:sp>
        <p:nvSpPr>
          <p:cNvPr id="87" name="Text 84"/>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One mark each.</a:t>
            </a:r>
            <a:endParaRPr lang="en-US" sz="1250" dirty="0"/>
          </a:p>
          <a:p>
            <a:pPr algn="l" indent="0" marL="0">
              <a:buNone/>
            </a:pPr>
            <a:r>
              <a:rPr lang="en-US" sz="1250" dirty="0">
                <a:solidFill>
                  <a:srgbClr val="1F2A37"/>
                </a:solidFill>
                <a:latin typeface="Calibri" pitchFamily="34" charset="0"/>
                <a:cs typeface="Amiri" pitchFamily="2" charset="-78"/>
              </a:rPr>
              <a:t>Private chat: A3: 1_ 2_ 3_ 4_ 5_</a:t>
            </a:r>
            <a:endParaRPr lang="en-US" sz="125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F1-L12 · F1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PART A3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A3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Name the mark.</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بَ</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kasra</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ḍamma</a:t>
            </a:r>
            <a:endParaRPr lang="en-US" sz="125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fatḥa</a:t>
            </a:r>
            <a:endParaRPr lang="en-US" sz="125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short /a/ stroke above.</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Name the mark.</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بُ</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sukūn</a:t>
            </a:r>
            <a:endParaRPr lang="en-US" sz="1250" dirty="0"/>
          </a:p>
        </p:txBody>
      </p:sp>
      <p:sp>
        <p:nvSpPr>
          <p:cNvPr id="39" name="Shape 36"/>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ḍamma</a:t>
            </a:r>
            <a:endParaRPr lang="en-US" sz="125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shadda</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short /u/ curl above.</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Name the mark.</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بِ</a:t>
            </a:r>
            <a:endParaRPr lang="ar-SA" sz="2200" dirty="0"/>
          </a:p>
        </p:txBody>
      </p:sp>
      <p:sp>
        <p:nvSpPr>
          <p:cNvPr id="52"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fatḥa</a:t>
            </a:r>
            <a:endParaRPr lang="en-US" sz="1250" dirty="0"/>
          </a:p>
        </p:txBody>
      </p:sp>
      <p:sp>
        <p:nvSpPr>
          <p:cNvPr id="55" name="Shape 52"/>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286207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kasra</a:t>
            </a:r>
            <a:endParaRPr lang="en-US" sz="125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tanwīn</a:t>
            </a:r>
            <a:endParaRPr lang="en-US" sz="125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short /i/ stroke below.</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Name the mark.</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بْ</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shadda</a:t>
            </a:r>
            <a:endParaRPr lang="en-US" sz="1250" dirty="0"/>
          </a:p>
        </p:txBody>
      </p:sp>
      <p:sp>
        <p:nvSpPr>
          <p:cNvPr id="71"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madda</a:t>
            </a:r>
            <a:endParaRPr lang="en-US" sz="1250" dirty="0"/>
          </a:p>
        </p:txBody>
      </p:sp>
      <p:sp>
        <p:nvSpPr>
          <p:cNvPr id="74"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sukūn</a:t>
            </a:r>
            <a:endParaRPr lang="en-US" sz="125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 following vowel.</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Name the mark.</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بّ</a:t>
            </a:r>
            <a:endParaRPr lang="ar-SA" sz="2200" dirty="0"/>
          </a:p>
        </p:txBody>
      </p:sp>
      <p:sp>
        <p:nvSpPr>
          <p:cNvPr id="84"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7" name="Text 84"/>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shadda</a:t>
            </a:r>
            <a:endParaRPr lang="en-US" sz="1250" dirty="0"/>
          </a:p>
        </p:txBody>
      </p:sp>
      <p:sp>
        <p:nvSpPr>
          <p:cNvPr id="88"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0" name="Text 87"/>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fatḥa</a:t>
            </a:r>
            <a:endParaRPr lang="en-US" sz="1250" dirty="0"/>
          </a:p>
        </p:txBody>
      </p:sp>
      <p:sp>
        <p:nvSpPr>
          <p:cNvPr id="91"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hamza</a:t>
            </a:r>
            <a:endParaRPr lang="en-US" sz="125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Doubles the consonant.</a:t>
            </a:r>
            <a:endParaRPr lang="en-US" sz="1050" dirty="0"/>
          </a:p>
        </p:txBody>
      </p:sp>
      <p:sp>
        <p:nvSpPr>
          <p:cNvPr id="95" name="Shape 92"/>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A3 · 5 MARKS</a:t>
            </a:r>
            <a:endParaRPr lang="en-US" sz="1000" dirty="0"/>
          </a:p>
        </p:txBody>
      </p:sp>
      <p:sp>
        <p:nvSpPr>
          <p:cNvPr id="97" name="Text 94"/>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One mark each.</a:t>
            </a:r>
            <a:endParaRPr lang="en-US" sz="1250" dirty="0"/>
          </a:p>
          <a:p>
            <a:pPr algn="l" indent="0" marL="0">
              <a:buNone/>
            </a:pPr>
            <a:r>
              <a:rPr lang="en-US" sz="1250" dirty="0">
                <a:solidFill>
                  <a:srgbClr val="1F2A37"/>
                </a:solidFill>
                <a:latin typeface="Calibri" pitchFamily="34" charset="0"/>
                <a:cs typeface="Amiri" pitchFamily="2" charset="-78"/>
              </a:rPr>
              <a:t>Private chat: A3: 1_ 2_ 3_ 4_ 5_</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F1-L12 · F1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PART A4 · 5 MARKS · NUMERAL CONVERSION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A4 · Choose the Arabic-Indic numeral</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الأَرْقَامُ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numeral for 3.</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٢</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٣</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٤</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numeral for 7.</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٦</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٨</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numeral for 15.</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٥١</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١٠٥</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١٥</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numeral for 20.</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٢٠</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٢</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٢٠٠</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numeral for 100.</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١٠</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١٠٠</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١٠٠٠</a:t>
            </a:r>
            <a:endParaRPr lang="ar-SA" sz="20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A4 · 5 MARKS</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One mark each.</a:t>
            </a:r>
            <a:endParaRPr lang="en-US" sz="1250" dirty="0"/>
          </a:p>
          <a:p>
            <a:pPr algn="l" indent="0" marL="0">
              <a:buNone/>
            </a:pPr>
            <a:r>
              <a:rPr lang="en-US" sz="1250" dirty="0">
                <a:solidFill>
                  <a:srgbClr val="1F2A37"/>
                </a:solidFill>
                <a:latin typeface="Calibri" pitchFamily="34" charset="0"/>
                <a:cs typeface="Amiri" pitchFamily="2" charset="-78"/>
              </a:rPr>
              <a:t>Private chat: A4: 1_ 2_ 3_ 4_ 5_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F1-L12 · F1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PART A4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A4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numeral for 3.</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٢</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٣</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٤</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Three.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numeral for 7.</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٦</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٧</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٨</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Seven.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numeral for 15.</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٥١</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١٠٥</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١٥</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Place value stays fifteen.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numeral for 20.</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٢٠</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٢</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٢٠٠</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Two, then zero.</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numeral for 100.</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١٠</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١٠٠</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١٠٠٠</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then two zeros.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A4 · 5 MARKS</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One mark each.</a:t>
            </a:r>
            <a:endParaRPr lang="en-US" sz="1250" dirty="0"/>
          </a:p>
          <a:p>
            <a:pPr algn="l" indent="0" marL="0">
              <a:buNone/>
            </a:pPr>
            <a:r>
              <a:rPr lang="en-US" sz="1250" dirty="0">
                <a:solidFill>
                  <a:srgbClr val="1F2A37"/>
                </a:solidFill>
                <a:latin typeface="Calibri" pitchFamily="34" charset="0"/>
                <a:cs typeface="Amiri" pitchFamily="2" charset="-78"/>
              </a:rPr>
              <a:t>Private chat: A4: 1_ 2_ 3_ 4_ 5_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F1-L12 · F1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2F6FB0"/>
                </a:solidFill>
                <a:latin typeface="Calibri" pitchFamily="34" charset="0"/>
                <a:cs typeface="Amiri" pitchFamily="2" charset="-78"/>
              </a:rPr>
              <a:t>PART B1 · 10 MARKS · TEN-WORD GUIDED DICTATION (WEBSITE) · REVEAL AFTER WRITING</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B1 · Dictation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إِمْلَاءُ عَشْرِ 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81344" y="1810512"/>
            <a:ext cx="5477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1–5</a:t>
            </a:r>
            <a:endParaRPr lang="en-US" sz="1100" dirty="0"/>
          </a:p>
        </p:txBody>
      </p:sp>
      <p:sp>
        <p:nvSpPr>
          <p:cNvPr id="17" name="Text 14"/>
          <p:cNvSpPr txBox="1"/>
          <p:nvPr/>
        </p:nvSpPr>
        <p:spPr>
          <a:xfrm>
            <a:off x="530352" y="1810512"/>
            <a:ext cx="5504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6–10</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199632" y="2286000"/>
            <a:ext cx="54406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بَابٌ · كِتَابٌ · قَلَمٌ · مَدْرَسَةٌ · بَيْتٌ</a:t>
            </a:r>
            <a:endParaRPr lang="ar-SA" sz="2100" dirty="0"/>
          </a:p>
        </p:txBody>
      </p:sp>
      <p:sp>
        <p:nvSpPr>
          <p:cNvPr id="20" name="Text 17"/>
          <p:cNvSpPr txBox="1"/>
          <p:nvPr/>
        </p:nvSpPr>
        <p:spPr>
          <a:xfrm>
            <a:off x="6153912" y="2706624"/>
            <a:ext cx="55321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door · book · pen · school · house</a:t>
            </a:r>
            <a:endParaRPr lang="en-US" sz="950" dirty="0"/>
          </a:p>
        </p:txBody>
      </p:sp>
      <p:sp>
        <p:nvSpPr>
          <p:cNvPr id="21" name="Text 18"/>
          <p:cNvSpPr txBox="1"/>
          <p:nvPr/>
        </p:nvSpPr>
        <p:spPr>
          <a:xfrm>
            <a:off x="548640" y="2286000"/>
            <a:ext cx="546811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مُعَلِّمٌ · طَالِبٌ · يَدٌ · عَيْنٌ · كَلِمَةٌ</a:t>
            </a:r>
            <a:endParaRPr lang="ar-SA" sz="2100" dirty="0"/>
          </a:p>
        </p:txBody>
      </p:sp>
      <p:sp>
        <p:nvSpPr>
          <p:cNvPr id="22" name="Text 19"/>
          <p:cNvSpPr txBox="1"/>
          <p:nvPr/>
        </p:nvSpPr>
        <p:spPr>
          <a:xfrm>
            <a:off x="502920" y="2706624"/>
            <a:ext cx="55595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teacher · student · hand · eye · word</a:t>
            </a:r>
            <a:endParaRPr lang="en-US" sz="95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Text 2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mark for each whole word (letters, joins, dots and marks). Record repeated errors as L · J · D · M.</a:t>
            </a:r>
            <a:endParaRPr lang="en-US" sz="11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F1-L12 · F1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B2 · 5 MARKS · VOWELLED READING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B2 · Choose the closest transliteration</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قِرَاءَةُ كَلِمَاتٍ مَشْكُولَةٍ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closest transliteration.</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بَاب</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bab</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bāb</a:t>
            </a:r>
            <a:endParaRPr lang="en-US" sz="12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bib</a:t>
            </a:r>
            <a:endParaRPr lang="en-US" sz="12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closest transliteration.</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مَدْرَسَة</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mudarrisa</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midrāsa</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madrasa</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closest transliteration.</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مُعَلِّم</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muʿallim</a:t>
            </a:r>
            <a:endParaRPr lang="en-US" sz="12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maʿlam</a:t>
            </a:r>
            <a:endParaRPr lang="en-US" sz="12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muʿālim</a:t>
            </a:r>
            <a:endParaRPr lang="en-US" sz="12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closest transliteration.</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عَيْن</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ʿīn</a:t>
            </a:r>
            <a:endParaRPr lang="en-US" sz="12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ʿayn</a:t>
            </a:r>
            <a:endParaRPr lang="en-US" sz="12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ghayn</a:t>
            </a:r>
            <a:endParaRPr lang="en-US" sz="12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closest transliteration.</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ثَلَاثَة</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thalātha</a:t>
            </a:r>
            <a:endParaRPr lang="en-US" sz="12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talāta</a:t>
            </a:r>
            <a:endParaRPr lang="en-US" sz="12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thulūtha</a:t>
            </a:r>
            <a:endParaRPr lang="en-US" sz="1250" dirty="0"/>
          </a:p>
        </p:txBody>
      </p:sp>
      <p:sp>
        <p:nvSpPr>
          <p:cNvPr id="85" name="Shape 82"/>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6" name="Text 83"/>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KEY</a:t>
            </a:r>
            <a:endParaRPr lang="en-US" sz="1000" dirty="0"/>
          </a:p>
        </p:txBody>
      </p:sp>
      <p:sp>
        <p:nvSpPr>
          <p:cNvPr id="87" name="Text 84"/>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ā = long alif sound</a:t>
            </a:r>
            <a:endParaRPr lang="en-US" sz="1250" dirty="0"/>
          </a:p>
          <a:p>
            <a:pPr algn="l" indent="0" marL="0">
              <a:buNone/>
            </a:pPr>
            <a:r>
              <a:rPr lang="en-US" sz="1250" dirty="0">
                <a:solidFill>
                  <a:srgbClr val="1F2A37"/>
                </a:solidFill>
                <a:latin typeface="Calibri" pitchFamily="34" charset="0"/>
                <a:cs typeface="Amiri" pitchFamily="2" charset="-78"/>
              </a:rPr>
              <a:t>ʿ = the letter ʿayn</a:t>
            </a:r>
            <a:endParaRPr lang="en-US" sz="1250" dirty="0"/>
          </a:p>
          <a:p>
            <a:pPr algn="l" indent="0" marL="0">
              <a:buNone/>
            </a:pPr>
            <a:r>
              <a:rPr lang="en-US" sz="1250" dirty="0">
                <a:solidFill>
                  <a:srgbClr val="1F2A37"/>
                </a:solidFill>
                <a:latin typeface="Calibri" pitchFamily="34" charset="0"/>
                <a:cs typeface="Amiri" pitchFamily="2" charset="-78"/>
              </a:rPr>
              <a:t>doubled letters = shadda</a:t>
            </a:r>
            <a:endParaRPr lang="en-US" sz="1250" dirty="0"/>
          </a:p>
          <a:p>
            <a:pPr algn="l" indent="0" marL="0">
              <a:buNone/>
            </a:pPr>
            <a:r>
              <a:rPr lang="en-US" sz="1250" dirty="0">
                <a:solidFill>
                  <a:srgbClr val="1F2A37"/>
                </a:solidFill>
                <a:latin typeface="Calibri" pitchFamily="34" charset="0"/>
                <a:cs typeface="Amiri" pitchFamily="2" charset="-78"/>
              </a:rPr>
              <a:t>th = the letter thāʾ</a:t>
            </a:r>
            <a:endParaRPr lang="en-US" sz="125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F1-L12 · F1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B2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B2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closest transliteration.</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بَاب</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bab</a:t>
            </a:r>
            <a:endParaRPr lang="en-US" sz="125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bāb</a:t>
            </a:r>
            <a:endParaRPr lang="en-US" sz="125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bib</a:t>
            </a:r>
            <a:endParaRPr lang="en-US" sz="125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written alif makes long ā.</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closest transliteration.</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مَدْرَسَة</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mudarrisa</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midrāsa</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madrasa</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visible vowels support madrasa.</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closest transliteration.</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مُعَلِّم</a:t>
            </a:r>
            <a:endParaRPr lang="ar-SA" sz="22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muʿallim</a:t>
            </a:r>
            <a:endParaRPr lang="en-US" sz="125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maʿlam</a:t>
            </a:r>
            <a:endParaRPr lang="en-US" sz="125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muʿālim</a:t>
            </a:r>
            <a:endParaRPr lang="en-US" sz="125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Ḍamma gives mu-; shadda doubles l.</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closest transliteration.</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عَيْن</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ʿīn</a:t>
            </a:r>
            <a:endParaRPr lang="en-US" sz="1250" dirty="0"/>
          </a:p>
        </p:txBody>
      </p:sp>
      <p:sp>
        <p:nvSpPr>
          <p:cNvPr id="71" name="Shape 6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202936"/>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ʿayn</a:t>
            </a:r>
            <a:endParaRPr lang="en-US" sz="125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ghayn</a:t>
            </a:r>
            <a:endParaRPr lang="en-US" sz="125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Fatḥa + yāʾ = ay.</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closest transliteration.</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ثَلَاثَة</a:t>
            </a:r>
            <a:endParaRPr lang="ar-SA" sz="2200" dirty="0"/>
          </a:p>
        </p:txBody>
      </p:sp>
      <p:sp>
        <p:nvSpPr>
          <p:cNvPr id="84"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7" name="Text 84"/>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thalātha</a:t>
            </a:r>
            <a:endParaRPr lang="en-US" sz="1250" dirty="0"/>
          </a:p>
        </p:txBody>
      </p:sp>
      <p:sp>
        <p:nvSpPr>
          <p:cNvPr id="88"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0" name="Text 87"/>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talāta</a:t>
            </a:r>
            <a:endParaRPr lang="en-US" sz="1250" dirty="0"/>
          </a:p>
        </p:txBody>
      </p:sp>
      <p:sp>
        <p:nvSpPr>
          <p:cNvPr id="91"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thulūtha</a:t>
            </a:r>
            <a:endParaRPr lang="en-US" sz="125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Thāʾ is th; alif gives long ā.</a:t>
            </a:r>
            <a:endParaRPr lang="en-US" sz="1050" dirty="0"/>
          </a:p>
        </p:txBody>
      </p:sp>
      <p:sp>
        <p:nvSpPr>
          <p:cNvPr id="95" name="Shape 92"/>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KEY</a:t>
            </a:r>
            <a:endParaRPr lang="en-US" sz="1000" dirty="0"/>
          </a:p>
        </p:txBody>
      </p:sp>
      <p:sp>
        <p:nvSpPr>
          <p:cNvPr id="97" name="Text 94"/>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ā = long alif sound</a:t>
            </a:r>
            <a:endParaRPr lang="en-US" sz="1250" dirty="0"/>
          </a:p>
          <a:p>
            <a:pPr algn="l" indent="0" marL="0">
              <a:buNone/>
            </a:pPr>
            <a:r>
              <a:rPr lang="en-US" sz="1250" dirty="0">
                <a:solidFill>
                  <a:srgbClr val="1F2A37"/>
                </a:solidFill>
                <a:latin typeface="Calibri" pitchFamily="34" charset="0"/>
                <a:cs typeface="Amiri" pitchFamily="2" charset="-78"/>
              </a:rPr>
              <a:t>ʿ = the letter ʿayn</a:t>
            </a:r>
            <a:endParaRPr lang="en-US" sz="1250" dirty="0"/>
          </a:p>
          <a:p>
            <a:pPr algn="l" indent="0" marL="0">
              <a:buNone/>
            </a:pPr>
            <a:r>
              <a:rPr lang="en-US" sz="1250" dirty="0">
                <a:solidFill>
                  <a:srgbClr val="1F2A37"/>
                </a:solidFill>
                <a:latin typeface="Calibri" pitchFamily="34" charset="0"/>
                <a:cs typeface="Amiri" pitchFamily="2" charset="-78"/>
              </a:rPr>
              <a:t>doubled letters = shadda</a:t>
            </a:r>
            <a:endParaRPr lang="en-US" sz="1250" dirty="0"/>
          </a:p>
          <a:p>
            <a:pPr algn="l" indent="0" marL="0">
              <a:buNone/>
            </a:pPr>
            <a:r>
              <a:rPr lang="en-US" sz="1250" dirty="0">
                <a:solidFill>
                  <a:srgbClr val="1F2A37"/>
                </a:solidFill>
                <a:latin typeface="Calibri" pitchFamily="34" charset="0"/>
                <a:cs typeface="Amiri" pitchFamily="2" charset="-78"/>
              </a:rPr>
              <a:t>th = the letter thāʾ</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F1-L12 · F1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B3 · 5 MARKS · UNVOWELLED SIGNS (WEBSITE) · USE SCOPE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B3 · Read the signs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لَافِتَاتٌ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meaning.</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مدرسة</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hospital</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restaurant</a:t>
            </a:r>
            <a:endParaRPr lang="en-US" sz="12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a:t>
            </a:r>
            <a:endParaRPr lang="en-US" sz="12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meaning.</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مطعم</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restaurant</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station</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street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meaning.</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مستشفى</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hotel</a:t>
            </a:r>
            <a:endParaRPr lang="en-US" sz="12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hospital</a:t>
            </a:r>
            <a:endParaRPr lang="en-US" sz="12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mosque</a:t>
            </a:r>
            <a:endParaRPr lang="en-US" sz="12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meaning.</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محطة</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station</a:t>
            </a:r>
            <a:endParaRPr lang="en-US" sz="12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bank</a:t>
            </a:r>
            <a:endParaRPr lang="en-US" sz="12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a:t>
            </a:r>
            <a:endParaRPr lang="en-US" sz="12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Which visible final shape is an evidence clue?</a:t>
            </a:r>
            <a:endParaRPr lang="en-US" sz="95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مستشفى</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ة</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ى</a:t>
            </a:r>
            <a:endParaRPr lang="ar-SA" sz="2050" dirty="0"/>
          </a:p>
        </p:txBody>
      </p:sp>
      <p:sp>
        <p:nvSpPr>
          <p:cNvPr id="85" name="Shape 82"/>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6" name="Text 83"/>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SCOPE</a:t>
            </a:r>
            <a:endParaRPr lang="en-US" sz="1000" dirty="0"/>
          </a:p>
        </p:txBody>
      </p:sp>
      <p:sp>
        <p:nvSpPr>
          <p:cNvPr id="87" name="Text 84"/>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Scan · Chunk · Observe</a:t>
            </a:r>
            <a:endParaRPr lang="en-US" sz="1250" dirty="0"/>
          </a:p>
          <a:p>
            <a:pPr algn="l" indent="0" marL="0">
              <a:buNone/>
            </a:pPr>
            <a:r>
              <a:rPr lang="en-US" sz="1250" dirty="0">
                <a:solidFill>
                  <a:srgbClr val="1F2A37"/>
                </a:solidFill>
                <a:latin typeface="Calibri" pitchFamily="34" charset="0"/>
                <a:cs typeface="Amiri" pitchFamily="2" charset="-78"/>
              </a:rPr>
              <a:t>Predict · Evaluate</a:t>
            </a:r>
            <a:endParaRPr lang="en-US" sz="1250" dirty="0"/>
          </a:p>
          <a:p>
            <a:pPr algn="l" indent="0" marL="0">
              <a:buNone/>
            </a:pPr>
            <a:r>
              <a:rPr lang="en-US" sz="1250" dirty="0">
                <a:solidFill>
                  <a:srgbClr val="1F2A37"/>
                </a:solidFill>
                <a:latin typeface="Calibri" pitchFamily="34" charset="0"/>
                <a:cs typeface="Amiri" pitchFamily="2" charset="-78"/>
              </a:rPr>
              <a:t>Private chat: B3: 1_ 2_ 3_ 4_ 5_</a:t>
            </a:r>
            <a:endParaRPr lang="en-US" sz="125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F1-L12 · F1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B3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B3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meaning.</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مدرسة</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hospital</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restaurant</a:t>
            </a:r>
            <a:endParaRPr lang="en-US" sz="125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school</a:t>
            </a:r>
            <a:endParaRPr lang="en-US" sz="125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Madrasa = school.</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meaning.</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مطعم</a:t>
            </a:r>
            <a:endParaRPr lang="ar-SA" sz="2200" dirty="0"/>
          </a:p>
        </p:txBody>
      </p:sp>
      <p:sp>
        <p:nvSpPr>
          <p:cNvPr id="36"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restaurant</a:t>
            </a:r>
            <a:endParaRPr lang="en-US" sz="1250" dirty="0"/>
          </a:p>
        </p:txBody>
      </p:sp>
      <p:sp>
        <p:nvSpPr>
          <p:cNvPr id="40"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station</a:t>
            </a:r>
            <a:endParaRPr lang="en-US" sz="125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street</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Maṭʿam = restaurant.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meaning.</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مستشفى</a:t>
            </a:r>
            <a:endParaRPr lang="ar-SA" sz="2200" dirty="0"/>
          </a:p>
        </p:txBody>
      </p:sp>
      <p:sp>
        <p:nvSpPr>
          <p:cNvPr id="52"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hotel</a:t>
            </a:r>
            <a:endParaRPr lang="en-US" sz="1250" dirty="0"/>
          </a:p>
        </p:txBody>
      </p:sp>
      <p:sp>
        <p:nvSpPr>
          <p:cNvPr id="55" name="Shape 52"/>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286207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hospital</a:t>
            </a:r>
            <a:endParaRPr lang="en-US" sz="125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mosque</a:t>
            </a:r>
            <a:endParaRPr lang="en-US" sz="125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Mustashfā = hospital.</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meaning.</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محطة</a:t>
            </a:r>
            <a:endParaRPr lang="ar-SA" sz="2200" dirty="0"/>
          </a:p>
        </p:txBody>
      </p:sp>
      <p:sp>
        <p:nvSpPr>
          <p:cNvPr id="68" name="Shape 65"/>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40080" y="4831080"/>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1" name="Text 68"/>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station</a:t>
            </a:r>
            <a:endParaRPr lang="en-US" sz="1250" dirty="0"/>
          </a:p>
        </p:txBody>
      </p:sp>
      <p:sp>
        <p:nvSpPr>
          <p:cNvPr id="72" name="Shape 69"/>
          <p:cNvSpPr/>
          <p:nvPr/>
        </p:nvSpPr>
        <p:spPr>
          <a:xfrm>
            <a:off x="640080"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bank</a:t>
            </a:r>
            <a:endParaRPr lang="en-US" sz="125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school</a:t>
            </a:r>
            <a:endParaRPr lang="en-US" sz="125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Maḥaṭṭa = station.</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Which visible final shape is an evidence clue?</a:t>
            </a:r>
            <a:endParaRPr lang="en-US" sz="95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مستشفى</a:t>
            </a:r>
            <a:endParaRPr lang="ar-SA" sz="2200" dirty="0"/>
          </a:p>
        </p:txBody>
      </p:sp>
      <p:sp>
        <p:nvSpPr>
          <p:cNvPr id="84" name="Shape 81"/>
          <p:cNvSpPr/>
          <p:nvPr/>
        </p:nvSpPr>
        <p:spPr>
          <a:xfrm>
            <a:off x="4459224" y="4831080"/>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ة</a:t>
            </a:r>
            <a:endParaRPr lang="ar-SA" sz="1700" dirty="0"/>
          </a:p>
        </p:txBody>
      </p:sp>
      <p:sp>
        <p:nvSpPr>
          <p:cNvPr id="87"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a:t>
            </a:r>
            <a:endParaRPr lang="ar-SA" sz="1700" dirty="0"/>
          </a:p>
        </p:txBody>
      </p:sp>
      <p:sp>
        <p:nvSpPr>
          <p:cNvPr id="90" name="Shape 87"/>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91" name="Shape 88"/>
          <p:cNvSpPr/>
          <p:nvPr/>
        </p:nvSpPr>
        <p:spPr>
          <a:xfrm>
            <a:off x="4459224" y="5574792"/>
            <a:ext cx="256032" cy="256032"/>
          </a:xfrm>
          <a:prstGeom prst="ellipse">
            <a:avLst/>
          </a:prstGeom>
          <a:solidFill>
            <a:srgbClr val="2E8B57"/>
          </a:solidFill>
          <a:ln w="12700">
            <a:solidFill>
              <a:srgbClr val="2E8B57"/>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ى</a:t>
            </a:r>
            <a:endParaRPr lang="ar-SA" sz="170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alif maqṣūra supports the reading mustashfā.</a:t>
            </a:r>
            <a:endParaRPr lang="en-US" sz="1050" dirty="0"/>
          </a:p>
        </p:txBody>
      </p:sp>
      <p:sp>
        <p:nvSpPr>
          <p:cNvPr id="95" name="Shape 92"/>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SCOPE</a:t>
            </a:r>
            <a:endParaRPr lang="en-US" sz="1000" dirty="0"/>
          </a:p>
        </p:txBody>
      </p:sp>
      <p:sp>
        <p:nvSpPr>
          <p:cNvPr id="97" name="Text 94"/>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Scan · Chunk · Observe</a:t>
            </a:r>
            <a:endParaRPr lang="en-US" sz="1250" dirty="0"/>
          </a:p>
          <a:p>
            <a:pPr algn="l" indent="0" marL="0">
              <a:buNone/>
            </a:pPr>
            <a:r>
              <a:rPr lang="en-US" sz="1250" dirty="0">
                <a:solidFill>
                  <a:srgbClr val="1F2A37"/>
                </a:solidFill>
                <a:latin typeface="Calibri" pitchFamily="34" charset="0"/>
                <a:cs typeface="Amiri" pitchFamily="2" charset="-78"/>
              </a:rPr>
              <a:t>Predict · Evaluate</a:t>
            </a:r>
            <a:endParaRPr lang="en-US" sz="1250" dirty="0"/>
          </a:p>
          <a:p>
            <a:pPr algn="l" indent="0" marL="0">
              <a:buNone/>
            </a:pPr>
            <a:r>
              <a:rPr lang="en-US" sz="1250" dirty="0">
                <a:solidFill>
                  <a:srgbClr val="1F2A37"/>
                </a:solidFill>
                <a:latin typeface="Calibri" pitchFamily="34" charset="0"/>
                <a:cs typeface="Amiri" pitchFamily="2" charset="-78"/>
              </a:rPr>
              <a:t>Private chat: B3: 1_ 2_ 3_ 4_ 5_</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F1-L12 · F1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READING ALOUD · 10 MARKS · FIVE TARGET WORDS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Oral · Read the passage aloud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 الجَهْرِيَّةُ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F1-L12</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هَذَا بَيْتٌ كَبِيرٌ وَفِيهِ حَدِيقَةٌ.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Level 1 (everyone): This is a big house, and it has a garden.</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هَذَا · بَيْتٌ · كَبِيرٌ · وَفِيهِ · حَدِيقَةٌ</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five scored words — 2 secure · 1 partial · 0 unable</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هذا بيت كبير وفيه حديقة جميلة. تسكن فيه أسرة صغيرة قرب المدرسة.</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Level 2 (heritage extension): … a beautiful garden. A small family lives in it near the school.</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F1-L12 · F1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MY F1 SCORE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Record all eight components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النَّتِيجَةِ إِلَى الهَدَفِ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65099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Band (total /60)</a:t>
            </a:r>
            <a:endParaRPr lang="en-US" sz="1100" dirty="0"/>
          </a:p>
        </p:txBody>
      </p:sp>
      <p:sp>
        <p:nvSpPr>
          <p:cNvPr id="17" name="Text 14"/>
          <p:cNvSpPr txBox="1"/>
          <p:nvPr/>
        </p:nvSpPr>
        <p:spPr>
          <a:xfrm>
            <a:off x="382219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score</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Component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5687568" y="2267712"/>
            <a:ext cx="59710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54–60 Excellent — secure F1 foundation</a:t>
            </a:r>
            <a:endParaRPr lang="en-US" sz="1100" dirty="0"/>
          </a:p>
        </p:txBody>
      </p:sp>
      <p:sp>
        <p:nvSpPr>
          <p:cNvPr id="21" name="Text 18"/>
          <p:cNvSpPr txBox="1"/>
          <p:nvPr/>
        </p:nvSpPr>
        <p:spPr>
          <a:xfrm>
            <a:off x="3858768"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/14 · /6</a:t>
            </a:r>
            <a:endParaRPr lang="en-US" sz="1100" dirty="0"/>
          </a:p>
        </p:txBody>
      </p:sp>
      <p:sp>
        <p:nvSpPr>
          <p:cNvPr id="22" name="Text 19"/>
          <p:cNvSpPr txBox="1"/>
          <p:nvPr/>
        </p:nvSpPr>
        <p:spPr>
          <a:xfrm>
            <a:off x="56692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A1 alphabet · A2 forms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5687568" y="3054096"/>
            <a:ext cx="59710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42–53.5 Good — ready for F2 with one practice target</a:t>
            </a:r>
            <a:endParaRPr lang="en-US" sz="1100" dirty="0"/>
          </a:p>
        </p:txBody>
      </p:sp>
      <p:sp>
        <p:nvSpPr>
          <p:cNvPr id="27" name="Text 24"/>
          <p:cNvSpPr txBox="1"/>
          <p:nvPr/>
        </p:nvSpPr>
        <p:spPr>
          <a:xfrm>
            <a:off x="3858768"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/5</a:t>
            </a:r>
            <a:endParaRPr lang="en-US" sz="1100" dirty="0"/>
          </a:p>
        </p:txBody>
      </p:sp>
      <p:sp>
        <p:nvSpPr>
          <p:cNvPr id="28" name="Text 25"/>
          <p:cNvSpPr txBox="1"/>
          <p:nvPr/>
        </p:nvSpPr>
        <p:spPr>
          <a:xfrm>
            <a:off x="56692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A3 diacritics · A4 numerals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5687568" y="3840480"/>
            <a:ext cx="59710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30–41.5 Satisfactory — targeted retrieval and early F2 support</a:t>
            </a:r>
            <a:endParaRPr lang="en-US" sz="1100" dirty="0"/>
          </a:p>
        </p:txBody>
      </p:sp>
      <p:sp>
        <p:nvSpPr>
          <p:cNvPr id="33" name="Text 30"/>
          <p:cNvSpPr txBox="1"/>
          <p:nvPr/>
        </p:nvSpPr>
        <p:spPr>
          <a:xfrm>
            <a:off x="3858768"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 · /5</a:t>
            </a:r>
            <a:endParaRPr lang="en-US" sz="1100" dirty="0"/>
          </a:p>
        </p:txBody>
      </p:sp>
      <p:sp>
        <p:nvSpPr>
          <p:cNvPr id="34" name="Text 31"/>
          <p:cNvSpPr txBox="1"/>
          <p:nvPr/>
        </p:nvSpPr>
        <p:spPr>
          <a:xfrm>
            <a:off x="56692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B1 dictation · B2 reading</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5687568" y="4626864"/>
            <a:ext cx="59710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Below 30 — catch-up before the new language load increases</a:t>
            </a:r>
            <a:endParaRPr lang="en-US" sz="1100" dirty="0"/>
          </a:p>
        </p:txBody>
      </p:sp>
      <p:sp>
        <p:nvSpPr>
          <p:cNvPr id="39" name="Text 36"/>
          <p:cNvSpPr txBox="1"/>
          <p:nvPr/>
        </p:nvSpPr>
        <p:spPr>
          <a:xfrm>
            <a:off x="3858768"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/10</a:t>
            </a:r>
            <a:endParaRPr lang="en-US" sz="1100" dirty="0"/>
          </a:p>
        </p:txBody>
      </p:sp>
      <p:sp>
        <p:nvSpPr>
          <p:cNvPr id="40" name="Text 37"/>
          <p:cNvSpPr txBox="1"/>
          <p:nvPr/>
        </p:nvSpPr>
        <p:spPr>
          <a:xfrm>
            <a:off x="56692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B3 signs · Oral</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F1-L12 · F1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recognise all 28 letters and remember the six non-connectors.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read common diacritics, long vowels and Arabic-Indic numerals.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use initial, medial and final forms.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write familiar words from dictation.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decode simple unvowelled signs and read a short vowelled passage aloud.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F1-L12 · F1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F2-L01: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F2-L01 · Greetings — meeting people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مَرْحَبًا</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hello, welcome</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السَّلَامُ عَلَيْكُمْ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peace be upon you</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وَعَلَيْكُمُ السَّلَامُ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and upon you be peace</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اِسْمِي …</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my name is …</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مَا اسْمُكَ؟</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what is your name? (to a boy)</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your F2 target: one skill, one repeated action, one check date.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مَرْحَبًا! مَا اسْمُكَ؟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Correct your A1 and B1 mistakes in green pen; practise the letters you missed five times each.</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F1 games for your lowest component; then learn the five greeting phrases.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Record yourself reading the Level 2 passage; then write the five greetings from memory.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F1-L12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750" b="1" dirty="0">
                <a:solidFill>
                  <a:srgbClr val="FFFFFF"/>
                </a:solidFill>
                <a:latin typeface="Cambria" pitchFamily="34" charset="0"/>
                <a:cs typeface="Amiri" pitchFamily="2" charset="-78"/>
              </a:rPr>
              <a:t>F2-L01 · Greetings — meeting people</a:t>
            </a:r>
            <a:endParaRPr lang="en-US" sz="2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التَّحِيَّاتُ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F1 complete — well done! Learn 5 greetings before F2.</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F1-L12 · Show What You Know: F1 Review &amp; Assessment</dc:title>
  <dc:subject>PptxGenJS Presentation</dc:subject>
  <dc:creator>Al Madina Online School · Arabic Department</dc:creator>
  <cp:lastModifiedBy>Al Madina Online School · Arabic Department</cp:lastModifiedBy>
  <cp:revision>1</cp:revision>
  <dcterms:created xsi:type="dcterms:W3CDTF">2026-10-11T06:41:20Z</dcterms:created>
  <dcterms:modified xsi:type="dcterms:W3CDTF">2026-10-11T06:41:20Z</dcterms:modified>
</cp:coreProperties>
</file>