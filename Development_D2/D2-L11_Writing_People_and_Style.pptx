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D2-L11. The website lesson “Writing — Describing People, Relationships and Style”: vocabulary, grammar rules and quiz, patterns, common mistakes, sorter, listening, reading, speaking prompts and model, writing task and model, differentiation, final check and the lesson mission. Picture match: website visual game “Writing — Describing People, Relationships and Style”.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WRITING lesson: the main You Do is the website writing task (100–120 words, three paragraphs) with a draft → improve → check cycle. Only the personality bank is shown (the rest is D2 revision on the website vocabulary tab).
• Core: paragraph 1 + 2 with the frames (6–8 sentences). Develop: three paragraphs with one “because” per quality and one contrast. Stretch: 100–120 words, a relative clause, a comparison and a full review.
• The website grammar and quiz are copies of D2-L07; the deck teaches the rule named in the website title (“Paragraphing, reference and controlled range”) — flagged for the website editor.
• Urdu bridge: فقرہ، مسودہ، نظرثانی (→ مُرَاجَعَةٌ), ربط، تحسین.
• TEACHER-WRITTEN ITEMS: on the website this lesson’s grammar, patterns, mistakes, sorter, final, mission,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writing words prepared at home. Questions 3–5 retrieve D2-L10 (stages, reference) and D2-L06 (relative clause).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Plan in three paragraphs, write, then CHECK: agreement · pronouns · connectors.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مسودہ (draft) → مُسَوَّدَةٌ; ربط → رَابِطٌ / رَوَابِطُ (connectors). CAREFUL: Urdu فقرہ is a sentence or phrase, Arabic فِقْرَةٌ is a paragraph; Urdu تحسین = praise, Arabic تَحْسِينٌ = improvement (أُحَسِّنُ النَّصَّ = I improve the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personality bank (website vocabulary (1 of 2)). Hear → Say → See → Use. Transliteration is printed for Core students (cover it for Develop/Stretch).
FLEX: teach if time allows; otherwise these are on the website vocabulary tab for homework.
FLEX refresher: the complete personality bank with m. · f. · pl. Students pick three words for their person BEFORE writing and note the right form (m. or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personality bank (website vocabulary (2 of 2)). Hear → Say → See → Use. Transliteration is printed for Core students (cover it for Develop/Stretch).
FLEX: teach if time allows; otherwise these are on the website vocabulary tab for homework.
FLEX refresher: the complete personality bank with m. · f. · pl. Students pick three words for their person BEFORE writing and note the right form (m. or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listening (the writer’s three-paragraph plan) and the website model (Salma), split into its three paragraphs.
Planning task (3 min): students write 3–4 KEY WORDS per paragraph in a three-column table before any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reading text describes exactly these upgrades: the first draft uses short sentences and repeats «هُوَ»; the improved text groups ideas in paragraphs, uses الَّذِي، وَلٰكِنَّ، بَيْنَمَا, and gives evidence after every important quality; the writer checks adjective gender and pronoun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“Plan a coherent 100–120-word text with purposeful paragraphs, accurate pronoun reference, varied structures and review.”
• Three purposeful paragraphs: Each paragraph has one job; the reader always knows where they are.
• Keep reference clear: Name the person once, then use pronouns — but do not repeat هُوَ / هِيَ in every sentence.
• Vary your structures: Join short sentences with relative clauses and connectors.
• Review before you finish: Check adjective agreement, pronoun reference and connectors.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live improvement of a weak draft on the whiteboard (the website reading text’s “first draft vs improved text”), then a spoken check of every adjective and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teacher-made improvement task built on the website reading text. After each answer, ask: “Which upgrade did it use?” (join / evidence / relative clause /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name the upgrade for each correct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sentence into the paragraph where it belongs.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sentence into the paragraph where it belongs.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2, 3 and 4.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يَسْتَمِعُ الطَّالِبُ إِلَى كَاتِبَةٍ تَشْرَحُ خُطَّتَهَا. سَتَكْتُبُ فِي الفَقْرَةِ الأُولَى عَنْ شَخْصٍ وَمَظْهَرِهِ، وَفِي الثَّانِيَةِ عَنْ شَخْصِيَّتِهِ وَالعَلَاقَةِ بِهِ، وَفِي الثَّالِثَةِ عَنْ أُسْلُوبِهِ وَمُقَارَنَتِهِ بِأُسْلُوبِهَا. بَعْدَ الكِتَابَةِ سَتُرَاجِعُ المُطَابَقَةَ وَالمَرَاجِعَ وَالرَّوَابِطَ.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كَيْفَ سَتُحَسِّنُ النَّصَّ؟ (How will you improve the text?)
B: سَأُرَاجِعُ المُطَابَقَةَ وَالمَرَاجِعَ وَالرَّوَابِطَ. (I will review agreement, references and connectors.)
Short (3 min) — students TELL a partner their plan before writing. Website model continues: A: كَيْفَ سَتُحَسِّنُ النَّصَّ؟ B: سَأُرَاجِعُ المُطَابَقَةَ وَالمَرَاجِعَ وَالرَّوَابِطَ. Most of You Do time goes to the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and improve a 100–120-word Arabic article, email or profile about a person, your relationship, their appearance and style. Use three paragraphs and complete review checks.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١ سَلْمَى الَّتِي … مُتَوَسِّطَةُ القَامَةِ … ٢ وَدُودَةٌ وَصَادِقَةٌ … لِأَنَّهَا … وَلٰكِنَّنَا ٣ أَكْثَرُ عَصْرِيَّةً مِنْ … بَيْنَمَا … فِي رَأْيِي. (The website model is one block; students mark where each paragraph starts. Spelling note: the website writes عِلَاقَتَنَا; standard is عَلَاقَتَنَا.)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(D2-L12 · Review and Unit Assessment) will spend class time USING this language, so students prepare it tonight — short, simple, easy to access (school guidance: “Simple, Short, Interesting, Relevant, Easy to access”). Assessment words for D2-L12 (review and unit assessment).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D2  ·  D2-L11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D2-L11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Writing — Describing People, Relationships and Style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الكِتَابَةُ — وَصْفُ النَّاسِ وَالعَلَاقَاتِ وَالأُسْلُوبِ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Plan, draft and improve a 100–120-word text in three paragraphs — person and appearance, personality and relationship, style and opinion — then check agreement, references and connectors.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D2-L11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D2 › D2-L11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paragraphs, one person, varied links.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Improve a draft,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D2-L12.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فِقْرَةٌ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sentence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paragraph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word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خَاتِمَةٌ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conclusion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introduction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connector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stage comes after appearance in a portrait?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opinion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 the person is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qualities with evidence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Describing your aunt, choose: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 مَلَابِسَ أَنِيقَةً.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أَرْتَدِي مَلَابِسَ أَنِيقَةً.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تَرْتَدِي مَلَابِسَ أَنِيقَةً.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friend (f.) whom I have known for five years”.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صَدِيقَتِي الَّتِي أَعْرِفُهَا مُنْذُ خَمْسِ سَنَوَاتٍ</a:t>
            </a:r>
            <a:endParaRPr lang="ar-SA" sz="18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صَدِيقَتِي الَّذِي أَعْرِفُهُ مُنْذُ خَمْسِ سَنَوَاتٍ</a:t>
            </a:r>
            <a:endParaRPr lang="ar-SA" sz="18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صَدِيقَتِي أَعْرِفُ الَّتِي</a:t>
            </a:r>
            <a:endParaRPr lang="ar-SA" sz="18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فِقْرَةٌ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sentence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paragraph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word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خَاتِمَةٌ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conclusion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introduction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connector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stage comes after appearance in a portrait?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opinion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who the person is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qualities with evidence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Describing your aunt, choose: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يَرْتَدِي مَلَابِسَ أَنِيقَةً.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أَرْتَدِي مَلَابِسَ أَنِيقَةً.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تَرْتَدِي مَلَابِسَ أَنِيقَةً.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D2-L10: keep reference.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friend (f.) whom I have known for five years”.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صَدِيقَتِي الَّتِي أَعْرِفُهَا مُنْذُ خَمْسِ سَنَوَاتٍ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صَدِيقَتِي الَّذِي أَعْرِفُهُ مُنْذُ خَمْسِ سَنَوَاتٍ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صَدِيقَتِي أَعْرِفُ الَّتِي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D2-L06: allatī.</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Plan in three paragraphs, write, then CHECK: agreement · pronouns · connectors.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الفِقْرَةُ ١: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الشَّخْصُ وَالمَظْهَرُ</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٢: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الشَّخْصِيَّةُ وَالعَلَاقَةُ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٣: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الأُسْلُوبُ وَالرَّأْيُ</a:t>
            </a:r>
            <a:endParaRPr lang="ar-SA" sz="17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Control the key D2-L11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apply the target grammar: Paragraphing, reference and controlled range.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paragraphs 1 and 2 with the frames.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check my adjectives match the person.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write three clear paragraphs.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reason for each quality and one contrast.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100–120 words with a relative clause and a comparison.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improve my own first draft.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This lesson is for writing. The personality bank is shown as a FLEX refresher; relationships and style words are on the website vocabulary tab.</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Complete personality bank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Relationships and interaction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Appearance, clothes and evaluation · 22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فِقْرَةٌ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‎فقرہ‎ </a:t>
            </a:r>
            <a:pPr indent="0" marL="0">
              <a:buNone/>
            </a:pPr>
            <a:r>
              <a:rPr lang="en-US" sz="950" b="1" dirty="0">
                <a:solidFill>
                  <a:srgbClr val="2E8B57"/>
                </a:solidFill>
                <a:latin typeface="Calibri" pitchFamily="34" charset="0"/>
                <a:ea typeface="Calibri" pitchFamily="34" charset="-122"/>
                <a:cs typeface="Calibri" pitchFamily="34" charset="-120"/>
              </a:rPr>
              <a:t> fiqra · paragraph (Urdu: sentence)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مُسَوَّدَةٌ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‎مسودہ‎ </a:t>
            </a:r>
            <a:pPr indent="0" marL="0">
              <a:buNone/>
            </a:pPr>
            <a:r>
              <a:rPr lang="en-US" sz="950" b="1" dirty="0">
                <a:solidFill>
                  <a:srgbClr val="2E8B57"/>
                </a:solidFill>
                <a:latin typeface="Calibri" pitchFamily="34" charset="0"/>
                <a:ea typeface="Calibri" pitchFamily="34" charset="-122"/>
                <a:cs typeface="Calibri" pitchFamily="34" charset="-120"/>
              </a:rPr>
              <a:t> musawwada · draft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مُرَاجَعَةٌ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‎نظرثانی‎ </a:t>
            </a:r>
            <a:pPr indent="0" marL="0">
              <a:buNone/>
            </a:pPr>
            <a:r>
              <a:rPr lang="en-US" sz="950" b="1" dirty="0">
                <a:solidFill>
                  <a:srgbClr val="2E8B57"/>
                </a:solidFill>
                <a:latin typeface="Calibri" pitchFamily="34" charset="0"/>
                <a:ea typeface="Calibri" pitchFamily="34" charset="-122"/>
                <a:cs typeface="Calibri" pitchFamily="34" charset="-120"/>
              </a:rPr>
              <a:t> nazar-e sānī · review (meaning only)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رَابِطٌ</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‎ربط‎ </a:t>
            </a:r>
            <a:pPr indent="0" marL="0">
              <a:buNone/>
            </a:pPr>
            <a:r>
              <a:rPr lang="en-US" sz="950" b="1" dirty="0">
                <a:solidFill>
                  <a:srgbClr val="2E8B57"/>
                </a:solidFill>
                <a:latin typeface="Calibri" pitchFamily="34" charset="0"/>
                <a:ea typeface="Calibri" pitchFamily="34" charset="-122"/>
                <a:cs typeface="Calibri" pitchFamily="34" charset="-120"/>
              </a:rPr>
              <a:t> rabt · connection → connector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تَحْسِينٌ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‎تحسین‎ </a:t>
            </a:r>
            <a:pPr indent="0" marL="0">
              <a:buNone/>
            </a:pPr>
            <a:r>
              <a:rPr lang="en-US" sz="950" b="1" dirty="0">
                <a:solidFill>
                  <a:srgbClr val="2E8B57"/>
                </a:solidFill>
                <a:latin typeface="Calibri" pitchFamily="34" charset="0"/>
                <a:ea typeface="Calibri" pitchFamily="34" charset="-122"/>
                <a:cs typeface="Calibri" pitchFamily="34" charset="-120"/>
              </a:rPr>
              <a:t> tahsīn · Urdu: praise · Arabic: improvement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Complete personality bank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وَدُودٌ / وَدُودَةٌ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friendly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wa-dū-dun / wa-dū-da-tun</a:t>
            </a:r>
            <a:endParaRPr lang="en-US" sz="1350" dirty="0"/>
          </a:p>
        </p:txBody>
      </p:sp>
      <p:sp>
        <p:nvSpPr>
          <p:cNvPr id="26" name="Shape 23"/>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8" name="Text 25"/>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وَدُودُونَ</a:t>
            </a:r>
            <a:endParaRPr lang="ar-SA" sz="1500" dirty="0"/>
          </a:p>
        </p:txBody>
      </p:sp>
      <p:sp>
        <p:nvSpPr>
          <p:cNvPr id="29" name="Shape 26"/>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1" name="Text 28"/>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وَدُودَةٌ</a:t>
            </a:r>
            <a:endParaRPr lang="ar-SA" sz="1500" dirty="0"/>
          </a:p>
        </p:txBody>
      </p:sp>
      <p:sp>
        <p:nvSpPr>
          <p:cNvPr id="32" name="Shape 29"/>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4" name="Text 31"/>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a:t>
            </a:r>
            <a:endParaRPr lang="ar-SA" sz="1500" dirty="0"/>
          </a:p>
        </p:txBody>
      </p:sp>
      <p:sp>
        <p:nvSpPr>
          <p:cNvPr id="35" name="Shape 3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8" name="Shape 35"/>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0" name="Shape 3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صَادِقٌ / صَادِقَةٌ</a:t>
            </a:r>
            <a:endParaRPr lang="ar-SA" sz="3000" dirty="0"/>
          </a:p>
        </p:txBody>
      </p:sp>
      <p:sp>
        <p:nvSpPr>
          <p:cNvPr id="43" name="Text 4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honest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ṣā-di-qun / ṣā-di-qa-tun</a:t>
            </a:r>
            <a:endParaRPr lang="en-US" sz="1350" dirty="0"/>
          </a:p>
        </p:txBody>
      </p:sp>
      <p:sp>
        <p:nvSpPr>
          <p:cNvPr id="44" name="Shape 41"/>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6" name="Text 43"/>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صَادِقُونَ</a:t>
            </a:r>
            <a:endParaRPr lang="ar-SA" sz="1500" dirty="0"/>
          </a:p>
        </p:txBody>
      </p:sp>
      <p:sp>
        <p:nvSpPr>
          <p:cNvPr id="47" name="Shape 44"/>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9" name="Text 46"/>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صَادِقَةٌ</a:t>
            </a:r>
            <a:endParaRPr lang="ar-SA" sz="1500" dirty="0"/>
          </a:p>
        </p:txBody>
      </p:sp>
      <p:sp>
        <p:nvSpPr>
          <p:cNvPr id="50" name="Shape 47"/>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2" name="Text 49"/>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a:t>
            </a:r>
            <a:endParaRPr lang="ar-SA" sz="1500" dirty="0"/>
          </a:p>
        </p:txBody>
      </p:sp>
      <p:sp>
        <p:nvSpPr>
          <p:cNvPr id="53" name="Shape 5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566928" y="1920240"/>
            <a:ext cx="310896" cy="310896"/>
          </a:xfrm>
          <a:prstGeom prst="ellipse">
            <a:avLst/>
          </a:prstGeom>
          <a:solidFill>
            <a:srgbClr val="F4F1EA"/>
          </a:solidFill>
          <a:ln w="12700">
            <a:solidFill>
              <a:srgbClr val="F4F1EA"/>
            </a:solidFill>
            <a:prstDash val="solid"/>
          </a:ln>
        </p:spPr>
      </p:sp>
      <p:sp>
        <p:nvSpPr>
          <p:cNvPr id="55" name="Text 5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6" name="Shape 53"/>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8" name="Shape 5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صَبُورٌ / صَبُورَةٌ</a:t>
            </a:r>
            <a:endParaRPr lang="ar-SA" sz="3000" dirty="0"/>
          </a:p>
        </p:txBody>
      </p:sp>
      <p:sp>
        <p:nvSpPr>
          <p:cNvPr id="61" name="Text 5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patient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ṣa-bū-run / ṣa-bū-ra-tun</a:t>
            </a:r>
            <a:endParaRPr lang="en-US" sz="1350" dirty="0"/>
          </a:p>
        </p:txBody>
      </p:sp>
      <p:sp>
        <p:nvSpPr>
          <p:cNvPr id="62" name="Shape 5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4" name="Text 6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صَبُورُونَ</a:t>
            </a:r>
            <a:endParaRPr lang="ar-SA" sz="1500" dirty="0"/>
          </a:p>
        </p:txBody>
      </p:sp>
      <p:sp>
        <p:nvSpPr>
          <p:cNvPr id="65" name="Shape 6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7" name="Text 6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صَبُورَةٌ</a:t>
            </a:r>
            <a:endParaRPr lang="ar-SA" sz="1500" dirty="0"/>
          </a:p>
        </p:txBody>
      </p:sp>
      <p:sp>
        <p:nvSpPr>
          <p:cNvPr id="68" name="Shape 6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0" name="Text 6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a:t>
            </a:r>
            <a:endParaRPr lang="ar-SA" sz="1500" dirty="0"/>
          </a:p>
        </p:txBody>
      </p:sp>
      <p:sp>
        <p:nvSpPr>
          <p:cNvPr id="71" name="Shape 6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8211312"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4" name="Shape 7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6" name="Shape 7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8" name="Text 7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مُتَعَاوِنٌ / مُتَعَاوِنَةٌ</a:t>
            </a:r>
            <a:endParaRPr lang="ar-SA" sz="3000" dirty="0"/>
          </a:p>
        </p:txBody>
      </p:sp>
      <p:sp>
        <p:nvSpPr>
          <p:cNvPr id="79" name="Text 7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helpful/cooperative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mu-ta-ʿā-wi-nun / mu-ta-ʿā-wi-na-tun</a:t>
            </a:r>
            <a:endParaRPr lang="en-US" sz="1350" dirty="0"/>
          </a:p>
        </p:txBody>
      </p:sp>
      <p:sp>
        <p:nvSpPr>
          <p:cNvPr id="80" name="Shape 7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2" name="Text 7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مُتَعَاوِنُونَ</a:t>
            </a:r>
            <a:endParaRPr lang="ar-SA" sz="1500" dirty="0"/>
          </a:p>
        </p:txBody>
      </p:sp>
      <p:sp>
        <p:nvSpPr>
          <p:cNvPr id="83" name="Shape 8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5" name="Text 8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مُتَعَاوِنَةٌ</a:t>
            </a:r>
            <a:endParaRPr lang="ar-SA" sz="1500" dirty="0"/>
          </a:p>
        </p:txBody>
      </p:sp>
      <p:sp>
        <p:nvSpPr>
          <p:cNvPr id="86" name="Shape 8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8" name="Text 8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a:t>
            </a:r>
            <a:endParaRPr lang="ar-SA" sz="1500" dirty="0"/>
          </a:p>
        </p:txBody>
      </p:sp>
      <p:sp>
        <p:nvSpPr>
          <p:cNvPr id="89" name="Shape 8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0" name="Shape 87"/>
          <p:cNvSpPr/>
          <p:nvPr/>
        </p:nvSpPr>
        <p:spPr>
          <a:xfrm>
            <a:off x="4389120" y="4261104"/>
            <a:ext cx="310896" cy="310896"/>
          </a:xfrm>
          <a:prstGeom prst="ellipse">
            <a:avLst/>
          </a:prstGeom>
          <a:solidFill>
            <a:srgbClr val="F4F1EA"/>
          </a:solidFill>
          <a:ln w="12700">
            <a:solidFill>
              <a:srgbClr val="F4F1EA"/>
            </a:solidFill>
            <a:prstDash val="solid"/>
          </a:ln>
        </p:spPr>
      </p:sp>
      <p:sp>
        <p:nvSpPr>
          <p:cNvPr id="91" name="Text 8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92" name="Shape 8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3" name="Text 9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مُجْتَهِدٌ / مُجْتَهِدَةٌ</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hard-working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muj-ta-hi-dun / muj-ta-hi-da-tun</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مُجْتَهِدُونَ</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مُجْتَهِدَةٌ</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08" name="Shape 10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10" name="Text 10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 / مَرِحَةٌ</a:t>
            </a:r>
            <a:endParaRPr lang="ar-SA" sz="3000" dirty="0"/>
          </a:p>
        </p:txBody>
      </p:sp>
      <p:sp>
        <p:nvSpPr>
          <p:cNvPr id="111" name="Text 10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cheerful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ma-ri-ḥun / ma-ri-ḥa-tun</a:t>
            </a:r>
            <a:endParaRPr lang="en-US" sz="1350" dirty="0"/>
          </a:p>
        </p:txBody>
      </p:sp>
      <p:sp>
        <p:nvSpPr>
          <p:cNvPr id="112" name="Shape 109"/>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14" name="Text 111"/>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مَرِحُونَ</a:t>
            </a:r>
            <a:endParaRPr lang="ar-SA" sz="1500" dirty="0"/>
          </a:p>
        </p:txBody>
      </p:sp>
      <p:sp>
        <p:nvSpPr>
          <p:cNvPr id="115" name="Shape 112"/>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6" name="Text 113"/>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7" name="Text 114"/>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مَرِحَةٌ</a:t>
            </a:r>
            <a:endParaRPr lang="ar-SA" sz="1500" dirty="0"/>
          </a:p>
        </p:txBody>
      </p:sp>
      <p:sp>
        <p:nvSpPr>
          <p:cNvPr id="118" name="Shape 115"/>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9" name="Text 116"/>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20" name="Text 117"/>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a:t>
            </a:r>
            <a:endParaRPr lang="ar-SA" sz="150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Complete personality bank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هَادِئٌ / هَادِئَةٌ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hā-di-ʾun / hā-di-ʾa-tun</a:t>
            </a:r>
            <a:endParaRPr lang="en-US" sz="1350" dirty="0"/>
          </a:p>
        </p:txBody>
      </p:sp>
      <p:sp>
        <p:nvSpPr>
          <p:cNvPr id="26" name="Shape 23"/>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8" name="Text 25"/>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هَادِئُونَ</a:t>
            </a:r>
            <a:endParaRPr lang="ar-SA" sz="1500" dirty="0"/>
          </a:p>
        </p:txBody>
      </p:sp>
      <p:sp>
        <p:nvSpPr>
          <p:cNvPr id="29" name="Shape 26"/>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1" name="Text 28"/>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هَادِئَةٌ</a:t>
            </a:r>
            <a:endParaRPr lang="ar-SA" sz="1500" dirty="0"/>
          </a:p>
        </p:txBody>
      </p:sp>
      <p:sp>
        <p:nvSpPr>
          <p:cNvPr id="32" name="Shape 29"/>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4" name="Text 31"/>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a:t>
            </a:r>
            <a:endParaRPr lang="ar-SA" sz="1500" dirty="0"/>
          </a:p>
        </p:txBody>
      </p:sp>
      <p:sp>
        <p:nvSpPr>
          <p:cNvPr id="35" name="Shape 3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8" name="Shape 35"/>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خَجُولٌ / خَجُولَةٌ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kha-jū-lun / kha-jū-la-tun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وَاثِقٌ / وَاثِقَةٌ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confident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wā-thi-qun / wā-thi-qa-tun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كَرِيمٌ / كَرِيمَةٌ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generous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ka-rī-mun / ka-rī-ma-tun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كُرَمَاءُ</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كَرِيمَةٌ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كَرِيمٌ</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أَنَانِيٌّ / أَنَانِيَّةٌ</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selfish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a-nā-niy-yun / a-nā-niy-ya-tun</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4" name="Text 9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أَنَانِيُّونَ</a:t>
            </a:r>
            <a:endParaRPr lang="ar-SA" sz="150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أَنَانِيَّةٌ</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أَنَانِيٌّ</a:t>
            </a:r>
            <a:endParaRPr lang="ar-SA" sz="1500" dirty="0"/>
          </a:p>
        </p:txBody>
      </p:sp>
      <p:sp>
        <p:nvSpPr>
          <p:cNvPr id="101" name="Shape 9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2" name="Shape 99"/>
          <p:cNvSpPr/>
          <p:nvPr/>
        </p:nvSpPr>
        <p:spPr>
          <a:xfrm>
            <a:off x="566928" y="4261104"/>
            <a:ext cx="310896" cy="310896"/>
          </a:xfrm>
          <a:prstGeom prst="ellipse">
            <a:avLst/>
          </a:prstGeom>
          <a:solidFill>
            <a:srgbClr val="F4F1EA"/>
          </a:solidFill>
          <a:ln w="12700">
            <a:solidFill>
              <a:srgbClr val="F4F1EA"/>
            </a:solidFill>
            <a:prstDash val="solid"/>
          </a:ln>
        </p:spPr>
      </p:sp>
      <p:sp>
        <p:nvSpPr>
          <p:cNvPr id="103" name="Text 10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04" name="Shape 101"/>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5" name="Text 102"/>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عَصَبِيٌّ / عَصَبِيَّةٌ</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nervous/irritable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ʿa-ṣa-biy-yun / ʿa-ṣa-biy-ya-tun</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عَصَبِيُّونَ</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عَصَبِيَّةٌ</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عَصَبِيٌّ</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ea typeface="Calibri" pitchFamily="34" charset="-122"/>
                <a:cs typeface="Calibri" pitchFamily="34" charset="-120"/>
              </a:rPr>
              <a:t>GRAMMAR FOCUS · PART 1 · PLAN IN THREE PARAGRAPHS (WEBSITE LISTENING + MODEL)</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job per paragraph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ثَلَاثُ فِقْرَاتٍ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الشَّخْصُ وَالمَظْهَرُ</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1 · person + appearance</a:t>
            </a:r>
            <a:endParaRPr lang="en-US" sz="900" dirty="0"/>
          </a:p>
        </p:txBody>
      </p:sp>
      <p:sp>
        <p:nvSpPr>
          <p:cNvPr id="19" name="Shape 16"/>
          <p:cNvSpPr/>
          <p:nvPr/>
        </p:nvSpPr>
        <p:spPr>
          <a:xfrm>
            <a:off x="6336792" y="1810512"/>
            <a:ext cx="2642616" cy="566928"/>
          </a:xfrm>
          <a:prstGeom prst="roundRect">
            <a:avLst>
              <a:gd name="adj" fmla="val 9677"/>
            </a:avLst>
          </a:prstGeom>
          <a:solidFill>
            <a:srgbClr val="1E7B4F"/>
          </a:solidFill>
          <a:ln w="12700">
            <a:solidFill>
              <a:srgbClr val="1E7B4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الشَّخْصِيَّةُ وَالعَلَاقَةُ</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2 · personality + relationship</a:t>
            </a:r>
            <a:endParaRPr lang="en-US" sz="900" dirty="0"/>
          </a:p>
        </p:txBody>
      </p:sp>
      <p:sp>
        <p:nvSpPr>
          <p:cNvPr id="22" name="Shape 19"/>
          <p:cNvSpPr/>
          <p:nvPr/>
        </p:nvSpPr>
        <p:spPr>
          <a:xfrm>
            <a:off x="3584448" y="1810512"/>
            <a:ext cx="2642616" cy="566928"/>
          </a:xfrm>
          <a:prstGeom prst="roundRect">
            <a:avLst>
              <a:gd name="adj" fmla="val 9677"/>
            </a:avLst>
          </a:prstGeom>
          <a:solidFill>
            <a:srgbClr val="6B4C9A"/>
          </a:solidFill>
          <a:ln w="12700">
            <a:solidFill>
              <a:srgbClr val="6B4C9A"/>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الأُسْلُوبُ وَالرَّأْيُ</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3 · style + opinion</a:t>
            </a:r>
            <a:endParaRPr lang="en-US" sz="900" dirty="0"/>
          </a:p>
        </p:txBody>
      </p:sp>
      <p:sp>
        <p:nvSpPr>
          <p:cNvPr id="25" name="Text 22"/>
          <p:cNvSpPr txBox="1"/>
          <p:nvPr/>
        </p:nvSpPr>
        <p:spPr>
          <a:xfrm>
            <a:off x="457200" y="2487168"/>
            <a:ext cx="2926080" cy="822960"/>
          </a:xfrm>
          <a:prstGeom prst="rect">
            <a:avLst/>
          </a:prstGeom>
          <a:noFill/>
          <a:ln/>
        </p:spPr>
        <p:txBody>
          <a:bodyPr wrap="square" lIns="0" tIns="0" rIns="0" bIns="0" rtlCol="0" anchor="ctr"/>
          <a:lstStyle/>
          <a:p>
            <a:pPr algn="l" indent="0" marL="0">
              <a:buNone/>
            </a:pPr>
            <a:r>
              <a:rPr lang="en-US" sz="950" dirty="0">
                <a:solidFill>
                  <a:srgbClr val="1F2A37"/>
                </a:solidFill>
                <a:latin typeface="Calibri" pitchFamily="34" charset="0"/>
                <a:ea typeface="Calibri" pitchFamily="34" charset="-122"/>
                <a:cs typeface="Calibri" pitchFamily="34" charset="-120"/>
              </a:rPr>
              <a:t>Salma, whom I have known for five years, is of medium height with short curly hair. / She is friendly and honest; I trust her because she listens to me. / Her style is more modern than mine; in my opinion her best quality is her honesty.</a:t>
            </a:r>
            <a:endParaRPr lang="en-US" sz="950" dirty="0"/>
          </a:p>
        </p:txBody>
      </p:sp>
      <p:sp>
        <p:nvSpPr>
          <p:cNvPr id="26" name="Shape 23"/>
          <p:cNvSpPr/>
          <p:nvPr/>
        </p:nvSpPr>
        <p:spPr>
          <a:xfrm>
            <a:off x="9089136" y="2487168"/>
            <a:ext cx="2642616" cy="822960"/>
          </a:xfrm>
          <a:prstGeom prst="roundRect">
            <a:avLst>
              <a:gd name="adj" fmla="val 6667"/>
            </a:avLst>
          </a:prstGeom>
          <a:solidFill>
            <a:srgbClr val="EEF3FA"/>
          </a:solidFill>
          <a:ln w="9525">
            <a:solidFill>
              <a:srgbClr val="EEF3FA"/>
            </a:solidFill>
            <a:prstDash val="solid"/>
          </a:ln>
        </p:spPr>
      </p:sp>
      <p:sp>
        <p:nvSpPr>
          <p:cNvPr id="27" name="Text 24"/>
          <p:cNvSpPr txBox="1"/>
          <p:nvPr/>
        </p:nvSpPr>
        <p:spPr>
          <a:xfrm>
            <a:off x="9162288" y="2487168"/>
            <a:ext cx="2496312" cy="82296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صَدِيقَتِي سَلْمَى </a:t>
            </a:r>
            <a:pPr rtl="1" algn="ct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الَّتِي</a:t>
            </a:r>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أَعْرِفُهَا مُنْذُ خَمْسِ سَنَوَاتٍ مُتَوَسِّطَةُ القَامَةِ، وَلَهَا شَعْرٌ قَصِيرٌ.</a:t>
            </a:r>
            <a:endParaRPr lang="ar-SA" sz="1400" dirty="0"/>
          </a:p>
        </p:txBody>
      </p:sp>
      <p:sp>
        <p:nvSpPr>
          <p:cNvPr id="28" name="Shape 25"/>
          <p:cNvSpPr/>
          <p:nvPr/>
        </p:nvSpPr>
        <p:spPr>
          <a:xfrm>
            <a:off x="6336792" y="2487168"/>
            <a:ext cx="2642616" cy="822960"/>
          </a:xfrm>
          <a:prstGeom prst="roundRect">
            <a:avLst>
              <a:gd name="adj" fmla="val 6667"/>
            </a:avLst>
          </a:prstGeom>
          <a:solidFill>
            <a:srgbClr val="E8F4EC"/>
          </a:solidFill>
          <a:ln w="9525">
            <a:solidFill>
              <a:srgbClr val="E8F4EC"/>
            </a:solidFill>
            <a:prstDash val="solid"/>
          </a:ln>
        </p:spPr>
      </p:sp>
      <p:sp>
        <p:nvSpPr>
          <p:cNvPr id="29" name="Text 26"/>
          <p:cNvSpPr txBox="1"/>
          <p:nvPr/>
        </p:nvSpPr>
        <p:spPr>
          <a:xfrm>
            <a:off x="6409944" y="2487168"/>
            <a:ext cx="2496312"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هِيَ وَدُودَةٌ وَصَادِقَةٌ، وَأَثِقُ بِهَا </a:t>
            </a:r>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لِأَنَّهَا</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تَسْتَمِعُ إِلَيَّ.</a:t>
            </a:r>
            <a:endParaRPr lang="ar-SA" sz="1550" dirty="0"/>
          </a:p>
        </p:txBody>
      </p:sp>
      <p:sp>
        <p:nvSpPr>
          <p:cNvPr id="30" name="Shape 27"/>
          <p:cNvSpPr/>
          <p:nvPr/>
        </p:nvSpPr>
        <p:spPr>
          <a:xfrm>
            <a:off x="3584448" y="2487168"/>
            <a:ext cx="2642616" cy="822960"/>
          </a:xfrm>
          <a:prstGeom prst="roundRect">
            <a:avLst>
              <a:gd name="adj" fmla="val 6667"/>
            </a:avLst>
          </a:prstGeom>
          <a:solidFill>
            <a:srgbClr val="F1ECF7"/>
          </a:solidFill>
          <a:ln w="9525">
            <a:solidFill>
              <a:srgbClr val="F1ECF7"/>
            </a:solidFill>
            <a:prstDash val="solid"/>
          </a:ln>
        </p:spPr>
      </p:sp>
      <p:sp>
        <p:nvSpPr>
          <p:cNvPr id="31" name="Text 28"/>
          <p:cNvSpPr txBox="1"/>
          <p:nvPr/>
        </p:nvSpPr>
        <p:spPr>
          <a:xfrm>
            <a:off x="3657600" y="2487168"/>
            <a:ext cx="2496312"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أُسْلُوبُهَا </a:t>
            </a:r>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أَكْثَرُ</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عَصْرِيَّةً </a:t>
            </a:r>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مِنْ</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أُسْلُوبِي. فِي رَأْيِي، أَفْضَلُ صِفَةٍ فِيهَا صِدْقُهَا.</a:t>
            </a:r>
            <a:endParaRPr lang="ar-SA" sz="1550" dirty="0"/>
          </a:p>
        </p:txBody>
      </p:sp>
      <p:sp>
        <p:nvSpPr>
          <p:cNvPr id="32" name="Text 29"/>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Core: paragraphs 1–2 (6–8 sentences). Develop / Stretch: all three, 100–120 words.</a:t>
            </a:r>
            <a:endParaRPr lang="en-US" sz="12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ea typeface="Calibri" pitchFamily="34" charset="-122"/>
                <a:cs typeface="Calibri" pitchFamily="34" charset="-120"/>
              </a:rPr>
              <a:t>GRAMMAR FOCUS · PART 2 · FROM FIRST DRAFT TO IMPROVED TEXT (WEBSITE READING TEXT)</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Improve the draft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المُسَوَّدَةِ إِلَى النَّصِّ المُحَسَّنِ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First draft</a:t>
            </a:r>
            <a:endParaRPr lang="en-US" sz="1100" dirty="0"/>
          </a:p>
        </p:txBody>
      </p:sp>
      <p:sp>
        <p:nvSpPr>
          <p:cNvPr id="17" name="Text 14"/>
          <p:cNvSpPr txBox="1"/>
          <p:nvPr/>
        </p:nvSpPr>
        <p:spPr>
          <a:xfrm>
            <a:off x="284378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Improved</a:t>
            </a:r>
            <a:endParaRPr lang="en-US" sz="1100" dirty="0"/>
          </a:p>
        </p:txBody>
      </p:sp>
      <p:sp>
        <p:nvSpPr>
          <p:cNvPr id="18" name="Text 15"/>
          <p:cNvSpPr txBox="1"/>
          <p:nvPr/>
        </p:nvSpPr>
        <p:spPr>
          <a:xfrm>
            <a:off x="53035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Upgrade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16952" y="2267712"/>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لِي صَدِيقَةٌ. هِيَ سَلْمَى. هِيَ وَدُودَةٌ.</a:t>
            </a:r>
            <a:endParaRPr lang="ar-SA" sz="2200" dirty="0"/>
          </a:p>
        </p:txBody>
      </p:sp>
      <p:sp>
        <p:nvSpPr>
          <p:cNvPr id="21" name="Text 18"/>
          <p:cNvSpPr txBox="1"/>
          <p:nvPr/>
        </p:nvSpPr>
        <p:spPr>
          <a:xfrm>
            <a:off x="2862072" y="2267712"/>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لِي صَدِيقَةٌ اسْمُهَا سَلْمَى،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هِيَ وَدُودَةٌ.</a:t>
            </a:r>
            <a:endParaRPr lang="ar-SA" sz="2200" dirty="0"/>
          </a:p>
        </p:txBody>
      </p:sp>
      <p:sp>
        <p:nvSpPr>
          <p:cNvPr id="22" name="Text 19"/>
          <p:cNvSpPr txBox="1"/>
          <p:nvPr/>
        </p:nvSpPr>
        <p:spPr>
          <a:xfrm>
            <a:off x="56692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join sentences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16952" y="300471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صَادِقَةٌ.</a:t>
            </a:r>
            <a:endParaRPr lang="ar-SA" sz="2200" dirty="0"/>
          </a:p>
        </p:txBody>
      </p:sp>
      <p:sp>
        <p:nvSpPr>
          <p:cNvPr id="27" name="Text 24"/>
          <p:cNvSpPr txBox="1"/>
          <p:nvPr/>
        </p:nvSpPr>
        <p:spPr>
          <a:xfrm>
            <a:off x="2862072" y="300471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صَادِقَةٌ </a:t>
            </a:r>
            <a:pPr rtl="1" algn="ctr" indent="0" marL="0">
              <a:buNone/>
            </a:pPr>
            <a:r>
              <a:rPr lang="ar-SA" altLang="en-US" sz="2200" b="1" dirty="0">
                <a:solidFill>
                  <a:srgbClr val="0E7C86"/>
                </a:solidFill>
                <a:latin typeface="Amiri" pitchFamily="34" charset="0"/>
                <a:ea typeface="Amiri" pitchFamily="34" charset="-122"/>
                <a:cs typeface="Amiri" pitchFamily="34" charset="-120"/>
              </a:rPr>
              <a:t>لِأَنَّهَا</a:t>
            </a:r>
            <a:pPr rtl="1" algn="ctr" indent="0" marL="0">
              <a:buNone/>
            </a:pPr>
            <a:r>
              <a:rPr lang="ar-SA" altLang="en-US" sz="2200" b="1" dirty="0">
                <a:solidFill>
                  <a:srgbClr val="1B3B6F"/>
                </a:solidFill>
                <a:latin typeface="Amiri" pitchFamily="34" charset="0"/>
                <a:ea typeface="Amiri" pitchFamily="34" charset="-122"/>
                <a:cs typeface="Amiri" pitchFamily="34" charset="-120"/>
              </a:rPr>
              <a:t> تَقُولُ الحَقَّ.</a:t>
            </a:r>
            <a:endParaRPr lang="ar-SA" sz="2200" dirty="0"/>
          </a:p>
        </p:txBody>
      </p:sp>
      <p:sp>
        <p:nvSpPr>
          <p:cNvPr id="28" name="Text 25"/>
          <p:cNvSpPr txBox="1"/>
          <p:nvPr/>
        </p:nvSpPr>
        <p:spPr>
          <a:xfrm>
            <a:off x="56692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 evidence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16952" y="3741725"/>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أَعْرِفُهَا. أَعْرِفُهَا مُنْذُ سَنَوَاتٍ.</a:t>
            </a:r>
            <a:endParaRPr lang="ar-SA" sz="2200" dirty="0"/>
          </a:p>
        </p:txBody>
      </p:sp>
      <p:sp>
        <p:nvSpPr>
          <p:cNvPr id="33" name="Text 30"/>
          <p:cNvSpPr txBox="1"/>
          <p:nvPr/>
        </p:nvSpPr>
        <p:spPr>
          <a:xfrm>
            <a:off x="2862072" y="3741725"/>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صَدِيقَتِي </a:t>
            </a:r>
            <a:pPr rtl="1" algn="ctr" indent="0" marL="0">
              <a:buNone/>
            </a:pPr>
            <a:r>
              <a:rPr lang="ar-SA" altLang="en-US" sz="2200" b="1" dirty="0">
                <a:solidFill>
                  <a:srgbClr val="0E7C86"/>
                </a:solidFill>
                <a:latin typeface="Amiri" pitchFamily="34" charset="0"/>
                <a:ea typeface="Amiri" pitchFamily="34" charset="-122"/>
                <a:cs typeface="Amiri" pitchFamily="34" charset="-120"/>
              </a:rPr>
              <a:t>الَّتِي</a:t>
            </a:r>
            <a:pPr rtl="1" algn="ctr" indent="0" marL="0">
              <a:buNone/>
            </a:pPr>
            <a:r>
              <a:rPr lang="ar-SA" altLang="en-US" sz="2200" b="1" dirty="0">
                <a:solidFill>
                  <a:srgbClr val="1B3B6F"/>
                </a:solidFill>
                <a:latin typeface="Amiri" pitchFamily="34" charset="0"/>
                <a:ea typeface="Amiri" pitchFamily="34" charset="-122"/>
                <a:cs typeface="Amiri" pitchFamily="34" charset="-120"/>
              </a:rPr>
              <a:t> أَعْرِفُهَا مُنْذُ سَنَوَاتٍ …</a:t>
            </a:r>
            <a:endParaRPr lang="ar-SA" sz="2200" dirty="0"/>
          </a:p>
        </p:txBody>
      </p:sp>
      <p:sp>
        <p:nvSpPr>
          <p:cNvPr id="34" name="Text 31"/>
          <p:cNvSpPr txBox="1"/>
          <p:nvPr/>
        </p:nvSpPr>
        <p:spPr>
          <a:xfrm>
            <a:off x="56692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relative clause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616952" y="4478731"/>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نَتَفَاهَمُ. نَخْتَلِفُ أَحْيَانًا.</a:t>
            </a:r>
            <a:endParaRPr lang="ar-SA" sz="2200" dirty="0"/>
          </a:p>
        </p:txBody>
      </p:sp>
      <p:sp>
        <p:nvSpPr>
          <p:cNvPr id="37" name="Text 34"/>
          <p:cNvSpPr txBox="1"/>
          <p:nvPr/>
        </p:nvSpPr>
        <p:spPr>
          <a:xfrm>
            <a:off x="2862072" y="4478731"/>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نَتَفَاهَمُ، </a:t>
            </a:r>
            <a:pPr rtl="1" algn="ctr" indent="0" marL="0">
              <a:buNone/>
            </a:pPr>
            <a:r>
              <a:rPr lang="ar-SA" altLang="en-US" sz="2200" b="1" dirty="0">
                <a:solidFill>
                  <a:srgbClr val="0E7C86"/>
                </a:solidFill>
                <a:latin typeface="Amiri" pitchFamily="34" charset="0"/>
                <a:ea typeface="Amiri" pitchFamily="34" charset="-122"/>
                <a:cs typeface="Amiri" pitchFamily="34" charset="-120"/>
              </a:rPr>
              <a:t>وَلٰكِنَّنَا</a:t>
            </a:r>
            <a:pPr rtl="1" algn="ctr" indent="0" marL="0">
              <a:buNone/>
            </a:pPr>
            <a:r>
              <a:rPr lang="ar-SA" altLang="en-US" sz="2200" b="1" dirty="0">
                <a:solidFill>
                  <a:srgbClr val="1B3B6F"/>
                </a:solidFill>
                <a:latin typeface="Amiri" pitchFamily="34" charset="0"/>
                <a:ea typeface="Amiri" pitchFamily="34" charset="-122"/>
                <a:cs typeface="Amiri" pitchFamily="34" charset="-120"/>
              </a:rPr>
              <a:t> نَخْتَلِفُ أَحْيَانًا.</a:t>
            </a:r>
            <a:endParaRPr lang="ar-SA" sz="2200" dirty="0"/>
          </a:p>
        </p:txBody>
      </p:sp>
      <p:sp>
        <p:nvSpPr>
          <p:cNvPr id="38" name="Text 35"/>
          <p:cNvSpPr txBox="1"/>
          <p:nvPr/>
        </p:nvSpPr>
        <p:spPr>
          <a:xfrm>
            <a:off x="56692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contrast</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616952" y="521573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أُسْلُوبُهَا عَصْرِيٌّ. أُسْلُوبِي عَمَلِيٌّ.</a:t>
            </a:r>
            <a:endParaRPr lang="ar-SA" sz="2200" dirty="0"/>
          </a:p>
        </p:txBody>
      </p:sp>
      <p:sp>
        <p:nvSpPr>
          <p:cNvPr id="41" name="Text 38"/>
          <p:cNvSpPr txBox="1"/>
          <p:nvPr/>
        </p:nvSpPr>
        <p:spPr>
          <a:xfrm>
            <a:off x="2862072" y="521573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أُسْلُوبُهَا عَصْرِيٌّ، </a:t>
            </a:r>
            <a:pPr rtl="1" algn="ctr" indent="0" marL="0">
              <a:buNone/>
            </a:pPr>
            <a:r>
              <a:rPr lang="ar-SA" altLang="en-US" sz="2200" b="1" dirty="0">
                <a:solidFill>
                  <a:srgbClr val="0E7C86"/>
                </a:solidFill>
                <a:latin typeface="Amiri" pitchFamily="34" charset="0"/>
                <a:ea typeface="Amiri" pitchFamily="34" charset="-122"/>
                <a:cs typeface="Amiri" pitchFamily="34" charset="-120"/>
              </a:rPr>
              <a:t>بَيْنَمَا</a:t>
            </a:r>
            <a:pPr rtl="1" algn="ctr" indent="0" marL="0">
              <a:buNone/>
            </a:pPr>
            <a:r>
              <a:rPr lang="ar-SA" altLang="en-US" sz="2200" b="1" dirty="0">
                <a:solidFill>
                  <a:srgbClr val="1B3B6F"/>
                </a:solidFill>
                <a:latin typeface="Amiri" pitchFamily="34" charset="0"/>
                <a:ea typeface="Amiri" pitchFamily="34" charset="-122"/>
                <a:cs typeface="Amiri" pitchFamily="34" charset="-120"/>
              </a:rPr>
              <a:t> أُفَضِّلُ المَلَابِسَ العَمَلِيَّةَ.</a:t>
            </a:r>
            <a:endParaRPr lang="ar-SA" sz="2200" dirty="0"/>
          </a:p>
        </p:txBody>
      </p:sp>
      <p:sp>
        <p:nvSpPr>
          <p:cNvPr id="42" name="Text 39"/>
          <p:cNvSpPr txBox="1"/>
          <p:nvPr/>
        </p:nvSpPr>
        <p:spPr>
          <a:xfrm>
            <a:off x="56692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whereas</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Then check: agreement (m. / f.) · every pronoun · every connector.</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Paragraphing, reference and controlled range</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الفَقَرَاتُ وَالمَرْجِعُ وَتَنَوُّعُ اللُّغَةِ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Three purposeful paragraphs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250" dirty="0">
                <a:solidFill>
                  <a:srgbClr val="5A6472"/>
                </a:solidFill>
                <a:latin typeface="Amiri" pitchFamily="34" charset="0"/>
                <a:ea typeface="Amiri" pitchFamily="34" charset="-122"/>
                <a:cs typeface="Amiri" pitchFamily="34" charset="-120"/>
              </a:rPr>
              <a:t>١ الشَّخْصُ وَالمَظْهَرُ · ٢ الشَّخْصِيَّةُ وَالعَلَاقَةُ · ٣ الأُسْلُوبُ وَالرَّأْيُ</a:t>
            </a:r>
            <a:endParaRPr lang="ar-SA" sz="12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سَأَكْتُبُ عَنْ صَدِيقَتِي سَلْمَى …</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Keep reference clear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الاِسْمُ مَرَّةً ← ثُمَّ هِيَ / تَـ / ـهَا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سَلْمَى وَدُودَةٌ، وَأَثِقُ بِهَا لِأَنَّهَا تَسْتَمِعُ إِلَيَّ.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Vary your structures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الَّذِي / الَّتِي · وَلٰكِنَّ · بَيْنَمَا · أَكْثَرُ …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صَدِيقَتِي الَّتِي أَعْرِفُهَا مُنْذُ خَمْسِ سَنَوَاتٍ …   ·   أُسْلُوبُهَا أَكْثَرُ عَصْرِيَّةً مِنْ أُسْلُوبِي.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Review before you finish</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المُطَابَقَةُ · المَرَاجِعُ · الرَّوَابِطُ</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هِيَ صَادِقٌ ← هِيَ صَادِقَةٌ   ·   لِأَنَّهُ تُسَاعِدُ ← لِأَنَّهَا تُسَاعِدُ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goes in paragraph 2?</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appearance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opinion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personality and relationship</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joins two short sentences best?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 صَدِيقٌ يُحِبُّ الرِّيَاضَةَ، وَهُوَ الَّذِي يُسَاعِدُنِي دَائِمًا.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 صَدِيقٌ. هُوَ يُحِبُّ الرِّيَاضَةَ. هُوَ يُسَاعِدُنِي.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صَدِيقٌ رِيَاضَةٌ يُسَاعِدُ.</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Correct:</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سَلْمَى صَادِقٌ.</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سَلْمَى صَادِقُونَ.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سَلْمَى صَادِقَةٌ.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سَلْمَى صَادِقًا.</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Correct:</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كَرِيمَةٌ لِأَنَّهُ يُسَاعِدُ.</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كَرِيمَةٌ لِأَنَّهَا تُسَاعِدُ.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كَرِيمَةٌ لِأَنَّهَا تُسَاعِدُ.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كَرِيمٌ لِأَنَّهُ يُسَاعِدُ.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goes in paragraph 2?</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appearance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opinion only</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personality and relationship</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Paragraph 2 = personality + relationship.</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joins two short sentences best?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لِي صَدِيقٌ يُحِبُّ الرِّيَاضَةَ، وَهُوَ الَّذِي يُسَاعِدُنِي دَائِمًا.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 صَدِيقٌ. هُوَ يُحِبُّ الرِّيَاضَةَ. هُوَ يُسَاعِدُنِي.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صَدِيقٌ رِيَاضَةٌ يُسَاعِدُ.</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Connectors + relative clause.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Correct:</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سَلْمَى صَادِقٌ.</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سَلْمَى صَادِقُونَ.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سَلْمَى صَادِقَةٌ.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سَلْمَى صَادِقًا.</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agreement.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Correct:</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كَرِيمَةٌ لِأَنَّهُ يُسَاعِدُ.</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كَرِيمَةٌ لِأَنَّهَا تُسَاعِدُ.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كَرِيمَةٌ لِأَنَّهَا تُسَاعِدُ.</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كَرِيمٌ لِأَنَّهُ يُسَاعِدُ.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Reference must stay feminine.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improve a paragraph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Draft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لِي صَدِيقٌ. هُوَ أَحْمَدُ. هُوَ صَبُورٌ. هُوَ طَوِيلٌ.</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Short, repetitive.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Join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لِي صَدِيقٌ اسْمُهُ أَحْمَدُ،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وَ</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هُوَ طَوِيلُ القَامَةِ.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Connector.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Evidence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هُوَ صَبُورٌ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لِأَنَّهُ</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يَسْتَمِعُ إِلَى الجَمِيعِ.</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Proof.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Check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صَبُورٌ ✓ لِأَنَّهُ ✓ يَسْتَمِعُ ✓</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Agreement + reference.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UPGRADE</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لِي صَدِيقٌ اسْمُهُ أَحْمَدُ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الَّذِي</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أَعْرِفُهُ مُنْذُ المَدْرَسَةِ الاِبْتِدَائِيَّةِ،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وَ</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هُوَ طَوِيلُ القَامَةِ وَلَهُ شَعْرٌ مُجَعَّدٌ. هُوَ صَبُورٌ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لِأَنَّهُ</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يَسْتَمِعُ إِلَى الجَمِيعِ،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وَلٰكِنَّهُ</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خَجُولٌ نَوْعًا مَا فِي الصَّفِّ.</a:t>
            </a:r>
            <a:endParaRPr lang="ar-SA" sz="15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have a friend called Ahmad, whom I have known since primary school, and he is tall with curly hair. He is patient because he listens to everyone, but he is somewhat shy in class.</a:t>
            </a:r>
            <a:endParaRPr lang="en-US" sz="11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سَأَكْتُبُ عَنْ صَدِيقَتِي سَلْمَى الَّتِي أَعْرِفُهَا مُنْذُ خَمْسِ سَنَوَاتٍ.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write about my friend Salma, whom I have known for five years.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Paragraph 1 opener + relative clause.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أَثِقُ بِهَا لِأَنَّهَا تَسْتَمِعُ إِلَيَّ وَتَقُولُ الحَقَّ.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trust her because she listens to me and tells the truth.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Paragraph 2: quality + evidence.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نَتَفَاهَمُ جَيِّدًا، وَلٰكِنَّنَا نَخْتَلِفُ أَحْيَانًا.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get on well, but we sometimes disagree.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Paragraph 2: relationship + contrast.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أُسْلُوبُهَا أَكْثَرُ عَصْرِيَّةً مِنْ أُسْلُوبِي.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Her style is more modern than mine.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Paragraph 3: comparison.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CHOOSE THE IMPROVED VERSION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version is better written?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 نَصٍّ أَفْضَلُ؟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better?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لِي أُخْتٌ اسْمُهَا لَيْلَى، وَهِيَ هَادِئَةٌ وَمُجْتَهِدَةٌ.</a:t>
            </a:r>
            <a:endParaRPr lang="ar-SA" sz="15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لِي أُخْتٌ. هِيَ لَيْلَى. هِيَ هَادِئَةٌ. هِيَ مُجْتَهِدَةٌ.</a:t>
            </a:r>
            <a:endParaRPr lang="ar-SA" sz="15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لَيْلَى هَادِئٌ وَمُجْتَهِدٌ.</a:t>
            </a:r>
            <a:endParaRPr lang="ar-SA" sz="15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evidence?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هِيَ مُجْتَهِدَةٌ جِدًّا جِدًّا.</a:t>
            </a:r>
            <a:endParaRPr lang="ar-SA" sz="16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هِيَ مُجْتَهِدَةٌ لِأَنَّهَا تُرَاجِعُ دُرُوسَهَا كُلَّ يَوْمٍ.</a:t>
            </a:r>
            <a:endParaRPr lang="ar-SA" sz="16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هِيَ مُجْتَهِدَةٌ لِأَنَّ.</a:t>
            </a:r>
            <a:endParaRPr lang="ar-SA" sz="160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 relative clause correctly?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أَخِي الَّذِي يَسْكُنُ فِي لَنْدَنَ طَوِيلُ القَامَةِ.</a:t>
            </a:r>
            <a:endParaRPr lang="ar-SA" sz="17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أَخِي الَّتِي تَسْكُنُ فِي لَنْدَنَ طَوِيلُ القَامَةِ.</a:t>
            </a:r>
            <a:endParaRPr lang="ar-SA" sz="17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أَخِي يَسْكُنُ الَّذِي لَنْدَنَ.</a:t>
            </a:r>
            <a:endParaRPr lang="ar-SA" sz="170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paragraph-3 sentence is best?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هُوَ رَسْمِيٌّ.</a:t>
            </a:r>
            <a:endParaRPr lang="ar-SA" sz="1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لَهُ شَعْرٌ قَصِيرٌ.</a:t>
            </a:r>
            <a:endParaRPr lang="ar-SA" sz="1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أُسْلُوبُهُ أَكْثَرُ رَسْمِيَّةً مِنْ أُسْلُوبِي، وَفِي رَأْيِي أَفْضَلُ صِفَةٍ فِيهِ صَبْرُهُ.</a:t>
            </a:r>
            <a:endParaRPr lang="ar-SA" sz="1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Better writing:</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joined sentences + a reason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 the right m. / f. ending.</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BETTER VERSION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Better written: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better?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لِي أُخْتٌ اسْمُهَا لَيْلَى، وَهِيَ هَادِئَةٌ وَمُجْتَهِدَةٌ.</a:t>
            </a:r>
            <a:endParaRPr lang="ar-SA" sz="15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لِي أُخْتٌ. هِيَ لَيْلَى. هِيَ هَادِئَةٌ. هِيَ مُجْتَهِدَةٌ.</a:t>
            </a:r>
            <a:endParaRPr lang="ar-SA" sz="15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لَيْلَى هَادِئٌ وَمُجْتَهِدٌ.</a:t>
            </a:r>
            <a:endParaRPr lang="ar-SA" sz="15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Joined and accurate.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evidence?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هِيَ مُجْتَهِدَةٌ جِدًّا جِدًّا.</a:t>
            </a:r>
            <a:endParaRPr lang="ar-SA" sz="16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هِيَ مُجْتَهِدَةٌ لِأَنَّهَا تُرَاجِعُ دُرُوسَهَا كُلَّ يَوْمٍ.</a:t>
            </a:r>
            <a:endParaRPr lang="ar-SA" sz="16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هِيَ مُجْتَهِدَةٌ لِأَنَّ.</a:t>
            </a:r>
            <a:endParaRPr lang="ar-SA" sz="16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Behaviour as proof.</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 relative clause correctly?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أَخِي الَّذِي يَسْكُنُ فِي لَنْدَنَ طَوِيلُ القَامَةِ.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الَّتِي تَسْكُنُ فِي لَنْدَنَ طَوِيلُ القَامَةِ.</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يَسْكُنُ الَّذِي لَنْدَنَ.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Brother → alladhī.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paragraph-3 sentence is best?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هُوَ رَسْمِيٌّ.</a:t>
            </a:r>
            <a:endParaRPr lang="ar-SA" sz="10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لَهُ شَعْرٌ قَصِيرٌ.</a:t>
            </a:r>
            <a:endParaRPr lang="ar-SA" sz="10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أُسْلُوبُهُ أَكْثَرُ رَسْمِيَّةً مِنْ أُسْلُوبِي، وَفِي رَأْيِي أَفْضَلُ صِفَةٍ فِيهِ صَبْرُهُ.</a:t>
            </a:r>
            <a:endParaRPr lang="ar-SA" sz="10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Comparison + opinion.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Better writing:</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joined sentences + a reason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 the right m. / f. ending.</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paragraph?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سَأَكْتُبُ عَنْ صَدِيقِي أَحْمَدَ.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طَوِيلُ القَامَةِ.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لَهُ شَعْرٌ قَصِيرٌ.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صَبُورٌ لِأَنَّهُ يَسْتَمِعُ.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نَتَفَاهَمُ جَيِّدًا.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يُفَضِّلُ المَلَابِسَ العَمَلِيَّةَ.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رَأْيِي، أَفْضَلُ صِفَةٍ فِيهِ صَبْرُهُ.</a:t>
            </a:r>
            <a:endParaRPr lang="ar-SA" sz="1800" dirty="0"/>
          </a:p>
        </p:txBody>
      </p:sp>
      <p:sp>
        <p:nvSpPr>
          <p:cNvPr id="29" name="Shape 26"/>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0" name="Shape 27"/>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1 · Person and appearance</a:t>
            </a:r>
            <a:endParaRPr lang="en-US" sz="950" dirty="0"/>
          </a:p>
        </p:txBody>
      </p:sp>
      <p:sp>
        <p:nvSpPr>
          <p:cNvPr id="32" name="Shape 29"/>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3" name="Shape 30"/>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4" name="Text 31"/>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2 · Personality and relationship</a:t>
            </a:r>
            <a:endParaRPr lang="en-US" sz="950" dirty="0"/>
          </a:p>
        </p:txBody>
      </p:sp>
      <p:sp>
        <p:nvSpPr>
          <p:cNvPr id="35" name="Shape 32"/>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6" name="Shape 33"/>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3 · Style and opinion</a:t>
            </a:r>
            <a:endParaRPr lang="en-US" sz="9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1 · Person and appearance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سَأَكْتُبُ عَنْ صَدِيقِي أَحْمَدَ.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طَوِيلُ القَامَةِ.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لَهُ شَعْرٌ قَصِيرٌ.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2 · Personality and relationship</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صَبُورٌ لِأَنَّهُ يَسْتَمِعُ.</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نَتَفَاهَمُ جَيِّدًا.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3 · Style and opinion</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يُفَضِّلُ المَلَابِسَ العَمَلِيَّةَ.</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رَأْيِي، أَفْضَلُ صِفَةٍ فِيهِ صَبْرُهُ.</a:t>
            </a:r>
            <a:endParaRPr lang="ar-SA" sz="18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comparison?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أُسْلُوبُهَا عَصْرِيٌّ.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أُسْلُوبَهَا.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أُسْلُوبُهَا أَكْثَرُ عَصْرِيَّةً مِنْ أُسْلُوبِي.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belongs in paragraph 3?</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 شَعْرٌ قَصِيرٌ.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رَأْيِي، أَفْضَلُ صِفَةٍ فِيهَا صِدْقُهَا.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سَأَكْتُبُ عَنْ صَدِيقَتِي.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good opening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النِّهَايَةِ …</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سَأَكْتُبُ عَنْ صَدِيقَتِي سَلْمَى الَّتِي أَعْرِفُهَا مُنْذُ سَنَوَاتٍ.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 …</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you check LAST?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colour of the pen</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agreement, references and connectors</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comparison?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أُسْلُوبُهَا عَصْرِيٌّ.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أُسْلُوبَهَا.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أُسْلُوبُهَا أَكْثَرُ عَصْرِيَّةً مِنْ أُسْلُوبِي.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More … than.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belongs in paragraph 3?</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لَهَا شَعْرٌ قَصِيرٌ.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رَأْيِي، أَفْضَلُ صِفَةٍ فِيهَا صِدْقُهَا.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سَأَكْتُبُ عَنْ صَدِيقَتِي.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Opinion closes the text.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good opening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النِّهَايَةِ …</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سَأَكْتُبُ عَنْ صَدِيقَتِي سَلْمَى الَّتِي أَعْرِفُهَا مُنْذُ سَنَوَاتٍ.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وَلٰكِنَّ …</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introduces the person.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you check LAST?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colour of the pen</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agreement, references and connectors</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website review checks.</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لِي صَدِيقَةٌ. هِيَ سَلْمَى. هِيَ وَدُودَةٌ. هِيَ صَادِقَةٌ.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Too many short sentences — how can you join them?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سَلْمَى صَادِقٌ لِأَنَّهُ يَقُولُ الحَقَّ.</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Salma → which ending, which pronoun?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أُسْلُوبُهَا عَصْرِيَّةٌ مِنْ أُسْلُوبِي.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Comparison: more + noun + min.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لِي صَدِيقَةٌ. هِيَ سَلْمَى. هِيَ وَدُودَةٌ. هِيَ صَادِقَةٌ.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E6B52"/>
                </a:solidFill>
                <a:latin typeface="Amiri" pitchFamily="34" charset="0"/>
                <a:ea typeface="Amiri" pitchFamily="34" charset="-122"/>
                <a:cs typeface="Amiri" pitchFamily="34" charset="-120"/>
              </a:rPr>
              <a:t>لِي صَدِيقَةٌ اسْمُهَا سَلْمَى، وَهِيَ وَدُودَةٌ وَصَادِقَةٌ.</a:t>
            </a:r>
            <a:endParaRPr lang="ar-SA" sz="235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Join sentences; don’t repeat </a:t>
            </a:r>
            <a:pPr algn="l" indent="0" marL="0">
              <a:buNone/>
            </a:pPr>
            <a:r>
              <a:rPr lang="ar-SA" altLang="en-US" sz="1500" b="1" dirty="0">
                <a:solidFill>
                  <a:srgbClr val="1B3B6F"/>
                </a:solidFill>
                <a:latin typeface="Amiri" pitchFamily="34" charset="0"/>
                <a:ea typeface="Amiri" pitchFamily="34" charset="-122"/>
                <a:cs typeface="Amiri" pitchFamily="34" charset="-120"/>
              </a:rPr>
              <a:t>هِيَ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سَلْمَى صَادِقٌ لِأَنَّهُ يَقُولُ الحَقَّ.</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سَلْمَى صَادِقَةٌ لِأَنَّهَا تَقُولُ الحَقَّ.</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Agreement and reference must be feminine.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أُسْلُوبُهَا عَصْرِيَّةٌ مِنْ أُسْلُوبِي.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أُسْلُوبُهَا أَكْثَرُ عَصْرِيَّةً مِنْ أُسْلُوبِي.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Comparison: more + noun + min.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focus: extended writing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explains her plan?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(female) writer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teacher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student</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 paragraph 1?</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relationship</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style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 and their appearance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 paragraph 2?</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appearance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clothes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personality and the relationship</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 paragraph 3?</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style and a comparison with hers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height and hair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story</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will she review?</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planning</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writing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she check?</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agreement, references and connectors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spelling of names only</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title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2,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الفَقْرَةِ الأُولَى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الثَّانِيَةِ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الثَّالِثَةِ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يَسْتَمِعُ الطَّالِبُ إِلَى كَاتِبَةٍ تَشْرَحُ خُطَّتَهَا.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student listens to a writer explaining her plan.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سَتَكْتُبُ فِي الفَقْرَةِ الأُولَى عَنْ شَخْصٍ وَمَظْهَرِهِ،</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first paragraph she will write about a person and their appearance,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الثَّانِيَةِ عَنْ شَخْصِيَّتِهِ وَالعَلَاقَةِ بِهِ،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second about their personality and her relationship with them,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الثَّالِثَةِ عَنْ أُسْلُوبِهِ وَمُقَارَنَتِهِ بِأُسْلُوبِهَا.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in the third about their style and how it compares with hers.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الكِتَابَةِ سَتُرَاجِعُ المُطَابَقَةَ وَالمَرَاجِعَ وَالرَّوَابِطَ.</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writing she will check agreement, references and connectors.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explains her plan?</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(female) writer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teacher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student</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كَاتِبَةٍ تَشْرَحُ خُطَّتَهَا.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 paragraph 1?</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relationship</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style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person and their appearance</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الفَقْرَةِ الأُولَى عَنْ شَخْصٍ وَمَظْهَرِهِ.</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 paragraph 2?</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appearance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clothes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personality and the relationship</a:t>
            </a:r>
            <a:endParaRPr lang="en-US" sz="11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عَنْ شَخْصِيَّتِهِ وَالعَلَاقَةِ بِهِ.</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 paragraph 3?</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style and a comparison with hers</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height and hair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story</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عَنْ أُسْلُوبِهِ وَمُقَارَنَتِهِ بِأُسْلُوبِهَا.</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will she review?</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before planning</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writing</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بَعْدَ الكِتَابَةِ سَتُرَاجِعُ.</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she check?</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agreement, references and connectors</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spelling of names only</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title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المُطَابَقَةَ وَالمَرَاجِعَ وَالرَّوَابِطَ.</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2,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الفَقْرَةِ الأُولَى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الثَّانِيَةِ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الثَّالِثَةِ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Developed speaking: extended writing</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الَّذِي سَتَكْتُبُهُ فِي الفَقْرَةِ الأُولَى؟</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الرَّوَابِطُ الَّتِي سَتَسْتَعْمِلُهَا؟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تُحَافِظُ عَلَى مَرْجِعِ الضَّمِيرِ؟</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سَتُحَسِّنُ النُّسْخَةَ الأُولَى؟</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سَأَكْتُبُ عَنْ ___ وَأَصِفُ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سَأَسْتَعْمِلُ ___ وَ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الشَّخْصُ ___ ، إِذَنْ أَسْتَعْمِلُ هُوَ / هِيَ وَ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سَأُرَاجِعُ ___ وَ ___ وَ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الَّذِي سَتَكْتُبُهُ فِي الفَقْرَةِ الأُولَى؟</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will you write in paragraph one?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سَأُعَرِّفُ الشَّخْصَ وَأَصِفُ مَظْهَرَهُ.</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will introduce the person and describe their appearance.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6–8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paragraphs 1 and 2.</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Paragraphs 1 and 2 with the Core frames: person, appearance, two qualities with “because”.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3 paragraphs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all three paragraphs.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All three paragraphs; one reason per quality, one contrast, one comparison.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Draft, improve and review.</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draft, improve (join, evidence, relative clause) and complete the review checks.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______ الَّذِي / الَّتِي أَعْرِفُهُ / أَعْرِفُهَا مُنْذُ ______ سَنَوَاتٍ</a:t>
            </a:r>
            <a:endParaRPr lang="ar-SA" sz="13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whom I have known for … years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______ ، وَلٰكِنَّنَا نَخْتَلِفُ أَحْيَانًا حَوْلَ ______ .</a:t>
            </a:r>
            <a:endParaRPr lang="ar-SA" sz="16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but we sometimes disagree about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أُسْلُوبُهُ / أُسْلُوبُهَا أَكْثَرُ ______ مِنْ أُسْلُوبِي.</a:t>
            </a:r>
            <a:endParaRPr lang="ar-SA" sz="17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 her style is more … than mine.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أُفَضِّلُ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I prefer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رَأْيِي، أَفْضَلُ صِفَةٍ فِيهِ / فِيهَا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opinion, his / her best quality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سَأَكْتُبُ عَنْ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write about my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هُوَ / هِيَ ______ القَامَةِ ، وَلَهُ / لَهَا شَعْرٌ ______ .</a:t>
            </a:r>
            <a:endParaRPr lang="ar-SA" sz="145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is … height and has … hair.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يَرْتَدِي / تَرْتَدِي عَادَةً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usually wears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 هِيَ ______ لِأَنَّهُ / لِأَنَّهَا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is … because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نَتَفَاهَمُ جَيِّدًا لِأَنَّ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get on well because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سَأَكْتُبُ عَنْ  ·  الَّذِي / الَّتِي  ·  مُنْذُ  ·  لَهُ / لَهَا  ·  يَرْتَدِي / تَرْتَدِي  ·  لِأَنَّهُ / لِأَنَّهَا  ·  أَثِقُ بِهِ / بِهَا  ·  نَتَفَاهَمُ  ·  وَلٰكِنَّنَا  ·  بَيْنَمَا  ·  أَكْثَرُ … مِنْ  ·  فِي رَأْيِي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and improve a 100–120-word Arabic article, email or profile about a person, your relationship, their appearance and style. Use three paragraphs and complete review checks.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الَّتِي أَعْرِفُهَا مُنْذُ خَمْسِ سَنَوَاتٍ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whom I have known for five years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تَقُولُ الحَقَّ</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she tells the truth</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نَخْتَلِفُ أَحْيَانًا فِي آرَائِنَا حَوْلَ المَوْضَةِ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sometimes disagree about fashion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أَكْثَرُ عَصْرِيَّةً مِنْ أُسْلُوبِي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modern than my style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يَجْعَلُ عَلَاقَتَنَا قَوِيَّةً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makes our relationship strong</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سَأَكْتُبُ عَنْ صَدِيقَتِي سَلْمَى الَّتِي أَعْرِفُهَا مُنْذُ خَمْسِ سَنَوَاتٍ. هِيَ مُتَوَسِّطَةُ القَامَةِ، وَلَهَا شَعْرٌ قَصِيرٌ وَمُجَعَّدٌ، وَتَرْتَدِي عَادَةً مَلَابِسَ بَسِيطَةً وَمُحْتَشِمَةً. سَلْمَى وَدُودَةٌ وَصَادِقَةٌ، وَأَثِقُ بِهَا لِأَنَّهَا تَسْتَمِعُ إِلَيَّ وَتَقُولُ الحَقَّ. نَتَفَاهَمُ جَيِّدًا، وَلٰكِنَّنَا نَخْتَلِفُ أَحْيَانًا فِي آرَائِنَا حَوْلَ المَوْضَةِ. أُسْلُوبُهَا أَكْثَرُ عَصْرِيَّةً مِنْ أُسْلُوبِي، بَيْنَمَا أُفَضِّلُ المَلَابِسَ العَمَلِيَّةَ. فِي رَأْيِي، أَفْضَلُ صِفَةٍ فِيهَا هِيَ صِدْقُهَا، لِأَنَّهُ يَجْعَلُ عِلَاقَتَنَا قَوِيَّةً.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will write about my friend Salma, whom I have known for five years. She is of medium height, has short curly hair, and usually wears simple, modest clothes. Salma is friendly and honest, and I trust her because she listens to me and tells the truth. We get on well, but we sometimes disagree about fashion. Her style is more modern than mine, whereas I prefer practical clothes. In my opinion, her best quality is her honesty, because it makes our relationship strong.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three paragraphs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relative clause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evidence for a quality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contrast and a comparison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text has clear paragraphs.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adjective matches the person (m. / 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quality has a reason.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pronouns always refer to the same person.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improved my draft (join, evidence, relative clause).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goes in paragraph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person and their appearance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your opinion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relationship</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a:t>
            </a:r>
            <a:pPr algn="l" indent="0" marL="0">
              <a:buNone/>
            </a:pPr>
            <a:r>
              <a:rPr lang="ar-SA" altLang="en-US" sz="1650" b="1" dirty="0">
                <a:solidFill>
                  <a:srgbClr val="1B3B6F"/>
                </a:solidFill>
                <a:latin typeface="Amiri" pitchFamily="34" charset="0"/>
                <a:ea typeface="Amiri" pitchFamily="34" charset="-122"/>
                <a:cs typeface="Amiri" pitchFamily="34" charset="-120"/>
              </a:rPr>
              <a:t>أَحْمَدُ صَبُورَةٌ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أَحْمَدُ صَبُورُونَ.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أَحْمَدُ صَبُورٌ.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أَحْمَدُ صَبُورًا.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joins ideas with a relative clause?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صَدِيقِي الَّذِي أَعْرِفُهُ مُنْذُ سَنَوَاتٍ …</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صَدِيقِي. أَعْرِفُهُ.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صَدِيقِي الَّتِي أَعْرِفُهَا …</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goes in paragraph 1?</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person and their appearance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your opinion</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relationship</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Paragraph 1.</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a:t>
            </a:r>
            <a:pPr algn="l" indent="0" marL="0">
              <a:buNone/>
            </a:pPr>
            <a:r>
              <a:rPr lang="ar-SA" altLang="en-US" sz="1650" b="1" dirty="0">
                <a:solidFill>
                  <a:srgbClr val="1B3B6F"/>
                </a:solidFill>
                <a:latin typeface="Amiri" pitchFamily="34" charset="0"/>
                <a:ea typeface="Amiri" pitchFamily="34" charset="-122"/>
                <a:cs typeface="Amiri" pitchFamily="34" charset="-120"/>
              </a:rPr>
              <a:t>أَحْمَدُ صَبُورَةٌ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أَحْمَدُ صَبُورُونَ.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أَحْمَدُ صَبُورٌ.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أَحْمَدُ صَبُورًا.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joins ideas with a relative clause?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صَدِيقِي الَّذِي أَعْرِفُهُ مُنْذُ سَنَوَاتٍ …</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صَدِيقِي. أَعْرِفُهُ.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صَدِيقِي الَّتِي أَعْرِفُهَا …</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Friend (m.) → alladhī.</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focus: extended writing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نَصٌّ أَوَّلِيٌّ وَنَصٌّ مُحَسَّنٌ: النَّصُّ الأَوَّلُ يَسْتَعْمِلُ جُمَلًا قَصِيرَةً وَيُكَرِّرُ «هُوَ» كَثِيرًا. أَمَّا النَّصُّ المُحَسَّنُ فَيُجَمِّعُ الأَفْكَارَ فِي فَقَرَاتٍ، وَيَسْتَعْمِلُ الَّذِي وَوَلٰكِنَّ وَبَيْنَمَا، وَيُقَدِّمُ دَلِيلًا بَعْدَ كُلِّ صِفَةٍ مُهِمَّةٍ. كَمَا يُرَاجِعُ الكَاتِبُ جِنْسَ الصِّفَةِ وَمَرْجِعَ الضَّمِيرِ.</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نَصٌّ أَوَّلِيٌّ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first draft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نَصٌّ مُحَسَّنٌ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improved text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جُمَلًا قَصِيرَةً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short sentences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يُكَرِّرُ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repeats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يُجَمِّعُ الأَفْكَارَ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groups the ideas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فَقَرَاتٍ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paragraphs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يُقَدِّمُ دَلِيلًا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gives evidence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كُلِّ صِفَةٍ مُهِمَّةٍ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every important quality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جِنْسَ الصِّفَةِ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gender of the adjective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مَرْجِعَ الضَّمِيرِ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what the pronoun refers to</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compare?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people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first draft and an improved text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shops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wrong with the first draft?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too long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no names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sentences and «</a:t>
            </a:r>
            <a:pPr algn="l" indent="0" marL="0">
              <a:buNone/>
            </a:pPr>
            <a:r>
              <a:rPr lang="ar-SA" altLang="en-US" sz="1650" dirty="0">
                <a:solidFill>
                  <a:srgbClr val="1F2A37"/>
                </a:solidFill>
                <a:latin typeface="Amiri" pitchFamily="34" charset="0"/>
                <a:ea typeface="Amiri" pitchFamily="34" charset="-122"/>
                <a:cs typeface="Amiri" pitchFamily="34" charset="-120"/>
              </a:rPr>
              <a:t>هُوَ</a:t>
            </a:r>
            <a:pPr algn="l" indent="0" marL="0">
              <a:buNone/>
            </a:pPr>
            <a:r>
              <a:rPr lang="en-US" sz="1250" dirty="0">
                <a:solidFill>
                  <a:srgbClr val="1F2A37"/>
                </a:solidFill>
                <a:latin typeface="Calibri" pitchFamily="34" charset="0"/>
                <a:ea typeface="Calibri" pitchFamily="34" charset="-122"/>
                <a:cs typeface="Calibri" pitchFamily="34" charset="-120"/>
              </a:rPr>
              <a:t>» repeated a lot</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improved text organise ideas?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paragraphs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list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table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words does it use to join ideas?</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ثُمَّ</a:t>
            </a:r>
            <a:pPr algn="l" indent="0" marL="0">
              <a:buNone/>
            </a:pPr>
            <a:r>
              <a:rPr lang="en-US" sz="1250" dirty="0">
                <a:solidFill>
                  <a:srgbClr val="1F2A37"/>
                </a:solidFill>
                <a:latin typeface="Calibri" pitchFamily="34" charset="0"/>
                <a:ea typeface="Calibri" pitchFamily="34" charset="-122"/>
                <a:cs typeface="Calibri" pitchFamily="34" charset="-120"/>
              </a:rPr>
              <a:t> only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الَّذِي، وَلٰكِنَّ، بَيْنَمَا</a:t>
            </a:r>
            <a:endParaRPr lang="ar-SA" sz="220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connectors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after each important quality?</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evidence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colour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question</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check?</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price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date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adjective gender and pronoun reference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compare?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people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first draft and an improved text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shops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نَصٌّ أَوَّلِيٌّ وَنَصٌّ مُحَسَّنٌ.</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wrong with the first draft?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too long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no names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short sentences and «</a:t>
            </a:r>
            <a:pPr algn="l" indent="0" marL="0">
              <a:buNone/>
            </a:pPr>
            <a:r>
              <a:rPr lang="ar-SA" altLang="en-US" sz="1500" b="1" dirty="0">
                <a:solidFill>
                  <a:srgbClr val="1F2A37"/>
                </a:solidFill>
                <a:latin typeface="Amiri" pitchFamily="34" charset="0"/>
                <a:ea typeface="Amiri" pitchFamily="34" charset="-122"/>
                <a:cs typeface="Amiri" pitchFamily="34" charset="-120"/>
              </a:rPr>
              <a:t>هُوَ</a:t>
            </a:r>
            <a:pPr algn="l" indent="0" marL="0">
              <a:buNone/>
            </a:pPr>
            <a:r>
              <a:rPr lang="en-US" sz="1150" b="1" dirty="0">
                <a:solidFill>
                  <a:srgbClr val="1F2A37"/>
                </a:solidFill>
                <a:latin typeface="Calibri" pitchFamily="34" charset="0"/>
                <a:ea typeface="Calibri" pitchFamily="34" charset="-122"/>
                <a:cs typeface="Calibri" pitchFamily="34" charset="-120"/>
              </a:rPr>
              <a:t>» repeated a lot</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جُمَلًا قَصِيرَةً وَيُكَرِّرُ «هُوَ» كَثِيرًا.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improved text organise ideas?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paragraphs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list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table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يُجَمِّعُ الأَفْكَارَ فِي فَقَرَاتٍ.</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words does it use to join ideas?</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ثُمَّ</a:t>
            </a:r>
            <a:pPr algn="l" indent="0" marL="0">
              <a:buNone/>
            </a:pPr>
            <a:r>
              <a:rPr lang="en-US" sz="1250" dirty="0">
                <a:solidFill>
                  <a:srgbClr val="9AA1AB"/>
                </a:solidFill>
                <a:latin typeface="Calibri" pitchFamily="34" charset="0"/>
                <a:ea typeface="Calibri" pitchFamily="34" charset="-122"/>
                <a:cs typeface="Calibri" pitchFamily="34" charset="-120"/>
              </a:rPr>
              <a:t> only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34" charset="0"/>
                <a:ea typeface="Amiri" pitchFamily="34" charset="-122"/>
                <a:cs typeface="Amiri" pitchFamily="34" charset="-120"/>
              </a:rPr>
              <a:t>الَّذِي، وَلٰكِنَّ، بَيْنَمَا</a:t>
            </a:r>
            <a:endParaRPr lang="ar-SA" sz="22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connectors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يَسْتَعْمِلُ الَّذِي وَوَلٰكِنَّ وَبَيْنَمَا.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after each important quality?</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evidence</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colour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question</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يُقَدِّمُ دَلِيلًا بَعْدَ كُلِّ صِفَةٍ مُهِمَّةٍ.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check?</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price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date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adjective gender and pronoun reference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جِنْسَ الصِّفَةِ وَمَرْجِعَ الضَّمِيرِ.</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D2-L11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D2-L12: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D2-L12 ·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assessment</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دَرَجَةٌ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mark</a:t>
            </a:r>
            <a:pPr indent="0" marL="0">
              <a:buNone/>
            </a:pPr>
            <a:r>
              <a:rPr lang="en-US" sz="1000" i="1" dirty="0">
                <a:solidFill>
                  <a:srgbClr val="5A6472"/>
                </a:solidFill>
                <a:latin typeface="Calibri" pitchFamily="34" charset="0"/>
                <a:ea typeface="Calibri" pitchFamily="34" charset="-122"/>
                <a:cs typeface="Calibri" pitchFamily="34" charset="-120"/>
              </a:rPr>
              <a:t>  pl. دَرَجَاتٌ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نُقْطَةُ قُوَّةٍ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strength</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هَدَفٌ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target</a:t>
            </a:r>
            <a:pPr indent="0" marL="0">
              <a:buNone/>
            </a:pPr>
            <a:r>
              <a:rPr lang="en-US" sz="1000" i="1" dirty="0">
                <a:solidFill>
                  <a:srgbClr val="5A6472"/>
                </a:solidFill>
                <a:latin typeface="Calibri" pitchFamily="34" charset="0"/>
                <a:ea typeface="Calibri" pitchFamily="34" charset="-122"/>
                <a:cs typeface="Calibri" pitchFamily="34" charset="-120"/>
              </a:rPr>
              <a:t>  pl. أَهْدَافٌ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مُرَاجَعَةٌ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review, revision</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D2-L12 is the unit assessment. Which D2 skill is your strongest, and which needs the most revision?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نُقْطَةُ قُوَّتِكَ؟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paragraphs 1 and 2; revise the D2 personality words (m. /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all three paragraphs and underline every connector.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final improved version (100–120 words) with the review checks.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D2-L11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ea typeface="Cambria" pitchFamily="34" charset="-122"/>
                <a:cs typeface="Cambria" pitchFamily="34" charset="-120"/>
              </a:rPr>
              <a:t>D2-L12 · Review and Unit Assessment</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المُرَاجَعَةُ وَالتَّقْيِيمُ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plan three paragraphs — then check agreement, pronouns and connectors.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D2-L11 · Writing — Describing People, Relationships and Style</dc:title>
  <dc:subject>PptxGenJS Presentation</dc:subject>
  <dc:creator>Al Madina Online School · Arabic Department</dc:creator>
  <cp:lastModifiedBy>Al Madina Online School · Arabic Department</cp:lastModifiedBy>
  <cp:revision>1</cp:revision>
  <dcterms:created xsi:type="dcterms:W3CDTF">2026-09-27T11:59:26Z</dcterms:created>
  <dcterms:modified xsi:type="dcterms:W3CDTF">2026-09-27T11:59:26Z</dcterms:modified>
</cp:coreProperties>
</file>