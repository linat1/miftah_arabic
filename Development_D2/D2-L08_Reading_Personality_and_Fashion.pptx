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D2-L08. The website lesson “Reading — Personality, Relationships and Fashion Texts”: vocabulary, grammar rules and quiz, patterns, common mistakes, sorter, listening, reading, speaking prompts and model, writing task and model, differentiation, final check and the lesson mission. Picture match: website visual game “Reading — Personality, Relationships and Fashion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article (“How do we judge people and style?”) is the main You Do task. Teaching focuses on the language of an argument text: the writer’s view, examples, contrast, conclusion.
• Core: questions 1–3 (the writer’s view and the first example) with the key-words panel. Develop: all 6. Stretch: the written response (agree / disagree with evidence).
• The grammar quiz on the website repeats D2-L07 — here it is used as retrieval (quick check) only.
• Urdu bridge: مضمون ≠ مَقَالٌ, مثال، خلاصہ، رائے، ثبوت / دلیل.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revision words prepared at home. Questions 3–5 retrieve D2-L07 (fact, opinion, inference) and D2-L06 (appearance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 opinion article has four moves: the view → an example → a contrast → the conclusion. Find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مقالہ (article, thesis) → مَقَالٌ; مثال → مِثَالٌ; خلاصہ (summary) shares the root of يَخْلُصُ إِلَى (he concludes) and خُلَاصَةٌ; کاتب (a scribe) → الكَاتِبُ (the writer). اِنْطِبَاعٌ (impression) has no Urdu cognate: الاِنْطِبَاعُ الأَوَّلُ = first impression.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evidence signals (website vocabulary (1 of 2)). Hear → Say → See → Use. Transliteration is printed for Core students (cover it for Develop/Stretch).
Reading evidence signals (revision). In a READING text, they show the writer’s structure: لِأَنَّ = reason · وَلٰكِنَّ / بَيْنَمَا = contrast · لِذٰلِكَ = result · فِي رَأْيِي =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evidence signals (website vocabulary (2 of 2)). Hear → Say → See → Use. Transliteration is printed for Core students (cover it for Develop/Stretch).
Reading evidence signals (revision). In a READING text, they show the writer’s structure: لِأَنَّ = reason · وَلٰكِنَّ / بَيْنَمَا = contrast · لِذٰلِكَ = result · فِي رَأْيِي =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(1 of 3)). Hear → Say → See → Use. Transliteration is printed for Core students (cover it for Develop/Stretch).
FLEX: teach if time allows; otherwise these are on the website vocabulary tab for homework.
People and relationships (FLEX) — D2-L01/L02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(2 of 3)). Hear → Say → See → Use. Transliteration is printed for Core students (cover it for Develop/Stretch).
FLEX: teach if time allows; otherwise these are on the website vocabulary tab for homework.
People and relationships (FLEX) — D2-L01/L02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(3 of 3)). Hear → Say → See → Use. Transliteration is printed for Core students (cover it for Develop/Stretch).
FLEX: teach if time allows; otherwise these are on the website vocabulary tab for homework.
People and relationships (FLEX) — D2-L01/L02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(1 of 3)). Hear → Say → See → Use. Transliteration is printed for Core students (cover it for Develop/Stretch).
FLEX: teach if time allows; otherwise these are on the website vocabulary tab for homework.
Fashion and evaluation (FLEX) — D2-L03/L04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(2 of 3)). Hear → Say → See → Use. Transliteration is printed for Core students (cover it for Develop/Stretch).
FLEX: teach if time allows; otherwise these are on the website vocabulary tab for homework.
Fashion and evaluation (FLEX) — D2-L03/L04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(3 of 3)). Hear → Say → See → Use. Transliteration is printed for Core students (cover it for Develop/Stretch).
FLEX: teach if time allows; otherwise these are on the website vocabulary tab for homework.
Fashion and evaluation (FLEX) — D2-L03/L04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teacher-built from the website article, applying the website rules “Distinguish fact and opinion” and “Follow comparison and contrast”. Teacher script: “Articles are built like a sandwich: view – examples – conclusion. Find the bread first.”
Core: highlight rows 1 and 5 in the article (view and conclusion) before reading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“Track reference” and “Infer from evidence”, plus the response language needed for the website writing task (summarise the view, use evidence, give your conclusion).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“Read profiles, messages and articles, tracking pronouns, comparisons and the writer’s supported viewpoint.”
• Track reference: Identify exactly who each pronoun or relative clause refers to.
• Distinguish fact and opinion: Use the language signal and supporting detail, not a guess.
• Follow comparison and contrast: Contrast words often signal the answer has changed.
• Infer from evidence: An inference must be supported by a stated action or attitude.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teacher reads the first sentence of the website article and thinks aloud; the answer matches the website speaking model (يَرَى أَنَّ المَظْهَرَ لَا يَكْفِي لِلْحُكْمِ عَلَى الشَّخْصِيَّةِ).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website patterns. Students copy TWO that are useful for them.
• Core: copy sentence 4 (the inference). • Develop: copy sentences 2–3 and change the people. • Stretch: write one sentence with يَرَى الكَاتِبُ أَنَّ about the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from the texts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from the texts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تُقْرَأُ ثَلَاثُ رِسَالَاتٍ قَصِيرَةٍ. الأُولَى مِنْ طَالِبَةٍ تَصِفُ صَدِيقَتَهَا المُتَعَاوِنَةَ. الثَّانِيَةُ مِنْ شَابٍّ يَشْرَحُ لِمَاذَا يُفَضِّلُ المَلَابِسَ العَمَلِيَّةَ. الثَّالِثَةُ تُقَارِنُ بَيْنَ عِلَاقَتَيْنِ وَتَذْكُرُ أَنَّ الاِحْتِرَامَ أَهَمُّ مِنَ التَّشَابُهِ التَّامِّ.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READING (main task). The website article “How do we judge people and style?”. First read: underline the VIEW (يَرَى) and the CONCLUSION (يَخْلُصُ). Second read: the two examples and the contrast.
Core: questions 1–3. Develop: all 6. Stretch: then the written response.
(Questions are teacher-written: the website questions for this text are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الدَّلِيلُ؟ (What is the evidence?)
B: يُقَدِّمُ مِثَالَيْنِ يُخَالِفُ فِيهِمَا المَظْهَرُ الشَّخْصِيَّةَ. (He gives two examples where appearance differs from personality.)
Website prompts (prompt 3 adapted to the article). Website model continues: A: مَا الدَّلِيلُ؟ (What is the evidence?) B: يُقَدِّمُ مِثَالَيْنِ يُخَالِفُ فِيهِمَا المَظْهَرُ الشَّخْصِيَّةَ. (He gives two examples in which appearance differs from personality.)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responding to an article about whether appearance shows personality. Summarise the view, use evidence, compare two examples and give your conclusion.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يَرَى الكَاتِبُ أَنَّ … وَلٰكِنَّهَا لَا تَكْفِي · مِثَالًا لِشَابٍّ … / يَصِفُ فَتَاةً … · مَعَ أَنَّهُ / بَيْنَمَا هِيَ · أَتَّفِقُ مَعَ الكَاتِبِ لِأَنَّ … (Spelling note: the website model writes عَنْ العَلَاقَةِ; standard Arabic joins it as عَنِ العَلَاقَةِ.)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(D2-L09 · Speaking — People, Relationships and Style Topic Conversation) will spend class time USING this language, so students prepare it tonight — short, simple, easy to access (school guidance: “Simple, Short, Interesting, Relevant, Easy to access”). D2-L09 is a topic conversation across the whole unit: these five questions (one from each key lesson) are the conversation starters.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Reading — Personality, Relationships and Fashion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القِرَاءَةُ — نُصُوصُ الشَّخْصِيَّةِ وَالعَلَاقَاتِ وَالمَوْضَةِ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an opinion article like an examiner: find the writer’s view (</a:t>
            </a:r>
            <a:pPr algn="l" indent="0" marL="0">
              <a:buNone/>
            </a:pPr>
            <a:r>
              <a:rPr lang="ar-SA" altLang="en-US" sz="1800" dirty="0">
                <a:solidFill>
                  <a:srgbClr val="C6D2E6"/>
                </a:solidFill>
                <a:latin typeface="Amiri" pitchFamily="2" charset="-78"/>
                <a:ea typeface="Amiri" pitchFamily="2" charset="-78"/>
                <a:cs typeface="Amiri" pitchFamily="2" charset="-78"/>
              </a:rPr>
              <a:t>يَرَى أَنَّ</a:t>
            </a:r>
            <a:pPr algn="l" indent="0" marL="0">
              <a:buNone/>
            </a:pPr>
            <a:r>
              <a:rPr lang="en-US" sz="1400" dirty="0">
                <a:solidFill>
                  <a:srgbClr val="C6D2E6"/>
                </a:solidFill>
                <a:latin typeface="Calibri" pitchFamily="34" charset="0"/>
                <a:cs typeface="Amiri" pitchFamily="2" charset="-78"/>
              </a:rPr>
              <a:t>), the examples (</a:t>
            </a:r>
            <a:pPr algn="l" indent="0" marL="0">
              <a:buNone/>
            </a:pPr>
            <a:r>
              <a:rPr lang="ar-SA" altLang="en-US" sz="1800" dirty="0">
                <a:solidFill>
                  <a:srgbClr val="C6D2E6"/>
                </a:solidFill>
                <a:latin typeface="Amiri" pitchFamily="2" charset="-78"/>
                <a:ea typeface="Amiri" pitchFamily="2" charset="-78"/>
                <a:cs typeface="Amiri" pitchFamily="2" charset="-78"/>
              </a:rPr>
              <a:t>يَذْكُرُ مِثَالًا</a:t>
            </a:r>
            <a:pPr algn="l" indent="0" marL="0">
              <a:buNone/>
            </a:pPr>
            <a:r>
              <a:rPr lang="en-US" sz="1400" dirty="0">
                <a:solidFill>
                  <a:srgbClr val="C6D2E6"/>
                </a:solidFill>
                <a:latin typeface="Calibri" pitchFamily="34" charset="0"/>
                <a:cs typeface="Amiri" pitchFamily="2" charset="-78"/>
              </a:rPr>
              <a:t>), the contrast (</a:t>
            </a:r>
            <a:pPr algn="l" indent="0" marL="0">
              <a:buNone/>
            </a:pPr>
            <a:r>
              <a:rPr lang="ar-SA" altLang="en-US" sz="1800" dirty="0">
                <a:solidFill>
                  <a:srgbClr val="C6D2E6"/>
                </a:solidFill>
                <a:latin typeface="Amiri" pitchFamily="2" charset="-78"/>
                <a:ea typeface="Amiri" pitchFamily="2" charset="-78"/>
                <a:cs typeface="Amiri" pitchFamily="2" charset="-78"/>
              </a:rPr>
              <a:t>بَيْنَمَا، وَلٰكِنَّ</a:t>
            </a:r>
            <a:pPr algn="l" indent="0" marL="0">
              <a:buNone/>
            </a:pPr>
            <a:r>
              <a:rPr lang="en-US" sz="1400" dirty="0">
                <a:solidFill>
                  <a:srgbClr val="C6D2E6"/>
                </a:solidFill>
                <a:latin typeface="Calibri" pitchFamily="34" charset="0"/>
                <a:cs typeface="Amiri" pitchFamily="2" charset="-78"/>
              </a:rPr>
              <a:t>) and the conclusion (</a:t>
            </a:r>
            <a:pPr algn="l" indent="0" marL="0">
              <a:buNone/>
            </a:pPr>
            <a:r>
              <a:rPr lang="ar-SA" altLang="en-US" sz="1800" dirty="0">
                <a:solidFill>
                  <a:srgbClr val="C6D2E6"/>
                </a:solidFill>
                <a:latin typeface="Amiri" pitchFamily="2" charset="-78"/>
                <a:ea typeface="Amiri" pitchFamily="2" charset="-78"/>
                <a:cs typeface="Amiri" pitchFamily="2" charset="-78"/>
              </a:rPr>
              <a:t>يَخْلُصُ إِلَى أَنَّ</a:t>
            </a:r>
            <a:pPr algn="l" indent="0" marL="0">
              <a:buNone/>
            </a:pPr>
            <a:r>
              <a:rPr lang="en-US" sz="1400" dirty="0">
                <a:solidFill>
                  <a:srgbClr val="C6D2E6"/>
                </a:solidFill>
                <a:latin typeface="Calibri" pitchFamily="34" charset="0"/>
                <a:cs typeface="Amiri" pitchFamily="2" charset="-78"/>
              </a:rPr>
              <a:t>) — then agree or disagree with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D2-L08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writer thinks … gives an example … but … concludes that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Find the writer’s moves,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expresses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صَدِيقٌ مُقَرَّبٌ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close friend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classmate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قَصِيرٌ.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قَمِيصًا أَسْوَدَ.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أَرَى أَنَّ أُسْلُوبَهُ مُنَاسِبٌ.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مُتَعَاوِنٌ لِأَنَّ قَمِيصَهُ أَزْرَقُ.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مُتَعَاوِنٌ بِلَا دَلِيلٍ.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مُتَعَاوِنٌ لِأَنَّهُ يُسَاعِدُ زُمَلَاءَهُ.</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brown eyes.”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عَيْنَانِ بُنِّيَّتَانِ.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عَيْنَانِ بُنِّيٌّ.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عَيْنٌ بُنِّيَّتَانِ.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compares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expresses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صَدِيقٌ مُقَرَّبٌ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close friend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friend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classmate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قَصِيرٌ.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 قَمِيصًا أَسْوَدَ.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أَرَى أَنَّ أُسْلُوبَهُ مُنَاسِبٌ.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D2-L07: opinion signal.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مُتَعَاوِنٌ لِأَنَّ قَمِيصَهُ أَزْرَقُ.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مُتَعَاوِنٌ بِلَا دَلِيلٍ.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مُتَعَاوِنٌ لِأَنَّهُ يُسَاعِدُ زُمَلَاءَهُ.</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D2-L07: behaviour = evidence.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brown eyes.”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لَهَا عَيْنَانِ بُنِّيَّتَانِ.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لَهَا عَيْنَانِ بُنِّيٌّ.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عَيْنٌ بُنِّيَّتَانِ.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D2-L06: dual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An opinion article has four moves: the view → an example → a contrast → the conclusion. Find each one.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يَرَى الكَاتِبُ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يَذْكُرُ مِثَالًا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بَيْنَمَا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يَخْلُصُ إِلَى أَنَّ</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D2-L08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Reading reference, evidence and implied attitude.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writer’s main view.</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one example in the text.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 contrast and what a pronoun refers to.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all six reading questions with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summarise the article in my own words.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agree or disagree,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Reading evidence signals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People and relationships · 14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Fashion and evaluation · 16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‎مقالہ‎ </a:t>
            </a:r>
            <a:pPr indent="0" marL="0">
              <a:buNone/>
            </a:pPr>
            <a:r>
              <a:rPr lang="en-US" sz="950" b="1" dirty="0">
                <a:solidFill>
                  <a:srgbClr val="2E8B57"/>
                </a:solidFill>
                <a:latin typeface="Calibri" pitchFamily="34" charset="0"/>
                <a:cs typeface="Amiri" pitchFamily="2" charset="-78"/>
              </a:rPr>
              <a:t> maqāla · article, essay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مِثَالٌ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‎خلاصہ‎ </a:t>
            </a:r>
            <a:pPr indent="0" marL="0">
              <a:buNone/>
            </a:pPr>
            <a:r>
              <a:rPr lang="en-US" sz="950" b="1" dirty="0">
                <a:solidFill>
                  <a:srgbClr val="2E8B57"/>
                </a:solidFill>
                <a:latin typeface="Calibri" pitchFamily="34" charset="0"/>
                <a:cs typeface="Amiri" pitchFamily="2" charset="-78"/>
              </a:rPr>
              <a:t> khulāsa · summary,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الكَاتِبُ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‎کاتب‎ </a:t>
            </a:r>
            <a:pPr indent="0" marL="0">
              <a:buNone/>
            </a:pPr>
            <a:r>
              <a:rPr lang="en-US" sz="950" b="1" dirty="0">
                <a:solidFill>
                  <a:srgbClr val="2E8B57"/>
                </a:solidFill>
                <a:latin typeface="Calibri" pitchFamily="34" charset="0"/>
                <a:cs typeface="Amiri" pitchFamily="2" charset="-78"/>
              </a:rPr>
              <a:t> kātib · Urdu: scribe · Arabic: writer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اِنْطِبَاعٌ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‎تاثر‎ </a:t>
            </a:r>
            <a:pPr indent="0" marL="0">
              <a:buNone/>
            </a:pPr>
            <a:r>
              <a:rPr lang="en-US" sz="950" b="1" dirty="0">
                <a:solidFill>
                  <a:srgbClr val="2E8B57"/>
                </a:solidFill>
                <a:latin typeface="Calibri" pitchFamily="34" charset="0"/>
                <a:cs typeface="Amiri" pitchFamily="2" charset="-78"/>
              </a:rPr>
              <a:t> tāssur · impression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evidence signals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evidence signals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خُصُوصًا</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especially</a:t>
            </a:r>
            <a:endParaRPr lang="en-US" sz="1350" dirty="0"/>
          </a:p>
          <a:p>
            <a:pPr indent="0" marL="0">
              <a:buNone/>
            </a:pPr>
            <a:r>
              <a:rPr lang="en-US" sz="1100" i="1" dirty="0">
                <a:solidFill>
                  <a:srgbClr val="5A6472"/>
                </a:solidFill>
                <a:latin typeface="Calibri" pitchFamily="34" charset="0"/>
                <a:cs typeface="Amiri" pitchFamily="2" charset="-78"/>
              </a:rPr>
              <a:t>khu-ṣū-ṣan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دَائِمًا</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always</a:t>
            </a:r>
            <a:endParaRPr lang="en-US" sz="1350" dirty="0"/>
          </a:p>
          <a:p>
            <a:pPr indent="0" marL="0">
              <a:buNone/>
            </a:pPr>
            <a:r>
              <a:rPr lang="en-US" sz="1100" i="1" dirty="0">
                <a:solidFill>
                  <a:srgbClr val="5A6472"/>
                </a:solidFill>
                <a:latin typeface="Calibri" pitchFamily="34" charset="0"/>
                <a:cs typeface="Amiri" pitchFamily="2" charset="-78"/>
              </a:rPr>
              <a:t>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relationships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relationships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 / مَرِحَةٌ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 / هَادِئَةٌ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خَجُولٌ / خَجُولَةٌ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أَتَفَاهَمُ مَعَ</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on with</a:t>
            </a:r>
            <a:endParaRPr lang="en-US" sz="1350" dirty="0"/>
          </a:p>
          <a:p>
            <a:pPr indent="0" marL="0">
              <a:buNone/>
            </a:pPr>
            <a:r>
              <a:rPr lang="en-US" sz="1100" i="1" dirty="0">
                <a:solidFill>
                  <a:srgbClr val="5A6472"/>
                </a:solidFill>
                <a:latin typeface="Calibri" pitchFamily="34" charset="0"/>
                <a:cs typeface="Amiri" pitchFamily="2" charset="-78"/>
              </a:rPr>
              <a:t>a-ta-fā-ha-mu ma-ʿa</a:t>
            </a:r>
            <a:endParaRPr lang="en-US"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أَخْتَلِفُ مَعَ</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disagree with</a:t>
            </a:r>
            <a:endParaRPr lang="en-US" sz="1350" dirty="0"/>
          </a:p>
          <a:p>
            <a:pPr indent="0" marL="0">
              <a:buNone/>
            </a:pPr>
            <a:r>
              <a:rPr lang="en-US" sz="1100" i="1" dirty="0">
                <a:solidFill>
                  <a:srgbClr val="5A6472"/>
                </a:solidFill>
                <a:latin typeface="Calibri" pitchFamily="34" charset="0"/>
                <a:cs typeface="Amiri" pitchFamily="2" charset="-78"/>
              </a:rPr>
              <a:t>akh-ta-li-fu ma-ʿa</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relationships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أَثِقُ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trust</a:t>
            </a:r>
            <a:endParaRPr lang="en-US" sz="1350" dirty="0"/>
          </a:p>
          <a:p>
            <a:pPr indent="0" marL="0">
              <a:buNone/>
            </a:pPr>
            <a:r>
              <a:rPr lang="en-US" sz="1100" i="1" dirty="0">
                <a:solidFill>
                  <a:srgbClr val="5A6472"/>
                </a:solidFill>
                <a:latin typeface="Calibri" pitchFamily="34" charset="0"/>
                <a:cs typeface="Amiri" pitchFamily="2" charset="-78"/>
              </a:rPr>
              <a:t>a-thi-qu 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أَحْتَرِمُ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respect</a:t>
            </a:r>
            <a:endParaRPr lang="en-US" sz="1350" dirty="0"/>
          </a:p>
          <a:p>
            <a:pPr indent="0" marL="0">
              <a:buNone/>
            </a:pPr>
            <a:r>
              <a:rPr lang="en-US" sz="1100" i="1" dirty="0">
                <a:solidFill>
                  <a:srgbClr val="5A6472"/>
                </a:solidFill>
                <a:latin typeface="Calibri" pitchFamily="34" charset="0"/>
                <a:cs typeface="Amiri" pitchFamily="2" charset="-78"/>
              </a:rPr>
              <a:t>aḥ-ta-ri-mu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أُسَاعِدُ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a:t>
            </a:r>
            <a:endParaRPr lang="en-US" sz="1350" dirty="0"/>
          </a:p>
          <a:p>
            <a:pPr indent="0" marL="0">
              <a:buNone/>
            </a:pPr>
            <a:r>
              <a:rPr lang="en-US" sz="1100" i="1" dirty="0">
                <a:solidFill>
                  <a:srgbClr val="5A6472"/>
                </a:solidFill>
                <a:latin typeface="Calibri" pitchFamily="34" charset="0"/>
                <a:cs typeface="Amiri" pitchFamily="2" charset="-78"/>
              </a:rPr>
              <a:t>u-sā-ʿi-du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يَدْعَمُنِي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supports me</a:t>
            </a:r>
            <a:endParaRPr lang="en-US" sz="1350" dirty="0"/>
          </a:p>
          <a:p>
            <a:pPr indent="0" marL="0">
              <a:buNone/>
            </a:pPr>
            <a:r>
              <a:rPr lang="en-US" sz="1100" i="1" dirty="0">
                <a:solidFill>
                  <a:srgbClr val="5A6472"/>
                </a:solidFill>
                <a:latin typeface="Calibri" pitchFamily="34" charset="0"/>
                <a:cs typeface="Amiri" pitchFamily="2" charset="-78"/>
              </a:rPr>
              <a:t>yad-ʿa-mu-nī</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Fashion and evaluation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a:t>
            </a:r>
            <a:endParaRPr lang="ar-SA" sz="1500" dirty="0"/>
          </a:p>
        </p:txBody>
      </p:sp>
      <p:sp>
        <p:nvSpPr>
          <p:cNvPr id="94" name="Shape 9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566928" y="4261104"/>
            <a:ext cx="310896" cy="310896"/>
          </a:xfrm>
          <a:prstGeom prst="ellipse">
            <a:avLst/>
          </a:prstGeom>
          <a:solidFill>
            <a:srgbClr val="F4F1EA"/>
          </a:solidFill>
          <a:ln w="12700">
            <a:solidFill>
              <a:srgbClr val="F4F1EA"/>
            </a:solidFill>
            <a:prstDash val="solid"/>
          </a:ln>
        </p:spPr>
      </p:sp>
      <p:sp>
        <p:nvSpPr>
          <p:cNvPr id="96" name="Text 9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97" name="Shape 94"/>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98" name="Text 95"/>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9" name="Text 9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مُحْتَشِمٌ / مُحْتَشِمَةٌ</a:t>
            </a:r>
            <a:endParaRPr lang="ar-SA" sz="3000" dirty="0"/>
          </a:p>
        </p:txBody>
      </p:sp>
      <p:sp>
        <p:nvSpPr>
          <p:cNvPr id="100" name="Text 9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101" name="Shape 9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2" name="Text 9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3" name="Text 10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مُحْتَشِمُونَ</a:t>
            </a:r>
            <a:endParaRPr lang="ar-SA" sz="1500" dirty="0"/>
          </a:p>
        </p:txBody>
      </p:sp>
      <p:sp>
        <p:nvSpPr>
          <p:cNvPr id="104" name="Shape 10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6" name="Text 10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مُحْتَشِمَةٌ</a:t>
            </a:r>
            <a:endParaRPr lang="ar-SA" sz="1500" dirty="0"/>
          </a:p>
        </p:txBody>
      </p:sp>
      <p:sp>
        <p:nvSpPr>
          <p:cNvPr id="107" name="Shape 10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9" name="Text 10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a:t>
            </a:r>
            <a:endParaRPr lang="ar-SA" sz="150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Fashion and evaluation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مُلَوَّنٌ / مُلَوَّنَةٌ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مُلَوَّنَةٌ</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بَسِيطٌ / بَسِيطَةٌ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بُسَطَاءُ</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مُرِيحٌ / مُرِيحَةٌ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mu-rī-ḥun / mu-rī-ḥa-tun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مُرِيحَةٌ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عَمَلِيٌّ / عَمَلِيَّةٌ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ʿa-ma-liy-yun / ʿa-ma-liy-ya-tun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عَمَلِيَّةٌ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37</a:t>
            </a:r>
            <a:endParaRPr lang="en-US" sz="1000" dirty="0"/>
          </a:p>
        </p:txBody>
      </p:sp>
      <p:sp>
        <p:nvSpPr>
          <p:cNvPr id="84" name="Text 8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يُعَبِّرُ عَنْ</a:t>
            </a:r>
            <a:endParaRPr lang="ar-SA" sz="3000" dirty="0"/>
          </a:p>
        </p:txBody>
      </p:sp>
      <p:sp>
        <p:nvSpPr>
          <p:cNvPr id="85" name="Text 8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expresses</a:t>
            </a:r>
            <a:endParaRPr lang="en-US" sz="1350" dirty="0"/>
          </a:p>
          <a:p>
            <a:pPr indent="0" marL="0">
              <a:buNone/>
            </a:pPr>
            <a:r>
              <a:rPr lang="en-US" sz="1100" i="1" dirty="0">
                <a:solidFill>
                  <a:srgbClr val="5A6472"/>
                </a:solidFill>
                <a:latin typeface="Calibri" pitchFamily="34" charset="0"/>
                <a:cs typeface="Amiri" pitchFamily="2" charset="-78"/>
              </a:rPr>
              <a:t>yu-ʿab-bi-ru ʿan</a:t>
            </a:r>
            <a:endParaRPr lang="en-US" sz="135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38</a:t>
            </a:r>
            <a:endParaRPr lang="en-US" sz="1000" dirty="0"/>
          </a:p>
        </p:txBody>
      </p:sp>
      <p:sp>
        <p:nvSpPr>
          <p:cNvPr id="89" name="Text 8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يُنَاسِبُ</a:t>
            </a:r>
            <a:endParaRPr lang="ar-SA" sz="3000" dirty="0"/>
          </a:p>
        </p:txBody>
      </p:sp>
      <p:sp>
        <p:nvSpPr>
          <p:cNvPr id="90" name="Text 8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suits</a:t>
            </a:r>
            <a:endParaRPr lang="en-US" sz="1350" dirty="0"/>
          </a:p>
          <a:p>
            <a:pPr indent="0" marL="0">
              <a:buNone/>
            </a:pPr>
            <a:r>
              <a:rPr lang="en-US" sz="1100" i="1" dirty="0">
                <a:solidFill>
                  <a:srgbClr val="5A6472"/>
                </a:solidFill>
                <a:latin typeface="Calibri" pitchFamily="34" charset="0"/>
                <a:cs typeface="Amiri" pitchFamily="2" charset="-78"/>
              </a:rPr>
              <a:t>yu-nā-si-bu</a:t>
            </a:r>
            <a:endParaRPr lang="en-US" sz="13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Fashion and evaluation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ak-tha-ru ...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 ...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 than</a:t>
            </a:r>
            <a:endParaRPr lang="en-US" sz="1350" dirty="0"/>
          </a:p>
          <a:p>
            <a:pPr indent="0" marL="0">
              <a:buNone/>
            </a:pPr>
            <a:r>
              <a:rPr lang="en-US" sz="1100" i="1" dirty="0">
                <a:solidFill>
                  <a:srgbClr val="5A6472"/>
                </a:solidFill>
                <a:latin typeface="Calibri" pitchFamily="34" charset="0"/>
                <a:cs typeface="Amiri" pitchFamily="2" charset="-78"/>
              </a:rPr>
              <a:t>a-qal-lu ...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أَجْمَلُ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beautiful than</a:t>
            </a:r>
            <a:endParaRPr lang="en-US" sz="1350" dirty="0"/>
          </a:p>
          <a:p>
            <a:pPr indent="0" marL="0">
              <a:buNone/>
            </a:pPr>
            <a:r>
              <a:rPr lang="en-US" sz="1100" i="1" dirty="0">
                <a:solidFill>
                  <a:srgbClr val="5A6472"/>
                </a:solidFill>
                <a:latin typeface="Calibri" pitchFamily="34" charset="0"/>
                <a:cs typeface="Amiri" pitchFamily="2" charset="-78"/>
              </a:rPr>
              <a:t>aj-ma-lu min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FOUR MOVES OF AN OPINION ARTICLE (FROM THE WEBSITE ARTICLE)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How the writer builds the argument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حَرَكَاتُ الكَاتِبِ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the article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897112"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يَرَى الكَاتِبُ أَنَّ</a:t>
            </a:r>
            <a:endParaRPr lang="ar-SA" sz="2400" dirty="0"/>
          </a:p>
        </p:txBody>
      </p:sp>
      <p:sp>
        <p:nvSpPr>
          <p:cNvPr id="21" name="Text 18"/>
          <p:cNvSpPr txBox="1"/>
          <p:nvPr/>
        </p:nvSpPr>
        <p:spPr>
          <a:xfrm>
            <a:off x="3776472" y="2286000"/>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يَرَى الكَاتِبُ أَنَّ المَظْهَرَ يُقَدِّمُ مَعْلُومَاتٍ عَنِ الذَّوْقِ …</a:t>
            </a:r>
            <a:endParaRPr lang="ar-SA" sz="1950" dirty="0"/>
          </a:p>
        </p:txBody>
      </p:sp>
      <p:sp>
        <p:nvSpPr>
          <p:cNvPr id="22" name="Text 19"/>
          <p:cNvSpPr txBox="1"/>
          <p:nvPr/>
        </p:nvSpPr>
        <p:spPr>
          <a:xfrm>
            <a:off x="3730752" y="267699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writer thinks appearance gives information about taste …</a:t>
            </a:r>
            <a:endParaRPr lang="en-US" sz="950" dirty="0"/>
          </a:p>
        </p:txBody>
      </p:sp>
      <p:sp>
        <p:nvSpPr>
          <p:cNvPr id="23" name="Text 20"/>
          <p:cNvSpPr txBox="1"/>
          <p:nvPr/>
        </p:nvSpPr>
        <p:spPr>
          <a:xfrm>
            <a:off x="56692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VIEW</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8897112"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وَلٰكِنَّهُ</a:t>
            </a:r>
            <a:endParaRPr lang="ar-SA" sz="2400" dirty="0"/>
          </a:p>
        </p:txBody>
      </p:sp>
      <p:sp>
        <p:nvSpPr>
          <p:cNvPr id="28" name="Text 25"/>
          <p:cNvSpPr txBox="1"/>
          <p:nvPr/>
        </p:nvSpPr>
        <p:spPr>
          <a:xfrm>
            <a:off x="3776472" y="302300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وَلٰكِنَّهُ لَا يَكْشِفُ الشَّخْصِيَّةَ كُلَّهَا.</a:t>
            </a:r>
            <a:endParaRPr lang="ar-SA" sz="1950" dirty="0"/>
          </a:p>
        </p:txBody>
      </p:sp>
      <p:sp>
        <p:nvSpPr>
          <p:cNvPr id="29" name="Text 26"/>
          <p:cNvSpPr txBox="1"/>
          <p:nvPr/>
        </p:nvSpPr>
        <p:spPr>
          <a:xfrm>
            <a:off x="3730752" y="3414004"/>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but it does not reveal the whole personality.</a:t>
            </a:r>
            <a:endParaRPr lang="en-US" sz="950" dirty="0"/>
          </a:p>
        </p:txBody>
      </p:sp>
      <p:sp>
        <p:nvSpPr>
          <p:cNvPr id="30" name="Text 27"/>
          <p:cNvSpPr txBox="1"/>
          <p:nvPr/>
        </p:nvSpPr>
        <p:spPr>
          <a:xfrm>
            <a:off x="56692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limit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8897112"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يَذْكُرُ مِثَالًا</a:t>
            </a:r>
            <a:endParaRPr lang="ar-SA" sz="2400" dirty="0"/>
          </a:p>
        </p:txBody>
      </p:sp>
      <p:sp>
        <p:nvSpPr>
          <p:cNvPr id="35" name="Text 32"/>
          <p:cNvSpPr txBox="1"/>
          <p:nvPr/>
        </p:nvSpPr>
        <p:spPr>
          <a:xfrm>
            <a:off x="3776472" y="3760013"/>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يَذْكُرُ مِثَالًا لِشَابٍّ يَرْتَدِي مَلَابِسَ بَسِيطَةً …</a:t>
            </a:r>
            <a:endParaRPr lang="ar-SA" sz="1950" dirty="0"/>
          </a:p>
        </p:txBody>
      </p:sp>
      <p:sp>
        <p:nvSpPr>
          <p:cNvPr id="36" name="Text 33"/>
          <p:cNvSpPr txBox="1"/>
          <p:nvPr/>
        </p:nvSpPr>
        <p:spPr>
          <a:xfrm>
            <a:off x="3730752" y="4151010"/>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gives the example of a young man who wears simple clothes …</a:t>
            </a:r>
            <a:endParaRPr lang="en-US" sz="950" dirty="0"/>
          </a:p>
        </p:txBody>
      </p:sp>
      <p:sp>
        <p:nvSpPr>
          <p:cNvPr id="37" name="Text 34"/>
          <p:cNvSpPr txBox="1"/>
          <p:nvPr/>
        </p:nvSpPr>
        <p:spPr>
          <a:xfrm>
            <a:off x="56692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an EXAMPLE</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8897112"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بَيْنَمَا</a:t>
            </a:r>
            <a:endParaRPr lang="ar-SA" sz="2400" dirty="0"/>
          </a:p>
        </p:txBody>
      </p:sp>
      <p:sp>
        <p:nvSpPr>
          <p:cNvPr id="40" name="Text 37"/>
          <p:cNvSpPr txBox="1"/>
          <p:nvPr/>
        </p:nvSpPr>
        <p:spPr>
          <a:xfrm>
            <a:off x="3776472" y="4497019"/>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تُفَضِّلُ الأُسْلُوبَ الرَّسْمِيَّ، بَيْنَمَا هِيَ مَرِحَةٌ …</a:t>
            </a:r>
            <a:endParaRPr lang="ar-SA" sz="1950" dirty="0"/>
          </a:p>
        </p:txBody>
      </p:sp>
      <p:sp>
        <p:nvSpPr>
          <p:cNvPr id="41" name="Text 38"/>
          <p:cNvSpPr txBox="1"/>
          <p:nvPr/>
        </p:nvSpPr>
        <p:spPr>
          <a:xfrm>
            <a:off x="3730752" y="488801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prefers a formal style, whereas she is cheerful …</a:t>
            </a:r>
            <a:endParaRPr lang="en-US" sz="950" dirty="0"/>
          </a:p>
        </p:txBody>
      </p:sp>
      <p:sp>
        <p:nvSpPr>
          <p:cNvPr id="42" name="Text 39"/>
          <p:cNvSpPr txBox="1"/>
          <p:nvPr/>
        </p:nvSpPr>
        <p:spPr>
          <a:xfrm>
            <a:off x="56692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 CONTRAST</a:t>
            </a:r>
            <a:endParaRPr lang="en-US" sz="11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897112"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يَخْلُصُ إِلَى أَنَّ</a:t>
            </a:r>
            <a:endParaRPr lang="ar-SA" sz="2400" dirty="0"/>
          </a:p>
        </p:txBody>
      </p:sp>
      <p:sp>
        <p:nvSpPr>
          <p:cNvPr id="45" name="Text 42"/>
          <p:cNvSpPr txBox="1"/>
          <p:nvPr/>
        </p:nvSpPr>
        <p:spPr>
          <a:xfrm>
            <a:off x="3776472" y="523402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يَخْلُصُ الكَاتِبُ إِلَى أَنَّ السُّلُوكَ … أَقْوَى مِنَ المَلَابِسِ.</a:t>
            </a:r>
            <a:endParaRPr lang="ar-SA" sz="1950" dirty="0"/>
          </a:p>
        </p:txBody>
      </p:sp>
      <p:sp>
        <p:nvSpPr>
          <p:cNvPr id="46" name="Text 43"/>
          <p:cNvSpPr txBox="1"/>
          <p:nvPr/>
        </p:nvSpPr>
        <p:spPr>
          <a:xfrm>
            <a:off x="3730752" y="5625023"/>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writer concludes that behaviour … is stronger than clothes.</a:t>
            </a:r>
            <a:endParaRPr lang="en-US" sz="950" dirty="0"/>
          </a:p>
        </p:txBody>
      </p:sp>
      <p:sp>
        <p:nvSpPr>
          <p:cNvPr id="47" name="Text 44"/>
          <p:cNvSpPr txBox="1"/>
          <p:nvPr/>
        </p:nvSpPr>
        <p:spPr>
          <a:xfrm>
            <a:off x="56692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the CONCLUSION</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 tip: the answer to “What is the writer’s view?” is usually in the first and the last sentence.</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REFERENCE AND AGREEMENT IN A TEXT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What does it refer to? Do I agree?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المَرْجِعُ · أَتَّفِقُ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REFERENCE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ـهُ / ـهَا / هِيَ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يَصِفُ فَتَاةً … بَيْنَمَا هِيَ مَرِحَةٌ مَعَ أَصْدِقَائِهَا.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describes a girl … whereas she is cheerful with her friends.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hiya / -hā = the girl.</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AGREE · CORE</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أَتَّفِقُ مَعَ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أَتَّفِقُ مَعَ الكَاتِبِ لِأَنَّ السُّلُوكَ أَقْوَى دَلِيلٍ.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agree with the writer because behaviour is the strongest evidence.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Agree + because.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DISAGREE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لَا أَتَّفِقُ تَمَامًا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لَا أَتَّفِقُ تَمَامًا، لِأَنَّ المَلَابِسَ تُعَبِّرُ أَحْيَانًا عَنِ الشَّخْصِيَّةِ.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don’t fully agree, because clothes sometimes express personality.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Qualify with “sometimes”.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warning: never answer from one familiar word.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أَقْرَأُ الجُمْلَةَ كُلَّهَا وَأَتَأَكَّدُ مِنَ المَرْجِعِ.</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أَخْتَارُ أَوَّلَ كَلِمَةٍ أَعْرِفُهَا.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Reading reference, evidence and implied attitude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ea typeface="Amiri" pitchFamily="2" charset="-78"/>
                <a:cs typeface="Amiri" pitchFamily="2" charset="-78"/>
              </a:rPr>
              <a:t>مَهَارَاتُ القِرَاءَةِ: المَرْجِعُ وَالدَّلِيلُ وَالمَوْقِفُ</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Track reference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الاِسْمُ ← الضَّمِيرُ / الَّذِي / الَّتِي</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مَرْيَمُ تَرْتَدِي مِعْطَفًا، وَهُوَ أَزْرَقُ.   ·   أَحْمَدُ هُوَ الَّذِي يَتَحَدَّثُ.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Distinguish fact and opinion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دَلِيلٌ صَرِيحٌ / رَأْيٌ مُعَلَّلٌ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يَرْتَدِي قَمِيصًا أَبْيَضَ.   ·   فِي رَأْيِي، أُسْلُوبُهُ أَنِيقٌ.</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Follow comparison and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 بَيْنَمَا / وَلٰكِنَّ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هِيَ أَكْثَرُ ثِقَةً مِنْهُ.   ·   هُوَ هَادِئٌ، بَيْنَمَا هِيَ مَرِحَةٌ.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Infer from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السُّلُوكُ ← الصِّفَةُ المُحْتَمَلَةُ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يُسَاعِدُ الجَمِيعَ؛ لِذٰلِكَ يَبْدُو مُتَعَاوِنًا.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قَمِيصًا أَسْوَدَ.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 هُوَ أَنِيقٌ.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 يَكُونُ خَجُولًا.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قَصِيرٌ.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أَرَى أَنَّ أُسْلُوبَهُ مُنَاسِبٌ.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ثَمَنُهُ خَمْسُونَ جُنَيْهًا.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مُتَعَاوِنَةٌ لِأَنَّهَا تُسَاعِدُ زَمِيلَاتِهَا.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مُتَعَاوِنَةٌ لِأَنَّ قَمِيصَهَا أَزْرَقُ.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مُتَعَاوِنَةٌ بِلَا دَلِيلٍ.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يَرْتَدِي قَمِيصًا أَسْوَدَ.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رَأْيِي هُوَ أَنِيقٌ.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 يَكُونُ خَجُولًا.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observable clothing.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قَصِيرٌ.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أَرَى أَنَّ أُسْلُوبَهُ مُنَاسِبٌ.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ثَمَنُهُ خَمْسُونَ جُنَيْهًا.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مُتَعَاوِنَةٌ لِأَنَّهَا تُسَاعِدُ زَمِيلَاتِهَا.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مُتَعَاوِنَةٌ لِأَنَّ قَمِيصَهَا أَزْرَقُ.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مُتَعَاوِنَةٌ بِلَا دَلِيلٍ.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action supports the inference.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find the writer’s 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مَا رَأْيُ الكَاتِبِ فِي المَظْهَرِ؟</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Look for “the writer thinks”.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First sentence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يَرَى الكَاتِبُ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المَظْهَرَ يُقَدِّمُ مَعْلُومَاتٍ عَنِ الذَّوْقِ،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Half the view …</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After “but”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2" charset="-78"/>
                <a:ea typeface="Amiri" pitchFamily="2" charset="-78"/>
                <a:cs typeface="Amiri" pitchFamily="2" charset="-78"/>
              </a:rPr>
              <a:t>وَلٰكِنَّهُ</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لَا يَكْشِفُ الشَّخْصِيَّةَ كُلَّهَا.</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 and its limit.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المَظْهَرُ لَا يَكْفِي لِلْحُكْمِ عَلَى الشَّخْصِيَّةِ.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 my own words.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 VIEW</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 LIMIT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MY ANSWER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السُّؤَالُ: مَا رَأْيُ الكَاتِبِ؟ ←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يَرَى الكَاتِبُ أَنَّ</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المَظْهَرَ يُقَدِّمُ مَعْلُومَاتٍ عَنِ الذَّوْقِ، </a:t>
            </a:r>
            <a:pPr rtl="1" algn="r" indent="0" marL="0">
              <a:lnSpc>
                <a:spcPct val="120000"/>
              </a:lnSpc>
              <a:buNone/>
            </a:pPr>
            <a:r>
              <a:rPr lang="ar-SA" altLang="en-US" sz="1500" b="1" dirty="0">
                <a:solidFill>
                  <a:srgbClr val="D6336C"/>
                </a:solidFill>
                <a:latin typeface="Amiri" pitchFamily="2" charset="-78"/>
                <a:ea typeface="Amiri" pitchFamily="2" charset="-78"/>
                <a:cs typeface="Amiri" pitchFamily="2" charset="-78"/>
              </a:rPr>
              <a:t>وَلٰكِنَّهُ</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لَا يَكْشِفُ الشَّخْصِيَّةَ كُلَّهَا. ← الجَوَابُ: </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المَظْهَرُ لَا يَكْفِي لِلْحُكْمِ عَلَى الشَّخْصِيَّةِ.</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Question: What is the writer’s view? → The writer thinks appearance gives information about taste, but it does not reveal the whole personality. → Answer: appearance is not enough to judge personality.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مَرْيَمُ تَرْتَدِي مِعْطَفًا، وَهُوَ أَزْرَقُ.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Maryam is wearing a coat, and it is blue.</a:t>
            </a:r>
            <a:endParaRPr lang="en-US" sz="1250" dirty="0"/>
          </a:p>
          <a:p>
            <a:pPr indent="0" marL="0">
              <a:buNone/>
            </a:pPr>
            <a:r>
              <a:rPr lang="en-US" sz="1050" i="1" dirty="0">
                <a:solidFill>
                  <a:srgbClr val="8A6D1E"/>
                </a:solidFill>
                <a:latin typeface="Calibri" pitchFamily="34" charset="0"/>
                <a:cs typeface="Amiri" pitchFamily="2" charset="-78"/>
              </a:rPr>
              <a:t>Reference: huwa = the coat.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رَأْيِي، أُسْلُوبُهُ أَنِيقٌ.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my opinion, his style is elegant.</a:t>
            </a:r>
            <a:endParaRPr lang="en-US" sz="1250" dirty="0"/>
          </a:p>
          <a:p>
            <a:pPr indent="0" marL="0">
              <a:buNone/>
            </a:pPr>
            <a:r>
              <a:rPr lang="en-US" sz="1050" i="1" dirty="0">
                <a:solidFill>
                  <a:srgbClr val="8A6D1E"/>
                </a:solidFill>
                <a:latin typeface="Calibri" pitchFamily="34" charset="0"/>
                <a:cs typeface="Amiri" pitchFamily="2" charset="-78"/>
              </a:rPr>
              <a:t>Opinion signal.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هُوَ هَادِئٌ، بَيْنَمَا هِيَ مَرِحَةٌ.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calm, whereas she is cheerful.</a:t>
            </a:r>
            <a:endParaRPr lang="en-US" sz="1250" dirty="0"/>
          </a:p>
          <a:p>
            <a:pPr indent="0" marL="0">
              <a:buNone/>
            </a:pPr>
            <a:r>
              <a:rPr lang="en-US" sz="1050" i="1" dirty="0">
                <a:solidFill>
                  <a:srgbClr val="8A6D1E"/>
                </a:solidFill>
                <a:latin typeface="Calibri" pitchFamily="34" charset="0"/>
                <a:cs typeface="Amiri" pitchFamily="2" charset="-78"/>
              </a:rPr>
              <a:t>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يُسَاعِدُ الجَمِيعَ؛ لِذٰلِكَ يَبْدُو مُتَعَاوِنًا.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helps everyone, so he seems helpful.</a:t>
            </a:r>
            <a:endParaRPr lang="en-US" sz="1250" dirty="0"/>
          </a:p>
          <a:p>
            <a:pPr indent="0" marL="0">
              <a:buNone/>
            </a:pPr>
            <a:r>
              <a:rPr lang="en-US" sz="1050" i="1" dirty="0">
                <a:solidFill>
                  <a:srgbClr val="8A6D1E"/>
                </a:solidFill>
                <a:latin typeface="Calibri" pitchFamily="34" charset="0"/>
                <a:cs typeface="Amiri" pitchFamily="2" charset="-78"/>
              </a:rPr>
              <a:t>Inference from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 opinion or inference?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يَرْتَدِي مَلَابِسَ بَسِيطَةً.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تُفَضِّلُ الأُسْلُوبَ الرَّسْمِيَّ.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تُقْرَأُ ثَلَاثُ رِسَالَاتٍ.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يَرَى الكَاتِبُ أَنَّ المَظْهَرَ لَا يَكْفِي.</a:t>
            </a:r>
            <a:endParaRPr lang="ar-SA" sz="17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الاِحْتِرَامُ أَهَمُّ مِنَ التَّشَابُهِ.</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يُسَاعِدُ الجَمِيعَ؛ لِذٰلِكَ يَبْدُو مُتَعَاوِنًا.</a:t>
            </a:r>
            <a:endParaRPr lang="ar-SA" sz="15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تَضْحَكُ مَعَ صَدِيقَاتِهَا؛ فَهِيَ مَرِحَةٌ.</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Inference</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يَرْتَدِي مَلَابِسَ بَسِيطَةً.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تُفَضِّلُ الأُسْلُوبَ الرَّسْمِيَّ.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تُقْرَأُ ثَلَاثُ رِسَالَاتٍ.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يَرَى الكَاتِبُ أَنَّ المَظْهَرَ لَا يَكْفِي.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الاِحْتِرَامُ أَهَمُّ مِنَ التَّشَابُهِ.</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Inference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يُسَاعِدُ الجَمِيعَ؛ لِذٰلِكَ يَبْدُو مُتَعَاوِنًا.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تَضْحَكُ مَعَ صَدِيقَاتِهَا؛ فَهِيَ مَرِحَةٌ.</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يَرَى الكَاتِبُ أَنَّ المَلَابِسَ تَكْشِفُ الشَّخْصِيَّةَ كُلَّهَا.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Read to the end: is the verb positive or negative?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يَصِفُ فَتَاةً … بَيْنَمَا هُوَ مَرِحٌ.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hiya?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الشَّابُّ مُبْدِعٌ لِأَنَّهُ يَرْتَدِي مَلَابِسَ بَسِيطَةً.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Contrast or reason in the text?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يَرَى الكَاتِبُ أَنَّ المَلَابِسَ تَكْشِفُ الشَّخْصِيَّةَ كُلَّهَا.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يَرَى الكَاتِبُ أَنَّ المَلَابِسَ لَا تَكْشِفُ الشَّخْصِيَّةَ كُلَّهَا.</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Read the whole clause — the verb is negative.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يَصِفُ فَتَاةً … بَيْنَمَا هُوَ مَرِحٌ.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يَصِفُ فَتَاةً … بَيْنَمَا هِيَ مَرِحَةٌ.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pronoun refers to the girl.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الشَّابُّ مُبْدِعٌ لِأَنَّهُ يَرْتَدِي مَلَابِسَ بَسِيطَةً.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الشَّابُّ يَرْتَدِي مَلَابِسَ بَسِيطَةً، وَلٰكِنَّهُ مُبْدِعٌ.</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text shows a contrast, not a reason.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Listening focus: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messages are read?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writes the first message?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teacher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young man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(female) student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describe her friend?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elegant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helpful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young man explain?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he prefers practical clothes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he likes fashion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he argues with his brother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third message compare?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shirts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relationships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schools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more important than being exactly alike?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money</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ثَلَاثُ</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طَالِبَةٍ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الاِحْتِرَامَ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تُقْرَأُ ثَلَاثُ رِسَالَاتٍ قَصِيرَةٍ.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short messages are read.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الأُولَى مِنْ طَالِبَةٍ تَصِفُ صَدِيقَتَهَا المُتَعَاوِنَةَ.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is from a student describing her helpful friend.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الثَّانِيَةُ مِنْ شَابٍّ يَشْرَحُ لِمَاذَا يُفَضِّلُ المَلَابِسَ العَمَلِيَّةَ.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is from a young man explaining why he prefers practical clothes.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الثَّالِثَةُ تُقَارِنُ بَيْنَ عِلَاقَتَيْنِ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third compares two relationships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وَتَذْكُرُ أَنَّ الاِحْتِرَامَ أَهَمُّ مِنَ التَّشَابُهِ التَّامِّ.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says that respect is more important than being exactly alike.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messages are read?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تُقْرَأُ ثَلَاثُ رِسَالَاتٍ قَصِيرَةٍ.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writes the first message?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teacher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young man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(female) student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الأُولَى مِنْ طَالِبَةٍ.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describe her friend?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elegant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helpful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صَدِيقَتَهَا المُتَعَاوِنَةَ.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young man explain?</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why he prefers practical clothes</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why he likes fashion</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why he argues with his brother</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يَشْرَحُ لِمَاذَا يُفَضِّلُ المَلَابِسَ العَمَلِيَّةَ.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third message compare?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shirts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relationships</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schools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تُقَارِنُ بَيْنَ عَلَاقَتَيْنِ.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more important than being exactly alike?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respect</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clothes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money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الاِحْتِرَامَ أَهَمُّ مِنَ التَّشَابُهِ التَّامِّ.</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ثَلَاثُ</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طَالِبَةٍ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الاِحْتِرَامَ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focus: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مَقَالٌ: كَيْفَ نُقَيِّمُ الأَشْخَاصَ وَالأُسْلُوبَ؟ يَرَى الكَاتِبُ أَنَّ المَظْهَرَ يُقَدِّمُ مَعْلُومَاتٍ عَنِ الذَّوْقِ وَالمُنَاسَبَةِ، وَلٰكِنَّهُ لَا يَكْشِفُ الشَّخْصِيَّةَ كُلَّهَا. يَذْكُرُ مِثَالًا لِشَابٍّ يَرْتَدِي مَلَابِسَ بَسِيطَةً وَلٰكِنَّهُ وَاثِقٌ وَمُبْدِعٌ. وَيَصِفُ فَتَاةً تُفَضِّلُ الأُسْلُوبَ الرَّسْمِيَّ، بَيْنَمَا هِيَ مَرِحَةٌ مَعَ أَصْدِقَائِهَا. يَخْلُصُ الكَاتِبُ إِلَى أَنَّ السُّلُوكَ وَالعَلَاقَاتِ يُقَدِّمَانِ دَلِيلًا أَقْوَى مِنَ المَلَابِسِ وَحْدَهَا.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نُقَيِّمُ</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judge, evaluate</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يُقَدِّمُ مَعْلُومَاتٍ</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gives information</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المُنَاسَبَةِ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occasion</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يَكْشِفُ</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does not reveal</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كُلَّهَا</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 of it</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يَذْكُرُ مِثَالًا</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gives an example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مُبْدِعٌ</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creative</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يَخْلُصُ إِلَى أَنَّ</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concludes that</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السُّلُوكَ</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behaviour</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وَحْدَهَا</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alone</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What does appearance give information about, according to the writer?</a:t>
            </a:r>
            <a:endParaRPr lang="en-US" sz="9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whole personality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taste and the occasion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money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appearance NOT do?</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 taste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suit an occasion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reveal the whole personality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young man in the example like?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simple clothes, but confident and creative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clothes and shy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clothes and selfish</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style does the girl prefer?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colourful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بَيْنَمَا هِيَ مَرِحَةٌ</a:t>
            </a:r>
            <a:pPr algn="l" indent="0" marL="0">
              <a:buNone/>
            </a:pPr>
            <a:r>
              <a:rPr lang="en-US" sz="1250" b="1" dirty="0">
                <a:solidFill>
                  <a:srgbClr val="1B3B6F"/>
                </a:solidFill>
                <a:latin typeface="Calibri" pitchFamily="34" charset="0"/>
                <a:cs typeface="Amiri" pitchFamily="2" charset="-78"/>
              </a:rPr>
              <a:t>, who is cheerful?</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girl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young man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clothes show everything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clothes are best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behaviour and relationships are stronger evidence than clothes</a:t>
            </a:r>
            <a:endParaRPr lang="en-US" sz="1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What does appearance give information about, according to the writer?</a:t>
            </a:r>
            <a:endParaRPr lang="en-US" sz="9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whole personality</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taste and the occasion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money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يُقَدِّمُ مَعْلُومَاتٍ عَنِ الذَّوْقِ وَالمُنَاسَبَةِ.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appearance NOT do?</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show taste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suit an occasion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reveal the whole personality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يَكْشِفُ الشَّخْصِيَّةَ كُلَّهَا.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young man in the example like?</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simple clothes, but confident and creative</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 clothes and shy</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expensive clothes and selfish</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مَلَابِسَ بَسِيطَةً وَلٰكِنَّهُ وَاثِقٌ وَمُبْدِعٌ.</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style does the girl prefer?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colourful</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formal</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تُفَضِّلُ الأُسْلُوبَ الرَّسْمِيَّ.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بَيْنَمَا هِيَ مَرِحَةٌ</a:t>
            </a:r>
            <a:pPr algn="l" indent="0" marL="0">
              <a:buNone/>
            </a:pPr>
            <a:r>
              <a:rPr lang="en-US" sz="1250" b="1" dirty="0">
                <a:solidFill>
                  <a:srgbClr val="1B3B6F"/>
                </a:solidFill>
                <a:latin typeface="Calibri" pitchFamily="34" charset="0"/>
                <a:cs typeface="Amiri" pitchFamily="2" charset="-78"/>
              </a:rPr>
              <a:t>, who is cheerful?</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girl</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young man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 the girl.</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clothes show everything</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 clothes are best</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behaviour and relationships are stronger evidence than clothes</a:t>
            </a:r>
            <a:endParaRPr lang="en-US" sz="10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ea typeface="Amiri" pitchFamily="2" charset="-78"/>
                <a:cs typeface="Amiri" pitchFamily="2" charset="-78"/>
              </a:rPr>
              <a:t>السُّلُوكَ وَالعَلَاقَاتِ يُقَدِّمَانِ دَلِيلًا أَقْوَى مِنَ المَلَابِسِ.</a:t>
            </a:r>
            <a:endParaRPr lang="ar-SA" sz="100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Developed speaking: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غَرَضُ النَّصِّ؟</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الدَّلِيلُ الَّذِي يُقَدِّمُهُ الكَاتِبُ؟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إِلَى مَنْ يَعُودُ الضَّمِيرُ «هِيَ»؟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تَتَّفِقُ مَعَ خُلَاصَةِ النَّصِّ؟</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النَّصُّ عَنْ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يَذْكُرُ الكَاتِبُ مِثَالًا لِـ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يَعُودُ الضَّمِيرُ «هِيَ» إِلَى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أَتَّفِقُ / لَا أَتَّفِقُ تَمَامًا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رَأْيُ الكَاتِبِ؟</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writer’s view?</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يَرَى أَنَّ المَظْهَرَ لَا يَكْفِي لِلْحُكْمِ عَلَى الشَّخْصِيَّةِ.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thinks that appearance is not enough to judge personality.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Summarise the article: the view, the young man, the girl, the conclusion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Summary + compare the two examples + say whether you agree, with one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respond to the article — summarise the view, use evidence, compare two examples and give your own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وَلٰكِنَّهُ وَاثِقٌ.</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he is confident.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هِيَ مَرِحَةٌ.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she is cheerful.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أَتَّفِقُ مَعَ الكَاتِبِ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agree with the writer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أَتَّفِقُ تَمَامًا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fully agree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لَا نَعْتَمِدُ عَلَى الاِنْطِبَاعِ الأَوَّلِ.</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we must not rely on first impressions.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قَرَأْتُ مَقَالًا عَنْ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an article about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الكَاتِبُ أَنَّ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thinks that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يَذْكُرُ مِثَالًا لِشَابٍّ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gives the example of a young man who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يَصِفُ فَتَاةً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describes a girl who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يَخْلُصُ الكَاتِبُ إِلَى 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concludes that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مَقَالٌ  ·  الكَاتِبُ  ·  يَرَى أَنَّ  ·  يَذْكُرُ مِثَالًا  ·  يَصِفُ  ·  بَيْنَمَا  ·  وَلٰكِنَّهُ  ·  يَخْلُصُ إِلَى أَنَّ  ·  أَتَّفِقُ  ·  السُّلُوكُ  ·  المَظْهَرُ  ·  الدَّلِيلُ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responding to an article about whether appearance shows personality. Summarise the view, use evidence, compare two examples and give your conclusion.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أَنَّهُ وَاثِقٌ وَمُبْدِعٌ</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even though he is confident and creative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كَمَا يَصِفُ فَتَاةً أُسْلُوبُهَا رَسْمِيٌّ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also describes a girl whose style is formal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السُّلُوكُ أَقْوَى دَلِيلٍ عَلَى الشَّخْصِيَّةِ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behaviour is the strongest evidence of personality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نَقْرَأُ المَعْلُومَاتِ بِدِقَّةٍ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read the information carefully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نَعْتَمِدُ عَلَى الاِنْطِبَاعِ الأَوَّلِ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do not rely on the first impression</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قَرَأْتُ مَقَالًا عَنْ العَلَاقَةِ بَيْنَ المَظْهَرِ وَالشَّخْصِيَّةِ. يَرَى الكَاتِبُ أَنَّ المَلَابِسَ قَدْ تُعَبِّرُ عَنِ الذَّوْقِ، وَلٰكِنَّهَا لَا تَكْفِي لِلْحُكْمِ عَلَى أَحَدٍ. يُقَدِّمُ مِثَالًا لِشَابٍّ يَرْتَدِي مَلَابِسَ بَسِيطَةً، مَعَ أَنَّهُ وَاثِقٌ وَمُبْدِعٌ. كَمَا يَصِفُ فَتَاةً أُسْلُوبُهَا رَسْمِيٌّ، بَيْنَمَا هِيَ مَرِحَةٌ مَعَ صَدِيقَاتِهَا. أَتَّفِقُ مَعَ الكَاتِبِ، لِأَنَّ السُّلُوكَ أَقْوَى دَلِيلٍ عَلَى الشَّخْصِيَّةِ. لِذٰلِكَ يَجِبُ أَنْ نَقْرَأَ المَعْلُومَاتِ بِدِقَّةٍ وَلَا نَعْتَمِدَ عَلَى الاِنْطِبَاعِ الأَوَّلِ.</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read an article about the relationship between appearance and personality. The writer thinks that clothes may express taste, but they are not enough to judge anyone. He gives the example of a young man who wears simple clothes, even though he is confident and creative. He also describes a girl whose style is formal, whereas she is cheerful with her friends. I agree with the writer, because behaviour is the strongest evidence of personality. So we must read information carefully and not rely on first impressions.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writer’s view</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two examples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student’s agreement and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found the writer’s view and the conclusion.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example from the text.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pronouns refer to the right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the contrast.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agreed or disagreed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أَرَى أَنَّ أُسْلُوبَهُ مُنَاسِبٌ.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قَصِيرٌ.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ثَمَنُهُ خَمْسُونَ جُنَيْهًا.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وَلٰكِنَّ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signals contrast.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أَرَى أَنَّ أُسْلُوبَهُ مُنَاسِبٌ.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لَهُ شَعْرٌ قَصِيرٌ.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ثَمَنُهُ خَمْسُونَ جُنَيْهًا.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personality, relationships and fashion Arabic challenge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 هُوَ أَنِيقٌ.</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 يَكُونُ خَجُولًا.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قَمِيصًا أَسْوَدَ.</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قَصِيرٌ.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ثَمَنُهُ خَمْسُونَ جُنَيْهًا.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أَرَى أَنَّ أُسْلُوبَهُ مُنَاسِبٌ.</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هِيَ أَكْثَرُ ثِقَةً ___ أُخْتِهَا.</a:t>
            </a:r>
            <a:endParaRPr lang="ar-SA" sz="140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حِذَاءً أَسْوَدَ.</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يُقَدِّمُ وَقْتَهُ لِمُسَاعَدَةِ الآخَرِينَ.</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طَوِيلٌ.</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وَلٰكِنَّ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signals contrast.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رَأْيِي هُوَ أَنِيقٌ.</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 يَكُونُ خَجُولًا.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يَرْتَدِي قَمِيصًا أَسْوَدَ.</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observable clothing.</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قَصِيرٌ.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ثَمَنُهُ خَمْسُونَ جُنَيْهًا.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أَرَى أَنَّ أُسْلُوبَهُ مُنَاسِبٌ.</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هِيَ أَكْثَرُ ثِقَةً ___ أُخْتِهَا.</a:t>
            </a:r>
            <a:endParaRPr lang="ar-SA" sz="140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uses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 حِذَاءً أَسْوَدَ.</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يُقَدِّمُ وَقْتَهُ لِمُسَاعَدَةِ الآخَرِينَ.</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طَوِيلٌ.</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Giving time to help others supports generosity.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D2-L09 · Speaking — People, Relationships and Style Topic Conversation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كَيْفَ هُوَ؟ / كَيْفَ هِيَ؟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is he / she like?</a:t>
            </a:r>
            <a:pPr indent="0" marL="0">
              <a:buNone/>
            </a:pPr>
            <a:r>
              <a:rPr lang="en-US" sz="1000" i="1" dirty="0">
                <a:solidFill>
                  <a:srgbClr val="5A6472"/>
                </a:solidFill>
                <a:latin typeface="Calibri" pitchFamily="34" charset="0"/>
                <a:cs typeface="Amiri" pitchFamily="2" charset="-78"/>
              </a:rPr>
              <a:t>  D2-L01</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يَدْعَمُكَ؟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Who supports you?</a:t>
            </a:r>
            <a:pPr indent="0" marL="0">
              <a:buNone/>
            </a:pPr>
            <a:r>
              <a:rPr lang="en-US" sz="1000" i="1" dirty="0">
                <a:solidFill>
                  <a:srgbClr val="5A6472"/>
                </a:solidFill>
                <a:latin typeface="Calibri" pitchFamily="34" charset="0"/>
                <a:cs typeface="Amiri" pitchFamily="2" charset="-78"/>
              </a:rPr>
              <a:t>  D2-L02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 أُسْلُوبُكَ؟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is your style?</a:t>
            </a:r>
            <a:pPr indent="0" marL="0">
              <a:buNone/>
            </a:pPr>
            <a:r>
              <a:rPr lang="en-US" sz="1000" i="1" dirty="0">
                <a:solidFill>
                  <a:srgbClr val="5A6472"/>
                </a:solidFill>
                <a:latin typeface="Calibri" pitchFamily="34" charset="0"/>
                <a:cs typeface="Amiri" pitchFamily="2" charset="-78"/>
              </a:rPr>
              <a:t>  D2-L04</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أَيُّهُمَا تُفَضِّلُ؟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Which of the two do you prefer?</a:t>
            </a:r>
            <a:pPr indent="0" marL="0">
              <a:buNone/>
            </a:pPr>
            <a:r>
              <a:rPr lang="en-US" sz="1000" i="1" dirty="0">
                <a:solidFill>
                  <a:srgbClr val="5A6472"/>
                </a:solidFill>
                <a:latin typeface="Calibri" pitchFamily="34" charset="0"/>
                <a:cs typeface="Amiri" pitchFamily="2" charset="-78"/>
              </a:rPr>
              <a:t>  D2-L05</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هَلْ تَتَّفِقُ؟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 you agree?</a:t>
            </a:r>
            <a:pPr indent="0" marL="0">
              <a:buNone/>
            </a:pPr>
            <a:r>
              <a:rPr lang="en-US" sz="1000" i="1" dirty="0">
                <a:solidFill>
                  <a:srgbClr val="5A6472"/>
                </a:solidFill>
                <a:latin typeface="Calibri" pitchFamily="34" charset="0"/>
                <a:cs typeface="Amiri" pitchFamily="2" charset="-78"/>
              </a:rPr>
              <a:t>  D2-L08</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D2-L09 is a conversation lesson. Prepare 3–5 cue words (not a script) for: “Describe a person who is important to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صِفْ شَخْصًا مُهِمًّا 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D2-L08: re-read the article and answer the six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an 8-sentence summary of the article with your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100–120-word response to the article.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D2-L09 · Speaking — People, Relationships and Style Topic Conversation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المُحَادَثَةُ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view → example → contrast → conclusion. Find the moves first.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D2-L08 · Reading — Personality, Relationships and Fashion Texts</dc:title>
  <dc:subject>PptxGenJS Presentation</dc:subject>
  <dc:creator>Al Madina Online School · Arabic Department</dc:creator>
  <cp:lastModifiedBy>Al Madina Online School · Arabic Department</cp:lastModifiedBy>
  <cp:revision>1</cp:revision>
  <dcterms:created xsi:type="dcterms:W3CDTF">2026-10-11T06:40:38Z</dcterms:created>
  <dcterms:modified xsi:type="dcterms:W3CDTF">2026-10-11T06:40:38Z</dcterms:modified>
</cp:coreProperties>
</file>