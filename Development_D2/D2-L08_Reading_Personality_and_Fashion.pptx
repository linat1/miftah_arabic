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D2-L08. The website lesson “Reading — Personality, Relationships and Fashion Texts”: vocabulary, grammar rules and quiz, patterns, common mistakes, sorter, listening, reading, speaking prompts and model, writing task and model, differentiation, final check and the lesson mission. Picture match: website visual game “Reading — Personality, Relationships and Fashion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READING-SKILLS lesson: the website article (“How do we judge people and style?”) is the main You Do task. Teaching focuses on the language of an argument text: the writer’s view, examples, contrast, conclusion.
• Core: questions 1–3 (the writer’s view and the first example) with the key-words panel. Develop: all 6. Stretch: the written response (agree / disagree with evidence).
• The grammar quiz on the website repeats D2-L07 — here it is used as retrieval (quick check) only.
• Urdu bridge: مضمون ≠ مَقَالٌ, مثال، خلاصہ، رائے، ثبوت / دلیل.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revision words prepared at home. Questions 3–5 retrieve D2-L07 (fact, opinion, inference) and D2-L06 (appearance agreement).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An opinion article has four moves: the view → an example → a contrast → the conclusion. Find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(article, thesis) → مَقَالٌ; مثال → مِثَالٌ; خلاصہ (summary) shares the root of يَخْلُصُ إِلَى (he concludes) and خُلَاصَةٌ; کاتب (a scribe) → الكَاتِبُ (the writer). اِنْطِبَاعٌ (impression) has no Urdu cognate: الاِنْطِبَاعُ الأَوَّلُ = first impression.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(1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evidence signals (website vocabulary (2 of 2)). Hear → Say → See → Use. Transliteration is printed for Core students (cover it for Develop/Stretch).
Reading evidence signals (revision). In a READING text, they show the writer’s structure: لِأَنَّ = reason · وَلٰكِنَّ / بَيْنَمَا = contrast · لِذٰلِكَ = result · فِي رَأْيِي =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(1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(2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People and relationships (website vocabulary (3 of 3)). Hear → Say → See → Use. Transliteration is printed for Core students (cover it for Develop/Stretch).
FLEX: teach if time allows; otherwise these are on the website vocabulary tab for homework.
People and relationships (FLEX) — D2-L01/L02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(1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(2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Fashion and evaluation (website vocabulary (3 of 3)). Hear → Say → See → Use. Transliteration is printed for Core students (cover it for Develop/Stretch).
FLEX: teach if time allows; otherwise these are on the website vocabulary tab for homework.
Fashion and evaluation (FLEX) — D2-L03/L04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teacher-built from the website article, applying the website rules “Distinguish fact and opinion” and “Follow comparison and contrast”. Teacher script: “Articles are built like a sandwich: view – examples – conclusion. Find the bread first.”
Core: highlight rows 1 and 5 in the article (view and conclusion) before reading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“Track reference” and “Infer from evidence”, plus the response language needed for the website writing task (summarise the view, use evidence, give your conclusion).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“Read profiles, messages and articles, tracking pronouns, comparisons and the writer’s supported viewpoint.”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reads the first sentence of the website article and thinks aloud; the answer matches the website speaking model (يَرَى أَنَّ المَظْهَرَ لَا يَكْفِي لِلْحُكْمِ عَلَى الشَّخْصِيَّةِ).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sentence 4 (the inference). • Develop: copy sentences 2–3 and change the people. • Stretch: write one sentence with يَرَى الكَاتِبُ أَنَّ about the 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from the texts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6.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تُقْرَأُ ثَلَاثُ رِسَالَاتٍ قَصِيرَةٍ. الأُولَى مِنْ طَالِبَةٍ تَصِفُ صَدِيقَتَهَا المُتَعَاوِنَةَ. الثَّانِيَةُ مِنْ شَابٍّ يَشْرَحُ لِمَاذَا يُفَضِّلُ المَلَابِسَ العَمَلِيَّةَ. الثَّالِثَةُ تُقَارِنُ بَيْنَ عِلَاقَتَيْنِ وَتَذْكُرُ أَنَّ الاِحْتِرَامَ أَهَمُّ مِنَ التَّشَابُهِ التَّامِّ.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article “How do we judge people and style?”. First read: underline the VIEW (يَرَى) and the CONCLUSION (يَخْلُصُ). Second read: the two examples and the contrast.
Core: questions 1–3. Develop: all 6. Stretch: then the written response.
(Questions are teacher-written: the website questions for this text are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الدَّلِيلُ؟ (What is the evidence?)
B: يُقَدِّمُ مِثَالَيْنِ يُخَالِفُ فِيهِمَا المَظْهَرُ الشَّخْصِيَّةَ. (He gives two examples where appearance differs from personality.)
Website prompts (prompt 3 adapted to the article). Website model continues: A: مَا الدَّلِيلُ؟ (What is the evidence?) B: يُقَدِّمُ مِثَالَيْنِ يُخَالِفُ فِيهِمَا المَظْهَرُ الشَّخْصِيَّةَ. (He gives two examples in which appearance differs from personality.)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responding to an article about whether appearance shows personality. Summarise the view, use evidence, compare two examples and give your conclusion.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يَرَى الكَاتِبُ أَنَّ … وَلٰكِنَّهَا لَا تَكْفِي · مِثَالًا لِشَابٍّ … / يَصِفُ فَتَاةً … · مَعَ أَنَّهُ / بَيْنَمَا هِيَ · أَتَّفِقُ مَعَ الكَاتِبِ لِأَنَّ … (Spelling note: the website model writes عَنْ العَلَاقَةِ; standard Arabic joins it as عَنِ العَلَاقَةِ.)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(D2-L09 · Speaking — People, Relationships and Style Topic Conversation) will spend class time USING this language, so students prepare it tonight — short, simple, easy to access (school guidance: “Simple, Short, Interesting, Relevant, Easy to access”). D2-L09 is a topic conversation across the whole unit: these five questions (one from each key lesson) are the conversation starters.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D2  ·  D2-L08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D2-L08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 Personality, Relationships and Fashion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الشَّخْصِيَّةِ وَالعَلَاقَاتِ وَالمَوْضَةِ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an opinion article like an examiner: find the writer’s view (</a:t>
            </a:r>
            <a:pPr algn="l" indent="0" marL="0">
              <a:buNone/>
            </a:pPr>
            <a:r>
              <a:rPr lang="ar-SA" altLang="en-US" sz="1800" dirty="0">
                <a:solidFill>
                  <a:srgbClr val="C6D2E6"/>
                </a:solidFill>
                <a:latin typeface="Amiri" pitchFamily="34" charset="0"/>
                <a:ea typeface="Amiri" pitchFamily="34" charset="-122"/>
                <a:cs typeface="Amiri" pitchFamily="34" charset="-120"/>
              </a:rPr>
              <a:t>يَرَى أَنَّ</a:t>
            </a:r>
            <a:pPr algn="l" indent="0" marL="0">
              <a:buNone/>
            </a:pPr>
            <a:r>
              <a:rPr lang="en-US" sz="1400" dirty="0">
                <a:solidFill>
                  <a:srgbClr val="C6D2E6"/>
                </a:solidFill>
                <a:latin typeface="Calibri" pitchFamily="34" charset="0"/>
                <a:ea typeface="Calibri" pitchFamily="34" charset="-122"/>
                <a:cs typeface="Calibri" pitchFamily="34" charset="-120"/>
              </a:rPr>
              <a:t>), the examples (</a:t>
            </a:r>
            <a:pPr algn="l" indent="0" marL="0">
              <a:buNone/>
            </a:pPr>
            <a:r>
              <a:rPr lang="ar-SA" altLang="en-US" sz="1800" dirty="0">
                <a:solidFill>
                  <a:srgbClr val="C6D2E6"/>
                </a:solidFill>
                <a:latin typeface="Amiri" pitchFamily="34" charset="0"/>
                <a:ea typeface="Amiri" pitchFamily="34" charset="-122"/>
                <a:cs typeface="Amiri" pitchFamily="34" charset="-120"/>
              </a:rPr>
              <a:t>يَذْكُرُ مِثَالًا</a:t>
            </a:r>
            <a:pPr algn="l" indent="0" marL="0">
              <a:buNone/>
            </a:pPr>
            <a:r>
              <a:rPr lang="en-US" sz="1400" dirty="0">
                <a:solidFill>
                  <a:srgbClr val="C6D2E6"/>
                </a:solidFill>
                <a:latin typeface="Calibri" pitchFamily="34" charset="0"/>
                <a:ea typeface="Calibri" pitchFamily="34" charset="-122"/>
                <a:cs typeface="Calibri" pitchFamily="34" charset="-120"/>
              </a:rPr>
              <a:t>), the contrast (</a:t>
            </a:r>
            <a:pPr algn="l" indent="0" marL="0">
              <a:buNone/>
            </a:pPr>
            <a:r>
              <a:rPr lang="ar-SA" altLang="en-US" sz="1800" dirty="0">
                <a:solidFill>
                  <a:srgbClr val="C6D2E6"/>
                </a:solidFill>
                <a:latin typeface="Amiri" pitchFamily="34" charset="0"/>
                <a:ea typeface="Amiri" pitchFamily="34" charset="-122"/>
                <a:cs typeface="Amiri" pitchFamily="34" charset="-120"/>
              </a:rPr>
              <a:t>بَيْنَمَا، وَلٰكِنَّ</a:t>
            </a:r>
            <a:pPr algn="l" indent="0" marL="0">
              <a:buNone/>
            </a:pPr>
            <a:r>
              <a:rPr lang="en-US" sz="1400" dirty="0">
                <a:solidFill>
                  <a:srgbClr val="C6D2E6"/>
                </a:solidFill>
                <a:latin typeface="Calibri" pitchFamily="34" charset="0"/>
                <a:ea typeface="Calibri" pitchFamily="34" charset="-122"/>
                <a:cs typeface="Calibri" pitchFamily="34" charset="-120"/>
              </a:rPr>
              <a:t>) and the conclusion (</a:t>
            </a:r>
            <a:pPr algn="l" indent="0" marL="0">
              <a:buNone/>
            </a:pPr>
            <a:r>
              <a:rPr lang="ar-SA" altLang="en-US" sz="1800" dirty="0">
                <a:solidFill>
                  <a:srgbClr val="C6D2E6"/>
                </a:solidFill>
                <a:latin typeface="Amiri" pitchFamily="34" charset="0"/>
                <a:ea typeface="Amiri" pitchFamily="34" charset="-122"/>
                <a:cs typeface="Amiri" pitchFamily="34" charset="-120"/>
              </a:rPr>
              <a:t>يَخْلُصُ إِلَى أَنَّ</a:t>
            </a:r>
            <a:pPr algn="l" indent="0" marL="0">
              <a:buNone/>
            </a:pPr>
            <a:r>
              <a:rPr lang="en-US" sz="1400" dirty="0">
                <a:solidFill>
                  <a:srgbClr val="C6D2E6"/>
                </a:solidFill>
                <a:latin typeface="Calibri" pitchFamily="34" charset="0"/>
                <a:ea typeface="Calibri" pitchFamily="34" charset="-122"/>
                <a:cs typeface="Calibri" pitchFamily="34" charset="-120"/>
              </a:rPr>
              <a:t>) — then agree or disagree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D2-L08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D2 › D2-L08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writer thinks … gives an example … but … concludes that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Find the writer’s moves, sort,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D2-L09.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compares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expresses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buys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friend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classmate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مُتَعَاوِنٌ لِأَنَّ قَمِيصَهُ أَزْرَقُ.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مُتَعَاوِنٌ بِلَا دَلِيلٍ.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مُتَعَاوِنٌ لِأَنَّهُ يُسَاعِدُ زُمَلَاءَهُ.</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brown eyes.”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عَيْنَانِ بُنِّيَّتَانِ.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لَهَا عَيْنَانِ بُنِّيٌّ.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عَيْنٌ بُنِّيَّتَانِ.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يُعَبِّرُ عَنْ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compares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expresses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buys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صَدِيقٌ مُقَرَّبٌ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close friend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friend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classmate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قَمِيصًا أَسْوَدَ.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D2-L07: opinion signal.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مُتَعَاوِنٌ لِأَنَّ قَمِيصَهُ أَزْرَقُ.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مُتَعَاوِنٌ بِلَا دَلِيلٍ.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هُوَ مُتَعَاوِنٌ لِأَنَّهُ يُسَاعِدُ زُمَلَاءَهُ.</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D2-L07: behaviour = evidence.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brown eyes.”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لَهَا عَيْنَانِ بُنِّيَّتَانِ.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لَهَا عَيْنَانِ بُنِّيٌّ.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عَيْنٌ بُنِّيَّتَانِ.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D2-L06: dual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An opinion article has four moves: the view → an example → a contrast → the conclusion. Find each one.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يَرَى الكَاتِبُ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يَذْكُرُ مِثَالًا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بَيْنَمَا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يَخْلُصُ إِلَى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Control the key D2-L08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Understand and apply the target grammar: Reading reference, evidence and implied attitude.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writer’s main view.</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one example in the text.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 contrast and what a pronoun refers to.</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answer all six reading questions with evidence.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summarise the article in my own words.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agree or disagree,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42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evidence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People and relationships · 14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Fashion and evaluation · 16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مَقَالٌ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‎مقالہ‎ </a:t>
            </a:r>
            <a:pPr indent="0" marL="0">
              <a:buNone/>
            </a:pPr>
            <a:r>
              <a:rPr lang="en-US" sz="950" b="1" dirty="0">
                <a:solidFill>
                  <a:srgbClr val="2E8B57"/>
                </a:solidFill>
                <a:latin typeface="Calibri" pitchFamily="34" charset="0"/>
                <a:ea typeface="Calibri" pitchFamily="34" charset="-122"/>
                <a:cs typeface="Calibri" pitchFamily="34" charset="-120"/>
              </a:rPr>
              <a:t> maqāla · article, essay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خُلَاصَةٌ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‎خلاصہ‎ </a:t>
            </a:r>
            <a:pPr indent="0" marL="0">
              <a:buNone/>
            </a:pPr>
            <a:r>
              <a:rPr lang="en-US" sz="950" b="1" dirty="0">
                <a:solidFill>
                  <a:srgbClr val="2E8B57"/>
                </a:solidFill>
                <a:latin typeface="Calibri" pitchFamily="34" charset="0"/>
                <a:ea typeface="Calibri" pitchFamily="34" charset="-122"/>
                <a:cs typeface="Calibri" pitchFamily="34" charset="-120"/>
              </a:rPr>
              <a:t> khulāsa · summary, conclusion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الكَاتِبُ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‎کاتب‎ </a:t>
            </a:r>
            <a:pPr indent="0" marL="0">
              <a:buNone/>
            </a:pPr>
            <a:r>
              <a:rPr lang="en-US" sz="950" b="1" dirty="0">
                <a:solidFill>
                  <a:srgbClr val="2E8B57"/>
                </a:solidFill>
                <a:latin typeface="Calibri" pitchFamily="34" charset="0"/>
                <a:ea typeface="Calibri" pitchFamily="34" charset="-122"/>
                <a:cs typeface="Calibri" pitchFamily="34" charset="-120"/>
              </a:rPr>
              <a:t> kātib · Urdu: scribe · Arabic: writer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اِنْطِبَاعٌ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‎تاثر‎ </a:t>
            </a:r>
            <a:pPr indent="0" marL="0">
              <a:buNone/>
            </a:pPr>
            <a:r>
              <a:rPr lang="en-US" sz="950" b="1" dirty="0">
                <a:solidFill>
                  <a:srgbClr val="2E8B57"/>
                </a:solidFill>
                <a:latin typeface="Calibri" pitchFamily="34" charset="0"/>
                <a:ea typeface="Calibri" pitchFamily="34" charset="-122"/>
                <a:cs typeface="Calibri" pitchFamily="34" charset="-120"/>
              </a:rPr>
              <a:t> tāssur · impression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but/however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whereas/while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evidence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especially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usually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relationships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friendly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honest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patient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helpful/cooperative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hard-working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مُجْتَهِدٌ</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relationships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 / مَرِحَةٌ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cheerful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ma-ri-ḥun / ma-ri-ḥa-tun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هَادِئٌ / هَادِئَةٌ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hā-di-ʾun / hā-di-ʾa-tun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هَادِئٌ</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خَجُولٌ / خَجُولَةٌ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kha-jū-lun / kha-jū-la-tun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خَجُولٌ</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8" name="Text 6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أَتَفَاهَمُ مَعَ</a:t>
            </a:r>
            <a:endParaRPr lang="ar-SA" sz="3000" dirty="0"/>
          </a:p>
        </p:txBody>
      </p:sp>
      <p:sp>
        <p:nvSpPr>
          <p:cNvPr id="69" name="Text 6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get on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a-ta-fā-ha-mu ma-ʿa</a:t>
            </a:r>
            <a:endParaRPr lang="en-US"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أَخْتَلِفُ مَعَ</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disagree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akh-ta-li-fu ma-ʿa</a:t>
            </a:r>
            <a:endParaRPr lang="en-US"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and relationships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أَثِقُ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trust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a-thi-qu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أَحْتَرِمُ</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respect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aḥ-ta-ri-mu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أُسَاعِدُ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help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u-sā-ʿi-du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يَدْعَمُنِي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supports 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yad-ʿa-mu-nī</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Fashion and evaluation (1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elegant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traditional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casual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modest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Fashion and evaluation (2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colourful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مُرِيحٌ / مُرِيحَةٌ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comfortable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mu-rī-ḥun / mu-rī-ḥa-tun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مُرِيحَةٌ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مُرِيحٌ</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عَمَلِيٌّ / عَمَلِيَّةٌ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practical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ʿa-ma-liy-yun / ʿa-ma-liy-ya-tun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مَلَابِسُ عَمَلِيَّةٌ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عَمَلِيٌّ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37</a:t>
            </a:r>
            <a:endParaRPr lang="en-US" sz="1000" dirty="0"/>
          </a:p>
        </p:txBody>
      </p:sp>
      <p:sp>
        <p:nvSpPr>
          <p:cNvPr id="84" name="Text 8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يُعَبِّرُ عَنْ</a:t>
            </a:r>
            <a:endParaRPr lang="ar-SA" sz="3000" dirty="0"/>
          </a:p>
        </p:txBody>
      </p:sp>
      <p:sp>
        <p:nvSpPr>
          <p:cNvPr id="85" name="Text 8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expresses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yu-ʿab-bi-ru ʿan</a:t>
            </a:r>
            <a:endParaRPr lang="en-US" sz="135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38</a:t>
            </a:r>
            <a:endParaRPr lang="en-US" sz="10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يُنَاسِبُ</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yu-nā-si-bu</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Fashion and evaluation (3 of 3)</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39</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40</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أَقَلُّ ...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less …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a-qal-lu ...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41</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مِنْ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better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af-ḍa-lu min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42</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أَجْمَلُ مِنْ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beautiful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aj-ma-lu min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FOUR MOVES OF AN OPINION ARTICLE (FROM THE WEBSITE ARTICLE)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How the writer builds the argument</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حَرَكَاتُ الكَاتِبِ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Signal</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 the article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897112" y="2267712"/>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يَرَى الكَاتِبُ أَنَّ</a:t>
            </a:r>
            <a:endParaRPr lang="ar-SA" sz="2400" dirty="0"/>
          </a:p>
        </p:txBody>
      </p:sp>
      <p:sp>
        <p:nvSpPr>
          <p:cNvPr id="21" name="Text 18"/>
          <p:cNvSpPr txBox="1"/>
          <p:nvPr/>
        </p:nvSpPr>
        <p:spPr>
          <a:xfrm>
            <a:off x="3776472" y="2286000"/>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يَرَى الكَاتِبُ أَنَّ المَظْهَرَ يُقَدِّمُ مَعْلُومَاتٍ عَنِ الذَّوْقِ …</a:t>
            </a:r>
            <a:endParaRPr lang="ar-SA" sz="1950" dirty="0"/>
          </a:p>
        </p:txBody>
      </p:sp>
      <p:sp>
        <p:nvSpPr>
          <p:cNvPr id="22" name="Text 19"/>
          <p:cNvSpPr txBox="1"/>
          <p:nvPr/>
        </p:nvSpPr>
        <p:spPr>
          <a:xfrm>
            <a:off x="3730752" y="267699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writer thinks appearance gives information about taste …</a:t>
            </a:r>
            <a:endParaRPr lang="en-US" sz="950" dirty="0"/>
          </a:p>
        </p:txBody>
      </p:sp>
      <p:sp>
        <p:nvSpPr>
          <p:cNvPr id="23" name="Text 20"/>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VIEW</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8897112" y="300471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وَلٰكِنَّهُ</a:t>
            </a:r>
            <a:endParaRPr lang="ar-SA" sz="2400" dirty="0"/>
          </a:p>
        </p:txBody>
      </p:sp>
      <p:sp>
        <p:nvSpPr>
          <p:cNvPr id="28" name="Text 25"/>
          <p:cNvSpPr txBox="1"/>
          <p:nvPr/>
        </p:nvSpPr>
        <p:spPr>
          <a:xfrm>
            <a:off x="3776472" y="302300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وَلٰكِنَّهُ لَا يَكْشِفُ الشَّخْصِيَّةَ كُلَّهَا.</a:t>
            </a:r>
            <a:endParaRPr lang="ar-SA" sz="1950" dirty="0"/>
          </a:p>
        </p:txBody>
      </p:sp>
      <p:sp>
        <p:nvSpPr>
          <p:cNvPr id="29" name="Text 26"/>
          <p:cNvSpPr txBox="1"/>
          <p:nvPr/>
        </p:nvSpPr>
        <p:spPr>
          <a:xfrm>
            <a:off x="3730752" y="3414004"/>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but it does not reveal the whole personality.</a:t>
            </a:r>
            <a:endParaRPr lang="en-US" sz="950" dirty="0"/>
          </a:p>
        </p:txBody>
      </p:sp>
      <p:sp>
        <p:nvSpPr>
          <p:cNvPr id="30" name="Text 27"/>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limit</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8897112" y="3741725"/>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يَذْكُرُ مِثَالًا</a:t>
            </a:r>
            <a:endParaRPr lang="ar-SA" sz="2400" dirty="0"/>
          </a:p>
        </p:txBody>
      </p:sp>
      <p:sp>
        <p:nvSpPr>
          <p:cNvPr id="35" name="Text 32"/>
          <p:cNvSpPr txBox="1"/>
          <p:nvPr/>
        </p:nvSpPr>
        <p:spPr>
          <a:xfrm>
            <a:off x="3776472" y="3760013"/>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يَذْكُرُ مِثَالًا لِشَابٍّ يَرْتَدِي مَلَابِسَ بَسِيطَةً …</a:t>
            </a:r>
            <a:endParaRPr lang="ar-SA" sz="1950" dirty="0"/>
          </a:p>
        </p:txBody>
      </p:sp>
      <p:sp>
        <p:nvSpPr>
          <p:cNvPr id="36" name="Text 33"/>
          <p:cNvSpPr txBox="1"/>
          <p:nvPr/>
        </p:nvSpPr>
        <p:spPr>
          <a:xfrm>
            <a:off x="3730752" y="4151010"/>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gives the example of a young man who wears simple clothes …</a:t>
            </a:r>
            <a:endParaRPr lang="en-US" sz="950" dirty="0"/>
          </a:p>
        </p:txBody>
      </p:sp>
      <p:sp>
        <p:nvSpPr>
          <p:cNvPr id="37" name="Text 34"/>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an EXAMPLE</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8897112" y="4478731"/>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بَيْنَمَا</a:t>
            </a:r>
            <a:endParaRPr lang="ar-SA" sz="2400" dirty="0"/>
          </a:p>
        </p:txBody>
      </p:sp>
      <p:sp>
        <p:nvSpPr>
          <p:cNvPr id="40" name="Text 37"/>
          <p:cNvSpPr txBox="1"/>
          <p:nvPr/>
        </p:nvSpPr>
        <p:spPr>
          <a:xfrm>
            <a:off x="3776472" y="4497019"/>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تُفَضِّلُ الأُسْلُوبَ الرَّسْمِيَّ، بَيْنَمَا هِيَ مَرِحَةٌ …</a:t>
            </a:r>
            <a:endParaRPr lang="ar-SA" sz="1950" dirty="0"/>
          </a:p>
        </p:txBody>
      </p:sp>
      <p:sp>
        <p:nvSpPr>
          <p:cNvPr id="41" name="Text 38"/>
          <p:cNvSpPr txBox="1"/>
          <p:nvPr/>
        </p:nvSpPr>
        <p:spPr>
          <a:xfrm>
            <a:off x="3730752" y="4888017"/>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prefers a formal style, whereas she is cheerful …</a:t>
            </a:r>
            <a:endParaRPr lang="en-US" sz="950" dirty="0"/>
          </a:p>
        </p:txBody>
      </p:sp>
      <p:sp>
        <p:nvSpPr>
          <p:cNvPr id="42" name="Text 39"/>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 CONTRAST</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8897112" y="5215738"/>
            <a:ext cx="27432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يَخْلُصُ إِلَى أَنَّ</a:t>
            </a:r>
            <a:endParaRPr lang="ar-SA" sz="2400" dirty="0"/>
          </a:p>
        </p:txBody>
      </p:sp>
      <p:sp>
        <p:nvSpPr>
          <p:cNvPr id="45" name="Text 42"/>
          <p:cNvSpPr txBox="1"/>
          <p:nvPr/>
        </p:nvSpPr>
        <p:spPr>
          <a:xfrm>
            <a:off x="3776472" y="5234026"/>
            <a:ext cx="49377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يَخْلُصُ الكَاتِبُ إِلَى أَنَّ السُّلُوكَ … أَقْوَى مِنَ المَلَابِسِ.</a:t>
            </a:r>
            <a:endParaRPr lang="ar-SA" sz="1950" dirty="0"/>
          </a:p>
        </p:txBody>
      </p:sp>
      <p:sp>
        <p:nvSpPr>
          <p:cNvPr id="46" name="Text 43"/>
          <p:cNvSpPr txBox="1"/>
          <p:nvPr/>
        </p:nvSpPr>
        <p:spPr>
          <a:xfrm>
            <a:off x="3730752" y="5625023"/>
            <a:ext cx="50292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writer concludes that behaviour … is stronger than clothes.</a:t>
            </a:r>
            <a:endParaRPr lang="en-US" sz="950" dirty="0"/>
          </a:p>
        </p:txBody>
      </p:sp>
      <p:sp>
        <p:nvSpPr>
          <p:cNvPr id="47" name="Text 44"/>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the CONCLUSION</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 tip: the answer to “What is the writer’s view?” is usually in the first and the last sentence.</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REFERENCE AND AGREEMENT IN A TEXT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What does it refer to? Do I agree?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المَرْجِعُ · أَتَّفِقُ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REFERENCE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ـهُ / ـهَا / هِيَ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يَصِفُ فَتَاةً … بَيْنَمَا هِيَ مَرِحَةٌ مَعَ أَصْدِقَائِهَا.</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He describes a girl … whereas she is cheerful with her friends.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hiya / -hā = the girl.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9728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AGREE · CORE</a:t>
            </a:r>
            <a:endParaRPr lang="en-US" sz="850" dirty="0"/>
          </a:p>
        </p:txBody>
      </p:sp>
      <p:sp>
        <p:nvSpPr>
          <p:cNvPr id="26" name="Text 23"/>
          <p:cNvSpPr txBox="1"/>
          <p:nvPr/>
        </p:nvSpPr>
        <p:spPr>
          <a:xfrm>
            <a:off x="5556504"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أَتَّفِقُ مَعَ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أَتَّفِقُ مَعَ الكَاتِبِ لِأَنَّ السُّلُوكَ أَقْوَى دَلِيلٍ.</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agree with the writer because behaviour is the strongest evidence.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Agree + because.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DISAGREE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لَا أَتَّفِقُ تَمَامًا</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لَا أَتَّفِقُ تَمَامًا، لِأَنَّ المَلَابِسَ تُعَبِّرُ أَحْيَانًا عَنِ الشَّخْصِيَّةِ.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don’t fully agree, because clothes sometimes express personality.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Qualify with “sometimes”.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warning: never answer from one familiar word.</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أَقْرَأُ الجُمْلَةَ كُلَّهَا وَأَتَأَكَّدُ مِنَ المَرْجِعِ.</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أَخْتَارُ أَوَّلَ كَلِمَةٍ أَعْرِفُهَا.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Reading reference, evidence and implied attitude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200" b="1" dirty="0">
                <a:solidFill>
                  <a:srgbClr val="8A6D1E"/>
                </a:solidFill>
                <a:latin typeface="Amiri" pitchFamily="34" charset="0"/>
                <a:ea typeface="Amiri" pitchFamily="34" charset="-122"/>
                <a:cs typeface="Amiri" pitchFamily="34" charset="-120"/>
              </a:rPr>
              <a:t>مَهَارَاتُ القِرَاءَةِ: المَرْجِعُ وَالدَّلِيلُ وَالمَوْقِفُ</a:t>
            </a:r>
            <a:endParaRPr lang="ar-SA" sz="22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find the writer’s 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1 · Question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مَا رَأْيُ الكَاتِبِ فِي المَظْهَرِ؟</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Look for “the writer thinks”.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2 · First sentence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يَرَى الكَاتِبُ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المَظْهَرَ يُقَدِّمُ مَعْلُومَاتٍ عَنِ الذَّوْقِ،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Half the view …</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D6336C"/>
                </a:solidFill>
                <a:latin typeface="Amiri" pitchFamily="34" charset="0"/>
                <a:ea typeface="Amiri" pitchFamily="34" charset="-122"/>
                <a:cs typeface="Amiri" pitchFamily="34" charset="-120"/>
              </a:rPr>
              <a:t>وَلٰكِنَّهُ</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لَا يَكْشِفُ الشَّخْصِيَّةَ كُلَّهَا.</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 and its limit.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4 · Answer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المَظْهَرُ لَا يَكْفِي لِلْحُكْمِ عَلَى الشَّخْصِيَّةِ.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 my own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VIEW</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THE LIMIT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 ANSWER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السُّؤَالُ: مَا رَأْيُ الكَاتِبِ؟ ← </a:t>
            </a:r>
            <a:pPr rtl="1" algn="r" indent="0" marL="0">
              <a:lnSpc>
                <a:spcPct val="120000"/>
              </a:lnSpc>
              <a:buNone/>
            </a:pPr>
            <a:r>
              <a:rPr lang="ar-SA" altLang="en-US" sz="1500" b="1" dirty="0">
                <a:solidFill>
                  <a:srgbClr val="0E7C86"/>
                </a:solidFill>
                <a:latin typeface="Amiri" pitchFamily="34" charset="0"/>
                <a:ea typeface="Amiri" pitchFamily="34" charset="-122"/>
                <a:cs typeface="Amiri" pitchFamily="34" charset="-120"/>
              </a:rPr>
              <a:t>يَرَى الكَاتِبُ أَنَّ</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المَظْهَرَ يُقَدِّمُ مَعْلُومَاتٍ عَنِ الذَّوْقِ، </a:t>
            </a:r>
            <a:pPr rtl="1" algn="r" indent="0" marL="0">
              <a:lnSpc>
                <a:spcPct val="120000"/>
              </a:lnSpc>
              <a:buNone/>
            </a:pPr>
            <a:r>
              <a:rPr lang="ar-SA" altLang="en-US" sz="1500" b="1" dirty="0">
                <a:solidFill>
                  <a:srgbClr val="D6336C"/>
                </a:solidFill>
                <a:latin typeface="Amiri" pitchFamily="34" charset="0"/>
                <a:ea typeface="Amiri" pitchFamily="34" charset="-122"/>
                <a:cs typeface="Amiri" pitchFamily="34" charset="-120"/>
              </a:rPr>
              <a:t>وَلٰكِنَّهُ</a:t>
            </a:r>
            <a:pPr rtl="1" algn="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 لَا يَكْشِفُ الشَّخْصِيَّةَ كُلَّهَا. ← الجَوَابُ: </a:t>
            </a:r>
            <a:pPr rtl="1" algn="r" indent="0" marL="0">
              <a:lnSpc>
                <a:spcPct val="120000"/>
              </a:lnSpc>
              <a:buNone/>
            </a:pPr>
            <a:r>
              <a:rPr lang="ar-SA" altLang="en-US" sz="1500" b="1" dirty="0">
                <a:solidFill>
                  <a:srgbClr val="1D5FBF"/>
                </a:solidFill>
                <a:latin typeface="Amiri" pitchFamily="34" charset="0"/>
                <a:ea typeface="Amiri" pitchFamily="34" charset="-122"/>
                <a:cs typeface="Amiri" pitchFamily="34" charset="-120"/>
              </a:rPr>
              <a:t>المَظْهَرُ لَا يَكْفِي لِلْحُكْمِ عَلَى الشَّخْصِيَّةِ.</a:t>
            </a:r>
            <a:endParaRPr lang="ar-SA" sz="15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Question: What is the writer’s view? → The writer thinks appearance gives information about taste, but it does not reveal the whole personality. → Answer: appearance is not enough to judge personality.</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Maryam is wearing a coat, and it is blue.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my opinion, his style is elegant.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is calm, whereas she is cheerful.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helps everyone, so he seems helpful.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مَلَابِسَ بَسِيطَةً.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تُفَضِّلُ الأُسْلُوبَ الرَّسْمِيَّ.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تُقْرَأُ ثَلَاثُ رِسَالَاتٍ.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يَرَى الكَاتِبُ أَنَّ المَظْهَرَ لَا يَكْفِي.</a:t>
            </a:r>
            <a:endParaRPr lang="ar-SA" sz="17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الاِحْتِرَامُ أَهَمُّ مِنَ التَّشَابُهِ.</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34" charset="0"/>
                <a:ea typeface="Amiri" pitchFamily="34" charset="-122"/>
                <a:cs typeface="Amiri" pitchFamily="34" charset="-120"/>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تَضْحَكُ مَعَ صَدِيقَاتِهَا؛ فَهِيَ مَرِحَةٌ.</a:t>
            </a:r>
            <a:endParaRPr lang="ar-SA" sz="180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يَرْتَدِي مَلَابِسَ بَسِيطَةً.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تُفَضِّلُ الأُسْلُوبَ الرَّسْمِيَّ.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تُقْرَأُ ثَلَاثُ رِسَالَاتٍ.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يَرَى الكَاتِبُ أَنَّ المَظْهَرَ لَا يَكْفِي.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الاِحْتِرَامُ أَهَمُّ مِنَ التَّشَابُهِ.</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تَضْحَكُ مَعَ صَدِيقَاتِهَا؛ فَهِيَ مَرِحَةٌ.</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يَرَى الكَاتِبُ أَنَّ المَلَابِسَ تَكْشِفُ الشَّخْصِيَّةَ كُلَّهَا.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Read to the end: is the verb positive or negative?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يَصِفُ فَتَاةً … بَيْنَمَا هُوَ مَرِحٌ.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hiya?</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الشَّابُّ مُبْدِعٌ لِأَنَّهُ يَرْتَدِي مَلَابِسَ بَسِيطَةً.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Contrast or reason in the text?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يَرَى الكَاتِبُ أَنَّ المَلَابِسَ تَكْشِفُ الشَّخْصِيَّةَ كُلَّهَا.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يَرَى الكَاتِبُ أَنَّ المَلَابِسَ لَا تَكْشِفُ الشَّخْصِيَّةَ كُلَّهَا.</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the whole clause — the verb is negative.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يَصِفُ فَتَاةً … بَيْنَمَا هُوَ مَرِحٌ.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يَصِفُ فَتَاةً …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pronoun refers to the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الشَّابُّ مُبْدِعٌ لِأَنَّهُ يَرْتَدِي مَلَابِسَ بَسِيطَةً.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الشَّابُّ يَرْتَدِي مَلَابِسَ بَسِيطَةً، وَلٰكِنَّهُ مُبْدِعٌ.</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text shows a contrast, not a reason.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Listening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messages are read?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writes the first message?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young man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(female) student</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describe her friend?</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shy</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elegant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helpful</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young man explain?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he prefers practical clothes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he likes 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 he argues with his brother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third message compare?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shirts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relationships</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schools</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more important than being exactly alike?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طَالِبَةٍ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الاِحْتِرَامَ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تُقْرَأُ ثَلَاثُ رِسَالَاتٍ قَصِيرَةٍ.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short messages are read.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الأُولَى مِنْ طَالِبَةٍ تَصِفُ صَدِيقَتَهَا المُتَعَاوِنَةَ.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is from a student describing her helpful friend.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الثَّانِيَةُ مِنْ شَابٍّ يَشْرَحُ لِمَاذَا يُفَضِّلُ المَلَابِسَ العَمَلِيَّةَ.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second is from a young man explaining why he prefers practical clothes.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الثَّالِثَةُ تُقَارِنُ بَيْنَ عِلَاقَتَيْنِ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third compares two relationships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وَتَذْكُرُ أَنَّ الاِحْتِرَامَ أَهَمُّ مِنَ التَّشَابُهِ التَّامِّ.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says that respect is more important than being exactly alike.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messages are read?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تُقْرَأُ ثَلَاثُ رِسَالَاتٍ قَصِيرَةٍ.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writes the first message?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young man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(female) student</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الأُولَى مِنْ طَالِبَةٍ.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describe her friend?</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shy</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elegant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helpful</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صَدِيقَتَهَا المُتَعَاوِنَةَ.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young man explain?</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why he prefers practical clothes</a:t>
            </a:r>
            <a:endParaRPr lang="en-US" sz="11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why he likes 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why he argues with his brother</a:t>
            </a:r>
            <a:endParaRPr lang="en-US" sz="11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يَشْرَحُ لِمَاذَا يُفَضِّلُ المَلَابِسَ العَمَلِيَّةَ.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third message compare?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shirts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 relationships</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schools</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تُقَارِنُ بَيْنَ عَلَاقَتَيْنِ.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more important than being exactly alike?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respect</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money</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الاِحْتِرَامَ أَهَمُّ مِنَ التَّشَابُهِ التَّامِّ.</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6.</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طَالِبَةٍ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الاِحْتِرَامَ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focus: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مَقَالٌ: كَيْفَ نُقَيِّمُ الأَشْخَاصَ وَالأُسْلُوبَ؟ يَرَى الكَاتِبُ أَنَّ المَظْهَرَ يُقَدِّمُ مَعْلُومَاتٍ عَنِ الذَّوْقِ وَالمُنَاسَبَةِ، وَلٰكِنَّهُ لَا يَكْشِفُ الشَّخْصِيَّةَ كُلَّهَا. يَذْكُرُ مِثَالًا لِشَابٍّ يَرْتَدِي مَلَابِسَ بَسِيطَةً وَلٰكِنَّهُ وَاثِقٌ وَمُبْدِعٌ. وَيَصِفُ فَتَاةً تُفَضِّلُ الأُسْلُوبَ الرَّسْمِيَّ، بَيْنَمَا هِيَ مَرِحَةٌ مَعَ أَصْدِقَائِهَا. يَخْلُصُ الكَاتِبُ إِلَى أَنَّ السُّلُوكَ وَالعَلَاقَاتِ يُقَدِّمَانِ دَلِيلًا أَقْوَى مِنَ المَلَابِسِ وَحْدَهَا.</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نُقَيِّمُ</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judge, evaluate</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يُقَدِّمُ مَعْلُومَاتٍ</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gives information</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المُنَاسَبَةِ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occasion</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يَكْشِفُ</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does not reveal</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كُلَّهَا</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all of it</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يَذْكُرُ مِثَالًا</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gives an example</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مُبْدِعٌ</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creative</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يَخْلُصُ إِلَى أَنَّ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 concludes that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السُّلُوكَ</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behaviour</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وَحْدَهَا</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alone</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appearance give information about, according to the writer?</a:t>
            </a:r>
            <a:endParaRPr lang="en-US" sz="9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whole personality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taste and the occasion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money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appearance NOT do?</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 taste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suit an occasion</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reveal the whole personality</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young man in the example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simple clothes, but confident and creative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clothes and shy</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expensive clothes and selfish</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style does the girl prefer?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colourful</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sporty</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بَيْنَمَا هِيَ مَرِحَةٌ</a:t>
            </a:r>
            <a:pPr algn="l" indent="0" marL="0">
              <a:buNone/>
            </a:pPr>
            <a:r>
              <a:rPr lang="en-US" sz="1250" b="1" dirty="0">
                <a:solidFill>
                  <a:srgbClr val="1B3B6F"/>
                </a:solidFill>
                <a:latin typeface="Calibri" pitchFamily="34" charset="0"/>
                <a:ea typeface="Calibri" pitchFamily="34" charset="-122"/>
                <a:cs typeface="Calibri" pitchFamily="34" charset="-120"/>
              </a:rPr>
              <a:t>, who is cheerful?</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girl</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young man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clothes show everything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formal clothes are best</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behaviour and relationships are stronger evidence than clothes</a:t>
            </a:r>
            <a:endParaRPr lang="en-US" sz="1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appearance give information about, according to the writer?</a:t>
            </a:r>
            <a:endParaRPr lang="en-US" sz="9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whole personality</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taste and the occasion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money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يُقَدِّمُ مَعْلُومَاتٍ عَنِ الذَّوْقِ وَالمُنَاسَبَةِ.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can appearance NOT do?</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show taste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suit an occasion</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reveal the whole personality</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يَكْشِفُ الشَّخْصِيَّةَ كُلَّهَا.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young man in the example like?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simple clothes, but confident and creative</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clothes and shy</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expensive clothes and selfish</a:t>
            </a:r>
            <a:endParaRPr lang="en-US" sz="11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مَلَابِسَ بَسِيطَةً وَلٰكِنَّهُ وَاثِقٌ وَمُبْدِعٌ.</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style does the girl prefer?</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colourful</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formal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sporty</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تُفَضِّلُ الأُسْلُوبَ الرَّسْمِيَّ.</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بَيْنَمَا هِيَ مَرِحَةٌ</a:t>
            </a:r>
            <a:pPr algn="l" indent="0" marL="0">
              <a:buNone/>
            </a:pPr>
            <a:r>
              <a:rPr lang="en-US" sz="1250" b="1" dirty="0">
                <a:solidFill>
                  <a:srgbClr val="1B3B6F"/>
                </a:solidFill>
                <a:latin typeface="Calibri" pitchFamily="34" charset="0"/>
                <a:ea typeface="Calibri" pitchFamily="34" charset="-122"/>
                <a:cs typeface="Calibri" pitchFamily="34" charset="-120"/>
              </a:rPr>
              <a:t>, who is cheerful?</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girl</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young man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 the girl.</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conclude?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clothes show everything</a:t>
            </a:r>
            <a:endParaRPr lang="en-US" sz="12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formal clothes are best</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behaviour and relationships are stronger evidence than clothes</a:t>
            </a:r>
            <a:endParaRPr lang="en-US" sz="10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السُّلُوكَ وَالعَلَاقَاتِ يُقَدِّمَانِ دَلِيلًا أَقْوَى مِنَ المَلَابِسِ.</a:t>
            </a:r>
            <a:endParaRPr lang="ar-SA" sz="100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Developed speaking: reading personality, relationships and fashion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غَرَضُ النَّصِّ؟</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الدَّلِيلُ الَّذِي يُقَدِّمُهُ الكَاتِبُ؟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إِلَى مَنْ يَعُودُ الضَّمِيرُ «هِيَ»؟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تَتَّفِقُ مَعَ خُلَاصَةِ النَّصِّ؟</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النَّصُّ عَنْ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يَذْكُرُ الكَاتِبُ مِثَالًا لِـ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يَعُودُ الضَّمِيرُ «هِيَ» إِلَى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أَتَّفِقُ / لَا أَتَّفِقُ تَمَامًا لِأَنَّ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رَأْيُ الكَاتِبِ؟</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 writer’s view?</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يَرَى أَنَّ المَظْهَرَ لَا يَكْفِي لِلْحُكْمِ عَلَى الشَّخْصِيَّةِ.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 thinks that appearance is not enough to judge personality.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Summarise the article: the view, the young man, the girl, the conclusion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Summary + compare the two examples + say whether you agree, with one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respond to the article — summarise the view, use evidence, compare two examples and give your own conclusion.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وَلٰكِنَّهُ وَاثِقٌ.</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he is confident.</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 بَيْنَمَا هِيَ مَرِحَةٌ.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whereas she is cheerful.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أَتَّفِقُ مَعَ الكَاتِبِ لِأَنَّ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agree with the writer because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أَتَّفِقُ تَمَامًا لِأَنَّ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fully agree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لَا نَعْتَمِدُ عَلَى الاِنْطِبَاعِ الأَوَّلِ.</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 we must not rely on first impressions.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قَرَأْتُ مَقَالًا عَنْ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read an article about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الكَاتِبُ أَنَّ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thinks that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يَذْكُرُ مِثَالًا لِشَابٍّ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gives the example of a young man who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يَصِفُ فَتَاةً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describes a girl who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يَخْلُصُ الكَاتِبُ إِلَى 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writer concludes that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مَقَالٌ  ·  الكَاتِبُ  ·  يَرَى أَنَّ  ·  يَذْكُرُ مِثَالًا  ·  يَصِفُ  ·  بَيْنَمَا  ·  وَلٰكِنَّهُ  ·  يَخْلُصُ إِلَى أَنَّ  ·  أَتَّفِقُ  ·  السُّلُوكُ  ·  المَظْهَرُ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responding to an article about whether appearance shows personality. Summarise the view, use evidence, compare two examples and give your conclusion.</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أَنَّهُ وَاثِقٌ وَمُبْدِعٌ</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even though he is confident and creative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كَمَا يَصِفُ فَتَاةً أُسْلُوبُهَا رَسْمِيٌّ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also describes a girl whose style is formal</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السُّلُوكُ أَقْوَى دَلِيلٍ عَلَى الشَّخْصِيَّةِ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behaviour is the strongest evidence of personality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نَقْرَأُ المَعْلُومَاتِ بِدِقَّةٍ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read the information carefully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نَعْتَمِدُ عَلَى الاِنْطِبَاعِ الأَوَّلِ</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do not rely on the first impression</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قَرَأْتُ مَقَالًا عَنْ العَلَاقَةِ بَيْنَ المَظْهَرِ وَالشَّخْصِيَّةِ. يَرَى الكَاتِبُ أَنَّ المَلَابِسَ قَدْ تُعَبِّرُ عَنِ الذَّوْقِ، وَلٰكِنَّهَا لَا تَكْفِي لِلْحُكْمِ عَلَى أَحَدٍ. يُقَدِّمُ مِثَالًا لِشَابٍّ يَرْتَدِي مَلَابِسَ بَسِيطَةً، مَعَ أَنَّهُ وَاثِقٌ وَمُبْدِعٌ. كَمَا يَصِفُ فَتَاةً أُسْلُوبُهَا رَسْمِيٌّ، بَيْنَمَا هِيَ مَرِحَةٌ مَعَ صَدِيقَاتِهَا. أَتَّفِقُ مَعَ الكَاتِبِ، لِأَنَّ السُّلُوكَ أَقْوَى دَلِيلٍ عَلَى الشَّخْصِيَّةِ. لِذٰلِكَ يَجِبُ أَنْ نَقْرَأَ المَعْلُومَاتِ بِدِقَّةٍ وَلَا نَعْتَمِدَ عَلَى الاِنْطِبَاعِ الأَوَّلِ.</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read an article about the relationship between appearance and personality. The writer thinks that clothes may express taste, but they are not enough to judge anyone. He gives the example of a young man who wears simple clothes, even though he is confident and creative. He also describes a girl whose style is formal, whereas she is cheerful with her friends. I agree with the writer, because behaviour is the strongest evidence of personality. So we must read information carefully and not rely on first impressions.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writer’s view</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two examples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student’s agreement and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found the writer’s view and the conclusion.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one example from the text.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pronouns refer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explained the contrast.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agreed or disagreed with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وَلٰكِنَّ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لَهُ شَعْرٌ قَصِيرٌ.</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ثَمَنُهُ خَمْسُونَ جُنَيْهًا.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personality, relationships and fashion Arabic challenge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refer to after </a:t>
            </a:r>
            <a:pPr algn="l" indent="0" marL="0">
              <a:buNone/>
            </a:pPr>
            <a:r>
              <a:rPr lang="ar-SA" altLang="en-US" sz="1650" b="1" dirty="0">
                <a:solidFill>
                  <a:srgbClr val="1B3B6F"/>
                </a:solidFill>
                <a:latin typeface="Amiri" pitchFamily="34" charset="0"/>
                <a:ea typeface="Amiri" pitchFamily="34" charset="-122"/>
                <a:cs typeface="Amiri" pitchFamily="34" charset="-120"/>
              </a:rPr>
              <a:t>مَرْيَمُ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وَلٰكِنَّ</a:t>
            </a:r>
            <a:pPr algn="l" indent="0" marL="0">
              <a:buNone/>
            </a:pPr>
            <a:r>
              <a:rPr lang="en-US" sz="1050" i="1" dirty="0">
                <a:solidFill>
                  <a:srgbClr val="8A6D1E"/>
                </a:solidFill>
                <a:latin typeface="Calibri" pitchFamily="34" charset="0"/>
                <a:ea typeface="Calibri" pitchFamily="34" charset="-122"/>
                <a:cs typeface="Calibri" pitchFamily="34" charset="-120"/>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أَرَى أَنَّ</a:t>
            </a:r>
            <a:pPr algn="l" indent="0" marL="0">
              <a:buNone/>
            </a:pPr>
            <a:r>
              <a:rPr lang="en-US" sz="1050" i="1" dirty="0">
                <a:solidFill>
                  <a:srgbClr val="8A6D1E"/>
                </a:solidFill>
                <a:latin typeface="Calibri" pitchFamily="34" charset="0"/>
                <a:ea typeface="Calibri" pitchFamily="34" charset="-122"/>
                <a:cs typeface="Calibri" pitchFamily="34" charset="-120"/>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Comparative uses </a:t>
            </a:r>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D2-L08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D2 · People, Relationships and Style · D2-L08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D2-L09 · Speaking — People, Relationships and Style Topic Conversation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كَيْفَ هُوَ؟ / كَيْفَ هِيَ؟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he / she like?</a:t>
            </a:r>
            <a:pPr indent="0" marL="0">
              <a:buNone/>
            </a:pPr>
            <a:r>
              <a:rPr lang="en-US" sz="1000" i="1" dirty="0">
                <a:solidFill>
                  <a:srgbClr val="5A6472"/>
                </a:solidFill>
                <a:latin typeface="Calibri" pitchFamily="34" charset="0"/>
                <a:ea typeface="Calibri" pitchFamily="34" charset="-122"/>
                <a:cs typeface="Calibri" pitchFamily="34" charset="-120"/>
              </a:rPr>
              <a:t>  D2-L01</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 يَدْعَمُكَ؟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Who supports you?</a:t>
            </a:r>
            <a:pPr indent="0" marL="0">
              <a:buNone/>
            </a:pPr>
            <a:r>
              <a:rPr lang="en-US" sz="1000" i="1" dirty="0">
                <a:solidFill>
                  <a:srgbClr val="5A6472"/>
                </a:solidFill>
                <a:latin typeface="Calibri" pitchFamily="34" charset="0"/>
                <a:ea typeface="Calibri" pitchFamily="34" charset="-122"/>
                <a:cs typeface="Calibri" pitchFamily="34" charset="-120"/>
              </a:rPr>
              <a:t>  D2-L02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أُسْلُوبُكَ؟</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What is your style?</a:t>
            </a:r>
            <a:pPr indent="0" marL="0">
              <a:buNone/>
            </a:pPr>
            <a:r>
              <a:rPr lang="en-US" sz="1000" i="1" dirty="0">
                <a:solidFill>
                  <a:srgbClr val="5A6472"/>
                </a:solidFill>
                <a:latin typeface="Calibri" pitchFamily="34" charset="0"/>
                <a:ea typeface="Calibri" pitchFamily="34" charset="-122"/>
                <a:cs typeface="Calibri" pitchFamily="34" charset="-120"/>
              </a:rPr>
              <a:t>  D2-L04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أَيُّهُمَا تُفَضِّلُ؟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Which of the two do you prefer?</a:t>
            </a:r>
            <a:pPr indent="0" marL="0">
              <a:buNone/>
            </a:pPr>
            <a:r>
              <a:rPr lang="en-US" sz="1000" i="1" dirty="0">
                <a:solidFill>
                  <a:srgbClr val="5A6472"/>
                </a:solidFill>
                <a:latin typeface="Calibri" pitchFamily="34" charset="0"/>
                <a:ea typeface="Calibri" pitchFamily="34" charset="-122"/>
                <a:cs typeface="Calibri" pitchFamily="34" charset="-120"/>
              </a:rPr>
              <a:t>  D2-L05</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هَلْ تَتَّفِقُ؟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Do you agree?</a:t>
            </a:r>
            <a:pPr indent="0" marL="0">
              <a:buNone/>
            </a:pPr>
            <a:r>
              <a:rPr lang="en-US" sz="1000" i="1" dirty="0">
                <a:solidFill>
                  <a:srgbClr val="5A6472"/>
                </a:solidFill>
                <a:latin typeface="Calibri" pitchFamily="34" charset="0"/>
                <a:ea typeface="Calibri" pitchFamily="34" charset="-122"/>
                <a:cs typeface="Calibri" pitchFamily="34" charset="-120"/>
              </a:rPr>
              <a:t>  D2-L08</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D2-L09 is a conversation lesson. Prepare 3–5 cue words (not a script) for: “Describe a person who is important to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صِفْ شَخْصًا مُهِمًّا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D2-L08: re-read the article and answer the six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an 8-sentence summary of the article with your opinion.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response to the article.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D2-L08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D2-L09 · Speaking — People, Relationships and Style Topic Conversation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المُحَادَثَةُ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view → example → contrast → conclusion. Find the moves first.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D2-L08 · Reading — Personality, Relationships and Fashion Texts</dc:title>
  <dc:subject>PptxGenJS Presentation</dc:subject>
  <dc:creator>Al Madina Online School · Arabic Department</dc:creator>
  <cp:lastModifiedBy>Al Madina Online School · Arabic Department</cp:lastModifiedBy>
  <cp:revision>1</cp:revision>
  <dcterms:created xsi:type="dcterms:W3CDTF">2026-09-27T11:51:54Z</dcterms:created>
  <dcterms:modified xsi:type="dcterms:W3CDTF">2026-09-27T11:51:54Z</dcterms:modified>
</cp:coreProperties>
</file>