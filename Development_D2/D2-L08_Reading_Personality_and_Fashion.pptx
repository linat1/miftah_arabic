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D2 People, Relationships and Style › D2-L08. The website lesson “Reading — Personality, Relationships and Fashion Texts”: vocabulary, grammar rules and quiz, patterns, common mistakes, sorter, listening, reading, speaking prompts and model, writing task and model, differentiation, final check and the lesson mission. Picture match: website visual game “Reading — Personality, Relationships and Fashion Texts”.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READING-SKILLS lesson: the website article (“How do we judge people and style?”) is the main You Do task. Teaching focuses on the language of an argument text: the writer’s view, examples, contrast, conclusion.
• Core: questions 1–3 (the writer’s view and the first example) with the key-words panel. Develop: all 6. Stretch: the written response (agree / disagree with evidence).
• The grammar quiz on the website repeats D2-L07 — here it is used as retrieval (quick check) only.
• Urdu bridge: مضمون ≠ مَقَالٌ, مثال، خلاصہ، رائے، ثبوت / دلیل.
• TEACHER-WRITTEN ITEMS: on the website this lesson’s patterns, mistakes, sorter, listening, reading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revision words prepared at home. Questions 3–5 retrieve D2-L07 (fact, opinion, inference) and D2-L06 (appearance agreement).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An opinion article has four moves: the view → an example → a contrast → the conclusion. Find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مقالہ (article, thesis) → مَقَالٌ; مثال → مِثَالٌ; خلاصہ (summary) shares the root of يَخْلُصُ إِلَى (he concludes) and خُلَاصَةٌ; کاتب (a scribe) → الكَاتِبُ (the writer). اِنْطِبَاعٌ (impression) has no Urdu cognate: الاِنْطِبَاعُ الأَوَّلُ = first impression.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Reading evidence signals (website vocabulary (1 of 2)). Hear → Say → See → Use. Transliteration is printed for Core students (cover it for Develop/Stretch).
Reading evidence signals (revision). In a READING text, they show the writer’s structure: لِأَنَّ = reason · وَلٰكِنَّ / بَيْنَمَا = contrast · لِذٰلِكَ = result · فِي رَأْيِي =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Reading evidence signals (website vocabulary (2 of 2)). Hear → Say → See → Use. Transliteration is printed for Core students (cover it for Develop/Stretch).
Reading evidence signals (revision). In a READING text, they show the writer’s structure: لِأَنَّ = reason · وَلٰكِنَّ / بَيْنَمَا = contrast · لِذٰلِكَ = result · فِي رَأْيِي =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People and relationships (website vocabulary (1 of 3)). Hear → Say → See → Use. Transliteration is printed for Core students (cover it for Develop/Stretch).
FLEX: teach if time allows; otherwise these are on the website vocabulary tab for homework.
People and relationships (FLEX) — D2-L01/L02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People and relationships (website vocabulary (2 of 3)). Hear → Say → See → Use. Transliteration is printed for Core students (cover it for Develop/Stretch).
FLEX: teach if time allows; otherwise these are on the website vocabulary tab for homework.
People and relationships (FLEX) — D2-L01/L02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People and relationships (website vocabulary (3 of 3)). Hear → Say → See → Use. Transliteration is printed for Core students (cover it for Develop/Stretch).
FLEX: teach if time allows; otherwise these are on the website vocabulary tab for homework.
People and relationships (FLEX) — D2-L01/L02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Fashion and evaluation (website vocabulary (1 of 3)). Hear → Say → See → Use. Transliteration is printed for Core students (cover it for Develop/Stretch).
FLEX: teach if time allows; otherwise these are on the website vocabulary tab for homework.
Fashion and evaluation (FLEX) — D2-L03/L04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Fashion and evaluation (website vocabulary (2 of 3)). Hear → Say → See → Use. Transliteration is printed for Core students (cover it for Develop/Stretch).
FLEX: teach if time allows; otherwise these are on the website vocabulary tab for homework.
Fashion and evaluation (FLEX) — D2-L03/L04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Fashion and evaluation (website vocabulary (3 of 3)). Hear → Say → See → Use. Transliteration is printed for Core students (cover it for Develop/Stretch).
FLEX: teach if time allows; otherwise these are on the website vocabulary tab for homework.
Fashion and evaluation (FLEX) — D2-L03/L04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teacher-built from the website article, applying the website rules “Distinguish fact and opinion” and “Follow comparison and contrast”. Teacher script: “Articles are built like a sandwich: view – examples – conclusion. Find the bread first.”
Core: highlight rows 1 and 5 in the article (view and conclusion) before reading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“Track reference” and “Infer from evidence”, plus the response language needed for the website writing task (summarise the view, use evidence, give your conclusion).
Website common error: “Do not choose an answer from one familiar word; verify the complete clause and its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“Read profiles, messages and articles, tracking pronouns, comparisons and the writer’s supported viewpoint.”
• Track reference: Identify exactly who each pronoun or relative clause refers to.
• Distinguish fact and opinion: Use the language signal and supporting detail, not a guess.
• Follow comparison and contrast: Contrast words often signal the answer has changed.
• Infer from evidence: An inference must be supported by a stated action or attitude.
Website common error: Do not choose an answer from one familiar word; verify the complete clause and its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teacher reads the first sentence of the website article and thinks aloud; the answer matches the website speaking model (يَرَى أَنَّ المَظْهَرَ لَا يَكْفِي لِلْحُكْمِ عَلَى الشَّخْصِيَّةِ).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MODEL SENTENCES (1 min) — website patterns. Students copy TWO that are useful for them.
• Core: copy sentence 4 (the inference). • Develop: copy sentences 2–3 and change the people. • Stretch: write one sentence with يَرَى الكَاتِبُ أَنَّ about the 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Decide what kind of statement each sentence from the texts 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Decide what kind of statement each sentence from the texts 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6. Develop / Stretch: all 6. (Questions are teacher-written: the website questions for this script are generic.)
Listen 1: just listen. Listen 2: note answers. Then chat the letters.
Support: after the second listening, show the read-along slide (Arabic + English, line by line) for Core students.
SCRIPT (read aloud):
تُقْرَأُ ثَلَاثُ رِسَالَاتٍ قَصِيرَةٍ. الأُولَى مِنْ طَالِبَةٍ تَصِفُ صَدِيقَتَهَا المُتَعَاوِنَةَ. الثَّانِيَةُ مِنْ شَابٍّ يَشْرَحُ لِمَاذَا يُفَضِّلُ المَلَابِسَ العَمَلِيَّةَ. الثَّالِثَةُ تُقَارِنُ بَيْنَ عِلَاقَتَيْنِ وَتَذْكُرُ أَنَّ الاِحْتِرَامَ أَهَمُّ مِنَ التَّشَابُهِ التَّامِّ.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 READING (main task). The website article “How do we judge people and style?”. First read: underline the VIEW (يَرَى) and the CONCLUSION (يَخْلُصُ). Second read: the two examples and the contrast.
Core: questions 1–3. Develop: all 6. Stretch: then the written response.
(Questions are teacher-written: the website questions for this text are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مَا الدَّلِيلُ؟ (What is the evidence?)
B: يُقَدِّمُ مِثَالَيْنِ يُخَالِفُ فِيهِمَا المَظْهَرُ الشَّخْصِيَّةَ. (He gives two examples where appearance differs from personality.)
Website prompts (prompt 3 adapted to the article). Website model continues: A: مَا الدَّلِيلُ؟ (What is the evidence?) B: يُقَدِّمُ مِثَالَيْنِ يُخَالِفُ فِيهِمَا المَظْهَرُ الشَّخْصِيَّةَ. (He gives two examples in which appearance differs from personality.)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an independently controlled relative clause.
Website writing task (Stretch): Write 100–120 Arabic words responding to an article about whether appearance shows personality. Summarise the view, use evidence, compare two examples and give your conclusion.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يَرَى الكَاتِبُ أَنَّ … وَلٰكِنَّهَا لَا تَكْفِي · مِثَالًا لِشَابٍّ … / يَصِفُ فَتَاةً … · مَعَ أَنَّهُ / بَيْنَمَا هِيَ · أَتَّفِقُ مَعَ الكَاتِبِ لِأَنَّ … (Spelling note: the website model writes عَنْ العَلَاقَةِ; standard Arabic joins it as عَنِ العَلَاقَةِ.)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(D2-L09 · Speaking — People, Relationships and Style Topic Conversation) will spend class time USING this language, so students prepare it tonight — short, simple, easy to access (school guidance: “Simple, Short, Interesting, Relevant, Easy to access”). D2-L09 is a topic conversation across the whole unit: these five questions (one from each key lesson) are the conversation starters.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Reading — Personality, Relationships and Fashion Texts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القِرَاءَةُ — نُصُوصُ الشَّخْصِيَّةِ وَالعَلَاقَاتِ وَالمَوْضَةِ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Read an opinion article like an examiner: find the writer’s view (</a:t>
            </a:r>
            <a:pPr algn="l" indent="0" marL="0">
              <a:buNone/>
            </a:pPr>
            <a:r>
              <a:rPr lang="ar-SA" altLang="en-US" sz="1800" dirty="0">
                <a:solidFill>
                  <a:srgbClr val="C6D2E6"/>
                </a:solidFill>
                <a:latin typeface="Amiri" pitchFamily="2" charset="-78"/>
                <a:ea typeface="Amiri" pitchFamily="2" charset="-78"/>
                <a:cs typeface="Amiri" pitchFamily="2" charset="-78"/>
              </a:rPr>
              <a:t>يَرَى أَنَّ</a:t>
            </a:r>
            <a:pPr algn="l" indent="0" marL="0">
              <a:buNone/>
            </a:pPr>
            <a:r>
              <a:rPr lang="en-US" sz="1400" dirty="0">
                <a:solidFill>
                  <a:srgbClr val="C6D2E6"/>
                </a:solidFill>
                <a:latin typeface="Calibri" pitchFamily="34" charset="0"/>
                <a:cs typeface="Amiri" pitchFamily="2" charset="-78"/>
              </a:rPr>
              <a:t>), the examples (</a:t>
            </a:r>
            <a:pPr algn="l" indent="0" marL="0">
              <a:buNone/>
            </a:pPr>
            <a:r>
              <a:rPr lang="ar-SA" altLang="en-US" sz="1800" dirty="0">
                <a:solidFill>
                  <a:srgbClr val="C6D2E6"/>
                </a:solidFill>
                <a:latin typeface="Amiri" pitchFamily="2" charset="-78"/>
                <a:ea typeface="Amiri" pitchFamily="2" charset="-78"/>
                <a:cs typeface="Amiri" pitchFamily="2" charset="-78"/>
              </a:rPr>
              <a:t>يَذْكُرُ مِثَالًا</a:t>
            </a:r>
            <a:pPr algn="l" indent="0" marL="0">
              <a:buNone/>
            </a:pPr>
            <a:r>
              <a:rPr lang="en-US" sz="1400" dirty="0">
                <a:solidFill>
                  <a:srgbClr val="C6D2E6"/>
                </a:solidFill>
                <a:latin typeface="Calibri" pitchFamily="34" charset="0"/>
                <a:cs typeface="Amiri" pitchFamily="2" charset="-78"/>
              </a:rPr>
              <a:t>), the contrast (</a:t>
            </a:r>
            <a:pPr algn="l" indent="0" marL="0">
              <a:buNone/>
            </a:pPr>
            <a:r>
              <a:rPr lang="ar-SA" altLang="en-US" sz="1800" dirty="0">
                <a:solidFill>
                  <a:srgbClr val="C6D2E6"/>
                </a:solidFill>
                <a:latin typeface="Amiri" pitchFamily="2" charset="-78"/>
                <a:ea typeface="Amiri" pitchFamily="2" charset="-78"/>
                <a:cs typeface="Amiri" pitchFamily="2" charset="-78"/>
              </a:rPr>
              <a:t>بَيْنَمَا، وَلٰكِنَّ</a:t>
            </a:r>
            <a:pPr algn="l" indent="0" marL="0">
              <a:buNone/>
            </a:pPr>
            <a:r>
              <a:rPr lang="en-US" sz="1400" dirty="0">
                <a:solidFill>
                  <a:srgbClr val="C6D2E6"/>
                </a:solidFill>
                <a:latin typeface="Calibri" pitchFamily="34" charset="0"/>
                <a:cs typeface="Amiri" pitchFamily="2" charset="-78"/>
              </a:rPr>
              <a:t>) and the conclusion (</a:t>
            </a:r>
            <a:pPr algn="l" indent="0" marL="0">
              <a:buNone/>
            </a:pPr>
            <a:r>
              <a:rPr lang="ar-SA" altLang="en-US" sz="1800" dirty="0">
                <a:solidFill>
                  <a:srgbClr val="C6D2E6"/>
                </a:solidFill>
                <a:latin typeface="Amiri" pitchFamily="2" charset="-78"/>
                <a:ea typeface="Amiri" pitchFamily="2" charset="-78"/>
                <a:cs typeface="Amiri" pitchFamily="2" charset="-78"/>
              </a:rPr>
              <a:t>يَخْلُصُ إِلَى أَنَّ</a:t>
            </a:r>
            <a:pPr algn="l" indent="0" marL="0">
              <a:buNone/>
            </a:pPr>
            <a:r>
              <a:rPr lang="en-US" sz="1400" dirty="0">
                <a:solidFill>
                  <a:srgbClr val="C6D2E6"/>
                </a:solidFill>
                <a:latin typeface="Calibri" pitchFamily="34" charset="0"/>
                <a:cs typeface="Amiri" pitchFamily="2" charset="-78"/>
              </a:rPr>
              <a:t>) — then agree or disagree with evidence.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D2-L08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writer thinks … gives an example … but … concludes that …</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Find the writer’s moves, sort,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D2-L09.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يُعَبِّرُ عَنْ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compares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expresses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buys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صَدِيقٌ مُقَرَّبٌ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close friend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friend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classmate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opinion?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شَعْرٌ قَصِيرٌ.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 قَمِيصًا أَسْوَدَ.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أَرَى أَنَّ أُسْلُوبَهُ مُنَاسِبٌ.</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inference.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مُتَعَاوِنٌ لِأَنَّ قَمِيصَهُ أَزْرَقُ.</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مُتَعَاوِنٌ بِلَا دَلِيلٍ.</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مُتَعَاوِنٌ لِأَنَّهُ يُسَاعِدُ زُمَلَاءَهُ.</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brown eyes.”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لَهَا عَيْنَانِ بُنِّيَّتَانِ.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لَهَا عَيْنَانِ بُنِّيٌّ.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عَيْنٌ بُنِّيَّتَانِ.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يُعَبِّرُ عَنْ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compares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expresses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buys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صَدِيقٌ مُقَرَّبٌ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close friend</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 friend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classmate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opinion?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 شَعْرٌ قَصِيرٌ.</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يَرْتَدِي قَمِيصًا أَسْوَدَ.</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أَرَى أَنَّ أُسْلُوبَهُ مُنَاسِبٌ.</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D2-L07: opinion signal.</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inference.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مُتَعَاوِنٌ لِأَنَّ قَمِيصَهُ أَزْرَقُ.</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مُتَعَاوِنٌ بِلَا دَلِيلٍ.</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هُوَ مُتَعَاوِنٌ لِأَنَّهُ يُسَاعِدُ زُمَلَاءَهُ.</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D2-L07: behaviour = evidence.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brown eyes.”</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لَهَا عَيْنَانِ بُنِّيَّتَانِ.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لَهَا عَيْنَانِ بُنِّيٌّ.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 عَيْنٌ بُنِّيَّتَانِ.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D2-L06: dual agreement.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An opinion article has four moves: the view → an example → a contrast → the conclusion. Find each one.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يَرَى الكَاتِبُ أَنَّ</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يَذْكُرُ مِثَالًا</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بَيْنَمَا</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يَخْلُصُ إِلَى أَنَّ</a:t>
            </a:r>
            <a:pPr rtl="1" algn="ctr" indent="0" marL="0">
              <a:lnSpc>
                <a:spcPct val="120000"/>
              </a:lnSpc>
              <a:buNone/>
            </a:pPr>
            <a:r>
              <a:rPr lang="ar-SA" altLang="en-US" sz="1950" b="1" dirty="0">
                <a:solidFill>
                  <a:srgbClr val="1B3B6F"/>
                </a:solidFill>
                <a:latin typeface="Amiri" pitchFamily="2" charset="-78"/>
                <a:cs typeface="Amiri" pitchFamily="2" charset="-78"/>
              </a:rPr>
              <a:t>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Control the key D2-L08 vocabulary in complete Arabic sentences.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apply the target grammar: Reading reference, evidence and implied attitude.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precise evidence from an intermediate listening and reading text.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developed spoken and written Arabic with reasons and detail.</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find the writer’s main view.</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find one example in the text.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a contrast and what a pronoun refers to.</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answer all six reading questions with evidence.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summarise the article in my own words.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agree or disagree, with evidence.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42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Reading evidence signals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People and relationships · 14</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Fashion and evaluation · 16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مَقَالٌ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‎مقالہ‎ </a:t>
            </a:r>
            <a:pPr indent="0" marL="0">
              <a:buNone/>
            </a:pPr>
            <a:r>
              <a:rPr lang="en-US" sz="950" b="1" dirty="0">
                <a:solidFill>
                  <a:srgbClr val="2E8B57"/>
                </a:solidFill>
                <a:latin typeface="Calibri" pitchFamily="34" charset="0"/>
                <a:cs typeface="Amiri" pitchFamily="2" charset="-78"/>
              </a:rPr>
              <a:t> maqāla · article, essay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مِثَالٌ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‎مثال‎ </a:t>
            </a:r>
            <a:pPr indent="0" marL="0">
              <a:buNone/>
            </a:pPr>
            <a:r>
              <a:rPr lang="en-US" sz="950" b="1" dirty="0">
                <a:solidFill>
                  <a:srgbClr val="2E8B57"/>
                </a:solidFill>
                <a:latin typeface="Calibri" pitchFamily="34" charset="0"/>
                <a:cs typeface="Amiri" pitchFamily="2" charset="-78"/>
              </a:rPr>
              <a:t> misāl · example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خُلَاصَةٌ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‎خلاصہ‎ </a:t>
            </a:r>
            <a:pPr indent="0" marL="0">
              <a:buNone/>
            </a:pPr>
            <a:r>
              <a:rPr lang="en-US" sz="950" b="1" dirty="0">
                <a:solidFill>
                  <a:srgbClr val="2E8B57"/>
                </a:solidFill>
                <a:latin typeface="Calibri" pitchFamily="34" charset="0"/>
                <a:cs typeface="Amiri" pitchFamily="2" charset="-78"/>
              </a:rPr>
              <a:t> khulāsa · summary, conclusion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الكَاتِبُ</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‎کاتب‎ </a:t>
            </a:r>
            <a:pPr indent="0" marL="0">
              <a:buNone/>
            </a:pPr>
            <a:r>
              <a:rPr lang="en-US" sz="950" b="1" dirty="0">
                <a:solidFill>
                  <a:srgbClr val="2E8B57"/>
                </a:solidFill>
                <a:latin typeface="Calibri" pitchFamily="34" charset="0"/>
                <a:cs typeface="Amiri" pitchFamily="2" charset="-78"/>
              </a:rPr>
              <a:t> kātib · Urdu: scribe · Arabic: writer</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اِنْطِبَاعٌ</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‎تاثر‎ </a:t>
            </a:r>
            <a:pPr indent="0" marL="0">
              <a:buNone/>
            </a:pPr>
            <a:r>
              <a:rPr lang="en-US" sz="950" b="1" dirty="0">
                <a:solidFill>
                  <a:srgbClr val="2E8B57"/>
                </a:solidFill>
                <a:latin typeface="Calibri" pitchFamily="34" charset="0"/>
                <a:cs typeface="Amiri" pitchFamily="2" charset="-78"/>
              </a:rPr>
              <a:t> tāssur · impression (meaning only)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evidence signals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لِذٰلِكَ</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evidence signals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ji-ha-tin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 أُخْرَى</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ji-ha-tin ukh-rā</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خُصُوصًا</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especially</a:t>
            </a:r>
            <a:endParaRPr lang="en-US" sz="1350" dirty="0"/>
          </a:p>
          <a:p>
            <a:pPr indent="0" marL="0">
              <a:buNone/>
            </a:pPr>
            <a:r>
              <a:rPr lang="en-US" sz="1100" i="1" dirty="0">
                <a:solidFill>
                  <a:srgbClr val="5A6472"/>
                </a:solidFill>
                <a:latin typeface="Calibri" pitchFamily="34" charset="0"/>
                <a:cs typeface="Amiri" pitchFamily="2" charset="-78"/>
              </a:rPr>
              <a:t>khu-ṣū-ṣan</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عَادَةً</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usually</a:t>
            </a:r>
            <a:endParaRPr lang="en-US" sz="1350" dirty="0"/>
          </a:p>
          <a:p>
            <a:pPr indent="0" marL="0">
              <a:buNone/>
            </a:pPr>
            <a:r>
              <a:rPr lang="en-US" sz="1100" i="1" dirty="0">
                <a:solidFill>
                  <a:srgbClr val="5A6472"/>
                </a:solidFill>
                <a:latin typeface="Calibri" pitchFamily="34" charset="0"/>
                <a:cs typeface="Amiri" pitchFamily="2" charset="-78"/>
              </a:rPr>
              <a:t>ʿā-da-tan</a:t>
            </a:r>
            <a:endParaRPr lang="en-US" sz="1350" dirty="0"/>
          </a:p>
        </p:txBody>
      </p:sp>
      <p:sp>
        <p:nvSpPr>
          <p:cNvPr id="35" name="Shape 3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4389120"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8" name="Text 3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أَحْيَانًا</a:t>
            </a:r>
            <a:endParaRPr lang="ar-SA" sz="3000" dirty="0"/>
          </a:p>
        </p:txBody>
      </p:sp>
      <p:sp>
        <p:nvSpPr>
          <p:cNvPr id="39" name="Text 3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sometimes</a:t>
            </a:r>
            <a:endParaRPr lang="en-US" sz="1350" dirty="0"/>
          </a:p>
          <a:p>
            <a:pPr indent="0" marL="0">
              <a:buNone/>
            </a:pPr>
            <a:r>
              <a:rPr lang="en-US" sz="1100" i="1" dirty="0">
                <a:solidFill>
                  <a:srgbClr val="5A6472"/>
                </a:solidFill>
                <a:latin typeface="Calibri" pitchFamily="34" charset="0"/>
                <a:cs typeface="Amiri" pitchFamily="2" charset="-78"/>
              </a:rPr>
              <a:t>aḥ-yā-nan</a:t>
            </a:r>
            <a:endParaRPr lang="en-US" sz="1350" dirty="0"/>
          </a:p>
        </p:txBody>
      </p:sp>
      <p:sp>
        <p:nvSpPr>
          <p:cNvPr id="40" name="Shape 3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3" name="Text 4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دَائِمًا</a:t>
            </a:r>
            <a:endParaRPr lang="ar-SA" sz="3000" dirty="0"/>
          </a:p>
        </p:txBody>
      </p:sp>
      <p:sp>
        <p:nvSpPr>
          <p:cNvPr id="44" name="Text 4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always</a:t>
            </a:r>
            <a:endParaRPr lang="en-US" sz="1350" dirty="0"/>
          </a:p>
          <a:p>
            <a:pPr indent="0" marL="0">
              <a:buNone/>
            </a:pPr>
            <a:r>
              <a:rPr lang="en-US" sz="1100" i="1" dirty="0">
                <a:solidFill>
                  <a:srgbClr val="5A6472"/>
                </a:solidFill>
                <a:latin typeface="Calibri" pitchFamily="34" charset="0"/>
                <a:cs typeface="Amiri" pitchFamily="2" charset="-78"/>
              </a:rPr>
              <a:t>dā-ʾi-man</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and relationships (1 of 3)</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وَدُودٌ / وَدُودَةٌ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friendly</a:t>
            </a:r>
            <a:endParaRPr lang="en-US" sz="1350" dirty="0"/>
          </a:p>
          <a:p>
            <a:pPr indent="0" marL="0">
              <a:buNone/>
            </a:pPr>
            <a:r>
              <a:rPr lang="en-US" sz="1100" i="1" dirty="0">
                <a:solidFill>
                  <a:srgbClr val="5A6472"/>
                </a:solidFill>
                <a:latin typeface="Calibri" pitchFamily="34" charset="0"/>
                <a:cs typeface="Amiri" pitchFamily="2" charset="-78"/>
              </a:rPr>
              <a:t>wa-dū-dun / wa-dū-da-tun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صَادِقٌ / صَادِقَةٌ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honest</a:t>
            </a:r>
            <a:endParaRPr lang="en-US" sz="1350" dirty="0"/>
          </a:p>
          <a:p>
            <a:pPr indent="0" marL="0">
              <a:buNone/>
            </a:pPr>
            <a:r>
              <a:rPr lang="en-US" sz="1100" i="1" dirty="0">
                <a:solidFill>
                  <a:srgbClr val="5A6472"/>
                </a:solidFill>
                <a:latin typeface="Calibri" pitchFamily="34" charset="0"/>
                <a:cs typeface="Amiri" pitchFamily="2" charset="-78"/>
              </a:rPr>
              <a:t>ṣā-di-qun / ṣā-di-qa-tun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صَبُورٌ / صَبُورَةٌ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مُتَعَاوِنٌ / مُتَعَاوِنَةٌ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helpful/cooperative</a:t>
            </a:r>
            <a:endParaRPr lang="en-US" sz="1350" dirty="0"/>
          </a:p>
          <a:p>
            <a:pPr indent="0" marL="0">
              <a:buNone/>
            </a:pPr>
            <a:r>
              <a:rPr lang="en-US" sz="1100" i="1" dirty="0">
                <a:solidFill>
                  <a:srgbClr val="5A6472"/>
                </a:solidFill>
                <a:latin typeface="Calibri" pitchFamily="34" charset="0"/>
                <a:cs typeface="Amiri" pitchFamily="2" charset="-78"/>
              </a:rPr>
              <a:t>mu-ta-ʿā-wi-nun / mu-ta-ʿā-wi-na-tun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مُتَعَاوِنُونَ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84" name="Shape 8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مُجْتَهِدٌ / مُجْتَهِدَةٌ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hard-working</a:t>
            </a:r>
            <a:endParaRPr lang="en-US" sz="1350" dirty="0"/>
          </a:p>
          <a:p>
            <a:pPr indent="0" marL="0">
              <a:buNone/>
            </a:pPr>
            <a:r>
              <a:rPr lang="en-US" sz="1100" i="1" dirty="0">
                <a:solidFill>
                  <a:srgbClr val="5A6472"/>
                </a:solidFill>
                <a:latin typeface="Calibri" pitchFamily="34" charset="0"/>
                <a:cs typeface="Amiri" pitchFamily="2" charset="-78"/>
              </a:rPr>
              <a:t>muj-ta-hi-dun / muj-ta-hi-da-tun</a:t>
            </a:r>
            <a:endParaRPr lang="en-US" sz="1350" dirty="0"/>
          </a:p>
        </p:txBody>
      </p:sp>
      <p:sp>
        <p:nvSpPr>
          <p:cNvPr id="88" name="Shape 8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مُجْتَهِدُونَ</a:t>
            </a:r>
            <a:endParaRPr lang="ar-SA" sz="1500" dirty="0"/>
          </a:p>
        </p:txBody>
      </p:sp>
      <p:sp>
        <p:nvSpPr>
          <p:cNvPr id="91" name="Shape 8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3" name="Text 9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مُجْتَهِدَةٌ</a:t>
            </a:r>
            <a:endParaRPr lang="ar-SA" sz="1500" dirty="0"/>
          </a:p>
        </p:txBody>
      </p:sp>
      <p:sp>
        <p:nvSpPr>
          <p:cNvPr id="94" name="Shape 9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6" name="Text 9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a:t>
            </a:r>
            <a:endParaRPr lang="ar-SA" sz="150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and relationships (2 of 3)</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مَرِحٌ / مَرِحَةٌ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cheerful</a:t>
            </a:r>
            <a:endParaRPr lang="en-US" sz="1350" dirty="0"/>
          </a:p>
          <a:p>
            <a:pPr indent="0" marL="0">
              <a:buNone/>
            </a:pPr>
            <a:r>
              <a:rPr lang="en-US" sz="1100" i="1" dirty="0">
                <a:solidFill>
                  <a:srgbClr val="5A6472"/>
                </a:solidFill>
                <a:latin typeface="Calibri" pitchFamily="34" charset="0"/>
                <a:cs typeface="Amiri" pitchFamily="2" charset="-78"/>
              </a:rPr>
              <a:t>ma-ri-ḥun / ma-ri-ḥa-tun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هَادِئٌ / هَادِئَةٌ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calm</a:t>
            </a:r>
            <a:endParaRPr lang="en-US" sz="1350" dirty="0"/>
          </a:p>
          <a:p>
            <a:pPr indent="0" marL="0">
              <a:buNone/>
            </a:pPr>
            <a:r>
              <a:rPr lang="en-US" sz="1100" i="1" dirty="0">
                <a:solidFill>
                  <a:srgbClr val="5A6472"/>
                </a:solidFill>
                <a:latin typeface="Calibri" pitchFamily="34" charset="0"/>
                <a:cs typeface="Amiri" pitchFamily="2" charset="-78"/>
              </a:rPr>
              <a:t>hā-di-ʾun / hā-di-ʾa-tun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خَجُولٌ / خَجُولَةٌ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shy</a:t>
            </a:r>
            <a:endParaRPr lang="en-US" sz="1350" dirty="0"/>
          </a:p>
          <a:p>
            <a:pPr indent="0" marL="0">
              <a:buNone/>
            </a:pPr>
            <a:r>
              <a:rPr lang="en-US" sz="1100" i="1" dirty="0">
                <a:solidFill>
                  <a:srgbClr val="5A6472"/>
                </a:solidFill>
                <a:latin typeface="Calibri" pitchFamily="34" charset="0"/>
                <a:cs typeface="Amiri" pitchFamily="2" charset="-78"/>
              </a:rPr>
              <a:t>kha-jū-lun / kha-jū-la-tun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68" name="Text 6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أَتَفَاهَمُ مَعَ</a:t>
            </a:r>
            <a:endParaRPr lang="ar-SA" sz="3000" dirty="0"/>
          </a:p>
        </p:txBody>
      </p:sp>
      <p:sp>
        <p:nvSpPr>
          <p:cNvPr id="69" name="Text 6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get on with</a:t>
            </a:r>
            <a:endParaRPr lang="en-US" sz="1350" dirty="0"/>
          </a:p>
          <a:p>
            <a:pPr indent="0" marL="0">
              <a:buNone/>
            </a:pPr>
            <a:r>
              <a:rPr lang="en-US" sz="1100" i="1" dirty="0">
                <a:solidFill>
                  <a:srgbClr val="5A6472"/>
                </a:solidFill>
                <a:latin typeface="Calibri" pitchFamily="34" charset="0"/>
                <a:cs typeface="Amiri" pitchFamily="2" charset="-78"/>
              </a:rPr>
              <a:t>a-ta-fā-ha-mu ma-ʿa</a:t>
            </a:r>
            <a:endParaRPr lang="en-US" sz="1350" dirty="0"/>
          </a:p>
        </p:txBody>
      </p:sp>
      <p:sp>
        <p:nvSpPr>
          <p:cNvPr id="70" name="Shape 6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389120"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73" name="Text 7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أَخْتَلِفُ مَعَ</a:t>
            </a:r>
            <a:endParaRPr lang="ar-SA" sz="3000" dirty="0"/>
          </a:p>
        </p:txBody>
      </p:sp>
      <p:sp>
        <p:nvSpPr>
          <p:cNvPr id="74" name="Text 7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disagree with</a:t>
            </a:r>
            <a:endParaRPr lang="en-US" sz="1350" dirty="0"/>
          </a:p>
          <a:p>
            <a:pPr indent="0" marL="0">
              <a:buNone/>
            </a:pPr>
            <a:r>
              <a:rPr lang="en-US" sz="1100" i="1" dirty="0">
                <a:solidFill>
                  <a:srgbClr val="5A6472"/>
                </a:solidFill>
                <a:latin typeface="Calibri" pitchFamily="34" charset="0"/>
                <a:cs typeface="Amiri" pitchFamily="2" charset="-78"/>
              </a:rPr>
              <a:t>akh-ta-li-fu ma-ʿa</a:t>
            </a:r>
            <a:endParaRPr lang="en-US"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and relationships (3 of 3)</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أَثِقُ بِـ</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trust</a:t>
            </a:r>
            <a:endParaRPr lang="en-US" sz="1350" dirty="0"/>
          </a:p>
          <a:p>
            <a:pPr indent="0" marL="0">
              <a:buNone/>
            </a:pPr>
            <a:r>
              <a:rPr lang="en-US" sz="1100" i="1" dirty="0">
                <a:solidFill>
                  <a:srgbClr val="5A6472"/>
                </a:solidFill>
                <a:latin typeface="Calibri" pitchFamily="34" charset="0"/>
                <a:cs typeface="Amiri" pitchFamily="2" charset="-78"/>
              </a:rPr>
              <a:t>a-thi-qu bi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أَحْتَرِمُ</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respect</a:t>
            </a:r>
            <a:endParaRPr lang="en-US" sz="1350" dirty="0"/>
          </a:p>
          <a:p>
            <a:pPr indent="0" marL="0">
              <a:buNone/>
            </a:pPr>
            <a:r>
              <a:rPr lang="en-US" sz="1100" i="1" dirty="0">
                <a:solidFill>
                  <a:srgbClr val="5A6472"/>
                </a:solidFill>
                <a:latin typeface="Calibri" pitchFamily="34" charset="0"/>
                <a:cs typeface="Amiri" pitchFamily="2" charset="-78"/>
              </a:rPr>
              <a:t>aḥ-ta-ri-mu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أُسَاعِدُ</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help</a:t>
            </a:r>
            <a:endParaRPr lang="en-US" sz="1350" dirty="0"/>
          </a:p>
          <a:p>
            <a:pPr indent="0" marL="0">
              <a:buNone/>
            </a:pPr>
            <a:r>
              <a:rPr lang="en-US" sz="1100" i="1" dirty="0">
                <a:solidFill>
                  <a:srgbClr val="5A6472"/>
                </a:solidFill>
                <a:latin typeface="Calibri" pitchFamily="34" charset="0"/>
                <a:cs typeface="Amiri" pitchFamily="2" charset="-78"/>
              </a:rPr>
              <a:t>u-sā-ʿi-du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يَدْعَمُنِي</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supports me</a:t>
            </a:r>
            <a:endParaRPr lang="en-US" sz="1350" dirty="0"/>
          </a:p>
          <a:p>
            <a:pPr indent="0" marL="0">
              <a:buNone/>
            </a:pPr>
            <a:r>
              <a:rPr lang="en-US" sz="1100" i="1" dirty="0">
                <a:solidFill>
                  <a:srgbClr val="5A6472"/>
                </a:solidFill>
                <a:latin typeface="Calibri" pitchFamily="34" charset="0"/>
                <a:cs typeface="Amiri" pitchFamily="2" charset="-78"/>
              </a:rPr>
              <a:t>yad-ʿa-mu-nī</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Fashion and evaluation (1 of 3)</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أَنِيقٌ / أَنِيقَةٌ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elegant</a:t>
            </a:r>
            <a:endParaRPr lang="en-US" sz="1350" dirty="0"/>
          </a:p>
          <a:p>
            <a:pPr indent="0" marL="0">
              <a:buNone/>
            </a:pPr>
            <a:r>
              <a:rPr lang="en-US" sz="1100" i="1" dirty="0">
                <a:solidFill>
                  <a:srgbClr val="5A6472"/>
                </a:solidFill>
                <a:latin typeface="Calibri" pitchFamily="34" charset="0"/>
                <a:cs typeface="Amiri" pitchFamily="2" charset="-78"/>
              </a:rPr>
              <a:t>a-nī-qun / a-nī-qa-tun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عَصْرِيٌّ / عَصْرِيَّةٌ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a:t>
            </a:r>
            <a:endParaRPr lang="en-US" sz="1350" dirty="0"/>
          </a:p>
          <a:p>
            <a:pPr indent="0" marL="0">
              <a:buNone/>
            </a:pPr>
            <a:r>
              <a:rPr lang="en-US" sz="1100" i="1" dirty="0">
                <a:solidFill>
                  <a:srgbClr val="5A6472"/>
                </a:solidFill>
                <a:latin typeface="Calibri" pitchFamily="34" charset="0"/>
                <a:cs typeface="Amiri" pitchFamily="2" charset="-78"/>
              </a:rPr>
              <a:t>ʿaṣ-riy-yun / ʿaṣ-riy-ya-tun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تَقْلِيدِيٌّ / تَقْلِيدِيَّةٌ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a:t>
            </a:r>
            <a:endParaRPr lang="en-US" sz="1350" dirty="0"/>
          </a:p>
          <a:p>
            <a:pPr indent="0" marL="0">
              <a:buNone/>
            </a:pPr>
            <a:r>
              <a:rPr lang="en-US" sz="1100" i="1" dirty="0">
                <a:solidFill>
                  <a:srgbClr val="5A6472"/>
                </a:solidFill>
                <a:latin typeface="Calibri" pitchFamily="34" charset="0"/>
                <a:cs typeface="Amiri" pitchFamily="2" charset="-78"/>
              </a:rPr>
              <a:t>taq-lī-diy-yun / taq-lī-diy-ya-tun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رَسْمِيٌّ / رَسْمِيَّةٌ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formal</a:t>
            </a:r>
            <a:endParaRPr lang="en-US" sz="1350" dirty="0"/>
          </a:p>
          <a:p>
            <a:pPr indent="0" marL="0">
              <a:buNone/>
            </a:pPr>
            <a:r>
              <a:rPr lang="en-US" sz="1100" i="1" dirty="0">
                <a:solidFill>
                  <a:srgbClr val="5A6472"/>
                </a:solidFill>
                <a:latin typeface="Calibri" pitchFamily="34" charset="0"/>
                <a:cs typeface="Amiri" pitchFamily="2" charset="-78"/>
              </a:rPr>
              <a:t>ras-miy-yun / ras-miy-ya-tun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رَسْمِيُّونَ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84" name="Shape 8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غَيْرُ رَسْمِيٍّ / غَيْرُ رَسْمِيَّةٍ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casual</a:t>
            </a:r>
            <a:endParaRPr lang="en-US" sz="1350" dirty="0"/>
          </a:p>
          <a:p>
            <a:pPr indent="0" marL="0">
              <a:buNone/>
            </a:pPr>
            <a:r>
              <a:rPr lang="en-US" sz="1100" i="1" dirty="0">
                <a:solidFill>
                  <a:srgbClr val="5A6472"/>
                </a:solidFill>
                <a:latin typeface="Calibri" pitchFamily="34" charset="0"/>
                <a:cs typeface="Amiri" pitchFamily="2" charset="-78"/>
              </a:rPr>
              <a:t>ghay-ru ras-miy-yin / ghay-ru ras-miy-ya-tin</a:t>
            </a:r>
            <a:endParaRPr lang="en-US" sz="1350" dirty="0"/>
          </a:p>
        </p:txBody>
      </p:sp>
      <p:sp>
        <p:nvSpPr>
          <p:cNvPr id="88" name="Shape 85"/>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0" name="Text 87"/>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رَسْمِيَّةٍ</a:t>
            </a:r>
            <a:endParaRPr lang="ar-SA" sz="1500" dirty="0"/>
          </a:p>
        </p:txBody>
      </p:sp>
      <p:sp>
        <p:nvSpPr>
          <p:cNvPr id="91" name="Shape 88"/>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3" name="Text 90"/>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a:t>
            </a:r>
            <a:endParaRPr lang="ar-SA" sz="1500" dirty="0"/>
          </a:p>
        </p:txBody>
      </p:sp>
      <p:sp>
        <p:nvSpPr>
          <p:cNvPr id="94" name="Shape 9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5" name="Shape 92"/>
          <p:cNvSpPr/>
          <p:nvPr/>
        </p:nvSpPr>
        <p:spPr>
          <a:xfrm>
            <a:off x="566928" y="4261104"/>
            <a:ext cx="310896" cy="310896"/>
          </a:xfrm>
          <a:prstGeom prst="ellipse">
            <a:avLst/>
          </a:prstGeom>
          <a:solidFill>
            <a:srgbClr val="F4F1EA"/>
          </a:solidFill>
          <a:ln w="12700">
            <a:solidFill>
              <a:srgbClr val="F4F1EA"/>
            </a:solidFill>
            <a:prstDash val="solid"/>
          </a:ln>
        </p:spPr>
      </p:sp>
      <p:sp>
        <p:nvSpPr>
          <p:cNvPr id="96" name="Text 9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97" name="Shape 94"/>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98" name="Text 95"/>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9" name="Text 9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مُحْتَشِمٌ / مُحْتَشِمَةٌ</a:t>
            </a:r>
            <a:endParaRPr lang="ar-SA" sz="3000" dirty="0"/>
          </a:p>
        </p:txBody>
      </p:sp>
      <p:sp>
        <p:nvSpPr>
          <p:cNvPr id="100" name="Text 9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modest</a:t>
            </a:r>
            <a:endParaRPr lang="en-US" sz="1350" dirty="0"/>
          </a:p>
          <a:p>
            <a:pPr indent="0" marL="0">
              <a:buNone/>
            </a:pPr>
            <a:r>
              <a:rPr lang="en-US" sz="1100" i="1" dirty="0">
                <a:solidFill>
                  <a:srgbClr val="5A6472"/>
                </a:solidFill>
                <a:latin typeface="Calibri" pitchFamily="34" charset="0"/>
                <a:cs typeface="Amiri" pitchFamily="2" charset="-78"/>
              </a:rPr>
              <a:t>muḥ-ta-shi-mun / muḥ-ta-shi-ma-tun</a:t>
            </a:r>
            <a:endParaRPr lang="en-US" sz="1350" dirty="0"/>
          </a:p>
        </p:txBody>
      </p:sp>
      <p:sp>
        <p:nvSpPr>
          <p:cNvPr id="101" name="Shape 98"/>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2" name="Text 99"/>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3" name="Text 100"/>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مُحْتَشِمُونَ</a:t>
            </a:r>
            <a:endParaRPr lang="ar-SA" sz="1500" dirty="0"/>
          </a:p>
        </p:txBody>
      </p:sp>
      <p:sp>
        <p:nvSpPr>
          <p:cNvPr id="104" name="Shape 101"/>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05" name="Text 102"/>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6" name="Text 103"/>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مُحْتَشِمَةٌ</a:t>
            </a:r>
            <a:endParaRPr lang="ar-SA" sz="1500" dirty="0"/>
          </a:p>
        </p:txBody>
      </p:sp>
      <p:sp>
        <p:nvSpPr>
          <p:cNvPr id="107" name="Shape 104"/>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08" name="Text 105"/>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9" name="Text 106"/>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a:t>
            </a:r>
            <a:endParaRPr lang="ar-SA" sz="150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Fashion and evaluation (2 of 3)</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33</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مُلَوَّنٌ / مُلَوَّنَةٌ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colourful</a:t>
            </a:r>
            <a:endParaRPr lang="en-US" sz="1350" dirty="0"/>
          </a:p>
          <a:p>
            <a:pPr indent="0" marL="0">
              <a:buNone/>
            </a:pPr>
            <a:r>
              <a:rPr lang="en-US" sz="1100" i="1" dirty="0">
                <a:solidFill>
                  <a:srgbClr val="5A6472"/>
                </a:solidFill>
                <a:latin typeface="Calibri" pitchFamily="34" charset="0"/>
                <a:cs typeface="Amiri" pitchFamily="2" charset="-78"/>
              </a:rPr>
              <a:t>mu-law-wa-nun / mu-law-wa-na-tun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مُلَوَّنَةٌ</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34</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بَسِيطٌ / بَسِيطَةٌ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simple</a:t>
            </a:r>
            <a:endParaRPr lang="en-US" sz="1350" dirty="0"/>
          </a:p>
          <a:p>
            <a:pPr indent="0" marL="0">
              <a:buNone/>
            </a:pPr>
            <a:r>
              <a:rPr lang="en-US" sz="1100" i="1" dirty="0">
                <a:solidFill>
                  <a:srgbClr val="5A6472"/>
                </a:solidFill>
                <a:latin typeface="Calibri" pitchFamily="34" charset="0"/>
                <a:cs typeface="Amiri" pitchFamily="2" charset="-78"/>
              </a:rPr>
              <a:t>ba-sī-ṭun / ba-sī-ṭa-tun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بُسَطَاءُ</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بَسِيطَةٌ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بَسِيطٌ</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35</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مُرِيحٌ / مُرِيحَةٌ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comfortable</a:t>
            </a:r>
            <a:endParaRPr lang="en-US" sz="1350" dirty="0"/>
          </a:p>
          <a:p>
            <a:pPr indent="0" marL="0">
              <a:buNone/>
            </a:pPr>
            <a:r>
              <a:rPr lang="en-US" sz="1100" i="1" dirty="0">
                <a:solidFill>
                  <a:srgbClr val="5A6472"/>
                </a:solidFill>
                <a:latin typeface="Calibri" pitchFamily="34" charset="0"/>
                <a:cs typeface="Amiri" pitchFamily="2" charset="-78"/>
              </a:rPr>
              <a:t>mu-rī-ḥun / mu-rī-ḥa-tun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مُرِيحَةٌ</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36</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عَمَلِيٌّ / عَمَلِيَّةٌ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practical</a:t>
            </a:r>
            <a:endParaRPr lang="en-US" sz="1350" dirty="0"/>
          </a:p>
          <a:p>
            <a:pPr indent="0" marL="0">
              <a:buNone/>
            </a:pPr>
            <a:r>
              <a:rPr lang="en-US" sz="1100" i="1" dirty="0">
                <a:solidFill>
                  <a:srgbClr val="5A6472"/>
                </a:solidFill>
                <a:latin typeface="Calibri" pitchFamily="34" charset="0"/>
                <a:cs typeface="Amiri" pitchFamily="2" charset="-78"/>
              </a:rPr>
              <a:t>ʿa-ma-liy-yun / ʿa-ma-liy-ya-tun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عَمَلِيَّةٌ</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عَمَلِيَّةٌ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عَمَلِيٌّ</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37</a:t>
            </a:r>
            <a:endParaRPr lang="en-US" sz="1000" dirty="0"/>
          </a:p>
        </p:txBody>
      </p:sp>
      <p:sp>
        <p:nvSpPr>
          <p:cNvPr id="84" name="Text 8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يُعَبِّرُ عَنْ</a:t>
            </a:r>
            <a:endParaRPr lang="ar-SA" sz="3000" dirty="0"/>
          </a:p>
        </p:txBody>
      </p:sp>
      <p:sp>
        <p:nvSpPr>
          <p:cNvPr id="85" name="Text 8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expresses</a:t>
            </a:r>
            <a:endParaRPr lang="en-US" sz="1350" dirty="0"/>
          </a:p>
          <a:p>
            <a:pPr indent="0" marL="0">
              <a:buNone/>
            </a:pPr>
            <a:r>
              <a:rPr lang="en-US" sz="1100" i="1" dirty="0">
                <a:solidFill>
                  <a:srgbClr val="5A6472"/>
                </a:solidFill>
                <a:latin typeface="Calibri" pitchFamily="34" charset="0"/>
                <a:cs typeface="Amiri" pitchFamily="2" charset="-78"/>
              </a:rPr>
              <a:t>yu-ʿab-bi-ru ʿan</a:t>
            </a:r>
            <a:endParaRPr lang="en-US" sz="1350" dirty="0"/>
          </a:p>
        </p:txBody>
      </p:sp>
      <p:sp>
        <p:nvSpPr>
          <p:cNvPr id="86" name="Shape 8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7" name="Shape 84"/>
          <p:cNvSpPr/>
          <p:nvPr/>
        </p:nvSpPr>
        <p:spPr>
          <a:xfrm>
            <a:off x="566928" y="4261104"/>
            <a:ext cx="310896" cy="310896"/>
          </a:xfrm>
          <a:prstGeom prst="ellipse">
            <a:avLst/>
          </a:prstGeom>
          <a:solidFill>
            <a:srgbClr val="F4F1EA"/>
          </a:solidFill>
          <a:ln w="12700">
            <a:solidFill>
              <a:srgbClr val="F4F1EA"/>
            </a:solidFill>
            <a:prstDash val="solid"/>
          </a:ln>
        </p:spPr>
      </p:sp>
      <p:sp>
        <p:nvSpPr>
          <p:cNvPr id="88" name="Text 8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38</a:t>
            </a:r>
            <a:endParaRPr lang="en-US" sz="1000" dirty="0"/>
          </a:p>
        </p:txBody>
      </p:sp>
      <p:sp>
        <p:nvSpPr>
          <p:cNvPr id="89" name="Text 8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يُنَاسِبُ</a:t>
            </a:r>
            <a:endParaRPr lang="ar-SA" sz="3000" dirty="0"/>
          </a:p>
        </p:txBody>
      </p:sp>
      <p:sp>
        <p:nvSpPr>
          <p:cNvPr id="90" name="Text 8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suits</a:t>
            </a:r>
            <a:endParaRPr lang="en-US" sz="1350" dirty="0"/>
          </a:p>
          <a:p>
            <a:pPr indent="0" marL="0">
              <a:buNone/>
            </a:pPr>
            <a:r>
              <a:rPr lang="en-US" sz="1100" i="1" dirty="0">
                <a:solidFill>
                  <a:srgbClr val="5A6472"/>
                </a:solidFill>
                <a:latin typeface="Calibri" pitchFamily="34" charset="0"/>
                <a:cs typeface="Amiri" pitchFamily="2" charset="-78"/>
              </a:rPr>
              <a:t>yu-nā-si-bu</a:t>
            </a:r>
            <a:endParaRPr lang="en-US" sz="135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Fashion and evaluation (3 of 3)</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39</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 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 than</a:t>
            </a:r>
            <a:endParaRPr lang="en-US" sz="1350" dirty="0"/>
          </a:p>
          <a:p>
            <a:pPr indent="0" marL="0">
              <a:buNone/>
            </a:pPr>
            <a:r>
              <a:rPr lang="en-US" sz="1100" i="1" dirty="0">
                <a:solidFill>
                  <a:srgbClr val="5A6472"/>
                </a:solidFill>
                <a:latin typeface="Calibri" pitchFamily="34" charset="0"/>
                <a:cs typeface="Amiri" pitchFamily="2" charset="-78"/>
              </a:rPr>
              <a:t>ak-tha-ru ... min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أَقَلُّ ... مِنْ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less … than</a:t>
            </a:r>
            <a:endParaRPr lang="en-US" sz="1350" dirty="0"/>
          </a:p>
          <a:p>
            <a:pPr indent="0" marL="0">
              <a:buNone/>
            </a:pPr>
            <a:r>
              <a:rPr lang="en-US" sz="1100" i="1" dirty="0">
                <a:solidFill>
                  <a:srgbClr val="5A6472"/>
                </a:solidFill>
                <a:latin typeface="Calibri" pitchFamily="34" charset="0"/>
                <a:cs typeface="Amiri" pitchFamily="2" charset="-78"/>
              </a:rPr>
              <a:t>a-qal-lu ... min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41</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أَفْضَلُ مِنْ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better than</a:t>
            </a:r>
            <a:endParaRPr lang="en-US" sz="1350" dirty="0"/>
          </a:p>
          <a:p>
            <a:pPr indent="0" marL="0">
              <a:buNone/>
            </a:pPr>
            <a:r>
              <a:rPr lang="en-US" sz="1100" i="1" dirty="0">
                <a:solidFill>
                  <a:srgbClr val="5A6472"/>
                </a:solidFill>
                <a:latin typeface="Calibri" pitchFamily="34" charset="0"/>
                <a:cs typeface="Amiri" pitchFamily="2" charset="-78"/>
              </a:rPr>
              <a:t>af-ḍa-lu min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42</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أَجْمَلُ مِنْ</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beautiful than</a:t>
            </a:r>
            <a:endParaRPr lang="en-US" sz="1350" dirty="0"/>
          </a:p>
          <a:p>
            <a:pPr indent="0" marL="0">
              <a:buNone/>
            </a:pPr>
            <a:r>
              <a:rPr lang="en-US" sz="1100" i="1" dirty="0">
                <a:solidFill>
                  <a:srgbClr val="5A6472"/>
                </a:solidFill>
                <a:latin typeface="Calibri" pitchFamily="34" charset="0"/>
                <a:cs typeface="Amiri" pitchFamily="2" charset="-78"/>
              </a:rPr>
              <a:t>aj-ma-lu min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FOUR MOVES OF AN OPINION ARTICLE (FROM THE WEBSITE ARTICLE)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How the writer builds the argument</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حَرَكَاتُ الكَاتِبِ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7882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Signal</a:t>
            </a:r>
            <a:endParaRPr lang="en-US" sz="1100" dirty="0"/>
          </a:p>
        </p:txBody>
      </p:sp>
      <p:sp>
        <p:nvSpPr>
          <p:cNvPr id="17" name="Text 14"/>
          <p:cNvSpPr txBox="1"/>
          <p:nvPr/>
        </p:nvSpPr>
        <p:spPr>
          <a:xfrm>
            <a:off x="375818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the article</a:t>
            </a:r>
            <a:endParaRPr lang="en-US" sz="1100" dirty="0"/>
          </a:p>
        </p:txBody>
      </p:sp>
      <p:sp>
        <p:nvSpPr>
          <p:cNvPr id="18" name="Text 15"/>
          <p:cNvSpPr txBox="1"/>
          <p:nvPr/>
        </p:nvSpPr>
        <p:spPr>
          <a:xfrm>
            <a:off x="53035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Move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897112" y="2267712"/>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يَرَى الكَاتِبُ أَنَّ</a:t>
            </a:r>
            <a:endParaRPr lang="ar-SA" sz="2400" dirty="0"/>
          </a:p>
        </p:txBody>
      </p:sp>
      <p:sp>
        <p:nvSpPr>
          <p:cNvPr id="21" name="Text 18"/>
          <p:cNvSpPr txBox="1"/>
          <p:nvPr/>
        </p:nvSpPr>
        <p:spPr>
          <a:xfrm>
            <a:off x="3776472" y="2286000"/>
            <a:ext cx="49377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يَرَى الكَاتِبُ أَنَّ المَظْهَرَ يُقَدِّمُ مَعْلُومَاتٍ عَنِ الذَّوْقِ …</a:t>
            </a:r>
            <a:endParaRPr lang="ar-SA" sz="1950" dirty="0"/>
          </a:p>
        </p:txBody>
      </p:sp>
      <p:sp>
        <p:nvSpPr>
          <p:cNvPr id="22" name="Text 19"/>
          <p:cNvSpPr txBox="1"/>
          <p:nvPr/>
        </p:nvSpPr>
        <p:spPr>
          <a:xfrm>
            <a:off x="3730752" y="2676997"/>
            <a:ext cx="50292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writer thinks appearance gives information about taste …</a:t>
            </a:r>
            <a:endParaRPr lang="en-US" sz="950" dirty="0"/>
          </a:p>
        </p:txBody>
      </p:sp>
      <p:sp>
        <p:nvSpPr>
          <p:cNvPr id="23" name="Text 20"/>
          <p:cNvSpPr txBox="1"/>
          <p:nvPr/>
        </p:nvSpPr>
        <p:spPr>
          <a:xfrm>
            <a:off x="566928" y="2267712"/>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the VIEW</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8897112" y="3004718"/>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وَلٰكِنَّهُ</a:t>
            </a:r>
            <a:endParaRPr lang="ar-SA" sz="2400" dirty="0"/>
          </a:p>
        </p:txBody>
      </p:sp>
      <p:sp>
        <p:nvSpPr>
          <p:cNvPr id="28" name="Text 25"/>
          <p:cNvSpPr txBox="1"/>
          <p:nvPr/>
        </p:nvSpPr>
        <p:spPr>
          <a:xfrm>
            <a:off x="3776472" y="3023006"/>
            <a:ext cx="49377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وَلٰكِنَّهُ لَا يَكْشِفُ الشَّخْصِيَّةَ كُلَّهَا.</a:t>
            </a:r>
            <a:endParaRPr lang="ar-SA" sz="1950" dirty="0"/>
          </a:p>
        </p:txBody>
      </p:sp>
      <p:sp>
        <p:nvSpPr>
          <p:cNvPr id="29" name="Text 26"/>
          <p:cNvSpPr txBox="1"/>
          <p:nvPr/>
        </p:nvSpPr>
        <p:spPr>
          <a:xfrm>
            <a:off x="3730752" y="3414004"/>
            <a:ext cx="50292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but it does not reveal the whole personality.</a:t>
            </a:r>
            <a:endParaRPr lang="en-US" sz="950" dirty="0"/>
          </a:p>
        </p:txBody>
      </p:sp>
      <p:sp>
        <p:nvSpPr>
          <p:cNvPr id="30" name="Text 27"/>
          <p:cNvSpPr txBox="1"/>
          <p:nvPr/>
        </p:nvSpPr>
        <p:spPr>
          <a:xfrm>
            <a:off x="566928" y="3004718"/>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the limit</a:t>
            </a:r>
            <a:endParaRPr lang="en-US" sz="11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8897112" y="3741725"/>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يَذْكُرُ مِثَالًا</a:t>
            </a:r>
            <a:endParaRPr lang="ar-SA" sz="2400" dirty="0"/>
          </a:p>
        </p:txBody>
      </p:sp>
      <p:sp>
        <p:nvSpPr>
          <p:cNvPr id="35" name="Text 32"/>
          <p:cNvSpPr txBox="1"/>
          <p:nvPr/>
        </p:nvSpPr>
        <p:spPr>
          <a:xfrm>
            <a:off x="3776472" y="3760013"/>
            <a:ext cx="49377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يَذْكُرُ مِثَالًا لِشَابٍّ يَرْتَدِي مَلَابِسَ بَسِيطَةً …</a:t>
            </a:r>
            <a:endParaRPr lang="ar-SA" sz="1950" dirty="0"/>
          </a:p>
        </p:txBody>
      </p:sp>
      <p:sp>
        <p:nvSpPr>
          <p:cNvPr id="36" name="Text 33"/>
          <p:cNvSpPr txBox="1"/>
          <p:nvPr/>
        </p:nvSpPr>
        <p:spPr>
          <a:xfrm>
            <a:off x="3730752" y="4151010"/>
            <a:ext cx="50292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gives the example of a young man who wears simple clothes …</a:t>
            </a:r>
            <a:endParaRPr lang="en-US" sz="950" dirty="0"/>
          </a:p>
        </p:txBody>
      </p:sp>
      <p:sp>
        <p:nvSpPr>
          <p:cNvPr id="37" name="Text 34"/>
          <p:cNvSpPr txBox="1"/>
          <p:nvPr/>
        </p:nvSpPr>
        <p:spPr>
          <a:xfrm>
            <a:off x="566928" y="3741725"/>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an EXAMPLE</a:t>
            </a:r>
            <a:endParaRPr lang="en-US" sz="1100" dirty="0"/>
          </a:p>
        </p:txBody>
      </p:sp>
      <p:sp>
        <p:nvSpPr>
          <p:cNvPr id="38" name="Shape 35"/>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9" name="Text 36"/>
          <p:cNvSpPr txBox="1"/>
          <p:nvPr/>
        </p:nvSpPr>
        <p:spPr>
          <a:xfrm>
            <a:off x="8897112" y="4478731"/>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بَيْنَمَا</a:t>
            </a:r>
            <a:endParaRPr lang="ar-SA" sz="2400" dirty="0"/>
          </a:p>
        </p:txBody>
      </p:sp>
      <p:sp>
        <p:nvSpPr>
          <p:cNvPr id="40" name="Text 37"/>
          <p:cNvSpPr txBox="1"/>
          <p:nvPr/>
        </p:nvSpPr>
        <p:spPr>
          <a:xfrm>
            <a:off x="3776472" y="4497019"/>
            <a:ext cx="49377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تُفَضِّلُ الأُسْلُوبَ الرَّسْمِيَّ، بَيْنَمَا هِيَ مَرِحَةٌ …</a:t>
            </a:r>
            <a:endParaRPr lang="ar-SA" sz="1950" dirty="0"/>
          </a:p>
        </p:txBody>
      </p:sp>
      <p:sp>
        <p:nvSpPr>
          <p:cNvPr id="41" name="Text 38"/>
          <p:cNvSpPr txBox="1"/>
          <p:nvPr/>
        </p:nvSpPr>
        <p:spPr>
          <a:xfrm>
            <a:off x="3730752" y="4888017"/>
            <a:ext cx="50292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prefers a formal style, whereas she is cheerful …</a:t>
            </a:r>
            <a:endParaRPr lang="en-US" sz="950" dirty="0"/>
          </a:p>
        </p:txBody>
      </p:sp>
      <p:sp>
        <p:nvSpPr>
          <p:cNvPr id="42" name="Text 39"/>
          <p:cNvSpPr txBox="1"/>
          <p:nvPr/>
        </p:nvSpPr>
        <p:spPr>
          <a:xfrm>
            <a:off x="566928" y="4478731"/>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a CONTRAST</a:t>
            </a:r>
            <a:endParaRPr lang="en-US" sz="110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8897112" y="5215738"/>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يَخْلُصُ إِلَى أَنَّ</a:t>
            </a:r>
            <a:endParaRPr lang="ar-SA" sz="2400" dirty="0"/>
          </a:p>
        </p:txBody>
      </p:sp>
      <p:sp>
        <p:nvSpPr>
          <p:cNvPr id="45" name="Text 42"/>
          <p:cNvSpPr txBox="1"/>
          <p:nvPr/>
        </p:nvSpPr>
        <p:spPr>
          <a:xfrm>
            <a:off x="3776472" y="5234026"/>
            <a:ext cx="49377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يَخْلُصُ الكَاتِبُ إِلَى أَنَّ السُّلُوكَ … أَقْوَى مِنَ المَلَابِسِ.</a:t>
            </a:r>
            <a:endParaRPr lang="ar-SA" sz="1950" dirty="0"/>
          </a:p>
        </p:txBody>
      </p:sp>
      <p:sp>
        <p:nvSpPr>
          <p:cNvPr id="46" name="Text 43"/>
          <p:cNvSpPr txBox="1"/>
          <p:nvPr/>
        </p:nvSpPr>
        <p:spPr>
          <a:xfrm>
            <a:off x="3730752" y="5625023"/>
            <a:ext cx="50292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writer concludes that behaviour … is stronger than clothes.</a:t>
            </a:r>
            <a:endParaRPr lang="en-US" sz="950" dirty="0"/>
          </a:p>
        </p:txBody>
      </p:sp>
      <p:sp>
        <p:nvSpPr>
          <p:cNvPr id="47" name="Text 44"/>
          <p:cNvSpPr txBox="1"/>
          <p:nvPr/>
        </p:nvSpPr>
        <p:spPr>
          <a:xfrm>
            <a:off x="566928" y="5215738"/>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the CONCLUSION</a:t>
            </a:r>
            <a:endParaRPr lang="en-US" sz="110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Exam tip: the answer to “What is the writer’s view?” is usually in the first and the last sentence.</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REFERENCE AND AGREEMENT IN A TEXT (WEBSITE RULES)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What does it refer to? Do I agree?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المَرْجِعُ · أَتَّفِقُ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773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REFERENCE · DEVELOP</a:t>
            </a:r>
            <a:endParaRPr lang="en-US" sz="850" dirty="0"/>
          </a:p>
        </p:txBody>
      </p:sp>
      <p:sp>
        <p:nvSpPr>
          <p:cNvPr id="18" name="Text 15"/>
          <p:cNvSpPr txBox="1"/>
          <p:nvPr/>
        </p:nvSpPr>
        <p:spPr>
          <a:xfrm>
            <a:off x="9855708"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ـهُ / ـهَا / هِيَ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يَصِفُ فَتَاةً … بَيْنَمَا هِيَ مَرِحَةٌ مَعَ أَصْدِقَائِهَا.</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describes a girl … whereas she is cheerful with her friends.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hiya / -hā = the girl.</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9728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AGREE · CORE</a:t>
            </a:r>
            <a:endParaRPr lang="en-US" sz="850" dirty="0"/>
          </a:p>
        </p:txBody>
      </p:sp>
      <p:sp>
        <p:nvSpPr>
          <p:cNvPr id="26" name="Text 23"/>
          <p:cNvSpPr txBox="1"/>
          <p:nvPr/>
        </p:nvSpPr>
        <p:spPr>
          <a:xfrm>
            <a:off x="5556504"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أَتَّفِقُ مَعَ</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أَتَّفِقُ مَعَ الكَاتِبِ لِأَنَّ السُّلُوكَ أَقْوَى دَلِيلٍ.</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agree with the writer because behaviour is the strongest evidence.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Agree + because.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DISAGREE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لَا أَتَّفِقُ تَمَامًا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لَا أَتَّفِقُ تَمَامًا، لِأَنَّ المَلَابِسَ تُعَبِّرُ أَحْيَانًا عَنِ الشَّخْصِيَّةِ.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don’t fully agree, because clothes sometimes express personality.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Qualify with “sometimes”.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warning: never answer from one familiar word.</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أَقْرَأُ الجُمْلَةَ كُلَّهَا وَأَتَأَكَّدُ مِنَ المَرْجِعِ.</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أَخْتَارُ أَوَّلَ كَلِمَةٍ أَعْرِفُهَا.</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Reading reference, evidence and implied attitude</a:t>
            </a:r>
            <a:endParaRPr lang="en-US" sz="19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200" b="1" dirty="0">
                <a:solidFill>
                  <a:srgbClr val="8A6D1E"/>
                </a:solidFill>
                <a:latin typeface="Amiri" pitchFamily="2" charset="-78"/>
                <a:ea typeface="Amiri" pitchFamily="2" charset="-78"/>
                <a:cs typeface="Amiri" pitchFamily="2" charset="-78"/>
              </a:rPr>
              <a:t>مَهَارَاتُ القِرَاءَةِ: المَرْجِعُ وَالدَّلِيلُ وَالمَوْقِفُ</a:t>
            </a:r>
            <a:endParaRPr lang="ar-SA" sz="22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Track reference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الاِسْمُ ← الضَّمِيرُ / الَّذِي / الَّتِي</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مَرْيَمُ تَرْتَدِي مِعْطَفًا، وَهُوَ أَزْرَقُ.   ·   أَحْمَدُ هُوَ الَّذِي يَتَحَدَّثُ.</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Distinguish fact and opinion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دَلِيلٌ صَرِيحٌ / رَأْيٌ مُعَلَّلٌ</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يَرْتَدِي قَمِيصًا أَبْيَضَ.   ·   فِي رَأْيِي، أُسْلُوبُهُ أَنِيقٌ.</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Follow comparison and contrast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مِنْ / بَيْنَمَا / وَلٰكِنَّ</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هِيَ أَكْثَرُ ثِقَةً مِنْهُ.   ·   هُوَ هَادِئٌ، بَيْنَمَا هِيَ مَرِحَةٌ.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Infer from evidence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السُّلُوكُ ← الصِّفَةُ المُحْتَمَلَةُ</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يُسَاعِدُ الجَمِيعَ؛ لِذٰلِكَ يَبْدُو مُتَعَاوِنًا.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refer to after </a:t>
            </a:r>
            <a:pPr algn="l" indent="0" marL="0">
              <a:buNone/>
            </a:pPr>
            <a:r>
              <a:rPr lang="ar-SA" altLang="en-US" sz="1650" b="1" dirty="0">
                <a:solidFill>
                  <a:srgbClr val="1B3B6F"/>
                </a:solidFill>
                <a:latin typeface="Amiri" pitchFamily="2" charset="-78"/>
                <a:ea typeface="Amiri" pitchFamily="2" charset="-78"/>
                <a:cs typeface="Amiri" pitchFamily="2" charset="-78"/>
              </a:rPr>
              <a:t>مَرْيَمُ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coat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brother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explicit fact?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 قَمِيصًا أَسْوَدَ.</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رَأْيِي هُوَ أَنِيقٌ.</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قَدْ يَكُونُ خَجُولًا.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opinion?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شَعْرٌ قَصِيرٌ.</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أَرَى أَنَّ أُسْلُوبَهُ مُنَاسِبٌ.</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ثَمَنُهُ خَمْسُونَ جُنَيْهًا.</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inference.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مُتَعَاوِنَةٌ لِأَنَّهَا تُسَاعِدُ زَمِيلَاتِهَا.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مُتَعَاوِنَةٌ لِأَنَّ قَمِيصَهَا أَزْرَقُ.</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مُتَعَاوِنَةٌ بِلَا دَلِيلٍ.</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refer to after </a:t>
            </a:r>
            <a:pPr algn="l" indent="0" marL="0">
              <a:buNone/>
            </a:pPr>
            <a:r>
              <a:rPr lang="ar-SA" altLang="en-US" sz="1650" b="1" dirty="0">
                <a:solidFill>
                  <a:srgbClr val="1B3B6F"/>
                </a:solidFill>
                <a:latin typeface="Amiri" pitchFamily="2" charset="-78"/>
                <a:ea typeface="Amiri" pitchFamily="2" charset="-78"/>
                <a:cs typeface="Amiri" pitchFamily="2" charset="-78"/>
              </a:rPr>
              <a:t>مَرْيَمُ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coat</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brother</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Maryam</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pronoun refers to Maryam.</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explicit fact?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يَرْتَدِي قَمِيصًا أَسْوَدَ.</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رَأْيِي هُوَ أَنِيقٌ.</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قَدْ يَكُونُ خَجُولًا.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states observable clothing.</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opinion?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 شَعْرٌ قَصِيرٌ.</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أَرَى أَنَّ أُسْلُوبَهُ مُنَاسِبٌ.</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ثَمَنُهُ خَمْسُونَ جُنَيْهًا.</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أَرَى أَنَّ</a:t>
            </a:r>
            <a:pPr algn="l" indent="0" marL="0">
              <a:buNone/>
            </a:pPr>
            <a:r>
              <a:rPr lang="en-US" sz="1050" i="1" dirty="0">
                <a:solidFill>
                  <a:srgbClr val="8A6D1E"/>
                </a:solidFill>
                <a:latin typeface="Calibri" pitchFamily="34" charset="0"/>
                <a:cs typeface="Amiri" pitchFamily="2" charset="-78"/>
              </a:rPr>
              <a:t> marks opinion.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inference.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مُتَعَاوِنَةٌ لِأَنَّهَا تُسَاعِدُ زَمِيلَاتِهَا.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مُتَعَاوِنَةٌ لِأَنَّ قَمِيصَهَا أَزْرَقُ.</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مُتَعَاوِنَةٌ بِلَا دَلِيلٍ.</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action supports the inference.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find the writer’s view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Question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مَا رَأْيُ الكَاتِبِ فِي المَظْهَرِ؟</a:t>
            </a:r>
            <a:endParaRPr lang="ar-SA" sz="20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Look for “the writer thinks”.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First sentence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يَرَى الكَاتِبُ أَنَّ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المَظْهَرَ يُقَدِّمُ مَعْلُومَاتٍ عَنِ الذَّوْقِ،</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Half the view …</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After “but”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D6336C"/>
                </a:solidFill>
                <a:latin typeface="Amiri" pitchFamily="2" charset="-78"/>
                <a:ea typeface="Amiri" pitchFamily="2" charset="-78"/>
                <a:cs typeface="Amiri" pitchFamily="2" charset="-78"/>
              </a:rPr>
              <a:t>وَلٰكِنَّهُ</a:t>
            </a:r>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 لَا يَكْشِفُ الشَّخْصِيَّةَ كُلَّهَا.</a:t>
            </a:r>
            <a:endParaRPr lang="ar-SA" sz="1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 and its limit.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Answer</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المَظْهَرُ لَا يَكْفِي لِلْحُكْمِ عَلَى الشَّخْصِيَّةِ.</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In my own words.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THE VIEW</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THE LIMIT</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MY ANSWER</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السُّؤَالُ: مَا رَأْيُ الكَاتِبِ؟ ← </a:t>
            </a:r>
            <a:pPr rtl="1" algn="r" indent="0" marL="0">
              <a:lnSpc>
                <a:spcPct val="120000"/>
              </a:lnSpc>
              <a:buNone/>
            </a:pPr>
            <a:r>
              <a:rPr lang="ar-SA" altLang="en-US" sz="1500" b="1" dirty="0">
                <a:solidFill>
                  <a:srgbClr val="0E7C86"/>
                </a:solidFill>
                <a:latin typeface="Amiri" pitchFamily="2" charset="-78"/>
                <a:ea typeface="Amiri" pitchFamily="2" charset="-78"/>
                <a:cs typeface="Amiri" pitchFamily="2" charset="-78"/>
              </a:rPr>
              <a:t>يَرَى الكَاتِبُ أَنَّ</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المَظْهَرَ يُقَدِّمُ مَعْلُومَاتٍ عَنِ الذَّوْقِ، </a:t>
            </a:r>
            <a:pPr rtl="1" algn="r" indent="0" marL="0">
              <a:lnSpc>
                <a:spcPct val="120000"/>
              </a:lnSpc>
              <a:buNone/>
            </a:pPr>
            <a:r>
              <a:rPr lang="ar-SA" altLang="en-US" sz="1500" b="1" dirty="0">
                <a:solidFill>
                  <a:srgbClr val="D6336C"/>
                </a:solidFill>
                <a:latin typeface="Amiri" pitchFamily="2" charset="-78"/>
                <a:ea typeface="Amiri" pitchFamily="2" charset="-78"/>
                <a:cs typeface="Amiri" pitchFamily="2" charset="-78"/>
              </a:rPr>
              <a:t>وَلٰكِنَّهُ</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لَا يَكْشِفُ الشَّخْصِيَّةَ كُلَّهَا. ← الجَوَابُ: </a:t>
            </a:r>
            <a:pPr rtl="1" algn="r" indent="0" marL="0">
              <a:lnSpc>
                <a:spcPct val="120000"/>
              </a:lnSpc>
              <a:buNone/>
            </a:pPr>
            <a:r>
              <a:rPr lang="ar-SA" altLang="en-US" sz="1500" b="1" dirty="0">
                <a:solidFill>
                  <a:srgbClr val="1D5FBF"/>
                </a:solidFill>
                <a:latin typeface="Amiri" pitchFamily="2" charset="-78"/>
                <a:ea typeface="Amiri" pitchFamily="2" charset="-78"/>
                <a:cs typeface="Amiri" pitchFamily="2" charset="-78"/>
              </a:rPr>
              <a:t>المَظْهَرُ لَا يَكْفِي لِلْحُكْمِ عَلَى الشَّخْصِيَّةِ.</a:t>
            </a:r>
            <a:endParaRPr lang="ar-SA" sz="15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Question: What is the writer’s view? → The writer thinks appearance gives information about taste, but it does not reveal the whole personality. → Answer: appearance is not enough to judge personality.</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مَرْيَمُ تَرْتَدِي مِعْطَفًا، وَهُوَ أَزْرَقُ.</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Maryam is wearing a coat, and it is blue.</a:t>
            </a:r>
            <a:endParaRPr lang="en-US" sz="1250" dirty="0"/>
          </a:p>
          <a:p>
            <a:pPr indent="0" marL="0">
              <a:buNone/>
            </a:pPr>
            <a:r>
              <a:rPr lang="en-US" sz="1050" i="1" dirty="0">
                <a:solidFill>
                  <a:srgbClr val="8A6D1E"/>
                </a:solidFill>
                <a:latin typeface="Calibri" pitchFamily="34" charset="0"/>
                <a:cs typeface="Amiri" pitchFamily="2" charset="-78"/>
              </a:rPr>
              <a:t>Reference: huwa = the coat.</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فِي رَأْيِي، أُسْلُوبُهُ أَنِيقٌ.</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In my opinion, his style is elegant.</a:t>
            </a:r>
            <a:endParaRPr lang="en-US" sz="1250" dirty="0"/>
          </a:p>
          <a:p>
            <a:pPr indent="0" marL="0">
              <a:buNone/>
            </a:pPr>
            <a:r>
              <a:rPr lang="en-US" sz="1050" i="1" dirty="0">
                <a:solidFill>
                  <a:srgbClr val="8A6D1E"/>
                </a:solidFill>
                <a:latin typeface="Calibri" pitchFamily="34" charset="0"/>
                <a:cs typeface="Amiri" pitchFamily="2" charset="-78"/>
              </a:rPr>
              <a:t>Opinion signal.</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هُوَ هَادِئٌ، بَيْنَمَا هِيَ مَرِحَةٌ.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is calm, whereas she is cheerful.</a:t>
            </a:r>
            <a:endParaRPr lang="en-US" sz="1250" dirty="0"/>
          </a:p>
          <a:p>
            <a:pPr indent="0" marL="0">
              <a:buNone/>
            </a:pPr>
            <a:r>
              <a:rPr lang="en-US" sz="1050" i="1" dirty="0">
                <a:solidFill>
                  <a:srgbClr val="8A6D1E"/>
                </a:solidFill>
                <a:latin typeface="Calibri" pitchFamily="34" charset="0"/>
                <a:cs typeface="Amiri" pitchFamily="2" charset="-78"/>
              </a:rPr>
              <a:t>Contrast.</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يُسَاعِدُ الجَمِيعَ؛ لِذٰلِكَ يَبْدُو مُتَعَاوِنًا.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helps everyone, so he seems helpful.</a:t>
            </a:r>
            <a:endParaRPr lang="en-US" sz="1250" dirty="0"/>
          </a:p>
          <a:p>
            <a:pPr indent="0" marL="0">
              <a:buNone/>
            </a:pPr>
            <a:r>
              <a:rPr lang="en-US" sz="1050" i="1" dirty="0">
                <a:solidFill>
                  <a:srgbClr val="8A6D1E"/>
                </a:solidFill>
                <a:latin typeface="Calibri" pitchFamily="34" charset="0"/>
                <a:cs typeface="Amiri" pitchFamily="2" charset="-78"/>
              </a:rPr>
              <a:t>Inference from evidence.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Fact, opinion or inference?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يَرْتَدِي مَلَابِسَ بَسِيطَةً.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تُفَضِّلُ الأُسْلُوبَ الرَّسْمِيَّ.</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تُقْرَأُ ثَلَاثُ رِسَالَاتٍ.</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يَرَى الكَاتِبُ أَنَّ المَظْهَرَ لَا يَكْفِي.</a:t>
            </a:r>
            <a:endParaRPr lang="ar-SA" sz="17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الاِحْتِرَامُ أَهَمُّ مِنَ التَّشَابُهِ.</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يُسَاعِدُ الجَمِيعَ؛ لِذٰلِكَ يَبْدُو مُتَعَاوِنًا.</a:t>
            </a:r>
            <a:endParaRPr lang="ar-SA" sz="155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تَضْحَكُ مَعَ صَدِيقَاتِهَا؛ فَهِيَ مَرِحَةٌ.</a:t>
            </a:r>
            <a:endParaRPr lang="ar-SA" sz="1800" dirty="0"/>
          </a:p>
        </p:txBody>
      </p:sp>
      <p:sp>
        <p:nvSpPr>
          <p:cNvPr id="29" name="Shape 26"/>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0" name="Shape 27"/>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Fact</a:t>
            </a:r>
            <a:endParaRPr lang="en-US" sz="950" dirty="0"/>
          </a:p>
        </p:txBody>
      </p:sp>
      <p:sp>
        <p:nvSpPr>
          <p:cNvPr id="32" name="Shape 29"/>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3" name="Shape 30"/>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4" name="Text 31"/>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Opinion</a:t>
            </a:r>
            <a:endParaRPr lang="en-US" sz="950" dirty="0"/>
          </a:p>
        </p:txBody>
      </p:sp>
      <p:sp>
        <p:nvSpPr>
          <p:cNvPr id="35" name="Shape 32"/>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6" name="Shape 33"/>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Inference</a:t>
            </a:r>
            <a:endParaRPr lang="en-US" sz="9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Fact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يَرْتَدِي مَلَابِسَ بَسِيطَةً.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تُفَضِّلُ الأُسْلُوبَ الرَّسْمِيَّ.</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تُقْرَأُ ثَلَاثُ رِسَالَاتٍ.</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Opinion</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يَرَى الكَاتِبُ أَنَّ المَظْهَرَ لَا يَكْفِي.</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الاِحْتِرَامُ أَهَمُّ مِنَ التَّشَابُهِ.</a:t>
            </a:r>
            <a:endParaRPr lang="ar-SA" sz="1800" dirty="0"/>
          </a:p>
        </p:txBody>
      </p:sp>
      <p:sp>
        <p:nvSpPr>
          <p:cNvPr id="31" name="Shape 28"/>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2" name="Shape 29"/>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Inference</a:t>
            </a:r>
            <a:endParaRPr lang="en-US" sz="950" dirty="0"/>
          </a:p>
        </p:txBody>
      </p:sp>
      <p:sp>
        <p:nvSpPr>
          <p:cNvPr id="34" name="Shape 31"/>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يُسَاعِدُ الجَمِيعَ؛ لِذٰلِكَ يَبْدُو مُتَعَاوِنًا.</a:t>
            </a:r>
            <a:endParaRPr lang="ar-SA" sz="1800" dirty="0"/>
          </a:p>
        </p:txBody>
      </p:sp>
      <p:sp>
        <p:nvSpPr>
          <p:cNvPr id="36" name="Shape 33"/>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تَضْحَكُ مَعَ صَدِيقَاتِهَا؛ فَهِيَ مَرِحَةٌ.</a:t>
            </a:r>
            <a:endParaRPr lang="ar-SA" sz="18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يَرَى الكَاتِبُ أَنَّ المَلَابِسَ تَكْشِفُ الشَّخْصِيَّةَ كُلَّهَا.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Read to the end: is the verb positive or negative?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يَصِفُ فَتَاةً … بَيْنَمَا هُوَ مَرِحٌ.</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is hiya?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الشَّابُّ مُبْدِعٌ لِأَنَّهُ يَرْتَدِي مَلَابِسَ بَسِيطَةً.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Contrast or reason in the text?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يَرَى الكَاتِبُ أَنَّ المَلَابِسَ تَكْشِفُ الشَّخْصِيَّةَ كُلَّهَا.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يَرَى الكَاتِبُ أَنَّ المَلَابِسَ لَا تَكْشِفُ الشَّخْصِيَّةَ كُلَّهَا.</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Read the whole clause — the verb is negative.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يَصِفُ فَتَاةً … بَيْنَمَا هُوَ مَرِحٌ.</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يَصِفُ فَتَاةً … بَيْنَمَا هِيَ مَرِحَةٌ.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pronoun refers to the girl.</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الشَّابُّ مُبْدِعٌ لِأَنَّهُ يَرْتَدِي مَلَابِسَ بَسِيطَةً.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الشَّابُّ يَرْتَدِي مَلَابِسَ بَسِيطَةً، وَلٰكِنَّهُ مُبْدِعٌ.</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text shows a contrast, not a reason.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Listening focus: reading personality, relationships and fashion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messages are read?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writes the first message?</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teacher</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young man</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(female) student</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describe her friend?</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shy</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elegant</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helpful</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young man explain?</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why he prefers practical clothes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why he likes fashion</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why he argues with his brother</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third message compare?</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shirts</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relationships</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schools</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more important than being exactly alike?</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respect</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clothes</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money</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ثَلَاثُ</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طَالِبَةٍ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الاِحْتِرَامَ</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تُقْرَأُ ثَلَاثُ رِسَالَاتٍ قَصِيرَةٍ.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short messages are read.</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الأُولَى مِنْ طَالِبَةٍ تَصِفُ صَدِيقَتَهَا المُتَعَاوِنَةَ.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is from a student describing her helpful friend.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الثَّانِيَةُ مِنْ شَابٍّ يَشْرَحُ لِمَاذَا يُفَضِّلُ المَلَابِسَ العَمَلِيَّةَ.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second is from a young man explaining why he prefers practical clothes.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الثَّالِثَةُ تُقَارِنُ بَيْنَ عِلَاقَتَيْنِ</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third compares two relationships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وَتَذْكُرُ أَنَّ الاِحْتِرَامَ أَهَمُّ مِنَ التَّشَابُهِ التَّامِّ.</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says that respect is more important than being exactly alike.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messages are read?</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تُقْرَأُ ثَلَاثُ رِسَالَاتٍ قَصِيرَةٍ.</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writes the first message?</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teacher</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young man</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(female) student</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الأُولَى مِنْ طَالِبَةٍ.</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describe her friend?</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shy</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elegant</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helpful</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صَدِيقَتَهَا المُتَعَاوِنَةَ.</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young man explain?</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why he prefers practical clothes</a:t>
            </a:r>
            <a:endParaRPr lang="en-US" sz="11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why he likes fashion</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why he argues with his brother</a:t>
            </a:r>
            <a:endParaRPr lang="en-US" sz="11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يَشْرَحُ لِمَاذَا يُفَضِّلُ المَلَابِسَ العَمَلِيَّةَ.</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third message compare?</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shirts</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 relationships</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schools</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تُقَارِنُ بَيْنَ عَلَاقَتَيْنِ.</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more important than being exactly alike?</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respect</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clothes</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money</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الاِحْتِرَامَ أَهَمُّ مِنَ التَّشَابُهِ التَّامِّ.</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ثَلَاثُ</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طَالِبَةٍ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الاِحْتِرَامَ</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READING · READ THE WHOLE TEXT ONCE, THEN HUNT FOR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Reading focus: reading personality, relationships and fashion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مَقَالٌ: كَيْفَ نُقَيِّمُ الأَشْخَاصَ وَالأُسْلُوبَ؟ يَرَى الكَاتِبُ أَنَّ المَظْهَرَ يُقَدِّمُ مَعْلُومَاتٍ عَنِ الذَّوْقِ وَالمُنَاسَبَةِ، وَلٰكِنَّهُ لَا يَكْشِفُ الشَّخْصِيَّةَ كُلَّهَا. يَذْكُرُ مِثَالًا لِشَابٍّ يَرْتَدِي مَلَابِسَ بَسِيطَةً وَلٰكِنَّهُ وَاثِقٌ وَمُبْدِعٌ. وَيَصِفُ فَتَاةً تُفَضِّلُ الأُسْلُوبَ الرَّسْمِيَّ، بَيْنَمَا هِيَ مَرِحَةٌ مَعَ أَصْدِقَائِهَا. يَخْلُصُ الكَاتِبُ إِلَى أَنَّ السُّلُوكَ وَالعَلَاقَاتِ يُقَدِّمَانِ دَلِيلًا أَقْوَى مِنَ المَلَابِسِ وَحْدَهَا.</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نُقَيِّمُ</a:t>
            </a:r>
            <a:endParaRPr lang="ar-SA" sz="1600" dirty="0"/>
          </a:p>
        </p:txBody>
      </p:sp>
      <p:sp>
        <p:nvSpPr>
          <p:cNvPr id="20" name="Text 17"/>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judge, evaluate</a:t>
            </a:r>
            <a:endParaRPr lang="en-US" sz="1050" dirty="0"/>
          </a:p>
        </p:txBody>
      </p:sp>
      <p:sp>
        <p:nvSpPr>
          <p:cNvPr id="21" name="Text 18"/>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يُقَدِّمُ مَعْلُومَاتٍ</a:t>
            </a:r>
            <a:endParaRPr lang="ar-SA" sz="1600" dirty="0"/>
          </a:p>
        </p:txBody>
      </p:sp>
      <p:sp>
        <p:nvSpPr>
          <p:cNvPr id="22" name="Text 19"/>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gives information</a:t>
            </a:r>
            <a:endParaRPr lang="en-US" sz="1050" dirty="0"/>
          </a:p>
        </p:txBody>
      </p:sp>
      <p:sp>
        <p:nvSpPr>
          <p:cNvPr id="23" name="Text 20"/>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المُنَاسَبَةِ</a:t>
            </a:r>
            <a:endParaRPr lang="ar-SA" sz="1600" dirty="0"/>
          </a:p>
        </p:txBody>
      </p:sp>
      <p:sp>
        <p:nvSpPr>
          <p:cNvPr id="24" name="Text 21"/>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occasion</a:t>
            </a:r>
            <a:endParaRPr lang="en-US" sz="1050" dirty="0"/>
          </a:p>
        </p:txBody>
      </p:sp>
      <p:sp>
        <p:nvSpPr>
          <p:cNvPr id="25" name="Text 22"/>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يَكْشِفُ</a:t>
            </a:r>
            <a:endParaRPr lang="ar-SA" sz="1600" dirty="0"/>
          </a:p>
        </p:txBody>
      </p:sp>
      <p:sp>
        <p:nvSpPr>
          <p:cNvPr id="26" name="Text 23"/>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does not reveal</a:t>
            </a:r>
            <a:endParaRPr lang="en-US" sz="1050" dirty="0"/>
          </a:p>
        </p:txBody>
      </p:sp>
      <p:sp>
        <p:nvSpPr>
          <p:cNvPr id="27" name="Text 24"/>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كُلَّهَا</a:t>
            </a:r>
            <a:endParaRPr lang="ar-SA" sz="1600" dirty="0"/>
          </a:p>
        </p:txBody>
      </p:sp>
      <p:sp>
        <p:nvSpPr>
          <p:cNvPr id="28" name="Text 25"/>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all of it</a:t>
            </a:r>
            <a:endParaRPr lang="en-US" sz="1050" dirty="0"/>
          </a:p>
        </p:txBody>
      </p:sp>
      <p:sp>
        <p:nvSpPr>
          <p:cNvPr id="29" name="Text 26"/>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يَذْكُرُ مِثَالًا</a:t>
            </a:r>
            <a:endParaRPr lang="ar-SA" sz="1600" dirty="0"/>
          </a:p>
        </p:txBody>
      </p:sp>
      <p:sp>
        <p:nvSpPr>
          <p:cNvPr id="30" name="Text 27"/>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 gives an example</a:t>
            </a:r>
            <a:endParaRPr lang="en-US" sz="1050" dirty="0"/>
          </a:p>
        </p:txBody>
      </p:sp>
      <p:sp>
        <p:nvSpPr>
          <p:cNvPr id="31" name="Text 28"/>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مُبْدِعٌ</a:t>
            </a:r>
            <a:endParaRPr lang="ar-SA" sz="1600" dirty="0"/>
          </a:p>
        </p:txBody>
      </p:sp>
      <p:sp>
        <p:nvSpPr>
          <p:cNvPr id="32" name="Text 29"/>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creative</a:t>
            </a:r>
            <a:endParaRPr lang="en-US" sz="1050" dirty="0"/>
          </a:p>
        </p:txBody>
      </p:sp>
      <p:sp>
        <p:nvSpPr>
          <p:cNvPr id="33" name="Text 30"/>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يَخْلُصُ إِلَى أَنَّ</a:t>
            </a:r>
            <a:endParaRPr lang="ar-SA" sz="1600" dirty="0"/>
          </a:p>
        </p:txBody>
      </p:sp>
      <p:sp>
        <p:nvSpPr>
          <p:cNvPr id="34" name="Text 31"/>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 concludes that</a:t>
            </a:r>
            <a:endParaRPr lang="en-US" sz="1050" dirty="0"/>
          </a:p>
        </p:txBody>
      </p:sp>
      <p:sp>
        <p:nvSpPr>
          <p:cNvPr id="35" name="Text 32"/>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السُّلُوكَ</a:t>
            </a:r>
            <a:endParaRPr lang="ar-SA" sz="1600" dirty="0"/>
          </a:p>
        </p:txBody>
      </p:sp>
      <p:sp>
        <p:nvSpPr>
          <p:cNvPr id="36" name="Text 33"/>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behaviour</a:t>
            </a:r>
            <a:endParaRPr lang="en-US" sz="1050" dirty="0"/>
          </a:p>
        </p:txBody>
      </p:sp>
      <p:sp>
        <p:nvSpPr>
          <p:cNvPr id="37" name="Text 34"/>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وَحْدَهَا</a:t>
            </a:r>
            <a:endParaRPr lang="ar-SA" sz="1600" dirty="0"/>
          </a:p>
        </p:txBody>
      </p:sp>
      <p:sp>
        <p:nvSpPr>
          <p:cNvPr id="38" name="Text 35"/>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alone</a:t>
            </a:r>
            <a:endParaRPr lang="en-US" sz="10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What does appearance give information about, according to the writer?</a:t>
            </a:r>
            <a:endParaRPr lang="en-US" sz="9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whole personality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taste and the occasion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money</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can appearance NOT do?</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show taste</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suit an occasion</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reveal the whole personality</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young man in the example like?</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simple clothes, but confident and creative</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formal clothes and shy</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expensive clothes and selfish</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style does the girl prefer?</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colourful</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formal</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sporty</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بَيْنَمَا هِيَ مَرِحَةٌ</a:t>
            </a:r>
            <a:pPr algn="l" indent="0" marL="0">
              <a:buNone/>
            </a:pPr>
            <a:r>
              <a:rPr lang="en-US" sz="1250" b="1" dirty="0">
                <a:solidFill>
                  <a:srgbClr val="1B3B6F"/>
                </a:solidFill>
                <a:latin typeface="Calibri" pitchFamily="34" charset="0"/>
                <a:cs typeface="Amiri" pitchFamily="2" charset="-78"/>
              </a:rPr>
              <a:t>, who is cheerful?</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girl</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young man</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conclude?</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clothes show everything</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formal clothes are best</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behaviour and relationships are stronger evidence than clothes</a:t>
            </a:r>
            <a:endParaRPr lang="en-US" sz="10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Text 91"/>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5" name="Text 92"/>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FEEDBACK · READING ANSWERS WITH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What does appearance give information about, according to the writer?</a:t>
            </a:r>
            <a:endParaRPr lang="en-US" sz="9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whole personality</a:t>
            </a:r>
            <a:endParaRPr lang="en-US" sz="1250" dirty="0"/>
          </a:p>
        </p:txBody>
      </p:sp>
      <p:sp>
        <p:nvSpPr>
          <p:cNvPr id="22" name="Shape 19"/>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taste and the occasion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money</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يُقَدِّمُ مَعْلُومَاتٍ عَنِ الذَّوْقِ وَالمُنَاسَبَةِ.</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can appearance NOT do?</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show taste</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suit an occasion</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reveal the whole personality</a:t>
            </a:r>
            <a:endParaRPr lang="en-US" sz="11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يَكْشِفُ الشَّخْصِيَّةَ كُلَّهَا.</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young man in the example like?</a:t>
            </a:r>
            <a:endParaRPr lang="en-US" sz="1250" dirty="0"/>
          </a:p>
        </p:txBody>
      </p:sp>
      <p:sp>
        <p:nvSpPr>
          <p:cNvPr id="49" name="Shape 46"/>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6368796"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simple clothes, but confident and creative</a:t>
            </a:r>
            <a:endParaRPr lang="en-US" sz="1150" dirty="0"/>
          </a:p>
        </p:txBody>
      </p:sp>
      <p:sp>
        <p:nvSpPr>
          <p:cNvPr id="53" name="Shape 50"/>
          <p:cNvSpPr/>
          <p:nvPr/>
        </p:nvSpPr>
        <p:spPr>
          <a:xfrm>
            <a:off x="6368796"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formal clothes and shy</a:t>
            </a:r>
            <a:endParaRPr lang="en-US" sz="1250" dirty="0"/>
          </a:p>
        </p:txBody>
      </p:sp>
      <p:sp>
        <p:nvSpPr>
          <p:cNvPr id="56" name="Shape 53"/>
          <p:cNvSpPr/>
          <p:nvPr/>
        </p:nvSpPr>
        <p:spPr>
          <a:xfrm>
            <a:off x="6368796"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expensive clothes and selfish</a:t>
            </a:r>
            <a:endParaRPr lang="en-US" sz="11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مَلَابِسَ بَسِيطَةً وَلٰكِنَّهُ وَاثِقٌ وَمُبْدِعٌ.</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style does the girl prefer?</a:t>
            </a:r>
            <a:endParaRPr lang="en-US" sz="1250" dirty="0"/>
          </a:p>
        </p:txBody>
      </p:sp>
      <p:sp>
        <p:nvSpPr>
          <p:cNvPr id="64" name="Shape 61"/>
          <p:cNvSpPr/>
          <p:nvPr/>
        </p:nvSpPr>
        <p:spPr>
          <a:xfrm>
            <a:off x="9233154" y="2490216"/>
            <a:ext cx="256032" cy="256032"/>
          </a:xfrm>
          <a:prstGeom prst="ellipse">
            <a:avLst/>
          </a:prstGeom>
          <a:solidFill>
            <a:srgbClr val="C9CED6"/>
          </a:solidFill>
          <a:ln w="12700">
            <a:solidFill>
              <a:srgbClr val="C9CED6"/>
            </a:solidFill>
            <a:prstDash val="solid"/>
          </a:ln>
        </p:spPr>
      </p:sp>
      <p:sp>
        <p:nvSpPr>
          <p:cNvPr id="65" name="Text 62"/>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colourful</a:t>
            </a:r>
            <a:endParaRPr lang="en-US" sz="1250" dirty="0"/>
          </a:p>
        </p:txBody>
      </p:sp>
      <p:sp>
        <p:nvSpPr>
          <p:cNvPr id="67" name="Shape 64"/>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9233154" y="2862072"/>
            <a:ext cx="256032" cy="256032"/>
          </a:xfrm>
          <a:prstGeom prst="ellipse">
            <a:avLst/>
          </a:prstGeom>
          <a:solidFill>
            <a:srgbClr val="2E8B57"/>
          </a:solidFill>
          <a:ln w="12700">
            <a:solidFill>
              <a:srgbClr val="2E8B57"/>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formal</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sporty</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تُفَضِّلُ الأُسْلُوبَ الرَّسْمِيَّ.</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بَيْنَمَا هِيَ مَرِحَةٌ</a:t>
            </a:r>
            <a:pPr algn="l" indent="0" marL="0">
              <a:buNone/>
            </a:pPr>
            <a:r>
              <a:rPr lang="en-US" sz="1250" b="1" dirty="0">
                <a:solidFill>
                  <a:srgbClr val="1B3B6F"/>
                </a:solidFill>
                <a:latin typeface="Calibri" pitchFamily="34" charset="0"/>
                <a:cs typeface="Amiri" pitchFamily="2" charset="-78"/>
              </a:rPr>
              <a:t>, who is cheerful?</a:t>
            </a:r>
            <a:endParaRPr lang="en-US" sz="1250" dirty="0"/>
          </a:p>
        </p:txBody>
      </p:sp>
      <p:sp>
        <p:nvSpPr>
          <p:cNvPr id="79" name="Shape 76"/>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640080"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girl</a:t>
            </a:r>
            <a:endParaRPr lang="en-US" sz="1250" dirty="0"/>
          </a:p>
        </p:txBody>
      </p:sp>
      <p:sp>
        <p:nvSpPr>
          <p:cNvPr id="83" name="Shape 80"/>
          <p:cNvSpPr/>
          <p:nvPr/>
        </p:nvSpPr>
        <p:spPr>
          <a:xfrm>
            <a:off x="640080"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young man</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 the girl.</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conclude?</a:t>
            </a:r>
            <a:endParaRPr lang="en-US" sz="1250" dirty="0"/>
          </a:p>
        </p:txBody>
      </p:sp>
      <p:sp>
        <p:nvSpPr>
          <p:cNvPr id="94" name="Shape 91"/>
          <p:cNvSpPr/>
          <p:nvPr/>
        </p:nvSpPr>
        <p:spPr>
          <a:xfrm>
            <a:off x="350443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clothes show everything</a:t>
            </a:r>
            <a:endParaRPr lang="en-US" sz="1250" dirty="0"/>
          </a:p>
        </p:txBody>
      </p:sp>
      <p:sp>
        <p:nvSpPr>
          <p:cNvPr id="97" name="Shape 94"/>
          <p:cNvSpPr/>
          <p:nvPr/>
        </p:nvSpPr>
        <p:spPr>
          <a:xfrm>
            <a:off x="3504438" y="5202936"/>
            <a:ext cx="256032" cy="256032"/>
          </a:xfrm>
          <a:prstGeom prst="ellipse">
            <a:avLst/>
          </a:prstGeom>
          <a:solidFill>
            <a:srgbClr val="C9CED6"/>
          </a:solidFill>
          <a:ln w="12700">
            <a:solidFill>
              <a:srgbClr val="C9CED6"/>
            </a:solidFill>
            <a:prstDash val="solid"/>
          </a:ln>
        </p:spPr>
      </p:sp>
      <p:sp>
        <p:nvSpPr>
          <p:cNvPr id="98" name="Text 95"/>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9" name="Text 96"/>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formal clothes are best</a:t>
            </a:r>
            <a:endParaRPr lang="en-US" sz="1250" dirty="0"/>
          </a:p>
        </p:txBody>
      </p:sp>
      <p:sp>
        <p:nvSpPr>
          <p:cNvPr id="100" name="Shape 97"/>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1" name="Shape 98"/>
          <p:cNvSpPr/>
          <p:nvPr/>
        </p:nvSpPr>
        <p:spPr>
          <a:xfrm>
            <a:off x="3504438" y="5574792"/>
            <a:ext cx="256032" cy="256032"/>
          </a:xfrm>
          <a:prstGeom prst="ellipse">
            <a:avLst/>
          </a:prstGeom>
          <a:solidFill>
            <a:srgbClr val="2E8B57"/>
          </a:solidFill>
          <a:ln w="12700">
            <a:solidFill>
              <a:srgbClr val="2E8B57"/>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050" b="1" dirty="0">
                <a:solidFill>
                  <a:srgbClr val="1F2A37"/>
                </a:solidFill>
                <a:latin typeface="Calibri" pitchFamily="34" charset="0"/>
                <a:cs typeface="Amiri" pitchFamily="2" charset="-78"/>
              </a:rPr>
              <a:t>behaviour and relationships are stronger evidence than clothes</a:t>
            </a:r>
            <a:endParaRPr lang="en-US" sz="10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000" dirty="0">
                <a:solidFill>
                  <a:srgbClr val="8A6D1E"/>
                </a:solidFill>
                <a:latin typeface="Amiri" pitchFamily="2" charset="-78"/>
                <a:ea typeface="Amiri" pitchFamily="2" charset="-78"/>
                <a:cs typeface="Amiri" pitchFamily="2" charset="-78"/>
              </a:rPr>
              <a:t>السُّلُوكَ وَالعَلَاقَاتِ يُقَدِّمَانِ دَلِيلًا أَقْوَى مِنَ المَلَابِسِ.</a:t>
            </a:r>
            <a:endParaRPr lang="ar-SA" sz="100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Text 10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7" name="Text 10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08"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Developed speaking: reading personality, relationships and fashion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غَرَضُ النَّصِّ؟</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الدَّلِيلُ الَّذِي يُقَدِّمُهُ الكَاتِبُ؟</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إِلَى مَنْ يَعُودُ الضَّمِيرُ «هِيَ»؟</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تَتَّفِقُ مَعَ خُلَاصَةِ النَّصِّ؟</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النَّصُّ عَنْ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يَذْكُرُ الكَاتِبُ مِثَالًا لِـ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يَعُودُ الضَّمِيرُ «هِيَ» إِلَى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أَتَّفِقُ / لَا أَتَّفِقُ تَمَامًا لِأَنَّ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رَأْيُ الكَاتِبِ؟</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the writer’s view?</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يَرَى أَنَّ المَظْهَرَ لَا يَكْفِي لِلْحُكْمِ عَلَى الشَّخْصِيَّةِ.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He thinks that appearance is not enough to judge personality.</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Summarise the article: the view, the young man, the girl, the conclusion (use the Core frames).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Summary + compare the two examples + say whether you agree, with one reason.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an independently controlled relative clause.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respond to the article — summarise the view, use evidence, compare two examples and give your own conclusion.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وَلٰكِنَّهُ وَاثِقٌ.</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he is confident.</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بَيْنَمَا هِيَ مَرِحَةٌ.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whereas she is cheerful.</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أَتَّفِقُ مَعَ الكَاتِبِ لِأَنَّ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agree with the writer because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أَتَّفِقُ تَمَامًا لِأَنَّ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fully agree because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لِذٰلِكَ لَا نَعْتَمِدُ عَلَى الاِنْطِبَاعِ الأَوَّلِ.</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 we must not rely on first impressions.</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قَرَأْتُ مَقَالًا عَنْ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read an article about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يَرَى الكَاتِبُ أَنَّ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writer thinks that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يَذْكُرُ مِثَالًا لِشَابٍّ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gives the example of a young man who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يَصِفُ فَتَاةً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describes a girl who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يَخْلُصُ الكَاتِبُ إِلَى أَنَّ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writer concludes that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مَقَالٌ  ·  الكَاتِبُ  ·  يَرَى أَنَّ  ·  يَذْكُرُ مِثَالًا  ·  يَصِفُ  ·  بَيْنَمَا  ·  وَلٰكِنَّهُ  ·  يَخْلُصُ إِلَى أَنَّ  ·  أَتَّفِقُ  ·  السُّلُوكُ  ·  المَظْهَرُ  ·  الدَّلِيلُ</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Arabic words responding to an article about whether appearance shows personality. Summarise the view, use evidence, compare two examples and give your conclusion.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Cover every requested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the target grammar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precise vocabulary from this lesson.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a reason, comparison or contrast.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Review agreement, pronoun reference and connectors.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أَنَّهُ وَاثِقٌ وَمُبْدِعٌ</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even though he is confident and creative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كَمَا يَصِفُ فَتَاةً أُسْلُوبُهَا رَسْمِيٌّ</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also describes a girl whose style is formal</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السُّلُوكُ أَقْوَى دَلِيلٍ عَلَى الشَّخْصِيَّةِ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behaviour is the strongest evidence of personality</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نَقْرَأُ المَعْلُومَاتِ بِدِقَّةٍ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read the information carefully</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نَعْتَمِدُ عَلَى الاِنْطِبَاعِ الأَوَّلِ</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do not rely on the first impression</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قَرَأْتُ مَقَالًا عَنْ العَلَاقَةِ بَيْنَ المَظْهَرِ وَالشَّخْصِيَّةِ. يَرَى الكَاتِبُ أَنَّ المَلَابِسَ قَدْ تُعَبِّرُ عَنِ الذَّوْقِ، وَلٰكِنَّهَا لَا تَكْفِي لِلْحُكْمِ عَلَى أَحَدٍ. يُقَدِّمُ مِثَالًا لِشَابٍّ يَرْتَدِي مَلَابِسَ بَسِيطَةً، مَعَ أَنَّهُ وَاثِقٌ وَمُبْدِعٌ. كَمَا يَصِفُ فَتَاةً أُسْلُوبُهَا رَسْمِيٌّ، بَيْنَمَا هِيَ مَرِحَةٌ مَعَ صَدِيقَاتِهَا. أَتَّفِقُ مَعَ الكَاتِبِ، لِأَنَّ السُّلُوكَ أَقْوَى دَلِيلٍ عَلَى الشَّخْصِيَّةِ. لِذٰلِكَ يَجِبُ أَنْ نَقْرَأَ المَعْلُومَاتِ بِدِقَّةٍ وَلَا نَعْتَمِدَ عَلَى الاِنْطِبَاعِ الأَوَّلِ.</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read an article about the relationship between appearance and personality. The writer thinks that clothes may express taste, but they are not enough to judge anyone. He gives the example of a young man who wears simple clothes, even though he is confident and creative. He also describes a girl whose style is formal, whereas she is cheerful with her friends. I agree with the writer, because behaviour is the strongest evidence of personality. So we must read information carefully and not rely on first impressions.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writer’s view</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two examples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contrast</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student’s agreement and reason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found the writer’s view and the conclusion.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one example from the text.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pronouns refer to the right person.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explained the contrast.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agreed or disagreed with evidence.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refer to after </a:t>
            </a:r>
            <a:pPr algn="l" indent="0" marL="0">
              <a:buNone/>
            </a:pPr>
            <a:r>
              <a:rPr lang="ar-SA" altLang="en-US" sz="1650" b="1" dirty="0">
                <a:solidFill>
                  <a:srgbClr val="1B3B6F"/>
                </a:solidFill>
                <a:latin typeface="Amiri" pitchFamily="2" charset="-78"/>
                <a:ea typeface="Amiri" pitchFamily="2" charset="-78"/>
                <a:cs typeface="Amiri" pitchFamily="2" charset="-78"/>
              </a:rPr>
              <a:t>مَرْيَمُ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coat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brother</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signals contrast?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opinion?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أَرَى أَنَّ أُسْلُوبَهُ مُنَاسِبٌ.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شَعْرٌ قَصِيرٌ.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ثَمَنُهُ خَمْسُونَ جُنَيْهًا.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refer to after </a:t>
            </a:r>
            <a:pPr algn="l" indent="0" marL="0">
              <a:buNone/>
            </a:pPr>
            <a:r>
              <a:rPr lang="ar-SA" altLang="en-US" sz="1650" b="1" dirty="0">
                <a:solidFill>
                  <a:srgbClr val="1B3B6F"/>
                </a:solidFill>
                <a:latin typeface="Amiri" pitchFamily="2" charset="-78"/>
                <a:ea typeface="Amiri" pitchFamily="2" charset="-78"/>
                <a:cs typeface="Amiri" pitchFamily="2" charset="-78"/>
              </a:rPr>
              <a:t>مَرْيَمُ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Maryam</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coat</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brother</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pronoun refers to Maryam.</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signals contrast?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لِأَنَّ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وَلٰكِنَّ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ثُمَّ</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وَلٰكِنَّ</a:t>
            </a:r>
            <a:pPr algn="l" indent="0" marL="0">
              <a:buNone/>
            </a:pPr>
            <a:r>
              <a:rPr lang="en-US" sz="1050" i="1" dirty="0">
                <a:solidFill>
                  <a:srgbClr val="8A6D1E"/>
                </a:solidFill>
                <a:latin typeface="Calibri" pitchFamily="34" charset="0"/>
                <a:cs typeface="Amiri" pitchFamily="2" charset="-78"/>
              </a:rPr>
              <a:t> signals contrast.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opinion?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أَرَى أَنَّ أُسْلُوبَهُ مُنَاسِبٌ.</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لَهُ شَعْرٌ قَصِيرٌ.</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ثَمَنُهُ خَمْسُونَ جُنَيْهًا.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أَرَى أَنَّ</a:t>
            </a:r>
            <a:pPr algn="l" indent="0" marL="0">
              <a:buNone/>
            </a:pPr>
            <a:r>
              <a:rPr lang="en-US" sz="1050" i="1" dirty="0">
                <a:solidFill>
                  <a:srgbClr val="8A6D1E"/>
                </a:solidFill>
                <a:latin typeface="Calibri" pitchFamily="34" charset="0"/>
                <a:cs typeface="Amiri" pitchFamily="2" charset="-78"/>
              </a:rPr>
              <a:t> marks opinion.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reading personality, relationships and fashion Arabic challenge</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refer to after </a:t>
            </a:r>
            <a:pPr algn="l" indent="0" marL="0">
              <a:buNone/>
            </a:pPr>
            <a:r>
              <a:rPr lang="ar-SA" altLang="en-US" sz="1650" b="1" dirty="0">
                <a:solidFill>
                  <a:srgbClr val="1B3B6F"/>
                </a:solidFill>
                <a:latin typeface="Amiri" pitchFamily="2" charset="-78"/>
                <a:ea typeface="Amiri" pitchFamily="2" charset="-78"/>
                <a:cs typeface="Amiri" pitchFamily="2" charset="-78"/>
              </a:rPr>
              <a:t>مَرْيَمُ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coat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brother</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signals contrast?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explicit fact?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رَأْيِي هُوَ أَنِيقٌ.</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قَدْ يَكُونُ خَجُولًا.</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 قَمِيصًا أَسْوَدَ.</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opinion?</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شَعْرٌ قَصِيرٌ.</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ثَمَنُهُ خَمْسُونَ جُنَيْهًا.</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أَرَى أَنَّ أُسْلُوبَهُ مُنَاسِبٌ.</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comparison:</a:t>
            </a:r>
            <a:endParaRPr lang="en-US" sz="1200" dirty="0"/>
          </a:p>
        </p:txBody>
      </p:sp>
      <p:sp>
        <p:nvSpPr>
          <p:cNvPr id="73" name="Text 7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هِيَ أَكْثَرُ ثِقَةً ___ أُخْتِهَا.</a:t>
            </a:r>
            <a:endParaRPr lang="ar-SA" sz="140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evidence supports “generous”?</a:t>
            </a:r>
            <a:endParaRPr lang="en-US" sz="1250" dirty="0"/>
          </a:p>
        </p:txBody>
      </p:sp>
      <p:sp>
        <p:nvSpPr>
          <p:cNvPr id="87" name="Shape 84"/>
          <p:cNvSpPr/>
          <p:nvPr/>
        </p:nvSpPr>
        <p:spPr>
          <a:xfrm>
            <a:off x="8278368" y="48737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9" name="Text 86"/>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 حِذَاءً أَسْوَدَ.</a:t>
            </a:r>
            <a:endParaRPr lang="ar-SA" sz="2050" dirty="0"/>
          </a:p>
        </p:txBody>
      </p:sp>
      <p:sp>
        <p:nvSpPr>
          <p:cNvPr id="90" name="Shape 87"/>
          <p:cNvSpPr/>
          <p:nvPr/>
        </p:nvSpPr>
        <p:spPr>
          <a:xfrm>
            <a:off x="8278368" y="53309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2" name="Text 89"/>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يُقَدِّمُ وَقْتَهُ لِمُسَاعَدَةِ الآخَرِينَ.</a:t>
            </a:r>
            <a:endParaRPr lang="ar-SA" sz="2050" dirty="0"/>
          </a:p>
        </p:txBody>
      </p:sp>
      <p:sp>
        <p:nvSpPr>
          <p:cNvPr id="93" name="Shape 90"/>
          <p:cNvSpPr/>
          <p:nvPr/>
        </p:nvSpPr>
        <p:spPr>
          <a:xfrm>
            <a:off x="8278368" y="57881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5" name="Text 92"/>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طَوِيلٌ.</a:t>
            </a:r>
            <a:endParaRPr lang="ar-SA" sz="20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refer to after </a:t>
            </a:r>
            <a:pPr algn="l" indent="0" marL="0">
              <a:buNone/>
            </a:pPr>
            <a:r>
              <a:rPr lang="ar-SA" altLang="en-US" sz="1650" b="1" dirty="0">
                <a:solidFill>
                  <a:srgbClr val="1B3B6F"/>
                </a:solidFill>
                <a:latin typeface="Amiri" pitchFamily="2" charset="-78"/>
                <a:ea typeface="Amiri" pitchFamily="2" charset="-78"/>
                <a:cs typeface="Amiri" pitchFamily="2" charset="-78"/>
              </a:rPr>
              <a:t>مَرْيَمُ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coat</a:t>
            </a:r>
            <a:endParaRPr lang="en-US" sz="125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Maryam</a:t>
            </a:r>
            <a:endParaRPr lang="en-US" sz="125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brother</a:t>
            </a:r>
            <a:endParaRPr lang="en-US" sz="125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pronoun refers to Maryam.</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signals contrast?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وَلٰكِنَّ</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وَلٰكِنَّ</a:t>
            </a:r>
            <a:pPr algn="l" indent="0" marL="0">
              <a:buNone/>
            </a:pPr>
            <a:r>
              <a:rPr lang="en-US" sz="1050" i="1" dirty="0">
                <a:solidFill>
                  <a:srgbClr val="8A6D1E"/>
                </a:solidFill>
                <a:latin typeface="Calibri" pitchFamily="34" charset="0"/>
                <a:cs typeface="Amiri" pitchFamily="2" charset="-78"/>
              </a:rPr>
              <a:t> signals contrast.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explicit fact?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رَأْيِي هُوَ أَنِيقٌ.</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قَدْ يَكُونُ خَجُولًا.</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يَرْتَدِي قَمِيصًا أَسْوَدَ.</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states observable clothing.</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opinion?</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 شَعْرٌ قَصِيرٌ.</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ثَمَنُهُ خَمْسُونَ جُنَيْهًا.</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أَرَى أَنَّ أُسْلُوبَهُ مُنَاسِبٌ.</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أَرَى أَنَّ</a:t>
            </a:r>
            <a:pPr algn="l" indent="0" marL="0">
              <a:buNone/>
            </a:pPr>
            <a:r>
              <a:rPr lang="en-US" sz="1050" i="1" dirty="0">
                <a:solidFill>
                  <a:srgbClr val="8A6D1E"/>
                </a:solidFill>
                <a:latin typeface="Calibri" pitchFamily="34" charset="0"/>
                <a:cs typeface="Amiri" pitchFamily="2" charset="-78"/>
              </a:rPr>
              <a:t> marks opinion.</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comparison:</a:t>
            </a:r>
            <a:endParaRPr lang="en-US" sz="1200" dirty="0"/>
          </a:p>
        </p:txBody>
      </p:sp>
      <p:sp>
        <p:nvSpPr>
          <p:cNvPr id="80" name="Text 7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هِيَ أَكْثَرُ ثِقَةً ___ أُخْتِهَا.</a:t>
            </a:r>
            <a:endParaRPr lang="ar-SA" sz="140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Comparative uses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evidence supports “generous”?</a:t>
            </a:r>
            <a:endParaRPr lang="en-US" sz="1250" dirty="0"/>
          </a:p>
        </p:txBody>
      </p:sp>
      <p:sp>
        <p:nvSpPr>
          <p:cNvPr id="96" name="Shape 94"/>
          <p:cNvSpPr/>
          <p:nvPr/>
        </p:nvSpPr>
        <p:spPr>
          <a:xfrm>
            <a:off x="8278368" y="4831080"/>
            <a:ext cx="256032" cy="256032"/>
          </a:xfrm>
          <a:prstGeom prst="ellipse">
            <a:avLst/>
          </a:prstGeom>
          <a:solidFill>
            <a:srgbClr val="C9CED6"/>
          </a:solidFill>
          <a:ln w="12700">
            <a:solidFill>
              <a:srgbClr val="C9CED6"/>
            </a:solidFill>
            <a:prstDash val="solid"/>
          </a:ln>
        </p:spPr>
      </p:sp>
      <p:sp>
        <p:nvSpPr>
          <p:cNvPr id="97" name="Text 95"/>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6"/>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يَرْتَدِي حِذَاءً أَسْوَدَ.</a:t>
            </a:r>
            <a:endParaRPr lang="ar-SA" sz="1700" dirty="0"/>
          </a:p>
        </p:txBody>
      </p:sp>
      <p:sp>
        <p:nvSpPr>
          <p:cNvPr id="99" name="Shape 97"/>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0" name="Shape 98"/>
          <p:cNvSpPr/>
          <p:nvPr/>
        </p:nvSpPr>
        <p:spPr>
          <a:xfrm>
            <a:off x="8278368" y="5202936"/>
            <a:ext cx="256032" cy="256032"/>
          </a:xfrm>
          <a:prstGeom prst="ellipse">
            <a:avLst/>
          </a:prstGeom>
          <a:solidFill>
            <a:srgbClr val="2E8B57"/>
          </a:solidFill>
          <a:ln w="12700">
            <a:solidFill>
              <a:srgbClr val="2E8B57"/>
            </a:solidFill>
            <a:prstDash val="solid"/>
          </a:ln>
        </p:spPr>
      </p:sp>
      <p:sp>
        <p:nvSpPr>
          <p:cNvPr id="101" name="Text 99"/>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2" name="Text 100"/>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يُقَدِّمُ وَقْتَهُ لِمُسَاعَدَةِ الآخَرِينَ.</a:t>
            </a:r>
            <a:endParaRPr lang="ar-SA" sz="1700" dirty="0"/>
          </a:p>
        </p:txBody>
      </p:sp>
      <p:sp>
        <p:nvSpPr>
          <p:cNvPr id="103" name="Shape 101"/>
          <p:cNvSpPr/>
          <p:nvPr/>
        </p:nvSpPr>
        <p:spPr>
          <a:xfrm>
            <a:off x="8278368" y="5574792"/>
            <a:ext cx="256032" cy="256032"/>
          </a:xfrm>
          <a:prstGeom prst="ellipse">
            <a:avLst/>
          </a:prstGeom>
          <a:solidFill>
            <a:srgbClr val="C9CED6"/>
          </a:solidFill>
          <a:ln w="12700">
            <a:solidFill>
              <a:srgbClr val="C9CED6"/>
            </a:solidFill>
            <a:prstDash val="solid"/>
          </a:ln>
        </p:spPr>
      </p:sp>
      <p:sp>
        <p:nvSpPr>
          <p:cNvPr id="104" name="Text 102"/>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3"/>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طَوِيلٌ.</a:t>
            </a:r>
            <a:endParaRPr lang="ar-SA" sz="1700" dirty="0"/>
          </a:p>
        </p:txBody>
      </p:sp>
      <p:sp>
        <p:nvSpPr>
          <p:cNvPr id="106" name="Text 104"/>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Giving time to help others supports generosity.</a:t>
            </a:r>
            <a:endParaRPr lang="en-US" sz="1050" dirty="0"/>
          </a:p>
        </p:txBody>
      </p:sp>
      <p:sp>
        <p:nvSpPr>
          <p:cNvPr id="107"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D2-L09: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D2-L09 · Speaking — People, Relationships and Style Topic Conversation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كَيْفَ هُوَ؟ / كَيْفَ هِيَ؟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What is he / she like?</a:t>
            </a:r>
            <a:pPr indent="0" marL="0">
              <a:buNone/>
            </a:pPr>
            <a:r>
              <a:rPr lang="en-US" sz="1000" i="1" dirty="0">
                <a:solidFill>
                  <a:srgbClr val="5A6472"/>
                </a:solidFill>
                <a:latin typeface="Calibri" pitchFamily="34" charset="0"/>
                <a:cs typeface="Amiri" pitchFamily="2" charset="-78"/>
              </a:rPr>
              <a:t>  D2-L01</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 يَدْعَمُكَ؟</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Who supports you?</a:t>
            </a:r>
            <a:pPr indent="0" marL="0">
              <a:buNone/>
            </a:pPr>
            <a:r>
              <a:rPr lang="en-US" sz="1000" i="1" dirty="0">
                <a:solidFill>
                  <a:srgbClr val="5A6472"/>
                </a:solidFill>
                <a:latin typeface="Calibri" pitchFamily="34" charset="0"/>
                <a:cs typeface="Amiri" pitchFamily="2" charset="-78"/>
              </a:rPr>
              <a:t>  D2-L02</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مَا أُسْلُوبُكَ؟</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What is your style?</a:t>
            </a:r>
            <a:pPr indent="0" marL="0">
              <a:buNone/>
            </a:pPr>
            <a:r>
              <a:rPr lang="en-US" sz="1000" i="1" dirty="0">
                <a:solidFill>
                  <a:srgbClr val="5A6472"/>
                </a:solidFill>
                <a:latin typeface="Calibri" pitchFamily="34" charset="0"/>
                <a:cs typeface="Amiri" pitchFamily="2" charset="-78"/>
              </a:rPr>
              <a:t>  D2-L04</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أَيُّهُمَا تُفَضِّلُ؟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Which of the two do you prefer?</a:t>
            </a:r>
            <a:pPr indent="0" marL="0">
              <a:buNone/>
            </a:pPr>
            <a:r>
              <a:rPr lang="en-US" sz="1000" i="1" dirty="0">
                <a:solidFill>
                  <a:srgbClr val="5A6472"/>
                </a:solidFill>
                <a:latin typeface="Calibri" pitchFamily="34" charset="0"/>
                <a:cs typeface="Amiri" pitchFamily="2" charset="-78"/>
              </a:rPr>
              <a:t>  D2-L05</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هَلْ تَتَّفِقُ؟</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Do you agree?</a:t>
            </a:r>
            <a:pPr indent="0" marL="0">
              <a:buNone/>
            </a:pPr>
            <a:r>
              <a:rPr lang="en-US" sz="1000" i="1" dirty="0">
                <a:solidFill>
                  <a:srgbClr val="5A6472"/>
                </a:solidFill>
                <a:latin typeface="Calibri" pitchFamily="34" charset="0"/>
                <a:cs typeface="Amiri" pitchFamily="2" charset="-78"/>
              </a:rPr>
              <a:t>  D2-L08</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D2-L09 is a conversation lesson. Prepare 3–5 cue words (not a script) for: “Describe a person who is important to you.”</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صِفْ شَخْصًا مُهِمًّا لَكَ.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D2-L08: re-read the article and answer the six questions.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an 8-sentence summary of the article with your opinion.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100–120-word response to the article.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D2-L09 · Speaking — People, Relationships and Style Topic Conversation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المُحَادَثَةُ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view → example → contrast → conclusion. Find the moves first.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D2-L08 · Reading — Personality, Relationships and Fashion Texts</dc:title>
  <dc:subject>PptxGenJS Presentation</dc:subject>
  <dc:creator>Al Madina Online School · Arabic Department</dc:creator>
  <cp:lastModifiedBy>Al Madina Online School · Arabic Department</cp:lastModifiedBy>
  <cp:revision>1</cp:revision>
  <dcterms:created xsi:type="dcterms:W3CDTF">2026-10-11T06:40:38Z</dcterms:created>
  <dcterms:modified xsi:type="dcterms:W3CDTF">2026-10-11T06:40:38Z</dcterms:modified>
</cp:coreProperties>
</file>