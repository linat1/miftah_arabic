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D2 People, Relationships and Style › D2-L05. The website lesson “Comparing People and Clothes — More, Less and Better”: vocabulary, grammar rules and quiz, patterns, common mistakes, sorter, listening, reading, speaking prompts and model, writing task and model, differentiation, final check and the lesson mission. Picture match: website visual game “Comparing People and Clothes — More, Less and Better”.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four comparatives as chunks (أَطْوَلُ مِنْ، أَقْصَرُ مِنْ، أَرْخَصُ مِنْ، أَغْلَى مِنْ) in “A is …-er than B”. Develop: أَكْثَرُ / أَقَلُّ + noun for adjectives with no short comparative (أَكْثَرُ ثِقَةً، أَقَلُّ رَسْمِيَّةً) and preference. Stretch: superlatives, similarity and a fair conclusion (neither is simply “better”).
• Good news for weak students: the comparative does NOT change for feminine — سَلْمَى أَطْوَلُ مِنْ أُخْتِهَا.
• Kind comparisons only: compare clothes, invented people, or qualities positively (“more patient”, not “uglier”).
• Urdu bridge: افضل، اکثر، اقل (اقلیت)، احسن, مقابلہ ≠ مُقَارَنَةٌ.
• TEACHER-WRITTEN ITEMS: on the website this lesson’s patterns, mistakes, sorter, listening, reading items are generic placeholders, so the deck uses teacher-written questions and translations built on the website’s own script and text (flagged for the website editor).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comparatives prepared at home. Questions 3–5 retrieve D2-L04 (contrast, concession) and D2-L03 (agreement).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Adjective → comparative: ṭawīl → aṭwal min (taller than). Same form for boys, girls and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افضل → أَفْضَلُ (better / the best). CAREFUL: Urdu اکثر = often, Arabic أَكْثَرُ = more. اقلیت (minority) comes from أَقَلُّ (less). احسن (as in “ahsan”) is also an Arabic comparative: أَحْسَنُ = better. مقابلہ (competition) ≠ مُقَارَنَةٌ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Comparative language (website vocabulary (1 of 2)). Hear → Say → See → Use. Transliteration is printed for Core students (cover it for Develop/Stretch).
Each comparative card shows its adjective and its superlative (the …-est). The comparative has ONE form for m. and f.: هُوَ / هِيَ أَطْوَلُ مِنِّي.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Comparative language (website vocabulary (2 of 2)). Hear → Say → See → Use. Transliteration is printed for Core students (cover it for Develop/Stretch).
Each comparative card shows its adjective and its superlative (the …-est). The comparative has ONE form for m. and f.: هُوَ / هِيَ أَطْوَلُ مِنِّي.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People and qualities (website vocabulary (1 of 2)). Hear → Say → See → Use. Transliteration is printed for Core students (cover it for Develop/Stretch).
FLEX: teach if time allows; otherwise these are on the website vocabulary tab for homework.
People and qualities (FLEX) — the D2-L01 adjectives, now for comparing with أَكْثَرُ + noun: أَكْثَرُ صَبْرًا، أَكْثَرُ ثِقَةً، أَكْثَرُ هُدُوءًا.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People and qualities (website vocabulary (2 of 2)). Hear → Say → See → Use. Transliteration is printed for Core students (cover it for Develop/Stretch).
FLEX: teach if time allows; otherwise these are on the website vocabulary tab for homework.
People and qualities (FLEX) — the D2-L01 adjectives, now for comparing with أَكْثَرُ + noun: أَكْثَرُ صَبْرًا، أَكْثَرُ ثِقَةً، أَكْثَرُ هُدُوءًا.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Clothes and evaluation (website vocabulary (1 of 2)). Hear → Say → See → Use. Transliteration is printed for Core students (cover it for Develop/Stretch).
FLEX: teach if time allows; otherwise these are on the website vocabulary tab for homework.
Clothes and evaluation (FLEX) — the D2-L03/L04 style words: أَكْثَرُ أَنَاقَةً، أَقَلُّ رَسْمِيَّةً.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Clothes and evaluation (website vocabulary (2 of 2)). Hear → Say → See → Use. Transliteration is printed for Core students (cover it for Develop/Stretch).
FLEX: teach if time allows; otherwise these are on the website vocabulary tab for homework.
Clothes and evaluation (FLEX) — the D2-L03/L04 style words: أَكْثَرُ أَنَاقَةً، أَقَلُّ رَسْمِيَّةً.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“Basic comparison” (use the comparative form before مِنْ) and “Superlative” (the definite form for the highest degree) and the website table.
Website common error: “Do not place مِنْ before the comparative or force a regular adjective ending onto أَفْعَلُ” — سَارَةُ طَوِيلَةٌ مِنْ أُخْتِهَا ✗ → سَارَةُ أَطْوَلُ مِنْ أُخْتِهَا ✓.
Quick-fire: teacher names two things (القِطَارُ / الحَافِلَةُ); students make a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“More/less with a noun” (when no simple comparative is natural: أَكْثَرُ + noun in -an) and “Preference” (أُفَضِّلُ … عَلَى …). Similarity from website quiz Q8.
Useful nouns: ثِقَةٌ (confidence) · صَبْرٌ (patience) · هُدُوءٌ (calm) · مَرَحٌ (cheerfulness) · أَنَاقَةٌ (elegance) · رَاحَةٌ (comfort) · رَسْمِيَّةٌ (formality).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“Compare qualities, appearance, clothes and prices using مِنْ, agreement-safe structures and superlative meaning.”
• Basic comparison: Use the comparative form before مِنْ.
• More/less with a noun: Use this when no simple comparative is natural.
• Preference: Compare and justify a choice.
• Superlative: Use the definite form for the highest degree in a group.
Website common error: Do not place مِنْ before the comparative or force a regular adjective ending onto أَفْعَلُ.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listening scene (Hasan compares two shirts) as a think-aloud. Show two real items on camera if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Comparing People and Clothes — More, Less and Better”)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students to reverse each sentence: السَّيَّارَةُ أَغْلَى مِنَ الدَّرَّاجَةِ. Other cards: القِطَارُ أَسْرَعُ مِنَ الحَافِلَةِ · المَدِينَةُ أَكْثَرُ اِزْدِحَامًا مِنَ القَرْيَةِ · الحَدِيقَةُ أَهْدَأُ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Comparing People and Clothes — More, Less and Better”)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students to reverse each sentence: السَّيَّارَةُ أَغْلَى مِنَ الدَّرَّاجَةِ. Other cards: القِطَارُ أَسْرَعُ مِنَ الحَافِلَةِ · المَدِينَةُ أَكْثَرُ اِزْدِحَامًا مِنَ القَرْيَةِ · الحَدِيقَةُ أَهْدَأُ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Decide whether each comparison is accurate.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Decide whether each comparison is accurate.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5. Develop / Stretch: all 6. (Questions are teacher-written: the website questions for this script are generic.)
Listen 1: just listen. Listen 2: note answers. Then chat the letters.
Support: after the second listening, show the read-along slide (Arabic + English, line by line) for Core students.
SCRIPT (read aloud):
يُقَارِنُ حَسَنٌ بَيْنَ قَمِيصَيْنِ. القَمِيصُ الأَزْرَقُ أَرْخَصُ مِنَ الأَسْوَدِ، وَلٰكِنَّ الأَسْوَدَ أَكْثَرُ أَنَاقَةً. الأَزْرَقُ أَيْضًا أَكْثَرُ رَاحَةً لِأَنَّهُ مَصْنُوعٌ مِنَ القُطْنِ. فِي النِّهَايَةِ يَخْتَارُ حَسَنٌ القَمِيصَ الأَزْرَقَ لِأَنَّهُ الأَكْثَرُ مُنَاسَبَةً لِلاِسْتِعْمَالِ اليَوْمِيِّ.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أَيَّهُمَا تُفَضِّلُ؟ (Which do you prefer?)
B: أُفَضِّلُ الأَزْرَقَ لِأَنَّهُ أَكْثَرُ رَاحَةً. (I prefer blue because it is more comfortable.)
Website prompts (order changed for routes). Website model continues: A: أَيَّهُمَا تُفَضِّلُ؟ (Which do you prefer?) B: أُفَضِّلُ الأَزْرَقَ لِأَنَّهُ أَكْثَرُ رَاحَةً. (I prefer the blue one because it is more comfortable.)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an independently controlled relative clause.
Website writing task (Stretch): Write 100–120 Arabic words comparing two people or two clothing choices. Include at least five comparisons, one similarity, one preference and reasons.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أَطْوَلُ مِنْ يُوسُفَ · أَكْثَرُ ثِقَةً، أَكْثَرُ صَبْرًا، أَكْثَرُ مَرَحًا، أَقَلُّ رَسْمِيَّةً · هُمَا مُتَشَابِهَانِ فِي الكَرَمِ · لَا يُمْكِنُ القَوْلُ إِنَّ أَحَدَهُمَا أَفْضَلُ.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(D2-L06 · Describing Appearance — A Full Physical Portrait) will spend class time USING this language, so students prepare it tonight — short, simple, easy to access (school guidance: “Simple, Short, Interesting, Relevant, Easy to access”). The five words come from the website D2-L06 vocabulary (height, hair and eyes).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D2  ·  D2-L05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D2-L05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Comparing People and Clothes — More, Less and Better</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500" b="1" dirty="0">
                <a:solidFill>
                  <a:srgbClr val="D4AF37"/>
                </a:solidFill>
                <a:latin typeface="Amiri" pitchFamily="2" charset="-78"/>
                <a:ea typeface="Amiri" pitchFamily="2" charset="-78"/>
                <a:cs typeface="Amiri" pitchFamily="2" charset="-78"/>
              </a:rPr>
              <a:t>المُقَارَنَةُ بَيْنَ النَّاسِ وَالمَلَابِسِ — أَكْثَرُ وَأَقَلُّ وَأَفْضَلُ</a:t>
            </a:r>
            <a:endParaRPr lang="ar-SA" sz="35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Compare people and clothes: </a:t>
            </a:r>
            <a:pPr algn="l" indent="0" marL="0">
              <a:buNone/>
            </a:pPr>
            <a:r>
              <a:rPr lang="ar-SA" altLang="en-US" sz="1800" dirty="0">
                <a:solidFill>
                  <a:srgbClr val="C6D2E6"/>
                </a:solidFill>
                <a:latin typeface="Amiri" pitchFamily="2" charset="-78"/>
                <a:ea typeface="Amiri" pitchFamily="2" charset="-78"/>
                <a:cs typeface="Amiri" pitchFamily="2" charset="-78"/>
              </a:rPr>
              <a:t>أَفْعَلُ</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مِنْ</a:t>
            </a:r>
            <a:pPr algn="l" indent="0" marL="0">
              <a:buNone/>
            </a:pPr>
            <a:r>
              <a:rPr lang="en-US" sz="1400" dirty="0">
                <a:solidFill>
                  <a:srgbClr val="C6D2E6"/>
                </a:solidFill>
                <a:latin typeface="Calibri" pitchFamily="34" charset="0"/>
                <a:cs typeface="Amiri" pitchFamily="2" charset="-78"/>
              </a:rPr>
              <a:t> (</a:t>
            </a:r>
            <a:pPr algn="l" indent="0" marL="0">
              <a:buNone/>
            </a:pPr>
            <a:r>
              <a:rPr lang="ar-SA" altLang="en-US" sz="1800" dirty="0">
                <a:solidFill>
                  <a:srgbClr val="C6D2E6"/>
                </a:solidFill>
                <a:latin typeface="Amiri" pitchFamily="2" charset="-78"/>
                <a:ea typeface="Amiri" pitchFamily="2" charset="-78"/>
                <a:cs typeface="Amiri" pitchFamily="2" charset="-78"/>
              </a:rPr>
              <a:t>أَطْوَلُ مِنْ، أَرْخَصُ مِنْ</a:t>
            </a:r>
            <a:pPr algn="l" indent="0" marL="0">
              <a:buNone/>
            </a:pPr>
            <a:r>
              <a:rPr lang="en-US" sz="1400" dirty="0">
                <a:solidFill>
                  <a:srgbClr val="C6D2E6"/>
                </a:solidFill>
                <a:latin typeface="Calibri" pitchFamily="34" charset="0"/>
                <a:cs typeface="Amiri" pitchFamily="2" charset="-78"/>
              </a:rPr>
              <a:t>), </a:t>
            </a:r>
            <a:pPr algn="l" indent="0" marL="0">
              <a:buNone/>
            </a:pPr>
            <a:r>
              <a:rPr lang="ar-SA" altLang="en-US" sz="1800" dirty="0">
                <a:solidFill>
                  <a:srgbClr val="C6D2E6"/>
                </a:solidFill>
                <a:latin typeface="Amiri" pitchFamily="2" charset="-78"/>
                <a:ea typeface="Amiri" pitchFamily="2" charset="-78"/>
                <a:cs typeface="Amiri" pitchFamily="2" charset="-78"/>
              </a:rPr>
              <a:t>أَكْثَرُ / أَقَلُّ</a:t>
            </a:r>
            <a:pPr algn="l" indent="0" marL="0">
              <a:buNone/>
            </a:pPr>
            <a:r>
              <a:rPr lang="en-US" sz="1400" dirty="0">
                <a:solidFill>
                  <a:srgbClr val="C6D2E6"/>
                </a:solidFill>
                <a:latin typeface="Calibri" pitchFamily="34" charset="0"/>
                <a:cs typeface="Amiri" pitchFamily="2" charset="-78"/>
              </a:rPr>
              <a:t> + a noun (</a:t>
            </a:r>
            <a:pPr algn="l" indent="0" marL="0">
              <a:buNone/>
            </a:pPr>
            <a:r>
              <a:rPr lang="ar-SA" altLang="en-US" sz="1800" dirty="0">
                <a:solidFill>
                  <a:srgbClr val="C6D2E6"/>
                </a:solidFill>
                <a:latin typeface="Amiri" pitchFamily="2" charset="-78"/>
                <a:ea typeface="Amiri" pitchFamily="2" charset="-78"/>
                <a:cs typeface="Amiri" pitchFamily="2" charset="-78"/>
              </a:rPr>
              <a:t>أَكْثَرُ ثِقَةً</a:t>
            </a:r>
            <a:pPr algn="l" indent="0" marL="0">
              <a:buNone/>
            </a:pPr>
            <a:r>
              <a:rPr lang="en-US" sz="1400" dirty="0">
                <a:solidFill>
                  <a:srgbClr val="C6D2E6"/>
                </a:solidFill>
                <a:latin typeface="Calibri" pitchFamily="34" charset="0"/>
                <a:cs typeface="Amiri" pitchFamily="2" charset="-78"/>
              </a:rPr>
              <a:t>), preference (</a:t>
            </a:r>
            <a:pPr algn="l" indent="0" marL="0">
              <a:buNone/>
            </a:pPr>
            <a:r>
              <a:rPr lang="ar-SA" altLang="en-US" sz="1800" dirty="0">
                <a:solidFill>
                  <a:srgbClr val="C6D2E6"/>
                </a:solidFill>
                <a:latin typeface="Amiri" pitchFamily="2" charset="-78"/>
                <a:ea typeface="Amiri" pitchFamily="2" charset="-78"/>
                <a:cs typeface="Amiri" pitchFamily="2" charset="-78"/>
              </a:rPr>
              <a:t>أُفَضِّلُ … عَلَى</a:t>
            </a:r>
            <a:pPr algn="l" indent="0" marL="0">
              <a:buNone/>
            </a:pPr>
            <a:r>
              <a:rPr lang="en-US" sz="1400" dirty="0">
                <a:solidFill>
                  <a:srgbClr val="C6D2E6"/>
                </a:solidFill>
                <a:latin typeface="Calibri" pitchFamily="34" charset="0"/>
                <a:cs typeface="Amiri" pitchFamily="2" charset="-78"/>
              </a:rPr>
              <a:t> …) and the best (</a:t>
            </a:r>
            <a:pPr algn="l" indent="0" marL="0">
              <a:buNone/>
            </a:pPr>
            <a:r>
              <a:rPr lang="ar-SA" altLang="en-US" sz="1800" dirty="0">
                <a:solidFill>
                  <a:srgbClr val="C6D2E6"/>
                </a:solidFill>
                <a:latin typeface="Amiri" pitchFamily="2" charset="-78"/>
                <a:ea typeface="Amiri" pitchFamily="2" charset="-78"/>
                <a:cs typeface="Amiri" pitchFamily="2" charset="-78"/>
              </a:rPr>
              <a:t>الأَفْضَلُ</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D2-L05 · Development D2 · People, Relationships and Style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D2 › D2-L05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…-er than, more / less + noun, prefer … to …, the best.</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accurate or not,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D2-L06.</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أَرْخَصُ مِنْ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expensive than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cheaper than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better than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أَفْضَلُ مِنْ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better than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less than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taller than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adds a contrast?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لِأَنَّنِي</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رَأْيِي</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وَلٰكِنَّنِي</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concession.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لِأَنَّهُ غَالٍ فَإِنَّهُ.</a:t>
            </a:r>
            <a:endParaRPr lang="ar-SA" sz="18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هُوَ غَالٍ ثُمَّ.</a:t>
            </a:r>
            <a:endParaRPr lang="ar-SA" sz="18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عَلَى الرَّغْمِ مِنْ أَنَّهُ غَالٍ، فَإِنَّهُ جَيِّدٌ.</a:t>
            </a:r>
            <a:endParaRPr lang="ar-SA" sz="18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blue shirt”.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القَمِيصُ الأَزْرَقُ</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القَمِيصُ الزَّرْقَاءُ</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القَمِيصُ الزَّرْقَاءُ</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أَرْخَصُ مِنْ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more expensive than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cheaper than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better than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أَفْضَلُ مِنْ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better than</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less than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taller than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adds a contrast?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لِأَنَّنِي</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رَأْيِي</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وَلٰكِنَّنِي</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D2-L04: but.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concession.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 غَالٍ فَإِنَّهُ.</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غَالٍ ثُمَّ.</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عَلَى الرَّغْمِ مِنْ أَنَّهُ غَالٍ، فَإِنَّهُ جَيِّدٌ.</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D2-L04: although … (fa-inna) …</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blue shirt”.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هٰذَا القَمِيصُ الأَزْرَقُ</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هٰذِهِ القَمِيصُ الزَّرْقَاءُ</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القَمِيصُ الزَّرْقَاءُ</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D2-L03: masculine item.</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Adjective → comparative: ṭawīl → aṭwal min (taller than). Same form for boys, girls and things.</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طَوِيلٌ ← </a:t>
            </a:r>
            <a:pPr rtl="1" algn="ctr" indent="0" marL="0">
              <a:buNone/>
            </a:pPr>
            <a:r>
              <a:rPr lang="ar-SA" altLang="en-US" sz="2400" b="1" dirty="0">
                <a:solidFill>
                  <a:srgbClr val="0E7C86"/>
                </a:solidFill>
                <a:latin typeface="Amiri" pitchFamily="2" charset="-78"/>
                <a:ea typeface="Amiri" pitchFamily="2" charset="-78"/>
                <a:cs typeface="Amiri" pitchFamily="2" charset="-78"/>
              </a:rPr>
              <a:t>أَطْوَلُ مِنْ</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1D5FBF"/>
                </a:solidFill>
                <a:latin typeface="Amiri" pitchFamily="2" charset="-78"/>
                <a:ea typeface="Amiri" pitchFamily="2" charset="-78"/>
                <a:cs typeface="Amiri" pitchFamily="2" charset="-78"/>
              </a:rPr>
              <a:t>الأَطْوَلُ</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Control the key D2-L05 vocabulary in complete Arabic sentences.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and apply the target grammar: Comparatives and superlatives.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Extract precise evidence from an intermediate listening and reading text.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Produce developed spoken and written Arabic with reasons and detail.</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compare two things with …-er than.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which I prefer.</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more / less + a noun (more confident).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give a reason for my preference.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the superlative (the best, the most suitable).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express similarity and a fair conclusion.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32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Comparative language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People and qualities · 10</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Clothes and evaluation · 10</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أَفْضَلُ</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‎افضل‎ </a:t>
            </a:r>
            <a:pPr indent="0" marL="0">
              <a:buNone/>
            </a:pPr>
            <a:r>
              <a:rPr lang="en-US" sz="950" b="1" dirty="0">
                <a:solidFill>
                  <a:srgbClr val="2E8B57"/>
                </a:solidFill>
                <a:latin typeface="Calibri" pitchFamily="34" charset="0"/>
                <a:cs typeface="Amiri" pitchFamily="2" charset="-78"/>
              </a:rPr>
              <a:t> afzal · better, best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أَكْثَرُ</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‎اکثر‎ </a:t>
            </a:r>
            <a:pPr indent="0" marL="0">
              <a:buNone/>
            </a:pPr>
            <a:r>
              <a:rPr lang="en-US" sz="950" b="1" dirty="0">
                <a:solidFill>
                  <a:srgbClr val="2E8B57"/>
                </a:solidFill>
                <a:latin typeface="Calibri" pitchFamily="34" charset="0"/>
                <a:cs typeface="Amiri" pitchFamily="2" charset="-78"/>
              </a:rPr>
              <a:t> aksar · Urdu: often · Arabic: more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أَقَلُّ</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‎اقلیت‎ </a:t>
            </a:r>
            <a:pPr indent="0" marL="0">
              <a:buNone/>
            </a:pPr>
            <a:r>
              <a:rPr lang="en-US" sz="950" b="1" dirty="0">
                <a:solidFill>
                  <a:srgbClr val="2E8B57"/>
                </a:solidFill>
                <a:latin typeface="Calibri" pitchFamily="34" charset="0"/>
                <a:cs typeface="Amiri" pitchFamily="2" charset="-78"/>
              </a:rPr>
              <a:t> aqalliyat · minority → less</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أَحْسَنُ</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‎احسن‎ </a:t>
            </a:r>
            <a:pPr indent="0" marL="0">
              <a:buNone/>
            </a:pPr>
            <a:r>
              <a:rPr lang="en-US" sz="950" b="1" dirty="0">
                <a:solidFill>
                  <a:srgbClr val="2E8B57"/>
                </a:solidFill>
                <a:latin typeface="Calibri" pitchFamily="34" charset="0"/>
                <a:cs typeface="Amiri" pitchFamily="2" charset="-78"/>
              </a:rPr>
              <a:t> ahsan · better (as in ahsan)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مُقَارَنَةٌ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‎مقابلہ‎ </a:t>
            </a:r>
            <a:pPr indent="0" marL="0">
              <a:buNone/>
            </a:pPr>
            <a:r>
              <a:rPr lang="en-US" sz="950" b="1" dirty="0">
                <a:solidFill>
                  <a:srgbClr val="2E8B57"/>
                </a:solidFill>
                <a:latin typeface="Calibri" pitchFamily="34" charset="0"/>
                <a:cs typeface="Amiri" pitchFamily="2" charset="-78"/>
              </a:rPr>
              <a:t> muqābla · Urdu: contest · Arabic: comparison</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Comparative language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أَكْثَرُ ... مِنْ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 than</a:t>
            </a:r>
            <a:endParaRPr lang="en-US" sz="1350" dirty="0"/>
          </a:p>
          <a:p>
            <a:pPr indent="0" marL="0">
              <a:buNone/>
            </a:pPr>
            <a:r>
              <a:rPr lang="en-US" sz="1100" i="1" dirty="0">
                <a:solidFill>
                  <a:srgbClr val="5A6472"/>
                </a:solidFill>
                <a:latin typeface="Calibri" pitchFamily="34" charset="0"/>
                <a:cs typeface="Amiri" pitchFamily="2" charset="-78"/>
              </a:rPr>
              <a:t>ak-tha-ru ... min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أَقَلُّ ... مِنْ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less … than</a:t>
            </a:r>
            <a:endParaRPr lang="en-US" sz="1350" dirty="0"/>
          </a:p>
          <a:p>
            <a:pPr indent="0" marL="0">
              <a:buNone/>
            </a:pPr>
            <a:r>
              <a:rPr lang="en-US" sz="1100" i="1" dirty="0">
                <a:solidFill>
                  <a:srgbClr val="5A6472"/>
                </a:solidFill>
                <a:latin typeface="Calibri" pitchFamily="34" charset="0"/>
                <a:cs typeface="Amiri" pitchFamily="2" charset="-78"/>
              </a:rPr>
              <a:t>a-qal-lu ... min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960120" y="1938528"/>
            <a:ext cx="1580083"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adj · than · the most</a:t>
            </a:r>
            <a:endParaRPr lang="en-US" sz="8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أَفْضَلُ مِنْ</a:t>
            </a:r>
            <a:endParaRPr lang="ar-SA" sz="3000" dirty="0"/>
          </a:p>
        </p:txBody>
      </p:sp>
      <p:sp>
        <p:nvSpPr>
          <p:cNvPr id="37" name="Text 3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better than</a:t>
            </a:r>
            <a:endParaRPr lang="en-US" sz="1350" dirty="0"/>
          </a:p>
          <a:p>
            <a:pPr indent="0" marL="0">
              <a:buNone/>
            </a:pPr>
            <a:r>
              <a:rPr lang="en-US" sz="1100" i="1" dirty="0">
                <a:solidFill>
                  <a:srgbClr val="5A6472"/>
                </a:solidFill>
                <a:latin typeface="Calibri" pitchFamily="34" charset="0"/>
                <a:cs typeface="Amiri" pitchFamily="2" charset="-78"/>
              </a:rPr>
              <a:t>af-ḍa-lu min</a:t>
            </a:r>
            <a:endParaRPr lang="en-US" sz="1350" dirty="0"/>
          </a:p>
        </p:txBody>
      </p:sp>
      <p:sp>
        <p:nvSpPr>
          <p:cNvPr id="38" name="Shape 35"/>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 …-est</a:t>
            </a:r>
            <a:endParaRPr lang="en-US" sz="700" dirty="0"/>
          </a:p>
        </p:txBody>
      </p:sp>
      <p:sp>
        <p:nvSpPr>
          <p:cNvPr id="40" name="Text 37"/>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الأَفْضَلُ</a:t>
            </a:r>
            <a:endParaRPr lang="ar-SA" sz="1350" dirty="0"/>
          </a:p>
        </p:txBody>
      </p:sp>
      <p:sp>
        <p:nvSpPr>
          <p:cNvPr id="41" name="Shape 38"/>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adjective</a:t>
            </a:r>
            <a:endParaRPr lang="en-US" sz="700" dirty="0"/>
          </a:p>
        </p:txBody>
      </p:sp>
      <p:sp>
        <p:nvSpPr>
          <p:cNvPr id="43" name="Text 40"/>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جَيِّدٌ</a:t>
            </a:r>
            <a:endParaRPr lang="ar-SA"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7" name="Shape 44"/>
          <p:cNvSpPr/>
          <p:nvPr/>
        </p:nvSpPr>
        <p:spPr>
          <a:xfrm>
            <a:off x="8604504" y="4279392"/>
            <a:ext cx="1580083"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adj · than · the most</a:t>
            </a:r>
            <a:endParaRPr lang="en-US" sz="800" dirty="0"/>
          </a:p>
        </p:txBody>
      </p:sp>
      <p:sp>
        <p:nvSpPr>
          <p:cNvPr id="49" name="Text 4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أَجْمَلُ مِنْ</a:t>
            </a:r>
            <a:endParaRPr lang="ar-SA" sz="3000" dirty="0"/>
          </a:p>
        </p:txBody>
      </p:sp>
      <p:sp>
        <p:nvSpPr>
          <p:cNvPr id="50" name="Text 4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beautiful than</a:t>
            </a:r>
            <a:endParaRPr lang="en-US" sz="1350" dirty="0"/>
          </a:p>
          <a:p>
            <a:pPr indent="0" marL="0">
              <a:buNone/>
            </a:pPr>
            <a:r>
              <a:rPr lang="en-US" sz="1100" i="1" dirty="0">
                <a:solidFill>
                  <a:srgbClr val="5A6472"/>
                </a:solidFill>
                <a:latin typeface="Calibri" pitchFamily="34" charset="0"/>
                <a:cs typeface="Amiri" pitchFamily="2" charset="-78"/>
              </a:rPr>
              <a:t>aj-ma-lu min</a:t>
            </a:r>
            <a:endParaRPr lang="en-US" sz="1350" dirty="0"/>
          </a:p>
        </p:txBody>
      </p:sp>
      <p:sp>
        <p:nvSpPr>
          <p:cNvPr id="51" name="Shape 48"/>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 …-est</a:t>
            </a:r>
            <a:endParaRPr lang="en-US" sz="700" dirty="0"/>
          </a:p>
        </p:txBody>
      </p:sp>
      <p:sp>
        <p:nvSpPr>
          <p:cNvPr id="53" name="Text 50"/>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الأَجْمَلُ</a:t>
            </a:r>
            <a:endParaRPr lang="ar-SA" sz="1350" dirty="0"/>
          </a:p>
        </p:txBody>
      </p:sp>
      <p:sp>
        <p:nvSpPr>
          <p:cNvPr id="54" name="Shape 51"/>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adjective</a:t>
            </a:r>
            <a:endParaRPr lang="en-US" sz="700" dirty="0"/>
          </a:p>
        </p:txBody>
      </p:sp>
      <p:sp>
        <p:nvSpPr>
          <p:cNvPr id="56" name="Text 53"/>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جَمِيلٌ</a:t>
            </a:r>
            <a:endParaRPr lang="ar-SA" sz="1350" dirty="0"/>
          </a:p>
        </p:txBody>
      </p:sp>
      <p:sp>
        <p:nvSpPr>
          <p:cNvPr id="57" name="Shape 5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4389120"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0" name="Shape 57"/>
          <p:cNvSpPr/>
          <p:nvPr/>
        </p:nvSpPr>
        <p:spPr>
          <a:xfrm>
            <a:off x="4782312" y="4279392"/>
            <a:ext cx="1580083" cy="256032"/>
          </a:xfrm>
          <a:prstGeom prst="roundRect">
            <a:avLst>
              <a:gd name="adj" fmla="val 50000"/>
            </a:avLst>
          </a:prstGeom>
          <a:solidFill>
            <a:srgbClr val="EFE7D2"/>
          </a:solidFill>
          <a:ln w="12700">
            <a:solidFill>
              <a:srgbClr val="EFE7D2"/>
            </a:solidFill>
            <a:prstDash val="solid"/>
          </a:ln>
        </p:spPr>
      </p:sp>
      <p:sp>
        <p:nvSpPr>
          <p:cNvPr id="61" name="Text 58"/>
          <p:cNvSpPr txBox="1"/>
          <p:nvPr/>
        </p:nvSpPr>
        <p:spPr>
          <a:xfrm>
            <a:off x="4782312" y="4279392"/>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adj · than · the most</a:t>
            </a:r>
            <a:endParaRPr lang="en-US" sz="800" dirty="0"/>
          </a:p>
        </p:txBody>
      </p:sp>
      <p:sp>
        <p:nvSpPr>
          <p:cNvPr id="62" name="Shape 5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3" name="Text 6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4" name="Text 6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أَرْخَصُ مِنْ</a:t>
            </a:r>
            <a:endParaRPr lang="ar-SA" sz="3000" dirty="0"/>
          </a:p>
        </p:txBody>
      </p:sp>
      <p:sp>
        <p:nvSpPr>
          <p:cNvPr id="65" name="Text 6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cheaper than</a:t>
            </a:r>
            <a:endParaRPr lang="en-US" sz="1350" dirty="0"/>
          </a:p>
          <a:p>
            <a:pPr indent="0" marL="0">
              <a:buNone/>
            </a:pPr>
            <a:r>
              <a:rPr lang="en-US" sz="1100" i="1" dirty="0">
                <a:solidFill>
                  <a:srgbClr val="5A6472"/>
                </a:solidFill>
                <a:latin typeface="Calibri" pitchFamily="34" charset="0"/>
                <a:cs typeface="Amiri" pitchFamily="2" charset="-78"/>
              </a:rPr>
              <a:t>ar-kha-ṣu min</a:t>
            </a:r>
            <a:endParaRPr lang="en-US" sz="1350" dirty="0"/>
          </a:p>
        </p:txBody>
      </p:sp>
      <p:sp>
        <p:nvSpPr>
          <p:cNvPr id="66" name="Shape 63"/>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 …-est</a:t>
            </a:r>
            <a:endParaRPr lang="en-US" sz="700" dirty="0"/>
          </a:p>
        </p:txBody>
      </p:sp>
      <p:sp>
        <p:nvSpPr>
          <p:cNvPr id="68" name="Text 65"/>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الأَرْخَصُ</a:t>
            </a:r>
            <a:endParaRPr lang="ar-SA" sz="1350" dirty="0"/>
          </a:p>
        </p:txBody>
      </p:sp>
      <p:sp>
        <p:nvSpPr>
          <p:cNvPr id="69" name="Shape 66"/>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adjective</a:t>
            </a:r>
            <a:endParaRPr lang="en-US" sz="700" dirty="0"/>
          </a:p>
        </p:txBody>
      </p:sp>
      <p:sp>
        <p:nvSpPr>
          <p:cNvPr id="71" name="Text 68"/>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رَخِيصٌ</a:t>
            </a:r>
            <a:endParaRPr lang="ar-SA" sz="1350" dirty="0"/>
          </a:p>
        </p:txBody>
      </p:sp>
      <p:sp>
        <p:nvSpPr>
          <p:cNvPr id="72" name="Shape 6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566928" y="4261104"/>
            <a:ext cx="310896" cy="310896"/>
          </a:xfrm>
          <a:prstGeom prst="ellipse">
            <a:avLst/>
          </a:prstGeom>
          <a:solidFill>
            <a:srgbClr val="F4F1EA"/>
          </a:solidFill>
          <a:ln w="12700">
            <a:solidFill>
              <a:srgbClr val="F4F1EA"/>
            </a:solidFill>
            <a:prstDash val="solid"/>
          </a:ln>
        </p:spPr>
      </p:sp>
      <p:sp>
        <p:nvSpPr>
          <p:cNvPr id="74" name="Text 7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5" name="Shape 72"/>
          <p:cNvSpPr/>
          <p:nvPr/>
        </p:nvSpPr>
        <p:spPr>
          <a:xfrm>
            <a:off x="960120" y="4279392"/>
            <a:ext cx="1580083" cy="256032"/>
          </a:xfrm>
          <a:prstGeom prst="roundRect">
            <a:avLst>
              <a:gd name="adj" fmla="val 50000"/>
            </a:avLst>
          </a:prstGeom>
          <a:solidFill>
            <a:srgbClr val="EFE7D2"/>
          </a:solidFill>
          <a:ln w="12700">
            <a:solidFill>
              <a:srgbClr val="EFE7D2"/>
            </a:solidFill>
            <a:prstDash val="solid"/>
          </a:ln>
        </p:spPr>
      </p:sp>
      <p:sp>
        <p:nvSpPr>
          <p:cNvPr id="76" name="Text 73"/>
          <p:cNvSpPr txBox="1"/>
          <p:nvPr/>
        </p:nvSpPr>
        <p:spPr>
          <a:xfrm>
            <a:off x="960120" y="4279392"/>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adj · than · the most</a:t>
            </a:r>
            <a:endParaRPr lang="en-US" sz="800" dirty="0"/>
          </a:p>
        </p:txBody>
      </p:sp>
      <p:sp>
        <p:nvSpPr>
          <p:cNvPr id="77" name="Shape 74"/>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8" name="Text 75"/>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9" name="Text 76"/>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أَغْلَى مِنْ</a:t>
            </a:r>
            <a:endParaRPr lang="ar-SA" sz="3000" dirty="0"/>
          </a:p>
        </p:txBody>
      </p:sp>
      <p:sp>
        <p:nvSpPr>
          <p:cNvPr id="80" name="Text 77"/>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expensive than</a:t>
            </a:r>
            <a:endParaRPr lang="en-US" sz="1350" dirty="0"/>
          </a:p>
          <a:p>
            <a:pPr indent="0" marL="0">
              <a:buNone/>
            </a:pPr>
            <a:r>
              <a:rPr lang="en-US" sz="1100" i="1" dirty="0">
                <a:solidFill>
                  <a:srgbClr val="5A6472"/>
                </a:solidFill>
                <a:latin typeface="Calibri" pitchFamily="34" charset="0"/>
                <a:cs typeface="Amiri" pitchFamily="2" charset="-78"/>
              </a:rPr>
              <a:t>agh-lā min</a:t>
            </a:r>
            <a:endParaRPr lang="en-US" sz="1350" dirty="0"/>
          </a:p>
        </p:txBody>
      </p:sp>
      <p:sp>
        <p:nvSpPr>
          <p:cNvPr id="81" name="Shape 78"/>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 …-est</a:t>
            </a:r>
            <a:endParaRPr lang="en-US" sz="700" dirty="0"/>
          </a:p>
        </p:txBody>
      </p:sp>
      <p:sp>
        <p:nvSpPr>
          <p:cNvPr id="83" name="Text 80"/>
          <p:cNvSpPr txBox="1"/>
          <p:nvPr/>
        </p:nvSpPr>
        <p:spPr>
          <a:xfrm>
            <a:off x="2368296"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الأَغْلَى</a:t>
            </a:r>
            <a:endParaRPr lang="ar-SA" sz="1350" dirty="0"/>
          </a:p>
        </p:txBody>
      </p:sp>
      <p:sp>
        <p:nvSpPr>
          <p:cNvPr id="84" name="Shape 81"/>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adjective</a:t>
            </a:r>
            <a:endParaRPr lang="en-US" sz="700" dirty="0"/>
          </a:p>
        </p:txBody>
      </p:sp>
      <p:sp>
        <p:nvSpPr>
          <p:cNvPr id="86" name="Text 83"/>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غَالٍ</a:t>
            </a:r>
            <a:endParaRPr lang="ar-SA" sz="135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Comparative language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158008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adj · than · the most</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أَطْوَلُ مِنْ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taller/longer than</a:t>
            </a:r>
            <a:endParaRPr lang="en-US" sz="1350" dirty="0"/>
          </a:p>
          <a:p>
            <a:pPr indent="0" marL="0">
              <a:buNone/>
            </a:pPr>
            <a:r>
              <a:rPr lang="en-US" sz="1100" i="1" dirty="0">
                <a:solidFill>
                  <a:srgbClr val="5A6472"/>
                </a:solidFill>
                <a:latin typeface="Calibri" pitchFamily="34" charset="0"/>
                <a:cs typeface="Amiri" pitchFamily="2" charset="-78"/>
              </a:rPr>
              <a:t>aṭ-wa-lu min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 …-est</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الأَطْوَلُ</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adjective</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طَوِيلٌ</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4782312" y="1938528"/>
            <a:ext cx="158008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adj · than · the most</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أَقْصَرُ مِنْ</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shorter than</a:t>
            </a:r>
            <a:endParaRPr lang="en-US" sz="1350" dirty="0"/>
          </a:p>
          <a:p>
            <a:pPr indent="0" marL="0">
              <a:buNone/>
            </a:pPr>
            <a:r>
              <a:rPr lang="en-US" sz="1100" i="1" dirty="0">
                <a:solidFill>
                  <a:srgbClr val="5A6472"/>
                </a:solidFill>
                <a:latin typeface="Calibri" pitchFamily="34" charset="0"/>
                <a:cs typeface="Amiri" pitchFamily="2" charset="-78"/>
              </a:rPr>
              <a:t>aq-ṣa-ru min</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 …-est</a:t>
            </a:r>
            <a:endParaRPr lang="en-US" sz="700" dirty="0"/>
          </a:p>
        </p:txBody>
      </p:sp>
      <p:sp>
        <p:nvSpPr>
          <p:cNvPr id="41" name="Text 38"/>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الأَقْصَرُ</a:t>
            </a:r>
            <a:endParaRPr lang="ar-SA" sz="135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adjective</a:t>
            </a:r>
            <a:endParaRPr lang="en-US" sz="700" dirty="0"/>
          </a:p>
        </p:txBody>
      </p:sp>
      <p:sp>
        <p:nvSpPr>
          <p:cNvPr id="44" name="Text 41"/>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قَصِيرٌ</a:t>
            </a:r>
            <a:endParaRPr lang="ar-SA" sz="135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8" name="Text 4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مِثْلُ</a:t>
            </a:r>
            <a:endParaRPr lang="ar-SA" sz="3000" dirty="0"/>
          </a:p>
        </p:txBody>
      </p:sp>
      <p:sp>
        <p:nvSpPr>
          <p:cNvPr id="49" name="Text 4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like/same as</a:t>
            </a:r>
            <a:endParaRPr lang="en-US" sz="1350" dirty="0"/>
          </a:p>
          <a:p>
            <a:pPr indent="0" marL="0">
              <a:buNone/>
            </a:pPr>
            <a:r>
              <a:rPr lang="en-US" sz="1100" i="1" dirty="0">
                <a:solidFill>
                  <a:srgbClr val="5A6472"/>
                </a:solidFill>
                <a:latin typeface="Calibri" pitchFamily="34" charset="0"/>
                <a:cs typeface="Amiri" pitchFamily="2" charset="-78"/>
              </a:rPr>
              <a:t>mith-lu</a:t>
            </a:r>
            <a:endParaRPr lang="en-US" sz="1350" dirty="0"/>
          </a:p>
        </p:txBody>
      </p:sp>
      <p:sp>
        <p:nvSpPr>
          <p:cNvPr id="50" name="Shape 4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8211312"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3" name="Text 5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بِنَفْسِ الدَّرَجَةِ</a:t>
            </a:r>
            <a:endParaRPr lang="ar-SA" sz="3000" dirty="0"/>
          </a:p>
        </p:txBody>
      </p:sp>
      <p:sp>
        <p:nvSpPr>
          <p:cNvPr id="54" name="Text 5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 the same degree</a:t>
            </a:r>
            <a:endParaRPr lang="en-US" sz="1350" dirty="0"/>
          </a:p>
          <a:p>
            <a:pPr indent="0" marL="0">
              <a:buNone/>
            </a:pPr>
            <a:r>
              <a:rPr lang="en-US" sz="1100" i="1" dirty="0">
                <a:solidFill>
                  <a:srgbClr val="5A6472"/>
                </a:solidFill>
                <a:latin typeface="Calibri" pitchFamily="34" charset="0"/>
                <a:cs typeface="Amiri" pitchFamily="2" charset="-78"/>
              </a:rPr>
              <a:t>bi-naf-si ad-da-ra-ja-ti</a:t>
            </a:r>
            <a:endParaRPr lang="en-US" sz="1350" dirty="0"/>
          </a:p>
        </p:txBody>
      </p:sp>
      <p:sp>
        <p:nvSpPr>
          <p:cNvPr id="55" name="Shape 5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4389120"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8" name="Shape 5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الأَفْضَلُ</a:t>
            </a:r>
            <a:endParaRPr lang="ar-SA" sz="3000" dirty="0"/>
          </a:p>
        </p:txBody>
      </p:sp>
      <p:sp>
        <p:nvSpPr>
          <p:cNvPr id="61" name="Text 5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best</a:t>
            </a:r>
            <a:endParaRPr lang="en-US" sz="1350" dirty="0"/>
          </a:p>
          <a:p>
            <a:pPr indent="0" marL="0">
              <a:buNone/>
            </a:pPr>
            <a:r>
              <a:rPr lang="en-US" sz="1100" i="1" dirty="0">
                <a:solidFill>
                  <a:srgbClr val="5A6472"/>
                </a:solidFill>
                <a:latin typeface="Calibri" pitchFamily="34" charset="0"/>
                <a:cs typeface="Amiri" pitchFamily="2" charset="-78"/>
              </a:rPr>
              <a:t>al-af-ḍa-lu</a:t>
            </a:r>
            <a:endParaRPr lang="en-US" sz="1350" dirty="0"/>
          </a:p>
        </p:txBody>
      </p:sp>
      <p:sp>
        <p:nvSpPr>
          <p:cNvPr id="62" name="Shape 5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66928" y="4261104"/>
            <a:ext cx="310896" cy="310896"/>
          </a:xfrm>
          <a:prstGeom prst="ellipse">
            <a:avLst/>
          </a:prstGeom>
          <a:solidFill>
            <a:srgbClr val="F4F1EA"/>
          </a:solidFill>
          <a:ln w="12700">
            <a:solidFill>
              <a:srgbClr val="F4F1EA"/>
            </a:solidFill>
            <a:prstDash val="solid"/>
          </a:ln>
        </p:spPr>
      </p:sp>
      <p:sp>
        <p:nvSpPr>
          <p:cNvPr id="64" name="Text 6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5" name="Text 6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الأَكْثَرُ مُنَاسَبَةً</a:t>
            </a:r>
            <a:endParaRPr lang="ar-SA" sz="3000" dirty="0"/>
          </a:p>
        </p:txBody>
      </p:sp>
      <p:sp>
        <p:nvSpPr>
          <p:cNvPr id="66" name="Text 6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most suitable</a:t>
            </a:r>
            <a:endParaRPr lang="en-US" sz="1350" dirty="0"/>
          </a:p>
          <a:p>
            <a:pPr indent="0" marL="0">
              <a:buNone/>
            </a:pPr>
            <a:r>
              <a:rPr lang="en-US" sz="1100" i="1" dirty="0">
                <a:solidFill>
                  <a:srgbClr val="5A6472"/>
                </a:solidFill>
                <a:latin typeface="Calibri" pitchFamily="34" charset="0"/>
                <a:cs typeface="Amiri" pitchFamily="2" charset="-78"/>
              </a:rPr>
              <a:t>al-ak-tha-ru mu-nā-sa-ba-tan</a:t>
            </a:r>
            <a:endParaRPr lang="en-US" sz="13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People and qualities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وَدُودٌ / وَدُودَةٌ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friendly</a:t>
            </a:r>
            <a:endParaRPr lang="en-US" sz="1350" dirty="0"/>
          </a:p>
          <a:p>
            <a:pPr indent="0" marL="0">
              <a:buNone/>
            </a:pPr>
            <a:r>
              <a:rPr lang="en-US" sz="1100" i="1" dirty="0">
                <a:solidFill>
                  <a:srgbClr val="5A6472"/>
                </a:solidFill>
                <a:latin typeface="Calibri" pitchFamily="34" charset="0"/>
                <a:cs typeface="Amiri" pitchFamily="2" charset="-78"/>
              </a:rPr>
              <a:t>wa-dū-dun / wa-dū-da-tun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صَادِقٌ / صَادِقَةٌ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honest</a:t>
            </a:r>
            <a:endParaRPr lang="en-US" sz="1350" dirty="0"/>
          </a:p>
          <a:p>
            <a:pPr indent="0" marL="0">
              <a:buNone/>
            </a:pPr>
            <a:r>
              <a:rPr lang="en-US" sz="1100" i="1" dirty="0">
                <a:solidFill>
                  <a:srgbClr val="5A6472"/>
                </a:solidFill>
                <a:latin typeface="Calibri" pitchFamily="34" charset="0"/>
                <a:cs typeface="Amiri" pitchFamily="2" charset="-78"/>
              </a:rPr>
              <a:t>ṣā-di-qun / ṣā-di-qa-tun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صَادِقُونَ</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صَبُورٌ / صَبُورَةٌ</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patient</a:t>
            </a:r>
            <a:endParaRPr lang="en-US" sz="1350" dirty="0"/>
          </a:p>
          <a:p>
            <a:pPr indent="0" marL="0">
              <a:buNone/>
            </a:pPr>
            <a:r>
              <a:rPr lang="en-US" sz="1100" i="1" dirty="0">
                <a:solidFill>
                  <a:srgbClr val="5A6472"/>
                </a:solidFill>
                <a:latin typeface="Calibri" pitchFamily="34" charset="0"/>
                <a:cs typeface="Amiri" pitchFamily="2" charset="-78"/>
              </a:rPr>
              <a:t>ṣa-bū-run / ṣa-bū-ra-tun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صَبُورُونَ</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68" name="Shape 6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مُتَعَاوِنٌ / مُتَعَاوِنَةٌ</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helpful/cooperative</a:t>
            </a:r>
            <a:endParaRPr lang="en-US" sz="1350" dirty="0"/>
          </a:p>
          <a:p>
            <a:pPr indent="0" marL="0">
              <a:buNone/>
            </a:pPr>
            <a:r>
              <a:rPr lang="en-US" sz="1100" i="1" dirty="0">
                <a:solidFill>
                  <a:srgbClr val="5A6472"/>
                </a:solidFill>
                <a:latin typeface="Calibri" pitchFamily="34" charset="0"/>
                <a:cs typeface="Amiri" pitchFamily="2" charset="-78"/>
              </a:rPr>
              <a:t>mu-ta-ʿā-wi-nun / mu-ta-ʿā-wi-na-tun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مُتَعَاوِنُونَ</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مُتَعَاوِنَةٌ</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84" name="Shape 81"/>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86" name="Text 8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مُجْتَهِدٌ / مُجْتَهِدَةٌ</a:t>
            </a:r>
            <a:endParaRPr lang="ar-SA" sz="3000" dirty="0"/>
          </a:p>
        </p:txBody>
      </p:sp>
      <p:sp>
        <p:nvSpPr>
          <p:cNvPr id="87" name="Text 8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hard-working</a:t>
            </a:r>
            <a:endParaRPr lang="en-US" sz="1350" dirty="0"/>
          </a:p>
          <a:p>
            <a:pPr indent="0" marL="0">
              <a:buNone/>
            </a:pPr>
            <a:r>
              <a:rPr lang="en-US" sz="1100" i="1" dirty="0">
                <a:solidFill>
                  <a:srgbClr val="5A6472"/>
                </a:solidFill>
                <a:latin typeface="Calibri" pitchFamily="34" charset="0"/>
                <a:cs typeface="Amiri" pitchFamily="2" charset="-78"/>
              </a:rPr>
              <a:t>muj-ta-hi-dun / muj-ta-hi-da-tun</a:t>
            </a:r>
            <a:endParaRPr lang="en-US" sz="1350" dirty="0"/>
          </a:p>
        </p:txBody>
      </p:sp>
      <p:sp>
        <p:nvSpPr>
          <p:cNvPr id="88" name="Shape 85"/>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0" name="Text 87"/>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مُجْتَهِدُونَ</a:t>
            </a:r>
            <a:endParaRPr lang="ar-SA" sz="1500" dirty="0"/>
          </a:p>
        </p:txBody>
      </p:sp>
      <p:sp>
        <p:nvSpPr>
          <p:cNvPr id="91" name="Shape 88"/>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3" name="Text 90"/>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مُجْتَهِدَةٌ</a:t>
            </a:r>
            <a:endParaRPr lang="ar-SA" sz="1500" dirty="0"/>
          </a:p>
        </p:txBody>
      </p:sp>
      <p:sp>
        <p:nvSpPr>
          <p:cNvPr id="94" name="Shape 91"/>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6" name="Text 93"/>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a:t>
            </a:r>
            <a:endParaRPr lang="ar-SA" sz="150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People and qualities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مَرِحٌ / مَرِحَةٌ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cheerful</a:t>
            </a:r>
            <a:endParaRPr lang="en-US" sz="1350" dirty="0"/>
          </a:p>
          <a:p>
            <a:pPr indent="0" marL="0">
              <a:buNone/>
            </a:pPr>
            <a:r>
              <a:rPr lang="en-US" sz="1100" i="1" dirty="0">
                <a:solidFill>
                  <a:srgbClr val="5A6472"/>
                </a:solidFill>
                <a:latin typeface="Calibri" pitchFamily="34" charset="0"/>
                <a:cs typeface="Amiri" pitchFamily="2" charset="-78"/>
              </a:rPr>
              <a:t>ma-ri-ḥun / ma-ri-ḥa-tun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هَادِئٌ / هَادِئَةٌ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calm</a:t>
            </a:r>
            <a:endParaRPr lang="en-US" sz="1350" dirty="0"/>
          </a:p>
          <a:p>
            <a:pPr indent="0" marL="0">
              <a:buNone/>
            </a:pPr>
            <a:r>
              <a:rPr lang="en-US" sz="1100" i="1" dirty="0">
                <a:solidFill>
                  <a:srgbClr val="5A6472"/>
                </a:solidFill>
                <a:latin typeface="Calibri" pitchFamily="34" charset="0"/>
                <a:cs typeface="Amiri" pitchFamily="2" charset="-78"/>
              </a:rPr>
              <a:t>hā-di-ʾun / hā-di-ʾa-tun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هَادِئُونَ</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خَجُولٌ / خَجُولَةٌ</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shy</a:t>
            </a:r>
            <a:endParaRPr lang="en-US" sz="1350" dirty="0"/>
          </a:p>
          <a:p>
            <a:pPr indent="0" marL="0">
              <a:buNone/>
            </a:pPr>
            <a:r>
              <a:rPr lang="en-US" sz="1100" i="1" dirty="0">
                <a:solidFill>
                  <a:srgbClr val="5A6472"/>
                </a:solidFill>
                <a:latin typeface="Calibri" pitchFamily="34" charset="0"/>
                <a:cs typeface="Amiri" pitchFamily="2" charset="-78"/>
              </a:rPr>
              <a:t>kha-jū-lun / kha-jū-la-tun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خَجُولُونَ</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68" name="Shape 6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وَاثِقٌ / وَاثِقَةٌ</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confident</a:t>
            </a:r>
            <a:endParaRPr lang="en-US" sz="1350" dirty="0"/>
          </a:p>
          <a:p>
            <a:pPr indent="0" marL="0">
              <a:buNone/>
            </a:pPr>
            <a:r>
              <a:rPr lang="en-US" sz="1100" i="1" dirty="0">
                <a:solidFill>
                  <a:srgbClr val="5A6472"/>
                </a:solidFill>
                <a:latin typeface="Calibri" pitchFamily="34" charset="0"/>
                <a:cs typeface="Amiri" pitchFamily="2" charset="-78"/>
              </a:rPr>
              <a:t>wā-thi-qun / wā-thi-qa-tun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وَاثِقُونَ</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وَاثِقَةٌ</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وَاثِقٌ</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84" name="Shape 81"/>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86" name="Text 8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كَرِيمٌ / كَرِيمَةٌ</a:t>
            </a:r>
            <a:endParaRPr lang="ar-SA" sz="3000" dirty="0"/>
          </a:p>
        </p:txBody>
      </p:sp>
      <p:sp>
        <p:nvSpPr>
          <p:cNvPr id="87" name="Text 8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generous</a:t>
            </a:r>
            <a:endParaRPr lang="en-US" sz="1350" dirty="0"/>
          </a:p>
          <a:p>
            <a:pPr indent="0" marL="0">
              <a:buNone/>
            </a:pPr>
            <a:r>
              <a:rPr lang="en-US" sz="1100" i="1" dirty="0">
                <a:solidFill>
                  <a:srgbClr val="5A6472"/>
                </a:solidFill>
                <a:latin typeface="Calibri" pitchFamily="34" charset="0"/>
                <a:cs typeface="Amiri" pitchFamily="2" charset="-78"/>
              </a:rPr>
              <a:t>ka-rī-mun / ka-rī-ma-tun</a:t>
            </a:r>
            <a:endParaRPr lang="en-US" sz="1350" dirty="0"/>
          </a:p>
        </p:txBody>
      </p:sp>
      <p:sp>
        <p:nvSpPr>
          <p:cNvPr id="88" name="Shape 85"/>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0" name="Text 87"/>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كُرَمَاءُ</a:t>
            </a:r>
            <a:endParaRPr lang="ar-SA" sz="1500" dirty="0"/>
          </a:p>
        </p:txBody>
      </p:sp>
      <p:sp>
        <p:nvSpPr>
          <p:cNvPr id="91" name="Shape 88"/>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3" name="Text 90"/>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كَرِيمَةٌ</a:t>
            </a:r>
            <a:endParaRPr lang="ar-SA" sz="1500" dirty="0"/>
          </a:p>
        </p:txBody>
      </p:sp>
      <p:sp>
        <p:nvSpPr>
          <p:cNvPr id="94" name="Shape 91"/>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6" name="Text 93"/>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كَرِيمٌ</a:t>
            </a:r>
            <a:endParaRPr lang="ar-SA" sz="150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Clothes and evaluation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أَنِيقٌ / أَنِيقَةٌ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elegant</a:t>
            </a:r>
            <a:endParaRPr lang="en-US" sz="1350" dirty="0"/>
          </a:p>
          <a:p>
            <a:pPr indent="0" marL="0">
              <a:buNone/>
            </a:pPr>
            <a:r>
              <a:rPr lang="en-US" sz="1100" i="1" dirty="0">
                <a:solidFill>
                  <a:srgbClr val="5A6472"/>
                </a:solidFill>
                <a:latin typeface="Calibri" pitchFamily="34" charset="0"/>
                <a:cs typeface="Amiri" pitchFamily="2" charset="-78"/>
              </a:rPr>
              <a:t>a-nī-qun / a-nī-qa-tun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عَصْرِيٌّ / عَصْرِيَّةٌ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modern</a:t>
            </a:r>
            <a:endParaRPr lang="en-US" sz="1350" dirty="0"/>
          </a:p>
          <a:p>
            <a:pPr indent="0" marL="0">
              <a:buNone/>
            </a:pPr>
            <a:r>
              <a:rPr lang="en-US" sz="1100" i="1" dirty="0">
                <a:solidFill>
                  <a:srgbClr val="5A6472"/>
                </a:solidFill>
                <a:latin typeface="Calibri" pitchFamily="34" charset="0"/>
                <a:cs typeface="Amiri" pitchFamily="2" charset="-78"/>
              </a:rPr>
              <a:t>ʿaṣ-riy-yun / ʿaṣ-riy-ya-tun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عَصْرِيُّونَ</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تَقْلِيدِيٌّ / تَقْلِيدِيَّةٌ</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traditional</a:t>
            </a:r>
            <a:endParaRPr lang="en-US" sz="1350" dirty="0"/>
          </a:p>
          <a:p>
            <a:pPr indent="0" marL="0">
              <a:buNone/>
            </a:pPr>
            <a:r>
              <a:rPr lang="en-US" sz="1100" i="1" dirty="0">
                <a:solidFill>
                  <a:srgbClr val="5A6472"/>
                </a:solidFill>
                <a:latin typeface="Calibri" pitchFamily="34" charset="0"/>
                <a:cs typeface="Amiri" pitchFamily="2" charset="-78"/>
              </a:rPr>
              <a:t>taq-lī-diy-yun / taq-lī-diy-ya-tun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تَقْلِيدِيُّونَ</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68" name="Shape 6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رَسْمِيٌّ / رَسْمِيَّةٌ</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formal</a:t>
            </a:r>
            <a:endParaRPr lang="en-US" sz="1350" dirty="0"/>
          </a:p>
          <a:p>
            <a:pPr indent="0" marL="0">
              <a:buNone/>
            </a:pPr>
            <a:r>
              <a:rPr lang="en-US" sz="1100" i="1" dirty="0">
                <a:solidFill>
                  <a:srgbClr val="5A6472"/>
                </a:solidFill>
                <a:latin typeface="Calibri" pitchFamily="34" charset="0"/>
                <a:cs typeface="Amiri" pitchFamily="2" charset="-78"/>
              </a:rPr>
              <a:t>ras-miy-yun / ras-miy-ya-tun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رَسْمِيُّونَ</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رَسْمِيَّةٌ</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رَسْمِيٌّ</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84" name="Shape 81"/>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86" name="Text 8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غَيْرُ رَسْمِيٍّ / غَيْرُ رَسْمِيَّةٍ</a:t>
            </a:r>
            <a:endParaRPr lang="ar-SA" sz="3000" dirty="0"/>
          </a:p>
        </p:txBody>
      </p:sp>
      <p:sp>
        <p:nvSpPr>
          <p:cNvPr id="87" name="Text 8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casual</a:t>
            </a:r>
            <a:endParaRPr lang="en-US" sz="1350" dirty="0"/>
          </a:p>
          <a:p>
            <a:pPr indent="0" marL="0">
              <a:buNone/>
            </a:pPr>
            <a:r>
              <a:rPr lang="en-US" sz="1100" i="1" dirty="0">
                <a:solidFill>
                  <a:srgbClr val="5A6472"/>
                </a:solidFill>
                <a:latin typeface="Calibri" pitchFamily="34" charset="0"/>
                <a:cs typeface="Amiri" pitchFamily="2" charset="-78"/>
              </a:rPr>
              <a:t>ghay-ru ras-miy-yin / ghay-ru ras-miy-ya-tin</a:t>
            </a:r>
            <a:endParaRPr lang="en-US" sz="1350" dirty="0"/>
          </a:p>
        </p:txBody>
      </p:sp>
      <p:sp>
        <p:nvSpPr>
          <p:cNvPr id="88" name="Shape 85"/>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0" name="Text 87"/>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غَيْرُ رَسْمِيَّةٍ</a:t>
            </a:r>
            <a:endParaRPr lang="ar-SA" sz="1500" dirty="0"/>
          </a:p>
        </p:txBody>
      </p:sp>
      <p:sp>
        <p:nvSpPr>
          <p:cNvPr id="91" name="Shape 88"/>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3" name="Text 90"/>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غَيْرُ رَسْمِيٍّ</a:t>
            </a:r>
            <a:endParaRPr lang="ar-SA" sz="15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Clothes and evaluation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مُحْتَشِمٌ / مُحْتَشِمَةٌ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modest</a:t>
            </a:r>
            <a:endParaRPr lang="en-US" sz="1350" dirty="0"/>
          </a:p>
          <a:p>
            <a:pPr indent="0" marL="0">
              <a:buNone/>
            </a:pPr>
            <a:r>
              <a:rPr lang="en-US" sz="1100" i="1" dirty="0">
                <a:solidFill>
                  <a:srgbClr val="5A6472"/>
                </a:solidFill>
                <a:latin typeface="Calibri" pitchFamily="34" charset="0"/>
                <a:cs typeface="Amiri" pitchFamily="2" charset="-78"/>
              </a:rPr>
              <a:t>muḥ-ta-shi-mun / muḥ-ta-shi-ma-tun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مُلَوَّنٌ / مُلَوَّنَةٌ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colourful</a:t>
            </a:r>
            <a:endParaRPr lang="en-US" sz="1350" dirty="0"/>
          </a:p>
          <a:p>
            <a:pPr indent="0" marL="0">
              <a:buNone/>
            </a:pPr>
            <a:r>
              <a:rPr lang="en-US" sz="1100" i="1" dirty="0">
                <a:solidFill>
                  <a:srgbClr val="5A6472"/>
                </a:solidFill>
                <a:latin typeface="Calibri" pitchFamily="34" charset="0"/>
                <a:cs typeface="Amiri" pitchFamily="2" charset="-78"/>
              </a:rPr>
              <a:t>mu-law-wa-nun / mu-law-wa-na-tun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مَلَابِسُ مُلَوَّنَةٌ</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مُلَوَّنَةٌ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مُلَوَّنٌ</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بَسِيطٌ / بَسِيطَةٌ</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simple</a:t>
            </a:r>
            <a:endParaRPr lang="en-US" sz="1350" dirty="0"/>
          </a:p>
          <a:p>
            <a:pPr indent="0" marL="0">
              <a:buNone/>
            </a:pPr>
            <a:r>
              <a:rPr lang="en-US" sz="1100" i="1" dirty="0">
                <a:solidFill>
                  <a:srgbClr val="5A6472"/>
                </a:solidFill>
                <a:latin typeface="Calibri" pitchFamily="34" charset="0"/>
                <a:cs typeface="Amiri" pitchFamily="2" charset="-78"/>
              </a:rPr>
              <a:t>ba-sī-ṭun / ba-sī-ṭa-tun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بُسَطَاءُ</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بَسِيطَةٌ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بَسِيطٌ</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31</a:t>
            </a:r>
            <a:endParaRPr lang="en-US" sz="1000" dirty="0"/>
          </a:p>
        </p:txBody>
      </p:sp>
      <p:sp>
        <p:nvSpPr>
          <p:cNvPr id="68" name="Shape 6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مُرِيحٌ / مُرِيحَةٌ</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comfortable</a:t>
            </a:r>
            <a:endParaRPr lang="en-US" sz="1350" dirty="0"/>
          </a:p>
          <a:p>
            <a:pPr indent="0" marL="0">
              <a:buNone/>
            </a:pPr>
            <a:r>
              <a:rPr lang="en-US" sz="1100" i="1" dirty="0">
                <a:solidFill>
                  <a:srgbClr val="5A6472"/>
                </a:solidFill>
                <a:latin typeface="Calibri" pitchFamily="34" charset="0"/>
                <a:cs typeface="Amiri" pitchFamily="2" charset="-78"/>
              </a:rPr>
              <a:t>mu-rī-ḥun / mu-rī-ḥa-tun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مَلَابِسُ مُرِيحَةٌ</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مُرِيحَةٌ</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مُرِيحٌ</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32</a:t>
            </a:r>
            <a:endParaRPr lang="en-US" sz="1000" dirty="0"/>
          </a:p>
        </p:txBody>
      </p:sp>
      <p:sp>
        <p:nvSpPr>
          <p:cNvPr id="84" name="Shape 81"/>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86" name="Text 8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عَمَلِيٌّ / عَمَلِيَّةٌ</a:t>
            </a:r>
            <a:endParaRPr lang="ar-SA" sz="3000" dirty="0"/>
          </a:p>
        </p:txBody>
      </p:sp>
      <p:sp>
        <p:nvSpPr>
          <p:cNvPr id="87" name="Text 8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practical</a:t>
            </a:r>
            <a:endParaRPr lang="en-US" sz="1350" dirty="0"/>
          </a:p>
          <a:p>
            <a:pPr indent="0" marL="0">
              <a:buNone/>
            </a:pPr>
            <a:r>
              <a:rPr lang="en-US" sz="1100" i="1" dirty="0">
                <a:solidFill>
                  <a:srgbClr val="5A6472"/>
                </a:solidFill>
                <a:latin typeface="Calibri" pitchFamily="34" charset="0"/>
                <a:cs typeface="Amiri" pitchFamily="2" charset="-78"/>
              </a:rPr>
              <a:t>ʿa-ma-liy-yun / ʿa-ma-liy-ya-tun</a:t>
            </a:r>
            <a:endParaRPr lang="en-US" sz="1350" dirty="0"/>
          </a:p>
        </p:txBody>
      </p:sp>
      <p:sp>
        <p:nvSpPr>
          <p:cNvPr id="88" name="Shape 85"/>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0" name="Text 87"/>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مَلَابِسُ عَمَلِيَّةٌ</a:t>
            </a:r>
            <a:endParaRPr lang="ar-SA" sz="1500" dirty="0"/>
          </a:p>
        </p:txBody>
      </p:sp>
      <p:sp>
        <p:nvSpPr>
          <p:cNvPr id="91" name="Shape 88"/>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3" name="Text 90"/>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عَمَلِيَّةٌ</a:t>
            </a:r>
            <a:endParaRPr lang="ar-SA" sz="1500" dirty="0"/>
          </a:p>
        </p:txBody>
      </p:sp>
      <p:sp>
        <p:nvSpPr>
          <p:cNvPr id="94" name="Shape 91"/>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6" name="Text 93"/>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عَمَلِيٌّ</a:t>
            </a:r>
            <a:endParaRPr lang="ar-SA" sz="150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50" b="1" spc="150" kern="0" dirty="0">
                <a:solidFill>
                  <a:srgbClr val="1B3B6F"/>
                </a:solidFill>
                <a:latin typeface="Calibri" pitchFamily="34" charset="0"/>
                <a:cs typeface="Amiri" pitchFamily="2" charset="-78"/>
              </a:rPr>
              <a:t>GRAMMAR FOCUS · PART 1 · ADJECTIVE → …-ER THAN → THE …-EST (WEBSITE RULES)</a:t>
            </a:r>
            <a:endParaRPr lang="en-US" sz="95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Tall · taller than · the tallest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أَفْعَلُ التَّفْضِيلِ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36024" y="1810512"/>
            <a:ext cx="2322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Adjective</a:t>
            </a:r>
            <a:endParaRPr lang="en-US" sz="1100" dirty="0"/>
          </a:p>
        </p:txBody>
      </p:sp>
      <p:sp>
        <p:nvSpPr>
          <p:cNvPr id="17" name="Text 14"/>
          <p:cNvSpPr txBox="1"/>
          <p:nvPr/>
        </p:nvSpPr>
        <p:spPr>
          <a:xfrm>
            <a:off x="659282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…-er than</a:t>
            </a:r>
            <a:endParaRPr lang="en-US" sz="1100" dirty="0"/>
          </a:p>
        </p:txBody>
      </p:sp>
      <p:sp>
        <p:nvSpPr>
          <p:cNvPr id="18" name="Text 15"/>
          <p:cNvSpPr txBox="1"/>
          <p:nvPr/>
        </p:nvSpPr>
        <p:spPr>
          <a:xfrm>
            <a:off x="403250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…-est</a:t>
            </a:r>
            <a:endParaRPr lang="en-US" sz="1100" dirty="0"/>
          </a:p>
        </p:txBody>
      </p:sp>
      <p:sp>
        <p:nvSpPr>
          <p:cNvPr id="19" name="Text 16"/>
          <p:cNvSpPr txBox="1"/>
          <p:nvPr/>
        </p:nvSpPr>
        <p:spPr>
          <a:xfrm>
            <a:off x="530352" y="1810512"/>
            <a:ext cx="33558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354312" y="2267712"/>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طَوِيلٌ</a:t>
            </a:r>
            <a:endParaRPr lang="ar-SA" sz="2600" dirty="0"/>
          </a:p>
        </p:txBody>
      </p:sp>
      <p:sp>
        <p:nvSpPr>
          <p:cNvPr id="22" name="Text 19"/>
          <p:cNvSpPr txBox="1"/>
          <p:nvPr/>
        </p:nvSpPr>
        <p:spPr>
          <a:xfrm>
            <a:off x="6611112" y="2267712"/>
            <a:ext cx="256032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ea typeface="Amiri" pitchFamily="2" charset="-78"/>
                <a:cs typeface="Amiri" pitchFamily="2" charset="-78"/>
              </a:rPr>
              <a:t>أَطْوَلُ مِنْ</a:t>
            </a:r>
            <a:endParaRPr lang="ar-SA" sz="2600" dirty="0"/>
          </a:p>
        </p:txBody>
      </p:sp>
      <p:sp>
        <p:nvSpPr>
          <p:cNvPr id="23" name="Text 20"/>
          <p:cNvSpPr txBox="1"/>
          <p:nvPr/>
        </p:nvSpPr>
        <p:spPr>
          <a:xfrm>
            <a:off x="4050792" y="2267712"/>
            <a:ext cx="2377440" cy="682142"/>
          </a:xfrm>
          <a:prstGeom prst="rect">
            <a:avLst/>
          </a:prstGeom>
          <a:noFill/>
          <a:ln/>
        </p:spPr>
        <p:txBody>
          <a:bodyPr wrap="square" lIns="0" tIns="0" rIns="0" bIns="0" rtlCol="0" anchor="ctr"/>
          <a:lstStyle/>
          <a:p>
            <a:pPr rtl="1" algn="ctr" indent="0" marL="0">
              <a:buNone/>
            </a:pPr>
            <a:r>
              <a:rPr lang="ar-SA" altLang="en-US" sz="2600" b="1" dirty="0">
                <a:solidFill>
                  <a:srgbClr val="1D5FBF"/>
                </a:solidFill>
                <a:latin typeface="Amiri" pitchFamily="2" charset="-78"/>
                <a:ea typeface="Amiri" pitchFamily="2" charset="-78"/>
                <a:cs typeface="Amiri" pitchFamily="2" charset="-78"/>
              </a:rPr>
              <a:t>الأَطْوَلُ</a:t>
            </a:r>
            <a:endParaRPr lang="ar-SA" sz="2600" dirty="0"/>
          </a:p>
        </p:txBody>
      </p:sp>
      <p:sp>
        <p:nvSpPr>
          <p:cNvPr id="24" name="Text 21"/>
          <p:cNvSpPr txBox="1"/>
          <p:nvPr/>
        </p:nvSpPr>
        <p:spPr>
          <a:xfrm>
            <a:off x="566928" y="2267712"/>
            <a:ext cx="3319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tall · taller · the tallest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354312" y="3004718"/>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قَصِيرٌ</a:t>
            </a:r>
            <a:endParaRPr lang="ar-SA" sz="2600" dirty="0"/>
          </a:p>
        </p:txBody>
      </p:sp>
      <p:sp>
        <p:nvSpPr>
          <p:cNvPr id="29" name="Text 26"/>
          <p:cNvSpPr txBox="1"/>
          <p:nvPr/>
        </p:nvSpPr>
        <p:spPr>
          <a:xfrm>
            <a:off x="6611112" y="3004718"/>
            <a:ext cx="256032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ea typeface="Amiri" pitchFamily="2" charset="-78"/>
                <a:cs typeface="Amiri" pitchFamily="2" charset="-78"/>
              </a:rPr>
              <a:t>أَقْصَرُ مِنْ</a:t>
            </a:r>
            <a:endParaRPr lang="ar-SA" sz="2600" dirty="0"/>
          </a:p>
        </p:txBody>
      </p:sp>
      <p:sp>
        <p:nvSpPr>
          <p:cNvPr id="30" name="Text 27"/>
          <p:cNvSpPr txBox="1"/>
          <p:nvPr/>
        </p:nvSpPr>
        <p:spPr>
          <a:xfrm>
            <a:off x="4050792" y="3004718"/>
            <a:ext cx="2377440" cy="682142"/>
          </a:xfrm>
          <a:prstGeom prst="rect">
            <a:avLst/>
          </a:prstGeom>
          <a:noFill/>
          <a:ln/>
        </p:spPr>
        <p:txBody>
          <a:bodyPr wrap="square" lIns="0" tIns="0" rIns="0" bIns="0" rtlCol="0" anchor="ctr"/>
          <a:lstStyle/>
          <a:p>
            <a:pPr rtl="1" algn="ctr" indent="0" marL="0">
              <a:buNone/>
            </a:pPr>
            <a:r>
              <a:rPr lang="ar-SA" altLang="en-US" sz="2600" b="1" dirty="0">
                <a:solidFill>
                  <a:srgbClr val="1D5FBF"/>
                </a:solidFill>
                <a:latin typeface="Amiri" pitchFamily="2" charset="-78"/>
                <a:ea typeface="Amiri" pitchFamily="2" charset="-78"/>
                <a:cs typeface="Amiri" pitchFamily="2" charset="-78"/>
              </a:rPr>
              <a:t>الأَقْصَرُ</a:t>
            </a:r>
            <a:endParaRPr lang="ar-SA" sz="2600" dirty="0"/>
          </a:p>
        </p:txBody>
      </p:sp>
      <p:sp>
        <p:nvSpPr>
          <p:cNvPr id="31" name="Text 28"/>
          <p:cNvSpPr txBox="1"/>
          <p:nvPr/>
        </p:nvSpPr>
        <p:spPr>
          <a:xfrm>
            <a:off x="566928" y="3004718"/>
            <a:ext cx="3319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short · shorter · the shortest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354312" y="3741725"/>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رَخِيصٌ</a:t>
            </a:r>
            <a:endParaRPr lang="ar-SA" sz="2600" dirty="0"/>
          </a:p>
        </p:txBody>
      </p:sp>
      <p:sp>
        <p:nvSpPr>
          <p:cNvPr id="36" name="Text 33"/>
          <p:cNvSpPr txBox="1"/>
          <p:nvPr/>
        </p:nvSpPr>
        <p:spPr>
          <a:xfrm>
            <a:off x="6611112" y="3741725"/>
            <a:ext cx="256032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ea typeface="Amiri" pitchFamily="2" charset="-78"/>
                <a:cs typeface="Amiri" pitchFamily="2" charset="-78"/>
              </a:rPr>
              <a:t>أَرْخَصُ مِنْ</a:t>
            </a:r>
            <a:endParaRPr lang="ar-SA" sz="2600" dirty="0"/>
          </a:p>
        </p:txBody>
      </p:sp>
      <p:sp>
        <p:nvSpPr>
          <p:cNvPr id="37" name="Text 34"/>
          <p:cNvSpPr txBox="1"/>
          <p:nvPr/>
        </p:nvSpPr>
        <p:spPr>
          <a:xfrm>
            <a:off x="4050792" y="3741725"/>
            <a:ext cx="2377440" cy="682142"/>
          </a:xfrm>
          <a:prstGeom prst="rect">
            <a:avLst/>
          </a:prstGeom>
          <a:noFill/>
          <a:ln/>
        </p:spPr>
        <p:txBody>
          <a:bodyPr wrap="square" lIns="0" tIns="0" rIns="0" bIns="0" rtlCol="0" anchor="ctr"/>
          <a:lstStyle/>
          <a:p>
            <a:pPr rtl="1" algn="ctr" indent="0" marL="0">
              <a:buNone/>
            </a:pPr>
            <a:r>
              <a:rPr lang="ar-SA" altLang="en-US" sz="2600" b="1" dirty="0">
                <a:solidFill>
                  <a:srgbClr val="1D5FBF"/>
                </a:solidFill>
                <a:latin typeface="Amiri" pitchFamily="2" charset="-78"/>
                <a:ea typeface="Amiri" pitchFamily="2" charset="-78"/>
                <a:cs typeface="Amiri" pitchFamily="2" charset="-78"/>
              </a:rPr>
              <a:t>الأَرْخَصُ</a:t>
            </a:r>
            <a:endParaRPr lang="ar-SA" sz="2600" dirty="0"/>
          </a:p>
        </p:txBody>
      </p:sp>
      <p:sp>
        <p:nvSpPr>
          <p:cNvPr id="38" name="Text 35"/>
          <p:cNvSpPr txBox="1"/>
          <p:nvPr/>
        </p:nvSpPr>
        <p:spPr>
          <a:xfrm>
            <a:off x="566928" y="3741725"/>
            <a:ext cx="3319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cheap · cheaper · the cheapest</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9354312" y="4478731"/>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غَالٍ</a:t>
            </a:r>
            <a:endParaRPr lang="ar-SA" sz="2600" dirty="0"/>
          </a:p>
        </p:txBody>
      </p:sp>
      <p:sp>
        <p:nvSpPr>
          <p:cNvPr id="43" name="Text 40"/>
          <p:cNvSpPr txBox="1"/>
          <p:nvPr/>
        </p:nvSpPr>
        <p:spPr>
          <a:xfrm>
            <a:off x="6611112" y="4478731"/>
            <a:ext cx="256032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ea typeface="Amiri" pitchFamily="2" charset="-78"/>
                <a:cs typeface="Amiri" pitchFamily="2" charset="-78"/>
              </a:rPr>
              <a:t>أَغْلَى مِنْ</a:t>
            </a:r>
            <a:endParaRPr lang="ar-SA" sz="2600" dirty="0"/>
          </a:p>
        </p:txBody>
      </p:sp>
      <p:sp>
        <p:nvSpPr>
          <p:cNvPr id="44" name="Text 41"/>
          <p:cNvSpPr txBox="1"/>
          <p:nvPr/>
        </p:nvSpPr>
        <p:spPr>
          <a:xfrm>
            <a:off x="4050792" y="4478731"/>
            <a:ext cx="2377440" cy="682142"/>
          </a:xfrm>
          <a:prstGeom prst="rect">
            <a:avLst/>
          </a:prstGeom>
          <a:noFill/>
          <a:ln/>
        </p:spPr>
        <p:txBody>
          <a:bodyPr wrap="square" lIns="0" tIns="0" rIns="0" bIns="0" rtlCol="0" anchor="ctr"/>
          <a:lstStyle/>
          <a:p>
            <a:pPr rtl="1" algn="ctr" indent="0" marL="0">
              <a:buNone/>
            </a:pPr>
            <a:r>
              <a:rPr lang="ar-SA" altLang="en-US" sz="2600" b="1" dirty="0">
                <a:solidFill>
                  <a:srgbClr val="1D5FBF"/>
                </a:solidFill>
                <a:latin typeface="Amiri" pitchFamily="2" charset="-78"/>
                <a:ea typeface="Amiri" pitchFamily="2" charset="-78"/>
                <a:cs typeface="Amiri" pitchFamily="2" charset="-78"/>
              </a:rPr>
              <a:t>الأَغْلَى</a:t>
            </a:r>
            <a:endParaRPr lang="ar-SA" sz="2600" dirty="0"/>
          </a:p>
        </p:txBody>
      </p:sp>
      <p:sp>
        <p:nvSpPr>
          <p:cNvPr id="45" name="Text 42"/>
          <p:cNvSpPr txBox="1"/>
          <p:nvPr/>
        </p:nvSpPr>
        <p:spPr>
          <a:xfrm>
            <a:off x="566928" y="4478731"/>
            <a:ext cx="3319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expensive · more expensive · the most expensive</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9354312" y="5215738"/>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جَيِّدٌ</a:t>
            </a:r>
            <a:endParaRPr lang="ar-SA" sz="2600" dirty="0"/>
          </a:p>
        </p:txBody>
      </p:sp>
      <p:sp>
        <p:nvSpPr>
          <p:cNvPr id="50" name="Text 47"/>
          <p:cNvSpPr txBox="1"/>
          <p:nvPr/>
        </p:nvSpPr>
        <p:spPr>
          <a:xfrm>
            <a:off x="6611112" y="5215738"/>
            <a:ext cx="256032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ea typeface="Amiri" pitchFamily="2" charset="-78"/>
                <a:cs typeface="Amiri" pitchFamily="2" charset="-78"/>
              </a:rPr>
              <a:t>أَفْضَلُ مِنْ</a:t>
            </a:r>
            <a:endParaRPr lang="ar-SA" sz="2600" dirty="0"/>
          </a:p>
        </p:txBody>
      </p:sp>
      <p:sp>
        <p:nvSpPr>
          <p:cNvPr id="51" name="Text 48"/>
          <p:cNvSpPr txBox="1"/>
          <p:nvPr/>
        </p:nvSpPr>
        <p:spPr>
          <a:xfrm>
            <a:off x="4050792" y="5215738"/>
            <a:ext cx="2377440" cy="682142"/>
          </a:xfrm>
          <a:prstGeom prst="rect">
            <a:avLst/>
          </a:prstGeom>
          <a:noFill/>
          <a:ln/>
        </p:spPr>
        <p:txBody>
          <a:bodyPr wrap="square" lIns="0" tIns="0" rIns="0" bIns="0" rtlCol="0" anchor="ctr"/>
          <a:lstStyle/>
          <a:p>
            <a:pPr rtl="1" algn="ctr" indent="0" marL="0">
              <a:buNone/>
            </a:pPr>
            <a:r>
              <a:rPr lang="ar-SA" altLang="en-US" sz="2600" b="1" dirty="0">
                <a:solidFill>
                  <a:srgbClr val="1D5FBF"/>
                </a:solidFill>
                <a:latin typeface="Amiri" pitchFamily="2" charset="-78"/>
                <a:ea typeface="Amiri" pitchFamily="2" charset="-78"/>
                <a:cs typeface="Amiri" pitchFamily="2" charset="-78"/>
              </a:rPr>
              <a:t>الأَفْضَلُ</a:t>
            </a:r>
            <a:endParaRPr lang="ar-SA" sz="2600" dirty="0"/>
          </a:p>
        </p:txBody>
      </p:sp>
      <p:sp>
        <p:nvSpPr>
          <p:cNvPr id="52" name="Text 49"/>
          <p:cNvSpPr txBox="1"/>
          <p:nvPr/>
        </p:nvSpPr>
        <p:spPr>
          <a:xfrm>
            <a:off x="566928" y="5215738"/>
            <a:ext cx="3319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 · better · the best</a:t>
            </a:r>
            <a:endParaRPr lang="en-US" sz="1100" dirty="0"/>
          </a:p>
        </p:txBody>
      </p:sp>
      <p:sp>
        <p:nvSpPr>
          <p:cNvPr id="53" name="Text 5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Pattern a-C-C-a-C: ṭawīl → aṭwal. One form for everyone: Salmā aṭwalu min ukhtihā (Salma is taller than her sister).</a:t>
            </a:r>
            <a:endParaRPr lang="en-US" sz="11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MORE / LESS + NOUN, PREFERENCE, SIMILARITY (WEBSITE RULES)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More confident · I prefer … to … · alike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أَكْثَرُ ثِقَةً · أُفَضِّلُ … عَلَى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2181758"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2181758"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MORE / LESS + NOUN · DEVELOP</a:t>
            </a:r>
            <a:endParaRPr lang="en-US" sz="850" dirty="0"/>
          </a:p>
        </p:txBody>
      </p:sp>
      <p:sp>
        <p:nvSpPr>
          <p:cNvPr id="18" name="Text 15"/>
          <p:cNvSpPr txBox="1"/>
          <p:nvPr/>
        </p:nvSpPr>
        <p:spPr>
          <a:xfrm>
            <a:off x="10460126" y="1874520"/>
            <a:ext cx="1134466"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أَكْثَرُ / أَقَلُّ + ـًا</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هُوَ أَكْثَرُ ثِقَةً مِنْ أَخِيهِ. هٰذَا الأُسْلُوبُ أَقَلُّ رَسْمِيَّةً.</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He is more confident than his brother. This style is less formal.</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Noun ends in -an.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440180" cy="274320"/>
          </a:xfrm>
          <a:prstGeom prst="roundRect">
            <a:avLst>
              <a:gd name="adj" fmla="val 50000"/>
            </a:avLst>
          </a:prstGeom>
          <a:solidFill>
            <a:srgbClr val="1E7B4F"/>
          </a:solidFill>
          <a:ln w="12700">
            <a:solidFill>
              <a:srgbClr val="1E7B4F"/>
            </a:solidFill>
            <a:prstDash val="solid"/>
          </a:ln>
        </p:spPr>
      </p:sp>
      <p:sp>
        <p:nvSpPr>
          <p:cNvPr id="25" name="Text 22"/>
          <p:cNvSpPr txBox="1"/>
          <p:nvPr/>
        </p:nvSpPr>
        <p:spPr>
          <a:xfrm>
            <a:off x="4413504"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PREFERENCE · CORE</a:t>
            </a:r>
            <a:endParaRPr lang="en-US" sz="850" dirty="0"/>
          </a:p>
        </p:txBody>
      </p:sp>
      <p:sp>
        <p:nvSpPr>
          <p:cNvPr id="26" name="Text 23"/>
          <p:cNvSpPr txBox="1"/>
          <p:nvPr/>
        </p:nvSpPr>
        <p:spPr>
          <a:xfrm>
            <a:off x="5899404"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أُفَضِّلُ … عَلَى …</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ea typeface="Amiri" pitchFamily="2" charset="-78"/>
                <a:cs typeface="Amiri" pitchFamily="2" charset="-78"/>
              </a:rPr>
              <a:t>أُفَضِّلُ الحِذَاءَ الأَسْوَدَ عَلَى البُنِّيِّ.</a:t>
            </a:r>
            <a:endParaRPr lang="ar-SA" sz="22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prefer the black shoes to the brown ones.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Prefer A ʿalā B.</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64592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SIMILARITY · STRETCH</a:t>
            </a:r>
            <a:endParaRPr lang="en-US" sz="850" dirty="0"/>
          </a:p>
        </p:txBody>
      </p:sp>
      <p:sp>
        <p:nvSpPr>
          <p:cNvPr id="34" name="Text 31"/>
          <p:cNvSpPr txBox="1"/>
          <p:nvPr/>
        </p:nvSpPr>
        <p:spPr>
          <a:xfrm>
            <a:off x="2286000"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مِثْلُ · مُتَشَابِهَانِ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ea typeface="Amiri" pitchFamily="2" charset="-78"/>
                <a:cs typeface="Amiri" pitchFamily="2" charset="-78"/>
              </a:rPr>
              <a:t>هُمَا مُتَشَابِهَانِ فِي الأَنَاقَةِ.</a:t>
            </a:r>
            <a:endParaRPr lang="ar-SA" sz="27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They (two) are alike in elegance.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Not every comparison has a winner.</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“more confident” needs a noun.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هُوَ أَكْثَرُ ثِقَةً.</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500" b="1" dirty="0">
                <a:solidFill>
                  <a:srgbClr val="B83227"/>
                </a:solidFill>
                <a:latin typeface="Amiri" pitchFamily="2" charset="-78"/>
                <a:ea typeface="Amiri" pitchFamily="2" charset="-78"/>
                <a:cs typeface="Amiri" pitchFamily="2" charset="-78"/>
              </a:rPr>
              <a:t>هُوَ أَكْثَرُ وَاثِقٌ.</a:t>
            </a:r>
            <a:endParaRPr lang="ar-SA" sz="25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Comparatives and superlatives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أَفْعَلُ التَّفْضِيلِ وَالمُقَارَنَةُ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Basic comparison</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أَفْعَلُ + مِنْ</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هٰذَا القَمِيصُ أَرْخَصُ مِنْ ذٰلِكَ.   ·   سَلْمَى أَطْوَلُ مِنْ أُخْتِهَا.</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More/less with a noun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أَكْثَرُ / أَقَلُّ + مَصْدَرًا / صِفَةً + مِنْ</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هُوَ أَكْثَرُ ثِقَةً مِنْ أَخِيهِ.   ·   هٰذَا الأُسْلُوبُ أَقَلُّ رَسْمِيَّةً.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Preference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أُفَضِّلُ ... عَلَى ... / ... أَفْضَلُ مِنْ ...</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أُفَضِّلُ الحِذَاءَ الأَسْوَدَ عَلَى البُنِّيِّ.   ·   القُطْنُ أَفْضَلُ مِنَ النَّايْلُونِ فِي الصَّيْفِ.</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Superlative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الأَفْضَلُ / الأَكْثَرُ مُنَاسَبَةً</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هٰذَا هُوَ الخِيَارُ الأَفْضَلُ.   ·   هِيَ الأَكْثَرُ مُنَاسَبَةً لِلْمُنَاسَبَةِ.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“more expensive than”.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غَالٍ مِنْ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أَكْثَرُ غَالِيًا مِنْ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أَغْلَى مِنْ</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سَارَةُ ___ مِنْ أُخْتِهَا.</a:t>
            </a:r>
            <a:endParaRPr lang="ar-SA" sz="150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أَطْوَلُ</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طَوِيلَةٌ</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الأَطْوَلَ</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“more confident”.</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أَكْثَرُ وَاثِقٌ</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أَكْثَرُ ثِقَةً</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وَاثِقٌ مِنْ</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expresses preference?</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أُفَضِّلُ هٰذَا عَلَى ذٰلِكَ.</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مِثْلُ ذٰلِكَ.</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هُنَا.</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“more expensive than”.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غَالٍ مِنْ</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أَكْثَرُ غَالِيًا مِنْ</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أَغْلَى مِنْ</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أَغْلَى مِنْ</a:t>
            </a:r>
            <a:pPr algn="l" indent="0" marL="0">
              <a:buNone/>
            </a:pPr>
            <a:r>
              <a:rPr lang="en-US" sz="1050" i="1" dirty="0">
                <a:solidFill>
                  <a:srgbClr val="8A6D1E"/>
                </a:solidFill>
                <a:latin typeface="Calibri" pitchFamily="34" charset="0"/>
                <a:cs typeface="Amiri" pitchFamily="2" charset="-78"/>
              </a:rPr>
              <a:t> is the standard comparative.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سَارَةُ ___ مِنْ أُخْتِهَا.</a:t>
            </a:r>
            <a:endParaRPr lang="ar-SA" sz="150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أَطْوَلُ</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طَوِيلَةٌ</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الأَطْوَلَ</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comparative +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“more confident”.</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أَكْثَرُ وَاثِقٌ</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أَكْثَرُ ثِقَةً</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وَاثِقٌ مِنْ</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أَكْثَرُ</a:t>
            </a:r>
            <a:pPr algn="l" indent="0" marL="0">
              <a:buNone/>
            </a:pPr>
            <a:r>
              <a:rPr lang="en-US" sz="1050" i="1" dirty="0">
                <a:solidFill>
                  <a:srgbClr val="8A6D1E"/>
                </a:solidFill>
                <a:latin typeface="Calibri" pitchFamily="34" charset="0"/>
                <a:cs typeface="Amiri" pitchFamily="2" charset="-78"/>
              </a:rPr>
              <a:t> + verbal noun.</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expresses preference?</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أُفَضِّلُ هٰذَا عَلَى ذٰلِكَ.</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مِثْلُ ذٰلِكَ.</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هُنَا.</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أُفَضِّلُ</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ea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 ... expresses preference.</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compare two shirts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Cheaper</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القَمِيصُ الأَزْرَقُ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أَرْخَصُ مِنَ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الأَسْوَدِ.</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Short comparative + min.</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More + noun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وَلٰكِنَّ الأَسْوَدَ </a:t>
            </a:r>
            <a:pPr rtl="1" algn="ctr" indent="0" marL="0">
              <a:buNone/>
            </a:pPr>
            <a:r>
              <a:rPr lang="ar-SA" altLang="en-US" sz="2100" b="1" dirty="0">
                <a:solidFill>
                  <a:srgbClr val="1D5FBF"/>
                </a:solidFill>
                <a:latin typeface="Amiri" pitchFamily="2" charset="-78"/>
                <a:ea typeface="Amiri" pitchFamily="2" charset="-78"/>
                <a:cs typeface="Amiri" pitchFamily="2" charset="-78"/>
              </a:rPr>
              <a:t>أَكْثَرُ أَنَاقَةً</a:t>
            </a:r>
            <a:pPr rtl="1" algn="ctr" indent="0" marL="0">
              <a:buNone/>
            </a:pPr>
            <a:r>
              <a:rPr lang="ar-SA" altLang="en-US" sz="2100" b="1" dirty="0">
                <a:solidFill>
                  <a:srgbClr val="1B3B6F"/>
                </a:solidFill>
                <a:latin typeface="Amiri" pitchFamily="2" charset="-78"/>
                <a:cs typeface="Amiri" pitchFamily="2" charset="-78"/>
              </a:rPr>
              <a:t>.</a:t>
            </a:r>
            <a:endParaRPr lang="ar-SA" sz="21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Elegant → more elegance.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Preference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ea typeface="Amiri" pitchFamily="2" charset="-78"/>
                <a:cs typeface="Amiri" pitchFamily="2" charset="-78"/>
              </a:rPr>
              <a:t>أُفَضِّلُ</a:t>
            </a:r>
            <a:pPr rtl="1" algn="ctr" indent="0" marL="0">
              <a:buNone/>
            </a:pPr>
            <a:r>
              <a:rPr lang="ar-SA" altLang="en-US" sz="2100" b="1" dirty="0">
                <a:solidFill>
                  <a:srgbClr val="1B3B6F"/>
                </a:solidFill>
                <a:latin typeface="Amiri" pitchFamily="2" charset="-78"/>
                <a:ea typeface="Amiri" pitchFamily="2" charset="-78"/>
                <a:cs typeface="Amiri" pitchFamily="2" charset="-78"/>
              </a:rPr>
              <a:t> الأَزْرَقَ </a:t>
            </a:r>
            <a:pPr rtl="1" algn="ctr" indent="0" marL="0">
              <a:buNone/>
            </a:pPr>
            <a:r>
              <a:rPr lang="ar-SA" altLang="en-US" sz="2100" b="1" dirty="0">
                <a:solidFill>
                  <a:srgbClr val="D6336C"/>
                </a:solidFill>
                <a:latin typeface="Amiri" pitchFamily="2" charset="-78"/>
                <a:ea typeface="Amiri" pitchFamily="2" charset="-78"/>
                <a:cs typeface="Amiri" pitchFamily="2" charset="-78"/>
              </a:rPr>
              <a:t>عَلَى</a:t>
            </a:r>
            <a:pPr rtl="1" algn="ctr" indent="0" marL="0">
              <a:buNone/>
            </a:pPr>
            <a:r>
              <a:rPr lang="ar-SA" altLang="en-US" sz="2100" b="1" dirty="0">
                <a:solidFill>
                  <a:srgbClr val="1B3B6F"/>
                </a:solidFill>
                <a:latin typeface="Amiri" pitchFamily="2" charset="-78"/>
                <a:ea typeface="Amiri" pitchFamily="2" charset="-78"/>
                <a:cs typeface="Amiri" pitchFamily="2" charset="-78"/>
              </a:rPr>
              <a:t> الأَسْوَدِ.</a:t>
            </a:r>
            <a:endParaRPr lang="ar-SA" sz="21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Prefer A ʿalā B.</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The best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لِأَنَّهُ </a:t>
            </a:r>
            <a:pPr rtl="1" algn="ctr" indent="0" marL="0">
              <a:lnSpc>
                <a:spcPct val="120000"/>
              </a:lnSpc>
              <a:buNone/>
            </a:pPr>
            <a:r>
              <a:rPr lang="ar-SA" altLang="en-US" sz="1800" b="1" dirty="0">
                <a:solidFill>
                  <a:srgbClr val="0E7C86"/>
                </a:solidFill>
                <a:latin typeface="Amiri" pitchFamily="2" charset="-78"/>
                <a:ea typeface="Amiri" pitchFamily="2" charset="-78"/>
                <a:cs typeface="Amiri" pitchFamily="2" charset="-78"/>
              </a:rPr>
              <a:t>الأَكْثَرُ مُنَاسَبَةً</a:t>
            </a:r>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 لِلْمَدْرَسَةِ.</a:t>
            </a:r>
            <a:endParaRPr lang="ar-SA" sz="1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most suitable.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-ER THAN / THE MOST</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MORE + NOUN</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PREFERENCE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القَمِيصُ الأَزْرَقُ </a:t>
            </a:r>
            <a:pPr rtl="1" algn="r" indent="0" marL="0">
              <a:lnSpc>
                <a:spcPct val="120000"/>
              </a:lnSpc>
              <a:buNone/>
            </a:pPr>
            <a:r>
              <a:rPr lang="ar-SA" altLang="en-US" sz="1500" b="1" dirty="0">
                <a:solidFill>
                  <a:srgbClr val="0E7C86"/>
                </a:solidFill>
                <a:latin typeface="Amiri" pitchFamily="2" charset="-78"/>
                <a:ea typeface="Amiri" pitchFamily="2" charset="-78"/>
                <a:cs typeface="Amiri" pitchFamily="2" charset="-78"/>
              </a:rPr>
              <a:t>أَرْخَصُ مِنَ</a:t>
            </a:r>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 الأَسْوَدِ، وَلٰكِنَّ الأَسْوَدَ </a:t>
            </a:r>
            <a:pPr rtl="1" algn="r" indent="0" marL="0">
              <a:lnSpc>
                <a:spcPct val="120000"/>
              </a:lnSpc>
              <a:buNone/>
            </a:pPr>
            <a:r>
              <a:rPr lang="ar-SA" altLang="en-US" sz="1500" b="1" dirty="0">
                <a:solidFill>
                  <a:srgbClr val="1D5FBF"/>
                </a:solidFill>
                <a:latin typeface="Amiri" pitchFamily="2" charset="-78"/>
                <a:ea typeface="Amiri" pitchFamily="2" charset="-78"/>
                <a:cs typeface="Amiri" pitchFamily="2" charset="-78"/>
              </a:rPr>
              <a:t>أَكْثَرُ أَنَاقَةً</a:t>
            </a:r>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 الأَزْرَقُ أَيْضًا </a:t>
            </a:r>
            <a:pPr rtl="1" algn="r" indent="0" marL="0">
              <a:lnSpc>
                <a:spcPct val="120000"/>
              </a:lnSpc>
              <a:buNone/>
            </a:pPr>
            <a:r>
              <a:rPr lang="ar-SA" altLang="en-US" sz="1500" b="1" dirty="0">
                <a:solidFill>
                  <a:srgbClr val="1D5FBF"/>
                </a:solidFill>
                <a:latin typeface="Amiri" pitchFamily="2" charset="-78"/>
                <a:ea typeface="Amiri" pitchFamily="2" charset="-78"/>
                <a:cs typeface="Amiri" pitchFamily="2" charset="-78"/>
              </a:rPr>
              <a:t>أَكْثَرُ رَاحَةً</a:t>
            </a:r>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 لِأَنَّهُ مِنَ القُطْنِ. </a:t>
            </a:r>
            <a:pPr rtl="1" algn="r" indent="0" marL="0">
              <a:lnSpc>
                <a:spcPct val="120000"/>
              </a:lnSpc>
              <a:buNone/>
            </a:pPr>
            <a:r>
              <a:rPr lang="ar-SA" altLang="en-US" sz="1500" b="1" dirty="0">
                <a:solidFill>
                  <a:srgbClr val="D6336C"/>
                </a:solidFill>
                <a:latin typeface="Amiri" pitchFamily="2" charset="-78"/>
                <a:ea typeface="Amiri" pitchFamily="2" charset="-78"/>
                <a:cs typeface="Amiri" pitchFamily="2" charset="-78"/>
              </a:rPr>
              <a:t>أُفَضِّلُ</a:t>
            </a:r>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 الأَزْرَقَ </a:t>
            </a:r>
            <a:pPr rtl="1" algn="r" indent="0" marL="0">
              <a:lnSpc>
                <a:spcPct val="120000"/>
              </a:lnSpc>
              <a:buNone/>
            </a:pPr>
            <a:r>
              <a:rPr lang="ar-SA" altLang="en-US" sz="1500" b="1" dirty="0">
                <a:solidFill>
                  <a:srgbClr val="D6336C"/>
                </a:solidFill>
                <a:latin typeface="Amiri" pitchFamily="2" charset="-78"/>
                <a:ea typeface="Amiri" pitchFamily="2" charset="-78"/>
                <a:cs typeface="Amiri" pitchFamily="2" charset="-78"/>
              </a:rPr>
              <a:t>عَلَى</a:t>
            </a:r>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 الأَسْوَدِ لِأَنَّهُ </a:t>
            </a:r>
            <a:pPr rtl="1" algn="r" indent="0" marL="0">
              <a:lnSpc>
                <a:spcPct val="120000"/>
              </a:lnSpc>
              <a:buNone/>
            </a:pPr>
            <a:r>
              <a:rPr lang="ar-SA" altLang="en-US" sz="1500" b="1" dirty="0">
                <a:solidFill>
                  <a:srgbClr val="0E7C86"/>
                </a:solidFill>
                <a:latin typeface="Amiri" pitchFamily="2" charset="-78"/>
                <a:ea typeface="Amiri" pitchFamily="2" charset="-78"/>
                <a:cs typeface="Amiri" pitchFamily="2" charset="-78"/>
              </a:rPr>
              <a:t>الأَكْثَرُ مُنَاسَبَةً</a:t>
            </a:r>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 لِلْمَدْرَسَةِ.</a:t>
            </a:r>
            <a:endParaRPr lang="ar-SA" sz="15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The blue shirt is cheaper than the black one, but the black one is more elegant. The blue one is also more comfortable because it is cotton. I prefer the blue one to the black one because it is the most suitable for school.</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هٰذَا القَمِيصُ أَرْخَصُ مِنْ ذٰلِكَ.</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shirt is cheaper than that one.</a:t>
            </a:r>
            <a:endParaRPr lang="en-US" sz="1250" dirty="0"/>
          </a:p>
          <a:p>
            <a:pPr indent="0" marL="0">
              <a:buNone/>
            </a:pPr>
            <a:r>
              <a:rPr lang="en-US" sz="1050" i="1" dirty="0">
                <a:solidFill>
                  <a:srgbClr val="8A6D1E"/>
                </a:solidFill>
                <a:latin typeface="Calibri" pitchFamily="34" charset="0"/>
                <a:cs typeface="Amiri" pitchFamily="2" charset="-78"/>
              </a:rPr>
              <a:t>Comparative + min.</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هُوَ أَكْثَرُ ثِقَةً مِنْ أَخِيهِ.</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is more confident than his brother.</a:t>
            </a:r>
            <a:endParaRPr lang="en-US" sz="1250" dirty="0"/>
          </a:p>
          <a:p>
            <a:pPr indent="0" marL="0">
              <a:buNone/>
            </a:pPr>
            <a:r>
              <a:rPr lang="en-US" sz="1050" i="1" dirty="0">
                <a:solidFill>
                  <a:srgbClr val="8A6D1E"/>
                </a:solidFill>
                <a:latin typeface="Calibri" pitchFamily="34" charset="0"/>
                <a:cs typeface="Amiri" pitchFamily="2" charset="-78"/>
              </a:rPr>
              <a:t>More + noun.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أُفَضِّلُ الحِذَاءَ الأَسْوَدَ عَلَى البُنِّيِّ.</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prefer the black shoes to the brown ones.</a:t>
            </a:r>
            <a:endParaRPr lang="en-US" sz="1250" dirty="0"/>
          </a:p>
          <a:p>
            <a:pPr indent="0" marL="0">
              <a:buNone/>
            </a:pPr>
            <a:r>
              <a:rPr lang="en-US" sz="1050" i="1" dirty="0">
                <a:solidFill>
                  <a:srgbClr val="8A6D1E"/>
                </a:solidFill>
                <a:latin typeface="Calibri" pitchFamily="34" charset="0"/>
                <a:cs typeface="Amiri" pitchFamily="2" charset="-78"/>
              </a:rPr>
              <a:t>Preference.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هٰذَا هُوَ الخِيَارُ الأَفْضَلُ.</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is the best choice.</a:t>
            </a:r>
            <a:endParaRPr lang="en-US" sz="1250" dirty="0"/>
          </a:p>
          <a:p>
            <a:pPr indent="0" marL="0">
              <a:buNone/>
            </a:pPr>
            <a:r>
              <a:rPr lang="en-US" sz="1050" i="1" dirty="0">
                <a:solidFill>
                  <a:srgbClr val="8A6D1E"/>
                </a:solidFill>
                <a:latin typeface="Calibri" pitchFamily="34" charset="0"/>
                <a:cs typeface="Amiri" pitchFamily="2" charset="-78"/>
              </a:rPr>
              <a:t>Superlative.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COMPARING PEOPLE AND CLOTHES — MORE, LESS AND BETTER”</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is …-er?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المُقَارَنَةُ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bicycle vs car</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this shirt vs that one</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reading vs games</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القِرَاءَةُ أَفْضَلُ لِي مِنَ الأَلْعَابِ.</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الدَّرَّاجَةُ أَرْخَصُ مِنَ السَّيَّارَةِ.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هٰذَا القَمِيصُ أَجْمَلُ مِنْ ذَاكَ.</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المُقَارَنَةُ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bicycle vs car</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الدَّرَّاجَةُ أَرْخَصُ مِنَ السَّيَّارَةِ.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bicycle is cheaper than the car.</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this shirt vs that one</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هٰذَا القَمِيصُ أَجْمَلُ مِنْ ذَاكَ.</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shirt is more beautiful than that one.</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reading vs games</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القِرَاءَةُ أَفْضَلُ لِي مِنَ الأَلْعَابِ.</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Reading is better for me than games.</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Accurate comparison?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أَرْخَصُ مِنْ ذٰلِكَ.</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 أَكْثَرُ ثِقَةً مِنْهُ.</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الأَزْرَقَ عَلَى الأَسْوَدِ.</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الخِيَارُ الأَفْضَلُ.</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غَالٍ مِنْ ذٰلِكَ.</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 طَوِيلَةٌ مِنْ أُخْتِهَا.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أَكْثَرُ وَاثِقٌ.</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أَطْوَلُ أَخِي.</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Accurate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Inaccurate</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Accurate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أَرْخَصُ مِنْ ذٰلِكَ.</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 أَكْثَرُ ثِقَةً مِنْهُ.</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الأَزْرَقَ عَلَى الأَسْوَدِ.</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الخِيَارُ الأَفْضَلُ.</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Inaccurate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غَالٍ مِنْ ذٰلِكَ.</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 طَوِيلَةٌ مِنْ أُخْتِهَا.</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أَكْثَرُ وَاثِقٌ.</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أَطْوَلُ أَخِي.</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superlative.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أَفْضَلُ مِنْ ذٰلِكَ.</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جَيِّدٌ.</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الخِيَارُ الأَفْضَلُ.</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هٰذِهِ السُّتْرَةُ ___ رَسْمِيَّةً مِنْ تِلْكَ.</a:t>
            </a:r>
            <a:endParaRPr lang="ar-SA" sz="15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أَقْصَرُ</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أَقَلُّ</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أَرْخَصُ</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comparison.</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عَلِيٌّ صَبُورٌ أَكْثَرَ أَخِيهِ.</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عَلِيٌّ أَكْثَرُ صَبْرًا مِنْ أَخِيهِ.</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عَلِيٌّ الأَصْبَرُ مِنْ أَخِيهِ.</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compares equal degree?</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أَفْضَلُ مِنْهَا.</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الأَغْلَى.</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هُمَا مُتَشَابِهَانِ فِي الأَنَاقَةِ.</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superlative.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أَفْضَلُ مِنْ ذٰلِكَ.</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جَيِّدٌ.</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هٰذَا الخِيَارُ الأَفْضَلُ.</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Definite </a:t>
            </a:r>
            <a:pPr algn="l" indent="0" marL="0">
              <a:buNone/>
            </a:pPr>
            <a:r>
              <a:rPr lang="ar-SA" altLang="en-US" sz="1350" dirty="0">
                <a:solidFill>
                  <a:srgbClr val="8A6D1E"/>
                </a:solidFill>
                <a:latin typeface="Amiri" pitchFamily="2" charset="-78"/>
                <a:ea typeface="Amiri" pitchFamily="2" charset="-78"/>
                <a:cs typeface="Amiri" pitchFamily="2" charset="-78"/>
              </a:rPr>
              <a:t>الأَفْضَلُ</a:t>
            </a:r>
            <a:pPr algn="l" indent="0" marL="0">
              <a:buNone/>
            </a:pPr>
            <a:r>
              <a:rPr lang="en-US" sz="1050" i="1" dirty="0">
                <a:solidFill>
                  <a:srgbClr val="8A6D1E"/>
                </a:solidFill>
                <a:latin typeface="Calibri" pitchFamily="34" charset="0"/>
                <a:cs typeface="Amiri" pitchFamily="2" charset="-78"/>
              </a:rPr>
              <a:t> means the best.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هٰذِهِ السُّتْرَةُ ___ رَسْمِيَّةً مِنْ تِلْكَ.</a:t>
            </a:r>
            <a:endParaRPr lang="ar-SA" sz="150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أَقْصَرُ</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أَقَلُّ</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أَرْخَصُ</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أَقَلُّ رَسْمِيَّةً</a:t>
            </a:r>
            <a:pPr algn="l" indent="0" marL="0">
              <a:buNone/>
            </a:pPr>
            <a:r>
              <a:rPr lang="en-US" sz="1050" i="1" dirty="0">
                <a:solidFill>
                  <a:srgbClr val="8A6D1E"/>
                </a:solidFill>
                <a:latin typeface="Calibri" pitchFamily="34" charset="0"/>
                <a:cs typeface="Amiri" pitchFamily="2" charset="-78"/>
              </a:rPr>
              <a:t> means less formal.</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comparison.</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عَلِيٌّ صَبُورٌ أَكْثَرَ أَخِيهِ.</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عَلِيٌّ أَكْثَرُ صَبْرًا مِنْ أَخِيهِ.</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عَلِيٌّ الأَصْبَرُ مِنْ أَخِيهِ.</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أَكْثَرُ صَبْرًا مِنْ</a:t>
            </a:r>
            <a:pPr algn="l" indent="0" marL="0">
              <a:buNone/>
            </a:pPr>
            <a:r>
              <a:rPr lang="en-US" sz="1050" i="1" dirty="0">
                <a:solidFill>
                  <a:srgbClr val="8A6D1E"/>
                </a:solidFill>
                <a:latin typeface="Calibri" pitchFamily="34" charset="0"/>
                <a:cs typeface="Amiri" pitchFamily="2" charset="-78"/>
              </a:rPr>
              <a:t> is accurate.</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compares equal degree?</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أَفْضَلُ مِنْهَا.</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الأَغْلَى.</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هُمَا مُتَشَابِهَانِ فِي الأَنَاقَةِ.</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This expresses similarity.</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المِعْطَفُ غَالٍ مِنْ ذٰلِكَ.</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Expensive → which comparative?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سَارَةُ طَوِيلَةٌ مِنْ أُخْتِهَا.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For a girl, does aṭwal change?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هُوَ أَكْثَرُ وَاثِقٌ مِنْ أَخِيهِ.</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More + adjective or + noun?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المِعْطَفُ غَالٍ مِنْ ذٰلِكَ.</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هٰذَا المِعْطَفُ أَغْلَى مِنْ ذٰلِكَ.</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the comparative form before </a:t>
            </a:r>
            <a:pPr algn="l" indent="0" marL="0">
              <a:buNone/>
            </a:pPr>
            <a:r>
              <a:rPr lang="ar-SA" altLang="en-US" sz="1500" b="1" dirty="0">
                <a:solidFill>
                  <a:srgbClr val="1B3B6F"/>
                </a:solidFill>
                <a:latin typeface="Amiri" pitchFamily="2" charset="-78"/>
                <a:ea typeface="Amiri" pitchFamily="2" charset="-78"/>
                <a:cs typeface="Amiri" pitchFamily="2" charset="-78"/>
              </a:rPr>
              <a:t>مِنْ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سَارَةُ طَوِيلَةٌ مِنْ أُخْتِهَا.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سَارَةُ أَطْوَلُ مِنْ أُخْتِهَا.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comparative has one form, even for a girl.</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هُوَ أَكْثَرُ وَاثِقٌ مِنْ أَخِيهِ.</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هُوَ أَكْثَرُ ثِقَةً مِنْ أَخِيهِ.</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أَكْثَرُ</a:t>
            </a:r>
            <a:pPr algn="l" indent="0" marL="0">
              <a:buNone/>
            </a:pPr>
            <a:r>
              <a:rPr lang="en-US" sz="1150" b="1" dirty="0">
                <a:solidFill>
                  <a:srgbClr val="1B3B6F"/>
                </a:solidFill>
                <a:latin typeface="Calibri" pitchFamily="34" charset="0"/>
                <a:cs typeface="Amiri" pitchFamily="2" charset="-78"/>
              </a:rPr>
              <a:t> + a noun ending in -an.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focus: comparison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Hasan comparing?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shirts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jackets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friends</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shirt is cheaper?</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black one</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cost the same</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blue one</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more elegant?</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blue one</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neither</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black one</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blue shirt more comfortable?</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made of cotton</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bigger</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new</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shirt does he choose?</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black one</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blue one</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neither</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the most suitable for everyday use</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the most elegant</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friend has one</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أَرْخَصُ</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أَكْثَرُ أَنَاقَةً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يَخْتَارُ</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يُقَارِنُ حَسَنٌ بَيْنَ قَمِيصَيْنِ.</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Hasan is comparing two shirts.</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القَمِيصُ الأَزْرَقُ أَرْخَصُ مِنَ الأَسْوَدِ، وَلٰكِنَّ الأَسْوَدَ أَكْثَرُ أَنَاقَةً.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blue shirt is cheaper than the black one, but the black one is more elegant.</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الأَزْرَقُ أَيْضًا أَكْثَرُ رَاحَةً لِأَنَّهُ مَصْنُوعٌ مِنَ القُطْنِ.</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blue one is also more comfortable because it is made of cotton.</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النِّهَايَةِ يَخْتَارُ حَسَنٌ القَمِيصَ الأَزْرَقَ</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end Hasan chooses the blue shirt</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لِأَنَّهُ الأَكْثَرُ مُنَاسَبَةً لِلاِسْتِعْمَالِ اليَوْمِيِّ.</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it is the most suitable for everyday use.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Hasan comparing?</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 shirts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jackets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friends</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يُقَارِنُ حَسَنٌ بَيْنَ قَمِيصَيْنِ.</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shirt is cheaper?</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black one</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cost the same</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blue one</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القَمِيصُ الأَزْرَقُ أَرْخَصُ مِنَ الأَسْوَدِ.</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more elegant?</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blue one</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neither</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black one</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الأَسْوَدَ أَكْثَرُ أَنَاقَةً.</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blue shirt more comfortable?</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made of cotton</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bigger</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new</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لِأَنَّهُ مَصْنُوعٌ مِنَ القُطْنِ.</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shirt does he choose?</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black one</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blue one</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neither</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يَخْتَارُ حَسَنٌ القَمِيصَ الأَزْرَقَ.</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is the most suitable for everyday use</a:t>
            </a:r>
            <a:endParaRPr lang="en-US" sz="11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the most elegant</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 friend has one</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الأَكْثَرُ مُنَاسَبَةً لِلاِسْتِعْمَالِ اليَوْمِيِّ.</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أَرْخَصُ</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أَكْثَرُ أَنَاقَةً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يَخْتَارُ</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Developed speaking: comparison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قَارِنْ بَيْنَ نَوْعَيْنِ مِنَ المَلَابِسِ.</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قَارِنْ بَيْنَ شَخْصَيْنِ تَعْرِفُهُمَا.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الخِيَارُ الأَفْضَلُ لِلْمَدْرَسَةِ؟</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السِّعْرُ الأَهَمُّ عِنْدَ الشِّرَاءِ؟</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___ أَرْخَصُ / أَغْلَى مِنْ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___ أَكْثَرُ ثِقَةً / صَبْرًا مِنْ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أُفَضِّلُ ___ عَلَى ___ لِأَنَّهُ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السِّعْرُ مُهِمٌّ ، وَلٰكِنَّ ___ أَهَمُّ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أَيُّ القَمِيصَيْنِ أَفْضَلُ؟</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Which of the two shirts is better?</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الأَزْرَقُ أَرْخَصُ، وَلٰكِنَّ الأَسْوَدَ أَكْثَرُ أَنَاقَةً.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The blue one is cheaper, but the black one is more elegant.</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Secure the main vocabulary and produce four accurate sentences using the taught frame.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Compare two items of clothing: price, length, colour and which you prefer.</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Combine description, grammar and a reason in connected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Compare two people with more / less + noun, and give your preference with a reason.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comparison, contrast, precise evidence and an independently controlled relative clause.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two people or two clothing choices — five comparisons, one similarity, one preference and reasons.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أَكْثَرُ ثِقَةً مِنْ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is more confident than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 أَهْدَأُ وَأَكْثَرُ صَبْرًا.</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is calmer and more patient.</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الأُسْلُوبُ أَقَلُّ رَسْمِيَّةً.</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style is less formal.</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هُمَا مُتَشَابِهَانِ فِي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They are alike in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الأَكْثَرُ مُنَاسَبَةً لِـ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the most suitable for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أَرْخَصُ مِنْ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cheaper than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أَغْلَى مِنْ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more expensive than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أَطْوَلُ مِنْ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longer / taller than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______ عَلَى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 to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هُوَ الأَفْضَلُ.</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the best.</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أَطْوَلُ  ·  أَقْصَرُ  ·  أَرْخَصُ  ·  أَغْلَى  ·  أَجْمَلُ  ·  أَفْضَلُ  ·  أَكْثَرُ ثِقَةً  ·  أَكْثَرُ صَبْرًا  ·  أَقَلُّ رَسْمِيَّةً  ·  مِنْ  ·  أُفَضِّلُ … عَلَى  ·  الأَفْضَلُ</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100–120 Arabic words comparing two people or two clothing choices. Include at least five comparisons, one similarity, one preference and reasons.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Cover every requested content point.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the target grammar accurately.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precise vocabulary from this lesson.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a reason, comparison or contrast.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Review agreement, pronoun reference and connectors.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سَأُقَارِنُ بَيْنَ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compare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أَكْثَرُ ثِقَةً عِنْدَ التَّحَدُّثِ</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more confident when speaking</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هُمَا مُتَشَابِهَانِ فِي الكَرَمِ</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they are alike in generosity</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يُمْكِنُ القَوْلُ إِنَّ أَحَدَهُمَا أَفْضَلُ</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you cannot say that one of them is better</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لِكُلٍّ مِنْهُمَا صِفَاتٌ مُمَيَّزَةٌ</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each of them has special qualities</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سَأُقَارِنُ بَيْنَ صَدِيقَيْنِ لِي، عُمَرَ وَيُوسُفَ. عُمَرُ أَطْوَلُ مِنْ يُوسُفَ، وَلٰكِنَّ يُوسُفَ أَكْثَرُ ثِقَةً عِنْدَ التَّحَدُّثِ. عُمَرُ أَهْدَأُ وَأَكْثَرُ صَبْرًا، بَيْنَمَا يُوسُفُ أَكْثَرُ مَرَحًا. أُسْلُوبُ عُمَرَ أَقَلُّ رَسْمِيَّةً، وَهُوَ يُفَضِّلُ المَلَابِسَ العَمَلِيَّةَ. أَمَّا يُوسُفُ فَيَخْتَارُ مَلَابِسَ أَكْثَرَ أَنَاقَةً. هُمَا مُتَشَابِهَانِ فِي الكَرَمِ وَالتَّعَاوُنِ. فِي رَأْيِي، لَا يُمْكِنُ القَوْلُ إِنَّ أَحَدَهُمَا أَفْضَلُ مِنَ الآخَرِ، لِأَنَّ لِكُلٍّ مِنْهُمَا صِفَاتٍ مُمَيَّزَةً.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will compare two friends of mine, Omar and Yusuf. Omar is taller than Yusuf, but Yusuf is more confident when speaking. Omar is calmer and more patient, whereas Yusuf is more cheerful. Omar’s style is less formal, and he prefers practical clothes. As for Yusuf, he chooses more elegant clothes. They are alike in generosity and helpfulness. In my opinion, you cannot say that one of them is better than the other, because each of them has special qualities.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a short comparative + مِنْ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أَكْثَرُ / أَقَلُّ + noun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similarity</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fair conclusion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46</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…-er than (min) correctly.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said what I prefer.</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 less + a noun (-an).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a reason for my preference.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superlative or a similarity.</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46</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“more expensive than”.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أَغْلَى مِنْ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غَالٍ مِنْ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أَكْثَرُ غَالِيًا مِنْ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سَارَةُ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مِنْ أُخْتِهَا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طَوِيلَةٌ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أَطْوَلُ</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الأَطْوَلَ</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“more confident”.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أَكْثَرُ ثِقَةً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أَكْثَرُ وَاثِقٌ</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وَاثِقٌ مِنْ</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46</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“more expensive than”.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أَغْلَى مِنْ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غَالٍ مِنْ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أَكْثَرُ غَالِيًا مِنْ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أَغْلَى مِنْ</a:t>
            </a:r>
            <a:pPr algn="l" indent="0" marL="0">
              <a:buNone/>
            </a:pPr>
            <a:r>
              <a:rPr lang="en-US" sz="1050" i="1" dirty="0">
                <a:solidFill>
                  <a:srgbClr val="8A6D1E"/>
                </a:solidFill>
                <a:latin typeface="Calibri" pitchFamily="34" charset="0"/>
                <a:cs typeface="Amiri" pitchFamily="2" charset="-78"/>
              </a:rPr>
              <a:t> is the standard comparative.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سَارَةُ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مِنْ أُخْتِهَا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طَوِيلَةٌ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أَطْوَلُ</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الأَطْوَلَ</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comparative +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“more confident”.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أَكْثَرُ ثِقَةً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أَكْثَرُ وَاثِقٌ</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وَاثِقٌ مِنْ</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أَكْثَرُ</a:t>
            </a:r>
            <a:pPr algn="l" indent="0" marL="0">
              <a:buNone/>
            </a:pPr>
            <a:r>
              <a:rPr lang="en-US" sz="1050" i="1" dirty="0">
                <a:solidFill>
                  <a:srgbClr val="8A6D1E"/>
                </a:solidFill>
                <a:latin typeface="Calibri" pitchFamily="34" charset="0"/>
                <a:cs typeface="Amiri" pitchFamily="2" charset="-78"/>
              </a:rPr>
              <a:t> + verbal noun.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46</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focus: comparison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تُقَارِنُ كَاتِبَةٌ بَيْنَ أُخْتَيْنِ. لَيْلَى أَطْوَلُ مِنْ مَرْيَمَ، وَلٰكِنَّ مَرْيَمَ أَكْثَرُ ثِقَةً عِنْدَ التَّحَدُّثِ. لَيْلَى أَهْدَأُ وَأَكْثَرُ صَبْرًا، بَيْنَمَا مَرْيَمُ أَكْثَرُ مَرَحًا وَاجْتِمَاعِيَّةً. أُسْلُوبُ لَيْلَى أَقَلُّ رَسْمِيَّةً، أَمَّا مَرْيَمُ فَتُفَضِّلُ المَلَابِسَ الأَكْثَرَ أَنَاقَةً. الكَاتِبَةُ تَرَى أَنَّ كُلَّ وَاحِدَةٍ لَهَا نِقَاطُ قُوَّةٍ مُخْتَلِفَةٌ.</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تُقَارِنُ</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compares (f.)</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كَاتِبَةٌ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(female) writer</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أُخْتَيْنِ</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two sisters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عِنْدَ التَّحَدُّثِ</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when speaking</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أَهْدَأُ</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calmer</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أَكْثَرُ مَرَحًا</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more cheerful</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اجْتِمَاعِيَّةً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sociable (-ness)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أَقَلُّ رَسْمِيَّةً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less formal</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تَرَى أَنَّ</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she thinks that</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نِقَاطُ قُوَّةٍ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strengths</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46</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Whom does the writer compare?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friends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sisters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brothers</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taller?</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the same</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more confident when speaking?</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neither</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Layla described?</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cheerful and sociable</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calmer and more patient</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elegant</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Whose style is less formal?</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Layla’s</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Maryam’s</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conclude?</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 is better</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 is better</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each sister has different strengths</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46</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Whom does the writer compare?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friends</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 sisters</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brothers</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تُقَارِنُ كَاتِبَةٌ بَيْنَ أُخْتَيْنِ.</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taller?</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Maryam</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the same</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Layla</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لَيْلَى أَطْوَلُ مِنْ مَرْيَمَ.</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more confident when speaking?</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Maryam</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Layla</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neither</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مَرْيَمَ أَكْثَرُ ثِقَةً عِنْدَ التَّحَدُّثِ.</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Layla described?</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more cheerful and sociable</a:t>
            </a:r>
            <a:endParaRPr lang="en-US" sz="120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calmer and more patient</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more elegant</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لَيْلَى أَهْدَأُ وَأَكْثَرُ صَبْرًا.</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Whose style is less formal?</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Layla’s</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Maryam’s</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أُسْلُوبُ لَيْلَى أَقَلُّ رَسْمِيَّةً.</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conclude?</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Layla is better</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Maryam is better</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each sister has different strengths</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كُلَّ وَاحِدَةٍ لَهَا نِقَاطُ قُوَّةٍ مُخْتَلِفَةٌ.</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46</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comparison Arabic challenge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“more expensive than”.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غَالٍ مِنْ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أَغْلَى مِنْ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أَكْثَرُ غَالِيًا مِنْ</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سَارَةُ ___ مِنْ أُخْتِهَا.</a:t>
            </a:r>
            <a:endParaRPr lang="ar-SA" sz="1500" dirty="0"/>
          </a:p>
        </p:txBody>
      </p:sp>
      <p:sp>
        <p:nvSpPr>
          <p:cNvPr id="35" name="Shape 32"/>
          <p:cNvSpPr/>
          <p:nvPr/>
        </p:nvSpPr>
        <p:spPr>
          <a:xfrm>
            <a:off x="4459224"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أَطْوَلُ</a:t>
            </a:r>
            <a:endParaRPr lang="ar-SA" sz="2050" dirty="0"/>
          </a:p>
        </p:txBody>
      </p:sp>
      <p:sp>
        <p:nvSpPr>
          <p:cNvPr id="38" name="Shape 35"/>
          <p:cNvSpPr/>
          <p:nvPr/>
        </p:nvSpPr>
        <p:spPr>
          <a:xfrm>
            <a:off x="4459224"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طَوِيلَةٌ</a:t>
            </a:r>
            <a:endParaRPr lang="ar-SA" sz="2050" dirty="0"/>
          </a:p>
        </p:txBody>
      </p:sp>
      <p:sp>
        <p:nvSpPr>
          <p:cNvPr id="41" name="Shape 38"/>
          <p:cNvSpPr/>
          <p:nvPr/>
        </p:nvSpPr>
        <p:spPr>
          <a:xfrm>
            <a:off x="4459224"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الأَطْوَلَ</a:t>
            </a:r>
            <a:endParaRPr lang="ar-SA" sz="2050" dirty="0"/>
          </a:p>
        </p:txBody>
      </p:sp>
      <p:sp>
        <p:nvSpPr>
          <p:cNvPr id="44" name="Shape 41"/>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23504" y="1947672"/>
            <a:ext cx="310896" cy="310896"/>
          </a:xfrm>
          <a:prstGeom prst="ellipse">
            <a:avLst/>
          </a:prstGeom>
          <a:solidFill>
            <a:srgbClr val="1B3B6F"/>
          </a:solidFill>
          <a:ln w="12700">
            <a:solidFill>
              <a:srgbClr val="1B3B6F"/>
            </a:solidFill>
            <a:prstDash val="solid"/>
          </a:ln>
        </p:spPr>
      </p:sp>
      <p:sp>
        <p:nvSpPr>
          <p:cNvPr id="46" name="Text 43"/>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7" name="Text 44"/>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“more confident”.</a:t>
            </a:r>
            <a:endParaRPr lang="en-US" sz="125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أَكْثَرُ وَاثِقٌ</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وَاثِقٌ مِنْ</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أَكْثَرُ ثِقَةً</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expresses preference?</a:t>
            </a:r>
            <a:endParaRPr lang="en-US" sz="125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مِثْلُ ذٰلِكَ.</a:t>
            </a:r>
            <a:endParaRPr lang="ar-SA" sz="205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هُنَا.</a:t>
            </a:r>
            <a:endParaRPr lang="ar-SA" sz="205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أُفَضِّلُ هٰذَا عَلَى ذٰلِكَ.</a:t>
            </a:r>
            <a:endParaRPr lang="ar-SA" sz="205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3" name="Text 70"/>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superlative.</a:t>
            </a:r>
            <a:endParaRPr lang="en-US" sz="1250" dirty="0"/>
          </a:p>
        </p:txBody>
      </p:sp>
      <p:sp>
        <p:nvSpPr>
          <p:cNvPr id="74" name="Shape 71"/>
          <p:cNvSpPr/>
          <p:nvPr/>
        </p:nvSpPr>
        <p:spPr>
          <a:xfrm>
            <a:off x="4459224" y="48737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الخِيَارُ الأَفْضَلُ.</a:t>
            </a:r>
            <a:endParaRPr lang="ar-SA" sz="2050" dirty="0"/>
          </a:p>
        </p:txBody>
      </p:sp>
      <p:sp>
        <p:nvSpPr>
          <p:cNvPr id="77" name="Shape 74"/>
          <p:cNvSpPr/>
          <p:nvPr/>
        </p:nvSpPr>
        <p:spPr>
          <a:xfrm>
            <a:off x="4459224" y="53309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أَفْضَلُ مِنْ ذٰلِكَ.</a:t>
            </a:r>
            <a:endParaRPr lang="ar-SA" sz="2050" dirty="0"/>
          </a:p>
        </p:txBody>
      </p:sp>
      <p:sp>
        <p:nvSpPr>
          <p:cNvPr id="80" name="Shape 77"/>
          <p:cNvSpPr/>
          <p:nvPr/>
        </p:nvSpPr>
        <p:spPr>
          <a:xfrm>
            <a:off x="4459224" y="5788152"/>
            <a:ext cx="256032" cy="256032"/>
          </a:xfrm>
          <a:prstGeom prst="ellipse">
            <a:avLst/>
          </a:prstGeom>
          <a:solidFill>
            <a:srgbClr val="F4F1EA"/>
          </a:solidFill>
          <a:ln w="12700">
            <a:solidFill>
              <a:srgbClr val="F4F1EA"/>
            </a:solidFill>
            <a:prstDash val="solid"/>
          </a:ln>
        </p:spPr>
      </p:sp>
      <p:sp>
        <p:nvSpPr>
          <p:cNvPr id="81" name="Text 78"/>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جَيِّدٌ.</a:t>
            </a:r>
            <a:endParaRPr lang="ar-SA" sz="2050" dirty="0"/>
          </a:p>
        </p:txBody>
      </p:sp>
      <p:sp>
        <p:nvSpPr>
          <p:cNvPr id="83" name="Shape 8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8223504" y="4288536"/>
            <a:ext cx="310896" cy="310896"/>
          </a:xfrm>
          <a:prstGeom prst="ellipse">
            <a:avLst/>
          </a:prstGeom>
          <a:solidFill>
            <a:srgbClr val="1B3B6F"/>
          </a:solidFill>
          <a:ln w="12700">
            <a:solidFill>
              <a:srgbClr val="1B3B6F"/>
            </a:solidFill>
            <a:prstDash val="solid"/>
          </a:ln>
        </p:spPr>
      </p:sp>
      <p:sp>
        <p:nvSpPr>
          <p:cNvPr id="85" name="Text 8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6" name="Text 83"/>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87" name="Text 84"/>
          <p:cNvSpPr txBox="1"/>
          <p:nvPr/>
        </p:nvSpPr>
        <p:spPr>
          <a:xfrm>
            <a:off x="10044989" y="4224528"/>
            <a:ext cx="1577035" cy="475488"/>
          </a:xfrm>
          <a:prstGeom prst="rect">
            <a:avLst/>
          </a:prstGeom>
          <a:noFill/>
          <a:ln/>
        </p:spPr>
        <p:txBody>
          <a:bodyPr wrap="square" lIns="0" tIns="0" rIns="0" bIns="0" rtlCol="0" anchor="ctr"/>
          <a:lstStyle/>
          <a:p>
            <a:pPr rtl="1" algn="r" indent="0" marL="0">
              <a:buNone/>
            </a:pPr>
            <a:r>
              <a:rPr lang="ar-SA" altLang="en-US" sz="1100" b="1" dirty="0">
                <a:solidFill>
                  <a:srgbClr val="1F2A37"/>
                </a:solidFill>
                <a:latin typeface="Amiri" pitchFamily="2" charset="-78"/>
                <a:ea typeface="Amiri" pitchFamily="2" charset="-78"/>
                <a:cs typeface="Amiri" pitchFamily="2" charset="-78"/>
              </a:rPr>
              <a:t>هٰذِهِ السُّتْرَةُ ___ رَسْمِيَّةً مِنْ تِلْكَ.</a:t>
            </a:r>
            <a:endParaRPr lang="ar-SA" sz="1100" dirty="0"/>
          </a:p>
        </p:txBody>
      </p:sp>
      <p:sp>
        <p:nvSpPr>
          <p:cNvPr id="88" name="Shape 85"/>
          <p:cNvSpPr/>
          <p:nvPr/>
        </p:nvSpPr>
        <p:spPr>
          <a:xfrm>
            <a:off x="8278368" y="4873752"/>
            <a:ext cx="256032" cy="256032"/>
          </a:xfrm>
          <a:prstGeom prst="ellipse">
            <a:avLst/>
          </a:prstGeom>
          <a:solidFill>
            <a:srgbClr val="F4F1EA"/>
          </a:solidFill>
          <a:ln w="12700">
            <a:solidFill>
              <a:srgbClr val="F4F1EA"/>
            </a:solidFill>
            <a:prstDash val="solid"/>
          </a:ln>
        </p:spPr>
      </p:sp>
      <p:sp>
        <p:nvSpPr>
          <p:cNvPr id="89" name="Text 86"/>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0" name="Text 87"/>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أَقْصَرُ</a:t>
            </a:r>
            <a:endParaRPr lang="ar-SA" sz="2050" dirty="0"/>
          </a:p>
        </p:txBody>
      </p:sp>
      <p:sp>
        <p:nvSpPr>
          <p:cNvPr id="91" name="Shape 88"/>
          <p:cNvSpPr/>
          <p:nvPr/>
        </p:nvSpPr>
        <p:spPr>
          <a:xfrm>
            <a:off x="8278368" y="5330952"/>
            <a:ext cx="256032" cy="256032"/>
          </a:xfrm>
          <a:prstGeom prst="ellipse">
            <a:avLst/>
          </a:prstGeom>
          <a:solidFill>
            <a:srgbClr val="F4F1EA"/>
          </a:solidFill>
          <a:ln w="12700">
            <a:solidFill>
              <a:srgbClr val="F4F1EA"/>
            </a:solidFill>
            <a:prstDash val="solid"/>
          </a:ln>
        </p:spPr>
      </p:sp>
      <p:sp>
        <p:nvSpPr>
          <p:cNvPr id="92" name="Text 89"/>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3" name="Text 90"/>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أَقَلُّ</a:t>
            </a:r>
            <a:endParaRPr lang="ar-SA" sz="2050" dirty="0"/>
          </a:p>
        </p:txBody>
      </p:sp>
      <p:sp>
        <p:nvSpPr>
          <p:cNvPr id="94" name="Shape 91"/>
          <p:cNvSpPr/>
          <p:nvPr/>
        </p:nvSpPr>
        <p:spPr>
          <a:xfrm>
            <a:off x="8278368" y="5788152"/>
            <a:ext cx="256032" cy="256032"/>
          </a:xfrm>
          <a:prstGeom prst="ellipse">
            <a:avLst/>
          </a:prstGeom>
          <a:solidFill>
            <a:srgbClr val="F4F1EA"/>
          </a:solidFill>
          <a:ln w="12700">
            <a:solidFill>
              <a:srgbClr val="F4F1EA"/>
            </a:solidFill>
            <a:prstDash val="solid"/>
          </a:ln>
        </p:spPr>
      </p:sp>
      <p:sp>
        <p:nvSpPr>
          <p:cNvPr id="95" name="Text 92"/>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6" name="Text 93"/>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أَرْخَصُ</a:t>
            </a:r>
            <a:endParaRPr lang="ar-SA" sz="20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46</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“more expensive than”.</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غَالٍ مِنْ</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أَغْلَى مِنْ</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أَكْثَرُ غَالِيًا مِنْ</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أَغْلَى مِنْ</a:t>
            </a:r>
            <a:pPr algn="l" indent="0" marL="0">
              <a:buNone/>
            </a:pPr>
            <a:r>
              <a:rPr lang="en-US" sz="1050" i="1" dirty="0">
                <a:solidFill>
                  <a:srgbClr val="8A6D1E"/>
                </a:solidFill>
                <a:latin typeface="Calibri" pitchFamily="34" charset="0"/>
                <a:cs typeface="Amiri" pitchFamily="2" charset="-78"/>
              </a:rPr>
              <a:t> is the standard comparative.</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3"/>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سَارَةُ ___ مِنْ أُخْتِهَا.</a:t>
            </a:r>
            <a:endParaRPr lang="ar-SA" sz="1500" dirty="0"/>
          </a:p>
        </p:txBody>
      </p:sp>
      <p:sp>
        <p:nvSpPr>
          <p:cNvPr id="36" name="Shape 34"/>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7" name="Shape 35"/>
          <p:cNvSpPr/>
          <p:nvPr/>
        </p:nvSpPr>
        <p:spPr>
          <a:xfrm>
            <a:off x="4459224" y="2490216"/>
            <a:ext cx="256032" cy="256032"/>
          </a:xfrm>
          <a:prstGeom prst="ellipse">
            <a:avLst/>
          </a:prstGeom>
          <a:solidFill>
            <a:srgbClr val="2E8B57"/>
          </a:solidFill>
          <a:ln w="12700">
            <a:solidFill>
              <a:srgbClr val="2E8B57"/>
            </a:solidFill>
            <a:prstDash val="solid"/>
          </a:ln>
        </p:spPr>
      </p:sp>
      <p:sp>
        <p:nvSpPr>
          <p:cNvPr id="38" name="Text 36"/>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7"/>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أَطْوَلُ</a:t>
            </a:r>
            <a:endParaRPr lang="ar-SA" sz="1700" dirty="0"/>
          </a:p>
        </p:txBody>
      </p:sp>
      <p:sp>
        <p:nvSpPr>
          <p:cNvPr id="40" name="Shape 38"/>
          <p:cNvSpPr/>
          <p:nvPr/>
        </p:nvSpPr>
        <p:spPr>
          <a:xfrm>
            <a:off x="4459224" y="2862072"/>
            <a:ext cx="256032" cy="256032"/>
          </a:xfrm>
          <a:prstGeom prst="ellipse">
            <a:avLst/>
          </a:prstGeom>
          <a:solidFill>
            <a:srgbClr val="C9CED6"/>
          </a:solidFill>
          <a:ln w="12700">
            <a:solidFill>
              <a:srgbClr val="C9CED6"/>
            </a:solidFill>
            <a:prstDash val="solid"/>
          </a:ln>
        </p:spPr>
      </p:sp>
      <p:sp>
        <p:nvSpPr>
          <p:cNvPr id="41" name="Text 39"/>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40"/>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طَوِيلَةٌ</a:t>
            </a:r>
            <a:endParaRPr lang="ar-SA" sz="1700" dirty="0"/>
          </a:p>
        </p:txBody>
      </p:sp>
      <p:sp>
        <p:nvSpPr>
          <p:cNvPr id="43" name="Shape 41"/>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2"/>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3"/>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الأَطْوَلَ</a:t>
            </a:r>
            <a:endParaRPr lang="ar-SA" sz="1700" dirty="0"/>
          </a:p>
        </p:txBody>
      </p:sp>
      <p:sp>
        <p:nvSpPr>
          <p:cNvPr id="46" name="Text 44"/>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comparative +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5"/>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6"/>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“more confident”.</a:t>
            </a:r>
            <a:endParaRPr lang="en-US" sz="1250" dirty="0"/>
          </a:p>
        </p:txBody>
      </p:sp>
      <p:sp>
        <p:nvSpPr>
          <p:cNvPr id="51"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2"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أَكْثَرُ وَاثِقٌ</a:t>
            </a:r>
            <a:endParaRPr lang="ar-SA" sz="1700" dirty="0"/>
          </a:p>
        </p:txBody>
      </p:sp>
      <p:sp>
        <p:nvSpPr>
          <p:cNvPr id="54"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وَاثِقٌ مِنْ</a:t>
            </a:r>
            <a:endParaRPr lang="ar-SA" sz="1700" dirty="0"/>
          </a:p>
        </p:txBody>
      </p:sp>
      <p:sp>
        <p:nvSpPr>
          <p:cNvPr id="57" name="Shape 55"/>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8" name="Shape 56"/>
          <p:cNvSpPr/>
          <p:nvPr/>
        </p:nvSpPr>
        <p:spPr>
          <a:xfrm>
            <a:off x="8278368" y="3233928"/>
            <a:ext cx="256032" cy="256032"/>
          </a:xfrm>
          <a:prstGeom prst="ellipse">
            <a:avLst/>
          </a:prstGeom>
          <a:solidFill>
            <a:srgbClr val="2E8B57"/>
          </a:solidFill>
          <a:ln w="12700">
            <a:solidFill>
              <a:srgbClr val="2E8B57"/>
            </a:solidFill>
            <a:prstDash val="solid"/>
          </a:ln>
        </p:spPr>
      </p:sp>
      <p:sp>
        <p:nvSpPr>
          <p:cNvPr id="59"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0"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أَكْثَرُ ثِقَةً</a:t>
            </a:r>
            <a:endParaRPr lang="ar-SA" sz="1700" dirty="0"/>
          </a:p>
        </p:txBody>
      </p:sp>
      <p:sp>
        <p:nvSpPr>
          <p:cNvPr id="61"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أَكْثَرُ</a:t>
            </a:r>
            <a:pPr algn="l" indent="0" marL="0">
              <a:buNone/>
            </a:pPr>
            <a:r>
              <a:rPr lang="en-US" sz="1050" i="1" dirty="0">
                <a:solidFill>
                  <a:srgbClr val="8A6D1E"/>
                </a:solidFill>
                <a:latin typeface="Calibri" pitchFamily="34" charset="0"/>
                <a:cs typeface="Amiri" pitchFamily="2" charset="-78"/>
              </a:rPr>
              <a:t> + verbal noun.</a:t>
            </a:r>
            <a:endParaRPr lang="en-US" sz="1050" dirty="0"/>
          </a:p>
        </p:txBody>
      </p:sp>
      <p:sp>
        <p:nvSpPr>
          <p:cNvPr id="62"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3"/>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expresses preference?</a:t>
            </a:r>
            <a:endParaRPr lang="en-US" sz="1250" dirty="0"/>
          </a:p>
        </p:txBody>
      </p:sp>
      <p:sp>
        <p:nvSpPr>
          <p:cNvPr id="66"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مِثْلُ ذٰلِكَ.</a:t>
            </a:r>
            <a:endParaRPr lang="ar-SA" sz="1700" dirty="0"/>
          </a:p>
        </p:txBody>
      </p:sp>
      <p:sp>
        <p:nvSpPr>
          <p:cNvPr id="69"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هُنَا.</a:t>
            </a:r>
            <a:endParaRPr lang="ar-SA" sz="1700" dirty="0"/>
          </a:p>
        </p:txBody>
      </p:sp>
      <p:sp>
        <p:nvSpPr>
          <p:cNvPr id="72"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3"/>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أُفَضِّلُ هٰذَا عَلَى ذٰلِكَ.</a:t>
            </a:r>
            <a:endParaRPr lang="ar-SA" sz="1700" dirty="0"/>
          </a:p>
        </p:txBody>
      </p:sp>
      <p:sp>
        <p:nvSpPr>
          <p:cNvPr id="76"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أُفَضِّلُ</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ea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 ... expresses preference.</a:t>
            </a:r>
            <a:endParaRPr lang="en-US" sz="1050" dirty="0"/>
          </a:p>
        </p:txBody>
      </p:sp>
      <p:sp>
        <p:nvSpPr>
          <p:cNvPr id="77"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superlative.</a:t>
            </a:r>
            <a:endParaRPr lang="en-US" sz="1250" dirty="0"/>
          </a:p>
        </p:txBody>
      </p:sp>
      <p:sp>
        <p:nvSpPr>
          <p:cNvPr id="81" name="Shape 79"/>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80"/>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1"/>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2"/>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هٰذَا الخِيَارُ الأَفْضَلُ.</a:t>
            </a:r>
            <a:endParaRPr lang="ar-SA" sz="1700" dirty="0"/>
          </a:p>
        </p:txBody>
      </p:sp>
      <p:sp>
        <p:nvSpPr>
          <p:cNvPr id="85" name="Shape 83"/>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4"/>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5"/>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أَفْضَلُ مِنْ ذٰلِكَ.</a:t>
            </a:r>
            <a:endParaRPr lang="ar-SA" sz="1700" dirty="0"/>
          </a:p>
        </p:txBody>
      </p:sp>
      <p:sp>
        <p:nvSpPr>
          <p:cNvPr id="88" name="Shape 86"/>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7"/>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8"/>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جَيِّدٌ.</a:t>
            </a:r>
            <a:endParaRPr lang="ar-SA" sz="1700" dirty="0"/>
          </a:p>
        </p:txBody>
      </p:sp>
      <p:sp>
        <p:nvSpPr>
          <p:cNvPr id="91" name="Text 89"/>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Definite </a:t>
            </a:r>
            <a:pPr algn="l" indent="0" marL="0">
              <a:buNone/>
            </a:pPr>
            <a:r>
              <a:rPr lang="ar-SA" altLang="en-US" sz="1350" dirty="0">
                <a:solidFill>
                  <a:srgbClr val="8A6D1E"/>
                </a:solidFill>
                <a:latin typeface="Amiri" pitchFamily="2" charset="-78"/>
                <a:ea typeface="Amiri" pitchFamily="2" charset="-78"/>
                <a:cs typeface="Amiri" pitchFamily="2" charset="-78"/>
              </a:rPr>
              <a:t>الأَفْضَلُ</a:t>
            </a:r>
            <a:pPr algn="l" indent="0" marL="0">
              <a:buNone/>
            </a:pPr>
            <a:r>
              <a:rPr lang="en-US" sz="1050" i="1" dirty="0">
                <a:solidFill>
                  <a:srgbClr val="8A6D1E"/>
                </a:solidFill>
                <a:latin typeface="Calibri" pitchFamily="34" charset="0"/>
                <a:cs typeface="Amiri" pitchFamily="2" charset="-78"/>
              </a:rPr>
              <a:t> means the best.</a:t>
            </a:r>
            <a:endParaRPr lang="en-US" sz="1050" dirty="0"/>
          </a:p>
        </p:txBody>
      </p:sp>
      <p:sp>
        <p:nvSpPr>
          <p:cNvPr id="92" name="Shape 9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1"/>
          <p:cNvSpPr/>
          <p:nvPr/>
        </p:nvSpPr>
        <p:spPr>
          <a:xfrm>
            <a:off x="8223504" y="4288536"/>
            <a:ext cx="310896" cy="310896"/>
          </a:xfrm>
          <a:prstGeom prst="ellipse">
            <a:avLst/>
          </a:prstGeom>
          <a:solidFill>
            <a:srgbClr val="1B3B6F"/>
          </a:solidFill>
          <a:ln w="12700">
            <a:solidFill>
              <a:srgbClr val="1B3B6F"/>
            </a:solidFill>
            <a:prstDash val="solid"/>
          </a:ln>
        </p:spPr>
      </p:sp>
      <p:sp>
        <p:nvSpPr>
          <p:cNvPr id="94" name="Text 9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3"/>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96" name="Text 94"/>
          <p:cNvSpPr txBox="1"/>
          <p:nvPr/>
        </p:nvSpPr>
        <p:spPr>
          <a:xfrm>
            <a:off x="10044989" y="4224528"/>
            <a:ext cx="1577035" cy="475488"/>
          </a:xfrm>
          <a:prstGeom prst="rect">
            <a:avLst/>
          </a:prstGeom>
          <a:noFill/>
          <a:ln/>
        </p:spPr>
        <p:txBody>
          <a:bodyPr wrap="square" lIns="0" tIns="0" rIns="0" bIns="0" rtlCol="0" anchor="ctr"/>
          <a:lstStyle/>
          <a:p>
            <a:pPr rtl="1" algn="r" indent="0" marL="0">
              <a:buNone/>
            </a:pPr>
            <a:r>
              <a:rPr lang="ar-SA" altLang="en-US" sz="1100" b="1" dirty="0">
                <a:solidFill>
                  <a:srgbClr val="1F2A37"/>
                </a:solidFill>
                <a:latin typeface="Amiri" pitchFamily="2" charset="-78"/>
                <a:ea typeface="Amiri" pitchFamily="2" charset="-78"/>
                <a:cs typeface="Amiri" pitchFamily="2" charset="-78"/>
              </a:rPr>
              <a:t>هٰذِهِ السُّتْرَةُ ___ رَسْمِيَّةً مِنْ تِلْكَ.</a:t>
            </a:r>
            <a:endParaRPr lang="ar-SA" sz="1100" dirty="0"/>
          </a:p>
        </p:txBody>
      </p:sp>
      <p:sp>
        <p:nvSpPr>
          <p:cNvPr id="97" name="Shape 95"/>
          <p:cNvSpPr/>
          <p:nvPr/>
        </p:nvSpPr>
        <p:spPr>
          <a:xfrm>
            <a:off x="8278368" y="4831080"/>
            <a:ext cx="256032" cy="256032"/>
          </a:xfrm>
          <a:prstGeom prst="ellipse">
            <a:avLst/>
          </a:prstGeom>
          <a:solidFill>
            <a:srgbClr val="C9CED6"/>
          </a:solidFill>
          <a:ln w="12700">
            <a:solidFill>
              <a:srgbClr val="C9CED6"/>
            </a:solidFill>
            <a:prstDash val="solid"/>
          </a:ln>
        </p:spPr>
      </p:sp>
      <p:sp>
        <p:nvSpPr>
          <p:cNvPr id="98" name="Text 96"/>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9" name="Text 97"/>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أَقْصَرُ</a:t>
            </a:r>
            <a:endParaRPr lang="ar-SA" sz="1700" dirty="0"/>
          </a:p>
        </p:txBody>
      </p:sp>
      <p:sp>
        <p:nvSpPr>
          <p:cNvPr id="100" name="Shape 98"/>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1" name="Shape 99"/>
          <p:cNvSpPr/>
          <p:nvPr/>
        </p:nvSpPr>
        <p:spPr>
          <a:xfrm>
            <a:off x="8278368" y="5202936"/>
            <a:ext cx="256032" cy="256032"/>
          </a:xfrm>
          <a:prstGeom prst="ellipse">
            <a:avLst/>
          </a:prstGeom>
          <a:solidFill>
            <a:srgbClr val="2E8B57"/>
          </a:solidFill>
          <a:ln w="12700">
            <a:solidFill>
              <a:srgbClr val="2E8B57"/>
            </a:solidFill>
            <a:prstDash val="solid"/>
          </a:ln>
        </p:spPr>
      </p:sp>
      <p:sp>
        <p:nvSpPr>
          <p:cNvPr id="102" name="Text 100"/>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3" name="Text 101"/>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أَقَلُّ</a:t>
            </a:r>
            <a:endParaRPr lang="ar-SA" sz="1700" dirty="0"/>
          </a:p>
        </p:txBody>
      </p:sp>
      <p:sp>
        <p:nvSpPr>
          <p:cNvPr id="104" name="Shape 102"/>
          <p:cNvSpPr/>
          <p:nvPr/>
        </p:nvSpPr>
        <p:spPr>
          <a:xfrm>
            <a:off x="8278368" y="5574792"/>
            <a:ext cx="256032" cy="256032"/>
          </a:xfrm>
          <a:prstGeom prst="ellipse">
            <a:avLst/>
          </a:prstGeom>
          <a:solidFill>
            <a:srgbClr val="C9CED6"/>
          </a:solidFill>
          <a:ln w="12700">
            <a:solidFill>
              <a:srgbClr val="C9CED6"/>
            </a:solidFill>
            <a:prstDash val="solid"/>
          </a:ln>
        </p:spPr>
      </p:sp>
      <p:sp>
        <p:nvSpPr>
          <p:cNvPr id="105" name="Text 103"/>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6" name="Text 104"/>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أَرْخَصُ</a:t>
            </a:r>
            <a:endParaRPr lang="ar-SA" sz="1700" dirty="0"/>
          </a:p>
        </p:txBody>
      </p:sp>
      <p:sp>
        <p:nvSpPr>
          <p:cNvPr id="107" name="Text 105"/>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أَقَلُّ رَسْمِيَّةً</a:t>
            </a:r>
            <a:pPr algn="l" indent="0" marL="0">
              <a:buNone/>
            </a:pPr>
            <a:r>
              <a:rPr lang="en-US" sz="1050" i="1" dirty="0">
                <a:solidFill>
                  <a:srgbClr val="8A6D1E"/>
                </a:solidFill>
                <a:latin typeface="Calibri" pitchFamily="34" charset="0"/>
                <a:cs typeface="Amiri" pitchFamily="2" charset="-78"/>
              </a:rPr>
              <a:t> means less formal.</a:t>
            </a:r>
            <a:endParaRPr lang="en-US" sz="1050" dirty="0"/>
          </a:p>
        </p:txBody>
      </p:sp>
      <p:sp>
        <p:nvSpPr>
          <p:cNvPr id="108"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46</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Comparing</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D2-L06: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D2-L06 · Describing Appearance — A Full Physical Portrait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طَوِيلُ / طَوِيلَةُ القَامَةِ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tall (m. / f.)</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قَصِيرُ / قَصِيرَةُ القَامَةِ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short (m. / f.)</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شَعْرٌ مُجَعَّدٌ</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curly hair</a:t>
            </a:r>
            <a:pPr indent="0" marL="0">
              <a:buNone/>
            </a:pPr>
            <a:r>
              <a:rPr lang="ar-SA" sz="1000" i="1" dirty="0">
                <a:solidFill>
                  <a:srgbClr val="5A6472"/>
                </a:solidFill>
                <a:latin typeface="Calibri" pitchFamily="34" charset="0"/>
                <a:ea typeface="Amiri" pitchFamily="2" charset="-78"/>
                <a:cs typeface="Amiri" pitchFamily="2" charset="-78"/>
              </a:rPr>
              <a:t>  straight: مُسْتَقِيمٌ</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عَيْنَانِ بُنِّيَّتَانِ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brown eyes</a:t>
            </a:r>
            <a:pPr indent="0" marL="0">
              <a:buNone/>
            </a:pPr>
            <a:r>
              <a:rPr lang="ar-SA" sz="1000" i="1" dirty="0">
                <a:solidFill>
                  <a:srgbClr val="5A6472"/>
                </a:solidFill>
                <a:latin typeface="Calibri" pitchFamily="34" charset="0"/>
                <a:ea typeface="Amiri" pitchFamily="2" charset="-78"/>
                <a:cs typeface="Amiri" pitchFamily="2" charset="-78"/>
              </a:rPr>
              <a:t>  one eye: عَيْنٌ</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يَرْتَدِي / تَرْتَدِي نَظَّارَةً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 she wears glasses</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Think of a famous person or a character from a book. How would you describe their appearance?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كَيْفَ شَكْلُهُ؟ كَيْفَ شَكْلُهَا؟</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D2-L05: the picture game and the comparatives on the vocabulary tab.</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8 comparisons between two people or two outfits.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100–120 words comparing two people or two clothing choices.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46</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D2-L05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00" b="1" dirty="0">
                <a:solidFill>
                  <a:srgbClr val="FFFFFF"/>
                </a:solidFill>
                <a:latin typeface="Cambria" pitchFamily="34" charset="0"/>
                <a:cs typeface="Amiri" pitchFamily="2" charset="-78"/>
              </a:rPr>
              <a:t>D2-L06 · Describing Appearance — A Full Physical Portrait</a:t>
            </a:r>
            <a:endParaRPr lang="en-US" sz="1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وَصْفُ المَظْهَرِ</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aṭwalu min — one form for everyone; more + noun ends in -an.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D2-L05 · Comparing People and Clothes — More, Less and Better</dc:title>
  <dc:subject>PptxGenJS Presentation</dc:subject>
  <dc:creator>Al Madina Online School · Arabic Department</dc:creator>
  <cp:lastModifiedBy>Al Madina Online School · Arabic Department</cp:lastModifiedBy>
  <cp:revision>1</cp:revision>
  <dcterms:created xsi:type="dcterms:W3CDTF">2026-10-11T06:40:36Z</dcterms:created>
  <dcterms:modified xsi:type="dcterms:W3CDTF">2026-10-11T06:40:36Z</dcterms:modified>
</cp:coreProperties>
</file>