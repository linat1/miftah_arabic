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D2-L05. The website lesson “Comparing People and Clothes — More, Less and Better”: vocabulary, grammar rules and quiz, patterns, common mistakes, sorter, listening, reading, speaking prompts and model, writing task and model, differentiation, final check and the lesson mission. Picture match: website visual game “Comparing People and Clothes — More, Less and Better”.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comparatives as chunks (أَطْوَلُ مِنْ، أَقْصَرُ مِنْ، أَرْخَصُ مِنْ، أَغْلَى مِنْ) in “A is …-er than B”. Develop: أَكْثَرُ / أَقَلُّ + noun for adjectives with no short comparative (أَكْثَرُ ثِقَةً، أَقَلُّ رَسْمِيَّةً) and preference. Stretch: superlatives, similarity and a fair conclusion (neither is simply “better”).
• Good news for weak students: the comparative does NOT change for feminine — سَلْمَى أَطْوَلُ مِنْ أُخْتِهَا.
• Kind comparisons only: compare clothes, invented people, or qualities positively (“more patient”, not “uglier”).
• Urdu bridge: افضل، اکثر، اقل (اقلیت)، احسن, مقابلہ ≠ مُقَارَنَةٌ.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comparatives prepared at home. Questions 3–5 retrieve D2-L04 (contrast, concession) and D2-L03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Adjective → comparative: ṭawīl → aṭwal min (taller than). Same form for boys, girls and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افضل → أَفْضَلُ (better / the best). CAREFUL: Urdu اکثر = often, Arabic أَكْثَرُ = more. اقلیت (minority) comes from أَقَلُّ (less). احسن (as in “ahsan”) is also an Arabic comparative: أَحْسَنُ = better. مقابلہ (competition) ≠ مُقَارَنَةٌ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Comparative language (website vocabulary (1 of 2)). Hear → Say → See → Use. Transliteration is printed for Core students (cover it for Develop/Stretch).
Each comparative card shows its adjective and its superlative (the …-est). The comparative has ONE form for m. and f.: هُوَ / هِيَ أَطْوَلُ مِنِّي.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Comparative language (website vocabulary (2 of 2)). Hear → Say → See → Use. Transliteration is printed for Core students (cover it for Develop/Stretch).
Each comparative card shows its adjective and its superlative (the …-est). The comparative has ONE form for m. and f.: هُوَ / هِيَ أَطْوَلُ مِنِّي.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qualities (website vocabulary (1 of 2)). Hear → Say → See → Use. Transliteration is printed for Core students (cover it for Develop/Stretch).
FLEX: teach if time allows; otherwise these are on the website vocabulary tab for homework.
People and qualities (FLEX) — the D2-L01 adjectives, now for comparing with أَكْثَرُ + noun: أَكْثَرُ صَبْرًا، أَكْثَرُ ثِقَةً، أَكْثَرُ هُدُوءًا.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qualities (website vocabulary (2 of 2)). Hear → Say → See → Use. Transliteration is printed for Core students (cover it for Develop/Stretch).
FLEX: teach if time allows; otherwise these are on the website vocabulary tab for homework.
People and qualities (FLEX) — the D2-L01 adjectives, now for comparing with أَكْثَرُ + noun: أَكْثَرُ صَبْرًا، أَكْثَرُ ثِقَةً، أَكْثَرُ هُدُوءًا.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and evaluation (website vocabulary (1 of 2)). Hear → Say → See → Use. Transliteration is printed for Core students (cover it for Develop/Stretch).
FLEX: teach if time allows; otherwise these are on the website vocabulary tab for homework.
Clothes and evaluation (FLEX) — the D2-L03/L04 style words: أَكْثَرُ أَنَاقَةً، أَقَلُّ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and evaluation (website vocabulary (2 of 2)). Hear → Say → See → Use. Transliteration is printed for Core students (cover it for Develop/Stretch).
FLEX: teach if time allows; otherwise these are on the website vocabulary tab for homework.
Clothes and evaluation (FLEX) — the D2-L03/L04 style words: أَكْثَرُ أَنَاقَةً، أَقَلُّ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“Basic comparison” (use the comparative form before مِنْ) and “Superlative” (the definite form for the highest degree) and the website table.
Website common error: “Do not place مِنْ before the comparative or force a regular adjective ending onto أَفْعَلُ” — سَارَةُ طَوِيلَةٌ مِنْ أُخْتِهَا ✗ → سَارَةُ أَطْوَلُ مِنْ أُخْتِهَا ✓.
Quick-fire: teacher names two things (القِطَارُ / الحَافِلَةُ); students make a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“More/less with a noun” (when no simple comparative is natural: أَكْثَرُ + noun in -an) and “Preference” (أُفَضِّلُ … عَلَى …). Similarity from website quiz Q8.
Useful nouns: ثِقَةٌ (confidence) · صَبْرٌ (patience) · هُدُوءٌ (calm) · مَرَحٌ (cheerfulness) · أَنَاقَةٌ (elegance) · رَاحَةٌ (comfort) · رَسْمِيَّةٌ (formality).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“Compare qualities, appearance, clothes and prices using مِنْ, agreement-safe structures and superlative meaning.”
• Basic comparison: Use the comparative form before مِنْ.
• More/less with a noun: Use this when no simple comparative is natural.
• Preference: Compare and justify a choice.
• Superlative: Use the definite form for the highest degree in a group.
Website common error: Do not place مِنْ before the comparative or force a regular adjective ending onto أَفْعَلُ.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scene (Hasan compares two shirts) as a think-aloud. Show two real items on camera if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Comparing People and Clothes — More, Less and Better”)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students to reverse each sentence: السَّيَّارَةُ أَغْلَى مِنَ الدَّرَّاجَةِ. Other cards: القِطَارُ أَسْرَعُ مِنَ الحَافِلَةِ · المَدِينَةُ أَكْثَرُ اِزْدِحَامًا مِنَ القَرْيَةِ · الحَدِيقَةُ أَهْدَأُ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Comparing People and Clothes — More, Less and Better”)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students to reverse each sentence: السَّيَّارَةُ أَغْلَى مِنَ الدَّرَّاجَةِ. Other cards: القِطَارُ أَسْرَعُ مِنَ الحَافِلَةِ · المَدِينَةُ أَكْثَرُ اِزْدِحَامًا مِنَ القَرْيَةِ · الحَدِيقَةُ أَهْدَأُ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comparison is accurate.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comparison is accurate.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يُقَارِنُ حَسَنٌ بَيْنَ قَمِيصَيْنِ. القَمِيصُ الأَزْرَقُ أَرْخَصُ مِنَ الأَسْوَدِ، وَلٰكِنَّ الأَسْوَدَ أَكْثَرُ أَنَاقَةً. الأَزْرَقُ أَيْضًا أَكْثَرُ رَاحَةً لِأَنَّهُ مَصْنُوعٌ مِنَ القُطْنِ. فِي النِّهَايَةِ يَخْتَارُ حَسَنٌ القَمِيصَ الأَزْرَقَ لِأَنَّهُ الأَكْثَرُ مُنَاسَبَةً لِلاِسْتِعْمَالِ اليَوْمِيِّ.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أَيَّهُمَا تُفَضِّلُ؟ (Which do you prefer?)
B: أُفَضِّلُ الأَزْرَقَ لِأَنَّهُ أَكْثَرُ رَاحَةً. (I prefer blue because it is more comfortable.)
Website prompts (order changed for routes). Website model continues: A: أَيَّهُمَا تُفَضِّلُ؟ (Which do you prefer?) B: أُفَضِّلُ الأَزْرَقَ لِأَنَّهُ أَكْثَرُ رَاحَةً. (I prefer the blue one because it is more comfortable.)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comparing two people or two clothing choices. Include at least five comparisons, one similarity, one preference and reasons.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أَطْوَلُ مِنْ يُوسُفَ · أَكْثَرُ ثِقَةً، أَكْثَرُ صَبْرًا، أَكْثَرُ مَرَحًا، أَقَلُّ رَسْمِيَّةً · هُمَا مُتَشَابِهَانِ فِي الكَرَمِ · لَا يُمْكِنُ القَوْلُ إِنَّ أَحَدَهُمَا أَفْضَلُ.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(D2-L06 · Describing Appearance — A Full Physical Portrait) will spend class time USING this language, so students prepare it tonight — short, simple, easy to access (school guidance: “Simple, Short, Interesting, Relevant, Easy to access”). The five words come from the website D2-L06 vocabulary (height, hair and eyes).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Comparing People and Clothes — More, Less and Better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500" b="1" dirty="0">
                <a:solidFill>
                  <a:srgbClr val="D4AF37"/>
                </a:solidFill>
                <a:latin typeface="Amiri" pitchFamily="2" charset="-78"/>
                <a:cs typeface="Amiri" pitchFamily="2" charset="-78"/>
              </a:rPr>
              <a:t>المُقَارَنَةُ بَيْنَ النَّاسِ وَالمَلَابِسِ — أَكْثَرُ وَأَقَلُّ وَأَفْضَلُ</a:t>
            </a:r>
            <a:endParaRPr lang="ar-SA" sz="35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Compare people and clothes: </a:t>
            </a:r>
            <a:pPr algn="l" indent="0" marL="0">
              <a:buNone/>
            </a:pPr>
            <a:r>
              <a:rPr lang="ar-SA" altLang="en-US" sz="1800" dirty="0">
                <a:solidFill>
                  <a:srgbClr val="C6D2E6"/>
                </a:solidFill>
                <a:latin typeface="Amiri" pitchFamily="2" charset="-78"/>
                <a:cs typeface="Amiri" pitchFamily="2" charset="-78"/>
              </a:rPr>
              <a:t>أَفْعَلُ</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مِنْ</a:t>
            </a:r>
            <a:pPr algn="l" indent="0" marL="0">
              <a:buNone/>
            </a:pPr>
            <a:r>
              <a:rPr lang="en-US" sz="1400" dirty="0">
                <a:solidFill>
                  <a:srgbClr val="C6D2E6"/>
                </a:solidFill>
                <a:latin typeface="Calibri" pitchFamily="34" charset="0"/>
                <a:cs typeface="Amiri" pitchFamily="2" charset="-78"/>
              </a:rPr>
              <a:t> (</a:t>
            </a:r>
            <a:pPr algn="l" indent="0" marL="0">
              <a:buNone/>
            </a:pPr>
            <a:r>
              <a:rPr lang="ar-SA" altLang="en-US" sz="1800" dirty="0">
                <a:solidFill>
                  <a:srgbClr val="C6D2E6"/>
                </a:solidFill>
                <a:latin typeface="Amiri" pitchFamily="2" charset="-78"/>
                <a:cs typeface="Amiri" pitchFamily="2" charset="-78"/>
              </a:rPr>
              <a:t>أَطْوَلُ مِنْ، أَرْخَصُ مِنْ</a:t>
            </a:r>
            <a:pPr algn="l" indent="0" marL="0">
              <a:buNone/>
            </a:pPr>
            <a:r>
              <a:rPr lang="en-US" sz="1400" dirty="0">
                <a:solidFill>
                  <a:srgbClr val="C6D2E6"/>
                </a:solidFill>
                <a:latin typeface="Calibri" pitchFamily="34" charset="0"/>
                <a:cs typeface="Amiri" pitchFamily="2" charset="-78"/>
              </a:rPr>
              <a:t>), </a:t>
            </a:r>
            <a:pPr algn="l" indent="0" marL="0">
              <a:buNone/>
            </a:pPr>
            <a:r>
              <a:rPr lang="ar-SA" altLang="en-US" sz="1800" dirty="0">
                <a:solidFill>
                  <a:srgbClr val="C6D2E6"/>
                </a:solidFill>
                <a:latin typeface="Amiri" pitchFamily="2" charset="-78"/>
                <a:cs typeface="Amiri" pitchFamily="2" charset="-78"/>
              </a:rPr>
              <a:t>أَكْثَرُ / أَقَلُّ</a:t>
            </a:r>
            <a:pPr algn="l" indent="0" marL="0">
              <a:buNone/>
            </a:pPr>
            <a:r>
              <a:rPr lang="en-US" sz="1400" dirty="0">
                <a:solidFill>
                  <a:srgbClr val="C6D2E6"/>
                </a:solidFill>
                <a:latin typeface="Calibri" pitchFamily="34" charset="0"/>
                <a:cs typeface="Amiri" pitchFamily="2" charset="-78"/>
              </a:rPr>
              <a:t> + a noun (</a:t>
            </a:r>
            <a:pPr algn="l" indent="0" marL="0">
              <a:buNone/>
            </a:pPr>
            <a:r>
              <a:rPr lang="ar-SA" altLang="en-US" sz="1800" dirty="0">
                <a:solidFill>
                  <a:srgbClr val="C6D2E6"/>
                </a:solidFill>
                <a:latin typeface="Amiri" pitchFamily="2" charset="-78"/>
                <a:cs typeface="Amiri" pitchFamily="2" charset="-78"/>
              </a:rPr>
              <a:t>أَكْثَرُ ثِقَةً</a:t>
            </a:r>
            <a:pPr algn="l" indent="0" marL="0">
              <a:buNone/>
            </a:pPr>
            <a:r>
              <a:rPr lang="en-US" sz="1400" dirty="0">
                <a:solidFill>
                  <a:srgbClr val="C6D2E6"/>
                </a:solidFill>
                <a:latin typeface="Calibri" pitchFamily="34" charset="0"/>
                <a:cs typeface="Amiri" pitchFamily="2" charset="-78"/>
              </a:rPr>
              <a:t>), preference (</a:t>
            </a:r>
            <a:pPr algn="l" indent="0" marL="0">
              <a:buNone/>
            </a:pPr>
            <a:r>
              <a:rPr lang="ar-SA" altLang="en-US" sz="1800" dirty="0">
                <a:solidFill>
                  <a:srgbClr val="C6D2E6"/>
                </a:solidFill>
                <a:latin typeface="Amiri" pitchFamily="2" charset="-78"/>
                <a:cs typeface="Amiri" pitchFamily="2" charset="-78"/>
              </a:rPr>
              <a:t>أُفَضِّلُ … عَلَى</a:t>
            </a:r>
            <a:pPr algn="l" indent="0" marL="0">
              <a:buNone/>
            </a:pPr>
            <a:r>
              <a:rPr lang="en-US" sz="1400" dirty="0">
                <a:solidFill>
                  <a:srgbClr val="C6D2E6"/>
                </a:solidFill>
                <a:latin typeface="Calibri" pitchFamily="34" charset="0"/>
                <a:cs typeface="Amiri" pitchFamily="2" charset="-78"/>
              </a:rPr>
              <a:t> …) and the best (</a:t>
            </a:r>
            <a:pPr algn="l" indent="0" marL="0">
              <a:buNone/>
            </a:pPr>
            <a:r>
              <a:rPr lang="ar-SA" altLang="en-US" sz="1800" dirty="0">
                <a:solidFill>
                  <a:srgbClr val="C6D2E6"/>
                </a:solidFill>
                <a:latin typeface="Amiri" pitchFamily="2" charset="-78"/>
                <a:cs typeface="Amiri" pitchFamily="2" charset="-78"/>
              </a:rPr>
              <a:t>الأَفْضَلُ</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D2-L05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…-er than, more / less + noun, prefer … to …, the best.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accurate or not,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أَرْخَصُ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expensive than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cheaper than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better than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أَفْضَلُ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better than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than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taller than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 contrast?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رَأْيِي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وَلٰكِنَّنِي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concession.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لِأَنَّهُ غَالٍ فَإِنَّهُ.</a:t>
            </a:r>
            <a:endParaRPr lang="ar-SA" sz="18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هُوَ غَالٍ ثُمَّ.</a:t>
            </a:r>
            <a:endParaRPr lang="ar-SA" sz="18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عَلَى الرَّغْمِ مِنْ أَنَّهُ غَالٍ، فَإِنَّهُ جَيِّدٌ.</a:t>
            </a:r>
            <a:endParaRPr lang="ar-SA" sz="18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blue shirt”.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القَمِيصُ الأَزْرَقُ</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القَمِيصُ الزَّرْقَاءُ</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القَمِيصُ الزَّرْقَاءُ</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أَرْخَصُ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expensive than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cheaper than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better than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أَفْضَلُ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better than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than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taller than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 contrast?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لِأَنَّنِي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رَأْيِي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وَلٰكِنَّنِي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D2-L04: but.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concession.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 غَالٍ فَإِنَّهُ.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غَالٍ ثُمَّ.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 الرَّغْمِ مِنْ أَنَّهُ غَالٍ، فَإِنَّهُ جَيِّدٌ.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D2-L04: although … (fa-inna) …</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blue shirt”.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 القَمِيصُ الأَزْرَقُ</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القَمِيصُ الزَّرْقَاءُ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القَمِيصُ الزَّرْقَاءُ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D2-L03: masculine item.</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Adjective → comparative: ṭawīl → aṭwal min (taller than). Same form for boys, girls and things.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طَوِيلٌ ← </a:t>
            </a:r>
            <a:pPr rtl="1" algn="ctr" indent="0" marL="0">
              <a:buNone/>
            </a:pPr>
            <a:r>
              <a:rPr lang="ar-SA" altLang="en-US" sz="2400" b="1" dirty="0">
                <a:solidFill>
                  <a:srgbClr val="0E7C86"/>
                </a:solidFill>
                <a:latin typeface="Amiri" pitchFamily="2" charset="-78"/>
                <a:cs typeface="Amiri" pitchFamily="2" charset="-78"/>
              </a:rPr>
              <a:t>أَطْوَلُ مِنْ</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1D5FBF"/>
                </a:solidFill>
                <a:latin typeface="Amiri" pitchFamily="2" charset="-78"/>
                <a:cs typeface="Amiri" pitchFamily="2" charset="-78"/>
              </a:rPr>
              <a:t>الأَطْوَلُ</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D2-L05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Comparatives and superlatives.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compare two things with …-er than.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which I prefer.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more / less + a noun (more confident).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reason for my preference.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the superlative (the best, the most suitable).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express similarity and a fair conclusion.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Comparative language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People and qualities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Clothes and evaluation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أَفْضَلُ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‎افضل‎ </a:t>
            </a:r>
            <a:pPr indent="0" marL="0">
              <a:buNone/>
            </a:pPr>
            <a:r>
              <a:rPr lang="en-US" sz="950" b="1" dirty="0">
                <a:solidFill>
                  <a:srgbClr val="2E8B57"/>
                </a:solidFill>
                <a:latin typeface="Calibri" pitchFamily="34" charset="0"/>
                <a:cs typeface="Amiri" pitchFamily="2" charset="-78"/>
              </a:rPr>
              <a:t> afzal · better, best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أَكْثَرُ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‎اکثر‎ </a:t>
            </a:r>
            <a:pPr indent="0" marL="0">
              <a:buNone/>
            </a:pPr>
            <a:r>
              <a:rPr lang="en-US" sz="950" b="1" dirty="0">
                <a:solidFill>
                  <a:srgbClr val="2E8B57"/>
                </a:solidFill>
                <a:latin typeface="Calibri" pitchFamily="34" charset="0"/>
                <a:cs typeface="Amiri" pitchFamily="2" charset="-78"/>
              </a:rPr>
              <a:t> aksar · Urdu: often · Arabic: more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أَقَلُّ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‎اقلیت‎ </a:t>
            </a:r>
            <a:pPr indent="0" marL="0">
              <a:buNone/>
            </a:pPr>
            <a:r>
              <a:rPr lang="en-US" sz="950" b="1" dirty="0">
                <a:solidFill>
                  <a:srgbClr val="2E8B57"/>
                </a:solidFill>
                <a:latin typeface="Calibri" pitchFamily="34" charset="0"/>
                <a:cs typeface="Amiri" pitchFamily="2" charset="-78"/>
              </a:rPr>
              <a:t> aqalliyat · minority → less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أَحْسَنُ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‎احسن‎ </a:t>
            </a:r>
            <a:pPr indent="0" marL="0">
              <a:buNone/>
            </a:pPr>
            <a:r>
              <a:rPr lang="en-US" sz="950" b="1" dirty="0">
                <a:solidFill>
                  <a:srgbClr val="2E8B57"/>
                </a:solidFill>
                <a:latin typeface="Calibri" pitchFamily="34" charset="0"/>
                <a:cs typeface="Amiri" pitchFamily="2" charset="-78"/>
              </a:rPr>
              <a:t> ahsan · better (as in ahsan)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مُقَارَنَةٌ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‎مقابلہ‎ </a:t>
            </a:r>
            <a:pPr indent="0" marL="0">
              <a:buNone/>
            </a:pPr>
            <a:r>
              <a:rPr lang="en-US" sz="950" b="1" dirty="0">
                <a:solidFill>
                  <a:srgbClr val="2E8B57"/>
                </a:solidFill>
                <a:latin typeface="Calibri" pitchFamily="34" charset="0"/>
                <a:cs typeface="Amiri" pitchFamily="2" charset="-78"/>
              </a:rPr>
              <a:t> muqābla · Urdu: contest · Arabic: comparison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Comparative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أَكْثَرُ ...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than</a:t>
            </a:r>
            <a:endParaRPr lang="en-US" sz="1350" dirty="0"/>
          </a:p>
          <a:p>
            <a:pPr indent="0" marL="0">
              <a:buNone/>
            </a:pPr>
            <a:r>
              <a:rPr lang="en-US" sz="1100" i="1" dirty="0">
                <a:solidFill>
                  <a:srgbClr val="5A6472"/>
                </a:solidFill>
                <a:latin typeface="Calibri" pitchFamily="34" charset="0"/>
                <a:cs typeface="Amiri" pitchFamily="2" charset="-78"/>
              </a:rPr>
              <a:t>ak-tha-ru ...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أَقَلُّ ... مِنْ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 than</a:t>
            </a:r>
            <a:endParaRPr lang="en-US" sz="1350" dirty="0"/>
          </a:p>
          <a:p>
            <a:pPr indent="0" marL="0">
              <a:buNone/>
            </a:pPr>
            <a:r>
              <a:rPr lang="en-US" sz="1100" i="1" dirty="0">
                <a:solidFill>
                  <a:srgbClr val="5A6472"/>
                </a:solidFill>
                <a:latin typeface="Calibri" pitchFamily="34" charset="0"/>
                <a:cs typeface="Amiri" pitchFamily="2" charset="-78"/>
              </a:rPr>
              <a:t>a-qal-lu ... min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أَفْضَلُ مِنْ</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better than</a:t>
            </a:r>
            <a:endParaRPr lang="en-US" sz="1350" dirty="0"/>
          </a:p>
          <a:p>
            <a:pPr indent="0" marL="0">
              <a:buNone/>
            </a:pPr>
            <a:r>
              <a:rPr lang="en-US" sz="1100" i="1" dirty="0">
                <a:solidFill>
                  <a:srgbClr val="5A6472"/>
                </a:solidFill>
                <a:latin typeface="Calibri" pitchFamily="34" charset="0"/>
                <a:cs typeface="Amiri" pitchFamily="2" charset="-78"/>
              </a:rPr>
              <a:t>af-ḍa-lu min</a:t>
            </a:r>
            <a:endParaRPr lang="en-US" sz="1350" dirty="0"/>
          </a:p>
        </p:txBody>
      </p:sp>
      <p:sp>
        <p:nvSpPr>
          <p:cNvPr id="38" name="Shape 3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40" name="Text 3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الأَفْضَلُ</a:t>
            </a:r>
            <a:endParaRPr lang="ar-SA" sz="1350" dirty="0"/>
          </a:p>
        </p:txBody>
      </p:sp>
      <p:sp>
        <p:nvSpPr>
          <p:cNvPr id="41" name="Shape 3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43" name="Text 40"/>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جَيِّدٌ</a:t>
            </a:r>
            <a:endParaRPr lang="ar-SA"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1580083"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أَجْمَلُ مِنْ</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beautiful than</a:t>
            </a:r>
            <a:endParaRPr lang="en-US" sz="1350" dirty="0"/>
          </a:p>
          <a:p>
            <a:pPr indent="0" marL="0">
              <a:buNone/>
            </a:pPr>
            <a:r>
              <a:rPr lang="en-US" sz="1100" i="1" dirty="0">
                <a:solidFill>
                  <a:srgbClr val="5A6472"/>
                </a:solidFill>
                <a:latin typeface="Calibri" pitchFamily="34" charset="0"/>
                <a:cs typeface="Amiri" pitchFamily="2" charset="-78"/>
              </a:rPr>
              <a:t>aj-ma-lu min</a:t>
            </a:r>
            <a:endParaRPr lang="en-US" sz="1350" dirty="0"/>
          </a:p>
        </p:txBody>
      </p:sp>
      <p:sp>
        <p:nvSpPr>
          <p:cNvPr id="51" name="Shape 4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53" name="Text 50"/>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الأَجْمَلُ</a:t>
            </a:r>
            <a:endParaRPr lang="ar-SA" sz="1350" dirty="0"/>
          </a:p>
        </p:txBody>
      </p:sp>
      <p:sp>
        <p:nvSpPr>
          <p:cNvPr id="54" name="Shape 5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56" name="Text 53"/>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جَمِيلٌ</a:t>
            </a:r>
            <a:endParaRPr lang="ar-SA" sz="1350" dirty="0"/>
          </a:p>
        </p:txBody>
      </p:sp>
      <p:sp>
        <p:nvSpPr>
          <p:cNvPr id="57" name="Shape 5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389120"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0" name="Shape 57"/>
          <p:cNvSpPr/>
          <p:nvPr/>
        </p:nvSpPr>
        <p:spPr>
          <a:xfrm>
            <a:off x="4782312" y="4279392"/>
            <a:ext cx="1580083"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4782312"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62" name="Shape 5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أَرْخَصُ مِنْ</a:t>
            </a:r>
            <a:endParaRPr lang="ar-SA" sz="3000" dirty="0"/>
          </a:p>
        </p:txBody>
      </p:sp>
      <p:sp>
        <p:nvSpPr>
          <p:cNvPr id="65" name="Text 6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cheaper than</a:t>
            </a:r>
            <a:endParaRPr lang="en-US" sz="1350" dirty="0"/>
          </a:p>
          <a:p>
            <a:pPr indent="0" marL="0">
              <a:buNone/>
            </a:pPr>
            <a:r>
              <a:rPr lang="en-US" sz="1100" i="1" dirty="0">
                <a:solidFill>
                  <a:srgbClr val="5A6472"/>
                </a:solidFill>
                <a:latin typeface="Calibri" pitchFamily="34" charset="0"/>
                <a:cs typeface="Amiri" pitchFamily="2" charset="-78"/>
              </a:rPr>
              <a:t>ar-kha-ṣu min</a:t>
            </a:r>
            <a:endParaRPr lang="en-US" sz="1350" dirty="0"/>
          </a:p>
        </p:txBody>
      </p:sp>
      <p:sp>
        <p:nvSpPr>
          <p:cNvPr id="66" name="Shape 6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68" name="Text 65"/>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الأَرْخَصُ</a:t>
            </a:r>
            <a:endParaRPr lang="ar-SA" sz="1350" dirty="0"/>
          </a:p>
        </p:txBody>
      </p:sp>
      <p:sp>
        <p:nvSpPr>
          <p:cNvPr id="69" name="Shape 6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71" name="Text 68"/>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رَخِيصٌ</a:t>
            </a:r>
            <a:endParaRPr lang="ar-SA"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5" name="Shape 72"/>
          <p:cNvSpPr/>
          <p:nvPr/>
        </p:nvSpPr>
        <p:spPr>
          <a:xfrm>
            <a:off x="960120" y="4279392"/>
            <a:ext cx="1580083" cy="256032"/>
          </a:xfrm>
          <a:prstGeom prst="roundRect">
            <a:avLst>
              <a:gd name="adj" fmla="val 50000"/>
            </a:avLst>
          </a:prstGeom>
          <a:solidFill>
            <a:srgbClr val="EFE7D2"/>
          </a:solidFill>
          <a:ln w="12700">
            <a:solidFill>
              <a:srgbClr val="EFE7D2"/>
            </a:solidFill>
            <a:prstDash val="solid"/>
          </a:ln>
        </p:spPr>
      </p:sp>
      <p:sp>
        <p:nvSpPr>
          <p:cNvPr id="76" name="Text 73"/>
          <p:cNvSpPr txBox="1"/>
          <p:nvPr/>
        </p:nvSpPr>
        <p:spPr>
          <a:xfrm>
            <a:off x="960120"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77" name="Shape 7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8" name="Text 7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9" name="Text 7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أَغْلَى مِنْ</a:t>
            </a:r>
            <a:endParaRPr lang="ar-SA" sz="3000" dirty="0"/>
          </a:p>
        </p:txBody>
      </p:sp>
      <p:sp>
        <p:nvSpPr>
          <p:cNvPr id="80" name="Text 7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expensive than</a:t>
            </a:r>
            <a:endParaRPr lang="en-US" sz="1350" dirty="0"/>
          </a:p>
          <a:p>
            <a:pPr indent="0" marL="0">
              <a:buNone/>
            </a:pPr>
            <a:r>
              <a:rPr lang="en-US" sz="1100" i="1" dirty="0">
                <a:solidFill>
                  <a:srgbClr val="5A6472"/>
                </a:solidFill>
                <a:latin typeface="Calibri" pitchFamily="34" charset="0"/>
                <a:cs typeface="Amiri" pitchFamily="2" charset="-78"/>
              </a:rPr>
              <a:t>agh-lā min</a:t>
            </a:r>
            <a:endParaRPr lang="en-US" sz="1350" dirty="0"/>
          </a:p>
        </p:txBody>
      </p:sp>
      <p:sp>
        <p:nvSpPr>
          <p:cNvPr id="81" name="Shape 7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83" name="Text 80"/>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الأَغْلَى</a:t>
            </a:r>
            <a:endParaRPr lang="ar-SA" sz="1350" dirty="0"/>
          </a:p>
        </p:txBody>
      </p:sp>
      <p:sp>
        <p:nvSpPr>
          <p:cNvPr id="84" name="Shape 8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86" name="Text 83"/>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غَالٍ</a:t>
            </a:r>
            <a:endParaRPr lang="ar-SA"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Comparative language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58008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أَطْوَلُ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taller/longer than</a:t>
            </a:r>
            <a:endParaRPr lang="en-US" sz="1350" dirty="0"/>
          </a:p>
          <a:p>
            <a:pPr indent="0" marL="0">
              <a:buNone/>
            </a:pPr>
            <a:r>
              <a:rPr lang="en-US" sz="1100" i="1" dirty="0">
                <a:solidFill>
                  <a:srgbClr val="5A6472"/>
                </a:solidFill>
                <a:latin typeface="Calibri" pitchFamily="34" charset="0"/>
                <a:cs typeface="Amiri" pitchFamily="2" charset="-78"/>
              </a:rPr>
              <a:t>aṭ-wa-lu min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الأَطْوَلُ</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طَوِيلٌ</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158008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أَقْصَرُ مِنْ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shorter than</a:t>
            </a:r>
            <a:endParaRPr lang="en-US" sz="1350" dirty="0"/>
          </a:p>
          <a:p>
            <a:pPr indent="0" marL="0">
              <a:buNone/>
            </a:pPr>
            <a:r>
              <a:rPr lang="en-US" sz="1100" i="1" dirty="0">
                <a:solidFill>
                  <a:srgbClr val="5A6472"/>
                </a:solidFill>
                <a:latin typeface="Calibri" pitchFamily="34" charset="0"/>
                <a:cs typeface="Amiri" pitchFamily="2" charset="-78"/>
              </a:rPr>
              <a:t>aq-ṣa-ru min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الأَقْصَرُ</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قَصِيرٌ</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مِثْلُ</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like/same as</a:t>
            </a:r>
            <a:endParaRPr lang="en-US" sz="1350" dirty="0"/>
          </a:p>
          <a:p>
            <a:pPr indent="0" marL="0">
              <a:buNone/>
            </a:pPr>
            <a:r>
              <a:rPr lang="en-US" sz="1100" i="1" dirty="0">
                <a:solidFill>
                  <a:srgbClr val="5A6472"/>
                </a:solidFill>
                <a:latin typeface="Calibri" pitchFamily="34" charset="0"/>
                <a:cs typeface="Amiri" pitchFamily="2" charset="-78"/>
              </a:rPr>
              <a:t>mith-lu</a:t>
            </a:r>
            <a:endParaRPr lang="en-US" sz="135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بِنَفْسِ الدَّرَجَةِ</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the same degree</a:t>
            </a:r>
            <a:endParaRPr lang="en-US" sz="1350" dirty="0"/>
          </a:p>
          <a:p>
            <a:pPr indent="0" marL="0">
              <a:buNone/>
            </a:pPr>
            <a:r>
              <a:rPr lang="en-US" sz="1100" i="1" dirty="0">
                <a:solidFill>
                  <a:srgbClr val="5A6472"/>
                </a:solidFill>
                <a:latin typeface="Calibri" pitchFamily="34" charset="0"/>
                <a:cs typeface="Amiri" pitchFamily="2" charset="-78"/>
              </a:rPr>
              <a:t>bi-naf-si ad-da-ra-ja-ti</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8" name="Shape 5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الأَفْضَلُ</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best</a:t>
            </a:r>
            <a:endParaRPr lang="en-US" sz="1350" dirty="0"/>
          </a:p>
          <a:p>
            <a:pPr indent="0" marL="0">
              <a:buNone/>
            </a:pPr>
            <a:r>
              <a:rPr lang="en-US" sz="1100" i="1" dirty="0">
                <a:solidFill>
                  <a:srgbClr val="5A6472"/>
                </a:solidFill>
                <a:latin typeface="Calibri" pitchFamily="34" charset="0"/>
                <a:cs typeface="Amiri" pitchFamily="2" charset="-78"/>
              </a:rPr>
              <a:t>al-af-ḍa-lu</a:t>
            </a:r>
            <a:endParaRPr lang="en-US" sz="1350" dirty="0"/>
          </a:p>
        </p:txBody>
      </p:sp>
      <p:sp>
        <p:nvSpPr>
          <p:cNvPr id="62" name="Shape 5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66928"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الأَكْثَرُ مُنَاسَبَةً</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most suitable</a:t>
            </a:r>
            <a:endParaRPr lang="en-US" sz="1350" dirty="0"/>
          </a:p>
          <a:p>
            <a:pPr indent="0" marL="0">
              <a:buNone/>
            </a:pPr>
            <a:r>
              <a:rPr lang="en-US" sz="1100" i="1" dirty="0">
                <a:solidFill>
                  <a:srgbClr val="5A6472"/>
                </a:solidFill>
                <a:latin typeface="Calibri" pitchFamily="34" charset="0"/>
                <a:cs typeface="Amiri" pitchFamily="2" charset="-78"/>
              </a:rPr>
              <a:t>al-ak-tha-ru mu-nā-sa-ba-tan</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qualities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صَادِقٌ / صَادِقَةٌ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مُتَعَاوِنٌ / مُتَعَاوِنَةٌ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مُجْتَهِدٌ / مُجْتَهِدَةٌ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qualities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مَرِحٌ / مَرِحَةٌ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هَادِئٌ / هَادِئَةٌ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خَجُولٌ / خَجُولَةٌ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shy</a:t>
            </a:r>
            <a:endParaRPr lang="en-US" sz="1350" dirty="0"/>
          </a:p>
          <a:p>
            <a:pPr indent="0" marL="0">
              <a:buNone/>
            </a:pPr>
            <a:r>
              <a:rPr lang="en-US" sz="1100" i="1" dirty="0">
                <a:solidFill>
                  <a:srgbClr val="5A6472"/>
                </a:solidFill>
                <a:latin typeface="Calibri" pitchFamily="34" charset="0"/>
                <a:cs typeface="Amiri" pitchFamily="2" charset="-78"/>
              </a:rPr>
              <a:t>kha-jū-lun / kha-jū-la-tun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وَاثِقٌ / وَاثِقَةٌ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confident</a:t>
            </a:r>
            <a:endParaRPr lang="en-US" sz="1350" dirty="0"/>
          </a:p>
          <a:p>
            <a:pPr indent="0" marL="0">
              <a:buNone/>
            </a:pPr>
            <a:r>
              <a:rPr lang="en-US" sz="1100" i="1" dirty="0">
                <a:solidFill>
                  <a:srgbClr val="5A6472"/>
                </a:solidFill>
                <a:latin typeface="Calibri" pitchFamily="34" charset="0"/>
                <a:cs typeface="Amiri" pitchFamily="2" charset="-78"/>
              </a:rPr>
              <a:t>wā-thi-qun / wā-thi-qa-tun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وَاثِقُونَ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وَاثِقَةٌ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وَاثِقٌ</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كَرِيمٌ / كَرِيمَةٌ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generous</a:t>
            </a:r>
            <a:endParaRPr lang="en-US" sz="1350" dirty="0"/>
          </a:p>
          <a:p>
            <a:pPr indent="0" marL="0">
              <a:buNone/>
            </a:pPr>
            <a:r>
              <a:rPr lang="en-US" sz="1100" i="1" dirty="0">
                <a:solidFill>
                  <a:srgbClr val="5A6472"/>
                </a:solidFill>
                <a:latin typeface="Calibri" pitchFamily="34" charset="0"/>
                <a:cs typeface="Amiri" pitchFamily="2" charset="-78"/>
              </a:rPr>
              <a:t>ka-rī-mun / ka-rī-ma-tun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كُرَمَاءُ</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كَرِيمَةٌ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كَرِيمٌ</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and 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غَيْرُ رَسْمِيٍّ / غَيْرُ رَسْمِيَّةٍ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88" name="Shape 8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0" name="Text 8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غَيْرُ رَسْمِيَّةٍ</a:t>
            </a:r>
            <a:endParaRPr lang="ar-SA" sz="1500" dirty="0"/>
          </a:p>
        </p:txBody>
      </p:sp>
      <p:sp>
        <p:nvSpPr>
          <p:cNvPr id="91" name="Shape 8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3" name="Text 9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غَيْرُ رَسْمِيٍّ</a:t>
            </a:r>
            <a:endParaRPr lang="ar-SA" sz="15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and 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مُحْتَشِمٌ / مُحْتَشِمَةٌ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مُلَوَّنٌ / مُلَوَّنَةٌ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مُلَوَّنَةٌ</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بَسِيطٌ / بَسِيطَةٌ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بُسَطَاءُ</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مُرِيحٌ / مُرِيحَةٌ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mu-rī-ḥun / mu-rī-ḥa-tun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مُرِيحَةٌ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مُرِيحَةٌ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مُرِيحٌ</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عَمَلِيٌّ / عَمَلِيَّةٌ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practical</a:t>
            </a:r>
            <a:endParaRPr lang="en-US" sz="1350" dirty="0"/>
          </a:p>
          <a:p>
            <a:pPr indent="0" marL="0">
              <a:buNone/>
            </a:pPr>
            <a:r>
              <a:rPr lang="en-US" sz="1100" i="1" dirty="0">
                <a:solidFill>
                  <a:srgbClr val="5A6472"/>
                </a:solidFill>
                <a:latin typeface="Calibri" pitchFamily="34" charset="0"/>
                <a:cs typeface="Amiri" pitchFamily="2" charset="-78"/>
              </a:rPr>
              <a:t>ʿa-ma-liy-yun / ʿa-ma-liy-ya-tun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عَمَلِيَّةٌ</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عَمَلِيَّةٌ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عَمَلِيٌّ</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1 · ADJECTIVE → …-ER THAN → THE …-EST (WEBSITE RULES)</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Tall · taller than · the tallest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أَفْعَلُ 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36024"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a:t>
            </a:r>
            <a:endParaRPr lang="en-US" sz="1100" dirty="0"/>
          </a:p>
        </p:txBody>
      </p:sp>
      <p:sp>
        <p:nvSpPr>
          <p:cNvPr id="17" name="Text 14"/>
          <p:cNvSpPr txBox="1"/>
          <p:nvPr/>
        </p:nvSpPr>
        <p:spPr>
          <a:xfrm>
            <a:off x="659282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…-er than</a:t>
            </a:r>
            <a:endParaRPr lang="en-US" sz="1100" dirty="0"/>
          </a:p>
        </p:txBody>
      </p:sp>
      <p:sp>
        <p:nvSpPr>
          <p:cNvPr id="18" name="Text 15"/>
          <p:cNvSpPr txBox="1"/>
          <p:nvPr/>
        </p:nvSpPr>
        <p:spPr>
          <a:xfrm>
            <a:off x="403250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…-est</a:t>
            </a:r>
            <a:endParaRPr lang="en-US" sz="1100" dirty="0"/>
          </a:p>
        </p:txBody>
      </p:sp>
      <p:sp>
        <p:nvSpPr>
          <p:cNvPr id="19" name="Text 16"/>
          <p:cNvSpPr txBox="1"/>
          <p:nvPr/>
        </p:nvSpPr>
        <p:spPr>
          <a:xfrm>
            <a:off x="5303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54312"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طَوِيلٌ</a:t>
            </a:r>
            <a:endParaRPr lang="ar-SA" sz="2600" dirty="0"/>
          </a:p>
        </p:txBody>
      </p:sp>
      <p:sp>
        <p:nvSpPr>
          <p:cNvPr id="22" name="Text 19"/>
          <p:cNvSpPr txBox="1"/>
          <p:nvPr/>
        </p:nvSpPr>
        <p:spPr>
          <a:xfrm>
            <a:off x="6611112" y="2267712"/>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أَطْوَلُ مِنْ</a:t>
            </a:r>
            <a:endParaRPr lang="ar-SA" sz="2600" dirty="0"/>
          </a:p>
        </p:txBody>
      </p:sp>
      <p:sp>
        <p:nvSpPr>
          <p:cNvPr id="23" name="Text 20"/>
          <p:cNvSpPr txBox="1"/>
          <p:nvPr/>
        </p:nvSpPr>
        <p:spPr>
          <a:xfrm>
            <a:off x="4050792" y="2267712"/>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الأَطْوَلُ</a:t>
            </a:r>
            <a:endParaRPr lang="ar-SA" sz="2600" dirty="0"/>
          </a:p>
        </p:txBody>
      </p:sp>
      <p:sp>
        <p:nvSpPr>
          <p:cNvPr id="24" name="Text 21"/>
          <p:cNvSpPr txBox="1"/>
          <p:nvPr/>
        </p:nvSpPr>
        <p:spPr>
          <a:xfrm>
            <a:off x="5669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tall · taller · the tallest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54312"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قَصِيرٌ</a:t>
            </a:r>
            <a:endParaRPr lang="ar-SA" sz="2600" dirty="0"/>
          </a:p>
        </p:txBody>
      </p:sp>
      <p:sp>
        <p:nvSpPr>
          <p:cNvPr id="29" name="Text 26"/>
          <p:cNvSpPr txBox="1"/>
          <p:nvPr/>
        </p:nvSpPr>
        <p:spPr>
          <a:xfrm>
            <a:off x="6611112" y="300471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أَقْصَرُ مِنْ</a:t>
            </a:r>
            <a:endParaRPr lang="ar-SA" sz="2600" dirty="0"/>
          </a:p>
        </p:txBody>
      </p:sp>
      <p:sp>
        <p:nvSpPr>
          <p:cNvPr id="30" name="Text 27"/>
          <p:cNvSpPr txBox="1"/>
          <p:nvPr/>
        </p:nvSpPr>
        <p:spPr>
          <a:xfrm>
            <a:off x="4050792" y="3004718"/>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الأَقْصَرُ</a:t>
            </a:r>
            <a:endParaRPr lang="ar-SA" sz="2600" dirty="0"/>
          </a:p>
        </p:txBody>
      </p:sp>
      <p:sp>
        <p:nvSpPr>
          <p:cNvPr id="31" name="Text 28"/>
          <p:cNvSpPr txBox="1"/>
          <p:nvPr/>
        </p:nvSpPr>
        <p:spPr>
          <a:xfrm>
            <a:off x="5669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short · shorter · the shortest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54312"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رَخِيصٌ</a:t>
            </a:r>
            <a:endParaRPr lang="ar-SA" sz="2600" dirty="0"/>
          </a:p>
        </p:txBody>
      </p:sp>
      <p:sp>
        <p:nvSpPr>
          <p:cNvPr id="36" name="Text 33"/>
          <p:cNvSpPr txBox="1"/>
          <p:nvPr/>
        </p:nvSpPr>
        <p:spPr>
          <a:xfrm>
            <a:off x="6611112" y="3741725"/>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أَرْخَصُ مِنْ</a:t>
            </a:r>
            <a:endParaRPr lang="ar-SA" sz="2600" dirty="0"/>
          </a:p>
        </p:txBody>
      </p:sp>
      <p:sp>
        <p:nvSpPr>
          <p:cNvPr id="37" name="Text 34"/>
          <p:cNvSpPr txBox="1"/>
          <p:nvPr/>
        </p:nvSpPr>
        <p:spPr>
          <a:xfrm>
            <a:off x="4050792" y="3741725"/>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الأَرْخَصُ</a:t>
            </a:r>
            <a:endParaRPr lang="ar-SA" sz="2600" dirty="0"/>
          </a:p>
        </p:txBody>
      </p:sp>
      <p:sp>
        <p:nvSpPr>
          <p:cNvPr id="38" name="Text 35"/>
          <p:cNvSpPr txBox="1"/>
          <p:nvPr/>
        </p:nvSpPr>
        <p:spPr>
          <a:xfrm>
            <a:off x="5669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cheap · cheaper · the cheapest</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354312"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غَالٍ</a:t>
            </a:r>
            <a:endParaRPr lang="ar-SA" sz="2600" dirty="0"/>
          </a:p>
        </p:txBody>
      </p:sp>
      <p:sp>
        <p:nvSpPr>
          <p:cNvPr id="43" name="Text 40"/>
          <p:cNvSpPr txBox="1"/>
          <p:nvPr/>
        </p:nvSpPr>
        <p:spPr>
          <a:xfrm>
            <a:off x="6611112" y="4478731"/>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أَغْلَى مِنْ</a:t>
            </a:r>
            <a:endParaRPr lang="ar-SA" sz="2600" dirty="0"/>
          </a:p>
        </p:txBody>
      </p:sp>
      <p:sp>
        <p:nvSpPr>
          <p:cNvPr id="44" name="Text 41"/>
          <p:cNvSpPr txBox="1"/>
          <p:nvPr/>
        </p:nvSpPr>
        <p:spPr>
          <a:xfrm>
            <a:off x="4050792" y="4478731"/>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الأَغْلَى</a:t>
            </a:r>
            <a:endParaRPr lang="ar-SA" sz="2600" dirty="0"/>
          </a:p>
        </p:txBody>
      </p:sp>
      <p:sp>
        <p:nvSpPr>
          <p:cNvPr id="45" name="Text 42"/>
          <p:cNvSpPr txBox="1"/>
          <p:nvPr/>
        </p:nvSpPr>
        <p:spPr>
          <a:xfrm>
            <a:off x="5669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expensive · more expensive · the most expensive</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9354312"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جَيِّدٌ</a:t>
            </a:r>
            <a:endParaRPr lang="ar-SA" sz="2600" dirty="0"/>
          </a:p>
        </p:txBody>
      </p:sp>
      <p:sp>
        <p:nvSpPr>
          <p:cNvPr id="50" name="Text 47"/>
          <p:cNvSpPr txBox="1"/>
          <p:nvPr/>
        </p:nvSpPr>
        <p:spPr>
          <a:xfrm>
            <a:off x="6611112" y="521573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أَفْضَلُ مِنْ</a:t>
            </a:r>
            <a:endParaRPr lang="ar-SA" sz="2600" dirty="0"/>
          </a:p>
        </p:txBody>
      </p:sp>
      <p:sp>
        <p:nvSpPr>
          <p:cNvPr id="51" name="Text 48"/>
          <p:cNvSpPr txBox="1"/>
          <p:nvPr/>
        </p:nvSpPr>
        <p:spPr>
          <a:xfrm>
            <a:off x="4050792" y="5215738"/>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الأَفْضَلُ</a:t>
            </a:r>
            <a:endParaRPr lang="ar-SA" sz="2600" dirty="0"/>
          </a:p>
        </p:txBody>
      </p:sp>
      <p:sp>
        <p:nvSpPr>
          <p:cNvPr id="52" name="Text 49"/>
          <p:cNvSpPr txBox="1"/>
          <p:nvPr/>
        </p:nvSpPr>
        <p:spPr>
          <a:xfrm>
            <a:off x="566928" y="521573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 · better · the best</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Pattern a-C-C-a-C: ṭawīl → aṭwal. One form for everyone: Salmā aṭwalu min ukhtihā (Salma is taller than her sister).</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MORE / LESS + NOUN, PREFERENCE, SIMILARITY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More confident · I prefer … to … · alike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أَكْثَرُ ثِقَةً · أُفَضِّلُ … عَلَى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2181758"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MORE / LESS + NOUN · DEVELOP</a:t>
            </a:r>
            <a:endParaRPr lang="en-US" sz="850" dirty="0"/>
          </a:p>
        </p:txBody>
      </p:sp>
      <p:sp>
        <p:nvSpPr>
          <p:cNvPr id="18" name="Text 15"/>
          <p:cNvSpPr txBox="1"/>
          <p:nvPr/>
        </p:nvSpPr>
        <p:spPr>
          <a:xfrm>
            <a:off x="10460126"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أَكْثَرُ / أَقَلُّ + ـًا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هُوَ أَكْثَرُ ثِقَةً مِنْ أَخِيهِ. هٰذَا الأُسْلُوبُ أَقَلُّ رَسْمِيَّةً.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is more confident than his brother. This style is less formal.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Noun ends in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PREFERENCE · CORE</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أُفَضِّلُ … عَلَى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أُفَضِّلُ الحِذَاءَ الأَسْوَدَ عَلَى البُنِّيِّ.</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prefer the black shoes to the brown ones.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Prefer A ʿalā B.</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SIMILARITY · STRETCH</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مِثْلُ · مُتَشَابِهَانِ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هُمَا مُتَشَابِهَانِ فِي الأَنَاقَةِ.</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They (two) are alike in elegance.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every comparison has a winner.</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“more confident” needs a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هُوَ أَكْثَرُ ثِقَةً.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cs typeface="Amiri" pitchFamily="2" charset="-78"/>
              </a:rPr>
              <a:t>هُوَ أَكْثَرُ وَاثِقٌ.</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Comparatives and superlatives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أَفْعَلُ التَّفْضِيلِ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Basic comparison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أَفْعَلُ + مِنْ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هٰذَا القَمِيصُ أَرْخَصُ مِنْ ذٰلِكَ.   ·   سَلْمَى أَطْوَلُ مِنْ أُخْتِهَا.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More/less with a noun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أَكْثَرُ / أَقَلُّ + مَصْدَرًا / صِفَةً + مِنْ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هُوَ أَكْثَرُ ثِقَةً مِنْ أَخِيهِ.   ·   هٰذَا الأُسْلُوبُ أَقَلُّ رَسْمِيَّةً.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Preference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أُفَضِّلُ ... عَلَى ... / ... أَفْضَلُ مِنْ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أُفَضِّلُ الحِذَاءَ الأَسْوَدَ عَلَى البُنِّيِّ.   ·   القُطْنُ أَفْضَلُ مِنَ النَّايْلُونِ فِي الصَّيْفِ.</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Superlative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الأَفْضَلُ / الأَكْثَرُ مُنَاسَبَةً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هٰذَا هُوَ الخِيَارُ الأَفْضَلُ.   ·   هِيَ الأَكْثَرُ مُنَاسَبَةً لِلْمُنَاسَبَةِ.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expensive than”.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غَالٍ مِنْ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غَالِيًا مِنْ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أَغْلَى مِنْ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سَارَةُ ___ مِنْ أُخْتِهَا.</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أَطْوَلُ</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طَوِيلَةٌ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الأَطْوَلَ</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وَاثِقٌ</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ثِقَةً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وَاثِقٌ مِنْ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preference?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هٰذَا عَلَى ذٰلِكَ.</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مِثْلُ ذٰلِكَ.</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هُنَا.</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expensive than”.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غَالٍ مِنْ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أَكْثَرُ غَالِيًا مِنْ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أَغْلَى مِنْ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أَغْلَى مِنْ</a:t>
            </a:r>
            <a:pPr algn="l" indent="0" marL="0">
              <a:buNone/>
            </a:pPr>
            <a:r>
              <a:rPr lang="en-US" sz="1050" i="1" dirty="0">
                <a:solidFill>
                  <a:srgbClr val="8A6D1E"/>
                </a:solidFill>
                <a:latin typeface="Calibri" pitchFamily="34" charset="0"/>
                <a:cs typeface="Amiri" pitchFamily="2" charset="-78"/>
              </a:rPr>
              <a:t> is the standard comparative.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سَارَةُ ___ مِنْ أُخْتِهَا.</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أَطْوَلُ</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طَوِيلَةٌ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الأَطْوَلَ</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comparative +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أَكْثَرُ وَاثِقٌ</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أَكْثَرُ ثِقَةً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وَاثِقٌ مِنْ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أَكْثَرُ</a:t>
            </a:r>
            <a:pPr algn="l" indent="0" marL="0">
              <a:buNone/>
            </a:pPr>
            <a:r>
              <a:rPr lang="en-US" sz="1050" i="1" dirty="0">
                <a:solidFill>
                  <a:srgbClr val="8A6D1E"/>
                </a:solidFill>
                <a:latin typeface="Calibri" pitchFamily="34" charset="0"/>
                <a:cs typeface="Amiri" pitchFamily="2" charset="-78"/>
              </a:rPr>
              <a:t> + verbal noun.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preference?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أُفَضِّلُ هٰذَا عَلَى ذٰلِكَ.</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مِثْلُ ذٰلِكَ.</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هُنَا.</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أُفَضِّلُ</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 expresses preference.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compare two shirts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Cheaper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القَمِيصُ الأَزْرَقُ </a:t>
            </a:r>
            <a:pPr rtl="1" algn="ctr" indent="0" marL="0">
              <a:lnSpc>
                <a:spcPct val="120000"/>
              </a:lnSpc>
              <a:buNone/>
            </a:pPr>
            <a:r>
              <a:rPr lang="ar-SA" altLang="en-US" sz="1750" b="1" dirty="0">
                <a:solidFill>
                  <a:srgbClr val="0E7C86"/>
                </a:solidFill>
                <a:latin typeface="Amiri" pitchFamily="2" charset="-78"/>
                <a:cs typeface="Amiri" pitchFamily="2" charset="-78"/>
              </a:rPr>
              <a:t>أَرْخَصُ مِنَ</a:t>
            </a:r>
            <a:pPr rtl="1" algn="ctr" indent="0" marL="0">
              <a:lnSpc>
                <a:spcPct val="120000"/>
              </a:lnSpc>
              <a:buNone/>
            </a:pPr>
            <a:r>
              <a:rPr lang="ar-SA" altLang="en-US" sz="1750" b="1" dirty="0">
                <a:solidFill>
                  <a:srgbClr val="1B3B6F"/>
                </a:solidFill>
                <a:latin typeface="Amiri" pitchFamily="2" charset="-78"/>
                <a:cs typeface="Amiri" pitchFamily="2" charset="-78"/>
              </a:rPr>
              <a:t> الأَسْوَدِ.</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Short comparative + min.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More + noun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وَلٰكِنَّ الأَسْوَدَ </a:t>
            </a:r>
            <a:pPr rtl="1" algn="ctr" indent="0" marL="0">
              <a:buNone/>
            </a:pPr>
            <a:r>
              <a:rPr lang="ar-SA" altLang="en-US" sz="2100" b="1" dirty="0">
                <a:solidFill>
                  <a:srgbClr val="1D5FBF"/>
                </a:solidFill>
                <a:latin typeface="Amiri" pitchFamily="2" charset="-78"/>
                <a:cs typeface="Amiri" pitchFamily="2" charset="-78"/>
              </a:rPr>
              <a:t>أَكْثَرُ أَنَاقَةً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Elegant → more elegance.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Preference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أُفَضِّلُ</a:t>
            </a:r>
            <a:pPr rtl="1" algn="ctr" indent="0" marL="0">
              <a:buNone/>
            </a:pPr>
            <a:r>
              <a:rPr lang="ar-SA" altLang="en-US" sz="2100" b="1" dirty="0">
                <a:solidFill>
                  <a:srgbClr val="1B3B6F"/>
                </a:solidFill>
                <a:latin typeface="Amiri" pitchFamily="2" charset="-78"/>
                <a:cs typeface="Amiri" pitchFamily="2" charset="-78"/>
              </a:rPr>
              <a:t> الأَزْرَقَ </a:t>
            </a:r>
            <a:pPr rtl="1" algn="ctr" indent="0" marL="0">
              <a:buNone/>
            </a:pPr>
            <a:r>
              <a:rPr lang="ar-SA" altLang="en-US" sz="2100" b="1" dirty="0">
                <a:solidFill>
                  <a:srgbClr val="D6336C"/>
                </a:solidFill>
                <a:latin typeface="Amiri" pitchFamily="2" charset="-78"/>
                <a:cs typeface="Amiri" pitchFamily="2" charset="-78"/>
              </a:rPr>
              <a:t>عَلَى</a:t>
            </a:r>
            <a:pPr rtl="1" algn="ctr" indent="0" marL="0">
              <a:buNone/>
            </a:pPr>
            <a:r>
              <a:rPr lang="ar-SA" altLang="en-US" sz="2100" b="1" dirty="0">
                <a:solidFill>
                  <a:srgbClr val="1B3B6F"/>
                </a:solidFill>
                <a:latin typeface="Amiri" pitchFamily="2" charset="-78"/>
                <a:cs typeface="Amiri" pitchFamily="2" charset="-78"/>
              </a:rPr>
              <a:t> الأَسْوَدِ.</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Prefer A ʿalā B.</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best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لِأَنَّهُ </a:t>
            </a:r>
            <a:pPr rtl="1" algn="ctr" indent="0" marL="0">
              <a:lnSpc>
                <a:spcPct val="120000"/>
              </a:lnSpc>
              <a:buNone/>
            </a:pPr>
            <a:r>
              <a:rPr lang="ar-SA" altLang="en-US" sz="1800" b="1" dirty="0">
                <a:solidFill>
                  <a:srgbClr val="0E7C86"/>
                </a:solidFill>
                <a:latin typeface="Amiri" pitchFamily="2" charset="-78"/>
                <a:cs typeface="Amiri" pitchFamily="2" charset="-78"/>
              </a:rPr>
              <a:t>الأَكْثَرُ مُنَاسَبَةً</a:t>
            </a:r>
            <a:pPr rtl="1" algn="ctr" indent="0" marL="0">
              <a:lnSpc>
                <a:spcPct val="120000"/>
              </a:lnSpc>
              <a:buNone/>
            </a:pPr>
            <a:r>
              <a:rPr lang="ar-SA" altLang="en-US" sz="1800" b="1" dirty="0">
                <a:solidFill>
                  <a:srgbClr val="1B3B6F"/>
                </a:solidFill>
                <a:latin typeface="Amiri" pitchFamily="2" charset="-78"/>
                <a:cs typeface="Amiri" pitchFamily="2" charset="-78"/>
              </a:rPr>
              <a:t> لِلْمَدْرَسَةِ.</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most suitable.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-ER THAN / THE MOST</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MORE + NOUN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PREFERENCE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2" charset="-78"/>
                <a:cs typeface="Amiri" pitchFamily="2" charset="-78"/>
              </a:rPr>
              <a:t>القَمِيصُ الأَزْرَقُ </a:t>
            </a:r>
            <a:pPr rtl="1" algn="r" indent="0" marL="0">
              <a:lnSpc>
                <a:spcPct val="120000"/>
              </a:lnSpc>
              <a:buNone/>
            </a:pPr>
            <a:r>
              <a:rPr lang="ar-SA" altLang="en-US" sz="1500" b="1" dirty="0">
                <a:solidFill>
                  <a:srgbClr val="0E7C86"/>
                </a:solidFill>
                <a:latin typeface="Amiri" pitchFamily="2" charset="-78"/>
                <a:cs typeface="Amiri" pitchFamily="2" charset="-78"/>
              </a:rPr>
              <a:t>أَرْخَصُ مِنَ</a:t>
            </a:r>
            <a:pPr rtl="1" algn="r" indent="0" marL="0">
              <a:lnSpc>
                <a:spcPct val="120000"/>
              </a:lnSpc>
              <a:buNone/>
            </a:pPr>
            <a:r>
              <a:rPr lang="ar-SA" altLang="en-US" sz="1500" b="1" dirty="0">
                <a:solidFill>
                  <a:srgbClr val="1B3B6F"/>
                </a:solidFill>
                <a:latin typeface="Amiri" pitchFamily="2" charset="-78"/>
                <a:cs typeface="Amiri" pitchFamily="2" charset="-78"/>
              </a:rPr>
              <a:t> الأَسْوَدِ، وَلٰكِنَّ الأَسْوَدَ </a:t>
            </a:r>
            <a:pPr rtl="1" algn="r" indent="0" marL="0">
              <a:lnSpc>
                <a:spcPct val="120000"/>
              </a:lnSpc>
              <a:buNone/>
            </a:pPr>
            <a:r>
              <a:rPr lang="ar-SA" altLang="en-US" sz="1500" b="1" dirty="0">
                <a:solidFill>
                  <a:srgbClr val="1D5FBF"/>
                </a:solidFill>
                <a:latin typeface="Amiri" pitchFamily="2" charset="-78"/>
                <a:cs typeface="Amiri" pitchFamily="2" charset="-78"/>
              </a:rPr>
              <a:t>أَكْثَرُ أَنَاقَةً</a:t>
            </a:r>
            <a:pPr rtl="1" algn="r" indent="0" marL="0">
              <a:lnSpc>
                <a:spcPct val="120000"/>
              </a:lnSpc>
              <a:buNone/>
            </a:pPr>
            <a:r>
              <a:rPr lang="ar-SA" altLang="en-US" sz="1500" b="1" dirty="0">
                <a:solidFill>
                  <a:srgbClr val="1B3B6F"/>
                </a:solidFill>
                <a:latin typeface="Amiri" pitchFamily="2" charset="-78"/>
                <a:cs typeface="Amiri" pitchFamily="2" charset="-78"/>
              </a:rPr>
              <a:t>. الأَزْرَقُ أَيْضًا </a:t>
            </a:r>
            <a:pPr rtl="1" algn="r" indent="0" marL="0">
              <a:lnSpc>
                <a:spcPct val="120000"/>
              </a:lnSpc>
              <a:buNone/>
            </a:pPr>
            <a:r>
              <a:rPr lang="ar-SA" altLang="en-US" sz="1500" b="1" dirty="0">
                <a:solidFill>
                  <a:srgbClr val="1D5FBF"/>
                </a:solidFill>
                <a:latin typeface="Amiri" pitchFamily="2" charset="-78"/>
                <a:cs typeface="Amiri" pitchFamily="2" charset="-78"/>
              </a:rPr>
              <a:t>أَكْثَرُ رَاحَةً</a:t>
            </a:r>
            <a:pPr rtl="1" algn="r" indent="0" marL="0">
              <a:lnSpc>
                <a:spcPct val="120000"/>
              </a:lnSpc>
              <a:buNone/>
            </a:pPr>
            <a:r>
              <a:rPr lang="ar-SA" altLang="en-US" sz="1500" b="1" dirty="0">
                <a:solidFill>
                  <a:srgbClr val="1B3B6F"/>
                </a:solidFill>
                <a:latin typeface="Amiri" pitchFamily="2" charset="-78"/>
                <a:cs typeface="Amiri" pitchFamily="2" charset="-78"/>
              </a:rPr>
              <a:t> لِأَنَّهُ مِنَ القُطْنِ. </a:t>
            </a:r>
            <a:pPr rtl="1" algn="r" indent="0" marL="0">
              <a:lnSpc>
                <a:spcPct val="120000"/>
              </a:lnSpc>
              <a:buNone/>
            </a:pPr>
            <a:r>
              <a:rPr lang="ar-SA" altLang="en-US" sz="1500" b="1" dirty="0">
                <a:solidFill>
                  <a:srgbClr val="D6336C"/>
                </a:solidFill>
                <a:latin typeface="Amiri" pitchFamily="2" charset="-78"/>
                <a:cs typeface="Amiri" pitchFamily="2" charset="-78"/>
              </a:rPr>
              <a:t>أُفَضِّلُ</a:t>
            </a:r>
            <a:pPr rtl="1" algn="r" indent="0" marL="0">
              <a:lnSpc>
                <a:spcPct val="120000"/>
              </a:lnSpc>
              <a:buNone/>
            </a:pPr>
            <a:r>
              <a:rPr lang="ar-SA" altLang="en-US" sz="1500" b="1" dirty="0">
                <a:solidFill>
                  <a:srgbClr val="1B3B6F"/>
                </a:solidFill>
                <a:latin typeface="Amiri" pitchFamily="2" charset="-78"/>
                <a:cs typeface="Amiri" pitchFamily="2" charset="-78"/>
              </a:rPr>
              <a:t> الأَزْرَقَ </a:t>
            </a:r>
            <a:pPr rtl="1" algn="r" indent="0" marL="0">
              <a:lnSpc>
                <a:spcPct val="120000"/>
              </a:lnSpc>
              <a:buNone/>
            </a:pPr>
            <a:r>
              <a:rPr lang="ar-SA" altLang="en-US" sz="1500" b="1" dirty="0">
                <a:solidFill>
                  <a:srgbClr val="D6336C"/>
                </a:solidFill>
                <a:latin typeface="Amiri" pitchFamily="2" charset="-78"/>
                <a:cs typeface="Amiri" pitchFamily="2" charset="-78"/>
              </a:rPr>
              <a:t>عَلَى</a:t>
            </a:r>
            <a:pPr rtl="1" algn="r" indent="0" marL="0">
              <a:lnSpc>
                <a:spcPct val="120000"/>
              </a:lnSpc>
              <a:buNone/>
            </a:pPr>
            <a:r>
              <a:rPr lang="ar-SA" altLang="en-US" sz="1500" b="1" dirty="0">
                <a:solidFill>
                  <a:srgbClr val="1B3B6F"/>
                </a:solidFill>
                <a:latin typeface="Amiri" pitchFamily="2" charset="-78"/>
                <a:cs typeface="Amiri" pitchFamily="2" charset="-78"/>
              </a:rPr>
              <a:t> الأَسْوَدِ لِأَنَّهُ </a:t>
            </a:r>
            <a:pPr rtl="1" algn="r" indent="0" marL="0">
              <a:lnSpc>
                <a:spcPct val="120000"/>
              </a:lnSpc>
              <a:buNone/>
            </a:pPr>
            <a:r>
              <a:rPr lang="ar-SA" altLang="en-US" sz="1500" b="1" dirty="0">
                <a:solidFill>
                  <a:srgbClr val="0E7C86"/>
                </a:solidFill>
                <a:latin typeface="Amiri" pitchFamily="2" charset="-78"/>
                <a:cs typeface="Amiri" pitchFamily="2" charset="-78"/>
              </a:rPr>
              <a:t>الأَكْثَرُ مُنَاسَبَةً</a:t>
            </a:r>
            <a:pPr rtl="1" algn="r" indent="0" marL="0">
              <a:lnSpc>
                <a:spcPct val="120000"/>
              </a:lnSpc>
              <a:buNone/>
            </a:pPr>
            <a:r>
              <a:rPr lang="ar-SA" altLang="en-US" sz="1500" b="1" dirty="0">
                <a:solidFill>
                  <a:srgbClr val="1B3B6F"/>
                </a:solidFill>
                <a:latin typeface="Amiri" pitchFamily="2" charset="-78"/>
                <a:cs typeface="Amiri" pitchFamily="2" charset="-78"/>
              </a:rPr>
              <a:t> لِلْمَدْرَسَةِ.</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blue shirt is cheaper than the black one, but the black one is more elegant. The blue one is also more comfortable because it is cotton. I prefer the blue one to the black one because it is the most suitable for school.</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القَمِيصُ أَرْخَصُ مِنْ ذٰلِكَ.</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shirt is cheaper than that one.</a:t>
            </a:r>
            <a:endParaRPr lang="en-US" sz="1250" dirty="0"/>
          </a:p>
          <a:p>
            <a:pPr indent="0" marL="0">
              <a:buNone/>
            </a:pPr>
            <a:r>
              <a:rPr lang="en-US" sz="1050" i="1" dirty="0">
                <a:solidFill>
                  <a:srgbClr val="8A6D1E"/>
                </a:solidFill>
                <a:latin typeface="Calibri" pitchFamily="34" charset="0"/>
                <a:cs typeface="Amiri" pitchFamily="2" charset="-78"/>
              </a:rPr>
              <a:t>Comparative + min.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هُوَ أَكْثَرُ ثِقَةً مِنْ أَخِيهِ.</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more confident than his brother.</a:t>
            </a:r>
            <a:endParaRPr lang="en-US" sz="1250" dirty="0"/>
          </a:p>
          <a:p>
            <a:pPr indent="0" marL="0">
              <a:buNone/>
            </a:pPr>
            <a:r>
              <a:rPr lang="en-US" sz="1050" i="1" dirty="0">
                <a:solidFill>
                  <a:srgbClr val="8A6D1E"/>
                </a:solidFill>
                <a:latin typeface="Calibri" pitchFamily="34" charset="0"/>
                <a:cs typeface="Amiri" pitchFamily="2" charset="-78"/>
              </a:rPr>
              <a:t>More +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أُفَضِّلُ الحِذَاءَ الأَسْوَدَ عَلَى البُنِّيِّ.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prefer the black shoes to the brown ones.</a:t>
            </a:r>
            <a:endParaRPr lang="en-US" sz="1250" dirty="0"/>
          </a:p>
          <a:p>
            <a:pPr indent="0" marL="0">
              <a:buNone/>
            </a:pPr>
            <a:r>
              <a:rPr lang="en-US" sz="1050" i="1" dirty="0">
                <a:solidFill>
                  <a:srgbClr val="8A6D1E"/>
                </a:solidFill>
                <a:latin typeface="Calibri" pitchFamily="34" charset="0"/>
                <a:cs typeface="Amiri" pitchFamily="2" charset="-78"/>
              </a:rPr>
              <a:t>Preference.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هُوَ الخِيَارُ الأَفْضَلُ.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the best choice.</a:t>
            </a:r>
            <a:endParaRPr lang="en-US" sz="1250" dirty="0"/>
          </a:p>
          <a:p>
            <a:pPr indent="0" marL="0">
              <a:buNone/>
            </a:pPr>
            <a:r>
              <a:rPr lang="en-US" sz="1050" i="1" dirty="0">
                <a:solidFill>
                  <a:srgbClr val="8A6D1E"/>
                </a:solidFill>
                <a:latin typeface="Calibri" pitchFamily="34" charset="0"/>
                <a:cs typeface="Amiri" pitchFamily="2" charset="-78"/>
              </a:rPr>
              <a:t>Superlative.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COMPARING PEOPLE AND CLOTHES — MORE, LESS AND BETTER”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is …-er?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bicycle vs car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shirt vs that one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reading vs games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القِرَاءَةُ أَفْضَلُ لِي مِنَ الأَلْعَابِ.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الدَّرَّاجَةُ أَرْخَصُ مِنَ السَّيَّارَةِ.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القَمِيصُ أَجْمَلُ مِنْ ذَاكَ.</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bicycle vs car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الدَّرَّاجَةُ أَرْخَصُ مِنَ السَّيَّارَةِ.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bicycle is cheaper than the car.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shirt vs that one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القَمِيصُ أَجْمَلُ مِنْ ذَاكَ.</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shirt is more beautiful than that one.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reading vs games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القِرَاءَةُ أَفْضَلُ لِي مِنَ الأَلْعَابِ.</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Reading is better for me than games.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Accurate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أَرْخَصُ مِنْ ذٰلِكَ.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هِيَ أَكْثَرُ ثِقَةً مِنْهُ.</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أُفَضِّلُ الأَزْرَقَ عَلَى الأَسْوَدِ.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الخِيَارُ الأَفْضَلُ.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غَالٍ مِنْ ذٰلِكَ.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هِيَ طَوِيلَةٌ مِنْ أُخْتِهَا.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أَكْثَرُ وَاثِقٌ.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أَطْوَلُ أَخِي.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أَرْخَصُ مِنْ ذٰلِكَ.</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هِيَ أَكْثَرُ ثِقَةً مِنْهُ.</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أُفَضِّلُ الأَزْرَقَ عَلَى الأَسْوَدِ.</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الخِيَارُ الأَفْضَلُ.</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غَالٍ مِنْ ذٰلِكَ.</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هِيَ طَوِيلَةٌ مِنْ أُخْتِهَا.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أَكْثَرُ وَاثِقٌ.</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أَطْوَلُ أَخِي.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superlative.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أَفْضَلُ مِنْ ذٰلِكَ.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جَيِّدٌ.</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الخِيَارُ الأَفْضَلُ.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هٰذِهِ السُّتْرَةُ ___ رَسْمِيَّةً مِنْ تِلْكَ.</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أَقْصَرُ</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أَقَلُّ</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أَرْخَصُ</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comparison.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عَلِيٌّ صَبُورٌ أَكْثَرَ أَخِيهِ.</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عَلِيٌّ أَكْثَرُ صَبْرًا مِنْ أَخِيهِ.</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عَلِيٌّ الأَصْبَرُ مِنْ أَخِيهِ.</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compares equal degree?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أَفْضَلُ مِنْهَا.</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الأَغْلَى.</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هُمَا مُتَشَابِهَانِ فِي الأَنَاقَةِ.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superlative.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أَفْضَلُ مِنْ ذٰلِكَ.</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جَيِّدٌ.</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 الخِيَارُ الأَفْضَلُ.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a:t>
            </a:r>
            <a:pPr algn="l" indent="0" marL="0">
              <a:buNone/>
            </a:pPr>
            <a:r>
              <a:rPr lang="ar-SA" altLang="en-US" sz="1350" dirty="0">
                <a:solidFill>
                  <a:srgbClr val="8A6D1E"/>
                </a:solidFill>
                <a:latin typeface="Amiri" pitchFamily="2" charset="-78"/>
                <a:cs typeface="Amiri" pitchFamily="2" charset="-78"/>
              </a:rPr>
              <a:t>الأَفْضَلُ</a:t>
            </a:r>
            <a:pPr algn="l" indent="0" marL="0">
              <a:buNone/>
            </a:pPr>
            <a:r>
              <a:rPr lang="en-US" sz="1050" i="1" dirty="0">
                <a:solidFill>
                  <a:srgbClr val="8A6D1E"/>
                </a:solidFill>
                <a:latin typeface="Calibri" pitchFamily="34" charset="0"/>
                <a:cs typeface="Amiri" pitchFamily="2" charset="-78"/>
              </a:rPr>
              <a:t> means the best.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هٰذِهِ السُّتْرَةُ ___ رَسْمِيَّةً مِنْ تِلْكَ.</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أَقْصَرُ</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أَقَلُّ</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أَرْخَصُ</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أَقَلُّ رَسْمِيَّةً</a:t>
            </a:r>
            <a:pPr algn="l" indent="0" marL="0">
              <a:buNone/>
            </a:pPr>
            <a:r>
              <a:rPr lang="en-US" sz="1050" i="1" dirty="0">
                <a:solidFill>
                  <a:srgbClr val="8A6D1E"/>
                </a:solidFill>
                <a:latin typeface="Calibri" pitchFamily="34" charset="0"/>
                <a:cs typeface="Amiri" pitchFamily="2" charset="-78"/>
              </a:rPr>
              <a:t> means less formal.</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comparison.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عَلِيٌّ صَبُورٌ أَكْثَرَ أَخِيهِ.</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عَلِيٌّ أَكْثَرُ صَبْرًا مِنْ أَخِيهِ.</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عَلِيٌّ الأَصْبَرُ مِنْ أَخِيهِ.</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أَكْثَرُ صَبْرًا مِنْ</a:t>
            </a:r>
            <a:pPr algn="l" indent="0" marL="0">
              <a:buNone/>
            </a:pPr>
            <a:r>
              <a:rPr lang="en-US" sz="1050" i="1" dirty="0">
                <a:solidFill>
                  <a:srgbClr val="8A6D1E"/>
                </a:solidFill>
                <a:latin typeface="Calibri" pitchFamily="34" charset="0"/>
                <a:cs typeface="Amiri" pitchFamily="2" charset="-78"/>
              </a:rPr>
              <a:t> is accurate.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compares equal degree?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أَفْضَلُ مِنْهَا.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الأَغْلَى.</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هُمَا مُتَشَابِهَانِ فِي الأَنَاقَةِ.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expresses similarity.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هٰذَا المِعْطَفُ غَالٍ مِنْ ذٰلِكَ.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Expensive → which comparative?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سَارَةُ طَوِيلَةٌ مِنْ أُخْتِهَا.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For a girl, does aṭwal change?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هُوَ أَكْثَرُ وَاثِقٌ مِنْ أَخِيهِ.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More + adjective or +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هٰذَا المِعْطَفُ غَالٍ مِنْ ذٰلِكَ.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هٰذَا المِعْطَفُ أَغْلَى مِنْ ذٰلِكَ.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comparative form before </a:t>
            </a:r>
            <a:pPr algn="l" indent="0" marL="0">
              <a:buNone/>
            </a:pPr>
            <a:r>
              <a:rPr lang="ar-SA" altLang="en-US" sz="1500" b="1" dirty="0">
                <a:solidFill>
                  <a:srgbClr val="1B3B6F"/>
                </a:solidFill>
                <a:latin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سَارَةُ طَوِيلَةٌ مِنْ أُخْتِهَا.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سَارَةُ أَطْوَلُ مِنْ أُخْتِهَا.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comparative has one form, even for a girl.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هُوَ أَكْثَرُ وَاثِقٌ مِنْ أَخِيهِ.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هُوَ أَكْثَرُ ثِقَةً مِنْ أَخِيهِ.</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أَكْثَرُ</a:t>
            </a:r>
            <a:pPr algn="l" indent="0" marL="0">
              <a:buNone/>
            </a:pPr>
            <a:r>
              <a:rPr lang="en-US" sz="1150" b="1" dirty="0">
                <a:solidFill>
                  <a:srgbClr val="1B3B6F"/>
                </a:solidFill>
                <a:latin typeface="Calibri" pitchFamily="34" charset="0"/>
                <a:cs typeface="Amiri" pitchFamily="2" charset="-78"/>
              </a:rPr>
              <a:t> + a noun ending in -an.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focus: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Hasan comparing?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shirts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jackets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friends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shirt is cheaper?</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black one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cost the same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one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more elegant?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one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black one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blue shirt more comfortable?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made of cotton</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bigger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new</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shirt does he choose?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black one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one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most suitable for everyday use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most elegant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friend has one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أَرْخَصُ</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أَكْثَرُ أَنَاقَةً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يَخْتَارُ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يُقَارِنُ حَسَنٌ بَيْنَ قَمِيصَيْنِ.</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Hasan is comparing two shirts.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القَمِيصُ الأَزْرَقُ أَرْخَصُ مِنَ الأَسْوَدِ، وَلٰكِنَّ الأَسْوَدَ أَكْثَرُ أَنَاقَةً.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shirt is cheaper than the black one, but the black one is more elegant.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الأَزْرَقُ أَيْضًا أَكْثَرُ رَاحَةً لِأَنَّهُ مَصْنُوعٌ مِنَ القُطْنِ.</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one is also more comfortable because it is made of cotton.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النِّهَايَةِ يَخْتَارُ حَسَنٌ القَمِيصَ الأَزْرَقَ</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end Hasan chooses the blue shirt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لِأَنَّهُ الأَكْثَرُ مُنَاسَبَةً لِلاِسْتِعْمَالِ اليَوْمِيِّ.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it is the most suitable for everyday use.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Hasan comparing?</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shirts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jackets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friends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يُقَارِنُ حَسَنٌ بَيْنَ قَمِيصَيْنِ.</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shirt is cheaper?</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black one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cost the same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blue one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القَمِيصُ الأَزْرَقُ أَرْخَصُ مِنَ الأَسْوَدِ.</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more elegant?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blue one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black one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الأَسْوَدَ أَكْثَرُ أَنَاقَةً.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blue shirt more comfortable?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made of cotton</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bigger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new</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لِأَنَّهُ مَصْنُوعٌ مِنَ القُطْنِ.</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shirt does he choose?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black one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blue one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يَخْتَارُ حَسَنٌ القَمِيصَ الأَزْرَقَ.</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the most suitable for everyday use</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most elegant</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friend has one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الأَكْثَرُ مُنَاسَبَةً لِلاِسْتِعْمَالِ اليَوْمِيِّ.</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أَرْخَصُ</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أَكْثَرُ أَنَاقَةً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يَخْتَارُ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Developed speaking: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 نَوْعَيْنِ مِنَ المَلَابِسِ.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 شَخْصَيْنِ تَعْرِفُهُمَا.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الخِيَارُ الأَفْضَلُ لِلْمَدْرَسَةِ؟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السِّعْرُ الأَهَمُّ عِنْدَ الشِّرَاءِ؟</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___ أَرْخَصُ / أَغْلَى مِنْ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أَكْثَرُ ثِقَةً / صَبْرًا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أُفَضِّلُ ___ عَلَى ___ لِأَنَّهُ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السِّعْرُ مُهِمٌّ ، وَلٰكِنَّ ___ أَهَمُّ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أَيُّ القَمِيصَيْنِ أَفْضَلُ؟</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of the two shirts is better?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الأَزْرَقُ أَرْخَصُ، وَلٰكِنَّ الأَسْوَدَ أَكْثَرُ أَنَاقَةً.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blue one is cheaper, but the black one is more elegant.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items of clothing: price, length, colour and which you prefer.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people with more / less + noun, and give your preference with a reason.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two people or two clothing choices — five comparisons, one similarity, one preference and reasons.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أَكْثَرُ ثِقَةً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more confident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أَهْدَأُ وَأَكْثَرُ صَبْرًا.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calmer and more patient.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الأُسْلُوبُ أَقَلُّ رَسْمِيَّةً.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style is less formal.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هُمَا مُتَشَابِهَانِ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They are alike in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الأَكْثَرُ مُنَاسَبَةً لِـ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the most suitable for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أَرْخَصُ مِنْ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cheaper than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أَغْلَى مِنْ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more expensive than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أَطْوَلُ مِنْ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longer / taller than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______ عَلَى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to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هُوَ الأَفْضَلُ.</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the best.</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أَطْوَلُ  ·  أَقْصَرُ  ·  أَرْخَصُ  ·  أَغْلَى  ·  أَجْمَلُ  ·  أَفْضَلُ  ·  أَكْثَرُ ثِقَةً  ·  أَكْثَرُ صَبْرًا  ·  أَقَلُّ رَسْمِيَّةً  ·  مِنْ  ·  أُفَضِّلُ … عَلَى  ·  الأَفْضَلُ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comparing two people or two clothing choices. Include at least five comparisons, one similarity, one preference and reasons.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سَأُقَارِنُ بَيْنَ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compare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أَكْثَرُ ثِقَةً عِنْدَ التَّحَدُّثِ</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confident when speaking</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هُمَا مُتَشَابِهَانِ فِي الكَرَمِ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are alike in generosity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يُمْكِنُ القَوْلُ إِنَّ أَحَدَهُمَا أَفْضَلُ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cannot say that one of them is better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لِكُلٍّ مِنْهُمَا صِفَاتٌ مُمَيَّزَةٌ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each of them has special qualities</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سَأُقَارِنُ بَيْنَ صَدِيقَيْنِ لِي، عُمَرَ وَيُوسُفَ. عُمَرُ أَطْوَلُ مِنْ يُوسُفَ، وَلٰكِنَّ يُوسُفَ أَكْثَرُ ثِقَةً عِنْدَ التَّحَدُّثِ. عُمَرُ أَهْدَأُ وَأَكْثَرُ صَبْرًا، بَيْنَمَا يُوسُفُ أَكْثَرُ مَرَحًا. أُسْلُوبُ عُمَرَ أَقَلُّ رَسْمِيَّةً، وَهُوَ يُفَضِّلُ المَلَابِسَ العَمَلِيَّةَ. أَمَّا يُوسُفُ فَيَخْتَارُ مَلَابِسَ أَكْثَرَ أَنَاقَةً. هُمَا مُتَشَابِهَانِ فِي الكَرَمِ وَالتَّعَاوُنِ. فِي رَأْيِي، لَا يُمْكِنُ القَوْلُ إِنَّ أَحَدَهُمَا أَفْضَلُ مِنَ الآخَرِ، لِأَنَّ لِكُلٍّ مِنْهُمَا صِفَاتٍ مُمَيَّزَةً.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will compare two friends of mine, Omar and Yusuf. Omar is taller than Yusuf, but Yusuf is more confident when speaking. Omar is calmer and more patient, whereas Yusuf is more cheerful. Omar’s style is less formal, and he prefers practical clothes. As for Yusuf, he chooses more elegant clothes. They are alike in generosity and helpfulness. In my opinion, you cannot say that one of them is better than the other, because each of them has special qualities.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short comparative +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أَكْثَرُ / أَقَلُّ + noun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similarity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fair conclusion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…-er than (min)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what I prefer.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 less + a noun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reason for my preference.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superlative or a similarity.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expensive than”.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أَغْلَى مِنْ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غَالٍ مِنْ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غَالِيًا 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مِنْ أُخْتِهَا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طَوِيلَةٌ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أَطْوَلُ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الأَطْوَلَ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ثِقَةً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وَاثِقٌ</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وَاثِقٌ مِنْ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expensive than”.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أَغْلَى مِنْ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غَالٍ مِنْ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أَكْثَرُ غَالِيًا 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أَغْلَى مِنْ</a:t>
            </a:r>
            <a:pPr algn="l" indent="0" marL="0">
              <a:buNone/>
            </a:pPr>
            <a:r>
              <a:rPr lang="en-US" sz="1050" i="1" dirty="0">
                <a:solidFill>
                  <a:srgbClr val="8A6D1E"/>
                </a:solidFill>
                <a:latin typeface="Calibri" pitchFamily="34" charset="0"/>
                <a:cs typeface="Amiri" pitchFamily="2" charset="-78"/>
              </a:rPr>
              <a:t> is the standard comparative.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مِنْ أُخْتِهَا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طَوِيلَةٌ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أَطْوَلُ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الأَطْوَلَ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comparative +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أَكْثَرُ ثِقَةً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أَكْثَرُ وَاثِقٌ</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وَاثِقٌ مِنْ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أَكْثَرُ</a:t>
            </a:r>
            <a:pPr algn="l" indent="0" marL="0">
              <a:buNone/>
            </a:pPr>
            <a:r>
              <a:rPr lang="en-US" sz="1050" i="1" dirty="0">
                <a:solidFill>
                  <a:srgbClr val="8A6D1E"/>
                </a:solidFill>
                <a:latin typeface="Calibri" pitchFamily="34" charset="0"/>
                <a:cs typeface="Amiri" pitchFamily="2" charset="-78"/>
              </a:rPr>
              <a:t> + verbal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focus: comparison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تُقَارِنُ كَاتِبَةٌ بَيْنَ أُخْتَيْنِ. لَيْلَى أَطْوَلُ مِنْ مَرْيَمَ، وَلٰكِنَّ مَرْيَمَ أَكْثَرُ ثِقَةً عِنْدَ التَّحَدُّثِ. لَيْلَى أَهْدَأُ وَأَكْثَرُ صَبْرًا، بَيْنَمَا مَرْيَمُ أَكْثَرُ مَرَحًا وَاجْتِمَاعِيَّةً. أُسْلُوبُ لَيْلَى أَقَلُّ رَسْمِيَّةً، أَمَّا مَرْيَمُ فَتُفَضِّلُ المَلَابِسَ الأَكْثَرَ أَنَاقَةً. الكَاتِبَةُ تَرَى أَنَّ كُلَّ وَاحِدَةٍ لَهَا نِقَاطُ قُوَّةٍ مُخْتَلِفَةٌ.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تُقَارِنُ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compares (f.)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كَاتِبَةٌ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(female) writer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أُخْتَيْنِ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sisters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عِنْدَ التَّحَدُّثِ</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when speaking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أَهْدَأُ</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calmer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أَكْثَرُ مَرَحًا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more cheerful</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اجْتِمَاعِيَّةً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sociable (-ness)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أَقَلُّ رَسْمِيَّةً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less formal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تَرَى أَنَّ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thinks that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نِقَاطُ قُوَّةٍ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strengths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the writer compare?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friends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sisters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brothers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taller?</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the same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more confident when speaking?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Layla described?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cheerful and sociable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calmer and more patient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elegant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style is less formal?</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conclude?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is better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 is better</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each sister has different strengths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the writer compare?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friends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sisters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brothers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تُقَارِنُ كَاتِبَةٌ بَيْنَ أُخْتَيْنِ.</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taller?</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the same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لَيْلَى أَطْوَلُ مِنْ مَرْيَمَ.</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more confident when speaking?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مَرْيَمَ أَكْثَرُ ثِقَةً عِنْدَ التَّحَدُّثِ.</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Layla described?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more cheerful and sociable</a:t>
            </a:r>
            <a:endParaRPr lang="en-US" sz="120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calmer and more patient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elegant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لَيْلَى أَهْدَأُ وَأَكْثَرُ صَبْرًا.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style is less formal?</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أُسْلُوبُ لَيْلَى أَقَلُّ رَسْمِيَّةً.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conclude?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 is better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 is better</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each sister has different strengths</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كُلَّ وَاحِدَةٍ لَهَا نِقَاطُ قُوَّةٍ مُخْتَلِفَةٌ.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comparison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expensive than”.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غَالٍ مِنْ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أَغْلَى مِنْ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غَالِيًا مِنْ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سَارَةُ ___ مِنْ أُخْتِهَا.</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أَطْوَلُ</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طَوِيلَةٌ</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الأَطْوَلَ</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وَاثِقٌ</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وَاثِقٌ مِنْ</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ثِقَةً</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preference?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مِثْلُ ذٰلِكَ.</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هُنَا.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هٰذَا عَلَى ذٰلِكَ.</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superlative.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الخِيَارُ الأَفْضَلُ.</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أَفْضَلُ مِنْ ذٰلِكَ.</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جَيِّدٌ.</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cs typeface="Amiri" pitchFamily="2" charset="-78"/>
              </a:rPr>
              <a:t>هٰذِهِ السُّتْرَةُ ___ رَسْمِيَّةً مِنْ تِلْكَ.</a:t>
            </a:r>
            <a:endParaRPr lang="ar-SA" sz="11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أَقْصَرُ</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أَقَلُّ</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أَرْخَصُ</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expensive than”.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غَالٍ مِنْ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أَغْلَى مِنْ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أَكْثَرُ غَالِيًا مِنْ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أَغْلَى مِنْ</a:t>
            </a:r>
            <a:pPr algn="l" indent="0" marL="0">
              <a:buNone/>
            </a:pPr>
            <a:r>
              <a:rPr lang="en-US" sz="1050" i="1" dirty="0">
                <a:solidFill>
                  <a:srgbClr val="8A6D1E"/>
                </a:solidFill>
                <a:latin typeface="Calibri" pitchFamily="34" charset="0"/>
                <a:cs typeface="Amiri" pitchFamily="2" charset="-78"/>
              </a:rPr>
              <a:t> is the standard comparative.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سَارَةُ ___ مِنْ أُخْتِهَا.</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أَطْوَلُ</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طَوِيلَةٌ</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الأَطْوَلَ</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comparative +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أَكْثَرُ وَاثِقٌ</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وَاثِقٌ مِنْ</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أَكْثَرُ ثِقَةً</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أَكْثَرُ</a:t>
            </a:r>
            <a:pPr algn="l" indent="0" marL="0">
              <a:buNone/>
            </a:pPr>
            <a:r>
              <a:rPr lang="en-US" sz="1050" i="1" dirty="0">
                <a:solidFill>
                  <a:srgbClr val="8A6D1E"/>
                </a:solidFill>
                <a:latin typeface="Calibri" pitchFamily="34" charset="0"/>
                <a:cs typeface="Amiri" pitchFamily="2" charset="-78"/>
              </a:rPr>
              <a:t> + verbal noun.</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preference?</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مِثْلُ ذٰلِكَ.</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هُنَا.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أُفَضِّلُ هٰذَا عَلَى ذٰلِكَ.</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أُفَضِّلُ</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 expresses preference.</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superlative.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 الخِيَارُ الأَفْضَلُ.</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أَفْضَلُ مِنْ ذٰلِكَ.</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جَيِّدٌ.</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a:t>
            </a:r>
            <a:pPr algn="l" indent="0" marL="0">
              <a:buNone/>
            </a:pPr>
            <a:r>
              <a:rPr lang="ar-SA" altLang="en-US" sz="1350" dirty="0">
                <a:solidFill>
                  <a:srgbClr val="8A6D1E"/>
                </a:solidFill>
                <a:latin typeface="Amiri" pitchFamily="2" charset="-78"/>
                <a:cs typeface="Amiri" pitchFamily="2" charset="-78"/>
              </a:rPr>
              <a:t>الأَفْضَلُ</a:t>
            </a:r>
            <a:pPr algn="l" indent="0" marL="0">
              <a:buNone/>
            </a:pPr>
            <a:r>
              <a:rPr lang="en-US" sz="1050" i="1" dirty="0">
                <a:solidFill>
                  <a:srgbClr val="8A6D1E"/>
                </a:solidFill>
                <a:latin typeface="Calibri" pitchFamily="34" charset="0"/>
                <a:cs typeface="Amiri" pitchFamily="2" charset="-78"/>
              </a:rPr>
              <a:t> means the best.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cs typeface="Amiri" pitchFamily="2" charset="-78"/>
              </a:rPr>
              <a:t>هٰذِهِ السُّتْرَةُ ___ رَسْمِيَّةً مِنْ تِلْكَ.</a:t>
            </a:r>
            <a:endParaRPr lang="ar-SA" sz="11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أَقْصَرُ</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أَقَلُّ</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أَرْخَصُ</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أَقَلُّ رَسْمِيَّةً</a:t>
            </a:r>
            <a:pPr algn="l" indent="0" marL="0">
              <a:buNone/>
            </a:pPr>
            <a:r>
              <a:rPr lang="en-US" sz="1050" i="1" dirty="0">
                <a:solidFill>
                  <a:srgbClr val="8A6D1E"/>
                </a:solidFill>
                <a:latin typeface="Calibri" pitchFamily="34" charset="0"/>
                <a:cs typeface="Amiri" pitchFamily="2" charset="-78"/>
              </a:rPr>
              <a:t> means less formal.</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D2-L06 · Describing Appearance — A Full Physical Portrait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طَوِيلُ / طَوِيلَةُ القَامَةِ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tall (m. / f.)</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قَصِيرُ / قَصِيرَةُ القَامَةِ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short (m. / f.)</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شَعْرٌ مُجَعَّدٌ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curly hair</a:t>
            </a:r>
            <a:pPr indent="0" marL="0">
              <a:buNone/>
            </a:pPr>
            <a:r>
              <a:rPr lang="en-US" sz="1000" i="1" dirty="0">
                <a:solidFill>
                  <a:srgbClr val="5A6472"/>
                </a:solidFill>
                <a:latin typeface="Calibri" pitchFamily="34" charset="0"/>
                <a:cs typeface="Amiri" pitchFamily="2" charset="-78"/>
              </a:rPr>
              <a:t>  straight: مُسْتَقِيمٌ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عَيْنَانِ بُنِّيَّتَانِ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brown eyes</a:t>
            </a:r>
            <a:pPr indent="0" marL="0">
              <a:buNone/>
            </a:pPr>
            <a:r>
              <a:rPr lang="en-US" sz="1000" i="1" dirty="0">
                <a:solidFill>
                  <a:srgbClr val="5A6472"/>
                </a:solidFill>
                <a:latin typeface="Calibri" pitchFamily="34" charset="0"/>
                <a:cs typeface="Amiri" pitchFamily="2" charset="-78"/>
              </a:rPr>
              <a:t>  one eye: عَيْنٌ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يَرْتَدِي / تَرْتَدِي نَظَّارَةً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 she wears glasses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a famous person or a character from a book. How would you describe their appearance?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كَيْفَ شَكْلُهُ؟ كَيْفَ شَكْلُهَا؟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D2-L05: the picture game and the comparatives on the vocabulary tab.</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comparisons between two people or two outfits.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comparing two people or two clothing choices.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D2-L06 · Describing Appearance — A Full Physical Portrait</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وَصْفُ المَظْهَرِ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aṭwalu min — one form for everyone; more + noun ends in -an.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D2-L05 · Comparing People and Clothes — More, Less and Better</dc:title>
  <dc:subject>PptxGenJS Presentation</dc:subject>
  <dc:creator>Al Madina Online School · Arabic Department</dc:creator>
  <cp:lastModifiedBy>Al Madina Online School · Arabic Department</cp:lastModifiedBy>
  <cp:revision>1</cp:revision>
  <dcterms:created xsi:type="dcterms:W3CDTF">2026-10-11T06:40:36Z</dcterms:created>
  <dcterms:modified xsi:type="dcterms:W3CDTF">2026-10-11T06:40:36Z</dcterms:modified>
</cp:coreProperties>
</file>