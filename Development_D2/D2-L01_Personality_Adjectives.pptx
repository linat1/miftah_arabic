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Lst>
  <p:notesMasterIdLst>
    <p:notesMasterId r:id="rId47"/>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notesMaster" Target="notesMasters/notes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Development › D2 People, Relationships and Style › D2-L01. The website lesson “Personality Adjectives — What Is He / She Like?”: vocabulary, grammar rules and quiz, patterns, common mistakes, sorter, listening, reading, speaking prompts and model, writing task and model, differentiation, final check and the lesson mission. Picture match: website visual game “Personality Adjectives — What Is He / She Like?”.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NEW UNIT (D2 · People, Relationships and Style). Core: 6 adjectives in BOTH forms (m. / f.) + “He is … / She is …” + one reason (because he / she helps …). Develop: add degree (very / somewhat / not very) and a second person. Stretch: balance (although / on the other hand) and evidence for every judgement.
• The he/she skill from D1-L06 carries straight over: هِيَ → adjective + ـةٌ, and the reason connector changes too (لِأَنَّهُ / لِأَنَّهَا).
• Sensitivity: describe friends, family or invented people kindly — negative words (أَنَانِيٌّ، عَصَبِيٌّ) are for fictional people or “sometimes”, never for classmates.
• Urdu bridge: صادق، صابر، کریم، مخلص / محنتی (not cognate), خوش مزاج.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1–2 test two of the five personality words prepared at home at the end of D1-L12. Questions 3–5 retrieve D1-L06 (he/she), D1-L07 (asking a girl) and a key connector.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GO THROUGH THE ANSWERS (2 min). Reveal and ask “why?” for each (● 10s think → named student, warned in advance).
Key idea for today (bottom-right card): An adjective describing HER takes -a(tun). The reason changes too: because he → لِأَنَّهُ, because she → لِأَنَّهَا.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route statements turn the website objectives into this lesson’s concrete targets.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صادق (Al-Sādiq), صابر and کریم are also names and attributes students know — same roots, same meanings. CAREFUL: مجتہد in Urdu is a religious scholar; in everyday Arabic مُجْتَهِدٌ is simply a hard-working student. مَرِحٌ has no Urdu cognate — link it to خوش مزاج by meaning.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Core personality adjectives (website vocabulary (1 of 2)). Hear → Say → See → Use. Transliteration is printed for Core students (cover it for Develop/Stretch).
Every card shows m. · f. · pl. Chant them: waḍūdun – waḍūdatun – waḍūdūna. The feminine adds -a(tun) (ـةٌ) to every adjective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Core personality adjectives (website vocabulary (2 of 2)). Hear → Say → See → Use. Transliteration is printed for Core students (cover it for Develop/Stretch).
Every card shows m. · f. · pl. Chant them: waḍūdun – waḍūdatun – waḍūdūna. The feminine adds -a(tun) (ـةٌ) to every adjective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Extended personality language (website vocabulary). Hear → Say → See → Use. Transliteration is printed for Core students (cover it for Develop/Stretch).
Extended words. كَرِيمٌ has a broken plural: كُرَمَاءُ. أَنَانِيٌّ and عَصَبِيٌّ are negative — use them with “sometimes” or “not very”.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Evidence and degree (website vocabulary (1 of 2)). Hear → Say → See → Use. Transliteration is printed for Core students (cover it for Develop/Stretch).
FLEX: teach if time allows; otherwise these are on the website vocabulary tab for homework.
Evidence and degree (FLEX): these connectors repeat in every D2 lesson — the website lists them each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Evidence and degree (website vocabulary (2 of 2)). Hear → Say → See → Use. Transliteration is printed for Core students (cover it for Develop/Stretch).
FLEX: teach if time allows; otherwise these are on the website vocabulary tab for homework.
Evidence and degree (FLEX): these connectors repeat in every D2 lesson — the website lists them each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1 — website rules “Adjective agreement” (the adjective matches the person; many feminine forms add ـةٌ) and “Ask what someone is like” (كَيْفَ هُوَ؟ / كَيْفَ هِيَ؟) and the website m./f. table. The plural column is teacher-added (the user’s m / f / pl routine) — Core only needs m. and f.
Website common error: هِيَ صَبُورٌ ✗ → هِيَ صَبُورَةٌ ✓ (“Do not describe a female person with an unmodified masculine adjective”).
Quick-fire: say a name (خَالِدٌ / زَيْنَبُ / أَخِي وَأُخْتِي) + an adjective; students say the right 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2 — website rules “Strengthen or soften a description” (جِدًّا / نَوْعًا مَا / لَيْسَ … جِدًّا) and “Justify with evidence” (صِفَةٌ + لِأَنَّهُ / لِأَنَّهَا + دَلِيلٌ).
Stretch grammar: after لَيْسَ the adjective takes -an (accusative): لَيْسَ أَنَانِيًّا; for “she” use لَيْسَتْ + -atan: لَيْسَتْ خَجُولَةً (from the listening script).
Website teaching point: “In every extended answer, add evidence, a reason, comparison or contrast rather than stopping after one clause.”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WEBSITE GRAMMAR RULES AND EXAMPLES (FLEX — revision or homework). Website overview: “Control masculine and feminine adjective agreement, degree expressions and reasons that prove a judgement.”
• Adjective agreement: The adjective matches the person described. Many feminine forms add ـةٌ.
• Ask what someone is like: Use كَيْفَ with the correct pronoun, then answer with a complete description.
• Strengthen or soften a description: Degree expressions make the judgement more precise.
• Justify with evidence: A convincing description includes behaviour that proves the adjective.
Website common error: Do not describe a female person with an unmodified masculine adjective.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 2, 4, 5.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website patterns combined into two short portraits, with a think-aloud (“him or her? how much? what is the proof?”). Students copy it, colour him blue and her pink, and underline every “because”.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patterns. Students copy TWO that are useful for them.
• Core: copy one and change one word. • Develop: copy two and change the subject. • Stretch: combine two into one longer sentence with a connector.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the website’s interactive lesson game (“Visual game — Personality Adjectives — What Is He / She Like?”)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Ask: which word tells you it is a GIRL? (the -a(tun) ending AND هِيَ). Other cards for homework: لَطِيفٌ وَمُسَاعِدٌ (kind and helpful), اِجْتِمَاعِيٌّ (sociable), كَرِيمَةٌ (generous).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the website’s interactive lesson game (“Visual game — Personality Adjectives — What Is He / She Like?”)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Ask: which word tells you it is a GIRL? (the -a(tun) ending AND هِيَ). Other cards for homework: لَطِيفٌ وَمُسَاعِدٌ (kind and helpful), اِجْتِمَاعِيٌّ (sociable), كَرِيمَةٌ (generous).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website sorter (2 min). Website instruction: Match each behaviour to the best Arabic personality description.
Then ask: which ADJECTIVE does each behaviour prove? (يُسَاعِدُ الآخَرِينَ → مُتَعَاوِنٌ · يَقُولُ الحَقَّ → صَادِقٌ · لَا يَسْتَمِعُ → not patient · يَأْخُذُ كُلَّ شَيْءٍ لِنَفْسِهِ → أَنَانِيٌّ).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website sorter (2 min). Website instruction: Match each behaviour to the best Arabic personality description.
Then ask: which ADJECTIVE does each behaviour prove? (يُسَاعِدُ الآخَرِينَ → مُتَعَاوِنٌ · يَقُولُ الحَقَّ → صَادِقٌ · لَا يَسْتَمِعُ → not patient · يَأْخُذُ كُلَّ شَيْءٍ لِنَفْسِهِ → أَنَانِيٌّ).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questions 3, 6, 7, 8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(4 min) — website script. Read it aloud yourself, twice, at natural speed with pauses.
Before listening: students read the questions (● 30s). Core: questions 1, 2 and 6. Develop / Stretch: all 6.
Listen 1: just listen. Listen 2: note answers. Then chat the letters.
Support: after the second listening, show the read-along slide (Arabic + English, line by line) for Core students.
SCRIPT (read aloud):
تَتَحَدَّثُ نُورُ عَنْ زَمِيلَتِهَا سَلْمَى. تَقُولُ إِنَّ سَلْمَى هَادِئَةٌ وَصَبُورَةٌ، وَلٰكِنَّهَا لَيْسَتْ خَجُولَةً. هِيَ وَاثِقَةٌ عِنْدَمَا تَتَحَدَّثُ أَمَامَ الفَصْلِ، وَمُتَعَاوِنَةٌ لِأَنَّهَا تُسَاعِدُ الطَّالِبَاتِ الجَدِيدَاتِ. أَحْيَانًا تَكُونُ جَادَّةً جِدًّا، وَلٰكِنَّهَا مَرِحَةٌ مَعَ صَدِيقَاتِهَا.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A: مَا الدَّلِيلُ؟ (What is the evidence?)
B: تُسَاعِدُنِي عِنْدَمَا أَحْتَاجُ إِلَيْهَا. (She helps me when I need her.)
Website prompts (order changed so Core starts with the simplest). Website model continues: A: مَا الدَّلِيلُ؟ (What is the evidence?) B: تُسَاعِدُنِي عِنْدَمَا أَحْتَاجُ إِلَيْهَا. (She helps me when I need her.) — the class asks “مَا الدَّلِيلُ؟” after every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Secure the main vocabulary and produce four accurate sentences using the taught frame. · Develop — Combine description, grammar and a reason in connected answers. · Stretch — Add comparison, contrast, precise evidence and an independently controlled relative clause.
Website writing task (Stretch): Write 100–120 Arabic words describing two people. Include personality adjectives, evidence, one contrast and your opinion about the most important quality.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FEEDBACK (1 min) — website model answer, with an English translation for Core students.
Students find in the model (● 20s → ◎) the four items on the chips. Evidence: هَادِئٌ، صَادِقٌ، مُجْتَهِدٌ / مَرِحَةٌ، وَاثِقَةٌ · مُجْتَهِدٌ لِأَنَّهُ يُنَظِّمُ عَمَلَهُ · بَيْنَمَا هِيَ أَكْثَرُ اجْتِمَاعِيَّةً · أَهَمُّ صِفَةٍ … لِأَنَّهُ يَبْنِي الثِّقَةَ. Stretch: note the comparatives أَكْثَرُ هُدُوءًا / أَكْثَرُ اجْتِمَاعِيَّةً (taught fully in D2-L05).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6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LESSON MISSION (FLEX) — fast finishers 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(D2-L02 · Relationships — Family, Friends and How We Get On) will spend class time USING this language, so students prepare it tonight — short, simple, easy to access (school guidance: “Simple, Short, Interesting, Relevant, Easy to access”). The five words come from the website D2-L02 vocabulary (relationship actions and outcomes).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slideLayout" Target="../slideLayouts/slideLayout1.xml"/><Relationship Id="rId8"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slideLayout" Target="../slideLayouts/slideLayout1.xml"/><Relationship Id="rId8"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8  ·  DEVELOPMENT D2  ·  D2-L01</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D2-L01</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Personality Adjectives — What Is He / She Like?</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الصِّفَاتُ الشَّخْصِيَّةُ — كَيْفَ هُوَ؟ كَيْفَ هِيَ؟</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Describe personality precisely: make every adjective agree (m. / f. / pl.), make it stronger or softer (</a:t>
            </a:r>
            <a:pPr algn="l" indent="0" marL="0">
              <a:buNone/>
            </a:pPr>
            <a:r>
              <a:rPr lang="ar-SA" altLang="en-US" sz="1800" dirty="0">
                <a:solidFill>
                  <a:srgbClr val="C6D2E6"/>
                </a:solidFill>
                <a:latin typeface="Amiri" pitchFamily="2" charset="-78"/>
                <a:ea typeface="Amiri" pitchFamily="2" charset="-78"/>
                <a:cs typeface="Amiri" pitchFamily="2" charset="-78"/>
              </a:rPr>
              <a:t>جِدًّا، نَوْعًا مَا، لَيْسَ</a:t>
            </a:r>
            <a:pPr algn="l" indent="0" marL="0">
              <a:buNone/>
            </a:pPr>
            <a:r>
              <a:rPr lang="en-US" sz="1400" dirty="0">
                <a:solidFill>
                  <a:srgbClr val="C6D2E6"/>
                </a:solidFill>
                <a:latin typeface="Calibri" pitchFamily="34" charset="0"/>
                <a:cs typeface="Amiri" pitchFamily="2" charset="-78"/>
              </a:rPr>
              <a:t> …), and prove it with behaviour (</a:t>
            </a:r>
            <a:pPr algn="l" indent="0" marL="0">
              <a:buNone/>
            </a:pPr>
            <a:r>
              <a:rPr lang="ar-SA" altLang="en-US" sz="1800" dirty="0">
                <a:solidFill>
                  <a:srgbClr val="C6D2E6"/>
                </a:solidFill>
                <a:latin typeface="Amiri" pitchFamily="2" charset="-78"/>
                <a:ea typeface="Amiri" pitchFamily="2" charset="-78"/>
                <a:cs typeface="Amiri" pitchFamily="2" charset="-78"/>
              </a:rPr>
              <a:t>لِأَنَّهُ / لِأَنَّهَا</a:t>
            </a:r>
            <a:pPr algn="l" indent="0" marL="0">
              <a:buNone/>
            </a:pPr>
            <a:r>
              <a:rPr lang="en-US" sz="1400" dirty="0">
                <a:solidFill>
                  <a:srgbClr val="C6D2E6"/>
                </a:solidFill>
                <a:latin typeface="Calibri" pitchFamily="34" charset="0"/>
                <a:cs typeface="Amiri" pitchFamily="2" charset="-78"/>
              </a:rPr>
              <a:t> …).</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D2-L01 · Development D2 · People, Relationships and Style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Development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Development › D2 › D2-L01</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D2-L01 · Personality</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D2-L01</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45</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D2-L01 · Personality</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D2-L01</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m. / f. / pl. adjectives, degree, and evidence.</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Picture match, sort the evidence, fix and listen.</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D2-L02.</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45</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D2-L01 · Personality</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صَبُورٌ / صَبُورَةٌ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honest</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patient</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calm</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مُجْتَهِدٌ / مُجْتَهِدَةٌ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hard-working</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friendly</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shy</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أُخْتِي يُحَضِّرُ حَقِيبَتَهُ.</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أُخْتِي تُحَضِّرُ حَقِيبَتَهُ.</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أُخْتِي تُحَضِّرُ حَقِيبَتَهَا.</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Ask a GIRL “What do you do?”</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مَاذَا تَفْعَلُ؟</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مَاذَا يَفْعَلُ؟</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مَاذَا تَفْعَلِينَ؟</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لِأَنَّ</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because</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but</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whereas</a:t>
            </a:r>
            <a:endParaRPr lang="en-US" sz="12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45</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D2-L01 · Personality</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صَبُورٌ / صَبُورَةٌ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honest</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patient</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calm</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(D1-L12).</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مُجْتَهِدٌ / مُجْتَهِدَةٌ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hard-working</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friendly</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shy</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(D1-L12).</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أُخْتِي يُحَضِّرُ حَقِيبَتَهُ.</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أُخْتِي تُحَضِّرُ حَقِيبَتَهُ.</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أُخْتِي تُحَضِّرُ حَقِيبَتَهَا.</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D1-L06: she → tu- + -hā.</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Ask a GIRL “What do you do?”</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مَاذَا تَفْعَلُ؟</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مَاذَا يَفْعَلُ؟</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مَاذَا تَفْعَلِينَ؟</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D1-L07: girl → -īna.</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لِأَنَّ</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because</a:t>
            </a:r>
            <a:endParaRPr lang="en-US" sz="125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but</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whereas</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D1 connectors.</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250" b="1" dirty="0">
                <a:solidFill>
                  <a:srgbClr val="1F2A37"/>
                </a:solidFill>
                <a:latin typeface="Calibri" pitchFamily="34" charset="0"/>
                <a:cs typeface="Amiri" pitchFamily="2" charset="-78"/>
              </a:rPr>
              <a:t>An adjective describing HER takes -a(tun). The reason changes too: because he → </a:t>
            </a:r>
            <a:pPr algn="l" indent="0" marL="0">
              <a:buNone/>
            </a:pPr>
            <a:r>
              <a:rPr lang="ar-SA" altLang="en-US" sz="1650" b="1" dirty="0">
                <a:solidFill>
                  <a:srgbClr val="1F2A37"/>
                </a:solidFill>
                <a:latin typeface="Amiri" pitchFamily="2" charset="-78"/>
                <a:ea typeface="Amiri" pitchFamily="2" charset="-78"/>
                <a:cs typeface="Amiri" pitchFamily="2" charset="-78"/>
              </a:rPr>
              <a:t>لِأَنَّهُ</a:t>
            </a:r>
            <a:pPr algn="l" indent="0" marL="0">
              <a:buNone/>
            </a:pPr>
            <a:r>
              <a:rPr lang="en-US" sz="1250" b="1" dirty="0">
                <a:solidFill>
                  <a:srgbClr val="1F2A37"/>
                </a:solidFill>
                <a:latin typeface="Calibri" pitchFamily="34" charset="0"/>
                <a:cs typeface="Amiri" pitchFamily="2" charset="-78"/>
              </a:rPr>
              <a:t>, because she → </a:t>
            </a:r>
            <a:pPr algn="l" indent="0" marL="0">
              <a:buNone/>
            </a:pPr>
            <a:r>
              <a:rPr lang="ar-SA" altLang="en-US" sz="1650" b="1" dirty="0">
                <a:solidFill>
                  <a:srgbClr val="1F2A37"/>
                </a:solidFill>
                <a:latin typeface="Amiri" pitchFamily="2" charset="-78"/>
                <a:ea typeface="Amiri" pitchFamily="2" charset="-78"/>
                <a:cs typeface="Amiri" pitchFamily="2" charset="-78"/>
              </a:rPr>
              <a:t>لِأَنَّهَا</a:t>
            </a:r>
            <a:pPr algn="l" indent="0" marL="0">
              <a:buNone/>
            </a:pPr>
            <a:r>
              <a:rPr lang="en-US" sz="1250" b="1" dirty="0">
                <a:solidFill>
                  <a:srgbClr val="1F2A37"/>
                </a:solidFill>
                <a:latin typeface="Calibri" pitchFamily="34" charset="0"/>
                <a:cs typeface="Amiri" pitchFamily="2" charset="-78"/>
              </a:rPr>
              <a:t>.</a:t>
            </a:r>
            <a:endParaRPr lang="en-US" sz="125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هُوَ صَبُورٌ </a:t>
            </a:r>
            <a:pPr rtl="1" algn="ctr" indent="0" marL="0">
              <a:lnSpc>
                <a:spcPct val="120000"/>
              </a:lnSpc>
              <a:buNone/>
            </a:pPr>
            <a:r>
              <a:rPr lang="ar-SA" altLang="en-US" sz="1950" b="1" dirty="0">
                <a:solidFill>
                  <a:srgbClr val="1D5FBF"/>
                </a:solidFill>
                <a:latin typeface="Amiri" pitchFamily="2" charset="-78"/>
                <a:ea typeface="Amiri" pitchFamily="2" charset="-78"/>
                <a:cs typeface="Amiri" pitchFamily="2" charset="-78"/>
              </a:rPr>
              <a:t>لِأَنَّهُ</a:t>
            </a:r>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 …  ·  هِيَ صَبُورَ</a:t>
            </a:r>
            <a:pPr rtl="1" algn="ctr" indent="0" marL="0">
              <a:lnSpc>
                <a:spcPct val="120000"/>
              </a:lnSpc>
              <a:buNone/>
            </a:pPr>
            <a:r>
              <a:rPr lang="ar-SA" altLang="en-US" sz="1950" b="1" dirty="0">
                <a:solidFill>
                  <a:srgbClr val="D6336C"/>
                </a:solidFill>
                <a:latin typeface="Amiri" pitchFamily="2" charset="-78"/>
                <a:ea typeface="Amiri" pitchFamily="2" charset="-78"/>
                <a:cs typeface="Amiri" pitchFamily="2" charset="-78"/>
              </a:rPr>
              <a:t>ةٌ</a:t>
            </a:r>
            <a:pPr rtl="1" algn="ctr" indent="0" marL="0">
              <a:lnSpc>
                <a:spcPct val="120000"/>
              </a:lnSpc>
              <a:buNone/>
            </a:pPr>
            <a:r>
              <a:rPr lang="ar-SA" altLang="en-US" sz="1950" b="1" dirty="0">
                <a:solidFill>
                  <a:srgbClr val="1B3B6F"/>
                </a:solidFill>
                <a:latin typeface="Amiri" pitchFamily="2" charset="-78"/>
                <a:cs typeface="Amiri" pitchFamily="2" charset="-78"/>
              </a:rPr>
              <a:t> </a:t>
            </a:r>
            <a:pPr rtl="1" algn="ctr" indent="0" marL="0">
              <a:lnSpc>
                <a:spcPct val="120000"/>
              </a:lnSpc>
              <a:buNone/>
            </a:pPr>
            <a:r>
              <a:rPr lang="ar-SA" altLang="en-US" sz="1950" b="1" dirty="0">
                <a:solidFill>
                  <a:srgbClr val="D6336C"/>
                </a:solidFill>
                <a:latin typeface="Amiri" pitchFamily="2" charset="-78"/>
                <a:ea typeface="Amiri" pitchFamily="2" charset="-78"/>
                <a:cs typeface="Amiri" pitchFamily="2" charset="-78"/>
              </a:rPr>
              <a:t>لِأَنَّهَا</a:t>
            </a:r>
            <a:pPr rtl="1" algn="ctr" indent="0" marL="0">
              <a:lnSpc>
                <a:spcPct val="120000"/>
              </a:lnSpc>
              <a:buNone/>
            </a:pPr>
            <a:r>
              <a:rPr lang="ar-SA" altLang="en-US" sz="1950" b="1" dirty="0">
                <a:solidFill>
                  <a:srgbClr val="1B3B6F"/>
                </a:solidFill>
                <a:latin typeface="Amiri" pitchFamily="2" charset="-78"/>
                <a:cs typeface="Amiri" pitchFamily="2" charset="-78"/>
              </a:rPr>
              <a:t> …</a:t>
            </a:r>
            <a:endParaRPr lang="ar-SA" sz="19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45</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D2-L01 · Personality</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D2-L01</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Control the key D2-L01 vocabulary in complete Arabic sentences.</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Understand and apply the target grammar: Adjective agreement and evidence.</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Extract precise evidence from an intermediate listening and reading text.</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Produce developed spoken and written Arabic with reasons and detail.</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describe a boy and a girl with three adjectives each.</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give one reason: because he / she …</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make a description stronger or softer.</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describe a group with plural adjectives.</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support every adjective with behaviour.</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balance a description (although …, on the other hand …).</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45</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ea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20 words from the website in 3 groups. Learn the CORE words first. Hear it → say it → see it → use it.</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Core personality adjectives · 8</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Extended personality language · 4</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Evidence and degree · 8</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صَادِقٌ</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‎صادق‎ </a:t>
            </a:r>
            <a:pPr indent="0" marL="0">
              <a:buNone/>
            </a:pPr>
            <a:r>
              <a:rPr lang="en-US" sz="950" b="1" dirty="0">
                <a:solidFill>
                  <a:srgbClr val="2E8B57"/>
                </a:solidFill>
                <a:latin typeface="Calibri" pitchFamily="34" charset="0"/>
                <a:cs typeface="Amiri" pitchFamily="2" charset="-78"/>
              </a:rPr>
              <a:t> sādiq · truthful, honest</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صَبُورٌ</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‎صابر‎ </a:t>
            </a:r>
            <a:pPr indent="0" marL="0">
              <a:buNone/>
            </a:pPr>
            <a:r>
              <a:rPr lang="en-US" sz="950" b="1" dirty="0">
                <a:solidFill>
                  <a:srgbClr val="2E8B57"/>
                </a:solidFill>
                <a:latin typeface="Calibri" pitchFamily="34" charset="0"/>
                <a:cs typeface="Amiri" pitchFamily="2" charset="-78"/>
              </a:rPr>
              <a:t> sābir · patient</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كَرِيمٌ</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‎کریم‎ </a:t>
            </a:r>
            <a:pPr indent="0" marL="0">
              <a:buNone/>
            </a:pPr>
            <a:r>
              <a:rPr lang="en-US" sz="950" b="1" dirty="0">
                <a:solidFill>
                  <a:srgbClr val="2E8B57"/>
                </a:solidFill>
                <a:latin typeface="Calibri" pitchFamily="34" charset="0"/>
                <a:cs typeface="Amiri" pitchFamily="2" charset="-78"/>
              </a:rPr>
              <a:t> karīm · generous, noble</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مُجْتَهِدٌ</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‎مجتہد‎ </a:t>
            </a:r>
            <a:pPr indent="0" marL="0">
              <a:buNone/>
            </a:pPr>
            <a:r>
              <a:rPr lang="en-US" sz="950" b="1" dirty="0">
                <a:solidFill>
                  <a:srgbClr val="2E8B57"/>
                </a:solidFill>
                <a:latin typeface="Calibri" pitchFamily="34" charset="0"/>
                <a:cs typeface="Amiri" pitchFamily="2" charset="-78"/>
              </a:rPr>
              <a:t> mujtahid · Urdu: religious scholar · Arabic: hard-working</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مَرِحٌ</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‎خوش مزاج‎ </a:t>
            </a:r>
            <a:pPr indent="0" marL="0">
              <a:buNone/>
            </a:pPr>
            <a:r>
              <a:rPr lang="en-US" sz="950" b="1" dirty="0">
                <a:solidFill>
                  <a:srgbClr val="2E8B57"/>
                </a:solidFill>
                <a:latin typeface="Calibri" pitchFamily="34" charset="0"/>
                <a:cs typeface="Amiri" pitchFamily="2" charset="-78"/>
              </a:rPr>
              <a:t> khush mizāj · cheerful (meaning only)</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45</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D2-L01 · Personality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Core personality adjectives (1 of 2)</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D2-L01</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896112"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وَدُودٌ / وَدُودَةٌ</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friendly</a:t>
            </a:r>
            <a:endParaRPr lang="en-US" sz="1350" dirty="0"/>
          </a:p>
          <a:p>
            <a:pPr indent="0" marL="0">
              <a:buNone/>
            </a:pPr>
            <a:r>
              <a:rPr lang="en-US" sz="1100" i="1" dirty="0">
                <a:solidFill>
                  <a:srgbClr val="5A6472"/>
                </a:solidFill>
                <a:latin typeface="Calibri" pitchFamily="34" charset="0"/>
                <a:cs typeface="Amiri" pitchFamily="2" charset="-78"/>
              </a:rPr>
              <a:t>wa-dū-dun / wa-dū-da-tun</a:t>
            </a:r>
            <a:endParaRPr lang="en-US" sz="1350" dirty="0"/>
          </a:p>
        </p:txBody>
      </p:sp>
      <p:sp>
        <p:nvSpPr>
          <p:cNvPr id="24" name="Shape 21"/>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6" name="Text 23"/>
          <p:cNvSpPr txBox="1"/>
          <p:nvPr/>
        </p:nvSpPr>
        <p:spPr>
          <a:xfrm>
            <a:off x="1058875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وَدُودُونَ</a:t>
            </a:r>
            <a:endParaRPr lang="ar-SA" sz="1500" dirty="0"/>
          </a:p>
        </p:txBody>
      </p:sp>
      <p:sp>
        <p:nvSpPr>
          <p:cNvPr id="27" name="Shape 24"/>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29" name="Text 26"/>
          <p:cNvSpPr txBox="1"/>
          <p:nvPr/>
        </p:nvSpPr>
        <p:spPr>
          <a:xfrm>
            <a:off x="943660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وَدُودَةٌ</a:t>
            </a:r>
            <a:endParaRPr lang="ar-SA" sz="1500" dirty="0"/>
          </a:p>
        </p:txBody>
      </p:sp>
      <p:sp>
        <p:nvSpPr>
          <p:cNvPr id="30" name="Shape 27"/>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32" name="Text 29"/>
          <p:cNvSpPr txBox="1"/>
          <p:nvPr/>
        </p:nvSpPr>
        <p:spPr>
          <a:xfrm>
            <a:off x="828446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وَدُودٌ</a:t>
            </a:r>
            <a:endParaRPr lang="ar-SA" sz="1500" dirty="0"/>
          </a:p>
        </p:txBody>
      </p:sp>
      <p:sp>
        <p:nvSpPr>
          <p:cNvPr id="33" name="Shape 3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389120"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6" name="Shape 33"/>
          <p:cNvSpPr/>
          <p:nvPr/>
        </p:nvSpPr>
        <p:spPr>
          <a:xfrm>
            <a:off x="4782312" y="1938528"/>
            <a:ext cx="896112"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4782312"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38" name="Shape 35"/>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0" name="Text 37"/>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صَادِقٌ / صَادِقَةٌ</a:t>
            </a:r>
            <a:endParaRPr lang="ar-SA" sz="3000" dirty="0"/>
          </a:p>
        </p:txBody>
      </p:sp>
      <p:sp>
        <p:nvSpPr>
          <p:cNvPr id="41" name="Text 38"/>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honest</a:t>
            </a:r>
            <a:endParaRPr lang="en-US" sz="1350" dirty="0"/>
          </a:p>
          <a:p>
            <a:pPr indent="0" marL="0">
              <a:buNone/>
            </a:pPr>
            <a:r>
              <a:rPr lang="en-US" sz="1100" i="1" dirty="0">
                <a:solidFill>
                  <a:srgbClr val="5A6472"/>
                </a:solidFill>
                <a:latin typeface="Calibri" pitchFamily="34" charset="0"/>
                <a:cs typeface="Amiri" pitchFamily="2" charset="-78"/>
              </a:rPr>
              <a:t>ṣā-di-qun / ṣā-di-qa-tun</a:t>
            </a:r>
            <a:endParaRPr lang="en-US" sz="1350" dirty="0"/>
          </a:p>
        </p:txBody>
      </p:sp>
      <p:sp>
        <p:nvSpPr>
          <p:cNvPr id="42" name="Shape 39"/>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4" name="Text 41"/>
          <p:cNvSpPr txBox="1"/>
          <p:nvPr/>
        </p:nvSpPr>
        <p:spPr>
          <a:xfrm>
            <a:off x="676656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صَادِقُونَ</a:t>
            </a:r>
            <a:endParaRPr lang="ar-SA" sz="1500" dirty="0"/>
          </a:p>
        </p:txBody>
      </p:sp>
      <p:sp>
        <p:nvSpPr>
          <p:cNvPr id="45" name="Shape 42"/>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46" name="Text 43"/>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47" name="Text 44"/>
          <p:cNvSpPr txBox="1"/>
          <p:nvPr/>
        </p:nvSpPr>
        <p:spPr>
          <a:xfrm>
            <a:off x="5614416"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صَادِقَةٌ</a:t>
            </a:r>
            <a:endParaRPr lang="ar-SA" sz="1500" dirty="0"/>
          </a:p>
        </p:txBody>
      </p:sp>
      <p:sp>
        <p:nvSpPr>
          <p:cNvPr id="48" name="Shape 45"/>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50" name="Text 47"/>
          <p:cNvSpPr txBox="1"/>
          <p:nvPr/>
        </p:nvSpPr>
        <p:spPr>
          <a:xfrm>
            <a:off x="446227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صَادِقٌ</a:t>
            </a:r>
            <a:endParaRPr lang="ar-SA" sz="1500" dirty="0"/>
          </a:p>
        </p:txBody>
      </p:sp>
      <p:sp>
        <p:nvSpPr>
          <p:cNvPr id="51" name="Shape 4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566928" y="1920240"/>
            <a:ext cx="310896" cy="310896"/>
          </a:xfrm>
          <a:prstGeom prst="ellipse">
            <a:avLst/>
          </a:prstGeom>
          <a:solidFill>
            <a:srgbClr val="F4F1EA"/>
          </a:solidFill>
          <a:ln w="12700">
            <a:solidFill>
              <a:srgbClr val="F4F1EA"/>
            </a:solidFill>
            <a:prstDash val="solid"/>
          </a:ln>
        </p:spPr>
      </p:sp>
      <p:sp>
        <p:nvSpPr>
          <p:cNvPr id="53" name="Text 5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54" name="Shape 51"/>
          <p:cNvSpPr/>
          <p:nvPr/>
        </p:nvSpPr>
        <p:spPr>
          <a:xfrm>
            <a:off x="960120" y="1938528"/>
            <a:ext cx="896112" cy="256032"/>
          </a:xfrm>
          <a:prstGeom prst="roundRect">
            <a:avLst>
              <a:gd name="adj" fmla="val 50000"/>
            </a:avLst>
          </a:prstGeom>
          <a:solidFill>
            <a:srgbClr val="EFE7D2"/>
          </a:solidFill>
          <a:ln w="12700">
            <a:solidFill>
              <a:srgbClr val="EFE7D2"/>
            </a:solidFill>
            <a:prstDash val="solid"/>
          </a:ln>
        </p:spPr>
      </p:sp>
      <p:sp>
        <p:nvSpPr>
          <p:cNvPr id="55" name="Text 52"/>
          <p:cNvSpPr txBox="1"/>
          <p:nvPr/>
        </p:nvSpPr>
        <p:spPr>
          <a:xfrm>
            <a:off x="960120"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56" name="Shape 53"/>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7" name="Text 54"/>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8" name="Text 55"/>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صَبُورٌ / صَبُورَةٌ</a:t>
            </a:r>
            <a:endParaRPr lang="ar-SA" sz="3000" dirty="0"/>
          </a:p>
        </p:txBody>
      </p:sp>
      <p:sp>
        <p:nvSpPr>
          <p:cNvPr id="59" name="Text 56"/>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patient</a:t>
            </a:r>
            <a:endParaRPr lang="en-US" sz="1350" dirty="0"/>
          </a:p>
          <a:p>
            <a:pPr indent="0" marL="0">
              <a:buNone/>
            </a:pPr>
            <a:r>
              <a:rPr lang="en-US" sz="1100" i="1" dirty="0">
                <a:solidFill>
                  <a:srgbClr val="5A6472"/>
                </a:solidFill>
                <a:latin typeface="Calibri" pitchFamily="34" charset="0"/>
                <a:cs typeface="Amiri" pitchFamily="2" charset="-78"/>
              </a:rPr>
              <a:t>ṣa-bū-run / ṣa-bū-ra-tun</a:t>
            </a:r>
            <a:endParaRPr lang="en-US" sz="1350" dirty="0"/>
          </a:p>
        </p:txBody>
      </p:sp>
      <p:sp>
        <p:nvSpPr>
          <p:cNvPr id="60" name="Shape 57"/>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61" name="Text 58"/>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62" name="Text 59"/>
          <p:cNvSpPr txBox="1"/>
          <p:nvPr/>
        </p:nvSpPr>
        <p:spPr>
          <a:xfrm>
            <a:off x="294436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صَبُورُونَ</a:t>
            </a:r>
            <a:endParaRPr lang="ar-SA" sz="1500" dirty="0"/>
          </a:p>
        </p:txBody>
      </p:sp>
      <p:sp>
        <p:nvSpPr>
          <p:cNvPr id="63" name="Shape 60"/>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64" name="Text 61"/>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65" name="Text 62"/>
          <p:cNvSpPr txBox="1"/>
          <p:nvPr/>
        </p:nvSpPr>
        <p:spPr>
          <a:xfrm>
            <a:off x="179222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صَبُورَةٌ</a:t>
            </a:r>
            <a:endParaRPr lang="ar-SA" sz="1500" dirty="0"/>
          </a:p>
        </p:txBody>
      </p:sp>
      <p:sp>
        <p:nvSpPr>
          <p:cNvPr id="66" name="Shape 63"/>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67" name="Text 64"/>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68" name="Text 65"/>
          <p:cNvSpPr txBox="1"/>
          <p:nvPr/>
        </p:nvSpPr>
        <p:spPr>
          <a:xfrm>
            <a:off x="64008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صَبُورٌ</a:t>
            </a:r>
            <a:endParaRPr lang="ar-SA" sz="1500" dirty="0"/>
          </a:p>
        </p:txBody>
      </p:sp>
      <p:sp>
        <p:nvSpPr>
          <p:cNvPr id="69" name="Shape 6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8211312" y="4261104"/>
            <a:ext cx="310896" cy="310896"/>
          </a:xfrm>
          <a:prstGeom prst="ellipse">
            <a:avLst/>
          </a:prstGeom>
          <a:solidFill>
            <a:srgbClr val="F4F1EA"/>
          </a:solidFill>
          <a:ln w="12700">
            <a:solidFill>
              <a:srgbClr val="F4F1EA"/>
            </a:solidFill>
            <a:prstDash val="solid"/>
          </a:ln>
        </p:spPr>
      </p:sp>
      <p:sp>
        <p:nvSpPr>
          <p:cNvPr id="71" name="Text 6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72" name="Shape 69"/>
          <p:cNvSpPr/>
          <p:nvPr/>
        </p:nvSpPr>
        <p:spPr>
          <a:xfrm>
            <a:off x="8604504" y="4279392"/>
            <a:ext cx="896112" cy="256032"/>
          </a:xfrm>
          <a:prstGeom prst="roundRect">
            <a:avLst>
              <a:gd name="adj" fmla="val 50000"/>
            </a:avLst>
          </a:prstGeom>
          <a:solidFill>
            <a:srgbClr val="EFE7D2"/>
          </a:solidFill>
          <a:ln w="12700">
            <a:solidFill>
              <a:srgbClr val="EFE7D2"/>
            </a:solidFill>
            <a:prstDash val="solid"/>
          </a:ln>
        </p:spPr>
      </p:sp>
      <p:sp>
        <p:nvSpPr>
          <p:cNvPr id="73" name="Text 70"/>
          <p:cNvSpPr txBox="1"/>
          <p:nvPr/>
        </p:nvSpPr>
        <p:spPr>
          <a:xfrm>
            <a:off x="8604504"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74" name="Shape 71"/>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75" name="Text 72"/>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6" name="Text 73"/>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مُتَعَاوِنٌ / مُتَعَاوِنَةٌ</a:t>
            </a:r>
            <a:endParaRPr lang="ar-SA" sz="3000" dirty="0"/>
          </a:p>
        </p:txBody>
      </p:sp>
      <p:sp>
        <p:nvSpPr>
          <p:cNvPr id="77" name="Text 74"/>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helpful/cooperative</a:t>
            </a:r>
            <a:endParaRPr lang="en-US" sz="1350" dirty="0"/>
          </a:p>
          <a:p>
            <a:pPr indent="0" marL="0">
              <a:buNone/>
            </a:pPr>
            <a:r>
              <a:rPr lang="en-US" sz="1100" i="1" dirty="0">
                <a:solidFill>
                  <a:srgbClr val="5A6472"/>
                </a:solidFill>
                <a:latin typeface="Calibri" pitchFamily="34" charset="0"/>
                <a:cs typeface="Amiri" pitchFamily="2" charset="-78"/>
              </a:rPr>
              <a:t>mu-ta-ʿā-wi-nun / mu-ta-ʿā-wi-na-tun</a:t>
            </a:r>
            <a:endParaRPr lang="en-US" sz="1350" dirty="0"/>
          </a:p>
        </p:txBody>
      </p:sp>
      <p:sp>
        <p:nvSpPr>
          <p:cNvPr id="78" name="Shape 75"/>
          <p:cNvSpPr/>
          <p:nvPr/>
        </p:nvSpPr>
        <p:spPr>
          <a:xfrm>
            <a:off x="10543032" y="5779008"/>
            <a:ext cx="1060704" cy="438912"/>
          </a:xfrm>
          <a:prstGeom prst="roundRect">
            <a:avLst>
              <a:gd name="adj" fmla="val 10417"/>
            </a:avLst>
          </a:prstGeom>
          <a:solidFill>
            <a:srgbClr val="F4F1EA"/>
          </a:solidFill>
          <a:ln w="9525">
            <a:solidFill>
              <a:srgbClr val="F4F1EA"/>
            </a:solidFill>
            <a:prstDash val="solid"/>
          </a:ln>
        </p:spPr>
      </p:sp>
      <p:sp>
        <p:nvSpPr>
          <p:cNvPr id="79" name="Text 76"/>
          <p:cNvSpPr txBox="1"/>
          <p:nvPr/>
        </p:nvSpPr>
        <p:spPr>
          <a:xfrm>
            <a:off x="1059789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80" name="Text 77"/>
          <p:cNvSpPr txBox="1"/>
          <p:nvPr/>
        </p:nvSpPr>
        <p:spPr>
          <a:xfrm>
            <a:off x="1058875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مُتَعَاوِنُونَ</a:t>
            </a:r>
            <a:endParaRPr lang="ar-SA" sz="1500" dirty="0"/>
          </a:p>
        </p:txBody>
      </p:sp>
      <p:sp>
        <p:nvSpPr>
          <p:cNvPr id="81" name="Shape 78"/>
          <p:cNvSpPr/>
          <p:nvPr/>
        </p:nvSpPr>
        <p:spPr>
          <a:xfrm>
            <a:off x="9390888" y="5779008"/>
            <a:ext cx="1060704" cy="438912"/>
          </a:xfrm>
          <a:prstGeom prst="roundRect">
            <a:avLst>
              <a:gd name="adj" fmla="val 10417"/>
            </a:avLst>
          </a:prstGeom>
          <a:solidFill>
            <a:srgbClr val="F4F1EA"/>
          </a:solidFill>
          <a:ln w="9525">
            <a:solidFill>
              <a:srgbClr val="F4F1EA"/>
            </a:solidFill>
            <a:prstDash val="solid"/>
          </a:ln>
        </p:spPr>
      </p:sp>
      <p:sp>
        <p:nvSpPr>
          <p:cNvPr id="82" name="Text 79"/>
          <p:cNvSpPr txBox="1"/>
          <p:nvPr/>
        </p:nvSpPr>
        <p:spPr>
          <a:xfrm>
            <a:off x="944575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83" name="Text 80"/>
          <p:cNvSpPr txBox="1"/>
          <p:nvPr/>
        </p:nvSpPr>
        <p:spPr>
          <a:xfrm>
            <a:off x="943660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مُتَعَاوِنَةٌ</a:t>
            </a:r>
            <a:endParaRPr lang="ar-SA" sz="1500" dirty="0"/>
          </a:p>
        </p:txBody>
      </p:sp>
      <p:sp>
        <p:nvSpPr>
          <p:cNvPr id="84" name="Shape 81"/>
          <p:cNvSpPr/>
          <p:nvPr/>
        </p:nvSpPr>
        <p:spPr>
          <a:xfrm>
            <a:off x="8238744" y="5779008"/>
            <a:ext cx="1060704" cy="438912"/>
          </a:xfrm>
          <a:prstGeom prst="roundRect">
            <a:avLst>
              <a:gd name="adj" fmla="val 10417"/>
            </a:avLst>
          </a:prstGeom>
          <a:solidFill>
            <a:srgbClr val="F4F1EA"/>
          </a:solidFill>
          <a:ln w="9525">
            <a:solidFill>
              <a:srgbClr val="F4F1EA"/>
            </a:solidFill>
            <a:prstDash val="solid"/>
          </a:ln>
        </p:spPr>
      </p:sp>
      <p:sp>
        <p:nvSpPr>
          <p:cNvPr id="85" name="Text 82"/>
          <p:cNvSpPr txBox="1"/>
          <p:nvPr/>
        </p:nvSpPr>
        <p:spPr>
          <a:xfrm>
            <a:off x="829360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86" name="Text 83"/>
          <p:cNvSpPr txBox="1"/>
          <p:nvPr/>
        </p:nvSpPr>
        <p:spPr>
          <a:xfrm>
            <a:off x="828446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مُتَعَاوِنٌ</a:t>
            </a:r>
            <a:endParaRPr lang="ar-SA" sz="1500" dirty="0"/>
          </a:p>
        </p:txBody>
      </p:sp>
      <p:sp>
        <p:nvSpPr>
          <p:cNvPr id="87" name="Text 8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45</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D2-L01 · Personality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Core personality adjectives (2 of 2)</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D2-L01</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18" name="Shape 15"/>
          <p:cNvSpPr/>
          <p:nvPr/>
        </p:nvSpPr>
        <p:spPr>
          <a:xfrm>
            <a:off x="8604504" y="1938528"/>
            <a:ext cx="896112"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مُجْتَهِدٌ / مُجْتَهِدَةٌ</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hard-working</a:t>
            </a:r>
            <a:endParaRPr lang="en-US" sz="1350" dirty="0"/>
          </a:p>
          <a:p>
            <a:pPr indent="0" marL="0">
              <a:buNone/>
            </a:pPr>
            <a:r>
              <a:rPr lang="en-US" sz="1100" i="1" dirty="0">
                <a:solidFill>
                  <a:srgbClr val="5A6472"/>
                </a:solidFill>
                <a:latin typeface="Calibri" pitchFamily="34" charset="0"/>
                <a:cs typeface="Amiri" pitchFamily="2" charset="-78"/>
              </a:rPr>
              <a:t>muj-ta-hi-dun / muj-ta-hi-da-tun</a:t>
            </a:r>
            <a:endParaRPr lang="en-US" sz="1350" dirty="0"/>
          </a:p>
        </p:txBody>
      </p:sp>
      <p:sp>
        <p:nvSpPr>
          <p:cNvPr id="24" name="Shape 21"/>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6" name="Text 23"/>
          <p:cNvSpPr txBox="1"/>
          <p:nvPr/>
        </p:nvSpPr>
        <p:spPr>
          <a:xfrm>
            <a:off x="1058875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مُجْتَهِدُونَ</a:t>
            </a:r>
            <a:endParaRPr lang="ar-SA" sz="1500" dirty="0"/>
          </a:p>
        </p:txBody>
      </p:sp>
      <p:sp>
        <p:nvSpPr>
          <p:cNvPr id="27" name="Shape 24"/>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29" name="Text 26"/>
          <p:cNvSpPr txBox="1"/>
          <p:nvPr/>
        </p:nvSpPr>
        <p:spPr>
          <a:xfrm>
            <a:off x="943660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مُجْتَهِدَةٌ</a:t>
            </a:r>
            <a:endParaRPr lang="ar-SA" sz="1500" dirty="0"/>
          </a:p>
        </p:txBody>
      </p:sp>
      <p:sp>
        <p:nvSpPr>
          <p:cNvPr id="30" name="Shape 27"/>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32" name="Text 29"/>
          <p:cNvSpPr txBox="1"/>
          <p:nvPr/>
        </p:nvSpPr>
        <p:spPr>
          <a:xfrm>
            <a:off x="828446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مُجْتَهِدٌ</a:t>
            </a:r>
            <a:endParaRPr lang="ar-SA" sz="1500" dirty="0"/>
          </a:p>
        </p:txBody>
      </p:sp>
      <p:sp>
        <p:nvSpPr>
          <p:cNvPr id="33" name="Shape 3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389120"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36" name="Shape 33"/>
          <p:cNvSpPr/>
          <p:nvPr/>
        </p:nvSpPr>
        <p:spPr>
          <a:xfrm>
            <a:off x="4782312" y="1938528"/>
            <a:ext cx="896112"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4782312"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38" name="Shape 35"/>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0" name="Text 37"/>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مَرِحٌ / مَرِحَةٌ</a:t>
            </a:r>
            <a:endParaRPr lang="ar-SA" sz="3000" dirty="0"/>
          </a:p>
        </p:txBody>
      </p:sp>
      <p:sp>
        <p:nvSpPr>
          <p:cNvPr id="41" name="Text 38"/>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cheerful</a:t>
            </a:r>
            <a:endParaRPr lang="en-US" sz="1350" dirty="0"/>
          </a:p>
          <a:p>
            <a:pPr indent="0" marL="0">
              <a:buNone/>
            </a:pPr>
            <a:r>
              <a:rPr lang="en-US" sz="1100" i="1" dirty="0">
                <a:solidFill>
                  <a:srgbClr val="5A6472"/>
                </a:solidFill>
                <a:latin typeface="Calibri" pitchFamily="34" charset="0"/>
                <a:cs typeface="Amiri" pitchFamily="2" charset="-78"/>
              </a:rPr>
              <a:t>ma-ri-ḥun / ma-ri-ḥa-tun</a:t>
            </a:r>
            <a:endParaRPr lang="en-US" sz="1350" dirty="0"/>
          </a:p>
        </p:txBody>
      </p:sp>
      <p:sp>
        <p:nvSpPr>
          <p:cNvPr id="42" name="Shape 39"/>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4" name="Text 41"/>
          <p:cNvSpPr txBox="1"/>
          <p:nvPr/>
        </p:nvSpPr>
        <p:spPr>
          <a:xfrm>
            <a:off x="676656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مَرِحُونَ</a:t>
            </a:r>
            <a:endParaRPr lang="ar-SA" sz="1500" dirty="0"/>
          </a:p>
        </p:txBody>
      </p:sp>
      <p:sp>
        <p:nvSpPr>
          <p:cNvPr id="45" name="Shape 42"/>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46" name="Text 43"/>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47" name="Text 44"/>
          <p:cNvSpPr txBox="1"/>
          <p:nvPr/>
        </p:nvSpPr>
        <p:spPr>
          <a:xfrm>
            <a:off x="5614416"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مَرِحَةٌ</a:t>
            </a:r>
            <a:endParaRPr lang="ar-SA" sz="1500" dirty="0"/>
          </a:p>
        </p:txBody>
      </p:sp>
      <p:sp>
        <p:nvSpPr>
          <p:cNvPr id="48" name="Shape 45"/>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50" name="Text 47"/>
          <p:cNvSpPr txBox="1"/>
          <p:nvPr/>
        </p:nvSpPr>
        <p:spPr>
          <a:xfrm>
            <a:off x="446227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مَرِحٌ</a:t>
            </a:r>
            <a:endParaRPr lang="ar-SA" sz="1500" dirty="0"/>
          </a:p>
        </p:txBody>
      </p:sp>
      <p:sp>
        <p:nvSpPr>
          <p:cNvPr id="51" name="Shape 4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566928" y="1920240"/>
            <a:ext cx="310896" cy="310896"/>
          </a:xfrm>
          <a:prstGeom prst="ellipse">
            <a:avLst/>
          </a:prstGeom>
          <a:solidFill>
            <a:srgbClr val="F4F1EA"/>
          </a:solidFill>
          <a:ln w="12700">
            <a:solidFill>
              <a:srgbClr val="F4F1EA"/>
            </a:solidFill>
            <a:prstDash val="solid"/>
          </a:ln>
        </p:spPr>
      </p:sp>
      <p:sp>
        <p:nvSpPr>
          <p:cNvPr id="53" name="Text 5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54" name="Shape 51"/>
          <p:cNvSpPr/>
          <p:nvPr/>
        </p:nvSpPr>
        <p:spPr>
          <a:xfrm>
            <a:off x="960120" y="1938528"/>
            <a:ext cx="896112" cy="256032"/>
          </a:xfrm>
          <a:prstGeom prst="roundRect">
            <a:avLst>
              <a:gd name="adj" fmla="val 50000"/>
            </a:avLst>
          </a:prstGeom>
          <a:solidFill>
            <a:srgbClr val="EFE7D2"/>
          </a:solidFill>
          <a:ln w="12700">
            <a:solidFill>
              <a:srgbClr val="EFE7D2"/>
            </a:solidFill>
            <a:prstDash val="solid"/>
          </a:ln>
        </p:spPr>
      </p:sp>
      <p:sp>
        <p:nvSpPr>
          <p:cNvPr id="55" name="Text 52"/>
          <p:cNvSpPr txBox="1"/>
          <p:nvPr/>
        </p:nvSpPr>
        <p:spPr>
          <a:xfrm>
            <a:off x="960120"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56" name="Shape 53"/>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7" name="Text 54"/>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8" name="Text 55"/>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هَادِئٌ / هَادِئَةٌ</a:t>
            </a:r>
            <a:endParaRPr lang="ar-SA" sz="3000" dirty="0"/>
          </a:p>
        </p:txBody>
      </p:sp>
      <p:sp>
        <p:nvSpPr>
          <p:cNvPr id="59" name="Text 56"/>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calm</a:t>
            </a:r>
            <a:endParaRPr lang="en-US" sz="1350" dirty="0"/>
          </a:p>
          <a:p>
            <a:pPr indent="0" marL="0">
              <a:buNone/>
            </a:pPr>
            <a:r>
              <a:rPr lang="en-US" sz="1100" i="1" dirty="0">
                <a:solidFill>
                  <a:srgbClr val="5A6472"/>
                </a:solidFill>
                <a:latin typeface="Calibri" pitchFamily="34" charset="0"/>
                <a:cs typeface="Amiri" pitchFamily="2" charset="-78"/>
              </a:rPr>
              <a:t>hā-di-ʾun / hā-di-ʾa-tun</a:t>
            </a:r>
            <a:endParaRPr lang="en-US" sz="1350" dirty="0"/>
          </a:p>
        </p:txBody>
      </p:sp>
      <p:sp>
        <p:nvSpPr>
          <p:cNvPr id="60" name="Shape 57"/>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61" name="Text 58"/>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62" name="Text 59"/>
          <p:cNvSpPr txBox="1"/>
          <p:nvPr/>
        </p:nvSpPr>
        <p:spPr>
          <a:xfrm>
            <a:off x="294436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هَادِئُونَ</a:t>
            </a:r>
            <a:endParaRPr lang="ar-SA" sz="1500" dirty="0"/>
          </a:p>
        </p:txBody>
      </p:sp>
      <p:sp>
        <p:nvSpPr>
          <p:cNvPr id="63" name="Shape 60"/>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64" name="Text 61"/>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65" name="Text 62"/>
          <p:cNvSpPr txBox="1"/>
          <p:nvPr/>
        </p:nvSpPr>
        <p:spPr>
          <a:xfrm>
            <a:off x="179222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هَادِئَةٌ</a:t>
            </a:r>
            <a:endParaRPr lang="ar-SA" sz="1500" dirty="0"/>
          </a:p>
        </p:txBody>
      </p:sp>
      <p:sp>
        <p:nvSpPr>
          <p:cNvPr id="66" name="Shape 63"/>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67" name="Text 64"/>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68" name="Text 65"/>
          <p:cNvSpPr txBox="1"/>
          <p:nvPr/>
        </p:nvSpPr>
        <p:spPr>
          <a:xfrm>
            <a:off x="64008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هَادِئٌ</a:t>
            </a:r>
            <a:endParaRPr lang="ar-SA" sz="1500" dirty="0"/>
          </a:p>
        </p:txBody>
      </p:sp>
      <p:sp>
        <p:nvSpPr>
          <p:cNvPr id="69" name="Shape 6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8211312" y="4261104"/>
            <a:ext cx="310896" cy="310896"/>
          </a:xfrm>
          <a:prstGeom prst="ellipse">
            <a:avLst/>
          </a:prstGeom>
          <a:solidFill>
            <a:srgbClr val="F4F1EA"/>
          </a:solidFill>
          <a:ln w="12700">
            <a:solidFill>
              <a:srgbClr val="F4F1EA"/>
            </a:solidFill>
            <a:prstDash val="solid"/>
          </a:ln>
        </p:spPr>
      </p:sp>
      <p:sp>
        <p:nvSpPr>
          <p:cNvPr id="71" name="Text 6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72" name="Shape 69"/>
          <p:cNvSpPr/>
          <p:nvPr/>
        </p:nvSpPr>
        <p:spPr>
          <a:xfrm>
            <a:off x="8604504" y="4279392"/>
            <a:ext cx="896112" cy="256032"/>
          </a:xfrm>
          <a:prstGeom prst="roundRect">
            <a:avLst>
              <a:gd name="adj" fmla="val 50000"/>
            </a:avLst>
          </a:prstGeom>
          <a:solidFill>
            <a:srgbClr val="EFE7D2"/>
          </a:solidFill>
          <a:ln w="12700">
            <a:solidFill>
              <a:srgbClr val="EFE7D2"/>
            </a:solidFill>
            <a:prstDash val="solid"/>
          </a:ln>
        </p:spPr>
      </p:sp>
      <p:sp>
        <p:nvSpPr>
          <p:cNvPr id="73" name="Text 70"/>
          <p:cNvSpPr txBox="1"/>
          <p:nvPr/>
        </p:nvSpPr>
        <p:spPr>
          <a:xfrm>
            <a:off x="8604504"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74" name="Text 71"/>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خَجُولٌ / خَجُولَةٌ</a:t>
            </a:r>
            <a:endParaRPr lang="ar-SA" sz="3000" dirty="0"/>
          </a:p>
        </p:txBody>
      </p:sp>
      <p:sp>
        <p:nvSpPr>
          <p:cNvPr id="75" name="Text 72"/>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shy</a:t>
            </a:r>
            <a:endParaRPr lang="en-US" sz="1350" dirty="0"/>
          </a:p>
          <a:p>
            <a:pPr indent="0" marL="0">
              <a:buNone/>
            </a:pPr>
            <a:r>
              <a:rPr lang="en-US" sz="1100" i="1" dirty="0">
                <a:solidFill>
                  <a:srgbClr val="5A6472"/>
                </a:solidFill>
                <a:latin typeface="Calibri" pitchFamily="34" charset="0"/>
                <a:cs typeface="Amiri" pitchFamily="2" charset="-78"/>
              </a:rPr>
              <a:t>kha-jū-lun / kha-jū-la-tun</a:t>
            </a:r>
            <a:endParaRPr lang="en-US" sz="1350" dirty="0"/>
          </a:p>
        </p:txBody>
      </p:sp>
      <p:sp>
        <p:nvSpPr>
          <p:cNvPr id="76" name="Shape 73"/>
          <p:cNvSpPr/>
          <p:nvPr/>
        </p:nvSpPr>
        <p:spPr>
          <a:xfrm>
            <a:off x="10543032" y="5779008"/>
            <a:ext cx="1060704" cy="438912"/>
          </a:xfrm>
          <a:prstGeom prst="roundRect">
            <a:avLst>
              <a:gd name="adj" fmla="val 10417"/>
            </a:avLst>
          </a:prstGeom>
          <a:solidFill>
            <a:srgbClr val="F4F1EA"/>
          </a:solidFill>
          <a:ln w="9525">
            <a:solidFill>
              <a:srgbClr val="F4F1EA"/>
            </a:solidFill>
            <a:prstDash val="solid"/>
          </a:ln>
        </p:spPr>
      </p:sp>
      <p:sp>
        <p:nvSpPr>
          <p:cNvPr id="77" name="Text 74"/>
          <p:cNvSpPr txBox="1"/>
          <p:nvPr/>
        </p:nvSpPr>
        <p:spPr>
          <a:xfrm>
            <a:off x="1059789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78" name="Text 75"/>
          <p:cNvSpPr txBox="1"/>
          <p:nvPr/>
        </p:nvSpPr>
        <p:spPr>
          <a:xfrm>
            <a:off x="1058875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خَجُولُونَ</a:t>
            </a:r>
            <a:endParaRPr lang="ar-SA" sz="1500" dirty="0"/>
          </a:p>
        </p:txBody>
      </p:sp>
      <p:sp>
        <p:nvSpPr>
          <p:cNvPr id="79" name="Shape 76"/>
          <p:cNvSpPr/>
          <p:nvPr/>
        </p:nvSpPr>
        <p:spPr>
          <a:xfrm>
            <a:off x="9390888" y="5779008"/>
            <a:ext cx="1060704" cy="438912"/>
          </a:xfrm>
          <a:prstGeom prst="roundRect">
            <a:avLst>
              <a:gd name="adj" fmla="val 10417"/>
            </a:avLst>
          </a:prstGeom>
          <a:solidFill>
            <a:srgbClr val="F4F1EA"/>
          </a:solidFill>
          <a:ln w="9525">
            <a:solidFill>
              <a:srgbClr val="F4F1EA"/>
            </a:solidFill>
            <a:prstDash val="solid"/>
          </a:ln>
        </p:spPr>
      </p:sp>
      <p:sp>
        <p:nvSpPr>
          <p:cNvPr id="80" name="Text 77"/>
          <p:cNvSpPr txBox="1"/>
          <p:nvPr/>
        </p:nvSpPr>
        <p:spPr>
          <a:xfrm>
            <a:off x="944575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81" name="Text 78"/>
          <p:cNvSpPr txBox="1"/>
          <p:nvPr/>
        </p:nvSpPr>
        <p:spPr>
          <a:xfrm>
            <a:off x="943660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خَجُولَةٌ</a:t>
            </a:r>
            <a:endParaRPr lang="ar-SA" sz="1500" dirty="0"/>
          </a:p>
        </p:txBody>
      </p:sp>
      <p:sp>
        <p:nvSpPr>
          <p:cNvPr id="82" name="Shape 79"/>
          <p:cNvSpPr/>
          <p:nvPr/>
        </p:nvSpPr>
        <p:spPr>
          <a:xfrm>
            <a:off x="8238744" y="5779008"/>
            <a:ext cx="1060704" cy="438912"/>
          </a:xfrm>
          <a:prstGeom prst="roundRect">
            <a:avLst>
              <a:gd name="adj" fmla="val 10417"/>
            </a:avLst>
          </a:prstGeom>
          <a:solidFill>
            <a:srgbClr val="F4F1EA"/>
          </a:solidFill>
          <a:ln w="9525">
            <a:solidFill>
              <a:srgbClr val="F4F1EA"/>
            </a:solidFill>
            <a:prstDash val="solid"/>
          </a:ln>
        </p:spPr>
      </p:sp>
      <p:sp>
        <p:nvSpPr>
          <p:cNvPr id="83" name="Text 80"/>
          <p:cNvSpPr txBox="1"/>
          <p:nvPr/>
        </p:nvSpPr>
        <p:spPr>
          <a:xfrm>
            <a:off x="829360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84" name="Text 81"/>
          <p:cNvSpPr txBox="1"/>
          <p:nvPr/>
        </p:nvSpPr>
        <p:spPr>
          <a:xfrm>
            <a:off x="828446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خَجُولٌ</a:t>
            </a:r>
            <a:endParaRPr lang="ar-SA" sz="15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45</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D2-L01 · Personality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Extended personality language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D2-L01</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18" name="Shape 15"/>
          <p:cNvSpPr/>
          <p:nvPr/>
        </p:nvSpPr>
        <p:spPr>
          <a:xfrm>
            <a:off x="8604504" y="1938528"/>
            <a:ext cx="896112"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20" name="Text 17"/>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وَاثِقٌ / وَاثِقَةٌ</a:t>
            </a:r>
            <a:endParaRPr lang="ar-SA" sz="3000" dirty="0"/>
          </a:p>
        </p:txBody>
      </p:sp>
      <p:sp>
        <p:nvSpPr>
          <p:cNvPr id="21" name="Text 18"/>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confident</a:t>
            </a:r>
            <a:endParaRPr lang="en-US" sz="1350" dirty="0"/>
          </a:p>
          <a:p>
            <a:pPr indent="0" marL="0">
              <a:buNone/>
            </a:pPr>
            <a:r>
              <a:rPr lang="en-US" sz="1100" i="1" dirty="0">
                <a:solidFill>
                  <a:srgbClr val="5A6472"/>
                </a:solidFill>
                <a:latin typeface="Calibri" pitchFamily="34" charset="0"/>
                <a:cs typeface="Amiri" pitchFamily="2" charset="-78"/>
              </a:rPr>
              <a:t>wā-thi-qun / wā-thi-qa-tun</a:t>
            </a:r>
            <a:endParaRPr lang="en-US" sz="1350" dirty="0"/>
          </a:p>
        </p:txBody>
      </p:sp>
      <p:sp>
        <p:nvSpPr>
          <p:cNvPr id="22" name="Shape 19"/>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3" name="Text 20"/>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4" name="Text 21"/>
          <p:cNvSpPr txBox="1"/>
          <p:nvPr/>
        </p:nvSpPr>
        <p:spPr>
          <a:xfrm>
            <a:off x="1058875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وَاثِقُونَ</a:t>
            </a:r>
            <a:endParaRPr lang="ar-SA" sz="1500" dirty="0"/>
          </a:p>
        </p:txBody>
      </p:sp>
      <p:sp>
        <p:nvSpPr>
          <p:cNvPr id="25" name="Shape 22"/>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6" name="Text 23"/>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27" name="Text 24"/>
          <p:cNvSpPr txBox="1"/>
          <p:nvPr/>
        </p:nvSpPr>
        <p:spPr>
          <a:xfrm>
            <a:off x="943660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وَاثِقَةٌ</a:t>
            </a:r>
            <a:endParaRPr lang="ar-SA" sz="1500" dirty="0"/>
          </a:p>
        </p:txBody>
      </p:sp>
      <p:sp>
        <p:nvSpPr>
          <p:cNvPr id="28" name="Shape 25"/>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29" name="Text 26"/>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30" name="Text 27"/>
          <p:cNvSpPr txBox="1"/>
          <p:nvPr/>
        </p:nvSpPr>
        <p:spPr>
          <a:xfrm>
            <a:off x="828446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وَاثِقٌ</a:t>
            </a:r>
            <a:endParaRPr lang="ar-SA" sz="1500" dirty="0"/>
          </a:p>
        </p:txBody>
      </p:sp>
      <p:sp>
        <p:nvSpPr>
          <p:cNvPr id="31" name="Shape 28"/>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4389120" y="1920240"/>
            <a:ext cx="310896" cy="310896"/>
          </a:xfrm>
          <a:prstGeom prst="ellipse">
            <a:avLst/>
          </a:prstGeom>
          <a:solidFill>
            <a:srgbClr val="F4F1EA"/>
          </a:solidFill>
          <a:ln w="12700">
            <a:solidFill>
              <a:srgbClr val="F4F1EA"/>
            </a:solidFill>
            <a:prstDash val="solid"/>
          </a:ln>
        </p:spPr>
      </p:sp>
      <p:sp>
        <p:nvSpPr>
          <p:cNvPr id="33" name="Text 30"/>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34" name="Shape 31"/>
          <p:cNvSpPr/>
          <p:nvPr/>
        </p:nvSpPr>
        <p:spPr>
          <a:xfrm>
            <a:off x="4782312" y="1938528"/>
            <a:ext cx="896112" cy="256032"/>
          </a:xfrm>
          <a:prstGeom prst="roundRect">
            <a:avLst>
              <a:gd name="adj" fmla="val 50000"/>
            </a:avLst>
          </a:prstGeom>
          <a:solidFill>
            <a:srgbClr val="EFE7D2"/>
          </a:solidFill>
          <a:ln w="12700">
            <a:solidFill>
              <a:srgbClr val="EFE7D2"/>
            </a:solidFill>
            <a:prstDash val="solid"/>
          </a:ln>
        </p:spPr>
      </p:sp>
      <p:sp>
        <p:nvSpPr>
          <p:cNvPr id="35" name="Text 32"/>
          <p:cNvSpPr txBox="1"/>
          <p:nvPr/>
        </p:nvSpPr>
        <p:spPr>
          <a:xfrm>
            <a:off x="4782312"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36" name="Text 33"/>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كَرِيمٌ / كَرِيمَةٌ</a:t>
            </a:r>
            <a:endParaRPr lang="ar-SA" sz="3000" dirty="0"/>
          </a:p>
        </p:txBody>
      </p:sp>
      <p:sp>
        <p:nvSpPr>
          <p:cNvPr id="37" name="Text 34"/>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generous</a:t>
            </a:r>
            <a:endParaRPr lang="en-US" sz="1350" dirty="0"/>
          </a:p>
          <a:p>
            <a:pPr indent="0" marL="0">
              <a:buNone/>
            </a:pPr>
            <a:r>
              <a:rPr lang="en-US" sz="1100" i="1" dirty="0">
                <a:solidFill>
                  <a:srgbClr val="5A6472"/>
                </a:solidFill>
                <a:latin typeface="Calibri" pitchFamily="34" charset="0"/>
                <a:cs typeface="Amiri" pitchFamily="2" charset="-78"/>
              </a:rPr>
              <a:t>ka-rī-mun / ka-rī-ma-tun</a:t>
            </a:r>
            <a:endParaRPr lang="en-US" sz="1350" dirty="0"/>
          </a:p>
        </p:txBody>
      </p:sp>
      <p:sp>
        <p:nvSpPr>
          <p:cNvPr id="38" name="Shape 35"/>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39" name="Text 36"/>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0" name="Text 37"/>
          <p:cNvSpPr txBox="1"/>
          <p:nvPr/>
        </p:nvSpPr>
        <p:spPr>
          <a:xfrm>
            <a:off x="676656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كُرَمَاءُ</a:t>
            </a:r>
            <a:endParaRPr lang="ar-SA" sz="1500" dirty="0"/>
          </a:p>
        </p:txBody>
      </p:sp>
      <p:sp>
        <p:nvSpPr>
          <p:cNvPr id="41" name="Shape 38"/>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42" name="Text 39"/>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43" name="Text 40"/>
          <p:cNvSpPr txBox="1"/>
          <p:nvPr/>
        </p:nvSpPr>
        <p:spPr>
          <a:xfrm>
            <a:off x="5614416"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كَرِيمَةٌ</a:t>
            </a:r>
            <a:endParaRPr lang="ar-SA" sz="1500" dirty="0"/>
          </a:p>
        </p:txBody>
      </p:sp>
      <p:sp>
        <p:nvSpPr>
          <p:cNvPr id="44" name="Shape 41"/>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45" name="Text 42"/>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46" name="Text 43"/>
          <p:cNvSpPr txBox="1"/>
          <p:nvPr/>
        </p:nvSpPr>
        <p:spPr>
          <a:xfrm>
            <a:off x="446227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كَرِيمٌ</a:t>
            </a:r>
            <a:endParaRPr lang="ar-SA" sz="1500" dirty="0"/>
          </a:p>
        </p:txBody>
      </p:sp>
      <p:sp>
        <p:nvSpPr>
          <p:cNvPr id="47" name="Shape 4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66928" y="1920240"/>
            <a:ext cx="310896" cy="310896"/>
          </a:xfrm>
          <a:prstGeom prst="ellipse">
            <a:avLst/>
          </a:prstGeom>
          <a:solidFill>
            <a:srgbClr val="F4F1EA"/>
          </a:solidFill>
          <a:ln w="12700">
            <a:solidFill>
              <a:srgbClr val="F4F1EA"/>
            </a:solidFill>
            <a:prstDash val="solid"/>
          </a:ln>
        </p:spPr>
      </p:sp>
      <p:sp>
        <p:nvSpPr>
          <p:cNvPr id="49" name="Text 4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50" name="Shape 47"/>
          <p:cNvSpPr/>
          <p:nvPr/>
        </p:nvSpPr>
        <p:spPr>
          <a:xfrm>
            <a:off x="960120" y="1938528"/>
            <a:ext cx="896112" cy="256032"/>
          </a:xfrm>
          <a:prstGeom prst="roundRect">
            <a:avLst>
              <a:gd name="adj" fmla="val 50000"/>
            </a:avLst>
          </a:prstGeom>
          <a:solidFill>
            <a:srgbClr val="EFE7D2"/>
          </a:solidFill>
          <a:ln w="12700">
            <a:solidFill>
              <a:srgbClr val="EFE7D2"/>
            </a:solidFill>
            <a:prstDash val="solid"/>
          </a:ln>
        </p:spPr>
      </p:sp>
      <p:sp>
        <p:nvSpPr>
          <p:cNvPr id="51" name="Text 48"/>
          <p:cNvSpPr txBox="1"/>
          <p:nvPr/>
        </p:nvSpPr>
        <p:spPr>
          <a:xfrm>
            <a:off x="960120"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52" name="Text 49"/>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أَنَانِيٌّ / أَنَانِيَّةٌ</a:t>
            </a:r>
            <a:endParaRPr lang="ar-SA" sz="3000" dirty="0"/>
          </a:p>
        </p:txBody>
      </p:sp>
      <p:sp>
        <p:nvSpPr>
          <p:cNvPr id="53" name="Text 50"/>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selfish</a:t>
            </a:r>
            <a:endParaRPr lang="en-US" sz="1350" dirty="0"/>
          </a:p>
          <a:p>
            <a:pPr indent="0" marL="0">
              <a:buNone/>
            </a:pPr>
            <a:r>
              <a:rPr lang="en-US" sz="1100" i="1" dirty="0">
                <a:solidFill>
                  <a:srgbClr val="5A6472"/>
                </a:solidFill>
                <a:latin typeface="Calibri" pitchFamily="34" charset="0"/>
                <a:cs typeface="Amiri" pitchFamily="2" charset="-78"/>
              </a:rPr>
              <a:t>a-nā-niy-yun / a-nā-niy-ya-tun</a:t>
            </a:r>
            <a:endParaRPr lang="en-US" sz="1350" dirty="0"/>
          </a:p>
        </p:txBody>
      </p:sp>
      <p:sp>
        <p:nvSpPr>
          <p:cNvPr id="54" name="Shape 51"/>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55" name="Text 52"/>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6" name="Text 53"/>
          <p:cNvSpPr txBox="1"/>
          <p:nvPr/>
        </p:nvSpPr>
        <p:spPr>
          <a:xfrm>
            <a:off x="294436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أَنَانِيُّونَ</a:t>
            </a:r>
            <a:endParaRPr lang="ar-SA" sz="1500" dirty="0"/>
          </a:p>
        </p:txBody>
      </p:sp>
      <p:sp>
        <p:nvSpPr>
          <p:cNvPr id="57" name="Shape 54"/>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58" name="Text 55"/>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59" name="Text 56"/>
          <p:cNvSpPr txBox="1"/>
          <p:nvPr/>
        </p:nvSpPr>
        <p:spPr>
          <a:xfrm>
            <a:off x="179222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أَنَانِيَّةٌ</a:t>
            </a:r>
            <a:endParaRPr lang="ar-SA" sz="1500" dirty="0"/>
          </a:p>
        </p:txBody>
      </p:sp>
      <p:sp>
        <p:nvSpPr>
          <p:cNvPr id="60" name="Shape 57"/>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61" name="Text 58"/>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62" name="Text 59"/>
          <p:cNvSpPr txBox="1"/>
          <p:nvPr/>
        </p:nvSpPr>
        <p:spPr>
          <a:xfrm>
            <a:off x="64008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أَنَانِيٌّ</a:t>
            </a:r>
            <a:endParaRPr lang="ar-SA" sz="1500" dirty="0"/>
          </a:p>
        </p:txBody>
      </p:sp>
      <p:sp>
        <p:nvSpPr>
          <p:cNvPr id="63" name="Shape 60"/>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8211312" y="4261104"/>
            <a:ext cx="310896" cy="310896"/>
          </a:xfrm>
          <a:prstGeom prst="ellipse">
            <a:avLst/>
          </a:prstGeom>
          <a:solidFill>
            <a:srgbClr val="F4F1EA"/>
          </a:solidFill>
          <a:ln w="12700">
            <a:solidFill>
              <a:srgbClr val="F4F1EA"/>
            </a:solidFill>
            <a:prstDash val="solid"/>
          </a:ln>
        </p:spPr>
      </p:sp>
      <p:sp>
        <p:nvSpPr>
          <p:cNvPr id="65" name="Text 62"/>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66" name="Shape 63"/>
          <p:cNvSpPr/>
          <p:nvPr/>
        </p:nvSpPr>
        <p:spPr>
          <a:xfrm>
            <a:off x="8604504" y="4279392"/>
            <a:ext cx="896112" cy="256032"/>
          </a:xfrm>
          <a:prstGeom prst="roundRect">
            <a:avLst>
              <a:gd name="adj" fmla="val 50000"/>
            </a:avLst>
          </a:prstGeom>
          <a:solidFill>
            <a:srgbClr val="EFE7D2"/>
          </a:solidFill>
          <a:ln w="12700">
            <a:solidFill>
              <a:srgbClr val="EFE7D2"/>
            </a:solidFill>
            <a:prstDash val="solid"/>
          </a:ln>
        </p:spPr>
      </p:sp>
      <p:sp>
        <p:nvSpPr>
          <p:cNvPr id="67" name="Text 64"/>
          <p:cNvSpPr txBox="1"/>
          <p:nvPr/>
        </p:nvSpPr>
        <p:spPr>
          <a:xfrm>
            <a:off x="8604504"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68" name="Text 65"/>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عَصَبِيٌّ / عَصَبِيَّةٌ</a:t>
            </a:r>
            <a:endParaRPr lang="ar-SA" sz="3000" dirty="0"/>
          </a:p>
        </p:txBody>
      </p:sp>
      <p:sp>
        <p:nvSpPr>
          <p:cNvPr id="69" name="Text 66"/>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nervous/irritable</a:t>
            </a:r>
            <a:endParaRPr lang="en-US" sz="1350" dirty="0"/>
          </a:p>
          <a:p>
            <a:pPr indent="0" marL="0">
              <a:buNone/>
            </a:pPr>
            <a:r>
              <a:rPr lang="en-US" sz="1100" i="1" dirty="0">
                <a:solidFill>
                  <a:srgbClr val="5A6472"/>
                </a:solidFill>
                <a:latin typeface="Calibri" pitchFamily="34" charset="0"/>
                <a:cs typeface="Amiri" pitchFamily="2" charset="-78"/>
              </a:rPr>
              <a:t>ʿa-ṣa-biy-yun / ʿa-ṣa-biy-ya-tun</a:t>
            </a:r>
            <a:endParaRPr lang="en-US" sz="1350" dirty="0"/>
          </a:p>
        </p:txBody>
      </p:sp>
      <p:sp>
        <p:nvSpPr>
          <p:cNvPr id="70" name="Shape 67"/>
          <p:cNvSpPr/>
          <p:nvPr/>
        </p:nvSpPr>
        <p:spPr>
          <a:xfrm>
            <a:off x="10543032" y="5779008"/>
            <a:ext cx="1060704" cy="438912"/>
          </a:xfrm>
          <a:prstGeom prst="roundRect">
            <a:avLst>
              <a:gd name="adj" fmla="val 10417"/>
            </a:avLst>
          </a:prstGeom>
          <a:solidFill>
            <a:srgbClr val="F4F1EA"/>
          </a:solidFill>
          <a:ln w="9525">
            <a:solidFill>
              <a:srgbClr val="F4F1EA"/>
            </a:solidFill>
            <a:prstDash val="solid"/>
          </a:ln>
        </p:spPr>
      </p:sp>
      <p:sp>
        <p:nvSpPr>
          <p:cNvPr id="71" name="Text 68"/>
          <p:cNvSpPr txBox="1"/>
          <p:nvPr/>
        </p:nvSpPr>
        <p:spPr>
          <a:xfrm>
            <a:off x="1059789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72" name="Text 69"/>
          <p:cNvSpPr txBox="1"/>
          <p:nvPr/>
        </p:nvSpPr>
        <p:spPr>
          <a:xfrm>
            <a:off x="1058875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عَصَبِيُّونَ</a:t>
            </a:r>
            <a:endParaRPr lang="ar-SA" sz="1500" dirty="0"/>
          </a:p>
        </p:txBody>
      </p:sp>
      <p:sp>
        <p:nvSpPr>
          <p:cNvPr id="73" name="Shape 70"/>
          <p:cNvSpPr/>
          <p:nvPr/>
        </p:nvSpPr>
        <p:spPr>
          <a:xfrm>
            <a:off x="9390888" y="5779008"/>
            <a:ext cx="1060704" cy="438912"/>
          </a:xfrm>
          <a:prstGeom prst="roundRect">
            <a:avLst>
              <a:gd name="adj" fmla="val 10417"/>
            </a:avLst>
          </a:prstGeom>
          <a:solidFill>
            <a:srgbClr val="F4F1EA"/>
          </a:solidFill>
          <a:ln w="9525">
            <a:solidFill>
              <a:srgbClr val="F4F1EA"/>
            </a:solidFill>
            <a:prstDash val="solid"/>
          </a:ln>
        </p:spPr>
      </p:sp>
      <p:sp>
        <p:nvSpPr>
          <p:cNvPr id="74" name="Text 71"/>
          <p:cNvSpPr txBox="1"/>
          <p:nvPr/>
        </p:nvSpPr>
        <p:spPr>
          <a:xfrm>
            <a:off x="944575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75" name="Text 72"/>
          <p:cNvSpPr txBox="1"/>
          <p:nvPr/>
        </p:nvSpPr>
        <p:spPr>
          <a:xfrm>
            <a:off x="943660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عَصَبِيَّةٌ</a:t>
            </a:r>
            <a:endParaRPr lang="ar-SA" sz="1500" dirty="0"/>
          </a:p>
        </p:txBody>
      </p:sp>
      <p:sp>
        <p:nvSpPr>
          <p:cNvPr id="76" name="Shape 73"/>
          <p:cNvSpPr/>
          <p:nvPr/>
        </p:nvSpPr>
        <p:spPr>
          <a:xfrm>
            <a:off x="8238744" y="5779008"/>
            <a:ext cx="1060704" cy="438912"/>
          </a:xfrm>
          <a:prstGeom prst="roundRect">
            <a:avLst>
              <a:gd name="adj" fmla="val 10417"/>
            </a:avLst>
          </a:prstGeom>
          <a:solidFill>
            <a:srgbClr val="F4F1EA"/>
          </a:solidFill>
          <a:ln w="9525">
            <a:solidFill>
              <a:srgbClr val="F4F1EA"/>
            </a:solidFill>
            <a:prstDash val="solid"/>
          </a:ln>
        </p:spPr>
      </p:sp>
      <p:sp>
        <p:nvSpPr>
          <p:cNvPr id="77" name="Text 74"/>
          <p:cNvSpPr txBox="1"/>
          <p:nvPr/>
        </p:nvSpPr>
        <p:spPr>
          <a:xfrm>
            <a:off x="829360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78" name="Text 75"/>
          <p:cNvSpPr txBox="1"/>
          <p:nvPr/>
        </p:nvSpPr>
        <p:spPr>
          <a:xfrm>
            <a:off x="828446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عَصَبِيٌّ</a:t>
            </a:r>
            <a:endParaRPr lang="ar-SA" sz="1500" dirty="0"/>
          </a:p>
        </p:txBody>
      </p:sp>
      <p:sp>
        <p:nvSpPr>
          <p:cNvPr id="79" name="Text 7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45</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D2-L01 · Personality</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Evidence and degree (1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D2-L01</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13</a:t>
            </a:r>
            <a:endParaRPr lang="en-US" sz="10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لِأَنَّ</a:t>
            </a:r>
            <a:endParaRPr lang="ar-SA" sz="3000" dirty="0"/>
          </a:p>
        </p:txBody>
      </p:sp>
      <p:sp>
        <p:nvSpPr>
          <p:cNvPr id="23" name="Text 20"/>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because</a:t>
            </a:r>
            <a:endParaRPr lang="en-US" sz="1350" dirty="0"/>
          </a:p>
          <a:p>
            <a:pPr indent="0" marL="0">
              <a:buNone/>
            </a:pPr>
            <a:r>
              <a:rPr lang="en-US" sz="1100" i="1" dirty="0">
                <a:solidFill>
                  <a:srgbClr val="5A6472"/>
                </a:solidFill>
                <a:latin typeface="Calibri" pitchFamily="34" charset="0"/>
                <a:cs typeface="Amiri" pitchFamily="2" charset="-78"/>
              </a:rPr>
              <a:t>li-ʾan-na</a:t>
            </a:r>
            <a:endParaRPr lang="en-US" sz="1350" dirty="0"/>
          </a:p>
        </p:txBody>
      </p:sp>
      <p:sp>
        <p:nvSpPr>
          <p:cNvPr id="24" name="Shape 21"/>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Shape 22"/>
          <p:cNvSpPr/>
          <p:nvPr/>
        </p:nvSpPr>
        <p:spPr>
          <a:xfrm>
            <a:off x="4389120" y="1920240"/>
            <a:ext cx="310896" cy="310896"/>
          </a:xfrm>
          <a:prstGeom prst="ellipse">
            <a:avLst/>
          </a:prstGeom>
          <a:solidFill>
            <a:srgbClr val="F4F1EA"/>
          </a:solidFill>
          <a:ln w="12700">
            <a:solidFill>
              <a:srgbClr val="F4F1EA"/>
            </a:solidFill>
            <a:prstDash val="solid"/>
          </a:ln>
        </p:spPr>
      </p:sp>
      <p:sp>
        <p:nvSpPr>
          <p:cNvPr id="26" name="Text 23"/>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14</a:t>
            </a:r>
            <a:endParaRPr lang="en-US" sz="10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لِذٰلِكَ</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therefore</a:t>
            </a:r>
            <a:endParaRPr lang="en-US" sz="1350" dirty="0"/>
          </a:p>
          <a:p>
            <a:pPr indent="0" marL="0">
              <a:buNone/>
            </a:pPr>
            <a:r>
              <a:rPr lang="en-US" sz="1100" i="1" dirty="0">
                <a:solidFill>
                  <a:srgbClr val="5A6472"/>
                </a:solidFill>
                <a:latin typeface="Calibri" pitchFamily="34" charset="0"/>
                <a:cs typeface="Amiri" pitchFamily="2" charset="-78"/>
              </a:rPr>
              <a:t>li-dhā-li-ka</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15</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وَلٰكِنَّ</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but/however</a:t>
            </a:r>
            <a:endParaRPr lang="en-US" sz="1350" dirty="0"/>
          </a:p>
          <a:p>
            <a:pPr indent="0" marL="0">
              <a:buNone/>
            </a:pPr>
            <a:r>
              <a:rPr lang="en-US" sz="1100" i="1" dirty="0">
                <a:solidFill>
                  <a:srgbClr val="5A6472"/>
                </a:solidFill>
                <a:latin typeface="Calibri" pitchFamily="34" charset="0"/>
                <a:cs typeface="Amiri" pitchFamily="2" charset="-78"/>
              </a:rPr>
              <a:t>wa-lā-kin-na</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16</a:t>
            </a:r>
            <a:endParaRPr lang="en-US" sz="1000" dirty="0"/>
          </a:p>
        </p:txBody>
      </p:sp>
      <p:sp>
        <p:nvSpPr>
          <p:cNvPr id="39" name="Text 36"/>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بَيْنَمَا</a:t>
            </a:r>
            <a:endParaRPr lang="ar-SA" sz="3000" dirty="0"/>
          </a:p>
        </p:txBody>
      </p:sp>
      <p:sp>
        <p:nvSpPr>
          <p:cNvPr id="40" name="Text 37"/>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whereas/while</a:t>
            </a:r>
            <a:endParaRPr lang="en-US" sz="1350" dirty="0"/>
          </a:p>
          <a:p>
            <a:pPr indent="0" marL="0">
              <a:buNone/>
            </a:pPr>
            <a:r>
              <a:rPr lang="en-US" sz="1100" i="1" dirty="0">
                <a:solidFill>
                  <a:srgbClr val="5A6472"/>
                </a:solidFill>
                <a:latin typeface="Calibri" pitchFamily="34" charset="0"/>
                <a:cs typeface="Amiri" pitchFamily="2" charset="-78"/>
              </a:rPr>
              <a:t>bay-na-mā</a:t>
            </a:r>
            <a:endParaRPr lang="en-US" sz="13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45</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D2-L01 · Personality</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Evidence and degree (2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D2-L01</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17</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عَلَى الرَّغْمِ مِنْ أَنَّ</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although</a:t>
            </a:r>
            <a:endParaRPr lang="en-US" sz="1350" dirty="0"/>
          </a:p>
          <a:p>
            <a:pPr indent="0" marL="0">
              <a:buNone/>
            </a:pPr>
            <a:r>
              <a:rPr lang="en-US" sz="1100" i="1" dirty="0">
                <a:solidFill>
                  <a:srgbClr val="5A6472"/>
                </a:solidFill>
                <a:latin typeface="Calibri" pitchFamily="34" charset="0"/>
                <a:cs typeface="Amiri" pitchFamily="2" charset="-78"/>
              </a:rPr>
              <a:t>ʿa-lā ar-ragh-mi min an-na</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18</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فِي رَأْيِي</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 my opinion</a:t>
            </a:r>
            <a:endParaRPr lang="en-US" sz="1350" dirty="0"/>
          </a:p>
          <a:p>
            <a:pPr indent="0" marL="0">
              <a:buNone/>
            </a:pPr>
            <a:r>
              <a:rPr lang="en-US" sz="1100" i="1" dirty="0">
                <a:solidFill>
                  <a:srgbClr val="5A6472"/>
                </a:solidFill>
                <a:latin typeface="Calibri" pitchFamily="34" charset="0"/>
                <a:cs typeface="Amiri" pitchFamily="2" charset="-78"/>
              </a:rPr>
              <a:t>fī raʾ-yī</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19</a:t>
            </a:r>
            <a:endParaRPr lang="en-US" sz="10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مِنْ جِهَةٍ</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on one hand</a:t>
            </a:r>
            <a:endParaRPr lang="en-US" sz="1350" dirty="0"/>
          </a:p>
          <a:p>
            <a:pPr indent="0" marL="0">
              <a:buNone/>
            </a:pPr>
            <a:r>
              <a:rPr lang="en-US" sz="1100" i="1" dirty="0">
                <a:solidFill>
                  <a:srgbClr val="5A6472"/>
                </a:solidFill>
                <a:latin typeface="Calibri" pitchFamily="34" charset="0"/>
                <a:cs typeface="Amiri" pitchFamily="2" charset="-78"/>
              </a:rPr>
              <a:t>min ji-ha-tin</a:t>
            </a:r>
            <a:endParaRPr lang="en-US" sz="1350" dirty="0"/>
          </a:p>
        </p:txBody>
      </p:sp>
      <p:sp>
        <p:nvSpPr>
          <p:cNvPr id="32" name="Shape 2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8211312" y="4261104"/>
            <a:ext cx="310896" cy="310896"/>
          </a:xfrm>
          <a:prstGeom prst="ellipse">
            <a:avLst/>
          </a:prstGeom>
          <a:solidFill>
            <a:srgbClr val="F4F1EA"/>
          </a:solidFill>
          <a:ln w="12700">
            <a:solidFill>
              <a:srgbClr val="F4F1EA"/>
            </a:solidFill>
            <a:prstDash val="solid"/>
          </a:ln>
        </p:spPr>
      </p:sp>
      <p:sp>
        <p:nvSpPr>
          <p:cNvPr id="34" name="Text 3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20</a:t>
            </a:r>
            <a:endParaRPr lang="en-US" sz="1000" dirty="0"/>
          </a:p>
        </p:txBody>
      </p:sp>
      <p:sp>
        <p:nvSpPr>
          <p:cNvPr id="35" name="Text 3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مِنْ جِهَةٍ أُخْرَى</a:t>
            </a:r>
            <a:endParaRPr lang="ar-SA" sz="3000" dirty="0"/>
          </a:p>
        </p:txBody>
      </p:sp>
      <p:sp>
        <p:nvSpPr>
          <p:cNvPr id="36" name="Text 3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on the other hand</a:t>
            </a:r>
            <a:endParaRPr lang="en-US" sz="1350" dirty="0"/>
          </a:p>
          <a:p>
            <a:pPr indent="0" marL="0">
              <a:buNone/>
            </a:pPr>
            <a:r>
              <a:rPr lang="en-US" sz="1100" i="1" dirty="0">
                <a:solidFill>
                  <a:srgbClr val="5A6472"/>
                </a:solidFill>
                <a:latin typeface="Calibri" pitchFamily="34" charset="0"/>
                <a:cs typeface="Amiri" pitchFamily="2" charset="-78"/>
              </a:rPr>
              <a:t>min ji-ha-tin ukh-rā</a:t>
            </a:r>
            <a:endParaRPr lang="en-US" sz="13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45</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D2-L01 · Personality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FOCUS · PART 1 · ADJECTIVE AGREEMENT (WEBSITE RULE + TABLE)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He is … She is … They are …</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هُوَ · هِيَ · هُمْ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153144" y="1810512"/>
            <a:ext cx="25054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He · </a:t>
            </a:r>
            <a:pPr algn="ctr" indent="0" marL="0">
              <a:buNone/>
            </a:pPr>
            <a:r>
              <a:rPr lang="ar-SA" altLang="en-US" sz="1450" b="1" dirty="0">
                <a:solidFill>
                  <a:srgbClr val="FFFFFF"/>
                </a:solidFill>
                <a:latin typeface="Amiri" pitchFamily="2" charset="-78"/>
                <a:ea typeface="Amiri" pitchFamily="2" charset="-78"/>
                <a:cs typeface="Amiri" pitchFamily="2" charset="-78"/>
              </a:rPr>
              <a:t>هُوَ</a:t>
            </a:r>
            <a:endParaRPr lang="en-US" sz="1100" dirty="0"/>
          </a:p>
        </p:txBody>
      </p:sp>
      <p:sp>
        <p:nvSpPr>
          <p:cNvPr id="17" name="Text 14"/>
          <p:cNvSpPr txBox="1"/>
          <p:nvPr/>
        </p:nvSpPr>
        <p:spPr>
          <a:xfrm>
            <a:off x="6318504" y="1810512"/>
            <a:ext cx="26883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She · </a:t>
            </a:r>
            <a:pPr algn="ctr" indent="0" marL="0">
              <a:buNone/>
            </a:pPr>
            <a:r>
              <a:rPr lang="ar-SA" altLang="en-US" sz="1450" b="1" dirty="0">
                <a:solidFill>
                  <a:srgbClr val="FFFFFF"/>
                </a:solidFill>
                <a:latin typeface="Amiri" pitchFamily="2" charset="-78"/>
                <a:ea typeface="Amiri" pitchFamily="2" charset="-78"/>
                <a:cs typeface="Amiri" pitchFamily="2" charset="-78"/>
              </a:rPr>
              <a:t>هِيَ</a:t>
            </a:r>
            <a:endParaRPr lang="en-US" sz="1100" dirty="0"/>
          </a:p>
        </p:txBody>
      </p:sp>
      <p:sp>
        <p:nvSpPr>
          <p:cNvPr id="18" name="Text 15"/>
          <p:cNvSpPr txBox="1"/>
          <p:nvPr/>
        </p:nvSpPr>
        <p:spPr>
          <a:xfrm>
            <a:off x="3300984" y="1810512"/>
            <a:ext cx="28712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They · </a:t>
            </a:r>
            <a:pPr algn="ctr" indent="0" marL="0">
              <a:buNone/>
            </a:pPr>
            <a:r>
              <a:rPr lang="ar-SA" altLang="en-US" sz="1450" b="1" dirty="0">
                <a:solidFill>
                  <a:srgbClr val="FFFFFF"/>
                </a:solidFill>
                <a:latin typeface="Amiri" pitchFamily="2" charset="-78"/>
                <a:ea typeface="Amiri" pitchFamily="2" charset="-78"/>
                <a:cs typeface="Amiri" pitchFamily="2" charset="-78"/>
              </a:rPr>
              <a:t>هُمْ</a:t>
            </a:r>
            <a:endParaRPr lang="en-US" sz="1100" dirty="0"/>
          </a:p>
        </p:txBody>
      </p:sp>
      <p:sp>
        <p:nvSpPr>
          <p:cNvPr id="19" name="Text 16"/>
          <p:cNvSpPr txBox="1"/>
          <p:nvPr/>
        </p:nvSpPr>
        <p:spPr>
          <a:xfrm>
            <a:off x="530352" y="1810512"/>
            <a:ext cx="26243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9171432" y="2267712"/>
            <a:ext cx="2468880" cy="682142"/>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وَدُودٌ</a:t>
            </a:r>
            <a:endParaRPr lang="ar-SA" sz="2600" dirty="0"/>
          </a:p>
        </p:txBody>
      </p:sp>
      <p:sp>
        <p:nvSpPr>
          <p:cNvPr id="22" name="Text 19"/>
          <p:cNvSpPr txBox="1"/>
          <p:nvPr/>
        </p:nvSpPr>
        <p:spPr>
          <a:xfrm>
            <a:off x="6336792" y="2267712"/>
            <a:ext cx="2651760" cy="682142"/>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وَدُودَ</a:t>
            </a:r>
            <a:pPr rtl="1" algn="ctr" indent="0" marL="0">
              <a:buNone/>
            </a:pPr>
            <a:r>
              <a:rPr lang="ar-SA" altLang="en-US" sz="2600" b="1" dirty="0">
                <a:solidFill>
                  <a:srgbClr val="D6336C"/>
                </a:solidFill>
                <a:latin typeface="Amiri" pitchFamily="2" charset="-78"/>
                <a:ea typeface="Amiri" pitchFamily="2" charset="-78"/>
                <a:cs typeface="Amiri" pitchFamily="2" charset="-78"/>
              </a:rPr>
              <a:t>ةٌ</a:t>
            </a:r>
            <a:endParaRPr lang="ar-SA" sz="2600" dirty="0"/>
          </a:p>
        </p:txBody>
      </p:sp>
      <p:sp>
        <p:nvSpPr>
          <p:cNvPr id="23" name="Text 20"/>
          <p:cNvSpPr txBox="1"/>
          <p:nvPr/>
        </p:nvSpPr>
        <p:spPr>
          <a:xfrm>
            <a:off x="3319272" y="2267712"/>
            <a:ext cx="2834640" cy="682142"/>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وَدُودُ</a:t>
            </a:r>
            <a:pPr rtl="1" algn="ctr" indent="0" marL="0">
              <a:buNone/>
            </a:pPr>
            <a:r>
              <a:rPr lang="ar-SA" altLang="en-US" sz="2600" b="1" dirty="0">
                <a:solidFill>
                  <a:srgbClr val="0E7C86"/>
                </a:solidFill>
                <a:latin typeface="Amiri" pitchFamily="2" charset="-78"/>
                <a:ea typeface="Amiri" pitchFamily="2" charset="-78"/>
                <a:cs typeface="Amiri" pitchFamily="2" charset="-78"/>
              </a:rPr>
              <a:t>ونَ</a:t>
            </a:r>
            <a:endParaRPr lang="ar-SA" sz="2600" dirty="0"/>
          </a:p>
        </p:txBody>
      </p:sp>
      <p:sp>
        <p:nvSpPr>
          <p:cNvPr id="24" name="Text 21"/>
          <p:cNvSpPr txBox="1"/>
          <p:nvPr/>
        </p:nvSpPr>
        <p:spPr>
          <a:xfrm>
            <a:off x="566928" y="2267712"/>
            <a:ext cx="25877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friendly</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9171432" y="3004718"/>
            <a:ext cx="2468880" cy="682142"/>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صَبُورٌ</a:t>
            </a:r>
            <a:endParaRPr lang="ar-SA" sz="2600" dirty="0"/>
          </a:p>
        </p:txBody>
      </p:sp>
      <p:sp>
        <p:nvSpPr>
          <p:cNvPr id="29" name="Text 26"/>
          <p:cNvSpPr txBox="1"/>
          <p:nvPr/>
        </p:nvSpPr>
        <p:spPr>
          <a:xfrm>
            <a:off x="6336792" y="3004718"/>
            <a:ext cx="2651760" cy="682142"/>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صَبُورَ</a:t>
            </a:r>
            <a:pPr rtl="1" algn="ctr" indent="0" marL="0">
              <a:buNone/>
            </a:pPr>
            <a:r>
              <a:rPr lang="ar-SA" altLang="en-US" sz="2600" b="1" dirty="0">
                <a:solidFill>
                  <a:srgbClr val="D6336C"/>
                </a:solidFill>
                <a:latin typeface="Amiri" pitchFamily="2" charset="-78"/>
                <a:ea typeface="Amiri" pitchFamily="2" charset="-78"/>
                <a:cs typeface="Amiri" pitchFamily="2" charset="-78"/>
              </a:rPr>
              <a:t>ةٌ</a:t>
            </a:r>
            <a:endParaRPr lang="ar-SA" sz="2600" dirty="0"/>
          </a:p>
        </p:txBody>
      </p:sp>
      <p:sp>
        <p:nvSpPr>
          <p:cNvPr id="30" name="Text 27"/>
          <p:cNvSpPr txBox="1"/>
          <p:nvPr/>
        </p:nvSpPr>
        <p:spPr>
          <a:xfrm>
            <a:off x="3319272" y="3004718"/>
            <a:ext cx="2834640" cy="682142"/>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صَبُورُ</a:t>
            </a:r>
            <a:pPr rtl="1" algn="ctr" indent="0" marL="0">
              <a:buNone/>
            </a:pPr>
            <a:r>
              <a:rPr lang="ar-SA" altLang="en-US" sz="2600" b="1" dirty="0">
                <a:solidFill>
                  <a:srgbClr val="0E7C86"/>
                </a:solidFill>
                <a:latin typeface="Amiri" pitchFamily="2" charset="-78"/>
                <a:ea typeface="Amiri" pitchFamily="2" charset="-78"/>
                <a:cs typeface="Amiri" pitchFamily="2" charset="-78"/>
              </a:rPr>
              <a:t>ونَ</a:t>
            </a:r>
            <a:endParaRPr lang="ar-SA" sz="2600" dirty="0"/>
          </a:p>
        </p:txBody>
      </p:sp>
      <p:sp>
        <p:nvSpPr>
          <p:cNvPr id="31" name="Text 28"/>
          <p:cNvSpPr txBox="1"/>
          <p:nvPr/>
        </p:nvSpPr>
        <p:spPr>
          <a:xfrm>
            <a:off x="566928" y="3004718"/>
            <a:ext cx="25877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patient</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9171432" y="3741725"/>
            <a:ext cx="2468880" cy="682142"/>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مُجْتَهِدٌ</a:t>
            </a:r>
            <a:endParaRPr lang="ar-SA" sz="2600" dirty="0"/>
          </a:p>
        </p:txBody>
      </p:sp>
      <p:sp>
        <p:nvSpPr>
          <p:cNvPr id="36" name="Text 33"/>
          <p:cNvSpPr txBox="1"/>
          <p:nvPr/>
        </p:nvSpPr>
        <p:spPr>
          <a:xfrm>
            <a:off x="6336792" y="3741725"/>
            <a:ext cx="2651760" cy="682142"/>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مُجْتَهِدَ</a:t>
            </a:r>
            <a:pPr rtl="1" algn="ctr" indent="0" marL="0">
              <a:buNone/>
            </a:pPr>
            <a:r>
              <a:rPr lang="ar-SA" altLang="en-US" sz="2600" b="1" dirty="0">
                <a:solidFill>
                  <a:srgbClr val="D6336C"/>
                </a:solidFill>
                <a:latin typeface="Amiri" pitchFamily="2" charset="-78"/>
                <a:ea typeface="Amiri" pitchFamily="2" charset="-78"/>
                <a:cs typeface="Amiri" pitchFamily="2" charset="-78"/>
              </a:rPr>
              <a:t>ةٌ</a:t>
            </a:r>
            <a:endParaRPr lang="ar-SA" sz="2600" dirty="0"/>
          </a:p>
        </p:txBody>
      </p:sp>
      <p:sp>
        <p:nvSpPr>
          <p:cNvPr id="37" name="Text 34"/>
          <p:cNvSpPr txBox="1"/>
          <p:nvPr/>
        </p:nvSpPr>
        <p:spPr>
          <a:xfrm>
            <a:off x="3319272" y="3741725"/>
            <a:ext cx="2834640" cy="682142"/>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مُجْتَهِدُ</a:t>
            </a:r>
            <a:pPr rtl="1" algn="ctr" indent="0" marL="0">
              <a:buNone/>
            </a:pPr>
            <a:r>
              <a:rPr lang="ar-SA" altLang="en-US" sz="2600" b="1" dirty="0">
                <a:solidFill>
                  <a:srgbClr val="0E7C86"/>
                </a:solidFill>
                <a:latin typeface="Amiri" pitchFamily="2" charset="-78"/>
                <a:ea typeface="Amiri" pitchFamily="2" charset="-78"/>
                <a:cs typeface="Amiri" pitchFamily="2" charset="-78"/>
              </a:rPr>
              <a:t>ونَ</a:t>
            </a:r>
            <a:endParaRPr lang="ar-SA" sz="2600" dirty="0"/>
          </a:p>
        </p:txBody>
      </p:sp>
      <p:sp>
        <p:nvSpPr>
          <p:cNvPr id="38" name="Text 35"/>
          <p:cNvSpPr txBox="1"/>
          <p:nvPr/>
        </p:nvSpPr>
        <p:spPr>
          <a:xfrm>
            <a:off x="566928" y="3741725"/>
            <a:ext cx="25877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hard-working</a:t>
            </a:r>
            <a:endParaRPr lang="en-US" sz="1100" dirty="0"/>
          </a:p>
        </p:txBody>
      </p:sp>
      <p:sp>
        <p:nvSpPr>
          <p:cNvPr id="39" name="Shape 36"/>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2" name="Text 39"/>
          <p:cNvSpPr txBox="1"/>
          <p:nvPr/>
        </p:nvSpPr>
        <p:spPr>
          <a:xfrm>
            <a:off x="9171432" y="4478731"/>
            <a:ext cx="2468880" cy="682142"/>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وَاثِقٌ</a:t>
            </a:r>
            <a:endParaRPr lang="ar-SA" sz="2600" dirty="0"/>
          </a:p>
        </p:txBody>
      </p:sp>
      <p:sp>
        <p:nvSpPr>
          <p:cNvPr id="43" name="Text 40"/>
          <p:cNvSpPr txBox="1"/>
          <p:nvPr/>
        </p:nvSpPr>
        <p:spPr>
          <a:xfrm>
            <a:off x="6336792" y="4478731"/>
            <a:ext cx="2651760" cy="682142"/>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وَاثِقَ</a:t>
            </a:r>
            <a:pPr rtl="1" algn="ctr" indent="0" marL="0">
              <a:buNone/>
            </a:pPr>
            <a:r>
              <a:rPr lang="ar-SA" altLang="en-US" sz="2600" b="1" dirty="0">
                <a:solidFill>
                  <a:srgbClr val="D6336C"/>
                </a:solidFill>
                <a:latin typeface="Amiri" pitchFamily="2" charset="-78"/>
                <a:ea typeface="Amiri" pitchFamily="2" charset="-78"/>
                <a:cs typeface="Amiri" pitchFamily="2" charset="-78"/>
              </a:rPr>
              <a:t>ةٌ</a:t>
            </a:r>
            <a:endParaRPr lang="ar-SA" sz="2600" dirty="0"/>
          </a:p>
        </p:txBody>
      </p:sp>
      <p:sp>
        <p:nvSpPr>
          <p:cNvPr id="44" name="Text 41"/>
          <p:cNvSpPr txBox="1"/>
          <p:nvPr/>
        </p:nvSpPr>
        <p:spPr>
          <a:xfrm>
            <a:off x="3319272" y="4478731"/>
            <a:ext cx="2834640" cy="682142"/>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وَاثِقُ</a:t>
            </a:r>
            <a:pPr rtl="1" algn="ctr" indent="0" marL="0">
              <a:buNone/>
            </a:pPr>
            <a:r>
              <a:rPr lang="ar-SA" altLang="en-US" sz="2600" b="1" dirty="0">
                <a:solidFill>
                  <a:srgbClr val="0E7C86"/>
                </a:solidFill>
                <a:latin typeface="Amiri" pitchFamily="2" charset="-78"/>
                <a:ea typeface="Amiri" pitchFamily="2" charset="-78"/>
                <a:cs typeface="Amiri" pitchFamily="2" charset="-78"/>
              </a:rPr>
              <a:t>ونَ</a:t>
            </a:r>
            <a:endParaRPr lang="ar-SA" sz="2600" dirty="0"/>
          </a:p>
        </p:txBody>
      </p:sp>
      <p:sp>
        <p:nvSpPr>
          <p:cNvPr id="45" name="Text 42"/>
          <p:cNvSpPr txBox="1"/>
          <p:nvPr/>
        </p:nvSpPr>
        <p:spPr>
          <a:xfrm>
            <a:off x="566928" y="4478731"/>
            <a:ext cx="25877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confident</a:t>
            </a:r>
            <a:endParaRPr lang="en-US" sz="1100" dirty="0"/>
          </a:p>
        </p:txBody>
      </p:sp>
      <p:sp>
        <p:nvSpPr>
          <p:cNvPr id="46" name="Shape 43"/>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7" name="Text 44"/>
          <p:cNvSpPr txBox="1"/>
          <p:nvPr/>
        </p:nvSpPr>
        <p:spPr>
          <a:xfrm>
            <a:off x="9171432" y="5215738"/>
            <a:ext cx="2468880" cy="682142"/>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كَرِيمٌ</a:t>
            </a:r>
            <a:endParaRPr lang="ar-SA" sz="2600" dirty="0"/>
          </a:p>
        </p:txBody>
      </p:sp>
      <p:sp>
        <p:nvSpPr>
          <p:cNvPr id="48" name="Text 45"/>
          <p:cNvSpPr txBox="1"/>
          <p:nvPr/>
        </p:nvSpPr>
        <p:spPr>
          <a:xfrm>
            <a:off x="6336792" y="5215738"/>
            <a:ext cx="2651760" cy="682142"/>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كَرِيمَ</a:t>
            </a:r>
            <a:pPr rtl="1" algn="ctr" indent="0" marL="0">
              <a:buNone/>
            </a:pPr>
            <a:r>
              <a:rPr lang="ar-SA" altLang="en-US" sz="2600" b="1" dirty="0">
                <a:solidFill>
                  <a:srgbClr val="D6336C"/>
                </a:solidFill>
                <a:latin typeface="Amiri" pitchFamily="2" charset="-78"/>
                <a:ea typeface="Amiri" pitchFamily="2" charset="-78"/>
                <a:cs typeface="Amiri" pitchFamily="2" charset="-78"/>
              </a:rPr>
              <a:t>ةٌ</a:t>
            </a:r>
            <a:endParaRPr lang="ar-SA" sz="2600" dirty="0"/>
          </a:p>
        </p:txBody>
      </p:sp>
      <p:sp>
        <p:nvSpPr>
          <p:cNvPr id="49" name="Text 46"/>
          <p:cNvSpPr txBox="1"/>
          <p:nvPr/>
        </p:nvSpPr>
        <p:spPr>
          <a:xfrm>
            <a:off x="3319272" y="5215738"/>
            <a:ext cx="2834640" cy="682142"/>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كُرَمَاءُ</a:t>
            </a:r>
            <a:endParaRPr lang="ar-SA" sz="2600" dirty="0"/>
          </a:p>
        </p:txBody>
      </p:sp>
      <p:sp>
        <p:nvSpPr>
          <p:cNvPr id="50" name="Text 47"/>
          <p:cNvSpPr txBox="1"/>
          <p:nvPr/>
        </p:nvSpPr>
        <p:spPr>
          <a:xfrm>
            <a:off x="566928" y="5215738"/>
            <a:ext cx="25877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generous (broken plural)</a:t>
            </a:r>
            <a:endParaRPr lang="en-US" sz="1100" dirty="0"/>
          </a:p>
        </p:txBody>
      </p:sp>
      <p:sp>
        <p:nvSpPr>
          <p:cNvPr id="51" name="Text 48"/>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Name first, then the adjective: the teacher (m.) is ṣabūr, the teacher (f.) is ṣabūra. Ask: kayfa huwa? / kayfa hiya?</a:t>
            </a:r>
            <a:endParaRPr lang="en-US" sz="1150" dirty="0"/>
          </a:p>
        </p:txBody>
      </p:sp>
      <p:sp>
        <p:nvSpPr>
          <p:cNvPr id="52"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45</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D2-L01 · Personality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60" b="1" spc="150" kern="0" dirty="0">
                <a:solidFill>
                  <a:srgbClr val="1B3B6F"/>
                </a:solidFill>
                <a:latin typeface="Calibri" pitchFamily="34" charset="0"/>
                <a:cs typeface="Amiri" pitchFamily="2" charset="-78"/>
              </a:rPr>
              <a:t>GRAMMAR FOCUS · PART 2 · DEGREE AND EVIDENCE (WEBSITE RULES) · DEVELOP / STRETCH</a:t>
            </a:r>
            <a:endParaRPr lang="en-US" sz="86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How much? And how do you know?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جِدًّا · نَوْعًا مَا · لِأَنَّهُ</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D2-L01</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303020" cy="274320"/>
          </a:xfrm>
          <a:prstGeom prst="roundRect">
            <a:avLst>
              <a:gd name="adj" fmla="val 50000"/>
            </a:avLst>
          </a:prstGeom>
          <a:solidFill>
            <a:srgbClr val="1D5FBF"/>
          </a:solidFill>
          <a:ln w="12700">
            <a:solidFill>
              <a:srgbClr val="1D5FBF"/>
            </a:solidFill>
            <a:prstDash val="solid"/>
          </a:ln>
        </p:spPr>
      </p:sp>
      <p:sp>
        <p:nvSpPr>
          <p:cNvPr id="17" name="Text 14"/>
          <p:cNvSpPr txBox="1"/>
          <p:nvPr/>
        </p:nvSpPr>
        <p:spPr>
          <a:xfrm>
            <a:off x="8232648" y="1920240"/>
            <a:ext cx="130302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STRONGER · CORE</a:t>
            </a:r>
            <a:endParaRPr lang="en-US" sz="850" dirty="0"/>
          </a:p>
        </p:txBody>
      </p:sp>
      <p:sp>
        <p:nvSpPr>
          <p:cNvPr id="18" name="Text 15"/>
          <p:cNvSpPr txBox="1"/>
          <p:nvPr/>
        </p:nvSpPr>
        <p:spPr>
          <a:xfrm>
            <a:off x="9581388" y="1874520"/>
            <a:ext cx="201320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جِدًّا</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ea typeface="Amiri" pitchFamily="2" charset="-78"/>
                <a:cs typeface="Amiri" pitchFamily="2" charset="-78"/>
              </a:rPr>
              <a:t>هُوَ وَاثِقٌ جِدًّا.</a:t>
            </a:r>
            <a:endParaRPr lang="ar-SA" sz="320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He is very confident.</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After the adjective.</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371600" cy="274320"/>
          </a:xfrm>
          <a:prstGeom prst="roundRect">
            <a:avLst>
              <a:gd name="adj" fmla="val 50000"/>
            </a:avLst>
          </a:prstGeom>
          <a:solidFill>
            <a:srgbClr val="6B4C9A"/>
          </a:solidFill>
          <a:ln w="12700">
            <a:solidFill>
              <a:srgbClr val="6B4C9A"/>
            </a:solidFill>
            <a:prstDash val="solid"/>
          </a:ln>
        </p:spPr>
      </p:sp>
      <p:sp>
        <p:nvSpPr>
          <p:cNvPr id="25" name="Text 22"/>
          <p:cNvSpPr txBox="1"/>
          <p:nvPr/>
        </p:nvSpPr>
        <p:spPr>
          <a:xfrm>
            <a:off x="4413504" y="1920240"/>
            <a:ext cx="13716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SOFTER · DEVELOP</a:t>
            </a:r>
            <a:endParaRPr lang="en-US" sz="850" dirty="0"/>
          </a:p>
        </p:txBody>
      </p:sp>
      <p:sp>
        <p:nvSpPr>
          <p:cNvPr id="26" name="Text 23"/>
          <p:cNvSpPr txBox="1"/>
          <p:nvPr/>
        </p:nvSpPr>
        <p:spPr>
          <a:xfrm>
            <a:off x="5830824" y="1874520"/>
            <a:ext cx="194462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نَوْعًا مَا · لَيْسَ</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ea typeface="Amiri" pitchFamily="2" charset="-78"/>
                <a:cs typeface="Amiri" pitchFamily="2" charset="-78"/>
              </a:rPr>
              <a:t>هِيَ خَجُولَةٌ نَوْعًا مَا. هُوَ لَيْسَ أَنَانِيًّا جِدًّا.</a:t>
            </a:r>
            <a:endParaRPr lang="ar-SA" sz="210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She is somewhat shy. He is not very selfish.</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After laysa: -an ending.</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303020" cy="274320"/>
          </a:xfrm>
          <a:prstGeom prst="roundRect">
            <a:avLst>
              <a:gd name="adj" fmla="val 50000"/>
            </a:avLst>
          </a:prstGeom>
          <a:solidFill>
            <a:srgbClr val="1E7B4F"/>
          </a:solidFill>
          <a:ln w="12700">
            <a:solidFill>
              <a:srgbClr val="1E7B4F"/>
            </a:solidFill>
            <a:prstDash val="solid"/>
          </a:ln>
        </p:spPr>
      </p:sp>
      <p:sp>
        <p:nvSpPr>
          <p:cNvPr id="33" name="Text 30"/>
          <p:cNvSpPr txBox="1"/>
          <p:nvPr/>
        </p:nvSpPr>
        <p:spPr>
          <a:xfrm>
            <a:off x="594360" y="1920240"/>
            <a:ext cx="130302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EVIDENCE · CORE</a:t>
            </a:r>
            <a:endParaRPr lang="en-US" sz="850" dirty="0"/>
          </a:p>
        </p:txBody>
      </p:sp>
      <p:sp>
        <p:nvSpPr>
          <p:cNvPr id="34" name="Text 31"/>
          <p:cNvSpPr txBox="1"/>
          <p:nvPr/>
        </p:nvSpPr>
        <p:spPr>
          <a:xfrm>
            <a:off x="1943100" y="1874520"/>
            <a:ext cx="201320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لِأَنَّهُ / لِأَنَّهَا</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ea typeface="Amiri" pitchFamily="2" charset="-78"/>
                <a:cs typeface="Amiri" pitchFamily="2" charset="-78"/>
              </a:rPr>
              <a:t>هِيَ مُتَعَاوِنَةٌ لِأَنَّهَا تُسَاعِدُ الآخَرِينَ.</a:t>
            </a:r>
            <a:endParaRPr lang="ar-SA" sz="21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She is helpful because she helps others.</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Adjective + behaviour = proof.</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Website common error: the reason must match the person.</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1B3B6F"/>
                </a:solidFill>
                <a:latin typeface="Amiri" pitchFamily="2" charset="-78"/>
                <a:ea typeface="Amiri" pitchFamily="2" charset="-78"/>
                <a:cs typeface="Amiri" pitchFamily="2" charset="-78"/>
              </a:rPr>
              <a:t>هِيَ كَرِيمَةٌ لِأَنَّهَا تُسَاعِدُ.</a:t>
            </a:r>
            <a:endParaRPr lang="ar-SA" sz="165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B83227"/>
                </a:solidFill>
                <a:latin typeface="Amiri" pitchFamily="2" charset="-78"/>
                <a:ea typeface="Amiri" pitchFamily="2" charset="-78"/>
                <a:cs typeface="Amiri" pitchFamily="2" charset="-78"/>
              </a:rPr>
              <a:t>هِيَ كَرِيمَةٌ لِأَنَّهُ تُسَاعِدُ.</a:t>
            </a:r>
            <a:endParaRPr lang="ar-SA" sz="165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45</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D2-L01 · Personality</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THE WEBSITE RULES WITH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Adjective agreement and evidence</a:t>
            </a:r>
            <a:endParaRPr lang="en-US" sz="27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مُطَابَقَةُ الصِّفَةِ وَتَقْدِيمُ الدَّلِيلِ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D2-L01</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1. Adjective agreement</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هُوَ + صِفَةٌ مُذَكَّرَةٌ / هِيَ + صِفَةٌ مُؤَنَّثَةٌ</a:t>
            </a:r>
            <a:endParaRPr lang="ar-SA" sz="13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هُوَ وَدُودٌ وَصَادِقٌ.   ·   هِيَ وَدُودَةٌ وَصَادِقَةٌ.</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2. Ask what someone is like</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كَيْفَ هُوَ؟ / كَيْفَ هِيَ؟</a:t>
            </a:r>
            <a:endParaRPr lang="ar-SA" sz="13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كَيْفَ هُوَ؟ هُوَ هَادِئٌ وَمُجْتَهِدٌ.   ·   كَيْفَ هِيَ؟ هِيَ مَرِحَةٌ وَكَرِيمَةٌ.</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3. Strengthen or soften a description</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جِدًّا / نَوْعًا مَا / لَيْسَ ... جِدًّا</a:t>
            </a:r>
            <a:endParaRPr lang="ar-SA" sz="13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هُوَ وَاثِقٌ جِدًّا.   ·   هِيَ خَجُولَةٌ نَوْعًا مَا.</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4. Justify with evidence</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صِفَةٌ + لِأَنَّهُ / لِأَنَّهَا + دَلِيلٌ</a:t>
            </a:r>
            <a:endParaRPr lang="ar-SA" sz="13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هُوَ مُتَعَاوِنٌ لِأَنَّهُ يُسَاعِدُ الجَمِيعَ.   ·   هِيَ صَبُورَةٌ لِأَنَّهَا تَسْتَمِعُ بِاهْتِمَامٍ.</a:t>
            </a:r>
            <a:endParaRPr lang="ar-SA" sz="200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45</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D2-L01 · Personality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D2-L01</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“She is honest and patient.”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هِيَ صَادِقٌ وَصَبُورٌ.</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هُوَ صَادِقَةٌ وَصَبُورَةٌ.</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هِيَ صَادِقَةٌ وَصَبُورَةٌ.</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2" name="Text 29"/>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هُوَ كَرِيمٌ ___ يُسَاعِدُ أَصْدِقَاءَهُ.</a:t>
            </a:r>
            <a:endParaRPr lang="ar-SA" sz="1500" dirty="0"/>
          </a:p>
        </p:txBody>
      </p:sp>
      <p:sp>
        <p:nvSpPr>
          <p:cNvPr id="33" name="Shape 30"/>
          <p:cNvSpPr/>
          <p:nvPr/>
        </p:nvSpPr>
        <p:spPr>
          <a:xfrm>
            <a:off x="6368796" y="2532888"/>
            <a:ext cx="256032" cy="256032"/>
          </a:xfrm>
          <a:prstGeom prst="ellipse">
            <a:avLst/>
          </a:prstGeom>
          <a:solidFill>
            <a:srgbClr val="F4F1EA"/>
          </a:solidFill>
          <a:ln w="12700">
            <a:solidFill>
              <a:srgbClr val="F4F1EA"/>
            </a:solidFill>
            <a:prstDash val="solid"/>
          </a:ln>
        </p:spPr>
      </p:sp>
      <p:sp>
        <p:nvSpPr>
          <p:cNvPr id="34" name="Text 31"/>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5" name="Text 32"/>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لِأَنَّهُ</a:t>
            </a:r>
            <a:endParaRPr lang="ar-SA" sz="2050" dirty="0"/>
          </a:p>
        </p:txBody>
      </p:sp>
      <p:sp>
        <p:nvSpPr>
          <p:cNvPr id="36" name="Shape 33"/>
          <p:cNvSpPr/>
          <p:nvPr/>
        </p:nvSpPr>
        <p:spPr>
          <a:xfrm>
            <a:off x="6368796" y="2990088"/>
            <a:ext cx="256032" cy="256032"/>
          </a:xfrm>
          <a:prstGeom prst="ellipse">
            <a:avLst/>
          </a:prstGeom>
          <a:solidFill>
            <a:srgbClr val="F4F1EA"/>
          </a:solidFill>
          <a:ln w="12700">
            <a:solidFill>
              <a:srgbClr val="F4F1EA"/>
            </a:solidFill>
            <a:prstDash val="solid"/>
          </a:ln>
        </p:spPr>
      </p:sp>
      <p:sp>
        <p:nvSpPr>
          <p:cNvPr id="37" name="Text 34"/>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8" name="Text 35"/>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لِأَنَّهَا</a:t>
            </a:r>
            <a:endParaRPr lang="ar-SA" sz="2050" dirty="0"/>
          </a:p>
        </p:txBody>
      </p:sp>
      <p:sp>
        <p:nvSpPr>
          <p:cNvPr id="39" name="Shape 36"/>
          <p:cNvSpPr/>
          <p:nvPr/>
        </p:nvSpPr>
        <p:spPr>
          <a:xfrm>
            <a:off x="6368796" y="3447288"/>
            <a:ext cx="256032" cy="256032"/>
          </a:xfrm>
          <a:prstGeom prst="ellipse">
            <a:avLst/>
          </a:prstGeom>
          <a:solidFill>
            <a:srgbClr val="F4F1EA"/>
          </a:solidFill>
          <a:ln w="12700">
            <a:solidFill>
              <a:srgbClr val="F4F1EA"/>
            </a:solidFill>
            <a:prstDash val="solid"/>
          </a:ln>
        </p:spPr>
      </p:sp>
      <p:sp>
        <p:nvSpPr>
          <p:cNvPr id="40" name="Text 37"/>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1" name="Text 38"/>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وَلٰكِنَّهَا</a:t>
            </a:r>
            <a:endParaRPr lang="ar-SA" sz="2050" dirty="0"/>
          </a:p>
        </p:txBody>
      </p:sp>
      <p:sp>
        <p:nvSpPr>
          <p:cNvPr id="42" name="Shape 39"/>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585216" y="4288536"/>
            <a:ext cx="310896" cy="310896"/>
          </a:xfrm>
          <a:prstGeom prst="ellipse">
            <a:avLst/>
          </a:prstGeom>
          <a:solidFill>
            <a:srgbClr val="1B3B6F"/>
          </a:solidFill>
          <a:ln w="12700">
            <a:solidFill>
              <a:srgbClr val="1B3B6F"/>
            </a:solidFill>
            <a:prstDash val="solid"/>
          </a:ln>
        </p:spPr>
      </p:sp>
      <p:sp>
        <p:nvSpPr>
          <p:cNvPr id="44" name="Text 4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5" name="Text 42"/>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precise softened description.</a:t>
            </a:r>
            <a:endParaRPr lang="en-US" sz="1250" dirty="0"/>
          </a:p>
        </p:txBody>
      </p:sp>
      <p:sp>
        <p:nvSpPr>
          <p:cNvPr id="46" name="Shape 43"/>
          <p:cNvSpPr/>
          <p:nvPr/>
        </p:nvSpPr>
        <p:spPr>
          <a:xfrm>
            <a:off x="640080" y="4873752"/>
            <a:ext cx="256032" cy="256032"/>
          </a:xfrm>
          <a:prstGeom prst="ellipse">
            <a:avLst/>
          </a:prstGeom>
          <a:solidFill>
            <a:srgbClr val="F4F1EA"/>
          </a:solidFill>
          <a:ln w="12700">
            <a:solidFill>
              <a:srgbClr val="F4F1EA"/>
            </a:solidFill>
            <a:prstDash val="solid"/>
          </a:ln>
        </p:spPr>
      </p:sp>
      <p:sp>
        <p:nvSpPr>
          <p:cNvPr id="47" name="Text 44"/>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8" name="Text 45"/>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هِيَ خَجُولَةٌ جِدًّا دَائِمًا نَوْعًا.</a:t>
            </a:r>
            <a:endParaRPr lang="ar-SA" sz="2050" dirty="0"/>
          </a:p>
        </p:txBody>
      </p:sp>
      <p:sp>
        <p:nvSpPr>
          <p:cNvPr id="49" name="Shape 46"/>
          <p:cNvSpPr/>
          <p:nvPr/>
        </p:nvSpPr>
        <p:spPr>
          <a:xfrm>
            <a:off x="640080" y="5330952"/>
            <a:ext cx="256032" cy="256032"/>
          </a:xfrm>
          <a:prstGeom prst="ellipse">
            <a:avLst/>
          </a:prstGeom>
          <a:solidFill>
            <a:srgbClr val="F4F1EA"/>
          </a:solidFill>
          <a:ln w="12700">
            <a:solidFill>
              <a:srgbClr val="F4F1EA"/>
            </a:solidFill>
            <a:prstDash val="solid"/>
          </a:ln>
        </p:spPr>
      </p:sp>
      <p:sp>
        <p:nvSpPr>
          <p:cNvPr id="50" name="Text 47"/>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1" name="Text 48"/>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هِيَ خَجُولَةٌ نَوْعًا مَا.</a:t>
            </a:r>
            <a:endParaRPr lang="ar-SA" sz="2050" dirty="0"/>
          </a:p>
        </p:txBody>
      </p:sp>
      <p:sp>
        <p:nvSpPr>
          <p:cNvPr id="52" name="Shape 49"/>
          <p:cNvSpPr/>
          <p:nvPr/>
        </p:nvSpPr>
        <p:spPr>
          <a:xfrm>
            <a:off x="640080" y="5788152"/>
            <a:ext cx="256032" cy="256032"/>
          </a:xfrm>
          <a:prstGeom prst="ellipse">
            <a:avLst/>
          </a:prstGeom>
          <a:solidFill>
            <a:srgbClr val="F4F1EA"/>
          </a:solidFill>
          <a:ln w="12700">
            <a:solidFill>
              <a:srgbClr val="F4F1EA"/>
            </a:solidFill>
            <a:prstDash val="solid"/>
          </a:ln>
        </p:spPr>
      </p:sp>
      <p:sp>
        <p:nvSpPr>
          <p:cNvPr id="53" name="Text 50"/>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4" name="Text 51"/>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هِيَ خَجُولٌ.</a:t>
            </a:r>
            <a:endParaRPr lang="ar-SA" sz="2050" dirty="0"/>
          </a:p>
        </p:txBody>
      </p:sp>
      <p:sp>
        <p:nvSpPr>
          <p:cNvPr id="55" name="Shape 52"/>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6313932" y="4288536"/>
            <a:ext cx="310896" cy="310896"/>
          </a:xfrm>
          <a:prstGeom prst="ellipse">
            <a:avLst/>
          </a:prstGeom>
          <a:solidFill>
            <a:srgbClr val="1B3B6F"/>
          </a:solidFill>
          <a:ln w="12700">
            <a:solidFill>
              <a:srgbClr val="1B3B6F"/>
            </a:solidFill>
            <a:prstDash val="solid"/>
          </a:ln>
        </p:spPr>
      </p:sp>
      <p:sp>
        <p:nvSpPr>
          <p:cNvPr id="57" name="Text 54"/>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8" name="Text 55"/>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accurate agreement.</a:t>
            </a:r>
            <a:endParaRPr lang="en-US" sz="1250" dirty="0"/>
          </a:p>
        </p:txBody>
      </p:sp>
      <p:sp>
        <p:nvSpPr>
          <p:cNvPr id="59" name="Shape 56"/>
          <p:cNvSpPr/>
          <p:nvPr/>
        </p:nvSpPr>
        <p:spPr>
          <a:xfrm>
            <a:off x="6368796" y="4873752"/>
            <a:ext cx="256032" cy="256032"/>
          </a:xfrm>
          <a:prstGeom prst="ellipse">
            <a:avLst/>
          </a:prstGeom>
          <a:solidFill>
            <a:srgbClr val="F4F1EA"/>
          </a:solidFill>
          <a:ln w="12700">
            <a:solidFill>
              <a:srgbClr val="F4F1EA"/>
            </a:solidFill>
            <a:prstDash val="solid"/>
          </a:ln>
        </p:spPr>
      </p:sp>
      <p:sp>
        <p:nvSpPr>
          <p:cNvPr id="60" name="Text 57"/>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1" name="Text 58"/>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المُعَلِّمُ صَبُورٌ.</a:t>
            </a:r>
            <a:endParaRPr lang="ar-SA" sz="2050" dirty="0"/>
          </a:p>
        </p:txBody>
      </p:sp>
      <p:sp>
        <p:nvSpPr>
          <p:cNvPr id="62" name="Shape 59"/>
          <p:cNvSpPr/>
          <p:nvPr/>
        </p:nvSpPr>
        <p:spPr>
          <a:xfrm>
            <a:off x="6368796" y="53309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4" name="Text 61"/>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المُعَلِّمُ صَبُورَةٌ.</a:t>
            </a:r>
            <a:endParaRPr lang="ar-SA" sz="2050" dirty="0"/>
          </a:p>
        </p:txBody>
      </p:sp>
      <p:sp>
        <p:nvSpPr>
          <p:cNvPr id="65" name="Shape 62"/>
          <p:cNvSpPr/>
          <p:nvPr/>
        </p:nvSpPr>
        <p:spPr>
          <a:xfrm>
            <a:off x="6368796" y="57881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7" name="Text 64"/>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المُعَلِّمَةُ صَبُورٌ.</a:t>
            </a:r>
            <a:endParaRPr lang="ar-SA" sz="2050" dirty="0"/>
          </a:p>
        </p:txBody>
      </p:sp>
      <p:sp>
        <p:nvSpPr>
          <p:cNvPr id="68" name="Text 6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45</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D2-L01 · Personality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D2-L01</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“She is honest and patient.”</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هِيَ صَادِقٌ وَصَبُورٌ.</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هُوَ صَادِقَةٌ وَصَبُورَةٌ.</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هِيَ صَادِقَةٌ وَصَبُورَةٌ.</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feminine subject requires feminine adjectives.</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4" name="Text 31"/>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هُوَ كَرِيمٌ ___ يُسَاعِدُ أَصْدِقَاءَهُ.</a:t>
            </a:r>
            <a:endParaRPr lang="ar-SA" sz="1500" dirty="0"/>
          </a:p>
        </p:txBody>
      </p:sp>
      <p:sp>
        <p:nvSpPr>
          <p:cNvPr id="35" name="Shape 32"/>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6" name="Shape 33"/>
          <p:cNvSpPr/>
          <p:nvPr/>
        </p:nvSpPr>
        <p:spPr>
          <a:xfrm>
            <a:off x="6368796" y="2490216"/>
            <a:ext cx="256032" cy="256032"/>
          </a:xfrm>
          <a:prstGeom prst="ellipse">
            <a:avLst/>
          </a:prstGeom>
          <a:solidFill>
            <a:srgbClr val="2E8B57"/>
          </a:solidFill>
          <a:ln w="12700">
            <a:solidFill>
              <a:srgbClr val="2E8B57"/>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لِأَنَّهُ</a:t>
            </a:r>
            <a:endParaRPr lang="ar-SA" sz="1700" dirty="0"/>
          </a:p>
        </p:txBody>
      </p:sp>
      <p:sp>
        <p:nvSpPr>
          <p:cNvPr id="39" name="Shape 36"/>
          <p:cNvSpPr/>
          <p:nvPr/>
        </p:nvSpPr>
        <p:spPr>
          <a:xfrm>
            <a:off x="6368796"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لِأَنَّهَا</a:t>
            </a:r>
            <a:endParaRPr lang="ar-SA" sz="1700" dirty="0"/>
          </a:p>
        </p:txBody>
      </p:sp>
      <p:sp>
        <p:nvSpPr>
          <p:cNvPr id="42" name="Shape 39"/>
          <p:cNvSpPr/>
          <p:nvPr/>
        </p:nvSpPr>
        <p:spPr>
          <a:xfrm>
            <a:off x="6368796" y="3233928"/>
            <a:ext cx="256032" cy="256032"/>
          </a:xfrm>
          <a:prstGeom prst="ellipse">
            <a:avLst/>
          </a:prstGeom>
          <a:solidFill>
            <a:srgbClr val="C9CED6"/>
          </a:solidFill>
          <a:ln w="12700">
            <a:solidFill>
              <a:srgbClr val="C9CED6"/>
            </a:solidFill>
            <a:prstDash val="solid"/>
          </a:ln>
        </p:spPr>
      </p:sp>
      <p:sp>
        <p:nvSpPr>
          <p:cNvPr id="43" name="Text 40"/>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1"/>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وَلٰكِنَّهَا</a:t>
            </a:r>
            <a:endParaRPr lang="ar-SA" sz="1700" dirty="0"/>
          </a:p>
        </p:txBody>
      </p:sp>
      <p:sp>
        <p:nvSpPr>
          <p:cNvPr id="45" name="Text 42"/>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لِأَنَّهُ</a:t>
            </a:r>
            <a:pPr algn="l" indent="0" marL="0">
              <a:buNone/>
            </a:pPr>
            <a:r>
              <a:rPr lang="en-US" sz="1050" i="1" dirty="0">
                <a:solidFill>
                  <a:srgbClr val="8A6D1E"/>
                </a:solidFill>
                <a:latin typeface="Calibri" pitchFamily="34" charset="0"/>
                <a:cs typeface="Amiri" pitchFamily="2" charset="-78"/>
              </a:rPr>
              <a:t> refers to a masculine person.</a:t>
            </a:r>
            <a:endParaRPr lang="en-US" sz="1050" dirty="0"/>
          </a:p>
        </p:txBody>
      </p:sp>
      <p:sp>
        <p:nvSpPr>
          <p:cNvPr id="46" name="Shape 43"/>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4"/>
          <p:cNvSpPr/>
          <p:nvPr/>
        </p:nvSpPr>
        <p:spPr>
          <a:xfrm>
            <a:off x="585216" y="4288536"/>
            <a:ext cx="310896" cy="310896"/>
          </a:xfrm>
          <a:prstGeom prst="ellipse">
            <a:avLst/>
          </a:prstGeom>
          <a:solidFill>
            <a:srgbClr val="1B3B6F"/>
          </a:solidFill>
          <a:ln w="12700">
            <a:solidFill>
              <a:srgbClr val="1B3B6F"/>
            </a:solidFill>
            <a:prstDash val="solid"/>
          </a:ln>
        </p:spPr>
      </p:sp>
      <p:sp>
        <p:nvSpPr>
          <p:cNvPr id="48" name="Text 4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6"/>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precise softened description.</a:t>
            </a:r>
            <a:endParaRPr lang="en-US" sz="1250" dirty="0"/>
          </a:p>
        </p:txBody>
      </p:sp>
      <p:sp>
        <p:nvSpPr>
          <p:cNvPr id="50" name="Shape 47"/>
          <p:cNvSpPr/>
          <p:nvPr/>
        </p:nvSpPr>
        <p:spPr>
          <a:xfrm>
            <a:off x="640080" y="4831080"/>
            <a:ext cx="256032" cy="256032"/>
          </a:xfrm>
          <a:prstGeom prst="ellipse">
            <a:avLst/>
          </a:prstGeom>
          <a:solidFill>
            <a:srgbClr val="C9CED6"/>
          </a:solidFill>
          <a:ln w="12700">
            <a:solidFill>
              <a:srgbClr val="C9CED6"/>
            </a:solidFill>
            <a:prstDash val="solid"/>
          </a:ln>
        </p:spPr>
      </p:sp>
      <p:sp>
        <p:nvSpPr>
          <p:cNvPr id="51" name="Text 48"/>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49"/>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هِيَ خَجُولَةٌ جِدًّا دَائِمًا نَوْعًا.</a:t>
            </a:r>
            <a:endParaRPr lang="ar-SA" sz="1700" dirty="0"/>
          </a:p>
        </p:txBody>
      </p:sp>
      <p:sp>
        <p:nvSpPr>
          <p:cNvPr id="53" name="Shape 50"/>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4" name="Shape 51"/>
          <p:cNvSpPr/>
          <p:nvPr/>
        </p:nvSpPr>
        <p:spPr>
          <a:xfrm>
            <a:off x="640080" y="5202936"/>
            <a:ext cx="256032" cy="256032"/>
          </a:xfrm>
          <a:prstGeom prst="ellipse">
            <a:avLst/>
          </a:prstGeom>
          <a:solidFill>
            <a:srgbClr val="2E8B57"/>
          </a:solidFill>
          <a:ln w="12700">
            <a:solidFill>
              <a:srgbClr val="2E8B57"/>
            </a:solidFill>
            <a:prstDash val="solid"/>
          </a:ln>
        </p:spPr>
      </p:sp>
      <p:sp>
        <p:nvSpPr>
          <p:cNvPr id="55" name="Text 52"/>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6" name="Text 53"/>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هِيَ خَجُولَةٌ نَوْعًا مَا.</a:t>
            </a:r>
            <a:endParaRPr lang="ar-SA" sz="1700" dirty="0"/>
          </a:p>
        </p:txBody>
      </p:sp>
      <p:sp>
        <p:nvSpPr>
          <p:cNvPr id="57" name="Shape 54"/>
          <p:cNvSpPr/>
          <p:nvPr/>
        </p:nvSpPr>
        <p:spPr>
          <a:xfrm>
            <a:off x="640080" y="5574792"/>
            <a:ext cx="256032" cy="256032"/>
          </a:xfrm>
          <a:prstGeom prst="ellipse">
            <a:avLst/>
          </a:prstGeom>
          <a:solidFill>
            <a:srgbClr val="C9CED6"/>
          </a:solidFill>
          <a:ln w="12700">
            <a:solidFill>
              <a:srgbClr val="C9CED6"/>
            </a:solidFill>
            <a:prstDash val="solid"/>
          </a:ln>
        </p:spPr>
      </p:sp>
      <p:sp>
        <p:nvSpPr>
          <p:cNvPr id="58" name="Text 55"/>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9" name="Text 56"/>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هِيَ خَجُولٌ.</a:t>
            </a:r>
            <a:endParaRPr lang="ar-SA" sz="1700" dirty="0"/>
          </a:p>
        </p:txBody>
      </p:sp>
      <p:sp>
        <p:nvSpPr>
          <p:cNvPr id="60" name="Text 57"/>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نَوْعًا مَا</a:t>
            </a:r>
            <a:pPr algn="l" indent="0" marL="0">
              <a:buNone/>
            </a:pPr>
            <a:r>
              <a:rPr lang="en-US" sz="1050" i="1" dirty="0">
                <a:solidFill>
                  <a:srgbClr val="8A6D1E"/>
                </a:solidFill>
                <a:latin typeface="Calibri" pitchFamily="34" charset="0"/>
                <a:cs typeface="Amiri" pitchFamily="2" charset="-78"/>
              </a:rPr>
              <a:t> means somewhat.</a:t>
            </a:r>
            <a:endParaRPr lang="en-US" sz="1050" dirty="0"/>
          </a:p>
        </p:txBody>
      </p:sp>
      <p:sp>
        <p:nvSpPr>
          <p:cNvPr id="61" name="Shape 58"/>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6313932" y="4288536"/>
            <a:ext cx="310896" cy="310896"/>
          </a:xfrm>
          <a:prstGeom prst="ellipse">
            <a:avLst/>
          </a:prstGeom>
          <a:solidFill>
            <a:srgbClr val="1B3B6F"/>
          </a:solidFill>
          <a:ln w="12700">
            <a:solidFill>
              <a:srgbClr val="1B3B6F"/>
            </a:solidFill>
            <a:prstDash val="solid"/>
          </a:ln>
        </p:spPr>
      </p:sp>
      <p:sp>
        <p:nvSpPr>
          <p:cNvPr id="63" name="Text 60"/>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1"/>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accurate agreement.</a:t>
            </a:r>
            <a:endParaRPr lang="en-US" sz="1250" dirty="0"/>
          </a:p>
        </p:txBody>
      </p:sp>
      <p:sp>
        <p:nvSpPr>
          <p:cNvPr id="65" name="Shape 62"/>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6" name="Shape 63"/>
          <p:cNvSpPr/>
          <p:nvPr/>
        </p:nvSpPr>
        <p:spPr>
          <a:xfrm>
            <a:off x="6368796" y="4831080"/>
            <a:ext cx="256032" cy="256032"/>
          </a:xfrm>
          <a:prstGeom prst="ellipse">
            <a:avLst/>
          </a:prstGeom>
          <a:solidFill>
            <a:srgbClr val="2E8B57"/>
          </a:solidFill>
          <a:ln w="12700">
            <a:solidFill>
              <a:srgbClr val="2E8B57"/>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المُعَلِّمُ صَبُورٌ.</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المُعَلِّمُ صَبُورَةٌ.</a:t>
            </a:r>
            <a:endParaRPr lang="ar-SA" sz="1700" dirty="0"/>
          </a:p>
        </p:txBody>
      </p:sp>
      <p:sp>
        <p:nvSpPr>
          <p:cNvPr id="72" name="Shape 69"/>
          <p:cNvSpPr/>
          <p:nvPr/>
        </p:nvSpPr>
        <p:spPr>
          <a:xfrm>
            <a:off x="6368796" y="5574792"/>
            <a:ext cx="256032" cy="256032"/>
          </a:xfrm>
          <a:prstGeom prst="ellipse">
            <a:avLst/>
          </a:prstGeom>
          <a:solidFill>
            <a:srgbClr val="C9CED6"/>
          </a:solidFill>
          <a:ln w="12700">
            <a:solidFill>
              <a:srgbClr val="C9CED6"/>
            </a:solidFill>
            <a:prstDash val="solid"/>
          </a:ln>
        </p:spPr>
      </p:sp>
      <p:sp>
        <p:nvSpPr>
          <p:cNvPr id="73" name="Text 70"/>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4" name="Text 71"/>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المُعَلِّمَةُ صَبُورٌ.</a:t>
            </a:r>
            <a:endParaRPr lang="ar-SA" sz="1700" dirty="0"/>
          </a:p>
        </p:txBody>
      </p:sp>
      <p:sp>
        <p:nvSpPr>
          <p:cNvPr id="75" name="Text 72"/>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Masculine noun, masculine adjective.</a:t>
            </a:r>
            <a:endParaRPr lang="en-US" sz="1050" dirty="0"/>
          </a:p>
        </p:txBody>
      </p:sp>
      <p:sp>
        <p:nvSpPr>
          <p:cNvPr id="76" name="Text 7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45</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D2-L01 · Personality</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00" b="1" dirty="0">
                <a:solidFill>
                  <a:srgbClr val="1B3B6F"/>
                </a:solidFill>
                <a:latin typeface="Cambria" pitchFamily="34" charset="0"/>
                <a:cs typeface="Amiri" pitchFamily="2" charset="-78"/>
              </a:rPr>
              <a:t>Watch me describe two people with evidence</a:t>
            </a:r>
            <a:endParaRPr lang="en-US" sz="21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D2-L01</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Him</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أَخِي هَادِئٌ وَمُجْتَهِدٌ.</a:t>
            </a:r>
            <a:endParaRPr lang="ar-SA" sz="28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Brother → masculine forms.</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Proof</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هُوَ مُجْتَهِدٌ </a:t>
            </a:r>
            <a:pPr rtl="1" algn="ctr" indent="0" marL="0">
              <a:lnSpc>
                <a:spcPct val="120000"/>
              </a:lnSpc>
              <a:buNone/>
            </a:pPr>
            <a:r>
              <a:rPr lang="ar-SA" altLang="en-US" sz="1750" b="1" dirty="0">
                <a:solidFill>
                  <a:srgbClr val="1D5FBF"/>
                </a:solidFill>
                <a:latin typeface="Amiri" pitchFamily="2" charset="-78"/>
                <a:ea typeface="Amiri" pitchFamily="2" charset="-78"/>
                <a:cs typeface="Amiri" pitchFamily="2" charset="-78"/>
              </a:rPr>
              <a:t>لِأَنَّهُ</a:t>
            </a:r>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 يُكْمِلُ وَاجِبَهُ كُلَّ يَوْمٍ.</a:t>
            </a:r>
            <a:endParaRPr lang="ar-SA" sz="175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Adjective + behaviour.</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Her</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صَدِيقَتِي مَرِحَ</a:t>
            </a:r>
            <a:pPr rtl="1" algn="ctr" indent="0" marL="0">
              <a:buNone/>
            </a:pPr>
            <a:r>
              <a:rPr lang="ar-SA" altLang="en-US" sz="2100" b="1" dirty="0">
                <a:solidFill>
                  <a:srgbClr val="D6336C"/>
                </a:solidFill>
                <a:latin typeface="Amiri" pitchFamily="2" charset="-78"/>
                <a:ea typeface="Amiri" pitchFamily="2" charset="-78"/>
                <a:cs typeface="Amiri" pitchFamily="2" charset="-78"/>
              </a:rPr>
              <a:t>ةٌ</a:t>
            </a:r>
            <a:pPr rtl="1" algn="ctr" indent="0" marL="0">
              <a:buNone/>
            </a:pPr>
            <a:r>
              <a:rPr lang="ar-SA" altLang="en-US" sz="2100" b="1" dirty="0">
                <a:solidFill>
                  <a:srgbClr val="1B3B6F"/>
                </a:solidFill>
                <a:latin typeface="Amiri" pitchFamily="2" charset="-78"/>
                <a:ea typeface="Amiri" pitchFamily="2" charset="-78"/>
                <a:cs typeface="Amiri" pitchFamily="2" charset="-78"/>
              </a:rPr>
              <a:t> وَوَاثِقَ</a:t>
            </a:r>
            <a:pPr rtl="1" algn="ctr" indent="0" marL="0">
              <a:buNone/>
            </a:pPr>
            <a:r>
              <a:rPr lang="ar-SA" altLang="en-US" sz="2100" b="1" dirty="0">
                <a:solidFill>
                  <a:srgbClr val="D6336C"/>
                </a:solidFill>
                <a:latin typeface="Amiri" pitchFamily="2" charset="-78"/>
                <a:ea typeface="Amiri" pitchFamily="2" charset="-78"/>
                <a:cs typeface="Amiri" pitchFamily="2" charset="-78"/>
              </a:rPr>
              <a:t>ةٌ</a:t>
            </a:r>
            <a:pPr rtl="1" algn="ctr" indent="0" marL="0">
              <a:buNone/>
            </a:pPr>
            <a:r>
              <a:rPr lang="ar-SA" altLang="en-US" sz="2100" b="1" dirty="0">
                <a:solidFill>
                  <a:srgbClr val="1B3B6F"/>
                </a:solidFill>
                <a:latin typeface="Amiri" pitchFamily="2" charset="-78"/>
                <a:cs typeface="Amiri" pitchFamily="2" charset="-78"/>
              </a:rPr>
              <a:t> </a:t>
            </a:r>
            <a:pPr rtl="1" algn="ctr" indent="0" marL="0">
              <a:buNone/>
            </a:pPr>
            <a:r>
              <a:rPr lang="ar-SA" altLang="en-US" sz="2100" b="1" dirty="0">
                <a:solidFill>
                  <a:srgbClr val="0E7C86"/>
                </a:solidFill>
                <a:latin typeface="Amiri" pitchFamily="2" charset="-78"/>
                <a:ea typeface="Amiri" pitchFamily="2" charset="-78"/>
                <a:cs typeface="Amiri" pitchFamily="2" charset="-78"/>
              </a:rPr>
              <a:t>جِدًّا</a:t>
            </a:r>
            <a:pPr rtl="1" algn="ctr" indent="0" marL="0">
              <a:buNone/>
            </a:pPr>
            <a:r>
              <a:rPr lang="ar-SA" altLang="en-US" sz="2100" b="1" dirty="0">
                <a:solidFill>
                  <a:srgbClr val="1B3B6F"/>
                </a:solidFill>
                <a:latin typeface="Amiri" pitchFamily="2" charset="-78"/>
                <a:cs typeface="Amiri" pitchFamily="2" charset="-78"/>
              </a:rPr>
              <a:t>.</a:t>
            </a:r>
            <a:endParaRPr lang="ar-SA" sz="21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Friend (f.) → -atun. Very → after.</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Balance</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وَلٰكِنَّهَا خَجُولَ</a:t>
            </a:r>
            <a:pPr rtl="1" algn="ctr" indent="0" marL="0">
              <a:lnSpc>
                <a:spcPct val="120000"/>
              </a:lnSpc>
              <a:buNone/>
            </a:pPr>
            <a:r>
              <a:rPr lang="ar-SA" altLang="en-US" sz="1750" b="1" dirty="0">
                <a:solidFill>
                  <a:srgbClr val="D6336C"/>
                </a:solidFill>
                <a:latin typeface="Amiri" pitchFamily="2" charset="-78"/>
                <a:ea typeface="Amiri" pitchFamily="2" charset="-78"/>
                <a:cs typeface="Amiri" pitchFamily="2" charset="-78"/>
              </a:rPr>
              <a:t>ةٌ</a:t>
            </a:r>
            <a:pPr rtl="1" algn="ctr" indent="0" marL="0">
              <a:lnSpc>
                <a:spcPct val="120000"/>
              </a:lnSpc>
              <a:buNone/>
            </a:pPr>
            <a:r>
              <a:rPr lang="ar-SA" altLang="en-US" sz="1750" b="1" dirty="0">
                <a:solidFill>
                  <a:srgbClr val="1B3B6F"/>
                </a:solidFill>
                <a:latin typeface="Amiri" pitchFamily="2" charset="-78"/>
                <a:cs typeface="Amiri" pitchFamily="2" charset="-78"/>
              </a:rPr>
              <a:t> </a:t>
            </a:r>
            <a:pPr rtl="1" algn="ctr" indent="0" marL="0">
              <a:lnSpc>
                <a:spcPct val="120000"/>
              </a:lnSpc>
              <a:buNone/>
            </a:pPr>
            <a:r>
              <a:rPr lang="ar-SA" altLang="en-US" sz="1750" b="1" dirty="0">
                <a:solidFill>
                  <a:srgbClr val="0E7C86"/>
                </a:solidFill>
                <a:latin typeface="Amiri" pitchFamily="2" charset="-78"/>
                <a:ea typeface="Amiri" pitchFamily="2" charset="-78"/>
                <a:cs typeface="Amiri" pitchFamily="2" charset="-78"/>
              </a:rPr>
              <a:t>نَوْعًا مَا</a:t>
            </a:r>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 فِي الصَّفِّ.</a:t>
            </a:r>
            <a:endParaRPr lang="ar-SA" sz="175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Softer: somewhat.</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8540496" y="4736592"/>
            <a:ext cx="914400" cy="237744"/>
          </a:xfrm>
          <a:prstGeom prst="roundRect">
            <a:avLst>
              <a:gd name="adj" fmla="val 50000"/>
            </a:avLst>
          </a:prstGeom>
          <a:solidFill>
            <a:srgbClr val="1D5FBF"/>
          </a:solidFill>
          <a:ln w="12700">
            <a:solidFill>
              <a:srgbClr val="1D5FBF"/>
            </a:solidFill>
            <a:prstDash val="solid"/>
          </a:ln>
        </p:spPr>
      </p:sp>
      <p:sp>
        <p:nvSpPr>
          <p:cNvPr id="46" name="Text 42"/>
          <p:cNvSpPr txBox="1"/>
          <p:nvPr/>
        </p:nvSpPr>
        <p:spPr>
          <a:xfrm>
            <a:off x="8540496"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HE / PROOF</a:t>
            </a:r>
            <a:endParaRPr lang="en-US" sz="800" dirty="0"/>
          </a:p>
        </p:txBody>
      </p:sp>
      <p:sp>
        <p:nvSpPr>
          <p:cNvPr id="47" name="Shape 43"/>
          <p:cNvSpPr/>
          <p:nvPr/>
        </p:nvSpPr>
        <p:spPr>
          <a:xfrm>
            <a:off x="9528048" y="4736592"/>
            <a:ext cx="914400" cy="237744"/>
          </a:xfrm>
          <a:prstGeom prst="roundRect">
            <a:avLst>
              <a:gd name="adj" fmla="val 50000"/>
            </a:avLst>
          </a:prstGeom>
          <a:solidFill>
            <a:srgbClr val="D6336C"/>
          </a:solidFill>
          <a:ln w="12700">
            <a:solidFill>
              <a:srgbClr val="D6336C"/>
            </a:solidFill>
            <a:prstDash val="solid"/>
          </a:ln>
        </p:spPr>
      </p:sp>
      <p:sp>
        <p:nvSpPr>
          <p:cNvPr id="48" name="Text 44"/>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SHE (-ATUN)</a:t>
            </a:r>
            <a:endParaRPr lang="en-US" sz="800" dirty="0"/>
          </a:p>
        </p:txBody>
      </p:sp>
      <p:sp>
        <p:nvSpPr>
          <p:cNvPr id="49" name="Shape 45"/>
          <p:cNvSpPr/>
          <p:nvPr/>
        </p:nvSpPr>
        <p:spPr>
          <a:xfrm>
            <a:off x="10515600" y="4736592"/>
            <a:ext cx="914400" cy="237744"/>
          </a:xfrm>
          <a:prstGeom prst="roundRect">
            <a:avLst>
              <a:gd name="adj" fmla="val 50000"/>
            </a:avLst>
          </a:prstGeom>
          <a:solidFill>
            <a:srgbClr val="0E7C86"/>
          </a:solidFill>
          <a:ln w="12700">
            <a:solidFill>
              <a:srgbClr val="0E7C86"/>
            </a:solidFill>
            <a:prstDash val="solid"/>
          </a:ln>
        </p:spPr>
      </p:sp>
      <p:sp>
        <p:nvSpPr>
          <p:cNvPr id="50" name="Text 46"/>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DEGREE</a:t>
            </a:r>
            <a:endParaRPr lang="en-US" sz="800" dirty="0"/>
          </a:p>
        </p:txBody>
      </p:sp>
      <p:sp>
        <p:nvSpPr>
          <p:cNvPr id="51" name="Text 47"/>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450" b="1" dirty="0">
                <a:solidFill>
                  <a:srgbClr val="1B3B6F"/>
                </a:solidFill>
                <a:latin typeface="Amiri" pitchFamily="2" charset="-78"/>
                <a:ea typeface="Amiri" pitchFamily="2" charset="-78"/>
                <a:cs typeface="Amiri" pitchFamily="2" charset="-78"/>
              </a:rPr>
              <a:t>أَخِي هَادِئٌ وَمُجْتَهِدٌ؛ هُوَ مُجْتَهِدٌ </a:t>
            </a:r>
            <a:pPr rtl="1" algn="r" indent="0" marL="0">
              <a:lnSpc>
                <a:spcPct val="120000"/>
              </a:lnSpc>
              <a:buNone/>
            </a:pPr>
            <a:r>
              <a:rPr lang="ar-SA" altLang="en-US" sz="1450" b="1" dirty="0">
                <a:solidFill>
                  <a:srgbClr val="1D5FBF"/>
                </a:solidFill>
                <a:latin typeface="Amiri" pitchFamily="2" charset="-78"/>
                <a:ea typeface="Amiri" pitchFamily="2" charset="-78"/>
                <a:cs typeface="Amiri" pitchFamily="2" charset="-78"/>
              </a:rPr>
              <a:t>لِأَنَّهُ</a:t>
            </a:r>
            <a:pPr rtl="1" algn="r" indent="0" marL="0">
              <a:lnSpc>
                <a:spcPct val="120000"/>
              </a:lnSpc>
              <a:buNone/>
            </a:pPr>
            <a:r>
              <a:rPr lang="ar-SA" altLang="en-US" sz="1450" b="1" dirty="0">
                <a:solidFill>
                  <a:srgbClr val="1B3B6F"/>
                </a:solidFill>
                <a:latin typeface="Amiri" pitchFamily="2" charset="-78"/>
                <a:ea typeface="Amiri" pitchFamily="2" charset="-78"/>
                <a:cs typeface="Amiri" pitchFamily="2" charset="-78"/>
              </a:rPr>
              <a:t> يُكْمِلُ وَاجِبَهُ كُلَّ يَوْمٍ. أَمَّا صَدِيقَتِي فَهِيَ مَرِحَ</a:t>
            </a:r>
            <a:pPr rtl="1" algn="r" indent="0" marL="0">
              <a:lnSpc>
                <a:spcPct val="120000"/>
              </a:lnSpc>
              <a:buNone/>
            </a:pPr>
            <a:r>
              <a:rPr lang="ar-SA" altLang="en-US" sz="1450" b="1" dirty="0">
                <a:solidFill>
                  <a:srgbClr val="D6336C"/>
                </a:solidFill>
                <a:latin typeface="Amiri" pitchFamily="2" charset="-78"/>
                <a:ea typeface="Amiri" pitchFamily="2" charset="-78"/>
                <a:cs typeface="Amiri" pitchFamily="2" charset="-78"/>
              </a:rPr>
              <a:t>ةٌ</a:t>
            </a:r>
            <a:pPr rtl="1" algn="r" indent="0" marL="0">
              <a:lnSpc>
                <a:spcPct val="120000"/>
              </a:lnSpc>
              <a:buNone/>
            </a:pPr>
            <a:r>
              <a:rPr lang="ar-SA" altLang="en-US" sz="1450" b="1" dirty="0">
                <a:solidFill>
                  <a:srgbClr val="1B3B6F"/>
                </a:solidFill>
                <a:latin typeface="Amiri" pitchFamily="2" charset="-78"/>
                <a:ea typeface="Amiri" pitchFamily="2" charset="-78"/>
                <a:cs typeface="Amiri" pitchFamily="2" charset="-78"/>
              </a:rPr>
              <a:t> وَوَاثِقَ</a:t>
            </a:r>
            <a:pPr rtl="1" algn="r" indent="0" marL="0">
              <a:lnSpc>
                <a:spcPct val="120000"/>
              </a:lnSpc>
              <a:buNone/>
            </a:pPr>
            <a:r>
              <a:rPr lang="ar-SA" altLang="en-US" sz="1450" b="1" dirty="0">
                <a:solidFill>
                  <a:srgbClr val="D6336C"/>
                </a:solidFill>
                <a:latin typeface="Amiri" pitchFamily="2" charset="-78"/>
                <a:ea typeface="Amiri" pitchFamily="2" charset="-78"/>
                <a:cs typeface="Amiri" pitchFamily="2" charset="-78"/>
              </a:rPr>
              <a:t>ةٌ</a:t>
            </a:r>
            <a:pPr rtl="1" algn="r" indent="0" marL="0">
              <a:lnSpc>
                <a:spcPct val="120000"/>
              </a:lnSpc>
              <a:buNone/>
            </a:pPr>
            <a:r>
              <a:rPr lang="ar-SA" altLang="en-US" sz="1450" b="1" dirty="0">
                <a:solidFill>
                  <a:srgbClr val="1B3B6F"/>
                </a:solidFill>
                <a:latin typeface="Amiri" pitchFamily="2" charset="-78"/>
                <a:cs typeface="Amiri" pitchFamily="2" charset="-78"/>
              </a:rPr>
              <a:t> </a:t>
            </a:r>
            <a:pPr rtl="1" algn="r" indent="0" marL="0">
              <a:lnSpc>
                <a:spcPct val="120000"/>
              </a:lnSpc>
              <a:buNone/>
            </a:pPr>
            <a:r>
              <a:rPr lang="ar-SA" altLang="en-US" sz="1450" b="1" dirty="0">
                <a:solidFill>
                  <a:srgbClr val="0E7C86"/>
                </a:solidFill>
                <a:latin typeface="Amiri" pitchFamily="2" charset="-78"/>
                <a:ea typeface="Amiri" pitchFamily="2" charset="-78"/>
                <a:cs typeface="Amiri" pitchFamily="2" charset="-78"/>
              </a:rPr>
              <a:t>جِدًّا</a:t>
            </a:r>
            <a:pPr rtl="1" algn="r" indent="0" marL="0">
              <a:lnSpc>
                <a:spcPct val="120000"/>
              </a:lnSpc>
              <a:buNone/>
            </a:pPr>
            <a:r>
              <a:rPr lang="ar-SA" altLang="en-US" sz="1450" b="1" dirty="0">
                <a:solidFill>
                  <a:srgbClr val="1B3B6F"/>
                </a:solidFill>
                <a:latin typeface="Amiri" pitchFamily="2" charset="-78"/>
                <a:ea typeface="Amiri" pitchFamily="2" charset="-78"/>
                <a:cs typeface="Amiri" pitchFamily="2" charset="-78"/>
              </a:rPr>
              <a:t>، وَلٰكِنَّهَا خَجُولَ</a:t>
            </a:r>
            <a:pPr rtl="1" algn="r" indent="0" marL="0">
              <a:lnSpc>
                <a:spcPct val="120000"/>
              </a:lnSpc>
              <a:buNone/>
            </a:pPr>
            <a:r>
              <a:rPr lang="ar-SA" altLang="en-US" sz="1450" b="1" dirty="0">
                <a:solidFill>
                  <a:srgbClr val="D6336C"/>
                </a:solidFill>
                <a:latin typeface="Amiri" pitchFamily="2" charset="-78"/>
                <a:ea typeface="Amiri" pitchFamily="2" charset="-78"/>
                <a:cs typeface="Amiri" pitchFamily="2" charset="-78"/>
              </a:rPr>
              <a:t>ةٌ</a:t>
            </a:r>
            <a:pPr rtl="1" algn="r" indent="0" marL="0">
              <a:lnSpc>
                <a:spcPct val="120000"/>
              </a:lnSpc>
              <a:buNone/>
            </a:pPr>
            <a:r>
              <a:rPr lang="ar-SA" altLang="en-US" sz="1450" b="1" dirty="0">
                <a:solidFill>
                  <a:srgbClr val="1B3B6F"/>
                </a:solidFill>
                <a:latin typeface="Amiri" pitchFamily="2" charset="-78"/>
                <a:cs typeface="Amiri" pitchFamily="2" charset="-78"/>
              </a:rPr>
              <a:t> </a:t>
            </a:r>
            <a:pPr rtl="1" algn="r" indent="0" marL="0">
              <a:lnSpc>
                <a:spcPct val="120000"/>
              </a:lnSpc>
              <a:buNone/>
            </a:pPr>
            <a:r>
              <a:rPr lang="ar-SA" altLang="en-US" sz="1450" b="1" dirty="0">
                <a:solidFill>
                  <a:srgbClr val="0E7C86"/>
                </a:solidFill>
                <a:latin typeface="Amiri" pitchFamily="2" charset="-78"/>
                <a:ea typeface="Amiri" pitchFamily="2" charset="-78"/>
                <a:cs typeface="Amiri" pitchFamily="2" charset="-78"/>
              </a:rPr>
              <a:t>نَوْعًا مَا</a:t>
            </a:r>
            <a:pPr rtl="1" algn="r" indent="0" marL="0">
              <a:lnSpc>
                <a:spcPct val="120000"/>
              </a:lnSpc>
              <a:buNone/>
            </a:pPr>
            <a:r>
              <a:rPr lang="ar-SA" altLang="en-US" sz="1450" b="1" dirty="0">
                <a:solidFill>
                  <a:srgbClr val="1B3B6F"/>
                </a:solidFill>
                <a:latin typeface="Amiri" pitchFamily="2" charset="-78"/>
                <a:ea typeface="Amiri" pitchFamily="2" charset="-78"/>
                <a:cs typeface="Amiri" pitchFamily="2" charset="-78"/>
              </a:rPr>
              <a:t> فِي الصَّفِّ. هِيَ مُتَعَاوِنَ</a:t>
            </a:r>
            <a:pPr rtl="1" algn="r" indent="0" marL="0">
              <a:lnSpc>
                <a:spcPct val="120000"/>
              </a:lnSpc>
              <a:buNone/>
            </a:pPr>
            <a:r>
              <a:rPr lang="ar-SA" altLang="en-US" sz="1450" b="1" dirty="0">
                <a:solidFill>
                  <a:srgbClr val="D6336C"/>
                </a:solidFill>
                <a:latin typeface="Amiri" pitchFamily="2" charset="-78"/>
                <a:ea typeface="Amiri" pitchFamily="2" charset="-78"/>
                <a:cs typeface="Amiri" pitchFamily="2" charset="-78"/>
              </a:rPr>
              <a:t>ةٌ</a:t>
            </a:r>
            <a:pPr rtl="1" algn="r" indent="0" marL="0">
              <a:lnSpc>
                <a:spcPct val="120000"/>
              </a:lnSpc>
              <a:buNone/>
            </a:pPr>
            <a:r>
              <a:rPr lang="ar-SA" altLang="en-US" sz="1450" b="1" dirty="0">
                <a:solidFill>
                  <a:srgbClr val="1B3B6F"/>
                </a:solidFill>
                <a:latin typeface="Amiri" pitchFamily="2" charset="-78"/>
                <a:cs typeface="Amiri" pitchFamily="2" charset="-78"/>
              </a:rPr>
              <a:t> </a:t>
            </a:r>
            <a:pPr rtl="1" algn="r" indent="0" marL="0">
              <a:lnSpc>
                <a:spcPct val="120000"/>
              </a:lnSpc>
              <a:buNone/>
            </a:pPr>
            <a:r>
              <a:rPr lang="ar-SA" altLang="en-US" sz="1450" b="1" dirty="0">
                <a:solidFill>
                  <a:srgbClr val="D6336C"/>
                </a:solidFill>
                <a:latin typeface="Amiri" pitchFamily="2" charset="-78"/>
                <a:ea typeface="Amiri" pitchFamily="2" charset="-78"/>
                <a:cs typeface="Amiri" pitchFamily="2" charset="-78"/>
              </a:rPr>
              <a:t>لِأَنَّهَا</a:t>
            </a:r>
            <a:pPr rtl="1" algn="r" indent="0" marL="0">
              <a:lnSpc>
                <a:spcPct val="120000"/>
              </a:lnSpc>
              <a:buNone/>
            </a:pPr>
            <a:r>
              <a:rPr lang="ar-SA" altLang="en-US" sz="1450" b="1" dirty="0">
                <a:solidFill>
                  <a:srgbClr val="1B3B6F"/>
                </a:solidFill>
                <a:latin typeface="Amiri" pitchFamily="2" charset="-78"/>
                <a:ea typeface="Amiri" pitchFamily="2" charset="-78"/>
                <a:cs typeface="Amiri" pitchFamily="2" charset="-78"/>
              </a:rPr>
              <a:t> تُسَاعِدُ زَمِيلَاتِهَا.</a:t>
            </a:r>
            <a:endParaRPr lang="ar-SA" sz="1450" dirty="0"/>
          </a:p>
        </p:txBody>
      </p:sp>
      <p:sp>
        <p:nvSpPr>
          <p:cNvPr id="52" name="Text 48"/>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cs typeface="Amiri" pitchFamily="2" charset="-78"/>
              </a:rPr>
              <a:t>My brother is calm and hard-working; he is hard-working because he finishes his homework every day. As for my friend, she is cheerful and very confident, but she is somewhat shy in class. She is helpful because she helps her classmates.</a:t>
            </a:r>
            <a:endParaRPr lang="en-US" sz="1100" dirty="0"/>
          </a:p>
        </p:txBody>
      </p:sp>
      <p:sp>
        <p:nvSpPr>
          <p:cNvPr id="53"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45</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D2-L01 · Personality</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D2-L01</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هُوَ وَدُودٌ وَصَادِقٌ.</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He is friendly and honest.</a:t>
            </a:r>
            <a:endParaRPr lang="en-US" sz="1250" dirty="0"/>
          </a:p>
          <a:p>
            <a:pPr indent="0" marL="0">
              <a:buNone/>
            </a:pPr>
            <a:r>
              <a:rPr lang="en-US" sz="1050" i="1" dirty="0">
                <a:solidFill>
                  <a:srgbClr val="8A6D1E"/>
                </a:solidFill>
                <a:latin typeface="Calibri" pitchFamily="34" charset="0"/>
                <a:cs typeface="Amiri" pitchFamily="2" charset="-78"/>
              </a:rPr>
              <a:t>Two masculine adjectives.</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هِيَ صَبُورَةٌ جِدًّا.</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She is very patient.</a:t>
            </a:r>
            <a:endParaRPr lang="en-US" sz="1250" dirty="0"/>
          </a:p>
          <a:p>
            <a:pPr indent="0" marL="0">
              <a:buNone/>
            </a:pPr>
            <a:r>
              <a:rPr lang="en-US" sz="1050" i="1" dirty="0">
                <a:solidFill>
                  <a:srgbClr val="8A6D1E"/>
                </a:solidFill>
                <a:latin typeface="Calibri" pitchFamily="34" charset="0"/>
                <a:cs typeface="Amiri" pitchFamily="2" charset="-78"/>
              </a:rPr>
              <a:t>Feminine agreement.</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لَيْسَ أَنَانِيًّا جِدًّا.</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He is not very selfish.</a:t>
            </a:r>
            <a:endParaRPr lang="en-US" sz="1250" dirty="0"/>
          </a:p>
          <a:p>
            <a:pPr indent="0" marL="0">
              <a:buNone/>
            </a:pPr>
            <a:r>
              <a:rPr lang="ar-SA" sz="1050" i="1" dirty="0">
                <a:solidFill>
                  <a:srgbClr val="8A6D1E"/>
                </a:solidFill>
                <a:latin typeface="Calibri" pitchFamily="34" charset="0"/>
                <a:ea typeface="Amiri" pitchFamily="2" charset="-78"/>
                <a:cs typeface="Amiri" pitchFamily="2" charset="-78"/>
              </a:rPr>
              <a:t>Predicate after لَيْسَ.</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هِيَ مُتَعَاوِنَةٌ لِأَنَّهَا تُسَاعِدُ الآخَرِينَ.</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She is helpful because she helps others.</a:t>
            </a:r>
            <a:endParaRPr lang="en-US" sz="1250" dirty="0"/>
          </a:p>
          <a:p>
            <a:pPr indent="0" marL="0">
              <a:buNone/>
            </a:pPr>
            <a:r>
              <a:rPr lang="en-US" sz="1050" i="1" dirty="0">
                <a:solidFill>
                  <a:srgbClr val="8A6D1E"/>
                </a:solidFill>
                <a:latin typeface="Calibri" pitchFamily="34" charset="0"/>
                <a:cs typeface="Amiri" pitchFamily="2" charset="-78"/>
              </a:rPr>
              <a:t>Evidence supports judgement.</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45</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D2-L01 · Personality</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2F6FB0"/>
                </a:solidFill>
                <a:latin typeface="Calibri" pitchFamily="34" charset="0"/>
                <a:cs typeface="Amiri" pitchFamily="2" charset="-78"/>
              </a:rPr>
              <a:t>WE DO · PICTURE MATCH · WEBSITE GAME “VISUAL GAME — PERSONALITY ADJECTIVES — WHAT IS HE / SHE LIKE?”</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50" b="1" dirty="0">
                <a:solidFill>
                  <a:srgbClr val="1B3B6F"/>
                </a:solidFill>
                <a:latin typeface="Cambria" pitchFamily="34" charset="0"/>
                <a:cs typeface="Amiri" pitchFamily="2" charset="-78"/>
              </a:rPr>
              <a:t>What is he / she like? Match the picture</a:t>
            </a:r>
            <a:endParaRPr lang="en-US" sz="23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صِفِ الشَّخْصِيَّةَ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D2-L01</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studying hard</a:t>
            </a:r>
            <a:endParaRPr lang="en-US" sz="1100" dirty="0"/>
          </a:p>
        </p:txBody>
      </p:sp>
      <p:sp>
        <p:nvSpPr>
          <p:cNvPr id="23" name="Shape 18"/>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4404360" y="1938528"/>
            <a:ext cx="365760" cy="365760"/>
          </a:xfrm>
          <a:prstGeom prst="ellipse">
            <a:avLst/>
          </a:prstGeom>
          <a:solidFill>
            <a:srgbClr val="1B3B6F"/>
          </a:solidFill>
          <a:ln w="12700">
            <a:solidFill>
              <a:srgbClr val="1B3B6F"/>
            </a:solidFill>
            <a:prstDash val="solid"/>
          </a:ln>
        </p:spPr>
      </p:sp>
      <p:sp>
        <p:nvSpPr>
          <p:cNvPr id="25" name="Text 20"/>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6" name="Shape 21"/>
          <p:cNvSpPr/>
          <p:nvPr/>
        </p:nvSpPr>
        <p:spPr>
          <a:xfrm>
            <a:off x="4992624" y="2066544"/>
            <a:ext cx="1014984" cy="1014984"/>
          </a:xfrm>
          <a:prstGeom prst="ellipse">
            <a:avLst/>
          </a:prstGeom>
          <a:solidFill>
            <a:srgbClr val="F4F1EA"/>
          </a:solidFill>
          <a:ln w="12700">
            <a:solidFill>
              <a:srgbClr val="F4F1EA"/>
            </a:solidFill>
            <a:prstDash val="solid"/>
          </a:ln>
        </p:spPr>
      </p:sp>
      <p:pic>
        <p:nvPicPr>
          <p:cNvPr id="27"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28" name="Shape 22"/>
          <p:cNvSpPr/>
          <p:nvPr/>
        </p:nvSpPr>
        <p:spPr>
          <a:xfrm>
            <a:off x="6181344" y="2066544"/>
            <a:ext cx="1014984" cy="1014984"/>
          </a:xfrm>
          <a:prstGeom prst="ellipse">
            <a:avLst/>
          </a:prstGeom>
          <a:solidFill>
            <a:srgbClr val="F4F1EA"/>
          </a:solidFill>
          <a:ln w="12700">
            <a:solidFill>
              <a:srgbClr val="F4F1EA"/>
            </a:solidFill>
            <a:prstDash val="solid"/>
          </a:ln>
        </p:spPr>
      </p:sp>
      <p:pic>
        <p:nvPicPr>
          <p:cNvPr id="29"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0" name="Text 23"/>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calm and relaxed</a:t>
            </a:r>
            <a:endParaRPr lang="en-US" sz="1100" dirty="0"/>
          </a:p>
        </p:txBody>
      </p:sp>
      <p:sp>
        <p:nvSpPr>
          <p:cNvPr id="31" name="Shape 2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5"/>
          <p:cNvSpPr/>
          <p:nvPr/>
        </p:nvSpPr>
        <p:spPr>
          <a:xfrm>
            <a:off x="585216" y="1938528"/>
            <a:ext cx="365760" cy="365760"/>
          </a:xfrm>
          <a:prstGeom prst="ellipse">
            <a:avLst/>
          </a:prstGeom>
          <a:solidFill>
            <a:srgbClr val="1B3B6F"/>
          </a:solidFill>
          <a:ln w="12700">
            <a:solidFill>
              <a:srgbClr val="1B3B6F"/>
            </a:solidFill>
            <a:prstDash val="solid"/>
          </a:ln>
        </p:spPr>
      </p:sp>
      <p:sp>
        <p:nvSpPr>
          <p:cNvPr id="33" name="Text 2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4" name="Shape 27"/>
          <p:cNvSpPr/>
          <p:nvPr/>
        </p:nvSpPr>
        <p:spPr>
          <a:xfrm>
            <a:off x="1173480" y="2066544"/>
            <a:ext cx="1014984" cy="1014984"/>
          </a:xfrm>
          <a:prstGeom prst="ellipse">
            <a:avLst/>
          </a:prstGeom>
          <a:solidFill>
            <a:srgbClr val="F4F1EA"/>
          </a:solidFill>
          <a:ln w="12700">
            <a:solidFill>
              <a:srgbClr val="F4F1EA"/>
            </a:solidFill>
            <a:prstDash val="solid"/>
          </a:ln>
        </p:spPr>
      </p:sp>
      <p:pic>
        <p:nvPicPr>
          <p:cNvPr id="3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36" name="Shape 28"/>
          <p:cNvSpPr/>
          <p:nvPr/>
        </p:nvSpPr>
        <p:spPr>
          <a:xfrm>
            <a:off x="2362200" y="2066544"/>
            <a:ext cx="1014984" cy="1014984"/>
          </a:xfrm>
          <a:prstGeom prst="ellipse">
            <a:avLst/>
          </a:prstGeom>
          <a:solidFill>
            <a:srgbClr val="F4F1EA"/>
          </a:solidFill>
          <a:ln w="12700">
            <a:solidFill>
              <a:srgbClr val="F4F1EA"/>
            </a:solidFill>
            <a:prstDash val="solid"/>
          </a:ln>
        </p:spPr>
      </p:sp>
      <p:pic>
        <p:nvPicPr>
          <p:cNvPr id="3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38" name="Text 2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laughing, happy</a:t>
            </a:r>
            <a:endParaRPr lang="en-US" sz="1100" dirty="0"/>
          </a:p>
        </p:txBody>
      </p:sp>
      <p:sp>
        <p:nvSpPr>
          <p:cNvPr id="39" name="Shape 30"/>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40" name="Shape 31"/>
          <p:cNvSpPr/>
          <p:nvPr/>
        </p:nvSpPr>
        <p:spPr>
          <a:xfrm>
            <a:off x="11247120" y="3831336"/>
            <a:ext cx="292608" cy="292608"/>
          </a:xfrm>
          <a:prstGeom prst="ellipse">
            <a:avLst/>
          </a:prstGeom>
          <a:solidFill>
            <a:srgbClr val="2F6FB0"/>
          </a:solidFill>
          <a:ln w="12700">
            <a:solidFill>
              <a:srgbClr val="2F6FB0"/>
            </a:solidFill>
            <a:prstDash val="solid"/>
          </a:ln>
        </p:spPr>
      </p:sp>
      <p:sp>
        <p:nvSpPr>
          <p:cNvPr id="41" name="Text 32"/>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42" name="Text 33"/>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هِيَ مَرِحَةٌ.</a:t>
            </a:r>
            <a:endParaRPr lang="ar-SA" sz="2000" dirty="0"/>
          </a:p>
        </p:txBody>
      </p:sp>
      <p:sp>
        <p:nvSpPr>
          <p:cNvPr id="43" name="Shape 34"/>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44" name="Shape 35"/>
          <p:cNvSpPr/>
          <p:nvPr/>
        </p:nvSpPr>
        <p:spPr>
          <a:xfrm>
            <a:off x="11247120" y="4398264"/>
            <a:ext cx="292608" cy="292608"/>
          </a:xfrm>
          <a:prstGeom prst="ellipse">
            <a:avLst/>
          </a:prstGeom>
          <a:solidFill>
            <a:srgbClr val="2F6FB0"/>
          </a:solidFill>
          <a:ln w="12700">
            <a:solidFill>
              <a:srgbClr val="2F6FB0"/>
            </a:solidFill>
            <a:prstDash val="solid"/>
          </a:ln>
        </p:spPr>
      </p:sp>
      <p:sp>
        <p:nvSpPr>
          <p:cNvPr id="45" name="Text 36"/>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46" name="Text 37"/>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هِيَ مُجْتَهِدَةٌ.</a:t>
            </a:r>
            <a:endParaRPr lang="ar-SA" sz="2000" dirty="0"/>
          </a:p>
        </p:txBody>
      </p:sp>
      <p:sp>
        <p:nvSpPr>
          <p:cNvPr id="47" name="Shape 38"/>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48" name="Shape 39"/>
          <p:cNvSpPr/>
          <p:nvPr/>
        </p:nvSpPr>
        <p:spPr>
          <a:xfrm>
            <a:off x="11247120" y="4965192"/>
            <a:ext cx="292608" cy="292608"/>
          </a:xfrm>
          <a:prstGeom prst="ellipse">
            <a:avLst/>
          </a:prstGeom>
          <a:solidFill>
            <a:srgbClr val="2F6FB0"/>
          </a:solidFill>
          <a:ln w="12700">
            <a:solidFill>
              <a:srgbClr val="2F6FB0"/>
            </a:solidFill>
            <a:prstDash val="solid"/>
          </a:ln>
        </p:spPr>
      </p:sp>
      <p:sp>
        <p:nvSpPr>
          <p:cNvPr id="49" name="Text 40"/>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C</a:t>
            </a:r>
            <a:endParaRPr lang="en-US" sz="1000" dirty="0"/>
          </a:p>
        </p:txBody>
      </p:sp>
      <p:sp>
        <p:nvSpPr>
          <p:cNvPr id="50" name="Text 41"/>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هُوَ هَادِئٌ.</a:t>
            </a:r>
            <a:endParaRPr lang="ar-SA" sz="2000" dirty="0"/>
          </a:p>
        </p:txBody>
      </p:sp>
      <p:sp>
        <p:nvSpPr>
          <p:cNvPr id="51" name="Text 42"/>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cs typeface="Amiri" pitchFamily="2" charset="-78"/>
              </a:rPr>
              <a:t>Match each picture to a sentence. Type in the chat: 1_  2_  3_</a:t>
            </a:r>
            <a:endParaRPr lang="en-US" sz="1250" dirty="0"/>
          </a:p>
        </p:txBody>
      </p:sp>
      <p:sp>
        <p:nvSpPr>
          <p:cNvPr id="52" name="Text 43"/>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cs typeface="Amiri" pitchFamily="2" charset="-78"/>
              </a:rPr>
              <a:t>Core: find ONE key word you know in each sentence first.</a:t>
            </a:r>
            <a:endParaRPr lang="en-US" sz="1150" dirty="0"/>
          </a:p>
        </p:txBody>
      </p:sp>
      <p:sp>
        <p:nvSpPr>
          <p:cNvPr id="53"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45</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D2-L01 · Personality</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PICTURE MATCH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Picture match: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صِفِ الشَّخْصِيَّةَ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D2-L01</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studying hard</a:t>
            </a:r>
            <a:endParaRPr lang="en-US" sz="1100" dirty="0"/>
          </a:p>
        </p:txBody>
      </p:sp>
      <p:sp>
        <p:nvSpPr>
          <p:cNvPr id="23" name="Shape 18"/>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11256264" y="3785616"/>
            <a:ext cx="329184" cy="329184"/>
          </a:xfrm>
          <a:prstGeom prst="ellipse">
            <a:avLst/>
          </a:prstGeom>
          <a:solidFill>
            <a:srgbClr val="2E8B57"/>
          </a:solidFill>
          <a:ln w="12700">
            <a:solidFill>
              <a:srgbClr val="2E8B57"/>
            </a:solidFill>
            <a:prstDash val="solid"/>
          </a:ln>
        </p:spPr>
      </p:sp>
      <p:sp>
        <p:nvSpPr>
          <p:cNvPr id="25" name="Text 20"/>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a:t>
            </a:r>
            <a:endParaRPr lang="en-US" sz="1100" dirty="0"/>
          </a:p>
        </p:txBody>
      </p:sp>
      <p:sp>
        <p:nvSpPr>
          <p:cNvPr id="26" name="Text 21"/>
          <p:cNvSpPr txBox="1"/>
          <p:nvPr/>
        </p:nvSpPr>
        <p:spPr>
          <a:xfrm>
            <a:off x="8232648"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هِيَ مُجْتَهِدَةٌ.</a:t>
            </a:r>
            <a:endParaRPr lang="ar-SA" sz="2200" dirty="0"/>
          </a:p>
        </p:txBody>
      </p:sp>
      <p:sp>
        <p:nvSpPr>
          <p:cNvPr id="27" name="Text 22"/>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She is hard-working.</a:t>
            </a:r>
            <a:endParaRPr lang="en-US" sz="1200" dirty="0"/>
          </a:p>
        </p:txBody>
      </p:sp>
      <p:sp>
        <p:nvSpPr>
          <p:cNvPr id="28" name="Shape 23"/>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4"/>
          <p:cNvSpPr/>
          <p:nvPr/>
        </p:nvSpPr>
        <p:spPr>
          <a:xfrm>
            <a:off x="4404360" y="1938528"/>
            <a:ext cx="365760" cy="365760"/>
          </a:xfrm>
          <a:prstGeom prst="ellipse">
            <a:avLst/>
          </a:prstGeom>
          <a:solidFill>
            <a:srgbClr val="1B3B6F"/>
          </a:solidFill>
          <a:ln w="12700">
            <a:solidFill>
              <a:srgbClr val="1B3B6F"/>
            </a:solidFill>
            <a:prstDash val="solid"/>
          </a:ln>
        </p:spPr>
      </p:sp>
      <p:sp>
        <p:nvSpPr>
          <p:cNvPr id="30" name="Text 25"/>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31" name="Shape 26"/>
          <p:cNvSpPr/>
          <p:nvPr/>
        </p:nvSpPr>
        <p:spPr>
          <a:xfrm>
            <a:off x="4992624" y="2066544"/>
            <a:ext cx="1014984" cy="1014984"/>
          </a:xfrm>
          <a:prstGeom prst="ellipse">
            <a:avLst/>
          </a:prstGeom>
          <a:solidFill>
            <a:srgbClr val="F4F1EA"/>
          </a:solidFill>
          <a:ln w="12700">
            <a:solidFill>
              <a:srgbClr val="F4F1EA"/>
            </a:solidFill>
            <a:prstDash val="solid"/>
          </a:ln>
        </p:spPr>
      </p:sp>
      <p:pic>
        <p:nvPicPr>
          <p:cNvPr id="32"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33" name="Shape 27"/>
          <p:cNvSpPr/>
          <p:nvPr/>
        </p:nvSpPr>
        <p:spPr>
          <a:xfrm>
            <a:off x="6181344" y="2066544"/>
            <a:ext cx="1014984" cy="1014984"/>
          </a:xfrm>
          <a:prstGeom prst="ellipse">
            <a:avLst/>
          </a:prstGeom>
          <a:solidFill>
            <a:srgbClr val="F4F1EA"/>
          </a:solidFill>
          <a:ln w="12700">
            <a:solidFill>
              <a:srgbClr val="F4F1EA"/>
            </a:solidFill>
            <a:prstDash val="solid"/>
          </a:ln>
        </p:spPr>
      </p:sp>
      <p:pic>
        <p:nvPicPr>
          <p:cNvPr id="34"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5" name="Text 28"/>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calm and relaxed</a:t>
            </a:r>
            <a:endParaRPr lang="en-US" sz="1100" dirty="0"/>
          </a:p>
        </p:txBody>
      </p:sp>
      <p:sp>
        <p:nvSpPr>
          <p:cNvPr id="36" name="Shape 29"/>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7" name="Shape 30"/>
          <p:cNvSpPr/>
          <p:nvPr/>
        </p:nvSpPr>
        <p:spPr>
          <a:xfrm>
            <a:off x="7437120" y="3785616"/>
            <a:ext cx="329184" cy="329184"/>
          </a:xfrm>
          <a:prstGeom prst="ellipse">
            <a:avLst/>
          </a:prstGeom>
          <a:solidFill>
            <a:srgbClr val="2E8B57"/>
          </a:solidFill>
          <a:ln w="12700">
            <a:solidFill>
              <a:srgbClr val="2E8B57"/>
            </a:solidFill>
            <a:prstDash val="solid"/>
          </a:ln>
        </p:spPr>
      </p:sp>
      <p:sp>
        <p:nvSpPr>
          <p:cNvPr id="38" name="Text 31"/>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a:t>
            </a:r>
            <a:endParaRPr lang="en-US" sz="1100" dirty="0"/>
          </a:p>
        </p:txBody>
      </p:sp>
      <p:sp>
        <p:nvSpPr>
          <p:cNvPr id="39" name="Text 32"/>
          <p:cNvSpPr txBox="1"/>
          <p:nvPr/>
        </p:nvSpPr>
        <p:spPr>
          <a:xfrm>
            <a:off x="4413504"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هُوَ هَادِئٌ.</a:t>
            </a:r>
            <a:endParaRPr lang="ar-SA" sz="2200" dirty="0"/>
          </a:p>
        </p:txBody>
      </p:sp>
      <p:sp>
        <p:nvSpPr>
          <p:cNvPr id="40" name="Text 33"/>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He is calm.</a:t>
            </a:r>
            <a:endParaRPr lang="en-US" sz="1200" dirty="0"/>
          </a:p>
        </p:txBody>
      </p:sp>
      <p:sp>
        <p:nvSpPr>
          <p:cNvPr id="41" name="Shape 3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5"/>
          <p:cNvSpPr/>
          <p:nvPr/>
        </p:nvSpPr>
        <p:spPr>
          <a:xfrm>
            <a:off x="585216" y="1938528"/>
            <a:ext cx="365760" cy="365760"/>
          </a:xfrm>
          <a:prstGeom prst="ellipse">
            <a:avLst/>
          </a:prstGeom>
          <a:solidFill>
            <a:srgbClr val="1B3B6F"/>
          </a:solidFill>
          <a:ln w="12700">
            <a:solidFill>
              <a:srgbClr val="1B3B6F"/>
            </a:solidFill>
            <a:prstDash val="solid"/>
          </a:ln>
        </p:spPr>
      </p:sp>
      <p:sp>
        <p:nvSpPr>
          <p:cNvPr id="43" name="Text 3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44" name="Shape 37"/>
          <p:cNvSpPr/>
          <p:nvPr/>
        </p:nvSpPr>
        <p:spPr>
          <a:xfrm>
            <a:off x="1173480" y="2066544"/>
            <a:ext cx="1014984" cy="1014984"/>
          </a:xfrm>
          <a:prstGeom prst="ellipse">
            <a:avLst/>
          </a:prstGeom>
          <a:solidFill>
            <a:srgbClr val="F4F1EA"/>
          </a:solidFill>
          <a:ln w="12700">
            <a:solidFill>
              <a:srgbClr val="F4F1EA"/>
            </a:solidFill>
            <a:prstDash val="solid"/>
          </a:ln>
        </p:spPr>
      </p:sp>
      <p:pic>
        <p:nvPicPr>
          <p:cNvPr id="4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46" name="Shape 38"/>
          <p:cNvSpPr/>
          <p:nvPr/>
        </p:nvSpPr>
        <p:spPr>
          <a:xfrm>
            <a:off x="2362200" y="2066544"/>
            <a:ext cx="1014984" cy="1014984"/>
          </a:xfrm>
          <a:prstGeom prst="ellipse">
            <a:avLst/>
          </a:prstGeom>
          <a:solidFill>
            <a:srgbClr val="F4F1EA"/>
          </a:solidFill>
          <a:ln w="12700">
            <a:solidFill>
              <a:srgbClr val="F4F1EA"/>
            </a:solidFill>
            <a:prstDash val="solid"/>
          </a:ln>
        </p:spPr>
      </p:sp>
      <p:pic>
        <p:nvPicPr>
          <p:cNvPr id="4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48" name="Text 3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laughing, happy</a:t>
            </a:r>
            <a:endParaRPr lang="en-US" sz="1100" dirty="0"/>
          </a:p>
        </p:txBody>
      </p:sp>
      <p:sp>
        <p:nvSpPr>
          <p:cNvPr id="49" name="Shape 40"/>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0" name="Shape 41"/>
          <p:cNvSpPr/>
          <p:nvPr/>
        </p:nvSpPr>
        <p:spPr>
          <a:xfrm>
            <a:off x="3617976" y="3785616"/>
            <a:ext cx="329184" cy="329184"/>
          </a:xfrm>
          <a:prstGeom prst="ellipse">
            <a:avLst/>
          </a:prstGeom>
          <a:solidFill>
            <a:srgbClr val="2E8B57"/>
          </a:solidFill>
          <a:ln w="12700">
            <a:solidFill>
              <a:srgbClr val="2E8B57"/>
            </a:solidFill>
            <a:prstDash val="solid"/>
          </a:ln>
        </p:spPr>
      </p:sp>
      <p:sp>
        <p:nvSpPr>
          <p:cNvPr id="51" name="Text 42"/>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a:t>
            </a:r>
            <a:endParaRPr lang="en-US" sz="1100" dirty="0"/>
          </a:p>
        </p:txBody>
      </p:sp>
      <p:sp>
        <p:nvSpPr>
          <p:cNvPr id="52" name="Text 43"/>
          <p:cNvSpPr txBox="1"/>
          <p:nvPr/>
        </p:nvSpPr>
        <p:spPr>
          <a:xfrm>
            <a:off x="594360"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هِيَ مَرِحَةٌ.</a:t>
            </a:r>
            <a:endParaRPr lang="ar-SA" sz="2200" dirty="0"/>
          </a:p>
        </p:txBody>
      </p:sp>
      <p:sp>
        <p:nvSpPr>
          <p:cNvPr id="53" name="Text 44"/>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She is cheerful.</a:t>
            </a:r>
            <a:endParaRPr lang="en-US" sz="1200" dirty="0"/>
          </a:p>
        </p:txBody>
      </p:sp>
      <p:sp>
        <p:nvSpPr>
          <p:cNvPr id="54"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45</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D2-L01 · Personality</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SORTER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Choose the supported description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D2-L01</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يُسَاعِدُ الآخَرِينَ.</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يَقُولُ الحَقَّ.</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لَا يَسْتَمِعُ إِلَى أَحَدٍ.</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يَأْخُذُ كُلَّ شَيْءٍ لِنَفْسِهِ.</a:t>
            </a:r>
            <a:endParaRPr lang="ar-SA" sz="1800" dirty="0"/>
          </a:p>
        </p:txBody>
      </p:sp>
      <p:sp>
        <p:nvSpPr>
          <p:cNvPr id="23" name="Shape 20"/>
          <p:cNvSpPr/>
          <p:nvPr/>
        </p:nvSpPr>
        <p:spPr>
          <a:xfrm>
            <a:off x="6185916" y="2505456"/>
            <a:ext cx="5545836" cy="3803904"/>
          </a:xfrm>
          <a:prstGeom prst="roundRect">
            <a:avLst>
              <a:gd name="adj" fmla="val 1923"/>
            </a:avLst>
          </a:prstGeom>
          <a:solidFill>
            <a:srgbClr val="EEF3FA"/>
          </a:solidFill>
          <a:ln w="9525">
            <a:solidFill>
              <a:srgbClr val="C9D6EA"/>
            </a:solidFill>
            <a:prstDash val="solid"/>
          </a:ln>
        </p:spPr>
      </p:sp>
      <p:sp>
        <p:nvSpPr>
          <p:cNvPr id="24" name="Shape 21"/>
          <p:cNvSpPr/>
          <p:nvPr/>
        </p:nvSpPr>
        <p:spPr>
          <a:xfrm>
            <a:off x="6323076" y="2615184"/>
            <a:ext cx="5271516" cy="310896"/>
          </a:xfrm>
          <a:prstGeom prst="roundRect">
            <a:avLst>
              <a:gd name="adj" fmla="val 50000"/>
            </a:avLst>
          </a:prstGeom>
          <a:solidFill>
            <a:srgbClr val="2F6FB0"/>
          </a:solidFill>
          <a:ln w="12700">
            <a:solidFill>
              <a:srgbClr val="2F6FB0"/>
            </a:solidFill>
            <a:prstDash val="solid"/>
          </a:ln>
        </p:spPr>
      </p:sp>
      <p:sp>
        <p:nvSpPr>
          <p:cNvPr id="25" name="Text 22"/>
          <p:cNvSpPr txBox="1"/>
          <p:nvPr/>
        </p:nvSpPr>
        <p:spPr>
          <a:xfrm>
            <a:off x="6323076" y="2615184"/>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Positive evidence</a:t>
            </a:r>
            <a:endParaRPr lang="en-US" sz="950" dirty="0"/>
          </a:p>
        </p:txBody>
      </p:sp>
      <p:sp>
        <p:nvSpPr>
          <p:cNvPr id="26" name="Shape 23"/>
          <p:cNvSpPr/>
          <p:nvPr/>
        </p:nvSpPr>
        <p:spPr>
          <a:xfrm>
            <a:off x="457200" y="2505456"/>
            <a:ext cx="5545836" cy="3803904"/>
          </a:xfrm>
          <a:prstGeom prst="roundRect">
            <a:avLst>
              <a:gd name="adj" fmla="val 1923"/>
            </a:avLst>
          </a:prstGeom>
          <a:solidFill>
            <a:srgbClr val="EEF3FA"/>
          </a:solidFill>
          <a:ln w="9525">
            <a:solidFill>
              <a:srgbClr val="C9D6EA"/>
            </a:solidFill>
            <a:prstDash val="solid"/>
          </a:ln>
        </p:spPr>
      </p:sp>
      <p:sp>
        <p:nvSpPr>
          <p:cNvPr id="27" name="Shape 24"/>
          <p:cNvSpPr/>
          <p:nvPr/>
        </p:nvSpPr>
        <p:spPr>
          <a:xfrm>
            <a:off x="594360" y="2615184"/>
            <a:ext cx="5271516" cy="310896"/>
          </a:xfrm>
          <a:prstGeom prst="roundRect">
            <a:avLst>
              <a:gd name="adj" fmla="val 50000"/>
            </a:avLst>
          </a:prstGeom>
          <a:solidFill>
            <a:srgbClr val="2F6FB0"/>
          </a:solidFill>
          <a:ln w="12700">
            <a:solidFill>
              <a:srgbClr val="2F6FB0"/>
            </a:solidFill>
            <a:prstDash val="solid"/>
          </a:ln>
        </p:spPr>
      </p:sp>
      <p:sp>
        <p:nvSpPr>
          <p:cNvPr id="28" name="Text 25"/>
          <p:cNvSpPr txBox="1"/>
          <p:nvPr/>
        </p:nvSpPr>
        <p:spPr>
          <a:xfrm>
            <a:off x="594360" y="2615184"/>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Negative evidence</a:t>
            </a:r>
            <a:endParaRPr lang="en-US" sz="950" dirty="0"/>
          </a:p>
        </p:txBody>
      </p:sp>
      <p:sp>
        <p:nvSpPr>
          <p:cNvPr id="29" name="Text 2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45</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D2-L01 · Personality</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D2-L01</a:t>
            </a:r>
            <a:endParaRPr lang="en-US" sz="850" dirty="0"/>
          </a:p>
        </p:txBody>
      </p:sp>
      <p:sp>
        <p:nvSpPr>
          <p:cNvPr id="15" name="Shape 12"/>
          <p:cNvSpPr/>
          <p:nvPr/>
        </p:nvSpPr>
        <p:spPr>
          <a:xfrm>
            <a:off x="6185916" y="1810512"/>
            <a:ext cx="5545836" cy="4498848"/>
          </a:xfrm>
          <a:prstGeom prst="roundRect">
            <a:avLst>
              <a:gd name="adj" fmla="val 1626"/>
            </a:avLst>
          </a:prstGeom>
          <a:solidFill>
            <a:srgbClr val="EEF3FA"/>
          </a:solidFill>
          <a:ln w="9525">
            <a:solidFill>
              <a:srgbClr val="C9D6EA"/>
            </a:solidFill>
            <a:prstDash val="solid"/>
          </a:ln>
        </p:spPr>
      </p:sp>
      <p:sp>
        <p:nvSpPr>
          <p:cNvPr id="16" name="Shape 13"/>
          <p:cNvSpPr/>
          <p:nvPr/>
        </p:nvSpPr>
        <p:spPr>
          <a:xfrm>
            <a:off x="6323076" y="1920240"/>
            <a:ext cx="5271516"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6323076"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Positive evidence</a:t>
            </a:r>
            <a:endParaRPr lang="en-US" sz="950" dirty="0"/>
          </a:p>
        </p:txBody>
      </p:sp>
      <p:sp>
        <p:nvSpPr>
          <p:cNvPr id="18" name="Shape 15"/>
          <p:cNvSpPr/>
          <p:nvPr/>
        </p:nvSpPr>
        <p:spPr>
          <a:xfrm>
            <a:off x="6323076" y="2377440"/>
            <a:ext cx="5271516"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6414516"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يُسَاعِدُ الآخَرِينَ.</a:t>
            </a:r>
            <a:endParaRPr lang="ar-SA" sz="1800" dirty="0"/>
          </a:p>
        </p:txBody>
      </p:sp>
      <p:sp>
        <p:nvSpPr>
          <p:cNvPr id="20" name="Shape 17"/>
          <p:cNvSpPr/>
          <p:nvPr/>
        </p:nvSpPr>
        <p:spPr>
          <a:xfrm>
            <a:off x="6323076" y="2889504"/>
            <a:ext cx="5271516"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6414516"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يَقُولُ الحَقَّ.</a:t>
            </a:r>
            <a:endParaRPr lang="ar-SA" sz="1800" dirty="0"/>
          </a:p>
        </p:txBody>
      </p:sp>
      <p:sp>
        <p:nvSpPr>
          <p:cNvPr id="22" name="Shape 19"/>
          <p:cNvSpPr/>
          <p:nvPr/>
        </p:nvSpPr>
        <p:spPr>
          <a:xfrm>
            <a:off x="457200" y="1810512"/>
            <a:ext cx="5545836" cy="4498848"/>
          </a:xfrm>
          <a:prstGeom prst="roundRect">
            <a:avLst>
              <a:gd name="adj" fmla="val 1626"/>
            </a:avLst>
          </a:prstGeom>
          <a:solidFill>
            <a:srgbClr val="EEF3FA"/>
          </a:solidFill>
          <a:ln w="9525">
            <a:solidFill>
              <a:srgbClr val="C9D6EA"/>
            </a:solidFill>
            <a:prstDash val="solid"/>
          </a:ln>
        </p:spPr>
      </p:sp>
      <p:sp>
        <p:nvSpPr>
          <p:cNvPr id="23" name="Shape 20"/>
          <p:cNvSpPr/>
          <p:nvPr/>
        </p:nvSpPr>
        <p:spPr>
          <a:xfrm>
            <a:off x="594360" y="1920240"/>
            <a:ext cx="5271516" cy="310896"/>
          </a:xfrm>
          <a:prstGeom prst="roundRect">
            <a:avLst>
              <a:gd name="adj" fmla="val 50000"/>
            </a:avLst>
          </a:prstGeom>
          <a:solidFill>
            <a:srgbClr val="2F6FB0"/>
          </a:solidFill>
          <a:ln w="12700">
            <a:solidFill>
              <a:srgbClr val="2F6FB0"/>
            </a:solidFill>
            <a:prstDash val="solid"/>
          </a:ln>
        </p:spPr>
      </p:sp>
      <p:sp>
        <p:nvSpPr>
          <p:cNvPr id="24" name="Text 21"/>
          <p:cNvSpPr txBox="1"/>
          <p:nvPr/>
        </p:nvSpPr>
        <p:spPr>
          <a:xfrm>
            <a:off x="594360"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Negative evidence</a:t>
            </a:r>
            <a:endParaRPr lang="en-US" sz="950" dirty="0"/>
          </a:p>
        </p:txBody>
      </p:sp>
      <p:sp>
        <p:nvSpPr>
          <p:cNvPr id="25" name="Shape 22"/>
          <p:cNvSpPr/>
          <p:nvPr/>
        </p:nvSpPr>
        <p:spPr>
          <a:xfrm>
            <a:off x="594360" y="2377440"/>
            <a:ext cx="5271516" cy="438912"/>
          </a:xfrm>
          <a:prstGeom prst="roundRect">
            <a:avLst>
              <a:gd name="adj" fmla="val 12500"/>
            </a:avLst>
          </a:prstGeom>
          <a:solidFill>
            <a:srgbClr val="FFF4DC"/>
          </a:solidFill>
          <a:ln w="9525">
            <a:solidFill>
              <a:srgbClr val="E6C98A"/>
            </a:solidFill>
            <a:prstDash val="solid"/>
          </a:ln>
        </p:spPr>
      </p:sp>
      <p:sp>
        <p:nvSpPr>
          <p:cNvPr id="26" name="Text 23"/>
          <p:cNvSpPr txBox="1"/>
          <p:nvPr/>
        </p:nvSpPr>
        <p:spPr>
          <a:xfrm>
            <a:off x="685800"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لَا يَسْتَمِعُ إِلَى أَحَدٍ.</a:t>
            </a:r>
            <a:endParaRPr lang="ar-SA" sz="1800" dirty="0"/>
          </a:p>
        </p:txBody>
      </p:sp>
      <p:sp>
        <p:nvSpPr>
          <p:cNvPr id="27" name="Shape 24"/>
          <p:cNvSpPr/>
          <p:nvPr/>
        </p:nvSpPr>
        <p:spPr>
          <a:xfrm>
            <a:off x="594360" y="2889504"/>
            <a:ext cx="5271516" cy="438912"/>
          </a:xfrm>
          <a:prstGeom prst="roundRect">
            <a:avLst>
              <a:gd name="adj" fmla="val 12500"/>
            </a:avLst>
          </a:prstGeom>
          <a:solidFill>
            <a:srgbClr val="FFF4DC"/>
          </a:solidFill>
          <a:ln w="9525">
            <a:solidFill>
              <a:srgbClr val="E6C98A"/>
            </a:solidFill>
            <a:prstDash val="solid"/>
          </a:ln>
        </p:spPr>
      </p:sp>
      <p:sp>
        <p:nvSpPr>
          <p:cNvPr id="28" name="Text 25"/>
          <p:cNvSpPr txBox="1"/>
          <p:nvPr/>
        </p:nvSpPr>
        <p:spPr>
          <a:xfrm>
            <a:off x="685800"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يَأْخُذُ كُلَّ شَيْءٍ لِنَفْسِهِ.</a:t>
            </a:r>
            <a:endParaRPr lang="ar-SA" sz="1800" dirty="0"/>
          </a:p>
        </p:txBody>
      </p:sp>
      <p:sp>
        <p:nvSpPr>
          <p:cNvPr id="29" name="Text 2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45</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D2-L01 · Personality</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WEBSITE QUIZ QUESTIONS 3, 6, 7, 8</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D2-L01</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asks about a female person?</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كَيْفَ هُوَ؟</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مَاذَا تَلْبَسُ؟</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كَيْفَ هِيَ؟</a:t>
            </a:r>
            <a:endParaRPr lang="ar-SA" sz="2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proves “helpful”?</a:t>
            </a:r>
            <a:endParaRPr lang="en-US" sz="125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هِيَ مُتَعَاوِنَةٌ لِأَنَّهُ يَنَامُ.</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هِيَ مُتَعَاوِنَةٌ لِأَنَّهَا تُسَاعِدُ زُمَلَاءَهَا.</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هِيَ مُتَعَاوِنٌ.</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46" name="Text 43"/>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“not very selfish”.</a:t>
            </a:r>
            <a:endParaRPr lang="en-US" sz="125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لَيْسَ أَنَانِيٌّ جِدًّا.</a:t>
            </a:r>
            <a:endParaRPr lang="ar-SA" sz="20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لَيْسَ أَنَانِيًّا جِدًّا.</a:t>
            </a:r>
            <a:endParaRPr lang="ar-SA" sz="20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لَا أَنَانِيَّةٌ.</a:t>
            </a:r>
            <a:endParaRPr lang="ar-SA" sz="20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59" name="Text 56"/>
          <p:cNvSpPr txBox="1"/>
          <p:nvPr/>
        </p:nvSpPr>
        <p:spPr>
          <a:xfrm>
            <a:off x="6679692"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60" name="Text 57"/>
          <p:cNvSpPr txBox="1"/>
          <p:nvPr/>
        </p:nvSpPr>
        <p:spPr>
          <a:xfrm>
            <a:off x="9052011"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فَاطِمَةُ ___ وَوَاثِقَةٌ.</a:t>
            </a:r>
            <a:endParaRPr lang="ar-SA" sz="1500" dirty="0"/>
          </a:p>
        </p:txBody>
      </p:sp>
      <p:sp>
        <p:nvSpPr>
          <p:cNvPr id="61" name="Shape 58"/>
          <p:cNvSpPr/>
          <p:nvPr/>
        </p:nvSpPr>
        <p:spPr>
          <a:xfrm>
            <a:off x="6368796" y="48737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3" name="Text 60"/>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مَرِحٌ</a:t>
            </a:r>
            <a:endParaRPr lang="ar-SA" sz="2050" dirty="0"/>
          </a:p>
        </p:txBody>
      </p:sp>
      <p:sp>
        <p:nvSpPr>
          <p:cNvPr id="64" name="Shape 61"/>
          <p:cNvSpPr/>
          <p:nvPr/>
        </p:nvSpPr>
        <p:spPr>
          <a:xfrm>
            <a:off x="6368796" y="53309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6" name="Text 63"/>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مَرِحًا</a:t>
            </a:r>
            <a:endParaRPr lang="ar-SA" sz="2050" dirty="0"/>
          </a:p>
        </p:txBody>
      </p:sp>
      <p:sp>
        <p:nvSpPr>
          <p:cNvPr id="67" name="Shape 64"/>
          <p:cNvSpPr/>
          <p:nvPr/>
        </p:nvSpPr>
        <p:spPr>
          <a:xfrm>
            <a:off x="6368796" y="5788152"/>
            <a:ext cx="256032" cy="256032"/>
          </a:xfrm>
          <a:prstGeom prst="ellipse">
            <a:avLst/>
          </a:prstGeom>
          <a:solidFill>
            <a:srgbClr val="F4F1EA"/>
          </a:solidFill>
          <a:ln w="12700">
            <a:solidFill>
              <a:srgbClr val="F4F1EA"/>
            </a:solidFill>
            <a:prstDash val="solid"/>
          </a:ln>
        </p:spPr>
      </p:sp>
      <p:sp>
        <p:nvSpPr>
          <p:cNvPr id="68" name="Text 65"/>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9" name="Text 66"/>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مَرِحَةٌ</a:t>
            </a:r>
            <a:endParaRPr lang="ar-SA" sz="20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45</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D2-L01 · Personality</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D2-L01</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asks about a female person?</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كَيْفَ هُوَ؟</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مَاذَا تَلْبَسُ؟</a:t>
            </a:r>
            <a:endParaRPr lang="ar-SA" sz="170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كَيْفَ هِيَ؟</a:t>
            </a:r>
            <a:endParaRPr lang="ar-SA" sz="170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هِيَ</a:t>
            </a:r>
            <a:pPr algn="l" indent="0" marL="0">
              <a:buNone/>
            </a:pPr>
            <a:r>
              <a:rPr lang="en-US" sz="1050" i="1" dirty="0">
                <a:solidFill>
                  <a:srgbClr val="8A6D1E"/>
                </a:solidFill>
                <a:latin typeface="Calibri" pitchFamily="34" charset="0"/>
                <a:cs typeface="Amiri" pitchFamily="2" charset="-78"/>
              </a:rPr>
              <a:t> is the feminine pronoun.</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5" name="Text 32"/>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proves “helpful”?</a:t>
            </a:r>
            <a:endParaRPr lang="en-US" sz="1250" dirty="0"/>
          </a:p>
        </p:txBody>
      </p:sp>
      <p:sp>
        <p:nvSpPr>
          <p:cNvPr id="36" name="Shape 33"/>
          <p:cNvSpPr/>
          <p:nvPr/>
        </p:nvSpPr>
        <p:spPr>
          <a:xfrm>
            <a:off x="6368796"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هِيَ مُتَعَاوِنَةٌ لِأَنَّهُ يَنَامُ.</a:t>
            </a:r>
            <a:endParaRPr lang="ar-SA" sz="1700" dirty="0"/>
          </a:p>
        </p:txBody>
      </p:sp>
      <p:sp>
        <p:nvSpPr>
          <p:cNvPr id="39" name="Shape 36"/>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6368796"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هِيَ مُتَعَاوِنَةٌ لِأَنَّهَا تُسَاعِدُ زُمَلَاءَهَا.</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هِيَ مُتَعَاوِنٌ.</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behaviour supports the adjective.</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50" name="Text 47"/>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“not very selfish”.</a:t>
            </a:r>
            <a:endParaRPr lang="en-US" sz="125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لَيْسَ أَنَانِيٌّ جِدًّا.</a:t>
            </a:r>
            <a:endParaRPr lang="ar-SA" sz="170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لَيْسَ أَنَانِيًّا جِدًّا.</a:t>
            </a:r>
            <a:endParaRPr lang="ar-SA" sz="170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لَا أَنَانِيَّةٌ.</a:t>
            </a:r>
            <a:endParaRPr lang="ar-SA" sz="170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After </a:t>
            </a:r>
            <a:pPr algn="l" indent="0" marL="0">
              <a:buNone/>
            </a:pPr>
            <a:r>
              <a:rPr lang="ar-SA" altLang="en-US" sz="1350" dirty="0">
                <a:solidFill>
                  <a:srgbClr val="8A6D1E"/>
                </a:solidFill>
                <a:latin typeface="Amiri" pitchFamily="2" charset="-78"/>
                <a:ea typeface="Amiri" pitchFamily="2" charset="-78"/>
                <a:cs typeface="Amiri" pitchFamily="2" charset="-78"/>
              </a:rPr>
              <a:t>لَيْسَ</a:t>
            </a:r>
            <a:pPr algn="l" indent="0" marL="0">
              <a:buNone/>
            </a:pPr>
            <a:r>
              <a:rPr lang="en-US" sz="1050" i="1" dirty="0">
                <a:solidFill>
                  <a:srgbClr val="8A6D1E"/>
                </a:solidFill>
                <a:latin typeface="Calibri" pitchFamily="34" charset="0"/>
                <a:cs typeface="Amiri" pitchFamily="2" charset="-78"/>
              </a:rPr>
              <a:t>, the predicate is accusative.</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5" name="Text 62"/>
          <p:cNvSpPr txBox="1"/>
          <p:nvPr/>
        </p:nvSpPr>
        <p:spPr>
          <a:xfrm>
            <a:off x="6679692"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66" name="Text 63"/>
          <p:cNvSpPr txBox="1"/>
          <p:nvPr/>
        </p:nvSpPr>
        <p:spPr>
          <a:xfrm>
            <a:off x="9052011"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فَاطِمَةُ ___ وَوَاثِقَةٌ.</a:t>
            </a:r>
            <a:endParaRPr lang="ar-SA" sz="1500" dirty="0"/>
          </a:p>
        </p:txBody>
      </p:sp>
      <p:sp>
        <p:nvSpPr>
          <p:cNvPr id="67" name="Shape 64"/>
          <p:cNvSpPr/>
          <p:nvPr/>
        </p:nvSpPr>
        <p:spPr>
          <a:xfrm>
            <a:off x="6368796" y="4831080"/>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9" name="Text 66"/>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مَرِحٌ</a:t>
            </a:r>
            <a:endParaRPr lang="ar-SA" sz="1700" dirty="0"/>
          </a:p>
        </p:txBody>
      </p:sp>
      <p:sp>
        <p:nvSpPr>
          <p:cNvPr id="70" name="Shape 67"/>
          <p:cNvSpPr/>
          <p:nvPr/>
        </p:nvSpPr>
        <p:spPr>
          <a:xfrm>
            <a:off x="6368796" y="5202936"/>
            <a:ext cx="256032" cy="256032"/>
          </a:xfrm>
          <a:prstGeom prst="ellipse">
            <a:avLst/>
          </a:prstGeom>
          <a:solidFill>
            <a:srgbClr val="C9CED6"/>
          </a:solidFill>
          <a:ln w="12700">
            <a:solidFill>
              <a:srgbClr val="C9CED6"/>
            </a:solidFill>
            <a:prstDash val="solid"/>
          </a:ln>
        </p:spPr>
      </p:sp>
      <p:sp>
        <p:nvSpPr>
          <p:cNvPr id="71" name="Text 68"/>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2" name="Text 69"/>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مَرِحًا</a:t>
            </a:r>
            <a:endParaRPr lang="ar-SA" sz="1700" dirty="0"/>
          </a:p>
        </p:txBody>
      </p:sp>
      <p:sp>
        <p:nvSpPr>
          <p:cNvPr id="73" name="Shape 70"/>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4" name="Shape 71"/>
          <p:cNvSpPr/>
          <p:nvPr/>
        </p:nvSpPr>
        <p:spPr>
          <a:xfrm>
            <a:off x="6368796" y="5574792"/>
            <a:ext cx="256032" cy="256032"/>
          </a:xfrm>
          <a:prstGeom prst="ellipse">
            <a:avLst/>
          </a:prstGeom>
          <a:solidFill>
            <a:srgbClr val="2E8B57"/>
          </a:solidFill>
          <a:ln w="12700">
            <a:solidFill>
              <a:srgbClr val="2E8B57"/>
            </a:solidFill>
            <a:prstDash val="solid"/>
          </a:ln>
        </p:spPr>
      </p:sp>
      <p:sp>
        <p:nvSpPr>
          <p:cNvPr id="75" name="Text 72"/>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6" name="Text 73"/>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مَرِحَةٌ</a:t>
            </a:r>
            <a:endParaRPr lang="ar-SA" sz="1700" dirty="0"/>
          </a:p>
        </p:txBody>
      </p:sp>
      <p:sp>
        <p:nvSpPr>
          <p:cNvPr id="77" name="Text 74"/>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adjective agrees with the feminine name.</a:t>
            </a:r>
            <a:endParaRPr lang="en-US" sz="10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45</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D2-L01 · Personality</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D2-L01</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هِيَ صَبُورٌ.</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She → which ending?</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هُوَ مُتَعَاوِنَةٌ.</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He → which ending?</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هِيَ كَرِيمَةٌ لِأَنَّهُ تُسَاعِدُ.</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Because SHE … — which pronoun?</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45</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D2-L01 · Personality</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D2-L01</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هِيَ صَبُورٌ.</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هِيَ صَبُورَةٌ.</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adjective must be feminine.</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هُوَ مُتَعَاوِنَةٌ.</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هُوَ مُتَعَاوِنٌ.</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adjective must be masculine.</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هِيَ كَرِيمَةٌ لِأَنَّهُ تُسَاعِدُ.</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هِيَ كَرِيمَةٌ لِأَنَّهَا تُسَاعِدُ.</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Pronoun reference and verb must remain feminine.</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45</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D2-L01 · Personality</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Who is the speaker describing?</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D2-L01</a:t>
            </a:r>
            <a:endParaRPr lang="en-US" sz="850" dirty="0"/>
          </a:p>
        </p:txBody>
      </p:sp>
      <p:sp>
        <p:nvSpPr>
          <p:cNvPr id="15" name="Shape 12"/>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is described?</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Salma</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Noor</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teacher</a:t>
            </a:r>
            <a:endParaRPr lang="en-US" sz="1250" dirty="0"/>
          </a:p>
        </p:txBody>
      </p:sp>
      <p:sp>
        <p:nvSpPr>
          <p:cNvPr id="28" name="Shape 25"/>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3449574"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quality is mentioned first?</a:t>
            </a:r>
            <a:endParaRPr lang="en-US" sz="1250" dirty="0"/>
          </a:p>
        </p:txBody>
      </p:sp>
      <p:sp>
        <p:nvSpPr>
          <p:cNvPr id="32" name="Shape 29"/>
          <p:cNvSpPr/>
          <p:nvPr/>
        </p:nvSpPr>
        <p:spPr>
          <a:xfrm>
            <a:off x="3504438"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350443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3833622"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selfish</a:t>
            </a:r>
            <a:endParaRPr lang="en-US" sz="1250" dirty="0"/>
          </a:p>
        </p:txBody>
      </p:sp>
      <p:sp>
        <p:nvSpPr>
          <p:cNvPr id="35" name="Shape 32"/>
          <p:cNvSpPr/>
          <p:nvPr/>
        </p:nvSpPr>
        <p:spPr>
          <a:xfrm>
            <a:off x="3504438"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350443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3833622"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nervous</a:t>
            </a:r>
            <a:endParaRPr lang="en-US" sz="1250" dirty="0"/>
          </a:p>
        </p:txBody>
      </p:sp>
      <p:sp>
        <p:nvSpPr>
          <p:cNvPr id="38" name="Shape 35"/>
          <p:cNvSpPr/>
          <p:nvPr/>
        </p:nvSpPr>
        <p:spPr>
          <a:xfrm>
            <a:off x="3504438"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350443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3833622"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calm</a:t>
            </a:r>
            <a:endParaRPr lang="en-US" sz="1250" dirty="0"/>
          </a:p>
        </p:txBody>
      </p:sp>
      <p:sp>
        <p:nvSpPr>
          <p:cNvPr id="41" name="Shape 38"/>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313932"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Is Salma shy?</a:t>
            </a:r>
            <a:endParaRPr lang="en-US" sz="1250" dirty="0"/>
          </a:p>
        </p:txBody>
      </p:sp>
      <p:sp>
        <p:nvSpPr>
          <p:cNvPr id="45" name="Shape 42"/>
          <p:cNvSpPr/>
          <p:nvPr/>
        </p:nvSpPr>
        <p:spPr>
          <a:xfrm>
            <a:off x="6368796"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6697980"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Yes</a:t>
            </a:r>
            <a:endParaRPr lang="en-US" sz="1250" dirty="0"/>
          </a:p>
        </p:txBody>
      </p:sp>
      <p:sp>
        <p:nvSpPr>
          <p:cNvPr id="48" name="Shape 45"/>
          <p:cNvSpPr/>
          <p:nvPr/>
        </p:nvSpPr>
        <p:spPr>
          <a:xfrm>
            <a:off x="6368796"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6697980"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text does not say</a:t>
            </a:r>
            <a:endParaRPr lang="en-US" sz="1250" dirty="0"/>
          </a:p>
        </p:txBody>
      </p:sp>
      <p:sp>
        <p:nvSpPr>
          <p:cNvPr id="51" name="Shape 48"/>
          <p:cNvSpPr/>
          <p:nvPr/>
        </p:nvSpPr>
        <p:spPr>
          <a:xfrm>
            <a:off x="6368796"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6697980"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a:t>
            </a:r>
            <a:endParaRPr lang="en-US" sz="1250" dirty="0"/>
          </a:p>
        </p:txBody>
      </p:sp>
      <p:sp>
        <p:nvSpPr>
          <p:cNvPr id="54" name="Shape 51"/>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9178290" y="1947672"/>
            <a:ext cx="310896" cy="310896"/>
          </a:xfrm>
          <a:prstGeom prst="ellipse">
            <a:avLst/>
          </a:prstGeom>
          <a:solidFill>
            <a:srgbClr val="1B3B6F"/>
          </a:solidFill>
          <a:ln w="12700">
            <a:solidFill>
              <a:srgbClr val="1B3B6F"/>
            </a:solidFill>
            <a:prstDash val="solid"/>
          </a:ln>
        </p:spPr>
      </p:sp>
      <p:sp>
        <p:nvSpPr>
          <p:cNvPr id="56" name="Text 53"/>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When is she confident?</a:t>
            </a:r>
            <a:endParaRPr lang="en-US" sz="1250" dirty="0"/>
          </a:p>
        </p:txBody>
      </p:sp>
      <p:sp>
        <p:nvSpPr>
          <p:cNvPr id="58" name="Shape 55"/>
          <p:cNvSpPr/>
          <p:nvPr/>
        </p:nvSpPr>
        <p:spPr>
          <a:xfrm>
            <a:off x="9233154" y="2532888"/>
            <a:ext cx="256032" cy="256032"/>
          </a:xfrm>
          <a:prstGeom prst="ellipse">
            <a:avLst/>
          </a:prstGeom>
          <a:solidFill>
            <a:srgbClr val="F4F1EA"/>
          </a:solidFill>
          <a:ln w="12700">
            <a:solidFill>
              <a:srgbClr val="F4F1EA"/>
            </a:solidFill>
            <a:prstDash val="solid"/>
          </a:ln>
        </p:spPr>
      </p:sp>
      <p:sp>
        <p:nvSpPr>
          <p:cNvPr id="59" name="Text 56"/>
          <p:cNvSpPr txBox="1"/>
          <p:nvPr/>
        </p:nvSpPr>
        <p:spPr>
          <a:xfrm>
            <a:off x="923315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562338"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when speaking to the class</a:t>
            </a:r>
            <a:endParaRPr lang="en-US" sz="1250" dirty="0"/>
          </a:p>
        </p:txBody>
      </p:sp>
      <p:sp>
        <p:nvSpPr>
          <p:cNvPr id="61" name="Shape 58"/>
          <p:cNvSpPr/>
          <p:nvPr/>
        </p:nvSpPr>
        <p:spPr>
          <a:xfrm>
            <a:off x="9233154" y="2990088"/>
            <a:ext cx="256032" cy="256032"/>
          </a:xfrm>
          <a:prstGeom prst="ellipse">
            <a:avLst/>
          </a:prstGeom>
          <a:solidFill>
            <a:srgbClr val="F4F1EA"/>
          </a:solidFill>
          <a:ln w="12700">
            <a:solidFill>
              <a:srgbClr val="F4F1EA"/>
            </a:solidFill>
            <a:prstDash val="solid"/>
          </a:ln>
        </p:spPr>
      </p:sp>
      <p:sp>
        <p:nvSpPr>
          <p:cNvPr id="62" name="Text 59"/>
          <p:cNvSpPr txBox="1"/>
          <p:nvPr/>
        </p:nvSpPr>
        <p:spPr>
          <a:xfrm>
            <a:off x="923315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562338"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when shopping</a:t>
            </a:r>
            <a:endParaRPr lang="en-US" sz="1250" dirty="0"/>
          </a:p>
        </p:txBody>
      </p:sp>
      <p:sp>
        <p:nvSpPr>
          <p:cNvPr id="64" name="Shape 61"/>
          <p:cNvSpPr/>
          <p:nvPr/>
        </p:nvSpPr>
        <p:spPr>
          <a:xfrm>
            <a:off x="9233154" y="3447288"/>
            <a:ext cx="256032" cy="256032"/>
          </a:xfrm>
          <a:prstGeom prst="ellipse">
            <a:avLst/>
          </a:prstGeom>
          <a:solidFill>
            <a:srgbClr val="F4F1EA"/>
          </a:solidFill>
          <a:ln w="12700">
            <a:solidFill>
              <a:srgbClr val="F4F1EA"/>
            </a:solidFill>
            <a:prstDash val="solid"/>
          </a:ln>
        </p:spPr>
      </p:sp>
      <p:sp>
        <p:nvSpPr>
          <p:cNvPr id="65" name="Text 62"/>
          <p:cNvSpPr txBox="1"/>
          <p:nvPr/>
        </p:nvSpPr>
        <p:spPr>
          <a:xfrm>
            <a:off x="923315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562338"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when travelling</a:t>
            </a:r>
            <a:endParaRPr lang="en-US" sz="1250" dirty="0"/>
          </a:p>
        </p:txBody>
      </p:sp>
      <p:sp>
        <p:nvSpPr>
          <p:cNvPr id="67" name="Shape 64"/>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585216"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she helpful?</a:t>
            </a:r>
            <a:endParaRPr lang="en-US" sz="1250" dirty="0"/>
          </a:p>
        </p:txBody>
      </p:sp>
      <p:sp>
        <p:nvSpPr>
          <p:cNvPr id="71" name="Shape 68"/>
          <p:cNvSpPr/>
          <p:nvPr/>
        </p:nvSpPr>
        <p:spPr>
          <a:xfrm>
            <a:off x="640080"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969264"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She gives presents.</a:t>
            </a:r>
            <a:endParaRPr lang="en-US" sz="1250" dirty="0"/>
          </a:p>
        </p:txBody>
      </p:sp>
      <p:sp>
        <p:nvSpPr>
          <p:cNvPr id="74" name="Shape 71"/>
          <p:cNvSpPr/>
          <p:nvPr/>
        </p:nvSpPr>
        <p:spPr>
          <a:xfrm>
            <a:off x="640080"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969264"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She helps new students.</a:t>
            </a:r>
            <a:endParaRPr lang="en-US" sz="1250" dirty="0"/>
          </a:p>
        </p:txBody>
      </p:sp>
      <p:sp>
        <p:nvSpPr>
          <p:cNvPr id="77" name="Shape 74"/>
          <p:cNvSpPr/>
          <p:nvPr/>
        </p:nvSpPr>
        <p:spPr>
          <a:xfrm>
            <a:off x="640080"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969264"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She works alone.</a:t>
            </a:r>
            <a:endParaRPr lang="en-US" sz="1250" dirty="0"/>
          </a:p>
        </p:txBody>
      </p:sp>
      <p:sp>
        <p:nvSpPr>
          <p:cNvPr id="80" name="Shape 77"/>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3449574" y="4288536"/>
            <a:ext cx="310896" cy="310896"/>
          </a:xfrm>
          <a:prstGeom prst="ellipse">
            <a:avLst/>
          </a:prstGeom>
          <a:solidFill>
            <a:srgbClr val="1B3B6F"/>
          </a:solidFill>
          <a:ln w="12700">
            <a:solidFill>
              <a:srgbClr val="1B3B6F"/>
            </a:solidFill>
            <a:prstDash val="solid"/>
          </a:ln>
        </p:spPr>
      </p:sp>
      <p:sp>
        <p:nvSpPr>
          <p:cNvPr id="82" name="Text 79"/>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3" name="Text 80"/>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is she with friends?</a:t>
            </a:r>
            <a:endParaRPr lang="en-US" sz="1250" dirty="0"/>
          </a:p>
        </p:txBody>
      </p:sp>
      <p:sp>
        <p:nvSpPr>
          <p:cNvPr id="84" name="Shape 81"/>
          <p:cNvSpPr/>
          <p:nvPr/>
        </p:nvSpPr>
        <p:spPr>
          <a:xfrm>
            <a:off x="3504438" y="4873752"/>
            <a:ext cx="256032" cy="256032"/>
          </a:xfrm>
          <a:prstGeom prst="ellipse">
            <a:avLst/>
          </a:prstGeom>
          <a:solidFill>
            <a:srgbClr val="F4F1EA"/>
          </a:solidFill>
          <a:ln w="12700">
            <a:solidFill>
              <a:srgbClr val="F4F1EA"/>
            </a:solidFill>
            <a:prstDash val="solid"/>
          </a:ln>
        </p:spPr>
      </p:sp>
      <p:sp>
        <p:nvSpPr>
          <p:cNvPr id="85" name="Text 82"/>
          <p:cNvSpPr txBox="1"/>
          <p:nvPr/>
        </p:nvSpPr>
        <p:spPr>
          <a:xfrm>
            <a:off x="350443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6" name="Text 83"/>
          <p:cNvSpPr txBox="1"/>
          <p:nvPr/>
        </p:nvSpPr>
        <p:spPr>
          <a:xfrm>
            <a:off x="3833622"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cheerful</a:t>
            </a:r>
            <a:endParaRPr lang="en-US" sz="1250" dirty="0"/>
          </a:p>
        </p:txBody>
      </p:sp>
      <p:sp>
        <p:nvSpPr>
          <p:cNvPr id="87" name="Shape 84"/>
          <p:cNvSpPr/>
          <p:nvPr/>
        </p:nvSpPr>
        <p:spPr>
          <a:xfrm>
            <a:off x="3504438" y="5330952"/>
            <a:ext cx="256032" cy="256032"/>
          </a:xfrm>
          <a:prstGeom prst="ellipse">
            <a:avLst/>
          </a:prstGeom>
          <a:solidFill>
            <a:srgbClr val="F4F1EA"/>
          </a:solidFill>
          <a:ln w="12700">
            <a:solidFill>
              <a:srgbClr val="F4F1EA"/>
            </a:solidFill>
            <a:prstDash val="solid"/>
          </a:ln>
        </p:spPr>
      </p:sp>
      <p:sp>
        <p:nvSpPr>
          <p:cNvPr id="88" name="Text 85"/>
          <p:cNvSpPr txBox="1"/>
          <p:nvPr/>
        </p:nvSpPr>
        <p:spPr>
          <a:xfrm>
            <a:off x="350443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9" name="Text 86"/>
          <p:cNvSpPr txBox="1"/>
          <p:nvPr/>
        </p:nvSpPr>
        <p:spPr>
          <a:xfrm>
            <a:off x="3833622"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angry</a:t>
            </a:r>
            <a:endParaRPr lang="en-US" sz="1250" dirty="0"/>
          </a:p>
        </p:txBody>
      </p:sp>
      <p:sp>
        <p:nvSpPr>
          <p:cNvPr id="90" name="Shape 87"/>
          <p:cNvSpPr/>
          <p:nvPr/>
        </p:nvSpPr>
        <p:spPr>
          <a:xfrm>
            <a:off x="3504438" y="5788152"/>
            <a:ext cx="256032" cy="256032"/>
          </a:xfrm>
          <a:prstGeom prst="ellipse">
            <a:avLst/>
          </a:prstGeom>
          <a:solidFill>
            <a:srgbClr val="F4F1EA"/>
          </a:solidFill>
          <a:ln w="12700">
            <a:solidFill>
              <a:srgbClr val="F4F1EA"/>
            </a:solidFill>
            <a:prstDash val="solid"/>
          </a:ln>
        </p:spPr>
      </p:sp>
      <p:sp>
        <p:nvSpPr>
          <p:cNvPr id="91" name="Text 88"/>
          <p:cNvSpPr txBox="1"/>
          <p:nvPr/>
        </p:nvSpPr>
        <p:spPr>
          <a:xfrm>
            <a:off x="350443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2" name="Text 89"/>
          <p:cNvSpPr txBox="1"/>
          <p:nvPr/>
        </p:nvSpPr>
        <p:spPr>
          <a:xfrm>
            <a:off x="3833622"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silent</a:t>
            </a:r>
            <a:endParaRPr lang="en-US" sz="1250" dirty="0"/>
          </a:p>
        </p:txBody>
      </p:sp>
      <p:sp>
        <p:nvSpPr>
          <p:cNvPr id="93" name="Shape 90"/>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4" name="Shape 91"/>
          <p:cNvSpPr/>
          <p:nvPr/>
        </p:nvSpPr>
        <p:spPr>
          <a:xfrm>
            <a:off x="6807708" y="4361688"/>
            <a:ext cx="914400" cy="274320"/>
          </a:xfrm>
          <a:prstGeom prst="roundRect">
            <a:avLst>
              <a:gd name="adj" fmla="val 50000"/>
            </a:avLst>
          </a:prstGeom>
          <a:solidFill>
            <a:srgbClr val="2E8B57"/>
          </a:solidFill>
          <a:ln w="12700">
            <a:solidFill>
              <a:srgbClr val="2E8B57"/>
            </a:solidFill>
            <a:prstDash val="solid"/>
          </a:ln>
        </p:spPr>
      </p:sp>
      <p:sp>
        <p:nvSpPr>
          <p:cNvPr id="95" name="Text 92"/>
          <p:cNvSpPr txBox="1"/>
          <p:nvPr/>
        </p:nvSpPr>
        <p:spPr>
          <a:xfrm>
            <a:off x="6807708"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6" name="Text 93"/>
          <p:cNvSpPr txBox="1"/>
          <p:nvPr/>
        </p:nvSpPr>
        <p:spPr>
          <a:xfrm>
            <a:off x="6387084" y="4791456"/>
            <a:ext cx="2315718"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cs typeface="Amiri" pitchFamily="2" charset="-78"/>
              </a:rPr>
              <a:t>Listen twice. Core: questions 1, 2 and 6.</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Listen for: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هَادِئَةٌ</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لَيْسَتْ خَجُولَةً</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مَرِحَةٌ</a:t>
            </a:r>
            <a:pPr algn="l" indent="0" marL="0">
              <a:lnSpc>
                <a:spcPct val="115000"/>
              </a:lnSpc>
              <a:buNone/>
            </a:pPr>
            <a:r>
              <a:rPr lang="en-US" sz="1250" dirty="0">
                <a:solidFill>
                  <a:srgbClr val="1E6B52"/>
                </a:solidFill>
                <a:latin typeface="Calibri" pitchFamily="34" charset="0"/>
                <a:cs typeface="Amiri" pitchFamily="2" charset="-78"/>
              </a:rPr>
              <a:t>.</a:t>
            </a:r>
            <a:endParaRPr lang="en-US" sz="1250" dirty="0"/>
          </a:p>
        </p:txBody>
      </p:sp>
      <p:sp>
        <p:nvSpPr>
          <p:cNvPr id="97" name="Text 9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45</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D2-L01 · Personality</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D2-L01</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تَتَحَدَّثُ نُورُ عَنْ زَمِيلَتِهَا سَلْمَى.</a:t>
            </a:r>
            <a:endParaRPr lang="ar-SA" sz="200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Noor is talking about her classmate Salma.</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تَقُولُ إِنَّ سَلْمَى هَادِئَةٌ وَصَبُورَةٌ، وَلٰكِنَّهَا لَيْسَتْ خَجُولَةً.</a:t>
            </a:r>
            <a:endParaRPr lang="ar-SA" sz="200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She says that Salma is calm and patient, but she is not shy.</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هِيَ وَاثِقَةٌ عِنْدَمَا تَتَحَدَّثُ أَمَامَ الفَصْلِ،</a:t>
            </a:r>
            <a:endParaRPr lang="ar-SA" sz="200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She is confident when she speaks in front of the class,</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وَمُتَعَاوِنَةٌ لِأَنَّهَا تُسَاعِدُ الطَّالِبَاتِ الجَدِيدَاتِ.</a:t>
            </a:r>
            <a:endParaRPr lang="ar-SA" sz="200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and helpful because she helps the new (female) students.</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أَحْيَانًا تَكُونُ جَادَّةً جِدًّا، وَلٰكِنَّهَا مَرِحَةٌ مَعَ صَدِيقَاتِهَا.</a:t>
            </a:r>
            <a:endParaRPr lang="ar-SA" sz="200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Sometimes she is very serious, but she is cheerful with her friends.</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45</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D2-L01 · Personality</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D2-L01</a:t>
            </a:r>
            <a:endParaRPr lang="en-US" sz="850" dirty="0"/>
          </a:p>
        </p:txBody>
      </p:sp>
      <p:sp>
        <p:nvSpPr>
          <p:cNvPr id="15" name="Shape 12"/>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is described?</a:t>
            </a:r>
            <a:endParaRPr lang="en-US" sz="1250" dirty="0"/>
          </a:p>
        </p:txBody>
      </p:sp>
      <p:sp>
        <p:nvSpPr>
          <p:cNvPr id="19" name="Shape 16"/>
          <p:cNvSpPr/>
          <p:nvPr/>
        </p:nvSpPr>
        <p:spPr>
          <a:xfrm>
            <a:off x="548640" y="2453640"/>
            <a:ext cx="2498598"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Salma</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Noor</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teacher</a:t>
            </a:r>
            <a:endParaRPr lang="en-US" sz="1250" dirty="0"/>
          </a:p>
        </p:txBody>
      </p:sp>
      <p:sp>
        <p:nvSpPr>
          <p:cNvPr id="29" name="Text 26"/>
          <p:cNvSpPr txBox="1"/>
          <p:nvPr/>
        </p:nvSpPr>
        <p:spPr>
          <a:xfrm>
            <a:off x="585216" y="3566160"/>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Noor describes Salma.</a:t>
            </a:r>
            <a:endParaRPr lang="en-US" sz="1050" dirty="0"/>
          </a:p>
        </p:txBody>
      </p:sp>
      <p:sp>
        <p:nvSpPr>
          <p:cNvPr id="30" name="Shape 27"/>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3449574"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quality is mentioned first?</a:t>
            </a:r>
            <a:endParaRPr lang="en-US" sz="1250" dirty="0"/>
          </a:p>
        </p:txBody>
      </p:sp>
      <p:sp>
        <p:nvSpPr>
          <p:cNvPr id="34" name="Shape 31"/>
          <p:cNvSpPr/>
          <p:nvPr/>
        </p:nvSpPr>
        <p:spPr>
          <a:xfrm>
            <a:off x="3504438"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350443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3833622"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selfish</a:t>
            </a:r>
            <a:endParaRPr lang="en-US" sz="1250" dirty="0"/>
          </a:p>
        </p:txBody>
      </p:sp>
      <p:sp>
        <p:nvSpPr>
          <p:cNvPr id="37" name="Shape 34"/>
          <p:cNvSpPr/>
          <p:nvPr/>
        </p:nvSpPr>
        <p:spPr>
          <a:xfrm>
            <a:off x="3504438"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350443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3833622"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nervous</a:t>
            </a:r>
            <a:endParaRPr lang="en-US" sz="1250" dirty="0"/>
          </a:p>
        </p:txBody>
      </p:sp>
      <p:sp>
        <p:nvSpPr>
          <p:cNvPr id="40" name="Shape 37"/>
          <p:cNvSpPr/>
          <p:nvPr/>
        </p:nvSpPr>
        <p:spPr>
          <a:xfrm>
            <a:off x="3412998" y="3197352"/>
            <a:ext cx="2498598"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3504438"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350443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3833622" y="3176016"/>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calm</a:t>
            </a:r>
            <a:endParaRPr lang="en-US" sz="1250" dirty="0"/>
          </a:p>
        </p:txBody>
      </p:sp>
      <p:sp>
        <p:nvSpPr>
          <p:cNvPr id="44" name="Text 41"/>
          <p:cNvSpPr txBox="1"/>
          <p:nvPr/>
        </p:nvSpPr>
        <p:spPr>
          <a:xfrm>
            <a:off x="3449574" y="3566160"/>
            <a:ext cx="2425446"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هَادِئَةٌ</a:t>
            </a:r>
            <a:pPr algn="l" indent="0" marL="0">
              <a:buNone/>
            </a:pPr>
            <a:r>
              <a:rPr lang="en-US" sz="1050" i="1" dirty="0">
                <a:solidFill>
                  <a:srgbClr val="8A6D1E"/>
                </a:solidFill>
                <a:latin typeface="Calibri" pitchFamily="34" charset="0"/>
                <a:cs typeface="Amiri" pitchFamily="2" charset="-78"/>
              </a:rPr>
              <a:t> means calm.</a:t>
            </a:r>
            <a:endParaRPr lang="en-US" sz="1050" dirty="0"/>
          </a:p>
        </p:txBody>
      </p:sp>
      <p:sp>
        <p:nvSpPr>
          <p:cNvPr id="45" name="Shape 42"/>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6313932"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Is Salma shy?</a:t>
            </a:r>
            <a:endParaRPr lang="en-US" sz="1250" dirty="0"/>
          </a:p>
        </p:txBody>
      </p:sp>
      <p:sp>
        <p:nvSpPr>
          <p:cNvPr id="49" name="Shape 46"/>
          <p:cNvSpPr/>
          <p:nvPr/>
        </p:nvSpPr>
        <p:spPr>
          <a:xfrm>
            <a:off x="6368796"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6697980"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Yes</a:t>
            </a:r>
            <a:endParaRPr lang="en-US" sz="1250" dirty="0"/>
          </a:p>
        </p:txBody>
      </p:sp>
      <p:sp>
        <p:nvSpPr>
          <p:cNvPr id="52" name="Shape 49"/>
          <p:cNvSpPr/>
          <p:nvPr/>
        </p:nvSpPr>
        <p:spPr>
          <a:xfrm>
            <a:off x="6368796"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6697980"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text does not say</a:t>
            </a:r>
            <a:endParaRPr lang="en-US" sz="1250" dirty="0"/>
          </a:p>
        </p:txBody>
      </p:sp>
      <p:sp>
        <p:nvSpPr>
          <p:cNvPr id="55" name="Shape 52"/>
          <p:cNvSpPr/>
          <p:nvPr/>
        </p:nvSpPr>
        <p:spPr>
          <a:xfrm>
            <a:off x="6277356" y="3197352"/>
            <a:ext cx="2498598"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368796"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6697980" y="3176016"/>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No</a:t>
            </a:r>
            <a:endParaRPr lang="en-US" sz="1250" dirty="0"/>
          </a:p>
        </p:txBody>
      </p:sp>
      <p:sp>
        <p:nvSpPr>
          <p:cNvPr id="59" name="Text 56"/>
          <p:cNvSpPr txBox="1"/>
          <p:nvPr/>
        </p:nvSpPr>
        <p:spPr>
          <a:xfrm>
            <a:off x="6313932" y="3566160"/>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speaker says she is not shy.</a:t>
            </a:r>
            <a:endParaRPr lang="en-US" sz="1050" dirty="0"/>
          </a:p>
        </p:txBody>
      </p:sp>
      <p:sp>
        <p:nvSpPr>
          <p:cNvPr id="60" name="Shape 57"/>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9178290" y="1947672"/>
            <a:ext cx="310896" cy="310896"/>
          </a:xfrm>
          <a:prstGeom prst="ellipse">
            <a:avLst/>
          </a:prstGeom>
          <a:solidFill>
            <a:srgbClr val="1B3B6F"/>
          </a:solidFill>
          <a:ln w="12700">
            <a:solidFill>
              <a:srgbClr val="1B3B6F"/>
            </a:solidFill>
            <a:prstDash val="solid"/>
          </a:ln>
        </p:spPr>
      </p:sp>
      <p:sp>
        <p:nvSpPr>
          <p:cNvPr id="62" name="Text 59"/>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When is she confident?</a:t>
            </a:r>
            <a:endParaRPr lang="en-US" sz="1250" dirty="0"/>
          </a:p>
        </p:txBody>
      </p:sp>
      <p:sp>
        <p:nvSpPr>
          <p:cNvPr id="64" name="Shape 61"/>
          <p:cNvSpPr/>
          <p:nvPr/>
        </p:nvSpPr>
        <p:spPr>
          <a:xfrm>
            <a:off x="9141714" y="2453640"/>
            <a:ext cx="2498598"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9233154" y="2490216"/>
            <a:ext cx="256032" cy="256032"/>
          </a:xfrm>
          <a:prstGeom prst="ellipse">
            <a:avLst/>
          </a:prstGeom>
          <a:solidFill>
            <a:srgbClr val="2E8B57"/>
          </a:solidFill>
          <a:ln w="12700">
            <a:solidFill>
              <a:srgbClr val="2E8B57"/>
            </a:solidFill>
            <a:prstDash val="solid"/>
          </a:ln>
        </p:spPr>
      </p:sp>
      <p:sp>
        <p:nvSpPr>
          <p:cNvPr id="66" name="Text 63"/>
          <p:cNvSpPr txBox="1"/>
          <p:nvPr/>
        </p:nvSpPr>
        <p:spPr>
          <a:xfrm>
            <a:off x="923315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562338" y="2432304"/>
            <a:ext cx="2023110" cy="371856"/>
          </a:xfrm>
          <a:prstGeom prst="rect">
            <a:avLst/>
          </a:prstGeom>
          <a:noFill/>
          <a:ln/>
        </p:spPr>
        <p:txBody>
          <a:bodyPr wrap="square" lIns="0" tIns="0" rIns="0" bIns="0" rtlCol="0" anchor="ctr"/>
          <a:lstStyle/>
          <a:p>
            <a:pPr algn="l" indent="0" marL="0">
              <a:buNone/>
            </a:pPr>
            <a:r>
              <a:rPr lang="en-US" sz="1200" b="1" dirty="0">
                <a:solidFill>
                  <a:srgbClr val="1F2A37"/>
                </a:solidFill>
                <a:latin typeface="Calibri" pitchFamily="34" charset="0"/>
                <a:cs typeface="Amiri" pitchFamily="2" charset="-78"/>
              </a:rPr>
              <a:t>when speaking to the class</a:t>
            </a:r>
            <a:endParaRPr lang="en-US" sz="1200" dirty="0"/>
          </a:p>
        </p:txBody>
      </p:sp>
      <p:sp>
        <p:nvSpPr>
          <p:cNvPr id="68" name="Shape 65"/>
          <p:cNvSpPr/>
          <p:nvPr/>
        </p:nvSpPr>
        <p:spPr>
          <a:xfrm>
            <a:off x="9233154" y="2862072"/>
            <a:ext cx="256032" cy="256032"/>
          </a:xfrm>
          <a:prstGeom prst="ellipse">
            <a:avLst/>
          </a:prstGeom>
          <a:solidFill>
            <a:srgbClr val="C9CED6"/>
          </a:solidFill>
          <a:ln w="12700">
            <a:solidFill>
              <a:srgbClr val="C9CED6"/>
            </a:solidFill>
            <a:prstDash val="solid"/>
          </a:ln>
        </p:spPr>
      </p:sp>
      <p:sp>
        <p:nvSpPr>
          <p:cNvPr id="69" name="Text 66"/>
          <p:cNvSpPr txBox="1"/>
          <p:nvPr/>
        </p:nvSpPr>
        <p:spPr>
          <a:xfrm>
            <a:off x="923315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562338"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when shopping</a:t>
            </a:r>
            <a:endParaRPr lang="en-US" sz="1250" dirty="0"/>
          </a:p>
        </p:txBody>
      </p:sp>
      <p:sp>
        <p:nvSpPr>
          <p:cNvPr id="71" name="Shape 68"/>
          <p:cNvSpPr/>
          <p:nvPr/>
        </p:nvSpPr>
        <p:spPr>
          <a:xfrm>
            <a:off x="9233154" y="3233928"/>
            <a:ext cx="256032" cy="256032"/>
          </a:xfrm>
          <a:prstGeom prst="ellipse">
            <a:avLst/>
          </a:prstGeom>
          <a:solidFill>
            <a:srgbClr val="C9CED6"/>
          </a:solidFill>
          <a:ln w="12700">
            <a:solidFill>
              <a:srgbClr val="C9CED6"/>
            </a:solidFill>
            <a:prstDash val="solid"/>
          </a:ln>
        </p:spPr>
      </p:sp>
      <p:sp>
        <p:nvSpPr>
          <p:cNvPr id="72" name="Text 69"/>
          <p:cNvSpPr txBox="1"/>
          <p:nvPr/>
        </p:nvSpPr>
        <p:spPr>
          <a:xfrm>
            <a:off x="923315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562338"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when travelling</a:t>
            </a:r>
            <a:endParaRPr lang="en-US" sz="1250" dirty="0"/>
          </a:p>
        </p:txBody>
      </p:sp>
      <p:sp>
        <p:nvSpPr>
          <p:cNvPr id="74" name="Text 71"/>
          <p:cNvSpPr txBox="1"/>
          <p:nvPr/>
        </p:nvSpPr>
        <p:spPr>
          <a:xfrm>
            <a:off x="9178290" y="3566160"/>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She is confident in front of the class.</a:t>
            </a:r>
            <a:endParaRPr lang="en-US" sz="1050" dirty="0"/>
          </a:p>
        </p:txBody>
      </p:sp>
      <p:sp>
        <p:nvSpPr>
          <p:cNvPr id="75" name="Shape 72"/>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585216"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she helpful?</a:t>
            </a:r>
            <a:endParaRPr lang="en-US" sz="1250" dirty="0"/>
          </a:p>
        </p:txBody>
      </p:sp>
      <p:sp>
        <p:nvSpPr>
          <p:cNvPr id="79" name="Shape 76"/>
          <p:cNvSpPr/>
          <p:nvPr/>
        </p:nvSpPr>
        <p:spPr>
          <a:xfrm>
            <a:off x="640080"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969264" y="4773168"/>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She gives presents.</a:t>
            </a:r>
            <a:endParaRPr lang="en-US" sz="1250" dirty="0"/>
          </a:p>
        </p:txBody>
      </p:sp>
      <p:sp>
        <p:nvSpPr>
          <p:cNvPr id="82" name="Shape 79"/>
          <p:cNvSpPr/>
          <p:nvPr/>
        </p:nvSpPr>
        <p:spPr>
          <a:xfrm>
            <a:off x="548640" y="5166360"/>
            <a:ext cx="2498598"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640080"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969264" y="514502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She helps new students.</a:t>
            </a:r>
            <a:endParaRPr lang="en-US" sz="1250" dirty="0"/>
          </a:p>
        </p:txBody>
      </p:sp>
      <p:sp>
        <p:nvSpPr>
          <p:cNvPr id="86" name="Shape 83"/>
          <p:cNvSpPr/>
          <p:nvPr/>
        </p:nvSpPr>
        <p:spPr>
          <a:xfrm>
            <a:off x="640080"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969264"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She works alone.</a:t>
            </a:r>
            <a:endParaRPr lang="en-US" sz="1250" dirty="0"/>
          </a:p>
        </p:txBody>
      </p:sp>
      <p:sp>
        <p:nvSpPr>
          <p:cNvPr id="89" name="Text 86"/>
          <p:cNvSpPr txBox="1"/>
          <p:nvPr/>
        </p:nvSpPr>
        <p:spPr>
          <a:xfrm>
            <a:off x="585216" y="5907024"/>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script gives this evidence.</a:t>
            </a:r>
            <a:endParaRPr lang="en-US" sz="1050" dirty="0"/>
          </a:p>
        </p:txBody>
      </p:sp>
      <p:sp>
        <p:nvSpPr>
          <p:cNvPr id="90" name="Shape 87"/>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3449574" y="4288536"/>
            <a:ext cx="310896" cy="310896"/>
          </a:xfrm>
          <a:prstGeom prst="ellipse">
            <a:avLst/>
          </a:prstGeom>
          <a:solidFill>
            <a:srgbClr val="1B3B6F"/>
          </a:solidFill>
          <a:ln w="12700">
            <a:solidFill>
              <a:srgbClr val="1B3B6F"/>
            </a:solidFill>
            <a:prstDash val="solid"/>
          </a:ln>
        </p:spPr>
      </p:sp>
      <p:sp>
        <p:nvSpPr>
          <p:cNvPr id="92" name="Text 89"/>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3" name="Text 90"/>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is she with friends?</a:t>
            </a:r>
            <a:endParaRPr lang="en-US" sz="1250" dirty="0"/>
          </a:p>
        </p:txBody>
      </p:sp>
      <p:sp>
        <p:nvSpPr>
          <p:cNvPr id="94" name="Shape 91"/>
          <p:cNvSpPr/>
          <p:nvPr/>
        </p:nvSpPr>
        <p:spPr>
          <a:xfrm>
            <a:off x="3412998" y="4794504"/>
            <a:ext cx="2498598" cy="347472"/>
          </a:xfrm>
          <a:prstGeom prst="roundRect">
            <a:avLst>
              <a:gd name="adj" fmla="val 15789"/>
            </a:avLst>
          </a:prstGeom>
          <a:solidFill>
            <a:srgbClr val="E6F4EC"/>
          </a:solidFill>
          <a:ln w="9525">
            <a:solidFill>
              <a:srgbClr val="2E8B57"/>
            </a:solidFill>
            <a:prstDash val="solid"/>
          </a:ln>
        </p:spPr>
      </p:sp>
      <p:sp>
        <p:nvSpPr>
          <p:cNvPr id="95" name="Shape 92"/>
          <p:cNvSpPr/>
          <p:nvPr/>
        </p:nvSpPr>
        <p:spPr>
          <a:xfrm>
            <a:off x="3504438" y="4831080"/>
            <a:ext cx="256032" cy="256032"/>
          </a:xfrm>
          <a:prstGeom prst="ellipse">
            <a:avLst/>
          </a:prstGeom>
          <a:solidFill>
            <a:srgbClr val="2E8B57"/>
          </a:solidFill>
          <a:ln w="12700">
            <a:solidFill>
              <a:srgbClr val="2E8B57"/>
            </a:solidFill>
            <a:prstDash val="solid"/>
          </a:ln>
        </p:spPr>
      </p:sp>
      <p:sp>
        <p:nvSpPr>
          <p:cNvPr id="96" name="Text 93"/>
          <p:cNvSpPr txBox="1"/>
          <p:nvPr/>
        </p:nvSpPr>
        <p:spPr>
          <a:xfrm>
            <a:off x="3504438"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97" name="Text 94"/>
          <p:cNvSpPr txBox="1"/>
          <p:nvPr/>
        </p:nvSpPr>
        <p:spPr>
          <a:xfrm>
            <a:off x="3833622" y="4773168"/>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cheerful</a:t>
            </a:r>
            <a:endParaRPr lang="en-US" sz="1250" dirty="0"/>
          </a:p>
        </p:txBody>
      </p:sp>
      <p:sp>
        <p:nvSpPr>
          <p:cNvPr id="98" name="Shape 95"/>
          <p:cNvSpPr/>
          <p:nvPr/>
        </p:nvSpPr>
        <p:spPr>
          <a:xfrm>
            <a:off x="3504438" y="5202936"/>
            <a:ext cx="256032" cy="256032"/>
          </a:xfrm>
          <a:prstGeom prst="ellipse">
            <a:avLst/>
          </a:prstGeom>
          <a:solidFill>
            <a:srgbClr val="C9CED6"/>
          </a:solidFill>
          <a:ln w="12700">
            <a:solidFill>
              <a:srgbClr val="C9CED6"/>
            </a:solidFill>
            <a:prstDash val="solid"/>
          </a:ln>
        </p:spPr>
      </p:sp>
      <p:sp>
        <p:nvSpPr>
          <p:cNvPr id="99" name="Text 96"/>
          <p:cNvSpPr txBox="1"/>
          <p:nvPr/>
        </p:nvSpPr>
        <p:spPr>
          <a:xfrm>
            <a:off x="3504438"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100" name="Text 97"/>
          <p:cNvSpPr txBox="1"/>
          <p:nvPr/>
        </p:nvSpPr>
        <p:spPr>
          <a:xfrm>
            <a:off x="3833622"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angry</a:t>
            </a:r>
            <a:endParaRPr lang="en-US" sz="1250" dirty="0"/>
          </a:p>
        </p:txBody>
      </p:sp>
      <p:sp>
        <p:nvSpPr>
          <p:cNvPr id="101" name="Shape 98"/>
          <p:cNvSpPr/>
          <p:nvPr/>
        </p:nvSpPr>
        <p:spPr>
          <a:xfrm>
            <a:off x="3504438" y="5574792"/>
            <a:ext cx="256032" cy="256032"/>
          </a:xfrm>
          <a:prstGeom prst="ellipse">
            <a:avLst/>
          </a:prstGeom>
          <a:solidFill>
            <a:srgbClr val="C9CED6"/>
          </a:solidFill>
          <a:ln w="12700">
            <a:solidFill>
              <a:srgbClr val="C9CED6"/>
            </a:solidFill>
            <a:prstDash val="solid"/>
          </a:ln>
        </p:spPr>
      </p:sp>
      <p:sp>
        <p:nvSpPr>
          <p:cNvPr id="102" name="Text 99"/>
          <p:cNvSpPr txBox="1"/>
          <p:nvPr/>
        </p:nvSpPr>
        <p:spPr>
          <a:xfrm>
            <a:off x="350443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3" name="Text 100"/>
          <p:cNvSpPr txBox="1"/>
          <p:nvPr/>
        </p:nvSpPr>
        <p:spPr>
          <a:xfrm>
            <a:off x="3833622"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silent</a:t>
            </a:r>
            <a:endParaRPr lang="en-US" sz="1250" dirty="0"/>
          </a:p>
        </p:txBody>
      </p:sp>
      <p:sp>
        <p:nvSpPr>
          <p:cNvPr id="104" name="Text 101"/>
          <p:cNvSpPr txBox="1"/>
          <p:nvPr/>
        </p:nvSpPr>
        <p:spPr>
          <a:xfrm>
            <a:off x="3449574" y="5907024"/>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She is </a:t>
            </a:r>
            <a:pPr algn="l" indent="0" marL="0">
              <a:buNone/>
            </a:pPr>
            <a:r>
              <a:rPr lang="ar-SA" altLang="en-US" sz="1350" dirty="0">
                <a:solidFill>
                  <a:srgbClr val="8A6D1E"/>
                </a:solidFill>
                <a:latin typeface="Amiri" pitchFamily="2" charset="-78"/>
                <a:ea typeface="Amiri" pitchFamily="2" charset="-78"/>
                <a:cs typeface="Amiri" pitchFamily="2" charset="-78"/>
              </a:rPr>
              <a:t>مَرِحَةٌ</a:t>
            </a:r>
            <a:pPr algn="l" indent="0" marL="0">
              <a:buNone/>
            </a:pPr>
            <a:r>
              <a:rPr lang="en-US" sz="1050" i="1" dirty="0">
                <a:solidFill>
                  <a:srgbClr val="8A6D1E"/>
                </a:solidFill>
                <a:latin typeface="Calibri" pitchFamily="34" charset="0"/>
                <a:cs typeface="Amiri" pitchFamily="2" charset="-78"/>
              </a:rPr>
              <a:t> with friends.</a:t>
            </a:r>
            <a:endParaRPr lang="en-US" sz="1050" dirty="0"/>
          </a:p>
        </p:txBody>
      </p:sp>
      <p:sp>
        <p:nvSpPr>
          <p:cNvPr id="105" name="Shape 102"/>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06" name="Shape 103"/>
          <p:cNvSpPr/>
          <p:nvPr/>
        </p:nvSpPr>
        <p:spPr>
          <a:xfrm>
            <a:off x="6807708" y="4361688"/>
            <a:ext cx="914400" cy="274320"/>
          </a:xfrm>
          <a:prstGeom prst="roundRect">
            <a:avLst>
              <a:gd name="adj" fmla="val 50000"/>
            </a:avLst>
          </a:prstGeom>
          <a:solidFill>
            <a:srgbClr val="2E8B57"/>
          </a:solidFill>
          <a:ln w="12700">
            <a:solidFill>
              <a:srgbClr val="2E8B57"/>
            </a:solidFill>
            <a:prstDash val="solid"/>
          </a:ln>
        </p:spPr>
      </p:sp>
      <p:sp>
        <p:nvSpPr>
          <p:cNvPr id="107" name="Text 104"/>
          <p:cNvSpPr txBox="1"/>
          <p:nvPr/>
        </p:nvSpPr>
        <p:spPr>
          <a:xfrm>
            <a:off x="6807708"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108" name="Text 105"/>
          <p:cNvSpPr txBox="1"/>
          <p:nvPr/>
        </p:nvSpPr>
        <p:spPr>
          <a:xfrm>
            <a:off x="6387084" y="4791456"/>
            <a:ext cx="2315718"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cs typeface="Amiri" pitchFamily="2" charset="-78"/>
              </a:rPr>
              <a:t>Listen twice. Core: questions 1, 2 and 6.</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Listen for: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هَادِئَةٌ</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لَيْسَتْ خَجُولَةً</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مَرِحَةٌ</a:t>
            </a:r>
            <a:pPr algn="l" indent="0" marL="0">
              <a:lnSpc>
                <a:spcPct val="115000"/>
              </a:lnSpc>
              <a:buNone/>
            </a:pPr>
            <a:r>
              <a:rPr lang="en-US" sz="1250" dirty="0">
                <a:solidFill>
                  <a:srgbClr val="1E6B52"/>
                </a:solidFill>
                <a:latin typeface="Calibri" pitchFamily="34" charset="0"/>
                <a:cs typeface="Amiri" pitchFamily="2" charset="-78"/>
              </a:rPr>
              <a:t>.</a:t>
            </a:r>
            <a:endParaRPr lang="en-US" sz="1250" dirty="0"/>
          </a:p>
        </p:txBody>
      </p:sp>
      <p:sp>
        <p:nvSpPr>
          <p:cNvPr id="109" name="Text 10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45</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D2-L01 · Personality</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cs typeface="Amiri" pitchFamily="2" charset="-78"/>
              </a:rPr>
              <a:t>Describe personality with evidence</a:t>
            </a:r>
            <a:endParaRPr lang="en-US" sz="27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D2-L01</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صِفْ شَخْصِيَّةَ صَدِيقٍ أَوْ قَرِيبٍ.</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أَهَمُّ صِفَةٍ فِي الصَّدِيقِ؟ وَلِمَاذَا؟</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C9780A"/>
          </a:solidFill>
          <a:ln w="12700">
            <a:solidFill>
              <a:srgbClr val="C9780A"/>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صِفْ شَخْصًا مُتَعَاوِنًا وَاذْكُرْ دَلِيلًا.</a:t>
            </a:r>
            <a:endParaRPr lang="ar-SA" sz="1800" dirty="0"/>
          </a:p>
        </p:txBody>
      </p:sp>
      <p:sp>
        <p:nvSpPr>
          <p:cNvPr id="42" name="Shape 39"/>
          <p:cNvSpPr/>
          <p:nvPr/>
        </p:nvSpPr>
        <p:spPr>
          <a:xfrm>
            <a:off x="4754880" y="4352544"/>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4846320" y="4507992"/>
            <a:ext cx="960120" cy="256032"/>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4846320" y="4507992"/>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5" name="Text 42"/>
          <p:cNvSpPr txBox="1"/>
          <p:nvPr/>
        </p:nvSpPr>
        <p:spPr>
          <a:xfrm>
            <a:off x="5897880" y="4352544"/>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هَلْ تَتَغَيَّرُ شَخْصِيَّتُكَ فِي المَدْرَسَةِ وَالبَيْتِ؟</a:t>
            </a:r>
            <a:endParaRPr lang="ar-SA" sz="1800" dirty="0"/>
          </a:p>
        </p:txBody>
      </p:sp>
      <p:sp>
        <p:nvSpPr>
          <p:cNvPr id="46" name="Shape 43"/>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7" name="Text 44"/>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8" name="Shape 45"/>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0" name="Text 47"/>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ea typeface="Amiri" pitchFamily="2" charset="-78"/>
                <a:cs typeface="Amiri" pitchFamily="2" charset="-78"/>
              </a:rPr>
              <a:t>صَدِيقِي ___ وَ ___ . / صَدِيقَتِي ___ ةٌ.</a:t>
            </a:r>
            <a:endParaRPr lang="ar-SA" sz="1600" dirty="0"/>
          </a:p>
        </p:txBody>
      </p:sp>
      <p:sp>
        <p:nvSpPr>
          <p:cNvPr id="51" name="Shape 48"/>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52" name="Text 49"/>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3" name="Text 50"/>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أَهَمُّ صِفَةٍ هِيَ ___ لِأَنَّ ___ .</a:t>
            </a:r>
            <a:endParaRPr lang="ar-SA" sz="1600" dirty="0"/>
          </a:p>
        </p:txBody>
      </p:sp>
      <p:sp>
        <p:nvSpPr>
          <p:cNvPr id="54" name="Shape 51"/>
          <p:cNvSpPr/>
          <p:nvPr/>
        </p:nvSpPr>
        <p:spPr>
          <a:xfrm>
            <a:off x="640080" y="4123944"/>
            <a:ext cx="1051560" cy="256032"/>
          </a:xfrm>
          <a:prstGeom prst="roundRect">
            <a:avLst>
              <a:gd name="adj" fmla="val 50000"/>
            </a:avLst>
          </a:prstGeom>
          <a:solidFill>
            <a:srgbClr val="C9780A"/>
          </a:solidFill>
          <a:ln w="12700">
            <a:solidFill>
              <a:srgbClr val="C9780A"/>
            </a:solidFill>
            <a:prstDash val="solid"/>
          </a:ln>
        </p:spPr>
      </p:sp>
      <p:sp>
        <p:nvSpPr>
          <p:cNvPr id="55" name="Text 52"/>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6" name="Text 53"/>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350" b="1" dirty="0">
                <a:solidFill>
                  <a:srgbClr val="1F2A37"/>
                </a:solidFill>
                <a:latin typeface="Amiri" pitchFamily="2" charset="-78"/>
                <a:ea typeface="Amiri" pitchFamily="2" charset="-78"/>
                <a:cs typeface="Amiri" pitchFamily="2" charset="-78"/>
              </a:rPr>
              <a:t>هُوَ مُتَعَاوِنٌ لِأَنَّهُ ___ . / هِيَ … لِأَنَّهَا ___ .</a:t>
            </a:r>
            <a:endParaRPr lang="ar-SA" sz="1350" dirty="0"/>
          </a:p>
        </p:txBody>
      </p:sp>
      <p:sp>
        <p:nvSpPr>
          <p:cNvPr id="57" name="Shape 54"/>
          <p:cNvSpPr/>
          <p:nvPr/>
        </p:nvSpPr>
        <p:spPr>
          <a:xfrm>
            <a:off x="640080" y="4681728"/>
            <a:ext cx="1051560" cy="256032"/>
          </a:xfrm>
          <a:prstGeom prst="roundRect">
            <a:avLst>
              <a:gd name="adj" fmla="val 50000"/>
            </a:avLst>
          </a:prstGeom>
          <a:solidFill>
            <a:srgbClr val="B83227"/>
          </a:solidFill>
          <a:ln w="12700">
            <a:solidFill>
              <a:srgbClr val="B83227"/>
            </a:solidFill>
            <a:prstDash val="solid"/>
          </a:ln>
        </p:spPr>
      </p:sp>
      <p:sp>
        <p:nvSpPr>
          <p:cNvPr id="58" name="Text 55"/>
          <p:cNvSpPr txBox="1"/>
          <p:nvPr/>
        </p:nvSpPr>
        <p:spPr>
          <a:xfrm>
            <a:off x="640080" y="4681728"/>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9" name="Text 56"/>
          <p:cNvSpPr txBox="1"/>
          <p:nvPr/>
        </p:nvSpPr>
        <p:spPr>
          <a:xfrm>
            <a:off x="1783080" y="4526280"/>
            <a:ext cx="2697480" cy="557784"/>
          </a:xfrm>
          <a:prstGeom prst="rect">
            <a:avLst/>
          </a:prstGeom>
          <a:noFill/>
          <a:ln/>
        </p:spPr>
        <p:txBody>
          <a:bodyPr wrap="square" lIns="0" tIns="0" rIns="0" bIns="0" rtlCol="0" anchor="ctr"/>
          <a:lstStyle/>
          <a:p>
            <a:pPr rtl="1" algn="r" indent="0" marL="0">
              <a:buNone/>
            </a:pPr>
            <a:r>
              <a:rPr lang="ar-SA" altLang="en-US" sz="1300" b="1" dirty="0">
                <a:solidFill>
                  <a:srgbClr val="1F2A37"/>
                </a:solidFill>
                <a:latin typeface="Amiri" pitchFamily="2" charset="-78"/>
                <a:ea typeface="Amiri" pitchFamily="2" charset="-78"/>
                <a:cs typeface="Amiri" pitchFamily="2" charset="-78"/>
              </a:rPr>
              <a:t>فِي المَدْرَسَةِ أَنَا ___ ، وَلٰكِنْ فِي البَيْتِ ___ .</a:t>
            </a:r>
            <a:endParaRPr lang="ar-SA" sz="1300" dirty="0"/>
          </a:p>
        </p:txBody>
      </p:sp>
      <p:sp>
        <p:nvSpPr>
          <p:cNvPr id="60" name="Shape 57"/>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62" name="Shape 59"/>
          <p:cNvSpPr/>
          <p:nvPr/>
        </p:nvSpPr>
        <p:spPr>
          <a:xfrm>
            <a:off x="11274552" y="5559552"/>
            <a:ext cx="292608" cy="292608"/>
          </a:xfrm>
          <a:prstGeom prst="ellipse">
            <a:avLst/>
          </a:prstGeom>
          <a:solidFill>
            <a:srgbClr val="1E6B52"/>
          </a:solidFill>
          <a:ln w="12700">
            <a:solidFill>
              <a:srgbClr val="1E6B52"/>
            </a:solidFill>
            <a:prstDash val="solid"/>
          </a:ln>
        </p:spPr>
      </p:sp>
      <p:sp>
        <p:nvSpPr>
          <p:cNvPr id="63" name="Text 60"/>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64" name="Text 61"/>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كَيْفَ هِيَ صَدِيقَتُكَ؟</a:t>
            </a:r>
            <a:endParaRPr lang="ar-SA" sz="1550" dirty="0"/>
          </a:p>
        </p:txBody>
      </p:sp>
      <p:sp>
        <p:nvSpPr>
          <p:cNvPr id="65" name="Text 62"/>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What is your friend (f.) like?</a:t>
            </a:r>
            <a:endParaRPr lang="en-US" sz="950" dirty="0"/>
          </a:p>
        </p:txBody>
      </p:sp>
      <p:sp>
        <p:nvSpPr>
          <p:cNvPr id="66" name="Shape 63"/>
          <p:cNvSpPr/>
          <p:nvPr/>
        </p:nvSpPr>
        <p:spPr>
          <a:xfrm>
            <a:off x="11274552" y="5925312"/>
            <a:ext cx="292608" cy="292608"/>
          </a:xfrm>
          <a:prstGeom prst="ellipse">
            <a:avLst/>
          </a:prstGeom>
          <a:solidFill>
            <a:srgbClr val="1E6B52"/>
          </a:solidFill>
          <a:ln w="12700">
            <a:solidFill>
              <a:srgbClr val="1E6B52"/>
            </a:solidFill>
            <a:prstDash val="solid"/>
          </a:ln>
        </p:spPr>
      </p:sp>
      <p:sp>
        <p:nvSpPr>
          <p:cNvPr id="67" name="Text 64"/>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8" name="Text 65"/>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هِيَ وَدُودَةٌ وَصَبُورَةٌ جِدًّا.</a:t>
            </a:r>
            <a:endParaRPr lang="ar-SA" sz="1550" dirty="0"/>
          </a:p>
        </p:txBody>
      </p:sp>
      <p:sp>
        <p:nvSpPr>
          <p:cNvPr id="69" name="Text 66"/>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She is friendly and very patient.</a:t>
            </a:r>
            <a:endParaRPr lang="en-US" sz="9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45</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D2-L01 · Personality</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D2-L01</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5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Secure the main vocabulary and produce four accurate sentences using the taught frame.</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One boy and one girl: three adjectives each (check the ending!) and one “because he / she …”.</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8 sentences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Combine description, grammar and a reason in connected answers.</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Two people with degree (very / somewhat / not very), evidence for two adjectives and one contrast.</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100–120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Add comparison, contrast, precise evidence and an independently controlled relative clause.</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task: two people, six adjectives, evidence, a contrast and the most important quality in your opinion.</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45</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D2-L01 · Personality</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D2-L01</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هُوَ ______ جِدًّا.</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He is very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هِيَ ______ ـةٌ نَوْعًا مَا.</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She is somewhat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هُوَ لَيْسَ ______ ـًا جِدًّا.</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He is not very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______ ، وَلٰكِنَّهَا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but she is …</a:t>
            </a:r>
            <a:endParaRPr lang="en-US" sz="1050" dirty="0"/>
          </a:p>
        </p:txBody>
      </p:sp>
      <p:sp>
        <p:nvSpPr>
          <p:cNvPr id="26" name="Text 23"/>
          <p:cNvSpPr txBox="1"/>
          <p:nvPr/>
        </p:nvSpPr>
        <p:spPr>
          <a:xfrm>
            <a:off x="2468880"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رَأْيِي، أَهَمُّ صِفَةٍ هِيَ ______ .</a:t>
            </a:r>
            <a:endParaRPr lang="ar-SA" sz="1800" dirty="0"/>
          </a:p>
        </p:txBody>
      </p:sp>
      <p:sp>
        <p:nvSpPr>
          <p:cNvPr id="27" name="Text 24"/>
          <p:cNvSpPr txBox="1"/>
          <p:nvPr/>
        </p:nvSpPr>
        <p:spPr>
          <a:xfrm>
            <a:off x="594360"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my opinion, the most important quality is …</a:t>
            </a:r>
            <a:endParaRPr lang="en-US" sz="1050" dirty="0"/>
          </a:p>
        </p:txBody>
      </p:sp>
      <p:sp>
        <p:nvSpPr>
          <p:cNvPr id="28" name="Shape 25"/>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1" name="Text 28"/>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صَدِيقِي ______ وَ ______ .</a:t>
            </a:r>
            <a:endParaRPr lang="ar-SA" sz="1800" dirty="0"/>
          </a:p>
        </p:txBody>
      </p:sp>
      <p:sp>
        <p:nvSpPr>
          <p:cNvPr id="32" name="Text 29"/>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friend (m.) is … and …</a:t>
            </a:r>
            <a:endParaRPr lang="en-US" sz="1050" dirty="0"/>
          </a:p>
        </p:txBody>
      </p:sp>
      <p:sp>
        <p:nvSpPr>
          <p:cNvPr id="33" name="Text 30"/>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صَدِيقَتِي ______ ـةٌ وَ ______ ـةٌ.</a:t>
            </a:r>
            <a:endParaRPr lang="ar-SA" sz="1800" dirty="0"/>
          </a:p>
        </p:txBody>
      </p:sp>
      <p:sp>
        <p:nvSpPr>
          <p:cNvPr id="34" name="Text 31"/>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friend (f.) is … and …</a:t>
            </a:r>
            <a:endParaRPr lang="en-US" sz="1050" dirty="0"/>
          </a:p>
        </p:txBody>
      </p:sp>
      <p:sp>
        <p:nvSpPr>
          <p:cNvPr id="35" name="Text 32"/>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هُوَ مُتَعَاوِنٌ لِأَنَّهُ ______ .</a:t>
            </a:r>
            <a:endParaRPr lang="ar-SA" sz="1800" dirty="0"/>
          </a:p>
        </p:txBody>
      </p:sp>
      <p:sp>
        <p:nvSpPr>
          <p:cNvPr id="36" name="Text 33"/>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He is helpful because he …</a:t>
            </a:r>
            <a:endParaRPr lang="en-US" sz="1050" dirty="0"/>
          </a:p>
        </p:txBody>
      </p:sp>
      <p:sp>
        <p:nvSpPr>
          <p:cNvPr id="37" name="Text 34"/>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هِيَ صَبُورَةٌ لِأَنَّهَا ______ .</a:t>
            </a:r>
            <a:endParaRPr lang="ar-SA" sz="1800" dirty="0"/>
          </a:p>
        </p:txBody>
      </p:sp>
      <p:sp>
        <p:nvSpPr>
          <p:cNvPr id="38" name="Text 35"/>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She is patient because she …</a:t>
            </a:r>
            <a:endParaRPr lang="en-US" sz="1050" dirty="0"/>
          </a:p>
        </p:txBody>
      </p:sp>
      <p:sp>
        <p:nvSpPr>
          <p:cNvPr id="39" name="Text 36"/>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كَيْفَ هُوَ؟ / كَيْفَ هِيَ؟</a:t>
            </a:r>
            <a:endParaRPr lang="ar-SA" sz="1800" dirty="0"/>
          </a:p>
        </p:txBody>
      </p:sp>
      <p:sp>
        <p:nvSpPr>
          <p:cNvPr id="40" name="Text 37"/>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What is he / she like?</a:t>
            </a:r>
            <a:endParaRPr lang="en-US" sz="1050" dirty="0"/>
          </a:p>
        </p:txBody>
      </p:sp>
      <p:sp>
        <p:nvSpPr>
          <p:cNvPr id="41" name="Shape 38"/>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Text 39"/>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43" name="Text 40"/>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450" b="1" dirty="0">
                <a:solidFill>
                  <a:srgbClr val="1B3B6F"/>
                </a:solidFill>
                <a:latin typeface="Amiri" pitchFamily="2" charset="-78"/>
                <a:ea typeface="Amiri" pitchFamily="2" charset="-78"/>
                <a:cs typeface="Amiri" pitchFamily="2" charset="-78"/>
              </a:rPr>
              <a:t>وَدُودٌ / وَدُودَةٌ  ·  صَادِقٌ / صَادِقَةٌ  ·  صَبُورٌ / صَبُورَةٌ  ·  مُتَعَاوِنٌ / مُتَعَاوِنَةٌ  ·  مُجْتَهِدٌ / مُجْتَهِدَةٌ  ·  مَرِحٌ / مَرِحَةٌ  ·  هَادِئٌ / هَادِئَةٌ  ·  جِدًّا  ·  نَوْعًا مَا  ·  لِأَنَّهُ  ·  لِأَنَّهَا  ·  وَلٰكِنَّ</a:t>
            </a:r>
            <a:endParaRPr lang="ar-SA" sz="14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45</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D2-L01 · Personality</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D2-L01</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100–120 Arabic words describing two people. Include personality adjectives, evidence, one contrast and your opinion about the most important quality.</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Describe two people with accurate gender agreement.</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Use at least six personality adjectives.</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Support at least two adjectives with behaviour.</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Include a contrast and a reason.</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Review adjective endings and pronoun reference.</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FROM THE WEBSITE TEXTS</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هُوَ لَيْسَ كَثِيرَ الكَلَامِ</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he doesn’t talk a lot</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يَسْتَمِعُ إِلَى الآخَرِينَ بِاهْتِمَامٍ</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he listens to others attentively</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أَكْثَرُ هُدُوءًا مِنْ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calmer than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كُلُّ وَاحِدٍ يُظْهِرُ ذٰلِكَ بِطَرِيقَةٍ مُخْتَلِفَةٍ</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each one shows it in a different way</a:t>
            </a:r>
            <a:endParaRPr lang="en-US" sz="1050" dirty="0"/>
          </a:p>
        </p:txBody>
      </p:sp>
      <p:sp>
        <p:nvSpPr>
          <p:cNvPr id="34" name="Text 31"/>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الصِّدْقُ يَبْنِي الثِّقَةَ بَيْنَ النَّاسِ</a:t>
            </a:r>
            <a:endParaRPr lang="ar-SA" sz="1800" dirty="0"/>
          </a:p>
        </p:txBody>
      </p:sp>
      <p:sp>
        <p:nvSpPr>
          <p:cNvPr id="35" name="Text 32"/>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honesty builds trust between people</a:t>
            </a:r>
            <a:endParaRPr lang="en-US" sz="10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45</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D2-L01 · Personality</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D2-L01</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أُرِيدُ أَنْ أَصِفَ صَدِيقَيْنِ لِي. أَحْمَدُ شَخْصٌ هَادِئٌ وَصَادِقٌ، وَهُوَ مُجْتَهِدٌ لِأَنَّهُ يُنَظِّمُ عَمَلَهُ وَيُكْمِلُهُ فِي الوَقْتِ. أَمَّا مَرْيَمُ فَهِيَ مَرِحَةٌ وَوَاثِقَةٌ، وَتُحِبُّ أَنْ تُشَجِّعَ الآخَرِينَ. أَحْمَدُ أَكْثَرُ هُدُوءًا مِنْ مَرْيَمَ، بَيْنَمَا هِيَ أَكْثَرُ اجْتِمَاعِيَّةً مِنْهُ. كِلَاهُمَا مُتَعَاوِنٌ، وَلٰكِنَّ كُلَّ وَاحِدٍ يُظْهِرُ ذٰلِكَ بِطَرِيقَةٍ مُخْتَلِفَةٍ. فِي رَأْيِي، الصِّدْقُ أَهَمُّ صِفَةٍ لِأَنَّهُ يَبْنِي الثِّقَةَ بَيْنَ النَّاسِ.</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I want to describe two friends of mine. Ahmad is a calm and honest person, and he is hard-working because he organises his work and finishes it on time. As for Maryam, she is cheerful and confident, and she likes to encourage others. Ahmad is calmer than Maryam, whereas she is more sociable than him. Both of them are helpful, but each one shows it in a different way. In my opinion, honesty is the most important quality because it builds trust between people.</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three masculine and three feminine adjectives</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evidence with لِأَنَّهُ</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contrast</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the most important quality</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45</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D2-L01 · Personality</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D2-L01</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Every adjective about HER ends in -a(tun).</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gave one reason with “because he / she …”.</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very / somewhat / not very.</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reason pronoun matches the person.</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Every judgement has behaviour as evidence.</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45</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D2-L01 · Personality</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D2-L01</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feminine of </a:t>
            </a:r>
            <a:pPr algn="l" indent="0" marL="0">
              <a:buNone/>
            </a:pPr>
            <a:r>
              <a:rPr lang="ar-SA" altLang="en-US" sz="1650" b="1" dirty="0">
                <a:solidFill>
                  <a:srgbClr val="1B3B6F"/>
                </a:solidFill>
                <a:latin typeface="Amiri" pitchFamily="2" charset="-78"/>
                <a:ea typeface="Amiri" pitchFamily="2" charset="-78"/>
                <a:cs typeface="Amiri" pitchFamily="2" charset="-78"/>
              </a:rPr>
              <a:t>وَدُودٌ</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وَدُودَةٌ</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وَدُودٌ</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وَدُودًا</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هُوَ صَادِقٌ</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يَقُولُ الحَقَّ</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لِأَنَّهَا</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لِأَنَّهُ</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بَيْنَمَا</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evidence?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يُسَاعِدُ زُمَلَاءَهُ.</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هُوَ جَمِيلٌ.</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 رَأْيِي.</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37 / 45</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D2-L01 · Personality</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D2-L01</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feminine of </a:t>
            </a:r>
            <a:pPr algn="l" indent="0" marL="0">
              <a:buNone/>
            </a:pPr>
            <a:r>
              <a:rPr lang="ar-SA" altLang="en-US" sz="1650" b="1" dirty="0">
                <a:solidFill>
                  <a:srgbClr val="1B3B6F"/>
                </a:solidFill>
                <a:latin typeface="Amiri" pitchFamily="2" charset="-78"/>
                <a:ea typeface="Amiri" pitchFamily="2" charset="-78"/>
                <a:cs typeface="Amiri" pitchFamily="2" charset="-78"/>
              </a:rPr>
              <a:t>وَدُودٌ</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وَدُودَةٌ</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وَدُودٌ</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وَدُودًا</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وَدُودَةٌ</a:t>
            </a:r>
            <a:pPr algn="l" indent="0" marL="0">
              <a:buNone/>
            </a:pPr>
            <a:r>
              <a:rPr lang="en-US" sz="1050" i="1" dirty="0">
                <a:solidFill>
                  <a:srgbClr val="8A6D1E"/>
                </a:solidFill>
                <a:latin typeface="Calibri" pitchFamily="34" charset="0"/>
                <a:cs typeface="Amiri" pitchFamily="2" charset="-78"/>
              </a:rPr>
              <a:t> is feminine.</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هُوَ صَادِقٌ</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يَقُولُ الحَقَّ</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لِأَنَّهَا</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لِأَنَّهُ</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بَيْنَمَا</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Masculine reason connector.</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evidence?</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يُسَاعِدُ زُمَلَاءَهُ.</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هُوَ جَمِيلٌ.</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فِي رَأْيِي.</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behaviour can prove a quality.</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38 / 45</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D2-L01 · Personality</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profile with evidence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D2-L01</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صَدِيقِي عُمَرُ شَخْصٌ وَدُودٌ وَصَادِقٌ. هُوَ لَيْسَ كَثِيرَ الكَلَامِ، وَلٰكِنَّهُ يَسْتَمِعُ إِلَى الآخَرِينَ بِاهْتِمَامٍ، لِذٰلِكَ يَثِقُ بِهِ أَصْدِقَاؤُهُ. عُمَرُ مُجْتَهِدٌ جِدًّا فِي دِرَاسَتِهِ، وَهُوَ أَيْضًا مُتَعَاوِنٌ لِأَنَّهُ يَشْرَحُ الوَاجِبَ لِزُمَلَائِهِ. أَحْيَانًا يَكُونُ عَصَبِيًّا قَبْلَ الاِخْتِبَارَاتِ، وَلٰكِنَّهُ يَهْدَأُ بَعْدَ أَنْ يُنَظِّمَ وَقْتَهُ. فِي رَأْيِي، أَفْضَلُ صِفَةٍ فِيهِ هِيَ صِدْقُهُ.</a:t>
            </a:r>
            <a:endParaRPr lang="ar-SA" sz="260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21" name="Text 1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شَخْصٌ</a:t>
            </a:r>
            <a:endParaRPr lang="ar-SA" sz="1600" dirty="0"/>
          </a:p>
        </p:txBody>
      </p:sp>
      <p:sp>
        <p:nvSpPr>
          <p:cNvPr id="22" name="Text 1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 person</a:t>
            </a:r>
            <a:endParaRPr lang="en-US" sz="1050" dirty="0"/>
          </a:p>
        </p:txBody>
      </p:sp>
      <p:sp>
        <p:nvSpPr>
          <p:cNvPr id="23" name="Text 2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لَيْسَ كَثِيرَ الكَلَامِ</a:t>
            </a:r>
            <a:endParaRPr lang="ar-SA" sz="1600" dirty="0"/>
          </a:p>
        </p:txBody>
      </p:sp>
      <p:sp>
        <p:nvSpPr>
          <p:cNvPr id="24" name="Text 2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not very talkative</a:t>
            </a:r>
            <a:endParaRPr lang="en-US" sz="1050" dirty="0"/>
          </a:p>
        </p:txBody>
      </p:sp>
      <p:sp>
        <p:nvSpPr>
          <p:cNvPr id="25" name="Text 2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يَسْتَمِعُ … بِاهْتِمَامٍ</a:t>
            </a:r>
            <a:endParaRPr lang="ar-SA" sz="1600" dirty="0"/>
          </a:p>
        </p:txBody>
      </p:sp>
      <p:sp>
        <p:nvSpPr>
          <p:cNvPr id="26" name="Text 2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listens carefully</a:t>
            </a:r>
            <a:endParaRPr lang="en-US" sz="1050" dirty="0"/>
          </a:p>
        </p:txBody>
      </p:sp>
      <p:sp>
        <p:nvSpPr>
          <p:cNvPr id="27" name="Text 2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يَثِقُ بِهِ</a:t>
            </a:r>
            <a:endParaRPr lang="ar-SA" sz="1600" dirty="0"/>
          </a:p>
        </p:txBody>
      </p:sp>
      <p:sp>
        <p:nvSpPr>
          <p:cNvPr id="28" name="Text 2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trust him</a:t>
            </a:r>
            <a:endParaRPr lang="en-US" sz="1050" dirty="0"/>
          </a:p>
        </p:txBody>
      </p:sp>
      <p:sp>
        <p:nvSpPr>
          <p:cNvPr id="29" name="Text 2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دِرَاسَتِهِ</a:t>
            </a:r>
            <a:endParaRPr lang="ar-SA" sz="1600" dirty="0"/>
          </a:p>
        </p:txBody>
      </p:sp>
      <p:sp>
        <p:nvSpPr>
          <p:cNvPr id="30" name="Text 2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his studies</a:t>
            </a:r>
            <a:endParaRPr lang="en-US" sz="1050" dirty="0"/>
          </a:p>
        </p:txBody>
      </p:sp>
      <p:sp>
        <p:nvSpPr>
          <p:cNvPr id="31" name="Text 2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يَشْرَحُ الوَاجِبَ</a:t>
            </a:r>
            <a:endParaRPr lang="ar-SA" sz="1600" dirty="0"/>
          </a:p>
        </p:txBody>
      </p:sp>
      <p:sp>
        <p:nvSpPr>
          <p:cNvPr id="32" name="Text 2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explains the homework</a:t>
            </a:r>
            <a:endParaRPr lang="en-US" sz="1050" dirty="0"/>
          </a:p>
        </p:txBody>
      </p:sp>
      <p:sp>
        <p:nvSpPr>
          <p:cNvPr id="33" name="Text 3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زُمَلَائِهِ</a:t>
            </a:r>
            <a:endParaRPr lang="ar-SA" sz="1600" dirty="0"/>
          </a:p>
        </p:txBody>
      </p:sp>
      <p:sp>
        <p:nvSpPr>
          <p:cNvPr id="34" name="Text 3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his classmates</a:t>
            </a:r>
            <a:endParaRPr lang="en-US" sz="1050" dirty="0"/>
          </a:p>
        </p:txBody>
      </p:sp>
      <p:sp>
        <p:nvSpPr>
          <p:cNvPr id="35" name="Text 3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الاِخْتِبَارَاتِ</a:t>
            </a:r>
            <a:endParaRPr lang="ar-SA" sz="1600" dirty="0"/>
          </a:p>
        </p:txBody>
      </p:sp>
      <p:sp>
        <p:nvSpPr>
          <p:cNvPr id="36" name="Text 3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tests</a:t>
            </a:r>
            <a:endParaRPr lang="en-US" sz="1050" dirty="0"/>
          </a:p>
        </p:txBody>
      </p:sp>
      <p:sp>
        <p:nvSpPr>
          <p:cNvPr id="37" name="Text 3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يَهْدَأُ</a:t>
            </a:r>
            <a:endParaRPr lang="ar-SA" sz="1600" dirty="0"/>
          </a:p>
        </p:txBody>
      </p:sp>
      <p:sp>
        <p:nvSpPr>
          <p:cNvPr id="38" name="Text 3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he calms down</a:t>
            </a:r>
            <a:endParaRPr lang="en-US" sz="1050" dirty="0"/>
          </a:p>
        </p:txBody>
      </p:sp>
      <p:sp>
        <p:nvSpPr>
          <p:cNvPr id="39" name="Text 3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صِدْقُهُ</a:t>
            </a:r>
            <a:endParaRPr lang="ar-SA" sz="1600" dirty="0"/>
          </a:p>
        </p:txBody>
      </p:sp>
      <p:sp>
        <p:nvSpPr>
          <p:cNvPr id="40" name="Text 3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his honesty</a:t>
            </a:r>
            <a:endParaRPr lang="en-US" sz="10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39 / 45</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D2-L01 · Personality</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D2-L01</a:t>
            </a:r>
            <a:endParaRPr lang="en-US" sz="850" dirty="0"/>
          </a:p>
        </p:txBody>
      </p:sp>
      <p:sp>
        <p:nvSpPr>
          <p:cNvPr id="17" name="Shape 14"/>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Omar like socially?</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selfish</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friendly</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loud</a:t>
            </a:r>
            <a:endParaRPr lang="en-US" sz="1250" dirty="0"/>
          </a:p>
        </p:txBody>
      </p:sp>
      <p:sp>
        <p:nvSpPr>
          <p:cNvPr id="30" name="Shape 27"/>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3449574"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do friends trust him?</a:t>
            </a:r>
            <a:endParaRPr lang="en-US" sz="1250" dirty="0"/>
          </a:p>
        </p:txBody>
      </p:sp>
      <p:sp>
        <p:nvSpPr>
          <p:cNvPr id="34" name="Shape 31"/>
          <p:cNvSpPr/>
          <p:nvPr/>
        </p:nvSpPr>
        <p:spPr>
          <a:xfrm>
            <a:off x="3504438"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350443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3833622"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buys clothes.</a:t>
            </a:r>
            <a:endParaRPr lang="en-US" sz="1250" dirty="0"/>
          </a:p>
        </p:txBody>
      </p:sp>
      <p:sp>
        <p:nvSpPr>
          <p:cNvPr id="37" name="Shape 34"/>
          <p:cNvSpPr/>
          <p:nvPr/>
        </p:nvSpPr>
        <p:spPr>
          <a:xfrm>
            <a:off x="3504438"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350443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3833622"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is tall.</a:t>
            </a:r>
            <a:endParaRPr lang="en-US" sz="1250" dirty="0"/>
          </a:p>
        </p:txBody>
      </p:sp>
      <p:sp>
        <p:nvSpPr>
          <p:cNvPr id="40" name="Shape 37"/>
          <p:cNvSpPr/>
          <p:nvPr/>
        </p:nvSpPr>
        <p:spPr>
          <a:xfrm>
            <a:off x="3504438"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350443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3833622"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listens carefully.</a:t>
            </a:r>
            <a:endParaRPr lang="en-US" sz="1250" dirty="0"/>
          </a:p>
        </p:txBody>
      </p:sp>
      <p:sp>
        <p:nvSpPr>
          <p:cNvPr id="43" name="Shape 40"/>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6313932"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he do for classmates?</a:t>
            </a:r>
            <a:endParaRPr lang="en-US" sz="1250" dirty="0"/>
          </a:p>
        </p:txBody>
      </p:sp>
      <p:sp>
        <p:nvSpPr>
          <p:cNvPr id="47" name="Shape 44"/>
          <p:cNvSpPr/>
          <p:nvPr/>
        </p:nvSpPr>
        <p:spPr>
          <a:xfrm>
            <a:off x="6368796"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6697980"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explains homework</a:t>
            </a:r>
            <a:endParaRPr lang="en-US" sz="1250" dirty="0"/>
          </a:p>
        </p:txBody>
      </p:sp>
      <p:sp>
        <p:nvSpPr>
          <p:cNvPr id="50" name="Shape 47"/>
          <p:cNvSpPr/>
          <p:nvPr/>
        </p:nvSpPr>
        <p:spPr>
          <a:xfrm>
            <a:off x="6368796"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6697980"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plays football</a:t>
            </a:r>
            <a:endParaRPr lang="en-US" sz="1250" dirty="0"/>
          </a:p>
        </p:txBody>
      </p:sp>
      <p:sp>
        <p:nvSpPr>
          <p:cNvPr id="53" name="Shape 50"/>
          <p:cNvSpPr/>
          <p:nvPr/>
        </p:nvSpPr>
        <p:spPr>
          <a:xfrm>
            <a:off x="6368796"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6697980"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cooks</a:t>
            </a:r>
            <a:endParaRPr lang="en-US" sz="1250" dirty="0"/>
          </a:p>
        </p:txBody>
      </p:sp>
      <p:sp>
        <p:nvSpPr>
          <p:cNvPr id="56" name="Shape 53"/>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9178290" y="1947672"/>
            <a:ext cx="310896" cy="310896"/>
          </a:xfrm>
          <a:prstGeom prst="ellipse">
            <a:avLst/>
          </a:prstGeom>
          <a:solidFill>
            <a:srgbClr val="1B3B6F"/>
          </a:solidFill>
          <a:ln w="12700">
            <a:solidFill>
              <a:srgbClr val="1B3B6F"/>
            </a:solidFill>
            <a:prstDash val="solid"/>
          </a:ln>
        </p:spPr>
      </p:sp>
      <p:sp>
        <p:nvSpPr>
          <p:cNvPr id="58" name="Text 55"/>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When is he nervous?</a:t>
            </a:r>
            <a:endParaRPr lang="en-US" sz="1250" dirty="0"/>
          </a:p>
        </p:txBody>
      </p:sp>
      <p:sp>
        <p:nvSpPr>
          <p:cNvPr id="60" name="Shape 57"/>
          <p:cNvSpPr/>
          <p:nvPr/>
        </p:nvSpPr>
        <p:spPr>
          <a:xfrm>
            <a:off x="9233154" y="2532888"/>
            <a:ext cx="256032" cy="256032"/>
          </a:xfrm>
          <a:prstGeom prst="ellipse">
            <a:avLst/>
          </a:prstGeom>
          <a:solidFill>
            <a:srgbClr val="F4F1EA"/>
          </a:solidFill>
          <a:ln w="12700">
            <a:solidFill>
              <a:srgbClr val="F4F1EA"/>
            </a:solidFill>
            <a:prstDash val="solid"/>
          </a:ln>
        </p:spPr>
      </p:sp>
      <p:sp>
        <p:nvSpPr>
          <p:cNvPr id="61" name="Text 58"/>
          <p:cNvSpPr txBox="1"/>
          <p:nvPr/>
        </p:nvSpPr>
        <p:spPr>
          <a:xfrm>
            <a:off x="923315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562338"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at weekends</a:t>
            </a:r>
            <a:endParaRPr lang="en-US" sz="1250" dirty="0"/>
          </a:p>
        </p:txBody>
      </p:sp>
      <p:sp>
        <p:nvSpPr>
          <p:cNvPr id="63" name="Shape 60"/>
          <p:cNvSpPr/>
          <p:nvPr/>
        </p:nvSpPr>
        <p:spPr>
          <a:xfrm>
            <a:off x="9233154" y="2990088"/>
            <a:ext cx="256032" cy="256032"/>
          </a:xfrm>
          <a:prstGeom prst="ellipse">
            <a:avLst/>
          </a:prstGeom>
          <a:solidFill>
            <a:srgbClr val="F4F1EA"/>
          </a:solidFill>
          <a:ln w="12700">
            <a:solidFill>
              <a:srgbClr val="F4F1EA"/>
            </a:solidFill>
            <a:prstDash val="solid"/>
          </a:ln>
        </p:spPr>
      </p:sp>
      <p:sp>
        <p:nvSpPr>
          <p:cNvPr id="64" name="Text 61"/>
          <p:cNvSpPr txBox="1"/>
          <p:nvPr/>
        </p:nvSpPr>
        <p:spPr>
          <a:xfrm>
            <a:off x="923315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562338"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before tests</a:t>
            </a:r>
            <a:endParaRPr lang="en-US" sz="1250" dirty="0"/>
          </a:p>
        </p:txBody>
      </p:sp>
      <p:sp>
        <p:nvSpPr>
          <p:cNvPr id="66" name="Shape 63"/>
          <p:cNvSpPr/>
          <p:nvPr/>
        </p:nvSpPr>
        <p:spPr>
          <a:xfrm>
            <a:off x="9233154" y="3447288"/>
            <a:ext cx="256032" cy="256032"/>
          </a:xfrm>
          <a:prstGeom prst="ellipse">
            <a:avLst/>
          </a:prstGeom>
          <a:solidFill>
            <a:srgbClr val="F4F1EA"/>
          </a:solidFill>
          <a:ln w="12700">
            <a:solidFill>
              <a:srgbClr val="F4F1EA"/>
            </a:solidFill>
            <a:prstDash val="solid"/>
          </a:ln>
        </p:spPr>
      </p:sp>
      <p:sp>
        <p:nvSpPr>
          <p:cNvPr id="67" name="Text 64"/>
          <p:cNvSpPr txBox="1"/>
          <p:nvPr/>
        </p:nvSpPr>
        <p:spPr>
          <a:xfrm>
            <a:off x="923315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562338"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after lunch</a:t>
            </a:r>
            <a:endParaRPr lang="en-US" sz="1250" dirty="0"/>
          </a:p>
        </p:txBody>
      </p:sp>
      <p:sp>
        <p:nvSpPr>
          <p:cNvPr id="69" name="Shape 66"/>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585216"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helps him calm down?</a:t>
            </a:r>
            <a:endParaRPr lang="en-US" sz="1250" dirty="0"/>
          </a:p>
        </p:txBody>
      </p:sp>
      <p:sp>
        <p:nvSpPr>
          <p:cNvPr id="73" name="Shape 70"/>
          <p:cNvSpPr/>
          <p:nvPr/>
        </p:nvSpPr>
        <p:spPr>
          <a:xfrm>
            <a:off x="640080"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969264"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organising time</a:t>
            </a:r>
            <a:endParaRPr lang="en-US" sz="1250" dirty="0"/>
          </a:p>
        </p:txBody>
      </p:sp>
      <p:sp>
        <p:nvSpPr>
          <p:cNvPr id="76" name="Shape 73"/>
          <p:cNvSpPr/>
          <p:nvPr/>
        </p:nvSpPr>
        <p:spPr>
          <a:xfrm>
            <a:off x="640080"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969264"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sleeping</a:t>
            </a:r>
            <a:endParaRPr lang="en-US" sz="1250" dirty="0"/>
          </a:p>
        </p:txBody>
      </p:sp>
      <p:sp>
        <p:nvSpPr>
          <p:cNvPr id="79" name="Shape 76"/>
          <p:cNvSpPr/>
          <p:nvPr/>
        </p:nvSpPr>
        <p:spPr>
          <a:xfrm>
            <a:off x="640080"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969264"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arguing</a:t>
            </a:r>
            <a:endParaRPr lang="en-US" sz="1250" dirty="0"/>
          </a:p>
        </p:txBody>
      </p:sp>
      <p:sp>
        <p:nvSpPr>
          <p:cNvPr id="82" name="Shape 79"/>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3449574" y="4288536"/>
            <a:ext cx="310896" cy="310896"/>
          </a:xfrm>
          <a:prstGeom prst="ellipse">
            <a:avLst/>
          </a:prstGeom>
          <a:solidFill>
            <a:srgbClr val="1B3B6F"/>
          </a:solidFill>
          <a:ln w="12700">
            <a:solidFill>
              <a:srgbClr val="1B3B6F"/>
            </a:solidFill>
            <a:prstDash val="solid"/>
          </a:ln>
        </p:spPr>
      </p:sp>
      <p:sp>
        <p:nvSpPr>
          <p:cNvPr id="84" name="Text 81"/>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5" name="Text 82"/>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writer value most?</a:t>
            </a:r>
            <a:endParaRPr lang="en-US" sz="1250" dirty="0"/>
          </a:p>
        </p:txBody>
      </p:sp>
      <p:sp>
        <p:nvSpPr>
          <p:cNvPr id="86" name="Shape 83"/>
          <p:cNvSpPr/>
          <p:nvPr/>
        </p:nvSpPr>
        <p:spPr>
          <a:xfrm>
            <a:off x="3504438" y="4873752"/>
            <a:ext cx="256032" cy="256032"/>
          </a:xfrm>
          <a:prstGeom prst="ellipse">
            <a:avLst/>
          </a:prstGeom>
          <a:solidFill>
            <a:srgbClr val="F4F1EA"/>
          </a:solidFill>
          <a:ln w="12700">
            <a:solidFill>
              <a:srgbClr val="F4F1EA"/>
            </a:solidFill>
            <a:prstDash val="solid"/>
          </a:ln>
        </p:spPr>
      </p:sp>
      <p:sp>
        <p:nvSpPr>
          <p:cNvPr id="87" name="Text 84"/>
          <p:cNvSpPr txBox="1"/>
          <p:nvPr/>
        </p:nvSpPr>
        <p:spPr>
          <a:xfrm>
            <a:off x="350443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8" name="Text 85"/>
          <p:cNvSpPr txBox="1"/>
          <p:nvPr/>
        </p:nvSpPr>
        <p:spPr>
          <a:xfrm>
            <a:off x="3833622"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confidence</a:t>
            </a:r>
            <a:endParaRPr lang="en-US" sz="1250" dirty="0"/>
          </a:p>
        </p:txBody>
      </p:sp>
      <p:sp>
        <p:nvSpPr>
          <p:cNvPr id="89" name="Shape 86"/>
          <p:cNvSpPr/>
          <p:nvPr/>
        </p:nvSpPr>
        <p:spPr>
          <a:xfrm>
            <a:off x="3504438" y="5330952"/>
            <a:ext cx="256032" cy="256032"/>
          </a:xfrm>
          <a:prstGeom prst="ellipse">
            <a:avLst/>
          </a:prstGeom>
          <a:solidFill>
            <a:srgbClr val="F4F1EA"/>
          </a:solidFill>
          <a:ln w="12700">
            <a:solidFill>
              <a:srgbClr val="F4F1EA"/>
            </a:solidFill>
            <a:prstDash val="solid"/>
          </a:ln>
        </p:spPr>
      </p:sp>
      <p:sp>
        <p:nvSpPr>
          <p:cNvPr id="90" name="Text 87"/>
          <p:cNvSpPr txBox="1"/>
          <p:nvPr/>
        </p:nvSpPr>
        <p:spPr>
          <a:xfrm>
            <a:off x="350443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1" name="Text 88"/>
          <p:cNvSpPr txBox="1"/>
          <p:nvPr/>
        </p:nvSpPr>
        <p:spPr>
          <a:xfrm>
            <a:off x="3833622"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humour</a:t>
            </a:r>
            <a:endParaRPr lang="en-US" sz="1250" dirty="0"/>
          </a:p>
        </p:txBody>
      </p:sp>
      <p:sp>
        <p:nvSpPr>
          <p:cNvPr id="92" name="Shape 89"/>
          <p:cNvSpPr/>
          <p:nvPr/>
        </p:nvSpPr>
        <p:spPr>
          <a:xfrm>
            <a:off x="3504438" y="5788152"/>
            <a:ext cx="256032" cy="256032"/>
          </a:xfrm>
          <a:prstGeom prst="ellipse">
            <a:avLst/>
          </a:prstGeom>
          <a:solidFill>
            <a:srgbClr val="F4F1EA"/>
          </a:solidFill>
          <a:ln w="12700">
            <a:solidFill>
              <a:srgbClr val="F4F1EA"/>
            </a:solidFill>
            <a:prstDash val="solid"/>
          </a:ln>
        </p:spPr>
      </p:sp>
      <p:sp>
        <p:nvSpPr>
          <p:cNvPr id="93" name="Text 90"/>
          <p:cNvSpPr txBox="1"/>
          <p:nvPr/>
        </p:nvSpPr>
        <p:spPr>
          <a:xfrm>
            <a:off x="350443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4" name="Text 91"/>
          <p:cNvSpPr txBox="1"/>
          <p:nvPr/>
        </p:nvSpPr>
        <p:spPr>
          <a:xfrm>
            <a:off x="3833622"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honesty</a:t>
            </a:r>
            <a:endParaRPr lang="en-US" sz="1250" dirty="0"/>
          </a:p>
        </p:txBody>
      </p:sp>
      <p:sp>
        <p:nvSpPr>
          <p:cNvPr id="95" name="Shape 92"/>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6" name="Text 93"/>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97" name="Text 94"/>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98" name="Text 9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40 / 45</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D2-L01 · Personality</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D2-L01</a:t>
            </a:r>
            <a:endParaRPr lang="en-US" sz="850" dirty="0"/>
          </a:p>
        </p:txBody>
      </p:sp>
      <p:sp>
        <p:nvSpPr>
          <p:cNvPr id="17" name="Shape 14"/>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Omar like socially?</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selfish</a:t>
            </a:r>
            <a:endParaRPr lang="en-US" sz="1250" dirty="0"/>
          </a:p>
        </p:txBody>
      </p:sp>
      <p:sp>
        <p:nvSpPr>
          <p:cNvPr id="24" name="Shape 21"/>
          <p:cNvSpPr/>
          <p:nvPr/>
        </p:nvSpPr>
        <p:spPr>
          <a:xfrm>
            <a:off x="548640" y="2825496"/>
            <a:ext cx="2498598"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7" name="Text 24"/>
          <p:cNvSpPr txBox="1"/>
          <p:nvPr/>
        </p:nvSpPr>
        <p:spPr>
          <a:xfrm>
            <a:off x="969264" y="280416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friendly</a:t>
            </a:r>
            <a:endParaRPr lang="en-US" sz="125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loud</a:t>
            </a:r>
            <a:endParaRPr lang="en-US" sz="1250" dirty="0"/>
          </a:p>
        </p:txBody>
      </p:sp>
      <p:sp>
        <p:nvSpPr>
          <p:cNvPr id="31" name="Text 28"/>
          <p:cNvSpPr txBox="1"/>
          <p:nvPr/>
        </p:nvSpPr>
        <p:spPr>
          <a:xfrm>
            <a:off x="585216" y="3566160"/>
            <a:ext cx="2425446"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وَدُودٌ</a:t>
            </a:r>
            <a:pPr algn="l" indent="0" marL="0">
              <a:buNone/>
            </a:pPr>
            <a:r>
              <a:rPr lang="en-US" sz="1050" i="1" dirty="0">
                <a:solidFill>
                  <a:srgbClr val="8A6D1E"/>
                </a:solidFill>
                <a:latin typeface="Calibri" pitchFamily="34" charset="0"/>
                <a:cs typeface="Amiri" pitchFamily="2" charset="-78"/>
              </a:rPr>
              <a:t> means friendly.</a:t>
            </a:r>
            <a:endParaRPr lang="en-US" sz="1050" dirty="0"/>
          </a:p>
        </p:txBody>
      </p:sp>
      <p:sp>
        <p:nvSpPr>
          <p:cNvPr id="32" name="Shape 29"/>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3449574"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do friends trust him?</a:t>
            </a:r>
            <a:endParaRPr lang="en-US" sz="1250" dirty="0"/>
          </a:p>
        </p:txBody>
      </p:sp>
      <p:sp>
        <p:nvSpPr>
          <p:cNvPr id="36" name="Shape 33"/>
          <p:cNvSpPr/>
          <p:nvPr/>
        </p:nvSpPr>
        <p:spPr>
          <a:xfrm>
            <a:off x="3504438"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350443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3833622"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 buys clothes.</a:t>
            </a:r>
            <a:endParaRPr lang="en-US" sz="1250" dirty="0"/>
          </a:p>
        </p:txBody>
      </p:sp>
      <p:sp>
        <p:nvSpPr>
          <p:cNvPr id="39" name="Shape 36"/>
          <p:cNvSpPr/>
          <p:nvPr/>
        </p:nvSpPr>
        <p:spPr>
          <a:xfrm>
            <a:off x="3504438"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350443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3833622"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 is tall.</a:t>
            </a:r>
            <a:endParaRPr lang="en-US" sz="1250" dirty="0"/>
          </a:p>
        </p:txBody>
      </p:sp>
      <p:sp>
        <p:nvSpPr>
          <p:cNvPr id="42" name="Shape 39"/>
          <p:cNvSpPr/>
          <p:nvPr/>
        </p:nvSpPr>
        <p:spPr>
          <a:xfrm>
            <a:off x="3412998" y="3197352"/>
            <a:ext cx="2498598"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3504438"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350443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5" name="Text 42"/>
          <p:cNvSpPr txBox="1"/>
          <p:nvPr/>
        </p:nvSpPr>
        <p:spPr>
          <a:xfrm>
            <a:off x="3833622" y="3176016"/>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He listens carefully.</a:t>
            </a:r>
            <a:endParaRPr lang="en-US" sz="1250" dirty="0"/>
          </a:p>
        </p:txBody>
      </p:sp>
      <p:sp>
        <p:nvSpPr>
          <p:cNvPr id="46" name="Text 43"/>
          <p:cNvSpPr txBox="1"/>
          <p:nvPr/>
        </p:nvSpPr>
        <p:spPr>
          <a:xfrm>
            <a:off x="3449574" y="3566160"/>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evidence is listening carefully.</a:t>
            </a:r>
            <a:endParaRPr lang="en-US" sz="1050" dirty="0"/>
          </a:p>
        </p:txBody>
      </p:sp>
      <p:sp>
        <p:nvSpPr>
          <p:cNvPr id="47" name="Shape 44"/>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6313932"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he do for classmates?</a:t>
            </a:r>
            <a:endParaRPr lang="en-US" sz="1250" dirty="0"/>
          </a:p>
        </p:txBody>
      </p:sp>
      <p:sp>
        <p:nvSpPr>
          <p:cNvPr id="51" name="Shape 48"/>
          <p:cNvSpPr/>
          <p:nvPr/>
        </p:nvSpPr>
        <p:spPr>
          <a:xfrm>
            <a:off x="6277356" y="2453640"/>
            <a:ext cx="2498598"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6368796"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4" name="Text 51"/>
          <p:cNvSpPr txBox="1"/>
          <p:nvPr/>
        </p:nvSpPr>
        <p:spPr>
          <a:xfrm>
            <a:off x="6697980" y="243230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explains homework</a:t>
            </a:r>
            <a:endParaRPr lang="en-US" sz="1250" dirty="0"/>
          </a:p>
        </p:txBody>
      </p:sp>
      <p:sp>
        <p:nvSpPr>
          <p:cNvPr id="55" name="Shape 52"/>
          <p:cNvSpPr/>
          <p:nvPr/>
        </p:nvSpPr>
        <p:spPr>
          <a:xfrm>
            <a:off x="6368796"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4"/>
          <p:cNvSpPr txBox="1"/>
          <p:nvPr/>
        </p:nvSpPr>
        <p:spPr>
          <a:xfrm>
            <a:off x="6697980"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plays football</a:t>
            </a:r>
            <a:endParaRPr lang="en-US" sz="1250" dirty="0"/>
          </a:p>
        </p:txBody>
      </p:sp>
      <p:sp>
        <p:nvSpPr>
          <p:cNvPr id="58" name="Shape 55"/>
          <p:cNvSpPr/>
          <p:nvPr/>
        </p:nvSpPr>
        <p:spPr>
          <a:xfrm>
            <a:off x="6368796"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6697980"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cooks</a:t>
            </a:r>
            <a:endParaRPr lang="en-US" sz="1250" dirty="0"/>
          </a:p>
        </p:txBody>
      </p:sp>
      <p:sp>
        <p:nvSpPr>
          <p:cNvPr id="61" name="Text 58"/>
          <p:cNvSpPr txBox="1"/>
          <p:nvPr/>
        </p:nvSpPr>
        <p:spPr>
          <a:xfrm>
            <a:off x="6313932" y="3566160"/>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He explains homework.</a:t>
            </a:r>
            <a:endParaRPr lang="en-US" sz="1050" dirty="0"/>
          </a:p>
        </p:txBody>
      </p:sp>
      <p:sp>
        <p:nvSpPr>
          <p:cNvPr id="62" name="Shape 59"/>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9178290" y="1947672"/>
            <a:ext cx="310896" cy="310896"/>
          </a:xfrm>
          <a:prstGeom prst="ellipse">
            <a:avLst/>
          </a:prstGeom>
          <a:solidFill>
            <a:srgbClr val="1B3B6F"/>
          </a:solidFill>
          <a:ln w="12700">
            <a:solidFill>
              <a:srgbClr val="1B3B6F"/>
            </a:solidFill>
            <a:prstDash val="solid"/>
          </a:ln>
        </p:spPr>
      </p:sp>
      <p:sp>
        <p:nvSpPr>
          <p:cNvPr id="64" name="Text 61"/>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When is he nervous?</a:t>
            </a:r>
            <a:endParaRPr lang="en-US" sz="1250" dirty="0"/>
          </a:p>
        </p:txBody>
      </p:sp>
      <p:sp>
        <p:nvSpPr>
          <p:cNvPr id="66" name="Shape 63"/>
          <p:cNvSpPr/>
          <p:nvPr/>
        </p:nvSpPr>
        <p:spPr>
          <a:xfrm>
            <a:off x="9233154" y="2490216"/>
            <a:ext cx="256032" cy="256032"/>
          </a:xfrm>
          <a:prstGeom prst="ellipse">
            <a:avLst/>
          </a:prstGeom>
          <a:solidFill>
            <a:srgbClr val="C9CED6"/>
          </a:solidFill>
          <a:ln w="12700">
            <a:solidFill>
              <a:srgbClr val="C9CED6"/>
            </a:solidFill>
            <a:prstDash val="solid"/>
          </a:ln>
        </p:spPr>
      </p:sp>
      <p:sp>
        <p:nvSpPr>
          <p:cNvPr id="67" name="Text 64"/>
          <p:cNvSpPr txBox="1"/>
          <p:nvPr/>
        </p:nvSpPr>
        <p:spPr>
          <a:xfrm>
            <a:off x="923315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9562338"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at weekends</a:t>
            </a:r>
            <a:endParaRPr lang="en-US" sz="1250" dirty="0"/>
          </a:p>
        </p:txBody>
      </p:sp>
      <p:sp>
        <p:nvSpPr>
          <p:cNvPr id="69" name="Shape 66"/>
          <p:cNvSpPr/>
          <p:nvPr/>
        </p:nvSpPr>
        <p:spPr>
          <a:xfrm>
            <a:off x="9141714" y="2825496"/>
            <a:ext cx="2498598"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9233154" y="2862072"/>
            <a:ext cx="256032" cy="256032"/>
          </a:xfrm>
          <a:prstGeom prst="ellipse">
            <a:avLst/>
          </a:prstGeom>
          <a:solidFill>
            <a:srgbClr val="2E8B57"/>
          </a:solidFill>
          <a:ln w="12700">
            <a:solidFill>
              <a:srgbClr val="2E8B57"/>
            </a:solidFill>
            <a:prstDash val="solid"/>
          </a:ln>
        </p:spPr>
      </p:sp>
      <p:sp>
        <p:nvSpPr>
          <p:cNvPr id="71" name="Text 68"/>
          <p:cNvSpPr txBox="1"/>
          <p:nvPr/>
        </p:nvSpPr>
        <p:spPr>
          <a:xfrm>
            <a:off x="9233154"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2" name="Text 69"/>
          <p:cNvSpPr txBox="1"/>
          <p:nvPr/>
        </p:nvSpPr>
        <p:spPr>
          <a:xfrm>
            <a:off x="9562338" y="280416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before tests</a:t>
            </a:r>
            <a:endParaRPr lang="en-US" sz="1250" dirty="0"/>
          </a:p>
        </p:txBody>
      </p:sp>
      <p:sp>
        <p:nvSpPr>
          <p:cNvPr id="73" name="Shape 70"/>
          <p:cNvSpPr/>
          <p:nvPr/>
        </p:nvSpPr>
        <p:spPr>
          <a:xfrm>
            <a:off x="9233154" y="3233928"/>
            <a:ext cx="256032" cy="256032"/>
          </a:xfrm>
          <a:prstGeom prst="ellipse">
            <a:avLst/>
          </a:prstGeom>
          <a:solidFill>
            <a:srgbClr val="C9CED6"/>
          </a:solidFill>
          <a:ln w="12700">
            <a:solidFill>
              <a:srgbClr val="C9CED6"/>
            </a:solidFill>
            <a:prstDash val="solid"/>
          </a:ln>
        </p:spPr>
      </p:sp>
      <p:sp>
        <p:nvSpPr>
          <p:cNvPr id="74" name="Text 71"/>
          <p:cNvSpPr txBox="1"/>
          <p:nvPr/>
        </p:nvSpPr>
        <p:spPr>
          <a:xfrm>
            <a:off x="923315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9562338"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after lunch</a:t>
            </a:r>
            <a:endParaRPr lang="en-US" sz="1250" dirty="0"/>
          </a:p>
        </p:txBody>
      </p:sp>
      <p:sp>
        <p:nvSpPr>
          <p:cNvPr id="76" name="Text 73"/>
          <p:cNvSpPr txBox="1"/>
          <p:nvPr/>
        </p:nvSpPr>
        <p:spPr>
          <a:xfrm>
            <a:off x="9178290"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قَبْلَ الاِخْتِبَارَاتِ.</a:t>
            </a:r>
            <a:endParaRPr lang="ar-SA" sz="1350" dirty="0"/>
          </a:p>
        </p:txBody>
      </p:sp>
      <p:sp>
        <p:nvSpPr>
          <p:cNvPr id="77" name="Shape 74"/>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585216"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7"/>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helps him calm down?</a:t>
            </a:r>
            <a:endParaRPr lang="en-US" sz="1250" dirty="0"/>
          </a:p>
        </p:txBody>
      </p:sp>
      <p:sp>
        <p:nvSpPr>
          <p:cNvPr id="81" name="Shape 78"/>
          <p:cNvSpPr/>
          <p:nvPr/>
        </p:nvSpPr>
        <p:spPr>
          <a:xfrm>
            <a:off x="548640" y="4794504"/>
            <a:ext cx="2498598"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640080"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1"/>
          <p:cNvSpPr txBox="1"/>
          <p:nvPr/>
        </p:nvSpPr>
        <p:spPr>
          <a:xfrm>
            <a:off x="969264" y="4773168"/>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organising time</a:t>
            </a:r>
            <a:endParaRPr lang="en-US" sz="1250" dirty="0"/>
          </a:p>
        </p:txBody>
      </p:sp>
      <p:sp>
        <p:nvSpPr>
          <p:cNvPr id="85" name="Shape 82"/>
          <p:cNvSpPr/>
          <p:nvPr/>
        </p:nvSpPr>
        <p:spPr>
          <a:xfrm>
            <a:off x="640080"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4"/>
          <p:cNvSpPr txBox="1"/>
          <p:nvPr/>
        </p:nvSpPr>
        <p:spPr>
          <a:xfrm>
            <a:off x="969264"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sleeping</a:t>
            </a:r>
            <a:endParaRPr lang="en-US" sz="1250" dirty="0"/>
          </a:p>
        </p:txBody>
      </p:sp>
      <p:sp>
        <p:nvSpPr>
          <p:cNvPr id="88" name="Shape 85"/>
          <p:cNvSpPr/>
          <p:nvPr/>
        </p:nvSpPr>
        <p:spPr>
          <a:xfrm>
            <a:off x="640080"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7"/>
          <p:cNvSpPr txBox="1"/>
          <p:nvPr/>
        </p:nvSpPr>
        <p:spPr>
          <a:xfrm>
            <a:off x="969264"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arguing</a:t>
            </a:r>
            <a:endParaRPr lang="en-US" sz="1250" dirty="0"/>
          </a:p>
        </p:txBody>
      </p:sp>
      <p:sp>
        <p:nvSpPr>
          <p:cNvPr id="91" name="Text 88"/>
          <p:cNvSpPr txBox="1"/>
          <p:nvPr/>
        </p:nvSpPr>
        <p:spPr>
          <a:xfrm>
            <a:off x="585216" y="5907024"/>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He organises his time.</a:t>
            </a:r>
            <a:endParaRPr lang="en-US" sz="1050" dirty="0"/>
          </a:p>
        </p:txBody>
      </p:sp>
      <p:sp>
        <p:nvSpPr>
          <p:cNvPr id="92" name="Shape 89"/>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3" name="Shape 90"/>
          <p:cNvSpPr/>
          <p:nvPr/>
        </p:nvSpPr>
        <p:spPr>
          <a:xfrm>
            <a:off x="3449574" y="4288536"/>
            <a:ext cx="310896" cy="310896"/>
          </a:xfrm>
          <a:prstGeom prst="ellipse">
            <a:avLst/>
          </a:prstGeom>
          <a:solidFill>
            <a:srgbClr val="1B3B6F"/>
          </a:solidFill>
          <a:ln w="12700">
            <a:solidFill>
              <a:srgbClr val="1B3B6F"/>
            </a:solidFill>
            <a:prstDash val="solid"/>
          </a:ln>
        </p:spPr>
      </p:sp>
      <p:sp>
        <p:nvSpPr>
          <p:cNvPr id="94" name="Text 91"/>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5" name="Text 92"/>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writer value most?</a:t>
            </a:r>
            <a:endParaRPr lang="en-US" sz="1250" dirty="0"/>
          </a:p>
        </p:txBody>
      </p:sp>
      <p:sp>
        <p:nvSpPr>
          <p:cNvPr id="96" name="Shape 93"/>
          <p:cNvSpPr/>
          <p:nvPr/>
        </p:nvSpPr>
        <p:spPr>
          <a:xfrm>
            <a:off x="3504438" y="4831080"/>
            <a:ext cx="256032" cy="256032"/>
          </a:xfrm>
          <a:prstGeom prst="ellipse">
            <a:avLst/>
          </a:prstGeom>
          <a:solidFill>
            <a:srgbClr val="C9CED6"/>
          </a:solidFill>
          <a:ln w="12700">
            <a:solidFill>
              <a:srgbClr val="C9CED6"/>
            </a:solidFill>
            <a:prstDash val="solid"/>
          </a:ln>
        </p:spPr>
      </p:sp>
      <p:sp>
        <p:nvSpPr>
          <p:cNvPr id="97" name="Text 94"/>
          <p:cNvSpPr txBox="1"/>
          <p:nvPr/>
        </p:nvSpPr>
        <p:spPr>
          <a:xfrm>
            <a:off x="350443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8" name="Text 95"/>
          <p:cNvSpPr txBox="1"/>
          <p:nvPr/>
        </p:nvSpPr>
        <p:spPr>
          <a:xfrm>
            <a:off x="3833622" y="4773168"/>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confidence</a:t>
            </a:r>
            <a:endParaRPr lang="en-US" sz="1250" dirty="0"/>
          </a:p>
        </p:txBody>
      </p:sp>
      <p:sp>
        <p:nvSpPr>
          <p:cNvPr id="99" name="Shape 96"/>
          <p:cNvSpPr/>
          <p:nvPr/>
        </p:nvSpPr>
        <p:spPr>
          <a:xfrm>
            <a:off x="3504438" y="5202936"/>
            <a:ext cx="256032" cy="256032"/>
          </a:xfrm>
          <a:prstGeom prst="ellipse">
            <a:avLst/>
          </a:prstGeom>
          <a:solidFill>
            <a:srgbClr val="C9CED6"/>
          </a:solidFill>
          <a:ln w="12700">
            <a:solidFill>
              <a:srgbClr val="C9CED6"/>
            </a:solidFill>
            <a:prstDash val="solid"/>
          </a:ln>
        </p:spPr>
      </p:sp>
      <p:sp>
        <p:nvSpPr>
          <p:cNvPr id="100" name="Text 97"/>
          <p:cNvSpPr txBox="1"/>
          <p:nvPr/>
        </p:nvSpPr>
        <p:spPr>
          <a:xfrm>
            <a:off x="3504438"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101" name="Text 98"/>
          <p:cNvSpPr txBox="1"/>
          <p:nvPr/>
        </p:nvSpPr>
        <p:spPr>
          <a:xfrm>
            <a:off x="3833622"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humour</a:t>
            </a:r>
            <a:endParaRPr lang="en-US" sz="1250" dirty="0"/>
          </a:p>
        </p:txBody>
      </p:sp>
      <p:sp>
        <p:nvSpPr>
          <p:cNvPr id="102" name="Shape 99"/>
          <p:cNvSpPr/>
          <p:nvPr/>
        </p:nvSpPr>
        <p:spPr>
          <a:xfrm>
            <a:off x="3412998" y="5538216"/>
            <a:ext cx="2498598" cy="347472"/>
          </a:xfrm>
          <a:prstGeom prst="roundRect">
            <a:avLst>
              <a:gd name="adj" fmla="val 15789"/>
            </a:avLst>
          </a:prstGeom>
          <a:solidFill>
            <a:srgbClr val="E6F4EC"/>
          </a:solidFill>
          <a:ln w="9525">
            <a:solidFill>
              <a:srgbClr val="2E8B57"/>
            </a:solidFill>
            <a:prstDash val="solid"/>
          </a:ln>
        </p:spPr>
      </p:sp>
      <p:sp>
        <p:nvSpPr>
          <p:cNvPr id="103" name="Shape 100"/>
          <p:cNvSpPr/>
          <p:nvPr/>
        </p:nvSpPr>
        <p:spPr>
          <a:xfrm>
            <a:off x="3504438" y="5574792"/>
            <a:ext cx="256032" cy="256032"/>
          </a:xfrm>
          <a:prstGeom prst="ellipse">
            <a:avLst/>
          </a:prstGeom>
          <a:solidFill>
            <a:srgbClr val="2E8B57"/>
          </a:solidFill>
          <a:ln w="12700">
            <a:solidFill>
              <a:srgbClr val="2E8B57"/>
            </a:solidFill>
            <a:prstDash val="solid"/>
          </a:ln>
        </p:spPr>
      </p:sp>
      <p:sp>
        <p:nvSpPr>
          <p:cNvPr id="104" name="Text 101"/>
          <p:cNvSpPr txBox="1"/>
          <p:nvPr/>
        </p:nvSpPr>
        <p:spPr>
          <a:xfrm>
            <a:off x="3504438"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105" name="Text 102"/>
          <p:cNvSpPr txBox="1"/>
          <p:nvPr/>
        </p:nvSpPr>
        <p:spPr>
          <a:xfrm>
            <a:off x="3833622" y="551688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honesty</a:t>
            </a:r>
            <a:endParaRPr lang="en-US" sz="1250" dirty="0"/>
          </a:p>
        </p:txBody>
      </p:sp>
      <p:sp>
        <p:nvSpPr>
          <p:cNvPr id="106" name="Text 103"/>
          <p:cNvSpPr txBox="1"/>
          <p:nvPr/>
        </p:nvSpPr>
        <p:spPr>
          <a:xfrm>
            <a:off x="3449574" y="5907024"/>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final sentence names honesty.</a:t>
            </a:r>
            <a:endParaRPr lang="en-US" sz="1050" dirty="0"/>
          </a:p>
        </p:txBody>
      </p:sp>
      <p:sp>
        <p:nvSpPr>
          <p:cNvPr id="107" name="Shape 104"/>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08" name="Text 105"/>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109" name="Text 106"/>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110" name="Text 10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41 / 45</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D2-L01 · Personality</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WEBSITE MISSION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Personality evidence challenge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المُهِمَّةُ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D2-L01</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rtl="1" algn="r" indent="0" marL="0">
              <a:buNone/>
            </a:pPr>
            <a:r>
              <a:rPr lang="ar-SA" altLang="en-US" sz="1250" b="1" dirty="0">
                <a:solidFill>
                  <a:srgbClr val="1B3B6F"/>
                </a:solidFill>
                <a:latin typeface="Amiri" pitchFamily="2" charset="-78"/>
                <a:ea typeface="Amiri" pitchFamily="2" charset="-78"/>
                <a:cs typeface="Amiri" pitchFamily="2" charset="-78"/>
              </a:rPr>
              <a:t>يُسَاعِدُ زُمَلَاءَهُ دَائِمًا. مَا الصِّفَةُ الأَدَقُّ؟</a:t>
            </a:r>
            <a:endParaRPr lang="ar-SA"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أَنَانِيٌّ</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مُتَعَاوِنٌ</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خَجُولٌ</a:t>
            </a:r>
            <a:endParaRPr lang="ar-SA" sz="2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rtl="1" algn="r" indent="0" marL="0">
              <a:buNone/>
            </a:pPr>
            <a:r>
              <a:rPr lang="ar-SA" altLang="en-US" sz="1250" b="1" dirty="0">
                <a:solidFill>
                  <a:srgbClr val="1B3B6F"/>
                </a:solidFill>
                <a:latin typeface="Amiri" pitchFamily="2" charset="-78"/>
                <a:ea typeface="Amiri" pitchFamily="2" charset="-78"/>
                <a:cs typeface="Amiri" pitchFamily="2" charset="-78"/>
              </a:rPr>
              <a:t>لَا تَقُولُ الكَذِبَ أَبَدًا.</a:t>
            </a:r>
            <a:endParaRPr lang="ar-SA"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صَادِقَةٌ</a:t>
            </a:r>
            <a:endParaRPr lang="ar-SA" sz="20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عَصَبِيَّةٌ</a:t>
            </a:r>
            <a:endParaRPr lang="ar-SA" sz="20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كَسُولَةٌ</a:t>
            </a:r>
            <a:endParaRPr lang="ar-SA" sz="20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 about Layla.</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لَيْلَى وَاثِقٌ جِدًّا.</a:t>
            </a:r>
            <a:endParaRPr lang="ar-SA" sz="20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لَيْلَى وَاثِقًا جِدًّا.</a:t>
            </a:r>
            <a:endParaRPr lang="ar-SA" sz="20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لَيْلَى وَاثِقَةٌ جِدًّا.</a:t>
            </a:r>
            <a:endParaRPr lang="ar-SA" sz="20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60" name="Text 57"/>
          <p:cNvSpPr txBox="1"/>
          <p:nvPr/>
        </p:nvSpPr>
        <p:spPr>
          <a:xfrm>
            <a:off x="2406701" y="4224528"/>
            <a:ext cx="1577035" cy="475488"/>
          </a:xfrm>
          <a:prstGeom prst="rect">
            <a:avLst/>
          </a:prstGeom>
          <a:noFill/>
          <a:ln/>
        </p:spPr>
        <p:txBody>
          <a:bodyPr wrap="square" lIns="0" tIns="0" rIns="0" bIns="0" rtlCol="0" anchor="ctr"/>
          <a:lstStyle/>
          <a:p>
            <a:pPr rtl="1" algn="r" indent="0" marL="0">
              <a:buNone/>
            </a:pPr>
            <a:r>
              <a:rPr lang="ar-SA" altLang="en-US" sz="1200" b="1" dirty="0">
                <a:solidFill>
                  <a:srgbClr val="1F2A37"/>
                </a:solidFill>
                <a:latin typeface="Amiri" pitchFamily="2" charset="-78"/>
                <a:ea typeface="Amiri" pitchFamily="2" charset="-78"/>
                <a:cs typeface="Amiri" pitchFamily="2" charset="-78"/>
              </a:rPr>
              <a:t>هُوَ كَرِيمٌ ___ يُقَدِّمُ الهَدَايَا.</a:t>
            </a:r>
            <a:endParaRPr lang="ar-SA" sz="1200" dirty="0"/>
          </a:p>
        </p:txBody>
      </p:sp>
      <p:sp>
        <p:nvSpPr>
          <p:cNvPr id="61" name="Shape 58"/>
          <p:cNvSpPr/>
          <p:nvPr/>
        </p:nvSpPr>
        <p:spPr>
          <a:xfrm>
            <a:off x="640080" y="48737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3" name="Text 60"/>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لِأَنَّهَا</a:t>
            </a:r>
            <a:endParaRPr lang="ar-SA" sz="2050" dirty="0"/>
          </a:p>
        </p:txBody>
      </p:sp>
      <p:sp>
        <p:nvSpPr>
          <p:cNvPr id="64" name="Shape 61"/>
          <p:cNvSpPr/>
          <p:nvPr/>
        </p:nvSpPr>
        <p:spPr>
          <a:xfrm>
            <a:off x="640080" y="53309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6" name="Text 63"/>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أَمَّا</a:t>
            </a:r>
            <a:endParaRPr lang="ar-SA" sz="2050" dirty="0"/>
          </a:p>
        </p:txBody>
      </p:sp>
      <p:sp>
        <p:nvSpPr>
          <p:cNvPr id="67" name="Shape 64"/>
          <p:cNvSpPr/>
          <p:nvPr/>
        </p:nvSpPr>
        <p:spPr>
          <a:xfrm>
            <a:off x="640080" y="5788152"/>
            <a:ext cx="256032" cy="256032"/>
          </a:xfrm>
          <a:prstGeom prst="ellipse">
            <a:avLst/>
          </a:prstGeom>
          <a:solidFill>
            <a:srgbClr val="F4F1EA"/>
          </a:solidFill>
          <a:ln w="12700">
            <a:solidFill>
              <a:srgbClr val="F4F1EA"/>
            </a:solidFill>
            <a:prstDash val="solid"/>
          </a:ln>
        </p:spPr>
      </p:sp>
      <p:sp>
        <p:nvSpPr>
          <p:cNvPr id="68" name="Text 65"/>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9" name="Text 66"/>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لِأَنَّهُ</a:t>
            </a:r>
            <a:endParaRPr lang="ar-SA" sz="2050" dirty="0"/>
          </a:p>
        </p:txBody>
      </p:sp>
      <p:sp>
        <p:nvSpPr>
          <p:cNvPr id="70" name="Shape 67"/>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1" name="Shape 68"/>
          <p:cNvSpPr/>
          <p:nvPr/>
        </p:nvSpPr>
        <p:spPr>
          <a:xfrm>
            <a:off x="4404360" y="4288536"/>
            <a:ext cx="310896" cy="310896"/>
          </a:xfrm>
          <a:prstGeom prst="ellipse">
            <a:avLst/>
          </a:prstGeom>
          <a:solidFill>
            <a:srgbClr val="1B3B6F"/>
          </a:solidFill>
          <a:ln w="12700">
            <a:solidFill>
              <a:srgbClr val="1B3B6F"/>
            </a:solidFill>
            <a:prstDash val="solid"/>
          </a:ln>
        </p:spPr>
      </p:sp>
      <p:sp>
        <p:nvSpPr>
          <p:cNvPr id="72" name="Text 69"/>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3" name="Text 70"/>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response answers </a:t>
            </a:r>
            <a:pPr algn="l" indent="0" marL="0">
              <a:buNone/>
            </a:pPr>
            <a:r>
              <a:rPr lang="ar-SA" altLang="en-US" sz="1650" b="1" dirty="0">
                <a:solidFill>
                  <a:srgbClr val="1B3B6F"/>
                </a:solidFill>
                <a:latin typeface="Amiri" pitchFamily="2" charset="-78"/>
                <a:ea typeface="Amiri" pitchFamily="2" charset="-78"/>
                <a:cs typeface="Amiri" pitchFamily="2" charset="-78"/>
              </a:rPr>
              <a:t>كَيْفَ هِيَ؟</a:t>
            </a:r>
            <a:endParaRPr lang="en-US" sz="1250" dirty="0"/>
          </a:p>
        </p:txBody>
      </p:sp>
      <p:sp>
        <p:nvSpPr>
          <p:cNvPr id="74" name="Shape 71"/>
          <p:cNvSpPr/>
          <p:nvPr/>
        </p:nvSpPr>
        <p:spPr>
          <a:xfrm>
            <a:off x="4459224" y="48737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6" name="Text 73"/>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هِيَ هَادِئَةٌ وَصَبُورَةٌ.</a:t>
            </a:r>
            <a:endParaRPr lang="ar-SA" sz="2050" dirty="0"/>
          </a:p>
        </p:txBody>
      </p:sp>
      <p:sp>
        <p:nvSpPr>
          <p:cNvPr id="77" name="Shape 74"/>
          <p:cNvSpPr/>
          <p:nvPr/>
        </p:nvSpPr>
        <p:spPr>
          <a:xfrm>
            <a:off x="4459224" y="53309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9" name="Text 76"/>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هُوَ هَادِئٌ.</a:t>
            </a:r>
            <a:endParaRPr lang="ar-SA" sz="2050" dirty="0"/>
          </a:p>
        </p:txBody>
      </p:sp>
      <p:sp>
        <p:nvSpPr>
          <p:cNvPr id="80" name="Shape 77"/>
          <p:cNvSpPr/>
          <p:nvPr/>
        </p:nvSpPr>
        <p:spPr>
          <a:xfrm>
            <a:off x="4459224" y="5788152"/>
            <a:ext cx="256032" cy="256032"/>
          </a:xfrm>
          <a:prstGeom prst="ellipse">
            <a:avLst/>
          </a:prstGeom>
          <a:solidFill>
            <a:srgbClr val="F4F1EA"/>
          </a:solidFill>
          <a:ln w="12700">
            <a:solidFill>
              <a:srgbClr val="F4F1EA"/>
            </a:solidFill>
            <a:prstDash val="solid"/>
          </a:ln>
        </p:spPr>
      </p:sp>
      <p:sp>
        <p:nvSpPr>
          <p:cNvPr id="81" name="Text 78"/>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2" name="Text 79"/>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 المَدْرَسَةِ.</a:t>
            </a:r>
            <a:endParaRPr lang="ar-SA" sz="2050" dirty="0"/>
          </a:p>
        </p:txBody>
      </p:sp>
      <p:sp>
        <p:nvSpPr>
          <p:cNvPr id="83" name="Shape 80"/>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4" name="Shape 81"/>
          <p:cNvSpPr/>
          <p:nvPr/>
        </p:nvSpPr>
        <p:spPr>
          <a:xfrm>
            <a:off x="8223504" y="4288536"/>
            <a:ext cx="310896" cy="310896"/>
          </a:xfrm>
          <a:prstGeom prst="ellipse">
            <a:avLst/>
          </a:prstGeom>
          <a:solidFill>
            <a:srgbClr val="1B3B6F"/>
          </a:solidFill>
          <a:ln w="12700">
            <a:solidFill>
              <a:srgbClr val="1B3B6F"/>
            </a:solidFill>
            <a:prstDash val="solid"/>
          </a:ln>
        </p:spPr>
      </p:sp>
      <p:sp>
        <p:nvSpPr>
          <p:cNvPr id="85" name="Text 82"/>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6" name="Text 83"/>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most developed description.</a:t>
            </a:r>
            <a:endParaRPr lang="en-US" sz="1250" dirty="0"/>
          </a:p>
        </p:txBody>
      </p:sp>
      <p:sp>
        <p:nvSpPr>
          <p:cNvPr id="87" name="Shape 84"/>
          <p:cNvSpPr/>
          <p:nvPr/>
        </p:nvSpPr>
        <p:spPr>
          <a:xfrm>
            <a:off x="8278368" y="4873752"/>
            <a:ext cx="256032" cy="256032"/>
          </a:xfrm>
          <a:prstGeom prst="ellipse">
            <a:avLst/>
          </a:prstGeom>
          <a:solidFill>
            <a:srgbClr val="F4F1EA"/>
          </a:solidFill>
          <a:ln w="12700">
            <a:solidFill>
              <a:srgbClr val="F4F1EA"/>
            </a:solidFill>
            <a:prstDash val="solid"/>
          </a:ln>
        </p:spPr>
      </p:sp>
      <p:sp>
        <p:nvSpPr>
          <p:cNvPr id="88" name="Text 85"/>
          <p:cNvSpPr txBox="1"/>
          <p:nvPr/>
        </p:nvSpPr>
        <p:spPr>
          <a:xfrm>
            <a:off x="827836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9" name="Text 86"/>
          <p:cNvSpPr txBox="1"/>
          <p:nvPr/>
        </p:nvSpPr>
        <p:spPr>
          <a:xfrm>
            <a:off x="8607552"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هُوَ وَدُودٌ.</a:t>
            </a:r>
            <a:endParaRPr lang="ar-SA" sz="2050" dirty="0"/>
          </a:p>
        </p:txBody>
      </p:sp>
      <p:sp>
        <p:nvSpPr>
          <p:cNvPr id="90" name="Shape 87"/>
          <p:cNvSpPr/>
          <p:nvPr/>
        </p:nvSpPr>
        <p:spPr>
          <a:xfrm>
            <a:off x="8278368" y="5330952"/>
            <a:ext cx="256032" cy="256032"/>
          </a:xfrm>
          <a:prstGeom prst="ellipse">
            <a:avLst/>
          </a:prstGeom>
          <a:solidFill>
            <a:srgbClr val="F4F1EA"/>
          </a:solidFill>
          <a:ln w="12700">
            <a:solidFill>
              <a:srgbClr val="F4F1EA"/>
            </a:solidFill>
            <a:prstDash val="solid"/>
          </a:ln>
        </p:spPr>
      </p:sp>
      <p:sp>
        <p:nvSpPr>
          <p:cNvPr id="91" name="Text 88"/>
          <p:cNvSpPr txBox="1"/>
          <p:nvPr/>
        </p:nvSpPr>
        <p:spPr>
          <a:xfrm>
            <a:off x="827836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2" name="Text 89"/>
          <p:cNvSpPr txBox="1"/>
          <p:nvPr/>
        </p:nvSpPr>
        <p:spPr>
          <a:xfrm>
            <a:off x="8607552"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هُوَ وَدُودٌ لِأَنَّهُ يَرْحَبُ بِالجَمِيعِ.</a:t>
            </a:r>
            <a:endParaRPr lang="ar-SA" sz="2050" dirty="0"/>
          </a:p>
        </p:txBody>
      </p:sp>
      <p:sp>
        <p:nvSpPr>
          <p:cNvPr id="93" name="Shape 90"/>
          <p:cNvSpPr/>
          <p:nvPr/>
        </p:nvSpPr>
        <p:spPr>
          <a:xfrm>
            <a:off x="8278368" y="5788152"/>
            <a:ext cx="256032" cy="256032"/>
          </a:xfrm>
          <a:prstGeom prst="ellipse">
            <a:avLst/>
          </a:prstGeom>
          <a:solidFill>
            <a:srgbClr val="F4F1EA"/>
          </a:solidFill>
          <a:ln w="12700">
            <a:solidFill>
              <a:srgbClr val="F4F1EA"/>
            </a:solidFill>
            <a:prstDash val="solid"/>
          </a:ln>
        </p:spPr>
      </p:sp>
      <p:sp>
        <p:nvSpPr>
          <p:cNvPr id="94" name="Text 91"/>
          <p:cNvSpPr txBox="1"/>
          <p:nvPr/>
        </p:nvSpPr>
        <p:spPr>
          <a:xfrm>
            <a:off x="827836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5" name="Text 92"/>
          <p:cNvSpPr txBox="1"/>
          <p:nvPr/>
        </p:nvSpPr>
        <p:spPr>
          <a:xfrm>
            <a:off x="8607552"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وَدُودٌ.</a:t>
            </a:r>
            <a:endParaRPr lang="ar-SA" sz="2050" dirty="0"/>
          </a:p>
        </p:txBody>
      </p:sp>
      <p:sp>
        <p:nvSpPr>
          <p:cNvPr id="96" name="Text 9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42 / 45</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D2-L01 · Personality</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MISSION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Mission: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D2-L01</a:t>
            </a:r>
            <a:endParaRPr lang="en-US" sz="850" dirty="0"/>
          </a:p>
        </p:txBody>
      </p:sp>
      <p:sp>
        <p:nvSpPr>
          <p:cNvPr id="16"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7"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8"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9" name="Text 17"/>
          <p:cNvSpPr txBox="1"/>
          <p:nvPr/>
        </p:nvSpPr>
        <p:spPr>
          <a:xfrm>
            <a:off x="950976" y="1883664"/>
            <a:ext cx="3032760" cy="475488"/>
          </a:xfrm>
          <a:prstGeom prst="rect">
            <a:avLst/>
          </a:prstGeom>
          <a:noFill/>
          <a:ln/>
        </p:spPr>
        <p:txBody>
          <a:bodyPr wrap="square" lIns="0" tIns="0" rIns="0" bIns="0" rtlCol="0" anchor="ctr"/>
          <a:lstStyle/>
          <a:p>
            <a:pPr rtl="1" algn="r" indent="0" marL="0">
              <a:buNone/>
            </a:pPr>
            <a:r>
              <a:rPr lang="ar-SA" altLang="en-US" sz="1250" b="1" dirty="0">
                <a:solidFill>
                  <a:srgbClr val="1B3B6F"/>
                </a:solidFill>
                <a:latin typeface="Amiri" pitchFamily="2" charset="-78"/>
                <a:ea typeface="Amiri" pitchFamily="2" charset="-78"/>
                <a:cs typeface="Amiri" pitchFamily="2" charset="-78"/>
              </a:rPr>
              <a:t>يُسَاعِدُ زُمَلَاءَهُ دَائِمًا. مَا الصِّفَةُ الأَدَقُّ؟</a:t>
            </a:r>
            <a:endParaRPr lang="ar-SA" sz="1250" dirty="0"/>
          </a:p>
        </p:txBody>
      </p:sp>
      <p:sp>
        <p:nvSpPr>
          <p:cNvPr id="20"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20"/>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أَنَانِيٌّ</a:t>
            </a:r>
            <a:endParaRPr lang="ar-SA" sz="1700" dirty="0"/>
          </a:p>
        </p:txBody>
      </p:sp>
      <p:sp>
        <p:nvSpPr>
          <p:cNvPr id="23"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4"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5"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6" name="Text 24"/>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مُتَعَاوِنٌ</a:t>
            </a:r>
            <a:endParaRPr lang="ar-SA" sz="1700" dirty="0"/>
          </a:p>
        </p:txBody>
      </p:sp>
      <p:sp>
        <p:nvSpPr>
          <p:cNvPr id="27"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8"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7"/>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خَجُولٌ</a:t>
            </a:r>
            <a:endParaRPr lang="ar-SA" sz="1700" dirty="0"/>
          </a:p>
        </p:txBody>
      </p:sp>
      <p:sp>
        <p:nvSpPr>
          <p:cNvPr id="30" name="Text 28"/>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Helping classmates supports </a:t>
            </a:r>
            <a:pPr algn="l" indent="0" marL="0">
              <a:buNone/>
            </a:pPr>
            <a:r>
              <a:rPr lang="ar-SA" altLang="en-US" sz="1350" dirty="0">
                <a:solidFill>
                  <a:srgbClr val="8A6D1E"/>
                </a:solidFill>
                <a:latin typeface="Amiri" pitchFamily="2" charset="-78"/>
                <a:ea typeface="Amiri" pitchFamily="2" charset="-78"/>
                <a:cs typeface="Amiri" pitchFamily="2" charset="-78"/>
              </a:rPr>
              <a:t>مُتَعَاوِنٌ</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1"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2"/>
          <p:cNvSpPr txBox="1"/>
          <p:nvPr/>
        </p:nvSpPr>
        <p:spPr>
          <a:xfrm>
            <a:off x="4770120" y="1883664"/>
            <a:ext cx="3032760" cy="475488"/>
          </a:xfrm>
          <a:prstGeom prst="rect">
            <a:avLst/>
          </a:prstGeom>
          <a:noFill/>
          <a:ln/>
        </p:spPr>
        <p:txBody>
          <a:bodyPr wrap="square" lIns="0" tIns="0" rIns="0" bIns="0" rtlCol="0" anchor="ctr"/>
          <a:lstStyle/>
          <a:p>
            <a:pPr rtl="1" algn="r" indent="0" marL="0">
              <a:buNone/>
            </a:pPr>
            <a:r>
              <a:rPr lang="ar-SA" altLang="en-US" sz="1250" b="1" dirty="0">
                <a:solidFill>
                  <a:srgbClr val="1B3B6F"/>
                </a:solidFill>
                <a:latin typeface="Amiri" pitchFamily="2" charset="-78"/>
                <a:ea typeface="Amiri" pitchFamily="2" charset="-78"/>
                <a:cs typeface="Amiri" pitchFamily="2" charset="-78"/>
              </a:rPr>
              <a:t>لَا تَقُولُ الكَذِبَ أَبَدًا.</a:t>
            </a:r>
            <a:endParaRPr lang="ar-SA" sz="1250" dirty="0"/>
          </a:p>
        </p:txBody>
      </p:sp>
      <p:sp>
        <p:nvSpPr>
          <p:cNvPr id="35" name="Shape 33"/>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6" name="Shape 34"/>
          <p:cNvSpPr/>
          <p:nvPr/>
        </p:nvSpPr>
        <p:spPr>
          <a:xfrm>
            <a:off x="4459224" y="2490216"/>
            <a:ext cx="256032" cy="256032"/>
          </a:xfrm>
          <a:prstGeom prst="ellipse">
            <a:avLst/>
          </a:prstGeom>
          <a:solidFill>
            <a:srgbClr val="2E8B57"/>
          </a:solidFill>
          <a:ln w="12700">
            <a:solidFill>
              <a:srgbClr val="2E8B57"/>
            </a:solidFill>
            <a:prstDash val="solid"/>
          </a:ln>
        </p:spPr>
      </p:sp>
      <p:sp>
        <p:nvSpPr>
          <p:cNvPr id="37" name="Text 35"/>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8" name="Text 36"/>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صَادِقَةٌ</a:t>
            </a:r>
            <a:endParaRPr lang="ar-SA" sz="1700" dirty="0"/>
          </a:p>
        </p:txBody>
      </p:sp>
      <p:sp>
        <p:nvSpPr>
          <p:cNvPr id="39" name="Shape 37"/>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8"/>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9"/>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عَصَبِيَّةٌ</a:t>
            </a:r>
            <a:endParaRPr lang="ar-SA" sz="1700" dirty="0"/>
          </a:p>
        </p:txBody>
      </p:sp>
      <p:sp>
        <p:nvSpPr>
          <p:cNvPr id="42" name="Shape 40"/>
          <p:cNvSpPr/>
          <p:nvPr/>
        </p:nvSpPr>
        <p:spPr>
          <a:xfrm>
            <a:off x="4459224" y="3233928"/>
            <a:ext cx="256032" cy="256032"/>
          </a:xfrm>
          <a:prstGeom prst="ellipse">
            <a:avLst/>
          </a:prstGeom>
          <a:solidFill>
            <a:srgbClr val="C9CED6"/>
          </a:solidFill>
          <a:ln w="12700">
            <a:solidFill>
              <a:srgbClr val="C9CED6"/>
            </a:solidFill>
            <a:prstDash val="solid"/>
          </a:ln>
        </p:spPr>
      </p:sp>
      <p:sp>
        <p:nvSpPr>
          <p:cNvPr id="43"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2"/>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كَسُولَةٌ</a:t>
            </a:r>
            <a:endParaRPr lang="ar-SA" sz="1700" dirty="0"/>
          </a:p>
        </p:txBody>
      </p:sp>
      <p:sp>
        <p:nvSpPr>
          <p:cNvPr id="45" name="Text 43"/>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Not lying supports honesty.</a:t>
            </a:r>
            <a:endParaRPr lang="en-US" sz="1050" dirty="0"/>
          </a:p>
        </p:txBody>
      </p:sp>
      <p:sp>
        <p:nvSpPr>
          <p:cNvPr id="46"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8"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 about Layla.</a:t>
            </a:r>
            <a:endParaRPr lang="en-US" sz="1250" dirty="0"/>
          </a:p>
        </p:txBody>
      </p:sp>
      <p:sp>
        <p:nvSpPr>
          <p:cNvPr id="50" name="Shape 48"/>
          <p:cNvSpPr/>
          <p:nvPr/>
        </p:nvSpPr>
        <p:spPr>
          <a:xfrm>
            <a:off x="8278368" y="2490216"/>
            <a:ext cx="256032" cy="256032"/>
          </a:xfrm>
          <a:prstGeom prst="ellipse">
            <a:avLst/>
          </a:prstGeom>
          <a:solidFill>
            <a:srgbClr val="C9CED6"/>
          </a:solidFill>
          <a:ln w="12700">
            <a:solidFill>
              <a:srgbClr val="C9CED6"/>
            </a:solidFill>
            <a:prstDash val="solid"/>
          </a:ln>
        </p:spPr>
      </p:sp>
      <p:sp>
        <p:nvSpPr>
          <p:cNvPr id="51" name="Text 49"/>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50"/>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لَيْلَى وَاثِقٌ جِدًّا.</a:t>
            </a:r>
            <a:endParaRPr lang="ar-SA" sz="1700" dirty="0"/>
          </a:p>
        </p:txBody>
      </p:sp>
      <p:sp>
        <p:nvSpPr>
          <p:cNvPr id="53" name="Shape 51"/>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2"/>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3"/>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لَيْلَى وَاثِقًا جِدًّا.</a:t>
            </a:r>
            <a:endParaRPr lang="ar-SA" sz="1700" dirty="0"/>
          </a:p>
        </p:txBody>
      </p:sp>
      <p:sp>
        <p:nvSpPr>
          <p:cNvPr id="56" name="Shape 54"/>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7" name="Shape 55"/>
          <p:cNvSpPr/>
          <p:nvPr/>
        </p:nvSpPr>
        <p:spPr>
          <a:xfrm>
            <a:off x="8278368" y="3233928"/>
            <a:ext cx="256032" cy="256032"/>
          </a:xfrm>
          <a:prstGeom prst="ellipse">
            <a:avLst/>
          </a:prstGeom>
          <a:solidFill>
            <a:srgbClr val="2E8B57"/>
          </a:solidFill>
          <a:ln w="12700">
            <a:solidFill>
              <a:srgbClr val="2E8B57"/>
            </a:solidFill>
            <a:prstDash val="solid"/>
          </a:ln>
        </p:spPr>
      </p:sp>
      <p:sp>
        <p:nvSpPr>
          <p:cNvPr id="58"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9" name="Text 57"/>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لَيْلَى وَاثِقَةٌ جِدًّا.</a:t>
            </a:r>
            <a:endParaRPr lang="ar-SA" sz="1700" dirty="0"/>
          </a:p>
        </p:txBody>
      </p:sp>
      <p:sp>
        <p:nvSpPr>
          <p:cNvPr id="60" name="Text 58"/>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Layla requires feminine agreement.</a:t>
            </a:r>
            <a:endParaRPr lang="en-US" sz="1050" dirty="0"/>
          </a:p>
        </p:txBody>
      </p:sp>
      <p:sp>
        <p:nvSpPr>
          <p:cNvPr id="61"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3"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2"/>
          <p:cNvSpPr txBox="1"/>
          <p:nvPr/>
        </p:nvSpPr>
        <p:spPr>
          <a:xfrm>
            <a:off x="950976"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65" name="Text 63"/>
          <p:cNvSpPr txBox="1"/>
          <p:nvPr/>
        </p:nvSpPr>
        <p:spPr>
          <a:xfrm>
            <a:off x="2406701" y="4224528"/>
            <a:ext cx="1577035" cy="475488"/>
          </a:xfrm>
          <a:prstGeom prst="rect">
            <a:avLst/>
          </a:prstGeom>
          <a:noFill/>
          <a:ln/>
        </p:spPr>
        <p:txBody>
          <a:bodyPr wrap="square" lIns="0" tIns="0" rIns="0" bIns="0" rtlCol="0" anchor="ctr"/>
          <a:lstStyle/>
          <a:p>
            <a:pPr rtl="1" algn="r" indent="0" marL="0">
              <a:buNone/>
            </a:pPr>
            <a:r>
              <a:rPr lang="ar-SA" altLang="en-US" sz="1200" b="1" dirty="0">
                <a:solidFill>
                  <a:srgbClr val="1F2A37"/>
                </a:solidFill>
                <a:latin typeface="Amiri" pitchFamily="2" charset="-78"/>
                <a:ea typeface="Amiri" pitchFamily="2" charset="-78"/>
                <a:cs typeface="Amiri" pitchFamily="2" charset="-78"/>
              </a:rPr>
              <a:t>هُوَ كَرِيمٌ ___ يُقَدِّمُ الهَدَايَا.</a:t>
            </a:r>
            <a:endParaRPr lang="ar-SA" sz="1200" dirty="0"/>
          </a:p>
        </p:txBody>
      </p:sp>
      <p:sp>
        <p:nvSpPr>
          <p:cNvPr id="66" name="Shape 64"/>
          <p:cNvSpPr/>
          <p:nvPr/>
        </p:nvSpPr>
        <p:spPr>
          <a:xfrm>
            <a:off x="640080" y="4831080"/>
            <a:ext cx="256032" cy="256032"/>
          </a:xfrm>
          <a:prstGeom prst="ellipse">
            <a:avLst/>
          </a:prstGeom>
          <a:solidFill>
            <a:srgbClr val="C9CED6"/>
          </a:solidFill>
          <a:ln w="12700">
            <a:solidFill>
              <a:srgbClr val="C9CED6"/>
            </a:solidFill>
            <a:prstDash val="solid"/>
          </a:ln>
        </p:spPr>
      </p:sp>
      <p:sp>
        <p:nvSpPr>
          <p:cNvPr id="67" name="Text 65"/>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6"/>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لِأَنَّهَا</a:t>
            </a:r>
            <a:endParaRPr lang="ar-SA" sz="1700" dirty="0"/>
          </a:p>
        </p:txBody>
      </p:sp>
      <p:sp>
        <p:nvSpPr>
          <p:cNvPr id="69" name="Shape 67"/>
          <p:cNvSpPr/>
          <p:nvPr/>
        </p:nvSpPr>
        <p:spPr>
          <a:xfrm>
            <a:off x="640080" y="5202936"/>
            <a:ext cx="256032" cy="256032"/>
          </a:xfrm>
          <a:prstGeom prst="ellipse">
            <a:avLst/>
          </a:prstGeom>
          <a:solidFill>
            <a:srgbClr val="C9CED6"/>
          </a:solidFill>
          <a:ln w="12700">
            <a:solidFill>
              <a:srgbClr val="C9CED6"/>
            </a:solidFill>
            <a:prstDash val="solid"/>
          </a:ln>
        </p:spPr>
      </p:sp>
      <p:sp>
        <p:nvSpPr>
          <p:cNvPr id="70" name="Text 68"/>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9"/>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أَمَّا</a:t>
            </a:r>
            <a:endParaRPr lang="ar-SA" sz="1700" dirty="0"/>
          </a:p>
        </p:txBody>
      </p:sp>
      <p:sp>
        <p:nvSpPr>
          <p:cNvPr id="72" name="Shape 70"/>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3" name="Shape 71"/>
          <p:cNvSpPr/>
          <p:nvPr/>
        </p:nvSpPr>
        <p:spPr>
          <a:xfrm>
            <a:off x="640080" y="5574792"/>
            <a:ext cx="256032" cy="256032"/>
          </a:xfrm>
          <a:prstGeom prst="ellipse">
            <a:avLst/>
          </a:prstGeom>
          <a:solidFill>
            <a:srgbClr val="2E8B57"/>
          </a:solidFill>
          <a:ln w="12700">
            <a:solidFill>
              <a:srgbClr val="2E8B57"/>
            </a:solidFill>
            <a:prstDash val="solid"/>
          </a:ln>
        </p:spPr>
      </p:sp>
      <p:sp>
        <p:nvSpPr>
          <p:cNvPr id="74" name="Text 72"/>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5" name="Text 73"/>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لِأَنَّهُ</a:t>
            </a:r>
            <a:endParaRPr lang="ar-SA" sz="1700" dirty="0"/>
          </a:p>
        </p:txBody>
      </p:sp>
      <p:sp>
        <p:nvSpPr>
          <p:cNvPr id="76" name="Text 74"/>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masculine reason connector is </a:t>
            </a:r>
            <a:pPr algn="l" indent="0" marL="0">
              <a:buNone/>
            </a:pPr>
            <a:r>
              <a:rPr lang="ar-SA" altLang="en-US" sz="1350" dirty="0">
                <a:solidFill>
                  <a:srgbClr val="8A6D1E"/>
                </a:solidFill>
                <a:latin typeface="Amiri" pitchFamily="2" charset="-78"/>
                <a:ea typeface="Amiri" pitchFamily="2" charset="-78"/>
                <a:cs typeface="Amiri" pitchFamily="2" charset="-78"/>
              </a:rPr>
              <a:t>لِأَنَّهُ</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7" name="Shape 75"/>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6"/>
          <p:cNvSpPr/>
          <p:nvPr/>
        </p:nvSpPr>
        <p:spPr>
          <a:xfrm>
            <a:off x="4404360" y="4288536"/>
            <a:ext cx="310896" cy="310896"/>
          </a:xfrm>
          <a:prstGeom prst="ellipse">
            <a:avLst/>
          </a:prstGeom>
          <a:solidFill>
            <a:srgbClr val="1B3B6F"/>
          </a:solidFill>
          <a:ln w="12700">
            <a:solidFill>
              <a:srgbClr val="1B3B6F"/>
            </a:solidFill>
            <a:prstDash val="solid"/>
          </a:ln>
        </p:spPr>
      </p:sp>
      <p:sp>
        <p:nvSpPr>
          <p:cNvPr id="79" name="Text 77"/>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8"/>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response answers </a:t>
            </a:r>
            <a:pPr algn="l" indent="0" marL="0">
              <a:buNone/>
            </a:pPr>
            <a:r>
              <a:rPr lang="ar-SA" altLang="en-US" sz="1650" b="1" dirty="0">
                <a:solidFill>
                  <a:srgbClr val="1B3B6F"/>
                </a:solidFill>
                <a:latin typeface="Amiri" pitchFamily="2" charset="-78"/>
                <a:ea typeface="Amiri" pitchFamily="2" charset="-78"/>
                <a:cs typeface="Amiri" pitchFamily="2" charset="-78"/>
              </a:rPr>
              <a:t>كَيْفَ هِيَ؟</a:t>
            </a:r>
            <a:endParaRPr lang="en-US" sz="1250" dirty="0"/>
          </a:p>
        </p:txBody>
      </p:sp>
      <p:sp>
        <p:nvSpPr>
          <p:cNvPr id="81" name="Shape 79"/>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2" name="Shape 80"/>
          <p:cNvSpPr/>
          <p:nvPr/>
        </p:nvSpPr>
        <p:spPr>
          <a:xfrm>
            <a:off x="4459224" y="4831080"/>
            <a:ext cx="256032" cy="256032"/>
          </a:xfrm>
          <a:prstGeom prst="ellipse">
            <a:avLst/>
          </a:prstGeom>
          <a:solidFill>
            <a:srgbClr val="2E8B57"/>
          </a:solidFill>
          <a:ln w="12700">
            <a:solidFill>
              <a:srgbClr val="2E8B57"/>
            </a:solidFill>
            <a:prstDash val="solid"/>
          </a:ln>
        </p:spPr>
      </p:sp>
      <p:sp>
        <p:nvSpPr>
          <p:cNvPr id="83" name="Text 81"/>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2"/>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هِيَ هَادِئَةٌ وَصَبُورَةٌ.</a:t>
            </a:r>
            <a:endParaRPr lang="ar-SA" sz="1700" dirty="0"/>
          </a:p>
        </p:txBody>
      </p:sp>
      <p:sp>
        <p:nvSpPr>
          <p:cNvPr id="85" name="Shape 83"/>
          <p:cNvSpPr/>
          <p:nvPr/>
        </p:nvSpPr>
        <p:spPr>
          <a:xfrm>
            <a:off x="4459224" y="5202936"/>
            <a:ext cx="256032" cy="256032"/>
          </a:xfrm>
          <a:prstGeom prst="ellipse">
            <a:avLst/>
          </a:prstGeom>
          <a:solidFill>
            <a:srgbClr val="C9CED6"/>
          </a:solidFill>
          <a:ln w="12700">
            <a:solidFill>
              <a:srgbClr val="C9CED6"/>
            </a:solidFill>
            <a:prstDash val="solid"/>
          </a:ln>
        </p:spPr>
      </p:sp>
      <p:sp>
        <p:nvSpPr>
          <p:cNvPr id="86" name="Text 84"/>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5"/>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هُوَ هَادِئٌ.</a:t>
            </a:r>
            <a:endParaRPr lang="ar-SA" sz="1700" dirty="0"/>
          </a:p>
        </p:txBody>
      </p:sp>
      <p:sp>
        <p:nvSpPr>
          <p:cNvPr id="88" name="Shape 86"/>
          <p:cNvSpPr/>
          <p:nvPr/>
        </p:nvSpPr>
        <p:spPr>
          <a:xfrm>
            <a:off x="4459224" y="5574792"/>
            <a:ext cx="256032" cy="256032"/>
          </a:xfrm>
          <a:prstGeom prst="ellipse">
            <a:avLst/>
          </a:prstGeom>
          <a:solidFill>
            <a:srgbClr val="C9CED6"/>
          </a:solidFill>
          <a:ln w="12700">
            <a:solidFill>
              <a:srgbClr val="C9CED6"/>
            </a:solidFill>
            <a:prstDash val="solid"/>
          </a:ln>
        </p:spPr>
      </p:sp>
      <p:sp>
        <p:nvSpPr>
          <p:cNvPr id="89" name="Text 87"/>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8"/>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فِي المَدْرَسَةِ.</a:t>
            </a:r>
            <a:endParaRPr lang="ar-SA" sz="1700" dirty="0"/>
          </a:p>
        </p:txBody>
      </p:sp>
      <p:sp>
        <p:nvSpPr>
          <p:cNvPr id="91" name="Text 89"/>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answer describes a female person.</a:t>
            </a:r>
            <a:endParaRPr lang="en-US" sz="1050" dirty="0"/>
          </a:p>
        </p:txBody>
      </p:sp>
      <p:sp>
        <p:nvSpPr>
          <p:cNvPr id="92" name="Shape 90"/>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3" name="Shape 91"/>
          <p:cNvSpPr/>
          <p:nvPr/>
        </p:nvSpPr>
        <p:spPr>
          <a:xfrm>
            <a:off x="8223504" y="4288536"/>
            <a:ext cx="310896" cy="310896"/>
          </a:xfrm>
          <a:prstGeom prst="ellipse">
            <a:avLst/>
          </a:prstGeom>
          <a:solidFill>
            <a:srgbClr val="1B3B6F"/>
          </a:solidFill>
          <a:ln w="12700">
            <a:solidFill>
              <a:srgbClr val="1B3B6F"/>
            </a:solidFill>
            <a:prstDash val="solid"/>
          </a:ln>
        </p:spPr>
      </p:sp>
      <p:sp>
        <p:nvSpPr>
          <p:cNvPr id="94" name="Text 92"/>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5" name="Text 93"/>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most developed description.</a:t>
            </a:r>
            <a:endParaRPr lang="en-US" sz="1250" dirty="0"/>
          </a:p>
        </p:txBody>
      </p:sp>
      <p:sp>
        <p:nvSpPr>
          <p:cNvPr id="96" name="Shape 94"/>
          <p:cNvSpPr/>
          <p:nvPr/>
        </p:nvSpPr>
        <p:spPr>
          <a:xfrm>
            <a:off x="8278368" y="4831080"/>
            <a:ext cx="256032" cy="256032"/>
          </a:xfrm>
          <a:prstGeom prst="ellipse">
            <a:avLst/>
          </a:prstGeom>
          <a:solidFill>
            <a:srgbClr val="C9CED6"/>
          </a:solidFill>
          <a:ln w="12700">
            <a:solidFill>
              <a:srgbClr val="C9CED6"/>
            </a:solidFill>
            <a:prstDash val="solid"/>
          </a:ln>
        </p:spPr>
      </p:sp>
      <p:sp>
        <p:nvSpPr>
          <p:cNvPr id="97" name="Text 95"/>
          <p:cNvSpPr txBox="1"/>
          <p:nvPr/>
        </p:nvSpPr>
        <p:spPr>
          <a:xfrm>
            <a:off x="827836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8" name="Text 96"/>
          <p:cNvSpPr txBox="1"/>
          <p:nvPr/>
        </p:nvSpPr>
        <p:spPr>
          <a:xfrm>
            <a:off x="8607552"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هُوَ وَدُودٌ.</a:t>
            </a:r>
            <a:endParaRPr lang="ar-SA" sz="1700" dirty="0"/>
          </a:p>
        </p:txBody>
      </p:sp>
      <p:sp>
        <p:nvSpPr>
          <p:cNvPr id="99" name="Shape 97"/>
          <p:cNvSpPr/>
          <p:nvPr/>
        </p:nvSpPr>
        <p:spPr>
          <a:xfrm>
            <a:off x="8186928" y="5166360"/>
            <a:ext cx="3453384" cy="347472"/>
          </a:xfrm>
          <a:prstGeom prst="roundRect">
            <a:avLst>
              <a:gd name="adj" fmla="val 15789"/>
            </a:avLst>
          </a:prstGeom>
          <a:solidFill>
            <a:srgbClr val="E6F4EC"/>
          </a:solidFill>
          <a:ln w="9525">
            <a:solidFill>
              <a:srgbClr val="2E8B57"/>
            </a:solidFill>
            <a:prstDash val="solid"/>
          </a:ln>
        </p:spPr>
      </p:sp>
      <p:sp>
        <p:nvSpPr>
          <p:cNvPr id="100" name="Shape 98"/>
          <p:cNvSpPr/>
          <p:nvPr/>
        </p:nvSpPr>
        <p:spPr>
          <a:xfrm>
            <a:off x="8278368" y="5202936"/>
            <a:ext cx="256032" cy="256032"/>
          </a:xfrm>
          <a:prstGeom prst="ellipse">
            <a:avLst/>
          </a:prstGeom>
          <a:solidFill>
            <a:srgbClr val="2E8B57"/>
          </a:solidFill>
          <a:ln w="12700">
            <a:solidFill>
              <a:srgbClr val="2E8B57"/>
            </a:solidFill>
            <a:prstDash val="solid"/>
          </a:ln>
        </p:spPr>
      </p:sp>
      <p:sp>
        <p:nvSpPr>
          <p:cNvPr id="101" name="Text 99"/>
          <p:cNvSpPr txBox="1"/>
          <p:nvPr/>
        </p:nvSpPr>
        <p:spPr>
          <a:xfrm>
            <a:off x="8278368"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102" name="Text 100"/>
          <p:cNvSpPr txBox="1"/>
          <p:nvPr/>
        </p:nvSpPr>
        <p:spPr>
          <a:xfrm>
            <a:off x="8607552"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هُوَ وَدُودٌ لِأَنَّهُ يَرْحَبُ بِالجَمِيعِ.</a:t>
            </a:r>
            <a:endParaRPr lang="ar-SA" sz="1700" dirty="0"/>
          </a:p>
        </p:txBody>
      </p:sp>
      <p:sp>
        <p:nvSpPr>
          <p:cNvPr id="103" name="Shape 101"/>
          <p:cNvSpPr/>
          <p:nvPr/>
        </p:nvSpPr>
        <p:spPr>
          <a:xfrm>
            <a:off x="8278368" y="5574792"/>
            <a:ext cx="256032" cy="256032"/>
          </a:xfrm>
          <a:prstGeom prst="ellipse">
            <a:avLst/>
          </a:prstGeom>
          <a:solidFill>
            <a:srgbClr val="C9CED6"/>
          </a:solidFill>
          <a:ln w="12700">
            <a:solidFill>
              <a:srgbClr val="C9CED6"/>
            </a:solidFill>
            <a:prstDash val="solid"/>
          </a:ln>
        </p:spPr>
      </p:sp>
      <p:sp>
        <p:nvSpPr>
          <p:cNvPr id="104" name="Text 102"/>
          <p:cNvSpPr txBox="1"/>
          <p:nvPr/>
        </p:nvSpPr>
        <p:spPr>
          <a:xfrm>
            <a:off x="827836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5" name="Text 103"/>
          <p:cNvSpPr txBox="1"/>
          <p:nvPr/>
        </p:nvSpPr>
        <p:spPr>
          <a:xfrm>
            <a:off x="8607552"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وَدُودٌ.</a:t>
            </a:r>
            <a:endParaRPr lang="ar-SA" sz="1700" dirty="0"/>
          </a:p>
        </p:txBody>
      </p:sp>
      <p:sp>
        <p:nvSpPr>
          <p:cNvPr id="106" name="Text 104"/>
          <p:cNvSpPr txBox="1"/>
          <p:nvPr/>
        </p:nvSpPr>
        <p:spPr>
          <a:xfrm>
            <a:off x="8223504"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It includes description and evidence.</a:t>
            </a:r>
            <a:endParaRPr lang="en-US" sz="1050" dirty="0"/>
          </a:p>
        </p:txBody>
      </p:sp>
      <p:sp>
        <p:nvSpPr>
          <p:cNvPr id="107" name="Text 10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43 / 45</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D2-L01 · Personality</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D2-L02: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D2-L01</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D2-L02 · Relationships — Family, Friends and How We Get On</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أَتَفَاهَمُ مَعَ</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I get on with</a:t>
            </a:r>
            <a:pPr indent="0" marL="0">
              <a:buNone/>
            </a:pPr>
            <a:r>
              <a:rPr lang="ar-SA" sz="1000" i="1" dirty="0">
                <a:solidFill>
                  <a:srgbClr val="5A6472"/>
                </a:solidFill>
                <a:latin typeface="Calibri" pitchFamily="34" charset="0"/>
                <a:ea typeface="Amiri" pitchFamily="2" charset="-78"/>
                <a:cs typeface="Amiri" pitchFamily="2" charset="-78"/>
              </a:rPr>
              <a:t>  he: يَتَفَاهَمُ</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أَثِقُ بِـ</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I trust</a:t>
            </a:r>
            <a:pPr indent="0" marL="0">
              <a:buNone/>
            </a:pPr>
            <a:r>
              <a:rPr lang="ar-SA" sz="1000" i="1" dirty="0">
                <a:solidFill>
                  <a:srgbClr val="5A6472"/>
                </a:solidFill>
                <a:latin typeface="Calibri" pitchFamily="34" charset="0"/>
                <a:ea typeface="Amiri" pitchFamily="2" charset="-78"/>
                <a:cs typeface="Amiri" pitchFamily="2" charset="-78"/>
              </a:rPr>
              <a:t>  he: يَثِقُ</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أَحْتَرِمُ</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I respect</a:t>
            </a:r>
            <a:pPr indent="0" marL="0">
              <a:buNone/>
            </a:pPr>
            <a:r>
              <a:rPr lang="ar-SA" sz="1000" i="1" dirty="0">
                <a:solidFill>
                  <a:srgbClr val="5A6472"/>
                </a:solidFill>
                <a:latin typeface="Calibri" pitchFamily="34" charset="0"/>
                <a:ea typeface="Amiri" pitchFamily="2" charset="-78"/>
                <a:cs typeface="Amiri" pitchFamily="2" charset="-78"/>
              </a:rPr>
              <a:t>  he: يَحْتَرِمُ</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صَدِيقٌ مُقَرَّبٌ</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close friend</a:t>
            </a:r>
            <a:pPr indent="0" marL="0">
              <a:buNone/>
            </a:pPr>
            <a:r>
              <a:rPr lang="ar-SA" sz="1000" i="1" dirty="0">
                <a:solidFill>
                  <a:srgbClr val="5A6472"/>
                </a:solidFill>
                <a:latin typeface="Calibri" pitchFamily="34" charset="0"/>
                <a:ea typeface="Amiri" pitchFamily="2" charset="-78"/>
                <a:cs typeface="Amiri" pitchFamily="2" charset="-78"/>
              </a:rPr>
              <a:t>  f.: صَدِيقَةٌ مُقَرَّبَةٌ</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نَتَشَاجَرُ</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we argue</a:t>
            </a:r>
            <a:pPr indent="0" marL="0">
              <a:buNone/>
            </a:pP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Who do you get on with best in your family or among your friends — and why?</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مَعَ مَنْ تَتَفَاهَمُ جَيِّدًا؟</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D2-L01: the picture game and the vocabulary tab — learn 8 adjectives in m. and f.</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8 sentences describing two people with degree and evidence.</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task: 100–120 words describing two people.</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44 / 45</a:t>
            </a:r>
            <a:endParaRPr lang="en-US" sz="8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D2-L01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D2-L02 · Relationships — Family, Friends and How We Get On</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العَلَاقَاتُ</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HER adjective ends in -a(tun) — and so does her reason: </a:t>
            </a:r>
            <a:pPr algn="l" indent="0" marL="0">
              <a:buNone/>
            </a:pPr>
            <a:r>
              <a:rPr lang="ar-SA" altLang="en-US" sz="1700" b="1" dirty="0">
                <a:solidFill>
                  <a:srgbClr val="FFFFFF"/>
                </a:solidFill>
                <a:latin typeface="Amiri" pitchFamily="2" charset="-78"/>
                <a:ea typeface="Amiri" pitchFamily="2" charset="-78"/>
                <a:cs typeface="Amiri" pitchFamily="2" charset="-78"/>
              </a:rPr>
              <a:t>لِأَنَّهَا</a:t>
            </a:r>
            <a:pPr algn="l" indent="0" marL="0">
              <a:buNone/>
            </a:pPr>
            <a:r>
              <a:rPr lang="en-US" sz="1300" b="1" dirty="0">
                <a:solidFill>
                  <a:srgbClr val="FFFFFF"/>
                </a:solidFill>
                <a:latin typeface="Calibri" pitchFamily="34" charset="0"/>
                <a:cs typeface="Amiri" pitchFamily="2" charset="-78"/>
              </a:rPr>
              <a: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45</Slides>
  <Notes>45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45</vt:i4>
      </vt:variant>
    </vt:vector>
  </HeadingPairs>
  <TitlesOfParts>
    <vt:vector size="4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D2-L01 · Personality Adjectives — What Is He / She Like?</dc:title>
  <dc:subject>PptxGenJS Presentation</dc:subject>
  <dc:creator>Al Madina Online School · Arabic Department</dc:creator>
  <cp:lastModifiedBy>Al Madina Online School · Arabic Department</cp:lastModifiedBy>
  <cp:revision>1</cp:revision>
  <dcterms:created xsi:type="dcterms:W3CDTF">2026-10-11T06:40:33Z</dcterms:created>
  <dcterms:modified xsi:type="dcterms:W3CDTF">2026-10-11T06:40:33Z</dcterms:modified>
</cp:coreProperties>
</file>