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D2-L01. The website lesson “Personality Adjectives — What Is He / She Like?”: vocabulary, grammar rules and quiz, patterns, common mistakes, sorter, listening, reading, speaking prompts and model, writing task and model, differentiation, final check and the lesson mission. Picture match: website visual game “Personality Adjectives — What Is He / She Like?”.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(D2 · People, Relationships and Style). Core: 6 adjectives in BOTH forms (m. / f.) + “He is … / She is …” + one reason (because he / she helps …). Develop: add degree (very / somewhat / not very) and a second person. Stretch: balance (although / on the other hand) and evidence for every judgement.
• The he/she skill from D1-L06 carries straight over: هِيَ → adjective + ـةٌ, and the reason connector changes too (لِأَنَّهُ / لِأَنَّهَا).
• Sensitivity: describe friends, family or invented people kindly — negative words (أَنَانِيٌّ، عَصَبِيٌّ) are for fictional people or “sometimes”, never for classmates.
• Urdu bridge: صادق، صابر، کریم، مخلص / محنتی (not cognate), خوش مزاج.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personality words prepared at home at the end of D1-L12. Questions 3–5 retrieve D1-L06 (he/she), D1-L07 (asking a girl) and a key connector.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An adjective describing HER takes -a(tun). The reason changes too: because he → لِأَنَّهُ, because she → لِأَنَّهَا.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صادق (Al-Sādiq), صابر and کریم are also names and attributes students know — same roots, same meanings. CAREFUL: مجتہد in Urdu is a religious scholar; in everyday Arabic مُجْتَهِدٌ is simply a hard-working student. مَرِحٌ has no Urdu cognate — link it to خوش مزاج by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Core personality adjectives (website vocabulary (1 of 2)). Hear → Say → See → Use. Transliteration is printed for Core students (cover it for Develop/Stretch).
Every card shows m. · f. · pl. Chant them: waḍūdun – waḍūdatun – waḍūdūna. The feminine adds -a(tun) (ـةٌ) to every adjective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Core personality adjectives (website vocabulary (2 of 2)). Hear → Say → See → Use. Transliteration is printed for Core students (cover it for Develop/Stretch).
Every card shows m. · f. · pl. Chant them: waḍūdun – waḍūdatun – waḍūdūna. The feminine adds -a(tun) (ـةٌ) to every adjective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Extended personality language (website vocabulary). Hear → Say → See → Use. Transliteration is printed for Core students (cover it for Develop/Stretch).
Extended words. كَرِيمٌ has a broken plural: كُرَمَاءُ. أَنَانِيٌّ and عَصَبِيٌّ are negative — use them with “sometimes” or “not 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Evidence and degree (website vocabulary (1 of 2)). Hear → Say → See → Use. Transliteration is printed for Core students (cover it for Develop/Stretch).
FLEX: teach if time allows; otherwise these are on the website vocabulary tab for homework.
Evidence and degree (FLEX): these connectors repeat in every D2 lesson — the website lists them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Evidence and degree (website vocabulary (2 of 2)). Hear → Say → See → Use. Transliteration is printed for Core students (cover it for Develop/Stretch).
FLEX: teach if time allows; otherwise these are on the website vocabulary tab for homework.
Evidence and degree (FLEX): these connectors repeat in every D2 lesson — the website lists them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“Adjective agreement” (the adjective matches the person; many feminine forms add ـةٌ) and “Ask what someone is like” (كَيْفَ هُوَ؟ / كَيْفَ هِيَ؟) and the website m./f. table. The plural column is teacher-added (the user’s m / f / pl routine) — Core only needs m. and f.
Website common error: هِيَ صَبُورٌ ✗ → هِيَ صَبُورَةٌ ✓ (“Do not describe a female person with an unmodified masculine adjective”).
Quick-fire: say a name (خَالِدٌ / زَيْنَبُ / أَخِي وَأُخْتِي) + an adjective; students say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“Strengthen or soften a description” (جِدًّا / نَوْعًا مَا / لَيْسَ … جِدًّا) and “Justify with evidence” (صِفَةٌ + لِأَنَّهُ / لِأَنَّهَا + دَلِيلٌ).
Stretch grammar: after لَيْسَ the adjective takes -an (accusative): لَيْسَ أَنَانِيًّا; for “she” use لَيْسَتْ + -atan: لَيْسَتْ خَجُولَةً (from the listening script).
Website teaching point: “In every extended answer, add evidence, a reason, comparison or contrast rather than stopping after one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“Control masculine and feminine adjective agreement, degree expressions and reasons that prove a judgement.”
• Adjective agreement: The adjective matches the person described. Many feminine forms add ـةٌ.
• Ask what someone is like: Use كَيْفَ with the correct pronoun, then answer with a complete description.
• Strengthen or soften a description: Degree expressions make the judgement more precise.
• Justify with evidence: A convincing description includes behaviour that proves the adjective.
Website common error: Do not describe a female person with an unmodified masculine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two short portraits, with a think-aloud (“him or her? how much? what is the proof?”). Students copy it, colour him blue and her pink, and underline every “because”.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Personality Adjectives — What Is He / She Like?”)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it is a GIRL? (the -a(tun) ending AND هِيَ). Other cards for homework: لَطِيفٌ وَمُسَاعِدٌ (kind and helpful), اِجْتِمَاعِيٌّ (sociable), كَرِيمَةٌ (generous).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Personality Adjectives — What Is He / She Like?”)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it is a GIRL? (the -a(tun) ending AND هِيَ). Other cards for homework: لَطِيفٌ وَمُسَاعِدٌ (kind and helpful), اِجْتِمَاعِيٌّ (sociable), كَرِيمَةٌ (generous).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Match each behaviour to the best Arabic personality description.
Then ask: which ADJECTIVE does each behaviour prove? (يُسَاعِدُ الآخَرِينَ → مُتَعَاوِنٌ · يَقُولُ الحَقَّ → صَادِقٌ · لَا يَسْتَمِعُ → not patient · يَأْخُذُ كُلَّ شَيْءٍ لِنَفْسِهِ → أَنَانِيٌّ).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Match each behaviour to the best Arabic personality description.
Then ask: which ADJECTIVE does each behaviour prove? (يُسَاعِدُ الآخَرِينَ → مُتَعَاوِنٌ · يَقُولُ الحَقَّ → صَادِقٌ · لَا يَسْتَمِعُ → not patient · يَأْخُذُ كُلَّ شَيْءٍ لِنَفْسِهِ → أَنَانِيٌّ).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6. Develop / Stretch: all 6.
Listen 1: just listen. Listen 2: note answers. Then chat the letters.
Support: after the second listening, show the read-along slide (Arabic + English, line by line) for Core students.
SCRIPT (read aloud):
تَتَحَدَّثُ نُورُ عَنْ زَمِيلَتِهَا سَلْمَى. تَقُولُ إِنَّ سَلْمَى هَادِئَةٌ وَصَبُورَةٌ، وَلٰكِنَّهَا لَيْسَتْ خَجُولَةً. هِيَ وَاثِقَةٌ عِنْدَمَا تَتَحَدَّثُ أَمَامَ الفَصْلِ، وَمُتَعَاوِنَةٌ لِأَنَّهَا تُسَاعِدُ الطَّالِبَاتِ الجَدِيدَاتِ. أَحْيَانًا تَكُونُ جَادَّةً جِدًّا، وَلٰكِنَّهَا مَرِحَةٌ مَعَ صَدِيقَاتِهَا.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الدَّلِيلُ؟ (What is the evidence?)
B: تُسَاعِدُنِي عِنْدَمَا أَحْتَاجُ إِلَيْهَا. (She helps me when I need her.)
Website prompts (order changed so Core starts with the simplest). Website model continues: A: مَا الدَّلِيلُ؟ (What is the evidence?) B: تُسَاعِدُنِي عِنْدَمَا أَحْتَاجُ إِلَيْهَا. (She helps me when I need her.) — the class asks “مَا الدَّلِيلُ؟” after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describing two people. Include personality adjectives, evidence, one contrast and your opinion about the most important quality.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هَادِئٌ، صَادِقٌ، مُجْتَهِدٌ / مَرِحَةٌ، وَاثِقَةٌ · مُجْتَهِدٌ لِأَنَّهُ يُنَظِّمُ عَمَلَهُ · بَيْنَمَا هِيَ أَكْثَرُ اجْتِمَاعِيَّةً · أَهَمُّ صِفَةٍ … لِأَنَّهُ يَبْنِي الثِّقَةَ. Stretch: note the comparatives أَكْثَرُ هُدُوءًا / أَكْثَرُ اجْتِمَاعِيَّةً (taught fully in D2-L05).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(D2-L02 · Relationships — Family, Friends and How We Get On) will spend class time USING this language, so students prepare it tonight — short, simple, easy to access (school guidance: “Simple, Short, Interesting, Relevant, Easy to access”). The five words come from the website D2-L02 vocabulary (relationship actions and outcomes).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Personality Adjectives — What Is He / She Like?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الصِّفَاتُ الشَّخْصِيَّةُ — كَيْفَ هُوَ؟ كَيْفَ هِيَ؟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personality precisely: make every adjective agree (m. / f. / pl.), make it stronger or softer (</a:t>
            </a:r>
            <a:pPr algn="l" indent="0" marL="0">
              <a:buNone/>
            </a:pPr>
            <a:r>
              <a:rPr lang="ar-SA" altLang="en-US" sz="1800" dirty="0">
                <a:solidFill>
                  <a:srgbClr val="C6D2E6"/>
                </a:solidFill>
                <a:latin typeface="Amiri" pitchFamily="2" charset="-78"/>
                <a:ea typeface="Amiri" pitchFamily="2" charset="-78"/>
                <a:cs typeface="Amiri" pitchFamily="2" charset="-78"/>
              </a:rPr>
              <a:t>جِدًّا، نَوْعًا مَا، لَيْسَ</a:t>
            </a:r>
            <a:pPr algn="l" indent="0" marL="0">
              <a:buNone/>
            </a:pPr>
            <a:r>
              <a:rPr lang="en-US" sz="1400" dirty="0">
                <a:solidFill>
                  <a:srgbClr val="C6D2E6"/>
                </a:solidFill>
                <a:latin typeface="Calibri" pitchFamily="34" charset="0"/>
                <a:cs typeface="Amiri" pitchFamily="2" charset="-78"/>
              </a:rPr>
              <a:t> …), and prove it with behaviour (</a:t>
            </a:r>
            <a:pPr algn="l" indent="0" marL="0">
              <a:buNone/>
            </a:pPr>
            <a:r>
              <a:rPr lang="ar-SA" altLang="en-US" sz="1800" dirty="0">
                <a:solidFill>
                  <a:srgbClr val="C6D2E6"/>
                </a:solidFill>
                <a:latin typeface="Amiri" pitchFamily="2" charset="-78"/>
                <a:ea typeface="Amiri" pitchFamily="2" charset="-78"/>
                <a:cs typeface="Amiri" pitchFamily="2" charset="-78"/>
              </a:rPr>
              <a:t>لِأَنَّهُ / لِأَنَّهَا</a:t>
            </a:r>
            <a:pPr algn="l" indent="0" marL="0">
              <a:buNone/>
            </a:pPr>
            <a:r>
              <a:rPr lang="en-US" sz="1400" dirty="0">
                <a:solidFill>
                  <a:srgbClr val="C6D2E6"/>
                </a:solidFill>
                <a:latin typeface="Calibri" pitchFamily="34" charset="0"/>
                <a:cs typeface="Amiri" pitchFamily="2" charset="-78"/>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D2-L01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 / f. / pl. adjectives, degree, and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evidence,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صَبُورٌ / صَبُورَةٌ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honest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patient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مُجْتَهِدٌ / مُجْتَهِدَةٌ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hard-working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friendly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يُحَضِّرُ حَقِيبَتَهُ.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تُحَضِّرُ حَقِيبَتَهُ.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تُحَضِّرُ حَقِيبَتَهَا.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do you do?”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تَفْعَلُ؟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يَفْعَلُ؟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تَفْعَلِينَ؟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whereas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صَبُورٌ / صَبُورَةٌ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honest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patient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(D1-L12).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مُجْتَهِدٌ / مُجْتَهِدَةٌ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hard-working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friendly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(D1-L12).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 يُحَضِّرُ حَقِيبَتَهُ.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 تُحَضِّرُ حَقِيبَتَهُ.</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أُخْتِي تُحَضِّرُ حَقِيبَتَهَا.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D1-L06: she → tu- + -hā.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do you do?”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تَفْعَلُ؟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يَفْعَلُ؟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تَفْعَلِينَ؟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D1-L07: girl → -īna.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because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whereas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 connectors.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An adjective describing HER takes -a(tun). The reason changes too: because he → </a:t>
            </a:r>
            <a:pPr algn="l" indent="0" marL="0">
              <a:buNone/>
            </a:pPr>
            <a:r>
              <a:rPr lang="ar-SA" altLang="en-US" sz="1650" b="1" dirty="0">
                <a:solidFill>
                  <a:srgbClr val="1F2A37"/>
                </a:solidFill>
                <a:latin typeface="Amiri" pitchFamily="2" charset="-78"/>
                <a:ea typeface="Amiri" pitchFamily="2" charset="-78"/>
                <a:cs typeface="Amiri" pitchFamily="2" charset="-78"/>
              </a:rPr>
              <a:t>لِأَنَّهُ</a:t>
            </a:r>
            <a:pPr algn="l" indent="0" marL="0">
              <a:buNone/>
            </a:pPr>
            <a:r>
              <a:rPr lang="en-US" sz="1250" b="1" dirty="0">
                <a:solidFill>
                  <a:srgbClr val="1F2A37"/>
                </a:solidFill>
                <a:latin typeface="Calibri" pitchFamily="34" charset="0"/>
                <a:cs typeface="Amiri" pitchFamily="2" charset="-78"/>
              </a:rPr>
              <a:t>, because she → </a:t>
            </a:r>
            <a:pPr algn="l" indent="0" marL="0">
              <a:buNone/>
            </a:pPr>
            <a:r>
              <a:rPr lang="ar-SA" altLang="en-US" sz="1650" b="1" dirty="0">
                <a:solidFill>
                  <a:srgbClr val="1F2A37"/>
                </a:solidFill>
                <a:latin typeface="Amiri" pitchFamily="2" charset="-78"/>
                <a:ea typeface="Amiri" pitchFamily="2" charset="-78"/>
                <a:cs typeface="Amiri" pitchFamily="2" charset="-78"/>
              </a:rPr>
              <a:t>لِأَنَّهَا</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هُوَ صَبُورٌ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لِأَنَّهُ</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  هِيَ صَبُورَ</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لِأَنَّهَا</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D2-L01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Adjective agreement and evidence.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a boy and a girl with three adjectives each.</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one reason: because he / she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a description stronger or softer.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a group with plural adjectives.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support every adjective with behaviour.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balance a description (although …, on the other hand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Core personality adjectives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Extended personality language · 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Evidence and degree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صَادِقٌ</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‎صادق‎ </a:t>
            </a:r>
            <a:pPr indent="0" marL="0">
              <a:buNone/>
            </a:pPr>
            <a:r>
              <a:rPr lang="en-US" sz="950" b="1" dirty="0">
                <a:solidFill>
                  <a:srgbClr val="2E8B57"/>
                </a:solidFill>
                <a:latin typeface="Calibri" pitchFamily="34" charset="0"/>
                <a:cs typeface="Amiri" pitchFamily="2" charset="-78"/>
              </a:rPr>
              <a:t> sādiq · truthful, honest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صَبُورٌ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‎صابر‎ </a:t>
            </a:r>
            <a:pPr indent="0" marL="0">
              <a:buNone/>
            </a:pPr>
            <a:r>
              <a:rPr lang="en-US" sz="950" b="1" dirty="0">
                <a:solidFill>
                  <a:srgbClr val="2E8B57"/>
                </a:solidFill>
                <a:latin typeface="Calibri" pitchFamily="34" charset="0"/>
                <a:cs typeface="Amiri" pitchFamily="2" charset="-78"/>
              </a:rPr>
              <a:t> sābir · patient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كَرِيمٌ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‎کریم‎ </a:t>
            </a:r>
            <a:pPr indent="0" marL="0">
              <a:buNone/>
            </a:pPr>
            <a:r>
              <a:rPr lang="en-US" sz="950" b="1" dirty="0">
                <a:solidFill>
                  <a:srgbClr val="2E8B57"/>
                </a:solidFill>
                <a:latin typeface="Calibri" pitchFamily="34" charset="0"/>
                <a:cs typeface="Amiri" pitchFamily="2" charset="-78"/>
              </a:rPr>
              <a:t> karīm · generous, noble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مُجْتَهِدٌ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‎مجتہد‎ </a:t>
            </a:r>
            <a:pPr indent="0" marL="0">
              <a:buNone/>
            </a:pPr>
            <a:r>
              <a:rPr lang="en-US" sz="950" b="1" dirty="0">
                <a:solidFill>
                  <a:srgbClr val="2E8B57"/>
                </a:solidFill>
                <a:latin typeface="Calibri" pitchFamily="34" charset="0"/>
                <a:cs typeface="Amiri" pitchFamily="2" charset="-78"/>
              </a:rPr>
              <a:t> mujtahid · Urdu: religious scholar · Arabic: hard-working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مَرِحٌ</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‎خوش مزاج‎ </a:t>
            </a:r>
            <a:pPr indent="0" marL="0">
              <a:buNone/>
            </a:pPr>
            <a:r>
              <a:rPr lang="en-US" sz="950" b="1" dirty="0">
                <a:solidFill>
                  <a:srgbClr val="2E8B57"/>
                </a:solidFill>
                <a:latin typeface="Calibri" pitchFamily="34" charset="0"/>
                <a:cs typeface="Amiri" pitchFamily="2" charset="-78"/>
              </a:rPr>
              <a:t> khush mizāj · cheerful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Core personality adjectives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صَادِقٌ / صَادِقَةٌ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 / مُتَعَاوِنَةٌ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Core personality adjectives (2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 / مُجْتَهِدَةٌ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 / مَرِحَةٌ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هَادِئٌ / هَادِئَةٌ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خَجُولٌ / خَجُولَةٌ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shy</a:t>
            </a:r>
            <a:endParaRPr lang="en-US" sz="1350" dirty="0"/>
          </a:p>
          <a:p>
            <a:pPr indent="0" marL="0">
              <a:buNone/>
            </a:pPr>
            <a:r>
              <a:rPr lang="en-US" sz="1100" i="1" dirty="0">
                <a:solidFill>
                  <a:srgbClr val="5A6472"/>
                </a:solidFill>
                <a:latin typeface="Calibri" pitchFamily="34" charset="0"/>
                <a:cs typeface="Amiri" pitchFamily="2" charset="-78"/>
              </a:rPr>
              <a:t>kha-jū-lun / kha-jū-la-tun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a:t>
            </a:r>
            <a:endParaRPr lang="ar-SA" sz="15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Extended personality language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وَاثِقٌ / وَاثِقَةٌ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confident</a:t>
            </a:r>
            <a:endParaRPr lang="en-US" sz="1350" dirty="0"/>
          </a:p>
          <a:p>
            <a:pPr indent="0" marL="0">
              <a:buNone/>
            </a:pPr>
            <a:r>
              <a:rPr lang="en-US" sz="1100" i="1" dirty="0">
                <a:solidFill>
                  <a:srgbClr val="5A6472"/>
                </a:solidFill>
                <a:latin typeface="Calibri" pitchFamily="34" charset="0"/>
                <a:cs typeface="Amiri" pitchFamily="2" charset="-78"/>
              </a:rPr>
              <a:t>wā-thi-qun / wā-thi-qa-tun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كَرِيمٌ / كَرِيمَةٌ</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generous</a:t>
            </a:r>
            <a:endParaRPr lang="en-US" sz="1350" dirty="0"/>
          </a:p>
          <a:p>
            <a:pPr indent="0" marL="0">
              <a:buNone/>
            </a:pPr>
            <a:r>
              <a:rPr lang="en-US" sz="1100" i="1" dirty="0">
                <a:solidFill>
                  <a:srgbClr val="5A6472"/>
                </a:solidFill>
                <a:latin typeface="Calibri" pitchFamily="34" charset="0"/>
                <a:cs typeface="Amiri" pitchFamily="2" charset="-78"/>
              </a:rPr>
              <a:t>ka-rī-mun / ka-rī-ma-tun</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كُرَمَاءُ</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كَرِيمَةٌ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كَرِيمٌ</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أَنَانِيٌّ / أَنَانِيَّةٌ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selfish</a:t>
            </a:r>
            <a:endParaRPr lang="en-US" sz="1350" dirty="0"/>
          </a:p>
          <a:p>
            <a:pPr indent="0" marL="0">
              <a:buNone/>
            </a:pPr>
            <a:r>
              <a:rPr lang="en-US" sz="1100" i="1" dirty="0">
                <a:solidFill>
                  <a:srgbClr val="5A6472"/>
                </a:solidFill>
                <a:latin typeface="Calibri" pitchFamily="34" charset="0"/>
                <a:cs typeface="Amiri" pitchFamily="2" charset="-78"/>
              </a:rPr>
              <a:t>a-nā-niy-yun / a-nā-niy-ya-tun</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أَنَانِيُّونَ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أَنَانِيَّةٌ</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أَنَانِيٌّ</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6" name="Shape 6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8" name="Text 6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عَصَبِيٌّ / عَصَبِيَّةٌ</a:t>
            </a:r>
            <a:endParaRPr lang="ar-SA" sz="3000" dirty="0"/>
          </a:p>
        </p:txBody>
      </p:sp>
      <p:sp>
        <p:nvSpPr>
          <p:cNvPr id="69" name="Text 6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nervous/irritable</a:t>
            </a:r>
            <a:endParaRPr lang="en-US" sz="1350" dirty="0"/>
          </a:p>
          <a:p>
            <a:pPr indent="0" marL="0">
              <a:buNone/>
            </a:pPr>
            <a:r>
              <a:rPr lang="en-US" sz="1100" i="1" dirty="0">
                <a:solidFill>
                  <a:srgbClr val="5A6472"/>
                </a:solidFill>
                <a:latin typeface="Calibri" pitchFamily="34" charset="0"/>
                <a:cs typeface="Amiri" pitchFamily="2" charset="-78"/>
              </a:rPr>
              <a:t>ʿa-ṣa-biy-yun / ʿa-ṣa-biy-ya-tun</a:t>
            </a:r>
            <a:endParaRPr lang="en-US" sz="1350" dirty="0"/>
          </a:p>
        </p:txBody>
      </p:sp>
      <p:sp>
        <p:nvSpPr>
          <p:cNvPr id="70" name="Shape 6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2" name="Text 6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عَصَبِيُّونَ</a:t>
            </a:r>
            <a:endParaRPr lang="ar-SA" sz="1500" dirty="0"/>
          </a:p>
        </p:txBody>
      </p:sp>
      <p:sp>
        <p:nvSpPr>
          <p:cNvPr id="73" name="Shape 7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5" name="Text 7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عَصَبِيَّةٌ</a:t>
            </a:r>
            <a:endParaRPr lang="ar-SA" sz="1500" dirty="0"/>
          </a:p>
        </p:txBody>
      </p:sp>
      <p:sp>
        <p:nvSpPr>
          <p:cNvPr id="76" name="Shape 7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8" name="Text 7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عَصَبِيٌّ</a:t>
            </a:r>
            <a:endParaRPr lang="ar-SA" sz="15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Evidence and degree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Evidence and degree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ADJECTIVE AGREEMENT (WEBSITE RULE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 is … She is … They are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هُوَ · هِيَ · 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a:t>
            </a:r>
            <a:pPr algn="ctr" indent="0" marL="0">
              <a:buNone/>
            </a:pPr>
            <a:r>
              <a:rPr lang="ar-SA" altLang="en-US" sz="1450" b="1" dirty="0">
                <a:solidFill>
                  <a:srgbClr val="FFFFFF"/>
                </a:solidFill>
                <a:latin typeface="Amiri" pitchFamily="2" charset="-78"/>
                <a:ea typeface="Amiri" pitchFamily="2" charset="-78"/>
                <a:cs typeface="Amiri" pitchFamily="2" charset="-78"/>
              </a:rPr>
              <a:t>هُوَ</a:t>
            </a:r>
            <a:endParaRPr lang="en-US" sz="1100" dirty="0"/>
          </a:p>
        </p:txBody>
      </p:sp>
      <p:sp>
        <p:nvSpPr>
          <p:cNvPr id="17" name="Text 14"/>
          <p:cNvSpPr txBox="1"/>
          <p:nvPr/>
        </p:nvSpPr>
        <p:spPr>
          <a:xfrm>
            <a:off x="6318504"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 </a:t>
            </a:r>
            <a:pPr algn="ctr" indent="0" marL="0">
              <a:buNone/>
            </a:pPr>
            <a:r>
              <a:rPr lang="ar-SA" altLang="en-US" sz="1450" b="1" dirty="0">
                <a:solidFill>
                  <a:srgbClr val="FFFFFF"/>
                </a:solidFill>
                <a:latin typeface="Amiri" pitchFamily="2" charset="-78"/>
                <a:ea typeface="Amiri" pitchFamily="2" charset="-78"/>
                <a:cs typeface="Amiri" pitchFamily="2" charset="-78"/>
              </a:rPr>
              <a:t>هِيَ</a:t>
            </a:r>
            <a:endParaRPr lang="en-US" sz="1100" dirty="0"/>
          </a:p>
        </p:txBody>
      </p:sp>
      <p:sp>
        <p:nvSpPr>
          <p:cNvPr id="18" name="Text 15"/>
          <p:cNvSpPr txBox="1"/>
          <p:nvPr/>
        </p:nvSpPr>
        <p:spPr>
          <a:xfrm>
            <a:off x="33009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 · </a:t>
            </a:r>
            <a:pPr algn="ctr" indent="0" marL="0">
              <a:buNone/>
            </a:pPr>
            <a:r>
              <a:rPr lang="ar-SA" altLang="en-US" sz="1450" b="1" dirty="0">
                <a:solidFill>
                  <a:srgbClr val="FFFFFF"/>
                </a:solidFill>
                <a:latin typeface="Amiri" pitchFamily="2" charset="-78"/>
                <a:ea typeface="Amiri" pitchFamily="2" charset="-78"/>
                <a:cs typeface="Amiri" pitchFamily="2" charset="-78"/>
              </a:rPr>
              <a:t>هُمْ</a:t>
            </a:r>
            <a:endParaRPr lang="en-US" sz="1100" dirty="0"/>
          </a:p>
        </p:txBody>
      </p:sp>
      <p:sp>
        <p:nvSpPr>
          <p:cNvPr id="19" name="Text 16"/>
          <p:cNvSpPr txBox="1"/>
          <p:nvPr/>
        </p:nvSpPr>
        <p:spPr>
          <a:xfrm>
            <a:off x="53035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171432" y="2267712"/>
            <a:ext cx="24688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وَدُودٌ</a:t>
            </a:r>
            <a:endParaRPr lang="ar-SA" sz="2600" dirty="0"/>
          </a:p>
        </p:txBody>
      </p:sp>
      <p:sp>
        <p:nvSpPr>
          <p:cNvPr id="22" name="Text 19"/>
          <p:cNvSpPr txBox="1"/>
          <p:nvPr/>
        </p:nvSpPr>
        <p:spPr>
          <a:xfrm>
            <a:off x="6336792" y="2267712"/>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وَدُودَ</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23" name="Text 20"/>
          <p:cNvSpPr txBox="1"/>
          <p:nvPr/>
        </p:nvSpPr>
        <p:spPr>
          <a:xfrm>
            <a:off x="3319272" y="2267712"/>
            <a:ext cx="28346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وَدُودُ</a:t>
            </a:r>
            <a:pPr rtl="1" algn="ctr" indent="0" marL="0">
              <a:buNone/>
            </a:pPr>
            <a:r>
              <a:rPr lang="ar-SA" altLang="en-US" sz="2600" b="1" dirty="0">
                <a:solidFill>
                  <a:srgbClr val="0E7C86"/>
                </a:solidFill>
                <a:latin typeface="Amiri" pitchFamily="2" charset="-78"/>
                <a:ea typeface="Amiri" pitchFamily="2" charset="-78"/>
                <a:cs typeface="Amiri" pitchFamily="2" charset="-78"/>
              </a:rPr>
              <a:t>ونَ</a:t>
            </a:r>
            <a:endParaRPr lang="ar-SA" sz="2600" dirty="0"/>
          </a:p>
        </p:txBody>
      </p:sp>
      <p:sp>
        <p:nvSpPr>
          <p:cNvPr id="24" name="Text 21"/>
          <p:cNvSpPr txBox="1"/>
          <p:nvPr/>
        </p:nvSpPr>
        <p:spPr>
          <a:xfrm>
            <a:off x="566928" y="2267712"/>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friendly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171432" y="3004718"/>
            <a:ext cx="24688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صَبُورٌ</a:t>
            </a:r>
            <a:endParaRPr lang="ar-SA" sz="2600" dirty="0"/>
          </a:p>
        </p:txBody>
      </p:sp>
      <p:sp>
        <p:nvSpPr>
          <p:cNvPr id="29" name="Text 26"/>
          <p:cNvSpPr txBox="1"/>
          <p:nvPr/>
        </p:nvSpPr>
        <p:spPr>
          <a:xfrm>
            <a:off x="6336792" y="300471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صَبُورَ</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30" name="Text 27"/>
          <p:cNvSpPr txBox="1"/>
          <p:nvPr/>
        </p:nvSpPr>
        <p:spPr>
          <a:xfrm>
            <a:off x="3319272" y="3004718"/>
            <a:ext cx="28346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صَبُورُ</a:t>
            </a:r>
            <a:pPr rtl="1" algn="ctr" indent="0" marL="0">
              <a:buNone/>
            </a:pPr>
            <a:r>
              <a:rPr lang="ar-SA" altLang="en-US" sz="2600" b="1" dirty="0">
                <a:solidFill>
                  <a:srgbClr val="0E7C86"/>
                </a:solidFill>
                <a:latin typeface="Amiri" pitchFamily="2" charset="-78"/>
                <a:ea typeface="Amiri" pitchFamily="2" charset="-78"/>
                <a:cs typeface="Amiri" pitchFamily="2" charset="-78"/>
              </a:rPr>
              <a:t>ونَ</a:t>
            </a:r>
            <a:endParaRPr lang="ar-SA" sz="2600" dirty="0"/>
          </a:p>
        </p:txBody>
      </p:sp>
      <p:sp>
        <p:nvSpPr>
          <p:cNvPr id="31" name="Text 28"/>
          <p:cNvSpPr txBox="1"/>
          <p:nvPr/>
        </p:nvSpPr>
        <p:spPr>
          <a:xfrm>
            <a:off x="566928" y="300471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patient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171432" y="3741725"/>
            <a:ext cx="24688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مُجْتَهِدٌ</a:t>
            </a:r>
            <a:endParaRPr lang="ar-SA" sz="2600" dirty="0"/>
          </a:p>
        </p:txBody>
      </p:sp>
      <p:sp>
        <p:nvSpPr>
          <p:cNvPr id="36" name="Text 33"/>
          <p:cNvSpPr txBox="1"/>
          <p:nvPr/>
        </p:nvSpPr>
        <p:spPr>
          <a:xfrm>
            <a:off x="6336792" y="3741725"/>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مُجْتَهِدَ</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37" name="Text 34"/>
          <p:cNvSpPr txBox="1"/>
          <p:nvPr/>
        </p:nvSpPr>
        <p:spPr>
          <a:xfrm>
            <a:off x="3319272" y="3741725"/>
            <a:ext cx="28346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مُجْتَهِدُ</a:t>
            </a:r>
            <a:pPr rtl="1" algn="ctr" indent="0" marL="0">
              <a:buNone/>
            </a:pPr>
            <a:r>
              <a:rPr lang="ar-SA" altLang="en-US" sz="2600" b="1" dirty="0">
                <a:solidFill>
                  <a:srgbClr val="0E7C86"/>
                </a:solidFill>
                <a:latin typeface="Amiri" pitchFamily="2" charset="-78"/>
                <a:ea typeface="Amiri" pitchFamily="2" charset="-78"/>
                <a:cs typeface="Amiri" pitchFamily="2" charset="-78"/>
              </a:rPr>
              <a:t>ونَ</a:t>
            </a:r>
            <a:endParaRPr lang="ar-SA" sz="2600" dirty="0"/>
          </a:p>
        </p:txBody>
      </p:sp>
      <p:sp>
        <p:nvSpPr>
          <p:cNvPr id="38" name="Text 35"/>
          <p:cNvSpPr txBox="1"/>
          <p:nvPr/>
        </p:nvSpPr>
        <p:spPr>
          <a:xfrm>
            <a:off x="566928" y="3741725"/>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hard-working</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171432" y="4478731"/>
            <a:ext cx="24688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وَاثِقٌ</a:t>
            </a:r>
            <a:endParaRPr lang="ar-SA" sz="2600" dirty="0"/>
          </a:p>
        </p:txBody>
      </p:sp>
      <p:sp>
        <p:nvSpPr>
          <p:cNvPr id="43" name="Text 40"/>
          <p:cNvSpPr txBox="1"/>
          <p:nvPr/>
        </p:nvSpPr>
        <p:spPr>
          <a:xfrm>
            <a:off x="6336792" y="4478731"/>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وَاثِقَ</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44" name="Text 41"/>
          <p:cNvSpPr txBox="1"/>
          <p:nvPr/>
        </p:nvSpPr>
        <p:spPr>
          <a:xfrm>
            <a:off x="3319272" y="4478731"/>
            <a:ext cx="28346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وَاثِقُ</a:t>
            </a:r>
            <a:pPr rtl="1" algn="ctr" indent="0" marL="0">
              <a:buNone/>
            </a:pPr>
            <a:r>
              <a:rPr lang="ar-SA" altLang="en-US" sz="2600" b="1" dirty="0">
                <a:solidFill>
                  <a:srgbClr val="0E7C86"/>
                </a:solidFill>
                <a:latin typeface="Amiri" pitchFamily="2" charset="-78"/>
                <a:ea typeface="Amiri" pitchFamily="2" charset="-78"/>
                <a:cs typeface="Amiri" pitchFamily="2" charset="-78"/>
              </a:rPr>
              <a:t>ونَ</a:t>
            </a:r>
            <a:endParaRPr lang="ar-SA" sz="2600" dirty="0"/>
          </a:p>
        </p:txBody>
      </p:sp>
      <p:sp>
        <p:nvSpPr>
          <p:cNvPr id="45" name="Text 42"/>
          <p:cNvSpPr txBox="1"/>
          <p:nvPr/>
        </p:nvSpPr>
        <p:spPr>
          <a:xfrm>
            <a:off x="566928" y="4478731"/>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confident</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171432" y="5215738"/>
            <a:ext cx="24688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كَرِيمٌ</a:t>
            </a:r>
            <a:endParaRPr lang="ar-SA" sz="2600" dirty="0"/>
          </a:p>
        </p:txBody>
      </p:sp>
      <p:sp>
        <p:nvSpPr>
          <p:cNvPr id="48" name="Text 45"/>
          <p:cNvSpPr txBox="1"/>
          <p:nvPr/>
        </p:nvSpPr>
        <p:spPr>
          <a:xfrm>
            <a:off x="6336792" y="521573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كَرِيمَ</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49" name="Text 46"/>
          <p:cNvSpPr txBox="1"/>
          <p:nvPr/>
        </p:nvSpPr>
        <p:spPr>
          <a:xfrm>
            <a:off x="3319272" y="5215738"/>
            <a:ext cx="28346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كُرَمَاءُ</a:t>
            </a:r>
            <a:endParaRPr lang="ar-SA" sz="2600" dirty="0"/>
          </a:p>
        </p:txBody>
      </p:sp>
      <p:sp>
        <p:nvSpPr>
          <p:cNvPr id="50" name="Text 47"/>
          <p:cNvSpPr txBox="1"/>
          <p:nvPr/>
        </p:nvSpPr>
        <p:spPr>
          <a:xfrm>
            <a:off x="566928" y="521573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generous (broken plural)</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Name first, then the adjective: the teacher (m.) is ṣabūr, the teacher (f.) is ṣabūra. Ask: kayfa huwa? / kayfa hiya?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2 · DEGREE AND EVIDENCE (WEBSITE RULES) · DEVELOP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much? And how do you know?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جِدًّا · نَوْعًا مَا · لِأَنَّهُ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STRONGER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جِدًّا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هُوَ وَاثِقٌ جِدًّا.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is very confident.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the adjective.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SOFTER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نَوْعًا مَا · لَيْسَ</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هِيَ خَجُولَةٌ نَوْعًا مَا. هُوَ لَيْسَ أَنَانِيًّا جِدًّا.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is somewhat shy. He is not very selfish.</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laysa: -an ending.</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 / لِأَنَّهَا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هِيَ مُتَعَاوِنَةٌ لِأَنَّهَا تُسَاعِدُ الآخَرِينَ.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is helpful because she helps others.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Adjective + behaviour = proof.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the reason must match the person.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هِيَ كَرِيمَةٌ لِأَنَّهَا تُسَاعِدُ.</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هِيَ كَرِيمَةٌ لِأَنَّهُ تُسَاعِدُ.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Adjective agreement and evidence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مُطَابَقَةُ الصِّفَةِ وَتَقْدِيمُ الدَّلِيلِ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Adjective agreement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هُوَ + صِفَةٌ مُذَكَّرَةٌ / هِيَ + صِفَةٌ مُؤَنَّثَةٌ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هُوَ وَدُودٌ وَصَادِقٌ.   ·   هِيَ وَدُودَةٌ وَصَادِقَةٌ.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Ask what someone is like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كَيْفَ هُوَ؟ / كَيْفَ هِيَ؟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كَيْفَ هُوَ؟ هُوَ هَادِئٌ وَمُجْتَهِدٌ.   ·   كَيْفَ هِيَ؟ هِيَ مَرِحَةٌ وَكَرِيمَةٌ.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Strengthen or soften a description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جِدًّا / نَوْعًا مَا / لَيْسَ ... جِدًّا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هُوَ وَاثِقٌ جِدًّا.   ·   هِيَ خَجُولَةٌ نَوْعًا مَا.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Justify with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صِفَةٌ + لِأَنَّهُ / لِأَنَّهَا + دَلِيلٌ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هُوَ مُتَعَاوِنٌ لِأَنَّهُ يُسَاعِدُ الجَمِيعَ.   ·   هِيَ صَبُورَةٌ لِأَنَّهَا تَسْتَمِعُ بِاهْتِمَامٍ.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honest and patient.”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صَادِقٌ وَصَبُورٌ.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صَادِقَةٌ وَصَبُورَةٌ.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صَادِقَةٌ وَصَبُورَةٌ.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هُوَ كَرِيمٌ ___ يُسَاعِدُ أَصْدِقَاءَهُ.</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وَلٰكِنَّهَا</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precise softened description.</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خَجُولَةٌ جِدًّا دَائِمًا نَوْعًا.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خَجُولَةٌ نَوْعًا مَا.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خَجُولٌ.</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agreement.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 صَبُورٌ.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 صَبُورَةٌ.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المُعَلِّمَةُ صَبُورٌ.</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honest and patient.”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صَادِقٌ وَصَبُورٌ.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صَادِقَةٌ وَصَبُورَةٌ.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صَادِقَةٌ وَصَبُورَةٌ.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subject requires feminine adjectives.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هُوَ كَرِيمٌ ___ يُسَاعِدُ أَصْدِقَاءَهُ.</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وَلٰكِنَّهَا</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لِأَنَّهُ</a:t>
            </a:r>
            <a:pPr algn="l" indent="0" marL="0">
              <a:buNone/>
            </a:pPr>
            <a:r>
              <a:rPr lang="en-US" sz="1050" i="1" dirty="0">
                <a:solidFill>
                  <a:srgbClr val="8A6D1E"/>
                </a:solidFill>
                <a:latin typeface="Calibri" pitchFamily="34" charset="0"/>
                <a:cs typeface="Amiri" pitchFamily="2" charset="-78"/>
              </a:rPr>
              <a:t> refers to a masculine person.</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precise softened description.</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خَجُولَةٌ جِدًّا دَائِمًا نَوْعًا.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خَجُولَةٌ نَوْعًا مَا.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خَجُولٌ.</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نَوْعًا مَا</a:t>
            </a:r>
            <a:pPr algn="l" indent="0" marL="0">
              <a:buNone/>
            </a:pPr>
            <a:r>
              <a:rPr lang="en-US" sz="1050" i="1" dirty="0">
                <a:solidFill>
                  <a:srgbClr val="8A6D1E"/>
                </a:solidFill>
                <a:latin typeface="Calibri" pitchFamily="34" charset="0"/>
                <a:cs typeface="Amiri" pitchFamily="2" charset="-78"/>
              </a:rPr>
              <a:t> means somewhat.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agreement.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المُعَلِّمُ صَبُورٌ.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 صَبُورَةٌ.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المُعَلِّمَةُ صَبُورٌ.</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noun, masculine adjective.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describe two people with evidence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Him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أَخِي هَادِئٌ وَمُجْتَهِدٌ.</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Brother → masculine forms.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Proof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هُوَ مُجْتَهِدٌ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لِأَنَّهُ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يُكْمِلُ وَاجِبَهُ كُلَّ يَوْمٍ.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Adjective + behaviour.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صَدِيقَتِي مَرِحَ</a:t>
            </a:r>
            <a:pPr rtl="1" algn="ctr" indent="0" marL="0">
              <a:buNone/>
            </a:pPr>
            <a:r>
              <a:rPr lang="ar-SA" altLang="en-US" sz="2100" b="1" dirty="0">
                <a:solidFill>
                  <a:srgbClr val="D6336C"/>
                </a:solidFill>
                <a:latin typeface="Amiri" pitchFamily="2" charset="-78"/>
                <a:ea typeface="Amiri" pitchFamily="2" charset="-78"/>
                <a:cs typeface="Amiri" pitchFamily="2" charset="-78"/>
              </a:rPr>
              <a:t>ةٌ</a:t>
            </a:r>
            <a:pPr rtl="1" algn="ctr" indent="0" marL="0">
              <a:buNone/>
            </a:pPr>
            <a:r>
              <a:rPr lang="ar-SA" altLang="en-US" sz="2100" b="1" dirty="0">
                <a:solidFill>
                  <a:srgbClr val="1B3B6F"/>
                </a:solidFill>
                <a:latin typeface="Amiri" pitchFamily="2" charset="-78"/>
                <a:ea typeface="Amiri" pitchFamily="2" charset="-78"/>
                <a:cs typeface="Amiri" pitchFamily="2" charset="-78"/>
              </a:rPr>
              <a:t> وَوَاثِقَ</a:t>
            </a:r>
            <a:pPr rtl="1" algn="ctr" indent="0" marL="0">
              <a:buNone/>
            </a:pPr>
            <a:r>
              <a:rPr lang="ar-SA" altLang="en-US" sz="2100" b="1" dirty="0">
                <a:solidFill>
                  <a:srgbClr val="D6336C"/>
                </a:solidFill>
                <a:latin typeface="Amiri" pitchFamily="2" charset="-78"/>
                <a:ea typeface="Amiri" pitchFamily="2" charset="-78"/>
                <a:cs typeface="Amiri" pitchFamily="2" charset="-78"/>
              </a:rPr>
              <a:t>ةٌ</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ea typeface="Amiri" pitchFamily="2" charset="-78"/>
                <a:cs typeface="Amiri" pitchFamily="2" charset="-78"/>
              </a:rPr>
              <a:t>جِدًّا</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Friend (f.) → -atun. Very → after.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وَلٰكِنَّهَا خَجُولَ</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cs typeface="Amiri" pitchFamily="2" charset="-78"/>
              </a:rPr>
              <a:t>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نَوْعًا مَا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فِي الصَّفِّ.</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Softer: somewhat.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 / PROOF</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 (-ATUN)</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DEGREE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أَخِي هَادِئٌ وَمُجْتَهِدٌ؛ هُوَ مُجْتَهِدٌ </a:t>
            </a:r>
            <a:pPr rtl="1" algn="r" indent="0" marL="0">
              <a:lnSpc>
                <a:spcPct val="120000"/>
              </a:lnSpc>
              <a:buNone/>
            </a:pPr>
            <a:r>
              <a:rPr lang="ar-SA" altLang="en-US" sz="1450" b="1" dirty="0">
                <a:solidFill>
                  <a:srgbClr val="1D5FBF"/>
                </a:solidFill>
                <a:latin typeface="Amiri" pitchFamily="2" charset="-78"/>
                <a:ea typeface="Amiri" pitchFamily="2" charset="-78"/>
                <a:cs typeface="Amiri" pitchFamily="2" charset="-78"/>
              </a:rPr>
              <a:t>لِأَنَّهُ</a:t>
            </a:r>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يُكْمِلُ وَاجِبَهُ كُلَّ يَوْمٍ. أَمَّا صَدِيقَتِي فَهِيَ مَرِحَ</a:t>
            </a:r>
            <a:pPr rtl="1" algn="r" indent="0" marL="0">
              <a:lnSpc>
                <a:spcPct val="120000"/>
              </a:lnSpc>
              <a:buNone/>
            </a:pPr>
            <a:r>
              <a:rPr lang="ar-SA" altLang="en-US" sz="145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وَوَاثِقَ</a:t>
            </a:r>
            <a:pPr rtl="1" algn="r" indent="0" marL="0">
              <a:lnSpc>
                <a:spcPct val="120000"/>
              </a:lnSpc>
              <a:buNone/>
            </a:pPr>
            <a:r>
              <a:rPr lang="ar-SA" altLang="en-US" sz="145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450" b="1" dirty="0">
                <a:solidFill>
                  <a:srgbClr val="1B3B6F"/>
                </a:solidFill>
                <a:latin typeface="Amiri" pitchFamily="2" charset="-78"/>
                <a:cs typeface="Amiri" pitchFamily="2" charset="-78"/>
              </a:rPr>
              <a:t> </a:t>
            </a:r>
            <a:pPr rtl="1" algn="r" indent="0" marL="0">
              <a:lnSpc>
                <a:spcPct val="120000"/>
              </a:lnSpc>
              <a:buNone/>
            </a:pPr>
            <a:r>
              <a:rPr lang="ar-SA" altLang="en-US" sz="1450" b="1" dirty="0">
                <a:solidFill>
                  <a:srgbClr val="0E7C86"/>
                </a:solidFill>
                <a:latin typeface="Amiri" pitchFamily="2" charset="-78"/>
                <a:ea typeface="Amiri" pitchFamily="2" charset="-78"/>
                <a:cs typeface="Amiri" pitchFamily="2" charset="-78"/>
              </a:rPr>
              <a:t>جِدًّا</a:t>
            </a:r>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وَلٰكِنَّهَا خَجُولَ</a:t>
            </a:r>
            <a:pPr rtl="1" algn="r" indent="0" marL="0">
              <a:lnSpc>
                <a:spcPct val="120000"/>
              </a:lnSpc>
              <a:buNone/>
            </a:pPr>
            <a:r>
              <a:rPr lang="ar-SA" altLang="en-US" sz="145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450" b="1" dirty="0">
                <a:solidFill>
                  <a:srgbClr val="1B3B6F"/>
                </a:solidFill>
                <a:latin typeface="Amiri" pitchFamily="2" charset="-78"/>
                <a:cs typeface="Amiri" pitchFamily="2" charset="-78"/>
              </a:rPr>
              <a:t> </a:t>
            </a:r>
            <a:pPr rtl="1" algn="r" indent="0" marL="0">
              <a:lnSpc>
                <a:spcPct val="120000"/>
              </a:lnSpc>
              <a:buNone/>
            </a:pPr>
            <a:r>
              <a:rPr lang="ar-SA" altLang="en-US" sz="1450" b="1" dirty="0">
                <a:solidFill>
                  <a:srgbClr val="0E7C86"/>
                </a:solidFill>
                <a:latin typeface="Amiri" pitchFamily="2" charset="-78"/>
                <a:ea typeface="Amiri" pitchFamily="2" charset="-78"/>
                <a:cs typeface="Amiri" pitchFamily="2" charset="-78"/>
              </a:rPr>
              <a:t>نَوْعًا مَا</a:t>
            </a:r>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فِي الصَّفِّ. هِيَ مُتَعَاوِنَ</a:t>
            </a:r>
            <a:pPr rtl="1" algn="r" indent="0" marL="0">
              <a:lnSpc>
                <a:spcPct val="120000"/>
              </a:lnSpc>
              <a:buNone/>
            </a:pPr>
            <a:r>
              <a:rPr lang="ar-SA" altLang="en-US" sz="145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450" b="1" dirty="0">
                <a:solidFill>
                  <a:srgbClr val="1B3B6F"/>
                </a:solidFill>
                <a:latin typeface="Amiri" pitchFamily="2" charset="-78"/>
                <a:cs typeface="Amiri" pitchFamily="2" charset="-78"/>
              </a:rPr>
              <a:t> </a:t>
            </a:r>
            <a:pPr rtl="1" algn="r" indent="0" marL="0">
              <a:lnSpc>
                <a:spcPct val="120000"/>
              </a:lnSpc>
              <a:buNone/>
            </a:pPr>
            <a:r>
              <a:rPr lang="ar-SA" altLang="en-US" sz="1450" b="1" dirty="0">
                <a:solidFill>
                  <a:srgbClr val="D6336C"/>
                </a:solidFill>
                <a:latin typeface="Amiri" pitchFamily="2" charset="-78"/>
                <a:ea typeface="Amiri" pitchFamily="2" charset="-78"/>
                <a:cs typeface="Amiri" pitchFamily="2" charset="-78"/>
              </a:rPr>
              <a:t>لِأَنَّهَا</a:t>
            </a:r>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تُسَاعِدُ زَمِيلَاتِهَا.</a:t>
            </a:r>
            <a:endParaRPr lang="ar-SA" sz="14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brother is calm and hard-working; he is hard-working because he finishes his homework every day. As for my friend, she is cheerful and very confident, but she is somewhat shy in class. She is helpful because she helps her classmates.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هُوَ وَدُودٌ وَصَادِقٌ.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friendly and honest.</a:t>
            </a:r>
            <a:endParaRPr lang="en-US" sz="1250" dirty="0"/>
          </a:p>
          <a:p>
            <a:pPr indent="0" marL="0">
              <a:buNone/>
            </a:pPr>
            <a:r>
              <a:rPr lang="en-US" sz="1050" i="1" dirty="0">
                <a:solidFill>
                  <a:srgbClr val="8A6D1E"/>
                </a:solidFill>
                <a:latin typeface="Calibri" pitchFamily="34" charset="0"/>
                <a:cs typeface="Amiri" pitchFamily="2" charset="-78"/>
              </a:rPr>
              <a:t>Two masculine adjectives.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هِيَ صَبُورَةٌ جِدًّا.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very patient.</a:t>
            </a:r>
            <a:endParaRPr lang="en-US" sz="1250" dirty="0"/>
          </a:p>
          <a:p>
            <a:pPr indent="0" marL="0">
              <a:buNone/>
            </a:pPr>
            <a:r>
              <a:rPr lang="en-US" sz="1050" i="1" dirty="0">
                <a:solidFill>
                  <a:srgbClr val="8A6D1E"/>
                </a:solidFill>
                <a:latin typeface="Calibri" pitchFamily="34" charset="0"/>
                <a:cs typeface="Amiri" pitchFamily="2" charset="-78"/>
              </a:rPr>
              <a:t>Feminine agreement.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لَيْسَ أَنَانِيًّا جِدًّا.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not very selfish.</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Predicate after لَيْسَ.</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هِيَ مُتَعَاوِنَةٌ لِأَنَّهَا تُسَاعِدُ الآخَرِينَ.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helpful because she helps others.</a:t>
            </a:r>
            <a:endParaRPr lang="en-US" sz="1250" dirty="0"/>
          </a:p>
          <a:p>
            <a:pPr indent="0" marL="0">
              <a:buNone/>
            </a:pPr>
            <a:r>
              <a:rPr lang="en-US" sz="1050" i="1" dirty="0">
                <a:solidFill>
                  <a:srgbClr val="8A6D1E"/>
                </a:solidFill>
                <a:latin typeface="Calibri" pitchFamily="34" charset="0"/>
                <a:cs typeface="Amiri" pitchFamily="2" charset="-78"/>
              </a:rPr>
              <a:t>Evidence supports judgement.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PERSONALITY ADJECTIVES — WHAT IS HE / SHE LIKE?”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What is he / she like? Match the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studying hard</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calm and relaxed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laughing, happy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مَرِحَةٌ.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مُجْتَهِدَةٌ.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هَادِئٌ.</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studying hard</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مُجْتَهِدَةٌ.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hard-working.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calm and relaxed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هَادِئٌ.</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calm.</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laughing, happy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مَرِحَةٌ.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cheerful.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the supported description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يُسَاعِدُ الآخَرِينَ.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يَقُولُ الحَقَّ.</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يَسْتَمِعُ إِلَى أَحَدٍ.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يَأْخُذُ كُلَّ شَيْءٍ لِنَفْسِهِ.</a:t>
            </a:r>
            <a:endParaRPr lang="ar-SA" sz="1800" dirty="0"/>
          </a:p>
        </p:txBody>
      </p:sp>
      <p:sp>
        <p:nvSpPr>
          <p:cNvPr id="23" name="Shape 20"/>
          <p:cNvSpPr/>
          <p:nvPr/>
        </p:nvSpPr>
        <p:spPr>
          <a:xfrm>
            <a:off x="6185916" y="2505456"/>
            <a:ext cx="5545836" cy="3803904"/>
          </a:xfrm>
          <a:prstGeom prst="roundRect">
            <a:avLst>
              <a:gd name="adj" fmla="val 1923"/>
            </a:avLst>
          </a:prstGeom>
          <a:solidFill>
            <a:srgbClr val="EEF3FA"/>
          </a:solidFill>
          <a:ln w="9525">
            <a:solidFill>
              <a:srgbClr val="C9D6EA"/>
            </a:solidFill>
            <a:prstDash val="solid"/>
          </a:ln>
        </p:spPr>
      </p:sp>
      <p:sp>
        <p:nvSpPr>
          <p:cNvPr id="24" name="Shape 21"/>
          <p:cNvSpPr/>
          <p:nvPr/>
        </p:nvSpPr>
        <p:spPr>
          <a:xfrm>
            <a:off x="6323076" y="2615184"/>
            <a:ext cx="5271516" cy="310896"/>
          </a:xfrm>
          <a:prstGeom prst="roundRect">
            <a:avLst>
              <a:gd name="adj" fmla="val 50000"/>
            </a:avLst>
          </a:prstGeom>
          <a:solidFill>
            <a:srgbClr val="2F6FB0"/>
          </a:solidFill>
          <a:ln w="12700">
            <a:solidFill>
              <a:srgbClr val="2F6FB0"/>
            </a:solidFill>
            <a:prstDash val="solid"/>
          </a:ln>
        </p:spPr>
      </p:sp>
      <p:sp>
        <p:nvSpPr>
          <p:cNvPr id="25" name="Text 22"/>
          <p:cNvSpPr txBox="1"/>
          <p:nvPr/>
        </p:nvSpPr>
        <p:spPr>
          <a:xfrm>
            <a:off x="6323076" y="2615184"/>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Positive evidence</a:t>
            </a:r>
            <a:endParaRPr lang="en-US" sz="950" dirty="0"/>
          </a:p>
        </p:txBody>
      </p:sp>
      <p:sp>
        <p:nvSpPr>
          <p:cNvPr id="26" name="Shape 23"/>
          <p:cNvSpPr/>
          <p:nvPr/>
        </p:nvSpPr>
        <p:spPr>
          <a:xfrm>
            <a:off x="457200" y="2505456"/>
            <a:ext cx="5545836" cy="3803904"/>
          </a:xfrm>
          <a:prstGeom prst="roundRect">
            <a:avLst>
              <a:gd name="adj" fmla="val 1923"/>
            </a:avLst>
          </a:prstGeom>
          <a:solidFill>
            <a:srgbClr val="EEF3FA"/>
          </a:solidFill>
          <a:ln w="9525">
            <a:solidFill>
              <a:srgbClr val="C9D6EA"/>
            </a:solidFill>
            <a:prstDash val="solid"/>
          </a:ln>
        </p:spPr>
      </p:sp>
      <p:sp>
        <p:nvSpPr>
          <p:cNvPr id="27" name="Shape 24"/>
          <p:cNvSpPr/>
          <p:nvPr/>
        </p:nvSpPr>
        <p:spPr>
          <a:xfrm>
            <a:off x="594360" y="2615184"/>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2615184"/>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Negative evidence</a:t>
            </a:r>
            <a:endParaRPr lang="en-US" sz="9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Positive evidence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يُسَاعِدُ الآخَرِينَ.</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يَقُولُ الحَقَّ.</a:t>
            </a:r>
            <a:endParaRPr lang="ar-SA" sz="1800" dirty="0"/>
          </a:p>
        </p:txBody>
      </p:sp>
      <p:sp>
        <p:nvSpPr>
          <p:cNvPr id="22" name="Shape 19"/>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3" name="Shape 20"/>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Negative evidence</a:t>
            </a:r>
            <a:endParaRPr lang="en-US" sz="950" dirty="0"/>
          </a:p>
        </p:txBody>
      </p:sp>
      <p:sp>
        <p:nvSpPr>
          <p:cNvPr id="25" name="Shape 22"/>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يَسْتَمِعُ إِلَى أَحَدٍ.</a:t>
            </a:r>
            <a:endParaRPr lang="ar-SA" sz="1800" dirty="0"/>
          </a:p>
        </p:txBody>
      </p:sp>
      <p:sp>
        <p:nvSpPr>
          <p:cNvPr id="27" name="Shape 24"/>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يَأْخُذُ كُلَّ شَيْءٍ لِنَفْسِهِ.</a:t>
            </a:r>
            <a:endParaRPr lang="ar-SA" sz="18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about a female person?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هُوَ؟</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تَلْبَسُ؟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هِيَ؟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proves “helpful”?</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مُتَعَاوِنَةٌ لِأَنَّهُ يَنَامُ.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مُتَعَاوِنَةٌ لِأَنَّهَا تُسَاعِدُ زُمَلَاءَهَا.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مُتَعَاوِنٌ.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“not very selfish”.</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أَنَانِيٌّ جِدًّا.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أَنَانِيًّا جِدًّا.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أَنَانِيَّةٌ.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فَاطِمَةُ ___ وَوَاثِقَةٌ.</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about a female person?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هُوَ؟</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تَلْبَسُ؟</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هِيَ؟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is the feminine pronoun.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proves “helpful”?</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مُتَعَاوِنَةٌ لِأَنَّهُ يَنَامُ.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مُتَعَاوِنَةٌ لِأَنَّهَا تُسَاعِدُ زُمَلَاءَهَا.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مُتَعَاوِنٌ.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behaviour supports the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“not very selfish”.</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 أَنَانِيٌّ جِدًّا.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لَيْسَ أَنَانِيًّا جِدًّا.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أَنَانِيَّةٌ.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لَيْسَ</a:t>
            </a:r>
            <a:pPr algn="l" indent="0" marL="0">
              <a:buNone/>
            </a:pPr>
            <a:r>
              <a:rPr lang="en-US" sz="1050" i="1" dirty="0">
                <a:solidFill>
                  <a:srgbClr val="8A6D1E"/>
                </a:solidFill>
                <a:latin typeface="Calibri" pitchFamily="34" charset="0"/>
                <a:cs typeface="Amiri" pitchFamily="2" charset="-78"/>
              </a:rPr>
              <a:t>, the predicate is accusative.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فَاطِمَةُ ___ وَوَاثِقَةٌ.</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مَرِحٌ</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مَرِحًا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مَرِحَةٌ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agrees with the feminine name.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صَبُورٌ.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هُوَ مُتَعَاوِنَةٌ.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He →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كَرِيمَةٌ لِأَنَّهُ تُسَاعِدُ.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Because SHE … — which pronoun?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صَبُورٌ.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صَبُورَةٌ.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 must be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هُوَ مُتَعَاوِنَةٌ.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 مُتَعَاوِنٌ.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 must be masculine.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كَرِيمَةٌ لِأَنَّهُ تُسَاعِدُ.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كَرِيمَةٌ لِأَنَّهَا تُسَاعِدُ.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Pronoun reference and verb must remain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the speaker describing?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quality is mentioned first?</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selfish</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nervous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calm</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Salma shy?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text does not say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she confident?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speaking to the class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shopping</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travelling</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she helpful?</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gives presents.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helps new students.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works alone.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she with friends?</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cheerful</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angry</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silent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هَادِئَةٌ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لَيْسَتْ خَجُولَةً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مَرِحَةٌ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تَتَحَدَّثُ نُورُ عَنْ زَمِيلَتِهَا سَلْمَى.</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Noor is talking about her classmate Salma.</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تَقُولُ إِنَّ سَلْمَى هَادِئَةٌ وَصَبُورَةٌ، وَلٰكِنَّهَا لَيْسَتْ خَجُولَةً.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says that Salma is calm and patient, but she is not shy.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وَاثِقَةٌ عِنْدَمَا تَتَحَدَّثُ أَمَامَ الفَصْلِ،</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confident when she speaks in front of the class,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وَمُتَعَاوِنَةٌ لِأَنَّهَا تُسَاعِدُ الطَّالِبَاتِ الجَدِيدَاتِ.</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helpful because she helps the new (female) students.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أَحْيَانًا تَكُونُ جَادَّةً جِدًّا، وَلٰكِنَّهَا مَرِحَةٌ مَعَ صَدِيقَاتِهَا.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she is very serious, but she is cheerful with her friends.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described?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Noor describes Salma.</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quality is mentioned first?</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selfish</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nervous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calm</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هَادِئَةٌ</a:t>
            </a:r>
            <a:pPr algn="l" indent="0" marL="0">
              <a:buNone/>
            </a:pPr>
            <a:r>
              <a:rPr lang="en-US" sz="1050" i="1" dirty="0">
                <a:solidFill>
                  <a:srgbClr val="8A6D1E"/>
                </a:solidFill>
                <a:latin typeface="Calibri" pitchFamily="34" charset="0"/>
                <a:cs typeface="Amiri" pitchFamily="2" charset="-78"/>
              </a:rPr>
              <a:t> means calm.</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Salma shy?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text does not say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she is not shy.</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she confident?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when speaking to the class</a:t>
            </a:r>
            <a:endParaRPr lang="en-US" sz="120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shopping</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travelling</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confident in front of the class.</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she helpful?</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gives presents.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helps new students.</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works alone.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script gives this evidence.</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she with friends?</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cheerful</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angry</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silent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a:t>
            </a:r>
            <a:pPr algn="l" indent="0" marL="0">
              <a:buNone/>
            </a:pPr>
            <a:r>
              <a:rPr lang="ar-SA" altLang="en-US" sz="1350" dirty="0">
                <a:solidFill>
                  <a:srgbClr val="8A6D1E"/>
                </a:solidFill>
                <a:latin typeface="Amiri" pitchFamily="2" charset="-78"/>
                <a:ea typeface="Amiri" pitchFamily="2" charset="-78"/>
                <a:cs typeface="Amiri" pitchFamily="2" charset="-78"/>
              </a:rPr>
              <a:t>مَرِحَةٌ</a:t>
            </a:r>
            <a:pPr algn="l" indent="0" marL="0">
              <a:buNone/>
            </a:pPr>
            <a:r>
              <a:rPr lang="en-US" sz="1050" i="1" dirty="0">
                <a:solidFill>
                  <a:srgbClr val="8A6D1E"/>
                </a:solidFill>
                <a:latin typeface="Calibri" pitchFamily="34" charset="0"/>
                <a:cs typeface="Amiri" pitchFamily="2" charset="-78"/>
              </a:rPr>
              <a:t> with friends.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هَادِئَةٌ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لَيْسَتْ خَجُولَةً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مَرِحَةٌ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Describe personality with evidence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شَخْصِيَّةَ صَدِيقٍ أَوْ قَرِيبٍ.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 صِفَةٍ فِي الصَّدِيقِ؟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شَخْصًا مُتَعَاوِنًا وَاذْكُرْ دَلِيلًا.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تَتَغَيَّرُ شَخْصِيَّتُكَ فِي المَدْرَسَةِ وَالبَيْتِ؟</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صَدِيقِي ___ وَ ___ . / صَدِيقَتِي ___ ةٌ.</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أَهَمُّ صِفَةٍ هِيَ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هُوَ مُتَعَاوِنٌ لِأَنَّهُ ___ . / هِيَ … لِأَنَّهَا ___ .</a:t>
            </a:r>
            <a:endParaRPr lang="ar-SA" sz="13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فِي المَدْرَسَةِ أَنَا ___ ، وَلٰكِنْ فِي البَيْتِ ___ .</a:t>
            </a:r>
            <a:endParaRPr lang="ar-SA" sz="13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هِيَ صَدِيقَتُكَ؟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friend (f.) like?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هِيَ وَدُودَةٌ وَصَبُورَةٌ جِدًّا.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She is friendly and very patient.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boy and one girl: three adjectives each (check the ending!) and one “because he / she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people with degree (very / somewhat / not very), evidence for two adjectives and one contrast.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two people, six adjectives, evidence, a contrast and the most important quality in your opinion.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______ جِدًّا.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very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______ ـةٌ نَوْعًا مَا.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somewhat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لَيْسَ ______ ـًا جِدًّا.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not very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وَلٰكِنَّهَا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she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أَهَمُّ صِفَةٍ هِيَ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the most important quality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(m.) is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صَدِيقَتِي ______ ـةٌ وَ ______ ـةٌ.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(f.) is … and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مُتَعَاوِنٌ لِأَنَّهُ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helpful because he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صَبُورَةٌ لِأَنَّهَا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patient because she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هُوَ؟ / كَيْفَ هِيَ؟</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is he / she like?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وَدُودٌ / وَدُودَةٌ  ·  صَادِقٌ / صَادِقَةٌ  ·  صَبُورٌ / صَبُورَةٌ  ·  مُتَعَاوِنٌ / مُتَعَاوِنَةٌ  ·  مُجْتَهِدٌ / مُجْتَهِدَةٌ  ·  مَرِحٌ / مَرِحَةٌ  ·  هَادِئٌ / هَادِئَةٌ  ·  جِدًّا  ·  نَوْعًا مَا  ·  لِأَنَّهُ  ·  لِأَنَّهَا  ·  وَلٰكِنَّ</a:t>
            </a:r>
            <a:endParaRPr lang="ar-SA" sz="14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describing two people. Include personality adjectives, evidence, one contrast and your opinion about the most important quality.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Describe two people with accurate gender agreement.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six personality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Support at least two adjectives with behaviour.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 contrast and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adjective endings and pronoun reference.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لَيْسَ كَثِيرَ الكَلَامِ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doesn’t talk a lot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يَسْتَمِعُ إِلَى الآخَرِينَ بِاهْتِمَامٍ</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listens to others attentively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أَكْثَرُ هُدُوءًا مِنْ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calmer than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 وَاحِدٍ يُظْهِرُ ذٰلِكَ بِطَرِيقَةٍ مُخْتَلِفَةٍ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each one shows it in a different way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الصِّدْقُ يَبْنِي الثِّقَةَ بَيْنَ النَّاسِ</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honesty builds trust between people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أُرِيدُ أَنْ أَصِفَ صَدِيقَيْنِ لِي. أَحْمَدُ شَخْصٌ هَادِئٌ وَصَادِقٌ، وَهُوَ مُجْتَهِدٌ لِأَنَّهُ يُنَظِّمُ عَمَلَهُ وَيُكْمِلُهُ فِي الوَقْتِ. أَمَّا مَرْيَمُ فَهِيَ مَرِحَةٌ وَوَاثِقَةٌ، وَتُحِبُّ أَنْ تُشَجِّعَ الآخَرِينَ. أَحْمَدُ أَكْثَرُ هُدُوءًا مِنْ مَرْيَمَ، بَيْنَمَا هِيَ أَكْثَرُ اجْتِمَاعِيَّةً مِنْهُ. كِلَاهُمَا مُتَعَاوِنٌ، وَلٰكِنَّ كُلَّ وَاحِدٍ يُظْهِرُ ذٰلِكَ بِطَرِيقَةٍ مُخْتَلِفَةٍ. فِي رَأْيِي، الصِّدْقُ أَهَمُّ صِفَةٍ لِأَنَّهُ يَبْنِي الثِّقَةَ بَيْنَ النَّاسِ.</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want to describe two friends of mine. Ahmad is a calm and honest person, and he is hard-working because he organises his work and finishes it on time. As for Maryam, she is cheerful and confident, and she likes to encourage others. Ahmad is calmer than Maryam, whereas she is more sociable than him. Both of them are helpful, but each one shows it in a different way. In my opinion, honesty is the most important quality because it builds trust between people.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masculine and three feminine adjectives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evidence with لِأَنَّهُ</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most important quality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adjective about HER ends in -a(tun).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one reason with “because he / she …”.</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very / somewhat / not very.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reason pronoun matches the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judgement has behaviour as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وَدُودٌ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وَدُودَةٌ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وَدُودٌ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وَدُودًا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هُوَ صَادِقٌ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يَقُولُ الحَقَّ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evidence?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يُسَاعِدُ زُمَلَاءَهُ.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جَمِيلٌ.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وَدُودٌ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وَدُودَةٌ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وَدُودٌ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وَدُودًا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وَدُودَةٌ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هُوَ صَادِقٌ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يَقُولُ الحَقَّ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لِأَنَّهَا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لِأَنَّهُ</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بَيْنَمَا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reason connector.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evidence?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يُسَاعِدُ زُمَلَاءَهُ.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هُوَ جَمِيلٌ.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رَأْيِي.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behaviour can prove a quality.</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profile with evidence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صَدِيقِي عُمَرُ شَخْصٌ وَدُودٌ وَصَادِقٌ. هُوَ لَيْسَ كَثِيرَ الكَلَامِ، وَلٰكِنَّهُ يَسْتَمِعُ إِلَى الآخَرِينَ بِاهْتِمَامٍ، لِذٰلِكَ يَثِقُ بِهِ أَصْدِقَاؤُهُ. عُمَرُ مُجْتَهِدٌ جِدًّا فِي دِرَاسَتِهِ، وَهُوَ أَيْضًا مُتَعَاوِنٌ لِأَنَّهُ يَشْرَحُ الوَاجِبَ لِزُمَلَائِهِ. أَحْيَانًا يَكُونُ عَصَبِيًّا قَبْلَ الاِخْتِبَارَاتِ، وَلٰكِنَّهُ يَهْدَأُ بَعْدَ أَنْ يُنَظِّمَ وَقْتَهُ. فِي رَأْيِي، أَفْضَلُ صِفَةٍ فِيهِ هِيَ صِدْقُهُ.</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شَخْصٌ</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person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لَيْسَ كَثِيرَ الكَلَامِ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not very talkative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يَسْتَمِعُ … بِاهْتِمَامٍ</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listens carefully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يَثِقُ بِهِ</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trust him</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دِرَاسَتِهِ</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studies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يَشْرَحُ الوَاجِبَ</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explains the homework</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زُمَلَائِهِ</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classmates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الاِخْتِبَارَاتِ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tests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يَهْدَأُ</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calms down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صِدْقُهُ</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honesty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Omar like socially?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selfish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friendly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loud</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friends trust him?</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buys clothes.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tall.</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listens carefully.</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for classmates?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explains homework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football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he nervous?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weekends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tests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lunch</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helps him calm down?</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organising time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sleeping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arguing</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value most?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confidence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humour</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honesty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Omar like socially?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selfish</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friendly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loud</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وَدُودٌ</a:t>
            </a:r>
            <a:pPr algn="l" indent="0" marL="0">
              <a:buNone/>
            </a:pPr>
            <a:r>
              <a:rPr lang="en-US" sz="1050" i="1" dirty="0">
                <a:solidFill>
                  <a:srgbClr val="8A6D1E"/>
                </a:solidFill>
                <a:latin typeface="Calibri" pitchFamily="34" charset="0"/>
                <a:cs typeface="Amiri" pitchFamily="2" charset="-78"/>
              </a:rPr>
              <a:t> means friendly.</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friends trust him?</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buys clothes.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tall.</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listens carefully.</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evidence is listening carefully.</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for classmates?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explains homework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plays football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explains homework.</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he nervous?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weekends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before tests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lunch</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قَبْلَ الاِخْتِبَارَاتِ.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helps him calm down?</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organising time</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sleeping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arguing</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organises his time.</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value most?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confidence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humour</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honesty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names honesty.</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Personality evidence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يُسَاعِدُ زُمَلَاءَهُ دَائِمًا. مَا الصِّفَةُ الأَدَقُّ؟</a:t>
            </a:r>
            <a:endParaRPr lang="ar-SA"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أَنَانِيٌّ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مُتَعَاوِنٌ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خَجُولٌ</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لَا تَقُولُ الكَذِبَ أَبَدًا.</a:t>
            </a:r>
            <a:endParaRPr lang="ar-SA"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صَادِقَةٌ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عَصَبِيَّةٌ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كَسُولَةٌ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Layla.</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لَيْلَى وَاثِقٌ جِدًّا.</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لَيْلَى وَاثِقًا جِدًّا.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لَيْلَى وَاثِقَةٌ جِدًّا.</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هُوَ كَرِيمٌ ___ يُقَدِّمُ الهَدَايَا.</a:t>
            </a:r>
            <a:endParaRPr lang="ar-SA" sz="12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response answers </a:t>
            </a:r>
            <a:pPr algn="l" indent="0" marL="0">
              <a:buNone/>
            </a:pPr>
            <a:r>
              <a:rPr lang="ar-SA" altLang="en-US" sz="1650" b="1" dirty="0">
                <a:solidFill>
                  <a:srgbClr val="1B3B6F"/>
                </a:solidFill>
                <a:latin typeface="Amiri" pitchFamily="2" charset="-78"/>
                <a:ea typeface="Amiri" pitchFamily="2" charset="-78"/>
                <a:cs typeface="Amiri" pitchFamily="2" charset="-78"/>
              </a:rPr>
              <a:t>كَيْفَ هِيَ؟</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هَادِئَةٌ وَصَبُورَةٌ.</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هَادِئٌ.</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المَدْرَسَةِ.</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developed description.</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وَدُودٌ.</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وَدُودٌ لِأَنَّهُ يَرْحَبُ بِالجَمِيعِ.</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وَدُودٌ.</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يُسَاعِدُ زُمَلَاءَهُ دَائِمًا. مَا الصِّفَةُ الأَدَقُّ؟</a:t>
            </a:r>
            <a:endParaRPr lang="ar-SA"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أَنَانِيٌّ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مُتَعَاوِنٌ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خَجُولٌ</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Helping classmates supports </a:t>
            </a:r>
            <a:pPr algn="l" indent="0" marL="0">
              <a:buNone/>
            </a:pPr>
            <a:r>
              <a:rPr lang="ar-SA" altLang="en-US" sz="1350" dirty="0">
                <a:solidFill>
                  <a:srgbClr val="8A6D1E"/>
                </a:solidFill>
                <a:latin typeface="Amiri" pitchFamily="2" charset="-78"/>
                <a:ea typeface="Amiri" pitchFamily="2" charset="-78"/>
                <a:cs typeface="Amiri" pitchFamily="2" charset="-78"/>
              </a:rPr>
              <a:t>مُتَعَاوِنٌ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لَا تَقُولُ الكَذِبَ أَبَدًا.</a:t>
            </a:r>
            <a:endParaRPr lang="ar-SA"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صَادِقَةٌ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عَصَبِيَّةٌ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كَسُولَةٌ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Not lying supports honesty.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Layla.</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لَيْلَى وَاثِقٌ جِدًّا.</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لَيْلَى وَاثِقًا جِدًّا.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لَيْلَى وَاثِقَةٌ جِدًّا.</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Layla requires feminine agreement.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هُوَ كَرِيمٌ ___ يُقَدِّمُ الهَدَايَا.</a:t>
            </a:r>
            <a:endParaRPr lang="ar-SA" sz="12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reason connector is </a:t>
            </a:r>
            <a:pPr algn="l" indent="0" marL="0">
              <a:buNone/>
            </a:pPr>
            <a:r>
              <a:rPr lang="ar-SA" altLang="en-US" sz="1350" dirty="0">
                <a:solidFill>
                  <a:srgbClr val="8A6D1E"/>
                </a:solidFill>
                <a:latin typeface="Amiri" pitchFamily="2" charset="-78"/>
                <a:ea typeface="Amiri" pitchFamily="2" charset="-78"/>
                <a:cs typeface="Amiri" pitchFamily="2" charset="-78"/>
              </a:rPr>
              <a:t>لِأَنَّهُ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response answers </a:t>
            </a:r>
            <a:pPr algn="l" indent="0" marL="0">
              <a:buNone/>
            </a:pPr>
            <a:r>
              <a:rPr lang="ar-SA" altLang="en-US" sz="1650" b="1" dirty="0">
                <a:solidFill>
                  <a:srgbClr val="1B3B6F"/>
                </a:solidFill>
                <a:latin typeface="Amiri" pitchFamily="2" charset="-78"/>
                <a:ea typeface="Amiri" pitchFamily="2" charset="-78"/>
                <a:cs typeface="Amiri" pitchFamily="2" charset="-78"/>
              </a:rPr>
              <a:t>كَيْفَ هِيَ؟</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هَادِئَةٌ وَصَبُورَةٌ.</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هَادِئٌ.</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المَدْرَسَةِ.</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answer describes a female person.</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developed description.</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وَدُودٌ.</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وَدُودٌ لِأَنَّهُ يَرْحَبُ بِالجَمِيعِ.</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وَدُودٌ.</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includes description and evidence.</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D2-L02 · Relationships — Family, Friends and How We Get 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أَتَفَاهَمُ 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get on with</a:t>
            </a:r>
            <a:pPr indent="0" marL="0">
              <a:buNone/>
            </a:pPr>
            <a:r>
              <a:rPr lang="ar-SA" sz="1000" i="1" dirty="0">
                <a:solidFill>
                  <a:srgbClr val="5A6472"/>
                </a:solidFill>
                <a:latin typeface="Calibri" pitchFamily="34" charset="0"/>
                <a:ea typeface="Amiri" pitchFamily="2" charset="-78"/>
                <a:cs typeface="Amiri" pitchFamily="2" charset="-78"/>
              </a:rPr>
              <a:t>  he: يَتَفَاهَمُ</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أَثِقُ بِـ</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trust</a:t>
            </a:r>
            <a:pPr indent="0" marL="0">
              <a:buNone/>
            </a:pPr>
            <a:r>
              <a:rPr lang="ar-SA" sz="1000" i="1" dirty="0">
                <a:solidFill>
                  <a:srgbClr val="5A6472"/>
                </a:solidFill>
                <a:latin typeface="Calibri" pitchFamily="34" charset="0"/>
                <a:ea typeface="Amiri" pitchFamily="2" charset="-78"/>
                <a:cs typeface="Amiri" pitchFamily="2" charset="-78"/>
              </a:rPr>
              <a:t>  he: يَثِقُ</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أَحْتَرِمُ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respect</a:t>
            </a:r>
            <a:pPr indent="0" marL="0">
              <a:buNone/>
            </a:pPr>
            <a:r>
              <a:rPr lang="ar-SA" sz="1000" i="1" dirty="0">
                <a:solidFill>
                  <a:srgbClr val="5A6472"/>
                </a:solidFill>
                <a:latin typeface="Calibri" pitchFamily="34" charset="0"/>
                <a:ea typeface="Amiri" pitchFamily="2" charset="-78"/>
                <a:cs typeface="Amiri" pitchFamily="2" charset="-78"/>
              </a:rPr>
              <a:t>  he: يَحْتَرِمُ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صَدِيقٌ مُقَرَّبٌ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close friend</a:t>
            </a:r>
            <a:pPr indent="0" marL="0">
              <a:buNone/>
            </a:pPr>
            <a:r>
              <a:rPr lang="ar-SA" sz="1000" i="1" dirty="0">
                <a:solidFill>
                  <a:srgbClr val="5A6472"/>
                </a:solidFill>
                <a:latin typeface="Calibri" pitchFamily="34" charset="0"/>
                <a:ea typeface="Amiri" pitchFamily="2" charset="-78"/>
                <a:cs typeface="Amiri" pitchFamily="2" charset="-78"/>
              </a:rPr>
              <a:t>  f.: صَدِيقَةٌ مُقَرَّبَةٌ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نَتَشَاجَرُ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argue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Who do you get on with best in your family or among your friends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مَعَ مَنْ تَتَفَاهَمُ جَيِّدًا؟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D2-L01: the picture game and the vocabulary tab — learn 8 adjectives in m. and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describing two people with degree and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describing two people.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D2-L02 · Relationships — Family, Friends and How We Get 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العَلَاقَاتُ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HER adjective ends in -a(tun) — and so does her reason: </a:t>
            </a:r>
            <a:pPr algn="l" indent="0" marL="0">
              <a:buNone/>
            </a:pPr>
            <a:r>
              <a:rPr lang="ar-SA" altLang="en-US" sz="1700" b="1" dirty="0">
                <a:solidFill>
                  <a:srgbClr val="FFFFFF"/>
                </a:solidFill>
                <a:latin typeface="Amiri" pitchFamily="2" charset="-78"/>
                <a:ea typeface="Amiri" pitchFamily="2" charset="-78"/>
                <a:cs typeface="Amiri" pitchFamily="2" charset="-78"/>
              </a:rPr>
              <a:t>لِأَنَّهَا</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D2-L01 · Personality Adjectives — What Is He / She Like?</dc:title>
  <dc:subject>PptxGenJS Presentation</dc:subject>
  <dc:creator>Al Madina Online School · Arabic Department</dc:creator>
  <cp:lastModifiedBy>Al Madina Online School · Arabic Department</cp:lastModifiedBy>
  <cp:revision>1</cp:revision>
  <dcterms:created xsi:type="dcterms:W3CDTF">2026-10-11T06:40:33Z</dcterms:created>
  <dcterms:modified xsi:type="dcterms:W3CDTF">2026-10-11T06:40:33Z</dcterms:modified>
</cp:coreProperties>
</file>