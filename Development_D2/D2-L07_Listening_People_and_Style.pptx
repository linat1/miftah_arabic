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D2 People, Relationships and Style › D2-L07. The website lesson “Listening — People, Personality and Style Descriptions”: vocabulary, grammar rules and quiz, patterns, common mistakes, sorter, listening, reading, speaking prompts and model, writing task and model, differentiation, final check and the lesson mission. Picture match: website visual game “Listening — People, Personality and Style Descriptions”.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LISTENING-SKILLS lesson: the website script has two short dialogues — each is done as its own cycle (predict → listen twice → read the script → answers).
• Core: predict WHO and WHAT for each question, then answer the appearance and clothes questions. Develop: all questions + the changed detail after “but”. Stretch: fact / opinion / inference and the written summary.
• All vocabulary is D2 revision (signals, descriptions, style) — use the vocab slides quickly as a warm-up game (“say the feminine / the plural”).
• Urdu bridge: حقیقت، رائے، دلیل، نتیجہ (→ اِسْتِنْتَاجٌ), تبدیلی.
• TEACHER-WRITTEN ITEMS: on the website this lesson’s patterns, mistakes, sorter, reading items are generic placeholders, so the deck uses teacher-written questions and translations built on the website’s own script and text (flagged for the website editor).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DO NOW (5 min independent + 2 min going through answers).
Questions 1–2 test two of the five listening signals prepared at home. Questions 3–5 retrieve D2-L06 (appearance, الَّتِي) and D2-L05 (comparatives).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After “but” the answer often CHANGES. Keep listening until the end of the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حقیقت → حَقِيقَةٌ (fact); رائے → رَأْيٌ (opinion); دلیل → دَلِيلٌ (evidence); نتیجہ shares the root of اِسْتِنْتَاجٌ (inference, conclusion); تغیر / تبدیلی → تَغْيِيرٌ (change). Students already have the key concepts of this lesson in 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signals (website vocabulary (1 of 2)). Hear → Say → See → Use. Transliteration is printed for Core students (cover it for Develop/Stretch).
Listening signals: sort them live into REASON (لِأَنَّ، لِذٰلِكَ) · CHANGE / CONTRAST (وَلٰكِنَّ، بَيْنَمَا، مِنْ جِهَةٍ أُخْرَى) · OPINION (فِي رَأْيِي) · FREQUENCY (عَادَةً، أَحْيَانًا). In listening, contrast words warn you: the answer may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Listening signals (website vocabulary (2 of 2)). Hear → Say → See → Use. Transliteration is printed for Core students (cover it for Develop/Stretch).
Listening signals: sort them live into REASON (لِأَنَّ، لِذٰلِكَ) · CHANGE / CONTRAST (وَلٰكِنَّ، بَيْنَمَا، مِنْ جِهَةٍ أُخْرَى) · OPINION (فِي رَأْيِي) · FREQUENCY (عَادَةً، أَحْيَانًا). In listening, contrast words warn you: the answer may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bank (website vocabulary (1 of 2)). Hear → Say → See → Use. Transliteration is printed for Core students (cover it for Develop/Stretch).
FLEX: teach if time allows; otherwise these are on the website vocabulary tab for homework.
Description bank (FLEX) — revision game: teacher says the m. form, students say f. and 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Description bank (website vocabulary (2 of 2)). Hear → Say → See → Use. Transliteration is printed for Core students (cover it for Develop/Stretch).
FLEX: teach if time allows; otherwise these are on the website vocabulary tab for homework.
Description bank (FLEX) — revision game: teacher says the m. form, students say f. and 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comparison (website vocabulary (1 of 2)). Hear → Say → See → Use. Transliteration is printed for Core students (cover it for Develop/Stretch).
FLEX: teach if time allows; otherwise these are on the website vocabulary tab for homework.
Style and comparison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Style and comparison (website vocabulary (2 of 2)). Hear → Say → See → Use. Transliteration is printed for Core students (cover it for Develop/Stretch).
FLEX: teach if time allows; otherwise these are on the website vocabulary tab for homework.
Style and comparison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rules “Track reference” (identify exactly who each pronoun or relative clause refers to) and “Follow comparison and contrast” (contrast words often signal that the answer has changed), with the website table (Signal · What to track · Example).
Note row 1: هُوَ can refer to a THING (the coat, masculine) — not only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rules “Distinguish fact and opinion” (use the language signal and supporting detail, not a guess) and “Infer from evidence” (an inference must be supported by a stated action or attitude). Links to D2-L04 (don’t judge by clothes) and D2-L06 (يَبْدُو).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“Track speakers and exact changes; distinguish stated facts, opinions and supported inference.”
• Track reference: Identify exactly who each pronoun or relative clause refers to.
• Distinguish fact and opinion: Use the language signal and supporting detail, not a guess.
• Follow comparison and contrast: Contrast words often signal the answer has changed.
• Infer from evidence: An inference must be supported by a stated action or attitude.
Website common error: Do not choose an answer from one familiar word; verify the complete clause and its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thinks aloud through the key question of dialogue 2 (the website speaking model calls it “the important change”). “Formal clothes” is the distractor: it was true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MODEL SENTENCES (1 min) — website patterns. Students copy TWO that are useful for them.
• Core: copy sentence 1 and change the colour. • Develop: copy sentences 2–3. • Stretch: write your own inference with لِذٰلِكَ يَبْدُو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what kind of statement each sentence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Decide what kind of statement each sentence is.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6, 7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and 4. Develop/Stretch: all four.
Listen 1: just listen. Listen 2: note answers. Then chat the letters.
Support: after the second listening, show the read-along slide (Arabic + English, line by line) for Core students.
SCRIPT (read aloud):
فِي الحِوَارِ الأَوَّلِ تَصِفُ سَمِيرَةُ صَدِيقَتَهَا نَادِيَةَ. تَقُولُ إِنَّهَا هَادِئَةٌ فِي الفَصْلِ، وَلٰكِنَّهَا مَرِحَةٌ مَعَ أَصْدِقَائِهَا. نَادِيَةُ مُتَوَسِّطَةُ القَامَةِ وَلَهَا شَعْرٌ قَصِيرٌ، وَتَرْتَدِي عَادَةً مَلَابِسَ بَسِيطَةً.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and 3. Develop/Stretch: all four.
Listen 1: just listen. Listen 2: note answers. Then chat the letters.
Support: after the second listening, show the read-along slide (Arabic + English, line by line) for Core students.
SCRIPT (read aloud):
فِي الحِوَارِ الثَّانِي يَتَحَدَّثُ عَلِيٌّ عَنْ أَخِيهِ. كَانَ أَخُوهُ يَرْتَدِي مَلَابِسَ رَسْمِيَّةً، وَلٰكِنَّهُ الآنَ يُفَضِّلُ أُسْلُوبًا أَكْثَرَ رَاحَةً. عَلِيٌّ يَرَى أَنَّ أَخَاهُ وَاثِقٌ لِأَنَّهُ لَا يَخَافُ مِنْ تَجْرِبَةِ أُسْلُوبٍ جَدِيدٍ.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مَا التَّغْيِيرُ المُهِمُّ؟ (What is the important change?)
B: أَخُو عَلِيٍّ أَصْبَحَ يُفَضِّلُ مَلَابِسَ أَكْثَرَ رَاحَةً. (Ali’s brother now prefers more comfortable clothes.)
Website reflection prompts. Website model continues: A: مَا التَّغْيِيرُ المُهِمُّ؟ (What is the important change?) B: أَخُو عَلِيٍّ أَصْبَحَ يُفَضِّلُ مَلَابِسَ أَكْثَرَ رَاحَةً. (Ali’s brother now prefers more comfortable clothes.)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Secure the main vocabulary and produce four accurate sentences using the taught frame. · Develop — Combine description, grammar and a reason in connected answers. · Stretch — Add comparison, contrast, precise evidence and an independently controlled relative clause.
Website writing task (Stretch): Write 100–120 Arabic words summarising two spoken descriptions. Identify speakers, people, appearance, personality, style, changed details and your evidence.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website model answer, with an English translation for Core students.
Students find in the model (● 20s → ◎) the four items on the chips. Evidence: هَادِئَةٌ … وَلٰكِنَّهَا مَرِحَةٌ · مِنَ المَلَابِسِ الرَّسْمِيَّةِ إِلَى مَلَابِسَ أَكْثَرَ رَاحَةً · وَاثِقٌ لِأَنَّهُ يُجَرِّبُ أَفْكَارًا جَدِيدَةً · أَخِيهِ الَّذِي غَيَّرَ أُسْلُوبَهُ.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(D2-L08 · Reading — Personality, Relationships and Fashion Texts) will spend class time USING this language, so students prepare it tonight — short, simple, easy to access (school guidance: “Simple, Short, Interesting, Relevant, Easy to access”). D2-L08 recycles the whole unit; these five high-value words (from D2-L02 and D2-L04) appear in its reading texts.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D2  ·  D2-L07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D2-L07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Listening — People, Personality and Style Descriptions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الاِسْتِمَاعُ — وَصْفُ الأَشْخَاصِ وَالشَّخْصِيَّةِ وَالأُسْلُوبِ</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Listen to descriptions of people like a detective: track who “he / she / who” refers to, notice what changes after “but”, and separate facts, opinions and inferences backed by evidence.</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D2-L07 · Development D2 · People, Relationships and Style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D2 › D2-L07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Who is it? What changed? Fact or opinion?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Two short listening cycles with the script.</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D2-L08.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خُصُوصًا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usually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especially</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therefore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 جِهَةٍ أُخْرَى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the other hand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 one hand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although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شَعْرٌ طَوِيلَةٌ.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شَعْرُهَا طَوِيلَةٌ.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لَهَا شَعْرٌ طَوِيلٌ.</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 who wears a headscarf”.</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الفَتَاةُ الَّذِي يَرْتَدِي حِجَابًا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الوَلَدُ الَّتِي تَرْتَدِي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الفَتَاةُ الَّتِي تَرْتَدِي حِجَابًا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 than”.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ثِقَةً مِنْ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أَكْثَرُ وَاثِقٌ مِنْ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وَاثِقٌ مِنْ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خُصُوصًا</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usually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especially</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therefore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مِنْ جِهَةٍ أُخْرَى</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on the other hand</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 one hand</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although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“She has long hair.”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 شَعْرٌ طَوِيلَةٌ.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شَعْرُهَا طَوِيلَةٌ.</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لَهَا شَعْرٌ طَوِيلٌ.</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D2-L06: hair is masculine.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girl who wears a headscarf”.</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الفَتَاةُ الَّذِي يَرْتَدِي حِجَابًا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الوَلَدُ الَّتِي تَرْتَدِي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الفَتَاةُ الَّتِي تَرْتَدِي حِجَابًا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D2-L06: allatī.</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“more confident than”.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أَكْثَرُ ثِقَةً مِنْ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أَكْثَرُ وَاثِقٌ مِنْ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وَاثِقٌ مِنْ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D2-L05.</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After “but” the answer often CHANGES. Keep listening until the end of the sentence.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كَانَ يَرْتَدِي مَلَابِسَ رَسْمِيَّةً، </a:t>
            </a:r>
            <a:pPr rtl="1" algn="ctr" indent="0" marL="0">
              <a:lnSpc>
                <a:spcPct val="120000"/>
              </a:lnSpc>
              <a:buNone/>
            </a:pPr>
            <a:r>
              <a:rPr lang="ar-SA" altLang="en-US" sz="1950" b="1" dirty="0">
                <a:solidFill>
                  <a:srgbClr val="0E7C86"/>
                </a:solidFill>
                <a:latin typeface="Amiri" pitchFamily="2" charset="-78"/>
                <a:ea typeface="Amiri" pitchFamily="2" charset="-78"/>
                <a:cs typeface="Amiri" pitchFamily="2" charset="-78"/>
              </a:rPr>
              <a:t>وَلٰكِنَّهُ الآنَ</a:t>
            </a:r>
            <a:pPr rtl="1" algn="ctr" indent="0" marL="0">
              <a:lnSpc>
                <a:spcPct val="120000"/>
              </a:lnSpc>
              <a:buNone/>
            </a:pPr>
            <a:r>
              <a:rPr lang="ar-SA" altLang="en-US" sz="1950" b="1" dirty="0">
                <a:solidFill>
                  <a:srgbClr val="1B3B6F"/>
                </a:solidFill>
                <a:latin typeface="Amiri" pitchFamily="2" charset="-78"/>
                <a:ea typeface="Amiri" pitchFamily="2" charset="-78"/>
                <a:cs typeface="Amiri" pitchFamily="2" charset="-78"/>
              </a:rPr>
              <a:t> يُفَضِّلُ أُسْلُوبًا أَكْثَرَ رَاحَةً.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Control the key D2-L07 vocabulary in complete Arabic sentences.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apply the target grammar: Listening reference, contrast and inference.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Extract precise evidence from an intermediate listening and reading text.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Produce developed spoken and written Arabic with reasons and detail.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who is being described.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pick out appearance and clothes details.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catch a detail that changes after “but”.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say who a pronoun refers to.</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separate fact, opinion and inference.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summarise two spoken descriptions with evidence.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36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Listening signals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Description bank · 12</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Style and comparison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حَقِيقَةٌ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‎حقیقت‎ </a:t>
            </a:r>
            <a:pPr indent="0" marL="0">
              <a:buNone/>
            </a:pPr>
            <a:r>
              <a:rPr lang="en-US" sz="950" b="1" dirty="0">
                <a:solidFill>
                  <a:srgbClr val="2E8B57"/>
                </a:solidFill>
                <a:latin typeface="Calibri" pitchFamily="34" charset="0"/>
                <a:cs typeface="Amiri" pitchFamily="2" charset="-78"/>
              </a:rPr>
              <a:t> haqīqat · fact, truth</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رَأْيٌ</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‎رائے‎ </a:t>
            </a:r>
            <a:pPr indent="0" marL="0">
              <a:buNone/>
            </a:pPr>
            <a:r>
              <a:rPr lang="en-US" sz="950" b="1" dirty="0">
                <a:solidFill>
                  <a:srgbClr val="2E8B57"/>
                </a:solidFill>
                <a:latin typeface="Calibri" pitchFamily="34" charset="0"/>
                <a:cs typeface="Amiri" pitchFamily="2" charset="-78"/>
              </a:rPr>
              <a:t> rāy · opinion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دَلِيلٌ</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‎دلیل‎ </a:t>
            </a:r>
            <a:pPr indent="0" marL="0">
              <a:buNone/>
            </a:pPr>
            <a:r>
              <a:rPr lang="en-US" sz="950" b="1" dirty="0">
                <a:solidFill>
                  <a:srgbClr val="2E8B57"/>
                </a:solidFill>
                <a:latin typeface="Calibri" pitchFamily="34" charset="0"/>
                <a:cs typeface="Amiri" pitchFamily="2" charset="-78"/>
              </a:rPr>
              <a:t> dalīl · evidence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اِسْتِنْتَاجٌ</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‎نتیجہ‎ </a:t>
            </a:r>
            <a:pPr indent="0" marL="0">
              <a:buNone/>
            </a:pPr>
            <a:r>
              <a:rPr lang="en-US" sz="950" b="1" dirty="0">
                <a:solidFill>
                  <a:srgbClr val="2E8B57"/>
                </a:solidFill>
                <a:latin typeface="Calibri" pitchFamily="34" charset="0"/>
                <a:cs typeface="Amiri" pitchFamily="2" charset="-78"/>
              </a:rPr>
              <a:t> natīja · result → inference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تَغْيِيرٌ</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‎تغیر‎ </a:t>
            </a:r>
            <a:pPr indent="0" marL="0">
              <a:buNone/>
            </a:pPr>
            <a:r>
              <a:rPr lang="en-US" sz="950" b="1" dirty="0">
                <a:solidFill>
                  <a:srgbClr val="2E8B57"/>
                </a:solidFill>
                <a:latin typeface="Calibri" pitchFamily="34" charset="0"/>
                <a:cs typeface="Amiri" pitchFamily="2" charset="-78"/>
              </a:rPr>
              <a:t> taghayyur · change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signals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لِأَنَّ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because</a:t>
            </a:r>
            <a:endParaRPr lang="en-US" sz="1350" dirty="0"/>
          </a:p>
          <a:p>
            <a:pPr indent="0" marL="0">
              <a:buNone/>
            </a:pPr>
            <a:r>
              <a:rPr lang="en-US" sz="1100" i="1" dirty="0">
                <a:solidFill>
                  <a:srgbClr val="5A6472"/>
                </a:solidFill>
                <a:latin typeface="Calibri" pitchFamily="34" charset="0"/>
                <a:cs typeface="Amiri" pitchFamily="2" charset="-78"/>
              </a:rPr>
              <a:t>li-ʾan-na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لِذٰلِكَ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therefore</a:t>
            </a:r>
            <a:endParaRPr lang="en-US" sz="1350" dirty="0"/>
          </a:p>
          <a:p>
            <a:pPr indent="0" marL="0">
              <a:buNone/>
            </a:pPr>
            <a:r>
              <a:rPr lang="en-US" sz="1100" i="1" dirty="0">
                <a:solidFill>
                  <a:srgbClr val="5A6472"/>
                </a:solidFill>
                <a:latin typeface="Calibri" pitchFamily="34" charset="0"/>
                <a:cs typeface="Amiri" pitchFamily="2" charset="-78"/>
              </a:rPr>
              <a:t>li-dhā-li-ka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وَلٰكِنَّ</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but/however</a:t>
            </a:r>
            <a:endParaRPr lang="en-US" sz="1350" dirty="0"/>
          </a:p>
          <a:p>
            <a:pPr indent="0" marL="0">
              <a:buNone/>
            </a:pPr>
            <a:r>
              <a:rPr lang="en-US" sz="1100" i="1" dirty="0">
                <a:solidFill>
                  <a:srgbClr val="5A6472"/>
                </a:solidFill>
                <a:latin typeface="Calibri" pitchFamily="34" charset="0"/>
                <a:cs typeface="Amiri" pitchFamily="2" charset="-78"/>
              </a:rPr>
              <a:t>wa-lā-kin-na</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بَيْنَمَا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whereas/while</a:t>
            </a:r>
            <a:endParaRPr lang="en-US" sz="1350" dirty="0"/>
          </a:p>
          <a:p>
            <a:pPr indent="0" marL="0">
              <a:buNone/>
            </a:pPr>
            <a:r>
              <a:rPr lang="en-US" sz="1100" i="1" dirty="0">
                <a:solidFill>
                  <a:srgbClr val="5A6472"/>
                </a:solidFill>
                <a:latin typeface="Calibri" pitchFamily="34" charset="0"/>
                <a:cs typeface="Amiri" pitchFamily="2" charset="-78"/>
              </a:rPr>
              <a:t>bay-na-mā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الرَّغْمِ مِنْ أَنَّ</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although</a:t>
            </a:r>
            <a:endParaRPr lang="en-US" sz="1350" dirty="0"/>
          </a:p>
          <a:p>
            <a:pPr indent="0" marL="0">
              <a:buNone/>
            </a:pPr>
            <a:r>
              <a:rPr lang="en-US" sz="1100" i="1" dirty="0">
                <a:solidFill>
                  <a:srgbClr val="5A6472"/>
                </a:solidFill>
                <a:latin typeface="Calibri" pitchFamily="34" charset="0"/>
                <a:cs typeface="Amiri" pitchFamily="2" charset="-78"/>
              </a:rPr>
              <a:t>ʿa-lā ar-ragh-mi min an-na</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رَأْيِي</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my opinion</a:t>
            </a:r>
            <a:endParaRPr lang="en-US" sz="1350" dirty="0"/>
          </a:p>
          <a:p>
            <a:pPr indent="0" marL="0">
              <a:buNone/>
            </a:pPr>
            <a:r>
              <a:rPr lang="en-US" sz="1100" i="1" dirty="0">
                <a:solidFill>
                  <a:srgbClr val="5A6472"/>
                </a:solidFill>
                <a:latin typeface="Calibri" pitchFamily="34" charset="0"/>
                <a:cs typeface="Amiri" pitchFamily="2" charset="-78"/>
              </a:rPr>
              <a:t>fī raʾ-yī</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signals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one hand</a:t>
            </a:r>
            <a:endParaRPr lang="en-US" sz="1350" dirty="0"/>
          </a:p>
          <a:p>
            <a:pPr indent="0" marL="0">
              <a:buNone/>
            </a:pPr>
            <a:r>
              <a:rPr lang="en-US" sz="1100" i="1" dirty="0">
                <a:solidFill>
                  <a:srgbClr val="5A6472"/>
                </a:solidFill>
                <a:latin typeface="Calibri" pitchFamily="34" charset="0"/>
                <a:cs typeface="Amiri" pitchFamily="2" charset="-78"/>
              </a:rPr>
              <a:t>min ji-ha-tin</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 جِهَةٍ أُخْرَى</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ji-ha-tin ukh-rā</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خُصُوصًا</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especially</a:t>
            </a:r>
            <a:endParaRPr lang="en-US" sz="1350" dirty="0"/>
          </a:p>
          <a:p>
            <a:pPr indent="0" marL="0">
              <a:buNone/>
            </a:pPr>
            <a:r>
              <a:rPr lang="en-US" sz="1100" i="1" dirty="0">
                <a:solidFill>
                  <a:srgbClr val="5A6472"/>
                </a:solidFill>
                <a:latin typeface="Calibri" pitchFamily="34" charset="0"/>
                <a:cs typeface="Amiri" pitchFamily="2" charset="-78"/>
              </a:rPr>
              <a:t>khu-ṣū-ṣan</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عَادَةً</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usually</a:t>
            </a:r>
            <a:endParaRPr lang="en-US" sz="1350" dirty="0"/>
          </a:p>
          <a:p>
            <a:pPr indent="0" marL="0">
              <a:buNone/>
            </a:pPr>
            <a:r>
              <a:rPr lang="en-US" sz="1100" i="1" dirty="0">
                <a:solidFill>
                  <a:srgbClr val="5A6472"/>
                </a:solidFill>
                <a:latin typeface="Calibri" pitchFamily="34" charset="0"/>
                <a:cs typeface="Amiri" pitchFamily="2" charset="-78"/>
              </a:rPr>
              <a:t>ʿā-da-tan</a:t>
            </a:r>
            <a:endParaRPr lang="en-US" sz="1350" dirty="0"/>
          </a:p>
        </p:txBody>
      </p:sp>
      <p:sp>
        <p:nvSpPr>
          <p:cNvPr id="35" name="Shape 3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4389120"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38" name="Text 3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أَحْيَانًا</a:t>
            </a:r>
            <a:endParaRPr lang="ar-SA" sz="3000" dirty="0"/>
          </a:p>
        </p:txBody>
      </p:sp>
      <p:sp>
        <p:nvSpPr>
          <p:cNvPr id="39" name="Text 3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sometimes</a:t>
            </a:r>
            <a:endParaRPr lang="en-US" sz="1350" dirty="0"/>
          </a:p>
          <a:p>
            <a:pPr indent="0" marL="0">
              <a:buNone/>
            </a:pPr>
            <a:r>
              <a:rPr lang="en-US" sz="1100" i="1" dirty="0">
                <a:solidFill>
                  <a:srgbClr val="5A6472"/>
                </a:solidFill>
                <a:latin typeface="Calibri" pitchFamily="34" charset="0"/>
                <a:cs typeface="Amiri" pitchFamily="2" charset="-78"/>
              </a:rPr>
              <a:t>aḥ-yā-nan</a:t>
            </a:r>
            <a:endParaRPr lang="en-US" sz="1350" dirty="0"/>
          </a:p>
        </p:txBody>
      </p:sp>
      <p:sp>
        <p:nvSpPr>
          <p:cNvPr id="40" name="Shape 3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66928"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43" name="Text 40"/>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دَائِمًا</a:t>
            </a:r>
            <a:endParaRPr lang="ar-SA" sz="3000" dirty="0"/>
          </a:p>
        </p:txBody>
      </p:sp>
      <p:sp>
        <p:nvSpPr>
          <p:cNvPr id="44" name="Text 41"/>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always</a:t>
            </a:r>
            <a:endParaRPr lang="en-US" sz="1350" dirty="0"/>
          </a:p>
          <a:p>
            <a:pPr indent="0" marL="0">
              <a:buNone/>
            </a:pPr>
            <a:r>
              <a:rPr lang="en-US" sz="1100" i="1" dirty="0">
                <a:solidFill>
                  <a:srgbClr val="5A6472"/>
                </a:solidFill>
                <a:latin typeface="Calibri" pitchFamily="34" charset="0"/>
                <a:cs typeface="Amiri" pitchFamily="2" charset="-78"/>
              </a:rPr>
              <a:t>dā-ʾi-man</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Description bank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وَدُودٌ / وَدُودَةٌ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friendly</a:t>
            </a:r>
            <a:endParaRPr lang="en-US" sz="1350" dirty="0"/>
          </a:p>
          <a:p>
            <a:pPr indent="0" marL="0">
              <a:buNone/>
            </a:pPr>
            <a:r>
              <a:rPr lang="en-US" sz="1100" i="1" dirty="0">
                <a:solidFill>
                  <a:srgbClr val="5A6472"/>
                </a:solidFill>
                <a:latin typeface="Calibri" pitchFamily="34" charset="0"/>
                <a:cs typeface="Amiri" pitchFamily="2" charset="-78"/>
              </a:rPr>
              <a:t>wa-dū-dun / wa-dū-da-tun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وَدُودٌ</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صَادِقٌ / صَادِقَةٌ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honest</a:t>
            </a:r>
            <a:endParaRPr lang="en-US" sz="1350" dirty="0"/>
          </a:p>
          <a:p>
            <a:pPr indent="0" marL="0">
              <a:buNone/>
            </a:pPr>
            <a:r>
              <a:rPr lang="en-US" sz="1100" i="1" dirty="0">
                <a:solidFill>
                  <a:srgbClr val="5A6472"/>
                </a:solidFill>
                <a:latin typeface="Calibri" pitchFamily="34" charset="0"/>
                <a:cs typeface="Amiri" pitchFamily="2" charset="-78"/>
              </a:rPr>
              <a:t>ṣā-di-qun / ṣā-di-qa-tun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صَادِقٌ</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صَبُورٌ / صَبُورَةٌ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patient</a:t>
            </a:r>
            <a:endParaRPr lang="en-US" sz="1350" dirty="0"/>
          </a:p>
          <a:p>
            <a:pPr indent="0" marL="0">
              <a:buNone/>
            </a:pPr>
            <a:r>
              <a:rPr lang="en-US" sz="1100" i="1" dirty="0">
                <a:solidFill>
                  <a:srgbClr val="5A6472"/>
                </a:solidFill>
                <a:latin typeface="Calibri" pitchFamily="34" charset="0"/>
                <a:cs typeface="Amiri" pitchFamily="2" charset="-78"/>
              </a:rPr>
              <a:t>ṣa-bū-run / ṣa-bū-ra-tun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صَبُورٌ</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مُتَعَاوِنٌ / مُتَعَاوِنَةٌ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helpful/cooperative</a:t>
            </a:r>
            <a:endParaRPr lang="en-US" sz="1350" dirty="0"/>
          </a:p>
          <a:p>
            <a:pPr indent="0" marL="0">
              <a:buNone/>
            </a:pPr>
            <a:r>
              <a:rPr lang="en-US" sz="1100" i="1" dirty="0">
                <a:solidFill>
                  <a:srgbClr val="5A6472"/>
                </a:solidFill>
                <a:latin typeface="Calibri" pitchFamily="34" charset="0"/>
                <a:cs typeface="Amiri" pitchFamily="2" charset="-78"/>
              </a:rPr>
              <a:t>mu-ta-ʿā-wi-nun / mu-ta-ʿā-wi-na-tun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مُتَعَاوِنٌ</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مُجْتَهِدٌ / مُجْتَهِدَةٌ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hard-working</a:t>
            </a:r>
            <a:endParaRPr lang="en-US" sz="1350" dirty="0"/>
          </a:p>
          <a:p>
            <a:pPr indent="0" marL="0">
              <a:buNone/>
            </a:pPr>
            <a:r>
              <a:rPr lang="en-US" sz="1100" i="1" dirty="0">
                <a:solidFill>
                  <a:srgbClr val="5A6472"/>
                </a:solidFill>
                <a:latin typeface="Calibri" pitchFamily="34" charset="0"/>
                <a:cs typeface="Amiri" pitchFamily="2" charset="-78"/>
              </a:rPr>
              <a:t>muj-ta-hi-dun / muj-ta-hi-da-tun</a:t>
            </a:r>
            <a:endParaRPr lang="en-US" sz="1350" dirty="0"/>
          </a:p>
        </p:txBody>
      </p:sp>
      <p:sp>
        <p:nvSpPr>
          <p:cNvPr id="88" name="Shape 85"/>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90" name="Text 87"/>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مُجْتَهِدُونَ</a:t>
            </a:r>
            <a:endParaRPr lang="ar-SA" sz="1500" dirty="0"/>
          </a:p>
        </p:txBody>
      </p:sp>
      <p:sp>
        <p:nvSpPr>
          <p:cNvPr id="91" name="Shape 88"/>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3" name="Text 90"/>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مُجْتَهِدَةٌ</a:t>
            </a:r>
            <a:endParaRPr lang="ar-SA" sz="1500" dirty="0"/>
          </a:p>
        </p:txBody>
      </p:sp>
      <p:sp>
        <p:nvSpPr>
          <p:cNvPr id="94" name="Shape 91"/>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6" name="Text 93"/>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مُجْتَهِدٌ</a:t>
            </a:r>
            <a:endParaRPr lang="ar-SA" sz="1500" dirty="0"/>
          </a:p>
        </p:txBody>
      </p:sp>
      <p:sp>
        <p:nvSpPr>
          <p:cNvPr id="97" name="Shape 9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8" name="Shape 95"/>
          <p:cNvSpPr/>
          <p:nvPr/>
        </p:nvSpPr>
        <p:spPr>
          <a:xfrm>
            <a:off x="566928" y="4261104"/>
            <a:ext cx="310896" cy="310896"/>
          </a:xfrm>
          <a:prstGeom prst="ellipse">
            <a:avLst/>
          </a:prstGeom>
          <a:solidFill>
            <a:srgbClr val="F4F1EA"/>
          </a:solidFill>
          <a:ln w="12700">
            <a:solidFill>
              <a:srgbClr val="F4F1EA"/>
            </a:solidFill>
            <a:prstDash val="solid"/>
          </a:ln>
        </p:spPr>
      </p:sp>
      <p:sp>
        <p:nvSpPr>
          <p:cNvPr id="99" name="Text 9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100" name="Shape 97"/>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101" name="Text 98"/>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102" name="Text 9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مَرِحٌ / مَرِحَةٌ</a:t>
            </a:r>
            <a:endParaRPr lang="ar-SA" sz="3000" dirty="0"/>
          </a:p>
        </p:txBody>
      </p:sp>
      <p:sp>
        <p:nvSpPr>
          <p:cNvPr id="103" name="Text 10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cheerful</a:t>
            </a:r>
            <a:endParaRPr lang="en-US" sz="1350" dirty="0"/>
          </a:p>
          <a:p>
            <a:pPr indent="0" marL="0">
              <a:buNone/>
            </a:pPr>
            <a:r>
              <a:rPr lang="en-US" sz="1100" i="1" dirty="0">
                <a:solidFill>
                  <a:srgbClr val="5A6472"/>
                </a:solidFill>
                <a:latin typeface="Calibri" pitchFamily="34" charset="0"/>
                <a:cs typeface="Amiri" pitchFamily="2" charset="-78"/>
              </a:rPr>
              <a:t>ma-ri-ḥun / ma-ri-ḥa-tun</a:t>
            </a:r>
            <a:endParaRPr lang="en-US" sz="1350" dirty="0"/>
          </a:p>
        </p:txBody>
      </p:sp>
      <p:sp>
        <p:nvSpPr>
          <p:cNvPr id="104" name="Shape 101"/>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6" name="Text 103"/>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مَرِحُونَ</a:t>
            </a:r>
            <a:endParaRPr lang="ar-SA" sz="1500" dirty="0"/>
          </a:p>
        </p:txBody>
      </p:sp>
      <p:sp>
        <p:nvSpPr>
          <p:cNvPr id="107" name="Shape 104"/>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9" name="Text 106"/>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مَرِحَةٌ</a:t>
            </a:r>
            <a:endParaRPr lang="ar-SA" sz="1500" dirty="0"/>
          </a:p>
        </p:txBody>
      </p:sp>
      <p:sp>
        <p:nvSpPr>
          <p:cNvPr id="110" name="Shape 107"/>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1" name="Text 108"/>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12" name="Text 109"/>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مَرِحٌ</a:t>
            </a:r>
            <a:endParaRPr lang="ar-SA" sz="1500" dirty="0"/>
          </a:p>
        </p:txBody>
      </p:sp>
      <p:sp>
        <p:nvSpPr>
          <p:cNvPr id="113" name="Text 11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Description bank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هَادِئٌ / هَادِئَةٌ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calm</a:t>
            </a:r>
            <a:endParaRPr lang="en-US" sz="1350" dirty="0"/>
          </a:p>
          <a:p>
            <a:pPr indent="0" marL="0">
              <a:buNone/>
            </a:pPr>
            <a:r>
              <a:rPr lang="en-US" sz="1100" i="1" dirty="0">
                <a:solidFill>
                  <a:srgbClr val="5A6472"/>
                </a:solidFill>
                <a:latin typeface="Calibri" pitchFamily="34" charset="0"/>
                <a:cs typeface="Amiri" pitchFamily="2" charset="-78"/>
              </a:rPr>
              <a:t>hā-di-ʾun / hā-di-ʾa-tun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هَادِئٌ</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خَجُولٌ / خَجُولَةٌ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shy</a:t>
            </a:r>
            <a:endParaRPr lang="en-US" sz="1350" dirty="0"/>
          </a:p>
          <a:p>
            <a:pPr indent="0" marL="0">
              <a:buNone/>
            </a:pPr>
            <a:r>
              <a:rPr lang="en-US" sz="1100" i="1" dirty="0">
                <a:solidFill>
                  <a:srgbClr val="5A6472"/>
                </a:solidFill>
                <a:latin typeface="Calibri" pitchFamily="34" charset="0"/>
                <a:cs typeface="Amiri" pitchFamily="2" charset="-78"/>
              </a:rPr>
              <a:t>kha-jū-lun / kha-jū-la-tun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خَجُولٌ</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طَوِيلُ القَامَةِ / طَوِيلَةُ القَامَةِ</a:t>
            </a:r>
            <a:endParaRPr lang="ar-SA" sz="255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tall</a:t>
            </a:r>
            <a:endParaRPr lang="en-US" sz="1350" dirty="0"/>
          </a:p>
          <a:p>
            <a:pPr indent="0" marL="0">
              <a:buNone/>
            </a:pPr>
            <a:r>
              <a:rPr lang="en-US" sz="1100" i="1" dirty="0">
                <a:solidFill>
                  <a:srgbClr val="5A6472"/>
                </a:solidFill>
                <a:latin typeface="Calibri" pitchFamily="34" charset="0"/>
                <a:cs typeface="Amiri" pitchFamily="2" charset="-78"/>
              </a:rPr>
              <a:t>ṭa-wī-lu al-qā-ma-ti / ṭa-wī-la-tu al-qā-ma-ti</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طَوِيلَةُ القَامَةِ</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طَوِيلُ القَامَةِ</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65" name="Shape 62"/>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2550" b="1" dirty="0">
                <a:solidFill>
                  <a:srgbClr val="1B3B6F"/>
                </a:solidFill>
                <a:latin typeface="Amiri" pitchFamily="2" charset="-78"/>
                <a:ea typeface="Amiri" pitchFamily="2" charset="-78"/>
                <a:cs typeface="Amiri" pitchFamily="2" charset="-78"/>
              </a:rPr>
              <a:t>قَصِيرُ القَامَةِ / قَصِيرَةُ القَامَةِ</a:t>
            </a:r>
            <a:endParaRPr lang="ar-SA" sz="255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short</a:t>
            </a:r>
            <a:endParaRPr lang="en-US" sz="1350" dirty="0"/>
          </a:p>
          <a:p>
            <a:pPr indent="0" marL="0">
              <a:buNone/>
            </a:pPr>
            <a:r>
              <a:rPr lang="en-US" sz="1100" i="1" dirty="0">
                <a:solidFill>
                  <a:srgbClr val="5A6472"/>
                </a:solidFill>
                <a:latin typeface="Calibri" pitchFamily="34" charset="0"/>
                <a:cs typeface="Amiri" pitchFamily="2" charset="-78"/>
              </a:rPr>
              <a:t>qa-ṣī-ru al-qā-ma-ti / qa-ṣī-ra-tu al-qā-ma-ti</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قَصِيرَةُ القَامَةِ</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قَصِيرُ القَامَةِ</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78" name="Shape 75"/>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2400" b="1" dirty="0">
                <a:solidFill>
                  <a:srgbClr val="1B3B6F"/>
                </a:solidFill>
                <a:latin typeface="Amiri" pitchFamily="2" charset="-78"/>
                <a:ea typeface="Amiri" pitchFamily="2" charset="-78"/>
                <a:cs typeface="Amiri" pitchFamily="2" charset="-78"/>
              </a:rPr>
              <a:t>مُتَوَسِّطُ القَامَةِ / مُتَوَسِّطَةُ القَامَةِ</a:t>
            </a:r>
            <a:endParaRPr lang="ar-SA" sz="24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medium height</a:t>
            </a:r>
            <a:endParaRPr lang="en-US" sz="1350" dirty="0"/>
          </a:p>
          <a:p>
            <a:pPr indent="0" marL="0">
              <a:buNone/>
            </a:pPr>
            <a:r>
              <a:rPr lang="en-US" sz="1100" i="1" dirty="0">
                <a:solidFill>
                  <a:srgbClr val="5A6472"/>
                </a:solidFill>
                <a:latin typeface="Calibri" pitchFamily="34" charset="0"/>
                <a:cs typeface="Amiri" pitchFamily="2" charset="-78"/>
              </a:rPr>
              <a:t>mu-ta-was-si-ṭu al-qā-ma-ti / mu-ta-was-si-ṭa-tu al-qā-ma-ti</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مُتَوَسِّطَةُ القَامَةِ</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مُتَوَسِّطُ القَامَةِ</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91" name="Text 8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شَعْرٌ طَوِيلٌ</a:t>
            </a:r>
            <a:endParaRPr lang="ar-SA" sz="3000" dirty="0"/>
          </a:p>
        </p:txBody>
      </p:sp>
      <p:sp>
        <p:nvSpPr>
          <p:cNvPr id="92" name="Text 8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long hair</a:t>
            </a:r>
            <a:endParaRPr lang="en-US" sz="1350" dirty="0"/>
          </a:p>
          <a:p>
            <a:pPr indent="0" marL="0">
              <a:buNone/>
            </a:pPr>
            <a:r>
              <a:rPr lang="en-US" sz="1100" i="1" dirty="0">
                <a:solidFill>
                  <a:srgbClr val="5A6472"/>
                </a:solidFill>
                <a:latin typeface="Calibri" pitchFamily="34" charset="0"/>
                <a:cs typeface="Amiri" pitchFamily="2" charset="-78"/>
              </a:rPr>
              <a:t>shaʿ-run ṭa-wī-lun</a:t>
            </a:r>
            <a:endParaRPr lang="en-US" sz="13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and comparison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أَنِيقٌ / أَنِيقَةٌ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elegant</a:t>
            </a:r>
            <a:endParaRPr lang="en-US" sz="1350" dirty="0"/>
          </a:p>
          <a:p>
            <a:pPr indent="0" marL="0">
              <a:buNone/>
            </a:pPr>
            <a:r>
              <a:rPr lang="en-US" sz="1100" i="1" dirty="0">
                <a:solidFill>
                  <a:srgbClr val="5A6472"/>
                </a:solidFill>
                <a:latin typeface="Calibri" pitchFamily="34" charset="0"/>
                <a:cs typeface="Amiri" pitchFamily="2" charset="-78"/>
              </a:rPr>
              <a:t>a-nī-qun / a-nī-qa-tun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أَنِيقُونَ</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أَنِيقٌ</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عَصْرِيٌّ / عَصْرِيَّةٌ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modern</a:t>
            </a:r>
            <a:endParaRPr lang="en-US" sz="1350" dirty="0"/>
          </a:p>
          <a:p>
            <a:pPr indent="0" marL="0">
              <a:buNone/>
            </a:pPr>
            <a:r>
              <a:rPr lang="en-US" sz="1100" i="1" dirty="0">
                <a:solidFill>
                  <a:srgbClr val="5A6472"/>
                </a:solidFill>
                <a:latin typeface="Calibri" pitchFamily="34" charset="0"/>
                <a:cs typeface="Amiri" pitchFamily="2" charset="-78"/>
              </a:rPr>
              <a:t>ʿaṣ-riy-yun / ʿaṣ-riy-ya-tun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عَصْرِيُّونَ</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عَصْرِيٌّ</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52" name="Shape 49"/>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تَقْلِيدِيٌّ / تَقْلِيدِيَّةٌ</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a:t>
            </a:r>
            <a:endParaRPr lang="en-US" sz="1350" dirty="0"/>
          </a:p>
          <a:p>
            <a:pPr indent="0" marL="0">
              <a:buNone/>
            </a:pPr>
            <a:r>
              <a:rPr lang="en-US" sz="1100" i="1" dirty="0">
                <a:solidFill>
                  <a:srgbClr val="5A6472"/>
                </a:solidFill>
                <a:latin typeface="Calibri" pitchFamily="34" charset="0"/>
                <a:cs typeface="Amiri" pitchFamily="2" charset="-78"/>
              </a:rPr>
              <a:t>taq-lī-diy-yun / taq-lī-diy-ya-tun</a:t>
            </a:r>
            <a:endParaRPr lang="en-US" sz="1350" dirty="0"/>
          </a:p>
        </p:txBody>
      </p:sp>
      <p:sp>
        <p:nvSpPr>
          <p:cNvPr id="56" name="Shape 53"/>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8" name="Text 55"/>
          <p:cNvSpPr txBox="1"/>
          <p:nvPr/>
        </p:nvSpPr>
        <p:spPr>
          <a:xfrm>
            <a:off x="294436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تَقْلِيدِيُّونَ</a:t>
            </a:r>
            <a:endParaRPr lang="ar-SA" sz="1500" dirty="0"/>
          </a:p>
        </p:txBody>
      </p:sp>
      <p:sp>
        <p:nvSpPr>
          <p:cNvPr id="59" name="Shape 56"/>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1" name="Text 58"/>
          <p:cNvSpPr txBox="1"/>
          <p:nvPr/>
        </p:nvSpPr>
        <p:spPr>
          <a:xfrm>
            <a:off x="179222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تَقْلِيدِيَّةٌ</a:t>
            </a:r>
            <a:endParaRPr lang="ar-SA" sz="1500" dirty="0"/>
          </a:p>
        </p:txBody>
      </p:sp>
      <p:sp>
        <p:nvSpPr>
          <p:cNvPr id="62" name="Shape 59"/>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3" name="Text 60"/>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4" name="Text 61"/>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تَقْلِيدِيٌّ</a:t>
            </a:r>
            <a:endParaRPr lang="ar-SA" sz="1500" dirty="0"/>
          </a:p>
        </p:txBody>
      </p:sp>
      <p:sp>
        <p:nvSpPr>
          <p:cNvPr id="65" name="Shape 6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8211312"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68" name="Shape 6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70" name="Text 67"/>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رَسْمِيٌّ / رَسْمِيَّةٌ</a:t>
            </a:r>
            <a:endParaRPr lang="ar-SA" sz="3000" dirty="0"/>
          </a:p>
        </p:txBody>
      </p:sp>
      <p:sp>
        <p:nvSpPr>
          <p:cNvPr id="71" name="Text 68"/>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formal</a:t>
            </a:r>
            <a:endParaRPr lang="en-US" sz="1350" dirty="0"/>
          </a:p>
          <a:p>
            <a:pPr indent="0" marL="0">
              <a:buNone/>
            </a:pPr>
            <a:r>
              <a:rPr lang="en-US" sz="1100" i="1" dirty="0">
                <a:solidFill>
                  <a:srgbClr val="5A6472"/>
                </a:solidFill>
                <a:latin typeface="Calibri" pitchFamily="34" charset="0"/>
                <a:cs typeface="Amiri" pitchFamily="2" charset="-78"/>
              </a:rPr>
              <a:t>ras-miy-yun / ras-miy-ya-tun</a:t>
            </a:r>
            <a:endParaRPr lang="en-US" sz="1350" dirty="0"/>
          </a:p>
        </p:txBody>
      </p:sp>
      <p:sp>
        <p:nvSpPr>
          <p:cNvPr id="72" name="Shape 69"/>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4" name="Text 71"/>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رَسْمِيُّونَ</a:t>
            </a:r>
            <a:endParaRPr lang="ar-SA" sz="1500" dirty="0"/>
          </a:p>
        </p:txBody>
      </p:sp>
      <p:sp>
        <p:nvSpPr>
          <p:cNvPr id="75" name="Shape 72"/>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6" name="Text 73"/>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77" name="Text 74"/>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رَسْمِيَّةٌ</a:t>
            </a:r>
            <a:endParaRPr lang="ar-SA" sz="1500" dirty="0"/>
          </a:p>
        </p:txBody>
      </p:sp>
      <p:sp>
        <p:nvSpPr>
          <p:cNvPr id="78" name="Shape 75"/>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0" name="Text 77"/>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رَسْمِيٌّ</a:t>
            </a:r>
            <a:endParaRPr lang="ar-SA" sz="1500" dirty="0"/>
          </a:p>
        </p:txBody>
      </p:sp>
      <p:sp>
        <p:nvSpPr>
          <p:cNvPr id="81" name="Shape 7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4389120" y="4261104"/>
            <a:ext cx="310896" cy="310896"/>
          </a:xfrm>
          <a:prstGeom prst="ellipse">
            <a:avLst/>
          </a:prstGeom>
          <a:solidFill>
            <a:srgbClr val="F4F1EA"/>
          </a:solidFill>
          <a:ln w="12700">
            <a:solidFill>
              <a:srgbClr val="F4F1EA"/>
            </a:solidFill>
            <a:prstDash val="solid"/>
          </a:ln>
        </p:spPr>
      </p:sp>
      <p:sp>
        <p:nvSpPr>
          <p:cNvPr id="83" name="Text 8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84" name="Shape 81"/>
          <p:cNvSpPr/>
          <p:nvPr/>
        </p:nvSpPr>
        <p:spPr>
          <a:xfrm>
            <a:off x="4782312" y="4279392"/>
            <a:ext cx="896112" cy="256032"/>
          </a:xfrm>
          <a:prstGeom prst="roundRect">
            <a:avLst>
              <a:gd name="adj" fmla="val 50000"/>
            </a:avLst>
          </a:prstGeom>
          <a:solidFill>
            <a:srgbClr val="EFE7D2"/>
          </a:solidFill>
          <a:ln w="12700">
            <a:solidFill>
              <a:srgbClr val="EFE7D2"/>
            </a:solidFill>
            <a:prstDash val="solid"/>
          </a:ln>
        </p:spPr>
      </p:sp>
      <p:sp>
        <p:nvSpPr>
          <p:cNvPr id="85" name="Text 82"/>
          <p:cNvSpPr txBox="1"/>
          <p:nvPr/>
        </p:nvSpPr>
        <p:spPr>
          <a:xfrm>
            <a:off x="4782312"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86" name="Text 8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رَسْمِيٍّ / غَيْرُ رَسْمِيَّةٍ</a:t>
            </a:r>
            <a:endParaRPr lang="ar-SA" sz="3000" dirty="0"/>
          </a:p>
        </p:txBody>
      </p:sp>
      <p:sp>
        <p:nvSpPr>
          <p:cNvPr id="87" name="Text 8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casual</a:t>
            </a:r>
            <a:endParaRPr lang="en-US" sz="1350" dirty="0"/>
          </a:p>
          <a:p>
            <a:pPr indent="0" marL="0">
              <a:buNone/>
            </a:pPr>
            <a:r>
              <a:rPr lang="en-US" sz="1100" i="1" dirty="0">
                <a:solidFill>
                  <a:srgbClr val="5A6472"/>
                </a:solidFill>
                <a:latin typeface="Calibri" pitchFamily="34" charset="0"/>
                <a:cs typeface="Amiri" pitchFamily="2" charset="-78"/>
              </a:rPr>
              <a:t>ghay-ru ras-miy-yin / ghay-ru ras-miy-ya-tin</a:t>
            </a:r>
            <a:endParaRPr lang="en-US" sz="1350" dirty="0"/>
          </a:p>
        </p:txBody>
      </p:sp>
      <p:sp>
        <p:nvSpPr>
          <p:cNvPr id="88" name="Shape 8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0" name="Text 8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رَسْمِيَّةٍ</a:t>
            </a:r>
            <a:endParaRPr lang="ar-SA" sz="1500" dirty="0"/>
          </a:p>
        </p:txBody>
      </p:sp>
      <p:sp>
        <p:nvSpPr>
          <p:cNvPr id="91" name="Shape 8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93" name="Text 9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غَيْرُ رَسْمِيٍّ</a:t>
            </a:r>
            <a:endParaRPr lang="ar-SA" sz="1500" dirty="0"/>
          </a:p>
        </p:txBody>
      </p:sp>
      <p:sp>
        <p:nvSpPr>
          <p:cNvPr id="94" name="Shape 9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5" name="Shape 92"/>
          <p:cNvSpPr/>
          <p:nvPr/>
        </p:nvSpPr>
        <p:spPr>
          <a:xfrm>
            <a:off x="566928" y="4261104"/>
            <a:ext cx="310896" cy="310896"/>
          </a:xfrm>
          <a:prstGeom prst="ellipse">
            <a:avLst/>
          </a:prstGeom>
          <a:solidFill>
            <a:srgbClr val="F4F1EA"/>
          </a:solidFill>
          <a:ln w="12700">
            <a:solidFill>
              <a:srgbClr val="F4F1EA"/>
            </a:solidFill>
            <a:prstDash val="solid"/>
          </a:ln>
        </p:spPr>
      </p:sp>
      <p:sp>
        <p:nvSpPr>
          <p:cNvPr id="96" name="Text 9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97" name="Shape 94"/>
          <p:cNvSpPr/>
          <p:nvPr/>
        </p:nvSpPr>
        <p:spPr>
          <a:xfrm>
            <a:off x="960120" y="4279392"/>
            <a:ext cx="896112" cy="256032"/>
          </a:xfrm>
          <a:prstGeom prst="roundRect">
            <a:avLst>
              <a:gd name="adj" fmla="val 50000"/>
            </a:avLst>
          </a:prstGeom>
          <a:solidFill>
            <a:srgbClr val="EFE7D2"/>
          </a:solidFill>
          <a:ln w="12700">
            <a:solidFill>
              <a:srgbClr val="EFE7D2"/>
            </a:solidFill>
            <a:prstDash val="solid"/>
          </a:ln>
        </p:spPr>
      </p:sp>
      <p:sp>
        <p:nvSpPr>
          <p:cNvPr id="98" name="Text 95"/>
          <p:cNvSpPr txBox="1"/>
          <p:nvPr/>
        </p:nvSpPr>
        <p:spPr>
          <a:xfrm>
            <a:off x="960120"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99" name="Text 9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مُحْتَشِمٌ / مُحْتَشِمَةٌ</a:t>
            </a:r>
            <a:endParaRPr lang="ar-SA" sz="3000" dirty="0"/>
          </a:p>
        </p:txBody>
      </p:sp>
      <p:sp>
        <p:nvSpPr>
          <p:cNvPr id="100" name="Text 9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modest</a:t>
            </a:r>
            <a:endParaRPr lang="en-US" sz="1350" dirty="0"/>
          </a:p>
          <a:p>
            <a:pPr indent="0" marL="0">
              <a:buNone/>
            </a:pPr>
            <a:r>
              <a:rPr lang="en-US" sz="1100" i="1" dirty="0">
                <a:solidFill>
                  <a:srgbClr val="5A6472"/>
                </a:solidFill>
                <a:latin typeface="Calibri" pitchFamily="34" charset="0"/>
                <a:cs typeface="Amiri" pitchFamily="2" charset="-78"/>
              </a:rPr>
              <a:t>muḥ-ta-shi-mun / muḥ-ta-shi-ma-tun</a:t>
            </a:r>
            <a:endParaRPr lang="en-US" sz="1350" dirty="0"/>
          </a:p>
        </p:txBody>
      </p:sp>
      <p:sp>
        <p:nvSpPr>
          <p:cNvPr id="101" name="Shape 98"/>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2" name="Text 99"/>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103" name="Text 100"/>
          <p:cNvSpPr txBox="1"/>
          <p:nvPr/>
        </p:nvSpPr>
        <p:spPr>
          <a:xfrm>
            <a:off x="294436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مُحْتَشِمُونَ</a:t>
            </a:r>
            <a:endParaRPr lang="ar-SA" sz="1500" dirty="0"/>
          </a:p>
        </p:txBody>
      </p:sp>
      <p:sp>
        <p:nvSpPr>
          <p:cNvPr id="104" name="Shape 101"/>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05" name="Text 102"/>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106" name="Text 103"/>
          <p:cNvSpPr txBox="1"/>
          <p:nvPr/>
        </p:nvSpPr>
        <p:spPr>
          <a:xfrm>
            <a:off x="179222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مُحْتَشِمَةٌ</a:t>
            </a:r>
            <a:endParaRPr lang="ar-SA" sz="1500" dirty="0"/>
          </a:p>
        </p:txBody>
      </p:sp>
      <p:sp>
        <p:nvSpPr>
          <p:cNvPr id="107" name="Shape 104"/>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08" name="Text 105"/>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9" name="Text 106"/>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مُحْتَشِمٌ</a:t>
            </a:r>
            <a:endParaRPr lang="ar-SA" sz="150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Style and comparison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31</a:t>
            </a:r>
            <a:endParaRPr lang="en-US" sz="1000" dirty="0"/>
          </a:p>
        </p:txBody>
      </p:sp>
      <p:sp>
        <p:nvSpPr>
          <p:cNvPr id="20" name="Shape 17"/>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مُلَوَّنٌ / مُلَوَّنَةٌ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colourful</a:t>
            </a:r>
            <a:endParaRPr lang="en-US" sz="1350" dirty="0"/>
          </a:p>
          <a:p>
            <a:pPr indent="0" marL="0">
              <a:buNone/>
            </a:pPr>
            <a:r>
              <a:rPr lang="en-US" sz="1100" i="1" dirty="0">
                <a:solidFill>
                  <a:srgbClr val="5A6472"/>
                </a:solidFill>
                <a:latin typeface="Calibri" pitchFamily="34" charset="0"/>
                <a:cs typeface="Amiri" pitchFamily="2" charset="-78"/>
              </a:rPr>
              <a:t>mu-law-wa-nun / mu-law-wa-na-tun</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مَلَابِسُ مُلَوَّنَةٌ</a:t>
            </a:r>
            <a:endParaRPr lang="ar-SA" sz="150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9" name="Text 26"/>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مُلَوَّنَةٌ</a:t>
            </a:r>
            <a:endParaRPr lang="ar-SA" sz="150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مُلَوَّنٌ</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32</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بَسِيطٌ / بَسِيطَةٌ</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simple</a:t>
            </a:r>
            <a:endParaRPr lang="en-US" sz="1350" dirty="0"/>
          </a:p>
          <a:p>
            <a:pPr indent="0" marL="0">
              <a:buNone/>
            </a:pPr>
            <a:r>
              <a:rPr lang="en-US" sz="1100" i="1" dirty="0">
                <a:solidFill>
                  <a:srgbClr val="5A6472"/>
                </a:solidFill>
                <a:latin typeface="Calibri" pitchFamily="34" charset="0"/>
                <a:cs typeface="Amiri" pitchFamily="2" charset="-78"/>
              </a:rPr>
              <a:t>ba-sī-ṭun / ba-sī-ṭa-tun</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بُسَطَاءُ</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بَسِيطٌ</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33</a:t>
            </a:r>
            <a:endParaRPr lang="en-US" sz="10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أَكْثَرُ ... مِنْ</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 than</a:t>
            </a:r>
            <a:endParaRPr lang="en-US" sz="1350" dirty="0"/>
          </a:p>
          <a:p>
            <a:pPr indent="0" marL="0">
              <a:buNone/>
            </a:pPr>
            <a:r>
              <a:rPr lang="en-US" sz="1100" i="1" dirty="0">
                <a:solidFill>
                  <a:srgbClr val="5A6472"/>
                </a:solidFill>
                <a:latin typeface="Calibri" pitchFamily="34" charset="0"/>
                <a:cs typeface="Amiri" pitchFamily="2" charset="-78"/>
              </a:rPr>
              <a:t>ak-tha-ru ... min</a:t>
            </a:r>
            <a:endParaRPr lang="en-US" sz="1350" dirty="0"/>
          </a:p>
        </p:txBody>
      </p:sp>
      <p:sp>
        <p:nvSpPr>
          <p:cNvPr id="54" name="Shape 5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8211312"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34</a:t>
            </a:r>
            <a:endParaRPr lang="en-US" sz="1000" dirty="0"/>
          </a:p>
        </p:txBody>
      </p:sp>
      <p:sp>
        <p:nvSpPr>
          <p:cNvPr id="57" name="Text 5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أَقَلُّ ... مِنْ</a:t>
            </a:r>
            <a:endParaRPr lang="ar-SA" sz="3000" dirty="0"/>
          </a:p>
        </p:txBody>
      </p:sp>
      <p:sp>
        <p:nvSpPr>
          <p:cNvPr id="58" name="Text 5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less … than</a:t>
            </a:r>
            <a:endParaRPr lang="en-US" sz="1350" dirty="0"/>
          </a:p>
          <a:p>
            <a:pPr indent="0" marL="0">
              <a:buNone/>
            </a:pPr>
            <a:r>
              <a:rPr lang="en-US" sz="1100" i="1" dirty="0">
                <a:solidFill>
                  <a:srgbClr val="5A6472"/>
                </a:solidFill>
                <a:latin typeface="Calibri" pitchFamily="34" charset="0"/>
                <a:cs typeface="Amiri" pitchFamily="2" charset="-78"/>
              </a:rPr>
              <a:t>a-qal-lu ... min</a:t>
            </a:r>
            <a:endParaRPr lang="en-US"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35</a:t>
            </a:r>
            <a:endParaRPr lang="en-US" sz="1000" dirty="0"/>
          </a:p>
        </p:txBody>
      </p:sp>
      <p:sp>
        <p:nvSpPr>
          <p:cNvPr id="62" name="Text 5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أَفْضَلُ مِنْ</a:t>
            </a:r>
            <a:endParaRPr lang="ar-SA" sz="3000" dirty="0"/>
          </a:p>
        </p:txBody>
      </p:sp>
      <p:sp>
        <p:nvSpPr>
          <p:cNvPr id="63" name="Text 6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better than</a:t>
            </a:r>
            <a:endParaRPr lang="en-US" sz="1350" dirty="0"/>
          </a:p>
          <a:p>
            <a:pPr indent="0" marL="0">
              <a:buNone/>
            </a:pPr>
            <a:r>
              <a:rPr lang="en-US" sz="1100" i="1" dirty="0">
                <a:solidFill>
                  <a:srgbClr val="5A6472"/>
                </a:solidFill>
                <a:latin typeface="Calibri" pitchFamily="34" charset="0"/>
                <a:cs typeface="Amiri" pitchFamily="2" charset="-78"/>
              </a:rPr>
              <a:t>af-ḍa-lu min</a:t>
            </a:r>
            <a:endParaRPr lang="en-US" sz="1350" dirty="0"/>
          </a:p>
        </p:txBody>
      </p:sp>
      <p:sp>
        <p:nvSpPr>
          <p:cNvPr id="64" name="Shape 6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566928" y="4261104"/>
            <a:ext cx="310896" cy="310896"/>
          </a:xfrm>
          <a:prstGeom prst="ellipse">
            <a:avLst/>
          </a:prstGeom>
          <a:solidFill>
            <a:srgbClr val="F4F1EA"/>
          </a:solidFill>
          <a:ln w="12700">
            <a:solidFill>
              <a:srgbClr val="F4F1EA"/>
            </a:solidFill>
            <a:prstDash val="solid"/>
          </a:ln>
        </p:spPr>
      </p:sp>
      <p:sp>
        <p:nvSpPr>
          <p:cNvPr id="66" name="Text 6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36</a:t>
            </a:r>
            <a:endParaRPr lang="en-US" sz="1000" dirty="0"/>
          </a:p>
        </p:txBody>
      </p:sp>
      <p:sp>
        <p:nvSpPr>
          <p:cNvPr id="67" name="Text 6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أَجْمَلُ مِنْ</a:t>
            </a:r>
            <a:endParaRPr lang="ar-SA" sz="3000" dirty="0"/>
          </a:p>
        </p:txBody>
      </p:sp>
      <p:sp>
        <p:nvSpPr>
          <p:cNvPr id="68" name="Text 6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beautiful than</a:t>
            </a:r>
            <a:endParaRPr lang="en-US" sz="1350" dirty="0"/>
          </a:p>
          <a:p>
            <a:pPr indent="0" marL="0">
              <a:buNone/>
            </a:pPr>
            <a:r>
              <a:rPr lang="en-US" sz="1100" i="1" dirty="0">
                <a:solidFill>
                  <a:srgbClr val="5A6472"/>
                </a:solidFill>
                <a:latin typeface="Calibri" pitchFamily="34" charset="0"/>
                <a:cs typeface="Amiri" pitchFamily="2" charset="-78"/>
              </a:rPr>
              <a:t>aj-ma-lu min</a:t>
            </a:r>
            <a:endParaRPr lang="en-US" sz="13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LISTENING SIGNALS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each signal tells the listener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عَلَامَاتُ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Signal</a:t>
            </a:r>
            <a:endParaRPr lang="en-US" sz="1100" dirty="0"/>
          </a:p>
        </p:txBody>
      </p:sp>
      <p:sp>
        <p:nvSpPr>
          <p:cNvPr id="17" name="Text 14"/>
          <p:cNvSpPr txBox="1"/>
          <p:nvPr/>
        </p:nvSpPr>
        <p:spPr>
          <a:xfrm>
            <a:off x="467258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266090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Track …</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Question it answers</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079992" y="2267712"/>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هُوَ / هِيَ · ـهُ / ـهَا</a:t>
            </a:r>
            <a:endParaRPr lang="ar-SA" sz="2400" dirty="0"/>
          </a:p>
        </p:txBody>
      </p:sp>
      <p:sp>
        <p:nvSpPr>
          <p:cNvPr id="22" name="Text 19"/>
          <p:cNvSpPr txBox="1"/>
          <p:nvPr/>
        </p:nvSpPr>
        <p:spPr>
          <a:xfrm>
            <a:off x="4690872" y="2286000"/>
            <a:ext cx="4206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مَرْيَمُ تَرْتَدِي مِعْطَفًا، وَ</a:t>
            </a:r>
            <a:pPr rtl="1" algn="ctr" indent="0" marL="0">
              <a:buNone/>
            </a:pPr>
            <a:r>
              <a:rPr lang="ar-SA" altLang="en-US" sz="2100" b="1" dirty="0">
                <a:solidFill>
                  <a:srgbClr val="0E7C86"/>
                </a:solidFill>
                <a:latin typeface="Amiri" pitchFamily="2" charset="-78"/>
                <a:ea typeface="Amiri" pitchFamily="2" charset="-78"/>
                <a:cs typeface="Amiri" pitchFamily="2" charset="-78"/>
              </a:rPr>
              <a:t>هُوَ</a:t>
            </a:r>
            <a:pPr rtl="1" algn="ctr" indent="0" marL="0">
              <a:buNone/>
            </a:pPr>
            <a:r>
              <a:rPr lang="ar-SA" altLang="en-US" sz="2100" b="1" dirty="0">
                <a:solidFill>
                  <a:srgbClr val="1B3B6F"/>
                </a:solidFill>
                <a:latin typeface="Amiri" pitchFamily="2" charset="-78"/>
                <a:ea typeface="Amiri" pitchFamily="2" charset="-78"/>
                <a:cs typeface="Amiri" pitchFamily="2" charset="-78"/>
              </a:rPr>
              <a:t> أَزْرَقُ.</a:t>
            </a:r>
            <a:endParaRPr lang="ar-SA" sz="2100" dirty="0"/>
          </a:p>
        </p:txBody>
      </p:sp>
      <p:sp>
        <p:nvSpPr>
          <p:cNvPr id="23" name="Text 20"/>
          <p:cNvSpPr txBox="1"/>
          <p:nvPr/>
        </p:nvSpPr>
        <p:spPr>
          <a:xfrm>
            <a:off x="4645152" y="2706624"/>
            <a:ext cx="4297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Maryam wears a coat, and it (the coat) is blue.</a:t>
            </a:r>
            <a:endParaRPr lang="en-US" sz="950" dirty="0"/>
          </a:p>
        </p:txBody>
      </p:sp>
      <p:sp>
        <p:nvSpPr>
          <p:cNvPr id="24" name="Text 21"/>
          <p:cNvSpPr txBox="1"/>
          <p:nvPr/>
        </p:nvSpPr>
        <p:spPr>
          <a:xfrm>
            <a:off x="269748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reference</a:t>
            </a:r>
            <a:endParaRPr lang="en-US" sz="1100" dirty="0"/>
          </a:p>
        </p:txBody>
      </p:sp>
      <p:sp>
        <p:nvSpPr>
          <p:cNvPr id="25" name="Text 22"/>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Who / what is it?</a:t>
            </a:r>
            <a:endParaRPr lang="en-US" sz="1100" dirty="0"/>
          </a:p>
        </p:txBody>
      </p:sp>
      <p:sp>
        <p:nvSpPr>
          <p:cNvPr id="26" name="Shape 23"/>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8" name="Shape 25"/>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9" name="Text 26"/>
          <p:cNvSpPr txBox="1"/>
          <p:nvPr/>
        </p:nvSpPr>
        <p:spPr>
          <a:xfrm>
            <a:off x="9079992" y="3054096"/>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الَّذِي / الَّتِي</a:t>
            </a:r>
            <a:endParaRPr lang="ar-SA" sz="2400" dirty="0"/>
          </a:p>
        </p:txBody>
      </p:sp>
      <p:sp>
        <p:nvSpPr>
          <p:cNvPr id="30" name="Text 27"/>
          <p:cNvSpPr txBox="1"/>
          <p:nvPr/>
        </p:nvSpPr>
        <p:spPr>
          <a:xfrm>
            <a:off x="4690872" y="3072384"/>
            <a:ext cx="4206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أَحْمَدُ هُوَ </a:t>
            </a:r>
            <a:pPr rtl="1" algn="ctr" indent="0" marL="0">
              <a:buNone/>
            </a:pPr>
            <a:r>
              <a:rPr lang="ar-SA" altLang="en-US" sz="2100" b="1" dirty="0">
                <a:solidFill>
                  <a:srgbClr val="0E7C86"/>
                </a:solidFill>
                <a:latin typeface="Amiri" pitchFamily="2" charset="-78"/>
                <a:ea typeface="Amiri" pitchFamily="2" charset="-78"/>
                <a:cs typeface="Amiri" pitchFamily="2" charset="-78"/>
              </a:rPr>
              <a:t>الَّذِي</a:t>
            </a:r>
            <a:pPr rtl="1" algn="ctr" indent="0" marL="0">
              <a:buNone/>
            </a:pPr>
            <a:r>
              <a:rPr lang="ar-SA" altLang="en-US" sz="2100" b="1" dirty="0">
                <a:solidFill>
                  <a:srgbClr val="1B3B6F"/>
                </a:solidFill>
                <a:latin typeface="Amiri" pitchFamily="2" charset="-78"/>
                <a:ea typeface="Amiri" pitchFamily="2" charset="-78"/>
                <a:cs typeface="Amiri" pitchFamily="2" charset="-78"/>
              </a:rPr>
              <a:t> يَتَحَدَّثُ.</a:t>
            </a:r>
            <a:endParaRPr lang="ar-SA" sz="2100" dirty="0"/>
          </a:p>
        </p:txBody>
      </p:sp>
      <p:sp>
        <p:nvSpPr>
          <p:cNvPr id="31" name="Text 28"/>
          <p:cNvSpPr txBox="1"/>
          <p:nvPr/>
        </p:nvSpPr>
        <p:spPr>
          <a:xfrm>
            <a:off x="4645152" y="3493008"/>
            <a:ext cx="4297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Ahmad is the one who is speaking.</a:t>
            </a:r>
            <a:endParaRPr lang="en-US" sz="950" dirty="0"/>
          </a:p>
        </p:txBody>
      </p:sp>
      <p:sp>
        <p:nvSpPr>
          <p:cNvPr id="32" name="Text 29"/>
          <p:cNvSpPr txBox="1"/>
          <p:nvPr/>
        </p:nvSpPr>
        <p:spPr>
          <a:xfrm>
            <a:off x="269748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person</a:t>
            </a:r>
            <a:endParaRPr lang="en-US" sz="1100" dirty="0"/>
          </a:p>
        </p:txBody>
      </p:sp>
      <p:sp>
        <p:nvSpPr>
          <p:cNvPr id="33" name="Text 30"/>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person?</a:t>
            </a:r>
            <a:endParaRPr lang="en-US" sz="1100" dirty="0"/>
          </a:p>
        </p:txBody>
      </p:sp>
      <p:sp>
        <p:nvSpPr>
          <p:cNvPr id="34" name="Shape 31"/>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6" name="Shape 33"/>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7" name="Text 34"/>
          <p:cNvSpPr txBox="1"/>
          <p:nvPr/>
        </p:nvSpPr>
        <p:spPr>
          <a:xfrm>
            <a:off x="9079992" y="3840480"/>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وَلٰكِنَّ / بَيْنَمَا</a:t>
            </a:r>
            <a:endParaRPr lang="ar-SA" sz="2400" dirty="0"/>
          </a:p>
        </p:txBody>
      </p:sp>
      <p:sp>
        <p:nvSpPr>
          <p:cNvPr id="38" name="Text 35"/>
          <p:cNvSpPr txBox="1"/>
          <p:nvPr/>
        </p:nvSpPr>
        <p:spPr>
          <a:xfrm>
            <a:off x="4690872" y="3858768"/>
            <a:ext cx="42062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كَانَ رَسْمِيًّا، </a:t>
            </a:r>
            <a:pPr rtl="1" algn="ctr" indent="0" marL="0">
              <a:buNone/>
            </a:pPr>
            <a:r>
              <a:rPr lang="ar-SA" altLang="en-US" sz="2100" b="1" dirty="0">
                <a:solidFill>
                  <a:srgbClr val="0E7C86"/>
                </a:solidFill>
                <a:latin typeface="Amiri" pitchFamily="2" charset="-78"/>
                <a:ea typeface="Amiri" pitchFamily="2" charset="-78"/>
                <a:cs typeface="Amiri" pitchFamily="2" charset="-78"/>
              </a:rPr>
              <a:t>وَلٰكِنَّهُ</a:t>
            </a:r>
            <a:pPr rtl="1" algn="ctr" indent="0" marL="0">
              <a:buNone/>
            </a:pPr>
            <a:r>
              <a:rPr lang="ar-SA" altLang="en-US" sz="2100" b="1" dirty="0">
                <a:solidFill>
                  <a:srgbClr val="1B3B6F"/>
                </a:solidFill>
                <a:latin typeface="Amiri" pitchFamily="2" charset="-78"/>
                <a:ea typeface="Amiri" pitchFamily="2" charset="-78"/>
                <a:cs typeface="Amiri" pitchFamily="2" charset="-78"/>
              </a:rPr>
              <a:t> الآنَ …</a:t>
            </a:r>
            <a:endParaRPr lang="ar-SA" sz="2100" dirty="0"/>
          </a:p>
        </p:txBody>
      </p:sp>
      <p:sp>
        <p:nvSpPr>
          <p:cNvPr id="39" name="Text 36"/>
          <p:cNvSpPr txBox="1"/>
          <p:nvPr/>
        </p:nvSpPr>
        <p:spPr>
          <a:xfrm>
            <a:off x="4645152" y="4279392"/>
            <a:ext cx="4297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He used to be formal, but now …</a:t>
            </a:r>
            <a:endParaRPr lang="en-US" sz="950" dirty="0"/>
          </a:p>
        </p:txBody>
      </p:sp>
      <p:sp>
        <p:nvSpPr>
          <p:cNvPr id="40" name="Text 37"/>
          <p:cNvSpPr txBox="1"/>
          <p:nvPr/>
        </p:nvSpPr>
        <p:spPr>
          <a:xfrm>
            <a:off x="269748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changed detail</a:t>
            </a:r>
            <a:endParaRPr lang="en-US" sz="1100" dirty="0"/>
          </a:p>
        </p:txBody>
      </p:sp>
      <p:sp>
        <p:nvSpPr>
          <p:cNvPr id="41" name="Text 38"/>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changed?</a:t>
            </a:r>
            <a:endParaRPr lang="en-US" sz="1100" dirty="0"/>
          </a:p>
        </p:txBody>
      </p:sp>
      <p:sp>
        <p:nvSpPr>
          <p:cNvPr id="42" name="Shape 39"/>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3" name="Text 40"/>
          <p:cNvSpPr txBox="1"/>
          <p:nvPr/>
        </p:nvSpPr>
        <p:spPr>
          <a:xfrm>
            <a:off x="9079992" y="4626864"/>
            <a:ext cx="256032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فِي رَأْيِي / أَرَى أَنَّ</a:t>
            </a:r>
            <a:endParaRPr lang="ar-SA" sz="2400" dirty="0"/>
          </a:p>
        </p:txBody>
      </p:sp>
      <p:sp>
        <p:nvSpPr>
          <p:cNvPr id="44" name="Text 41"/>
          <p:cNvSpPr txBox="1"/>
          <p:nvPr/>
        </p:nvSpPr>
        <p:spPr>
          <a:xfrm>
            <a:off x="4690872" y="4645152"/>
            <a:ext cx="4206240" cy="453542"/>
          </a:xfrm>
          <a:prstGeom prst="rect">
            <a:avLst/>
          </a:prstGeom>
          <a:noFill/>
          <a:ln/>
        </p:spPr>
        <p:txBody>
          <a:bodyPr wrap="square" lIns="0" tIns="0" rIns="0" bIns="0" rtlCol="0" anchor="ctr"/>
          <a:lstStyle/>
          <a:p>
            <a:pPr rtl="1" algn="ctr" indent="0" marL="0">
              <a:buNone/>
            </a:pPr>
            <a:r>
              <a:rPr lang="ar-SA" altLang="en-US" sz="2100" b="1" dirty="0">
                <a:solidFill>
                  <a:srgbClr val="0E7C86"/>
                </a:solidFill>
                <a:latin typeface="Amiri" pitchFamily="2" charset="-78"/>
                <a:ea typeface="Amiri" pitchFamily="2" charset="-78"/>
                <a:cs typeface="Amiri" pitchFamily="2" charset="-78"/>
              </a:rPr>
              <a:t>أَرَى أَنَّ</a:t>
            </a:r>
            <a:pPr rtl="1" algn="ctr" indent="0" marL="0">
              <a:buNone/>
            </a:pPr>
            <a:r>
              <a:rPr lang="ar-SA" altLang="en-US" sz="2100" b="1" dirty="0">
                <a:solidFill>
                  <a:srgbClr val="1B3B6F"/>
                </a:solidFill>
                <a:latin typeface="Amiri" pitchFamily="2" charset="-78"/>
                <a:ea typeface="Amiri" pitchFamily="2" charset="-78"/>
                <a:cs typeface="Amiri" pitchFamily="2" charset="-78"/>
              </a:rPr>
              <a:t> أُسْلُوبَهُ مُنَاسِبٌ.</a:t>
            </a:r>
            <a:endParaRPr lang="ar-SA" sz="2100" dirty="0"/>
          </a:p>
        </p:txBody>
      </p:sp>
      <p:sp>
        <p:nvSpPr>
          <p:cNvPr id="45" name="Text 42"/>
          <p:cNvSpPr txBox="1"/>
          <p:nvPr/>
        </p:nvSpPr>
        <p:spPr>
          <a:xfrm>
            <a:off x="4645152" y="5065776"/>
            <a:ext cx="429768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think his style is suitable.</a:t>
            </a:r>
            <a:endParaRPr lang="en-US" sz="950" dirty="0"/>
          </a:p>
        </p:txBody>
      </p:sp>
      <p:sp>
        <p:nvSpPr>
          <p:cNvPr id="46" name="Text 43"/>
          <p:cNvSpPr txBox="1"/>
          <p:nvPr/>
        </p:nvSpPr>
        <p:spPr>
          <a:xfrm>
            <a:off x="269748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opinion</a:t>
            </a:r>
            <a:endParaRPr lang="en-US" sz="1100" dirty="0"/>
          </a:p>
        </p:txBody>
      </p:sp>
      <p:sp>
        <p:nvSpPr>
          <p:cNvPr id="47" name="Text 44"/>
          <p:cNvSpPr txBox="1"/>
          <p:nvPr/>
        </p:nvSpPr>
        <p:spPr>
          <a:xfrm>
            <a:off x="566928" y="4626864"/>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does he / she think?</a:t>
            </a:r>
            <a:endParaRPr lang="en-US" sz="110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never choose an answer from one familiar word — check the whole clause and who it refers to.</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FACT, OPINION, INFERENCE (WEBSITE RULES)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Fact · opinion · inference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حَقِيقَةٌ · رَأْيٌ · اِسْتِنْتَاجٌ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2870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287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FACT · CORE</a:t>
            </a:r>
            <a:endParaRPr lang="en-US" sz="850" dirty="0"/>
          </a:p>
        </p:txBody>
      </p:sp>
      <p:sp>
        <p:nvSpPr>
          <p:cNvPr id="18" name="Text 15"/>
          <p:cNvSpPr txBox="1"/>
          <p:nvPr/>
        </p:nvSpPr>
        <p:spPr>
          <a:xfrm>
            <a:off x="9307068" y="1874520"/>
            <a:ext cx="22875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دَلِيلٌ صَرِيحٌ</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يَرْتَدِي قَمِيصًا أَبْيَضَ.</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is wearing a white shirt.</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You can see / hear it.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OPINION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رَأْيٌ</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2" charset="-78"/>
                <a:ea typeface="Amiri" pitchFamily="2" charset="-78"/>
                <a:cs typeface="Amiri" pitchFamily="2" charset="-78"/>
              </a:rPr>
              <a:t>فِي رَأْيِي، أُسْلُوبُهُ أَنِيقٌ.</a:t>
            </a:r>
            <a:endParaRPr lang="ar-SA" sz="31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In my opinion, his style is elegant.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Signal: in my opinion / I think.</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7734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15773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INFERENCE · STRETCH</a:t>
            </a:r>
            <a:endParaRPr lang="en-US" sz="850" dirty="0"/>
          </a:p>
        </p:txBody>
      </p:sp>
      <p:sp>
        <p:nvSpPr>
          <p:cNvPr id="34" name="Text 31"/>
          <p:cNvSpPr txBox="1"/>
          <p:nvPr/>
        </p:nvSpPr>
        <p:spPr>
          <a:xfrm>
            <a:off x="2217420" y="1874520"/>
            <a:ext cx="17388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اِسْتِنْتَاجٌ</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ea typeface="Amiri" pitchFamily="2" charset="-78"/>
                <a:cs typeface="Amiri" pitchFamily="2" charset="-78"/>
              </a:rPr>
              <a:t>يُسَاعِدُ الجَمِيعَ؛ لِذٰلِكَ يَبْدُو مُتَعَاوِنًا.</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He helps everyone, so he seems helpful.</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Behaviour → probable quality.</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rule: an inference needs a stated action.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2" charset="-78"/>
                <a:ea typeface="Amiri" pitchFamily="2" charset="-78"/>
                <a:cs typeface="Amiri" pitchFamily="2" charset="-78"/>
              </a:rPr>
              <a:t>هِيَ مُتَعَاوِنَةٌ لِأَنَّهَا تُسَاعِدُ زَمِيلَاتِهَا.</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2" charset="-78"/>
                <a:ea typeface="Amiri" pitchFamily="2" charset="-78"/>
                <a:cs typeface="Amiri" pitchFamily="2" charset="-78"/>
              </a:rPr>
              <a:t>هِيَ مُتَعَاوِنَةٌ لِأَنَّ قَمِيصَهَا أَزْرَقُ.</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Listening reference, contrast and inference</a:t>
            </a:r>
            <a:endParaRPr lang="en-US" sz="21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1900" b="1" dirty="0">
                <a:solidFill>
                  <a:srgbClr val="8A6D1E"/>
                </a:solidFill>
                <a:latin typeface="Amiri" pitchFamily="2" charset="-78"/>
                <a:ea typeface="Amiri" pitchFamily="2" charset="-78"/>
                <a:cs typeface="Amiri" pitchFamily="2" charset="-78"/>
              </a:rPr>
              <a:t>مَهَارَاتُ الاِسْتِمَاعِ: المَرْجِعُ وَالتَّغْيِيرُ وَالاِسْتِنْتَاجُ</a:t>
            </a:r>
            <a:endParaRPr lang="ar-SA" sz="19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Track reference</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الاِسْمُ ← الضَّمِيرُ / الَّذِي / الَّتِي</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مَرْيَمُ تَرْتَدِي مِعْطَفًا، وَهُوَ أَزْرَقُ.   ·   أَحْمَدُ هُوَ الَّذِي يَتَحَدَّثُ.</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Distinguish fact and opinion</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دَلِيلٌ صَرِيحٌ / رَأْيٌ مُعَلَّلٌ</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يَرْتَدِي قَمِيصًا أَبْيَضَ.   ·   فِي رَأْيِي، أُسْلُوبُهُ أَنِيقٌ.</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Follow comparison and contrast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مِنْ / بَيْنَمَا / وَلٰكِنَّ</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هِيَ أَكْثَرُ ثِقَةً مِنْهُ.   ·   هُوَ هَادِئٌ، بَيْنَمَا هِيَ مَرِحَةٌ.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Infer from evidence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ea typeface="Amiri" pitchFamily="2" charset="-78"/>
                <a:cs typeface="Amiri" pitchFamily="2" charset="-78"/>
              </a:rPr>
              <a:t>السُّلُوكُ ← الصِّفَةُ المُحْتَمَلَةُ</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ea typeface="Amiri" pitchFamily="2" charset="-78"/>
                <a:cs typeface="Amiri" pitchFamily="2" charset="-78"/>
              </a:rPr>
              <a:t>يُسَاعِدُ الجَمِيعَ؛ لِذٰلِكَ يَبْدُو مُتَعَاوِنًا.</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brother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 قَمِيصًا أَسْوَدَ.</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رَأْيِي هُوَ أَنِيقٌ.</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 يَكُونُ خَجُولًا.</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شَعْرٌ قَصِيرٌ.</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أَرَى أَنَّ أُسْلُوبَهُ مُنَاسِبٌ.</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ثَمَنُهُ خَمْسُونَ جُنَيْهًا.</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مُتَعَاوِنَةٌ لِأَنَّهَا تُسَاعِدُ زَمِيلَاتِهَا.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مُتَعَاوِنَةٌ لِأَنَّ قَمِيصَهَا أَزْرَقُ.</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هِيَ مُتَعَاوِنَةٌ بِلَا دَلِيلٍ.</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brother</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pronoun refers to Maryam.</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يَرْتَدِي قَمِيصًا أَسْوَدَ.</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رَأْيِي هُوَ أَنِيقٌ.</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قَدْ يَكُونُ خَجُولًا.</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observable clothing.</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 شَعْرٌ قَصِيرٌ.</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أَرَى أَنَّ أُسْلُوبَهُ مُنَاسِبٌ.</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ثَمَنُهُ خَمْسُونَ جُنَيْهًا.</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أَرَى أَنَّ</a:t>
            </a:r>
            <a:pPr algn="l" indent="0" marL="0">
              <a:buNone/>
            </a:pPr>
            <a:r>
              <a:rPr lang="en-US" sz="1050" i="1" dirty="0">
                <a:solidFill>
                  <a:srgbClr val="8A6D1E"/>
                </a:solidFill>
                <a:latin typeface="Calibri" pitchFamily="34" charset="0"/>
                <a:cs typeface="Amiri" pitchFamily="2" charset="-78"/>
              </a:rPr>
              <a:t> marks opinion.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inference.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هِيَ مُتَعَاوِنَةٌ لِأَنَّهَا تُسَاعِدُ زَمِيلَاتِهَا.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مُتَعَاوِنَةٌ لِأَنَّ قَمِيصَهَا أَزْرَقُ.</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هِيَ مُتَعَاوِنَةٌ بِلَا دَلِيلٍ.</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action supports the inference.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Watch me catch the changed detail</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1 · Predict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مَاذَا يُفَضِّلُ أَخُو عَلِيٍّ الآنَ؟</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Answer type: a STYLE — and “now”.</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2 · Listen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كَانَ يَرْتَدِي </a:t>
            </a:r>
            <a:pPr rtl="1" algn="ctr" indent="0" marL="0">
              <a:buNone/>
            </a:pPr>
            <a:r>
              <a:rPr lang="ar-SA" altLang="en-US" sz="2200" b="1" dirty="0">
                <a:solidFill>
                  <a:srgbClr val="D6336C"/>
                </a:solidFill>
                <a:latin typeface="Amiri" pitchFamily="2" charset="-78"/>
                <a:ea typeface="Amiri" pitchFamily="2" charset="-78"/>
                <a:cs typeface="Amiri" pitchFamily="2" charset="-78"/>
              </a:rPr>
              <a:t>مَلَابِسَ رَسْمِيَّةً</a:t>
            </a:r>
            <a:pPr rtl="1" algn="ctr" indent="0" marL="0">
              <a:buNone/>
            </a:pPr>
            <a:r>
              <a:rPr lang="ar-SA" altLang="en-US" sz="2200" b="1" dirty="0">
                <a:solidFill>
                  <a:srgbClr val="1B3B6F"/>
                </a:solidFill>
                <a:latin typeface="Amiri" pitchFamily="2" charset="-78"/>
                <a:ea typeface="Amiri" pitchFamily="2" charset="-78"/>
                <a:cs typeface="Amiri" pitchFamily="2" charset="-78"/>
              </a:rPr>
              <a:t>،</a:t>
            </a:r>
            <a:endParaRPr lang="ar-SA" sz="22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Trap! That was BEFORE.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3 · After “but”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2" charset="-78"/>
                <a:ea typeface="Amiri" pitchFamily="2" charset="-78"/>
                <a:cs typeface="Amiri" pitchFamily="2" charset="-78"/>
              </a:rPr>
              <a:t>وَلٰكِنَّهُ الآنَ</a:t>
            </a:r>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 يُفَضِّلُ </a:t>
            </a:r>
            <a:pPr rtl="1" algn="ctr" indent="0" marL="0">
              <a:lnSpc>
                <a:spcPct val="120000"/>
              </a:lnSpc>
              <a:buNone/>
            </a:pPr>
            <a:r>
              <a:rPr lang="ar-SA" altLang="en-US" sz="1750" b="1" dirty="0">
                <a:solidFill>
                  <a:srgbClr val="1D5FBF"/>
                </a:solidFill>
                <a:latin typeface="Amiri" pitchFamily="2" charset="-78"/>
                <a:ea typeface="Amiri" pitchFamily="2" charset="-78"/>
                <a:cs typeface="Amiri" pitchFamily="2" charset="-78"/>
              </a:rPr>
              <a:t>أُسْلُوبًا أَكْثَرَ رَاحَةً</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“Now” → the answer.</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4 · Evidence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الجَوَابُ: أُسْلُوبٌ أَكْثَرُ رَاحَةً (بَعْدَ «وَلٰكِنَّهُ الآنَ»).</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Quote the words.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DISTRACTOR (BEFORE)</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SIGNAL</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ANSWER (NOW)</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السُّؤَالُ: مَاذَا يُفَضِّلُ أَخُو عَلِيٍّ الآنَ؟ ← سَمِعْتُ: كَانَ يَرْتَدِي </a:t>
            </a:r>
            <a:pPr rtl="1" algn="r" indent="0" marL="0">
              <a:buNone/>
            </a:pPr>
            <a:r>
              <a:rPr lang="ar-SA" altLang="en-US" sz="1700" b="1" dirty="0">
                <a:solidFill>
                  <a:srgbClr val="D6336C"/>
                </a:solidFill>
                <a:latin typeface="Amiri" pitchFamily="2" charset="-78"/>
                <a:ea typeface="Amiri" pitchFamily="2" charset="-78"/>
                <a:cs typeface="Amiri" pitchFamily="2" charset="-78"/>
              </a:rPr>
              <a:t>مَلَابِسَ رَسْمِيَّةً</a:t>
            </a:r>
            <a:pPr rtl="1" algn="r" indent="0" marL="0">
              <a:buNone/>
            </a:pPr>
            <a:r>
              <a:rPr lang="ar-SA" altLang="en-US" sz="1700" b="1" dirty="0">
                <a:solidFill>
                  <a:srgbClr val="1B3B6F"/>
                </a:solidFill>
                <a:latin typeface="Amiri" pitchFamily="2" charset="-78"/>
                <a:ea typeface="Amiri" pitchFamily="2" charset="-78"/>
                <a:cs typeface="Amiri" pitchFamily="2" charset="-78"/>
              </a:rPr>
              <a:t>، </a:t>
            </a:r>
            <a:pPr rtl="1" algn="r" indent="0" marL="0">
              <a:buNone/>
            </a:pPr>
            <a:r>
              <a:rPr lang="ar-SA" altLang="en-US" sz="1700" b="1" dirty="0">
                <a:solidFill>
                  <a:srgbClr val="0E7C86"/>
                </a:solidFill>
                <a:latin typeface="Amiri" pitchFamily="2" charset="-78"/>
                <a:ea typeface="Amiri" pitchFamily="2" charset="-78"/>
                <a:cs typeface="Amiri" pitchFamily="2" charset="-78"/>
              </a:rPr>
              <a:t>وَلٰكِنَّهُ الآنَ</a:t>
            </a:r>
            <a:pPr rtl="1" algn="r" indent="0" marL="0">
              <a:buNone/>
            </a:pPr>
            <a:r>
              <a:rPr lang="ar-SA" altLang="en-US" sz="1700" b="1" dirty="0">
                <a:solidFill>
                  <a:srgbClr val="1B3B6F"/>
                </a:solidFill>
                <a:latin typeface="Amiri" pitchFamily="2" charset="-78"/>
                <a:ea typeface="Amiri" pitchFamily="2" charset="-78"/>
                <a:cs typeface="Amiri" pitchFamily="2" charset="-78"/>
              </a:rPr>
              <a:t> يُفَضِّلُ </a:t>
            </a:r>
            <a:pPr rtl="1" algn="r" indent="0" marL="0">
              <a:buNone/>
            </a:pPr>
            <a:r>
              <a:rPr lang="ar-SA" altLang="en-US" sz="1700" b="1" dirty="0">
                <a:solidFill>
                  <a:srgbClr val="1D5FBF"/>
                </a:solidFill>
                <a:latin typeface="Amiri" pitchFamily="2" charset="-78"/>
                <a:ea typeface="Amiri" pitchFamily="2" charset="-78"/>
                <a:cs typeface="Amiri" pitchFamily="2" charset="-78"/>
              </a:rPr>
              <a:t>أُسْلُوبًا أَكْثَرَ رَاحَةً</a:t>
            </a:r>
            <a:pPr rtl="1" algn="r" indent="0" marL="0">
              <a:buNone/>
            </a:pPr>
            <a:r>
              <a:rPr lang="ar-SA" altLang="en-US" sz="1700" b="1" dirty="0">
                <a:solidFill>
                  <a:srgbClr val="1B3B6F"/>
                </a:solidFill>
                <a:latin typeface="Amiri" pitchFamily="2" charset="-78"/>
                <a:ea typeface="Amiri" pitchFamily="2" charset="-78"/>
                <a:cs typeface="Amiri" pitchFamily="2" charset="-78"/>
              </a:rPr>
              <a:t>. ← الجَوَابُ: </a:t>
            </a:r>
            <a:pPr rtl="1" algn="r" indent="0" marL="0">
              <a:buNone/>
            </a:pPr>
            <a:r>
              <a:rPr lang="ar-SA" altLang="en-US" sz="1700" b="1" dirty="0">
                <a:solidFill>
                  <a:srgbClr val="1D5FBF"/>
                </a:solidFill>
                <a:latin typeface="Amiri" pitchFamily="2" charset="-78"/>
                <a:ea typeface="Amiri" pitchFamily="2" charset="-78"/>
                <a:cs typeface="Amiri" pitchFamily="2" charset="-78"/>
              </a:rPr>
              <a:t>أُسْلُوبٌ أَكْثَرُ رَاحَةً</a:t>
            </a:r>
            <a:pPr rtl="1" algn="r" indent="0" marL="0">
              <a:buNone/>
            </a:pPr>
            <a:r>
              <a:rPr lang="ar-SA" altLang="en-US" sz="1700" b="1" dirty="0">
                <a:solidFill>
                  <a:srgbClr val="1B3B6F"/>
                </a:solidFill>
                <a:latin typeface="Amiri" pitchFamily="2" charset="-78"/>
                <a:cs typeface="Amiri" pitchFamily="2" charset="-78"/>
              </a:rPr>
              <a:t>.</a:t>
            </a:r>
            <a:endParaRPr lang="ar-SA" sz="17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Question: What does Ali’s brother prefer now? → I heard: he used to wear formal clothes, but now he prefers a more comfortable style. → Answer: a more comfortable style.</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مَرْيَمُ تَرْتَدِي مِعْطَفًا، وَهُوَ أَزْرَقُ.</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Maryam is wearing a coat, and it is blue.</a:t>
            </a:r>
            <a:endParaRPr lang="en-US" sz="1250" dirty="0"/>
          </a:p>
          <a:p>
            <a:pPr indent="0" marL="0">
              <a:buNone/>
            </a:pPr>
            <a:r>
              <a:rPr lang="en-US" sz="1050" i="1" dirty="0">
                <a:solidFill>
                  <a:srgbClr val="8A6D1E"/>
                </a:solidFill>
                <a:latin typeface="Calibri" pitchFamily="34" charset="0"/>
                <a:cs typeface="Amiri" pitchFamily="2" charset="-78"/>
              </a:rPr>
              <a:t>Reference: huwa = the coat.</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رَأْيِي، أُسْلُوبُهُ أَنِيقٌ.</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my opinion, his style is elegant.</a:t>
            </a:r>
            <a:endParaRPr lang="en-US" sz="1250" dirty="0"/>
          </a:p>
          <a:p>
            <a:pPr indent="0" marL="0">
              <a:buNone/>
            </a:pPr>
            <a:r>
              <a:rPr lang="en-US" sz="1050" i="1" dirty="0">
                <a:solidFill>
                  <a:srgbClr val="8A6D1E"/>
                </a:solidFill>
                <a:latin typeface="Calibri" pitchFamily="34" charset="0"/>
                <a:cs typeface="Amiri" pitchFamily="2" charset="-78"/>
              </a:rPr>
              <a:t>Opinion signal.</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هُوَ هَادِئٌ، بَيْنَمَا هِيَ مَرِحَةٌ.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is calm, whereas she is cheerful.</a:t>
            </a:r>
            <a:endParaRPr lang="en-US" sz="1250" dirty="0"/>
          </a:p>
          <a:p>
            <a:pPr indent="0" marL="0">
              <a:buNone/>
            </a:pPr>
            <a:r>
              <a:rPr lang="en-US" sz="1050" i="1" dirty="0">
                <a:solidFill>
                  <a:srgbClr val="8A6D1E"/>
                </a:solidFill>
                <a:latin typeface="Calibri" pitchFamily="34" charset="0"/>
                <a:cs typeface="Amiri" pitchFamily="2" charset="-78"/>
              </a:rPr>
              <a:t>Contrast.</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يُسَاعِدُ الجَمِيعَ؛ لِذٰلِكَ يَبْدُو مُتَعَاوِنًا.</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He helps everyone, so he seems helpful.</a:t>
            </a:r>
            <a:endParaRPr lang="en-US" sz="1250" dirty="0"/>
          </a:p>
          <a:p>
            <a:pPr indent="0" marL="0">
              <a:buNone/>
            </a:pPr>
            <a:r>
              <a:rPr lang="en-US" sz="1050" i="1" dirty="0">
                <a:solidFill>
                  <a:srgbClr val="8A6D1E"/>
                </a:solidFill>
                <a:latin typeface="Calibri" pitchFamily="34" charset="0"/>
                <a:cs typeface="Amiri" pitchFamily="2" charset="-78"/>
              </a:rPr>
              <a:t>Inference from evidence.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Fact, opinion or inference?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يَرْتَدِي قَمِيصًا أَسْوَدَ.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لَهَا شَعْرٌ قَصِيرٌ.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ثَمَنُهُ خَمْسُونَ جُنَيْهًا.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هُوَ أَنِيقٌ.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أَرَى أَنَّ أُسْلُوبَهُ مُنَاسِبٌ.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550" b="1" dirty="0">
                <a:solidFill>
                  <a:srgbClr val="1B3B6F"/>
                </a:solidFill>
                <a:latin typeface="Amiri" pitchFamily="2" charset="-78"/>
                <a:ea typeface="Amiri" pitchFamily="2" charset="-78"/>
                <a:cs typeface="Amiri" pitchFamily="2" charset="-78"/>
              </a:rPr>
              <a:t>يُسَاعِدُ الجَمِيعَ؛ لِذٰلِكَ يَبْدُو مُتَعَاوِنًا.</a:t>
            </a:r>
            <a:endParaRPr lang="ar-SA" sz="155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750" b="1" dirty="0">
                <a:solidFill>
                  <a:srgbClr val="1B3B6F"/>
                </a:solidFill>
                <a:latin typeface="Amiri" pitchFamily="2" charset="-78"/>
                <a:ea typeface="Amiri" pitchFamily="2" charset="-78"/>
                <a:cs typeface="Amiri" pitchFamily="2" charset="-78"/>
              </a:rPr>
              <a:t>لَا يَخَافُ مِنَ الجَدِيدِ؛ فَهُوَ وَاثِقٌ.</a:t>
            </a:r>
            <a:endParaRPr lang="ar-SA" sz="1750" dirty="0"/>
          </a:p>
        </p:txBody>
      </p:sp>
      <p:sp>
        <p:nvSpPr>
          <p:cNvPr id="29" name="Shape 26"/>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0" name="Shape 27"/>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Fact</a:t>
            </a:r>
            <a:endParaRPr lang="en-US" sz="950" dirty="0"/>
          </a:p>
        </p:txBody>
      </p:sp>
      <p:sp>
        <p:nvSpPr>
          <p:cNvPr id="32" name="Shape 29"/>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3" name="Shape 30"/>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4" name="Text 31"/>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Opinion</a:t>
            </a:r>
            <a:endParaRPr lang="en-US" sz="950" dirty="0"/>
          </a:p>
        </p:txBody>
      </p:sp>
      <p:sp>
        <p:nvSpPr>
          <p:cNvPr id="35" name="Shape 32"/>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6" name="Shape 33"/>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Inference</a:t>
            </a:r>
            <a:endParaRPr lang="en-US" sz="9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Fact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يَرْتَدِي قَمِيصًا أَسْوَدَ.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لَهَا شَعْرٌ قَصِيرٌ.</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ثَمَنُهُ خَمْسُونَ جُنَيْهًا.</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Opinion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فِي رَأْيِي هُوَ أَنِيقٌ.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أَرَى أَنَّ أُسْلُوبَهُ مُنَاسِبٌ.</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Inference</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يُسَاعِدُ الجَمِيعَ؛ لِذٰلِكَ يَبْدُو مُتَعَاوِنًا.</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يَخَافُ مِنَ الجَدِيدِ؛ فَهُوَ وَاثِقٌ.</a:t>
            </a:r>
            <a:endParaRPr lang="ar-SA" sz="18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5, 6, 7</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هِيَ أَكْثَرُ ثِقَةً ___ أُخْتِهَا.</a:t>
            </a:r>
            <a:endParaRPr lang="ar-SA" sz="1500" dirty="0"/>
          </a:p>
        </p:txBody>
      </p:sp>
      <p:sp>
        <p:nvSpPr>
          <p:cNvPr id="35" name="Shape 32"/>
          <p:cNvSpPr/>
          <p:nvPr/>
        </p:nvSpPr>
        <p:spPr>
          <a:xfrm>
            <a:off x="6368796"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38" name="Shape 35"/>
          <p:cNvSpPr/>
          <p:nvPr/>
        </p:nvSpPr>
        <p:spPr>
          <a:xfrm>
            <a:off x="6368796"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1" name="Shape 38"/>
          <p:cNvSpPr/>
          <p:nvPr/>
        </p:nvSpPr>
        <p:spPr>
          <a:xfrm>
            <a:off x="6368796"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44" name="Shape 41"/>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585216" y="4288536"/>
            <a:ext cx="310896" cy="310896"/>
          </a:xfrm>
          <a:prstGeom prst="ellipse">
            <a:avLst/>
          </a:prstGeom>
          <a:solidFill>
            <a:srgbClr val="1B3B6F"/>
          </a:solidFill>
          <a:ln w="12700">
            <a:solidFill>
              <a:srgbClr val="1B3B6F"/>
            </a:solidFill>
            <a:prstDash val="solid"/>
          </a:ln>
        </p:spPr>
      </p:sp>
      <p:sp>
        <p:nvSpPr>
          <p:cNvPr id="46" name="Text 4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7" name="Text 44"/>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supports “generous”?</a:t>
            </a:r>
            <a:endParaRPr lang="en-US" sz="125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 حِذَاءً أَسْوَدَ.</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يُقَدِّمُ وَقْتَهُ لِمُسَاعَدَةِ الآخَرِينَ.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طَوِيلٌ.</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الَّتِي</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masculine antecedent</a:t>
            </a:r>
            <a:endParaRPr lang="en-US" sz="12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plural verb</a:t>
            </a:r>
            <a:endParaRPr lang="en-US" sz="12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feminine antecedent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وَلٰكِنَّ</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signals contrast.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36" name="Text 33"/>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هِيَ أَكْثَرُ ثِقَةً ___ أُخْتِهَا.</a:t>
            </a:r>
            <a:endParaRPr lang="ar-SA" sz="1500" dirty="0"/>
          </a:p>
        </p:txBody>
      </p:sp>
      <p:sp>
        <p:nvSpPr>
          <p:cNvPr id="37" name="Shape 34"/>
          <p:cNvSpPr/>
          <p:nvPr/>
        </p:nvSpPr>
        <p:spPr>
          <a:xfrm>
            <a:off x="6368796" y="2490216"/>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40" name="Shape 37"/>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2862072"/>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3" name="Text 40"/>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44" name="Shape 41"/>
          <p:cNvSpPr/>
          <p:nvPr/>
        </p:nvSpPr>
        <p:spPr>
          <a:xfrm>
            <a:off x="6368796" y="3233928"/>
            <a:ext cx="256032" cy="256032"/>
          </a:xfrm>
          <a:prstGeom prst="ellipse">
            <a:avLst/>
          </a:prstGeom>
          <a:solidFill>
            <a:srgbClr val="C9CED6"/>
          </a:solidFill>
          <a:ln w="12700">
            <a:solidFill>
              <a:srgbClr val="C9CED6"/>
            </a:solidFill>
            <a:prstDash val="solid"/>
          </a:ln>
        </p:spPr>
      </p:sp>
      <p:sp>
        <p:nvSpPr>
          <p:cNvPr id="45" name="Text 42"/>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6" name="Text 43"/>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47" name="Text 44"/>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 uses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8" name="Shape 4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1" name="Text 4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supports “generous”?</a:t>
            </a:r>
            <a:endParaRPr lang="en-US" sz="125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يَرْتَدِي حِذَاءً أَسْوَدَ.</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يُقَدِّمُ وَقْتَهُ لِمُسَاعَدَةِ الآخَرِينَ.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طَوِيلٌ.</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Giving time to help others supports generosity.</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الَّتِي</a:t>
            </a:r>
            <a:pPr algn="l" indent="0" marL="0">
              <a:buNone/>
            </a:pPr>
            <a:r>
              <a:rPr lang="en-US" sz="1250" b="1" dirty="0">
                <a:solidFill>
                  <a:srgbClr val="1B3B6F"/>
                </a:solidFill>
                <a:latin typeface="Calibri" pitchFamily="34" charset="0"/>
                <a:cs typeface="Amiri" pitchFamily="2" charset="-78"/>
              </a:rPr>
              <a:t> refer to?</a:t>
            </a:r>
            <a:endParaRPr lang="en-US" sz="125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masculine antecedent</a:t>
            </a:r>
            <a:endParaRPr lang="en-US" sz="125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plural verb</a:t>
            </a:r>
            <a:endParaRPr lang="en-US" sz="125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feminine antecedent</a:t>
            </a:r>
            <a:endParaRPr lang="en-US" sz="125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التي</a:t>
            </a:r>
            <a:pPr algn="l" indent="0" marL="0">
              <a:buNone/>
            </a:pPr>
            <a:r>
              <a:rPr lang="en-US" sz="1050" i="1" dirty="0">
                <a:solidFill>
                  <a:srgbClr val="8A6D1E"/>
                </a:solidFill>
                <a:latin typeface="Calibri" pitchFamily="34" charset="0"/>
                <a:cs typeface="Amiri" pitchFamily="2" charset="-78"/>
              </a:rPr>
              <a:t> is feminine singular.</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مَرْيَمُ تَرْتَدِي مِعْطَفًا، وَهِيَ أَزْرَقُ.</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coat (miʿṭaf) is masculine: huwa or hiya?</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هُوَ هَادِئٌ، لِأَنَّ هِيَ مَرِحَةٌ.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Contrast or reason?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هِيَ مُتَعَاوِنَةٌ لِأَنَّ قَمِيصَهَا أَزْرَقُ.</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Is a colour evidence of character?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مَرْيَمُ تَرْتَدِي مِعْطَفًا، وَهِيَ أَزْرَقُ.</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مَرْيَمُ تَرْتَدِي مِعْطَفًا، وَهُوَ أَزْرَقُ.</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coat is masculine → </a:t>
            </a:r>
            <a:pPr algn="l" indent="0" marL="0">
              <a:buNone/>
            </a:pPr>
            <a:r>
              <a:rPr lang="ar-SA" altLang="en-US" sz="1500" b="1" dirty="0">
                <a:solidFill>
                  <a:srgbClr val="1B3B6F"/>
                </a:solidFill>
                <a:latin typeface="Amiri" pitchFamily="2" charset="-78"/>
                <a:ea typeface="Amiri" pitchFamily="2" charset="-78"/>
                <a:cs typeface="Amiri" pitchFamily="2" charset="-78"/>
              </a:rPr>
              <a:t>هُوَ</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هُوَ هَادِئٌ، لِأَنَّ هِيَ مَرِحَةٌ.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هُوَ هَادِئٌ، بَيْنَمَا هِيَ مَرِحَةٌ.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contrast needs </a:t>
            </a:r>
            <a:pPr algn="l" indent="0" marL="0">
              <a:buNone/>
            </a:pPr>
            <a:r>
              <a:rPr lang="ar-SA" altLang="en-US" sz="1500" b="1" dirty="0">
                <a:solidFill>
                  <a:srgbClr val="1B3B6F"/>
                </a:solidFill>
                <a:latin typeface="Amiri" pitchFamily="2" charset="-78"/>
                <a:ea typeface="Amiri" pitchFamily="2" charset="-78"/>
                <a:cs typeface="Amiri" pitchFamily="2" charset="-78"/>
              </a:rPr>
              <a:t>بَيْنَمَا</a:t>
            </a:r>
            <a:pPr algn="l" indent="0" marL="0">
              <a:buNone/>
            </a:pPr>
            <a:r>
              <a:rPr lang="en-US" sz="1150" b="1" dirty="0">
                <a:solidFill>
                  <a:srgbClr val="1B3B6F"/>
                </a:solidFill>
                <a:latin typeface="Calibri" pitchFamily="34" charset="0"/>
                <a:cs typeface="Amiri" pitchFamily="2" charset="-78"/>
              </a:rPr>
              <a:t>, not a reason.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هِيَ مُتَعَاوِنَةٌ لِأَنَّ قَمِيصَهَا أَزْرَقُ.</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هِيَ مُتَعَاوِنَةٌ لِأَنَّهَا تُسَاعِدُ زَمِيلَاتِهَا.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 inference needs behaviour as evidence.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1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Dialogue 1: Samira describes Nadia</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Samira describe?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friend Nadia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sister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teacher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Nadia in class?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cheerful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loud</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calm</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she with her friends?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serious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cheerful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she like and what does she wear?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medium height, short hair, simple clothes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tall, long hair, formal clothes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short, curly hair, colourful clothes</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Two answers change after “but” (calm → cheerful).</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هَادِئَةٌ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مَرِحَةٌ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بَسِيطَةً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الحِوَارِ الأَوَّلِ تَصِفُ سَمِيرَةُ صَدِيقَتَهَا نَادِيَةَ.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first dialogue Samira describes her friend Nadia.</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تَقُولُ إِنَّهَا هَادِئَةٌ فِي الفَصْلِ، وَلٰكِنَّهَا مَرِحَةٌ مَعَ أَصْدِقَائِهَا.</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She says that she is calm in class, but cheerful with her friends.</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نَادِيَةُ مُتَوَسِّطَةُ القَامَةِ وَلَهَا شَعْرٌ قَصِيرٌ، وَتَرْتَدِي عَادَةً مَلَابِسَ بَسِيطَةً.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Nadia is of medium height and has short hair, and she usually wears simple clothes.</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1: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Samira describe?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friend Nadia</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sister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teacher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تَصِفُ سَمِيرَةُ صَدِيقَتَهَا نَادِيَةَ.</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Nadia in class?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cheerful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loud</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calm</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هَادِئَةٌ فِي الفَصْلِ.</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she with her friends?</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calm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serious</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cheerful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وَلٰكِنَّهَا مَرِحَةٌ مَعَ أَصْدِقَائِهَا.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she like and what does she wear?</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medium height, short hair, simple clothes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tall, long hair, formal clothes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short, curly hair, colourful clothes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مُتَوَسِّطَةُ القَامَةِ وَلَهَا شَعْرٌ قَصِيرٌ … مَلَابِسَ بَسِيطَةً.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cs typeface="Amiri" pitchFamily="2" charset="-78"/>
              </a:rPr>
              <a:t>Two answers change after “but” (calm → cheerful).</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Listen for: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هَادِئَةٌ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مَرِحَةٌ</a:t>
            </a:r>
            <a:pPr algn="l" indent="0" marL="0">
              <a:lnSpc>
                <a:spcPct val="115000"/>
              </a:lnSpc>
              <a:buNone/>
            </a:pPr>
            <a:r>
              <a:rPr lang="en-US" sz="1250" dirty="0">
                <a:solidFill>
                  <a:srgbClr val="1E6B52"/>
                </a:solidFill>
                <a:latin typeface="Calibri" pitchFamily="34" charset="0"/>
                <a:cs typeface="Amiri" pitchFamily="2" charset="-78"/>
              </a:rPr>
              <a:t> ·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بَسِيطَةً</a:t>
            </a:r>
            <a:pPr algn="l" indent="0" marL="0">
              <a:lnSpc>
                <a:spcPct val="115000"/>
              </a:lnSpc>
              <a:buNone/>
            </a:pPr>
            <a:r>
              <a:rPr lang="en-US" sz="1250" dirty="0">
                <a:solidFill>
                  <a:srgbClr val="1E6B52"/>
                </a:solidFill>
                <a:latin typeface="Calibri" pitchFamily="34" charset="0"/>
                <a:cs typeface="Amiri" pitchFamily="2" charset="-78"/>
              </a:rPr>
              <a:t>.</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TEXT 2 OF 2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cs typeface="Amiri" pitchFamily="2" charset="-78"/>
              </a:rPr>
              <a:t>Dialogue 2: Ali talks about his brother</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Ali talk about?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brother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friend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father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his brother USED TO wear?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sports clothes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traditional clothes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clothes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prefer NOW?</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more formal clothes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same style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more comfortable style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Ali think his brother is confident?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not afraid to try a new style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is tall</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 talks a lot</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0" name="Text 67"/>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كَانَ</a:t>
            </a:r>
            <a:pPr algn="l" indent="0" marL="0">
              <a:lnSpc>
                <a:spcPct val="115000"/>
              </a:lnSpc>
              <a:buNone/>
            </a:pPr>
            <a:r>
              <a:rPr lang="en-US" sz="1250" dirty="0">
                <a:solidFill>
                  <a:srgbClr val="1E6B52"/>
                </a:solidFill>
                <a:latin typeface="Calibri" pitchFamily="34" charset="0"/>
                <a:cs typeface="Amiri" pitchFamily="2" charset="-78"/>
              </a:rPr>
              <a:t> = before.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الآنَ</a:t>
            </a:r>
            <a:pPr algn="l" indent="0" marL="0">
              <a:lnSpc>
                <a:spcPct val="115000"/>
              </a:lnSpc>
              <a:buNone/>
            </a:pPr>
            <a:r>
              <a:rPr lang="en-US" sz="1250" dirty="0">
                <a:solidFill>
                  <a:srgbClr val="1E6B52"/>
                </a:solidFill>
                <a:latin typeface="Calibri" pitchFamily="34" charset="0"/>
                <a:cs typeface="Amiri" pitchFamily="2" charset="-78"/>
              </a:rPr>
              <a:t> = now.</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Question 4 is an INFERENCE: find the evidence.</a:t>
            </a:r>
            <a:endParaRPr lang="en-US" sz="12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الحِوَارِ الثَّانِي يَتَحَدَّثُ عَلِيٌّ عَنْ أَخِيهِ.</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second dialogue Ali talks about his brother.</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كَانَ أَخُوهُ يَرْتَدِي مَلَابِسَ رَسْمِيَّةً، وَلٰكِنَّهُ الآنَ يُفَضِّلُ أُسْلُوبًا أَكْثَرَ رَاحَةً.</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His brother used to wear formal clothes, but now he prefers a more comfortable style.</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عَلِيٌّ يَرَى أَنَّ أَخَاهُ وَاثِقٌ لِأَنَّهُ لَا يَخَافُ مِنْ تَجْرِبَةِ أُسْلُوبٍ جَدِيدٍ.</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Ali thinks his brother is confident because he is not afraid of trying a new style.</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Text 2: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Whom does Ali talk about?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his brother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friend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his father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يَتَحَدَّثُ عَلِيٌّ عَنْ أَخِيهِ.</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his brother USED TO wear?</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sports clothes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traditional clothes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formal clothes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كَانَ أَخُوهُ يَرْتَدِي مَلَابِسَ رَسْمِيَّةً.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prefer NOW?</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more formal clothes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same style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more comfortable style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وَلٰكِنَّهُ الآنَ يُفَضِّلُ أُسْلُوبًا أَكْثَرَ رَاحَةً.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Ali think his brother is confident?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 is not afraid to try a new style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is tall</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 talks a lot</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لِأَنَّهُ لَا يَخَافُ مِنْ تَجْرِبَةِ أُسْلُوبٍ جَدِيدٍ.</a:t>
            </a:r>
            <a:endParaRPr lang="ar-SA" sz="13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7" name="Text 74"/>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78" name="Text 75"/>
          <p:cNvSpPr txBox="1"/>
          <p:nvPr/>
        </p:nvSpPr>
        <p:spPr>
          <a:xfrm>
            <a:off x="4477512" y="4791456"/>
            <a:ext cx="3270504" cy="1380744"/>
          </a:xfrm>
          <a:prstGeom prst="rect">
            <a:avLst/>
          </a:prstGeom>
          <a:noFill/>
          <a:ln/>
        </p:spPr>
        <p:txBody>
          <a:bodyPr wrap="square" lIns="0" tIns="0" rIns="0" bIns="0" rtlCol="0" anchor="t"/>
          <a:lstStyle/>
          <a:p>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كَانَ</a:t>
            </a:r>
            <a:pPr algn="l" indent="0" marL="0">
              <a:lnSpc>
                <a:spcPct val="115000"/>
              </a:lnSpc>
              <a:buNone/>
            </a:pPr>
            <a:r>
              <a:rPr lang="en-US" sz="1250" dirty="0">
                <a:solidFill>
                  <a:srgbClr val="1E6B52"/>
                </a:solidFill>
                <a:latin typeface="Calibri" pitchFamily="34" charset="0"/>
                <a:cs typeface="Amiri" pitchFamily="2" charset="-78"/>
              </a:rPr>
              <a:t> = before. </a:t>
            </a:r>
            <a:pPr algn="l" indent="0" marL="0">
              <a:lnSpc>
                <a:spcPct val="115000"/>
              </a:lnSpc>
              <a:buNone/>
            </a:pPr>
            <a:r>
              <a:rPr lang="ar-SA" altLang="en-US" sz="1650" dirty="0">
                <a:solidFill>
                  <a:srgbClr val="1E6B52"/>
                </a:solidFill>
                <a:latin typeface="Amiri" pitchFamily="2" charset="-78"/>
                <a:ea typeface="Amiri" pitchFamily="2" charset="-78"/>
                <a:cs typeface="Amiri" pitchFamily="2" charset="-78"/>
              </a:rPr>
              <a:t>الآنَ</a:t>
            </a:r>
            <a:pPr algn="l" indent="0" marL="0">
              <a:lnSpc>
                <a:spcPct val="115000"/>
              </a:lnSpc>
              <a:buNone/>
            </a:pPr>
            <a:r>
              <a:rPr lang="en-US" sz="1250" dirty="0">
                <a:solidFill>
                  <a:srgbClr val="1E6B52"/>
                </a:solidFill>
                <a:latin typeface="Calibri" pitchFamily="34" charset="0"/>
                <a:cs typeface="Amiri" pitchFamily="2" charset="-78"/>
              </a:rPr>
              <a:t> = now.</a:t>
            </a:r>
            <a:endParaRPr lang="en-US" sz="1250" dirty="0"/>
          </a:p>
          <a:p>
            <a:pPr algn="l" indent="0" marL="0">
              <a:lnSpc>
                <a:spcPct val="115000"/>
              </a:lnSpc>
              <a:buNone/>
            </a:pPr>
            <a:r>
              <a:rPr lang="en-US" sz="1250" dirty="0">
                <a:solidFill>
                  <a:srgbClr val="1E6B52"/>
                </a:solidFill>
                <a:latin typeface="Calibri" pitchFamily="34" charset="0"/>
                <a:cs typeface="Amiri" pitchFamily="2" charset="-78"/>
              </a:rPr>
              <a:t>Question 4 is an INFERENCE: find the evidence.</a:t>
            </a:r>
            <a:endParaRPr lang="en-US" sz="12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Developed speaking: listening to people and style</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الكَلِمَاتُ الَّتِي تُسَاعِدُكَ عَلَى تَتَبُّعِ المُتَحَدِّثِ؟</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تَغْيِيرًا سَمِعْتَهُ فِي النَّصِّ.</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تُفَرِّقُ بَيْنَ الحَقِيقَةِ وَالرَّأْيِ؟</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اذْكُرِ اسْتِنْتَاجًا وَدَلِيلَهُ.</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تُسَاعِدُنِي كَلِمَاتٌ مِثْلُ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كَانَ ___ ، وَلٰكِنَّهُ الآنَ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الحَقِيقَةُ: ___ . الرَّأْيُ: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يَبْدُو ___ ؛ وَالدَّلِيلُ أَنَّهُ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مَنْ تَصِفُ سَمِيرَةُ؟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Whom does Samira describe?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تَصِفُ صَدِيقَتَهَا نَادِيَةَ.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She describes her friend Nadia.</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Secure the main vocabulary and produce four accurate sentences using the taught frame.</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Describe Nadia from dialogue 1: who she is, class vs friends, height, hair, clothes.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Combine description, grammar and a reason in connected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Summarise both dialogues, including the change after “but”.</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comparison, contrast, precise evidence and an independently controlled relative clause.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summarise both descriptions — speakers, people, appearance, personality, style, changes and your evidence.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يَتَحَدَّثُ عَلِيٌّ عَنْ أَخِيهِ.</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Ali talks about his brother.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كَانَ يَرْتَدِي ______ ، وَلٰكِنَّهُ الآنَ ______ .</a:t>
            </a:r>
            <a:endParaRPr lang="ar-SA" sz="17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used to wear …, but now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يَرَى عَلِيٌّ أَنَّ أَخَاهُ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Ali thinks that his brother is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الدَّلِيلُ أَنَّهُ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evidence is that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كِلَا النَّصَّيْنِ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Both texts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تَصِفُ سَمِيرَةُ صَدِيقَتَهَا نَادِيَةَ.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Samira describes her friend Nadia.</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نَادِيَةُ هَادِئَةٌ فِي الفَصْلِ، وَلٰكِنَّهَا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Nadia is calm in class, but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هِيَ ______ القَامَةِ.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is of … height.</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لَهَا شَعْرٌ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has … hair.</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تَرْتَدِي عَادَةً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usually wears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تَصِفُ  ·  يَتَحَدَّثُ عَنْ  ·  هَادِئَةٌ  ·  مَرِحَةٌ  ·  مُتَوَسِّطَةُ القَامَةِ  ·  بَسِيطَةً  ·  رَسْمِيَّةً  ·  أَكْثَرَ رَاحَةً  ·  كَانَ  ·  الآنَ  ·  وَلٰكِنَّ  ·  الدَّلِيلُ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100–120 Arabic words summarising two spoken descriptions. Identify speakers, people, appearance, personality, style, changed details and your evidence.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Cover every requested content point.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Use the target grammar accurately.</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Include precise vocabulary from this lesson.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Add a reason, comparison or contrast.</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Review agreement, pronoun reference and connectors.</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اِسْتَمَعْتُ إِلَى نَصَّيْنِ عَنْ شَخْصَيْنِ</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listened to two texts about two people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الَّذِي غَيَّرَ أُسْلُوبَهُ</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who changed his style</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مِنَ المَلَابِسِ الرَّسْمِيَّةِ إِلَى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from formal clothes to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يُجَرِّبُ أَفْكَارًا جَدِيدَةً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he tries new ideas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الدَّلِيلُ أَهَمُّ مِنَ التَّخْمِينِ</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evidence is more important than guessing</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اِسْتَمَعْتُ إِلَى نَصَّيْنِ عَنْ شَخْصَيْنِ. فِي النَّصِّ الأَوَّلِ تَصِفُ سَمِيرَةُ صَدِيقَتَهَا نَادِيَةَ. نَادِيَةُ هَادِئَةٌ فِي الفَصْلِ، وَلٰكِنَّهَا مَرِحَةٌ مَعَ أَصْدِقَائِهَا. لَهَا شَعْرٌ قَصِيرٌ وَتَرْتَدِي مَلَابِسَ بَسِيطَةً. فِي النَّصِّ الثَّانِي يَتَحَدَّثُ عَلِيٌّ عَنْ أَخِيهِ الَّذِي غَيَّرَ أُسْلُوبَهُ مِنَ المَلَابِسِ الرَّسْمِيَّةِ إِلَى مَلَابِسَ أَكْثَرَ رَاحَةً. يَعْتَقِدُ عَلِيٌّ أَنَّ أَخَاهُ وَاثِقٌ لِأَنَّهُ يُجَرِّبُ أَفْكَارًا جَدِيدَةً. الدَّلِيلُ فِي كُلِّ نَصٍّ أَهَمُّ مِنَ التَّخْمِينِ.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listened to two texts about two people. In the first text Samira describes her friend Nadia. Nadia is calm in class, but cheerful with her friends. She has short hair and wears simple clothes. In the second text Ali talks about his brother, who changed his style from formal clothes to more comfortable clothes. Ali believes his brother is confident because he tries new ideas. In every text, evidence is more important than guessing.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contrast inside one description</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changed detail</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an inference and its evidence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the relative clause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said who each speaker describes.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appearance details are exact.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included the change after “but”.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pronouns refer to the right person.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inference has evidence.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brother</a:t>
            </a:r>
            <a:endParaRPr lang="en-US" sz="12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رَأْيِي هُوَ أَنِيقٌ.</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 قَمِيصًا أَسْوَدَ.</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 يَكُونُ خَجُولًا.</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comparison: </a:t>
            </a:r>
            <a:pPr algn="l" indent="0" marL="0">
              <a:buNone/>
            </a:pPr>
            <a:r>
              <a:rPr lang="ar-SA" altLang="en-US" sz="1650" b="1" dirty="0">
                <a:solidFill>
                  <a:srgbClr val="1B3B6F"/>
                </a:solidFill>
                <a:latin typeface="Amiri" pitchFamily="2" charset="-78"/>
                <a:ea typeface="Amiri" pitchFamily="2" charset="-78"/>
                <a:cs typeface="Amiri" pitchFamily="2" charset="-78"/>
              </a:rPr>
              <a:t>هِيَ أَكْثَرُ ثِقَةً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أُخْتِهَا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brother</a:t>
            </a:r>
            <a:endParaRPr lang="en-US" sz="12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pronoun refers to Maryam.</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فِي رَأْيِي هُوَ أَنِيقٌ.</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يَرْتَدِي قَمِيصًا أَسْوَدَ.</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قَدْ يَكُونُ خَجُولًا.</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observable clothing.</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the comparison: </a:t>
            </a:r>
            <a:pPr algn="l" indent="0" marL="0">
              <a:buNone/>
            </a:pPr>
            <a:r>
              <a:rPr lang="ar-SA" altLang="en-US" sz="1650" b="1" dirty="0">
                <a:solidFill>
                  <a:srgbClr val="1B3B6F"/>
                </a:solidFill>
                <a:latin typeface="Amiri" pitchFamily="2" charset="-78"/>
                <a:ea typeface="Amiri" pitchFamily="2" charset="-78"/>
                <a:cs typeface="Amiri" pitchFamily="2" charset="-78"/>
              </a:rPr>
              <a:t>هِيَ أَكْثَرُ ثِقَةً</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ea typeface="Amiri" pitchFamily="2" charset="-78"/>
                <a:cs typeface="Amiri" pitchFamily="2" charset="-78"/>
              </a:rPr>
              <a:t>أُخْتِهَا</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مِنْ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مَعَ</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 uses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cs typeface="Amiri" pitchFamily="2" charset="-78"/>
              </a:rPr>
              <a:t>Reading focus: listening to people and style</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مُلَخَّصُ مُقَابَلَتَيْنِ: المُتَحَدِّثَةُ الأُولَى تَصِفُ زَمِيلَةً هَادِئَةً وَمُتَعَاوِنَةً، وَتَذْكُرُ أَنَّهَا تَرْتَدِي مَلَابِسَ عَمَلِيَّةً فِي المَدْرَسَةِ. أَمَّا المُتَحَدِّثُ الثَّانِي فَيَصِفُ شَابًّا يَهْتَمُّ بِالمَوْضَةِ، وَلٰكِنَّهُ يَخْتَارُ المَلَابِسَ المُرِيحَةَ عِنْدَ السَّفَرِ. كِلَا النَّصَّيْنِ يَفْصِلُ بَيْنَ المَظْهَرِ وَالشَّخْصِيَّةِ وَيُقَدِّمُ دَلِيلًا قَبْلَ الاِسْتِنْتَاجِ.</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مُلَخَّصُ</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summary of</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مُقَابَلَتَيْنِ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two interviews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المُتَحَدِّثَةُ الأُولَى</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first (female) speaker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زَمِيلَةً</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(female) classmate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تَذْكُرُ أَنَّ</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she mentions that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يَهْتَمُّ بِـ</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interested in</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عِنْدَ السَّفَرِ</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when travelling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كِلَا النَّصَّيْنِ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both texts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يَفْصِلُ بَيْنَ</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separates</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الاِسْتِنْتَاجِ</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conclusion, inference</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this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advert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summary of two interviews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diary</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How does the first speaker describe her colleague?</a:t>
            </a:r>
            <a:endParaRPr lang="en-US" sz="120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cheerful and loud</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elegant and formal</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calm and helpful</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colleague wear at school?</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practical clothes</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formal clothes</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colourful clothes</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young man interested in?</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sport</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fashion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travel</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choose when travelling?</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comfortable clothes</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elegant clothes</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traditional clothes</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both texts do?</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judge people by their clothes</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describe clothes</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950" dirty="0">
                <a:solidFill>
                  <a:srgbClr val="1F2A37"/>
                </a:solidFill>
                <a:latin typeface="Calibri" pitchFamily="34" charset="0"/>
                <a:cs typeface="Amiri" pitchFamily="2" charset="-78"/>
              </a:rPr>
              <a:t>separate appearance from personality and give evidence first</a:t>
            </a:r>
            <a:endParaRPr lang="en-US" sz="9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this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advert</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a summary of two interviews</a:t>
            </a:r>
            <a:endParaRPr lang="en-US" sz="11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diary</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مُلَخَّصُ مُقَابَلَتَيْنِ.</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How does the first speaker describe her colleague?</a:t>
            </a:r>
            <a:endParaRPr lang="en-US" sz="120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cheerful and loud</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elegant and formal</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calm and helpful</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زَمِيلَةً هَادِئَةً وَمُتَعَاوِنَةً.</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colleague wear at school?</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practical clothes</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formal clothes</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colourful clothes</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مَلَابِسَ عَمَلِيَّةً فِي المَدْرَسَةِ.</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young man interested in?</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sport</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fashion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travel</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شَابًّا يَهْتَمُّ بِالمَوْضَةِ.</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he choose when travelling?</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comfortable clothes</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elegant clothes</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traditional clothes</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يَخْتَارُ المَلَابِسَ المُرِيحَةَ عِنْدَ السَّفَرِ.</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both texts do?</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judge people by their clothes</a:t>
            </a:r>
            <a:endParaRPr lang="en-US" sz="11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describe clothes</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950" b="1" dirty="0">
                <a:solidFill>
                  <a:srgbClr val="1F2A37"/>
                </a:solidFill>
                <a:latin typeface="Calibri" pitchFamily="34" charset="0"/>
                <a:cs typeface="Amiri" pitchFamily="2" charset="-78"/>
              </a:rPr>
              <a:t>separate appearance from personality and give evidence first</a:t>
            </a:r>
            <a:endParaRPr lang="en-US" sz="9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250" dirty="0">
                <a:solidFill>
                  <a:srgbClr val="8A6D1E"/>
                </a:solidFill>
                <a:latin typeface="Amiri" pitchFamily="2" charset="-78"/>
                <a:ea typeface="Amiri" pitchFamily="2" charset="-78"/>
                <a:cs typeface="Amiri" pitchFamily="2" charset="-78"/>
              </a:rPr>
              <a:t>يَفْصِلُ بَيْنَ المَظْهَرِ وَالشَّخْصِيَّةِ وَيُقَدِّمُ دَلِيلًا.</a:t>
            </a:r>
            <a:endParaRPr lang="ar-SA" sz="12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to people and style Arabic challenge</a:t>
            </a:r>
            <a:endParaRPr lang="en-US" sz="21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coat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Maryam</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brother</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رَأْيِي هُوَ أَنِيقٌ.</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قَدْ يَكُونُ خَجُولًا.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 قَمِيصًا أَسْوَدَ.</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لَهُ شَعْرٌ قَصِيرٌ.</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ثَمَنُهُ خَمْسُونَ جُنَيْهًا.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أَرَى أَنَّ أُسْلُوبَهُ مُنَاسِبٌ.</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73" name="Text 7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هِيَ أَكْثَرُ ثِقَةً ___ أُخْتِهَا.</a:t>
            </a:r>
            <a:endParaRPr lang="ar-SA" sz="140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مِنْ</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supports “generous”?</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يَرْتَدِي حِذَاءً أَسْوَدَ.</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يُقَدِّمُ وَقْتَهُ لِمُسَاعَدَةِ الآخَرِينَ.</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هُوَ طَوِيلٌ.</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هِيَ</a:t>
            </a:r>
            <a:pPr algn="l" indent="0" marL="0">
              <a:buNone/>
            </a:pPr>
            <a:r>
              <a:rPr lang="en-US" sz="1250" b="1" dirty="0">
                <a:solidFill>
                  <a:srgbClr val="1B3B6F"/>
                </a:solidFill>
                <a:latin typeface="Calibri" pitchFamily="34" charset="0"/>
                <a:cs typeface="Amiri" pitchFamily="2" charset="-78"/>
              </a:rPr>
              <a:t> refer to after </a:t>
            </a:r>
            <a:pPr algn="l" indent="0" marL="0">
              <a:buNone/>
            </a:pPr>
            <a:r>
              <a:rPr lang="ar-SA" altLang="en-US" sz="1650" b="1" dirty="0">
                <a:solidFill>
                  <a:srgbClr val="1B3B6F"/>
                </a:solidFill>
                <a:latin typeface="Amiri" pitchFamily="2" charset="-78"/>
                <a:ea typeface="Amiri" pitchFamily="2" charset="-78"/>
                <a:cs typeface="Amiri" pitchFamily="2" charset="-78"/>
              </a:rPr>
              <a:t>مَرْيَمُ</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coat</a:t>
            </a:r>
            <a:endParaRPr lang="en-US" sz="125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Maryam</a:t>
            </a:r>
            <a:endParaRPr lang="en-US" sz="125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brother</a:t>
            </a:r>
            <a:endParaRPr lang="en-US" sz="125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pronoun refers to Maryam.</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signals contrast?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وَلٰكِنَّ</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وَلٰكِنَّ</a:t>
            </a:r>
            <a:pPr algn="l" indent="0" marL="0">
              <a:buNone/>
            </a:pPr>
            <a:r>
              <a:rPr lang="en-US" sz="1050" i="1" dirty="0">
                <a:solidFill>
                  <a:srgbClr val="8A6D1E"/>
                </a:solidFill>
                <a:latin typeface="Calibri" pitchFamily="34" charset="0"/>
                <a:cs typeface="Amiri" pitchFamily="2" charset="-78"/>
              </a:rPr>
              <a:t> signals contrast.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explicit fact?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رَأْيِي هُوَ أَنِيقٌ.</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قَدْ يَكُونُ خَجُولًا.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يَرْتَدِي قَمِيصًا أَسْوَدَ.</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states observable clothing.</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an opinion?</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لَهُ شَعْرٌ قَصِيرٌ.</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ثَمَنُهُ خَمْسُونَ جُنَيْهًا.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أَرَى أَنَّ أُسْلُوبَهُ مُنَاسِبٌ.</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أَرَى أَنَّ</a:t>
            </a:r>
            <a:pPr algn="l" indent="0" marL="0">
              <a:buNone/>
            </a:pPr>
            <a:r>
              <a:rPr lang="en-US" sz="1050" i="1" dirty="0">
                <a:solidFill>
                  <a:srgbClr val="8A6D1E"/>
                </a:solidFill>
                <a:latin typeface="Calibri" pitchFamily="34" charset="0"/>
                <a:cs typeface="Amiri" pitchFamily="2" charset="-78"/>
              </a:rPr>
              <a:t> marks opinion.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 the comparison:</a:t>
            </a:r>
            <a:endParaRPr lang="en-US" sz="1200" dirty="0"/>
          </a:p>
        </p:txBody>
      </p:sp>
      <p:sp>
        <p:nvSpPr>
          <p:cNvPr id="80" name="Text 78"/>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هِيَ أَكْثَرُ ثِقَةً ___ أُخْتِهَا.</a:t>
            </a:r>
            <a:endParaRPr lang="ar-SA" sz="140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مِنْ</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Comparative uses </a:t>
            </a:r>
            <a:pPr algn="l" indent="0" marL="0">
              <a:buNone/>
            </a:pPr>
            <a:r>
              <a:rPr lang="ar-SA" altLang="en-US" sz="1350" dirty="0">
                <a:solidFill>
                  <a:srgbClr val="8A6D1E"/>
                </a:solidFill>
                <a:latin typeface="Amiri" pitchFamily="2" charset="-78"/>
                <a:ea typeface="Amiri" pitchFamily="2" charset="-78"/>
                <a:cs typeface="Amiri" pitchFamily="2" charset="-78"/>
              </a:rPr>
              <a:t>مِنْ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evidence supports “generous”?</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يَرْتَدِي حِذَاءً أَسْوَدَ.</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يُقَدِّمُ وَقْتَهُ لِمُسَاعَدَةِ الآخَرِينَ.</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هُوَ طَوِيلٌ.</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Giving time to help others supports generosity.</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D2-L07 · Listening Skills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D2-L08: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D2 · People, Relationships and Style · D2-L07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D2-L08 · Reading — Personality, Relationships and Fashion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أَتَفَاهَمُ مَعَ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 get on with</a:t>
            </a:r>
            <a:pPr indent="0" marL="0">
              <a:buNone/>
            </a:pPr>
            <a:r>
              <a:rPr lang="en-US" sz="1000" i="1" dirty="0">
                <a:solidFill>
                  <a:srgbClr val="5A6472"/>
                </a:solidFill>
                <a:latin typeface="Calibri" pitchFamily="34" charset="0"/>
                <a:cs typeface="Amiri" pitchFamily="2" charset="-78"/>
              </a:rPr>
              <a:t>  D2-L02</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صَدِيقٌ مُقَرَّبٌ</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close friend</a:t>
            </a:r>
            <a:pPr indent="0" marL="0">
              <a:buNone/>
            </a:pPr>
            <a:r>
              <a:rPr lang="en-US" sz="1000" i="1" dirty="0">
                <a:solidFill>
                  <a:srgbClr val="5A6472"/>
                </a:solidFill>
                <a:latin typeface="Calibri" pitchFamily="34" charset="0"/>
                <a:cs typeface="Amiri" pitchFamily="2" charset="-78"/>
              </a:rPr>
              <a:t>  D2-L02</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الأُسْلُوبُ</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style</a:t>
            </a:r>
            <a:pPr indent="0" marL="0">
              <a:buNone/>
            </a:pPr>
            <a:r>
              <a:rPr lang="en-US" sz="1000" i="1" dirty="0">
                <a:solidFill>
                  <a:srgbClr val="5A6472"/>
                </a:solidFill>
                <a:latin typeface="Calibri" pitchFamily="34" charset="0"/>
                <a:cs typeface="Amiri" pitchFamily="2" charset="-78"/>
              </a:rPr>
              <a:t>  D2-L04</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يُعَبِّرُ عَنْ</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expresses</a:t>
            </a:r>
            <a:pPr indent="0" marL="0">
              <a:buNone/>
            </a:pPr>
            <a:r>
              <a:rPr lang="en-US" sz="1000" i="1" dirty="0">
                <a:solidFill>
                  <a:srgbClr val="5A6472"/>
                </a:solidFill>
                <a:latin typeface="Calibri" pitchFamily="34" charset="0"/>
                <a:cs typeface="Amiri" pitchFamily="2" charset="-78"/>
              </a:rPr>
              <a:t>  D2-L04</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عَلَى الرَّغْمِ مِنْ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although</a:t>
            </a:r>
            <a:pPr indent="0" marL="0">
              <a:buNone/>
            </a:pPr>
            <a:r>
              <a:rPr lang="en-US" sz="1000" i="1" dirty="0">
                <a:solidFill>
                  <a:srgbClr val="5A6472"/>
                </a:solidFill>
                <a:latin typeface="Calibri" pitchFamily="34" charset="0"/>
                <a:cs typeface="Amiri" pitchFamily="2" charset="-78"/>
              </a:rPr>
              <a:t>  D2-L04</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D2-L08 is a reading lesson on personality, relationships and fashion. Which of these three topics do you find easiest to read about,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أَيُّ مَوْضُوعٍ أَسْهَلُ لَكَ؟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D2-L07: listen again to the website audio and answer the questions.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8 sentences summarising both dialogues.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a 100–120-word summary of the two descriptions.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D2-L07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D2-L08 · Reading — Personality, Relationships and Fashion Texts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القِرَاءَةُ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after “but”, the answer often changes — keep listening.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D2-L07 · Listening — People, Personality and Style Descriptions</dc:title>
  <dc:subject>PptxGenJS Presentation</dc:subject>
  <dc:creator>Al Madina Online School · Arabic Department</dc:creator>
  <cp:lastModifiedBy>Al Madina Online School · Arabic Department</cp:lastModifiedBy>
  <cp:revision>1</cp:revision>
  <dcterms:created xsi:type="dcterms:W3CDTF">2026-10-11T06:40:37Z</dcterms:created>
  <dcterms:modified xsi:type="dcterms:W3CDTF">2026-10-11T06:40:37Z</dcterms:modified>
</cp:coreProperties>
</file>