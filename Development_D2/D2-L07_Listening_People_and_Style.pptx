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D2-L07. The website lesson “Listening — People, Personality and Style Descriptions”: vocabulary, grammar rules and quiz, patterns, common mistakes, sorter, listening, reading, speaking prompts and model, writing task and model, differentiation, final check and the lesson mission. Picture match: website visual game “Listening — People, Personality and Style Descriptions”.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the website script has two short dialogues — each is done as its own cycle (predict → listen twice → read the script → answers).
• Core: predict WHO and WHAT for each question, then answer the appearance and clothes questions. Develop: all questions + the changed detail after “but”. Stretch: fact / opinion / inference and the written summary.
• All vocabulary is D2 revision (signals, descriptions, style) — use the vocab slides quickly as a warm-up game (“say the feminine / the plural”).
• Urdu bridge: حقیقت، رائے، دلیل، نتیجہ (→ اِسْتِنْتَاجٌ), تبدیلی.
• TEACHER-WRITTEN ITEMS: on the website this lesson’s patterns, mistakes, sorter,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listening signals prepared at home. Questions 3–5 retrieve D2-L06 (appearance, الَّتِي) and D2-L05 (comparatives).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“but” the answer often CHANGES. Keep listening until the end of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حقیقت → حَقِيقَةٌ (fact); رائے → رَأْيٌ (opinion); دلیل → دَلِيلٌ (evidence); نتیجہ shares the root of اِسْتِنْتَاجٌ (inference, conclusion); تغیر / تبدیلی → تَغْيِيرٌ (change). Students already have the key concepts of this lesson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signals (website vocabulary (1 of 2)). Hear → Say → See → Use. Transliteration is printed for Core students (cover it for Develop/Stretch).
Listening signals: sort them live into REASON (لِأَنَّ، لِذٰلِكَ) · CHANGE / CONTRAST (وَلٰكِنَّ، بَيْنَمَا، مِنْ جِهَةٍ أُخْرَى) · OPINION (فِي رَأْيِي) · FREQUENCY (عَادَةً، أَحْيَانًا). In listening, contrast words warn you: the answer may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signals (website vocabulary (2 of 2)). Hear → Say → See → Use. Transliteration is printed for Core students (cover it for Develop/Stretch).
Listening signals: sort them live into REASON (لِأَنَّ، لِذٰلِكَ) · CHANGE / CONTRAST (وَلٰكِنَّ، بَيْنَمَا، مِنْ جِهَةٍ أُخْرَى) · OPINION (فِي رَأْيِي) · FREQUENCY (عَادَةً، أَحْيَانًا). In listening, contrast words warn you: the answer may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bank (website vocabulary (1 of 2)). Hear → Say → See → Use. Transliteration is printed for Core students (cover it for Develop/Stretch).
FLEX: teach if time allows; otherwise these are on the website vocabulary tab for homework.
Description bank (FLEX) — revision game: teacher says the m. form, students say f. and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bank (website vocabulary (2 of 2)). Hear → Say → See → Use. Transliteration is printed for Core students (cover it for Develop/Stretch).
FLEX: teach if time allows; otherwise these are on the website vocabulary tab for homework.
Description bank (FLEX) — revision game: teacher says the m. form, students say f. and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comparison (website vocabulary (1 of 2)). Hear → Say → See → Use. Transliteration is printed for Core students (cover it for Develop/Stretch).
FLEX: teach if time allows; otherwise these are on the website vocabulary tab for homework.
Style and comparison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comparison (website vocabulary (2 of 2)). Hear → Say → See → Use. Transliteration is printed for Core students (cover it for Develop/Stretch).
FLEX: teach if time allows; otherwise these are on the website vocabulary tab for homework.
Style and comparison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“Track reference” (identify exactly who each pronoun or relative clause refers to) and “Follow comparison and contrast” (contrast words often signal that the answer has changed), with the website table (Signal · What to track · Example).
Note row 1: هُوَ can refer to a THING (the coat, masculine) — not only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“Distinguish fact and opinion” (use the language signal and supporting detail, not a guess) and “Infer from evidence” (an inference must be supported by a stated action or attitude). Links to D2-L04 (don’t judge by clothes) and D2-L06 (يَبْدُو).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“Track speakers and exact changes; distinguish stated facts, opinions and supported inference.”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the key question of dialogue 2 (the website speaking model calls it “the important change”). “Formal clothes” is the distractor: it was true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colour. • Develop: copy sentences 2–3. • Stretch: write your own inference with لِذٰلِكَ يَبْدُو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4. Develop/Stretch: all four.
Listen 1: just listen. Listen 2: note answers. Then chat the letters.
Support: after the second listening, show the read-along slide (Arabic + English, line by line) for Core students.
SCRIPT (read aloud):
فِي الحِوَارِ الأَوَّلِ تَصِفُ سَمِيرَةُ صَدِيقَتَهَا نَادِيَةَ. تَقُولُ إِنَّهَا هَادِئَةٌ فِي الفَصْلِ، وَلٰكِنَّهَا مَرِحَةٌ مَعَ أَصْدِقَائِهَا. نَادِيَةُ مُتَوَسِّطَةُ القَامَةِ وَلَهَا شَعْرٌ قَصِيرٌ، وَتَرْتَدِي عَادَةً مَلَابِسَ بَسِيطَةً.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فِي الحِوَارِ الثَّانِي يَتَحَدَّثُ عَلِيٌّ عَنْ أَخِيهِ. كَانَ أَخُوهُ يَرْتَدِي مَلَابِسَ رَسْمِيَّةً، وَلٰكِنَّهُ الآنَ يُفَضِّلُ أُسْلُوبًا أَكْثَرَ رَاحَةً. عَلِيٌّ يَرَى أَنَّ أَخَاهُ وَاثِقٌ لِأَنَّهُ لَا يَخَافُ مِنْ تَجْرِبَةِ أُسْلُوبٍ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التَّغْيِيرُ المُهِمُّ؟ (What is the important change?)
B: أَخُو عَلِيٍّ أَصْبَحَ يُفَضِّلُ مَلَابِسَ أَكْثَرَ رَاحَةً. (Ali’s brother now prefers more comfortable clothes.)
Website reflection prompts. Website model continues: A: مَا التَّغْيِيرُ المُهِمُّ؟ (What is the important change?) B: أَخُو عَلِيٍّ أَصْبَحَ يُفَضِّلُ مَلَابِسَ أَكْثَرَ رَاحَةً. (Ali’s brother now prefers more comfortable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summarising two spoken descriptions. Identify speakers, people, appearance, personality, style, changed details and your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هَادِئَةٌ … وَلٰكِنَّهَا مَرِحَةٌ · مِنَ المَلَابِسِ الرَّسْمِيَّةِ إِلَى مَلَابِسَ أَكْثَرَ رَاحَةً · وَاثِقٌ لِأَنَّهُ يُجَرِّبُ أَفْكَارًا جَدِيدَةً · أَخِيهِ الَّذِي غَيَّرَ أُسْلُوبَهُ.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(D2-L08 · Reading — Personality, Relationships and Fashion Texts) will spend class time USING this language, so students prepare it tonight — short, simple, easy to access (school guidance: “Simple, Short, Interesting, Relevant, Easy to access”). D2-L08 recycles the whole unit; these five high-value words (from D2-L02 and D2-L04) appear in its reading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People, Personality and Style Descriptions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وَصْفُ الأَشْخَاصِ وَالشَّخْصِيَّةِ وَالأُسْلُوبِ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to descriptions of people like a detective: track who “he / she / who” refers to, notice what changes after “but”, and separate facts, opinions and inferences backed by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D2-L07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 is it? What changed? Fact or opinion?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خُصُوصًا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especially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therefore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 جِهَةٍ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one 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although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a headscarf”.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يَرْتَدِي حِجَابًا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تَرْتَدِي حِجَابًا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ثِقَةً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وَاثِقٌ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وَاثِقٌ 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خُصُوصًا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usually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especially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therefore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 جِهَةٍ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other hand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one hand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although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شَعْرُهَا طَوِيلَةٌ.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hair is masculine.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a headscarf”.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يَرْتَدِي حِجَابًا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تَرْتَدِي حِجَابًا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allatī.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ثِقَةً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وَاثِقٌ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وَاثِقٌ 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After “but” the answer often CHANGES. Keep listening until the end of the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كَانَ يَرْتَدِي مَلَابِسَ رَسْمِيَّةً، </a:t>
            </a:r>
            <a:pPr rtl="1" algn="ctr" indent="0" marL="0">
              <a:lnSpc>
                <a:spcPct val="120000"/>
              </a:lnSpc>
              <a:buNone/>
            </a:pPr>
            <a:r>
              <a:rPr lang="ar-SA" altLang="en-US" sz="1950" b="1" dirty="0">
                <a:solidFill>
                  <a:srgbClr val="0E7C86"/>
                </a:solidFill>
                <a:latin typeface="Amiri" pitchFamily="2" charset="-78"/>
                <a:cs typeface="Amiri" pitchFamily="2" charset="-78"/>
              </a:rPr>
              <a:t>وَلٰكِنَّهُ الآنَ</a:t>
            </a:r>
            <a:pPr rtl="1" algn="ctr" indent="0" marL="0">
              <a:lnSpc>
                <a:spcPct val="120000"/>
              </a:lnSpc>
              <a:buNone/>
            </a:pPr>
            <a:r>
              <a:rPr lang="ar-SA" altLang="en-US" sz="1950" b="1" dirty="0">
                <a:solidFill>
                  <a:srgbClr val="1B3B6F"/>
                </a:solidFill>
                <a:latin typeface="Amiri" pitchFamily="2" charset="-78"/>
                <a:cs typeface="Amiri" pitchFamily="2" charset="-78"/>
              </a:rPr>
              <a:t> يُفَضِّلُ أُسْلُوبًا أَكْثَرَ رَاحَةً.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D2-L07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Listening reference, contrast and inference.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is being described.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pick out appearance and clothes details.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a detail that changes after “but”.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separate fact, opinion and inference.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two spoken descriptions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Description bank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comparison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حَقِيقَةٌ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‎حقیقت‎ </a:t>
            </a:r>
            <a:pPr indent="0" marL="0">
              <a:buNone/>
            </a:pPr>
            <a:r>
              <a:rPr lang="en-US" sz="950" b="1" dirty="0">
                <a:solidFill>
                  <a:srgbClr val="2E8B57"/>
                </a:solidFill>
                <a:latin typeface="Calibri" pitchFamily="34" charset="0"/>
                <a:cs typeface="Amiri" pitchFamily="2" charset="-78"/>
              </a:rPr>
              <a:t> haqīqat · fact, truth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اِسْتِنْتَاجٌ</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 → inference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تَغْيِيرٌ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‎تغیر‎ </a:t>
            </a:r>
            <a:pPr indent="0" marL="0">
              <a:buNone/>
            </a:pPr>
            <a:r>
              <a:rPr lang="en-US" sz="950" b="1" dirty="0">
                <a:solidFill>
                  <a:srgbClr val="2E8B57"/>
                </a:solidFill>
                <a:latin typeface="Calibri" pitchFamily="34" charset="0"/>
                <a:cs typeface="Amiri" pitchFamily="2" charset="-78"/>
              </a:rPr>
              <a:t> taghayyur · change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Description bank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Description bank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طَوِيلُ القَامَةِ / طَوِيلَةُ القَامَةِ</a:t>
            </a:r>
            <a:endParaRPr lang="ar-SA" sz="255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طَوِيلَةُ القَامَةِ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 القَامَةِ</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قَصِيرُ القَامَةِ / قَصِيرَةُ القَامَةِ</a:t>
            </a:r>
            <a:endParaRPr lang="ar-SA" sz="255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قَصِيرَةُ القَامَةِ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 القَامَةِ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مُتَوَسِّطُ القَامَةِ / مُتَوَسِّطَةُ القَامَةِ</a:t>
            </a:r>
            <a:endParaRPr lang="ar-SA" sz="24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مُتَوَسِّطَةُ القَامَةِ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 القَامَةِ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91" name="Text 8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طَوِيلٌ</a:t>
            </a:r>
            <a:endParaRPr lang="ar-SA" sz="3000" dirty="0"/>
          </a:p>
        </p:txBody>
      </p:sp>
      <p:sp>
        <p:nvSpPr>
          <p:cNvPr id="92" name="Text 8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comparison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مِنْ</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 مِنْ</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مِنْ</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أَجْمَلُ مِنْ</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LISTENING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each signal tells the listener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6725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609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Track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 / هِيَ · ـهُ / ـهَا</a:t>
            </a:r>
            <a:endParaRPr lang="ar-SA" sz="2400" dirty="0"/>
          </a:p>
        </p:txBody>
      </p:sp>
      <p:sp>
        <p:nvSpPr>
          <p:cNvPr id="22" name="Text 19"/>
          <p:cNvSpPr txBox="1"/>
          <p:nvPr/>
        </p:nvSpPr>
        <p:spPr>
          <a:xfrm>
            <a:off x="4690872" y="2286000"/>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مَرْيَمُ تَرْتَدِي مِعْطَفًا، وَ</a:t>
            </a:r>
            <a:pPr rtl="1" algn="ctr" indent="0" marL="0">
              <a:buNone/>
            </a:pPr>
            <a:r>
              <a:rPr lang="ar-SA" altLang="en-US" sz="2100" b="1" dirty="0">
                <a:solidFill>
                  <a:srgbClr val="0E7C86"/>
                </a:solidFill>
                <a:latin typeface="Amiri" pitchFamily="2" charset="-78"/>
                <a:cs typeface="Amiri" pitchFamily="2" charset="-78"/>
              </a:rPr>
              <a:t>هُوَ</a:t>
            </a:r>
            <a:pPr rtl="1" algn="ctr" indent="0" marL="0">
              <a:buNone/>
            </a:pPr>
            <a:r>
              <a:rPr lang="ar-SA" altLang="en-US" sz="2100" b="1" dirty="0">
                <a:solidFill>
                  <a:srgbClr val="1B3B6F"/>
                </a:solidFill>
                <a:latin typeface="Amiri" pitchFamily="2" charset="-78"/>
                <a:cs typeface="Amiri" pitchFamily="2" charset="-78"/>
              </a:rPr>
              <a:t> أَزْرَقُ.</a:t>
            </a:r>
            <a:endParaRPr lang="ar-SA" sz="2100" dirty="0"/>
          </a:p>
        </p:txBody>
      </p:sp>
      <p:sp>
        <p:nvSpPr>
          <p:cNvPr id="23" name="Text 20"/>
          <p:cNvSpPr txBox="1"/>
          <p:nvPr/>
        </p:nvSpPr>
        <p:spPr>
          <a:xfrm>
            <a:off x="4645152" y="2706624"/>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wears a coat, and it (the coat) is blue.</a:t>
            </a:r>
            <a:endParaRPr lang="en-US" sz="950" dirty="0"/>
          </a:p>
        </p:txBody>
      </p:sp>
      <p:sp>
        <p:nvSpPr>
          <p:cNvPr id="24" name="Text 21"/>
          <p:cNvSpPr txBox="1"/>
          <p:nvPr/>
        </p:nvSpPr>
        <p:spPr>
          <a:xfrm>
            <a:off x="269748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reference</a:t>
            </a:r>
            <a:endParaRPr lang="en-US" sz="1100" dirty="0"/>
          </a:p>
        </p:txBody>
      </p:sp>
      <p:sp>
        <p:nvSpPr>
          <p:cNvPr id="25" name="Text 22"/>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what is it?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الَّذِي / الَّتِي</a:t>
            </a:r>
            <a:endParaRPr lang="ar-SA" sz="2400" dirty="0"/>
          </a:p>
        </p:txBody>
      </p:sp>
      <p:sp>
        <p:nvSpPr>
          <p:cNvPr id="30" name="Text 27"/>
          <p:cNvSpPr txBox="1"/>
          <p:nvPr/>
        </p:nvSpPr>
        <p:spPr>
          <a:xfrm>
            <a:off x="4690872" y="3072384"/>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أَحْمَدُ هُوَ </a:t>
            </a:r>
            <a:pPr rtl="1" algn="ctr" indent="0" marL="0">
              <a:buNone/>
            </a:pPr>
            <a:r>
              <a:rPr lang="ar-SA" altLang="en-US" sz="2100" b="1" dirty="0">
                <a:solidFill>
                  <a:srgbClr val="0E7C86"/>
                </a:solidFill>
                <a:latin typeface="Amiri" pitchFamily="2" charset="-78"/>
                <a:cs typeface="Amiri" pitchFamily="2" charset="-78"/>
              </a:rPr>
              <a:t>الَّذِي</a:t>
            </a:r>
            <a:pPr rtl="1" algn="ctr" indent="0" marL="0">
              <a:buNone/>
            </a:pPr>
            <a:r>
              <a:rPr lang="ar-SA" altLang="en-US" sz="2100" b="1" dirty="0">
                <a:solidFill>
                  <a:srgbClr val="1B3B6F"/>
                </a:solidFill>
                <a:latin typeface="Amiri" pitchFamily="2" charset="-78"/>
                <a:cs typeface="Amiri" pitchFamily="2" charset="-78"/>
              </a:rPr>
              <a:t> يَتَحَدَّثُ.</a:t>
            </a:r>
            <a:endParaRPr lang="ar-SA" sz="2100" dirty="0"/>
          </a:p>
        </p:txBody>
      </p:sp>
      <p:sp>
        <p:nvSpPr>
          <p:cNvPr id="31" name="Text 28"/>
          <p:cNvSpPr txBox="1"/>
          <p:nvPr/>
        </p:nvSpPr>
        <p:spPr>
          <a:xfrm>
            <a:off x="4645152" y="3493008"/>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Ahmad is the one who is speaking.</a:t>
            </a:r>
            <a:endParaRPr lang="en-US" sz="950" dirty="0"/>
          </a:p>
        </p:txBody>
      </p:sp>
      <p:sp>
        <p:nvSpPr>
          <p:cNvPr id="32" name="Text 29"/>
          <p:cNvSpPr txBox="1"/>
          <p:nvPr/>
        </p:nvSpPr>
        <p:spPr>
          <a:xfrm>
            <a:off x="269748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person</a:t>
            </a:r>
            <a:endParaRPr lang="en-US" sz="1100" dirty="0"/>
          </a:p>
        </p:txBody>
      </p:sp>
      <p:sp>
        <p:nvSpPr>
          <p:cNvPr id="33" name="Text 30"/>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person?</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وَلٰكِنَّ / بَيْنَمَا</a:t>
            </a:r>
            <a:endParaRPr lang="ar-SA" sz="2400" dirty="0"/>
          </a:p>
        </p:txBody>
      </p:sp>
      <p:sp>
        <p:nvSpPr>
          <p:cNvPr id="38" name="Text 35"/>
          <p:cNvSpPr txBox="1"/>
          <p:nvPr/>
        </p:nvSpPr>
        <p:spPr>
          <a:xfrm>
            <a:off x="4690872" y="3858768"/>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كَانَ رَسْمِيًّا، </a:t>
            </a:r>
            <a:pPr rtl="1" algn="ctr" indent="0" marL="0">
              <a:buNone/>
            </a:pPr>
            <a:r>
              <a:rPr lang="ar-SA" altLang="en-US" sz="2100" b="1" dirty="0">
                <a:solidFill>
                  <a:srgbClr val="0E7C86"/>
                </a:solidFill>
                <a:latin typeface="Amiri" pitchFamily="2" charset="-78"/>
                <a:cs typeface="Amiri" pitchFamily="2" charset="-78"/>
              </a:rPr>
              <a:t>وَلٰكِنَّهُ</a:t>
            </a:r>
            <a:pPr rtl="1" algn="ctr" indent="0" marL="0">
              <a:buNone/>
            </a:pPr>
            <a:r>
              <a:rPr lang="ar-SA" altLang="en-US" sz="2100" b="1" dirty="0">
                <a:solidFill>
                  <a:srgbClr val="1B3B6F"/>
                </a:solidFill>
                <a:latin typeface="Amiri" pitchFamily="2" charset="-78"/>
                <a:cs typeface="Amiri" pitchFamily="2" charset="-78"/>
              </a:rPr>
              <a:t> الآنَ …</a:t>
            </a:r>
            <a:endParaRPr lang="ar-SA" sz="2100" dirty="0"/>
          </a:p>
        </p:txBody>
      </p:sp>
      <p:sp>
        <p:nvSpPr>
          <p:cNvPr id="39" name="Text 36"/>
          <p:cNvSpPr txBox="1"/>
          <p:nvPr/>
        </p:nvSpPr>
        <p:spPr>
          <a:xfrm>
            <a:off x="4645152" y="4279392"/>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used to be formal, but now …</a:t>
            </a:r>
            <a:endParaRPr lang="en-US" sz="950" dirty="0"/>
          </a:p>
        </p:txBody>
      </p:sp>
      <p:sp>
        <p:nvSpPr>
          <p:cNvPr id="40" name="Text 37"/>
          <p:cNvSpPr txBox="1"/>
          <p:nvPr/>
        </p:nvSpPr>
        <p:spPr>
          <a:xfrm>
            <a:off x="269748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changed detail</a:t>
            </a:r>
            <a:endParaRPr lang="en-US" sz="1100" dirty="0"/>
          </a:p>
        </p:txBody>
      </p:sp>
      <p:sp>
        <p:nvSpPr>
          <p:cNvPr id="41" name="Text 38"/>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changed?</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رَأْيِي / أَرَى أَنَّ</a:t>
            </a:r>
            <a:endParaRPr lang="ar-SA" sz="2400" dirty="0"/>
          </a:p>
        </p:txBody>
      </p:sp>
      <p:sp>
        <p:nvSpPr>
          <p:cNvPr id="44" name="Text 41"/>
          <p:cNvSpPr txBox="1"/>
          <p:nvPr/>
        </p:nvSpPr>
        <p:spPr>
          <a:xfrm>
            <a:off x="4690872" y="4645152"/>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أَرَى أَنَّ</a:t>
            </a:r>
            <a:pPr rtl="1" algn="ctr" indent="0" marL="0">
              <a:buNone/>
            </a:pPr>
            <a:r>
              <a:rPr lang="ar-SA" altLang="en-US" sz="2100" b="1" dirty="0">
                <a:solidFill>
                  <a:srgbClr val="1B3B6F"/>
                </a:solidFill>
                <a:latin typeface="Amiri" pitchFamily="2" charset="-78"/>
                <a:cs typeface="Amiri" pitchFamily="2" charset="-78"/>
              </a:rPr>
              <a:t> أُسْلُوبَهُ مُنَاسِبٌ.</a:t>
            </a:r>
            <a:endParaRPr lang="ar-SA" sz="2100" dirty="0"/>
          </a:p>
        </p:txBody>
      </p:sp>
      <p:sp>
        <p:nvSpPr>
          <p:cNvPr id="45" name="Text 42"/>
          <p:cNvSpPr txBox="1"/>
          <p:nvPr/>
        </p:nvSpPr>
        <p:spPr>
          <a:xfrm>
            <a:off x="4645152" y="5065776"/>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think his style is suitable.</a:t>
            </a:r>
            <a:endParaRPr lang="en-US" sz="950" dirty="0"/>
          </a:p>
        </p:txBody>
      </p:sp>
      <p:sp>
        <p:nvSpPr>
          <p:cNvPr id="46" name="Text 43"/>
          <p:cNvSpPr txBox="1"/>
          <p:nvPr/>
        </p:nvSpPr>
        <p:spPr>
          <a:xfrm>
            <a:off x="269748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opinion</a:t>
            </a:r>
            <a:endParaRPr lang="en-US" sz="1100" dirty="0"/>
          </a:p>
        </p:txBody>
      </p:sp>
      <p:sp>
        <p:nvSpPr>
          <p:cNvPr id="47" name="Text 44"/>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he / she think?</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never choose an answer from one familiar word — check the whole clause and who it refers to.</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FACT, OPINION, INFERENCE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 opinion ·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حَقِيقَةٌ · رَأْيٌ · اِسْتِنْتَاجٌ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FACT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دَلِيلٌ صَرِيحٌ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يَرْتَدِي قَمِيصًا أَبْيَضَ.</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wearing a white shirt.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You can see / hear 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رَأْيٌ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فِي رَأْيِي، أُسْلُوبُهُ أَنِيقٌ.</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opinion, his style is elegant.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Signal: in my opinion / I think.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اِسْتِنْتَاجٌ</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يُسَاعِدُ الجَمِيعَ؛ لِذٰلِكَ يَبْدُو مُتَعَاوِنًا.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helps everyone, so he seems helpful.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 probable quality.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rule: an inference needs a stated action.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هِيَ مُتَعَاوِنَةٌ لِأَنَّهَا تُسَاعِدُ زَمِيلَاتِهَا.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هِيَ مُتَعَاوِنَةٌ لِأَنَّ قَمِيصَهَا أَزْرَقُ.</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reference, contrast and inference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1900" b="1" dirty="0">
                <a:solidFill>
                  <a:srgbClr val="8A6D1E"/>
                </a:solidFill>
                <a:latin typeface="Amiri" pitchFamily="2" charset="-78"/>
                <a:cs typeface="Amiri" pitchFamily="2" charset="-78"/>
              </a:rPr>
              <a:t>مَهَارَاتُ الاِسْتِمَاعِ: المَرْجِعُ وَالتَّغْيِيرُ وَالاِسْتِنْتَاجُ</a:t>
            </a:r>
            <a:endParaRPr lang="ar-SA" sz="19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catch the changed detail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مَاذَا يُفَضِّلُ أَخُو عَلِيٍّ الآنَ؟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STYLE — and “now”.</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يَرْتَدِي </a:t>
            </a:r>
            <a:pPr rtl="1" algn="ctr" indent="0" marL="0">
              <a:buNone/>
            </a:pPr>
            <a:r>
              <a:rPr lang="ar-SA" altLang="en-US" sz="2200" b="1" dirty="0">
                <a:solidFill>
                  <a:srgbClr val="D6336C"/>
                </a:solidFill>
                <a:latin typeface="Amiri" pitchFamily="2" charset="-78"/>
                <a:cs typeface="Amiri" pitchFamily="2" charset="-78"/>
              </a:rPr>
              <a:t>مَلَابِسَ رَسْمِيَّةً</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Trap! That was BEFORE.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وَلٰكِنَّهُ الآنَ</a:t>
            </a:r>
            <a:pPr rtl="1" algn="ctr" indent="0" marL="0">
              <a:lnSpc>
                <a:spcPct val="120000"/>
              </a:lnSpc>
              <a:buNone/>
            </a:pPr>
            <a:r>
              <a:rPr lang="ar-SA" altLang="en-US" sz="1750" b="1" dirty="0">
                <a:solidFill>
                  <a:srgbClr val="1B3B6F"/>
                </a:solidFill>
                <a:latin typeface="Amiri" pitchFamily="2" charset="-78"/>
                <a:cs typeface="Amiri" pitchFamily="2" charset="-78"/>
              </a:rPr>
              <a:t> يُفَضِّلُ </a:t>
            </a:r>
            <a:pPr rtl="1" algn="ctr" indent="0" marL="0">
              <a:lnSpc>
                <a:spcPct val="120000"/>
              </a:lnSpc>
              <a:buNone/>
            </a:pPr>
            <a:r>
              <a:rPr lang="ar-SA" altLang="en-US" sz="1750" b="1" dirty="0">
                <a:solidFill>
                  <a:srgbClr val="1D5FBF"/>
                </a:solidFill>
                <a:latin typeface="Amiri" pitchFamily="2" charset="-78"/>
                <a:cs typeface="Amiri" pitchFamily="2" charset="-78"/>
              </a:rPr>
              <a:t>أُسْلُوبًا أَكْثَرَ رَاحَةً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“Now” → the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الجَوَابُ: أُسْلُوبٌ أَكْثَرُ رَاحَةً (بَعْدَ «وَلٰكِنَّهُ الآنَ»).</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the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 (BEFORE)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SIGNAL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ANSWER (NOW)</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السُّؤَالُ: مَاذَا يُفَضِّلُ أَخُو عَلِيٍّ الآنَ؟ ← سَمِعْتُ: كَانَ يَرْتَدِي </a:t>
            </a:r>
            <a:pPr rtl="1" algn="r" indent="0" marL="0">
              <a:buNone/>
            </a:pPr>
            <a:r>
              <a:rPr lang="ar-SA" altLang="en-US" sz="1700" b="1" dirty="0">
                <a:solidFill>
                  <a:srgbClr val="D6336C"/>
                </a:solidFill>
                <a:latin typeface="Amiri" pitchFamily="2" charset="-78"/>
                <a:cs typeface="Amiri" pitchFamily="2" charset="-78"/>
              </a:rPr>
              <a:t>مَلَابِسَ رَسْمِيَّةً</a:t>
            </a:r>
            <a:pPr rtl="1" algn="r" indent="0" marL="0">
              <a:buNone/>
            </a:pPr>
            <a:r>
              <a:rPr lang="ar-SA" altLang="en-US" sz="1700" b="1" dirty="0">
                <a:solidFill>
                  <a:srgbClr val="1B3B6F"/>
                </a:solidFill>
                <a:latin typeface="Amiri" pitchFamily="2" charset="-78"/>
                <a:cs typeface="Amiri" pitchFamily="2" charset="-78"/>
              </a:rPr>
              <a:t>، </a:t>
            </a:r>
            <a:pPr rtl="1" algn="r" indent="0" marL="0">
              <a:buNone/>
            </a:pPr>
            <a:r>
              <a:rPr lang="ar-SA" altLang="en-US" sz="1700" b="1" dirty="0">
                <a:solidFill>
                  <a:srgbClr val="0E7C86"/>
                </a:solidFill>
                <a:latin typeface="Amiri" pitchFamily="2" charset="-78"/>
                <a:cs typeface="Amiri" pitchFamily="2" charset="-78"/>
              </a:rPr>
              <a:t>وَلٰكِنَّهُ الآنَ</a:t>
            </a:r>
            <a:pPr rtl="1" algn="r" indent="0" marL="0">
              <a:buNone/>
            </a:pPr>
            <a:r>
              <a:rPr lang="ar-SA" altLang="en-US" sz="1700" b="1" dirty="0">
                <a:solidFill>
                  <a:srgbClr val="1B3B6F"/>
                </a:solidFill>
                <a:latin typeface="Amiri" pitchFamily="2" charset="-78"/>
                <a:cs typeface="Amiri" pitchFamily="2" charset="-78"/>
              </a:rPr>
              <a:t> يُفَضِّلُ </a:t>
            </a:r>
            <a:pPr rtl="1" algn="r" indent="0" marL="0">
              <a:buNone/>
            </a:pPr>
            <a:r>
              <a:rPr lang="ar-SA" altLang="en-US" sz="1700" b="1" dirty="0">
                <a:solidFill>
                  <a:srgbClr val="1D5FBF"/>
                </a:solidFill>
                <a:latin typeface="Amiri" pitchFamily="2" charset="-78"/>
                <a:cs typeface="Amiri" pitchFamily="2" charset="-78"/>
              </a:rPr>
              <a:t>أُسْلُوبًا أَكْثَرَ رَاحَةً</a:t>
            </a:r>
            <a:pPr rtl="1" algn="r" indent="0" marL="0">
              <a:buNone/>
            </a:pPr>
            <a:r>
              <a:rPr lang="ar-SA" altLang="en-US" sz="1700" b="1" dirty="0">
                <a:solidFill>
                  <a:srgbClr val="1B3B6F"/>
                </a:solidFill>
                <a:latin typeface="Amiri" pitchFamily="2" charset="-78"/>
                <a:cs typeface="Amiri" pitchFamily="2" charset="-78"/>
              </a:rPr>
              <a:t>. ← الجَوَابُ: </a:t>
            </a:r>
            <a:pPr rtl="1" algn="r" indent="0" marL="0">
              <a:buNone/>
            </a:pPr>
            <a:r>
              <a:rPr lang="ar-SA" altLang="en-US" sz="1700" b="1" dirty="0">
                <a:solidFill>
                  <a:srgbClr val="1D5FBF"/>
                </a:solidFill>
                <a:latin typeface="Amiri" pitchFamily="2" charset="-78"/>
                <a:cs typeface="Amiri" pitchFamily="2" charset="-78"/>
              </a:rPr>
              <a:t>أُسْلُوبٌ أَكْثَرُ رَاحَةً</a:t>
            </a:r>
            <a:pPr rtl="1" algn="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What does Ali’s brother prefer now? → I heard: he used to wear formal clothes, but now he prefers a more comfortable style. → Answer: a more comfortable style.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is wearing a coat, and it is blue.</a:t>
            </a:r>
            <a:endParaRPr lang="en-US" sz="1250" dirty="0"/>
          </a:p>
          <a:p>
            <a:pPr indent="0" marL="0">
              <a:buNone/>
            </a:pPr>
            <a:r>
              <a:rPr lang="en-US" sz="1050" i="1" dirty="0">
                <a:solidFill>
                  <a:srgbClr val="8A6D1E"/>
                </a:solidFill>
                <a:latin typeface="Calibri" pitchFamily="34" charset="0"/>
                <a:cs typeface="Amiri" pitchFamily="2" charset="-78"/>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his style is elegant.</a:t>
            </a:r>
            <a:endParaRPr lang="en-US" sz="1250" dirty="0"/>
          </a:p>
          <a:p>
            <a:pPr indent="0" marL="0">
              <a:buNone/>
            </a:pPr>
            <a:r>
              <a:rPr lang="en-US" sz="1050" i="1" dirty="0">
                <a:solidFill>
                  <a:srgbClr val="8A6D1E"/>
                </a:solidFill>
                <a:latin typeface="Calibri" pitchFamily="34" charset="0"/>
                <a:cs typeface="Amiri" pitchFamily="2" charset="-78"/>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calm, whereas she is cheerful.</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helps everyone, so he seems helpful.</a:t>
            </a:r>
            <a:endParaRPr lang="en-US" sz="1250" dirty="0"/>
          </a:p>
          <a:p>
            <a:pPr indent="0" marL="0">
              <a:buNone/>
            </a:pPr>
            <a:r>
              <a:rPr lang="en-US" sz="1050" i="1" dirty="0">
                <a:solidFill>
                  <a:srgbClr val="8A6D1E"/>
                </a:solidFill>
                <a:latin typeface="Calibri" pitchFamily="34" charset="0"/>
                <a:cs typeface="Amiri" pitchFamily="2" charset="-78"/>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قَمِيصًا أَسْوَدَ.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شَعْرٌ قَصِيرٌ.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ثَمَنُهُ خَمْسُونَ جُنَيْهًا.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هُوَ أَنِيقٌ.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أَرَى أَنَّ أُسْلُوبَهُ مُنَاسِبٌ.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لَا يَخَافُ مِنَ الجَدِيدِ؛ فَهُوَ وَاثِقٌ.</a:t>
            </a:r>
            <a:endParaRPr lang="ar-SA" sz="175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قَمِيصًا أَسْوَدَ.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شَعْرٌ قَصِيرٌ.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ثَمَنُهُ خَمْسُونَ جُنَيْهًا.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هُوَ أَنِيقٌ.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أَرَى أَنَّ أُسْلُوبَهُ مُنَاسِبٌ.</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يَخَافُ مِنَ الجَدِيدِ؛ فَهُوَ وَاثِقٌ.</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أَكْثَرُ ثِقَةً ___ أُخْتِهَا.</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حِذَاءً أَسْوَدَ.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يُقَدِّمُ وَقْتَهُ لِمُسَاعَدَةِ الآخَرِينَ.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masculine antecedent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plural verb</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feminine antecedent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أَكْثَرُ ثِقَةً ___ أُخْتِهَا.</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حِذَاءً أَسْوَدَ.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يُقَدِّمُ وَقْتَهُ لِمُسَاعَدَةِ الآخَرِينَ.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طَوِيلٌ.</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masculine antecedent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plural verb</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feminine antecedent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مَرْيَمُ تَرْتَدِي مِعْطَفًا، وَهِيَ أَزْرَقُ.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coat (miʿṭaf) is masculine: huwa or hiya?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هَادِئٌ، لِأَنَّ هِيَ مَرِحَةٌ.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or reason?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مُتَعَاوِنَةٌ لِأَنَّ قَمِيصَهَا 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colour evidence of character?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مَرْيَمُ تَرْتَدِي مِعْطَفًا، وَهِيَ أَزْرَقُ.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مَرْيَمُ تَرْتَدِي مِعْطَفًا، وَهُوَ أَزْرَقُ.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coat is masculine → </a:t>
            </a:r>
            <a:pPr algn="l" indent="0" marL="0">
              <a:buNone/>
            </a:pPr>
            <a:r>
              <a:rPr lang="ar-SA" altLang="en-US" sz="1500" b="1" dirty="0">
                <a:solidFill>
                  <a:srgbClr val="1B3B6F"/>
                </a:solidFill>
                <a:latin typeface="Amiri" pitchFamily="2" charset="-78"/>
                <a:cs typeface="Amiri" pitchFamily="2" charset="-78"/>
              </a:rPr>
              <a:t>هُوَ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هَادِئٌ، لِأَنَّ هِيَ مَرِحَةٌ.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هَادِئٌ،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contrast needs </a:t>
            </a:r>
            <a:pPr algn="l" indent="0" marL="0">
              <a:buNone/>
            </a:pPr>
            <a:r>
              <a:rPr lang="ar-SA" altLang="en-US" sz="1500" b="1" dirty="0">
                <a:solidFill>
                  <a:srgbClr val="1B3B6F"/>
                </a:solidFill>
                <a:latin typeface="Amiri" pitchFamily="2" charset="-78"/>
                <a:cs typeface="Amiri" pitchFamily="2" charset="-78"/>
              </a:rPr>
              <a:t>بَيْنَمَا</a:t>
            </a:r>
            <a:pPr algn="l" indent="0" marL="0">
              <a:buNone/>
            </a:pPr>
            <a:r>
              <a:rPr lang="en-US" sz="1150" b="1" dirty="0">
                <a:solidFill>
                  <a:srgbClr val="1B3B6F"/>
                </a:solidFill>
                <a:latin typeface="Calibri" pitchFamily="34" charset="0"/>
                <a:cs typeface="Amiri" pitchFamily="2" charset="-78"/>
              </a:rPr>
              <a:t>, not a reason.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مُتَعَاوِنَةٌ لِأَنَّ قَمِيصَهَا 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مُتَعَاوِنَةٌ لِأَنَّهَا تُسَاعِدُ زَمِيلَاتِهَا.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inference needs behaviour as evidence.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Dialogue 1: Samira describes Nadia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Samira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Nadia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Nadia in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her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serious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 and what does she wear?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 short hair, simple clothes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long hair, formal clothes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curly hair, colourful clothes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Two answers change after “but” (calm → cheerful).</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بَسِيطَةً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الحِوَارِ الأَوَّلِ تَصِفُ سَمِيرَةُ صَدِيقَتَهَا نَادِيَةَ.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dialogue Samira describes her friend Nadia.</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تَقُولُ إِنَّهَا هَادِئَةٌ فِي الفَصْلِ، وَلٰكِنَّهَا مَرِحَةٌ مَعَ أَصْدِقَائِهَا.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that she is calm in class, but cheerful with her friends.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نَادِيَةُ مُتَوَسِّطَةُ القَامَةِ وَلَهَا شَعْرٌ قَصِيرٌ، وَتَرْتَدِي عَادَةً مَلَابِسَ بَسِيطَةً.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Nadia is of medium height and has short hair, and she usually wears simple clothes.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Samira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 Nadia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تَصِفُ سَمِيرَةُ صَدِيقَتَهَا نَادِيَةَ.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Nadia in class?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cheerful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هَادِئَةٌ فِي الفَصْلِ.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her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serious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cheerful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وَلٰكِنَّهَا مَرِحَةٌ مَعَ أَصْدِقَائِهَا.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 and what does she wear?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medium height, short hair, simple clothes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long hair, formal clothes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curly hair, colourful clothes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مُتَوَسِّطَةُ القَامَةِ وَلَهَا شَعْرٌ قَصِيرٌ … مَلَابِسَ بَسِيطَةً.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Two answers change after “but” (calm → cheerful).</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بَسِيطَةً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Dialogue 2: Ali talks about his brother</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Ali talk about?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 brother USED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clothes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traditional clothes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prefer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formal clothes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style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more comfortable style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Ali think his brother is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not afraid to try a new style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talks a lot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ar-SA" altLang="en-US" sz="1650" dirty="0">
                <a:solidFill>
                  <a:srgbClr val="1E6B52"/>
                </a:solidFill>
                <a:latin typeface="Amiri" pitchFamily="2" charset="-78"/>
                <a:cs typeface="Amiri" pitchFamily="2" charset="-78"/>
              </a:rPr>
              <a:t>كَانَ</a:t>
            </a:r>
            <a:pPr algn="l" indent="0" marL="0">
              <a:lnSpc>
                <a:spcPct val="115000"/>
              </a:lnSpc>
              <a:buNone/>
            </a:pPr>
            <a:r>
              <a:rPr lang="en-US" sz="1250" dirty="0">
                <a:solidFill>
                  <a:srgbClr val="1E6B52"/>
                </a:solidFill>
                <a:latin typeface="Calibri" pitchFamily="34" charset="0"/>
                <a:cs typeface="Amiri" pitchFamily="2" charset="-78"/>
              </a:rPr>
              <a:t> = before. </a:t>
            </a:r>
            <a:pPr algn="l" indent="0" marL="0">
              <a:lnSpc>
                <a:spcPct val="115000"/>
              </a:lnSpc>
              <a:buNone/>
            </a:pPr>
            <a:r>
              <a:rPr lang="ar-SA" altLang="en-US" sz="1650" dirty="0">
                <a:solidFill>
                  <a:srgbClr val="1E6B52"/>
                </a:solidFill>
                <a:latin typeface="Amiri" pitchFamily="2" charset="-78"/>
                <a:cs typeface="Amiri" pitchFamily="2" charset="-78"/>
              </a:rPr>
              <a:t>الآنَ</a:t>
            </a:r>
            <a:pPr algn="l" indent="0" marL="0">
              <a:lnSpc>
                <a:spcPct val="115000"/>
              </a:lnSpc>
              <a:buNone/>
            </a:pPr>
            <a:r>
              <a:rPr lang="en-US" sz="1250" dirty="0">
                <a:solidFill>
                  <a:srgbClr val="1E6B52"/>
                </a:solidFill>
                <a:latin typeface="Calibri" pitchFamily="34" charset="0"/>
                <a:cs typeface="Amiri" pitchFamily="2" charset="-78"/>
              </a:rPr>
              <a:t> = now.</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Question 4 is an INFERENCE: find the evidence.</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الحِوَارِ الثَّانِي يَتَحَدَّثُ عَلِيٌّ عَنْ أَخِيهِ.</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dialogue Ali talks about his brother.</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كَانَ أَخُوهُ يَرْتَدِي مَلَابِسَ رَسْمِيَّةً، وَلٰكِنَّهُ الآنَ يُفَضِّلُ أُسْلُوبًا أَكْثَرَ رَاحَةً.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brother used to wear formal clothes, but now he prefers a more comfortable style.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عَلِيٌّ يَرَى أَنَّ أَخَاهُ وَاثِقٌ لِأَنَّهُ لَا يَخَافُ مِنْ تَجْرِبَةِ أُسْلُوبٍ جَدِيدٍ.</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thinks his brother is confident because he is not afraid of trying a new style.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Ali talk about?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brother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يَتَحَدَّثُ عَلِيٌّ عَنْ أَخِيهِ.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 brother USED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clothes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traditional clothes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أَخُوهُ يَرْتَدِي مَلَابِسَ 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prefer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formal clothes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style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more comfortable style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وَلٰكِنَّهُ الآنَ يُفَضِّلُ أُسْلُوبًا أَكْثَرَ رَاحَةً.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Ali think his brother is confident?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not afraid to try a new style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talks a lot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 لَا يَخَافُ مِنْ تَجْرِبَةِ أُسْلُوبٍ جَدِيدٍ.</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ar-SA" altLang="en-US" sz="1650" dirty="0">
                <a:solidFill>
                  <a:srgbClr val="1E6B52"/>
                </a:solidFill>
                <a:latin typeface="Amiri" pitchFamily="2" charset="-78"/>
                <a:cs typeface="Amiri" pitchFamily="2" charset="-78"/>
              </a:rPr>
              <a:t>كَانَ</a:t>
            </a:r>
            <a:pPr algn="l" indent="0" marL="0">
              <a:lnSpc>
                <a:spcPct val="115000"/>
              </a:lnSpc>
              <a:buNone/>
            </a:pPr>
            <a:r>
              <a:rPr lang="en-US" sz="1250" dirty="0">
                <a:solidFill>
                  <a:srgbClr val="1E6B52"/>
                </a:solidFill>
                <a:latin typeface="Calibri" pitchFamily="34" charset="0"/>
                <a:cs typeface="Amiri" pitchFamily="2" charset="-78"/>
              </a:rPr>
              <a:t> = before. </a:t>
            </a:r>
            <a:pPr algn="l" indent="0" marL="0">
              <a:lnSpc>
                <a:spcPct val="115000"/>
              </a:lnSpc>
              <a:buNone/>
            </a:pPr>
            <a:r>
              <a:rPr lang="ar-SA" altLang="en-US" sz="1650" dirty="0">
                <a:solidFill>
                  <a:srgbClr val="1E6B52"/>
                </a:solidFill>
                <a:latin typeface="Amiri" pitchFamily="2" charset="-78"/>
                <a:cs typeface="Amiri" pitchFamily="2" charset="-78"/>
              </a:rPr>
              <a:t>الآنَ</a:t>
            </a:r>
            <a:pPr algn="l" indent="0" marL="0">
              <a:lnSpc>
                <a:spcPct val="115000"/>
              </a:lnSpc>
              <a:buNone/>
            </a:pPr>
            <a:r>
              <a:rPr lang="en-US" sz="1250" dirty="0">
                <a:solidFill>
                  <a:srgbClr val="1E6B52"/>
                </a:solidFill>
                <a:latin typeface="Calibri" pitchFamily="34" charset="0"/>
                <a:cs typeface="Amiri" pitchFamily="2" charset="-78"/>
              </a:rPr>
              <a:t> = now.</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Question 4 is an INFERENCE: find the evidence.</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Developed speaking: listening to people and style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الكَلِمَاتُ الَّتِي تُسَاعِدُكَ عَلَى تَتَبُّعِ المُتَحَدِّثِ؟</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تَغْيِيرًا سَمِعْتَهُ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تُفَرِّقُ بَيْنَ الحَقِيقَةِ وَالرَّأْيِ؟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اسْتِنْتَاجًا وَدَلِيلَهُ.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تُسَاعِدُنِي كَلِمَاتٌ مِثْلُ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كَانَ ___ ، وَلٰكِنَّهُ الآنَ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الحَقِيقَةُ: ___ . الرَّأْيُ: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يَبْدُو ___ ؛ وَالدَّلِيلُ أَنَّهُ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تَصِفُ سَمِيرَةُ؟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Whom does Samira describe?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تَصِفُ صَدِيقَتَهَا نَادِيَةَ.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She describes her friend Nadia.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Nadia from dialogue 1: who she is, class vs friends, height, hair, clothes.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Summarise both dialogues, including the change after “but”.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summarise both descriptions — speakers, people, appearance, personality, style, changes and your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يَتَحَدَّثُ عَلِيٌّ عَنْ أَخِيهِ.</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Ali talks about his brother.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كَانَ يَرْتَدِي ______ ، وَلٰكِنَّهُ الآنَ ______ .</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used to wear …, but now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عَلِيٌّ أَنَّ أَخَاهُ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Ali thinks that his brother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الدَّلِيلُ أَنَّهُ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كِلَا النَّصَّيْنِ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texts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تَصِفُ سَمِيرَةُ صَدِيقَتَهَا نَادِيَةَ.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Samira describes her friend Nadia.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نَادِيَةُ هَادِئَةٌ فِي الفَصْلِ، وَلٰكِنَّهَا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Nadia is calm in class, but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______ القَامَةِ.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of … height.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لَهَا شَعْرٌ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 hair.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تَرْتَدِي عَادَةً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usually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تَصِفُ  ·  يَتَحَدَّثُ عَنْ  ·  هَادِئَةٌ  ·  مَرِحَةٌ  ·  مُتَوَسِّطَةُ القَامَةِ  ·  بَسِيطَةً  ·  رَسْمِيَّةً  ·  أَكْثَرَ رَاحَةً  ·  كَانَ  ·  الآنَ  ·  وَلٰكِنَّ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summarising two spoken descriptions. Identify speakers, people, appearance, personality, style, changed details and your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اِسْتَمَعْتُ إِلَى نَصَّيْنِ عَنْ شَخْصَيْنِ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listened to two texts about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الَّذِي غَيَّرَ أُسْلُوبَهُ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who changed his style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المَلَابِسِ الرَّسْمِيَّةِ إِلَى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formal clothes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يُجَرِّبُ أَفْكَارًا 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tries new ideas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الدَّلِيلُ أَهَمُّ مِنَ التَّخْمِينِ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evidence is more important than guessing</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اِسْتَمَعْتُ إِلَى نَصَّيْنِ عَنْ شَخْصَيْنِ. فِي النَّصِّ الأَوَّلِ تَصِفُ سَمِيرَةُ صَدِيقَتَهَا نَادِيَةَ. نَادِيَةُ هَادِئَةٌ فِي الفَصْلِ، وَلٰكِنَّهَا مَرِحَةٌ مَعَ أَصْدِقَائِهَا. لَهَا شَعْرٌ قَصِيرٌ وَتَرْتَدِي مَلَابِسَ بَسِيطَةً. فِي النَّصِّ الثَّانِي يَتَحَدَّثُ عَلِيٌّ عَنْ أَخِيهِ الَّذِي غَيَّرَ أُسْلُوبَهُ مِنَ المَلَابِسِ الرَّسْمِيَّةِ إِلَى مَلَابِسَ أَكْثَرَ رَاحَةً. يَعْتَقِدُ عَلِيٌّ أَنَّ أَخَاهُ وَاثِقٌ لِأَنَّهُ يُجَرِّبُ أَفْكَارًا جَدِيدَةً. الدَّلِيلُ فِي كُلِّ نَصٍّ أَهَمُّ مِنَ التَّخْمِينِ.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listened to two texts about two people. In the first text Samira describes her friend Nadia. Nadia is calm in class, but cheerful with her friends. She has short hair and wears simple clothes. In the second text Ali talks about his brother, who changed his style from formal clothes to more comfortable clothes. Ali believes his brother is confident because he tries new ideas. In every text, evidence is more important than guessing.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inside one description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changed detail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inference and its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relative clause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who each speaker describes.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appearance details are exact.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the change after “but”.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refer to the right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inference has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comparison: </a:t>
            </a:r>
            <a:pPr algn="l" indent="0" marL="0">
              <a:buNone/>
            </a:pPr>
            <a:r>
              <a:rPr lang="ar-SA" altLang="en-US" sz="1650" b="1" dirty="0">
                <a:solidFill>
                  <a:srgbClr val="1B3B6F"/>
                </a:solidFill>
                <a:latin typeface="Amiri" pitchFamily="2" charset="-78"/>
                <a:cs typeface="Amiri" pitchFamily="2" charset="-78"/>
              </a:rPr>
              <a:t>هِيَ أَكْثَرُ ثِقَةً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رَأْيِي هُوَ أَنِيقٌ.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يَرْتَدِي قَمِيصًا أَسْوَدَ.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قَدْ يَكُونُ خَجُولًا.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comparison: </a:t>
            </a:r>
            <a:pPr algn="l" indent="0" marL="0">
              <a:buNone/>
            </a:pPr>
            <a:r>
              <a:rPr lang="ar-SA" altLang="en-US" sz="1650" b="1" dirty="0">
                <a:solidFill>
                  <a:srgbClr val="1B3B6F"/>
                </a:solidFill>
                <a:latin typeface="Amiri" pitchFamily="2" charset="-78"/>
                <a:cs typeface="Amiri" pitchFamily="2" charset="-78"/>
              </a:rPr>
              <a:t>هِيَ أَكْثَرُ ثِقَةً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Reading focus: listening to people and style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مُلَخَّصُ مُقَابَلَتَيْنِ: المُتَحَدِّثَةُ الأُولَى تَصِفُ زَمِيلَةً هَادِئَةً وَمُتَعَاوِنَةً، وَتَذْكُرُ أَنَّهَا تَرْتَدِي مَلَابِسَ عَمَلِيَّةً فِي المَدْرَسَةِ. أَمَّا المُتَحَدِّثُ الثَّانِي فَيَصِفُ شَابًّا يَهْتَمُّ بِالمَوْضَةِ، وَلٰكِنَّهُ يَخْتَارُ المَلَابِسَ المُرِيحَةَ عِنْدَ السَّفَرِ. كِلَا النَّصَّيْنِ يَفْصِلُ بَيْنَ المَظْهَرِ وَالشَّخْصِيَّةِ وَيُقَدِّمُ دَلِيلًا قَبْلَ الاِسْتِنْتَاجِ.</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مُلَخَّصُ</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summary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مُقَابَلَتَيْنِ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interviews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المُتَحَدِّثَةُ الأُولَى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first (female) speaker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زَمِيلَةً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(female) classmate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تَذْكُرُ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mentions that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يَهْتَمُّ بِـ</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interested 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عِنْدَ السَّفَرِ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travelling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كِلَا النَّصَّيْنِ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texts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يَفْصِلُ بَيْنَ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separates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الاِسْتِنْتَاجِ</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conclusion, inference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summary of two interviews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does the first speaker describe her colleague?</a:t>
            </a:r>
            <a:endParaRPr lang="en-US" sz="120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 and loud</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 and formal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 and helpful</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colleague wear at school?</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practical clothes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clothes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interested in?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choose when travelling?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comfortable clothes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 clothes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traditional clothes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texts do?</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judge people by their clothes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describe clothes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separate appearance from personality and give evidence first</a:t>
            </a:r>
            <a:endParaRPr lang="en-US" sz="9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summary of two interviews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مُلَخَّصُ مُقَابَلَتَيْنِ.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does the first speaker describe her colleague?</a:t>
            </a:r>
            <a:endParaRPr lang="en-US" sz="120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cheerful and loud</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 and formal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 and helpful</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زَمِيلَةً هَادِئَةً وَمُتَعَاوِنَةً.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colleague wear at school?</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practical clothes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clothes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مَلَابِسَ عَمَلِيَّةً فِي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interested in?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fashion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شَابًّا يَهْتَمُّ بِالمَوْضَةِ.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choose when travelling?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comfortable clothes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 clothes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traditional clothes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يَخْتَارُ المَلَابِسَ المُرِيحَةَ عِنْدَ السَّفَرِ.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texts do?</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judge people by their clothes</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describe clothes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separate appearance from personality and give evidence first</a:t>
            </a:r>
            <a:endParaRPr lang="en-US" sz="9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يَفْصِلُ بَيْنَ المَظْهَرِ وَالشَّخْصِيَّةِ وَيُقَدِّمُ دَلِيلًا.</a:t>
            </a:r>
            <a:endParaRPr lang="ar-SA" sz="12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to people and style Arabic challenge</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D2-L08 · Reading — Personality, Relationships and Fashion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en-US" sz="1000" i="1" dirty="0">
                <a:solidFill>
                  <a:srgbClr val="5A6472"/>
                </a:solidFill>
                <a:latin typeface="Calibri" pitchFamily="34" charset="0"/>
                <a:cs typeface="Amiri" pitchFamily="2" charset="-78"/>
              </a:rPr>
              <a:t>  D2-L02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صَدِيقٌ مُقَرَّبٌ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en-US" sz="1000" i="1" dirty="0">
                <a:solidFill>
                  <a:srgbClr val="5A6472"/>
                </a:solidFill>
                <a:latin typeface="Calibri" pitchFamily="34" charset="0"/>
                <a:cs typeface="Amiri" pitchFamily="2" charset="-78"/>
              </a:rPr>
              <a:t>  D2-L02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الأُسْلُوبُ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style</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يُعَبِّرُ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expresses</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الرَّغْمِ مِنْ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although</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D2-L08 is a reading lesson on personality, relationships and fashion. Which of these three topics do you find easiest to read about,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أَيُّ مَوْضُوعٍ أَسْهَلُ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D2-L07: listen again to the website audio and answer the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summarising both dialogues.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summary of the two descriptions.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D2-L08 · Reading — Personality, Relationships and Fashion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after “but”, the answer often changes — keep listening.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D2-L07 · Listening — People, Personality and Style Descriptions</dc:title>
  <dc:subject>PptxGenJS Presentation</dc:subject>
  <dc:creator>Al Madina Online School · Arabic Department</dc:creator>
  <cp:lastModifiedBy>Al Madina Online School · Arabic Department</cp:lastModifiedBy>
  <cp:revision>1</cp:revision>
  <dcterms:created xsi:type="dcterms:W3CDTF">2026-10-11T06:40:37Z</dcterms:created>
  <dcterms:modified xsi:type="dcterms:W3CDTF">2026-10-11T06:40:37Z</dcterms:modified>
</cp:coreProperties>
</file>