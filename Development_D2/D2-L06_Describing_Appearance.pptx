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D2-L06. The website lesson “Describing Appearance — A Full Physical Portrait”: vocabulary, grammar rules and quiz, patterns, common mistakes, sorter, listening, reading, speaking prompts and model, writing task and model, differentiation, final check and the lesson mission. Picture match: website visual game “Describing Appearance — A Full Physical Portrait”.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portrait ORDER as four chunks — هُوَ / هِيَ طَوِيلُ / طَوِيلَةُ القَامَةِ · لَهُ / لَهَا شَعْرٌ … · عَيْنَاهُ / عَيْنَاهَا … · يَرْتَدِي / تَرْتَدِي … Develop: hair (masc.) and eyes (dual) agreement and الَّذِي / الَّتِي. Stretch: two people and a personality inference supported by behaviour (يَبْدُو … لِأَنَّهُ …).
• Respect is part of the success criteria (website rule 4 and quiz Q6): describe what you SEE, never judge (no “ugly / strange”). Use a picture, a character or a celebrity rather than a classmate.
• Two tricky points, taught visually: شَعْرٌ is masculine even for a girl (شَعْرُهَا طَوِيلٌ); eyes are TWO, feminine (عَيْنَانِ بُنِّيَّتَانِ).
• Urdu bridge: قد (height → القَامَةُ by meaning), شکل، عینک ≠ نَظَّارَةٌ, لباس، جسم.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appearance words prepared at home. Questions 3–5 retrieve D2-L05 (comparatives) and D2-L03 (هٰذِهِ).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 has → lahu. She has → lahā. Her hair is long → shaʿruhā ṭawīl (hair is masculine!).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قامت (as in قد و قامت) → طَوِيلُ القَامَةِ (tall). شکل → شَكْلٌ (كَيْفَ شَكْلُهُ؟ what does he look like?). لباس → لِبَاسٌ. جسم → جِسْمٌ / جِسْمِيَّةٌ. Urdu عینک is Persian; Arabic glasses = نَظَّارَةٌ (from نَظَرٌ, sight — Urdu نظر).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Height, hair and eyes (website vocabulary (1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Height, hair and eyes (website vocabulary (2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Clothes in a portrait (website vocabulary (1 of 2)). Hear → Say → See → Use. Transliteration is printed for Core students (cover it for Develop/Stretch).
FLEX: teach if time allows; otherwise these are on the website vocabulary tab for homework.
Clothes in a portrait (FLEX) — D2-L03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Clothes in a portrait (website vocabulary (2 of 2)). Hear → Say → See → Use. Transliteration is printed for Core students (cover it for Develop/Stretch).
FLEX: teach if time allows; otherwise these are on the website vocabulary tab for homework.
Clothes in a portrait (FLEX) — D2-L03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(1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(2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“Possession with لَهُ / لَهَا”, “Body-feature agreement” (hair is masculine; eyes are dual feminine) and “Respectful portrait order” (height → hair → eyes → clothes), with the website table (Reference · Possession · Relative pronoun).
Website common error: “Do not treat عَيْنَانِ as a singular masculine noun” — عَيْنَاهَا بُنِّيٌّ ✗ → عَيْنَاهَا بُنِّيَّتَانِ ✓.
Stretch: dual of colours — blue زَرْقَاوَانِ, green خَضْرَاوَانِ, brown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“Relative clause” (الَّذِي for masculine, الَّتِي for feminine antecedents) and the website model’s inference (يَبْدُو هَادِئًا لِأَنَّهُ …).
Game: show a class-picture (or a family photo from a textbook); students identify people: “مَنْ هِيَ؟ — هِيَ الفَتَاةُ الَّتِي تَرْتَدِي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“Create a coherent portrait using possession, dual body features, adjective agreement and الذي/التي clauses.”
• Possession with لَهُ / لَهَا: Use لَهُ for he has and لَهَا for she has.
• Body-feature agreement: Hair is masculine; eyes are dual feminine.
• Relative clause: Use الذي for masculine and التي for feminine antecedents.
• Respectful portrait order: Organise details and avoid judgemental language.
Website common error: Do not use التي after a masculine person or treat عَيْنَانِ as a singular masculine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girl from the website listening, described in the website order with a think-aloud. Then students describe the young man from the same script aloud (tall, short curly hair, glasses, white shirt).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يَصِفُ المُتَحَدِّثُ شَخْصَيْنِ فِي صُورَةٍ. الأَوَّلُ شَابٌّ طَوِيلُ القَامَةِ، لَهُ شَعْرٌ قَصِيرٌ وَمُجَعَّدٌ، وَيَرْتَدِي نَظَّارَةً وَقَمِيصًا أَبْيَضَ. الثَّانِيَةُ فَتَاةٌ مُتَوَسِّطَةُ القَامَةِ، لَهَا شَعْرٌ طَوِيلٌ مُسْتَقِيمٌ وَعَيْنَانِ بُنِّيَّتَانِ. هِيَ الفَتَاةُ الَّتِي تَرْتَدِي مِعْطَفًا أَزْرَقَ وَحَقِيبَةً سَوْدَاءَ.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مَظْهَرُهُ؟ (What does he look like?)
B: هُوَ طَوِيلُ القَامَةِ وَلَهُ شَعْرٌ قَصِيرٌ. (He is tall and has short hair.)
Website prompts (order changed for routes). Website model continues: A: كَيْفَ مَظْهَرُهُ؟ (What does he look like?) B: هُوَ طَوِيلُ القَامَةِ وَلَهُ شَعْرٌ قَصِيرٌ. Use a picture on screen (a family photo from a textbook, or a famous person) — not a classmate.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giving a respectful full portrait of two people. Organise height, hair, eyes, distinguishing features, clothes and one personality inference supported by behaviour.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طَوِيلُ القَامَةِ ← لَهُ شَعْرٌ … ← عَيْنَانِ بُنِّيَّتَانِ ← يَرْتَدِي … · الشَّخْصُ الَّذِي / الفَتَاةُ الَّتِي · يَبْدُو هَادِئًا لِأَنَّهُ يَسْتَمِعُ · الوَصْفُ الدَّقِيقُ يَحْتَرِمُ الشَّخْصَ.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(D2-L07 · Listening — People, Personality and Style Descriptions) will spend class time USING this language, so students prepare it tonight — short, simple, easy to access (school guidance: “Simple, Short, Interesting, Relevant, Easy to access”). The five words come from the website D2-L07 vocabulary (listening signals).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Describing Appearance — A Full Physical Portrait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وَصْفُ المَظْهَرِ — صُورَةٌ جِسْمِيَّةٌ كَامِلَةٌ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Build a respectful portrait in order — height, hair, eyes, clothes: </a:t>
            </a:r>
            <a:pPr algn="l" indent="0" marL="0">
              <a:buNone/>
            </a:pPr>
            <a:r>
              <a:rPr lang="ar-SA" altLang="en-US" sz="1800" dirty="0">
                <a:solidFill>
                  <a:srgbClr val="C6D2E6"/>
                </a:solidFill>
                <a:latin typeface="Amiri" pitchFamily="2" charset="-78"/>
                <a:ea typeface="Amiri" pitchFamily="2" charset="-78"/>
                <a:cs typeface="Amiri" pitchFamily="2" charset="-78"/>
              </a:rPr>
              <a:t>لَهُ / لَهَا</a:t>
            </a:r>
            <a:pPr algn="l" indent="0" marL="0">
              <a:buNone/>
            </a:pPr>
            <a:r>
              <a:rPr lang="en-US" sz="1400" dirty="0">
                <a:solidFill>
                  <a:srgbClr val="C6D2E6"/>
                </a:solidFill>
                <a:latin typeface="Calibri" pitchFamily="34" charset="0"/>
                <a:cs typeface="Amiri" pitchFamily="2" charset="-78"/>
              </a:rPr>
              <a:t> (he / she has), hair is masculine, eyes are dual (</a:t>
            </a:r>
            <a:pPr algn="l" indent="0" marL="0">
              <a:buNone/>
            </a:pPr>
            <a:r>
              <a:rPr lang="ar-SA" altLang="en-US" sz="1800" dirty="0">
                <a:solidFill>
                  <a:srgbClr val="C6D2E6"/>
                </a:solidFill>
                <a:latin typeface="Amiri" pitchFamily="2" charset="-78"/>
                <a:ea typeface="Amiri" pitchFamily="2" charset="-78"/>
                <a:cs typeface="Amiri" pitchFamily="2" charset="-78"/>
              </a:rPr>
              <a:t>عَيْنَاهَا بُنِّيَّتَانِ</a:t>
            </a:r>
            <a:pPr algn="l" indent="0" marL="0">
              <a:buNone/>
            </a:pPr>
            <a:r>
              <a:rPr lang="en-US" sz="1400" dirty="0">
                <a:solidFill>
                  <a:srgbClr val="C6D2E6"/>
                </a:solidFill>
                <a:latin typeface="Calibri" pitchFamily="34" charset="0"/>
                <a:cs typeface="Amiri" pitchFamily="2" charset="-78"/>
              </a:rPr>
              <a:t>), and pick people out with </a:t>
            </a:r>
            <a:pPr algn="l" indent="0" marL="0">
              <a:buNone/>
            </a:pPr>
            <a:r>
              <a:rPr lang="ar-SA" altLang="en-US" sz="1800" dirty="0">
                <a:solidFill>
                  <a:srgbClr val="C6D2E6"/>
                </a:solidFill>
                <a:latin typeface="Amiri" pitchFamily="2" charset="-78"/>
                <a:ea typeface="Amiri" pitchFamily="2" charset="-78"/>
                <a:cs typeface="Amiri" pitchFamily="2" charset="-78"/>
              </a:rPr>
              <a:t>الَّذِي / الَّتِي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D2-L06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He / she has …, hair and eyes agreement, who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شَعْرٌ مُجَعَّدٌ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straight 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curly hair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hair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 بُنِّيَّتَانِ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 eyes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eyes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الأَطْوَلَ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أَطْوَلُ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وَاثِقٌ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وَاثِقٌ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ثِقَةً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سُتْرَةٌ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شَعْرٌ مُجَعَّدٌ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straight 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curly hair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hair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 بُنِّيَّتَانِ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 eyes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 eyes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الأَطْوَلَ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أَطْوَلُ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comparative + min.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وَاثِقٌ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وَاثِقٌ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ثِقَةً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more +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السُّتْرَةُ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السُّتْرَةُ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سُتْرَةٌ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D2-L03: hādhihi.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 has → lahu. She has → lahā. Her hair is long → shaʿruhā ṭawīl (hair is masculine!).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لَهُ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شَعْرٌ قَصِيرٌ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شَعْرٌ طَوِيلٌ · عَيْنَا</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بُنِّيَّتَانِ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D2-L06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Physical description, possession and relative clauses.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height, hair and eyes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he / she is wearing.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hair and eyes agree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الَّذِي / الَّتِي</a:t>
            </a:r>
            <a:pPr algn="l" indent="0" marL="0">
              <a:buNone/>
            </a:pPr>
            <a:r>
              <a:rPr lang="en-US" sz="1300" b="1" dirty="0">
                <a:solidFill>
                  <a:srgbClr val="C9780A"/>
                </a:solidFill>
                <a:latin typeface="Calibri" pitchFamily="34" charset="0"/>
                <a:cs typeface="Amiri" pitchFamily="2" charset="-78"/>
              </a:rPr>
              <a:t> (the one who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two people in a full, respectful portrait.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infer personality from behaviour (he seems … because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Height, hair and eyes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Clothes in a portrait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and personality detail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القَامَةُ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‎قامت / قد‎ </a:t>
            </a:r>
            <a:pPr indent="0" marL="0">
              <a:buNone/>
            </a:pPr>
            <a:r>
              <a:rPr lang="en-US" sz="950" b="1" dirty="0">
                <a:solidFill>
                  <a:srgbClr val="2E8B57"/>
                </a:solidFill>
                <a:latin typeface="Calibri" pitchFamily="34" charset="0"/>
                <a:cs typeface="Amiri" pitchFamily="2" charset="-78"/>
              </a:rPr>
              <a:t> qāmat · stature, height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شَكْلٌ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‎شکل‎ </a:t>
            </a:r>
            <a:pPr indent="0" marL="0">
              <a:buNone/>
            </a:pPr>
            <a:r>
              <a:rPr lang="en-US" sz="950" b="1" dirty="0">
                <a:solidFill>
                  <a:srgbClr val="2E8B57"/>
                </a:solidFill>
                <a:latin typeface="Calibri" pitchFamily="34" charset="0"/>
                <a:cs typeface="Amiri" pitchFamily="2" charset="-78"/>
              </a:rPr>
              <a:t> shakl · shape, appearance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‎لباس‎ </a:t>
            </a:r>
            <a:pPr indent="0" marL="0">
              <a:buNone/>
            </a:pPr>
            <a:r>
              <a:rPr lang="en-US" sz="950" b="1" dirty="0">
                <a:solidFill>
                  <a:srgbClr val="2E8B57"/>
                </a:solidFill>
                <a:latin typeface="Calibri" pitchFamily="34" charset="0"/>
                <a:cs typeface="Amiri" pitchFamily="2" charset="-78"/>
              </a:rPr>
              <a:t> libās · clothing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نَظَّارَةٌ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‎عینک‎ </a:t>
            </a:r>
            <a:pPr indent="0" marL="0">
              <a:buNone/>
            </a:pPr>
            <a:r>
              <a:rPr lang="en-US" sz="950" b="1" dirty="0">
                <a:solidFill>
                  <a:srgbClr val="2E8B57"/>
                </a:solidFill>
                <a:latin typeface="Calibri" pitchFamily="34" charset="0"/>
                <a:cs typeface="Amiri" pitchFamily="2" charset="-78"/>
              </a:rPr>
              <a:t> ainak · glasses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جِسْمِيَّةٌ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‎جسم‎ </a:t>
            </a:r>
            <a:pPr indent="0" marL="0">
              <a:buNone/>
            </a:pPr>
            <a:r>
              <a:rPr lang="en-US" sz="950" b="1" dirty="0">
                <a:solidFill>
                  <a:srgbClr val="2E8B57"/>
                </a:solidFill>
                <a:latin typeface="Calibri" pitchFamily="34" charset="0"/>
                <a:cs typeface="Amiri" pitchFamily="2" charset="-78"/>
              </a:rPr>
              <a:t> jism · body → physical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hair and eyes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قَصِيرُ القَامَةِ / قَصِيرَةُ القَامَةِ</a:t>
            </a:r>
            <a:endParaRPr lang="ar-SA" sz="255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qa-ṣī-ru al-qā-ma-ti / qa-ṣī-ra-tu al-qā-ma-ti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قَصِيرَةُ القَامَةِ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 القَامَةِ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مُتَوَسِّطُ القَامَةِ / مُتَوَسِّطَةُ القَامَةِ</a:t>
            </a:r>
            <a:endParaRPr lang="ar-SA" sz="24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medium height</a:t>
            </a:r>
            <a:endParaRPr lang="en-US" sz="1350" dirty="0"/>
          </a:p>
          <a:p>
            <a:pPr indent="0" marL="0">
              <a:buNone/>
            </a:pPr>
            <a:r>
              <a:rPr lang="en-US" sz="1100" i="1" dirty="0">
                <a:solidFill>
                  <a:srgbClr val="5A6472"/>
                </a:solidFill>
                <a:latin typeface="Calibri" pitchFamily="34" charset="0"/>
                <a:cs typeface="Amiri" pitchFamily="2" charset="-78"/>
              </a:rPr>
              <a:t>mu-ta-was-si-ṭu al-qā-ma-ti / mu-ta-was-si-ṭa-tu al-qā-ma-ti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مُتَوَسِّطَةُ القَامَةِ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 القَامَةِ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طَوِيلٌ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hair</a:t>
            </a:r>
            <a:endParaRPr lang="en-US" sz="1350" dirty="0"/>
          </a:p>
          <a:p>
            <a:pPr indent="0" marL="0">
              <a:buNone/>
            </a:pPr>
            <a:r>
              <a:rPr lang="en-US" sz="1100" i="1" dirty="0">
                <a:solidFill>
                  <a:srgbClr val="5A6472"/>
                </a:solidFill>
                <a:latin typeface="Calibri" pitchFamily="34" charset="0"/>
                <a:cs typeface="Amiri" pitchFamily="2" charset="-78"/>
              </a:rPr>
              <a:t>shaʿ-run ṭa-wī-lun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شَعْرُهَا طَوِيلٌ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 طَوِيلٌ</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قَصِيرٌ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 hair</a:t>
            </a:r>
            <a:endParaRPr lang="en-US" sz="1350" dirty="0"/>
          </a:p>
          <a:p>
            <a:pPr indent="0" marL="0">
              <a:buNone/>
            </a:pPr>
            <a:r>
              <a:rPr lang="en-US" sz="1100" i="1" dirty="0">
                <a:solidFill>
                  <a:srgbClr val="5A6472"/>
                </a:solidFill>
                <a:latin typeface="Calibri" pitchFamily="34" charset="0"/>
                <a:cs typeface="Amiri" pitchFamily="2" charset="-78"/>
              </a:rPr>
              <a:t>shaʿ-run qa-ṣī-run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شَعْرُهَا قَصِيرٌ</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 قَصِيرٌ</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مُجَعَّدٌ</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curly hair</a:t>
            </a:r>
            <a:endParaRPr lang="en-US" sz="1350" dirty="0"/>
          </a:p>
          <a:p>
            <a:pPr indent="0" marL="0">
              <a:buNone/>
            </a:pPr>
            <a:r>
              <a:rPr lang="en-US" sz="1100" i="1" dirty="0">
                <a:solidFill>
                  <a:srgbClr val="5A6472"/>
                </a:solidFill>
                <a:latin typeface="Calibri" pitchFamily="34" charset="0"/>
                <a:cs typeface="Amiri" pitchFamily="2" charset="-78"/>
              </a:rPr>
              <a:t>shaʿ-run mu-jaʿ-ʿa-dun</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شَعْرُهَا مُجَعَّدٌ</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 مُجَعَّدٌ</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hair and eyes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مُسْتَقِيمٌ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straight hair</a:t>
            </a:r>
            <a:endParaRPr lang="en-US" sz="1350" dirty="0"/>
          </a:p>
          <a:p>
            <a:pPr indent="0" marL="0">
              <a:buNone/>
            </a:pPr>
            <a:r>
              <a:rPr lang="en-US" sz="1100" i="1" dirty="0">
                <a:solidFill>
                  <a:srgbClr val="5A6472"/>
                </a:solidFill>
                <a:latin typeface="Calibri" pitchFamily="34" charset="0"/>
                <a:cs typeface="Amiri" pitchFamily="2" charset="-78"/>
              </a:rPr>
              <a:t>shaʿ-run mus-ta-qī-mun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شَعْرُهَا مُسْتَقِيمٌ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 مُسْتَقِيمٌ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عَيْنَانِ بُنِّيَّتَانِ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 eyes</a:t>
            </a:r>
            <a:endParaRPr lang="en-US" sz="1350" dirty="0"/>
          </a:p>
          <a:p>
            <a:pPr indent="0" marL="0">
              <a:buNone/>
            </a:pPr>
            <a:r>
              <a:rPr lang="en-US" sz="1100" i="1" dirty="0">
                <a:solidFill>
                  <a:srgbClr val="5A6472"/>
                </a:solidFill>
                <a:latin typeface="Calibri" pitchFamily="34" charset="0"/>
                <a:cs typeface="Amiri" pitchFamily="2" charset="-78"/>
              </a:rPr>
              <a:t>ʿay-nā-ni bun-niy-ya-tā-ni</a:t>
            </a:r>
            <a:endParaRPr lang="en-US" sz="1350" dirty="0"/>
          </a:p>
        </p:txBody>
      </p:sp>
      <p:sp>
        <p:nvSpPr>
          <p:cNvPr id="39" name="Shape 3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her eyes</a:t>
            </a:r>
            <a:endParaRPr lang="en-US" sz="700" dirty="0"/>
          </a:p>
        </p:txBody>
      </p:sp>
      <p:sp>
        <p:nvSpPr>
          <p:cNvPr id="41" name="Text 38"/>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عَيْنَاهَا</a:t>
            </a:r>
            <a:endParaRPr lang="ar-SA" sz="1350" dirty="0"/>
          </a:p>
        </p:txBody>
      </p:sp>
      <p:sp>
        <p:nvSpPr>
          <p:cNvPr id="42" name="Shape 3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blue (2)</a:t>
            </a:r>
            <a:endParaRPr lang="en-US" sz="700" dirty="0"/>
          </a:p>
        </p:txBody>
      </p:sp>
      <p:sp>
        <p:nvSpPr>
          <p:cNvPr id="44" name="Text 4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زَرْقَاوَانِ</a:t>
            </a:r>
            <a:endParaRPr lang="ar-SA" sz="1350" dirty="0"/>
          </a:p>
        </p:txBody>
      </p:sp>
      <p:sp>
        <p:nvSpPr>
          <p:cNvPr id="45" name="Shape 4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7" name="Text 4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 بُنِّيَّةٌ</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1" name="Shape 48"/>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يَرْتَدِي نَظَّارَةً</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wears glasses</a:t>
            </a:r>
            <a:endParaRPr lang="en-US" sz="1350" dirty="0"/>
          </a:p>
          <a:p>
            <a:pPr indent="0" marL="0">
              <a:buNone/>
            </a:pPr>
            <a:r>
              <a:rPr lang="en-US" sz="1100" i="1" dirty="0">
                <a:solidFill>
                  <a:srgbClr val="5A6472"/>
                </a:solidFill>
                <a:latin typeface="Calibri" pitchFamily="34" charset="0"/>
                <a:cs typeface="Amiri" pitchFamily="2" charset="-78"/>
              </a:rPr>
              <a:t>yar-ta-dī naẓ-ẓā-ra-tan</a:t>
            </a:r>
            <a:endParaRPr lang="en-US" sz="1350" dirty="0"/>
          </a:p>
        </p:txBody>
      </p:sp>
      <p:sp>
        <p:nvSpPr>
          <p:cNvPr id="57" name="Shape 5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نَظَّارَاتٌ</a:t>
            </a:r>
            <a:endParaRPr lang="ar-SA" sz="1500" dirty="0"/>
          </a:p>
        </p:txBody>
      </p:sp>
      <p:sp>
        <p:nvSpPr>
          <p:cNvPr id="60" name="Shape 5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glasses</a:t>
            </a:r>
            <a:endParaRPr lang="en-US" sz="700" dirty="0"/>
          </a:p>
        </p:txBody>
      </p:sp>
      <p:sp>
        <p:nvSpPr>
          <p:cNvPr id="62" name="Text 59"/>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نَظَّارَةٌ</a:t>
            </a:r>
            <a:endParaRPr lang="ar-SA" sz="1350" dirty="0"/>
          </a:p>
        </p:txBody>
      </p:sp>
      <p:sp>
        <p:nvSpPr>
          <p:cNvPr id="63" name="Shape 6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تَرْتَدِي</a:t>
            </a:r>
            <a:endParaRPr lang="ar-SA" sz="1500" dirty="0"/>
          </a:p>
        </p:txBody>
      </p:sp>
      <p:sp>
        <p:nvSpPr>
          <p:cNvPr id="66" name="Shape 6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8211312"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9" name="Shape 6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تَرْتَدِي نَظَّارَةً</a:t>
            </a:r>
            <a:endParaRPr lang="ar-SA" sz="3000" dirty="0"/>
          </a:p>
        </p:txBody>
      </p:sp>
      <p:sp>
        <p:nvSpPr>
          <p:cNvPr id="72" name="Text 6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wears glasses</a:t>
            </a:r>
            <a:endParaRPr lang="en-US" sz="1350" dirty="0"/>
          </a:p>
          <a:p>
            <a:pPr indent="0" marL="0">
              <a:buNone/>
            </a:pPr>
            <a:r>
              <a:rPr lang="en-US" sz="1100" i="1" dirty="0">
                <a:solidFill>
                  <a:srgbClr val="5A6472"/>
                </a:solidFill>
                <a:latin typeface="Calibri" pitchFamily="34" charset="0"/>
                <a:cs typeface="Amiri" pitchFamily="2" charset="-78"/>
              </a:rPr>
              <a:t>tar-ta-dī naẓ-ẓā-ra-tan</a:t>
            </a:r>
            <a:endParaRPr lang="en-US"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لَهُ لِحْيَةٌ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has a beard</a:t>
            </a:r>
            <a:endParaRPr lang="en-US" sz="1350" dirty="0"/>
          </a:p>
          <a:p>
            <a:pPr indent="0" marL="0">
              <a:buNone/>
            </a:pPr>
            <a:r>
              <a:rPr lang="en-US" sz="1100" i="1" dirty="0">
                <a:solidFill>
                  <a:srgbClr val="5A6472"/>
                </a:solidFill>
                <a:latin typeface="Calibri" pitchFamily="34" charset="0"/>
                <a:cs typeface="Amiri" pitchFamily="2" charset="-78"/>
              </a:rPr>
              <a:t>la-hu liḥ-ya-tun</a:t>
            </a:r>
            <a:endParaRPr lang="en-US" sz="135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مَلَامِحُهُ هَادِئَةٌ</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features are calm</a:t>
            </a:r>
            <a:endParaRPr lang="en-US" sz="1350" dirty="0"/>
          </a:p>
          <a:p>
            <a:pPr indent="0" marL="0">
              <a:buNone/>
            </a:pPr>
            <a:r>
              <a:rPr lang="en-US" sz="1100" i="1" dirty="0">
                <a:solidFill>
                  <a:srgbClr val="5A6472"/>
                </a:solidFill>
                <a:latin typeface="Calibri" pitchFamily="34" charset="0"/>
                <a:cs typeface="Amiri" pitchFamily="2" charset="-78"/>
              </a:rPr>
              <a:t>ma-lā-mi-ḥu-hu hā-di-ʾa-tun</a:t>
            </a:r>
            <a:endParaRPr lang="en-US"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in a portrait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shirt</a:t>
            </a:r>
            <a:endParaRPr lang="en-US" sz="1350" dirty="0"/>
          </a:p>
          <a:p>
            <a:pPr indent="0" marL="0">
              <a:buNone/>
            </a:pPr>
            <a:r>
              <a:rPr lang="en-US" sz="1100" i="1" dirty="0">
                <a:solidFill>
                  <a:srgbClr val="5A6472"/>
                </a:solidFill>
                <a:latin typeface="Calibri" pitchFamily="34" charset="0"/>
                <a:cs typeface="Amiri" pitchFamily="2" charset="-78"/>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blouse</a:t>
            </a:r>
            <a:endParaRPr lang="en-US" sz="1350" dirty="0"/>
          </a:p>
          <a:p>
            <a:pPr indent="0" marL="0">
              <a:buNone/>
            </a:pPr>
            <a:r>
              <a:rPr lang="en-US" sz="1100" i="1" dirty="0">
                <a:solidFill>
                  <a:srgbClr val="5A6472"/>
                </a:solidFill>
                <a:latin typeface="Calibri" pitchFamily="34" charset="0"/>
                <a:cs typeface="Amiri" pitchFamily="2" charset="-78"/>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سِرْوَالٌ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trousers</a:t>
            </a:r>
            <a:endParaRPr lang="en-US" sz="1350" dirty="0"/>
          </a:p>
          <a:p>
            <a:pPr indent="0" marL="0">
              <a:buNone/>
            </a:pPr>
            <a:r>
              <a:rPr lang="en-US" sz="1100" i="1" dirty="0">
                <a:solidFill>
                  <a:srgbClr val="5A6472"/>
                </a:solidFill>
                <a:latin typeface="Calibri" pitchFamily="34" charset="0"/>
                <a:cs typeface="Amiri" pitchFamily="2" charset="-78"/>
              </a:rPr>
              <a:t>sir-wā-lun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سَرَاوِيلُ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السِّرْوَالُ</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skirt</a:t>
            </a:r>
            <a:endParaRPr lang="en-US" sz="1350" dirty="0"/>
          </a:p>
          <a:p>
            <a:pPr indent="0" marL="0">
              <a:buNone/>
            </a:pPr>
            <a:r>
              <a:rPr lang="en-US" sz="1100" i="1" dirty="0">
                <a:solidFill>
                  <a:srgbClr val="5A6472"/>
                </a:solidFill>
                <a:latin typeface="Calibri" pitchFamily="34" charset="0"/>
                <a:cs typeface="Amiri" pitchFamily="2" charset="-78"/>
              </a:rPr>
              <a:t>tan-nū-ra-tun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تَنَانِيرُ</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التَّنُّورَةُ</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فُسْتَانٌ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dress</a:t>
            </a:r>
            <a:endParaRPr lang="en-US" sz="1350" dirty="0"/>
          </a:p>
          <a:p>
            <a:pPr indent="0" marL="0">
              <a:buNone/>
            </a:pPr>
            <a:r>
              <a:rPr lang="en-US" sz="1100" i="1" dirty="0">
                <a:solidFill>
                  <a:srgbClr val="5A6472"/>
                </a:solidFill>
                <a:latin typeface="Calibri" pitchFamily="34" charset="0"/>
                <a:cs typeface="Amiri" pitchFamily="2" charset="-78"/>
              </a:rPr>
              <a:t>fus-tā-nun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فَسَاتِينُ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الفُسْتَانُ</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in a portrait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مِعْطَفٌ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coat</a:t>
            </a:r>
            <a:endParaRPr lang="en-US" sz="1350" dirty="0"/>
          </a:p>
          <a:p>
            <a:pPr indent="0" marL="0">
              <a:buNone/>
            </a:pPr>
            <a:r>
              <a:rPr lang="en-US" sz="1100" i="1" dirty="0">
                <a:solidFill>
                  <a:srgbClr val="5A6472"/>
                </a:solidFill>
                <a:latin typeface="Calibri" pitchFamily="34" charset="0"/>
                <a:cs typeface="Amiri" pitchFamily="2" charset="-78"/>
              </a:rPr>
              <a:t>miʿ-ṭa-fun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مَعَاطِفُ</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المِعْطَفُ</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سُتْرَةٌ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jacket</a:t>
            </a:r>
            <a:endParaRPr lang="en-US" sz="1350" dirty="0"/>
          </a:p>
          <a:p>
            <a:pPr indent="0" marL="0">
              <a:buNone/>
            </a:pPr>
            <a:r>
              <a:rPr lang="en-US" sz="1100" i="1" dirty="0">
                <a:solidFill>
                  <a:srgbClr val="5A6472"/>
                </a:solidFill>
                <a:latin typeface="Calibri" pitchFamily="34" charset="0"/>
                <a:cs typeface="Amiri" pitchFamily="2" charset="-78"/>
              </a:rPr>
              <a:t>sut-ra-tun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سُتَرٌ</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السُّتْرَةُ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حِذَاءٌ</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أَحْذِيَةٌ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الحِذَاءُ</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حِجَابٌ</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headscarf</a:t>
            </a:r>
            <a:endParaRPr lang="en-US" sz="1350" dirty="0"/>
          </a:p>
          <a:p>
            <a:pPr indent="0" marL="0">
              <a:buNone/>
            </a:pPr>
            <a:r>
              <a:rPr lang="en-US" sz="1100" i="1" dirty="0">
                <a:solidFill>
                  <a:srgbClr val="5A6472"/>
                </a:solidFill>
                <a:latin typeface="Calibri" pitchFamily="34" charset="0"/>
                <a:cs typeface="Amiri" pitchFamily="2" charset="-78"/>
              </a:rPr>
              <a:t>ḥi-jā-bun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أَحْجِبَةٌ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الحِجَابُ</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قُبَّعَةٌ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hat</a:t>
            </a:r>
            <a:endParaRPr lang="en-US" sz="1350" dirty="0"/>
          </a:p>
          <a:p>
            <a:pPr indent="0" marL="0">
              <a:buNone/>
            </a:pPr>
            <a:r>
              <a:rPr lang="en-US" sz="1100" i="1" dirty="0">
                <a:solidFill>
                  <a:srgbClr val="5A6472"/>
                </a:solidFill>
                <a:latin typeface="Calibri" pitchFamily="34" charset="0"/>
                <a:cs typeface="Amiri" pitchFamily="2" charset="-78"/>
              </a:rPr>
              <a:t>qub-ba-ʿa-tun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قُبَّعَاتٌ</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القُبَّعَةُ</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Style and personality detail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Style and personality detail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37" name="Shape 34"/>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40" name="Shape 37"/>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2" name="Text 39"/>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43" name="Shape 40"/>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5" name="Text 42"/>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46" name="Shape 4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1920240"/>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9" name="Shape 46"/>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1" name="Text 4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52" name="Text 4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53" name="Shape 50"/>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56" name="Shape 53"/>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59" name="Shape 56"/>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5" name="Shape 6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69" name="Shape 66"/>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72" name="Shape 69"/>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4" name="Text 71"/>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75" name="Shape 72"/>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7" name="Text 74"/>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1 · THE PORTRAIT IN ORDER: HE VS SHE (WEBSITE RULES + TABLE)</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 hair → eyes → clothes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ea typeface="Amiri" pitchFamily="2" charset="-78"/>
                <a:cs typeface="Amiri" pitchFamily="2" charset="-78"/>
              </a:rPr>
              <a:t>القَامَةُ ← الشَّعْرُ ← العَيْنَانِ ← المَلَابِسُ</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7" name="Text 14"/>
          <p:cNvSpPr txBox="1"/>
          <p:nvPr/>
        </p:nvSpPr>
        <p:spPr>
          <a:xfrm>
            <a:off x="375818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 طَوِيلُ القَامَةِ.</a:t>
            </a:r>
            <a:endParaRPr lang="ar-SA" sz="2400" dirty="0"/>
          </a:p>
        </p:txBody>
      </p:sp>
      <p:sp>
        <p:nvSpPr>
          <p:cNvPr id="21" name="Text 18"/>
          <p:cNvSpPr txBox="1"/>
          <p:nvPr/>
        </p:nvSpPr>
        <p:spPr>
          <a:xfrm>
            <a:off x="3776472" y="2267712"/>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 طَوِيلَ</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pPr rtl="1" algn="ctr" indent="0" marL="0">
              <a:buNone/>
            </a:pPr>
            <a:r>
              <a:rPr lang="ar-SA" altLang="en-US" sz="2400" b="1" dirty="0">
                <a:solidFill>
                  <a:srgbClr val="1B3B6F"/>
                </a:solidFill>
                <a:latin typeface="Amiri" pitchFamily="2" charset="-78"/>
                <a:ea typeface="Amiri" pitchFamily="2" charset="-78"/>
                <a:cs typeface="Amiri" pitchFamily="2" charset="-78"/>
              </a:rPr>
              <a:t> القَامَةِ.</a:t>
            </a:r>
            <a:endParaRPr lang="ar-SA" sz="2400" dirty="0"/>
          </a:p>
        </p:txBody>
      </p:sp>
      <p:sp>
        <p:nvSpPr>
          <p:cNvPr id="22" name="Text 19"/>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height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لَهُ</a:t>
            </a:r>
            <a:pPr rtl="1" algn="ctr" indent="0" marL="0">
              <a:buNone/>
            </a:pPr>
            <a:r>
              <a:rPr lang="ar-SA" altLang="en-US" sz="2400" b="1" dirty="0">
                <a:solidFill>
                  <a:srgbClr val="1B3B6F"/>
                </a:solidFill>
                <a:latin typeface="Amiri" pitchFamily="2" charset="-78"/>
                <a:ea typeface="Amiri" pitchFamily="2" charset="-78"/>
                <a:cs typeface="Amiri" pitchFamily="2" charset="-78"/>
              </a:rPr>
              <a:t> شَعْرٌ قَصِيرٌ وَمُجَعَّدٌ.</a:t>
            </a:r>
            <a:endParaRPr lang="ar-SA" sz="2400" dirty="0"/>
          </a:p>
        </p:txBody>
      </p:sp>
      <p:sp>
        <p:nvSpPr>
          <p:cNvPr id="27" name="Text 24"/>
          <p:cNvSpPr txBox="1"/>
          <p:nvPr/>
        </p:nvSpPr>
        <p:spPr>
          <a:xfrm>
            <a:off x="3776472" y="300471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لَهَا</a:t>
            </a:r>
            <a:pPr rtl="1" algn="ctr" indent="0" marL="0">
              <a:buNone/>
            </a:pPr>
            <a:r>
              <a:rPr lang="ar-SA" altLang="en-US" sz="2400" b="1" dirty="0">
                <a:solidFill>
                  <a:srgbClr val="1B3B6F"/>
                </a:solidFill>
                <a:latin typeface="Amiri" pitchFamily="2" charset="-78"/>
                <a:ea typeface="Amiri" pitchFamily="2" charset="-78"/>
                <a:cs typeface="Amiri" pitchFamily="2" charset="-78"/>
              </a:rPr>
              <a:t> شَعْرٌ طَوِيلٌ مُسْتَقِيمٌ.</a:t>
            </a:r>
            <a:endParaRPr lang="ar-SA" sz="2400" dirty="0"/>
          </a:p>
        </p:txBody>
      </p:sp>
      <p:sp>
        <p:nvSpPr>
          <p:cNvPr id="28" name="Text 25"/>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hair (he / she has)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شَعْرُ</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pPr rtl="1" algn="ctr" indent="0" marL="0">
              <a:buNone/>
            </a:pPr>
            <a:r>
              <a:rPr lang="ar-SA" altLang="en-US" sz="2400" b="1" dirty="0">
                <a:solidFill>
                  <a:srgbClr val="1B3B6F"/>
                </a:solidFill>
                <a:latin typeface="Amiri" pitchFamily="2" charset="-78"/>
                <a:ea typeface="Amiri" pitchFamily="2" charset="-78"/>
                <a:cs typeface="Amiri" pitchFamily="2" charset="-78"/>
              </a:rPr>
              <a:t> قَصِيرٌ.</a:t>
            </a:r>
            <a:endParaRPr lang="ar-SA" sz="2400" dirty="0"/>
          </a:p>
        </p:txBody>
      </p:sp>
      <p:sp>
        <p:nvSpPr>
          <p:cNvPr id="33" name="Text 30"/>
          <p:cNvSpPr txBox="1"/>
          <p:nvPr/>
        </p:nvSpPr>
        <p:spPr>
          <a:xfrm>
            <a:off x="3776472" y="3741725"/>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شَعْرُ</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pPr rtl="1" algn="ctr" indent="0" marL="0">
              <a:buNone/>
            </a:pPr>
            <a:r>
              <a:rPr lang="ar-SA" altLang="en-US" sz="2400" b="1" dirty="0">
                <a:solidFill>
                  <a:srgbClr val="1B3B6F"/>
                </a:solidFill>
                <a:latin typeface="Amiri" pitchFamily="2" charset="-78"/>
                <a:ea typeface="Amiri" pitchFamily="2" charset="-78"/>
                <a:cs typeface="Amiri" pitchFamily="2" charset="-78"/>
              </a:rPr>
              <a:t> طَوِيلٌ.</a:t>
            </a:r>
            <a:endParaRPr lang="ar-SA" sz="2400" dirty="0"/>
          </a:p>
        </p:txBody>
      </p:sp>
      <p:sp>
        <p:nvSpPr>
          <p:cNvPr id="34" name="Text 31"/>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his / her hair (masc. adjective!)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عَيْنَا</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pPr rtl="1" algn="ctr" indent="0" marL="0">
              <a:buNone/>
            </a:pPr>
            <a:r>
              <a:rPr lang="ar-SA" altLang="en-US" sz="2400" b="1" dirty="0">
                <a:solidFill>
                  <a:srgbClr val="1B3B6F"/>
                </a:solidFill>
                <a:latin typeface="Amiri" pitchFamily="2" charset="-78"/>
                <a:ea typeface="Amiri" pitchFamily="2" charset="-78"/>
                <a:cs typeface="Amiri" pitchFamily="2" charset="-78"/>
              </a:rPr>
              <a:t> زَرْقَا</a:t>
            </a:r>
            <a:pPr rtl="1" algn="ctr" indent="0" marL="0">
              <a:buNone/>
            </a:pPr>
            <a:r>
              <a:rPr lang="ar-SA" altLang="en-US" sz="2400" b="1" dirty="0">
                <a:solidFill>
                  <a:srgbClr val="0E7C86"/>
                </a:solidFill>
                <a:latin typeface="Amiri" pitchFamily="2" charset="-78"/>
                <a:ea typeface="Amiri" pitchFamily="2" charset="-78"/>
                <a:cs typeface="Amiri" pitchFamily="2" charset="-78"/>
              </a:rPr>
              <a:t>وَانِ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39" name="Text 36"/>
          <p:cNvSpPr txBox="1"/>
          <p:nvPr/>
        </p:nvSpPr>
        <p:spPr>
          <a:xfrm>
            <a:off x="3776472" y="4478731"/>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عَيْنَا</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pPr rtl="1" algn="ctr" indent="0" marL="0">
              <a:buNone/>
            </a:pPr>
            <a:r>
              <a:rPr lang="ar-SA" altLang="en-US" sz="2400" b="1" dirty="0">
                <a:solidFill>
                  <a:srgbClr val="1B3B6F"/>
                </a:solidFill>
                <a:latin typeface="Amiri" pitchFamily="2" charset="-78"/>
                <a:ea typeface="Amiri" pitchFamily="2" charset="-78"/>
                <a:cs typeface="Amiri" pitchFamily="2" charset="-78"/>
              </a:rPr>
              <a:t> بُنِّيَّتَ</a:t>
            </a:r>
            <a:pPr rtl="1" algn="ctr" indent="0" marL="0">
              <a:buNone/>
            </a:pPr>
            <a:r>
              <a:rPr lang="ar-SA" altLang="en-US" sz="2400" b="1" dirty="0">
                <a:solidFill>
                  <a:srgbClr val="0E7C86"/>
                </a:solidFill>
                <a:latin typeface="Amiri" pitchFamily="2" charset="-78"/>
                <a:ea typeface="Amiri" pitchFamily="2" charset="-78"/>
                <a:cs typeface="Amiri" pitchFamily="2" charset="-78"/>
              </a:rPr>
              <a:t>انِ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40" name="Text 37"/>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eyes (two, feminine)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يَرْتَدِي نَظَّارَةً وَقَمِيصًا أَبْيَضَ.</a:t>
            </a:r>
            <a:endParaRPr lang="ar-SA" sz="2400" dirty="0"/>
          </a:p>
        </p:txBody>
      </p:sp>
      <p:sp>
        <p:nvSpPr>
          <p:cNvPr id="43" name="Text 40"/>
          <p:cNvSpPr txBox="1"/>
          <p:nvPr/>
        </p:nvSpPr>
        <p:spPr>
          <a:xfrm>
            <a:off x="3776472" y="521573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تَرْتَدِي حِجَابًا أَزْرَقَ.</a:t>
            </a:r>
            <a:endParaRPr lang="ar-SA" sz="2400" dirty="0"/>
          </a:p>
        </p:txBody>
      </p:sp>
      <p:sp>
        <p:nvSpPr>
          <p:cNvPr id="44" name="Text 41"/>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clothes (-an after “wears”)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organise the details and avoid judgemental language — describe, don’t judge.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FOCUS · PART 2 · THE ONE WHO … (WEBSITE RULE) · DEVELOP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who in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الَّذِي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هُوَ الشَّابُّ الَّذِي يَرْتَدِي نَظَّارَةً.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the young man who wears glasses.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Man / boy → alladhī + 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هِيَ الفَتَاةُ الَّتِي لَهَا شَعْرٌ طَوِيلٌ.</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is the girl who has long hair.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Woman / girl → allatī.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يَبْدُو / تَبْدُو</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يَبْدُو هَادِئًا لِأَنَّهُ يَسْتَمِعُ إِلَى الآخَرِينَ.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seems calm because he listens to others.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Behaviour, not looks.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 masculine person takes alladhī.</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الوَلَدُ الَّذِي يَرْتَدِي نَظَّارَةً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الوَلَدُ الَّتِي تَرْتَدِي نَظَّارَةً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Physical description, possession and relative clauses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ea typeface="Amiri" pitchFamily="2" charset="-78"/>
                <a:cs typeface="Amiri" pitchFamily="2" charset="-78"/>
              </a:rPr>
              <a:t>وَصْفُ المَظْهَرِ وَالمِلْكِيَّةُ وَالجُمَلُ المَوْصُولَةُ</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Possession with </a:t>
            </a:r>
            <a:pPr algn="l" indent="0" marL="0">
              <a:buNone/>
            </a:pPr>
            <a:r>
              <a:rPr lang="ar-SA" altLang="en-US" sz="1650" b="1" dirty="0">
                <a:solidFill>
                  <a:srgbClr val="1B3B6F"/>
                </a:solidFill>
                <a:latin typeface="Amiri" pitchFamily="2" charset="-78"/>
                <a:ea typeface="Amiri" pitchFamily="2" charset="-78"/>
                <a:cs typeface="Amiri" pitchFamily="2" charset="-78"/>
              </a:rPr>
              <a:t>لَهُ / لَهَا</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لَهُ / لَهَا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لَهُ شَعْرٌ قَصِيرٌ.   ·   لَهَا عَيْنَانِ بُنِّيَّتَانِ.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Body-feature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شَعْرُهَا طَوِيلٌ وَمُجَعَّدٌ.   ·   عَيْنَاهُ زَرْقَاوَانِ.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Relative clause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الشَّخْصُ الَّذِي / الفَتَاةُ الَّتِي</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الشَّخْصُ الَّذِي يَرْتَدِي نَظَّارَةً.   ·   هِيَ الفَتَاةُ الَّتِي لَهَا شَعْرٌ طَوِيلٌ.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Respectful portrait order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القَامَةُ ← الشَّعْرُ ← العَيْنَانِ ← المَلَابِسُ</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هِيَ مُتَوَسِّطَةُ القَامَةِ، وَلَهَا شَعْرٌ قَصِيرٌ، وَتَرْتَدِي مِعْطَفًا أَزْرَقَ.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طَوِيلَةٌ.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شَعْرُهَا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الَّذِي يَرْتَدِي نَظَّارَةً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 نَظَّارَةً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البِنْتُ الَّذِي يَرْتَدِي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عَيْنَاهَا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بُنِّيَّتَانِ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 قَصِيرٌ وَمُجَعَّدٌ.</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 قَصِيرَةٌ وَمُجَعَّدَةٌ.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شَعْرُهَا قَصِيرًا.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طَوِيلَةٌ.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شَعْرُهَا طَوِيلَةٌ.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 شَعْرٌ طَوِيلٌ.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الوَلَدُ الَّذِي يَرْتَدِي نَظَّارَةً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 نَظَّارَةً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البِنْتُ الَّذِي يَرْتَدِي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عَيْنَاهَا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بُنِّيَّتَانِ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شَعْرُهُ قَصِيرٌ وَمُجَعَّدٌ.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 قَصِيرَةٌ وَمُجَعَّدَةٌ.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شَعْرُهَا قَصِيرًا.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describe a person in a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Height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هِيَ مُتَوَسِّطَ</a:t>
            </a:r>
            <a:pPr rtl="1" algn="ctr" indent="0" marL="0">
              <a:buNone/>
            </a:pPr>
            <a:r>
              <a:rPr lang="ar-SA" altLang="en-US" sz="2800" b="1" dirty="0">
                <a:solidFill>
                  <a:srgbClr val="D6336C"/>
                </a:solidFill>
                <a:latin typeface="Amiri" pitchFamily="2" charset="-78"/>
                <a:ea typeface="Amiri" pitchFamily="2" charset="-78"/>
                <a:cs typeface="Amiri" pitchFamily="2" charset="-78"/>
              </a:rPr>
              <a:t>ةُ</a:t>
            </a:r>
            <a:pPr rtl="1" algn="ctr" indent="0" marL="0">
              <a:buNone/>
            </a:pPr>
            <a:r>
              <a:rPr lang="ar-SA" altLang="en-US" sz="2800" b="1" dirty="0">
                <a:solidFill>
                  <a:srgbClr val="1B3B6F"/>
                </a:solidFill>
                <a:latin typeface="Amiri" pitchFamily="2" charset="-78"/>
                <a:ea typeface="Amiri" pitchFamily="2" charset="-78"/>
                <a:cs typeface="Amiri" pitchFamily="2" charset="-78"/>
              </a:rPr>
              <a:t> القَامَةِ.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-atu.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Hair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لَهَا</a:t>
            </a:r>
            <a:pPr rtl="1" algn="ctr" indent="0" marL="0">
              <a:buNone/>
            </a:pPr>
            <a:r>
              <a:rPr lang="ar-SA" altLang="en-US" sz="2400" b="1" dirty="0">
                <a:solidFill>
                  <a:srgbClr val="1B3B6F"/>
                </a:solidFill>
                <a:latin typeface="Amiri" pitchFamily="2" charset="-78"/>
                <a:ea typeface="Amiri" pitchFamily="2" charset="-78"/>
                <a:cs typeface="Amiri" pitchFamily="2" charset="-78"/>
              </a:rPr>
              <a:t> شَعْرٌ طَوِيلٌ مُسْتَقِيمٌ.</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has … hair is masc.</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Eyes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عَيْنَا</a:t>
            </a:r>
            <a:pPr rtl="1" algn="ctr" indent="0" marL="0">
              <a:buNone/>
            </a:pPr>
            <a:r>
              <a:rPr lang="ar-SA" altLang="en-US" sz="2800" b="1" dirty="0">
                <a:solidFill>
                  <a:srgbClr val="D6336C"/>
                </a:solidFill>
                <a:latin typeface="Amiri" pitchFamily="2" charset="-78"/>
                <a:ea typeface="Amiri" pitchFamily="2" charset="-78"/>
                <a:cs typeface="Amiri" pitchFamily="2" charset="-78"/>
              </a:rPr>
              <a:t>هَا</a:t>
            </a:r>
            <a:pPr rtl="1" algn="ctr" indent="0" marL="0">
              <a:buNone/>
            </a:pPr>
            <a:r>
              <a:rPr lang="ar-SA" altLang="en-US" sz="2800" b="1" dirty="0">
                <a:solidFill>
                  <a:srgbClr val="1B3B6F"/>
                </a:solidFill>
                <a:latin typeface="Amiri" pitchFamily="2" charset="-78"/>
                <a:ea typeface="Amiri" pitchFamily="2" charset="-78"/>
                <a:cs typeface="Amiri" pitchFamily="2" charset="-78"/>
              </a:rPr>
              <a:t> بُنِّيَّتَ</a:t>
            </a:r>
            <a:pPr rtl="1" algn="ctr" indent="0" marL="0">
              <a:buNone/>
            </a:pPr>
            <a:r>
              <a:rPr lang="ar-SA" altLang="en-US" sz="2800" b="1" dirty="0">
                <a:solidFill>
                  <a:srgbClr val="0E7C86"/>
                </a:solidFill>
                <a:latin typeface="Amiri" pitchFamily="2" charset="-78"/>
                <a:ea typeface="Amiri" pitchFamily="2" charset="-78"/>
                <a:cs typeface="Amiri" pitchFamily="2" charset="-78"/>
              </a:rPr>
              <a:t>انِ</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eyes → dual.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 clothes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هِيَ الفَتَاةُ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الَّتِي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تَرْتَدِي مِعْطَفًا أَزْرَقَ.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Girl → allatī.</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 / HER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هِيَ مُتَوَسِّطَ</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القَامَةِ، وَ</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لَهَا</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شَعْرٌ طَوِيلٌ مُسْتَقِيمٌ، وَعَيْنَا</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بُنِّيَّتَ</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انِ</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هِيَ الفَتَاةُ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الَّتِي</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تَرْتَدِي مِعْطَفًا أَزْرَقَ وَحَقِيبَةً سَوْدَاءَ. تَبْدُو وَاثِقَةً لِأَنَّهَا تَتَحَدَّثُ مَعَ الجَمِيعِ.</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She is of medium height, she has long straight hair, and her eyes are brown. She is the girl who is wearing a blue coat and a black bag. She seems confident because she talks to everyone.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لَهُ شَعْرٌ قَصِيرٌ.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has short hair.</a:t>
            </a:r>
            <a:endParaRPr lang="en-US" sz="1250" dirty="0"/>
          </a:p>
          <a:p>
            <a:pPr indent="0" marL="0">
              <a:buNone/>
            </a:pPr>
            <a:r>
              <a:rPr lang="en-US" sz="1050" i="1" dirty="0">
                <a:solidFill>
                  <a:srgbClr val="8A6D1E"/>
                </a:solidFill>
                <a:latin typeface="Calibri" pitchFamily="34" charset="0"/>
                <a:cs typeface="Amiri" pitchFamily="2" charset="-78"/>
              </a:rPr>
              <a:t>lahu = he has.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لَهَا عَيْنَانِ بُنِّيَّتَانِ.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has brown eyes.</a:t>
            </a:r>
            <a:endParaRPr lang="en-US" sz="1250" dirty="0"/>
          </a:p>
          <a:p>
            <a:pPr indent="0" marL="0">
              <a:buNone/>
            </a:pPr>
            <a:r>
              <a:rPr lang="en-US" sz="1050" i="1" dirty="0">
                <a:solidFill>
                  <a:srgbClr val="8A6D1E"/>
                </a:solidFill>
                <a:latin typeface="Calibri" pitchFamily="34" charset="0"/>
                <a:cs typeface="Amiri" pitchFamily="2" charset="-78"/>
              </a:rPr>
              <a:t>Dual feminine agreement.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الشَّخْصُ الَّذِي يَرْتَدِي نَظَّارَةً.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the person who wears glasses.</a:t>
            </a:r>
            <a:endParaRPr lang="en-US" sz="1250" dirty="0"/>
          </a:p>
          <a:p>
            <a:pPr indent="0" marL="0">
              <a:buNone/>
            </a:pPr>
            <a:r>
              <a:rPr lang="en-US" sz="1050" i="1" dirty="0">
                <a:solidFill>
                  <a:srgbClr val="8A6D1E"/>
                </a:solidFill>
                <a:latin typeface="Calibri" pitchFamily="34" charset="0"/>
                <a:cs typeface="Amiri" pitchFamily="2" charset="-78"/>
              </a:rPr>
              <a:t>alladhī for a man.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500" b="1" dirty="0">
                <a:solidFill>
                  <a:srgbClr val="1B3B6F"/>
                </a:solidFill>
                <a:latin typeface="Amiri" pitchFamily="2" charset="-78"/>
                <a:ea typeface="Amiri" pitchFamily="2" charset="-78"/>
                <a:cs typeface="Amiri" pitchFamily="2" charset="-78"/>
              </a:rPr>
              <a:t>هِيَ مُتَوَسِّطَةُ القَامَةِ، وَلَهَا شَعْرٌ قَصِيرٌ، وَتَرْتَدِي مِعْطَفًا أَزْرَقَ.</a:t>
            </a:r>
            <a:endParaRPr lang="ar-SA" sz="25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of medium height, has short hair and wears a blue coat.</a:t>
            </a:r>
            <a:endParaRPr lang="en-US" sz="1250" dirty="0"/>
          </a:p>
          <a:p>
            <a:pPr indent="0" marL="0">
              <a:buNone/>
            </a:pPr>
            <a:r>
              <a:rPr lang="en-US" sz="1050" i="1" dirty="0">
                <a:solidFill>
                  <a:srgbClr val="8A6D1E"/>
                </a:solidFill>
                <a:latin typeface="Calibri" pitchFamily="34" charset="0"/>
                <a:cs typeface="Amiri" pitchFamily="2" charset="-78"/>
              </a:rPr>
              <a:t>Portrait order.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DESCRIBING APPEARANCE — A FULL PHYSICAL PORTRAIT”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curly hair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glasses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شَعْرُهُ مُجَعَّدٌ.</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تَلْبَسُ نَظَّارَةً.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طَوِيلٌ.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طَوِيلٌ.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tall.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curly hair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شَعْرُهُ مُجَعَّدٌ.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His hair is curly.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glasses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تَلْبَسُ نَظَّارَةً.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wears glasses.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portrait?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لَهَا شَعْرٌ طَوِيلٌ.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زَرْقَاوَانِ.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الفَتَاةُ الَّتِي تَرْتَدِي حِجَابًا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طَوِيلَةُ القَامَةِ.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شَعْرٌ طَوِيلَةٌ.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عَيْنَاهَا بُنِّيٌّ.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الوَلَدُ الَّتِي تَرْتَدِي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طَوِيلَةُ القَامَةِ.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لَهَا شَعْرٌ طَوِيلٌ.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زَرْقَاوَانِ.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الفَتَاةُ الَّتِي تَرْتَدِي حِجَابًا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طَوِيلَةُ القَامَةِ.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شَعْرٌ طَوِيلَةٌ.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عَيْنَاهَا بُنِّيٌّ.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الوَلَدُ الَّتِي تَرْتَدِي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طَوِيلَةُ القَامَةِ.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الَّذِي يَرْتَدِي حِجَابًا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الَّتِي تَرْتَدِي حِجَابًا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غَرِيبُ الشَّكْلِ.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مُتَوَسِّطُ القَامَةِ وَلَهُ شَعْرٌ قَصِيرٌ.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شَكْلُهُ سَيِّئٌ.</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___ القَامَةِ.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 مِنْ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consistent reference.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طَوِيلٌ وَعَيْنَاهَا خَضْرَاوَانِ.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 وَعَيْنَاهَا خَضْرَاوَانِ.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الفَتَاةُ الَّذِي يَرْتَدِي حِجَابًا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الفَتَاةُ الَّتِي تَرْتَدِي حِجَابًا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غَرِيبُ الشَّكْلِ.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مُتَوَسِّطُ القَامَةِ وَلَهُ شَعْرٌ قَصِيرٌ.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شَكْلُهُ سَيِّئٌ.</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describes observable details respectfully.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___ القَامَةِ.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طَوِيلَةُ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طَوِيلَةٌ مِنْ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compound adjective agrees with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consistent reference.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طَوِيلٌ وَعَيْنَاهَا خَضْرَاوَانِ.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لَهَا شَعْرٌ طَوِيلَةٌ.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 شَعْرٌ طَوِيلٌ وَعَيْنَاهَا خَضْرَاوَانِ.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references and adjective agreement are consistent.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لَهَا شَعْرٌ طَوِيلَةٌ.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hair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الوَلَدُ الَّتِي يَرْتَدِي نَظَّارَةً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boy → alladhī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عَيْنَاهَا بُنِّيٌّ.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eyes →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لَهَا شَعْرٌ طَوِيلَةٌ.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لَهَا شَعْرٌ طَوِيلٌ.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شَعْرٌ</a:t>
            </a:r>
            <a:pPr algn="l" indent="0" marL="0">
              <a:buNone/>
            </a:pPr>
            <a:r>
              <a:rPr lang="en-US" sz="1150" b="1" dirty="0">
                <a:solidFill>
                  <a:srgbClr val="1B3B6F"/>
                </a:solidFill>
                <a:latin typeface="Calibri" pitchFamily="34" charset="0"/>
                <a:cs typeface="Amiri" pitchFamily="2" charset="-78"/>
              </a:rPr>
              <a:t> is masculine, even for a girl.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الوَلَدُ الَّتِي يَرْتَدِي نَظَّارَةً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الوَلَدُ الَّذِي يَرْتَدِي نَظَّارَةً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masculine person takes </a:t>
            </a:r>
            <a:pPr algn="l" indent="0" marL="0">
              <a:buNone/>
            </a:pPr>
            <a:r>
              <a:rPr lang="ar-SA" altLang="en-US" sz="1500" b="1" dirty="0">
                <a:solidFill>
                  <a:srgbClr val="1B3B6F"/>
                </a:solidFill>
                <a:latin typeface="Amiri" pitchFamily="2" charset="-78"/>
                <a:ea typeface="Amiri" pitchFamily="2" charset="-78"/>
                <a:cs typeface="Amiri" pitchFamily="2" charset="-78"/>
              </a:rPr>
              <a:t>الَّذِي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عَيْنَاهَا بُنِّيٌّ.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عَيْنَاهَا بُنِّيَّتَانِ.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eyes → dual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focus: physical appearance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are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tall is the young man?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 height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hair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and straight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and straight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and curly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wear?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 and a white shirt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bag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girl’s eyes?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can you recognise the girl?</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a blue coat and a black bag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glasses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short hair</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طَوِيلُ 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نَظَّارَةً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بُنِّيَّتَانِ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يَصِفُ المُتَحَدِّثُ شَخْصَيْنِ فِي صُورَةٍ.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describes two people in a picture.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الأَوَّلُ شَابٌّ طَوِيلُ القَامَةِ، لَهُ شَعْرٌ قَصِيرٌ وَمُجَعَّدٌ،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is a tall young man; he has short, curly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وَيَرْتَدِي نَظَّارَةً وَقَمِيصًا أَبْيَضَ.</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he wears glasses and a white shirt.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الثَّانِيَةُ فَتَاةٌ مُتَوَسِّطَةُ القَامَةِ، لَهَا شَعْرٌ طَوِيلٌ مُسْتَقِيمٌ وَعَيْنَانِ بُنِّيَّتَانِ.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is a girl of medium height; she has long straight hair and brown eyes.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الفَتَاةُ الَّتِي تَرْتَدِي مِعْطَفًا أَزْرَقَ وَحَقِيبَةً سَوْدَاءَ.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the girl who is wearing a blue coat and (has) a black bag.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are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يَصِفُ المُتَحَدِّثُ شَخْصَيْنِ.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tall is the young man?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medium height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tall</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شَابٌّ طَوِيلُ القَامَةِ.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hair like?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and straight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and straight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and curly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لَهُ شَعْرٌ قَصِيرٌ وَمُجَعَّدٌ.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wear?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glasses and a white shirt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black bag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يَرْتَدِي نَظَّارَةً وَقَمِيصًا أَبْيَضَ.</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girl’s eyes?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عَيْنَانِ بُنِّيَّتَانِ.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can you recognise the girl?</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wears a blue coat and a black bag</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wears glasses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short hair</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الَّتِي تَرْتَدِي مِعْطَفًا أَزْرَقَ وَحَقِيبَةً سَوْدَاءَ.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طَوِيلُ 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نَظَّارَةً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بُنِّيَّتَانِ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Developed speaking: physical appearance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شَخْصًا فِي صُورَةٍ.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مَلَابِسَ شَخْصٍ تَعْرِفُهُ.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اِسْتَعْمِلِ الَّذِي أَوِ الَّتِي فِي وَصْفٍ.</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الفَرْقُ بَيْنَ وَصْفِ المَظْهَرِ وَالحُكْمِ عَلَى الشَّخْصِيَّةِ؟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هُوَ / هِيَ ___ القَامَةِ ، لَهُ / لَهَا شَعْرٌ ___ .</a:t>
            </a:r>
            <a:endParaRPr lang="ar-SA" sz="13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يَرْتَدِي / تَرْتَدِي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هُوَ الشَّخْصُ الَّذِي … / هِيَ الفَتَاةُ الَّتِي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يَبْدُو / تَبْدُو ___ لِأَنَّهُ / لِأَنَّهَا ___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هُوَ أَخُوكَ فِي الصُّورَةِ؟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is your brother in the picture?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هُوَ الشَّابُّ الَّذِي يَرْتَدِي نَظَّارَةً.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the young man who wears glasses.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person in order: height, hair, eyes, two items of clothing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people with his / her, eyes (dual) and one “the one who …”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respectful full portrait of two people — height, hair, eyes, features, clothes and one personality inference from behaviour.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شَعْرُهُ قَصِيرٌ وَمُجَعَّدٌ.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hair is short and curly.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شَعْرُهَا طَوِيلٌ وَمُسْتَقِيمٌ.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hair is long and straight.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الشَّخْصُ الَّذِي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the person who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الفَتَاةُ الَّتِي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the girl who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يَبْدُو / تَبْدُو ______ لِأَنَّهُ / لِأَنَّهَا ______ .</a:t>
            </a:r>
            <a:endParaRPr lang="ar-SA" sz="165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seems …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______ القَامَةِ.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tall / short / medium height.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لَهُ شَعْرٌ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has … hair.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لَهَا شَعْرٌ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has … hair.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عَيْنَاهُ / عَيْنَاهَا بُنِّيَّتَانِ.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eyes are brown.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يَرْتَدِي / تَرْتَدِي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wears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طَوِيلُ القَامَةِ  ·  قَصِيرُ القَامَةِ  ·  مُتَوَسِّطُ القَامَةِ  ·  لَهُ  ·  لَهَا  ·  شَعْرٌ مُجَعَّدٌ  ·  شَعْرٌ مُسْتَقِيمٌ  ·  عَيْنَانِ بُنِّيَّتَانِ  ·  نَظَّارَةً  ·  الَّذِي  ·  الَّتِي  ·  يَبْدُو</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giving a respectful full portrait of two people. Organise height, hair, eyes, distinguishing features, clothes and one personality inference supported by behaviour.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هٰذِهِ الصُّورَةِ شَخْصَانِ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this picture there are two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يَبْدُو هَادِئًا لِأَنَّهُ يَسْتَمِعُ إِلَى الآخَرِينَ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seems calm because he listens to others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تَبْدُو وَاثِقَةً وَمَرِحَةً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seems confident and cheerful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لِأَنَّهَا تَتَحَدَّثُ مَعَ الجَمِيعِ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she talks to everyone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يَحْكُمُ عَلَيْهِ مِنْ مَظْهَرِهِ فَقَطْ</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does not judge him by his appearance alone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فِي هٰذِهِ الصُّورَةِ شَخْصَانِ. الأَوَّلُ شَابٌّ طَوِيلُ القَامَةِ، لَهُ شَعْرٌ قَصِيرٌ وَمُجَعَّدٌ وَعَيْنَانِ بُنِّيَّتَانِ. هُوَ الشَّخْصُ الَّذِي يَرْتَدِي نَظَّارَةً وَقَمِيصًا أَبْيَضَ وَسِرْوَالًا أَسْوَدَ. يَبْدُو هَادِئًا لِأَنَّهُ يَسْتَمِعُ إِلَى الآخَرِينَ. أَمَّا الفَتَاةُ فَهِيَ مُتَوَسِّطَةُ القَامَةِ، وَلَهَا شَعْرٌ طَوِيلٌ مُسْتَقِيمٌ. هِيَ الفَتَاةُ الَّتِي تَرْتَدِي حِجَابًا أَزْرَقَ وَمِعْطَفًا رَمَادِيًّا. تَبْدُو وَاثِقَةً وَمَرِحَةً لِأَنَّهَا تَتَحَدَّثُ مَعَ الجَمِيعِ. الوَصْفُ الدَّقِيقُ يَحْتَرِمُ الشَّخْصَ وَلَا يَحْكُمُ عَلَيْهِ مِنْ مَظْهَرِهِ فَقَطْ.</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this picture there are two people. The first is a tall young man; he has short, curly hair and brown eyes. He is the person who is wearing glasses, a white shirt and black trousers. He seems calm because he listens to others. As for the girl, she is of medium height and has long straight hair. She is the girl who is wearing a blue headscarf and a grey coat. She seems confident and cheerful because she talks to everyone. A precise description respects the person and does not judge them by their appearance alone.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portrait order for the young man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الَّذِي and الَّتِي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an inference with يَبْدُو …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respectful closing sentence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height, hair, eyes and clothes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lahu for him and lahā for her.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Hair adjectives are masculine; eyes are dual.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alladhī / allatī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inference is based on behaviour, not looks.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شَعْرُهَا طَوِيلَةٌ.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 نَظَّارَةً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الَّذِي يَرْتَدِي نَظَّارَةً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البِنْتُ الَّذِي يَرْتَدِي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عَيْنَاهَا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بُنِّيَّتَانِ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لَهَا شَعْرٌ طَوِيلٌ.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لَهُ شَعْرٌ طَوِيلَةٌ.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 شَعْرُهَا طَوِيلَةٌ.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الوَلَدُ الَّتِي تَرْتَدِي نَظَّارَةً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الوَلَدُ الَّذِي يَرْتَدِي نَظَّارَةً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البِنْتُ الَّذِي يَرْتَدِي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عَيْنَاهَا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بُنِّيَّتَانِ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بُنِّيَّةٌ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focus: physical appearance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الصُّورَةِ عَائِلَةٌ تَقِفُ أَمَامَ البَيْتِ. الأَبُ هُوَ الرَّجُلُ الَّذِي لَهُ لِحْيَةٌ قَصِيرَةٌ وَيَرْتَدِي سُتْرَةً رَمَادِيَّةً. الأُمُّ مُتَوَسِّطَةُ القَامَةِ، وَلَهَا شَعْرٌ طَوِيلٌ، وَتَرْتَدِي حِجَابًا أَخْضَرَ. البِنْتُ الَّتِي تَقِفُ عَلَى اليَمِينِ لَهَا عَيْنَانِ بُنِّيَّتَانِ وَتَرْتَدِي فُسْتَانًا أَزْرَقَ. أَمَّا الوَلَدُ فَهُوَ قَصِيرُ القَامَةِ وَيَرْتَدِي قَمِيصًا رِيَاضِيًّا.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الصُّورَةِ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picture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تَقِفُ أَمَامَ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standing in front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الرَّجُلُ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لِحْيَةٌ قَصِيرَةٌ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short beard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رَمَادِيَّةً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حِجَابًا أَخْضَرَ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green headscarf</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البِنْتُ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girl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عَلَى اليَمِينِ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the right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الوَلَدُ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قَمِيصًا رِيَاضِيًّا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sports shirt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family standing?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park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front of the house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recognise the father?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dress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beard and a grey jacket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 described?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 height, long hair, a green headscarf</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with short hair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wearing glasses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girl standing?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left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right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girl wearing?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dress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green headscarf</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shirt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boy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with a beard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a grey jacket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wearing a sports shirt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family standing?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park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front of the house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تَقِفُ أَمَامَ البَيْتِ.</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recognise the father?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dress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short beard and a grey jacket</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لَهُ لِحْيَةٌ قَصِيرَةٌ وَيَرْتَدِي سُتْرَةً رَمَادِيَّةً.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 described?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medium height, long hair, a green headscarf</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with short hair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wearing glasses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مُتَوَسِّطَةُ القَامَةِ … حِجَابًا أَخْضَرَ.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girl standing?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left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right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middle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البِنْتُ الَّتِي تَقِفُ عَلَى اليَمِينِ.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girl wearing?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blue dress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green headscarf</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shirt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تَرْتَدِي فُسْتَانًا أَزْرَقَ.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boy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with a beard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a grey jacket</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short, wearing a sports shirt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قَصِيرُ القَامَةِ وَيَرْتَدِي قَمِيصًا رِيَاضِيًّا.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physical appearance Arabic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طَوِيلَةٌ.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شَعْرُهَا طَوِيلَةٌ.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الَّذِي يَرْتَدِي نَظَّارَةً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 نَظَّارَةً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البِنْتُ الَّذِي يَرْتَدِي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عَيْنَاهَا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بُنِّيَّتَانِ</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 قَصِيرَةٌ وَمُجَعَّدَةٌ.</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شَعْرُهَا قَصِيرًا.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 قَصِيرٌ وَمُجَعَّدٌ.</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الَّتِي تَرْتَدِي حِجَابًا</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الَّذِي يَرْتَدِي حِجَابًا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هُوَ غَرِيبُ الشَّكْلِ.</a:t>
            </a:r>
            <a:endParaRPr lang="ar-SA" sz="200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هُوَ مُتَوَسِّطُ القَامَةِ وَلَهُ شَعْرٌ قَصِيرٌ.</a:t>
            </a:r>
            <a:endParaRPr lang="ar-SA" sz="200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شَكْلُهُ سَيِّئٌ.</a:t>
            </a:r>
            <a:endParaRPr lang="ar-SA" sz="2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طَوِيلَةٌ.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 شَعْرٌ طَوِيلٌ.</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شَعْرُهَا طَوِيلَةٌ.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الوَلَدُ الَّذِي يَرْتَدِي نَظَّارَةً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 نَظَّارَةً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البِنْتُ الَّذِي يَرْتَدِي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عَيْنَاهَا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بُنِّيَّةٌ</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بُنِّيَّتَانِ</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 قَصِيرَةٌ وَمُجَعَّدَةٌ.</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شَعْرُهَا قَصِيرًا.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شَعْرُهُ قَصِيرٌ وَمُجَعَّدٌ.</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الفَتَاةُ الَّتِي تَرْتَدِي حِجَابًا</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الفَتَاةُ الَّذِي يَرْتَدِي حِجَابًا</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غَرِيبُ الشَّكْلِ.</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مُتَوَسِّطُ القَامَةِ وَلَهُ شَعْرٌ قَصِيرٌ.</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شَكْلُهُ سَيِّئٌ.</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describes observable details respectfully.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D2-L07 · Listening — People, Personality and Style Descriptions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therefore, so</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بَيْنَمَا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whereas, while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الرَّغْمِ مِنْ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although</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جِهَةٍ أُخْرَى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 the other hand</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خُصُوصًا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especially</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listen to someone describe a person, which words help you most: names, pronouns (he / she) or connectors (but, whereas)?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كَيْفَ تَسْتَمِعُ جَيِّدًا؟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D2-L06: the picture game and the vocabulary tab (height, hair and eyes).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two people from a photo in 8 sentences (use </a:t>
            </a:r>
            <a:pPr algn="l" indent="0" marL="0">
              <a:buNone/>
            </a:pPr>
            <a:r>
              <a:rPr lang="ar-SA" altLang="en-US" sz="1550" dirty="0">
                <a:solidFill>
                  <a:srgbClr val="1F2A37"/>
                </a:solidFill>
                <a:latin typeface="Amiri" pitchFamily="2" charset="-78"/>
                <a:ea typeface="Amiri" pitchFamily="2" charset="-78"/>
                <a:cs typeface="Amiri" pitchFamily="2" charset="-78"/>
              </a:rPr>
              <a:t>الَّذِي / الَّتِي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respectful full portrait of two people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D2-L07 · Listening — People, Personality and Style Descriptions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hair is masculine, eyes are two — and describe, don’t judge.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D2-L06 · Describing Appearance — A Full Physical Portrait</dc:title>
  <dc:subject>PptxGenJS Presentation</dc:subject>
  <dc:creator>Al Madina Online School · Arabic Department</dc:creator>
  <cp:lastModifiedBy>Al Madina Online School · Arabic Department</cp:lastModifiedBy>
  <cp:revision>1</cp:revision>
  <dcterms:created xsi:type="dcterms:W3CDTF">2026-10-11T06:40:37Z</dcterms:created>
  <dcterms:modified xsi:type="dcterms:W3CDTF">2026-10-11T06:40:37Z</dcterms:modified>
</cp:coreProperties>
</file>