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D2-L06. The website lesson “Describing Appearance — A Full Physical Portrait”: vocabulary, grammar rules and quiz, patterns, common mistakes, sorter, listening, reading, speaking prompts and model, writing task and model, differentiation, final check and the lesson mission. Picture match: website visual game “Describing Appearance — A Full Physical Portrait”.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portrait ORDER as four chunks — هُوَ / هِيَ طَوِيلُ / طَوِيلَةُ القَامَةِ · لَهُ / لَهَا شَعْرٌ … · عَيْنَاهُ / عَيْنَاهَا … · يَرْتَدِي / تَرْتَدِي … Develop: hair (masc.) and eyes (dual) agreement and الَّذِي / الَّتِي. Stretch: two people and a personality inference supported by behaviour (يَبْدُو … لِأَنَّهُ …).
• Respect is part of the success criteria (website rule 4 and quiz Q6): describe what you SEE, never judge (no “ugly / strange”). Use a picture, a character or a celebrity rather than a classmate.
• Two tricky points, taught visually: شَعْرٌ is masculine even for a girl (شَعْرُهَا طَوِيلٌ); eyes are TWO, feminine (عَيْنَانِ بُنِّيَّتَانِ).
• Urdu bridge: قد (height → القَامَةُ by meaning), شکل، عینک ≠ نَظَّارَةٌ, لباس، جسم.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appearance words prepared at home. Questions 3–5 retrieve D2-L05 (comparatives) and D2-L03 (هٰذِهِ).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He has → lahu. She has → lahā. Her hair is long → shaʿruhā ṭawīl (hair is masculine!).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قامت (as in قد و قامت) → طَوِيلُ القَامَةِ (tall). شکل → شَكْلٌ (كَيْفَ شَكْلُهُ؟ what does he look like?). لباس → لِبَاسٌ. جسم → جِسْمٌ / جِسْمِيَّةٌ. Urdu عینک is Persian; Arabic glasses = نَظَّارَةٌ (from نَظَرٌ, sight — Urdu نظر).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Height, hair and eyes (website vocabulary (1 of 2)). Hear → Say → See → Use. Transliteration is printed for Core students (cover it for Develop/Stretch).
Hair cards show his / her: the ADJECTIVE never changes (hair is masculine). Eye card: two eyes = عَيْنَانِ + a dual adjective (-atāni). Height uses a compound: طَوِيلُ القَامَةِ (m.) / طَوِيلَةُ القَامَةِ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Height, hair and eyes (website vocabulary (2 of 2)). Hear → Say → See → Use. Transliteration is printed for Core students (cover it for Develop/Stretch).
Hair cards show his / her: the ADJECTIVE never changes (hair is masculine). Eye card: two eyes = عَيْنَانِ + a dual adjective (-atāni). Height uses a compound: طَوِيلُ القَامَةِ (m.) / طَوِيلَةُ القَامَةِ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Clothes in a portrait (website vocabulary (1 of 2)). Hear → Say → See → Use. Transliteration is printed for Core students (cover it for Develop/Stretch).
FLEX: teach if time allows; otherwise these are on the website vocabulary tab for homework.
Clothes in a portrait (FLEX) — D2-L03 words; after يَرْتَدِي the item takes -an: يَرْتَدِي قَمِيصًا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Clothes in a portrait (website vocabulary (2 of 2)). Hear → Say → See → Use. Transliteration is printed for Core students (cover it for Develop/Stretch).
FLEX: teach if time allows; otherwise these are on the website vocabulary tab for homework.
Clothes in a portrait (FLEX) — D2-L03 words; after يَرْتَدِي the item takes -an: يَرْتَدِي قَمِيصًا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personality detail (website vocabulary (1 of 2)). Hear → Say → See → Use. Transliteration is printed for Core students (cover it for Develop/Stretch).
FLEX: teach if time allows; otherwise these are on the website vocabulary tab for homework.
Style and personality detail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personality detail (website vocabulary (2 of 2)). Hear → Say → See → Use. Transliteration is printed for Core students (cover it for Develop/Stretch).
FLEX: teach if time allows; otherwise these are on the website vocabulary tab for homework.
Style and personality detail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“Possession with لَهُ / لَهَا”, “Body-feature agreement” (hair is masculine; eyes are dual feminine) and “Respectful portrait order” (height → hair → eyes → clothes), with the website table (Reference · Possession · Relative pronoun).
Website common error: “Do not treat عَيْنَانِ as a singular masculine noun” — عَيْنَاهَا بُنِّيٌّ ✗ → عَيْنَاهَا بُنِّيَّتَانِ ✓.
Stretch: dual of colours — blue زَرْقَاوَانِ, green خَضْرَاوَانِ, brown بُنِّيَّتَانِ.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“Relative clause” (الَّذِي for masculine, الَّتِي for feminine antecedents) and the website model’s inference (يَبْدُو هَادِئًا لِأَنَّهُ …).
Game: show a class-picture (or a family photo from a textbook); students identify people: “مَنْ هِيَ؟ — هِيَ الفَتَاةُ الَّتِي تَرْتَدِي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“Create a coherent portrait using possession, dual body features, adjective agreement and الذي/التي clauses.”
• Possession with لَهُ / لَهَا: Use لَهُ for he has and لَهَا for she has.
• Body-feature agreement: Hair is masculine; eyes are dual feminine.
• Relative clause: Use الذي for masculine and التي for feminine antecedents.
• Respectful portrait order: Organise details and avoid judgemental language.
Website common error: Do not use التي after a masculine person or treat عَيْنَانِ as a singular masculine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girl from the website listening, described in the website order with a think-aloud. Then students describe the young man from the same script aloud (tall, short curly hair, glasses, white shirt).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Describing Appearance — A Full Physical Portrait”)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for homework: هِيَ قَصِيرَةٌ · شَعْرُهَا أَحْمَرُ (her hair is red — masc. colour!) · لَهُ عَيْنَانِ بُنِّيَّتَانِ.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Describing Appearance — A Full Physical Portrait”)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for homework: هِيَ قَصِيرَةٌ · شَعْرُهَا أَحْمَرُ (her hair is red — masc. colour!) · لَهُ عَيْنَانِ بُنِّيَّتَانِ.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person, the agreement and the relative pronoun.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person, the agreement and the relative pronoun.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يَصِفُ المُتَحَدِّثُ شَخْصَيْنِ فِي صُورَةٍ. الأَوَّلُ شَابٌّ طَوِيلُ القَامَةِ، لَهُ شَعْرٌ قَصِيرٌ وَمُجَعَّدٌ، وَيَرْتَدِي نَظَّارَةً وَقَمِيصًا أَبْيَضَ. الثَّانِيَةُ فَتَاةٌ مُتَوَسِّطَةُ القَامَةِ، لَهَا شَعْرٌ طَوِيلٌ مُسْتَقِيمٌ وَعَيْنَانِ بُنِّيَّتَانِ. هِيَ الفَتَاةُ الَّتِي تَرْتَدِي مِعْطَفًا أَزْرَقَ وَحَقِيبَةً سَوْدَاءَ.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كَيْفَ مَظْهَرُهُ؟ (What does he look like?)
B: هُوَ طَوِيلُ القَامَةِ وَلَهُ شَعْرٌ قَصِيرٌ. (He is tall and has short hair.)
Website prompts (order changed for routes). Website model continues: A: كَيْفَ مَظْهَرُهُ؟ (What does he look like?) B: هُوَ طَوِيلُ القَامَةِ وَلَهُ شَعْرٌ قَصِيرٌ. Use a picture on screen (a family photo from a textbook, or a famous person) — not a classmate.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giving a respectful full portrait of two people. Organise height, hair, eyes, distinguishing features, clothes and one personality inference supported by behaviour.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طَوِيلُ القَامَةِ ← لَهُ شَعْرٌ … ← عَيْنَانِ بُنِّيَّتَانِ ← يَرْتَدِي … · الشَّخْصُ الَّذِي / الفَتَاةُ الَّتِي · يَبْدُو هَادِئًا لِأَنَّهُ يَسْتَمِعُ · الوَصْفُ الدَّقِيقُ يَحْتَرِمُ الشَّخْصَ.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(D2-L07 · Listening — People, Personality and Style Descriptions) will spend class time USING this language, so students prepare it tonight — short, simple, easy to access (school guidance: “Simple, Short, Interesting, Relevant, Easy to access”). The five words come from the website D2-L07 vocabulary (listening signals).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Describing Appearance — A Full Physical Portrait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وَصْفُ المَظْهَرِ — صُورَةٌ جِسْمِيَّةٌ كَامِلَةٌ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Build a respectful portrait in order — height, hair, eyes, clothes: </a:t>
            </a:r>
            <a:pPr algn="l" indent="0" marL="0">
              <a:buNone/>
            </a:pPr>
            <a:r>
              <a:rPr lang="ar-SA" altLang="en-US" sz="1800" dirty="0">
                <a:solidFill>
                  <a:srgbClr val="C6D2E6"/>
                </a:solidFill>
                <a:latin typeface="Amiri" pitchFamily="2" charset="-78"/>
                <a:cs typeface="Amiri" pitchFamily="2" charset="-78"/>
              </a:rPr>
              <a:t>لَهُ / لَهَا</a:t>
            </a:r>
            <a:pPr algn="l" indent="0" marL="0">
              <a:buNone/>
            </a:pPr>
            <a:r>
              <a:rPr lang="en-US" sz="1400" dirty="0">
                <a:solidFill>
                  <a:srgbClr val="C6D2E6"/>
                </a:solidFill>
                <a:latin typeface="Calibri" pitchFamily="34" charset="0"/>
                <a:cs typeface="Amiri" pitchFamily="2" charset="-78"/>
              </a:rPr>
              <a:t> (he / she has), hair is masculine, eyes are dual (</a:t>
            </a:r>
            <a:pPr algn="l" indent="0" marL="0">
              <a:buNone/>
            </a:pPr>
            <a:r>
              <a:rPr lang="ar-SA" altLang="en-US" sz="1800" dirty="0">
                <a:solidFill>
                  <a:srgbClr val="C6D2E6"/>
                </a:solidFill>
                <a:latin typeface="Amiri" pitchFamily="2" charset="-78"/>
                <a:cs typeface="Amiri" pitchFamily="2" charset="-78"/>
              </a:rPr>
              <a:t>عَيْنَاهَا بُنِّيَّتَانِ</a:t>
            </a:r>
            <a:pPr algn="l" indent="0" marL="0">
              <a:buNone/>
            </a:pPr>
            <a:r>
              <a:rPr lang="en-US" sz="1400" dirty="0">
                <a:solidFill>
                  <a:srgbClr val="C6D2E6"/>
                </a:solidFill>
                <a:latin typeface="Calibri" pitchFamily="34" charset="0"/>
                <a:cs typeface="Amiri" pitchFamily="2" charset="-78"/>
              </a:rPr>
              <a:t>), and pick people out with </a:t>
            </a:r>
            <a:pPr algn="l" indent="0" marL="0">
              <a:buNone/>
            </a:pPr>
            <a:r>
              <a:rPr lang="ar-SA" altLang="en-US" sz="1800" dirty="0">
                <a:solidFill>
                  <a:srgbClr val="C6D2E6"/>
                </a:solidFill>
                <a:latin typeface="Amiri" pitchFamily="2" charset="-78"/>
                <a:cs typeface="Amiri" pitchFamily="2" charset="-78"/>
              </a:rPr>
              <a:t>الَّذِي / الَّتِي</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D2-L06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He / she has …, hair and eyes agreement, who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accurate or not,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D2-L07.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شَعْرٌ مُجَعَّدٌ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straight hair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curly hair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hair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عَيْنَانِ بُنِّيَّتَانِ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 eyes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 eyes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سَارَةُ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مِنْ أُخْتِهَا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طَوِيلَةٌ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الأَطْوَلَ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أَطْوَلُ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وَاثِقٌ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وَاثِقٌ 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ثِقَةً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السُّتْرَةُ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السُّتْرَةُ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سُتْرَةٌ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شَعْرٌ مُجَعَّدٌ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straight hair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curly hair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hair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عَيْنَانِ بُنِّيَّتَانِ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brown eyes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 eyes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سَارَةُ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مِنْ أُخْتِهَا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طَوِيلَةٌ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الأَطْوَلَ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أَطْوَلُ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D2-L05: comparative + min.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أَكْثَرُ وَاثِقٌ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وَاثِقٌ 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أَكْثَرُ ثِقَةً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D2-L05: more + noun.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 السُّتْرَةُ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السُّتْرَةُ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سُتْرَةٌ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D2-L03: hādhihi.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He has → lahu. She has → lahā. Her hair is long → shaʿruhā ṭawīl (hair is masculine!).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لَهُ</a:t>
            </a:r>
            <a:pPr rtl="1" algn="ctr" indent="0" marL="0">
              <a:lnSpc>
                <a:spcPct val="120000"/>
              </a:lnSpc>
              <a:buNone/>
            </a:pPr>
            <a:r>
              <a:rPr lang="ar-SA" altLang="en-US" sz="1950" b="1" dirty="0">
                <a:solidFill>
                  <a:srgbClr val="1B3B6F"/>
                </a:solidFill>
                <a:latin typeface="Amiri" pitchFamily="2" charset="-78"/>
                <a:cs typeface="Amiri" pitchFamily="2" charset="-78"/>
              </a:rPr>
              <a:t> شَعْرٌ قَصِيرٌ · </a:t>
            </a:r>
            <a:pPr rtl="1" algn="ctr" indent="0" marL="0">
              <a:lnSpc>
                <a:spcPct val="120000"/>
              </a:lnSpc>
              <a:buNone/>
            </a:pPr>
            <a:r>
              <a:rPr lang="ar-SA" altLang="en-US" sz="1950" b="1" dirty="0">
                <a:solidFill>
                  <a:srgbClr val="D6336C"/>
                </a:solidFill>
                <a:latin typeface="Amiri" pitchFamily="2" charset="-78"/>
                <a:cs typeface="Amiri" pitchFamily="2" charset="-78"/>
              </a:rPr>
              <a:t>لَهَا</a:t>
            </a:r>
            <a:pPr rtl="1" algn="ctr" indent="0" marL="0">
              <a:lnSpc>
                <a:spcPct val="120000"/>
              </a:lnSpc>
              <a:buNone/>
            </a:pPr>
            <a:r>
              <a:rPr lang="ar-SA" altLang="en-US" sz="1950" b="1" dirty="0">
                <a:solidFill>
                  <a:srgbClr val="1B3B6F"/>
                </a:solidFill>
                <a:latin typeface="Amiri" pitchFamily="2" charset="-78"/>
                <a:cs typeface="Amiri" pitchFamily="2" charset="-78"/>
              </a:rPr>
              <a:t> شَعْرٌ طَوِيلٌ · عَيْنَا</a:t>
            </a:r>
            <a:pPr rtl="1" algn="ctr" indent="0" marL="0">
              <a:lnSpc>
                <a:spcPct val="120000"/>
              </a:lnSpc>
              <a:buNone/>
            </a:pPr>
            <a:r>
              <a:rPr lang="ar-SA" altLang="en-US" sz="1950" b="1" dirty="0">
                <a:solidFill>
                  <a:srgbClr val="D6336C"/>
                </a:solidFill>
                <a:latin typeface="Amiri" pitchFamily="2" charset="-78"/>
                <a:cs typeface="Amiri" pitchFamily="2" charset="-78"/>
              </a:rPr>
              <a:t>هَا</a:t>
            </a:r>
            <a:pPr rtl="1" algn="ctr" indent="0" marL="0">
              <a:lnSpc>
                <a:spcPct val="120000"/>
              </a:lnSpc>
              <a:buNone/>
            </a:pPr>
            <a:r>
              <a:rPr lang="ar-SA" altLang="en-US" sz="1950" b="1" dirty="0">
                <a:solidFill>
                  <a:srgbClr val="1B3B6F"/>
                </a:solidFill>
                <a:latin typeface="Amiri" pitchFamily="2" charset="-78"/>
                <a:cs typeface="Amiri" pitchFamily="2" charset="-78"/>
              </a:rPr>
              <a:t> بُنِّيَّتَانِ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D2-L06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Physical description, possession and relative clauses.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height, hair and eyes in order.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he / she is wearing.</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hair and eyes agree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cs typeface="Amiri" pitchFamily="2" charset="-78"/>
              </a:rPr>
              <a:t>الَّذِي / الَّتِي</a:t>
            </a:r>
            <a:pPr algn="l" indent="0" marL="0">
              <a:buNone/>
            </a:pPr>
            <a:r>
              <a:rPr lang="en-US" sz="1300" b="1" dirty="0">
                <a:solidFill>
                  <a:srgbClr val="C9780A"/>
                </a:solidFill>
                <a:latin typeface="Calibri" pitchFamily="34" charset="0"/>
                <a:cs typeface="Amiri" pitchFamily="2" charset="-78"/>
              </a:rPr>
              <a:t> (the one who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two people in a full, respectful portrait.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infer personality from behaviour (he seems … because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Height, hair and eyes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Clothes in a portrait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Style and personality detail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القَامَةُ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‎قامت / قد‎ </a:t>
            </a:r>
            <a:pPr indent="0" marL="0">
              <a:buNone/>
            </a:pPr>
            <a:r>
              <a:rPr lang="en-US" sz="950" b="1" dirty="0">
                <a:solidFill>
                  <a:srgbClr val="2E8B57"/>
                </a:solidFill>
                <a:latin typeface="Calibri" pitchFamily="34" charset="0"/>
                <a:cs typeface="Amiri" pitchFamily="2" charset="-78"/>
              </a:rPr>
              <a:t> qāmat · stature, height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شَكْلٌ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‎شکل‎ </a:t>
            </a:r>
            <a:pPr indent="0" marL="0">
              <a:buNone/>
            </a:pPr>
            <a:r>
              <a:rPr lang="en-US" sz="950" b="1" dirty="0">
                <a:solidFill>
                  <a:srgbClr val="2E8B57"/>
                </a:solidFill>
                <a:latin typeface="Calibri" pitchFamily="34" charset="0"/>
                <a:cs typeface="Amiri" pitchFamily="2" charset="-78"/>
              </a:rPr>
              <a:t> shakl · shape, appearance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لِبَاسٌ</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‎لباس‎ </a:t>
            </a:r>
            <a:pPr indent="0" marL="0">
              <a:buNone/>
            </a:pPr>
            <a:r>
              <a:rPr lang="en-US" sz="950" b="1" dirty="0">
                <a:solidFill>
                  <a:srgbClr val="2E8B57"/>
                </a:solidFill>
                <a:latin typeface="Calibri" pitchFamily="34" charset="0"/>
                <a:cs typeface="Amiri" pitchFamily="2" charset="-78"/>
              </a:rPr>
              <a:t> libās · clothing</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نَظَّارَةٌ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‎عینک‎ </a:t>
            </a:r>
            <a:pPr indent="0" marL="0">
              <a:buNone/>
            </a:pPr>
            <a:r>
              <a:rPr lang="en-US" sz="950" b="1" dirty="0">
                <a:solidFill>
                  <a:srgbClr val="2E8B57"/>
                </a:solidFill>
                <a:latin typeface="Calibri" pitchFamily="34" charset="0"/>
                <a:cs typeface="Amiri" pitchFamily="2" charset="-78"/>
              </a:rPr>
              <a:t> ainak · glasses (meaning only)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جِسْمِيَّةٌ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‎جسم‎ </a:t>
            </a:r>
            <a:pPr indent="0" marL="0">
              <a:buNone/>
            </a:pPr>
            <a:r>
              <a:rPr lang="en-US" sz="950" b="1" dirty="0">
                <a:solidFill>
                  <a:srgbClr val="2E8B57"/>
                </a:solidFill>
                <a:latin typeface="Calibri" pitchFamily="34" charset="0"/>
                <a:cs typeface="Amiri" pitchFamily="2" charset="-78"/>
              </a:rPr>
              <a:t> jism · body → physical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Height, hair and eyes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cs typeface="Amiri" pitchFamily="2" charset="-78"/>
              </a:rPr>
              <a:t>طَوِيلُ القَامَةِ / طَوِيلَةُ القَامَةِ</a:t>
            </a:r>
            <a:endParaRPr lang="ar-SA" sz="255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tall</a:t>
            </a:r>
            <a:endParaRPr lang="en-US" sz="1350" dirty="0"/>
          </a:p>
          <a:p>
            <a:pPr indent="0" marL="0">
              <a:buNone/>
            </a:pPr>
            <a:r>
              <a:rPr lang="en-US" sz="1100" i="1" dirty="0">
                <a:solidFill>
                  <a:srgbClr val="5A6472"/>
                </a:solidFill>
                <a:latin typeface="Calibri" pitchFamily="34" charset="0"/>
                <a:cs typeface="Amiri" pitchFamily="2" charset="-78"/>
              </a:rPr>
              <a:t>ṭa-wī-lu al-qā-ma-ti / ṭa-wī-la-tu al-qā-ma-ti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طَوِيلَةُ القَامَةِ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طَوِيلُ القَامَةِ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cs typeface="Amiri" pitchFamily="2" charset="-78"/>
              </a:rPr>
              <a:t>قَصِيرُ القَامَةِ / قَصِيرَةُ القَامَةِ</a:t>
            </a:r>
            <a:endParaRPr lang="ar-SA" sz="255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a:t>
            </a:r>
            <a:endParaRPr lang="en-US" sz="1350" dirty="0"/>
          </a:p>
          <a:p>
            <a:pPr indent="0" marL="0">
              <a:buNone/>
            </a:pPr>
            <a:r>
              <a:rPr lang="en-US" sz="1100" i="1" dirty="0">
                <a:solidFill>
                  <a:srgbClr val="5A6472"/>
                </a:solidFill>
                <a:latin typeface="Calibri" pitchFamily="34" charset="0"/>
                <a:cs typeface="Amiri" pitchFamily="2" charset="-78"/>
              </a:rPr>
              <a:t>qa-ṣī-ru al-qā-ma-ti / qa-ṣī-ra-tu al-qā-ma-ti</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قَصِيرَةُ القَامَةِ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قَصِيرُ القَامَةِ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cs typeface="Amiri" pitchFamily="2" charset="-78"/>
              </a:rPr>
              <a:t>مُتَوَسِّطُ القَامَةِ / مُتَوَسِّطَةُ القَامَةِ</a:t>
            </a:r>
            <a:endParaRPr lang="ar-SA" sz="24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medium height</a:t>
            </a:r>
            <a:endParaRPr lang="en-US" sz="1350" dirty="0"/>
          </a:p>
          <a:p>
            <a:pPr indent="0" marL="0">
              <a:buNone/>
            </a:pPr>
            <a:r>
              <a:rPr lang="en-US" sz="1100" i="1" dirty="0">
                <a:solidFill>
                  <a:srgbClr val="5A6472"/>
                </a:solidFill>
                <a:latin typeface="Calibri" pitchFamily="34" charset="0"/>
                <a:cs typeface="Amiri" pitchFamily="2" charset="-78"/>
              </a:rPr>
              <a:t>mu-ta-was-si-ṭu al-qā-ma-ti / mu-ta-was-si-ṭa-tu al-qā-ma-ti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مُتَوَسِّطَةُ القَامَةِ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مُتَوَسِّطُ القَامَةِ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his · her</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شَعْرٌ طَوِيلٌ</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long hair</a:t>
            </a:r>
            <a:endParaRPr lang="en-US" sz="1350" dirty="0"/>
          </a:p>
          <a:p>
            <a:pPr indent="0" marL="0">
              <a:buNone/>
            </a:pPr>
            <a:r>
              <a:rPr lang="en-US" sz="1100" i="1" dirty="0">
                <a:solidFill>
                  <a:srgbClr val="5A6472"/>
                </a:solidFill>
                <a:latin typeface="Calibri" pitchFamily="34" charset="0"/>
                <a:cs typeface="Amiri" pitchFamily="2" charset="-78"/>
              </a:rPr>
              <a:t>shaʿ-run ṭa-wī-lun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شَعْرُهَا طَوِيلٌ</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شَعْرُهُ طَوِيلٌ</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his · her</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شَعْرٌ قَصِيرٌ</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 hair</a:t>
            </a:r>
            <a:endParaRPr lang="en-US" sz="1350" dirty="0"/>
          </a:p>
          <a:p>
            <a:pPr indent="0" marL="0">
              <a:buNone/>
            </a:pPr>
            <a:r>
              <a:rPr lang="en-US" sz="1100" i="1" dirty="0">
                <a:solidFill>
                  <a:srgbClr val="5A6472"/>
                </a:solidFill>
                <a:latin typeface="Calibri" pitchFamily="34" charset="0"/>
                <a:cs typeface="Amiri" pitchFamily="2" charset="-78"/>
              </a:rPr>
              <a:t>shaʿ-run qa-ṣī-run</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شَعْرُهَا قَصِيرٌ</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شَعْرُهُ قَصِيرٌ</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his · her</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شَعْرٌ مُجَعَّدٌ</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curly hair</a:t>
            </a:r>
            <a:endParaRPr lang="en-US" sz="1350" dirty="0"/>
          </a:p>
          <a:p>
            <a:pPr indent="0" marL="0">
              <a:buNone/>
            </a:pPr>
            <a:r>
              <a:rPr lang="en-US" sz="1100" i="1" dirty="0">
                <a:solidFill>
                  <a:srgbClr val="5A6472"/>
                </a:solidFill>
                <a:latin typeface="Calibri" pitchFamily="34" charset="0"/>
                <a:cs typeface="Amiri" pitchFamily="2" charset="-78"/>
              </a:rPr>
              <a:t>shaʿ-run mu-jaʿ-ʿa-dun</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شَعْرُهَا مُجَعَّدٌ</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شَعْرُهُ مُجَعَّدٌ</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Height, hair and eyes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his · her</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شَعْرٌ مُسْتَقِيمٌ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straight hair</a:t>
            </a:r>
            <a:endParaRPr lang="en-US" sz="1350" dirty="0"/>
          </a:p>
          <a:p>
            <a:pPr indent="0" marL="0">
              <a:buNone/>
            </a:pPr>
            <a:r>
              <a:rPr lang="en-US" sz="1100" i="1" dirty="0">
                <a:solidFill>
                  <a:srgbClr val="5A6472"/>
                </a:solidFill>
                <a:latin typeface="Calibri" pitchFamily="34" charset="0"/>
                <a:cs typeface="Amiri" pitchFamily="2" charset="-78"/>
              </a:rPr>
              <a:t>shaʿ-run mus-ta-qī-mun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شَعْرُهَا مُسْتَقِيمٌ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شَعْرُهُ مُسْتَقِيمٌ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one · two</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عَيْنَانِ بُنِّيَّتَانِ</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brown eyes</a:t>
            </a:r>
            <a:endParaRPr lang="en-US" sz="1350" dirty="0"/>
          </a:p>
          <a:p>
            <a:pPr indent="0" marL="0">
              <a:buNone/>
            </a:pPr>
            <a:r>
              <a:rPr lang="en-US" sz="1100" i="1" dirty="0">
                <a:solidFill>
                  <a:srgbClr val="5A6472"/>
                </a:solidFill>
                <a:latin typeface="Calibri" pitchFamily="34" charset="0"/>
                <a:cs typeface="Amiri" pitchFamily="2" charset="-78"/>
              </a:rPr>
              <a:t>ʿay-nā-ni bun-niy-ya-tā-ni</a:t>
            </a:r>
            <a:endParaRPr lang="en-US" sz="1350" dirty="0"/>
          </a:p>
        </p:txBody>
      </p:sp>
      <p:sp>
        <p:nvSpPr>
          <p:cNvPr id="39" name="Shape 3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her eyes</a:t>
            </a:r>
            <a:endParaRPr lang="en-US" sz="700" dirty="0"/>
          </a:p>
        </p:txBody>
      </p:sp>
      <p:sp>
        <p:nvSpPr>
          <p:cNvPr id="41" name="Text 38"/>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عَيْنَاهَا</a:t>
            </a:r>
            <a:endParaRPr lang="ar-SA" sz="1350" dirty="0"/>
          </a:p>
        </p:txBody>
      </p:sp>
      <p:sp>
        <p:nvSpPr>
          <p:cNvPr id="42" name="Shape 3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blue (2)</a:t>
            </a:r>
            <a:endParaRPr lang="en-US" sz="700" dirty="0"/>
          </a:p>
        </p:txBody>
      </p:sp>
      <p:sp>
        <p:nvSpPr>
          <p:cNvPr id="44" name="Text 41"/>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زَرْقَاوَانِ</a:t>
            </a:r>
            <a:endParaRPr lang="ar-SA" sz="1350" dirty="0"/>
          </a:p>
        </p:txBody>
      </p:sp>
      <p:sp>
        <p:nvSpPr>
          <p:cNvPr id="45" name="Shape 4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7" name="Text 4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عَيْنٌ بُنِّيَّةٌ</a:t>
            </a:r>
            <a:endParaRPr lang="ar-SA" sz="1500" dirty="0"/>
          </a:p>
        </p:txBody>
      </p:sp>
      <p:sp>
        <p:nvSpPr>
          <p:cNvPr id="48" name="Shape 4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1920240"/>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1" name="Shape 48"/>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3" name="Shape 5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يَرْتَدِي نَظَّارَةً</a:t>
            </a:r>
            <a:endParaRPr lang="ar-SA" sz="3000" dirty="0"/>
          </a:p>
        </p:txBody>
      </p:sp>
      <p:sp>
        <p:nvSpPr>
          <p:cNvPr id="56" name="Text 5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wears glasses</a:t>
            </a:r>
            <a:endParaRPr lang="en-US" sz="1350" dirty="0"/>
          </a:p>
          <a:p>
            <a:pPr indent="0" marL="0">
              <a:buNone/>
            </a:pPr>
            <a:r>
              <a:rPr lang="en-US" sz="1100" i="1" dirty="0">
                <a:solidFill>
                  <a:srgbClr val="5A6472"/>
                </a:solidFill>
                <a:latin typeface="Calibri" pitchFamily="34" charset="0"/>
                <a:cs typeface="Amiri" pitchFamily="2" charset="-78"/>
              </a:rPr>
              <a:t>yar-ta-dī naẓ-ẓā-ra-tan</a:t>
            </a:r>
            <a:endParaRPr lang="en-US" sz="1350" dirty="0"/>
          </a:p>
        </p:txBody>
      </p:sp>
      <p:sp>
        <p:nvSpPr>
          <p:cNvPr id="57" name="Shape 5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نَظَّارَاتٌ</a:t>
            </a:r>
            <a:endParaRPr lang="ar-SA" sz="1500" dirty="0"/>
          </a:p>
        </p:txBody>
      </p:sp>
      <p:sp>
        <p:nvSpPr>
          <p:cNvPr id="60" name="Shape 5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glasses</a:t>
            </a:r>
            <a:endParaRPr lang="en-US" sz="700" dirty="0"/>
          </a:p>
        </p:txBody>
      </p:sp>
      <p:sp>
        <p:nvSpPr>
          <p:cNvPr id="62" name="Text 59"/>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نَظَّارَةٌ</a:t>
            </a:r>
            <a:endParaRPr lang="ar-SA" sz="1350" dirty="0"/>
          </a:p>
        </p:txBody>
      </p:sp>
      <p:sp>
        <p:nvSpPr>
          <p:cNvPr id="63" name="Shape 6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5" name="Text 62"/>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تَرْتَدِي</a:t>
            </a:r>
            <a:endParaRPr lang="ar-SA" sz="1500" dirty="0"/>
          </a:p>
        </p:txBody>
      </p:sp>
      <p:sp>
        <p:nvSpPr>
          <p:cNvPr id="66" name="Shape 6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8211312"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9" name="Shape 6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تَرْتَدِي نَظَّارَةً</a:t>
            </a:r>
            <a:endParaRPr lang="ar-SA" sz="3000" dirty="0"/>
          </a:p>
        </p:txBody>
      </p:sp>
      <p:sp>
        <p:nvSpPr>
          <p:cNvPr id="72" name="Text 6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wears glasses</a:t>
            </a:r>
            <a:endParaRPr lang="en-US" sz="1350" dirty="0"/>
          </a:p>
          <a:p>
            <a:pPr indent="0" marL="0">
              <a:buNone/>
            </a:pPr>
            <a:r>
              <a:rPr lang="en-US" sz="1100" i="1" dirty="0">
                <a:solidFill>
                  <a:srgbClr val="5A6472"/>
                </a:solidFill>
                <a:latin typeface="Calibri" pitchFamily="34" charset="0"/>
                <a:cs typeface="Amiri" pitchFamily="2" charset="-78"/>
              </a:rPr>
              <a:t>tar-ta-dī naẓ-ẓā-ra-tan</a:t>
            </a:r>
            <a:endParaRPr lang="en-US" sz="1350" dirty="0"/>
          </a:p>
        </p:txBody>
      </p:sp>
      <p:sp>
        <p:nvSpPr>
          <p:cNvPr id="73" name="Shape 7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389120"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6" name="Text 7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لَهُ لِحْيَةٌ</a:t>
            </a:r>
            <a:endParaRPr lang="ar-SA" sz="3000" dirty="0"/>
          </a:p>
        </p:txBody>
      </p:sp>
      <p:sp>
        <p:nvSpPr>
          <p:cNvPr id="77" name="Text 7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has a beard</a:t>
            </a:r>
            <a:endParaRPr lang="en-US" sz="1350" dirty="0"/>
          </a:p>
          <a:p>
            <a:pPr indent="0" marL="0">
              <a:buNone/>
            </a:pPr>
            <a:r>
              <a:rPr lang="en-US" sz="1100" i="1" dirty="0">
                <a:solidFill>
                  <a:srgbClr val="5A6472"/>
                </a:solidFill>
                <a:latin typeface="Calibri" pitchFamily="34" charset="0"/>
                <a:cs typeface="Amiri" pitchFamily="2" charset="-78"/>
              </a:rPr>
              <a:t>la-hu liḥ-ya-tun</a:t>
            </a:r>
            <a:endParaRPr lang="en-US" sz="135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1" name="Text 7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مَلَامِحُهُ هَادِئَةٌ</a:t>
            </a:r>
            <a:endParaRPr lang="ar-SA" sz="3000" dirty="0"/>
          </a:p>
        </p:txBody>
      </p:sp>
      <p:sp>
        <p:nvSpPr>
          <p:cNvPr id="82" name="Text 7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features are calm</a:t>
            </a:r>
            <a:endParaRPr lang="en-US" sz="1350" dirty="0"/>
          </a:p>
          <a:p>
            <a:pPr indent="0" marL="0">
              <a:buNone/>
            </a:pPr>
            <a:r>
              <a:rPr lang="en-US" sz="1100" i="1" dirty="0">
                <a:solidFill>
                  <a:srgbClr val="5A6472"/>
                </a:solidFill>
                <a:latin typeface="Calibri" pitchFamily="34" charset="0"/>
                <a:cs typeface="Amiri" pitchFamily="2" charset="-78"/>
              </a:rPr>
              <a:t>ma-lā-mi-ḥu-hu hā-di-ʾa-tun</a:t>
            </a:r>
            <a:endParaRPr lang="en-US" sz="13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 in a portrait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قَمِيصٌ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shirt</a:t>
            </a:r>
            <a:endParaRPr lang="en-US" sz="1350" dirty="0"/>
          </a:p>
          <a:p>
            <a:pPr indent="0" marL="0">
              <a:buNone/>
            </a:pPr>
            <a:r>
              <a:rPr lang="en-US" sz="1100" i="1" dirty="0">
                <a:solidFill>
                  <a:srgbClr val="5A6472"/>
                </a:solidFill>
                <a:latin typeface="Calibri" pitchFamily="34" charset="0"/>
                <a:cs typeface="Amiri" pitchFamily="2" charset="-78"/>
              </a:rPr>
              <a:t>qa-mī-ṣun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قُمْصَانٌ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القَمِيصُ</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قَمِيصَةٌ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blouse</a:t>
            </a:r>
            <a:endParaRPr lang="en-US" sz="1350" dirty="0"/>
          </a:p>
          <a:p>
            <a:pPr indent="0" marL="0">
              <a:buNone/>
            </a:pPr>
            <a:r>
              <a:rPr lang="en-US" sz="1100" i="1" dirty="0">
                <a:solidFill>
                  <a:srgbClr val="5A6472"/>
                </a:solidFill>
                <a:latin typeface="Calibri" pitchFamily="34" charset="0"/>
                <a:cs typeface="Amiri" pitchFamily="2" charset="-78"/>
              </a:rPr>
              <a:t>qa-mī-ṣa-tun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قَمِيصَاتٌ</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 القَمِيصَةُ</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مُؤَنَّثٌ</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سِرْوَالٌ</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trousers</a:t>
            </a:r>
            <a:endParaRPr lang="en-US" sz="1350" dirty="0"/>
          </a:p>
          <a:p>
            <a:pPr indent="0" marL="0">
              <a:buNone/>
            </a:pPr>
            <a:r>
              <a:rPr lang="en-US" sz="1100" i="1" dirty="0">
                <a:solidFill>
                  <a:srgbClr val="5A6472"/>
                </a:solidFill>
                <a:latin typeface="Calibri" pitchFamily="34" charset="0"/>
                <a:cs typeface="Amiri" pitchFamily="2" charset="-78"/>
              </a:rPr>
              <a:t>sir-wā-lun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سَرَاوِيلُ</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السِّرْوَالُ</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8" name="Shape 6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تَنُّورَةٌ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skirt</a:t>
            </a:r>
            <a:endParaRPr lang="en-US" sz="1350" dirty="0"/>
          </a:p>
          <a:p>
            <a:pPr indent="0" marL="0">
              <a:buNone/>
            </a:pPr>
            <a:r>
              <a:rPr lang="en-US" sz="1100" i="1" dirty="0">
                <a:solidFill>
                  <a:srgbClr val="5A6472"/>
                </a:solidFill>
                <a:latin typeface="Calibri" pitchFamily="34" charset="0"/>
                <a:cs typeface="Amiri" pitchFamily="2" charset="-78"/>
              </a:rPr>
              <a:t>tan-nū-ra-tun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تَنَانِيرُ</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 التَّنُّورَةُ</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مُؤَنَّثٌ</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4" name="Shape 8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فُسْتَانٌ</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dress</a:t>
            </a:r>
            <a:endParaRPr lang="en-US" sz="1350" dirty="0"/>
          </a:p>
          <a:p>
            <a:pPr indent="0" marL="0">
              <a:buNone/>
            </a:pPr>
            <a:r>
              <a:rPr lang="en-US" sz="1100" i="1" dirty="0">
                <a:solidFill>
                  <a:srgbClr val="5A6472"/>
                </a:solidFill>
                <a:latin typeface="Calibri" pitchFamily="34" charset="0"/>
                <a:cs typeface="Amiri" pitchFamily="2" charset="-78"/>
              </a:rPr>
              <a:t>fus-tā-nun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فَسَاتِينُ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93" name="Text 90"/>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الفُسْتَانُ</a:t>
            </a:r>
            <a:endParaRPr lang="ar-SA" sz="135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 in a portrait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مِعْطَفٌ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coat</a:t>
            </a:r>
            <a:endParaRPr lang="en-US" sz="1350" dirty="0"/>
          </a:p>
          <a:p>
            <a:pPr indent="0" marL="0">
              <a:buNone/>
            </a:pPr>
            <a:r>
              <a:rPr lang="en-US" sz="1100" i="1" dirty="0">
                <a:solidFill>
                  <a:srgbClr val="5A6472"/>
                </a:solidFill>
                <a:latin typeface="Calibri" pitchFamily="34" charset="0"/>
                <a:cs typeface="Amiri" pitchFamily="2" charset="-78"/>
              </a:rPr>
              <a:t>miʿ-ṭa-fun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مَعَاطِفُ</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المِعْطَفُ</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سُتْرَةٌ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jacket</a:t>
            </a:r>
            <a:endParaRPr lang="en-US" sz="1350" dirty="0"/>
          </a:p>
          <a:p>
            <a:pPr indent="0" marL="0">
              <a:buNone/>
            </a:pPr>
            <a:r>
              <a:rPr lang="en-US" sz="1100" i="1" dirty="0">
                <a:solidFill>
                  <a:srgbClr val="5A6472"/>
                </a:solidFill>
                <a:latin typeface="Calibri" pitchFamily="34" charset="0"/>
                <a:cs typeface="Amiri" pitchFamily="2" charset="-78"/>
              </a:rPr>
              <a:t>sut-ra-tun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سُتَرٌ</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 السُّتْرَةُ</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مُؤَنَّثٌ</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حِذَاءٌ</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shoes</a:t>
            </a:r>
            <a:endParaRPr lang="en-US" sz="1350" dirty="0"/>
          </a:p>
          <a:p>
            <a:pPr indent="0" marL="0">
              <a:buNone/>
            </a:pPr>
            <a:r>
              <a:rPr lang="en-US" sz="1100" i="1" dirty="0">
                <a:solidFill>
                  <a:srgbClr val="5A6472"/>
                </a:solidFill>
                <a:latin typeface="Calibri" pitchFamily="34" charset="0"/>
                <a:cs typeface="Amiri" pitchFamily="2" charset="-78"/>
              </a:rPr>
              <a:t>ḥi-dhā-ʾun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أَحْذِيَةٌ</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الحِذَاءُ</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8" name="Shape 6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حِجَابٌ</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headscarf</a:t>
            </a:r>
            <a:endParaRPr lang="en-US" sz="1350" dirty="0"/>
          </a:p>
          <a:p>
            <a:pPr indent="0" marL="0">
              <a:buNone/>
            </a:pPr>
            <a:r>
              <a:rPr lang="en-US" sz="1100" i="1" dirty="0">
                <a:solidFill>
                  <a:srgbClr val="5A6472"/>
                </a:solidFill>
                <a:latin typeface="Calibri" pitchFamily="34" charset="0"/>
                <a:cs typeface="Amiri" pitchFamily="2" charset="-78"/>
              </a:rPr>
              <a:t>ḥi-jā-bun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أَحْجِبَةٌ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 الحِجَابُ</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مُذَكَّرٌ</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84" name="Shape 8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قُبَّعَةٌ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hat</a:t>
            </a:r>
            <a:endParaRPr lang="en-US" sz="1350" dirty="0"/>
          </a:p>
          <a:p>
            <a:pPr indent="0" marL="0">
              <a:buNone/>
            </a:pPr>
            <a:r>
              <a:rPr lang="en-US" sz="1100" i="1" dirty="0">
                <a:solidFill>
                  <a:srgbClr val="5A6472"/>
                </a:solidFill>
                <a:latin typeface="Calibri" pitchFamily="34" charset="0"/>
                <a:cs typeface="Amiri" pitchFamily="2" charset="-78"/>
              </a:rPr>
              <a:t>qub-ba-ʿa-tun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قُبَّعَاتٌ</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93" name="Text 90"/>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 القُبَّعَةُ</a:t>
            </a:r>
            <a:endParaRPr lang="ar-SA" sz="135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مُؤَنَّثٌ</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Style and personality detail (1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a:t>
            </a:r>
            <a:endParaRPr lang="en-US" sz="1350" dirty="0"/>
          </a:p>
          <a:p>
            <a:pPr indent="0" marL="0">
              <a:buNone/>
            </a:pPr>
            <a:r>
              <a:rPr lang="en-US" sz="1100" i="1" dirty="0">
                <a:solidFill>
                  <a:srgbClr val="5A6472"/>
                </a:solidFill>
                <a:latin typeface="Calibri" pitchFamily="34" charset="0"/>
                <a:cs typeface="Amiri" pitchFamily="2" charset="-78"/>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Style and personality detail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غَيْرُ رَسْمِيٍّ / غَيْرُ رَسْمِيَّةٍ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غَيْرُ رَسْمِيَّةٍ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غَيْرُ رَسْمِيٍّ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مُحْتَشِمٌ / مُحْتَشِمَةٌ</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37" name="Shape 34"/>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مُحْتَشِمُونَ</a:t>
            </a:r>
            <a:endParaRPr lang="ar-SA" sz="1500" dirty="0"/>
          </a:p>
        </p:txBody>
      </p:sp>
      <p:sp>
        <p:nvSpPr>
          <p:cNvPr id="40" name="Shape 37"/>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2" name="Text 39"/>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مُحْتَشِمَةٌ</a:t>
            </a:r>
            <a:endParaRPr lang="ar-SA" sz="1500" dirty="0"/>
          </a:p>
        </p:txBody>
      </p:sp>
      <p:sp>
        <p:nvSpPr>
          <p:cNvPr id="43" name="Shape 40"/>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5" name="Text 42"/>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a:t>
            </a:r>
            <a:endParaRPr lang="ar-SA" sz="1500" dirty="0"/>
          </a:p>
        </p:txBody>
      </p:sp>
      <p:sp>
        <p:nvSpPr>
          <p:cNvPr id="46" name="Shape 4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1920240"/>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9" name="Shape 46"/>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1" name="Text 4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مُلَوَّنٌ / مُلَوَّنَةٌ</a:t>
            </a:r>
            <a:endParaRPr lang="ar-SA" sz="3000" dirty="0"/>
          </a:p>
        </p:txBody>
      </p:sp>
      <p:sp>
        <p:nvSpPr>
          <p:cNvPr id="52" name="Text 4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mu-law-wa-nun / mu-law-wa-na-tun</a:t>
            </a:r>
            <a:endParaRPr lang="en-US" sz="1350" dirty="0"/>
          </a:p>
        </p:txBody>
      </p:sp>
      <p:sp>
        <p:nvSpPr>
          <p:cNvPr id="53" name="Shape 50"/>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مَلَابِسُ مُلَوَّنَةٌ</a:t>
            </a:r>
            <a:endParaRPr lang="ar-SA" sz="1500" dirty="0"/>
          </a:p>
        </p:txBody>
      </p:sp>
      <p:sp>
        <p:nvSpPr>
          <p:cNvPr id="56" name="Shape 53"/>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8" name="Text 55"/>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مُلَوَّنَةٌ</a:t>
            </a:r>
            <a:endParaRPr lang="ar-SA" sz="1500" dirty="0"/>
          </a:p>
        </p:txBody>
      </p:sp>
      <p:sp>
        <p:nvSpPr>
          <p:cNvPr id="59" name="Shape 56"/>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1" name="Text 58"/>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65" name="Shape 6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بَسِيطٌ / بَسِيطَةٌ</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simple</a:t>
            </a:r>
            <a:endParaRPr lang="en-US" sz="1350" dirty="0"/>
          </a:p>
          <a:p>
            <a:pPr indent="0" marL="0">
              <a:buNone/>
            </a:pPr>
            <a:r>
              <a:rPr lang="en-US" sz="1100" i="1" dirty="0">
                <a:solidFill>
                  <a:srgbClr val="5A6472"/>
                </a:solidFill>
                <a:latin typeface="Calibri" pitchFamily="34" charset="0"/>
                <a:cs typeface="Amiri" pitchFamily="2" charset="-78"/>
              </a:rPr>
              <a:t>ba-sī-ṭun / ba-sī-ṭa-tun</a:t>
            </a:r>
            <a:endParaRPr lang="en-US" sz="1350" dirty="0"/>
          </a:p>
        </p:txBody>
      </p:sp>
      <p:sp>
        <p:nvSpPr>
          <p:cNvPr id="69" name="Shape 66"/>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بُسَطَاءُ</a:t>
            </a:r>
            <a:endParaRPr lang="ar-SA" sz="1500" dirty="0"/>
          </a:p>
        </p:txBody>
      </p:sp>
      <p:sp>
        <p:nvSpPr>
          <p:cNvPr id="72" name="Shape 69"/>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4" name="Text 71"/>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بَسِيطَةٌ</a:t>
            </a:r>
            <a:endParaRPr lang="ar-SA" sz="1500" dirty="0"/>
          </a:p>
        </p:txBody>
      </p:sp>
      <p:sp>
        <p:nvSpPr>
          <p:cNvPr id="75" name="Shape 72"/>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7" name="Text 74"/>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بَسِيطٌ</a:t>
            </a:r>
            <a:endParaRPr lang="ar-SA" sz="150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cs typeface="Amiri" pitchFamily="2" charset="-78"/>
              </a:rPr>
              <a:t>GRAMMAR FOCUS · PART 1 · THE PORTRAIT IN ORDER: HE VS SHE (WEBSITE RULES + TABLE)</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Height → hair → eyes → clothes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450" b="1" dirty="0">
                <a:solidFill>
                  <a:srgbClr val="8A6D1E"/>
                </a:solidFill>
                <a:latin typeface="Amiri" pitchFamily="2" charset="-78"/>
                <a:cs typeface="Amiri" pitchFamily="2" charset="-78"/>
              </a:rPr>
              <a:t>القَامَةُ ← الشَّعْرُ ← العَيْنَانِ ← المَلَابِسُ</a:t>
            </a:r>
            <a:endParaRPr lang="ar-SA" sz="24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729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17" name="Text 14"/>
          <p:cNvSpPr txBox="1"/>
          <p:nvPr/>
        </p:nvSpPr>
        <p:spPr>
          <a:xfrm>
            <a:off x="3758184"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91272" y="2267712"/>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هُوَ طَوِيلُ القَامَةِ.</a:t>
            </a:r>
            <a:endParaRPr lang="ar-SA" sz="2400" dirty="0"/>
          </a:p>
        </p:txBody>
      </p:sp>
      <p:sp>
        <p:nvSpPr>
          <p:cNvPr id="21" name="Text 18"/>
          <p:cNvSpPr txBox="1"/>
          <p:nvPr/>
        </p:nvSpPr>
        <p:spPr>
          <a:xfrm>
            <a:off x="3776472" y="2267712"/>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هِيَ طَوِيلَ</a:t>
            </a:r>
            <a:pPr rtl="1" algn="ctr" indent="0" marL="0">
              <a:buNone/>
            </a:pPr>
            <a:r>
              <a:rPr lang="ar-SA" altLang="en-US" sz="2400" b="1" dirty="0">
                <a:solidFill>
                  <a:srgbClr val="D6336C"/>
                </a:solidFill>
                <a:latin typeface="Amiri" pitchFamily="2" charset="-78"/>
                <a:cs typeface="Amiri" pitchFamily="2" charset="-78"/>
              </a:rPr>
              <a:t>ةُ</a:t>
            </a:r>
            <a:pPr rtl="1" algn="ctr" indent="0" marL="0">
              <a:buNone/>
            </a:pPr>
            <a:r>
              <a:rPr lang="ar-SA" altLang="en-US" sz="2400" b="1" dirty="0">
                <a:solidFill>
                  <a:srgbClr val="1B3B6F"/>
                </a:solidFill>
                <a:latin typeface="Amiri" pitchFamily="2" charset="-78"/>
                <a:cs typeface="Amiri" pitchFamily="2" charset="-78"/>
              </a:rPr>
              <a:t> القَامَةِ.</a:t>
            </a:r>
            <a:endParaRPr lang="ar-SA" sz="2400" dirty="0"/>
          </a:p>
        </p:txBody>
      </p:sp>
      <p:sp>
        <p:nvSpPr>
          <p:cNvPr id="22" name="Text 19"/>
          <p:cNvSpPr txBox="1"/>
          <p:nvPr/>
        </p:nvSpPr>
        <p:spPr>
          <a:xfrm>
            <a:off x="56692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height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91272" y="300471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لَهُ</a:t>
            </a:r>
            <a:pPr rtl="1" algn="ctr" indent="0" marL="0">
              <a:buNone/>
            </a:pPr>
            <a:r>
              <a:rPr lang="ar-SA" altLang="en-US" sz="2400" b="1" dirty="0">
                <a:solidFill>
                  <a:srgbClr val="1B3B6F"/>
                </a:solidFill>
                <a:latin typeface="Amiri" pitchFamily="2" charset="-78"/>
                <a:cs typeface="Amiri" pitchFamily="2" charset="-78"/>
              </a:rPr>
              <a:t> شَعْرٌ قَصِيرٌ وَمُجَعَّدٌ.</a:t>
            </a:r>
            <a:endParaRPr lang="ar-SA" sz="2400" dirty="0"/>
          </a:p>
        </p:txBody>
      </p:sp>
      <p:sp>
        <p:nvSpPr>
          <p:cNvPr id="27" name="Text 24"/>
          <p:cNvSpPr txBox="1"/>
          <p:nvPr/>
        </p:nvSpPr>
        <p:spPr>
          <a:xfrm>
            <a:off x="3776472" y="3004718"/>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لَهَا</a:t>
            </a:r>
            <a:pPr rtl="1" algn="ctr" indent="0" marL="0">
              <a:buNone/>
            </a:pPr>
            <a:r>
              <a:rPr lang="ar-SA" altLang="en-US" sz="2400" b="1" dirty="0">
                <a:solidFill>
                  <a:srgbClr val="1B3B6F"/>
                </a:solidFill>
                <a:latin typeface="Amiri" pitchFamily="2" charset="-78"/>
                <a:cs typeface="Amiri" pitchFamily="2" charset="-78"/>
              </a:rPr>
              <a:t> شَعْرٌ طَوِيلٌ مُسْتَقِيمٌ.</a:t>
            </a:r>
            <a:endParaRPr lang="ar-SA" sz="2400" dirty="0"/>
          </a:p>
        </p:txBody>
      </p:sp>
      <p:sp>
        <p:nvSpPr>
          <p:cNvPr id="28" name="Text 25"/>
          <p:cNvSpPr txBox="1"/>
          <p:nvPr/>
        </p:nvSpPr>
        <p:spPr>
          <a:xfrm>
            <a:off x="56692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hair (he / she has)</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91272" y="3741725"/>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شَعْرُ</a:t>
            </a:r>
            <a:pPr rtl="1" algn="ctr" indent="0" marL="0">
              <a:buNone/>
            </a:pPr>
            <a:r>
              <a:rPr lang="ar-SA" altLang="en-US" sz="2400" b="1" dirty="0">
                <a:solidFill>
                  <a:srgbClr val="1D5FBF"/>
                </a:solidFill>
                <a:latin typeface="Amiri" pitchFamily="2" charset="-78"/>
                <a:cs typeface="Amiri" pitchFamily="2" charset="-78"/>
              </a:rPr>
              <a:t>هُ</a:t>
            </a:r>
            <a:pPr rtl="1" algn="ctr" indent="0" marL="0">
              <a:buNone/>
            </a:pPr>
            <a:r>
              <a:rPr lang="ar-SA" altLang="en-US" sz="2400" b="1" dirty="0">
                <a:solidFill>
                  <a:srgbClr val="1B3B6F"/>
                </a:solidFill>
                <a:latin typeface="Amiri" pitchFamily="2" charset="-78"/>
                <a:cs typeface="Amiri" pitchFamily="2" charset="-78"/>
              </a:rPr>
              <a:t> قَصِيرٌ.</a:t>
            </a:r>
            <a:endParaRPr lang="ar-SA" sz="2400" dirty="0"/>
          </a:p>
        </p:txBody>
      </p:sp>
      <p:sp>
        <p:nvSpPr>
          <p:cNvPr id="33" name="Text 30"/>
          <p:cNvSpPr txBox="1"/>
          <p:nvPr/>
        </p:nvSpPr>
        <p:spPr>
          <a:xfrm>
            <a:off x="3776472" y="3741725"/>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شَعْرُ</a:t>
            </a:r>
            <a:pPr rtl="1" algn="ctr" indent="0" marL="0">
              <a:buNone/>
            </a:pPr>
            <a:r>
              <a:rPr lang="ar-SA" altLang="en-US" sz="2400" b="1" dirty="0">
                <a:solidFill>
                  <a:srgbClr val="D6336C"/>
                </a:solidFill>
                <a:latin typeface="Amiri" pitchFamily="2" charset="-78"/>
                <a:cs typeface="Amiri" pitchFamily="2" charset="-78"/>
              </a:rPr>
              <a:t>هَا</a:t>
            </a:r>
            <a:pPr rtl="1" algn="ctr" indent="0" marL="0">
              <a:buNone/>
            </a:pPr>
            <a:r>
              <a:rPr lang="ar-SA" altLang="en-US" sz="2400" b="1" dirty="0">
                <a:solidFill>
                  <a:srgbClr val="1B3B6F"/>
                </a:solidFill>
                <a:latin typeface="Amiri" pitchFamily="2" charset="-78"/>
                <a:cs typeface="Amiri" pitchFamily="2" charset="-78"/>
              </a:rPr>
              <a:t> طَوِيلٌ.</a:t>
            </a:r>
            <a:endParaRPr lang="ar-SA" sz="2400" dirty="0"/>
          </a:p>
        </p:txBody>
      </p:sp>
      <p:sp>
        <p:nvSpPr>
          <p:cNvPr id="34" name="Text 31"/>
          <p:cNvSpPr txBox="1"/>
          <p:nvPr/>
        </p:nvSpPr>
        <p:spPr>
          <a:xfrm>
            <a:off x="56692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his / her hair (masc. adjective!)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91272" y="4478731"/>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عَيْنَا</a:t>
            </a:r>
            <a:pPr rtl="1" algn="ctr" indent="0" marL="0">
              <a:buNone/>
            </a:pPr>
            <a:r>
              <a:rPr lang="ar-SA" altLang="en-US" sz="2400" b="1" dirty="0">
                <a:solidFill>
                  <a:srgbClr val="1D5FBF"/>
                </a:solidFill>
                <a:latin typeface="Amiri" pitchFamily="2" charset="-78"/>
                <a:cs typeface="Amiri" pitchFamily="2" charset="-78"/>
              </a:rPr>
              <a:t>هُ</a:t>
            </a:r>
            <a:pPr rtl="1" algn="ctr" indent="0" marL="0">
              <a:buNone/>
            </a:pPr>
            <a:r>
              <a:rPr lang="ar-SA" altLang="en-US" sz="2400" b="1" dirty="0">
                <a:solidFill>
                  <a:srgbClr val="1B3B6F"/>
                </a:solidFill>
                <a:latin typeface="Amiri" pitchFamily="2" charset="-78"/>
                <a:cs typeface="Amiri" pitchFamily="2" charset="-78"/>
              </a:rPr>
              <a:t> زَرْقَا</a:t>
            </a:r>
            <a:pPr rtl="1" algn="ctr" indent="0" marL="0">
              <a:buNone/>
            </a:pPr>
            <a:r>
              <a:rPr lang="ar-SA" altLang="en-US" sz="2400" b="1" dirty="0">
                <a:solidFill>
                  <a:srgbClr val="0E7C86"/>
                </a:solidFill>
                <a:latin typeface="Amiri" pitchFamily="2" charset="-78"/>
                <a:cs typeface="Amiri" pitchFamily="2" charset="-78"/>
              </a:rPr>
              <a:t>وَانِ</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39" name="Text 36"/>
          <p:cNvSpPr txBox="1"/>
          <p:nvPr/>
        </p:nvSpPr>
        <p:spPr>
          <a:xfrm>
            <a:off x="3776472" y="4478731"/>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عَيْنَا</a:t>
            </a:r>
            <a:pPr rtl="1" algn="ctr" indent="0" marL="0">
              <a:buNone/>
            </a:pPr>
            <a:r>
              <a:rPr lang="ar-SA" altLang="en-US" sz="2400" b="1" dirty="0">
                <a:solidFill>
                  <a:srgbClr val="D6336C"/>
                </a:solidFill>
                <a:latin typeface="Amiri" pitchFamily="2" charset="-78"/>
                <a:cs typeface="Amiri" pitchFamily="2" charset="-78"/>
              </a:rPr>
              <a:t>هَا</a:t>
            </a:r>
            <a:pPr rtl="1" algn="ctr" indent="0" marL="0">
              <a:buNone/>
            </a:pPr>
            <a:r>
              <a:rPr lang="ar-SA" altLang="en-US" sz="2400" b="1" dirty="0">
                <a:solidFill>
                  <a:srgbClr val="1B3B6F"/>
                </a:solidFill>
                <a:latin typeface="Amiri" pitchFamily="2" charset="-78"/>
                <a:cs typeface="Amiri" pitchFamily="2" charset="-78"/>
              </a:rPr>
              <a:t> بُنِّيَّتَ</a:t>
            </a:r>
            <a:pPr rtl="1" algn="ctr" indent="0" marL="0">
              <a:buNone/>
            </a:pPr>
            <a:r>
              <a:rPr lang="ar-SA" altLang="en-US" sz="2400" b="1" dirty="0">
                <a:solidFill>
                  <a:srgbClr val="0E7C86"/>
                </a:solidFill>
                <a:latin typeface="Amiri" pitchFamily="2" charset="-78"/>
                <a:cs typeface="Amiri" pitchFamily="2" charset="-78"/>
              </a:rPr>
              <a:t>انِ</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40" name="Text 37"/>
          <p:cNvSpPr txBox="1"/>
          <p:nvPr/>
        </p:nvSpPr>
        <p:spPr>
          <a:xfrm>
            <a:off x="56692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eyes (two, feminine)</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91272" y="521573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يَرْتَدِي نَظَّارَةً وَقَمِيصًا أَبْيَضَ.</a:t>
            </a:r>
            <a:endParaRPr lang="ar-SA" sz="2400" dirty="0"/>
          </a:p>
        </p:txBody>
      </p:sp>
      <p:sp>
        <p:nvSpPr>
          <p:cNvPr id="43" name="Text 40"/>
          <p:cNvSpPr txBox="1"/>
          <p:nvPr/>
        </p:nvSpPr>
        <p:spPr>
          <a:xfrm>
            <a:off x="3776472" y="5215738"/>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تَرْتَدِي حِجَابًا أَزْرَقَ.</a:t>
            </a:r>
            <a:endParaRPr lang="ar-SA" sz="2400" dirty="0"/>
          </a:p>
        </p:txBody>
      </p:sp>
      <p:sp>
        <p:nvSpPr>
          <p:cNvPr id="44" name="Text 41"/>
          <p:cNvSpPr txBox="1"/>
          <p:nvPr/>
        </p:nvSpPr>
        <p:spPr>
          <a:xfrm>
            <a:off x="56692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clothes (-an after “wears”)</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rule: organise the details and avoid judgemental language — describe, don’t judge.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FOCUS · PART 2 · THE ONE WHO … (WEBSITE RULE) · DEVELOP / STRETCH</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who in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الَّذِي · الَّتِي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MASCULINE · DEVELOP</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الَّذِي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هُوَ الشَّابُّ الَّذِي يَرْتَدِي نَظَّارَةً.</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is the young man who wears glasses.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Man / boy → alladhī + ya-.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FEMININE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الَّتِي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cs typeface="Amiri" pitchFamily="2" charset="-78"/>
              </a:rPr>
              <a:t>هِيَ الفَتَاةُ الَّتِي لَهَا شَعْرٌ طَوِيلٌ.</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is the girl who has long hair.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Woman / girl → allatī.</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INFERENCE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يَبْدُو / تَبْدُو</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يَبْدُو هَادِئًا لِأَنَّهُ يَسْتَمِعُ إِلَى الآخَرِينَ.</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seems calm because he listens to others.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Behaviour, not looks.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 masculine person takes alladhī.</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الوَلَدُ الَّذِي يَرْتَدِي نَظَّارَةً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الوَلَدُ الَّتِي تَرْتَدِي نَظَّارَةً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Physical description, possession and relative clauses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2" charset="-78"/>
                <a:cs typeface="Amiri" pitchFamily="2" charset="-78"/>
              </a:rPr>
              <a:t>وَصْفُ المَظْهَرِ وَالمِلْكِيَّةُ وَالجُمَلُ المَوْصُولَةُ</a:t>
            </a:r>
            <a:endParaRPr lang="ar-SA" sz="23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Possession with </a:t>
            </a:r>
            <a:pPr algn="l" indent="0" marL="0">
              <a:buNone/>
            </a:pPr>
            <a:r>
              <a:rPr lang="ar-SA" altLang="en-US" sz="1650" b="1" dirty="0">
                <a:solidFill>
                  <a:srgbClr val="1B3B6F"/>
                </a:solidFill>
                <a:latin typeface="Amiri" pitchFamily="2" charset="-78"/>
                <a:cs typeface="Amiri" pitchFamily="2" charset="-78"/>
              </a:rPr>
              <a:t>لَهُ / لَهَا</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لَهُ / لَهَا + اِسْمٌ</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لَهُ شَعْرٌ قَصِيرٌ.   ·   لَهَا عَيْنَانِ بُنِّيَّتَانِ.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Body-feature agreement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اِسْمٌ + صِفَةٌ مُطَابِقَةٌ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شَعْرُهَا طَوِيلٌ وَمُجَعَّدٌ.   ·   عَيْنَاهُ زَرْقَاوَانِ.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Relative clause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الشَّخْصُ الَّذِي / الفَتَاةُ الَّتِي</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هُوَ الشَّخْصُ الَّذِي يَرْتَدِي نَظَّارَةً.   ·   هِيَ الفَتَاةُ الَّتِي لَهَا شَعْرٌ طَوِيلٌ.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Respectful portrait order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القَامَةُ ← الشَّعْرُ ← العَيْنَانِ ← المَلَابِسُ</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هِيَ مُتَوَسِّطَةُ القَامَةِ، وَلَهَا شَعْرٌ قَصِيرٌ، وَتَرْتَدِي مِعْطَفًا أَزْرَقَ.</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شَعْرٌ طَوِيلَةٌ.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شَعْرُهَا طَوِيلَةٌ.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لَهَا شَعْرٌ طَوِيلٌ.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الوَلَدُ الَّذِي يَرْتَدِي نَظَّارَةً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الوَلَدُ الَّتِي تَرْتَدِي نَظَّارَةً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البِنْتُ الَّذِي يَرْتَدِي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عَيْنَاهَا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بُنِّيَّتَانِ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بُنِّيَّةٌ</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hair description.</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شَعْرُهُ قَصِيرٌ وَمُجَعَّدٌ.</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شَعْرُهُ قَصِيرَةٌ وَمُجَعَّدَةٌ.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شَعْرُهَا قَصِيرًا.</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 شَعْرٌ طَوِيلَةٌ.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شَعْرُهَا طَوِيلَةٌ.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لَهَا شَعْرٌ طَوِيلٌ.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لَهَا</a:t>
            </a:r>
            <a:pPr algn="l" indent="0" marL="0">
              <a:buNone/>
            </a:pPr>
            <a:r>
              <a:rPr lang="en-US" sz="1050" i="1" dirty="0">
                <a:solidFill>
                  <a:srgbClr val="8A6D1E"/>
                </a:solidFill>
                <a:latin typeface="Calibri" pitchFamily="34" charset="0"/>
                <a:cs typeface="Amiri" pitchFamily="2" charset="-78"/>
              </a:rPr>
              <a:t> + masculine </a:t>
            </a:r>
            <a:pPr algn="l" indent="0" marL="0">
              <a:buNone/>
            </a:pPr>
            <a:r>
              <a:rPr lang="ar-SA" altLang="en-US" sz="1350" dirty="0">
                <a:solidFill>
                  <a:srgbClr val="8A6D1E"/>
                </a:solidFill>
                <a:latin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طَوِيلٌ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الوَلَدُ الَّذِي يَرْتَدِي نَظَّارَةً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الوَلَدُ الَّتِي تَرْتَدِي نَظَّارَةً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البِنْتُ الَّذِي يَرْتَدِي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antecedent takes </a:t>
            </a:r>
            <a:pPr algn="l" indent="0" marL="0">
              <a:buNone/>
            </a:pPr>
            <a:r>
              <a:rPr lang="ar-SA" altLang="en-US" sz="1350" dirty="0">
                <a:solidFill>
                  <a:srgbClr val="8A6D1E"/>
                </a:solidFill>
                <a:latin typeface="Amiri" pitchFamily="2" charset="-78"/>
                <a:cs typeface="Amiri" pitchFamily="2" charset="-78"/>
              </a:rPr>
              <a:t>الذي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عَيْنَاهَا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بُنِّيٌّ</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بُنِّيَّتَانِ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بُنِّيَّةٌ</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feminine agreement.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hair description.</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شَعْرُهُ قَصِيرٌ وَمُجَعَّدٌ.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شَعْرُهُ قَصِيرَةٌ وَمُجَعَّدَةٌ.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شَعْرُهَا قَصِيرًا.</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Watch me describe a person in a picture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Height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هِيَ مُتَوَسِّطَ</a:t>
            </a:r>
            <a:pPr rtl="1" algn="ctr" indent="0" marL="0">
              <a:buNone/>
            </a:pPr>
            <a:r>
              <a:rPr lang="ar-SA" altLang="en-US" sz="2800" b="1" dirty="0">
                <a:solidFill>
                  <a:srgbClr val="D6336C"/>
                </a:solidFill>
                <a:latin typeface="Amiri" pitchFamily="2" charset="-78"/>
                <a:cs typeface="Amiri" pitchFamily="2" charset="-78"/>
              </a:rPr>
              <a:t>ةُ</a:t>
            </a:r>
            <a:pPr rtl="1" algn="ctr" indent="0" marL="0">
              <a:buNone/>
            </a:pPr>
            <a:r>
              <a:rPr lang="ar-SA" altLang="en-US" sz="2800" b="1" dirty="0">
                <a:solidFill>
                  <a:srgbClr val="1B3B6F"/>
                </a:solidFill>
                <a:latin typeface="Amiri" pitchFamily="2" charset="-78"/>
                <a:cs typeface="Amiri" pitchFamily="2" charset="-78"/>
              </a:rPr>
              <a:t> القَامَةِ.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 -atu.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Hair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لَهَا</a:t>
            </a:r>
            <a:pPr rtl="1" algn="ctr" indent="0" marL="0">
              <a:buNone/>
            </a:pPr>
            <a:r>
              <a:rPr lang="ar-SA" altLang="en-US" sz="2400" b="1" dirty="0">
                <a:solidFill>
                  <a:srgbClr val="1B3B6F"/>
                </a:solidFill>
                <a:latin typeface="Amiri" pitchFamily="2" charset="-78"/>
                <a:cs typeface="Amiri" pitchFamily="2" charset="-78"/>
              </a:rPr>
              <a:t> شَعْرٌ طَوِيلٌ مُسْتَقِيمٌ.</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has … hair is masc.</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Eyes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عَيْنَا</a:t>
            </a:r>
            <a:pPr rtl="1" algn="ctr" indent="0" marL="0">
              <a:buNone/>
            </a:pPr>
            <a:r>
              <a:rPr lang="ar-SA" altLang="en-US" sz="2800" b="1" dirty="0">
                <a:solidFill>
                  <a:srgbClr val="D6336C"/>
                </a:solidFill>
                <a:latin typeface="Amiri" pitchFamily="2" charset="-78"/>
                <a:cs typeface="Amiri" pitchFamily="2" charset="-78"/>
              </a:rPr>
              <a:t>هَا</a:t>
            </a:r>
            <a:pPr rtl="1" algn="ctr" indent="0" marL="0">
              <a:buNone/>
            </a:pPr>
            <a:r>
              <a:rPr lang="ar-SA" altLang="en-US" sz="2800" b="1" dirty="0">
                <a:solidFill>
                  <a:srgbClr val="1B3B6F"/>
                </a:solidFill>
                <a:latin typeface="Amiri" pitchFamily="2" charset="-78"/>
                <a:cs typeface="Amiri" pitchFamily="2" charset="-78"/>
              </a:rPr>
              <a:t> بُنِّيَّتَ</a:t>
            </a:r>
            <a:pPr rtl="1" algn="ctr" indent="0" marL="0">
              <a:buNone/>
            </a:pPr>
            <a:r>
              <a:rPr lang="ar-SA" altLang="en-US" sz="2800" b="1" dirty="0">
                <a:solidFill>
                  <a:srgbClr val="0E7C86"/>
                </a:solidFill>
                <a:latin typeface="Amiri" pitchFamily="2" charset="-78"/>
                <a:cs typeface="Amiri" pitchFamily="2" charset="-78"/>
              </a:rPr>
              <a:t>انِ</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eyes → dual.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Who + clothes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هِيَ الفَتَاةُ </a:t>
            </a:r>
            <a:pPr rtl="1" algn="ctr" indent="0" marL="0">
              <a:lnSpc>
                <a:spcPct val="120000"/>
              </a:lnSpc>
              <a:buNone/>
            </a:pPr>
            <a:r>
              <a:rPr lang="ar-SA" altLang="en-US" sz="1750" b="1" dirty="0">
                <a:solidFill>
                  <a:srgbClr val="1D5FBF"/>
                </a:solidFill>
                <a:latin typeface="Amiri" pitchFamily="2" charset="-78"/>
                <a:cs typeface="Amiri" pitchFamily="2" charset="-78"/>
              </a:rPr>
              <a:t>الَّتِي</a:t>
            </a:r>
            <a:pPr rtl="1" algn="ctr" indent="0" marL="0">
              <a:lnSpc>
                <a:spcPct val="120000"/>
              </a:lnSpc>
              <a:buNone/>
            </a:pPr>
            <a:r>
              <a:rPr lang="ar-SA" altLang="en-US" sz="1750" b="1" dirty="0">
                <a:solidFill>
                  <a:srgbClr val="1B3B6F"/>
                </a:solidFill>
                <a:latin typeface="Amiri" pitchFamily="2" charset="-78"/>
                <a:cs typeface="Amiri" pitchFamily="2" charset="-78"/>
              </a:rPr>
              <a:t> تَرْتَدِي مِعْطَفًا أَزْرَقَ.</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Girl → allatī.</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 / HER</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DUAL</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WHO</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هِيَ مُتَوَسِّطَ</a:t>
            </a:r>
            <a:pPr rtl="1" algn="r" indent="0" marL="0">
              <a:lnSpc>
                <a:spcPct val="120000"/>
              </a:lnSpc>
              <a:buNone/>
            </a:pPr>
            <a:r>
              <a:rPr lang="ar-SA" altLang="en-US" sz="1550" b="1" dirty="0">
                <a:solidFill>
                  <a:srgbClr val="D6336C"/>
                </a:solidFill>
                <a:latin typeface="Amiri" pitchFamily="2" charset="-78"/>
                <a:cs typeface="Amiri" pitchFamily="2" charset="-78"/>
              </a:rPr>
              <a:t>ةُ</a:t>
            </a:r>
            <a:pPr rtl="1" algn="r" indent="0" marL="0">
              <a:lnSpc>
                <a:spcPct val="120000"/>
              </a:lnSpc>
              <a:buNone/>
            </a:pPr>
            <a:r>
              <a:rPr lang="ar-SA" altLang="en-US" sz="1550" b="1" dirty="0">
                <a:solidFill>
                  <a:srgbClr val="1B3B6F"/>
                </a:solidFill>
                <a:latin typeface="Amiri" pitchFamily="2" charset="-78"/>
                <a:cs typeface="Amiri" pitchFamily="2" charset="-78"/>
              </a:rPr>
              <a:t> القَامَةِ، وَ</a:t>
            </a:r>
            <a:pPr rtl="1" algn="r" indent="0" marL="0">
              <a:lnSpc>
                <a:spcPct val="120000"/>
              </a:lnSpc>
              <a:buNone/>
            </a:pPr>
            <a:r>
              <a:rPr lang="ar-SA" altLang="en-US" sz="1550" b="1" dirty="0">
                <a:solidFill>
                  <a:srgbClr val="D6336C"/>
                </a:solidFill>
                <a:latin typeface="Amiri" pitchFamily="2" charset="-78"/>
                <a:cs typeface="Amiri" pitchFamily="2" charset="-78"/>
              </a:rPr>
              <a:t>لَهَا</a:t>
            </a:r>
            <a:pPr rtl="1" algn="r" indent="0" marL="0">
              <a:lnSpc>
                <a:spcPct val="120000"/>
              </a:lnSpc>
              <a:buNone/>
            </a:pPr>
            <a:r>
              <a:rPr lang="ar-SA" altLang="en-US" sz="1550" b="1" dirty="0">
                <a:solidFill>
                  <a:srgbClr val="1B3B6F"/>
                </a:solidFill>
                <a:latin typeface="Amiri" pitchFamily="2" charset="-78"/>
                <a:cs typeface="Amiri" pitchFamily="2" charset="-78"/>
              </a:rPr>
              <a:t> شَعْرٌ طَوِيلٌ مُسْتَقِيمٌ، وَعَيْنَا</a:t>
            </a:r>
            <a:pPr rtl="1" algn="r" indent="0" marL="0">
              <a:lnSpc>
                <a:spcPct val="120000"/>
              </a:lnSpc>
              <a:buNone/>
            </a:pPr>
            <a:r>
              <a:rPr lang="ar-SA" altLang="en-US" sz="1550" b="1" dirty="0">
                <a:solidFill>
                  <a:srgbClr val="D6336C"/>
                </a:solidFill>
                <a:latin typeface="Amiri" pitchFamily="2" charset="-78"/>
                <a:cs typeface="Amiri" pitchFamily="2" charset="-78"/>
              </a:rPr>
              <a:t>هَا</a:t>
            </a:r>
            <a:pPr rtl="1" algn="r" indent="0" marL="0">
              <a:lnSpc>
                <a:spcPct val="120000"/>
              </a:lnSpc>
              <a:buNone/>
            </a:pPr>
            <a:r>
              <a:rPr lang="ar-SA" altLang="en-US" sz="1550" b="1" dirty="0">
                <a:solidFill>
                  <a:srgbClr val="1B3B6F"/>
                </a:solidFill>
                <a:latin typeface="Amiri" pitchFamily="2" charset="-78"/>
                <a:cs typeface="Amiri" pitchFamily="2" charset="-78"/>
              </a:rPr>
              <a:t> بُنِّيَّتَ</a:t>
            </a:r>
            <a:pPr rtl="1" algn="r" indent="0" marL="0">
              <a:lnSpc>
                <a:spcPct val="120000"/>
              </a:lnSpc>
              <a:buNone/>
            </a:pPr>
            <a:r>
              <a:rPr lang="ar-SA" altLang="en-US" sz="1550" b="1" dirty="0">
                <a:solidFill>
                  <a:srgbClr val="0E7C86"/>
                </a:solidFill>
                <a:latin typeface="Amiri" pitchFamily="2" charset="-78"/>
                <a:cs typeface="Amiri" pitchFamily="2" charset="-78"/>
              </a:rPr>
              <a:t>انِ</a:t>
            </a:r>
            <a:pPr rtl="1" algn="r" indent="0" marL="0">
              <a:lnSpc>
                <a:spcPct val="120000"/>
              </a:lnSpc>
              <a:buNone/>
            </a:pPr>
            <a:r>
              <a:rPr lang="ar-SA" altLang="en-US" sz="1550" b="1" dirty="0">
                <a:solidFill>
                  <a:srgbClr val="1B3B6F"/>
                </a:solidFill>
                <a:latin typeface="Amiri" pitchFamily="2" charset="-78"/>
                <a:cs typeface="Amiri" pitchFamily="2" charset="-78"/>
              </a:rPr>
              <a:t>. هِيَ الفَتَاةُ </a:t>
            </a:r>
            <a:pPr rtl="1" algn="r" indent="0" marL="0">
              <a:lnSpc>
                <a:spcPct val="120000"/>
              </a:lnSpc>
              <a:buNone/>
            </a:pPr>
            <a:r>
              <a:rPr lang="ar-SA" altLang="en-US" sz="1550" b="1" dirty="0">
                <a:solidFill>
                  <a:srgbClr val="1D5FBF"/>
                </a:solidFill>
                <a:latin typeface="Amiri" pitchFamily="2" charset="-78"/>
                <a:cs typeface="Amiri" pitchFamily="2" charset="-78"/>
              </a:rPr>
              <a:t>الَّتِي</a:t>
            </a:r>
            <a:pPr rtl="1" algn="r" indent="0" marL="0">
              <a:lnSpc>
                <a:spcPct val="120000"/>
              </a:lnSpc>
              <a:buNone/>
            </a:pPr>
            <a:r>
              <a:rPr lang="ar-SA" altLang="en-US" sz="1550" b="1" dirty="0">
                <a:solidFill>
                  <a:srgbClr val="1B3B6F"/>
                </a:solidFill>
                <a:latin typeface="Amiri" pitchFamily="2" charset="-78"/>
                <a:cs typeface="Amiri" pitchFamily="2" charset="-78"/>
              </a:rPr>
              <a:t> تَرْتَدِي مِعْطَفًا أَزْرَقَ وَحَقِيبَةً سَوْدَاءَ. تَبْدُو وَاثِقَةً لِأَنَّهَا تَتَحَدَّثُ مَعَ الجَمِيعِ.</a:t>
            </a:r>
            <a:endParaRPr lang="ar-SA" sz="15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She is of medium height, she has long straight hair, and her eyes are brown. She is the girl who is wearing a blue coat and a black bag. She seems confident because she talks to everyone.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لَهُ شَعْرٌ قَصِيرٌ.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has short hair.</a:t>
            </a:r>
            <a:endParaRPr lang="en-US" sz="1250" dirty="0"/>
          </a:p>
          <a:p>
            <a:pPr indent="0" marL="0">
              <a:buNone/>
            </a:pPr>
            <a:r>
              <a:rPr lang="en-US" sz="1050" i="1" dirty="0">
                <a:solidFill>
                  <a:srgbClr val="8A6D1E"/>
                </a:solidFill>
                <a:latin typeface="Calibri" pitchFamily="34" charset="0"/>
                <a:cs typeface="Amiri" pitchFamily="2" charset="-78"/>
              </a:rPr>
              <a:t>lahu = he has.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لَهَا عَيْنَانِ بُنِّيَّتَانِ.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has brown eyes.</a:t>
            </a:r>
            <a:endParaRPr lang="en-US" sz="1250" dirty="0"/>
          </a:p>
          <a:p>
            <a:pPr indent="0" marL="0">
              <a:buNone/>
            </a:pPr>
            <a:r>
              <a:rPr lang="en-US" sz="1050" i="1" dirty="0">
                <a:solidFill>
                  <a:srgbClr val="8A6D1E"/>
                </a:solidFill>
                <a:latin typeface="Calibri" pitchFamily="34" charset="0"/>
                <a:cs typeface="Amiri" pitchFamily="2" charset="-78"/>
              </a:rPr>
              <a:t>Dual feminine agreement.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هُوَ الشَّخْصُ الَّذِي يَرْتَدِي نَظَّارَةً.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the person who wears glasses.</a:t>
            </a:r>
            <a:endParaRPr lang="en-US" sz="1250" dirty="0"/>
          </a:p>
          <a:p>
            <a:pPr indent="0" marL="0">
              <a:buNone/>
            </a:pPr>
            <a:r>
              <a:rPr lang="en-US" sz="1050" i="1" dirty="0">
                <a:solidFill>
                  <a:srgbClr val="8A6D1E"/>
                </a:solidFill>
                <a:latin typeface="Calibri" pitchFamily="34" charset="0"/>
                <a:cs typeface="Amiri" pitchFamily="2" charset="-78"/>
              </a:rPr>
              <a:t>alladhī for a man.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500" b="1" dirty="0">
                <a:solidFill>
                  <a:srgbClr val="1B3B6F"/>
                </a:solidFill>
                <a:latin typeface="Amiri" pitchFamily="2" charset="-78"/>
                <a:cs typeface="Amiri" pitchFamily="2" charset="-78"/>
              </a:rPr>
              <a:t>هِيَ مُتَوَسِّطَةُ القَامَةِ، وَلَهَا شَعْرٌ قَصِيرٌ، وَتَرْتَدِي مِعْطَفًا أَزْرَقَ.</a:t>
            </a:r>
            <a:endParaRPr lang="ar-SA" sz="25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of medium height, has short hair and wears a blue coat.</a:t>
            </a:r>
            <a:endParaRPr lang="en-US" sz="1250" dirty="0"/>
          </a:p>
          <a:p>
            <a:pPr indent="0" marL="0">
              <a:buNone/>
            </a:pPr>
            <a:r>
              <a:rPr lang="en-US" sz="1050" i="1" dirty="0">
                <a:solidFill>
                  <a:srgbClr val="8A6D1E"/>
                </a:solidFill>
                <a:latin typeface="Calibri" pitchFamily="34" charset="0"/>
                <a:cs typeface="Amiri" pitchFamily="2" charset="-78"/>
              </a:rPr>
              <a:t>Portrait order.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DESCRIBING APPEARANCE — A FULL PHYSICAL PORTRAIT”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صِفِ الشَّخْصَ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tall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curly hair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glasses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شَعْرُهُ مُجَعَّدٌ.</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هِيَ تَلْبَسُ نَظَّارَةً.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 طَوِيلٌ.</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صِفِ الشَّخْصَ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tall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هُوَ طَوِيلٌ.</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tall.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curly hair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شَعْرُهُ مُجَعَّدٌ.</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His hair is curly.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glasses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هِيَ تَلْبَسُ نَظَّارَةً.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wears glasses.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Accurate portrait?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لَهَا شَعْرٌ طَوِيلٌ.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عَيْنَاهُ زَرْقَاوَانِ.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الفَتَاةُ الَّتِي تَرْتَدِي حِجَابًا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هِيَ طَوِيلَةُ القَامَةِ.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لَهُ شَعْرٌ طَوِيلَةٌ.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عَيْنَاهَا بُنِّيٌّ.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الوَلَدُ الَّتِي تَرْتَدِي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هُوَ طَوِيلَةُ القَامَةِ.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لَهَا شَعْرٌ طَوِيلٌ.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عَيْنَاهُ زَرْقَاوَانِ.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الفَتَاةُ الَّتِي تَرْتَدِي حِجَابًا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هِيَ طَوِيلَةُ القَامَةِ.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لَهُ شَعْرٌ طَوِيلَةٌ.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عَيْنَاهَا بُنِّيٌّ.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الوَلَدُ الَّتِي تَرْتَدِي</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هُوَ طَوِيلَةُ القَامَةِ.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clause.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الفَتَاةُ الَّذِي يَرْتَدِي حِجَابًا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الوَلَدُ الَّتِي تَرْتَدِي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الفَتَاةُ الَّتِي تَرْتَدِي حِجَابًا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respectful and precise?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غَرِيبُ الشَّكْلِ.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مُتَوَسِّطُ القَامَةِ وَلَهُ شَعْرٌ قَصِيرٌ.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شَكْلُهُ سَيِّئٌ.</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هِيَ ___ القَامَةِ.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طَوِيلُ</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طَوِيلَةُ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طَوِيلَةٌ مِنْ</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consistent reference.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شَعْرٌ طَوِيلٌ وَعَيْنَاهَا خَضْرَاوَانِ.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لَهَا شَعْرٌ طَوِيلَةٌ.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لَهَا شَعْرٌ طَوِيلٌ وَعَيْنَاهَا خَضْرَاوَانِ.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clause.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الفَتَاةُ الَّذِي يَرْتَدِي حِجَابًا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الوَلَدُ الَّتِي تَرْتَدِي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الفَتَاةُ الَّتِي تَرْتَدِي حِجَابًا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antecedent takes </a:t>
            </a:r>
            <a:pPr algn="l" indent="0" marL="0">
              <a:buNone/>
            </a:pPr>
            <a:r>
              <a:rPr lang="ar-SA" altLang="en-US" sz="1350" dirty="0">
                <a:solidFill>
                  <a:srgbClr val="8A6D1E"/>
                </a:solidFill>
                <a:latin typeface="Amiri" pitchFamily="2" charset="-78"/>
                <a:cs typeface="Amiri" pitchFamily="2" charset="-78"/>
              </a:rPr>
              <a:t>التي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respectful and precise?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غَرِيبُ الشَّكْلِ.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هُوَ مُتَوَسِّطُ القَامَةِ وَلَهُ شَعْرٌ قَصِيرٌ.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شَكْلُهُ سَيِّئٌ.</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describes observable details respectfully.</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هِيَ ___ القَامَةِ.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طَوِيلُ</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طَوِيلَةُ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طَوِيلَةٌ مِنْ</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compound adjective agrees with feminine subject.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consistent reference.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 شَعْرٌ طَوِيلٌ وَعَيْنَاهَا خَضْرَاوَانِ.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لَهَا شَعْرٌ طَوِيلَةٌ.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لَهَا شَعْرٌ طَوِيلٌ وَعَيْنَاهَا خَضْرَاوَانِ.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All references and adjective agreement are consistent.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لَهَا شَعْرٌ طَوِيلَةٌ.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hair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الوَلَدُ الَّتِي يَرْتَدِي نَظَّارَةً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boy → alladhī or allatī?</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عَيْنَاهَا بُنِّيٌّ.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eyes →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لَهَا شَعْرٌ طَوِيلَةٌ.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لَهَا شَعْرٌ طَوِيلٌ.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شَعْرٌ</a:t>
            </a:r>
            <a:pPr algn="l" indent="0" marL="0">
              <a:buNone/>
            </a:pPr>
            <a:r>
              <a:rPr lang="en-US" sz="1150" b="1" dirty="0">
                <a:solidFill>
                  <a:srgbClr val="1B3B6F"/>
                </a:solidFill>
                <a:latin typeface="Calibri" pitchFamily="34" charset="0"/>
                <a:cs typeface="Amiri" pitchFamily="2" charset="-78"/>
              </a:rPr>
              <a:t> is masculine, even for a girl.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الوَلَدُ الَّتِي يَرْتَدِي نَظَّارَةً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الوَلَدُ الَّذِي يَرْتَدِي نَظَّارَةً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masculine person takes </a:t>
            </a:r>
            <a:pPr algn="l" indent="0" marL="0">
              <a:buNone/>
            </a:pPr>
            <a:r>
              <a:rPr lang="ar-SA" altLang="en-US" sz="1500" b="1" dirty="0">
                <a:solidFill>
                  <a:srgbClr val="1B3B6F"/>
                </a:solidFill>
                <a:latin typeface="Amiri" pitchFamily="2" charset="-78"/>
                <a:cs typeface="Amiri" pitchFamily="2" charset="-78"/>
              </a:rPr>
              <a:t>الَّذِي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عَيْنَاهَا بُنِّيٌّ.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عَيْنَاهَا بُنِّيَّتَانِ.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Two eyes → dual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Listening focus: physical appearance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people are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tall is the young man?</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medium height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his hair like?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 and straight</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and straight</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and curly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wear?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glasses and a white shirt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coat</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black bag</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the girl’s eyes?</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can you recognise the girl?</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wears a blue coat and a black bag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wears glasses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has short hair</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طَوِيلُ القَامَةِ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نَظَّارَةً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بُنِّيَّتَانِ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يَصِفُ المُتَحَدِّثُ شَخْصَيْنِ فِي صُورَةٍ.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describes two people in a picture.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الأَوَّلُ شَابٌّ طَوِيلُ القَامَةِ، لَهُ شَعْرٌ قَصِيرٌ وَمُجَعَّدٌ،</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is a tall young man; he has short, curly hair,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وَيَرْتَدِي نَظَّارَةً وَقَمِيصًا أَبْيَضَ.</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he wears glasses and a white shirt.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الثَّانِيَةُ فَتَاةٌ مُتَوَسِّطَةُ القَامَةِ، لَهَا شَعْرٌ طَوِيلٌ مُسْتَقِيمٌ وَعَيْنَانِ بُنِّيَّتَانِ.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is a girl of medium height; she has long straight hair and brown eyes.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هِيَ الفَتَاةُ الَّتِي تَرْتَدِي مِعْطَفًا أَزْرَقَ وَحَقِيبَةً سَوْدَاءَ.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the girl who is wearing a blue coat and (has) a black bag.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people are described?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يَصِفُ المُتَحَدِّثُ شَخْصَيْنِ.</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tall is the young man?</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medium height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tall</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شَابٌّ طَوِيلُ القَامَةِ.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his hair like?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 and straight</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and straight</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short and curly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لَهُ شَعْرٌ قَصِيرٌ وَمُجَعَّدٌ.</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wear?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glasses and a white shirt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blue coat</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black bag</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يَرْتَدِي نَظَّارَةً وَقَمِيصًا أَبْيَضَ.</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the girl’s eyes?</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brown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عَيْنَانِ بُنِّيَّتَانِ.</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can you recognise the girl?</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wears a blue coat and a black bag</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wears glasses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has short hair</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الَّتِي تَرْتَدِي مِعْطَفًا أَزْرَقَ وَحَقِيبَةً سَوْدَاءَ.</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طَوِيلُ القَامَةِ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نَظَّارَةً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بُنِّيَّتَانِ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Developed speaking: physical appearance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شَخْصًا فِي صُورَةٍ.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مَلَابِسَ شَخْصٍ تَعْرِفُهُ.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اِسْتَعْمِلِ الَّذِي أَوِ الَّتِي فِي وَصْفٍ.</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الفَرْقُ بَيْنَ وَصْفِ المَظْهَرِ وَالحُكْمِ عَلَى الشَّخْصِيَّةِ؟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2" charset="-78"/>
                <a:cs typeface="Amiri" pitchFamily="2" charset="-78"/>
              </a:rPr>
              <a:t>هُوَ / هِيَ ___ القَامَةِ ، لَهُ / لَهَا شَعْرٌ ___ .</a:t>
            </a:r>
            <a:endParaRPr lang="ar-SA" sz="13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يَرْتَدِي / تَرْتَدِي ___ وَ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هُوَ الشَّخْصُ الَّذِي … / هِيَ الفَتَاةُ الَّتِي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يَبْدُو / تَبْدُو ___ لِأَنَّهُ / لِأَنَّهَا ___ .</a:t>
            </a:r>
            <a:endParaRPr lang="ar-SA" sz="15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مَنْ هُوَ أَخُوكَ فِي الصُّورَةِ؟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 is your brother in the picture?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هُوَ الشَّابُّ الَّذِي يَرْتَدِي نَظَّارَةً.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 is the young man who wears glasses.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person in order: height, hair, eyes, two items of clothing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people with his / her, eyes (dual) and one “the one who …” sentence.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respectful full portrait of two people — height, hair, eyes, features, clothes and one personality inference from behaviour.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شَعْرُهُ قَصِيرٌ وَمُجَعَّدٌ.</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hair is short and curly.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شَعْرُهَا طَوِيلٌ وَمُسْتَقِيمٌ.</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Her hair is long and straight.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الشَّخْصُ الَّذِي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the person who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هِيَ الفَتَاةُ الَّتِي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is the girl who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cs typeface="Amiri" pitchFamily="2" charset="-78"/>
              </a:rPr>
              <a:t>يَبْدُو / تَبْدُو ______ لِأَنَّهُ / لِأَنَّهَا ______ .</a:t>
            </a:r>
            <a:endParaRPr lang="ar-SA" sz="165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seems … because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 هِيَ ______ القَامَةِ.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tall / short / medium height.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لَهُ شَعْرٌ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has … hair.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لَهَا شَعْرٌ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has … hair.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عَيْنَاهُ / عَيْنَاهَا بُنِّيَّتَانِ.</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eyes are brown.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يَرْتَدِي / تَرْتَدِي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wears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طَوِيلُ القَامَةِ  ·  قَصِيرُ القَامَةِ  ·  مُتَوَسِّطُ القَامَةِ  ·  لَهُ  ·  لَهَا  ·  شَعْرٌ مُجَعَّدٌ  ·  شَعْرٌ مُسْتَقِيمٌ  ·  عَيْنَانِ بُنِّيَّتَانِ  ·  نَظَّارَةً  ·  الَّذِي  ·  الَّتِي  ·  يَبْدُو</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giving a respectful full portrait of two people. Organise height, hair, eyes, distinguishing features, clothes and one personality inference supported by behaviour.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هٰذِهِ الصُّورَةِ شَخْصَانِ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this picture there are two people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يَبْدُو هَادِئًا لِأَنَّهُ يَسْتَمِعُ إِلَى الآخَرِينَ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seems calm because he listens to others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تَبْدُو وَاثِقَةً وَمَرِحَةً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seems confident and cheerful</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لِأَنَّهَا تَتَحَدَّثُ مَعَ الجَمِيعِ</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she talks to everyone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يَحْكُمُ عَلَيْهِ مِنْ مَظْهَرِهِ فَقَطْ</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does not judge him by his appearance alone</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cs typeface="Amiri" pitchFamily="2" charset="-78"/>
              </a:rPr>
              <a:t>فِي هٰذِهِ الصُّورَةِ شَخْصَانِ. الأَوَّلُ شَابٌّ طَوِيلُ القَامَةِ، لَهُ شَعْرٌ قَصِيرٌ وَمُجَعَّدٌ وَعَيْنَانِ بُنِّيَّتَانِ. هُوَ الشَّخْصُ الَّذِي يَرْتَدِي نَظَّارَةً وَقَمِيصًا أَبْيَضَ وَسِرْوَالًا أَسْوَدَ. يَبْدُو هَادِئًا لِأَنَّهُ يَسْتَمِعُ إِلَى الآخَرِينَ. أَمَّا الفَتَاةُ فَهِيَ مُتَوَسِّطَةُ القَامَةِ، وَلَهَا شَعْرٌ طَوِيلٌ مُسْتَقِيمٌ. هِيَ الفَتَاةُ الَّتِي تَرْتَدِي حِجَابًا أَزْرَقَ وَمِعْطَفًا رَمَادِيًّا. تَبْدُو وَاثِقَةً وَمَرِحَةً لِأَنَّهَا تَتَحَدَّثُ مَعَ الجَمِيعِ. الوَصْفُ الدَّقِيقُ يَحْتَرِمُ الشَّخْصَ وَلَا يَحْكُمُ عَلَيْهِ مِنْ مَظْهَرِهِ فَقَطْ.</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this picture there are two people. The first is a tall young man; he has short, curly hair and brown eyes. He is the person who is wearing glasses, a white shirt and black trousers. He seems calm because he listens to others. As for the girl, she is of medium height and has long straight hair. She is the girl who is wearing a blue headscarf and a grey coat. She seems confident and cheerful because she talks to everyone. A precise description respects the person and does not judge them by their appearance alone.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portrait order for the young man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الَّذِي and الَّتِي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inference with يَبْدُو … لِأَنَّ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respectful closing sentence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height, hair, eyes and clothes in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lahu for him and lahā for her.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Hair adjectives are masculine; eyes are dual.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alladhī / allatī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inference is based on behaviour, not looks.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لَهَا شَعْرٌ طَوِيلٌ.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شَعْرٌ طَوِيلَةٌ.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شَعْرُهَا طَوِيلَةٌ.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الوَلَدُ الَّتِي تَرْتَدِي نَظَّارَةً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الوَلَدُ الَّذِي يَرْتَدِي نَظَّارَةً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البِنْتُ الَّذِي يَرْتَدِي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عَيْنَاهَا</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بُنِّيَّتَانِ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لَهَا شَعْرٌ طَوِيلٌ.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لَهُ شَعْرٌ طَوِيلَةٌ.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هِيَ شَعْرُهَا طَوِيلَةٌ.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لَهَا</a:t>
            </a:r>
            <a:pPr algn="l" indent="0" marL="0">
              <a:buNone/>
            </a:pPr>
            <a:r>
              <a:rPr lang="en-US" sz="1050" i="1" dirty="0">
                <a:solidFill>
                  <a:srgbClr val="8A6D1E"/>
                </a:solidFill>
                <a:latin typeface="Calibri" pitchFamily="34" charset="0"/>
                <a:cs typeface="Amiri" pitchFamily="2" charset="-78"/>
              </a:rPr>
              <a:t> + masculine </a:t>
            </a:r>
            <a:pPr algn="l" indent="0" marL="0">
              <a:buNone/>
            </a:pPr>
            <a:r>
              <a:rPr lang="ar-SA" altLang="en-US" sz="1350" dirty="0">
                <a:solidFill>
                  <a:srgbClr val="8A6D1E"/>
                </a:solidFill>
                <a:latin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طَوِيلٌ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الوَلَدُ الَّتِي تَرْتَدِي نَظَّارَةً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الوَلَدُ الَّذِي يَرْتَدِي نَظَّارَةً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البِنْتُ الَّذِي يَرْتَدِي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antecedent takes </a:t>
            </a:r>
            <a:pPr algn="l" indent="0" marL="0">
              <a:buNone/>
            </a:pPr>
            <a:r>
              <a:rPr lang="ar-SA" altLang="en-US" sz="1350" dirty="0">
                <a:solidFill>
                  <a:srgbClr val="8A6D1E"/>
                </a:solidFill>
                <a:latin typeface="Amiri" pitchFamily="2" charset="-78"/>
                <a:cs typeface="Amiri" pitchFamily="2" charset="-78"/>
              </a:rPr>
              <a:t>الذي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عَيْنَاهَا</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بُنِّيَّتَانِ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بُنِّيٌّ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بُنِّيَّةٌ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feminine agreement.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focus: physical appearance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الصُّورَةِ عَائِلَةٌ تَقِفُ أَمَامَ البَيْتِ. الأَبُ هُوَ الرَّجُلُ الَّذِي لَهُ لِحْيَةٌ قَصِيرَةٌ وَيَرْتَدِي سُتْرَةً رَمَادِيَّةً. الأُمُّ مُتَوَسِّطَةُ القَامَةِ، وَلَهَا شَعْرٌ طَوِيلٌ، وَتَرْتَدِي حِجَابًا أَخْضَرَ. البِنْتُ الَّتِي تَقِفُ عَلَى اليَمِينِ لَهَا عَيْنَانِ بُنِّيَّتَانِ وَتَرْتَدِي فُسْتَانًا أَزْرَقَ. أَمَّا الوَلَدُ فَهُوَ قَصِيرُ القَامَةِ وَيَرْتَدِي قَمِيصًا رِيَاضِيًّا.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فِي الصُّورَةِ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the picture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تَقِفُ أَمَامَ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standing in front of</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الرَّجُلُ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man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لِحْيَةٌ قَصِيرَةٌ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short beard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رَمَادِيَّةً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grey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حِجَابًا أَخْضَرَ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green headscarf</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البِنْتُ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girl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عَلَى اليَمِينِ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the right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الوَلَدُ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boy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قَمِيصًا رِيَاضِيًّا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sports shirt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family standing?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park</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front of the house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school</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we recognise the father?</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dress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beard and a grey jacket</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mother described?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medium height, long hair, a green headscarf</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 with short hair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wearing glasses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girl standing?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left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right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middle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girl wearing?</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dress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green headscarf</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shirt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boy described?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 with a beard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wearing a grey jacket</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wearing a sports shirt</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family standing?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park</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front of the house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school</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تَقِفُ أَمَامَ البَيْتِ.</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we recognise the father?</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blue dress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short beard and a grey jacket</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لَهُ لِحْيَةٌ قَصِيرَةٌ وَيَرْتَدِي سُتْرَةً رَمَادِيَّةً.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mother described?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medium height, long hair, a green headscarf</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tall with short hair</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wearing glasses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مُتَوَسِّطَةُ القَامَةِ … حِجَابًا أَخْضَرَ.</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girl standing?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left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the right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middle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البِنْتُ الَّتِي تَقِفُ عَلَى اليَمِينِ.</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girl wearing?</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blue dress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green headscarf</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shirt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تَرْتَدِي فُسْتَانًا أَزْرَقَ.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boy described?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tall with a beard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wearing a grey jacket</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short, wearing a sports shirt</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قَصِيرُ القَامَةِ وَيَرْتَدِي قَمِيصًا رِيَاضِيًّا.</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physical appearance Arabic challenge</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شَعْرٌ طَوِيلَةٌ.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لَهَا شَعْرٌ طَوِيلٌ.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شَعْرُهَا طَوِيلَةٌ.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الوَلَدُ الَّذِي يَرْتَدِي نَظَّارَةً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الوَلَدُ الَّتِي تَرْتَدِي نَظَّارَةً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البِنْتُ الَّذِي يَرْتَدِي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عَيْنَاهَا ___.</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بُنِّيَّةٌ</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بُنِّيَّتَانِ</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hair description.</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شَعْرُهُ قَصِيرَةٌ وَمُجَعَّدَةٌ.</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شَعْرُهَا قَصِيرًا.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شَعْرُهُ قَصِيرٌ وَمُجَعَّدٌ.</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clause.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الفَتَاةُ الَّتِي تَرْتَدِي حِجَابًا</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الفَتَاةُ الَّذِي يَرْتَدِي حِجَابًا</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الوَلَدُ الَّتِي تَرْتَدِي</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respectful and precise?</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هُوَ غَرِيبُ الشَّكْلِ.</a:t>
            </a:r>
            <a:endParaRPr lang="ar-SA" sz="200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هُوَ مُتَوَسِّطُ القَامَةِ وَلَهُ شَعْرٌ قَصِيرٌ.</a:t>
            </a:r>
            <a:endParaRPr lang="ar-SA" sz="200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شَكْلُهُ سَيِّئٌ.</a:t>
            </a:r>
            <a:endParaRPr lang="ar-SA" sz="20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 شَعْرٌ طَوِيلَةٌ.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لَهَا شَعْرٌ طَوِيلٌ.</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شَعْرُهَا طَوِيلَةٌ.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لَهَا</a:t>
            </a:r>
            <a:pPr algn="l" indent="0" marL="0">
              <a:buNone/>
            </a:pPr>
            <a:r>
              <a:rPr lang="en-US" sz="1050" i="1" dirty="0">
                <a:solidFill>
                  <a:srgbClr val="8A6D1E"/>
                </a:solidFill>
                <a:latin typeface="Calibri" pitchFamily="34" charset="0"/>
                <a:cs typeface="Amiri" pitchFamily="2" charset="-78"/>
              </a:rPr>
              <a:t> + masculine </a:t>
            </a:r>
            <a:pPr algn="l" indent="0" marL="0">
              <a:buNone/>
            </a:pPr>
            <a:r>
              <a:rPr lang="ar-SA" altLang="en-US" sz="1350" dirty="0">
                <a:solidFill>
                  <a:srgbClr val="8A6D1E"/>
                </a:solidFill>
                <a:latin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cs typeface="Amiri" pitchFamily="2" charset="-78"/>
              </a:rPr>
              <a:t>طَوِيلٌ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الوَلَدُ الَّذِي يَرْتَدِي نَظَّارَةً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الوَلَدُ الَّتِي تَرْتَدِي نَظَّارَةً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البِنْتُ الَّذِي يَرْتَدِي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antecedent takes </a:t>
            </a:r>
            <a:pPr algn="l" indent="0" marL="0">
              <a:buNone/>
            </a:pPr>
            <a:r>
              <a:rPr lang="ar-SA" altLang="en-US" sz="1350" dirty="0">
                <a:solidFill>
                  <a:srgbClr val="8A6D1E"/>
                </a:solidFill>
                <a:latin typeface="Amiri" pitchFamily="2" charset="-78"/>
                <a:cs typeface="Amiri" pitchFamily="2" charset="-78"/>
              </a:rPr>
              <a:t>الذي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عَيْنَاهَا ___.</a:t>
            </a:r>
            <a:endParaRPr lang="ar-SA" sz="150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بُنِّيٌّ</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بُنِّيَّةٌ</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بُنِّيَّتَانِ</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feminine agreement.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hair description.</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شَعْرُهُ قَصِيرَةٌ وَمُجَعَّدَةٌ.</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شَعْرُهَا قَصِيرًا.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شَعْرُهُ قَصِيرٌ وَمُجَعَّدٌ.</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clause.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الفَتَاةُ الَّتِي تَرْتَدِي حِجَابًا</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الفَتَاةُ الَّذِي يَرْتَدِي حِجَابًا</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الوَلَدُ الَّتِي تَرْتَدِي</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antecedent takes </a:t>
            </a:r>
            <a:pPr algn="l" indent="0" marL="0">
              <a:buNone/>
            </a:pPr>
            <a:r>
              <a:rPr lang="ar-SA" altLang="en-US" sz="1350" dirty="0">
                <a:solidFill>
                  <a:srgbClr val="8A6D1E"/>
                </a:solidFill>
                <a:latin typeface="Amiri" pitchFamily="2" charset="-78"/>
                <a:cs typeface="Amiri" pitchFamily="2" charset="-78"/>
              </a:rPr>
              <a:t>التي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respectful and precise?</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غَرِيبُ الشَّكْلِ.</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هُوَ مُتَوَسِّطُ القَامَةِ وَلَهُ شَعْرٌ قَصِيرٌ.</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شَكْلُهُ سَيِّئٌ.</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describes observable details respectfully.</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D2-L06 · Appearance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D2-L07: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D2-L07 · Listening — People, Personality and Style Descriptions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لِذٰلِكَ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therefore, so</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بَيْنَمَا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whereas, while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عَلَى الرَّغْمِ مِنْ أَنَّ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although</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جِهَةٍ أُخْرَى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on the other hand</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خُصُوصًا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especially</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When you listen to someone describe a person, which words help you most: names, pronouns (he / she) or connectors (but, whereas)?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كَيْفَ تَسْتَمِعُ جَيِّدًا؟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D2-L06: the picture game and the vocabulary tab (height, hair and eyes).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Describe two people from a photo in 8 sentences (use </a:t>
            </a:r>
            <a:pPr algn="l" indent="0" marL="0">
              <a:buNone/>
            </a:pPr>
            <a:r>
              <a:rPr lang="ar-SA" altLang="en-US" sz="1550" dirty="0">
                <a:solidFill>
                  <a:srgbClr val="1F2A37"/>
                </a:solidFill>
                <a:latin typeface="Amiri" pitchFamily="2" charset="-78"/>
                <a:cs typeface="Amiri" pitchFamily="2" charset="-78"/>
              </a:rPr>
              <a:t>الَّذِي / الَّتِي</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respectful full portrait of two people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D2-L07 · Listening — People, Personality and Style Descriptions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الاِسْتِمَاعُ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hair is masculine, eyes are two — and describe, don’t judge.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D2-L06 · Describing Appearance — A Full Physical Portrait</dc:title>
  <dc:subject>PptxGenJS Presentation</dc:subject>
  <dc:creator>Al Madina Online School · Arabic Department</dc:creator>
  <cp:lastModifiedBy>Al Madina Online School · Arabic Department</cp:lastModifiedBy>
  <cp:revision>1</cp:revision>
  <dcterms:created xsi:type="dcterms:W3CDTF">2026-10-11T06:40:37Z</dcterms:created>
  <dcterms:modified xsi:type="dcterms:W3CDTF">2026-10-11T06:40:37Z</dcterms:modified>
</cp:coreProperties>
</file>