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D2-L06. The website lesson “Describing Appearance — A Full Physical Portrait”: vocabulary, grammar rules and quiz, patterns, common mistakes, sorter, listening, reading, speaking prompts and model, writing task and model, differentiation, final check and the lesson mission. Picture match: website visual game “Describing Appearance — A Full Physical Portrait”.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portrait ORDER as four chunks — هُوَ / هِيَ طَوِيلُ / طَوِيلَةُ القَامَةِ · لَهُ / لَهَا شَعْرٌ … · عَيْنَاهُ / عَيْنَاهَا … · يَرْتَدِي / تَرْتَدِي … Develop: hair (masc.) and eyes (dual) agreement and الَّذِي / الَّتِي. Stretch: two people and a personality inference supported by behaviour (يَبْدُو … لِأَنَّهُ …).
• Respect is part of the success criteria (website rule 4 and quiz Q6): describe what you SEE, never judge (no “ugly / strange”). Use a picture, a character or a celebrity rather than a classmate.
• Two tricky points, taught visually: شَعْرٌ is masculine even for a girl (شَعْرُهَا طَوِيلٌ); eyes are TWO, feminine (عَيْنَانِ بُنِّيَّتَانِ).
• Urdu bridge: قد (height → القَامَةُ by meaning), شکل، عینک ≠ نَظَّارَةٌ, لباس، جسم.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appearance words prepared at home. Questions 3–5 retrieve D2-L05 (comparatives) and D2-L03 (هٰذِهِ).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He has → lahu. She has → lahā. Her hair is long → shaʿruhā ṭawīl (hair is masculine!).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قامت (as in قد و قامت) → طَوِيلُ القَامَةِ (tall). شکل → شَكْلٌ (كَيْفَ شَكْلُهُ؟ what does he look like?). لباس → لِبَاسٌ. جسم → جِسْمٌ / جِسْمِيَّةٌ. Urdu عینک is Persian; Arabic glasses = نَظَّارَةٌ (from نَظَرٌ, sight — Urdu نظر).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Height, hair and eyes (website vocabulary (1 of 2)). Hear → Say → See → Use. Transliteration is printed for Core students (cover it for Develop/Stretch).
Hair cards show his / her: the ADJECTIVE never changes (hair is masculine). Eye card: two eyes = عَيْنَانِ + a dual adjective (-atāni). Height uses a compound: طَوِيلُ القَامَةِ (m.) / طَوِيلَةُ القَامَةِ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Height, hair and eyes (website vocabulary (2 of 2)). Hear → Say → See → Use. Transliteration is printed for Core students (cover it for Develop/Stretch).
Hair cards show his / her: the ADJECTIVE never changes (hair is masculine). Eye card: two eyes = عَيْنَانِ + a dual adjective (-atāni). Height uses a compound: طَوِيلُ القَامَةِ (m.) / طَوِيلَةُ القَامَةِ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Clothes in a portrait (website vocabulary (1 of 2)). Hear → Say → See → Use. Transliteration is printed for Core students (cover it for Develop/Stretch).
FLEX: teach if time allows; otherwise these are on the website vocabulary tab for homework.
Clothes in a portrait (FLEX) — D2-L03 words; after يَرْتَدِي the item takes -an: يَرْتَدِي قَمِيصًا أَبْيَضَ.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Clothes in a portrait (website vocabulary (2 of 2)). Hear → Say → See → Use. Transliteration is printed for Core students (cover it for Develop/Stretch).
FLEX: teach if time allows; otherwise these are on the website vocabulary tab for homework.
Clothes in a portrait (FLEX) — D2-L03 words; after يَرْتَدِي the item takes -an: يَرْتَدِي قَمِيصًا أَبْيَضَ.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personality detail (website vocabulary (1 of 2)). Hear → Say → See → Use. Transliteration is printed for Core students (cover it for Develop/Stretch).
FLEX: teach if time allows; otherwise these are on the website vocabulary tab for homework.
Style and personality detail (FLEX).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personality detail (website vocabulary (2 of 2)). Hear → Say → See → Use. Transliteration is printed for Core students (cover it for Develop/Stretch).
FLEX: teach if time allows; otherwise these are on the website vocabulary tab for homework.
Style and personality detail (FLEX).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“Possession with لَهُ / لَهَا”, “Body-feature agreement” (hair is masculine; eyes are dual feminine) and “Respectful portrait order” (height → hair → eyes → clothes), with the website table (Reference · Possession · Relative pronoun).
Website common error: “Do not treat عَيْنَانِ as a singular masculine noun” — عَيْنَاهَا بُنِّيٌّ ✗ → عَيْنَاهَا بُنِّيَّتَانِ ✓.
Stretch: dual of colours — blue زَرْقَاوَانِ, green خَضْرَاوَانِ, brown بُنِّيَّتَانِ.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“Relative clause” (الَّذِي for masculine, الَّتِي for feminine antecedents) and the website model’s inference (يَبْدُو هَادِئًا لِأَنَّهُ …).
Game: show a class-picture (or a family photo from a textbook); students identify people: “مَنْ هِيَ؟ — هِيَ الفَتَاةُ الَّتِي تَرْتَدِي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“Create a coherent portrait using possession, dual body features, adjective agreement and الذي/التي clauses.”
• Possession with لَهُ / لَهَا: Use لَهُ for he has and لَهَا for she has.
• Body-feature agreement: Hair is masculine; eyes are dual feminine.
• Relative clause: Use الذي for masculine and التي for feminine antecedents.
• Respectful portrait order: Organise details and avoid judgemental language.
Website common error: Do not use التي after a masculine person or treat عَيْنَانِ as a singular masculine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girl from the website listening, described in the website order with a think-aloud. Then students describe the young man from the same script aloud (tall, short curly hair, glasses, white shirt).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Describing Appearance — A Full Physical Portrait”)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for homework: هِيَ قَصِيرَةٌ · شَعْرُهَا أَحْمَرُ (her hair is red — masc. colour!) · لَهُ عَيْنَانِ بُنِّيَّتَانِ.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Describing Appearance — A Full Physical Portrait”)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cards for homework: هِيَ قَصِيرَةٌ · شَعْرُهَا أَحْمَرُ (her hair is red — masc. colour!) · لَهُ عَيْنَانِ بُنِّيَّتَانِ.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Check the person, the agreement and the relative pronoun.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Check the person, the agreement and the relative pronoun.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يَصِفُ المُتَحَدِّثُ شَخْصَيْنِ فِي صُورَةٍ. الأَوَّلُ شَابٌّ طَوِيلُ القَامَةِ، لَهُ شَعْرٌ قَصِيرٌ وَمُجَعَّدٌ، وَيَرْتَدِي نَظَّارَةً وَقَمِيصًا أَبْيَضَ. الثَّانِيَةُ فَتَاةٌ مُتَوَسِّطَةُ القَامَةِ، لَهَا شَعْرٌ طَوِيلٌ مُسْتَقِيمٌ وَعَيْنَانِ بُنِّيَّتَانِ. هِيَ الفَتَاةُ الَّتِي تَرْتَدِي مِعْطَفًا أَزْرَقَ وَحَقِيبَةً سَوْدَاءَ.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مَظْهَرُهُ؟ (What does he look like?)
B: هُوَ طَوِيلُ القَامَةِ وَلَهُ شَعْرٌ قَصِيرٌ. (He is tall and has short hair.)
Website prompts (order changed for routes). Website model continues: A: كَيْفَ مَظْهَرُهُ؟ (What does he look like?) B: هُوَ طَوِيلُ القَامَةِ وَلَهُ شَعْرٌ قَصِيرٌ. Use a picture on screen (a family photo from a textbook, or a famous person) — not a classmate.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giving a respectful full portrait of two people. Organise height, hair, eyes, distinguishing features, clothes and one personality inference supported by behaviour.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طَوِيلُ القَامَةِ ← لَهُ شَعْرٌ … ← عَيْنَانِ بُنِّيَّتَانِ ← يَرْتَدِي … · الشَّخْصُ الَّذِي / الفَتَاةُ الَّتِي · يَبْدُو هَادِئًا لِأَنَّهُ يَسْتَمِعُ · الوَصْفُ الدَّقِيقُ يَحْتَرِمُ الشَّخْصَ.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(D2-L07 · Listening — People, Personality and Style Descriptions) will spend class time USING this language, so students prepare it tonight — short, simple, easy to access (school guidance: “Simple, Short, Interesting, Relevant, Easy to access”). The five words come from the website D2-L07 vocabulary (listening signals).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Describing Appearance — A Full Physical Portrait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وَصْفُ المَظْهَرِ — صُورَةٌ جِسْمِيَّةٌ كَامِلَةٌ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Build a respectful portrait in order — height, hair, eyes, clothes: </a:t>
            </a:r>
            <a:pPr algn="l" indent="0" marL="0">
              <a:buNone/>
            </a:pPr>
            <a:r>
              <a:rPr lang="ar-SA" altLang="en-US" sz="1800" dirty="0">
                <a:solidFill>
                  <a:srgbClr val="C6D2E6"/>
                </a:solidFill>
                <a:latin typeface="Amiri" pitchFamily="2" charset="-78"/>
                <a:ea typeface="Amiri" pitchFamily="2" charset="-78"/>
                <a:cs typeface="Amiri" pitchFamily="2" charset="-78"/>
              </a:rPr>
              <a:t>لَهُ / لَهَا</a:t>
            </a:r>
            <a:pPr algn="l" indent="0" marL="0">
              <a:buNone/>
            </a:pPr>
            <a:r>
              <a:rPr lang="en-US" sz="1400" dirty="0">
                <a:solidFill>
                  <a:srgbClr val="C6D2E6"/>
                </a:solidFill>
                <a:latin typeface="Calibri" pitchFamily="34" charset="0"/>
                <a:cs typeface="Amiri" pitchFamily="2" charset="-78"/>
              </a:rPr>
              <a:t> (he / she has), hair is masculine, eyes are dual (</a:t>
            </a:r>
            <a:pPr algn="l" indent="0" marL="0">
              <a:buNone/>
            </a:pPr>
            <a:r>
              <a:rPr lang="ar-SA" altLang="en-US" sz="1800" dirty="0">
                <a:solidFill>
                  <a:srgbClr val="C6D2E6"/>
                </a:solidFill>
                <a:latin typeface="Amiri" pitchFamily="2" charset="-78"/>
                <a:ea typeface="Amiri" pitchFamily="2" charset="-78"/>
                <a:cs typeface="Amiri" pitchFamily="2" charset="-78"/>
              </a:rPr>
              <a:t>عَيْنَاهَا بُنِّيَّتَانِ</a:t>
            </a:r>
            <a:pPr algn="l" indent="0" marL="0">
              <a:buNone/>
            </a:pPr>
            <a:r>
              <a:rPr lang="en-US" sz="1400" dirty="0">
                <a:solidFill>
                  <a:srgbClr val="C6D2E6"/>
                </a:solidFill>
                <a:latin typeface="Calibri" pitchFamily="34" charset="0"/>
                <a:cs typeface="Amiri" pitchFamily="2" charset="-78"/>
              </a:rPr>
              <a:t>), and pick people out with </a:t>
            </a:r>
            <a:pPr algn="l" indent="0" marL="0">
              <a:buNone/>
            </a:pPr>
            <a:r>
              <a:rPr lang="ar-SA" altLang="en-US" sz="1800" dirty="0">
                <a:solidFill>
                  <a:srgbClr val="C6D2E6"/>
                </a:solidFill>
                <a:latin typeface="Amiri" pitchFamily="2" charset="-78"/>
                <a:ea typeface="Amiri" pitchFamily="2" charset="-78"/>
                <a:cs typeface="Amiri" pitchFamily="2" charset="-78"/>
              </a:rPr>
              <a:t>الَّذِي / الَّتِي</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D2-L06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He / she has …, hair and eyes agreement, who …</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accurate or not,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شَعْرٌ مُجَعَّدٌ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straight hair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curly hair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hair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عَيْنَانِ بُنِّيَّتَانِ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 eyes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 eyes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أُخْتِهَا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الأَطْوَلَ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أَطْوَلُ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وَاثِقٌ</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وَاثِقٌ 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ثِقَةً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السُّتْرَةُ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سُتْرَةٌ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شَعْرٌ مُجَعَّدٌ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straight hair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curly hair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hair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عَيْنَانِ بُنِّيَّتَانِ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brown eyes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 eyes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سَارَةُ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مِنْ أُخْتِهَا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الأَطْوَلَ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أَطْوَلُ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D2-L05: comparative + min.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confident”.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وَاثِقٌ</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وَاثِقٌ 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ثِقَةً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D2-L05: more + noun.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السُّتْرَةُ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السُّتْرَةُ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سُتْرَةٌ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D2-L03: hādhihi.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He has → lahu. She has → lahā. Her hair is long → shaʿruhā ṭawīl (hair is masculine!).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لَهُ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شَعْرٌ قَصِيرٌ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شَعْرٌ طَوِيلٌ · عَيْنَا</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بُنِّيَّتَانِ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D2-L06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Physical description, possession and relative clauses.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height, hair and eyes in order.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he / she is wearing.</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hair and eyes agree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الَّذِي / الَّتِي</a:t>
            </a:r>
            <a:pPr algn="l" indent="0" marL="0">
              <a:buNone/>
            </a:pPr>
            <a:r>
              <a:rPr lang="en-US" sz="1300" b="1" dirty="0">
                <a:solidFill>
                  <a:srgbClr val="C9780A"/>
                </a:solidFill>
                <a:latin typeface="Calibri" pitchFamily="34" charset="0"/>
                <a:cs typeface="Amiri" pitchFamily="2" charset="-78"/>
              </a:rPr>
              <a:t> (the one who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two people in a full, respectful portrait.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infer personality from behaviour (he seems … because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30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Height, hair and eyes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Clothes in a portrait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Style and personality detail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القَامَةُ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‎قامت / قد‎ </a:t>
            </a:r>
            <a:pPr indent="0" marL="0">
              <a:buNone/>
            </a:pPr>
            <a:r>
              <a:rPr lang="en-US" sz="950" b="1" dirty="0">
                <a:solidFill>
                  <a:srgbClr val="2E8B57"/>
                </a:solidFill>
                <a:latin typeface="Calibri" pitchFamily="34" charset="0"/>
                <a:cs typeface="Amiri" pitchFamily="2" charset="-78"/>
              </a:rPr>
              <a:t> qāmat · stature, height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شَكْلٌ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‎شکل‎ </a:t>
            </a:r>
            <a:pPr indent="0" marL="0">
              <a:buNone/>
            </a:pPr>
            <a:r>
              <a:rPr lang="en-US" sz="950" b="1" dirty="0">
                <a:solidFill>
                  <a:srgbClr val="2E8B57"/>
                </a:solidFill>
                <a:latin typeface="Calibri" pitchFamily="34" charset="0"/>
                <a:cs typeface="Amiri" pitchFamily="2" charset="-78"/>
              </a:rPr>
              <a:t> shakl · shape, appearance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لِبَاسٌ</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‎لباس‎ </a:t>
            </a:r>
            <a:pPr indent="0" marL="0">
              <a:buNone/>
            </a:pPr>
            <a:r>
              <a:rPr lang="en-US" sz="950" b="1" dirty="0">
                <a:solidFill>
                  <a:srgbClr val="2E8B57"/>
                </a:solidFill>
                <a:latin typeface="Calibri" pitchFamily="34" charset="0"/>
                <a:cs typeface="Amiri" pitchFamily="2" charset="-78"/>
              </a:rPr>
              <a:t> libās · clothing</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نَظَّارَةٌ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‎عینک‎ </a:t>
            </a:r>
            <a:pPr indent="0" marL="0">
              <a:buNone/>
            </a:pPr>
            <a:r>
              <a:rPr lang="en-US" sz="950" b="1" dirty="0">
                <a:solidFill>
                  <a:srgbClr val="2E8B57"/>
                </a:solidFill>
                <a:latin typeface="Calibri" pitchFamily="34" charset="0"/>
                <a:cs typeface="Amiri" pitchFamily="2" charset="-78"/>
              </a:rPr>
              <a:t> ainak · glasses (meaning only)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جِسْمِيَّةٌ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‎جسم‎ </a:t>
            </a:r>
            <a:pPr indent="0" marL="0">
              <a:buNone/>
            </a:pPr>
            <a:r>
              <a:rPr lang="en-US" sz="950" b="1" dirty="0">
                <a:solidFill>
                  <a:srgbClr val="2E8B57"/>
                </a:solidFill>
                <a:latin typeface="Calibri" pitchFamily="34" charset="0"/>
                <a:cs typeface="Amiri" pitchFamily="2" charset="-78"/>
              </a:rPr>
              <a:t> jism · body → physical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Height, hair and eyes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قَصِيرُ القَامَةِ / قَصِيرَةُ القَامَةِ</a:t>
            </a:r>
            <a:endParaRPr lang="ar-SA" sz="255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qa-ṣī-ru al-qā-ma-ti / qa-ṣī-ra-tu al-qā-ma-ti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 القَامَةِ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 القَامَةِ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مُتَوَسِّطُ القَامَةِ / مُتَوَسِّطَةُ القَامَةِ</a:t>
            </a:r>
            <a:endParaRPr lang="ar-SA" sz="24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medium height</a:t>
            </a:r>
            <a:endParaRPr lang="en-US" sz="1350" dirty="0"/>
          </a:p>
          <a:p>
            <a:pPr indent="0" marL="0">
              <a:buNone/>
            </a:pPr>
            <a:r>
              <a:rPr lang="en-US" sz="1100" i="1" dirty="0">
                <a:solidFill>
                  <a:srgbClr val="5A6472"/>
                </a:solidFill>
                <a:latin typeface="Calibri" pitchFamily="34" charset="0"/>
                <a:cs typeface="Amiri" pitchFamily="2" charset="-78"/>
              </a:rPr>
              <a:t>mu-ta-was-si-ṭu al-qā-ma-ti / mu-ta-was-si-ṭa-tu al-qā-ma-ti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مُتَوَسِّطَةُ القَامَةِ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 القَامَةِ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طَوِيلٌ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hair</a:t>
            </a:r>
            <a:endParaRPr lang="en-US" sz="1350" dirty="0"/>
          </a:p>
          <a:p>
            <a:pPr indent="0" marL="0">
              <a:buNone/>
            </a:pPr>
            <a:r>
              <a:rPr lang="en-US" sz="1100" i="1" dirty="0">
                <a:solidFill>
                  <a:srgbClr val="5A6472"/>
                </a:solidFill>
                <a:latin typeface="Calibri" pitchFamily="34" charset="0"/>
                <a:cs typeface="Amiri" pitchFamily="2" charset="-78"/>
              </a:rPr>
              <a:t>shaʿ-run ṭa-wī-lun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طَوِيلٌ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طَوِيلٌ</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قَصِيرٌ</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 hair</a:t>
            </a:r>
            <a:endParaRPr lang="en-US" sz="1350" dirty="0"/>
          </a:p>
          <a:p>
            <a:pPr indent="0" marL="0">
              <a:buNone/>
            </a:pPr>
            <a:r>
              <a:rPr lang="en-US" sz="1100" i="1" dirty="0">
                <a:solidFill>
                  <a:srgbClr val="5A6472"/>
                </a:solidFill>
                <a:latin typeface="Calibri" pitchFamily="34" charset="0"/>
                <a:cs typeface="Amiri" pitchFamily="2" charset="-78"/>
              </a:rPr>
              <a:t>shaʿ-run qa-ṣī-run</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قَصِيرٌ</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قَصِيرٌ</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مُجَعَّدٌ</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curly hair</a:t>
            </a:r>
            <a:endParaRPr lang="en-US" sz="1350" dirty="0"/>
          </a:p>
          <a:p>
            <a:pPr indent="0" marL="0">
              <a:buNone/>
            </a:pPr>
            <a:r>
              <a:rPr lang="en-US" sz="1100" i="1" dirty="0">
                <a:solidFill>
                  <a:srgbClr val="5A6472"/>
                </a:solidFill>
                <a:latin typeface="Calibri" pitchFamily="34" charset="0"/>
                <a:cs typeface="Amiri" pitchFamily="2" charset="-78"/>
              </a:rPr>
              <a:t>shaʿ-run mu-jaʿ-ʿa-dun</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مُجَعَّدٌ</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مُجَعَّدٌ</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Height, hair and eyes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مُسْتَقِيمٌ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straight hair</a:t>
            </a:r>
            <a:endParaRPr lang="en-US" sz="1350" dirty="0"/>
          </a:p>
          <a:p>
            <a:pPr indent="0" marL="0">
              <a:buNone/>
            </a:pPr>
            <a:r>
              <a:rPr lang="en-US" sz="1100" i="1" dirty="0">
                <a:solidFill>
                  <a:srgbClr val="5A6472"/>
                </a:solidFill>
                <a:latin typeface="Calibri" pitchFamily="34" charset="0"/>
                <a:cs typeface="Amiri" pitchFamily="2" charset="-78"/>
              </a:rPr>
              <a:t>shaʿ-run mus-ta-qī-mun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مُسْتَقِيمٌ</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مُسْتَقِيمٌ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one · two</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عَيْنَانِ بُنِّيَّتَانِ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 eyes</a:t>
            </a:r>
            <a:endParaRPr lang="en-US" sz="1350" dirty="0"/>
          </a:p>
          <a:p>
            <a:pPr indent="0" marL="0">
              <a:buNone/>
            </a:pPr>
            <a:r>
              <a:rPr lang="en-US" sz="1100" i="1" dirty="0">
                <a:solidFill>
                  <a:srgbClr val="5A6472"/>
                </a:solidFill>
                <a:latin typeface="Calibri" pitchFamily="34" charset="0"/>
                <a:cs typeface="Amiri" pitchFamily="2" charset="-78"/>
              </a:rPr>
              <a:t>ʿay-nā-ni bun-niy-ya-tā-ni</a:t>
            </a:r>
            <a:endParaRPr lang="en-US" sz="1350" dirty="0"/>
          </a:p>
        </p:txBody>
      </p:sp>
      <p:sp>
        <p:nvSpPr>
          <p:cNvPr id="39" name="Shape 3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her eyes</a:t>
            </a:r>
            <a:endParaRPr lang="en-US" sz="700" dirty="0"/>
          </a:p>
        </p:txBody>
      </p:sp>
      <p:sp>
        <p:nvSpPr>
          <p:cNvPr id="41" name="Text 38"/>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عَيْنَاهَا</a:t>
            </a:r>
            <a:endParaRPr lang="ar-SA" sz="1350" dirty="0"/>
          </a:p>
        </p:txBody>
      </p:sp>
      <p:sp>
        <p:nvSpPr>
          <p:cNvPr id="42" name="Shape 3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blue (2)</a:t>
            </a:r>
            <a:endParaRPr lang="en-US" sz="700" dirty="0"/>
          </a:p>
        </p:txBody>
      </p:sp>
      <p:sp>
        <p:nvSpPr>
          <p:cNvPr id="44" name="Text 41"/>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زَرْقَاوَانِ</a:t>
            </a:r>
            <a:endParaRPr lang="ar-SA" sz="1350" dirty="0"/>
          </a:p>
        </p:txBody>
      </p:sp>
      <p:sp>
        <p:nvSpPr>
          <p:cNvPr id="45" name="Shape 4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7" name="Text 4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 بُنِّيَّةٌ</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1" name="Shape 48"/>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يَرْتَدِي نَظَّارَةً</a:t>
            </a:r>
            <a:endParaRPr lang="ar-SA" sz="3000" dirty="0"/>
          </a:p>
        </p:txBody>
      </p:sp>
      <p:sp>
        <p:nvSpPr>
          <p:cNvPr id="56" name="Text 5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wears glasses</a:t>
            </a:r>
            <a:endParaRPr lang="en-US" sz="1350" dirty="0"/>
          </a:p>
          <a:p>
            <a:pPr indent="0" marL="0">
              <a:buNone/>
            </a:pPr>
            <a:r>
              <a:rPr lang="en-US" sz="1100" i="1" dirty="0">
                <a:solidFill>
                  <a:srgbClr val="5A6472"/>
                </a:solidFill>
                <a:latin typeface="Calibri" pitchFamily="34" charset="0"/>
                <a:cs typeface="Amiri" pitchFamily="2" charset="-78"/>
              </a:rPr>
              <a:t>yar-ta-dī naẓ-ẓā-ra-tan</a:t>
            </a:r>
            <a:endParaRPr lang="en-US" sz="1350" dirty="0"/>
          </a:p>
        </p:txBody>
      </p:sp>
      <p:sp>
        <p:nvSpPr>
          <p:cNvPr id="57" name="Shape 5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نَظَّارَاتٌ</a:t>
            </a:r>
            <a:endParaRPr lang="ar-SA" sz="1500" dirty="0"/>
          </a:p>
        </p:txBody>
      </p:sp>
      <p:sp>
        <p:nvSpPr>
          <p:cNvPr id="60" name="Shape 5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glasses</a:t>
            </a:r>
            <a:endParaRPr lang="en-US" sz="700" dirty="0"/>
          </a:p>
        </p:txBody>
      </p:sp>
      <p:sp>
        <p:nvSpPr>
          <p:cNvPr id="62" name="Text 59"/>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نَظَّارَةٌ</a:t>
            </a:r>
            <a:endParaRPr lang="ar-SA" sz="1350" dirty="0"/>
          </a:p>
        </p:txBody>
      </p:sp>
      <p:sp>
        <p:nvSpPr>
          <p:cNvPr id="63" name="Shape 6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تَرْتَدِي</a:t>
            </a:r>
            <a:endParaRPr lang="ar-SA" sz="1500" dirty="0"/>
          </a:p>
        </p:txBody>
      </p:sp>
      <p:sp>
        <p:nvSpPr>
          <p:cNvPr id="66" name="Shape 6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8211312"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9" name="Shape 6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تَرْتَدِي نَظَّارَةً</a:t>
            </a:r>
            <a:endParaRPr lang="ar-SA" sz="3000" dirty="0"/>
          </a:p>
        </p:txBody>
      </p:sp>
      <p:sp>
        <p:nvSpPr>
          <p:cNvPr id="72" name="Text 6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wears glasses</a:t>
            </a:r>
            <a:endParaRPr lang="en-US" sz="1350" dirty="0"/>
          </a:p>
          <a:p>
            <a:pPr indent="0" marL="0">
              <a:buNone/>
            </a:pPr>
            <a:r>
              <a:rPr lang="en-US" sz="1100" i="1" dirty="0">
                <a:solidFill>
                  <a:srgbClr val="5A6472"/>
                </a:solidFill>
                <a:latin typeface="Calibri" pitchFamily="34" charset="0"/>
                <a:cs typeface="Amiri" pitchFamily="2" charset="-78"/>
              </a:rPr>
              <a:t>tar-ta-dī naẓ-ẓā-ra-tan</a:t>
            </a:r>
            <a:endParaRPr lang="en-US" sz="135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6" name="Text 7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لَهُ لِحْيَةٌ</a:t>
            </a:r>
            <a:endParaRPr lang="ar-SA" sz="3000" dirty="0"/>
          </a:p>
        </p:txBody>
      </p:sp>
      <p:sp>
        <p:nvSpPr>
          <p:cNvPr id="77" name="Text 7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has a beard</a:t>
            </a:r>
            <a:endParaRPr lang="en-US" sz="1350" dirty="0"/>
          </a:p>
          <a:p>
            <a:pPr indent="0" marL="0">
              <a:buNone/>
            </a:pPr>
            <a:r>
              <a:rPr lang="en-US" sz="1100" i="1" dirty="0">
                <a:solidFill>
                  <a:srgbClr val="5A6472"/>
                </a:solidFill>
                <a:latin typeface="Calibri" pitchFamily="34" charset="0"/>
                <a:cs typeface="Amiri" pitchFamily="2" charset="-78"/>
              </a:rPr>
              <a:t>la-hu liḥ-ya-tun</a:t>
            </a:r>
            <a:endParaRPr lang="en-US" sz="135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1" name="Text 7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مَلَامِحُهُ هَادِئَةٌ</a:t>
            </a:r>
            <a:endParaRPr lang="ar-SA" sz="3000" dirty="0"/>
          </a:p>
        </p:txBody>
      </p:sp>
      <p:sp>
        <p:nvSpPr>
          <p:cNvPr id="82" name="Text 7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features are calm</a:t>
            </a:r>
            <a:endParaRPr lang="en-US" sz="1350" dirty="0"/>
          </a:p>
          <a:p>
            <a:pPr indent="0" marL="0">
              <a:buNone/>
            </a:pPr>
            <a:r>
              <a:rPr lang="en-US" sz="1100" i="1" dirty="0">
                <a:solidFill>
                  <a:srgbClr val="5A6472"/>
                </a:solidFill>
                <a:latin typeface="Calibri" pitchFamily="34" charset="0"/>
                <a:cs typeface="Amiri" pitchFamily="2" charset="-78"/>
              </a:rPr>
              <a:t>ma-lā-mi-ḥu-hu hā-di-ʾa-tun</a:t>
            </a:r>
            <a:endParaRPr lang="en-US" sz="13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in a portrait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shirt</a:t>
            </a:r>
            <a:endParaRPr lang="en-US" sz="1350" dirty="0"/>
          </a:p>
          <a:p>
            <a:pPr indent="0" marL="0">
              <a:buNone/>
            </a:pPr>
            <a:r>
              <a:rPr lang="en-US" sz="1100" i="1" dirty="0">
                <a:solidFill>
                  <a:srgbClr val="5A6472"/>
                </a:solidFill>
                <a:latin typeface="Calibri" pitchFamily="34" charset="0"/>
                <a:cs typeface="Amiri" pitchFamily="2" charset="-78"/>
              </a:rPr>
              <a:t>qa-mī-ṣun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قُمْصَانٌ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القَمِيصُ</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blouse</a:t>
            </a:r>
            <a:endParaRPr lang="en-US" sz="1350" dirty="0"/>
          </a:p>
          <a:p>
            <a:pPr indent="0" marL="0">
              <a:buNone/>
            </a:pPr>
            <a:r>
              <a:rPr lang="en-US" sz="1100" i="1" dirty="0">
                <a:solidFill>
                  <a:srgbClr val="5A6472"/>
                </a:solidFill>
                <a:latin typeface="Calibri" pitchFamily="34" charset="0"/>
                <a:cs typeface="Amiri" pitchFamily="2" charset="-78"/>
              </a:rPr>
              <a:t>qa-mī-ṣa-tun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قَمِيصَاتٌ</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القَمِيصَةُ</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سِرْوَالٌ</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trousers</a:t>
            </a:r>
            <a:endParaRPr lang="en-US" sz="1350" dirty="0"/>
          </a:p>
          <a:p>
            <a:pPr indent="0" marL="0">
              <a:buNone/>
            </a:pPr>
            <a:r>
              <a:rPr lang="en-US" sz="1100" i="1" dirty="0">
                <a:solidFill>
                  <a:srgbClr val="5A6472"/>
                </a:solidFill>
                <a:latin typeface="Calibri" pitchFamily="34" charset="0"/>
                <a:cs typeface="Amiri" pitchFamily="2" charset="-78"/>
              </a:rPr>
              <a:t>sir-wā-lun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سَرَاوِيلُ</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1" name="Text 5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السِّرْوَالُ</a:t>
            </a:r>
            <a:endParaRPr lang="ar-SA" sz="135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تَنُّورَةٌ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skirt</a:t>
            </a:r>
            <a:endParaRPr lang="en-US" sz="1350" dirty="0"/>
          </a:p>
          <a:p>
            <a:pPr indent="0" marL="0">
              <a:buNone/>
            </a:pPr>
            <a:r>
              <a:rPr lang="en-US" sz="1100" i="1" dirty="0">
                <a:solidFill>
                  <a:srgbClr val="5A6472"/>
                </a:solidFill>
                <a:latin typeface="Calibri" pitchFamily="34" charset="0"/>
                <a:cs typeface="Amiri" pitchFamily="2" charset="-78"/>
              </a:rPr>
              <a:t>tan-nū-ra-tun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تَنَانِيرُ</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7" name="Text 7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التَّنُّورَةُ</a:t>
            </a:r>
            <a:endParaRPr lang="ar-SA" sz="135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فُسْتَانٌ</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dress</a:t>
            </a:r>
            <a:endParaRPr lang="en-US" sz="1350" dirty="0"/>
          </a:p>
          <a:p>
            <a:pPr indent="0" marL="0">
              <a:buNone/>
            </a:pPr>
            <a:r>
              <a:rPr lang="en-US" sz="1100" i="1" dirty="0">
                <a:solidFill>
                  <a:srgbClr val="5A6472"/>
                </a:solidFill>
                <a:latin typeface="Calibri" pitchFamily="34" charset="0"/>
                <a:cs typeface="Amiri" pitchFamily="2" charset="-78"/>
              </a:rPr>
              <a:t>fus-tā-nun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فَسَاتِينُ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3" name="Text 90"/>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الفُسْتَانُ</a:t>
            </a:r>
            <a:endParaRPr lang="ar-SA" sz="135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in a portrait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مِعْطَفٌ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coat</a:t>
            </a:r>
            <a:endParaRPr lang="en-US" sz="1350" dirty="0"/>
          </a:p>
          <a:p>
            <a:pPr indent="0" marL="0">
              <a:buNone/>
            </a:pPr>
            <a:r>
              <a:rPr lang="en-US" sz="1100" i="1" dirty="0">
                <a:solidFill>
                  <a:srgbClr val="5A6472"/>
                </a:solidFill>
                <a:latin typeface="Calibri" pitchFamily="34" charset="0"/>
                <a:cs typeface="Amiri" pitchFamily="2" charset="-78"/>
              </a:rPr>
              <a:t>miʿ-ṭa-fun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مَعَاطِفُ</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المِعْطَفُ</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سُتْرَةٌ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jacket</a:t>
            </a:r>
            <a:endParaRPr lang="en-US" sz="1350" dirty="0"/>
          </a:p>
          <a:p>
            <a:pPr indent="0" marL="0">
              <a:buNone/>
            </a:pPr>
            <a:r>
              <a:rPr lang="en-US" sz="1100" i="1" dirty="0">
                <a:solidFill>
                  <a:srgbClr val="5A6472"/>
                </a:solidFill>
                <a:latin typeface="Calibri" pitchFamily="34" charset="0"/>
                <a:cs typeface="Amiri" pitchFamily="2" charset="-78"/>
              </a:rPr>
              <a:t>sut-ra-tun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سُتَرٌ</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السُّتْرَةُ</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2" name="Shape 4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حِذَاءٌ</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shoes</a:t>
            </a:r>
            <a:endParaRPr lang="en-US" sz="1350" dirty="0"/>
          </a:p>
          <a:p>
            <a:pPr indent="0" marL="0">
              <a:buNone/>
            </a:pPr>
            <a:r>
              <a:rPr lang="en-US" sz="1100" i="1" dirty="0">
                <a:solidFill>
                  <a:srgbClr val="5A6472"/>
                </a:solidFill>
                <a:latin typeface="Calibri" pitchFamily="34" charset="0"/>
                <a:cs typeface="Amiri" pitchFamily="2" charset="-78"/>
              </a:rPr>
              <a:t>ḥi-dhā-ʾun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أَحْذِيَةٌ</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1" name="Text 5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الحِذَاءُ</a:t>
            </a:r>
            <a:endParaRPr lang="ar-SA" sz="135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8" name="Shape 6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حِجَابٌ</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headscarf</a:t>
            </a:r>
            <a:endParaRPr lang="en-US" sz="1350" dirty="0"/>
          </a:p>
          <a:p>
            <a:pPr indent="0" marL="0">
              <a:buNone/>
            </a:pPr>
            <a:r>
              <a:rPr lang="en-US" sz="1100" i="1" dirty="0">
                <a:solidFill>
                  <a:srgbClr val="5A6472"/>
                </a:solidFill>
                <a:latin typeface="Calibri" pitchFamily="34" charset="0"/>
                <a:cs typeface="Amiri" pitchFamily="2" charset="-78"/>
              </a:rPr>
              <a:t>ḥi-jā-bun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أَحْجِبَةٌ</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7" name="Text 7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الحِجَابُ</a:t>
            </a:r>
            <a:endParaRPr lang="ar-SA" sz="135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84" name="Shape 8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قُبَّعَةٌ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hat</a:t>
            </a:r>
            <a:endParaRPr lang="en-US" sz="1350" dirty="0"/>
          </a:p>
          <a:p>
            <a:pPr indent="0" marL="0">
              <a:buNone/>
            </a:pPr>
            <a:r>
              <a:rPr lang="en-US" sz="1100" i="1" dirty="0">
                <a:solidFill>
                  <a:srgbClr val="5A6472"/>
                </a:solidFill>
                <a:latin typeface="Calibri" pitchFamily="34" charset="0"/>
                <a:cs typeface="Amiri" pitchFamily="2" charset="-78"/>
              </a:rPr>
              <a:t>qub-ba-ʿa-tun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قُبَّعَاتٌ</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3" name="Text 90"/>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القُبَّعَةُ</a:t>
            </a:r>
            <a:endParaRPr lang="ar-SA" sz="135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Style and personality detail (1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Style and personality detail (2 of 2)</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غَيْرُ رَسْمِيٍّ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37" name="Shape 34"/>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40" name="Shape 37"/>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2" name="Text 39"/>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43" name="Shape 40"/>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5" name="Text 42"/>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46" name="Shape 4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66928" y="1920240"/>
            <a:ext cx="310896" cy="310896"/>
          </a:xfrm>
          <a:prstGeom prst="ellipse">
            <a:avLst/>
          </a:prstGeom>
          <a:solidFill>
            <a:srgbClr val="F4F1EA"/>
          </a:solidFill>
          <a:ln w="12700">
            <a:solidFill>
              <a:srgbClr val="F4F1EA"/>
            </a:solidFill>
            <a:prstDash val="solid"/>
          </a:ln>
        </p:spPr>
      </p:sp>
      <p:sp>
        <p:nvSpPr>
          <p:cNvPr id="48" name="Text 4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9" name="Shape 46"/>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1" name="Text 4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52" name="Text 4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53" name="Shape 50"/>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5" name="Text 52"/>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56" name="Shape 53"/>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8" name="Text 55"/>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59" name="Shape 56"/>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1" name="Text 58"/>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65" name="Shape 6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69" name="Shape 66"/>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72" name="Shape 69"/>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4" name="Text 71"/>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75" name="Shape 72"/>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7" name="Text 74"/>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46" b="1" spc="150" kern="0" dirty="0">
                <a:solidFill>
                  <a:srgbClr val="1B3B6F"/>
                </a:solidFill>
                <a:latin typeface="Calibri" pitchFamily="34" charset="0"/>
                <a:cs typeface="Amiri" pitchFamily="2" charset="-78"/>
              </a:rPr>
              <a:t>GRAMMAR FOCUS · PART 1 · THE PORTRAIT IN ORDER: HE VS SHE (WEBSITE RULES + TABLE)</a:t>
            </a:r>
            <a:endParaRPr lang="en-US" sz="84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Height → hair → eyes → clothes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450" b="1" dirty="0">
                <a:solidFill>
                  <a:srgbClr val="8A6D1E"/>
                </a:solidFill>
                <a:latin typeface="Amiri" pitchFamily="2" charset="-78"/>
                <a:ea typeface="Amiri" pitchFamily="2" charset="-78"/>
                <a:cs typeface="Amiri" pitchFamily="2" charset="-78"/>
              </a:rPr>
              <a:t>القَامَةُ ← الشَّعْرُ ← العَيْنَانِ ← المَلَابِسُ</a:t>
            </a:r>
            <a:endParaRPr lang="ar-SA" sz="24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729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7" name="Text 14"/>
          <p:cNvSpPr txBox="1"/>
          <p:nvPr/>
        </p:nvSpPr>
        <p:spPr>
          <a:xfrm>
            <a:off x="3758184" y="1810512"/>
            <a:ext cx="3968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91272" y="2267712"/>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 طَوِيلُ القَامَةِ.</a:t>
            </a:r>
            <a:endParaRPr lang="ar-SA" sz="2400" dirty="0"/>
          </a:p>
        </p:txBody>
      </p:sp>
      <p:sp>
        <p:nvSpPr>
          <p:cNvPr id="21" name="Text 18"/>
          <p:cNvSpPr txBox="1"/>
          <p:nvPr/>
        </p:nvSpPr>
        <p:spPr>
          <a:xfrm>
            <a:off x="3776472" y="2267712"/>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 طَوِيلَ</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ea typeface="Amiri" pitchFamily="2" charset="-78"/>
                <a:cs typeface="Amiri" pitchFamily="2" charset="-78"/>
              </a:rPr>
              <a:t> القَامَةِ.</a:t>
            </a:r>
            <a:endParaRPr lang="ar-SA" sz="2400" dirty="0"/>
          </a:p>
        </p:txBody>
      </p:sp>
      <p:sp>
        <p:nvSpPr>
          <p:cNvPr id="22" name="Text 19"/>
          <p:cNvSpPr txBox="1"/>
          <p:nvPr/>
        </p:nvSpPr>
        <p:spPr>
          <a:xfrm>
            <a:off x="56692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height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91272" y="300471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لَهُ</a:t>
            </a:r>
            <a:pPr rtl="1" algn="ctr" indent="0" marL="0">
              <a:buNone/>
            </a:pPr>
            <a:r>
              <a:rPr lang="ar-SA" altLang="en-US" sz="2400" b="1" dirty="0">
                <a:solidFill>
                  <a:srgbClr val="1B3B6F"/>
                </a:solidFill>
                <a:latin typeface="Amiri" pitchFamily="2" charset="-78"/>
                <a:ea typeface="Amiri" pitchFamily="2" charset="-78"/>
                <a:cs typeface="Amiri" pitchFamily="2" charset="-78"/>
              </a:rPr>
              <a:t> شَعْرٌ قَصِيرٌ وَمُجَعَّدٌ.</a:t>
            </a:r>
            <a:endParaRPr lang="ar-SA" sz="2400" dirty="0"/>
          </a:p>
        </p:txBody>
      </p:sp>
      <p:sp>
        <p:nvSpPr>
          <p:cNvPr id="27" name="Text 24"/>
          <p:cNvSpPr txBox="1"/>
          <p:nvPr/>
        </p:nvSpPr>
        <p:spPr>
          <a:xfrm>
            <a:off x="3776472" y="3004718"/>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لَهَا</a:t>
            </a:r>
            <a:pPr rtl="1" algn="ctr" indent="0" marL="0">
              <a:buNone/>
            </a:pPr>
            <a:r>
              <a:rPr lang="ar-SA" altLang="en-US" sz="2400" b="1" dirty="0">
                <a:solidFill>
                  <a:srgbClr val="1B3B6F"/>
                </a:solidFill>
                <a:latin typeface="Amiri" pitchFamily="2" charset="-78"/>
                <a:ea typeface="Amiri" pitchFamily="2" charset="-78"/>
                <a:cs typeface="Amiri" pitchFamily="2" charset="-78"/>
              </a:rPr>
              <a:t> شَعْرٌ طَوِيلٌ مُسْتَقِيمٌ.</a:t>
            </a:r>
            <a:endParaRPr lang="ar-SA" sz="2400" dirty="0"/>
          </a:p>
        </p:txBody>
      </p:sp>
      <p:sp>
        <p:nvSpPr>
          <p:cNvPr id="28" name="Text 25"/>
          <p:cNvSpPr txBox="1"/>
          <p:nvPr/>
        </p:nvSpPr>
        <p:spPr>
          <a:xfrm>
            <a:off x="56692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hair (he / she has)</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91272" y="3741725"/>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شَعْرُ</a:t>
            </a:r>
            <a:pPr rtl="1" algn="ctr" indent="0" marL="0">
              <a:buNone/>
            </a:pPr>
            <a:r>
              <a:rPr lang="ar-SA" altLang="en-US" sz="2400" b="1" dirty="0">
                <a:solidFill>
                  <a:srgbClr val="1D5FBF"/>
                </a:solidFill>
                <a:latin typeface="Amiri" pitchFamily="2" charset="-78"/>
                <a:ea typeface="Amiri" pitchFamily="2" charset="-78"/>
                <a:cs typeface="Amiri" pitchFamily="2" charset="-78"/>
              </a:rPr>
              <a:t>هُ</a:t>
            </a:r>
            <a:pPr rtl="1" algn="ctr" indent="0" marL="0">
              <a:buNone/>
            </a:pPr>
            <a:r>
              <a:rPr lang="ar-SA" altLang="en-US" sz="2400" b="1" dirty="0">
                <a:solidFill>
                  <a:srgbClr val="1B3B6F"/>
                </a:solidFill>
                <a:latin typeface="Amiri" pitchFamily="2" charset="-78"/>
                <a:ea typeface="Amiri" pitchFamily="2" charset="-78"/>
                <a:cs typeface="Amiri" pitchFamily="2" charset="-78"/>
              </a:rPr>
              <a:t> قَصِيرٌ.</a:t>
            </a:r>
            <a:endParaRPr lang="ar-SA" sz="2400" dirty="0"/>
          </a:p>
        </p:txBody>
      </p:sp>
      <p:sp>
        <p:nvSpPr>
          <p:cNvPr id="33" name="Text 30"/>
          <p:cNvSpPr txBox="1"/>
          <p:nvPr/>
        </p:nvSpPr>
        <p:spPr>
          <a:xfrm>
            <a:off x="3776472" y="3741725"/>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شَعْرُ</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طَوِيلٌ.</a:t>
            </a:r>
            <a:endParaRPr lang="ar-SA" sz="2400" dirty="0"/>
          </a:p>
        </p:txBody>
      </p:sp>
      <p:sp>
        <p:nvSpPr>
          <p:cNvPr id="34" name="Text 31"/>
          <p:cNvSpPr txBox="1"/>
          <p:nvPr/>
        </p:nvSpPr>
        <p:spPr>
          <a:xfrm>
            <a:off x="56692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his / her hair (masc. adjective!)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891272" y="4478731"/>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عَيْنَا</a:t>
            </a:r>
            <a:pPr rtl="1" algn="ctr" indent="0" marL="0">
              <a:buNone/>
            </a:pPr>
            <a:r>
              <a:rPr lang="ar-SA" altLang="en-US" sz="2400" b="1" dirty="0">
                <a:solidFill>
                  <a:srgbClr val="1D5FBF"/>
                </a:solidFill>
                <a:latin typeface="Amiri" pitchFamily="2" charset="-78"/>
                <a:ea typeface="Amiri" pitchFamily="2" charset="-78"/>
                <a:cs typeface="Amiri" pitchFamily="2" charset="-78"/>
              </a:rPr>
              <a:t>هُ</a:t>
            </a:r>
            <a:pPr rtl="1" algn="ctr" indent="0" marL="0">
              <a:buNone/>
            </a:pPr>
            <a:r>
              <a:rPr lang="ar-SA" altLang="en-US" sz="2400" b="1" dirty="0">
                <a:solidFill>
                  <a:srgbClr val="1B3B6F"/>
                </a:solidFill>
                <a:latin typeface="Amiri" pitchFamily="2" charset="-78"/>
                <a:ea typeface="Amiri" pitchFamily="2" charset="-78"/>
                <a:cs typeface="Amiri" pitchFamily="2" charset="-78"/>
              </a:rPr>
              <a:t> زَرْقَا</a:t>
            </a:r>
            <a:pPr rtl="1" algn="ctr" indent="0" marL="0">
              <a:buNone/>
            </a:pPr>
            <a:r>
              <a:rPr lang="ar-SA" altLang="en-US" sz="2400" b="1" dirty="0">
                <a:solidFill>
                  <a:srgbClr val="0E7C86"/>
                </a:solidFill>
                <a:latin typeface="Amiri" pitchFamily="2" charset="-78"/>
                <a:ea typeface="Amiri" pitchFamily="2" charset="-78"/>
                <a:cs typeface="Amiri" pitchFamily="2" charset="-78"/>
              </a:rPr>
              <a:t>وَانِ</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39" name="Text 36"/>
          <p:cNvSpPr txBox="1"/>
          <p:nvPr/>
        </p:nvSpPr>
        <p:spPr>
          <a:xfrm>
            <a:off x="3776472" y="4478731"/>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عَيْنَا</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 بُنِّيَّتَ</a:t>
            </a:r>
            <a:pPr rtl="1" algn="ctr" indent="0" marL="0">
              <a:buNone/>
            </a:pPr>
            <a:r>
              <a:rPr lang="ar-SA" altLang="en-US" sz="2400" b="1" dirty="0">
                <a:solidFill>
                  <a:srgbClr val="0E7C86"/>
                </a:solidFill>
                <a:latin typeface="Amiri" pitchFamily="2" charset="-78"/>
                <a:ea typeface="Amiri" pitchFamily="2" charset="-78"/>
                <a:cs typeface="Amiri" pitchFamily="2" charset="-78"/>
              </a:rPr>
              <a:t>انِ</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40" name="Text 37"/>
          <p:cNvSpPr txBox="1"/>
          <p:nvPr/>
        </p:nvSpPr>
        <p:spPr>
          <a:xfrm>
            <a:off x="56692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eyes (two, feminine)</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891272" y="521573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يَرْتَدِي نَظَّارَةً وَقَمِيصًا أَبْيَضَ.</a:t>
            </a:r>
            <a:endParaRPr lang="ar-SA" sz="2400" dirty="0"/>
          </a:p>
        </p:txBody>
      </p:sp>
      <p:sp>
        <p:nvSpPr>
          <p:cNvPr id="43" name="Text 40"/>
          <p:cNvSpPr txBox="1"/>
          <p:nvPr/>
        </p:nvSpPr>
        <p:spPr>
          <a:xfrm>
            <a:off x="3776472" y="5215738"/>
            <a:ext cx="39319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تَرْتَدِي حِجَابًا أَزْرَقَ.</a:t>
            </a:r>
            <a:endParaRPr lang="ar-SA" sz="2400" dirty="0"/>
          </a:p>
        </p:txBody>
      </p:sp>
      <p:sp>
        <p:nvSpPr>
          <p:cNvPr id="44" name="Text 41"/>
          <p:cNvSpPr txBox="1"/>
          <p:nvPr/>
        </p:nvSpPr>
        <p:spPr>
          <a:xfrm>
            <a:off x="56692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clothes (-an after “wears”)</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rule: organise the details and avoid judgemental language — describe, don’t judge.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B3B6F"/>
                </a:solidFill>
                <a:latin typeface="Calibri" pitchFamily="34" charset="0"/>
                <a:cs typeface="Amiri" pitchFamily="2" charset="-78"/>
              </a:rPr>
              <a:t>GRAMMAR FOCUS · PART 2 · THE ONE WHO … (WEBSITE RULE) · DEVELOP / STRETCH</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who in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الَّذِي · الَّتِي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MASCULINE · DEVELOP</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الَّذِي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هُوَ الشَّابُّ الَّذِي يَرْتَدِي نَظَّارَةً.</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is the young man who wears glasses.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Man / boy → alladhī + ya-.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FEMININE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الَّتِي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هِيَ الفَتَاةُ الَّتِي لَهَا شَعْرٌ طَوِيلٌ.</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She is the girl who has long hair.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Woman / girl → allatī.</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INFERENCE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يَبْدُو / تَبْدُو</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يَبْدُو هَادِئًا لِأَنَّهُ يَسْتَمِعُ إِلَى الآخَرِينَ.</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seems calm because he listens to others.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Behaviour, not looks.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 masculine person takes alladhī.</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الوَلَدُ الَّذِي يَرْتَدِي نَظَّارَةً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الوَلَدُ الَّتِي تَرْتَدِي نَظَّارَةً</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Physical description, possession and relative clauses</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50" b="1" dirty="0">
                <a:solidFill>
                  <a:srgbClr val="8A6D1E"/>
                </a:solidFill>
                <a:latin typeface="Amiri" pitchFamily="2" charset="-78"/>
                <a:ea typeface="Amiri" pitchFamily="2" charset="-78"/>
                <a:cs typeface="Amiri" pitchFamily="2" charset="-78"/>
              </a:rPr>
              <a:t>وَصْفُ المَظْهَرِ وَالمِلْكِيَّةُ وَالجُمَلُ المَوْصُولَةُ</a:t>
            </a:r>
            <a:endParaRPr lang="ar-SA" sz="23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Possession with </a:t>
            </a:r>
            <a:pPr algn="l" indent="0" marL="0">
              <a:buNone/>
            </a:pPr>
            <a:r>
              <a:rPr lang="ar-SA" altLang="en-US" sz="1650" b="1" dirty="0">
                <a:solidFill>
                  <a:srgbClr val="1B3B6F"/>
                </a:solidFill>
                <a:latin typeface="Amiri" pitchFamily="2" charset="-78"/>
                <a:ea typeface="Amiri" pitchFamily="2" charset="-78"/>
                <a:cs typeface="Amiri" pitchFamily="2" charset="-78"/>
              </a:rPr>
              <a:t>لَهُ / لَهَا</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لَهُ / لَهَا + اِسْمٌ</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لَهُ شَعْرٌ قَصِيرٌ.   ·   لَهَا عَيْنَانِ بُنِّيَّتَانِ.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Body-feature agreement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اِسْمٌ + صِفَةٌ مُطَابِقَةٌ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شَعْرُهَا طَوِيلٌ وَمُجَعَّدٌ.   ·   عَيْنَاهُ زَرْقَاوَانِ.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Relative clause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الشَّخْصُ الَّذِي / الفَتَاةُ الَّتِي</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هُوَ الشَّخْصُ الَّذِي يَرْتَدِي نَظَّارَةً.   ·   هِيَ الفَتَاةُ الَّتِي لَهَا شَعْرٌ طَوِيلٌ.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Respectful portrait order</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القَامَةُ ← الشَّعْرُ ← العَيْنَانِ ← المَلَابِسُ</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هِيَ مُتَوَسِّطَةُ القَامَةِ، وَلَهَا شَعْرٌ قَصِيرٌ، وَتَرْتَدِي مِعْطَفًا أَزْرَقَ.</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شَعْرُهَا طَوِيلَةٌ.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الَّذِي يَرْتَدِي نَظَّارَةً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 نَظَّارَةً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الَّذِي يَرْتَدِي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عَيْنَاهَا ___.</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بُنِّيَّتَانِ</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hair description.</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قَصِيرٌ وَمُجَعَّدٌ.</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قَصِيرَةٌ وَمُجَعَّدَةٌ.</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شَعْرُهَا قَصِيرًا.</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طَوِيلَةٌ.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شَعْرُهَا طَوِيلَةٌ.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شَعْرٌ طَوِيلٌ.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لَهَا</a:t>
            </a:r>
            <a:pPr algn="l" indent="0" marL="0">
              <a:buNone/>
            </a:pPr>
            <a:r>
              <a:rPr lang="en-US" sz="1050" i="1" dirty="0">
                <a:solidFill>
                  <a:srgbClr val="8A6D1E"/>
                </a:solidFill>
                <a:latin typeface="Calibri" pitchFamily="34" charset="0"/>
                <a:cs typeface="Amiri" pitchFamily="2" charset="-78"/>
              </a:rPr>
              <a:t> + masculine </a:t>
            </a:r>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طَوِيلٌ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الوَلَدُ الَّذِي يَرْتَدِي نَظَّارَةً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 نَظَّارَةً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البِنْتُ الَّذِي يَرْتَدِي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الذي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عَيْنَاهَا ___.</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بُنِّيَّتَانِ</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بُنِّيَّةٌ</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feminine agreement.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hair description.</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شَعْرُهُ قَصِيرٌ وَمُجَعَّدٌ.</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 قَصِيرَةٌ وَمُجَعَّدَةٌ.</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شَعْرُهَا قَصِيرًا.</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describe a person in a picture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Height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هِيَ مُتَوَسِّطَ</a:t>
            </a:r>
            <a:pPr rtl="1" algn="ctr" indent="0" marL="0">
              <a:buNone/>
            </a:pPr>
            <a:r>
              <a:rPr lang="ar-SA" altLang="en-US" sz="2800" b="1" dirty="0">
                <a:solidFill>
                  <a:srgbClr val="D6336C"/>
                </a:solidFill>
                <a:latin typeface="Amiri" pitchFamily="2" charset="-78"/>
                <a:ea typeface="Amiri" pitchFamily="2" charset="-78"/>
                <a:cs typeface="Amiri" pitchFamily="2" charset="-78"/>
              </a:rPr>
              <a:t>ةُ</a:t>
            </a:r>
            <a:pPr rtl="1" algn="ctr" indent="0" marL="0">
              <a:buNone/>
            </a:pPr>
            <a:r>
              <a:rPr lang="ar-SA" altLang="en-US" sz="2800" b="1" dirty="0">
                <a:solidFill>
                  <a:srgbClr val="1B3B6F"/>
                </a:solidFill>
                <a:latin typeface="Amiri" pitchFamily="2" charset="-78"/>
                <a:ea typeface="Amiri" pitchFamily="2" charset="-78"/>
                <a:cs typeface="Amiri" pitchFamily="2" charset="-78"/>
              </a:rPr>
              <a:t> القَامَةِ.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 -atu.</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Hair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لَهَا</a:t>
            </a:r>
            <a:pPr rtl="1" algn="ctr" indent="0" marL="0">
              <a:buNone/>
            </a:pPr>
            <a:r>
              <a:rPr lang="ar-SA" altLang="en-US" sz="2400" b="1" dirty="0">
                <a:solidFill>
                  <a:srgbClr val="1B3B6F"/>
                </a:solidFill>
                <a:latin typeface="Amiri" pitchFamily="2" charset="-78"/>
                <a:ea typeface="Amiri" pitchFamily="2" charset="-78"/>
                <a:cs typeface="Amiri" pitchFamily="2" charset="-78"/>
              </a:rPr>
              <a:t> شَعْرٌ طَوِيلٌ مُسْتَقِيمٌ.</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has … hair is masc.</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Eyes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عَيْنَا</a:t>
            </a:r>
            <a:pPr rtl="1" algn="ctr" indent="0" marL="0">
              <a:buNone/>
            </a:pPr>
            <a:r>
              <a:rPr lang="ar-SA" altLang="en-US" sz="2800" b="1" dirty="0">
                <a:solidFill>
                  <a:srgbClr val="D6336C"/>
                </a:solidFill>
                <a:latin typeface="Amiri" pitchFamily="2" charset="-78"/>
                <a:ea typeface="Amiri" pitchFamily="2" charset="-78"/>
                <a:cs typeface="Amiri" pitchFamily="2" charset="-78"/>
              </a:rPr>
              <a:t>هَا</a:t>
            </a:r>
            <a:pPr rtl="1" algn="ctr" indent="0" marL="0">
              <a:buNone/>
            </a:pPr>
            <a:r>
              <a:rPr lang="ar-SA" altLang="en-US" sz="2800" b="1" dirty="0">
                <a:solidFill>
                  <a:srgbClr val="1B3B6F"/>
                </a:solidFill>
                <a:latin typeface="Amiri" pitchFamily="2" charset="-78"/>
                <a:ea typeface="Amiri" pitchFamily="2" charset="-78"/>
                <a:cs typeface="Amiri" pitchFamily="2" charset="-78"/>
              </a:rPr>
              <a:t> بُنِّيَّتَ</a:t>
            </a:r>
            <a:pPr rtl="1" algn="ctr" indent="0" marL="0">
              <a:buNone/>
            </a:pPr>
            <a:r>
              <a:rPr lang="ar-SA" altLang="en-US" sz="2800" b="1" dirty="0">
                <a:solidFill>
                  <a:srgbClr val="0E7C86"/>
                </a:solidFill>
                <a:latin typeface="Amiri" pitchFamily="2" charset="-78"/>
                <a:ea typeface="Amiri" pitchFamily="2" charset="-78"/>
                <a:cs typeface="Amiri" pitchFamily="2" charset="-78"/>
              </a:rPr>
              <a:t>انِ</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eyes → dual.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Who + clothes</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هِيَ الفَتَاةُ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الَّتِي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تَرْتَدِي مِعْطَفًا أَزْرَقَ.</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Girl → allatī.</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 / HER</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DUAL</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WHO</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هِيَ مُتَوَسِّطَ</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ةُ</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القَامَةِ، وَ</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لَهَا</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شَعْرٌ طَوِيلٌ مُسْتَقِيمٌ، وَعَيْنَا</a:t>
            </a:r>
            <a:pPr rtl="1" algn="r" indent="0" marL="0">
              <a:lnSpc>
                <a:spcPct val="120000"/>
              </a:lnSpc>
              <a:buNone/>
            </a:pPr>
            <a:r>
              <a:rPr lang="ar-SA" altLang="en-US" sz="1550" b="1" dirty="0">
                <a:solidFill>
                  <a:srgbClr val="D6336C"/>
                </a:solidFill>
                <a:latin typeface="Amiri" pitchFamily="2" charset="-78"/>
                <a:ea typeface="Amiri" pitchFamily="2" charset="-78"/>
                <a:cs typeface="Amiri" pitchFamily="2" charset="-78"/>
              </a:rPr>
              <a:t>هَا</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بُنِّيَّتَ</a:t>
            </a:r>
            <a:pPr rtl="1" algn="r" indent="0" marL="0">
              <a:lnSpc>
                <a:spcPct val="120000"/>
              </a:lnSpc>
              <a:buNone/>
            </a:pPr>
            <a:r>
              <a:rPr lang="ar-SA" altLang="en-US" sz="1550" b="1" dirty="0">
                <a:solidFill>
                  <a:srgbClr val="0E7C86"/>
                </a:solidFill>
                <a:latin typeface="Amiri" pitchFamily="2" charset="-78"/>
                <a:ea typeface="Amiri" pitchFamily="2" charset="-78"/>
                <a:cs typeface="Amiri" pitchFamily="2" charset="-78"/>
              </a:rPr>
              <a:t>انِ</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هِيَ الفَتَاةُ </a:t>
            </a:r>
            <a:pPr rtl="1" algn="r" indent="0" marL="0">
              <a:lnSpc>
                <a:spcPct val="120000"/>
              </a:lnSpc>
              <a:buNone/>
            </a:pPr>
            <a:r>
              <a:rPr lang="ar-SA" altLang="en-US" sz="1550" b="1" dirty="0">
                <a:solidFill>
                  <a:srgbClr val="1D5FBF"/>
                </a:solidFill>
                <a:latin typeface="Amiri" pitchFamily="2" charset="-78"/>
                <a:ea typeface="Amiri" pitchFamily="2" charset="-78"/>
                <a:cs typeface="Amiri" pitchFamily="2" charset="-78"/>
              </a:rPr>
              <a:t>الَّتِي</a:t>
            </a:r>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 تَرْتَدِي مِعْطَفًا أَزْرَقَ وَحَقِيبَةً سَوْدَاءَ. تَبْدُو وَاثِقَةً لِأَنَّهَا تَتَحَدَّثُ مَعَ الجَمِيعِ.</a:t>
            </a:r>
            <a:endParaRPr lang="ar-SA" sz="15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She is of medium height, she has long straight hair, and her eyes are brown. She is the girl who is wearing a blue coat and a black bag. She seems confident because she talks to everyone.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لَهُ شَعْرٌ قَصِيرٌ.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has short hair.</a:t>
            </a:r>
            <a:endParaRPr lang="en-US" sz="1250" dirty="0"/>
          </a:p>
          <a:p>
            <a:pPr indent="0" marL="0">
              <a:buNone/>
            </a:pPr>
            <a:r>
              <a:rPr lang="en-US" sz="1050" i="1" dirty="0">
                <a:solidFill>
                  <a:srgbClr val="8A6D1E"/>
                </a:solidFill>
                <a:latin typeface="Calibri" pitchFamily="34" charset="0"/>
                <a:cs typeface="Amiri" pitchFamily="2" charset="-78"/>
              </a:rPr>
              <a:t>lahu = he has.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لَهَا عَيْنَانِ بُنِّيَّتَانِ.</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has brown eyes.</a:t>
            </a:r>
            <a:endParaRPr lang="en-US" sz="1250" dirty="0"/>
          </a:p>
          <a:p>
            <a:pPr indent="0" marL="0">
              <a:buNone/>
            </a:pPr>
            <a:r>
              <a:rPr lang="en-US" sz="1050" i="1" dirty="0">
                <a:solidFill>
                  <a:srgbClr val="8A6D1E"/>
                </a:solidFill>
                <a:latin typeface="Calibri" pitchFamily="34" charset="0"/>
                <a:cs typeface="Amiri" pitchFamily="2" charset="-78"/>
              </a:rPr>
              <a:t>Dual feminine agreement.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هُوَ الشَّخْصُ الَّذِي يَرْتَدِي نَظَّارَةً.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the person who wears glasses.</a:t>
            </a:r>
            <a:endParaRPr lang="en-US" sz="1250" dirty="0"/>
          </a:p>
          <a:p>
            <a:pPr indent="0" marL="0">
              <a:buNone/>
            </a:pPr>
            <a:r>
              <a:rPr lang="en-US" sz="1050" i="1" dirty="0">
                <a:solidFill>
                  <a:srgbClr val="8A6D1E"/>
                </a:solidFill>
                <a:latin typeface="Calibri" pitchFamily="34" charset="0"/>
                <a:cs typeface="Amiri" pitchFamily="2" charset="-78"/>
              </a:rPr>
              <a:t>alladhī for a man.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500" b="1" dirty="0">
                <a:solidFill>
                  <a:srgbClr val="1B3B6F"/>
                </a:solidFill>
                <a:latin typeface="Amiri" pitchFamily="2" charset="-78"/>
                <a:ea typeface="Amiri" pitchFamily="2" charset="-78"/>
                <a:cs typeface="Amiri" pitchFamily="2" charset="-78"/>
              </a:rPr>
              <a:t>هِيَ مُتَوَسِّطَةُ القَامَةِ، وَلَهَا شَعْرٌ قَصِيرٌ، وَتَرْتَدِي مِعْطَفًا أَزْرَقَ.</a:t>
            </a:r>
            <a:endParaRPr lang="ar-SA" sz="25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is of medium height, has short hair and wears a blue coat.</a:t>
            </a:r>
            <a:endParaRPr lang="en-US" sz="1250" dirty="0"/>
          </a:p>
          <a:p>
            <a:pPr indent="0" marL="0">
              <a:buNone/>
            </a:pPr>
            <a:r>
              <a:rPr lang="en-US" sz="1050" i="1" dirty="0">
                <a:solidFill>
                  <a:srgbClr val="8A6D1E"/>
                </a:solidFill>
                <a:latin typeface="Calibri" pitchFamily="34" charset="0"/>
                <a:cs typeface="Amiri" pitchFamily="2" charset="-78"/>
              </a:rPr>
              <a:t>Portrait order.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DESCRIBING APPEARANCE — A FULL PHYSICAL PORTRAIT”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 الشَّخْصَ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tall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curly hair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glasses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شَعْرُهُ مُجَعَّدٌ.</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تَلْبَسُ نَظَّارَةً.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طَوِيلٌ.</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 الشَّخْصَ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tall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طَوِيلٌ.</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tall.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curly hair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شَعْرُهُ مُجَعَّدٌ.</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His hair is curly.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glasses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تَلْبَسُ نَظَّارَةً.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wears glasses.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Accurate portrait?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لَهَا شَعْرٌ طَوِيلٌ.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زَرْقَاوَانِ.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الفَتَاةُ الَّتِي تَرْتَدِي حِجَابًا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طَوِيلَةُ القَامَةِ.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شَعْرٌ طَوِيلَةٌ.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عَيْنَاهَا بُنِّيٌّ.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الوَلَدُ الَّتِي تَرْتَدِي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طَوِيلَةُ القَامَةِ.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لَهَا شَعْرٌ طَوِيلٌ.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زَرْقَاوَانِ.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الفَتَاةُ الَّتِي تَرْتَدِي حِجَابًا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طَوِيلَةُ القَامَةِ.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لَهُ شَعْرٌ طَوِيلَةٌ.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عَيْنَاهَا بُنِّيٌّ.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الوَلَدُ الَّتِي تَرْتَدِي</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طَوِيلَةُ القَامَةِ.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clause.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الَّذِي يَرْتَدِي حِجَابًا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الَّتِي تَرْتَدِي حِجَابًا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respectful and precise?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غَرِيبُ الشَّكْلِ.</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مُتَوَسِّطُ القَامَةِ وَلَهُ شَعْرٌ قَصِيرٌ.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شَكْلُهُ سَيِّئٌ.</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___ القَامَةِ.</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 مِنْ</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consistent reference.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 وَعَيْنَاهَا خَضْرَاوَانِ.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 وَعَيْنَاهَا خَضْرَاوَانِ.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clause.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الفَتَاةُ الَّذِي يَرْتَدِي حِجَابًا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الفَتَاةُ الَّتِي تَرْتَدِي حِجَابًا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respectful and precise?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غَرِيبُ الشَّكْلِ.</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مُتَوَسِّطُ القَامَةِ وَلَهُ شَعْرٌ قَصِيرٌ.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شَكْلُهُ سَيِّئٌ.</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describes observable details respectfully.</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هِيَ ___ القَامَةِ.</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طَوِيلَةُ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طَوِيلَةٌ مِنْ</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compound adjective agrees with feminine subject.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consistent reference.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طَوِيلٌ وَعَيْنَاهَا خَضْرَاوَانِ.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لَهَا شَعْرٌ طَوِيلَةٌ.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شَعْرٌ طَوِيلٌ وَعَيْنَاهَا خَضْرَاوَانِ.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All references and adjective agreement are consistent.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لَهَا شَعْرٌ طَوِيلَةٌ.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hair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الوَلَدُ الَّتِي يَرْتَدِي نَظَّارَةً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boy → alladhī or allatī?</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عَيْنَاهَا بُنِّيٌّ.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eyes →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لَهَا شَعْرٌ طَوِيلَةٌ.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لَهَا شَعْرٌ طَوِيلٌ.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شَعْرٌ</a:t>
            </a:r>
            <a:pPr algn="l" indent="0" marL="0">
              <a:buNone/>
            </a:pPr>
            <a:r>
              <a:rPr lang="en-US" sz="1150" b="1" dirty="0">
                <a:solidFill>
                  <a:srgbClr val="1B3B6F"/>
                </a:solidFill>
                <a:latin typeface="Calibri" pitchFamily="34" charset="0"/>
                <a:cs typeface="Amiri" pitchFamily="2" charset="-78"/>
              </a:rPr>
              <a:t> is masculine, even for a girl.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الوَلَدُ الَّتِي يَرْتَدِي نَظَّارَةً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الوَلَدُ الَّذِي يَرْتَدِي نَظَّارَةً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masculine person takes </a:t>
            </a:r>
            <a:pPr algn="l" indent="0" marL="0">
              <a:buNone/>
            </a:pPr>
            <a:r>
              <a:rPr lang="ar-SA" altLang="en-US" sz="1500" b="1" dirty="0">
                <a:solidFill>
                  <a:srgbClr val="1B3B6F"/>
                </a:solidFill>
                <a:latin typeface="Amiri" pitchFamily="2" charset="-78"/>
                <a:ea typeface="Amiri" pitchFamily="2" charset="-78"/>
                <a:cs typeface="Amiri" pitchFamily="2" charset="-78"/>
              </a:rPr>
              <a:t>الَّذِي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عَيْنَاهَا بُنِّيٌّ.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عَيْنَاهَا بُنِّيَّتَانِ.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eyes → dual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Listening focus: physical appearance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people are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tall is the young man?</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medium height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his hair like?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 and straight</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and straight</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and curly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wear?</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glasses and a white shirt</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coat</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black bag</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the girl’s eyes?</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brown</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green</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can you recognise the girl?</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wears a blue coat and a black bag</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wears glasses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short hair</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طَوِيلُ القَامَةِ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نَظَّارَةً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بُنِّيَّتَانِ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يَصِفُ المُتَحَدِّثُ شَخْصَيْنِ فِي صُورَةٍ.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describes two people in a picture.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الأَوَّلُ شَابٌّ طَوِيلُ القَامَةِ، لَهُ شَعْرٌ قَصِيرٌ وَمُجَعَّدٌ،</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 is a tall young man; he has short, curly hair,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وَيَرْتَدِي نَظَّارَةً وَقَمِيصًا أَبْيَضَ.</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he wears glasses and a white shirt.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الثَّانِيَةُ فَتَاةٌ مُتَوَسِّطَةُ القَامَةِ، لَهَا شَعْرٌ طَوِيلٌ مُسْتَقِيمٌ وَعَيْنَانِ بُنِّيَّتَانِ.</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 is a girl of medium height; she has long straight hair and brown eyes.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الفَتَاةُ الَّتِي تَرْتَدِي مِعْطَفًا أَزْرَقَ وَحَقِيبَةً سَوْدَاءَ.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the girl who is wearing a blue coat and (has) a black bag.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people are described?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يَصِفُ المُتَحَدِّثُ شَخْصَيْنِ.</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tall is the young man?</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medium height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tall</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شَابٌّ طَوِيلُ القَامَةِ.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his hair like?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 and straight</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and straight</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short and curly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لَهُ شَعْرٌ قَصِيرٌ وَمُجَعَّدٌ.</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wear?</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glasses and a white shirt</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blue coat</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black bag</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يَرْتَدِي نَظَّارَةً وَقَمِيصًا أَبْيَضَ.</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are the girl’s eyes?</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brown</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green</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عَيْنَانِ بُنِّيَّتَانِ.</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can you recognise the girl?</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wears a blue coat and a black bag</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wears glasses</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short hair</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الَّتِي تَرْتَدِي مِعْطَفًا أَزْرَقَ وَحَقِيبَةً سَوْدَاءَ.</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طَوِيلُ القَامَةِ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نَظَّارَةً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بُنِّيَّتَانِ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Developed speaking: physical appearance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شَخْصًا فِي صُورَةٍ.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مَلَابِسَ شَخْصٍ تَعْرِفُهُ.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اِسْتَعْمِلِ الَّذِي أَوِ الَّتِي فِي وَصْفٍ.</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الفَرْقُ بَيْنَ وَصْفِ المَظْهَرِ وَالحُكْمِ عَلَى الشَّخْصِيَّةِ؟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D5FBF"/>
                </a:solidFill>
                <a:latin typeface="Amiri" pitchFamily="2" charset="-78"/>
                <a:ea typeface="Amiri" pitchFamily="2" charset="-78"/>
                <a:cs typeface="Amiri" pitchFamily="2" charset="-78"/>
              </a:rPr>
              <a:t>هُوَ / هِيَ ___ القَامَةِ ، لَهُ / لَهَا شَعْرٌ ___ .</a:t>
            </a:r>
            <a:endParaRPr lang="ar-SA" sz="13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يَرْتَدِي / تَرْتَدِي ___ وَ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ea typeface="Amiri" pitchFamily="2" charset="-78"/>
                <a:cs typeface="Amiri" pitchFamily="2" charset="-78"/>
              </a:rPr>
              <a:t>هُوَ الشَّخْصُ الَّذِي … / هِيَ الفَتَاةُ الَّتِي ___ .</a:t>
            </a:r>
            <a:endParaRPr lang="ar-SA" sz="14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يَبْدُو / تَبْدُو ___ لِأَنَّهُ / لِأَنَّهَا ___ .</a:t>
            </a:r>
            <a:endParaRPr lang="ar-SA" sz="15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هُوَ أَخُوكَ فِي الصُّورَةِ؟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is your brother in the picture?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هُوَ الشَّابُّ الَّذِي يَرْتَدِي نَظَّارَةً.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is the young man who wears glasses.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person in order: height, hair, eyes, two items of clothing (use the Core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people with his / her, eyes (dual) and one “the one who …” sentence.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respectful full portrait of two people — height, hair, eyes, features, clothes and one personality inference from behaviour.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 قَصِيرٌ وَمُجَعَّدٌ.</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hair is short and curly.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شَعْرُهَا طَوِيلٌ وَمُسْتَقِيمٌ.</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hair is long and straight.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الشَّخْصُ الَّذِي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the person who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الفَتَاةُ الَّتِي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the girl who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يَبْدُو / تَبْدُو ______ لِأَنَّهُ / لِأَنَّهَا ______ .</a:t>
            </a:r>
            <a:endParaRPr lang="ar-SA" sz="165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seems … because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______ القَامَةِ.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tall / short / medium height.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 شَعْرٌ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has … hair.</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لَهَا شَعْرٌ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has … hair.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بُنِّيَّتَانِ.</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eyes are brown.</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يَرْتَدِي / تَرْتَدِي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wears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 القَامَةِ  ·  قَصِيرُ القَامَةِ  ·  مُتَوَسِّطُ القَامَةِ  ·  لَهُ  ·  لَهَا  ·  شَعْرٌ مُجَعَّدٌ  ·  شَعْرٌ مُسْتَقِيمٌ  ·  عَيْنَانِ بُنِّيَّتَانِ  ·  نَظَّارَةً  ·  الَّذِي  ·  الَّتِي  ·  يَبْدُو</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giving a respectful full portrait of two people. Organise height, hair, eyes, distinguishing features, clothes and one personality inference supported by behaviour.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هٰذِهِ الصُّورَةِ شَخْصَانِ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this picture there are two people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يَبْدُو هَادِئًا لِأَنَّهُ يَسْتَمِعُ إِلَى الآخَرِينَ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seems calm because he listens to others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تَبْدُو وَاثِقَةً وَمَرِحَةً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seems confident and cheerful</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لِأَنَّهَا تَتَحَدَّثُ مَعَ الجَمِيعِ</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she talks to everyone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يَحْكُمُ عَلَيْهِ مِنْ مَظْهَرِهِ فَقَطْ</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does not judge him by his appearance alone</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هٰذِهِ الصُّورَةِ شَخْصَانِ. الأَوَّلُ شَابٌّ طَوِيلُ القَامَةِ، لَهُ شَعْرٌ قَصِيرٌ وَمُجَعَّدٌ وَعَيْنَانِ بُنِّيَّتَانِ. هُوَ الشَّخْصُ الَّذِي يَرْتَدِي نَظَّارَةً وَقَمِيصًا أَبْيَضَ وَسِرْوَالًا أَسْوَدَ. يَبْدُو هَادِئًا لِأَنَّهُ يَسْتَمِعُ إِلَى الآخَرِينَ. أَمَّا الفَتَاةُ فَهِيَ مُتَوَسِّطَةُ القَامَةِ، وَلَهَا شَعْرٌ طَوِيلٌ مُسْتَقِيمٌ. هِيَ الفَتَاةُ الَّتِي تَرْتَدِي حِجَابًا أَزْرَقَ وَمِعْطَفًا رَمَادِيًّا. تَبْدُو وَاثِقَةً وَمَرِحَةً لِأَنَّهَا تَتَحَدَّثُ مَعَ الجَمِيعِ. الوَصْفُ الدَّقِيقُ يَحْتَرِمُ الشَّخْصَ وَلَا يَحْكُمُ عَلَيْهِ مِنْ مَظْهَرِهِ فَقَطْ.</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this picture there are two people. The first is a tall young man; he has short, curly hair and brown eyes. He is the person who is wearing glasses, a white shirt and black trousers. He seems calm because he listens to others. As for the girl, she is of medium height and has long straight hair. She is the girl who is wearing a blue headscarf and a grey coat. She seems confident and cheerful because she talks to everyone. A precise description respects the person and does not judge them by their appearance alone.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portrait order for the young man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الَّذِي and الَّتِي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an inference with يَبْدُو … لِأَنَّ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respectful closing sentence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height, hair, eyes and clothes in order.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lahu for him and lahā for her.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Hair adjectives are masculine; eyes are dual.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alladhī / allatī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inference is based on behaviour, not looks.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شَعْرُهَا طَوِيلَةٌ.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 نَظَّارَةً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الَّذِي يَرْتَدِي نَظَّارَةً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الَّذِي يَرْتَدِي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عَيْنَاهَا</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بُنِّيَّتَانِ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لَهُ شَعْرٌ طَوِيلَةٌ.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هِيَ شَعْرُهَا طَوِيلَةٌ.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لَهَا</a:t>
            </a:r>
            <a:pPr algn="l" indent="0" marL="0">
              <a:buNone/>
            </a:pPr>
            <a:r>
              <a:rPr lang="en-US" sz="1050" i="1" dirty="0">
                <a:solidFill>
                  <a:srgbClr val="8A6D1E"/>
                </a:solidFill>
                <a:latin typeface="Calibri" pitchFamily="34" charset="0"/>
                <a:cs typeface="Amiri" pitchFamily="2" charset="-78"/>
              </a:rPr>
              <a:t> + masculine </a:t>
            </a:r>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طَوِيلٌ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الوَلَدُ الَّتِي تَرْتَدِي نَظَّارَةً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الوَلَدُ الَّذِي يَرْتَدِي نَظَّارَةً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البِنْتُ الَّذِي يَرْتَدِي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الذي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عَيْنَاهَا</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بُنِّيَّتَانِ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بُنِّيٌّ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بُنِّيَّةٌ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feminine agreement.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focus: physical appearance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الصُّورَةِ عَائِلَةٌ تَقِفُ أَمَامَ البَيْتِ. الأَبُ هُوَ الرَّجُلُ الَّذِي لَهُ لِحْيَةٌ قَصِيرَةٌ وَيَرْتَدِي سُتْرَةً رَمَادِيَّةً. الأُمُّ مُتَوَسِّطَةُ القَامَةِ، وَلَهَا شَعْرٌ طَوِيلٌ، وَتَرْتَدِي حِجَابًا أَخْضَرَ. البِنْتُ الَّتِي تَقِفُ عَلَى اليَمِينِ لَهَا عَيْنَانِ بُنِّيَّتَانِ وَتَرْتَدِي فُسْتَانًا أَزْرَقَ. أَمَّا الوَلَدُ فَهُوَ قَصِيرُ القَامَةِ وَيَرْتَدِي قَمِيصًا رِيَاضِيًّا.</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الصُّورَةِ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the picture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تَقِفُ أَمَامَ</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standing in front of</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الرَّجُلُ</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man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لِحْيَةٌ قَصِيرَةٌ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short beard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رَمَادِيَّةً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grey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حِجَابًا أَخْضَرَ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green headscarf</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البِنْتُ</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girl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عَلَى اليَمِينِ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the right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الوَلَدُ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boy</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قَمِيصًا رِيَاضِيًّا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sports shirt</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family standing?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park</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front of the house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we recognise the father?</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glasses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dress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short beard and a grey jacket</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mother described?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medium height, long hair, a green headscarf</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with short hair</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wearing glasses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girl standing?</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left</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right</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middle</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girl wearing?</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dress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green headscarf</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shirt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boy described?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tall with a beard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wearing a grey jacket</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wearing a sports shirt</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family standing?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park</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front of the house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school</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تَقِفُ أَمَامَ البَيْتِ.</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we recognise the father?</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glasses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blue dress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short beard and a grey jacket</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لَهُ لِحْيَةٌ قَصِيرَةٌ وَيَرْتَدِي سُتْرَةً رَمَادِيَّةً.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mother described?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medium height, long hair, a green headscarf</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 with short hair</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short, wearing glasses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مُتَوَسِّطَةُ القَامَةِ … حِجَابًا أَخْضَرَ.</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girl standing?</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left</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the right</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middle</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البِنْتُ الَّتِي تَقِفُ عَلَى اليَمِينِ.</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girl wearing?</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blue dress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green headscarf</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shirt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تَرْتَدِي فُسْتَانًا أَزْرَقَ.</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boy described?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tall with a beard</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wearing a grey jacket</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short, wearing a sports shirt</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قَصِيرُ القَامَةِ وَيَرْتَدِي قَمِيصًا رِيَاضِيًّا.</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physical appearance Arabic challenge</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 شَعْرٌ طَوِيلَةٌ.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لَهَا شَعْرٌ طَوِيلٌ.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شَعْرُهَا طَوِيلَةٌ.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الَّذِي يَرْتَدِي نَظَّارَةً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 نَظَّارَةً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البِنْتُ الَّذِي يَرْتَدِي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عَيْنَاهَا ___.</a:t>
            </a:r>
            <a:endParaRPr lang="ar-SA" sz="15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بُنِّيَّةٌ</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بُنِّيَّتَانِ</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hair description.</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قَصِيرَةٌ وَمُجَعَّدَةٌ.</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شَعْرُهَا قَصِيرًا.</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شَعْرُهُ قَصِيرٌ وَمُجَعَّدٌ.</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clause.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الَّتِي تَرْتَدِي حِجَابًا</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الفَتَاةُ الَّذِي يَرْتَدِي حِجَابًا</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الوَلَدُ الَّتِي تَرْتَدِي</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respectful and precise?</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هُوَ غَرِيبُ الشَّكْلِ.</a:t>
            </a:r>
            <a:endParaRPr lang="ar-SA" sz="200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هُوَ مُتَوَسِّطُ القَامَةِ وَلَهُ شَعْرٌ قَصِيرٌ.</a:t>
            </a:r>
            <a:endParaRPr lang="ar-SA" sz="200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شَكْلُهُ سَيِّئٌ.</a:t>
            </a:r>
            <a:endParaRPr lang="ar-SA" sz="20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long hair.”</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لَهُ شَعْرٌ طَوِيلَةٌ.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لَهَا شَعْرٌ طَوِيلٌ.</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شَعْرُهَا طَوِيلَةٌ.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لَهَا</a:t>
            </a:r>
            <a:pPr algn="l" indent="0" marL="0">
              <a:buNone/>
            </a:pPr>
            <a:r>
              <a:rPr lang="en-US" sz="1050" i="1" dirty="0">
                <a:solidFill>
                  <a:srgbClr val="8A6D1E"/>
                </a:solidFill>
                <a:latin typeface="Calibri" pitchFamily="34" charset="0"/>
                <a:cs typeface="Amiri" pitchFamily="2" charset="-78"/>
              </a:rPr>
              <a:t> + masculine </a:t>
            </a:r>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طَوِيلٌ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boy who wears glasses”.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الوَلَدُ الَّذِي يَرْتَدِي نَظَّارَةً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 نَظَّارَةً</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البِنْتُ الَّذِي يَرْتَدِي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الذي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عَيْنَاهَا ___.</a:t>
            </a:r>
            <a:endParaRPr lang="ar-SA" sz="150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بُنِّيَّةٌ</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بُنِّيَّتَانِ</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feminine agreement.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hair description.</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 قَصِيرَةٌ وَمُجَعَّدَةٌ.</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شَعْرُهَا قَصِيرًا.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شَعْرُهُ قَصِيرٌ وَمُجَعَّدٌ.</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شَعْرٌ</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relative clause.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الفَتَاةُ الَّتِي تَرْتَدِي حِجَابًا</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الفَتَاةُ الَّذِي يَرْتَدِي حِجَابًا</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الوَلَدُ الَّتِي تَرْتَدِي</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antecedent takes </a:t>
            </a:r>
            <a:pPr algn="l" indent="0" marL="0">
              <a:buNone/>
            </a:pPr>
            <a:r>
              <a:rPr lang="ar-SA" altLang="en-US" sz="1350" dirty="0">
                <a:solidFill>
                  <a:srgbClr val="8A6D1E"/>
                </a:solidFill>
                <a:latin typeface="Amiri" pitchFamily="2" charset="-78"/>
                <a:ea typeface="Amiri" pitchFamily="2" charset="-78"/>
                <a:cs typeface="Amiri" pitchFamily="2" charset="-78"/>
              </a:rPr>
              <a:t>التي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respectful and precise?</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غَرِيبُ الشَّكْلِ.</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هُوَ مُتَوَسِّطُ القَامَةِ وَلَهُ شَعْرٌ قَصِيرٌ.</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شَكْلُهُ سَيِّئٌ.</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describes observable details respectfully.</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Appearance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D2-L07 · Listening — People, Personality and Style Descriptions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لِذٰلِكَ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therefore, so</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بَيْنَمَا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whereas, while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الرَّغْمِ مِنْ أَنَّ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although</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جِهَةٍ أُخْرَى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 the other hand</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خُصُوصًا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especially</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you listen to someone describe a person, which words help you most: names, pronouns (he / she) or connectors (but, whereas)?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كَيْفَ تَسْتَمِعُ جَيِّدًا؟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D2-L06: the picture game and the vocabulary tab (height, hair and eyes).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Describe two people from a photo in 8 sentences (use </a:t>
            </a:r>
            <a:pPr algn="l" indent="0" marL="0">
              <a:buNone/>
            </a:pPr>
            <a:r>
              <a:rPr lang="ar-SA" altLang="en-US" sz="1550" dirty="0">
                <a:solidFill>
                  <a:srgbClr val="1F2A37"/>
                </a:solidFill>
                <a:latin typeface="Amiri" pitchFamily="2" charset="-78"/>
                <a:ea typeface="Amiri" pitchFamily="2" charset="-78"/>
                <a:cs typeface="Amiri" pitchFamily="2" charset="-78"/>
              </a:rPr>
              <a:t>الَّذِي / الَّتِي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respectful full portrait of two people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D2-L07 · Listening — People, Personality and Style Descriptions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hair is masculine, eyes are two — and describe, don’t judge.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D2-L06 · Describing Appearance — A Full Physical Portrait</dc:title>
  <dc:subject>PptxGenJS Presentation</dc:subject>
  <dc:creator>Al Madina Online School · Arabic Department</dc:creator>
  <cp:lastModifiedBy>Al Madina Online School · Arabic Department</cp:lastModifiedBy>
  <cp:revision>1</cp:revision>
  <dcterms:created xsi:type="dcterms:W3CDTF">2026-10-11T06:40:37Z</dcterms:created>
  <dcterms:modified xsi:type="dcterms:W3CDTF">2026-10-11T06:40:37Z</dcterms:modified>
</cp:coreProperties>
</file>