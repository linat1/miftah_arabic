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D2 People, Relationships and Style › D2-L06. The website lesson “Describing Appearance — A Full Physical Portrait”: vocabulary, grammar rules and quiz, patterns, common mistakes, sorter, listening, reading, speaking prompts and model, writing task and model, differentiation, final check and the lesson mission. Picture match: website visual game “Describing Appearance — A Full Physical Portrait”.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the portrait ORDER as four chunks — هُوَ / هِيَ طَوِيلُ / طَوِيلَةُ القَامَةِ · لَهُ / لَهَا شَعْرٌ … · عَيْنَاهُ / عَيْنَاهَا … · يَرْتَدِي / تَرْتَدِي … Develop: hair (masc.) and eyes (dual) agreement and الَّذِي / الَّتِي. Stretch: two people and a personality inference supported by behaviour (يَبْدُو … لِأَنَّهُ …).
• Respect is part of the success criteria (website rule 4 and quiz Q6): describe what you SEE, never judge (no “ugly / strange”). Use a picture, a character or a celebrity rather than a classmate.
• Two tricky points, taught visually: شَعْرٌ is masculine even for a girl (شَعْرُهَا طَوِيلٌ); eyes are TWO, feminine (عَيْنَانِ بُنِّيَّتَانِ).
• Urdu bridge: قد (height → القَامَةُ by meaning), شکل، عینک ≠ نَظَّارَةٌ, لباس، جسم.
• TEACHER-WRITTEN ITEMS: on the website this lesson’s patterns, mistakes, sorter, listening, reading items are generic placeholders, so the deck uses teacher-written questions and translations built on the website’s own script and text (flagged for the website editor).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appearance words prepared at home. Questions 3–5 retrieve D2-L05 (comparatives) and D2-L03 (هٰذِهِ).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He has → lahu. She has → lahā. Her hair is long → shaʿruhā ṭawīl (hair is masculine!).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قامت (as in قد و قامت) → طَوِيلُ القَامَةِ (tall). شکل → شَكْلٌ (كَيْفَ شَكْلُهُ؟ what does he look like?). لباس → لِبَاسٌ. جسم → جِسْمٌ / جِسْمِيَّةٌ. Urdu عینک is Persian; Arabic glasses = نَظَّارَةٌ (from نَظَرٌ, sight — Urdu نظر).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Height, hair and eyes (website vocabulary (1 of 2)). Hear → Say → See → Use. Transliteration is printed for Core students (cover it for Develop/Stretch).
Hair cards show his / her: the ADJECTIVE never changes (hair is masculine). Eye card: two eyes = عَيْنَانِ + a dual adjective (-atāni). Height uses a compound: طَوِيلُ القَامَةِ (m.) / طَوِيلَةُ القَامَةِ (f.).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Height, hair and eyes (website vocabulary (2 of 2)). Hear → Say → See → Use. Transliteration is printed for Core students (cover it for Develop/Stretch).
Hair cards show his / her: the ADJECTIVE never changes (hair is masculine). Eye card: two eyes = عَيْنَانِ + a dual adjective (-atāni). Height uses a compound: طَوِيلُ القَامَةِ (m.) / طَوِيلَةُ القَامَةِ (f.).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Clothes in a portrait (website vocabulary (1 of 2)). Hear → Say → See → Use. Transliteration is printed for Core students (cover it for Develop/Stretch).
FLEX: teach if time allows; otherwise these are on the website vocabulary tab for homework.
Clothes in a portrait (FLEX) — D2-L03 words; after يَرْتَدِي the item takes -an: يَرْتَدِي قَمِيصًا أَبْيَضَ.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Clothes in a portrait (website vocabulary (2 of 2)). Hear → Say → See → Use. Transliteration is printed for Core students (cover it for Develop/Stretch).
FLEX: teach if time allows; otherwise these are on the website vocabulary tab for homework.
Clothes in a portrait (FLEX) — D2-L03 words; after يَرْتَدِي the item takes -an: يَرْتَدِي قَمِيصًا أَبْيَضَ.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Style and personality detail (website vocabulary (1 of 2)). Hear → Say → See → Use. Transliteration is printed for Core students (cover it for Develop/Stretch).
FLEX: teach if time allows; otherwise these are on the website vocabulary tab for homework.
Style and personality detail (FLEX).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Style and personality detail (website vocabulary (2 of 2)). Hear → Say → See → Use. Transliteration is printed for Core students (cover it for Develop/Stretch).
FLEX: teach if time allows; otherwise these are on the website vocabulary tab for homework.
Style and personality detail (FLEX).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“Possession with لَهُ / لَهَا”, “Body-feature agreement” (hair is masculine; eyes are dual feminine) and “Respectful portrait order” (height → hair → eyes → clothes), with the website table (Reference · Possession · Relative pronoun).
Website common error: “Do not treat عَيْنَانِ as a singular masculine noun” — عَيْنَاهَا بُنِّيٌّ ✗ → عَيْنَاهَا بُنِّيَّتَانِ ✓.
Stretch: dual of colours — blue زَرْقَاوَانِ, green خَضْرَاوَانِ, brown بُنِّيَّتَانِ.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 “Relative clause” (الَّذِي for masculine, الَّتِي for feminine antecedents) and the website model’s inference (يَبْدُو هَادِئًا لِأَنَّهُ …).
Game: show a class-picture (or a family photo from a textbook); students identify people: “مَنْ هِيَ؟ — هِيَ الفَتَاةُ الَّتِي تَرْتَدِي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“Create a coherent portrait using possession, dual body features, adjective agreement and الذي/التي clauses.”
• Possession with لَهُ / لَهَا: Use لَهُ for he has and لَهَا for she has.
• Body-feature agreement: Hair is masculine; eyes are dual feminine.
• Relative clause: Use الذي for masculine and التي for feminine antecedents.
• Respectful portrait order: Organise details and avoid judgemental language.
Website common error: Do not use التي after a masculine person or treat عَيْنَانِ as a singular masculine noun.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girl from the website listening, described in the website order with a think-aloud. Then students describe the young man from the same script aloud (tall, short curly hair, glasses, white shirt).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Describing Appearance — A Full Physical Portrait”)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Other cards for homework: هِيَ قَصِيرَةٌ · شَعْرُهَا أَحْمَرُ (her hair is red — masc. colour!) · لَهُ عَيْنَانِ بُنِّيَّتَانِ.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Describing Appearance — A Full Physical Portrait”)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Other cards for homework: هِيَ قَصِيرَةٌ · شَعْرُهَا أَحْمَرُ (her hair is red — masc. colour!) · لَهُ عَيْنَانِ بُنِّيَّتَانِ.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Check the person, the agreement and the relative pronoun.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Check the person, the agreement and the relative pronoun.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5. Develop / Stretch: all 6. (Questions are teacher-written: the website questions for this script are generic.)
Listen 1: just listen. Listen 2: note answers. Then chat the letters.
Support: after the second listening, show the read-along slide (Arabic + English, line by line) for Core students.
SCRIPT (read aloud):
يَصِفُ المُتَحَدِّثُ شَخْصَيْنِ فِي صُورَةٍ. الأَوَّلُ شَابٌّ طَوِيلُ القَامَةِ، لَهُ شَعْرٌ قَصِيرٌ وَمُجَعَّدٌ، وَيَرْتَدِي نَظَّارَةً وَقَمِيصًا أَبْيَضَ. الثَّانِيَةُ فَتَاةٌ مُتَوَسِّطَةُ القَامَةِ، لَهَا شَعْرٌ طَوِيلٌ مُسْتَقِيمٌ وَعَيْنَانِ بُنِّيَّتَانِ. هِيَ الفَتَاةُ الَّتِي تَرْتَدِي مِعْطَفًا أَزْرَقَ وَحَقِيبَةً سَوْدَاءَ.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كَيْفَ مَظْهَرُهُ؟ (What does he look like?)
B: هُوَ طَوِيلُ القَامَةِ وَلَهُ شَعْرٌ قَصِيرٌ. (He is tall and has short hair.)
Website prompts (order changed for routes). Website model continues: A: كَيْفَ مَظْهَرُهُ؟ (What does he look like?) B: هُوَ طَوِيلُ القَامَةِ وَلَهُ شَعْرٌ قَصِيرٌ. Use a picture on screen (a family photo from a textbook, or a famous person) — not a classmate.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Secure the main vocabulary and produce four accurate sentences using the taught frame. · Develop — Combine description, grammar and a reason in connected answers. · Stretch — Add comparison, contrast, precise evidence and an independently controlled relative clause.
Website writing task (Stretch): Write 100–120 Arabic words giving a respectful full portrait of two people. Organise height, hair, eyes, distinguishing features, clothes and one personality inference supported by behaviour.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طَوِيلُ القَامَةِ ← لَهُ شَعْرٌ … ← عَيْنَانِ بُنِّيَّتَانِ ← يَرْتَدِي … · الشَّخْصُ الَّذِي / الفَتَاةُ الَّتِي · يَبْدُو هَادِئًا لِأَنَّهُ يَسْتَمِعُ · الوَصْفُ الدَّقِيقُ يَحْتَرِمُ الشَّخْصَ.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(D2-L07 · Listening — People, Personality and Style Descriptions) will spend class time USING this language, so students prepare it tonight — short, simple, easy to access (school guidance: “Simple, Short, Interesting, Relevant, Easy to access”). The five words come from the website D2-L07 vocabulary (listening signals).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8  ·  DEVELOPMENT D2  ·  D2-L06</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D2-L06</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Describing Appearance — A Full Physical Portrait</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وَصْفُ المَظْهَرِ — صُورَةٌ جِسْمِيَّةٌ كَامِلَةٌ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Build a respectful portrait in order — height, hair, eyes, clothes: </a:t>
            </a:r>
            <a:pPr algn="l" indent="0" marL="0">
              <a:buNone/>
            </a:pPr>
            <a:r>
              <a:rPr lang="ar-SA" altLang="en-US" sz="1800" dirty="0">
                <a:solidFill>
                  <a:srgbClr val="C6D2E6"/>
                </a:solidFill>
                <a:latin typeface="Amiri" pitchFamily="34" charset="0"/>
                <a:ea typeface="Amiri" pitchFamily="34" charset="-122"/>
                <a:cs typeface="Amiri" pitchFamily="34" charset="-120"/>
              </a:rPr>
              <a:t>لَهُ / لَهَا</a:t>
            </a:r>
            <a:pPr algn="l" indent="0" marL="0">
              <a:buNone/>
            </a:pPr>
            <a:r>
              <a:rPr lang="en-US" sz="1400" dirty="0">
                <a:solidFill>
                  <a:srgbClr val="C6D2E6"/>
                </a:solidFill>
                <a:latin typeface="Calibri" pitchFamily="34" charset="0"/>
                <a:ea typeface="Calibri" pitchFamily="34" charset="-122"/>
                <a:cs typeface="Calibri" pitchFamily="34" charset="-120"/>
              </a:rPr>
              <a:t> (he / she has), hair is masculine, eyes are dual (</a:t>
            </a:r>
            <a:pPr algn="l" indent="0" marL="0">
              <a:buNone/>
            </a:pPr>
            <a:r>
              <a:rPr lang="ar-SA" altLang="en-US" sz="1800" dirty="0">
                <a:solidFill>
                  <a:srgbClr val="C6D2E6"/>
                </a:solidFill>
                <a:latin typeface="Amiri" pitchFamily="34" charset="0"/>
                <a:ea typeface="Amiri" pitchFamily="34" charset="-122"/>
                <a:cs typeface="Amiri" pitchFamily="34" charset="-120"/>
              </a:rPr>
              <a:t>عَيْنَاهَا بُنِّيَّتَانِ</a:t>
            </a:r>
            <a:pPr algn="l" indent="0" marL="0">
              <a:buNone/>
            </a:pPr>
            <a:r>
              <a:rPr lang="en-US" sz="1400" dirty="0">
                <a:solidFill>
                  <a:srgbClr val="C6D2E6"/>
                </a:solidFill>
                <a:latin typeface="Calibri" pitchFamily="34" charset="0"/>
                <a:ea typeface="Calibri" pitchFamily="34" charset="-122"/>
                <a:cs typeface="Calibri" pitchFamily="34" charset="-120"/>
              </a:rPr>
              <a:t>), and pick people out with </a:t>
            </a:r>
            <a:pPr algn="l" indent="0" marL="0">
              <a:buNone/>
            </a:pPr>
            <a:r>
              <a:rPr lang="ar-SA" altLang="en-US" sz="1800" dirty="0">
                <a:solidFill>
                  <a:srgbClr val="C6D2E6"/>
                </a:solidFill>
                <a:latin typeface="Amiri" pitchFamily="34" charset="0"/>
                <a:ea typeface="Amiri" pitchFamily="34" charset="-122"/>
                <a:cs typeface="Amiri" pitchFamily="34" charset="-120"/>
              </a:rPr>
              <a:t>الَّذِي / الَّتِي</a:t>
            </a:r>
            <a:pPr algn="l" indent="0" marL="0">
              <a:buNone/>
            </a:pPr>
            <a:r>
              <a:rPr lang="en-US" sz="1400" dirty="0">
                <a:solidFill>
                  <a:srgbClr val="C6D2E6"/>
                </a:solidFill>
                <a:latin typeface="Calibri" pitchFamily="34" charset="0"/>
                <a:ea typeface="Calibri" pitchFamily="34" charset="-122"/>
                <a:cs typeface="Calibri" pitchFamily="34" charset="-120"/>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D2-L06 · Development D2 · People, Relationships and Style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Development › D2 › D2-L06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D2-L06 · Appearance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D2-L06</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D2-L06 · Appearance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D2-L06</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He / she has …, hair and eyes agreement, who …</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accurate or not,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D2-L07.</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D2-L06 · Appearance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شَعْرٌ مُجَعَّدٌ</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straight hair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curly hair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short hair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عَيْنَانِ بُنِّيَّتَانِ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brown eyes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blue eyes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glasses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سَارَةُ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مِنْ أُخْتِهَا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طَوِيلَةٌ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الأَطْوَلَ</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أَطْوَلُ</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“more confident”.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أَكْثَرُ وَاثِقٌ</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وَاثِقٌ مِنْ</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أَكْثَرُ ثِقَةً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“this jacket”.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 السُّتْرَةُ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السُّتْرَةُ</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 سُتْرَةٌ</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D2-L06 · Appearance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شَعْرٌ مُجَعَّدٌ</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straight hair</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curly hair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short hair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عَيْنَانِ بُنِّيَّتَانِ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brown eyes</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blue eyes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glasses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سَارَةُ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مِنْ أُخْتِهَا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طَوِيلَةٌ</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الأَطْوَلَ</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أَطْوَلُ</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D2-L05: comparative + min.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“more confident”.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أَكْثَرُ وَاثِقٌ</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وَاثِقٌ مِنْ</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أَكْثَرُ ثِقَةً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D2-L05: more + noun.</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“this jacket”.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هٰذِهِ السُّتْرَةُ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هٰذَا السُّتْرَةُ</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هٰذِهِ سُتْرَةٌ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D2-L03: hādhihi.</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He has → lahu. She has → lahā. Her hair is long → shaʿruhā ṭawīl (hair is masculine!).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لَهُ</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شَعْرٌ قَصِيرٌ ·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لَهَا</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شَعْرٌ طَوِيلٌ · عَيْنَا</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هَا</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بُنِّيَّتَانِ</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D2-L06 · Appearance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D2-L06</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Control the key D2-L06 vocabulary in complete Arabic sentences.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Understand and apply the target grammar: Physical description, possession and relative clauses.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Extract precise evidence from an intermediate listening and reading text.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Produce developed spoken and written Arabic with reasons and detail.</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describe height, hair and eyes in order.</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what he / she is wearing.</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make hair and eyes agree correctly.</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a:t>
            </a:r>
            <a:pPr algn="l" indent="0" marL="0">
              <a:buNone/>
            </a:pPr>
            <a:r>
              <a:rPr lang="ar-SA" altLang="en-US" sz="1700" b="1" dirty="0">
                <a:solidFill>
                  <a:srgbClr val="C9780A"/>
                </a:solidFill>
                <a:latin typeface="Amiri" pitchFamily="34" charset="0"/>
                <a:ea typeface="Amiri" pitchFamily="34" charset="-122"/>
                <a:cs typeface="Amiri" pitchFamily="34" charset="-120"/>
              </a:rPr>
              <a:t>الَّذِي / الَّتِي</a:t>
            </a:r>
            <a:pPr algn="l" indent="0" marL="0">
              <a:buNone/>
            </a:pPr>
            <a:r>
              <a:rPr lang="en-US" sz="1300" b="1" dirty="0">
                <a:solidFill>
                  <a:srgbClr val="C9780A"/>
                </a:solidFill>
                <a:latin typeface="Calibri" pitchFamily="34" charset="0"/>
                <a:ea typeface="Calibri" pitchFamily="34" charset="-122"/>
                <a:cs typeface="Calibri" pitchFamily="34" charset="-120"/>
              </a:rPr>
              <a:t> (the one who …).</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describe two people in a full, respectful portrait.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infer personality from behaviour (he seems … because …).</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30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Height, hair and eyes · 12</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Clothes in a portrait · 10</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Style and personality detail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القَامَةُ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‎قامت / قد‎ </a:t>
            </a:r>
            <a:pPr indent="0" marL="0">
              <a:buNone/>
            </a:pPr>
            <a:r>
              <a:rPr lang="en-US" sz="950" b="1" dirty="0">
                <a:solidFill>
                  <a:srgbClr val="2E8B57"/>
                </a:solidFill>
                <a:latin typeface="Calibri" pitchFamily="34" charset="0"/>
                <a:ea typeface="Calibri" pitchFamily="34" charset="-122"/>
                <a:cs typeface="Calibri" pitchFamily="34" charset="-120"/>
              </a:rPr>
              <a:t> qāmat · stature, height</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شَكْلٌ</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‎شکل‎ </a:t>
            </a:r>
            <a:pPr indent="0" marL="0">
              <a:buNone/>
            </a:pPr>
            <a:r>
              <a:rPr lang="en-US" sz="950" b="1" dirty="0">
                <a:solidFill>
                  <a:srgbClr val="2E8B57"/>
                </a:solidFill>
                <a:latin typeface="Calibri" pitchFamily="34" charset="0"/>
                <a:ea typeface="Calibri" pitchFamily="34" charset="-122"/>
                <a:cs typeface="Calibri" pitchFamily="34" charset="-120"/>
              </a:rPr>
              <a:t> shakl · shape, appearance</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لِبَاسٌ</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‎لباس‎ </a:t>
            </a:r>
            <a:pPr indent="0" marL="0">
              <a:buNone/>
            </a:pPr>
            <a:r>
              <a:rPr lang="en-US" sz="950" b="1" dirty="0">
                <a:solidFill>
                  <a:srgbClr val="2E8B57"/>
                </a:solidFill>
                <a:latin typeface="Calibri" pitchFamily="34" charset="0"/>
                <a:ea typeface="Calibri" pitchFamily="34" charset="-122"/>
                <a:cs typeface="Calibri" pitchFamily="34" charset="-120"/>
              </a:rPr>
              <a:t> libās · clothing</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نَظَّارَةٌ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‎عینک‎ </a:t>
            </a:r>
            <a:pPr indent="0" marL="0">
              <a:buNone/>
            </a:pPr>
            <a:r>
              <a:rPr lang="en-US" sz="950" b="1" dirty="0">
                <a:solidFill>
                  <a:srgbClr val="2E8B57"/>
                </a:solidFill>
                <a:latin typeface="Calibri" pitchFamily="34" charset="0"/>
                <a:ea typeface="Calibri" pitchFamily="34" charset="-122"/>
                <a:cs typeface="Calibri" pitchFamily="34" charset="-120"/>
              </a:rPr>
              <a:t> ainak · glasses (meaning only)</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جِسْمِيَّةٌ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‎جسم‎ </a:t>
            </a:r>
            <a:pPr indent="0" marL="0">
              <a:buNone/>
            </a:pPr>
            <a:r>
              <a:rPr lang="en-US" sz="950" b="1" dirty="0">
                <a:solidFill>
                  <a:srgbClr val="2E8B57"/>
                </a:solidFill>
                <a:latin typeface="Calibri" pitchFamily="34" charset="0"/>
                <a:ea typeface="Calibri" pitchFamily="34" charset="-122"/>
                <a:cs typeface="Calibri" pitchFamily="34" charset="-120"/>
              </a:rPr>
              <a:t> jism · body → physical</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D2-L06 · Appearance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Height, hair and eyes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2550" b="1" dirty="0">
                <a:solidFill>
                  <a:srgbClr val="1B3B6F"/>
                </a:solidFill>
                <a:latin typeface="Amiri" pitchFamily="34" charset="0"/>
                <a:ea typeface="Amiri" pitchFamily="34" charset="-122"/>
                <a:cs typeface="Amiri" pitchFamily="34" charset="-120"/>
              </a:rPr>
              <a:t>طَوِيلُ القَامَةِ / طَوِيلَةُ القَامَةِ</a:t>
            </a:r>
            <a:endParaRPr lang="ar-SA" sz="255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tall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ṭa-wī-lu al-qā-ma-ti / ṭa-wī-la-tu al-qā-ma-ti</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طَوِيلَةُ القَامَةِ</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طَوِيلُ القَامَةِ</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3" name="Shape 30"/>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2550" b="1" dirty="0">
                <a:solidFill>
                  <a:srgbClr val="1B3B6F"/>
                </a:solidFill>
                <a:latin typeface="Amiri" pitchFamily="34" charset="0"/>
                <a:ea typeface="Amiri" pitchFamily="34" charset="-122"/>
                <a:cs typeface="Amiri" pitchFamily="34" charset="-120"/>
              </a:rPr>
              <a:t>قَصِيرُ القَامَةِ / قَصِيرَةُ القَامَةِ</a:t>
            </a:r>
            <a:endParaRPr lang="ar-SA" sz="255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short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qa-ṣī-ru al-qā-ma-ti / qa-ṣī-ra-tu al-qā-ma-ti</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قَصِيرَةُ القَامَةِ</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قَصِيرُ القَامَةِ</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8" name="Shape 45"/>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2400" b="1" dirty="0">
                <a:solidFill>
                  <a:srgbClr val="1B3B6F"/>
                </a:solidFill>
                <a:latin typeface="Amiri" pitchFamily="34" charset="0"/>
                <a:ea typeface="Amiri" pitchFamily="34" charset="-122"/>
                <a:cs typeface="Amiri" pitchFamily="34" charset="-120"/>
              </a:rPr>
              <a:t>مُتَوَسِّطُ القَامَةِ / مُتَوَسِّطَةُ القَامَةِ</a:t>
            </a:r>
            <a:endParaRPr lang="ar-SA" sz="24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medium height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mu-ta-was-si-ṭu al-qā-ma-ti / mu-ta-was-si-ṭa-tu al-qā-ma-ti</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مُتَوَسِّطَةُ القَامَةِ</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مُتَوَسِّطُ القَامَةِ</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63" name="Shape 60"/>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his · her</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شَعْرٌ طَوِيلٌ</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long hair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shaʿ-run ṭa-wī-lun</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her</a:t>
            </a:r>
            <a:endParaRPr lang="en-US" sz="750" dirty="0"/>
          </a:p>
        </p:txBody>
      </p:sp>
      <p:sp>
        <p:nvSpPr>
          <p:cNvPr id="71" name="Text 68"/>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شَعْرُهَا طَوِيلٌ</a:t>
            </a:r>
            <a:endParaRPr lang="ar-SA" sz="150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his</a:t>
            </a:r>
            <a:endParaRPr lang="en-US" sz="750" dirty="0"/>
          </a:p>
        </p:txBody>
      </p:sp>
      <p:sp>
        <p:nvSpPr>
          <p:cNvPr id="74" name="Text 7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شَعْرُهُ طَوِيلٌ</a:t>
            </a:r>
            <a:endParaRPr lang="ar-SA" sz="150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78" name="Shape 75"/>
          <p:cNvSpPr/>
          <p:nvPr/>
        </p:nvSpPr>
        <p:spPr>
          <a:xfrm>
            <a:off x="4782312" y="4279392"/>
            <a:ext cx="833933"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his · her</a:t>
            </a:r>
            <a:endParaRPr lang="en-US" sz="800" dirty="0"/>
          </a:p>
        </p:txBody>
      </p:sp>
      <p:sp>
        <p:nvSpPr>
          <p:cNvPr id="80" name="Shape 7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81" name="Text 7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82" name="Text 7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شَعْرٌ قَصِيرٌ</a:t>
            </a:r>
            <a:endParaRPr lang="ar-SA" sz="3000" dirty="0"/>
          </a:p>
        </p:txBody>
      </p:sp>
      <p:sp>
        <p:nvSpPr>
          <p:cNvPr id="83" name="Text 8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short hair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shaʿ-run qa-ṣī-run</a:t>
            </a:r>
            <a:endParaRPr lang="en-US" sz="1350" dirty="0"/>
          </a:p>
        </p:txBody>
      </p:sp>
      <p:sp>
        <p:nvSpPr>
          <p:cNvPr id="84" name="Shape 81"/>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her</a:t>
            </a:r>
            <a:endParaRPr lang="en-US" sz="750" dirty="0"/>
          </a:p>
        </p:txBody>
      </p:sp>
      <p:sp>
        <p:nvSpPr>
          <p:cNvPr id="86" name="Text 83"/>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شَعْرُهَا قَصِيرٌ</a:t>
            </a:r>
            <a:endParaRPr lang="ar-SA" sz="1500" dirty="0"/>
          </a:p>
        </p:txBody>
      </p:sp>
      <p:sp>
        <p:nvSpPr>
          <p:cNvPr id="87" name="Shape 84"/>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8" name="Text 85"/>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his</a:t>
            </a:r>
            <a:endParaRPr lang="en-US" sz="750" dirty="0"/>
          </a:p>
        </p:txBody>
      </p:sp>
      <p:sp>
        <p:nvSpPr>
          <p:cNvPr id="89" name="Text 86"/>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شَعْرُهُ قَصِيرٌ</a:t>
            </a:r>
            <a:endParaRPr lang="ar-SA" sz="1500" dirty="0"/>
          </a:p>
        </p:txBody>
      </p:sp>
      <p:sp>
        <p:nvSpPr>
          <p:cNvPr id="90" name="Shape 8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566928" y="4261104"/>
            <a:ext cx="310896" cy="310896"/>
          </a:xfrm>
          <a:prstGeom prst="ellipse">
            <a:avLst/>
          </a:prstGeom>
          <a:solidFill>
            <a:srgbClr val="F4F1EA"/>
          </a:solidFill>
          <a:ln w="12700">
            <a:solidFill>
              <a:srgbClr val="F4F1EA"/>
            </a:solidFill>
            <a:prstDash val="solid"/>
          </a:ln>
        </p:spPr>
      </p:sp>
      <p:sp>
        <p:nvSpPr>
          <p:cNvPr id="92" name="Text 8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93" name="Shape 90"/>
          <p:cNvSpPr/>
          <p:nvPr/>
        </p:nvSpPr>
        <p:spPr>
          <a:xfrm>
            <a:off x="960120" y="4279392"/>
            <a:ext cx="833933" cy="256032"/>
          </a:xfrm>
          <a:prstGeom prst="roundRect">
            <a:avLst>
              <a:gd name="adj" fmla="val 50000"/>
            </a:avLst>
          </a:prstGeom>
          <a:solidFill>
            <a:srgbClr val="EFE7D2"/>
          </a:solidFill>
          <a:ln w="12700">
            <a:solidFill>
              <a:srgbClr val="EFE7D2"/>
            </a:solidFill>
            <a:prstDash val="solid"/>
          </a:ln>
        </p:spPr>
      </p:sp>
      <p:sp>
        <p:nvSpPr>
          <p:cNvPr id="94" name="Text 91"/>
          <p:cNvSpPr txBox="1"/>
          <p:nvPr/>
        </p:nvSpPr>
        <p:spPr>
          <a:xfrm>
            <a:off x="960120"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his · her</a:t>
            </a:r>
            <a:endParaRPr lang="en-US" sz="800" dirty="0"/>
          </a:p>
        </p:txBody>
      </p:sp>
      <p:sp>
        <p:nvSpPr>
          <p:cNvPr id="95" name="Shape 92"/>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96" name="Text 93"/>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97" name="Text 94"/>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شَعْرٌ مُجَعَّدٌ</a:t>
            </a:r>
            <a:endParaRPr lang="ar-SA" sz="3000" dirty="0"/>
          </a:p>
        </p:txBody>
      </p:sp>
      <p:sp>
        <p:nvSpPr>
          <p:cNvPr id="98" name="Text 95"/>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curly hair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shaʿ-run mu-jaʿ-ʿa-dun</a:t>
            </a:r>
            <a:endParaRPr lang="en-US" sz="1350" dirty="0"/>
          </a:p>
        </p:txBody>
      </p:sp>
      <p:sp>
        <p:nvSpPr>
          <p:cNvPr id="99" name="Shape 96"/>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100" name="Text 97"/>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her</a:t>
            </a:r>
            <a:endParaRPr lang="en-US" sz="750" dirty="0"/>
          </a:p>
        </p:txBody>
      </p:sp>
      <p:sp>
        <p:nvSpPr>
          <p:cNvPr id="101" name="Text 98"/>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شَعْرُهَا مُجَعَّدٌ</a:t>
            </a:r>
            <a:endParaRPr lang="ar-SA" sz="1500" dirty="0"/>
          </a:p>
        </p:txBody>
      </p:sp>
      <p:sp>
        <p:nvSpPr>
          <p:cNvPr id="102" name="Shape 99"/>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103" name="Text 100"/>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his</a:t>
            </a:r>
            <a:endParaRPr lang="en-US" sz="750" dirty="0"/>
          </a:p>
        </p:txBody>
      </p:sp>
      <p:sp>
        <p:nvSpPr>
          <p:cNvPr id="104" name="Text 101"/>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شَعْرُهُ مُجَعَّدٌ</a:t>
            </a:r>
            <a:endParaRPr lang="ar-SA" sz="150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D2-L06 · Appearance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Height, hair and eyes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his · her</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شَعْرٌ مُسْتَقِيمٌ</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straight hair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shaʿ-run mus-ta-qī-mun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her</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شَعْرُهَا مُسْتَقِيمٌ</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his</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شَعْرُهُ مُسْتَقِيمٌ</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3" name="Shape 30"/>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one · two</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عَيْنَانِ بُنِّيَّتَانِ</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brown eyes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ʿay-nā-ni bun-niy-ya-tā-ni</a:t>
            </a:r>
            <a:endParaRPr lang="en-US" sz="1350" dirty="0"/>
          </a:p>
        </p:txBody>
      </p:sp>
      <p:sp>
        <p:nvSpPr>
          <p:cNvPr id="39" name="Shape 36"/>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her eyes</a:t>
            </a:r>
            <a:endParaRPr lang="en-US" sz="700" dirty="0"/>
          </a:p>
        </p:txBody>
      </p:sp>
      <p:sp>
        <p:nvSpPr>
          <p:cNvPr id="41" name="Text 38"/>
          <p:cNvSpPr txBox="1"/>
          <p:nvPr/>
        </p:nvSpPr>
        <p:spPr>
          <a:xfrm>
            <a:off x="6766560"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عَيْنَاهَا</a:t>
            </a:r>
            <a:endParaRPr lang="ar-SA" sz="1350" dirty="0"/>
          </a:p>
        </p:txBody>
      </p:sp>
      <p:sp>
        <p:nvSpPr>
          <p:cNvPr id="42" name="Shape 39"/>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blue (2)</a:t>
            </a:r>
            <a:endParaRPr lang="en-US" sz="700" dirty="0"/>
          </a:p>
        </p:txBody>
      </p:sp>
      <p:sp>
        <p:nvSpPr>
          <p:cNvPr id="44" name="Text 41"/>
          <p:cNvSpPr txBox="1"/>
          <p:nvPr/>
        </p:nvSpPr>
        <p:spPr>
          <a:xfrm>
            <a:off x="5614416"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زَرْقَاوَانِ</a:t>
            </a:r>
            <a:endParaRPr lang="ar-SA" sz="1350" dirty="0"/>
          </a:p>
        </p:txBody>
      </p:sp>
      <p:sp>
        <p:nvSpPr>
          <p:cNvPr id="45" name="Shape 42"/>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47" name="Text 44"/>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عَيْنٌ بُنِّيَّةٌ</a:t>
            </a:r>
            <a:endParaRPr lang="ar-SA" sz="1500" dirty="0"/>
          </a:p>
        </p:txBody>
      </p:sp>
      <p:sp>
        <p:nvSpPr>
          <p:cNvPr id="48" name="Shape 45"/>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66928" y="1920240"/>
            <a:ext cx="310896" cy="310896"/>
          </a:xfrm>
          <a:prstGeom prst="ellipse">
            <a:avLst/>
          </a:prstGeom>
          <a:solidFill>
            <a:srgbClr val="F4F1EA"/>
          </a:solidFill>
          <a:ln w="12700">
            <a:solidFill>
              <a:srgbClr val="F4F1EA"/>
            </a:solidFill>
            <a:prstDash val="solid"/>
          </a:ln>
        </p:spPr>
      </p:sp>
      <p:sp>
        <p:nvSpPr>
          <p:cNvPr id="50" name="Text 47"/>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51" name="Shape 48"/>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52" name="Text 49"/>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53" name="Shape 50"/>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5" name="Text 52"/>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يَرْتَدِي نَظَّارَةً</a:t>
            </a:r>
            <a:endParaRPr lang="ar-SA" sz="3000" dirty="0"/>
          </a:p>
        </p:txBody>
      </p:sp>
      <p:sp>
        <p:nvSpPr>
          <p:cNvPr id="56" name="Text 53"/>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 wears glasses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yar-ta-dī naẓ-ẓā-ra-tan</a:t>
            </a:r>
            <a:endParaRPr lang="en-US" sz="1350" dirty="0"/>
          </a:p>
        </p:txBody>
      </p:sp>
      <p:sp>
        <p:nvSpPr>
          <p:cNvPr id="57" name="Shape 54"/>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9" name="Text 56"/>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نَظَّارَاتٌ</a:t>
            </a:r>
            <a:endParaRPr lang="ar-SA" sz="1500" dirty="0"/>
          </a:p>
        </p:txBody>
      </p:sp>
      <p:sp>
        <p:nvSpPr>
          <p:cNvPr id="60" name="Shape 57"/>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glasses</a:t>
            </a:r>
            <a:endParaRPr lang="en-US" sz="700" dirty="0"/>
          </a:p>
        </p:txBody>
      </p:sp>
      <p:sp>
        <p:nvSpPr>
          <p:cNvPr id="62" name="Text 59"/>
          <p:cNvSpPr txBox="1"/>
          <p:nvPr/>
        </p:nvSpPr>
        <p:spPr>
          <a:xfrm>
            <a:off x="179222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نَظَّارَةٌ</a:t>
            </a:r>
            <a:endParaRPr lang="ar-SA" sz="1350" dirty="0"/>
          </a:p>
        </p:txBody>
      </p:sp>
      <p:sp>
        <p:nvSpPr>
          <p:cNvPr id="63" name="Shape 60"/>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65" name="Text 62"/>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تَرْتَدِي</a:t>
            </a:r>
            <a:endParaRPr lang="ar-SA" sz="1500" dirty="0"/>
          </a:p>
        </p:txBody>
      </p:sp>
      <p:sp>
        <p:nvSpPr>
          <p:cNvPr id="66" name="Shape 6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7" name="Shape 64"/>
          <p:cNvSpPr/>
          <p:nvPr/>
        </p:nvSpPr>
        <p:spPr>
          <a:xfrm>
            <a:off x="8211312" y="4261104"/>
            <a:ext cx="310896" cy="310896"/>
          </a:xfrm>
          <a:prstGeom prst="ellipse">
            <a:avLst/>
          </a:prstGeom>
          <a:solidFill>
            <a:srgbClr val="F4F1EA"/>
          </a:solidFill>
          <a:ln w="12700">
            <a:solidFill>
              <a:srgbClr val="F4F1EA"/>
            </a:solidFill>
            <a:prstDash val="solid"/>
          </a:ln>
        </p:spPr>
      </p:sp>
      <p:sp>
        <p:nvSpPr>
          <p:cNvPr id="68" name="Text 6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69" name="Shape 6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70" name="Text 6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71" name="Text 6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تَرْتَدِي نَظَّارَةً</a:t>
            </a:r>
            <a:endParaRPr lang="ar-SA" sz="3000" dirty="0"/>
          </a:p>
        </p:txBody>
      </p:sp>
      <p:sp>
        <p:nvSpPr>
          <p:cNvPr id="72" name="Text 6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she wears glasses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tar-ta-dī naẓ-ẓā-ra-tan</a:t>
            </a:r>
            <a:endParaRPr lang="en-US" sz="1350" dirty="0"/>
          </a:p>
        </p:txBody>
      </p:sp>
      <p:sp>
        <p:nvSpPr>
          <p:cNvPr id="73" name="Shape 7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4" name="Shape 71"/>
          <p:cNvSpPr/>
          <p:nvPr/>
        </p:nvSpPr>
        <p:spPr>
          <a:xfrm>
            <a:off x="4389120" y="4261104"/>
            <a:ext cx="310896" cy="310896"/>
          </a:xfrm>
          <a:prstGeom prst="ellipse">
            <a:avLst/>
          </a:prstGeom>
          <a:solidFill>
            <a:srgbClr val="F4F1EA"/>
          </a:solidFill>
          <a:ln w="12700">
            <a:solidFill>
              <a:srgbClr val="F4F1EA"/>
            </a:solidFill>
            <a:prstDash val="solid"/>
          </a:ln>
        </p:spPr>
      </p:sp>
      <p:sp>
        <p:nvSpPr>
          <p:cNvPr id="75" name="Text 7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76" name="Text 7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لَهُ لِحْيَةٌ</a:t>
            </a:r>
            <a:endParaRPr lang="ar-SA" sz="3000" dirty="0"/>
          </a:p>
        </p:txBody>
      </p:sp>
      <p:sp>
        <p:nvSpPr>
          <p:cNvPr id="77" name="Text 7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 has a beard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la-hu liḥ-ya-tun</a:t>
            </a:r>
            <a:endParaRPr lang="en-US" sz="1350" dirty="0"/>
          </a:p>
        </p:txBody>
      </p:sp>
      <p:sp>
        <p:nvSpPr>
          <p:cNvPr id="78" name="Shape 7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9" name="Shape 76"/>
          <p:cNvSpPr/>
          <p:nvPr/>
        </p:nvSpPr>
        <p:spPr>
          <a:xfrm>
            <a:off x="566928" y="4261104"/>
            <a:ext cx="310896" cy="310896"/>
          </a:xfrm>
          <a:prstGeom prst="ellipse">
            <a:avLst/>
          </a:prstGeom>
          <a:solidFill>
            <a:srgbClr val="F4F1EA"/>
          </a:solidFill>
          <a:ln w="12700">
            <a:solidFill>
              <a:srgbClr val="F4F1EA"/>
            </a:solidFill>
            <a:prstDash val="solid"/>
          </a:ln>
        </p:spPr>
      </p:sp>
      <p:sp>
        <p:nvSpPr>
          <p:cNvPr id="80" name="Text 7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81" name="Text 78"/>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مَلَامِحُهُ هَادِئَةٌ</a:t>
            </a:r>
            <a:endParaRPr lang="ar-SA" sz="3000" dirty="0"/>
          </a:p>
        </p:txBody>
      </p:sp>
      <p:sp>
        <p:nvSpPr>
          <p:cNvPr id="82" name="Text 79"/>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his features are calm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ma-lā-mi-ḥu-hu hā-di-ʾa-tun</a:t>
            </a:r>
            <a:endParaRPr lang="en-US" sz="13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D2-L06 · Appearance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Clothes in a portrait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D2-L06</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20" name="Shape 17"/>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قَمِيصٌ</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shirt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qa-mī-ṣun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قُمْصَانٌ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this</a:t>
            </a:r>
            <a:endParaRPr lang="en-US" sz="700" dirty="0"/>
          </a:p>
        </p:txBody>
      </p:sp>
      <p:sp>
        <p:nvSpPr>
          <p:cNvPr id="29" name="Text 26"/>
          <p:cNvSpPr txBox="1"/>
          <p:nvPr/>
        </p:nvSpPr>
        <p:spPr>
          <a:xfrm>
            <a:off x="943660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هٰذَا القَمِيصُ</a:t>
            </a:r>
            <a:endParaRPr lang="ar-SA" sz="135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مُذَكَّرٌ</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36" name="Shape 33"/>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 · pl</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قَمِيصَةٌ</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blouse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qa-mī-ṣa-tun</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قَمِيصَاتٌ</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this</a:t>
            </a:r>
            <a:endParaRPr lang="en-US" sz="700" dirty="0"/>
          </a:p>
        </p:txBody>
      </p:sp>
      <p:sp>
        <p:nvSpPr>
          <p:cNvPr id="45" name="Text 42"/>
          <p:cNvSpPr txBox="1"/>
          <p:nvPr/>
        </p:nvSpPr>
        <p:spPr>
          <a:xfrm>
            <a:off x="5614416"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هٰذِهِ القَمِيصَةُ</a:t>
            </a:r>
            <a:endParaRPr lang="ar-SA" sz="135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مُؤَنَّثٌ</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52" name="Shape 49"/>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pl</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سِرْوَالٌ</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trousers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sir-wā-lun</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8" name="Text 5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سَرَاوِيلُ</a:t>
            </a:r>
            <a:endParaRPr lang="ar-SA" sz="150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this</a:t>
            </a:r>
            <a:endParaRPr lang="en-US" sz="700" dirty="0"/>
          </a:p>
        </p:txBody>
      </p:sp>
      <p:sp>
        <p:nvSpPr>
          <p:cNvPr id="61" name="Text 58"/>
          <p:cNvSpPr txBox="1"/>
          <p:nvPr/>
        </p:nvSpPr>
        <p:spPr>
          <a:xfrm>
            <a:off x="179222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هٰذَا السِّرْوَالُ</a:t>
            </a:r>
            <a:endParaRPr lang="ar-SA" sz="135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مُذَكَّرٌ</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68" name="Shape 65"/>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 · pl</a:t>
            </a:r>
            <a:endParaRPr lang="en-US" sz="800" dirty="0"/>
          </a:p>
        </p:txBody>
      </p:sp>
      <p:sp>
        <p:nvSpPr>
          <p:cNvPr id="70" name="Text 6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تَنُّورَةٌ</a:t>
            </a:r>
            <a:endParaRPr lang="ar-SA" sz="3000" dirty="0"/>
          </a:p>
        </p:txBody>
      </p:sp>
      <p:sp>
        <p:nvSpPr>
          <p:cNvPr id="71" name="Text 6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skirt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tan-nū-ra-tun</a:t>
            </a:r>
            <a:endParaRPr lang="en-US" sz="1350" dirty="0"/>
          </a:p>
        </p:txBody>
      </p:sp>
      <p:sp>
        <p:nvSpPr>
          <p:cNvPr id="72" name="Shape 6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4" name="Text 71"/>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تَنَانِيرُ</a:t>
            </a:r>
            <a:endParaRPr lang="ar-SA" sz="1500" dirty="0"/>
          </a:p>
        </p:txBody>
      </p:sp>
      <p:sp>
        <p:nvSpPr>
          <p:cNvPr id="75" name="Shape 7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this</a:t>
            </a:r>
            <a:endParaRPr lang="en-US" sz="700" dirty="0"/>
          </a:p>
        </p:txBody>
      </p:sp>
      <p:sp>
        <p:nvSpPr>
          <p:cNvPr id="77" name="Text 74"/>
          <p:cNvSpPr txBox="1"/>
          <p:nvPr/>
        </p:nvSpPr>
        <p:spPr>
          <a:xfrm>
            <a:off x="9436608"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هٰذِهِ التَّنُّورَةُ</a:t>
            </a:r>
            <a:endParaRPr lang="ar-SA" sz="1350" dirty="0"/>
          </a:p>
        </p:txBody>
      </p:sp>
      <p:sp>
        <p:nvSpPr>
          <p:cNvPr id="78" name="Shape 7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80" name="Text 7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مُؤَنَّثٌ</a:t>
            </a:r>
            <a:endParaRPr lang="ar-SA" sz="1500" dirty="0"/>
          </a:p>
        </p:txBody>
      </p:sp>
      <p:sp>
        <p:nvSpPr>
          <p:cNvPr id="81" name="Shape 7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4389120" y="4261104"/>
            <a:ext cx="310896" cy="310896"/>
          </a:xfrm>
          <a:prstGeom prst="ellipse">
            <a:avLst/>
          </a:prstGeom>
          <a:solidFill>
            <a:srgbClr val="F4F1EA"/>
          </a:solidFill>
          <a:ln w="12700">
            <a:solidFill>
              <a:srgbClr val="F4F1EA"/>
            </a:solidFill>
            <a:prstDash val="solid"/>
          </a:ln>
        </p:spPr>
      </p:sp>
      <p:sp>
        <p:nvSpPr>
          <p:cNvPr id="83" name="Text 8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84" name="Shape 81"/>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85" name="Text 82"/>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pl</a:t>
            </a:r>
            <a:endParaRPr lang="en-US" sz="800" dirty="0"/>
          </a:p>
        </p:txBody>
      </p:sp>
      <p:sp>
        <p:nvSpPr>
          <p:cNvPr id="86" name="Text 8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فُسْتَانٌ</a:t>
            </a:r>
            <a:endParaRPr lang="ar-SA" sz="3000" dirty="0"/>
          </a:p>
        </p:txBody>
      </p:sp>
      <p:sp>
        <p:nvSpPr>
          <p:cNvPr id="87" name="Text 8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dress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fus-tā-nun</a:t>
            </a:r>
            <a:endParaRPr lang="en-US" sz="1350" dirty="0"/>
          </a:p>
        </p:txBody>
      </p:sp>
      <p:sp>
        <p:nvSpPr>
          <p:cNvPr id="88" name="Shape 85"/>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89" name="Text 86"/>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90" name="Text 87"/>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فَسَاتِينُ</a:t>
            </a:r>
            <a:endParaRPr lang="ar-SA" sz="1500" dirty="0"/>
          </a:p>
        </p:txBody>
      </p:sp>
      <p:sp>
        <p:nvSpPr>
          <p:cNvPr id="91" name="Shape 88"/>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2" name="Text 89"/>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this</a:t>
            </a:r>
            <a:endParaRPr lang="en-US" sz="700" dirty="0"/>
          </a:p>
        </p:txBody>
      </p:sp>
      <p:sp>
        <p:nvSpPr>
          <p:cNvPr id="93" name="Text 90"/>
          <p:cNvSpPr txBox="1"/>
          <p:nvPr/>
        </p:nvSpPr>
        <p:spPr>
          <a:xfrm>
            <a:off x="5614416"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هٰذَا الفُسْتَانُ</a:t>
            </a:r>
            <a:endParaRPr lang="ar-SA" sz="1350" dirty="0"/>
          </a:p>
        </p:txBody>
      </p:sp>
      <p:sp>
        <p:nvSpPr>
          <p:cNvPr id="94" name="Shape 91"/>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5" name="Text 92"/>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96" name="Text 93"/>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مُذَكَّرٌ</a:t>
            </a:r>
            <a:endParaRPr lang="ar-SA" sz="150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D2-L06 · Appearance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Clothes in a portrait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D2-L06</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20" name="Shape 17"/>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مِعْطَفٌ</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miʿ-ṭa-fun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مَعَاطِفُ</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this</a:t>
            </a:r>
            <a:endParaRPr lang="en-US" sz="700" dirty="0"/>
          </a:p>
        </p:txBody>
      </p:sp>
      <p:sp>
        <p:nvSpPr>
          <p:cNvPr id="29" name="Text 26"/>
          <p:cNvSpPr txBox="1"/>
          <p:nvPr/>
        </p:nvSpPr>
        <p:spPr>
          <a:xfrm>
            <a:off x="943660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هٰذَا المِعْطَفُ</a:t>
            </a:r>
            <a:endParaRPr lang="ar-SA" sz="135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مُذَكَّرٌ</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36" name="Shape 33"/>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 · pl</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سُتْرَةٌ</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jacket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sut-ra-tun</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سُتَرٌ</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this</a:t>
            </a:r>
            <a:endParaRPr lang="en-US" sz="700" dirty="0"/>
          </a:p>
        </p:txBody>
      </p:sp>
      <p:sp>
        <p:nvSpPr>
          <p:cNvPr id="45" name="Text 42"/>
          <p:cNvSpPr txBox="1"/>
          <p:nvPr/>
        </p:nvSpPr>
        <p:spPr>
          <a:xfrm>
            <a:off x="5614416"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هٰذِهِ السُّتْرَةُ</a:t>
            </a:r>
            <a:endParaRPr lang="ar-SA" sz="135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مُؤَنَّثٌ</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52" name="Shape 49"/>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pl</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حِذَاءٌ</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shoes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ḥi-dhā-ʾun</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8" name="Text 5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أَحْذِيَةٌ</a:t>
            </a:r>
            <a:endParaRPr lang="ar-SA" sz="150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this</a:t>
            </a:r>
            <a:endParaRPr lang="en-US" sz="700" dirty="0"/>
          </a:p>
        </p:txBody>
      </p:sp>
      <p:sp>
        <p:nvSpPr>
          <p:cNvPr id="61" name="Text 58"/>
          <p:cNvSpPr txBox="1"/>
          <p:nvPr/>
        </p:nvSpPr>
        <p:spPr>
          <a:xfrm>
            <a:off x="179222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هٰذَا الحِذَاءُ</a:t>
            </a:r>
            <a:endParaRPr lang="ar-SA" sz="135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مُذَكَّرٌ</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68" name="Shape 65"/>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pl</a:t>
            </a:r>
            <a:endParaRPr lang="en-US" sz="800" dirty="0"/>
          </a:p>
        </p:txBody>
      </p:sp>
      <p:sp>
        <p:nvSpPr>
          <p:cNvPr id="70" name="Text 6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حِجَابٌ</a:t>
            </a:r>
            <a:endParaRPr lang="ar-SA" sz="3000" dirty="0"/>
          </a:p>
        </p:txBody>
      </p:sp>
      <p:sp>
        <p:nvSpPr>
          <p:cNvPr id="71" name="Text 6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headscarf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ḥi-jā-bun</a:t>
            </a:r>
            <a:endParaRPr lang="en-US" sz="1350" dirty="0"/>
          </a:p>
        </p:txBody>
      </p:sp>
      <p:sp>
        <p:nvSpPr>
          <p:cNvPr id="72" name="Shape 6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4" name="Text 71"/>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أَحْجِبَةٌ</a:t>
            </a:r>
            <a:endParaRPr lang="ar-SA" sz="1500" dirty="0"/>
          </a:p>
        </p:txBody>
      </p:sp>
      <p:sp>
        <p:nvSpPr>
          <p:cNvPr id="75" name="Shape 7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this</a:t>
            </a:r>
            <a:endParaRPr lang="en-US" sz="700" dirty="0"/>
          </a:p>
        </p:txBody>
      </p:sp>
      <p:sp>
        <p:nvSpPr>
          <p:cNvPr id="77" name="Text 74"/>
          <p:cNvSpPr txBox="1"/>
          <p:nvPr/>
        </p:nvSpPr>
        <p:spPr>
          <a:xfrm>
            <a:off x="9436608"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هٰذَا الحِجَابُ</a:t>
            </a:r>
            <a:endParaRPr lang="ar-SA" sz="1350" dirty="0"/>
          </a:p>
        </p:txBody>
      </p:sp>
      <p:sp>
        <p:nvSpPr>
          <p:cNvPr id="78" name="Shape 7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80" name="Text 7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مُذَكَّرٌ</a:t>
            </a:r>
            <a:endParaRPr lang="ar-SA" sz="1500" dirty="0"/>
          </a:p>
        </p:txBody>
      </p:sp>
      <p:sp>
        <p:nvSpPr>
          <p:cNvPr id="81" name="Shape 7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4389120" y="4261104"/>
            <a:ext cx="310896" cy="310896"/>
          </a:xfrm>
          <a:prstGeom prst="ellipse">
            <a:avLst/>
          </a:prstGeom>
          <a:solidFill>
            <a:srgbClr val="F4F1EA"/>
          </a:solidFill>
          <a:ln w="12700">
            <a:solidFill>
              <a:srgbClr val="F4F1EA"/>
            </a:solidFill>
            <a:prstDash val="solid"/>
          </a:ln>
        </p:spPr>
      </p:sp>
      <p:sp>
        <p:nvSpPr>
          <p:cNvPr id="83" name="Text 8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84" name="Shape 81"/>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85" name="Text 82"/>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 · pl</a:t>
            </a:r>
            <a:endParaRPr lang="en-US" sz="800" dirty="0"/>
          </a:p>
        </p:txBody>
      </p:sp>
      <p:sp>
        <p:nvSpPr>
          <p:cNvPr id="86" name="Text 8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قُبَّعَةٌ</a:t>
            </a:r>
            <a:endParaRPr lang="ar-SA" sz="3000" dirty="0"/>
          </a:p>
        </p:txBody>
      </p:sp>
      <p:sp>
        <p:nvSpPr>
          <p:cNvPr id="87" name="Text 8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qub-ba-ʿa-tun</a:t>
            </a:r>
            <a:endParaRPr lang="en-US" sz="1350" dirty="0"/>
          </a:p>
        </p:txBody>
      </p:sp>
      <p:sp>
        <p:nvSpPr>
          <p:cNvPr id="88" name="Shape 85"/>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89" name="Text 86"/>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90" name="Text 87"/>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قُبَّعَاتٌ</a:t>
            </a:r>
            <a:endParaRPr lang="ar-SA" sz="1500" dirty="0"/>
          </a:p>
        </p:txBody>
      </p:sp>
      <p:sp>
        <p:nvSpPr>
          <p:cNvPr id="91" name="Shape 88"/>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2" name="Text 89"/>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this</a:t>
            </a:r>
            <a:endParaRPr lang="en-US" sz="700" dirty="0"/>
          </a:p>
        </p:txBody>
      </p:sp>
      <p:sp>
        <p:nvSpPr>
          <p:cNvPr id="93" name="Text 90"/>
          <p:cNvSpPr txBox="1"/>
          <p:nvPr/>
        </p:nvSpPr>
        <p:spPr>
          <a:xfrm>
            <a:off x="5614416"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هٰذِهِ القُبَّعَةُ</a:t>
            </a:r>
            <a:endParaRPr lang="ar-SA" sz="1350" dirty="0"/>
          </a:p>
        </p:txBody>
      </p:sp>
      <p:sp>
        <p:nvSpPr>
          <p:cNvPr id="94" name="Shape 91"/>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5" name="Text 92"/>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96" name="Text 93"/>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مُؤَنَّثٌ</a:t>
            </a:r>
            <a:endParaRPr lang="ar-SA" sz="150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D2-L06 · Appearance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Style and personality detail (1 of 2)</a:t>
            </a:r>
            <a:endParaRPr lang="en-US" sz="26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D2-L06</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أَنِيقٌ / أَنِيقَةٌ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elegant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a-nī-qun / a-nī-qa-tun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أَنِيقُونَ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أَنِيقَةٌ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أَنِيقٌ</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عَصْرِيٌّ / عَصْرِيَّةٌ</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modern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ʿaṣ-riy-yun / ʿaṣ-riy-ya-tun</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عَصْرِيُّونَ</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عَصْرِيَّةٌ</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عَصْرِيٌّ</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52" name="Shape 49"/>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تَقْلِيدِيٌّ / تَقْلِيدِيَّةٌ</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traditional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taq-lī-diy-yun / taq-lī-diy-ya-tun</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8" name="Text 5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تَقْلِيدِيُّونَ</a:t>
            </a:r>
            <a:endParaRPr lang="ar-SA" sz="150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61" name="Text 5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تَقْلِيدِيَّةٌ</a:t>
            </a:r>
            <a:endParaRPr lang="ar-SA" sz="150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تَقْلِيدِيٌّ</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68" name="Shape 65"/>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70" name="Text 6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رَسْمِيٌّ / رَسْمِيَّةٌ</a:t>
            </a:r>
            <a:endParaRPr lang="ar-SA" sz="3000" dirty="0"/>
          </a:p>
        </p:txBody>
      </p:sp>
      <p:sp>
        <p:nvSpPr>
          <p:cNvPr id="71" name="Text 6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formal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ras-miy-yun / ras-miy-ya-tun</a:t>
            </a:r>
            <a:endParaRPr lang="en-US" sz="1350" dirty="0"/>
          </a:p>
        </p:txBody>
      </p:sp>
      <p:sp>
        <p:nvSpPr>
          <p:cNvPr id="72" name="Shape 6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4" name="Text 71"/>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رَسْمِيُّونَ</a:t>
            </a:r>
            <a:endParaRPr lang="ar-SA" sz="1500" dirty="0"/>
          </a:p>
        </p:txBody>
      </p:sp>
      <p:sp>
        <p:nvSpPr>
          <p:cNvPr id="75" name="Shape 7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77" name="Text 74"/>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رَسْمِيَّةٌ</a:t>
            </a:r>
            <a:endParaRPr lang="ar-SA" sz="1500" dirty="0"/>
          </a:p>
        </p:txBody>
      </p:sp>
      <p:sp>
        <p:nvSpPr>
          <p:cNvPr id="78" name="Shape 7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80" name="Text 7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رَسْمِيٌّ</a:t>
            </a:r>
            <a:endParaRPr lang="ar-SA" sz="1500" dirty="0"/>
          </a:p>
        </p:txBody>
      </p:sp>
      <p:sp>
        <p:nvSpPr>
          <p:cNvPr id="81" name="Text 7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D2-L06 · Appearance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Style and personality detail (2 of 2)</a:t>
            </a:r>
            <a:endParaRPr lang="en-US" sz="26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D2-L06</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غَيْرُ رَسْمِيٍّ / غَيْرُ رَسْمِيَّةٍ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casual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ghay-ru ras-miy-yin / ghay-ru ras-miy-ya-tin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غَيْرُ رَسْمِيَّةٍ</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غَيْرُ رَسْمِيٍّ</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28</a:t>
            </a:r>
            <a:endParaRPr lang="en-US" sz="1000" dirty="0"/>
          </a:p>
        </p:txBody>
      </p:sp>
      <p:sp>
        <p:nvSpPr>
          <p:cNvPr id="33" name="Shape 30"/>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35" name="Text 32"/>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مُحْتَشِمٌ / مُحْتَشِمَةٌ</a:t>
            </a:r>
            <a:endParaRPr lang="ar-SA" sz="3000" dirty="0"/>
          </a:p>
        </p:txBody>
      </p:sp>
      <p:sp>
        <p:nvSpPr>
          <p:cNvPr id="36" name="Text 33"/>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modest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muḥ-ta-shi-mun / muḥ-ta-shi-ma-tun</a:t>
            </a:r>
            <a:endParaRPr lang="en-US" sz="1350" dirty="0"/>
          </a:p>
        </p:txBody>
      </p:sp>
      <p:sp>
        <p:nvSpPr>
          <p:cNvPr id="37" name="Shape 34"/>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9" name="Text 36"/>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مُحْتَشِمُونَ</a:t>
            </a:r>
            <a:endParaRPr lang="ar-SA" sz="1500" dirty="0"/>
          </a:p>
        </p:txBody>
      </p:sp>
      <p:sp>
        <p:nvSpPr>
          <p:cNvPr id="40" name="Shape 37"/>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2" name="Text 39"/>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مُحْتَشِمَةٌ</a:t>
            </a:r>
            <a:endParaRPr lang="ar-SA" sz="1500" dirty="0"/>
          </a:p>
        </p:txBody>
      </p:sp>
      <p:sp>
        <p:nvSpPr>
          <p:cNvPr id="43" name="Shape 40"/>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45" name="Text 42"/>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مُحْتَشِمٌ</a:t>
            </a:r>
            <a:endParaRPr lang="ar-SA" sz="1500" dirty="0"/>
          </a:p>
        </p:txBody>
      </p:sp>
      <p:sp>
        <p:nvSpPr>
          <p:cNvPr id="46" name="Shape 43"/>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66928" y="1920240"/>
            <a:ext cx="310896" cy="310896"/>
          </a:xfrm>
          <a:prstGeom prst="ellipse">
            <a:avLst/>
          </a:prstGeom>
          <a:solidFill>
            <a:srgbClr val="F4F1EA"/>
          </a:solidFill>
          <a:ln w="12700">
            <a:solidFill>
              <a:srgbClr val="F4F1EA"/>
            </a:solidFill>
            <a:prstDash val="solid"/>
          </a:ln>
        </p:spPr>
      </p:sp>
      <p:sp>
        <p:nvSpPr>
          <p:cNvPr id="48" name="Text 45"/>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29</a:t>
            </a:r>
            <a:endParaRPr lang="en-US" sz="1000" dirty="0"/>
          </a:p>
        </p:txBody>
      </p:sp>
      <p:sp>
        <p:nvSpPr>
          <p:cNvPr id="49" name="Shape 46"/>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0" name="Text 47"/>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51" name="Text 48"/>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مُلَوَّنٌ / مُلَوَّنَةٌ</a:t>
            </a:r>
            <a:endParaRPr lang="ar-SA" sz="3000" dirty="0"/>
          </a:p>
        </p:txBody>
      </p:sp>
      <p:sp>
        <p:nvSpPr>
          <p:cNvPr id="52" name="Text 49"/>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colourful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mu-law-wa-nun / mu-law-wa-na-tun</a:t>
            </a:r>
            <a:endParaRPr lang="en-US" sz="1350" dirty="0"/>
          </a:p>
        </p:txBody>
      </p:sp>
      <p:sp>
        <p:nvSpPr>
          <p:cNvPr id="53" name="Shape 50"/>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5" name="Text 52"/>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مَلَابِسُ مُلَوَّنَةٌ</a:t>
            </a:r>
            <a:endParaRPr lang="ar-SA" sz="1500" dirty="0"/>
          </a:p>
        </p:txBody>
      </p:sp>
      <p:sp>
        <p:nvSpPr>
          <p:cNvPr id="56" name="Shape 53"/>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58" name="Text 55"/>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مُلَوَّنَةٌ</a:t>
            </a:r>
            <a:endParaRPr lang="ar-SA" sz="1500" dirty="0"/>
          </a:p>
        </p:txBody>
      </p:sp>
      <p:sp>
        <p:nvSpPr>
          <p:cNvPr id="59" name="Shape 56"/>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1" name="Text 58"/>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مُلَوَّنٌ</a:t>
            </a:r>
            <a:endParaRPr lang="ar-SA" sz="1500" dirty="0"/>
          </a:p>
        </p:txBody>
      </p:sp>
      <p:sp>
        <p:nvSpPr>
          <p:cNvPr id="62" name="Shape 5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8211312" y="4261104"/>
            <a:ext cx="310896" cy="310896"/>
          </a:xfrm>
          <a:prstGeom prst="ellipse">
            <a:avLst/>
          </a:prstGeom>
          <a:solidFill>
            <a:srgbClr val="F4F1EA"/>
          </a:solidFill>
          <a:ln w="12700">
            <a:solidFill>
              <a:srgbClr val="F4F1EA"/>
            </a:solidFill>
            <a:prstDash val="solid"/>
          </a:ln>
        </p:spPr>
      </p:sp>
      <p:sp>
        <p:nvSpPr>
          <p:cNvPr id="64" name="Text 6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30</a:t>
            </a:r>
            <a:endParaRPr lang="en-US" sz="1000" dirty="0"/>
          </a:p>
        </p:txBody>
      </p:sp>
      <p:sp>
        <p:nvSpPr>
          <p:cNvPr id="65" name="Shape 62"/>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66" name="Text 63"/>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بَسِيطٌ / بَسِيطَةٌ</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simple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ba-sī-ṭun / ba-sī-ṭa-tun</a:t>
            </a:r>
            <a:endParaRPr lang="en-US" sz="1350" dirty="0"/>
          </a:p>
        </p:txBody>
      </p:sp>
      <p:sp>
        <p:nvSpPr>
          <p:cNvPr id="69" name="Shape 66"/>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1" name="Text 68"/>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بُسَطَاءُ</a:t>
            </a:r>
            <a:endParaRPr lang="ar-SA" sz="1500" dirty="0"/>
          </a:p>
        </p:txBody>
      </p:sp>
      <p:sp>
        <p:nvSpPr>
          <p:cNvPr id="72" name="Shape 69"/>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74" name="Text 71"/>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بَسِيطَةٌ</a:t>
            </a:r>
            <a:endParaRPr lang="ar-SA" sz="1500" dirty="0"/>
          </a:p>
        </p:txBody>
      </p:sp>
      <p:sp>
        <p:nvSpPr>
          <p:cNvPr id="75" name="Shape 72"/>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77" name="Text 74"/>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بَسِيطٌ</a:t>
            </a:r>
            <a:endParaRPr lang="ar-SA" sz="150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D2-L06 · Appearance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46" b="1" spc="150" kern="0" dirty="0">
                <a:solidFill>
                  <a:srgbClr val="1B3B6F"/>
                </a:solidFill>
                <a:latin typeface="Calibri" pitchFamily="34" charset="0"/>
                <a:ea typeface="Calibri" pitchFamily="34" charset="-122"/>
                <a:cs typeface="Calibri" pitchFamily="34" charset="-120"/>
              </a:rPr>
              <a:t>GRAMMAR FOCUS · PART 1 · THE PORTRAIT IN ORDER: HE VS SHE (WEBSITE RULES + TABLE)</a:t>
            </a:r>
            <a:endParaRPr lang="en-US" sz="846"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Height → hair → eyes → clothes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450" b="1" dirty="0">
                <a:solidFill>
                  <a:srgbClr val="8A6D1E"/>
                </a:solidFill>
                <a:latin typeface="Amiri" pitchFamily="34" charset="0"/>
                <a:ea typeface="Amiri" pitchFamily="34" charset="-122"/>
                <a:cs typeface="Amiri" pitchFamily="34" charset="-120"/>
              </a:rPr>
              <a:t>القَامَةُ ← الشَّعْرُ ← العَيْنَانِ ← المَلَابِسُ</a:t>
            </a:r>
            <a:endParaRPr lang="ar-SA" sz="245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72984"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He</a:t>
            </a:r>
            <a:endParaRPr lang="en-US" sz="1100" dirty="0"/>
          </a:p>
        </p:txBody>
      </p:sp>
      <p:sp>
        <p:nvSpPr>
          <p:cNvPr id="17" name="Text 14"/>
          <p:cNvSpPr txBox="1"/>
          <p:nvPr/>
        </p:nvSpPr>
        <p:spPr>
          <a:xfrm>
            <a:off x="3758184" y="1810512"/>
            <a:ext cx="3968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She</a:t>
            </a:r>
            <a:endParaRPr lang="en-US" sz="1100" dirty="0"/>
          </a:p>
        </p:txBody>
      </p:sp>
      <p:sp>
        <p:nvSpPr>
          <p:cNvPr id="18" name="Text 15"/>
          <p:cNvSpPr txBox="1"/>
          <p:nvPr/>
        </p:nvSpPr>
        <p:spPr>
          <a:xfrm>
            <a:off x="530352" y="1810512"/>
            <a:ext cx="3081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Step</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91272" y="2267712"/>
            <a:ext cx="37490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هُوَ طَوِيلُ القَامَةِ.</a:t>
            </a:r>
            <a:endParaRPr lang="ar-SA" sz="2400" dirty="0"/>
          </a:p>
        </p:txBody>
      </p:sp>
      <p:sp>
        <p:nvSpPr>
          <p:cNvPr id="21" name="Text 18"/>
          <p:cNvSpPr txBox="1"/>
          <p:nvPr/>
        </p:nvSpPr>
        <p:spPr>
          <a:xfrm>
            <a:off x="3776472" y="2267712"/>
            <a:ext cx="39319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هِيَ طَوِيلَ</a:t>
            </a:r>
            <a:pPr rtl="1" algn="ctr" indent="0" marL="0">
              <a:buNone/>
            </a:pPr>
            <a:r>
              <a:rPr lang="ar-SA" altLang="en-US" sz="2400" b="1" dirty="0">
                <a:solidFill>
                  <a:srgbClr val="D6336C"/>
                </a:solidFill>
                <a:latin typeface="Amiri" pitchFamily="34" charset="0"/>
                <a:ea typeface="Amiri" pitchFamily="34" charset="-122"/>
                <a:cs typeface="Amiri" pitchFamily="34" charset="-120"/>
              </a:rPr>
              <a:t>ةُ</a:t>
            </a:r>
            <a:pPr rtl="1" algn="ctr" indent="0" marL="0">
              <a:buNone/>
            </a:pPr>
            <a:r>
              <a:rPr lang="ar-SA" altLang="en-US" sz="2400" b="1" dirty="0">
                <a:solidFill>
                  <a:srgbClr val="1B3B6F"/>
                </a:solidFill>
                <a:latin typeface="Amiri" pitchFamily="34" charset="0"/>
                <a:ea typeface="Amiri" pitchFamily="34" charset="-122"/>
                <a:cs typeface="Amiri" pitchFamily="34" charset="-120"/>
              </a:rPr>
              <a:t> القَامَةِ.</a:t>
            </a:r>
            <a:endParaRPr lang="ar-SA" sz="2400" dirty="0"/>
          </a:p>
        </p:txBody>
      </p:sp>
      <p:sp>
        <p:nvSpPr>
          <p:cNvPr id="22" name="Text 19"/>
          <p:cNvSpPr txBox="1"/>
          <p:nvPr/>
        </p:nvSpPr>
        <p:spPr>
          <a:xfrm>
            <a:off x="566928" y="2267712"/>
            <a:ext cx="3044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height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891272" y="3004718"/>
            <a:ext cx="3749040" cy="682142"/>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لَهُ</a:t>
            </a:r>
            <a:pPr rtl="1" algn="ctr" indent="0" marL="0">
              <a:buNone/>
            </a:pPr>
            <a:r>
              <a:rPr lang="ar-SA" altLang="en-US" sz="2400" b="1" dirty="0">
                <a:solidFill>
                  <a:srgbClr val="1B3B6F"/>
                </a:solidFill>
                <a:latin typeface="Amiri" pitchFamily="34" charset="0"/>
                <a:ea typeface="Amiri" pitchFamily="34" charset="-122"/>
                <a:cs typeface="Amiri" pitchFamily="34" charset="-120"/>
              </a:rPr>
              <a:t> شَعْرٌ قَصِيرٌ وَمُجَعَّدٌ.</a:t>
            </a:r>
            <a:endParaRPr lang="ar-SA" sz="2400" dirty="0"/>
          </a:p>
        </p:txBody>
      </p:sp>
      <p:sp>
        <p:nvSpPr>
          <p:cNvPr id="27" name="Text 24"/>
          <p:cNvSpPr txBox="1"/>
          <p:nvPr/>
        </p:nvSpPr>
        <p:spPr>
          <a:xfrm>
            <a:off x="3776472" y="3004718"/>
            <a:ext cx="3931920" cy="682142"/>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34" charset="0"/>
                <a:ea typeface="Amiri" pitchFamily="34" charset="-122"/>
                <a:cs typeface="Amiri" pitchFamily="34" charset="-120"/>
              </a:rPr>
              <a:t>لَهَا</a:t>
            </a:r>
            <a:pPr rtl="1" algn="ctr" indent="0" marL="0">
              <a:buNone/>
            </a:pPr>
            <a:r>
              <a:rPr lang="ar-SA" altLang="en-US" sz="2400" b="1" dirty="0">
                <a:solidFill>
                  <a:srgbClr val="1B3B6F"/>
                </a:solidFill>
                <a:latin typeface="Amiri" pitchFamily="34" charset="0"/>
                <a:ea typeface="Amiri" pitchFamily="34" charset="-122"/>
                <a:cs typeface="Amiri" pitchFamily="34" charset="-120"/>
              </a:rPr>
              <a:t> شَعْرٌ طَوِيلٌ مُسْتَقِيمٌ.</a:t>
            </a:r>
            <a:endParaRPr lang="ar-SA" sz="2400" dirty="0"/>
          </a:p>
        </p:txBody>
      </p:sp>
      <p:sp>
        <p:nvSpPr>
          <p:cNvPr id="28" name="Text 25"/>
          <p:cNvSpPr txBox="1"/>
          <p:nvPr/>
        </p:nvSpPr>
        <p:spPr>
          <a:xfrm>
            <a:off x="566928" y="3004718"/>
            <a:ext cx="3044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 · hair (he / she has)</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7891272" y="3741725"/>
            <a:ext cx="37490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شَعْرُ</a:t>
            </a:r>
            <a:pPr rtl="1" algn="ctr" indent="0" marL="0">
              <a:buNone/>
            </a:pPr>
            <a:r>
              <a:rPr lang="ar-SA" altLang="en-US" sz="2400" b="1" dirty="0">
                <a:solidFill>
                  <a:srgbClr val="1D5FBF"/>
                </a:solidFill>
                <a:latin typeface="Amiri" pitchFamily="34" charset="0"/>
                <a:ea typeface="Amiri" pitchFamily="34" charset="-122"/>
                <a:cs typeface="Amiri" pitchFamily="34" charset="-120"/>
              </a:rPr>
              <a:t>هُ</a:t>
            </a:r>
            <a:pPr rtl="1" algn="ctr" indent="0" marL="0">
              <a:buNone/>
            </a:pPr>
            <a:r>
              <a:rPr lang="ar-SA" altLang="en-US" sz="2400" b="1" dirty="0">
                <a:solidFill>
                  <a:srgbClr val="1B3B6F"/>
                </a:solidFill>
                <a:latin typeface="Amiri" pitchFamily="34" charset="0"/>
                <a:ea typeface="Amiri" pitchFamily="34" charset="-122"/>
                <a:cs typeface="Amiri" pitchFamily="34" charset="-120"/>
              </a:rPr>
              <a:t> قَصِيرٌ.</a:t>
            </a:r>
            <a:endParaRPr lang="ar-SA" sz="2400" dirty="0"/>
          </a:p>
        </p:txBody>
      </p:sp>
      <p:sp>
        <p:nvSpPr>
          <p:cNvPr id="33" name="Text 30"/>
          <p:cNvSpPr txBox="1"/>
          <p:nvPr/>
        </p:nvSpPr>
        <p:spPr>
          <a:xfrm>
            <a:off x="3776472" y="3741725"/>
            <a:ext cx="39319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شَعْرُ</a:t>
            </a:r>
            <a:pPr rtl="1" algn="ctr" indent="0" marL="0">
              <a:buNone/>
            </a:pPr>
            <a:r>
              <a:rPr lang="ar-SA" altLang="en-US" sz="2400" b="1" dirty="0">
                <a:solidFill>
                  <a:srgbClr val="D6336C"/>
                </a:solidFill>
                <a:latin typeface="Amiri" pitchFamily="34" charset="0"/>
                <a:ea typeface="Amiri" pitchFamily="34" charset="-122"/>
                <a:cs typeface="Amiri" pitchFamily="34" charset="-120"/>
              </a:rPr>
              <a:t>هَا</a:t>
            </a:r>
            <a:pPr rtl="1" algn="ctr" indent="0" marL="0">
              <a:buNone/>
            </a:pPr>
            <a:r>
              <a:rPr lang="ar-SA" altLang="en-US" sz="2400" b="1" dirty="0">
                <a:solidFill>
                  <a:srgbClr val="1B3B6F"/>
                </a:solidFill>
                <a:latin typeface="Amiri" pitchFamily="34" charset="0"/>
                <a:ea typeface="Amiri" pitchFamily="34" charset="-122"/>
                <a:cs typeface="Amiri" pitchFamily="34" charset="-120"/>
              </a:rPr>
              <a:t> طَوِيلٌ.</a:t>
            </a:r>
            <a:endParaRPr lang="ar-SA" sz="2400" dirty="0"/>
          </a:p>
        </p:txBody>
      </p:sp>
      <p:sp>
        <p:nvSpPr>
          <p:cNvPr id="34" name="Text 31"/>
          <p:cNvSpPr txBox="1"/>
          <p:nvPr/>
        </p:nvSpPr>
        <p:spPr>
          <a:xfrm>
            <a:off x="566928" y="3741725"/>
            <a:ext cx="3044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 · his / her hair (masc. adjective!)</a:t>
            </a:r>
            <a:endParaRPr lang="en-US" sz="11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7891272" y="4478731"/>
            <a:ext cx="37490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عَيْنَا</a:t>
            </a:r>
            <a:pPr rtl="1" algn="ctr" indent="0" marL="0">
              <a:buNone/>
            </a:pPr>
            <a:r>
              <a:rPr lang="ar-SA" altLang="en-US" sz="2400" b="1" dirty="0">
                <a:solidFill>
                  <a:srgbClr val="1D5FBF"/>
                </a:solidFill>
                <a:latin typeface="Amiri" pitchFamily="34" charset="0"/>
                <a:ea typeface="Amiri" pitchFamily="34" charset="-122"/>
                <a:cs typeface="Amiri" pitchFamily="34" charset="-120"/>
              </a:rPr>
              <a:t>هُ</a:t>
            </a:r>
            <a:pPr rtl="1" algn="ctr" indent="0" marL="0">
              <a:buNone/>
            </a:pPr>
            <a:r>
              <a:rPr lang="ar-SA" altLang="en-US" sz="2400" b="1" dirty="0">
                <a:solidFill>
                  <a:srgbClr val="1B3B6F"/>
                </a:solidFill>
                <a:latin typeface="Amiri" pitchFamily="34" charset="0"/>
                <a:ea typeface="Amiri" pitchFamily="34" charset="-122"/>
                <a:cs typeface="Amiri" pitchFamily="34" charset="-120"/>
              </a:rPr>
              <a:t> زَرْقَا</a:t>
            </a:r>
            <a:pPr rtl="1" algn="ctr" indent="0" marL="0">
              <a:buNone/>
            </a:pPr>
            <a:r>
              <a:rPr lang="ar-SA" altLang="en-US" sz="2400" b="1" dirty="0">
                <a:solidFill>
                  <a:srgbClr val="0E7C86"/>
                </a:solidFill>
                <a:latin typeface="Amiri" pitchFamily="34" charset="0"/>
                <a:ea typeface="Amiri" pitchFamily="34" charset="-122"/>
                <a:cs typeface="Amiri" pitchFamily="34" charset="-120"/>
              </a:rPr>
              <a:t>وَانِ</a:t>
            </a:r>
            <a:pPr rtl="1" algn="ctr" indent="0" marL="0">
              <a:buNone/>
            </a:pPr>
            <a:r>
              <a:rPr lang="ar-SA" altLang="en-US" sz="2400" b="1" dirty="0">
                <a:solidFill>
                  <a:srgbClr val="1B3B6F"/>
                </a:solidFill>
                <a:latin typeface="Amiri" pitchFamily="34" charset="0"/>
                <a:ea typeface="Amiri" pitchFamily="34" charset="-122"/>
                <a:cs typeface="Amiri" pitchFamily="34" charset="-120"/>
              </a:rPr>
              <a:t>.</a:t>
            </a:r>
            <a:endParaRPr lang="ar-SA" sz="2400" dirty="0"/>
          </a:p>
        </p:txBody>
      </p:sp>
      <p:sp>
        <p:nvSpPr>
          <p:cNvPr id="39" name="Text 36"/>
          <p:cNvSpPr txBox="1"/>
          <p:nvPr/>
        </p:nvSpPr>
        <p:spPr>
          <a:xfrm>
            <a:off x="3776472" y="4478731"/>
            <a:ext cx="39319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عَيْنَا</a:t>
            </a:r>
            <a:pPr rtl="1" algn="ctr" indent="0" marL="0">
              <a:buNone/>
            </a:pPr>
            <a:r>
              <a:rPr lang="ar-SA" altLang="en-US" sz="2400" b="1" dirty="0">
                <a:solidFill>
                  <a:srgbClr val="D6336C"/>
                </a:solidFill>
                <a:latin typeface="Amiri" pitchFamily="34" charset="0"/>
                <a:ea typeface="Amiri" pitchFamily="34" charset="-122"/>
                <a:cs typeface="Amiri" pitchFamily="34" charset="-120"/>
              </a:rPr>
              <a:t>هَا</a:t>
            </a:r>
            <a:pPr rtl="1" algn="ctr" indent="0" marL="0">
              <a:buNone/>
            </a:pPr>
            <a:r>
              <a:rPr lang="ar-SA" altLang="en-US" sz="2400" b="1" dirty="0">
                <a:solidFill>
                  <a:srgbClr val="1B3B6F"/>
                </a:solidFill>
                <a:latin typeface="Amiri" pitchFamily="34" charset="0"/>
                <a:ea typeface="Amiri" pitchFamily="34" charset="-122"/>
                <a:cs typeface="Amiri" pitchFamily="34" charset="-120"/>
              </a:rPr>
              <a:t> بُنِّيَّتَ</a:t>
            </a:r>
            <a:pPr rtl="1" algn="ctr" indent="0" marL="0">
              <a:buNone/>
            </a:pPr>
            <a:r>
              <a:rPr lang="ar-SA" altLang="en-US" sz="2400" b="1" dirty="0">
                <a:solidFill>
                  <a:srgbClr val="0E7C86"/>
                </a:solidFill>
                <a:latin typeface="Amiri" pitchFamily="34" charset="0"/>
                <a:ea typeface="Amiri" pitchFamily="34" charset="-122"/>
                <a:cs typeface="Amiri" pitchFamily="34" charset="-120"/>
              </a:rPr>
              <a:t>انِ</a:t>
            </a:r>
            <a:pPr rtl="1" algn="ctr" indent="0" marL="0">
              <a:buNone/>
            </a:pPr>
            <a:r>
              <a:rPr lang="ar-SA" altLang="en-US" sz="2400" b="1" dirty="0">
                <a:solidFill>
                  <a:srgbClr val="1B3B6F"/>
                </a:solidFill>
                <a:latin typeface="Amiri" pitchFamily="34" charset="0"/>
                <a:ea typeface="Amiri" pitchFamily="34" charset="-122"/>
                <a:cs typeface="Amiri" pitchFamily="34" charset="-120"/>
              </a:rPr>
              <a:t>.</a:t>
            </a:r>
            <a:endParaRPr lang="ar-SA" sz="2400" dirty="0"/>
          </a:p>
        </p:txBody>
      </p:sp>
      <p:sp>
        <p:nvSpPr>
          <p:cNvPr id="40" name="Text 37"/>
          <p:cNvSpPr txBox="1"/>
          <p:nvPr/>
        </p:nvSpPr>
        <p:spPr>
          <a:xfrm>
            <a:off x="566928" y="4478731"/>
            <a:ext cx="3044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 · eyes (two, feminine)</a:t>
            </a:r>
            <a:endParaRPr lang="en-US" sz="110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7891272" y="5215738"/>
            <a:ext cx="37490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يَرْتَدِي نَظَّارَةً وَقَمِيصًا أَبْيَضَ.</a:t>
            </a:r>
            <a:endParaRPr lang="ar-SA" sz="2400" dirty="0"/>
          </a:p>
        </p:txBody>
      </p:sp>
      <p:sp>
        <p:nvSpPr>
          <p:cNvPr id="43" name="Text 40"/>
          <p:cNvSpPr txBox="1"/>
          <p:nvPr/>
        </p:nvSpPr>
        <p:spPr>
          <a:xfrm>
            <a:off x="3776472" y="5215738"/>
            <a:ext cx="39319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تَرْتَدِي حِجَابًا أَزْرَقَ.</a:t>
            </a:r>
            <a:endParaRPr lang="ar-SA" sz="2400" dirty="0"/>
          </a:p>
        </p:txBody>
      </p:sp>
      <p:sp>
        <p:nvSpPr>
          <p:cNvPr id="44" name="Text 41"/>
          <p:cNvSpPr txBox="1"/>
          <p:nvPr/>
        </p:nvSpPr>
        <p:spPr>
          <a:xfrm>
            <a:off x="566928" y="5215738"/>
            <a:ext cx="3044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 · clothes (-an after “wears”)</a:t>
            </a:r>
            <a:endParaRPr lang="en-US" sz="11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rule: organise the details and avoid judgemental language — describe, don’t judge.</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D2-L06 · Appearance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66" b="1" spc="150" kern="0" dirty="0">
                <a:solidFill>
                  <a:srgbClr val="1B3B6F"/>
                </a:solidFill>
                <a:latin typeface="Calibri" pitchFamily="34" charset="0"/>
                <a:ea typeface="Calibri" pitchFamily="34" charset="-122"/>
                <a:cs typeface="Calibri" pitchFamily="34" charset="-120"/>
              </a:rPr>
              <a:t>GRAMMAR FOCUS · PART 2 · THE ONE WHO … (WEBSITE RULE) · DEVELOP / STRETCH</a:t>
            </a:r>
            <a:endParaRPr lang="en-US" sz="966"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Who is who in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الَّذِي · الَّتِي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D2-L06</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57734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MASCULINE · DEVELOP</a:t>
            </a:r>
            <a:endParaRPr lang="en-US" sz="850" dirty="0"/>
          </a:p>
        </p:txBody>
      </p:sp>
      <p:sp>
        <p:nvSpPr>
          <p:cNvPr id="18" name="Text 15"/>
          <p:cNvSpPr txBox="1"/>
          <p:nvPr/>
        </p:nvSpPr>
        <p:spPr>
          <a:xfrm>
            <a:off x="9855708"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الَّذِي</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34" charset="0"/>
                <a:ea typeface="Amiri" pitchFamily="34" charset="-122"/>
                <a:cs typeface="Amiri" pitchFamily="34" charset="-120"/>
              </a:rPr>
              <a:t>هُوَ الشَّابُّ الَّذِي يَرْتَدِي نَظَّارَةً.</a:t>
            </a:r>
            <a:endParaRPr lang="ar-SA" sz="25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He is the young man who wears glasses.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Man / boy → alladhī + ya-.</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508760" cy="274320"/>
          </a:xfrm>
          <a:prstGeom prst="roundRect">
            <a:avLst>
              <a:gd name="adj" fmla="val 50000"/>
            </a:avLst>
          </a:prstGeom>
          <a:solidFill>
            <a:srgbClr val="B83227"/>
          </a:solidFill>
          <a:ln w="12700">
            <a:solidFill>
              <a:srgbClr val="B83227"/>
            </a:solidFill>
            <a:prstDash val="solid"/>
          </a:ln>
        </p:spPr>
      </p:sp>
      <p:sp>
        <p:nvSpPr>
          <p:cNvPr id="25" name="Text 22"/>
          <p:cNvSpPr txBox="1"/>
          <p:nvPr/>
        </p:nvSpPr>
        <p:spPr>
          <a:xfrm>
            <a:off x="4413504"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FEMININE · DEVELOP</a:t>
            </a:r>
            <a:endParaRPr lang="en-US" sz="850" dirty="0"/>
          </a:p>
        </p:txBody>
      </p:sp>
      <p:sp>
        <p:nvSpPr>
          <p:cNvPr id="26" name="Text 23"/>
          <p:cNvSpPr txBox="1"/>
          <p:nvPr/>
        </p:nvSpPr>
        <p:spPr>
          <a:xfrm>
            <a:off x="5967984"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الَّتِي</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350" b="1" dirty="0">
                <a:solidFill>
                  <a:srgbClr val="1B3B6F"/>
                </a:solidFill>
                <a:latin typeface="Amiri" pitchFamily="34" charset="0"/>
                <a:ea typeface="Amiri" pitchFamily="34" charset="-122"/>
                <a:cs typeface="Amiri" pitchFamily="34" charset="-120"/>
              </a:rPr>
              <a:t>هِيَ الفَتَاةُ الَّتِي لَهَا شَعْرٌ طَوِيلٌ.</a:t>
            </a:r>
            <a:endParaRPr lang="ar-SA" sz="23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She is the girl who has long hair.</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Woman / girl → allatī.</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7734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INFERENCE · STRETCH</a:t>
            </a:r>
            <a:endParaRPr lang="en-US" sz="850" dirty="0"/>
          </a:p>
        </p:txBody>
      </p:sp>
      <p:sp>
        <p:nvSpPr>
          <p:cNvPr id="34" name="Text 31"/>
          <p:cNvSpPr txBox="1"/>
          <p:nvPr/>
        </p:nvSpPr>
        <p:spPr>
          <a:xfrm>
            <a:off x="2217420"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يَبْدُو / تَبْدُو</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يَبْدُو هَادِئًا لِأَنَّهُ يَسْتَمِعُ إِلَى الآخَرِينَ.</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He seems calm because he listens to others.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Behaviour, not looks.</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common error: a masculine person takes alladhī.</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الوَلَدُ الَّذِي يَرْتَدِي نَظَّارَةً</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34" charset="0"/>
                <a:ea typeface="Amiri" pitchFamily="34" charset="-122"/>
                <a:cs typeface="Amiri" pitchFamily="34" charset="-120"/>
              </a:rPr>
              <a:t>الوَلَدُ الَّتِي تَرْتَدِي نَظَّارَةً</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D2-L06 · Appearance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00" b="1" dirty="0">
                <a:solidFill>
                  <a:srgbClr val="1B3B6F"/>
                </a:solidFill>
                <a:latin typeface="Cambria" pitchFamily="34" charset="0"/>
                <a:ea typeface="Cambria" pitchFamily="34" charset="-122"/>
                <a:cs typeface="Cambria" pitchFamily="34" charset="-120"/>
              </a:rPr>
              <a:t>Physical description, possession and relative clauses</a:t>
            </a:r>
            <a:endParaRPr lang="en-US" sz="1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350" b="1" dirty="0">
                <a:solidFill>
                  <a:srgbClr val="8A6D1E"/>
                </a:solidFill>
                <a:latin typeface="Amiri" pitchFamily="34" charset="0"/>
                <a:ea typeface="Amiri" pitchFamily="34" charset="-122"/>
                <a:cs typeface="Amiri" pitchFamily="34" charset="-120"/>
              </a:rPr>
              <a:t>وَصْفُ المَظْهَرِ وَالمِلْكِيَّةُ وَالجُمَلُ المَوْصُولَةُ</a:t>
            </a:r>
            <a:endParaRPr lang="ar-SA" sz="23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D2-L06</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Possession with </a:t>
            </a:r>
            <a:pPr algn="l" indent="0" marL="0">
              <a:buNone/>
            </a:pPr>
            <a:r>
              <a:rPr lang="ar-SA" altLang="en-US" sz="1650" b="1" dirty="0">
                <a:solidFill>
                  <a:srgbClr val="1B3B6F"/>
                </a:solidFill>
                <a:latin typeface="Amiri" pitchFamily="34" charset="0"/>
                <a:ea typeface="Amiri" pitchFamily="34" charset="-122"/>
                <a:cs typeface="Amiri" pitchFamily="34" charset="-120"/>
              </a:rPr>
              <a:t>لَهُ / لَهَا</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لَهُ / لَهَا + اِسْمٌ</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لَهُ شَعْرٌ قَصِيرٌ.   ·   لَهَا عَيْنَانِ بُنِّيَّتَانِ.</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Body-feature agreement</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اِسْمٌ + صِفَةٌ مُطَابِقَةٌ</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شَعْرُهَا طَوِيلٌ وَمُجَعَّدٌ.   ·   عَيْنَاهُ زَرْقَاوَانِ.</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Relative clause</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الشَّخْصُ الَّذِي / الفَتَاةُ الَّتِي</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هُوَ الشَّخْصُ الَّذِي يَرْتَدِي نَظَّارَةً.   ·   هِيَ الفَتَاةُ الَّتِي لَهَا شَعْرٌ طَوِيلٌ.</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Respectful portrait order</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القَامَةُ ← الشَّعْرُ ← العَيْنَانِ ← المَلَابِسُ</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هِيَ مُتَوَسِّطَةُ القَامَةِ، وَلَهَا شَعْرٌ قَصِيرٌ، وَتَرْتَدِي مِعْطَفًا أَزْرَقَ.</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D2-L06 · Appearance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“She has long hair.”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لَهُ شَعْرٌ طَوِيلَةٌ.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شَعْرُهَا طَوِيلَةٌ.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لَهَا شَعْرٌ طَوِيلٌ.</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boy who wears glasses”.</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الوَلَدُ الَّذِي يَرْتَدِي نَظَّارَةً</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الوَلَدُ الَّتِي تَرْتَدِي نَظَّارَةً</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البِنْتُ الَّذِي يَرْتَدِي</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5" name="Text 42"/>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عَيْنَاهَا ___.</a:t>
            </a:r>
            <a:endParaRPr lang="ar-SA" sz="150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بُنِّيٌّ</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بُنِّيَّتَانِ</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بُنِّيَّةٌ</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accurate hair description.</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شَعْرُهُ قَصِيرٌ وَمُجَعَّدٌ.</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شَعْرُهُ قَصِيرَةٌ وَمُجَعَّدَةٌ.</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شَعْرُهَا قَصِيرًا.</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D2-L06 · Appearance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“She has long hair.”</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لَهُ شَعْرٌ طَوِيلَةٌ.</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هِيَ شَعْرُهَا طَوِيلَةٌ.</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لَهَا شَعْرٌ طَوِيلٌ.</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لَهَا</a:t>
            </a:r>
            <a:pPr algn="l" indent="0" marL="0">
              <a:buNone/>
            </a:pPr>
            <a:r>
              <a:rPr lang="en-US" sz="1050" i="1" dirty="0">
                <a:solidFill>
                  <a:srgbClr val="8A6D1E"/>
                </a:solidFill>
                <a:latin typeface="Calibri" pitchFamily="34" charset="0"/>
                <a:ea typeface="Calibri" pitchFamily="34" charset="-122"/>
                <a:cs typeface="Calibri" pitchFamily="34" charset="-120"/>
              </a:rPr>
              <a:t> + masculine </a:t>
            </a:r>
            <a:pPr algn="l" indent="0" marL="0">
              <a:buNone/>
            </a:pPr>
            <a:r>
              <a:rPr lang="ar-SA" altLang="en-US" sz="1350" dirty="0">
                <a:solidFill>
                  <a:srgbClr val="8A6D1E"/>
                </a:solidFill>
                <a:latin typeface="Amiri" pitchFamily="34" charset="0"/>
                <a:ea typeface="Amiri" pitchFamily="34" charset="-122"/>
                <a:cs typeface="Amiri" pitchFamily="34" charset="-120"/>
              </a:rPr>
              <a:t>شَعْرٌ</a:t>
            </a:r>
            <a:pPr algn="l" indent="0" marL="0">
              <a:buNone/>
            </a:pPr>
            <a:r>
              <a:rPr lang="en-US" sz="1050" i="1" dirty="0">
                <a:solidFill>
                  <a:srgbClr val="8A6D1E"/>
                </a:solidFill>
                <a:latin typeface="Calibri" pitchFamily="34" charset="0"/>
                <a:ea typeface="Calibri" pitchFamily="34" charset="-122"/>
                <a:cs typeface="Calibri" pitchFamily="34" charset="-120"/>
              </a:rPr>
              <a:t> + </a:t>
            </a:r>
            <a:pPr algn="l" indent="0" marL="0">
              <a:buNone/>
            </a:pPr>
            <a:r>
              <a:rPr lang="ar-SA" altLang="en-US" sz="1350" dirty="0">
                <a:solidFill>
                  <a:srgbClr val="8A6D1E"/>
                </a:solidFill>
                <a:latin typeface="Amiri" pitchFamily="34" charset="0"/>
                <a:ea typeface="Amiri" pitchFamily="34" charset="-122"/>
                <a:cs typeface="Amiri" pitchFamily="34" charset="-120"/>
              </a:rPr>
              <a:t>طَوِيلٌ</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boy who wears glasses”.</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الوَلَدُ الَّذِي يَرْتَدِي نَظَّارَةً</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الوَلَدُ الَّتِي تَرْتَدِي نَظَّارَةً</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البِنْتُ الَّذِي يَرْتَدِي</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Masculine antecedent takes </a:t>
            </a:r>
            <a:pPr algn="l" indent="0" marL="0">
              <a:buNone/>
            </a:pPr>
            <a:r>
              <a:rPr lang="ar-SA" altLang="en-US" sz="1350" dirty="0">
                <a:solidFill>
                  <a:srgbClr val="8A6D1E"/>
                </a:solidFill>
                <a:latin typeface="Amiri" pitchFamily="34" charset="0"/>
                <a:ea typeface="Amiri" pitchFamily="34" charset="-122"/>
                <a:cs typeface="Amiri" pitchFamily="34" charset="-120"/>
              </a:rPr>
              <a:t>الذي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9" name="Text 46"/>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عَيْنَاهَا ___.</a:t>
            </a:r>
            <a:endParaRPr lang="ar-SA" sz="150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بُنِّيٌّ</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بُنِّيَّتَانِ</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بُنِّيَّةٌ</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Dual feminine agreement.</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accurate hair description.</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شَعْرُهُ قَصِيرٌ وَمُجَعَّدٌ.</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شَعْرُهُ قَصِيرَةٌ وَمُجَعَّدَةٌ.</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شَعْرُهَا قَصِيرًا.</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شَعْرٌ</a:t>
            </a:r>
            <a:pPr algn="l" indent="0" marL="0">
              <a:buNone/>
            </a:pPr>
            <a:r>
              <a:rPr lang="en-US" sz="1050" i="1" dirty="0">
                <a:solidFill>
                  <a:srgbClr val="8A6D1E"/>
                </a:solidFill>
                <a:latin typeface="Calibri" pitchFamily="34" charset="0"/>
                <a:ea typeface="Calibri" pitchFamily="34" charset="-122"/>
                <a:cs typeface="Calibri" pitchFamily="34" charset="-120"/>
              </a:rPr>
              <a:t> is masculine.</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D2-L06 · Appearance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ea typeface="Cambria" pitchFamily="34" charset="-122"/>
                <a:cs typeface="Cambria" pitchFamily="34" charset="-120"/>
              </a:rPr>
              <a:t>Watch me describe a person in a picture</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D2-L06</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Height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هِيَ مُتَوَسِّطَ</a:t>
            </a:r>
            <a:pPr rtl="1" algn="ctr" indent="0" marL="0">
              <a:buNone/>
            </a:pPr>
            <a:r>
              <a:rPr lang="ar-SA" altLang="en-US" sz="2800" b="1" dirty="0">
                <a:solidFill>
                  <a:srgbClr val="D6336C"/>
                </a:solidFill>
                <a:latin typeface="Amiri" pitchFamily="34" charset="0"/>
                <a:ea typeface="Amiri" pitchFamily="34" charset="-122"/>
                <a:cs typeface="Amiri" pitchFamily="34" charset="-120"/>
              </a:rPr>
              <a:t>ةُ</a:t>
            </a:r>
            <a:pPr rtl="1" algn="ctr" indent="0" marL="0">
              <a:buNone/>
            </a:pPr>
            <a:r>
              <a:rPr lang="ar-SA" altLang="en-US" sz="2800" b="1" dirty="0">
                <a:solidFill>
                  <a:srgbClr val="1B3B6F"/>
                </a:solidFill>
                <a:latin typeface="Amiri" pitchFamily="34" charset="0"/>
                <a:ea typeface="Amiri" pitchFamily="34" charset="-122"/>
                <a:cs typeface="Amiri" pitchFamily="34" charset="-120"/>
              </a:rPr>
              <a:t> القَامَةِ.</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She → -atu.</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Hair</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34" charset="0"/>
                <a:ea typeface="Amiri" pitchFamily="34" charset="-122"/>
                <a:cs typeface="Amiri" pitchFamily="34" charset="-120"/>
              </a:rPr>
              <a:t>لَهَا</a:t>
            </a:r>
            <a:pPr rtl="1" algn="ctr" indent="0" marL="0">
              <a:buNone/>
            </a:pPr>
            <a:r>
              <a:rPr lang="ar-SA" altLang="en-US" sz="2400" b="1" dirty="0">
                <a:solidFill>
                  <a:srgbClr val="1B3B6F"/>
                </a:solidFill>
                <a:latin typeface="Amiri" pitchFamily="34" charset="0"/>
                <a:ea typeface="Amiri" pitchFamily="34" charset="-122"/>
                <a:cs typeface="Amiri" pitchFamily="34" charset="-120"/>
              </a:rPr>
              <a:t> شَعْرٌ طَوِيلٌ مُسْتَقِيمٌ.</a:t>
            </a:r>
            <a:endParaRPr lang="ar-SA" sz="24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She has … hair is masc.</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Eyes</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عَيْنَا</a:t>
            </a:r>
            <a:pPr rtl="1" algn="ctr" indent="0" marL="0">
              <a:buNone/>
            </a:pPr>
            <a:r>
              <a:rPr lang="ar-SA" altLang="en-US" sz="2800" b="1" dirty="0">
                <a:solidFill>
                  <a:srgbClr val="D6336C"/>
                </a:solidFill>
                <a:latin typeface="Amiri" pitchFamily="34" charset="0"/>
                <a:ea typeface="Amiri" pitchFamily="34" charset="-122"/>
                <a:cs typeface="Amiri" pitchFamily="34" charset="-120"/>
              </a:rPr>
              <a:t>هَا</a:t>
            </a:r>
            <a:pPr rtl="1" algn="ctr" indent="0" marL="0">
              <a:buNone/>
            </a:pPr>
            <a:r>
              <a:rPr lang="ar-SA" altLang="en-US" sz="2800" b="1" dirty="0">
                <a:solidFill>
                  <a:srgbClr val="1B3B6F"/>
                </a:solidFill>
                <a:latin typeface="Amiri" pitchFamily="34" charset="0"/>
                <a:ea typeface="Amiri" pitchFamily="34" charset="-122"/>
                <a:cs typeface="Amiri" pitchFamily="34" charset="-120"/>
              </a:rPr>
              <a:t> بُنِّيَّتَ</a:t>
            </a:r>
            <a:pPr rtl="1" algn="ctr" indent="0" marL="0">
              <a:buNone/>
            </a:pPr>
            <a:r>
              <a:rPr lang="ar-SA" altLang="en-US" sz="2800" b="1" dirty="0">
                <a:solidFill>
                  <a:srgbClr val="0E7C86"/>
                </a:solidFill>
                <a:latin typeface="Amiri" pitchFamily="34" charset="0"/>
                <a:ea typeface="Amiri" pitchFamily="34" charset="-122"/>
                <a:cs typeface="Amiri" pitchFamily="34" charset="-120"/>
              </a:rPr>
              <a:t>انِ</a:t>
            </a:r>
            <a:pPr rtl="1" algn="ctr" indent="0" marL="0">
              <a:buNone/>
            </a:pPr>
            <a:r>
              <a:rPr lang="ar-SA" altLang="en-US" sz="2800" b="1" dirty="0">
                <a:solidFill>
                  <a:srgbClr val="1B3B6F"/>
                </a:solidFill>
                <a:latin typeface="Amiri" pitchFamily="34" charset="0"/>
                <a:ea typeface="Amiri" pitchFamily="34" charset="-122"/>
                <a:cs typeface="Amiri" pitchFamily="34" charset="-120"/>
              </a:rPr>
              <a:t>.</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Two eyes → dual.</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Who + clothes</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هِيَ الفَتَاةُ </a:t>
            </a:r>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الَّتِي</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تَرْتَدِي مِعْطَفًا أَزْرَقَ.</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Girl → allatī.</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SHE / HER</a:t>
            </a:r>
            <a:endParaRPr lang="en-US" sz="800" dirty="0"/>
          </a:p>
        </p:txBody>
      </p:sp>
      <p:sp>
        <p:nvSpPr>
          <p:cNvPr id="47" name="Shape 43"/>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DUAL</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WHO</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هِيَ مُتَوَسِّطَ</a:t>
            </a:r>
            <a:pPr rtl="1" algn="r" indent="0" marL="0">
              <a:lnSpc>
                <a:spcPct val="120000"/>
              </a:lnSpc>
              <a:buNone/>
            </a:pPr>
            <a:r>
              <a:rPr lang="ar-SA" altLang="en-US" sz="1550" b="1" dirty="0">
                <a:solidFill>
                  <a:srgbClr val="D6336C"/>
                </a:solidFill>
                <a:latin typeface="Amiri" pitchFamily="34" charset="0"/>
                <a:ea typeface="Amiri" pitchFamily="34" charset="-122"/>
                <a:cs typeface="Amiri" pitchFamily="34" charset="-120"/>
              </a:rPr>
              <a:t>ةُ</a:t>
            </a:r>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 القَامَةِ، وَ</a:t>
            </a:r>
            <a:pPr rtl="1" algn="r" indent="0" marL="0">
              <a:lnSpc>
                <a:spcPct val="120000"/>
              </a:lnSpc>
              <a:buNone/>
            </a:pPr>
            <a:r>
              <a:rPr lang="ar-SA" altLang="en-US" sz="1550" b="1" dirty="0">
                <a:solidFill>
                  <a:srgbClr val="D6336C"/>
                </a:solidFill>
                <a:latin typeface="Amiri" pitchFamily="34" charset="0"/>
                <a:ea typeface="Amiri" pitchFamily="34" charset="-122"/>
                <a:cs typeface="Amiri" pitchFamily="34" charset="-120"/>
              </a:rPr>
              <a:t>لَهَا</a:t>
            </a:r>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 شَعْرٌ طَوِيلٌ مُسْتَقِيمٌ، وَعَيْنَا</a:t>
            </a:r>
            <a:pPr rtl="1" algn="r" indent="0" marL="0">
              <a:lnSpc>
                <a:spcPct val="120000"/>
              </a:lnSpc>
              <a:buNone/>
            </a:pPr>
            <a:r>
              <a:rPr lang="ar-SA" altLang="en-US" sz="1550" b="1" dirty="0">
                <a:solidFill>
                  <a:srgbClr val="D6336C"/>
                </a:solidFill>
                <a:latin typeface="Amiri" pitchFamily="34" charset="0"/>
                <a:ea typeface="Amiri" pitchFamily="34" charset="-122"/>
                <a:cs typeface="Amiri" pitchFamily="34" charset="-120"/>
              </a:rPr>
              <a:t>هَا</a:t>
            </a:r>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 بُنِّيَّتَ</a:t>
            </a:r>
            <a:pPr rtl="1" algn="r" indent="0" marL="0">
              <a:lnSpc>
                <a:spcPct val="120000"/>
              </a:lnSpc>
              <a:buNone/>
            </a:pPr>
            <a:r>
              <a:rPr lang="ar-SA" altLang="en-US" sz="1550" b="1" dirty="0">
                <a:solidFill>
                  <a:srgbClr val="0E7C86"/>
                </a:solidFill>
                <a:latin typeface="Amiri" pitchFamily="34" charset="0"/>
                <a:ea typeface="Amiri" pitchFamily="34" charset="-122"/>
                <a:cs typeface="Amiri" pitchFamily="34" charset="-120"/>
              </a:rPr>
              <a:t>انِ</a:t>
            </a:r>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 هِيَ الفَتَاةُ </a:t>
            </a:r>
            <a:pPr rtl="1" algn="r" indent="0" marL="0">
              <a:lnSpc>
                <a:spcPct val="120000"/>
              </a:lnSpc>
              <a:buNone/>
            </a:pPr>
            <a:r>
              <a:rPr lang="ar-SA" altLang="en-US" sz="1550" b="1" dirty="0">
                <a:solidFill>
                  <a:srgbClr val="1D5FBF"/>
                </a:solidFill>
                <a:latin typeface="Amiri" pitchFamily="34" charset="0"/>
                <a:ea typeface="Amiri" pitchFamily="34" charset="-122"/>
                <a:cs typeface="Amiri" pitchFamily="34" charset="-120"/>
              </a:rPr>
              <a:t>الَّتِي</a:t>
            </a:r>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 تَرْتَدِي مِعْطَفًا أَزْرَقَ وَحَقِيبَةً سَوْدَاءَ. تَبْدُو وَاثِقَةً لِأَنَّهَا تَتَحَدَّثُ مَعَ الجَمِيعِ.</a:t>
            </a:r>
            <a:endParaRPr lang="ar-SA" sz="155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She is of medium height, she has long straight hair, and her eyes are brown. She is the girl who is wearing a blue coat and a black bag. She seems confident because she talks to everyone.</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D2-L06 · Appearance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D2-L06</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لَهُ شَعْرٌ قَصِيرٌ.</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He has short hair.</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lahu = he has.</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لَهَا عَيْنَانِ بُنِّيَّتَانِ.</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She has brown eyes.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Dual feminine agreement.</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هُوَ الشَّخْصُ الَّذِي يَرْتَدِي نَظَّارَةً.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He is the person who wears glasses.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alladhī for a man.</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500" b="1" dirty="0">
                <a:solidFill>
                  <a:srgbClr val="1B3B6F"/>
                </a:solidFill>
                <a:latin typeface="Amiri" pitchFamily="34" charset="0"/>
                <a:ea typeface="Amiri" pitchFamily="34" charset="-122"/>
                <a:cs typeface="Amiri" pitchFamily="34" charset="-120"/>
              </a:rPr>
              <a:t>هِيَ مُتَوَسِّطَةُ القَامَةِ، وَلَهَا شَعْرٌ قَصِيرٌ، وَتَرْتَدِي مِعْطَفًا أَزْرَقَ.</a:t>
            </a:r>
            <a:endParaRPr lang="ar-SA" sz="25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She is of medium height, has short hair and wears a blue coat.</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Portrait order.</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D2-L06 · Appearance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DESCRIBING APPEARANCE — A FULL PHYSICAL PORTRAIT”</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Who is it?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صِفِ الشَّخْصَ</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D2-L06</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tall</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curly hair</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glasses</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شَعْرُهُ مُجَعَّدٌ.</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هِيَ تَلْبَسُ نَظَّارَةً.</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هُوَ طَوِيلٌ.</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D2-L06 · Appearance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صِفِ الشَّخْصَ</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D2-L06</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tall</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هُوَ طَوِيلٌ.</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He is tall.</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curly hair</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شَعْرُهُ مُجَعَّدٌ.</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His hair is curly.</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glasses</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هِيَ تَلْبَسُ نَظَّارَةً.</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She wears glasses.</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D2-L06 · Appearance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Accurate portrait?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D2-L06</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لَهَا شَعْرٌ طَوِيلٌ.</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عَيْنَاهُ زَرْقَاوَانِ.</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الفَتَاةُ الَّتِي تَرْتَدِي حِجَابًا</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هِيَ طَوِيلَةُ القَامَةِ.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لَهُ شَعْرٌ طَوِيلَةٌ.</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عَيْنَاهَا بُنِّيٌّ.</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الوَلَدُ الَّتِي تَرْتَدِي</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هُوَ طَوِيلَةُ القَامَةِ.</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Accurate</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Inaccurate</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D2-L06 · Appearance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D2-L06</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Accurate</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لَهَا شَعْرٌ طَوِيلٌ.</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عَيْنَاهُ زَرْقَاوَانِ.</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الفَتَاةُ الَّتِي تَرْتَدِي حِجَابًا</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هِيَ طَوِيلَةُ القَامَةِ.</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Inaccurate</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لَهُ شَعْرٌ طَوِيلَةٌ.</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عَيْنَاهَا بُنِّيٌّ.</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الوَلَدُ الَّتِي تَرْتَدِي</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هُوَ طَوِيلَةُ القَامَةِ.</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D2-L06 · Appearance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D2-L06</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feminine relative clause.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الفَتَاةُ الَّذِي يَرْتَدِي حِجَابًا</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الوَلَدُ الَّتِي تَرْتَدِي</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الفَتَاةُ الَّتِي تَرْتَدِي حِجَابًا</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respectful and precise?</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 غَرِيبُ الشَّكْلِ.</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 مُتَوَسِّطُ القَامَةِ وَلَهُ شَعْرٌ قَصِيرٌ.</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شَكْلُهُ سَيِّئٌ.</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هِيَ ___ القَامَةِ.</a:t>
            </a:r>
            <a:endParaRPr lang="ar-SA" sz="150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طَوِيلُ</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طَوِيلَةُ</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طَوِيلَةٌ مِنْ</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consistent reference.</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لَهُ شَعْرٌ طَوِيلٌ وَعَيْنَاهَا خَضْرَاوَانِ.</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لَهَا شَعْرٌ طَوِيلَةٌ.</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لَهَا شَعْرٌ طَوِيلٌ وَعَيْنَاهَا خَضْرَاوَانِ.</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D2-L06 · Appearance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D2-L06</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feminine relative clause.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الفَتَاةُ الَّذِي يَرْتَدِي حِجَابًا</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الوَلَدُ الَّتِي تَرْتَدِي</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الفَتَاةُ الَّتِي تَرْتَدِي حِجَابًا</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Feminine antecedent takes </a:t>
            </a:r>
            <a:pPr algn="l" indent="0" marL="0">
              <a:buNone/>
            </a:pPr>
            <a:r>
              <a:rPr lang="ar-SA" altLang="en-US" sz="1350" dirty="0">
                <a:solidFill>
                  <a:srgbClr val="8A6D1E"/>
                </a:solidFill>
                <a:latin typeface="Amiri" pitchFamily="34" charset="0"/>
                <a:ea typeface="Amiri" pitchFamily="34" charset="-122"/>
                <a:cs typeface="Amiri" pitchFamily="34" charset="-120"/>
              </a:rPr>
              <a:t>التي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respectful and precise?</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هُوَ غَرِيبُ الشَّكْلِ.</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هُوَ مُتَوَسِّطُ القَامَةِ وَلَهُ شَعْرٌ قَصِيرٌ.</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شَكْلُهُ سَيِّئٌ.</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describes observable details respectfully.</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هِيَ ___ القَامَةِ.</a:t>
            </a:r>
            <a:endParaRPr lang="ar-SA" sz="150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طَوِيلُ</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طَوِيلَةُ</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طَوِيلَةٌ مِنْ</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compound adjective agrees with feminine subject.</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consistent reference.</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لَهُ شَعْرٌ طَوِيلٌ وَعَيْنَاهَا خَضْرَاوَانِ.</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لَهَا شَعْرٌ طَوِيلَةٌ.</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لَهَا شَعْرٌ طَوِيلٌ وَعَيْنَاهَا خَضْرَاوَانِ.</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All references and adjective agreement are consistent.</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D2-L06 · Appearance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لَهَا شَعْرٌ طَوِيلَةٌ.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Is hair masculine or feminine?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الوَلَدُ الَّتِي يَرْتَدِي نَظَّارَةً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 boy → alladhī or allatī?</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عَيْنَاهَا بُنِّيٌّ.</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Two eyes → which ending?</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D2-L06 · Appearance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لَهَا شَعْرٌ طَوِيلَةٌ.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لَهَا شَعْرٌ طَوِيلٌ.</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شَعْرٌ</a:t>
            </a:r>
            <a:pPr algn="l" indent="0" marL="0">
              <a:buNone/>
            </a:pPr>
            <a:r>
              <a:rPr lang="en-US" sz="1150" b="1" dirty="0">
                <a:solidFill>
                  <a:srgbClr val="1B3B6F"/>
                </a:solidFill>
                <a:latin typeface="Calibri" pitchFamily="34" charset="0"/>
                <a:ea typeface="Calibri" pitchFamily="34" charset="-122"/>
                <a:cs typeface="Calibri" pitchFamily="34" charset="-120"/>
              </a:rPr>
              <a:t> is masculine, even for a girl.</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الوَلَدُ الَّتِي يَرْتَدِي نَظَّارَةً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الوَلَدُ الَّذِي يَرْتَدِي نَظَّارَةً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masculine person takes </a:t>
            </a:r>
            <a:pPr algn="l" indent="0" marL="0">
              <a:buNone/>
            </a:pPr>
            <a:r>
              <a:rPr lang="ar-SA" altLang="en-US" sz="1500" b="1" dirty="0">
                <a:solidFill>
                  <a:srgbClr val="1B3B6F"/>
                </a:solidFill>
                <a:latin typeface="Amiri" pitchFamily="34" charset="0"/>
                <a:ea typeface="Amiri" pitchFamily="34" charset="-122"/>
                <a:cs typeface="Amiri" pitchFamily="34" charset="-120"/>
              </a:rPr>
              <a:t>الَّذِي</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عَيْنَاهَا بُنِّيٌّ.</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عَيْنَاهَا بُنِّيَّتَانِ.</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Two eyes → dual feminine.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D2-L06 · Appearance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Listening focus: physical appearance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D2-L06</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people are described?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three</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tall is the young man?</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short</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medium height</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tall</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his hair like?</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long and straight</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short and straight</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short and curly</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he wear?</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glasses and a white shirt</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blue coat</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black bag</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colour are the girl’s eyes?</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blue</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brown</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green</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can you recognise the girl?</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wears a blue coat and a black bag</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wears glasses</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has short hair</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2 and 5.</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طَوِيلُ القَامَةِ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نَظَّارَةً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بُنِّيَّتَانِ</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D2-L06 · Appearance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D2-L06</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يَصِفُ المُتَحَدِّثُ شَخْصَيْنِ فِي صُورَةٍ.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speaker describes two people in a picture.</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الأَوَّلُ شَابٌّ طَوِيلُ القَامَةِ، لَهُ شَعْرٌ قَصِيرٌ وَمُجَعَّدٌ،</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first is a tall young man; he has short, curly hair,</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وَيَرْتَدِي نَظَّارَةً وَقَمِيصًا أَبْيَضَ.</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and he wears glasses and a white shirt.</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الثَّانِيَةُ فَتَاةٌ مُتَوَسِّطَةُ القَامَةِ، لَهَا شَعْرٌ طَوِيلٌ مُسْتَقِيمٌ وَعَيْنَانِ بُنِّيَّتَانِ.</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second is a girl of medium height; she has long straight hair and brown eyes.</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هِيَ الفَتَاةُ الَّتِي تَرْتَدِي مِعْطَفًا أَزْرَقَ وَحَقِيبَةً سَوْدَاءَ.</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is the girl who is wearing a blue coat and (has) a black bag.</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D2-L06 · Appearance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D2-L06</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people are described?</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two</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three</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يَصِفُ المُتَحَدِّثُ شَخْصَيْنِ.</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tall is the young man?</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short</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medium height</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tall</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شَابٌّ طَوِيلُ القَامَةِ.</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his hair like?</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long and straight</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short and straight</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short and curly</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لَهُ شَعْرٌ قَصِيرٌ وَمُجَعَّدٌ.</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he wear?</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glasses and a white shirt</a:t>
            </a:r>
            <a:endParaRPr lang="en-US" sz="12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blue coat</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black bag</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يَرْتَدِي نَظَّارَةً وَقَمِيصًا أَبْيَضَ.</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colour are the girl’s eyes?</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blue</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brown</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green</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عَيْنَانِ بُنِّيَّتَانِ.</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can you recognise the girl?</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she wears a blue coat and a black bag</a:t>
            </a:r>
            <a:endParaRPr lang="en-US" sz="11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wears glasses</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has short hair</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الَّتِي تَرْتَدِي مِعْطَفًا أَزْرَقَ وَحَقِيبَةً سَوْدَاءَ.</a:t>
            </a:r>
            <a:endParaRPr lang="ar-SA" sz="13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2 and 5.</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طَوِيلُ القَامَةِ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نَظَّارَةً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بُنِّيَّتَانِ</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D2-L06 · Appearance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ea typeface="Cambria" pitchFamily="34" charset="-122"/>
                <a:cs typeface="Cambria" pitchFamily="34" charset="-120"/>
              </a:rPr>
              <a:t>Developed speaking: physical appearance</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D2-L06</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شَخْصًا فِي صُورَةٍ.</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مَلَابِسَ شَخْصٍ تَعْرِفُهُ.</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اِسْتَعْمِلِ الَّذِي أَوِ الَّتِي فِي وَصْفٍ.</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الفَرْقُ بَيْنَ وَصْفِ المَظْهَرِ وَالحُكْمِ عَلَى الشَّخْصِيَّةِ؟</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350" b="1" dirty="0">
                <a:solidFill>
                  <a:srgbClr val="1D5FBF"/>
                </a:solidFill>
                <a:latin typeface="Amiri" pitchFamily="34" charset="0"/>
                <a:ea typeface="Amiri" pitchFamily="34" charset="-122"/>
                <a:cs typeface="Amiri" pitchFamily="34" charset="-120"/>
              </a:rPr>
              <a:t>هُوَ / هِيَ ___ القَامَةِ ، لَهُ / لَهَا شَعْرٌ ___ .</a:t>
            </a:r>
            <a:endParaRPr lang="ar-SA" sz="135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يَرْتَدِي / تَرْتَدِي ___ وَ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34" charset="0"/>
                <a:ea typeface="Amiri" pitchFamily="34" charset="-122"/>
                <a:cs typeface="Amiri" pitchFamily="34" charset="-120"/>
              </a:rPr>
              <a:t>هُوَ الشَّخْصُ الَّذِي … / هِيَ الفَتَاةُ الَّتِي ___ .</a:t>
            </a:r>
            <a:endParaRPr lang="ar-SA" sz="14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34" charset="0"/>
                <a:ea typeface="Amiri" pitchFamily="34" charset="-122"/>
                <a:cs typeface="Amiri" pitchFamily="34" charset="-120"/>
              </a:rPr>
              <a:t>يَبْدُو / تَبْدُو ___ لِأَنَّهُ / لِأَنَّهَا ___ .</a:t>
            </a:r>
            <a:endParaRPr lang="ar-SA" sz="155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مَنْ هُوَ أَخُوكَ فِي الصُّورَةِ؟</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Who is your brother in the picture?</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هُوَ الشَّابُّ الَّذِي يَرْتَدِي نَظَّارَةً.</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He is the young man who wears glasses.</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D2-L06 · Appearance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D2-L06</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Secure the main vocabulary and produce four accurate sentences using the taught frame.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One person in order: height, hair, eyes, two items of clothing (use the Core frames).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Combine description, grammar and a reason in connected answers.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Two people with his / her, eyes (dual) and one “the one who …” sentence.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comparison, contrast, precise evidence and an independently controlled relative clause.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a respectful full portrait of two people — height, hair, eyes, features, clothes and one personality inference from behaviour.</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D2-L06 · Appearance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D2-L06</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شَعْرُهُ قَصِيرٌ وَمُجَعَّدٌ.</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His hair is short and curly.</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شَعْرُهَا طَوِيلٌ وَمُسْتَقِيمٌ.</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Her hair is long and straight.</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هُوَ الشَّخْصُ الَّذِي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He is the person who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هِيَ الفَتَاةُ الَّتِي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She is the girl who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650" b="1" dirty="0">
                <a:solidFill>
                  <a:srgbClr val="1B3B6F"/>
                </a:solidFill>
                <a:latin typeface="Amiri" pitchFamily="34" charset="0"/>
                <a:ea typeface="Amiri" pitchFamily="34" charset="-122"/>
                <a:cs typeface="Amiri" pitchFamily="34" charset="-120"/>
              </a:rPr>
              <a:t>يَبْدُو / تَبْدُو ______ لِأَنَّهُ / لِأَنَّهَا ______ .</a:t>
            </a:r>
            <a:endParaRPr lang="ar-SA" sz="165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He / she seems … because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هُوَ / هِيَ ______ القَامَةِ.</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He / she is tall / short / medium height.</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لَهُ شَعْرٌ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He has … hair.</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لَهَا شَعْرٌ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She has … hair.</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عَيْنَاهُ / عَيْنَاهَا بُنِّيَّتَانِ.</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His / her eyes are brown.</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يَرْتَدِي / تَرْتَدِي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He / she wears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طَوِيلُ القَامَةِ  ·  قَصِيرُ القَامَةِ  ·  مُتَوَسِّطُ القَامَةِ  ·  لَهُ  ·  لَهَا  ·  شَعْرٌ مُجَعَّدٌ  ·  شَعْرٌ مُسْتَقِيمٌ  ·  عَيْنَانِ بُنِّيَّتَانِ  ·  نَظَّارَةً  ·  الَّذِي  ·  الَّتِي  ·  يَبْدُو</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D2-L06 · Appearance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D2-L06</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100–120 Arabic words giving a respectful full portrait of two people. Organise height, hair, eyes, distinguishing features, clothes and one personality inference supported by behaviour.</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Cover every requested content point.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the target grammar accurately.</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Include precise vocabulary from this lesson.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Add a reason, comparison or contrast.</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Review agreement, pronoun reference and connectors.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هٰذِهِ الصُّورَةِ شَخْصَانِ</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in this picture there are two people</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يَبْدُو هَادِئًا لِأَنَّهُ يَسْتَمِعُ إِلَى الآخَرِينَ</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he seems calm because he listens to others</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تَبْدُو وَاثِقَةً وَمَرِحَةً</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she seems confident and cheerful</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لِأَنَّهَا تَتَحَدَّثُ مَعَ الجَمِيعِ</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because she talks to everyone</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لَا يَحْكُمُ عَلَيْهِ مِنْ مَظْهَرِهِ فَقَطْ</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does not judge him by his appearance alone</a:t>
            </a:r>
            <a:endParaRPr lang="en-US" sz="10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D2-L06 · Appearance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550" dirty="0">
                <a:solidFill>
                  <a:srgbClr val="1F2A37"/>
                </a:solidFill>
                <a:latin typeface="Amiri" pitchFamily="34" charset="0"/>
                <a:ea typeface="Amiri" pitchFamily="34" charset="-122"/>
                <a:cs typeface="Amiri" pitchFamily="34" charset="-120"/>
              </a:rPr>
              <a:t>فِي هٰذِهِ الصُّورَةِ شَخْصَانِ. الأَوَّلُ شَابٌّ طَوِيلُ القَامَةِ، لَهُ شَعْرٌ قَصِيرٌ وَمُجَعَّدٌ وَعَيْنَانِ بُنِّيَّتَانِ. هُوَ الشَّخْصُ الَّذِي يَرْتَدِي نَظَّارَةً وَقَمِيصًا أَبْيَضَ وَسِرْوَالًا أَسْوَدَ. يَبْدُو هَادِئًا لِأَنَّهُ يَسْتَمِعُ إِلَى الآخَرِينَ. أَمَّا الفَتَاةُ فَهِيَ مُتَوَسِّطَةُ القَامَةِ، وَلَهَا شَعْرٌ طَوِيلٌ مُسْتَقِيمٌ. هِيَ الفَتَاةُ الَّتِي تَرْتَدِي حِجَابًا أَزْرَقَ وَمِعْطَفًا رَمَادِيًّا. تَبْدُو وَاثِقَةً وَمَرِحَةً لِأَنَّهَا تَتَحَدَّثُ مَعَ الجَمِيعِ. الوَصْفُ الدَّقِيقُ يَحْتَرِمُ الشَّخْصَ وَلَا يَحْكُمُ عَلَيْهِ مِنْ مَظْهَرِهِ فَقَطْ.</a:t>
            </a:r>
            <a:endParaRPr lang="ar-SA" sz="25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In this picture there are two people. The first is a tall young man; he has short, curly hair and brown eyes. He is the person who is wearing glasses, a white shirt and black trousers. He seems calm because he listens to others. As for the girl, she is of medium height and has long straight hair. She is the girl who is wearing a blue headscarf and a grey coat. She seems confident and cheerful because she talks to everyone. A precise description respects the person and does not judge them by their appearance alone.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the portrait order for the young man</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الَّذِي and الَّتِي</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an inference with يَبْدُو … لِأَنَّ</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the respectful closing sentence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46</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D2-L06 · Appearance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D2-L06</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described height, hair, eyes and clothes in order.</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lahu for him and lahā for her.</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Hair adjectives are masculine; eyes are dual.</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alladhī / allatī correctly.</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inference is based on behaviour, not looks.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46</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D2-L06 · Appearance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“She has long hair.”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لَهَا شَعْرٌ طَوِيلٌ.</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لَهُ شَعْرٌ طَوِيلَةٌ.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شَعْرُهَا طَوِيلَةٌ.</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boy who wears glasses”.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الوَلَدُ الَّتِي تَرْتَدِي نَظَّارَةً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الوَلَدُ الَّذِي يَرْتَدِي نَظَّارَةً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البِنْتُ الَّذِي يَرْتَدِي</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عَيْنَاهَا</a:t>
            </a:r>
            <a:pPr algn="l" indent="0" marL="0">
              <a:buNone/>
            </a:pPr>
            <a:r>
              <a:rPr lang="en-US" sz="1250" b="1" dirty="0">
                <a:solidFill>
                  <a:srgbClr val="1B3B6F"/>
                </a:solidFill>
                <a:latin typeface="Calibri" pitchFamily="34" charset="0"/>
                <a:ea typeface="Calibri" pitchFamily="34" charset="-122"/>
                <a:cs typeface="Calibri" pitchFamily="34" charset="-120"/>
              </a:rPr>
              <a:t> ___.</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بُنِّيَّتَانِ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بُنِّيٌّ</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بُنِّيَّةٌ</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46</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D2-L06 · Appearance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“She has long hair.”</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لَهَا شَعْرٌ طَوِيلٌ.</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لَهُ شَعْرٌ طَوِيلَةٌ.</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هِيَ شَعْرُهَا طَوِيلَةٌ.</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لَهَا</a:t>
            </a:r>
            <a:pPr algn="l" indent="0" marL="0">
              <a:buNone/>
            </a:pPr>
            <a:r>
              <a:rPr lang="en-US" sz="1050" i="1" dirty="0">
                <a:solidFill>
                  <a:srgbClr val="8A6D1E"/>
                </a:solidFill>
                <a:latin typeface="Calibri" pitchFamily="34" charset="0"/>
                <a:ea typeface="Calibri" pitchFamily="34" charset="-122"/>
                <a:cs typeface="Calibri" pitchFamily="34" charset="-120"/>
              </a:rPr>
              <a:t> + masculine </a:t>
            </a:r>
            <a:pPr algn="l" indent="0" marL="0">
              <a:buNone/>
            </a:pPr>
            <a:r>
              <a:rPr lang="ar-SA" altLang="en-US" sz="1350" dirty="0">
                <a:solidFill>
                  <a:srgbClr val="8A6D1E"/>
                </a:solidFill>
                <a:latin typeface="Amiri" pitchFamily="34" charset="0"/>
                <a:ea typeface="Amiri" pitchFamily="34" charset="-122"/>
                <a:cs typeface="Amiri" pitchFamily="34" charset="-120"/>
              </a:rPr>
              <a:t>شَعْرٌ</a:t>
            </a:r>
            <a:pPr algn="l" indent="0" marL="0">
              <a:buNone/>
            </a:pPr>
            <a:r>
              <a:rPr lang="en-US" sz="1050" i="1" dirty="0">
                <a:solidFill>
                  <a:srgbClr val="8A6D1E"/>
                </a:solidFill>
                <a:latin typeface="Calibri" pitchFamily="34" charset="0"/>
                <a:ea typeface="Calibri" pitchFamily="34" charset="-122"/>
                <a:cs typeface="Calibri" pitchFamily="34" charset="-120"/>
              </a:rPr>
              <a:t> + </a:t>
            </a:r>
            <a:pPr algn="l" indent="0" marL="0">
              <a:buNone/>
            </a:pPr>
            <a:r>
              <a:rPr lang="ar-SA" altLang="en-US" sz="1350" dirty="0">
                <a:solidFill>
                  <a:srgbClr val="8A6D1E"/>
                </a:solidFill>
                <a:latin typeface="Amiri" pitchFamily="34" charset="0"/>
                <a:ea typeface="Amiri" pitchFamily="34" charset="-122"/>
                <a:cs typeface="Amiri" pitchFamily="34" charset="-120"/>
              </a:rPr>
              <a:t>طَوِيلٌ</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boy who wears glasses”.</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الوَلَدُ الَّتِي تَرْتَدِي نَظَّارَةً</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الوَلَدُ الَّذِي يَرْتَدِي نَظَّارَةً</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البِنْتُ الَّذِي يَرْتَدِي</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Masculine antecedent takes </a:t>
            </a:r>
            <a:pPr algn="l" indent="0" marL="0">
              <a:buNone/>
            </a:pPr>
            <a:r>
              <a:rPr lang="ar-SA" altLang="en-US" sz="1350" dirty="0">
                <a:solidFill>
                  <a:srgbClr val="8A6D1E"/>
                </a:solidFill>
                <a:latin typeface="Amiri" pitchFamily="34" charset="0"/>
                <a:ea typeface="Amiri" pitchFamily="34" charset="-122"/>
                <a:cs typeface="Amiri" pitchFamily="34" charset="-120"/>
              </a:rPr>
              <a:t>الذي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عَيْنَاهَا</a:t>
            </a:r>
            <a:pPr algn="l" indent="0" marL="0">
              <a:buNone/>
            </a:pPr>
            <a:r>
              <a:rPr lang="en-US" sz="1250" b="1" dirty="0">
                <a:solidFill>
                  <a:srgbClr val="1B3B6F"/>
                </a:solidFill>
                <a:latin typeface="Calibri" pitchFamily="34" charset="0"/>
                <a:ea typeface="Calibri" pitchFamily="34" charset="-122"/>
                <a:cs typeface="Calibri" pitchFamily="34" charset="-120"/>
              </a:rPr>
              <a:t> ___.</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بُنِّيَّتَانِ</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بُنِّيٌّ</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بُنِّيَّةٌ</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Dual feminine agreement.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46</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D2-L06 · Appearance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Reading focus: physical appearance</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D2-L06</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فِي الصُّورَةِ عَائِلَةٌ تَقِفُ أَمَامَ البَيْتِ. الأَبُ هُوَ الرَّجُلُ الَّذِي لَهُ لِحْيَةٌ قَصِيرَةٌ وَيَرْتَدِي سُتْرَةً رَمَادِيَّةً. الأُمُّ مُتَوَسِّطَةُ القَامَةِ، وَلَهَا شَعْرٌ طَوِيلٌ، وَتَرْتَدِي حِجَابًا أَخْضَرَ. البِنْتُ الَّتِي تَقِفُ عَلَى اليَمِينِ لَهَا عَيْنَانِ بُنِّيَّتَانِ وَتَرْتَدِي فُسْتَانًا أَزْرَقَ. أَمَّا الوَلَدُ فَهُوَ قَصِيرُ القَامَةِ وَيَرْتَدِي قَمِيصًا رِيَاضِيًّا.</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فِي الصُّورَةِ</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in the picture</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تَقِفُ أَمَامَ</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standing in front of</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الرَّجُلُ</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man</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لِحْيَةٌ قَصِيرَةٌ</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short beard</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رَمَادِيَّةً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grey</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حِجَابًا أَخْضَرَ</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green headscarf</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البِنْتُ</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girl</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عَلَى اليَمِينِ</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on the right</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الوَلَدُ</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boy</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قَمِيصًا رِيَاضِيًّا</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sports shirt</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46</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D2-L06 · Appearance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D2-L06</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the family standing?</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a park</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front of the house</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school</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 we recognise the father?</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glasses</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blue dress</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short beard and a grey jacket</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the mother described?</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medium height, long hair, a green headscarf</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tall with short hair</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short, wearing glasses</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the girl standing?</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the left</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the right</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middle</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girl wearing?</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blue dress</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green headscarf</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sports shirt</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the boy described?</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tall with a beard</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wearing a grey jacket</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short, wearing a sports shirt</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46</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D2-L06 · Appearance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D2-L06</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the family standing?</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a park</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in front of the house</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at school</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تَقِفُ أَمَامَ البَيْتِ.</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 we recognise the father?</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glasses</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blue dress</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a short beard and a grey jacket</a:t>
            </a:r>
            <a:endParaRPr lang="en-US" sz="11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لَهُ لِحْيَةٌ قَصِيرَةٌ وَيَرْتَدِي سُتْرَةً رَمَادِيَّةً.</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the mother described?</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medium height, long hair, a green headscarf</a:t>
            </a:r>
            <a:endParaRPr lang="en-US" sz="11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tall with short hair</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short, wearing glasses</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مُتَوَسِّطَةُ القَامَةِ … حِجَابًا أَخْضَرَ.</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the girl standing?</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 the left</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on the right</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the middle</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البِنْتُ الَّتِي تَقِفُ عَلَى اليَمِينِ.</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girl wearing?</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blue dress</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green headscarf</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sports shirt</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تَرْتَدِي فُسْتَانًا أَزْرَقَ.</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the boy described?</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tall with a beard</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wearing a grey jacket</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short, wearing a sports shirt</a:t>
            </a:r>
            <a:endParaRPr lang="en-US" sz="11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قَصِيرُ القَامَةِ وَيَرْتَدِي قَمِيصًا رِيَاضِيًّا.</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46</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D2-L06 · Appearance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physical appearance Arabic challenge</a:t>
            </a:r>
            <a:endParaRPr lang="en-US" sz="26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D2-L06</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“She has long hair.”</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لَهُ شَعْرٌ طَوِيلَةٌ.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لَهَا شَعْرٌ طَوِيلٌ.</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شَعْرُهَا طَوِيلَةٌ.</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boy who wears glasses”.</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الوَلَدُ الَّذِي يَرْتَدِي نَظَّارَةً</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الوَلَدُ الَّتِي تَرْتَدِي نَظَّارَةً</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البِنْتُ الَّذِي يَرْتَدِي</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عَيْنَاهَا ___.</a:t>
            </a:r>
            <a:endParaRPr lang="ar-SA" sz="150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بُنِّيٌّ</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بُنِّيَّةٌ</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بُنِّيَّتَانِ</a:t>
            </a:r>
            <a:endParaRPr lang="ar-SA" sz="2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accurate hair description.</a:t>
            </a:r>
            <a:endParaRPr lang="en-US" sz="1250" dirty="0"/>
          </a:p>
        </p:txBody>
      </p:sp>
      <p:sp>
        <p:nvSpPr>
          <p:cNvPr id="61" name="Shape 58"/>
          <p:cNvSpPr/>
          <p:nvPr/>
        </p:nvSpPr>
        <p:spPr>
          <a:xfrm>
            <a:off x="640080"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شَعْرُهُ قَصِيرَةٌ وَمُجَعَّدَةٌ.</a:t>
            </a:r>
            <a:endParaRPr lang="ar-SA" sz="2050" dirty="0"/>
          </a:p>
        </p:txBody>
      </p:sp>
      <p:sp>
        <p:nvSpPr>
          <p:cNvPr id="64" name="Shape 61"/>
          <p:cNvSpPr/>
          <p:nvPr/>
        </p:nvSpPr>
        <p:spPr>
          <a:xfrm>
            <a:off x="640080"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شَعْرُهَا قَصِيرًا.</a:t>
            </a:r>
            <a:endParaRPr lang="ar-SA" sz="2050" dirty="0"/>
          </a:p>
        </p:txBody>
      </p:sp>
      <p:sp>
        <p:nvSpPr>
          <p:cNvPr id="67" name="Shape 64"/>
          <p:cNvSpPr/>
          <p:nvPr/>
        </p:nvSpPr>
        <p:spPr>
          <a:xfrm>
            <a:off x="640080"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شَعْرُهُ قَصِيرٌ وَمُجَعَّدٌ.</a:t>
            </a:r>
            <a:endParaRPr lang="ar-SA" sz="2050" dirty="0"/>
          </a:p>
        </p:txBody>
      </p:sp>
      <p:sp>
        <p:nvSpPr>
          <p:cNvPr id="70" name="Shape 67"/>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404360" y="4288536"/>
            <a:ext cx="310896" cy="310896"/>
          </a:xfrm>
          <a:prstGeom prst="ellipse">
            <a:avLst/>
          </a:prstGeom>
          <a:solidFill>
            <a:srgbClr val="1B3B6F"/>
          </a:solidFill>
          <a:ln w="12700">
            <a:solidFill>
              <a:srgbClr val="1B3B6F"/>
            </a:solidFill>
            <a:prstDash val="solid"/>
          </a:ln>
        </p:spPr>
      </p:sp>
      <p:sp>
        <p:nvSpPr>
          <p:cNvPr id="72" name="Text 69"/>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3" name="Text 70"/>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feminine relative clause.</a:t>
            </a:r>
            <a:endParaRPr lang="en-US" sz="1250" dirty="0"/>
          </a:p>
        </p:txBody>
      </p:sp>
      <p:sp>
        <p:nvSpPr>
          <p:cNvPr id="74" name="Shape 71"/>
          <p:cNvSpPr/>
          <p:nvPr/>
        </p:nvSpPr>
        <p:spPr>
          <a:xfrm>
            <a:off x="4459224" y="48737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6" name="Text 73"/>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الفَتَاةُ الَّتِي تَرْتَدِي حِجَابًا</a:t>
            </a:r>
            <a:endParaRPr lang="ar-SA" sz="2050" dirty="0"/>
          </a:p>
        </p:txBody>
      </p:sp>
      <p:sp>
        <p:nvSpPr>
          <p:cNvPr id="77" name="Shape 74"/>
          <p:cNvSpPr/>
          <p:nvPr/>
        </p:nvSpPr>
        <p:spPr>
          <a:xfrm>
            <a:off x="4459224" y="53309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9" name="Text 76"/>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الفَتَاةُ الَّذِي يَرْتَدِي حِجَابًا</a:t>
            </a:r>
            <a:endParaRPr lang="ar-SA" sz="2050" dirty="0"/>
          </a:p>
        </p:txBody>
      </p:sp>
      <p:sp>
        <p:nvSpPr>
          <p:cNvPr id="80" name="Shape 77"/>
          <p:cNvSpPr/>
          <p:nvPr/>
        </p:nvSpPr>
        <p:spPr>
          <a:xfrm>
            <a:off x="4459224" y="5788152"/>
            <a:ext cx="256032" cy="256032"/>
          </a:xfrm>
          <a:prstGeom prst="ellipse">
            <a:avLst/>
          </a:prstGeom>
          <a:solidFill>
            <a:srgbClr val="F4F1EA"/>
          </a:solidFill>
          <a:ln w="12700">
            <a:solidFill>
              <a:srgbClr val="F4F1EA"/>
            </a:solidFill>
            <a:prstDash val="solid"/>
          </a:ln>
        </p:spPr>
      </p:sp>
      <p:sp>
        <p:nvSpPr>
          <p:cNvPr id="81" name="Text 78"/>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2" name="Text 79"/>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الوَلَدُ الَّتِي تَرْتَدِي</a:t>
            </a:r>
            <a:endParaRPr lang="ar-SA" sz="2050" dirty="0"/>
          </a:p>
        </p:txBody>
      </p:sp>
      <p:sp>
        <p:nvSpPr>
          <p:cNvPr id="83" name="Shape 8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8223504" y="4288536"/>
            <a:ext cx="310896" cy="310896"/>
          </a:xfrm>
          <a:prstGeom prst="ellipse">
            <a:avLst/>
          </a:prstGeom>
          <a:solidFill>
            <a:srgbClr val="1B3B6F"/>
          </a:solidFill>
          <a:ln w="12700">
            <a:solidFill>
              <a:srgbClr val="1B3B6F"/>
            </a:solidFill>
            <a:prstDash val="solid"/>
          </a:ln>
        </p:spPr>
      </p:sp>
      <p:sp>
        <p:nvSpPr>
          <p:cNvPr id="85" name="Text 8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6" name="Text 83"/>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respectful and precise?</a:t>
            </a:r>
            <a:endParaRPr lang="en-US" sz="1250" dirty="0"/>
          </a:p>
        </p:txBody>
      </p:sp>
      <p:sp>
        <p:nvSpPr>
          <p:cNvPr id="87" name="Shape 84"/>
          <p:cNvSpPr/>
          <p:nvPr/>
        </p:nvSpPr>
        <p:spPr>
          <a:xfrm>
            <a:off x="8278368" y="48737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9" name="Text 86"/>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هُوَ غَرِيبُ الشَّكْلِ.</a:t>
            </a:r>
            <a:endParaRPr lang="ar-SA" sz="2000" dirty="0"/>
          </a:p>
        </p:txBody>
      </p:sp>
      <p:sp>
        <p:nvSpPr>
          <p:cNvPr id="90" name="Shape 87"/>
          <p:cNvSpPr/>
          <p:nvPr/>
        </p:nvSpPr>
        <p:spPr>
          <a:xfrm>
            <a:off x="8278368" y="53309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2" name="Text 89"/>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هُوَ مُتَوَسِّطُ القَامَةِ وَلَهُ شَعْرٌ قَصِيرٌ.</a:t>
            </a:r>
            <a:endParaRPr lang="ar-SA" sz="2000" dirty="0"/>
          </a:p>
        </p:txBody>
      </p:sp>
      <p:sp>
        <p:nvSpPr>
          <p:cNvPr id="93" name="Shape 90"/>
          <p:cNvSpPr/>
          <p:nvPr/>
        </p:nvSpPr>
        <p:spPr>
          <a:xfrm>
            <a:off x="8278368" y="5788152"/>
            <a:ext cx="256032" cy="256032"/>
          </a:xfrm>
          <a:prstGeom prst="ellipse">
            <a:avLst/>
          </a:prstGeom>
          <a:solidFill>
            <a:srgbClr val="F4F1EA"/>
          </a:solidFill>
          <a:ln w="12700">
            <a:solidFill>
              <a:srgbClr val="F4F1EA"/>
            </a:solidFill>
            <a:prstDash val="solid"/>
          </a:ln>
        </p:spPr>
      </p:sp>
      <p:sp>
        <p:nvSpPr>
          <p:cNvPr id="94" name="Text 91"/>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5" name="Text 92"/>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شَكْلُهُ سَيِّئٌ.</a:t>
            </a:r>
            <a:endParaRPr lang="ar-SA" sz="200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46</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D2-L06 · Appearance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D2-L06</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“She has long hair.”</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لَهُ شَعْرٌ طَوِيلَةٌ.</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لَهَا شَعْرٌ طَوِيلٌ.</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هِيَ شَعْرُهَا طَوِيلَةٌ.</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لَهَا</a:t>
            </a:r>
            <a:pPr algn="l" indent="0" marL="0">
              <a:buNone/>
            </a:pPr>
            <a:r>
              <a:rPr lang="en-US" sz="1050" i="1" dirty="0">
                <a:solidFill>
                  <a:srgbClr val="8A6D1E"/>
                </a:solidFill>
                <a:latin typeface="Calibri" pitchFamily="34" charset="0"/>
                <a:ea typeface="Calibri" pitchFamily="34" charset="-122"/>
                <a:cs typeface="Calibri" pitchFamily="34" charset="-120"/>
              </a:rPr>
              <a:t> + masculine </a:t>
            </a:r>
            <a:pPr algn="l" indent="0" marL="0">
              <a:buNone/>
            </a:pPr>
            <a:r>
              <a:rPr lang="ar-SA" altLang="en-US" sz="1350" dirty="0">
                <a:solidFill>
                  <a:srgbClr val="8A6D1E"/>
                </a:solidFill>
                <a:latin typeface="Amiri" pitchFamily="34" charset="0"/>
                <a:ea typeface="Amiri" pitchFamily="34" charset="-122"/>
                <a:cs typeface="Amiri" pitchFamily="34" charset="-120"/>
              </a:rPr>
              <a:t>شَعْرٌ</a:t>
            </a:r>
            <a:pPr algn="l" indent="0" marL="0">
              <a:buNone/>
            </a:pPr>
            <a:r>
              <a:rPr lang="en-US" sz="1050" i="1" dirty="0">
                <a:solidFill>
                  <a:srgbClr val="8A6D1E"/>
                </a:solidFill>
                <a:latin typeface="Calibri" pitchFamily="34" charset="0"/>
                <a:ea typeface="Calibri" pitchFamily="34" charset="-122"/>
                <a:cs typeface="Calibri" pitchFamily="34" charset="-120"/>
              </a:rPr>
              <a:t> + </a:t>
            </a:r>
            <a:pPr algn="l" indent="0" marL="0">
              <a:buNone/>
            </a:pPr>
            <a:r>
              <a:rPr lang="ar-SA" altLang="en-US" sz="1350" dirty="0">
                <a:solidFill>
                  <a:srgbClr val="8A6D1E"/>
                </a:solidFill>
                <a:latin typeface="Amiri" pitchFamily="34" charset="0"/>
                <a:ea typeface="Amiri" pitchFamily="34" charset="-122"/>
                <a:cs typeface="Amiri" pitchFamily="34" charset="-120"/>
              </a:rPr>
              <a:t>طَوِيلٌ</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boy who wears glasses”.</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الوَلَدُ الَّذِي يَرْتَدِي نَظَّارَةً</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الوَلَدُ الَّتِي تَرْتَدِي نَظَّارَةً</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البِنْتُ الَّذِي يَرْتَدِي</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Masculine antecedent takes </a:t>
            </a:r>
            <a:pPr algn="l" indent="0" marL="0">
              <a:buNone/>
            </a:pPr>
            <a:r>
              <a:rPr lang="ar-SA" altLang="en-US" sz="1350" dirty="0">
                <a:solidFill>
                  <a:srgbClr val="8A6D1E"/>
                </a:solidFill>
                <a:latin typeface="Amiri" pitchFamily="34" charset="0"/>
                <a:ea typeface="Amiri" pitchFamily="34" charset="-122"/>
                <a:cs typeface="Amiri" pitchFamily="34" charset="-120"/>
              </a:rPr>
              <a:t>الذي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0" name="Text 48"/>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عَيْنَاهَا ___.</a:t>
            </a:r>
            <a:endParaRPr lang="ar-SA" sz="1500" dirty="0"/>
          </a:p>
        </p:txBody>
      </p:sp>
      <p:sp>
        <p:nvSpPr>
          <p:cNvPr id="51" name="Shape 49"/>
          <p:cNvSpPr/>
          <p:nvPr/>
        </p:nvSpPr>
        <p:spPr>
          <a:xfrm>
            <a:off x="8278368" y="2490216"/>
            <a:ext cx="256032" cy="256032"/>
          </a:xfrm>
          <a:prstGeom prst="ellipse">
            <a:avLst/>
          </a:prstGeom>
          <a:solidFill>
            <a:srgbClr val="C9CED6"/>
          </a:solidFill>
          <a:ln w="12700">
            <a:solidFill>
              <a:srgbClr val="C9CED6"/>
            </a:solidFill>
            <a:prstDash val="solid"/>
          </a:ln>
        </p:spPr>
      </p:sp>
      <p:sp>
        <p:nvSpPr>
          <p:cNvPr id="52"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بُنِّيٌّ</a:t>
            </a:r>
            <a:endParaRPr lang="ar-SA" sz="1700" dirty="0"/>
          </a:p>
        </p:txBody>
      </p:sp>
      <p:sp>
        <p:nvSpPr>
          <p:cNvPr id="54"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5"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6"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بُنِّيَّةٌ</a:t>
            </a:r>
            <a:endParaRPr lang="ar-SA" sz="1700" dirty="0"/>
          </a:p>
        </p:txBody>
      </p:sp>
      <p:sp>
        <p:nvSpPr>
          <p:cNvPr id="57" name="Shape 55"/>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8" name="Shape 56"/>
          <p:cNvSpPr/>
          <p:nvPr/>
        </p:nvSpPr>
        <p:spPr>
          <a:xfrm>
            <a:off x="8278368" y="3233928"/>
            <a:ext cx="256032" cy="256032"/>
          </a:xfrm>
          <a:prstGeom prst="ellipse">
            <a:avLst/>
          </a:prstGeom>
          <a:solidFill>
            <a:srgbClr val="2E8B57"/>
          </a:solidFill>
          <a:ln w="12700">
            <a:solidFill>
              <a:srgbClr val="2E8B57"/>
            </a:solidFill>
            <a:prstDash val="solid"/>
          </a:ln>
        </p:spPr>
      </p:sp>
      <p:sp>
        <p:nvSpPr>
          <p:cNvPr id="59"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60"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بُنِّيَّتَانِ</a:t>
            </a:r>
            <a:endParaRPr lang="ar-SA" sz="1700" dirty="0"/>
          </a:p>
        </p:txBody>
      </p:sp>
      <p:sp>
        <p:nvSpPr>
          <p:cNvPr id="61"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Dual feminine agreement.</a:t>
            </a:r>
            <a:endParaRPr lang="en-US" sz="1050" dirty="0"/>
          </a:p>
        </p:txBody>
      </p:sp>
      <p:sp>
        <p:nvSpPr>
          <p:cNvPr id="62"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3"/>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accurate hair description.</a:t>
            </a:r>
            <a:endParaRPr lang="en-US" sz="1250" dirty="0"/>
          </a:p>
        </p:txBody>
      </p:sp>
      <p:sp>
        <p:nvSpPr>
          <p:cNvPr id="66" name="Shape 64"/>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6"/>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شَعْرُهُ قَصِيرَةٌ وَمُجَعَّدَةٌ.</a:t>
            </a:r>
            <a:endParaRPr lang="ar-SA" sz="1700" dirty="0"/>
          </a:p>
        </p:txBody>
      </p:sp>
      <p:sp>
        <p:nvSpPr>
          <p:cNvPr id="69"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0"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شَعْرُهَا قَصِيرًا.</a:t>
            </a:r>
            <a:endParaRPr lang="ar-SA" sz="1700" dirty="0"/>
          </a:p>
        </p:txBody>
      </p:sp>
      <p:sp>
        <p:nvSpPr>
          <p:cNvPr id="72" name="Shape 70"/>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3" name="Shape 71"/>
          <p:cNvSpPr/>
          <p:nvPr/>
        </p:nvSpPr>
        <p:spPr>
          <a:xfrm>
            <a:off x="640080" y="5574792"/>
            <a:ext cx="256032" cy="256032"/>
          </a:xfrm>
          <a:prstGeom prst="ellipse">
            <a:avLst/>
          </a:prstGeom>
          <a:solidFill>
            <a:srgbClr val="2E8B57"/>
          </a:solidFill>
          <a:ln w="12700">
            <a:solidFill>
              <a:srgbClr val="2E8B57"/>
            </a:solidFill>
            <a:prstDash val="solid"/>
          </a:ln>
        </p:spPr>
      </p:sp>
      <p:sp>
        <p:nvSpPr>
          <p:cNvPr id="74" name="Text 72"/>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3"/>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شَعْرُهُ قَصِيرٌ وَمُجَعَّدٌ.</a:t>
            </a:r>
            <a:endParaRPr lang="ar-SA" sz="1700" dirty="0"/>
          </a:p>
        </p:txBody>
      </p:sp>
      <p:sp>
        <p:nvSpPr>
          <p:cNvPr id="76" name="Text 74"/>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شَعْرٌ</a:t>
            </a:r>
            <a:pPr algn="l" indent="0" marL="0">
              <a:buNone/>
            </a:pPr>
            <a:r>
              <a:rPr lang="en-US" sz="1050" i="1" dirty="0">
                <a:solidFill>
                  <a:srgbClr val="8A6D1E"/>
                </a:solidFill>
                <a:latin typeface="Calibri" pitchFamily="34" charset="0"/>
                <a:ea typeface="Calibri" pitchFamily="34" charset="-122"/>
                <a:cs typeface="Calibri" pitchFamily="34" charset="-120"/>
              </a:rPr>
              <a:t> is masculine.</a:t>
            </a:r>
            <a:endParaRPr lang="en-US" sz="1050" dirty="0"/>
          </a:p>
        </p:txBody>
      </p:sp>
      <p:sp>
        <p:nvSpPr>
          <p:cNvPr id="77" name="Shape 7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6"/>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feminine relative clause.</a:t>
            </a:r>
            <a:endParaRPr lang="en-US" sz="1250" dirty="0"/>
          </a:p>
        </p:txBody>
      </p:sp>
      <p:sp>
        <p:nvSpPr>
          <p:cNvPr id="81" name="Shape 79"/>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80"/>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1"/>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2"/>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الفَتَاةُ الَّتِي تَرْتَدِي حِجَابًا</a:t>
            </a:r>
            <a:endParaRPr lang="ar-SA" sz="1700" dirty="0"/>
          </a:p>
        </p:txBody>
      </p:sp>
      <p:sp>
        <p:nvSpPr>
          <p:cNvPr id="85" name="Shape 83"/>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4"/>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5"/>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الفَتَاةُ الَّذِي يَرْتَدِي حِجَابًا</a:t>
            </a:r>
            <a:endParaRPr lang="ar-SA" sz="1700" dirty="0"/>
          </a:p>
        </p:txBody>
      </p:sp>
      <p:sp>
        <p:nvSpPr>
          <p:cNvPr id="88" name="Shape 86"/>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7"/>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8"/>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الوَلَدُ الَّتِي تَرْتَدِي</a:t>
            </a:r>
            <a:endParaRPr lang="ar-SA" sz="1700" dirty="0"/>
          </a:p>
        </p:txBody>
      </p:sp>
      <p:sp>
        <p:nvSpPr>
          <p:cNvPr id="91" name="Text 89"/>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Feminine antecedent takes </a:t>
            </a:r>
            <a:pPr algn="l" indent="0" marL="0">
              <a:buNone/>
            </a:pPr>
            <a:r>
              <a:rPr lang="ar-SA" altLang="en-US" sz="1350" dirty="0">
                <a:solidFill>
                  <a:srgbClr val="8A6D1E"/>
                </a:solidFill>
                <a:latin typeface="Amiri" pitchFamily="34" charset="0"/>
                <a:ea typeface="Amiri" pitchFamily="34" charset="-122"/>
                <a:cs typeface="Amiri" pitchFamily="34" charset="-120"/>
              </a:rPr>
              <a:t>التي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2" name="Shape 9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1"/>
          <p:cNvSpPr/>
          <p:nvPr/>
        </p:nvSpPr>
        <p:spPr>
          <a:xfrm>
            <a:off x="8223504" y="4288536"/>
            <a:ext cx="310896" cy="310896"/>
          </a:xfrm>
          <a:prstGeom prst="ellipse">
            <a:avLst/>
          </a:prstGeom>
          <a:solidFill>
            <a:srgbClr val="1B3B6F"/>
          </a:solidFill>
          <a:ln w="12700">
            <a:solidFill>
              <a:srgbClr val="1B3B6F"/>
            </a:solidFill>
            <a:prstDash val="solid"/>
          </a:ln>
        </p:spPr>
      </p:sp>
      <p:sp>
        <p:nvSpPr>
          <p:cNvPr id="94" name="Text 9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3"/>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respectful and precise?</a:t>
            </a:r>
            <a:endParaRPr lang="en-US" sz="1250" dirty="0"/>
          </a:p>
        </p:txBody>
      </p:sp>
      <p:sp>
        <p:nvSpPr>
          <p:cNvPr id="96" name="Shape 94"/>
          <p:cNvSpPr/>
          <p:nvPr/>
        </p:nvSpPr>
        <p:spPr>
          <a:xfrm>
            <a:off x="8278368" y="4831080"/>
            <a:ext cx="256032" cy="256032"/>
          </a:xfrm>
          <a:prstGeom prst="ellipse">
            <a:avLst/>
          </a:prstGeom>
          <a:solidFill>
            <a:srgbClr val="C9CED6"/>
          </a:solidFill>
          <a:ln w="12700">
            <a:solidFill>
              <a:srgbClr val="C9CED6"/>
            </a:solidFill>
            <a:prstDash val="solid"/>
          </a:ln>
        </p:spPr>
      </p:sp>
      <p:sp>
        <p:nvSpPr>
          <p:cNvPr id="97" name="Text 95"/>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6"/>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هُوَ غَرِيبُ الشَّكْلِ.</a:t>
            </a:r>
            <a:endParaRPr lang="ar-SA" sz="1700" dirty="0"/>
          </a:p>
        </p:txBody>
      </p:sp>
      <p:sp>
        <p:nvSpPr>
          <p:cNvPr id="99" name="Shape 97"/>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0" name="Shape 98"/>
          <p:cNvSpPr/>
          <p:nvPr/>
        </p:nvSpPr>
        <p:spPr>
          <a:xfrm>
            <a:off x="8278368" y="5202936"/>
            <a:ext cx="256032" cy="256032"/>
          </a:xfrm>
          <a:prstGeom prst="ellipse">
            <a:avLst/>
          </a:prstGeom>
          <a:solidFill>
            <a:srgbClr val="2E8B57"/>
          </a:solidFill>
          <a:ln w="12700">
            <a:solidFill>
              <a:srgbClr val="2E8B57"/>
            </a:solidFill>
            <a:prstDash val="solid"/>
          </a:ln>
        </p:spPr>
      </p:sp>
      <p:sp>
        <p:nvSpPr>
          <p:cNvPr id="101" name="Text 99"/>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2" name="Text 100"/>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هُوَ مُتَوَسِّطُ القَامَةِ وَلَهُ شَعْرٌ قَصِيرٌ.</a:t>
            </a:r>
            <a:endParaRPr lang="ar-SA" sz="1700" dirty="0"/>
          </a:p>
        </p:txBody>
      </p:sp>
      <p:sp>
        <p:nvSpPr>
          <p:cNvPr id="103" name="Shape 101"/>
          <p:cNvSpPr/>
          <p:nvPr/>
        </p:nvSpPr>
        <p:spPr>
          <a:xfrm>
            <a:off x="8278368" y="5574792"/>
            <a:ext cx="256032" cy="256032"/>
          </a:xfrm>
          <a:prstGeom prst="ellipse">
            <a:avLst/>
          </a:prstGeom>
          <a:solidFill>
            <a:srgbClr val="C9CED6"/>
          </a:solidFill>
          <a:ln w="12700">
            <a:solidFill>
              <a:srgbClr val="C9CED6"/>
            </a:solidFill>
            <a:prstDash val="solid"/>
          </a:ln>
        </p:spPr>
      </p:sp>
      <p:sp>
        <p:nvSpPr>
          <p:cNvPr id="104" name="Text 102"/>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5" name="Text 103"/>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شَكْلُهُ سَيِّئٌ.</a:t>
            </a:r>
            <a:endParaRPr lang="ar-SA" sz="1700" dirty="0"/>
          </a:p>
        </p:txBody>
      </p:sp>
      <p:sp>
        <p:nvSpPr>
          <p:cNvPr id="106" name="Text 104"/>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describes observable details respectfully.</a:t>
            </a:r>
            <a:endParaRPr lang="en-US" sz="1050" dirty="0"/>
          </a:p>
        </p:txBody>
      </p:sp>
      <p:sp>
        <p:nvSpPr>
          <p:cNvPr id="107" name="Text 10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46</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D2-L06 · Appearance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D2-L07: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D2-L06</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D2-L07 · Listening — People, Personality and Style Descriptions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لِذٰلِكَ</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therefore, so</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بَيْنَمَا</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whereas, while</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عَلَى الرَّغْمِ مِنْ أَنَّ</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although</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مِنْ جِهَةٍ أُخْرَى</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on the other hand</a:t>
            </a:r>
            <a:pPr indent="0" marL="0">
              <a:buNone/>
            </a:pP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خُصُوصًا</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especially</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When you listen to someone describe a person, which words help you most: names, pronouns (he / she) or connectors (but, whereas)?</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كَيْفَ تَسْتَمِعُ جَيِّدًا؟</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D2-L06: the picture game and the vocabulary tab (height, hair and eyes).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Describe two people from a photo in 8 sentences (use </a:t>
            </a:r>
            <a:pPr algn="l" indent="0" marL="0">
              <a:buNone/>
            </a:pPr>
            <a:r>
              <a:rPr lang="ar-SA" altLang="en-US" sz="1550" dirty="0">
                <a:solidFill>
                  <a:srgbClr val="1F2A37"/>
                </a:solidFill>
                <a:latin typeface="Amiri" pitchFamily="34" charset="0"/>
                <a:ea typeface="Amiri" pitchFamily="34" charset="-122"/>
                <a:cs typeface="Amiri" pitchFamily="34" charset="-120"/>
              </a:rPr>
              <a:t>الَّذِي / الَّتِي</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a respectful full portrait of two people (100–120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46</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D2-L06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ea typeface="Cambria" pitchFamily="34" charset="-122"/>
                <a:cs typeface="Cambria" pitchFamily="34" charset="-120"/>
              </a:rPr>
              <a:t>D2-L07 · Listening — People, Personality and Style Descriptions</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الاِسْتِمَاعُ</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hair is masculine, eyes are two — and describe, don’t judge.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D2-L06 · Describing Appearance — A Full Physical Portrait</dc:title>
  <dc:subject>PptxGenJS Presentation</dc:subject>
  <dc:creator>Al Madina Online School · Arabic Department</dc:creator>
  <cp:lastModifiedBy>Al Madina Online School · Arabic Department</cp:lastModifiedBy>
  <cp:revision>1</cp:revision>
  <dcterms:created xsi:type="dcterms:W3CDTF">2026-09-27T11:47:32Z</dcterms:created>
  <dcterms:modified xsi:type="dcterms:W3CDTF">2026-09-27T11:47:32Z</dcterms:modified>
</cp:coreProperties>
</file>