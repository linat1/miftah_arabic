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D2-L02. The website lesson “Relationships — Family, Friends and How We Get On”: vocabulary, grammar rules and quiz, patterns, common mistakes, sorter, listening, reading, speaking prompts and model, writing task and model, differentiation, final check and the lesson mission. Picture match: website visual game “Relationships — Family, Friends and How We Get 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chunks learnt whole — أَتَفَاهَمُ مَعَ … (I get on with) · … يَدْعَمُنِي (… supports me) · نَتَشَاجَرُ ثُمَّ نَتَصَالَحُ (we argue, then make up) — plus one reason (because …).
• Develop: object endings (أُسَاعِدُهُ / أَحْتَرِمُهَا) — the same endings as D1-L05 — and لِأَنَّنَا for “because we”. Stretch: a strong and a difficult relationship compared, with how problems are solved.
• Sensitivity: family situations differ. Students may describe a friend, a cousin or an invented person; “sometimes difficult” should stay light (computer, TV, chores).
• Urdu bridge: تعلقات، احترام، اعتماد (→ ثقة), مدد (→ أُسَاعِدُ by meaning), صلح.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D2-L01 (agreement, لِأَنَّهَا) and D1-L05 (object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ending on the verb shows who RECEIVES the action: -nī me · -hu him · -hā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تعلق / تعلقات → عَلَاقَةٌ (same root ع-ل-ق). احترام → أَحْتَرِمُ (I respect). وثوق (trust, formal Urdu) → أَثِقُ بِـ. صلح (peace, reconciliation) → نَتَصَالَحُ (we make up). قوی (strong) → قَوِيٌّ / قَوِيَّةٌ.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Relationship actions (website vocabulary (1 of 2)). Hear → Say → See → Use. Transliteration is printed for Core students (cover it for Develop/Stretch).
يَدْعَمُنِي vs تَدْعَمُنِي: the FRONT tells you who supports (he / she); the END (-nī) tells you it is me. Ask: “who is doing it, who receives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Relationship actions (website vocabulary (2 of 2)). Hear → Say → See → Use. Transliteration is printed for Core students (cover it for Develop/Stretch).
يَدْعَمُنِي vs تَدْعَمُنِي: the FRONT tells you who supports (he / she); the END (-nī) tells you it is me. Ask: “who is doing it, who receives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Relationship outcomes (website vocabulary). Hear → Say → See → Use. Transliteration is printed for Core students (cover it for Develop/Stretch).
نَتَصَالَحُ and نَتَشَاجَرُ start with na- = we: things we do TO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and contrast (website vocabulary (1 of 2)). Hear → Say → See → Use. Transliteration is printed for Core students (cover it for Develop/Stretch).
FLEX: teach if time allows; otherwise these are on the website vocabulary tab for homework.
Reasons and contrast (FLEX) — the same connectors in every D2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and contrast (website vocabulary (2 of 2)). Hear → Say → See → Use. Transliteration is printed for Core students (cover it for Develop/Stretch).
FLEX: teach if time allows; otherwise these are on the website vocabulary tab for homework.
Reasons and contrast (FLEX) — the same connectors in every D2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“Object pronouns” (the suffix shows who receives the action) and the website table (With noun · With pronoun). Recycles D1-L05 (أُسَاعِدُهَا).
Website common error: attaching the wrong gender — أَحْتَرِمُهُ for a woman ✗ → أَحْتَرِمُهَا ✓.
Quick-fire: teacher says a person (أُمِّي / أَخِي / أَصْدِقَائِي); students answer أَحْتَرِمُهَا / أَحْتَرِمُهُ / أَحْتَرِمُهُمْ.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“Get on with / disagree with” (use مَعَ), “Reciprocal actions” (the نَـ form: what we do together or to one another) and “Explain the relationship” (give a reason, not just a label).
Reason forms to learn: لِأَنَّهُ (because he) · لِأَنَّهَا (because she) · لِأَنَّنَا (because we) · لِأَنَّنِي (because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“Describe how people treat one another, who receives an action and why a relationship succeeds or becomes difficult.”
• Get on with / disagree with: Use مَعَ after these relationship verbs.
• Object pronouns: The suffix shows who receives the action.
• Reciprocal actions: The نَـ form can describe what we do together or to one another.
• Explain the relationship: Give a reason, not merely a positive or negative label.
Website common error: Do not omit مَعَ after أَتَفَاهَمُ or attach the wrong object-pronoun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and the website writing model condensed into one strong and one difficult relationship, with a think-aloud (“who does it? who receives it?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Relationships — Family, Friends and How We Get 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يَتَفَاهَمَانِ is the DUAL (they two) — the -āni ending. Other cards for homework: صَدِيقَتَانِ مُقَرَّبَتَانِ (two close friends, f.), عَلَاقَتِي بِعَائِلَتِي جَيِّدَةٌ, نَتَحَدَّثُ كَثِيرًا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Relationships — Family, Friends and How We Get 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يَتَفَاهَمَانِ is the DUAL (they two) — the -āni ending. Other cards for homework: صَدِيقَتَانِ مُقَرَّبَتَانِ (two close friends, f.), عَلَاقَتِي بِعَائِلَتِي جَيِّدَةٌ, نَتَحَدَّثُ كَثِيرًا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Arabic sentence is accurate (right preposition, right ending, right person).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Arabic sentence is accurate (right preposition, right ending, right person).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لَدَيَّ أَخٌ أَكْبَرُ يُسَمَّى سَامِرًا. أَتَفَاهَمُ مَعَهُ عَادَةً لِأَنَّهُ يَسْتَمِعُ إِلَيَّ وَيَدْعَمُنِي فِي دِرَاسَتِي. وَلٰكِنَّنَا نَخْتَلِفُ أَحْيَانًا حَوْلَ اسْتِخْدَامِ الحَاسُوبِ. عِنْدَمَا نَتَشَاجَرُ، نَتَكَلَّمُ بَعْدَ ذٰلِكَ وَنَتَصَالَحُ سَرِيعًا. أَحْتَرِمُهُ لِأَنَّهُ صَادِقٌ وَمُتَعَاوِنٌ.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تَخْتَلِفَانِ أَحْيَانًا؟ (Do you sometimes disagree?)
B: نَعَمْ، وَلٰكِنَّنَا نَتَصَالَحُ سَرِيعًا. (Yes, but we make up quickly.)
Website prompts (order changed for routes). Website model continues: A: هَلْ تَخْتَلِفَانِ أَحْيَانًا؟ (Do you two sometimes disagree?) B: نَعَمْ، وَلٰكِنَّنَا نَتَصَالَحُ سَرِيعًا. (Yes, but we make up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about two relationships: one strong and one sometimes difficult. Explain actions, feelings, object pronouns, reasons and how problems are resolved.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تَدْعَمُنِي، أُسَاعِدُهَا · نَتَفَاهَمُ، نَثِقُ، نَتَشَاجَرُ، نَتَصَالَحُ · لِأَنَّنَا نَتَفَاهَمُ، لِأَنَّنَا نَخْتَلِفُ · فِي رَأْيِي، الاِحْتِرَامُ وَالاِسْتِمَاعُ أَهَمُّ شَيْئَيْنِ. (Website spelling note: the model writes عِلَاقَة in two places; the standard spelling is عَلَاقَة, as in the vocabulary.)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(D2-L03 · Clothes and Accessories — Vocabulary and Shopping) will spend class time USING this language, so students prepare it tonight — short, simple, easy to access (school guidance: “Simple, Short, Interesting, Relevant, Easy to access”). The five words come from the website D2-L03 vocabulary (clothes and accessories).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Relationships — Family, Friends and How We Get 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العَلَاقَاتُ — العَائِلَةُ وَالأَصْدِقَاءُ وَكَيْفِيَّةُ التَّعَامُلِ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how you get on with people (</a:t>
            </a:r>
            <a:pPr algn="l" indent="0" marL="0">
              <a:buNone/>
            </a:pPr>
            <a:r>
              <a:rPr lang="ar-SA" altLang="en-US" sz="1800" dirty="0">
                <a:solidFill>
                  <a:srgbClr val="C6D2E6"/>
                </a:solidFill>
                <a:latin typeface="Amiri" pitchFamily="34" charset="0"/>
                <a:ea typeface="Amiri" pitchFamily="34" charset="-122"/>
                <a:cs typeface="Amiri" pitchFamily="34" charset="-120"/>
              </a:rPr>
              <a:t>أَتَفَاهَمُ مَعَ</a:t>
            </a:r>
            <a:pPr algn="l" indent="0" marL="0">
              <a:buNone/>
            </a:pPr>
            <a:r>
              <a:rPr lang="en-US" sz="1400" dirty="0">
                <a:solidFill>
                  <a:srgbClr val="C6D2E6"/>
                </a:solidFill>
                <a:latin typeface="Calibri" pitchFamily="34" charset="0"/>
                <a:ea typeface="Calibri" pitchFamily="34" charset="-122"/>
                <a:cs typeface="Calibri" pitchFamily="34" charset="-120"/>
              </a:rPr>
              <a:t> …), who does what to whom (</a:t>
            </a:r>
            <a:pPr algn="l" indent="0" marL="0">
              <a:buNone/>
            </a:pPr>
            <a:r>
              <a:rPr lang="ar-SA" altLang="en-US" sz="1800" dirty="0">
                <a:solidFill>
                  <a:srgbClr val="C6D2E6"/>
                </a:solidFill>
                <a:latin typeface="Amiri" pitchFamily="34" charset="0"/>
                <a:ea typeface="Amiri" pitchFamily="34" charset="-122"/>
                <a:cs typeface="Amiri" pitchFamily="34" charset="-120"/>
              </a:rPr>
              <a:t>يَدْعَمُنِي، أَحْتَرِمُهَا</a:t>
            </a:r>
            <a:pPr algn="l" indent="0" marL="0">
              <a:buNone/>
            </a:pPr>
            <a:r>
              <a:rPr lang="en-US" sz="1400" dirty="0">
                <a:solidFill>
                  <a:srgbClr val="C6D2E6"/>
                </a:solidFill>
                <a:latin typeface="Calibri" pitchFamily="34" charset="0"/>
                <a:ea typeface="Calibri" pitchFamily="34" charset="-122"/>
                <a:cs typeface="Calibri" pitchFamily="34" charset="-120"/>
              </a:rPr>
              <a:t>), what we do together (</a:t>
            </a:r>
            <a:pPr algn="l" indent="0" marL="0">
              <a:buNone/>
            </a:pPr>
            <a:r>
              <a:rPr lang="ar-SA" altLang="en-US" sz="1800" dirty="0">
                <a:solidFill>
                  <a:srgbClr val="C6D2E6"/>
                </a:solidFill>
                <a:latin typeface="Amiri" pitchFamily="34" charset="0"/>
                <a:ea typeface="Amiri" pitchFamily="34" charset="-122"/>
                <a:cs typeface="Amiri" pitchFamily="34" charset="-120"/>
              </a:rPr>
              <a:t>نَتَشَاجَرُ ثُمَّ نَتَصَالَحُ</a:t>
            </a:r>
            <a:pPr algn="l" indent="0" marL="0">
              <a:buNone/>
            </a:pPr>
            <a:r>
              <a:rPr lang="en-US" sz="1400" dirty="0">
                <a:solidFill>
                  <a:srgbClr val="C6D2E6"/>
                </a:solidFill>
                <a:latin typeface="Calibri" pitchFamily="34" charset="0"/>
                <a:ea typeface="Calibri" pitchFamily="34" charset="-122"/>
                <a:cs typeface="Calibri" pitchFamily="34" charset="-120"/>
              </a:rPr>
              <a:t>) — and always why.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D2-L02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on with, supports me, we argue — and why.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decide accurate / inaccurate,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أَتَفَاهَمُ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disagree with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get on with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trust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صَدِيقٌ مُقَرَّبٌ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close friend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relative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patient.”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صَبُورَةٌ.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هِيَ كَرِيمَةٌ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تُسَاعِدُ الآخَرِينَ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أَتَفَاهَمُ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disagree with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get on with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trust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صَدِيقٌ مُقَرَّبٌ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close friend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friend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relative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patient.”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صَبُورَةٌ.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صَبُورَةٌ.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هِيَ كَرِيمَةٌ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تُسَاعِدُ الآخَرِينَ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because SHE.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D1-L05 object endings.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ending on the verb shows who RECEIVES the action: -nī me · -hu him · -hā her.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أَبِي يَدْعَمُ</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نِي</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أَحْتَرِمُ</a:t>
            </a:r>
            <a:pPr rtl="1" algn="ctr" indent="0" marL="0">
              <a:lnSpc>
                <a:spcPct val="120000"/>
              </a:lnSpc>
              <a:buNone/>
            </a:pPr>
            <a:r>
              <a:rPr lang="ar-SA" altLang="en-US" sz="2200" b="1" dirty="0">
                <a:solidFill>
                  <a:srgbClr val="1D5FBF"/>
                </a:solidFill>
                <a:latin typeface="Amiri" pitchFamily="34" charset="0"/>
                <a:ea typeface="Amiri" pitchFamily="34" charset="-122"/>
                <a:cs typeface="Amiri" pitchFamily="34" charset="-120"/>
              </a:rPr>
              <a:t>هُ</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أُسَاعِدُ</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هَا</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D2-L02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Relationship verbs, object pronouns and reciprocity.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who I get on with and who supports me.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one reason with “because”.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object endings (supports me, I respect her).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what we do together (we argue / we make up).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a strong and a difficult relationship.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how a problem is solved.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Relationship actions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Relationship outcomes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Reasons and contrast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‎تعلق‎ </a:t>
            </a:r>
            <a:pPr indent="0" marL="0">
              <a:buNone/>
            </a:pPr>
            <a:r>
              <a:rPr lang="en-US" sz="950" b="1" dirty="0">
                <a:solidFill>
                  <a:srgbClr val="2E8B57"/>
                </a:solidFill>
                <a:latin typeface="Calibri" pitchFamily="34" charset="0"/>
                <a:ea typeface="Calibri" pitchFamily="34" charset="-122"/>
                <a:cs typeface="Calibri" pitchFamily="34" charset="-120"/>
              </a:rPr>
              <a:t> taʿalluq · connection, relationship</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أَحْتَرِمُ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ihtirām · respect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أَثِقُ بِـ</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‎وثوق‎ </a:t>
            </a:r>
            <a:pPr indent="0" marL="0">
              <a:buNone/>
            </a:pPr>
            <a:r>
              <a:rPr lang="en-US" sz="950" b="1" dirty="0">
                <a:solidFill>
                  <a:srgbClr val="2E8B57"/>
                </a:solidFill>
                <a:latin typeface="Calibri" pitchFamily="34" charset="0"/>
                <a:ea typeface="Calibri" pitchFamily="34" charset="-122"/>
                <a:cs typeface="Calibri" pitchFamily="34" charset="-120"/>
              </a:rPr>
              <a:t> wusūq · confidence, trust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نَتَصَالَحُ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‎صلح‎ </a:t>
            </a:r>
            <a:pPr indent="0" marL="0">
              <a:buNone/>
            </a:pPr>
            <a:r>
              <a:rPr lang="en-US" sz="950" b="1" dirty="0">
                <a:solidFill>
                  <a:srgbClr val="2E8B57"/>
                </a:solidFill>
                <a:latin typeface="Calibri" pitchFamily="34" charset="0"/>
                <a:ea typeface="Calibri" pitchFamily="34" charset="-122"/>
                <a:cs typeface="Calibri" pitchFamily="34" charset="-120"/>
              </a:rPr>
              <a:t> sulah · reconciliation → we make up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قَوِيَّةٌ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‎قوی‎ </a:t>
            </a:r>
            <a:pPr indent="0" marL="0">
              <a:buNone/>
            </a:pPr>
            <a:r>
              <a:rPr lang="en-US" sz="950" b="1" dirty="0">
                <a:solidFill>
                  <a:srgbClr val="2E8B57"/>
                </a:solidFill>
                <a:latin typeface="Calibri" pitchFamily="34" charset="0"/>
                <a:ea typeface="Calibri" pitchFamily="34" charset="-122"/>
                <a:cs typeface="Calibri" pitchFamily="34" charset="-120"/>
              </a:rPr>
              <a:t> qavī · strong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Relationship actions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on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يَتَفَاهَمُ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أَخْتَلِفُ مَعَ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disagree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akh-ta-li-fu ma-ʿa</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نَخْتَلِفُ</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تَخْتَلِفُ</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يَخْتَلِفُ</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we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أَثِقُ بِـ</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trust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a-thi-qu bi</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نَثِقُ</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تَثِقُ</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يَثِقُ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him · her · them</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أَحْتَرِمُ</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aḥ-ta-ri-mu</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them</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أَحْتَرِمُهُمْ</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أَحْتَرِمُهَا</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أَحْتَرِمُهُ</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Relationship actions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him · her · them</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them</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أُسَاعِدُهُمْ</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أُسَاعِدُهَا</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أُسَاعِدُهُ</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4" name="Shape 31"/>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 · us · him</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يَدْعَمُنِي</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supports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yad-ʿa-mu-nī</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him</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يَدْعَمُهُ</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يَدْعَمُنَا</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يَدْعَمُنِي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تَدْعَمُنِي</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supports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tad-ʿa-mu-nī</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نَتَشَاجَرُ</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argue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na-ta-shā-ja-ru</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Relationship outcomes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نَتَصَالَحُ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make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na-ta-ṣā-la-ḥu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نَقْضِي الوَقْتَ مَعًا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spend time together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naq-ḍī al-waq-ta ma-ʿan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صَدِيقٌ مُقَرَّبٌ</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close friend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ṣa-dī-qun mu-qar-ra-bun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أَصْدِقَاءُ مُقَرَّبُونَ</a:t>
            </a:r>
            <a:endParaRPr lang="ar-SA" sz="14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 مُقَرَّبَةٌ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 مُقَرَّبٌ</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عَلَاقَةٌ قَوِيَّةٌ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strong relationship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ʿa-lā-qa-tun qa-wiy-ya-tun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عَلَاقَاتٌ قَوِيَّةٌ</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weak</a:t>
            </a:r>
            <a:endParaRPr lang="en-US" sz="700" dirty="0"/>
          </a:p>
        </p:txBody>
      </p:sp>
      <p:sp>
        <p:nvSpPr>
          <p:cNvPr id="57" name="Text 5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عَلَاقَةٌ ضَعِيفَةٌ</a:t>
            </a:r>
            <a:endParaRPr lang="ar-SA" sz="135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عَلَاقَةٌ قَوِيَّةٌ</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Reasons and contrast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Reasons and contrast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OBJECT PRONOUNS (WEBSITE RULE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receives the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ضَمَائِرُ 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noun</a:t>
            </a:r>
            <a:endParaRPr lang="en-US" sz="1100" dirty="0"/>
          </a:p>
        </p:txBody>
      </p:sp>
      <p:sp>
        <p:nvSpPr>
          <p:cNvPr id="17" name="Text 14"/>
          <p:cNvSpPr txBox="1"/>
          <p:nvPr/>
        </p:nvSpPr>
        <p:spPr>
          <a:xfrm>
            <a:off x="46725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an ending</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982712" y="2286000"/>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أَحْتَرِمُ أَخِي.</a:t>
            </a:r>
            <a:endParaRPr lang="ar-SA" sz="1950" dirty="0"/>
          </a:p>
        </p:txBody>
      </p:sp>
      <p:sp>
        <p:nvSpPr>
          <p:cNvPr id="21" name="Text 18"/>
          <p:cNvSpPr txBox="1"/>
          <p:nvPr/>
        </p:nvSpPr>
        <p:spPr>
          <a:xfrm>
            <a:off x="7936992" y="267699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respect my brother.</a:t>
            </a:r>
            <a:endParaRPr lang="en-US" sz="950" dirty="0"/>
          </a:p>
        </p:txBody>
      </p:sp>
      <p:sp>
        <p:nvSpPr>
          <p:cNvPr id="22" name="Text 19"/>
          <p:cNvSpPr txBox="1"/>
          <p:nvPr/>
        </p:nvSpPr>
        <p:spPr>
          <a:xfrm>
            <a:off x="4690872" y="2267712"/>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أَحْتَرِمُ</a:t>
            </a:r>
            <a:pPr rtl="1" algn="ctr" indent="0" marL="0">
              <a:buNone/>
            </a:pPr>
            <a:r>
              <a:rPr lang="ar-SA" altLang="en-US" sz="2600" b="1" dirty="0">
                <a:solidFill>
                  <a:srgbClr val="1D5FBF"/>
                </a:solidFill>
                <a:latin typeface="Amiri" pitchFamily="34" charset="0"/>
                <a:ea typeface="Amiri" pitchFamily="34" charset="-122"/>
                <a:cs typeface="Amiri" pitchFamily="34" charset="-120"/>
              </a:rPr>
              <a:t>هُ</a:t>
            </a:r>
            <a:endParaRPr lang="ar-SA" sz="2600" dirty="0"/>
          </a:p>
        </p:txBody>
      </p:sp>
      <p:sp>
        <p:nvSpPr>
          <p:cNvPr id="23" name="Text 20"/>
          <p:cNvSpPr txBox="1"/>
          <p:nvPr/>
        </p:nvSpPr>
        <p:spPr>
          <a:xfrm>
            <a:off x="56692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respect him.</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7982712" y="302300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أَحْتَرِمُ أُمِّي.</a:t>
            </a:r>
            <a:endParaRPr lang="ar-SA" sz="1950" dirty="0"/>
          </a:p>
        </p:txBody>
      </p:sp>
      <p:sp>
        <p:nvSpPr>
          <p:cNvPr id="28" name="Text 25"/>
          <p:cNvSpPr txBox="1"/>
          <p:nvPr/>
        </p:nvSpPr>
        <p:spPr>
          <a:xfrm>
            <a:off x="7936992" y="3414004"/>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respect my mother.</a:t>
            </a:r>
            <a:endParaRPr lang="en-US" sz="950" dirty="0"/>
          </a:p>
        </p:txBody>
      </p:sp>
      <p:sp>
        <p:nvSpPr>
          <p:cNvPr id="29" name="Text 26"/>
          <p:cNvSpPr txBox="1"/>
          <p:nvPr/>
        </p:nvSpPr>
        <p:spPr>
          <a:xfrm>
            <a:off x="4690872" y="300471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أَحْتَرِمُ</a:t>
            </a:r>
            <a:pPr rtl="1" algn="ctr" indent="0" marL="0">
              <a:buNone/>
            </a:pPr>
            <a:r>
              <a:rPr lang="ar-SA" altLang="en-US" sz="2600" b="1" dirty="0">
                <a:solidFill>
                  <a:srgbClr val="D6336C"/>
                </a:solidFill>
                <a:latin typeface="Amiri" pitchFamily="34" charset="0"/>
                <a:ea typeface="Amiri" pitchFamily="34" charset="-122"/>
                <a:cs typeface="Amiri" pitchFamily="34" charset="-120"/>
              </a:rPr>
              <a:t>هَا</a:t>
            </a:r>
            <a:endParaRPr lang="ar-SA" sz="2600" dirty="0"/>
          </a:p>
        </p:txBody>
      </p:sp>
      <p:sp>
        <p:nvSpPr>
          <p:cNvPr id="30" name="Text 27"/>
          <p:cNvSpPr txBox="1"/>
          <p:nvPr/>
        </p:nvSpPr>
        <p:spPr>
          <a:xfrm>
            <a:off x="56692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respect her.</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7982712" y="3760013"/>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أَبِي يَدْعَمُ ابْنَهُ.</a:t>
            </a:r>
            <a:endParaRPr lang="ar-SA" sz="1950" dirty="0"/>
          </a:p>
        </p:txBody>
      </p:sp>
      <p:sp>
        <p:nvSpPr>
          <p:cNvPr id="35" name="Text 32"/>
          <p:cNvSpPr txBox="1"/>
          <p:nvPr/>
        </p:nvSpPr>
        <p:spPr>
          <a:xfrm>
            <a:off x="7936992" y="4151010"/>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father supports his son.</a:t>
            </a:r>
            <a:endParaRPr lang="en-US" sz="950" dirty="0"/>
          </a:p>
        </p:txBody>
      </p:sp>
      <p:sp>
        <p:nvSpPr>
          <p:cNvPr id="36" name="Text 33"/>
          <p:cNvSpPr txBox="1"/>
          <p:nvPr/>
        </p:nvSpPr>
        <p:spPr>
          <a:xfrm>
            <a:off x="4690872" y="3741725"/>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أَبِي يَدْعَمُ</a:t>
            </a:r>
            <a:pPr rtl="1" algn="ctr" indent="0" marL="0">
              <a:buNone/>
            </a:pPr>
            <a:r>
              <a:rPr lang="ar-SA" altLang="en-US" sz="2600" b="1" dirty="0">
                <a:solidFill>
                  <a:srgbClr val="0E7C86"/>
                </a:solidFill>
                <a:latin typeface="Amiri" pitchFamily="34" charset="0"/>
                <a:ea typeface="Amiri" pitchFamily="34" charset="-122"/>
                <a:cs typeface="Amiri" pitchFamily="34" charset="-120"/>
              </a:rPr>
              <a:t>نِي</a:t>
            </a:r>
            <a:endParaRPr lang="ar-SA" sz="2600" dirty="0"/>
          </a:p>
        </p:txBody>
      </p:sp>
      <p:sp>
        <p:nvSpPr>
          <p:cNvPr id="37" name="Text 34"/>
          <p:cNvSpPr txBox="1"/>
          <p:nvPr/>
        </p:nvSpPr>
        <p:spPr>
          <a:xfrm>
            <a:off x="56692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father supports me.</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7982712" y="4497019"/>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أُخْتِي تُسَاعِدُ أَخَاهَا.</a:t>
            </a:r>
            <a:endParaRPr lang="ar-SA" sz="1950" dirty="0"/>
          </a:p>
        </p:txBody>
      </p:sp>
      <p:sp>
        <p:nvSpPr>
          <p:cNvPr id="42" name="Text 39"/>
          <p:cNvSpPr txBox="1"/>
          <p:nvPr/>
        </p:nvSpPr>
        <p:spPr>
          <a:xfrm>
            <a:off x="7936992" y="488801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sister helps her brother.</a:t>
            </a:r>
            <a:endParaRPr lang="en-US" sz="950" dirty="0"/>
          </a:p>
        </p:txBody>
      </p:sp>
      <p:sp>
        <p:nvSpPr>
          <p:cNvPr id="43" name="Text 40"/>
          <p:cNvSpPr txBox="1"/>
          <p:nvPr/>
        </p:nvSpPr>
        <p:spPr>
          <a:xfrm>
            <a:off x="4690872" y="4478731"/>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أُخْتِي تُسَاعِدُ</a:t>
            </a:r>
            <a:pPr rtl="1" algn="ctr" indent="0" marL="0">
              <a:buNone/>
            </a:pPr>
            <a:r>
              <a:rPr lang="ar-SA" altLang="en-US" sz="2600" b="1" dirty="0">
                <a:solidFill>
                  <a:srgbClr val="0E7C86"/>
                </a:solidFill>
                <a:latin typeface="Amiri" pitchFamily="34" charset="0"/>
                <a:ea typeface="Amiri" pitchFamily="34" charset="-122"/>
                <a:cs typeface="Amiri" pitchFamily="34" charset="-120"/>
              </a:rPr>
              <a:t>نِي</a:t>
            </a:r>
            <a:endParaRPr lang="ar-SA" sz="2600" dirty="0"/>
          </a:p>
        </p:txBody>
      </p:sp>
      <p:sp>
        <p:nvSpPr>
          <p:cNvPr id="44" name="Text 41"/>
          <p:cNvSpPr txBox="1"/>
          <p:nvPr/>
        </p:nvSpPr>
        <p:spPr>
          <a:xfrm>
            <a:off x="56692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sister helps me.</a:t>
            </a:r>
            <a:endParaRPr lang="en-US" sz="11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7982712" y="523402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نَتَفَاهَمُ مَعَ أَصْدِقَائِنَا.</a:t>
            </a:r>
            <a:endParaRPr lang="ar-SA" sz="1950" dirty="0"/>
          </a:p>
        </p:txBody>
      </p:sp>
      <p:sp>
        <p:nvSpPr>
          <p:cNvPr id="47" name="Text 44"/>
          <p:cNvSpPr txBox="1"/>
          <p:nvPr/>
        </p:nvSpPr>
        <p:spPr>
          <a:xfrm>
            <a:off x="7936992" y="5625023"/>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get on with our friends.</a:t>
            </a:r>
            <a:endParaRPr lang="en-US" sz="950" dirty="0"/>
          </a:p>
        </p:txBody>
      </p:sp>
      <p:sp>
        <p:nvSpPr>
          <p:cNvPr id="48" name="Text 45"/>
          <p:cNvSpPr txBox="1"/>
          <p:nvPr/>
        </p:nvSpPr>
        <p:spPr>
          <a:xfrm>
            <a:off x="4690872" y="521573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نَتَفَاهَمُ مَعَ</a:t>
            </a:r>
            <a:pPr rtl="1" algn="ctr" indent="0" marL="0">
              <a:buNone/>
            </a:pPr>
            <a:r>
              <a:rPr lang="ar-SA" altLang="en-US" sz="2600" b="1" dirty="0">
                <a:solidFill>
                  <a:srgbClr val="1D5FBF"/>
                </a:solidFill>
                <a:latin typeface="Amiri" pitchFamily="34" charset="0"/>
                <a:ea typeface="Amiri" pitchFamily="34" charset="-122"/>
                <a:cs typeface="Amiri" pitchFamily="34" charset="-120"/>
              </a:rPr>
              <a:t>هُمْ</a:t>
            </a:r>
            <a:endParaRPr lang="ar-SA" sz="2600" dirty="0"/>
          </a:p>
        </p:txBody>
      </p:sp>
      <p:sp>
        <p:nvSpPr>
          <p:cNvPr id="49" name="Text 46"/>
          <p:cNvSpPr txBox="1"/>
          <p:nvPr/>
        </p:nvSpPr>
        <p:spPr>
          <a:xfrm>
            <a:off x="56692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get on with them.</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Front of the verb = WHO does it (ya- he · ta- she). End of the verb = WHO receives it (-nī me · -hu him · -hā her).</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WITH, TOGETHER, AND WHY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Get on with · we argue · because we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 · نَتَـ · لِأَنَّنَا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WITH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مَعَ</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أَتَفَاهَمُ مَعَ أُخْتِي، وَأَخْتَلِفُ مَعَ أَخِي أَحْيَانًا.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get on with my sister, and I sometimes disagree with my brother.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drop maʿa.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TOGETHER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نَتَشَاجَرُ ثُمَّ نَتَصَالَحُ.</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argue, then we make up.</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 = we, to each other.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DEVELOP</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لِأَنَّنَا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نَتَفَاهَمُ لِأَنَّنَا نَسْتَمِعُ إِلَى بَعْضِنَا.</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get on because we listen to each other.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Because we = li-annanā.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drop maʿa after “I get 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أَتَفَاهَمُ مَعَ أُخْتِي.</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أَتَفَاهَمُ أُخْتِي.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Relationship verbs, object pronouns and reciprocity</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أَفْعَالُ العَلَاقَاتِ وَضَمَائِرُ المَفْعُولِ وَالتَّبَادُلُ</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Get on with / disagree with</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أَتَفَاهَمُ مَعَ / أَخْتَلِفُ مَعَ + شَخْصٍ</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أَتَفَاهَمُ مَعَ أُخْتِي.   ·   أَخْتَلِفُ مَعَ صَدِيقِي أَحْيَانًا.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Object pronouns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يَدْعَمُنِي / أُسَاعِدُهُ / أَحْتَرِمُهَا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أَبِي يَدْعَمُنِي.   ·   أَنَا أَحْتَرِمُهَا.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Reciprocal actions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نَتَعَاوَنُ / نَتَشَاجَرُ / نَتَصَالَحُ</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نَتَعَاوَنُ فِي البَيْتِ.   ·   نَتَشَاجَرُ ثُمَّ نَتَصَالَحُ.</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Explain the relationship</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نَتَفَاهَمُ لِأَنَّنَا ... / نَخْتَلِفُ لِأَنَّ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نَتَفَاهَمُ لِأَنَّنَا نَسْتَمِعُ إِلَى بَعْضِنَا.   ·   نَخْتَلِفُ لِأَنَّ آرَاءَنَا مُخْتَلِفَةٌ.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يَتَفَاهَمُ مَعَ أُخْتِي.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مَعَ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support him</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supports us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تَحْتَرِمُنِي.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نَتَفَاهَمُ ___ نَسْتَمِعُ إِلَى بَعْضِنَا.</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أَتَفَاهَمُ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يَتَفَاهَمُ مَعَ أُخْتِي.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أَتَفَاهَمُ مَعَ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أَتَفَاهَمُ 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support him</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supports us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ـني</a:t>
            </a:r>
            <a:pPr algn="l" indent="0" marL="0">
              <a:buNone/>
            </a:pPr>
            <a:r>
              <a:rPr lang="en-US" sz="1050" i="1" dirty="0">
                <a:solidFill>
                  <a:srgbClr val="8A6D1E"/>
                </a:solidFill>
                <a:latin typeface="Calibri" pitchFamily="34" charset="0"/>
                <a:ea typeface="Calibri" pitchFamily="34" charset="-122"/>
                <a:cs typeface="Calibri" pitchFamily="34" charset="-120"/>
              </a:rPr>
              <a:t> means 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أَحْتَرِمُهُ.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أَحْتَرِمُهَا.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تَحْتَرِمُنِي.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refers to her.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نَتَفَاهَمُ ___ نَسْتَمِعُ إِلَى بَعْضِنَا.</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is we: </a:t>
            </a:r>
            <a:pPr algn="l" indent="0" marL="0">
              <a:buNone/>
            </a:pPr>
            <a:r>
              <a:rPr lang="ar-SA" altLang="en-US" sz="1350" dirty="0">
                <a:solidFill>
                  <a:srgbClr val="8A6D1E"/>
                </a:solidFill>
                <a:latin typeface="Amiri" pitchFamily="34" charset="0"/>
                <a:ea typeface="Amiri" pitchFamily="34" charset="-122"/>
                <a:cs typeface="Amiri" pitchFamily="34" charset="-120"/>
              </a:rPr>
              <a:t>لِأَنَّنَا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describe two relationships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Strong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أَتَفَاهَمُ </a:t>
            </a:r>
            <a:pPr rtl="1" algn="ctr" indent="0" marL="0">
              <a:buNone/>
            </a:pPr>
            <a:r>
              <a:rPr lang="ar-SA" altLang="en-US" sz="2400" b="1" dirty="0">
                <a:solidFill>
                  <a:srgbClr val="0E7C86"/>
                </a:solidFill>
                <a:latin typeface="Amiri" pitchFamily="34" charset="0"/>
                <a:ea typeface="Amiri" pitchFamily="34" charset="-122"/>
                <a:cs typeface="Amiri" pitchFamily="34" charset="-120"/>
              </a:rPr>
              <a:t>مَعَ</a:t>
            </a:r>
            <a:pPr rtl="1" algn="ctr" indent="0" marL="0">
              <a:buNone/>
            </a:pPr>
            <a:r>
              <a:rPr lang="ar-SA" altLang="en-US" sz="2400" b="1" dirty="0">
                <a:solidFill>
                  <a:srgbClr val="1B3B6F"/>
                </a:solidFill>
                <a:latin typeface="Amiri" pitchFamily="34" charset="0"/>
                <a:ea typeface="Amiri" pitchFamily="34" charset="-122"/>
                <a:cs typeface="Amiri" pitchFamily="34" charset="-120"/>
              </a:rPr>
              <a:t> أُخْتِي جَيِّدًا.</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Get on WITH.</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Proof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هِيَ تَدْعَمُ</a:t>
            </a:r>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نِي</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عِنْدَمَا أَكُونُ قَلِقًا.</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(ta-) … me (-nī).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Difficult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أَخْتَلِفُ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ابْنِ عَمِّي، وَأَحْيَانًا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تَشَاجَرُ.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We → 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Solution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وَلٰكِنَّنَا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تَصَالَحُ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لِأَنَّنَا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نَحْتَرِمُ بَعْضَنَا.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Because we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WITH / BECAUSE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OBJECT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WE (NA-)</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أَتَفَاهَمُ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أُخْتِي جَيِّدًا؛ هِيَ تَدْعَمُ</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عِنْدَمَا أَكُونُ قَلِقًا، وَأَنَا أُسَاعِدُ</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وَاجِبِهَا. أَمَّا ابْنُ عَمِّي فَأَخْتَلِفُ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مَعَهُ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أَحْيَانًا،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تَشَاجَرُ حَوْلَ الحَاسُوبِ، وَلٰكِنَّنَا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تَصَالَحُ سَرِيعًا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نَحْتَرِمُ بَعْضَنَا.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get on well with my sister; she supports me when I am worried, and I help her with her homework. As for my cousin, I sometimes disagree with him, and we argue about the computer, but we make up quickly because we respect each other.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أَتَفَاهَمُ مَعَ أُخْتِي.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get on with my sister.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Get on WITH (مَعَ).</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أَبِي يَدْعَمُنِي.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father supports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ending: -nī = me.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نَتَعَاوَنُ فِي البَيْتِ.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cooperate at home.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Reciprocal: na- = we.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نَتَفَاهَمُ لِأَنَّنَا نَسْتَمِعُ إِلَى بَعْضِنَا.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get on because we listen to each other.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Reason: because we.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RELATIONSHIPS — FAMILY, FRIENDS AND HOW WE GET 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How do they get on?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العَلَاقَاتِ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getting on well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disagreeing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helping each other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نَخْتَلِفُ أَحْيَانًا.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نُسَاعِدُ بَعْضَنَا بَعْضًا.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هُمَا يَتَفَاهَمَانِ جَيِّدًا.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العَلَاقَاتِ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getting on well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هُمَا يَتَفَاهَمَانِ جَيِّدًا.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They (two) get on well.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disagreeing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نَخْتَلِفُ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disagree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helping each other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نُسَاعِدُ بَعْضَنَا بَعْضًا.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help each other.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Accurate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أَتَفَاهَمُ مَعَ أُخْتِي.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أَبِي يَدْعَمُنِي.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أَحْتَرِمُهَا.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نَتَشَاجَرُ ثُمَّ نَتَصَالَحُ.</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أَتَفَاهَمُ أُخْتِي.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أُمِّي يَدْعَمُنِي.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نَتَفَاهَمُ لِأَنَّهُ نَسْتَمِعُ.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يَحْتَرِمُهَا.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أَتَفَاهَمُ مَعَ أُخْتِي.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أَبِي يَدْعَمُنِي.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أَحْتَرِمُهَا.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نَتَشَاجَرُ ثُمَّ نَتَصَالَحُ.</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أَتَفَاهَمُ أُخْتِي.</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أُمِّي يَدْعَمُنِي.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نَتَفَاهَمُ لِأَنَّهُ نَسْتَمِعُ.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يَحْتَرِمُهَا.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 argue”?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نَتَصَالَحُ</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نَتَعَاوَنُ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نَتَشَاجَرُ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pronoun reference to “my brother”.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يُسَاعِدُنِي.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developed answer.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عَلَاقَتُنَا.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عَلَاقَتُنَا قَوِيَّةٌ لِأَنَّنَا نَثِقُ بِبَعْضِنَا.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بَعْدَ أَنْ نَتَشَاجَرَ، ___ سَرِيعًا.</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يَدْعَمُنِي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نَتَصَالَحُ</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 argue”?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نَتَصَالَحُ</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نَتَعَاوَنُ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نَتَشَاجَرُ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نَتَشَاجَرُ</a:t>
            </a:r>
            <a:pPr algn="l" indent="0" marL="0">
              <a:buNone/>
            </a:pPr>
            <a:r>
              <a:rPr lang="en-US" sz="1050" i="1" dirty="0">
                <a:solidFill>
                  <a:srgbClr val="8A6D1E"/>
                </a:solidFill>
                <a:latin typeface="Calibri" pitchFamily="34" charset="0"/>
                <a:ea typeface="Calibri" pitchFamily="34" charset="-122"/>
                <a:cs typeface="Calibri" pitchFamily="34" charset="-120"/>
              </a:rPr>
              <a:t> = we argue.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pronoun reference to “my brother”.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يُسَاعِدُنِي.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refers to him.</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developed answer.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عَلَاقَتُنَا.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عَلَاقَتُنَا قَوِيَّةٌ لِأَنَّنَا نَثِقُ بِبَعْضِنَا.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a judgement and reason.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بَعْدَ أَنْ نَتَشَاجَرَ، ___ سَرِيعًا.</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أَتَفَاهَمُهُ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يَدْعَمُنِي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نَتَصَالَحُ</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 make up after arguing.</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أَتَفَاهَمُ أُخْتِي.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Get on … WITH?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أُمِّي يَدْعَمُنِي.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My mother = he or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أَحْتَرِمُ أُمِّي؛ أَحْتَرِمُهُ.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Mother →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أَتَفَاهَمُ أُخْتِي.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أَتَفَاهَمُ مَعَ أُخْتِي.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مَعَ</a:t>
            </a:r>
            <a:pPr algn="l" indent="0" marL="0">
              <a:buNone/>
            </a:pPr>
            <a:r>
              <a:rPr lang="en-US" sz="11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500" b="1" dirty="0">
                <a:solidFill>
                  <a:srgbClr val="1B3B6F"/>
                </a:solidFill>
                <a:latin typeface="Amiri" pitchFamily="34" charset="0"/>
                <a:ea typeface="Amiri" pitchFamily="34" charset="-122"/>
                <a:cs typeface="Amiri" pitchFamily="34" charset="-120"/>
              </a:rPr>
              <a:t>أَتَفَاهَمُ</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أُمِّي يَدْعَمُنِي.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أُمِّي تَدْعَمُنِي.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My mother = she →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أَحْتَرِمُ أُمِّي؛ أَحْتَرِمُهُ.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أَحْتَرِمُ أُمِّي؛ أَحْتَرِمُهَا.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ـهَا</a:t>
            </a:r>
            <a:pPr algn="l" indent="0" marL="0">
              <a:buNone/>
            </a:pPr>
            <a:r>
              <a:rPr lang="en-US" sz="1150" b="1" dirty="0">
                <a:solidFill>
                  <a:srgbClr val="1B3B6F"/>
                </a:solidFill>
                <a:latin typeface="Calibri" pitchFamily="34" charset="0"/>
                <a:ea typeface="Calibri" pitchFamily="34" charset="-122"/>
                <a:cs typeface="Calibri" pitchFamily="34" charset="-120"/>
              </a:rPr>
              <a:t> refers to her.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focus: relationships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Samer?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older brother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classmate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cousin</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usually get on with him?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buys presents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very quiet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listens and supports the speaker’s studies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they sometimes disagree about?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football</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the computer</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they argue?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talk and make up quickly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stop speaking for days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mother decides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respect him?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older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honest and helpful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funny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أَحْتَرِمُهُ</a:t>
            </a:r>
            <a:pPr algn="l" indent="0" marL="0">
              <a:buNone/>
            </a:pPr>
            <a:r>
              <a:rPr lang="en-US" sz="1250" b="1" dirty="0">
                <a:solidFill>
                  <a:srgbClr val="1B3B6F"/>
                </a:solidFill>
                <a:latin typeface="Calibri" pitchFamily="34" charset="0"/>
                <a:ea typeface="Calibri" pitchFamily="34" charset="-122"/>
                <a:cs typeface="Calibri" pitchFamily="34" charset="-120"/>
              </a:rPr>
              <a:t>, who is respected?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(him)</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(me)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 (her)</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أَخٌ أَكْبَرُ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الحَاسُوبِ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نَتَصَالَحُ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لَدَيَّ أَخٌ أَكْبَرُ يُسَمَّى سَامِرًا.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have an older brother called Samer.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أَتَفَاهَمُ مَعَهُ عَادَةً لِأَنَّهُ يَسْتَمِعُ إِلَيَّ وَيَدْعَمُنِي فِي دِرَاسَتِي.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usually get on with him because he listens to me and supports me in my studies.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وَلٰكِنَّنَا نَخْتَلِفُ أَحْيَانًا حَوْلَ اسْتِخْدَامِ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we sometimes disagree about using the computer.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 نَتَشَاجَرُ، نَتَكَلَّمُ بَعْدَ ذٰلِكَ وَنَتَصَالَحُ سَرِيعًا.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we argue, we talk afterwards and make up quickly.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أَحْتَرِمُهُ لِأَنَّهُ صَادِقٌ وَمُتَعَاوِنٌ.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respect him because he is honest and helpful.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Samer?</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speaker’s older brother</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classmate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cousin</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لَدَيَّ أَخٌ أَكْبَرُ يُسَمَّى سَامِرًا.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usually get on with him?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buys presents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very quiet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listens and supports the speaker’s studies</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يَسْتَمِعُ إِلَيَّ وَيَدْعَمُنِي فِي دِرَاسَتِي.</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they sometimes disagree about?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football</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homework</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using the computer</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نَخْتَلِفُ أَحْيَانًا حَوْلَ اسْتِخْدَامِ الحَاسُوبِ.</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they argue?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talk and make up quickly</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they stop speaking for days</a:t>
            </a:r>
            <a:endParaRPr lang="en-US" sz="120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mother decides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نَتَكَلَّمُ بَعْدَ ذٰلِكَ وَنَتَصَالَحُ سَرِيعًا.</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speaker respect him?</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older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is honest and helpful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funny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أَحْتَرِمُهُ لِأَنَّهُ صَادِقٌ وَمُتَعَاوِنٌ.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أَحْتَرِمُهُ</a:t>
            </a:r>
            <a:pPr algn="l" indent="0" marL="0">
              <a:buNone/>
            </a:pPr>
            <a:r>
              <a:rPr lang="en-US" sz="1250" b="1" dirty="0">
                <a:solidFill>
                  <a:srgbClr val="1B3B6F"/>
                </a:solidFill>
                <a:latin typeface="Calibri" pitchFamily="34" charset="0"/>
                <a:ea typeface="Calibri" pitchFamily="34" charset="-122"/>
                <a:cs typeface="Calibri" pitchFamily="34" charset="-120"/>
              </a:rPr>
              <a:t>, who is respected?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 (him)</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(me)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mother (her)</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 = him.</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أَخٌ أَكْبَرُ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الحَاسُوبِ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نَتَصَالَحُ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Developed speaking: relationships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عَلَاقَتَكَ بِصَدِيقٍ مُقَرَّبٍ.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يَدْعَمُكَ وَكَيْفَ؟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تَخْتَلِفُ مَعَ أَحَدٍ فِي أُسْرَتِكَ؟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يَجْعَلُ العَلَاقَةَ قَوِيَّةً؟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أَتَفَاهَمُ مَعَ ___ لِأَنَّ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يَدْعَمُنِي / تَدْعَمُنِي عِنْدَمَا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نَتَشَاجَرُ أَحْيَانًا حَوْلَ ___ ، وَلٰكِنَّنَا ___ .</a:t>
            </a:r>
            <a:endParaRPr lang="ar-SA" sz="14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العَلَاقَةُ القَوِيَّةُ تَحْتَاجُ إِلَى ___ لِأَنَّ ___ .</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يَدْعَمُكَ فِي دِرَاسَتِكَ؟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supports you in your studies?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أُخْتِي تَدْعَمُنِي وَتُسَاعِدُنِي.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sister supports and helps me.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relationship: get on with … · … supports me · one reason (because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relationships with object endings (him / her / me) and “we argue … we make up”.</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one strong and one sometimes difficult relationship — actions, feelings, reasons and how problems are resolved.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أَتَفَاهَمُ مَعَ ______ لِأَنَّهُ / لِأَنَّهَا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on with … because he / she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أَخْتَلِفُ مَعَ ______ أَحْيَانًا حَوْلَ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sometimes disagree with …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أُسَاعِدُهُ / أُسَاعِدُهَا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 him / her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نَتَفَاهَمُ لِأَنَّنَا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get on because we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أَنَّنَا نَخْتَلِفُ ،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we disagree,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أَتَفَاهَمُ مَعَ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on with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يَدْعَمُنِي / تَدْعَمُنِي.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supports me (he / she).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أَحْتَرِمُهُ / أَحْتَرِمُهَا.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respect him / her.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نَتَشَاجَرُ.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sometimes argue.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نَتَصَالَحُ.</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we make up.</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أَتَفَاهَمُ مَعَ  ·  أَخْتَلِفُ مَعَ  ·  أَثِقُ بِـ  ·  أَحْتَرِمُهُ / أَحْتَرِمُهَا  ·  يَدْعَمُنِي  ·  تَدْعَمُنِي  ·  نَتَشَاجَرُ  ·  نَتَصَالَحُ  ·  صَدِيقٌ مُقَرَّبٌ  ·  عَلَاقَةٌ قَوِيَّةٌ  ·  لِأَنَّنَا  ·  وَلٰكِنَّنَا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about two relationships: one strong and one sometimes difficult. Explain actions, feelings, object pronouns, reasons and how problems are resolved.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نَثِقُ بِبَعْضِنَا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trust each other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أَكُونُ قَلِقًا / قَلِقَةً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am worried (m. / 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أَصْعَبُ نَوْعًا 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somewhat more difficult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نَتَكَلَّمُ بِهُدُوءٍ</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talk calmly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يُسَاعِدَانِ النَّاسَ عَلَى فَهْمِ بَعْضِهِمْ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help people understand each other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عَلَاقَتِي بِأُخْتِي قَوِيَّةٌ لِأَنَّنَا نَتَفَاهَمُ وَنَثِقُ بِبَعْضِنَا. هِيَ تَدْعَمُنِي عِنْدَمَا أَكُونُ قَلِقًا، وَأَنَا أُسَاعِدُهَا فِي وَاجِبِهَا. أَمَّا عِلَاقَتِي بِابْنِ عَمِّي فَهِيَ أَصْعَبُ نَوْعًا مَا، لِأَنَّنَا نَخْتَلِفُ حَوْلَ أَلْعَابِ الحَاسُوبِ. أَحْيَانًا نَتَشَاجَرُ، وَلٰكِنَّنَا نَتَكَلَّمُ بِهُدُوءٍ وَنَتَصَالَحُ بَعْدَ ذٰلِكَ. فِي رَأْيِي، الاِحْتِرَامُ وَالاِسْتِمَاعُ أَهَمُّ شَيْئَيْنِ فِي أَيِّ عِلَاقَةٍ، لِأَنَّهُمَا يُسَاعِدَانِ النَّاسَ عَلَى فَهْمِ بَعْضِهِمْ.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relationship with my sister is strong because we get on and trust each other. She supports me when I am worried, and I help her with her homework. As for my relationship with my cousin, it is somewhat more difficult, because we disagree about computer games. Sometimes we argue, but we talk calmly and make up afterwards. In my opinion, respect and listening are the two most important things in any relationship, because they help people understand each other.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object endings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reciprocal “we”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لِأَنَّنَا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“get on WITH” (maʿa).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reason with “because”.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object endings match the person (-hu / -hā / -nī).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“we” verb (we argue / we make up).</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how a problem is solved.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مَعَ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أُخْتِي.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يَتَفَاهَمُ مَعَ أُخْتِي.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support him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supports us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تَحْتَرِمُنِي.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أَتَفَاهَمُ مَعَ أُخْتِي.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أَتَفَاهَمُ أُخْتِي.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يَتَفَاهَمُ مَعَ أُخْتِي.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أَتَفَاهَمُ 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support him</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supports us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ـني</a:t>
            </a:r>
            <a:pPr algn="l" indent="0" marL="0">
              <a:buNone/>
            </a:pPr>
            <a:r>
              <a:rPr lang="en-US" sz="1050" i="1" dirty="0">
                <a:solidFill>
                  <a:srgbClr val="8A6D1E"/>
                </a:solidFill>
                <a:latin typeface="Calibri" pitchFamily="34" charset="0"/>
                <a:ea typeface="Calibri" pitchFamily="34" charset="-122"/>
                <a:cs typeface="Calibri" pitchFamily="34" charset="-120"/>
              </a:rPr>
              <a:t> means 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أَحْتَرِمُهَا.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أَحْتَرِمُهُ.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تَحْتَرِمُنِي.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refers to her.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focus: relationships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تَكْتُبُ لَيْلَى عَنْ صَدِيقَتِهَا هِنْدٍ. تَقُولُ إِنَّ عَلَاقَتَهُمَا قَوِيَّةٌ لِأَنَّهُمَا تَثِقَانِ بِبَعْضِهِمَا وَتَقْضِيَانِ الوَقْتَ مَعًا. هِنْدٌ تَدْعَمُ لَيْلَى عِنْدَمَا تَكُونُ قَلِقَةً، وَلَيْلَى تُسَاعِدُهَا فِي الدِّرَاسَةِ. عَلَى الرَّغْمِ مِنْ أَنَّهُمَا تَخْتَلِفَانِ فِي بَعْضِ الآرَاءِ، فَإِنَّهُمَا تَسْتَمِعَانِ إِلَى بَعْضِهِمَا وَتَحْتَرِمَانِ الاِخْتِلَافَ.</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تَكْتُبُ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writes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عَلَاقَتَهُمَا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their (two) relationship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تَثِقَانِ بِبَعْضِهِمَا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(two) trust each other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تَقْضِيَانِ الوَقْتَ مَعًا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(two) spend time together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worried (f.)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تُسَاعِدُهَا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helps her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تَخْتَلِفَانِ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(two) differ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الآرَاءِ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opinions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تَسْتَمِعَانِ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(two) listen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الاِخْتِلَافَ</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difference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Hind?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sister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friend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their relationship strong?</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live in the same house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never disagree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trust each other and spend time together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Hind help Layla?</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supports her when she is worried</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cooks for 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drives her to school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Layla help Hind?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shopping</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her studies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sport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 they always agree?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they differ in some opinions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does not say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they do about their differences?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argue every day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talking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to each other and respect the difference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Hind?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Layla’s sister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Layla’s friend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Layla’s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صَدِيقَتِهَا هِنْدٍ.</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their relationship strong?</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they live in the same house</a:t>
            </a:r>
            <a:endParaRPr lang="en-US" sz="12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never disagree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trust each other and spend time together</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تَثِقَانِ بِبَعْضِهِمَا وَتَقْضِيَانِ الوَقْتَ مَعًا.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Hind help Layla?</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supports her when she is worried</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cooks for her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drives her to school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تَدْعَمُ لَيْلَى عِنْدَمَا تَكُونُ قَلِقَةً.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Layla help Hind?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shopping</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her studies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sport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تُسَاعِدُهَا فِي الدِّرَاسَةِ.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 they always agree?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 — they differ in some opinions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text does not say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تَخْتَلِفَانِ فِي بَعْضِ الآرَاءِ.</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they do about their differences?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argue every day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talking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listen to each other and respect the difference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تَسْتَمِعَانِ … وَتَحْتَرِمَانِ الاِخْتِلَافَ.</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relationships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أُخْتِي.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مَعَ أُخْتِي.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يَتَفَاهَمُ مَعَ أُخْتِي.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support him</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supports us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تَحْتَرِمُنِي.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نَتَفَاهَمُ ___ نَسْتَمِعُ إِلَى بَعْضِنَا.</a:t>
            </a:r>
            <a:endParaRPr lang="ar-SA" sz="11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لِأَنَّنَا</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 argue”?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نَتَشَاجَرُ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نَتَصَالَحُ</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نَتَعَاوَنُ</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pronoun reference to “my brother”.</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يُسَاعِدُنِي.</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أَتَفَاهَمُ أُخْتِي.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أَتَفَاهَمُ مَعَ أُخْتِي.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يَتَفَاهَمُ مَعَ أُخْتِي.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أَتَفَاهَمُ 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support him</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supports us</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ـني</a:t>
            </a:r>
            <a:pPr algn="l" indent="0" marL="0">
              <a:buNone/>
            </a:pPr>
            <a:r>
              <a:rPr lang="en-US" sz="1050" i="1" dirty="0">
                <a:solidFill>
                  <a:srgbClr val="8A6D1E"/>
                </a:solidFill>
                <a:latin typeface="Calibri" pitchFamily="34" charset="0"/>
                <a:ea typeface="Calibri" pitchFamily="34" charset="-122"/>
                <a:cs typeface="Calibri" pitchFamily="34" charset="-120"/>
              </a:rPr>
              <a:t> means me.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أَحْتَرِمُهُ.</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تَحْتَرِمُنِي.</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أَحْتَرِمُهَا.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refers to her.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نَتَفَاهَمُ ___ نَسْتَمِعُ إِلَى بَعْضِنَا.</a:t>
            </a:r>
            <a:endParaRPr lang="ar-SA" sz="11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is we: </a:t>
            </a:r>
            <a:pPr algn="l" indent="0" marL="0">
              <a:buNone/>
            </a:pPr>
            <a:r>
              <a:rPr lang="ar-SA" altLang="en-US" sz="1350" dirty="0">
                <a:solidFill>
                  <a:srgbClr val="8A6D1E"/>
                </a:solidFill>
                <a:latin typeface="Amiri" pitchFamily="34" charset="0"/>
                <a:ea typeface="Amiri" pitchFamily="34" charset="-122"/>
                <a:cs typeface="Amiri" pitchFamily="34" charset="-120"/>
              </a:rPr>
              <a:t>لِأَنَّنَا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 argue”?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نَتَشَاجَرُ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نَتَصَالَحُ</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نَتَعَاوَنُ</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نَتَشَاجَرُ</a:t>
            </a:r>
            <a:pPr algn="l" indent="0" marL="0">
              <a:buNone/>
            </a:pPr>
            <a:r>
              <a:rPr lang="en-US" sz="1050" i="1" dirty="0">
                <a:solidFill>
                  <a:srgbClr val="8A6D1E"/>
                </a:solidFill>
                <a:latin typeface="Calibri" pitchFamily="34" charset="0"/>
                <a:ea typeface="Calibri" pitchFamily="34" charset="-122"/>
                <a:cs typeface="Calibri" pitchFamily="34" charset="-120"/>
              </a:rPr>
              <a:t> = we argue.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pronoun reference to “my brother”.</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أُسَاعِدُهَا.</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يُسَاعِدُنِي.</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refers to him.</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D2-L02 · Relationships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D2-L03 · Clothes and Accessories — Vocabulary and Shopping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قَمِيصٌ</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shirt</a:t>
            </a:r>
            <a:pPr indent="0" marL="0">
              <a:buNone/>
            </a:pPr>
            <a:r>
              <a:rPr lang="en-US" sz="1000" i="1" dirty="0">
                <a:solidFill>
                  <a:srgbClr val="5A6472"/>
                </a:solidFill>
                <a:latin typeface="Calibri" pitchFamily="34" charset="0"/>
                <a:ea typeface="Calibri" pitchFamily="34" charset="-122"/>
                <a:cs typeface="Calibri" pitchFamily="34" charset="-120"/>
              </a:rPr>
              <a:t>  pl. قُمْصَانٌ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فُسْتَانٌ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dress</a:t>
            </a:r>
            <a:pPr indent="0" marL="0">
              <a:buNone/>
            </a:pPr>
            <a:r>
              <a:rPr lang="en-US" sz="1000" i="1" dirty="0">
                <a:solidFill>
                  <a:srgbClr val="5A6472"/>
                </a:solidFill>
                <a:latin typeface="Calibri" pitchFamily="34" charset="0"/>
                <a:ea typeface="Calibri" pitchFamily="34" charset="-122"/>
                <a:cs typeface="Calibri" pitchFamily="34" charset="-120"/>
              </a:rPr>
              <a:t>  pl. فَسَاتِينُ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سِرْوَالٌ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trousers</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حِذَاءٌ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shoes</a:t>
            </a:r>
            <a:pPr indent="0" marL="0">
              <a:buNone/>
            </a:pPr>
            <a:r>
              <a:rPr lang="en-US" sz="1000" i="1" dirty="0">
                <a:solidFill>
                  <a:srgbClr val="5A6472"/>
                </a:solidFill>
                <a:latin typeface="Calibri" pitchFamily="34" charset="0"/>
                <a:ea typeface="Calibri" pitchFamily="34" charset="-122"/>
                <a:cs typeface="Calibri" pitchFamily="34" charset="-120"/>
              </a:rPr>
              <a:t>  pl. أَحْذِيَةٌ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مِعْطَفٌ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coat</a:t>
            </a:r>
            <a:pPr indent="0" marL="0">
              <a:buNone/>
            </a:pPr>
            <a:r>
              <a:rPr lang="en-US" sz="1000" i="1" dirty="0">
                <a:solidFill>
                  <a:srgbClr val="5A6472"/>
                </a:solidFill>
                <a:latin typeface="Calibri" pitchFamily="34" charset="0"/>
                <a:ea typeface="Calibri" pitchFamily="34" charset="-122"/>
                <a:cs typeface="Calibri" pitchFamily="34" charset="-120"/>
              </a:rPr>
              <a:t>  pl. مَعَاطِفُ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are you wearing today? Name three items of clothing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تَلْبَسُ اليَوْمَ؟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D2-L02: the picture game and the vocabulary tab (relationship actions).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two relationships with object endings.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 one strong and one difficult relationship.</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D2-L03 · Clothes and Accessories — Vocabulary and Shopping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المَلَابِسُ وَالإِكْسِسْوَارَاتُ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front of the verb = who does it; end of the verb = who receives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D2-L02 · Relationships — Family, Friends and How We Get On</dc:title>
  <dc:subject>PptxGenJS Presentation</dc:subject>
  <dc:creator>Al Madina Online School · Arabic Department</dc:creator>
  <cp:lastModifiedBy>Al Madina Online School · Arabic Department</cp:lastModifiedBy>
  <cp:revision>1</cp:revision>
  <dcterms:created xsi:type="dcterms:W3CDTF">2026-09-27T11:37:29Z</dcterms:created>
  <dcterms:modified xsi:type="dcterms:W3CDTF">2026-09-27T11:37:29Z</dcterms:modified>
</cp:coreProperties>
</file>