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notesMasterIdLst>
    <p:notesMasterId r:id="rId26"/>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AT A GLANCE — planned for 56 minutes, leaving about 4 minutes for Teams delays.
0–1 Welcome · 1–2 Lesson map · 2–8 Grammar laboratory (not marked) · 8–9 Assessment map · 9–20 Listening (20: two texts) · 20–30 Reading (10) · 30–44 Writing (20: profile form + article) · 44–53 Speaking (10: portrait + conversation, pairs / one-to-one) · 53–56 Score profile, strength and next target.
FLEX slides are optional. Use them if the class is moving quickly; otherwise the same activities are on the website for homework.
Content source: Miftah Arabic website, Pathways › Development › D2 People, Relationships and Style › D2-L12. The website D2-L12 is a 60-mark Development profile (not an external exam paper): listening 20 (a friend and her style · buying a coat — 12 questions) · reading 10 (Salma’s portrait) · writing 20 (person-profile form 5 + article or email 15: Task 5 · Range 5 · Accuracy 5) · speaking 10 (Communication 5 · Accuracy and range 5). The grammar laboratory (12) is practice. Every item, script, text and mark allocation is the website’s.
All vocabulary, grammar rules, quizzes, the listening script, the reading text, speaking prompts and model answers come from those pages, so students meet the same language in class and at home. Anything teacher-made (Core scaffolds, riddles, translations) is labelled in the notes.
SUPPORT FOR THIS CLASS (Arabic not yet secure; mixed levels):
• Everyone sits the same 60 marks. Access arrangements: extra time, questions read aloud in English, one section on screen at a time; speaking one-to-one or in trusted pairs (it can move to the next lesson).
• Listening: the website has 12 listening questions and reports the section out of 20. Mark each question out of 1, then scale ×5/3 and round (12/12 = 20) — or simply record /12 and convert at the end.
• Scripts: read each text twice at natural pace if the website audio is unavailable; scripts are in the slide notes — do not show them before the section is submitted.
• Answer slides follow each part — mark live, or hide them and mark later.
• Colour code (same as all Miftah lessons): WHO = blue, MEANING = purple, ENDING = pink, PATTERN = orange, KEY WORD = teal.
• SEND “automatic doors”: lesson map, chunked tasks, read-along scripts with English, cover-the-text reading and “pass” for reading aloud are built in for everyone, so no one is singled out.
ROUTES: Core (green) = students whose Arabic is not yet secure; Develop (amber) = on track; Stretch (red) = confident. Same objective for everyone — the task changes, not the goal (EAL Guide: adapt the task, not the objective).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MAP. Website structure: 01 Language vault · 02 Grammar laboratory · 03 60-mark profile · 04 Listening · 05 Reading · 06 Writing · 07 Speaking · 08 Reflection.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(5 min independent + 2 min going through answers).
Five of the twelve website grammar-laboratory questions (D2-L01, L02, L03, L06). Students scoring below 3/5 revise the D2-L11 personality bank before writing.
• Students work silently. Answers go in the chat as five letters only when the timer ends.
• Core students may answer in English and use their book.
• While they work: register, note late joiners, note anyone not attempting (Self-Management).
• Go THROUGH the answers on the next slide — ask one student (after thinking time) to explain WHY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(2 min). Reveal and ask “why?” for each (● 10s think → named student, warned in advance).
Key idea for today (bottom-right card): This warm-up does NOT count. It samples D2: agreement · object pronouns · this (f.) · who (f.) · dual eyes.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FLEX — six more website grammar-laboratory questions (comparison, evidence, balanced opinion, superlative, لِأَنَّنَا, developed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ASSESSMENT MAP (website “Your 60-mark D2 profile”).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LISTENING TEXT 1 (website). Students read the questions (30 s). Read the script twice.
SCRIPT: تَصِفُ هُدَى صَدِيقَتَهَا سَلْمَى. تَقُولُ إِنَّهَا صَبُورَةٌ وَمُتَعَاوِنَةٌ، لِأَنَّهَا تَشْرَحُ العَمَلَ لِلطَّالِبَاتِ الجَدِيدَاتِ. تَرْتَدِي سَلْمَى عَادَةً مَلَابِسَ بَسِيطَةً وَمُحْتَشِمَةً، بَيْنَمَا تُفَضِّلُ هُدَى أَلْوَانًا أَكْثَرَ زَهَاءً. فِي رَأْيِ هُدَى، اخْتِلَافُ الأُسْلُوبِ لَا يَمْنَعُ الصَّدَاقَةَ، لِأَنَّ كُلَّ شَخْصٍ يَخْتَارُ مَا يُنَاسِبُهُ.
Website note: Q5 “How does the speaker’s style differ?” — Huda prefers brighter colours (أَلْوَانًا أَكْثَرَ زَهَاءً).</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 /6.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LISTENING TEXT 2 (website). Read twice; two voices if possible.
SCRIPT: يَبْحَثُ عُمَرُ عَنْ مِعْطَفٍ جَدِيدٍ. يُجَرِّبُ مِعْطَفًا أَزْرَقَ، وَلٰكِنَّهُ ضَيِّقٌ. تُحْضِرُ البَائِعَةُ مَقَاسًا أَكْبَرَ وَتَقُولُ إِنَّ المِعْطَفَ الأَزْرَقَ أَرْخَصُ مِنَ الأَسْوَدِ. مَعَ ذٰلِكَ يَخْتَارُ عُمَرُ الأَسْوَدَ لِأَنَّهُ أَكْثَرُ أَنَاقَةً وَمُنَاسِبٌ لِلْمُنَاسَبَاتِ. يَقُولُ: سَآخُذُهُ، مِنْ فَضْلِكِ.
Listening total: /12 → ×5/3 = /20 (website profile).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 /6. Students add up Listening /12 and convert to /20 (12 → 20, 9 → 15, 6 → 10, 3 →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TEXT (website). Read once for the overall picture, then return for evidence, reference and contrast. No English support on assessment texts.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QUESTIONS 1–5 (website).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QUESTIONS 6–10 (website). Reading total /10.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 /5. Students add up Reading /10.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WRITING (website, 20 marks). Three routes (website): type, write or draw on screen, or on paper.
MARK SCHEME (website): Form /5 — one mark per field completed in Arabic. Article /15 — Task 5 · Range 5 · Accuracy 5.
Core access: the D2-L11 frames may be used for Question 1 only. Teacher model on the next slide — show ONLY after writing.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the website D2-L11 writing model (the assessment page prints no model). Students compare and add ONE improvement in green pen (self-assessment only — the mark stands).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SPEAKING (website, 10 marks: Communication /5 · Accuracy and range /5).
Follow-up questions for the conversation part: مَنْ يَدْعَمُكَ؟ · كَيْفَ تَتَفَاهَمَانِ؟ · مَا أَهَمُّ: الرَّاحَةُ أَمِ الأَنَاقَةُ؟ · أَيُّهُمَا تُفَضِّلُ وَلِمَاذَا؟
ORGANISATION: one-to-one (others finish writing) or trusted pairs with the teacher listening.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SCORE PROFILE (website “Evidence · target · transfer — D2 reflection”). The bands are a teacher guide in line with the other units (the website totals the four scores but prints no bands).
A precise action = rule + task + frequency, e.g. “Adjective agreement: five he / she pairs every two days; check in two weeks.”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PREPARATION — flipped learning (2 min to explain).
Next lesson (D3-L01 · Jobs and Professions (D3)) will spend class time USING this language, so students prepare it tonight — short, simple, easy to access (school guidance: “Simple, Short, Interesting, Relevant, Easy to access”). Reflection words (the next Development unit starts with its own website preparation). The website’s next Development unit is D3, starting with jobs and professions.
Follow-up: the next Do Now tests two of these words (Flipped Learning: keep it short AND follow up).
Homework by route (website tasks). No internet? Students copy the five words from this slide into their book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YEAR 8  ·  DEVELOPMENT D2  ·  D2-L12</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D2-L12</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3800" b="1" dirty="0">
                <a:solidFill>
                  <a:srgbClr val="FFFFFF"/>
                </a:solidFill>
                <a:latin typeface="Cambria" pitchFamily="34" charset="0"/>
                <a:cs typeface="Amiri" pitchFamily="2" charset="-78"/>
              </a:rPr>
              <a:t>Review and Unit Assessment</a:t>
            </a:r>
            <a:endParaRPr lang="en-US" sz="380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cs typeface="Amiri" pitchFamily="2" charset="-78"/>
              </a:rPr>
              <a:t>المُرَاجَعَةُ وَالتَّقْيِيمُ</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Bring together personality, relationships, clothes, appearance, comparison and style — revise the D2 grammar, then show it across a 60-mark four-skills profile and set one precise next target.</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D2-L12 · Development D2 · People, Relationships and Style</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Development · end of unit D2</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Pathways › Development › D2 › D2-L12</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D2-L12 · D2 Assessment</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D2-L12</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24</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D2-L12 · D2 Assessment</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LESSON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assessment,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خَرِيطَةُ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D2-L12</a:t>
            </a:r>
            <a:endParaRPr lang="en-US" sz="850" dirty="0"/>
          </a:p>
        </p:txBody>
      </p:sp>
      <p:sp>
        <p:nvSpPr>
          <p:cNvPr id="15" name="Shape 12"/>
          <p:cNvSpPr/>
          <p:nvPr/>
        </p:nvSpPr>
        <p:spPr>
          <a:xfrm>
            <a:off x="45720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28146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60350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DO NOW</a:t>
            </a:r>
            <a:endParaRPr lang="en-US" sz="1000" dirty="0"/>
          </a:p>
        </p:txBody>
      </p:sp>
      <p:sp>
        <p:nvSpPr>
          <p:cNvPr id="18" name="Text 15"/>
          <p:cNvSpPr txBox="1"/>
          <p:nvPr/>
        </p:nvSpPr>
        <p:spPr>
          <a:xfrm>
            <a:off x="60350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6 min</a:t>
            </a:r>
            <a:endParaRPr lang="en-US" sz="1000" dirty="0"/>
          </a:p>
        </p:txBody>
      </p:sp>
      <p:sp>
        <p:nvSpPr>
          <p:cNvPr id="19" name="Shape 16"/>
          <p:cNvSpPr/>
          <p:nvPr/>
        </p:nvSpPr>
        <p:spPr>
          <a:xfrm>
            <a:off x="1006493"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00649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Grammar laboratory (not marked).</a:t>
            </a:r>
            <a:endParaRPr lang="en-US" sz="1200" dirty="0"/>
          </a:p>
        </p:txBody>
      </p:sp>
      <p:sp>
        <p:nvSpPr>
          <p:cNvPr id="22" name="Text 19"/>
          <p:cNvSpPr txBox="1"/>
          <p:nvPr/>
        </p:nvSpPr>
        <p:spPr>
          <a:xfrm>
            <a:off x="54864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0E7C86"/>
                </a:solidFill>
                <a:latin typeface="Amiri" pitchFamily="2" charset="-78"/>
                <a:cs typeface="Amiri" pitchFamily="2" charset="-78"/>
              </a:rPr>
              <a:t>المُرَاجَعَةُ</a:t>
            </a:r>
            <a:endParaRPr lang="ar-SA" sz="1500" dirty="0"/>
          </a:p>
        </p:txBody>
      </p:sp>
      <p:sp>
        <p:nvSpPr>
          <p:cNvPr id="23" name="Shape 20"/>
          <p:cNvSpPr/>
          <p:nvPr/>
        </p:nvSpPr>
        <p:spPr>
          <a:xfrm>
            <a:off x="2086138"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195866" y="1938528"/>
            <a:ext cx="1281466" cy="566928"/>
          </a:xfrm>
          <a:prstGeom prst="roundRect">
            <a:avLst>
              <a:gd name="adj" fmla="val 9677"/>
            </a:avLst>
          </a:prstGeom>
          <a:solidFill>
            <a:srgbClr val="1B3B6F"/>
          </a:solidFill>
          <a:ln w="12700">
            <a:solidFill>
              <a:srgbClr val="1B3B6F"/>
            </a:solidFill>
            <a:prstDash val="solid"/>
          </a:ln>
        </p:spPr>
      </p:sp>
      <p:sp>
        <p:nvSpPr>
          <p:cNvPr id="25" name="Text 22"/>
          <p:cNvSpPr txBox="1"/>
          <p:nvPr/>
        </p:nvSpPr>
        <p:spPr>
          <a:xfrm>
            <a:off x="2232442"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26" name="Text 23"/>
          <p:cNvSpPr txBox="1"/>
          <p:nvPr/>
        </p:nvSpPr>
        <p:spPr>
          <a:xfrm>
            <a:off x="2232442"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 min</a:t>
            </a:r>
            <a:endParaRPr lang="en-US" sz="1000" dirty="0"/>
          </a:p>
        </p:txBody>
      </p:sp>
      <p:sp>
        <p:nvSpPr>
          <p:cNvPr id="27" name="Shape 24"/>
          <p:cNvSpPr/>
          <p:nvPr/>
        </p:nvSpPr>
        <p:spPr>
          <a:xfrm>
            <a:off x="2635431"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263543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214154"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The 60-mark map.</a:t>
            </a:r>
            <a:endParaRPr lang="en-US" sz="1200" dirty="0"/>
          </a:p>
        </p:txBody>
      </p:sp>
      <p:sp>
        <p:nvSpPr>
          <p:cNvPr id="30" name="Text 27"/>
          <p:cNvSpPr txBox="1"/>
          <p:nvPr/>
        </p:nvSpPr>
        <p:spPr>
          <a:xfrm>
            <a:off x="2177578"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خُطَّةُ التَّقْيِيمِ</a:t>
            </a:r>
            <a:endParaRPr lang="ar-SA" sz="1500" dirty="0"/>
          </a:p>
        </p:txBody>
      </p:sp>
      <p:sp>
        <p:nvSpPr>
          <p:cNvPr id="31" name="Shape 28"/>
          <p:cNvSpPr/>
          <p:nvPr/>
        </p:nvSpPr>
        <p:spPr>
          <a:xfrm>
            <a:off x="3715077"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3824805" y="1938528"/>
            <a:ext cx="1281466" cy="566928"/>
          </a:xfrm>
          <a:prstGeom prst="roundRect">
            <a:avLst>
              <a:gd name="adj" fmla="val 9677"/>
            </a:avLst>
          </a:prstGeom>
          <a:solidFill>
            <a:srgbClr val="6B4C9A"/>
          </a:solidFill>
          <a:ln w="12700">
            <a:solidFill>
              <a:srgbClr val="6B4C9A"/>
            </a:solidFill>
            <a:prstDash val="solid"/>
          </a:ln>
        </p:spPr>
      </p:sp>
      <p:sp>
        <p:nvSpPr>
          <p:cNvPr id="33" name="Text 30"/>
          <p:cNvSpPr txBox="1"/>
          <p:nvPr/>
        </p:nvSpPr>
        <p:spPr>
          <a:xfrm>
            <a:off x="3861381"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I DO</a:t>
            </a:r>
            <a:endParaRPr lang="en-US" sz="1000" dirty="0"/>
          </a:p>
        </p:txBody>
      </p:sp>
      <p:sp>
        <p:nvSpPr>
          <p:cNvPr id="34" name="Text 31"/>
          <p:cNvSpPr txBox="1"/>
          <p:nvPr/>
        </p:nvSpPr>
        <p:spPr>
          <a:xfrm>
            <a:off x="3861381"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11 min</a:t>
            </a:r>
            <a:endParaRPr lang="en-US" sz="1000" dirty="0"/>
          </a:p>
        </p:txBody>
      </p:sp>
      <p:sp>
        <p:nvSpPr>
          <p:cNvPr id="35" name="Shape 32"/>
          <p:cNvSpPr/>
          <p:nvPr/>
        </p:nvSpPr>
        <p:spPr>
          <a:xfrm>
            <a:off x="4264370"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26437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3843093"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Listening: 20 marks.</a:t>
            </a:r>
            <a:endParaRPr lang="en-US" sz="1200" dirty="0"/>
          </a:p>
        </p:txBody>
      </p:sp>
      <p:sp>
        <p:nvSpPr>
          <p:cNvPr id="38" name="Text 35"/>
          <p:cNvSpPr txBox="1"/>
          <p:nvPr/>
        </p:nvSpPr>
        <p:spPr>
          <a:xfrm>
            <a:off x="3806517"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6B4C9A"/>
                </a:solidFill>
                <a:latin typeface="Amiri" pitchFamily="2" charset="-78"/>
                <a:cs typeface="Amiri" pitchFamily="2" charset="-78"/>
              </a:rPr>
              <a:t>الاِسْتِمَاعُ</a:t>
            </a:r>
            <a:endParaRPr lang="ar-SA" sz="1500" dirty="0"/>
          </a:p>
        </p:txBody>
      </p:sp>
      <p:sp>
        <p:nvSpPr>
          <p:cNvPr id="39" name="Shape 36"/>
          <p:cNvSpPr/>
          <p:nvPr/>
        </p:nvSpPr>
        <p:spPr>
          <a:xfrm>
            <a:off x="5344015"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453743" y="1938528"/>
            <a:ext cx="1281466" cy="566928"/>
          </a:xfrm>
          <a:prstGeom prst="roundRect">
            <a:avLst>
              <a:gd name="adj" fmla="val 9677"/>
            </a:avLst>
          </a:prstGeom>
          <a:solidFill>
            <a:srgbClr val="2F6FB0"/>
          </a:solidFill>
          <a:ln w="12700">
            <a:solidFill>
              <a:srgbClr val="2F6FB0"/>
            </a:solidFill>
            <a:prstDash val="solid"/>
          </a:ln>
        </p:spPr>
      </p:sp>
      <p:sp>
        <p:nvSpPr>
          <p:cNvPr id="41" name="Text 38"/>
          <p:cNvSpPr txBox="1"/>
          <p:nvPr/>
        </p:nvSpPr>
        <p:spPr>
          <a:xfrm>
            <a:off x="5490319"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42" name="Text 39"/>
          <p:cNvSpPr txBox="1"/>
          <p:nvPr/>
        </p:nvSpPr>
        <p:spPr>
          <a:xfrm>
            <a:off x="5490319"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10 min</a:t>
            </a:r>
            <a:endParaRPr lang="en-US" sz="1000" dirty="0"/>
          </a:p>
        </p:txBody>
      </p:sp>
      <p:sp>
        <p:nvSpPr>
          <p:cNvPr id="43" name="Shape 40"/>
          <p:cNvSpPr/>
          <p:nvPr/>
        </p:nvSpPr>
        <p:spPr>
          <a:xfrm>
            <a:off x="5893308"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5472031"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Reading: 10 marks.</a:t>
            </a:r>
            <a:endParaRPr lang="en-US" sz="1200" dirty="0"/>
          </a:p>
        </p:txBody>
      </p:sp>
      <p:sp>
        <p:nvSpPr>
          <p:cNvPr id="46" name="Text 43"/>
          <p:cNvSpPr txBox="1"/>
          <p:nvPr/>
        </p:nvSpPr>
        <p:spPr>
          <a:xfrm>
            <a:off x="5435455"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cs typeface="Amiri" pitchFamily="2" charset="-78"/>
              </a:rPr>
              <a:t>القِرَاءَةُ</a:t>
            </a:r>
            <a:endParaRPr lang="ar-SA" sz="1500" dirty="0"/>
          </a:p>
        </p:txBody>
      </p:sp>
      <p:sp>
        <p:nvSpPr>
          <p:cNvPr id="47" name="Shape 44"/>
          <p:cNvSpPr/>
          <p:nvPr/>
        </p:nvSpPr>
        <p:spPr>
          <a:xfrm>
            <a:off x="6972953"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7082681" y="1938528"/>
            <a:ext cx="128146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7119257"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0" name="Text 47"/>
          <p:cNvSpPr txBox="1"/>
          <p:nvPr/>
        </p:nvSpPr>
        <p:spPr>
          <a:xfrm>
            <a:off x="7119257"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23 min</a:t>
            </a:r>
            <a:endParaRPr lang="en-US" sz="1000" dirty="0"/>
          </a:p>
        </p:txBody>
      </p:sp>
      <p:sp>
        <p:nvSpPr>
          <p:cNvPr id="51" name="Shape 48"/>
          <p:cNvSpPr/>
          <p:nvPr/>
        </p:nvSpPr>
        <p:spPr>
          <a:xfrm>
            <a:off x="7522246"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752224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7100969"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Writing 20 + speaking 10.</a:t>
            </a:r>
            <a:endParaRPr lang="en-US" sz="1200" dirty="0"/>
          </a:p>
        </p:txBody>
      </p:sp>
      <p:sp>
        <p:nvSpPr>
          <p:cNvPr id="54" name="Text 51"/>
          <p:cNvSpPr txBox="1"/>
          <p:nvPr/>
        </p:nvSpPr>
        <p:spPr>
          <a:xfrm>
            <a:off x="7064393"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cs typeface="Amiri" pitchFamily="2" charset="-78"/>
              </a:rPr>
              <a:t>الكِتَابَةُ وَالتَّحَدُّثُ</a:t>
            </a:r>
            <a:endParaRPr lang="ar-SA" sz="1500" dirty="0"/>
          </a:p>
        </p:txBody>
      </p:sp>
      <p:sp>
        <p:nvSpPr>
          <p:cNvPr id="55" name="Shape 52"/>
          <p:cNvSpPr/>
          <p:nvPr/>
        </p:nvSpPr>
        <p:spPr>
          <a:xfrm>
            <a:off x="8601891"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711619" y="1938528"/>
            <a:ext cx="1281466" cy="566928"/>
          </a:xfrm>
          <a:prstGeom prst="roundRect">
            <a:avLst>
              <a:gd name="adj" fmla="val 9677"/>
            </a:avLst>
          </a:prstGeom>
          <a:solidFill>
            <a:srgbClr val="8A6D1E"/>
          </a:solidFill>
          <a:ln w="12700">
            <a:solidFill>
              <a:srgbClr val="8A6D1E"/>
            </a:solidFill>
            <a:prstDash val="solid"/>
          </a:ln>
        </p:spPr>
      </p:sp>
      <p:sp>
        <p:nvSpPr>
          <p:cNvPr id="57" name="Text 54"/>
          <p:cNvSpPr txBox="1"/>
          <p:nvPr/>
        </p:nvSpPr>
        <p:spPr>
          <a:xfrm>
            <a:off x="8748195"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8" name="Text 55"/>
          <p:cNvSpPr txBox="1"/>
          <p:nvPr/>
        </p:nvSpPr>
        <p:spPr>
          <a:xfrm>
            <a:off x="8748195"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3 min</a:t>
            </a:r>
            <a:endParaRPr lang="en-US" sz="1000" dirty="0"/>
          </a:p>
        </p:txBody>
      </p:sp>
      <p:sp>
        <p:nvSpPr>
          <p:cNvPr id="59" name="Shape 56"/>
          <p:cNvSpPr/>
          <p:nvPr/>
        </p:nvSpPr>
        <p:spPr>
          <a:xfrm>
            <a:off x="9151185"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915118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6</a:t>
            </a:r>
            <a:endParaRPr lang="en-US" sz="1300" dirty="0"/>
          </a:p>
        </p:txBody>
      </p:sp>
      <p:sp>
        <p:nvSpPr>
          <p:cNvPr id="61" name="Text 58"/>
          <p:cNvSpPr txBox="1"/>
          <p:nvPr/>
        </p:nvSpPr>
        <p:spPr>
          <a:xfrm>
            <a:off x="8729907"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My profile, my strength, my target.</a:t>
            </a:r>
            <a:endParaRPr lang="en-US" sz="1200" dirty="0"/>
          </a:p>
        </p:txBody>
      </p:sp>
      <p:sp>
        <p:nvSpPr>
          <p:cNvPr id="62" name="Text 59"/>
          <p:cNvSpPr txBox="1"/>
          <p:nvPr/>
        </p:nvSpPr>
        <p:spPr>
          <a:xfrm>
            <a:off x="8693331"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cs typeface="Amiri" pitchFamily="2" charset="-78"/>
              </a:rPr>
              <a:t>الهَدَفُ</a:t>
            </a:r>
            <a:endParaRPr lang="ar-SA" sz="1500" dirty="0"/>
          </a:p>
        </p:txBody>
      </p:sp>
      <p:sp>
        <p:nvSpPr>
          <p:cNvPr id="63" name="Shape 60"/>
          <p:cNvSpPr/>
          <p:nvPr/>
        </p:nvSpPr>
        <p:spPr>
          <a:xfrm>
            <a:off x="1023083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10340558" y="1938528"/>
            <a:ext cx="1281466" cy="566928"/>
          </a:xfrm>
          <a:prstGeom prst="roundRect">
            <a:avLst>
              <a:gd name="adj" fmla="val 9677"/>
            </a:avLst>
          </a:prstGeom>
          <a:solidFill>
            <a:srgbClr val="C45A3C"/>
          </a:solidFill>
          <a:ln w="12700">
            <a:solidFill>
              <a:srgbClr val="C45A3C"/>
            </a:solidFill>
            <a:prstDash val="solid"/>
          </a:ln>
        </p:spPr>
      </p:sp>
      <p:sp>
        <p:nvSpPr>
          <p:cNvPr id="65" name="Text 62"/>
          <p:cNvSpPr txBox="1"/>
          <p:nvPr/>
        </p:nvSpPr>
        <p:spPr>
          <a:xfrm>
            <a:off x="1037713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PREPARATION</a:t>
            </a:r>
            <a:endParaRPr lang="en-US" sz="1000" dirty="0"/>
          </a:p>
        </p:txBody>
      </p:sp>
      <p:sp>
        <p:nvSpPr>
          <p:cNvPr id="66" name="Text 63"/>
          <p:cNvSpPr txBox="1"/>
          <p:nvPr/>
        </p:nvSpPr>
        <p:spPr>
          <a:xfrm>
            <a:off x="1037713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 min</a:t>
            </a:r>
            <a:endParaRPr lang="en-US" sz="1000" dirty="0"/>
          </a:p>
        </p:txBody>
      </p:sp>
      <p:sp>
        <p:nvSpPr>
          <p:cNvPr id="67" name="Shape 64"/>
          <p:cNvSpPr/>
          <p:nvPr/>
        </p:nvSpPr>
        <p:spPr>
          <a:xfrm>
            <a:off x="10780123" y="2651760"/>
            <a:ext cx="402336" cy="402336"/>
          </a:xfrm>
          <a:prstGeom prst="ellipse">
            <a:avLst/>
          </a:prstGeom>
          <a:solidFill>
            <a:srgbClr val="F4F1EA"/>
          </a:solidFill>
          <a:ln w="12700">
            <a:solidFill>
              <a:srgbClr val="F4F1EA"/>
            </a:solidFill>
            <a:prstDash val="solid"/>
          </a:ln>
        </p:spPr>
      </p:sp>
      <p:sp>
        <p:nvSpPr>
          <p:cNvPr id="68" name="Text 65"/>
          <p:cNvSpPr txBox="1"/>
          <p:nvPr/>
        </p:nvSpPr>
        <p:spPr>
          <a:xfrm>
            <a:off x="1078012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7</a:t>
            </a:r>
            <a:endParaRPr lang="en-US" sz="1300" dirty="0"/>
          </a:p>
        </p:txBody>
      </p:sp>
      <p:sp>
        <p:nvSpPr>
          <p:cNvPr id="69" name="Text 66"/>
          <p:cNvSpPr txBox="1"/>
          <p:nvPr/>
        </p:nvSpPr>
        <p:spPr>
          <a:xfrm>
            <a:off x="1035884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Get ready for the next unit.</a:t>
            </a:r>
            <a:endParaRPr lang="en-US" sz="1200" dirty="0"/>
          </a:p>
        </p:txBody>
      </p:sp>
      <p:sp>
        <p:nvSpPr>
          <p:cNvPr id="70" name="Text 67"/>
          <p:cNvSpPr txBox="1"/>
          <p:nvPr/>
        </p:nvSpPr>
        <p:spPr>
          <a:xfrm>
            <a:off x="1032227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C45A3C"/>
                </a:solidFill>
                <a:latin typeface="Amiri" pitchFamily="2" charset="-78"/>
                <a:cs typeface="Amiri" pitchFamily="2" charset="-78"/>
              </a:rPr>
              <a:t>اِسْتَعِدَّ</a:t>
            </a:r>
            <a:endParaRPr lang="ar-SA" sz="1500" dirty="0"/>
          </a:p>
        </p:txBody>
      </p:sp>
      <p:sp>
        <p:nvSpPr>
          <p:cNvPr id="71" name="Shape 68"/>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2" name="Text 69"/>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73" name="Text 70"/>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Each section starts with the easier questions. Leave a blank and come back. The grammar laboratory does not count.</a:t>
            </a:r>
            <a:endParaRPr lang="en-US" sz="1250" dirty="0"/>
          </a:p>
        </p:txBody>
      </p:sp>
      <p:sp>
        <p:nvSpPr>
          <p:cNvPr id="74" name="Text 7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24</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D2-L12 · D2 Assessment</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ON YOUR OWN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Retrieval: what do you remember?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اِبْدَأِ الآنَ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D2-L12</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accurate feminine personality agreement.</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هِيَ وَدُودٌ وَصَادِقٌ.</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هِيَ وَدُودَةٌ وَصَادِقَةٌ.</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هُوَ وَدُودَةٌ.</a:t>
            </a:r>
            <a:endParaRPr lang="ar-SA" sz="20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“I respect her”.</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أَحْتَرِمُهَا.</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أَحْتَرِمُهُ.</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تَحْتَرِمُنِي.</a:t>
            </a:r>
            <a:endParaRPr lang="ar-SA" sz="20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“this jacket”.</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هٰذَا السُّتْرَةُ</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هٰذِهِ السُّتْرَةَ</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هٰذِهِ السُّتْرَةُ</a:t>
            </a:r>
            <a:endParaRPr lang="ar-SA" sz="20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girl who wears glasses”.</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الفَتَاةُ الَّذِي يَرْتَدِي</a:t>
            </a:r>
            <a:endParaRPr lang="ar-SA" sz="20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الوَلَدُ الَّتِي تَرْتَدِي</a:t>
            </a:r>
            <a:endParaRPr lang="ar-SA" sz="20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الفَتَاةُ الَّتِي تَرْتَدِي نَظَّارَةً</a:t>
            </a:r>
            <a:endParaRPr lang="ar-SA" sz="20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accurate dual-eye agreement.</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عَيْنَاهَا بُنِّيَّتَانِ.</a:t>
            </a:r>
            <a:endParaRPr lang="ar-SA" sz="20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عَيْنَاهَا بُنِّيَّةٌ.</a:t>
            </a:r>
            <a:endParaRPr lang="ar-SA" sz="20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عَيْنَاهَا بُنِّيٌّ.</a:t>
            </a:r>
            <a:endParaRPr lang="ar-SA" sz="2050" dirty="0"/>
          </a:p>
        </p:txBody>
      </p:sp>
      <p:sp>
        <p:nvSpPr>
          <p:cNvPr id="80" name="Shape 77"/>
          <p:cNvSpPr/>
          <p:nvPr/>
        </p:nvSpPr>
        <p:spPr>
          <a:xfrm>
            <a:off x="8095488" y="4151376"/>
            <a:ext cx="3636264" cy="2157984"/>
          </a:xfrm>
          <a:prstGeom prst="roundRect">
            <a:avLst>
              <a:gd name="adj" fmla="val 3390"/>
            </a:avLst>
          </a:prstGeom>
          <a:solidFill>
            <a:srgbClr val="E8F4F5"/>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81" name="Text 78"/>
          <p:cNvSpPr txBox="1"/>
          <p:nvPr/>
        </p:nvSpPr>
        <p:spPr>
          <a:xfrm>
            <a:off x="8296656" y="4471416"/>
            <a:ext cx="3270504" cy="274320"/>
          </a:xfrm>
          <a:prstGeom prst="rect">
            <a:avLst/>
          </a:prstGeom>
          <a:noFill/>
          <a:ln/>
        </p:spPr>
        <p:txBody>
          <a:bodyPr wrap="square" lIns="0" tIns="0" rIns="0" bIns="0" rtlCol="0" anchor="ctr"/>
          <a:lstStyle/>
          <a:p>
            <a:pPr algn="l" indent="0" marL="0">
              <a:buNone/>
            </a:pPr>
            <a:r>
              <a:rPr lang="en-US" sz="1100" b="1" spc="200" kern="0" dirty="0">
                <a:solidFill>
                  <a:srgbClr val="0E7C86"/>
                </a:solidFill>
                <a:latin typeface="Calibri" pitchFamily="34" charset="0"/>
                <a:cs typeface="Amiri" pitchFamily="2" charset="-78"/>
              </a:rPr>
              <a:t>HOW TO ANSWER</a:t>
            </a:r>
            <a:endParaRPr lang="en-US" sz="1100" dirty="0"/>
          </a:p>
        </p:txBody>
      </p:sp>
      <p:sp>
        <p:nvSpPr>
          <p:cNvPr id="82" name="Text 79"/>
          <p:cNvSpPr txBox="1"/>
          <p:nvPr/>
        </p:nvSpPr>
        <p:spPr>
          <a:xfrm>
            <a:off x="8296656" y="4754880"/>
            <a:ext cx="3270504" cy="82296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Work on your own in silence.</a:t>
            </a:r>
            <a:endParaRPr lang="en-US" sz="1350" dirty="0"/>
          </a:p>
          <a:p>
            <a:pPr algn="l" indent="0" marL="0">
              <a:buNone/>
            </a:pPr>
            <a:r>
              <a:rPr lang="en-US" sz="1350" dirty="0">
                <a:solidFill>
                  <a:srgbClr val="1F2A37"/>
                </a:solidFill>
                <a:latin typeface="Calibri" pitchFamily="34" charset="0"/>
                <a:cs typeface="Amiri" pitchFamily="2" charset="-78"/>
              </a:rPr>
              <a:t>When the timer ends, type in the chat:</a:t>
            </a:r>
            <a:endParaRPr lang="en-US" sz="1350" dirty="0"/>
          </a:p>
        </p:txBody>
      </p:sp>
      <p:sp>
        <p:nvSpPr>
          <p:cNvPr id="83" name="Text 80"/>
          <p:cNvSpPr txBox="1"/>
          <p:nvPr/>
        </p:nvSpPr>
        <p:spPr>
          <a:xfrm>
            <a:off x="8296656" y="5522976"/>
            <a:ext cx="3270504" cy="310896"/>
          </a:xfrm>
          <a:prstGeom prst="rect">
            <a:avLst/>
          </a:prstGeom>
          <a:noFill/>
          <a:ln/>
        </p:spPr>
        <p:txBody>
          <a:bodyPr wrap="square" lIns="0" tIns="0" rIns="0" bIns="0" rtlCol="0" anchor="ctr"/>
          <a:lstStyle/>
          <a:p>
            <a:pPr algn="l" indent="0" marL="0">
              <a:buNone/>
            </a:pPr>
            <a:r>
              <a:rPr lang="en-US" sz="1400" b="1" dirty="0">
                <a:solidFill>
                  <a:srgbClr val="1B3B6F"/>
                </a:solidFill>
                <a:latin typeface="Consolas" pitchFamily="34" charset="0"/>
                <a:cs typeface="Amiri" pitchFamily="2" charset="-78"/>
              </a:rPr>
              <a:t>1_  2_  3_  4_  5_</a:t>
            </a:r>
            <a:endParaRPr lang="en-US" sz="1400" dirty="0"/>
          </a:p>
        </p:txBody>
      </p:sp>
      <p:sp>
        <p:nvSpPr>
          <p:cNvPr id="84" name="Text 81"/>
          <p:cNvSpPr txBox="1"/>
          <p:nvPr/>
        </p:nvSpPr>
        <p:spPr>
          <a:xfrm>
            <a:off x="8296656" y="5742432"/>
            <a:ext cx="3270504" cy="402336"/>
          </a:xfrm>
          <a:prstGeom prst="rect">
            <a:avLst/>
          </a:prstGeom>
          <a:noFill/>
          <a:ln/>
        </p:spPr>
        <p:txBody>
          <a:bodyPr wrap="square" lIns="0" tIns="0" rIns="0" bIns="0" rtlCol="0" anchor="ctr"/>
          <a:lstStyle/>
          <a:p>
            <a:pPr algn="l" indent="0" marL="0">
              <a:buNone/>
            </a:pPr>
            <a:r>
              <a:rPr lang="en-US" sz="1800" b="1" dirty="0">
                <a:solidFill>
                  <a:srgbClr val="0E7C86"/>
                </a:solidFill>
                <a:latin typeface="Calibri" pitchFamily="34" charset="0"/>
                <a:cs typeface="Amiri" pitchFamily="2" charset="-78"/>
              </a:rPr>
              <a:t>⏱  5 : 00</a:t>
            </a:r>
            <a:endParaRPr lang="en-US" sz="180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24</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D2-L12 · D2 Assessment</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ANSWERS AND REASONS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Let’s check — and explain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D2-L12</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accurate feminine personality agreement.</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هِيَ وَدُودٌ وَصَادِقٌ.</a:t>
            </a:r>
            <a:endParaRPr lang="ar-SA" sz="170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هِيَ وَدُودَةٌ وَصَادِقَةٌ.</a:t>
            </a:r>
            <a:endParaRPr lang="ar-SA" sz="170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هُوَ وَدُودَةٌ.</a:t>
            </a:r>
            <a:endParaRPr lang="ar-SA" sz="170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 feminine subject requires feminine adjectives.</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“I respect her”.</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أَحْتَرِمُهَا.</a:t>
            </a:r>
            <a:endParaRPr lang="ar-SA" sz="170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أَحْتَرِمُهُ.</a:t>
            </a:r>
            <a:endParaRPr lang="ar-SA" sz="170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تَحْتَرِمُنِي.</a:t>
            </a:r>
            <a:endParaRPr lang="ar-SA" sz="170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ـها</a:t>
            </a:r>
            <a:pPr algn="l" indent="0" marL="0">
              <a:buNone/>
            </a:pPr>
            <a:r>
              <a:rPr lang="en-US" sz="1050" i="1" dirty="0">
                <a:solidFill>
                  <a:srgbClr val="8A6D1E"/>
                </a:solidFill>
                <a:latin typeface="Calibri" pitchFamily="34" charset="0"/>
                <a:cs typeface="Amiri" pitchFamily="2" charset="-78"/>
              </a:rPr>
              <a:t> refers to her.</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“this jacket”.</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هٰذَا السُّتْرَةُ</a:t>
            </a:r>
            <a:endParaRPr lang="ar-SA" sz="170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هٰذِهِ السُّتْرَةَ</a:t>
            </a:r>
            <a:endParaRPr lang="ar-SA" sz="170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هٰذِهِ السُّتْرَةُ</a:t>
            </a:r>
            <a:endParaRPr lang="ar-SA" sz="170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سُتْرَةٌ</a:t>
            </a:r>
            <a:pPr algn="l" indent="0" marL="0">
              <a:buNone/>
            </a:pPr>
            <a:r>
              <a:rPr lang="en-US" sz="1050" i="1" dirty="0">
                <a:solidFill>
                  <a:srgbClr val="8A6D1E"/>
                </a:solidFill>
                <a:latin typeface="Calibri" pitchFamily="34" charset="0"/>
                <a:cs typeface="Amiri" pitchFamily="2" charset="-78"/>
              </a:rPr>
              <a:t> is feminine.</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girl who wears glasses”.</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الفَتَاةُ الَّذِي يَرْتَدِي</a:t>
            </a:r>
            <a:endParaRPr lang="ar-SA" sz="1700" dirty="0"/>
          </a:p>
        </p:txBody>
      </p:sp>
      <p:sp>
        <p:nvSpPr>
          <p:cNvPr id="67" name="Shape 64"/>
          <p:cNvSpPr/>
          <p:nvPr/>
        </p:nvSpPr>
        <p:spPr>
          <a:xfrm>
            <a:off x="640080" y="5202936"/>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9" name="Text 66"/>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الوَلَدُ الَّتِي تَرْتَدِي</a:t>
            </a:r>
            <a:endParaRPr lang="ar-SA" sz="1700" dirty="0"/>
          </a:p>
        </p:txBody>
      </p:sp>
      <p:sp>
        <p:nvSpPr>
          <p:cNvPr id="70" name="Shape 67"/>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640080" y="5574792"/>
            <a:ext cx="256032" cy="256032"/>
          </a:xfrm>
          <a:prstGeom prst="ellipse">
            <a:avLst/>
          </a:prstGeom>
          <a:solidFill>
            <a:srgbClr val="2E8B57"/>
          </a:solidFill>
          <a:ln w="12700">
            <a:solidFill>
              <a:srgbClr val="2E8B57"/>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الفَتَاةُ الَّتِي تَرْتَدِي نَظَّارَةً</a:t>
            </a:r>
            <a:endParaRPr lang="ar-SA" sz="170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Feminine antecedent takes </a:t>
            </a:r>
            <a:pPr algn="l" indent="0" marL="0">
              <a:buNone/>
            </a:pPr>
            <a:r>
              <a:rPr lang="ar-SA" altLang="en-US" sz="1350" dirty="0">
                <a:solidFill>
                  <a:srgbClr val="8A6D1E"/>
                </a:solidFill>
                <a:latin typeface="Amiri" pitchFamily="2" charset="-78"/>
                <a:cs typeface="Amiri" pitchFamily="2" charset="-78"/>
              </a:rPr>
              <a:t>التي</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accurate dual-eye agreement.</a:t>
            </a:r>
            <a:endParaRPr lang="en-US" sz="1250" dirty="0"/>
          </a:p>
        </p:txBody>
      </p:sp>
      <p:sp>
        <p:nvSpPr>
          <p:cNvPr id="79" name="Shape 76"/>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4459224"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2" name="Text 79"/>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عَيْنَاهَا بُنِّيَّتَانِ.</a:t>
            </a:r>
            <a:endParaRPr lang="ar-SA" sz="1700" dirty="0"/>
          </a:p>
        </p:txBody>
      </p:sp>
      <p:sp>
        <p:nvSpPr>
          <p:cNvPr id="83" name="Shape 80"/>
          <p:cNvSpPr/>
          <p:nvPr/>
        </p:nvSpPr>
        <p:spPr>
          <a:xfrm>
            <a:off x="4459224"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عَيْنَاهَا بُنِّيَّةٌ.</a:t>
            </a:r>
            <a:endParaRPr lang="ar-SA" sz="170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عَيْنَاهَا بُنِّيٌّ.</a:t>
            </a:r>
            <a:endParaRPr lang="ar-SA" sz="170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Dual feminine adjective is </a:t>
            </a:r>
            <a:pPr algn="l" indent="0" marL="0">
              <a:buNone/>
            </a:pPr>
            <a:r>
              <a:rPr lang="ar-SA" altLang="en-US" sz="1350" dirty="0">
                <a:solidFill>
                  <a:srgbClr val="8A6D1E"/>
                </a:solidFill>
                <a:latin typeface="Amiri" pitchFamily="2" charset="-78"/>
                <a:cs typeface="Amiri" pitchFamily="2" charset="-78"/>
              </a:rPr>
              <a:t>بُنِّيَّتَانِ</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90" name="Shape 87"/>
          <p:cNvSpPr/>
          <p:nvPr/>
        </p:nvSpPr>
        <p:spPr>
          <a:xfrm>
            <a:off x="8095488" y="4151376"/>
            <a:ext cx="3636264" cy="2157984"/>
          </a:xfrm>
          <a:prstGeom prst="roundRect">
            <a:avLst>
              <a:gd name="adj" fmla="val 3390"/>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91" name="Text 88"/>
          <p:cNvSpPr txBox="1"/>
          <p:nvPr/>
        </p:nvSpPr>
        <p:spPr>
          <a:xfrm>
            <a:off x="8278368" y="4279392"/>
            <a:ext cx="3270504" cy="256032"/>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KEY IDEA FOR TODAY</a:t>
            </a:r>
            <a:endParaRPr lang="en-US" sz="1000" dirty="0"/>
          </a:p>
        </p:txBody>
      </p:sp>
      <p:sp>
        <p:nvSpPr>
          <p:cNvPr id="92" name="Text 89"/>
          <p:cNvSpPr txBox="1"/>
          <p:nvPr/>
        </p:nvSpPr>
        <p:spPr>
          <a:xfrm>
            <a:off x="8278368" y="4553712"/>
            <a:ext cx="3270504" cy="640080"/>
          </a:xfrm>
          <a:prstGeom prst="rect">
            <a:avLst/>
          </a:prstGeom>
          <a:noFill/>
          <a:ln/>
        </p:spPr>
        <p:txBody>
          <a:bodyPr wrap="square" lIns="0" tIns="0" rIns="0" bIns="0" rtlCol="0" anchor="t"/>
          <a:lstStyle/>
          <a:p>
            <a:pPr algn="l" indent="0" marL="0">
              <a:buNone/>
            </a:pPr>
            <a:r>
              <a:rPr lang="en-US" sz="1250" b="1" dirty="0">
                <a:solidFill>
                  <a:srgbClr val="1F2A37"/>
                </a:solidFill>
                <a:latin typeface="Calibri" pitchFamily="34" charset="0"/>
                <a:cs typeface="Amiri" pitchFamily="2" charset="-78"/>
              </a:rPr>
              <a:t>This warm-up does NOT count. It samples D2: agreement · object pronouns · this (f.) · who (f.) · dual eyes.</a:t>
            </a:r>
            <a:endParaRPr lang="en-US" sz="1250" dirty="0"/>
          </a:p>
        </p:txBody>
      </p:sp>
      <p:sp>
        <p:nvSpPr>
          <p:cNvPr id="93" name="Text 90"/>
          <p:cNvSpPr txBox="1"/>
          <p:nvPr/>
        </p:nvSpPr>
        <p:spPr>
          <a:xfrm>
            <a:off x="8278368" y="5202936"/>
            <a:ext cx="3270504" cy="1014984"/>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مُرَاجَعَةٌ ثُمَّ تَقْيِيمٌ</a:t>
            </a:r>
            <a:endParaRPr lang="ar-SA" sz="240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24</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D2-L12 · D2 Assessment</a:t>
            </a:r>
            <a:endParaRPr lang="en-US" sz="950" dirty="0"/>
          </a:p>
        </p:txBody>
      </p:sp>
      <p:sp>
        <p:nvSpPr>
          <p:cNvPr id="8" name="Shape 6"/>
          <p:cNvSpPr/>
          <p:nvPr/>
        </p:nvSpPr>
        <p:spPr>
          <a:xfrm>
            <a:off x="7388352" y="274320"/>
            <a:ext cx="1371600"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REVISION · WEBSITE GRAMMAR LABORATORY · FLEX (NOT MARKED)</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Grammar laboratory</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مُخْتَبَرُ القَوَاعِدِ</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D2-L12</a:t>
            </a:r>
            <a:endParaRPr lang="en-US" sz="850" dirty="0"/>
          </a:p>
        </p:txBody>
      </p:sp>
      <p:sp>
        <p:nvSpPr>
          <p:cNvPr id="17"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 the comparison:</a:t>
            </a:r>
            <a:endParaRPr lang="en-US" sz="1200" dirty="0"/>
          </a:p>
        </p:txBody>
      </p:sp>
      <p:sp>
        <p:nvSpPr>
          <p:cNvPr id="21" name="Text 18"/>
          <p:cNvSpPr txBox="1"/>
          <p:nvPr/>
        </p:nvSpPr>
        <p:spPr>
          <a:xfrm>
            <a:off x="2406701" y="1883664"/>
            <a:ext cx="1577035"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cs typeface="Amiri" pitchFamily="2" charset="-78"/>
              </a:rPr>
              <a:t>هٰذَا أَرْخَصُ ___ ذٰلِكَ.</a:t>
            </a:r>
            <a:endParaRPr lang="ar-SA" sz="1500" dirty="0"/>
          </a:p>
        </p:txBody>
      </p:sp>
      <p:sp>
        <p:nvSpPr>
          <p:cNvPr id="22" name="Shape 19"/>
          <p:cNvSpPr/>
          <p:nvPr/>
        </p:nvSpPr>
        <p:spPr>
          <a:xfrm>
            <a:off x="640080" y="25328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4" name="Text 21"/>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مَعَ</a:t>
            </a:r>
            <a:endParaRPr lang="ar-SA" sz="2050" dirty="0"/>
          </a:p>
        </p:txBody>
      </p:sp>
      <p:sp>
        <p:nvSpPr>
          <p:cNvPr id="25" name="Shape 22"/>
          <p:cNvSpPr/>
          <p:nvPr/>
        </p:nvSpPr>
        <p:spPr>
          <a:xfrm>
            <a:off x="640080" y="29900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7" name="Text 24"/>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مِنْ</a:t>
            </a:r>
            <a:endParaRPr lang="ar-SA" sz="2050" dirty="0"/>
          </a:p>
        </p:txBody>
      </p:sp>
      <p:sp>
        <p:nvSpPr>
          <p:cNvPr id="28" name="Shape 25"/>
          <p:cNvSpPr/>
          <p:nvPr/>
        </p:nvSpPr>
        <p:spPr>
          <a:xfrm>
            <a:off x="640080" y="3447288"/>
            <a:ext cx="256032" cy="256032"/>
          </a:xfrm>
          <a:prstGeom prst="ellipse">
            <a:avLst/>
          </a:prstGeom>
          <a:solidFill>
            <a:srgbClr val="F4F1EA"/>
          </a:solidFill>
          <a:ln w="12700">
            <a:solidFill>
              <a:srgbClr val="F4F1EA"/>
            </a:solidFill>
            <a:prstDash val="solid"/>
          </a:ln>
        </p:spPr>
      </p:sp>
      <p:sp>
        <p:nvSpPr>
          <p:cNvPr id="29" name="Text 26"/>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30" name="Text 27"/>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عَلَى</a:t>
            </a:r>
            <a:endParaRPr lang="ar-SA" sz="2050" dirty="0"/>
          </a:p>
        </p:txBody>
      </p:sp>
      <p:sp>
        <p:nvSpPr>
          <p:cNvPr id="31" name="Shape 28"/>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4404360" y="1947672"/>
            <a:ext cx="310896" cy="310896"/>
          </a:xfrm>
          <a:prstGeom prst="ellipse">
            <a:avLst/>
          </a:prstGeom>
          <a:solidFill>
            <a:srgbClr val="1B3B6F"/>
          </a:solidFill>
          <a:ln w="12700">
            <a:solidFill>
              <a:srgbClr val="1B3B6F"/>
            </a:solidFill>
            <a:prstDash val="solid"/>
          </a:ln>
        </p:spPr>
      </p:sp>
      <p:sp>
        <p:nvSpPr>
          <p:cNvPr id="33" name="Text 30"/>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4" name="Text 31"/>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sentence gives evidence for helpfulness?</a:t>
            </a:r>
            <a:endParaRPr lang="en-US" sz="1250" dirty="0"/>
          </a:p>
        </p:txBody>
      </p:sp>
      <p:sp>
        <p:nvSpPr>
          <p:cNvPr id="35" name="Shape 32"/>
          <p:cNvSpPr/>
          <p:nvPr/>
        </p:nvSpPr>
        <p:spPr>
          <a:xfrm>
            <a:off x="4459224" y="25328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cs typeface="Amiri" pitchFamily="2" charset="-78"/>
              </a:rPr>
              <a:t>هِيَ مُتَعَاوِنَةٌ لِأَنَّهَا تُسَاعِدُ زَمِيلَاتِهَا.</a:t>
            </a:r>
            <a:endParaRPr lang="ar-SA" sz="1800" dirty="0"/>
          </a:p>
        </p:txBody>
      </p:sp>
      <p:sp>
        <p:nvSpPr>
          <p:cNvPr id="38" name="Shape 35"/>
          <p:cNvSpPr/>
          <p:nvPr/>
        </p:nvSpPr>
        <p:spPr>
          <a:xfrm>
            <a:off x="4459224" y="29900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cs typeface="Amiri" pitchFamily="2" charset="-78"/>
              </a:rPr>
              <a:t>هِيَ مُتَعَاوِنَةٌ لِأَنَّ قَمِيصَهَا أَزْرَقُ.</a:t>
            </a:r>
            <a:endParaRPr lang="ar-SA" sz="1800" dirty="0"/>
          </a:p>
        </p:txBody>
      </p:sp>
      <p:sp>
        <p:nvSpPr>
          <p:cNvPr id="41" name="Shape 38"/>
          <p:cNvSpPr/>
          <p:nvPr/>
        </p:nvSpPr>
        <p:spPr>
          <a:xfrm>
            <a:off x="4459224" y="3447288"/>
            <a:ext cx="256032" cy="256032"/>
          </a:xfrm>
          <a:prstGeom prst="ellipse">
            <a:avLst/>
          </a:prstGeom>
          <a:solidFill>
            <a:srgbClr val="F4F1EA"/>
          </a:solidFill>
          <a:ln w="12700">
            <a:solidFill>
              <a:srgbClr val="F4F1EA"/>
            </a:solidFill>
            <a:prstDash val="solid"/>
          </a:ln>
        </p:spPr>
      </p:sp>
      <p:sp>
        <p:nvSpPr>
          <p:cNvPr id="42" name="Text 39"/>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cs typeface="Amiri" pitchFamily="2" charset="-78"/>
              </a:rPr>
              <a:t>هِيَ مُتَعَاوِنَةٌ.</a:t>
            </a:r>
            <a:endParaRPr lang="ar-SA" sz="1800" dirty="0"/>
          </a:p>
        </p:txBody>
      </p:sp>
      <p:sp>
        <p:nvSpPr>
          <p:cNvPr id="44" name="Shape 41"/>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5" name="Shape 42"/>
          <p:cNvSpPr/>
          <p:nvPr/>
        </p:nvSpPr>
        <p:spPr>
          <a:xfrm>
            <a:off x="8223504" y="1947672"/>
            <a:ext cx="310896" cy="310896"/>
          </a:xfrm>
          <a:prstGeom prst="ellipse">
            <a:avLst/>
          </a:prstGeom>
          <a:solidFill>
            <a:srgbClr val="1B3B6F"/>
          </a:solidFill>
          <a:ln w="12700">
            <a:solidFill>
              <a:srgbClr val="1B3B6F"/>
            </a:solidFill>
            <a:prstDash val="solid"/>
          </a:ln>
        </p:spPr>
      </p:sp>
      <p:sp>
        <p:nvSpPr>
          <p:cNvPr id="46" name="Text 43"/>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7" name="Text 44"/>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balanced style opinion.</a:t>
            </a:r>
            <a:endParaRPr lang="en-US" sz="1250" dirty="0"/>
          </a:p>
        </p:txBody>
      </p:sp>
      <p:sp>
        <p:nvSpPr>
          <p:cNvPr id="48" name="Shape 45"/>
          <p:cNvSpPr/>
          <p:nvPr/>
        </p:nvSpPr>
        <p:spPr>
          <a:xfrm>
            <a:off x="8278368" y="25328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0" name="Text 47"/>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1600" dirty="0">
                <a:solidFill>
                  <a:srgbClr val="1F2A37"/>
                </a:solidFill>
                <a:latin typeface="Amiri" pitchFamily="2" charset="-78"/>
                <a:cs typeface="Amiri" pitchFamily="2" charset="-78"/>
              </a:rPr>
              <a:t>أُحِبُّ المَوْضَةَ لِأَنَّ.</a:t>
            </a:r>
            <a:endParaRPr lang="ar-SA" sz="1600" dirty="0"/>
          </a:p>
        </p:txBody>
      </p:sp>
      <p:sp>
        <p:nvSpPr>
          <p:cNvPr id="51" name="Shape 48"/>
          <p:cNvSpPr/>
          <p:nvPr/>
        </p:nvSpPr>
        <p:spPr>
          <a:xfrm>
            <a:off x="8278368" y="29900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3" name="Text 50"/>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1600" dirty="0">
                <a:solidFill>
                  <a:srgbClr val="1F2A37"/>
                </a:solidFill>
                <a:latin typeface="Amiri" pitchFamily="2" charset="-78"/>
                <a:cs typeface="Amiri" pitchFamily="2" charset="-78"/>
              </a:rPr>
              <a:t>المَوْضَةُ دَائِمًا صَحِيحَةٌ.</a:t>
            </a:r>
            <a:endParaRPr lang="ar-SA" sz="1600" dirty="0"/>
          </a:p>
        </p:txBody>
      </p:sp>
      <p:sp>
        <p:nvSpPr>
          <p:cNvPr id="54" name="Shape 51"/>
          <p:cNvSpPr/>
          <p:nvPr/>
        </p:nvSpPr>
        <p:spPr>
          <a:xfrm>
            <a:off x="8278368" y="3447288"/>
            <a:ext cx="256032" cy="256032"/>
          </a:xfrm>
          <a:prstGeom prst="ellipse">
            <a:avLst/>
          </a:prstGeom>
          <a:solidFill>
            <a:srgbClr val="F4F1EA"/>
          </a:solidFill>
          <a:ln w="12700">
            <a:solidFill>
              <a:srgbClr val="F4F1EA"/>
            </a:solidFill>
            <a:prstDash val="solid"/>
          </a:ln>
        </p:spPr>
      </p:sp>
      <p:sp>
        <p:nvSpPr>
          <p:cNvPr id="55" name="Text 52"/>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6" name="Text 53"/>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1600" dirty="0">
                <a:solidFill>
                  <a:srgbClr val="1F2A37"/>
                </a:solidFill>
                <a:latin typeface="Amiri" pitchFamily="2" charset="-78"/>
                <a:cs typeface="Amiri" pitchFamily="2" charset="-78"/>
              </a:rPr>
              <a:t>أُحِبُّ المَوْضَةَ، وَلٰكِنَّنِي أَخْتَارُ مَا يُنَاسِبُنِي.</a:t>
            </a:r>
            <a:endParaRPr lang="ar-SA" sz="1600" dirty="0"/>
          </a:p>
        </p:txBody>
      </p:sp>
      <p:sp>
        <p:nvSpPr>
          <p:cNvPr id="57" name="Shape 54"/>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8" name="Shape 55"/>
          <p:cNvSpPr/>
          <p:nvPr/>
        </p:nvSpPr>
        <p:spPr>
          <a:xfrm>
            <a:off x="585216" y="4288536"/>
            <a:ext cx="310896" cy="310896"/>
          </a:xfrm>
          <a:prstGeom prst="ellipse">
            <a:avLst/>
          </a:prstGeom>
          <a:solidFill>
            <a:srgbClr val="1B3B6F"/>
          </a:solidFill>
          <a:ln w="12700">
            <a:solidFill>
              <a:srgbClr val="1B3B6F"/>
            </a:solidFill>
            <a:prstDash val="solid"/>
          </a:ln>
        </p:spPr>
      </p:sp>
      <p:sp>
        <p:nvSpPr>
          <p:cNvPr id="59" name="Text 5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0" name="Text 57"/>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the superlative?</a:t>
            </a:r>
            <a:endParaRPr lang="en-US" sz="1250" dirty="0"/>
          </a:p>
        </p:txBody>
      </p:sp>
      <p:sp>
        <p:nvSpPr>
          <p:cNvPr id="61" name="Shape 58"/>
          <p:cNvSpPr/>
          <p:nvPr/>
        </p:nvSpPr>
        <p:spPr>
          <a:xfrm>
            <a:off x="640080" y="48737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3" name="Text 60"/>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هٰذَا أَفْضَلُ مِنْ ذٰلِكَ.</a:t>
            </a:r>
            <a:endParaRPr lang="ar-SA" sz="2050" dirty="0"/>
          </a:p>
        </p:txBody>
      </p:sp>
      <p:sp>
        <p:nvSpPr>
          <p:cNvPr id="64" name="Shape 61"/>
          <p:cNvSpPr/>
          <p:nvPr/>
        </p:nvSpPr>
        <p:spPr>
          <a:xfrm>
            <a:off x="640080" y="53309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6" name="Text 63"/>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هٰذَا جَيِّدٌ.</a:t>
            </a:r>
            <a:endParaRPr lang="ar-SA" sz="2050" dirty="0"/>
          </a:p>
        </p:txBody>
      </p:sp>
      <p:sp>
        <p:nvSpPr>
          <p:cNvPr id="67" name="Shape 64"/>
          <p:cNvSpPr/>
          <p:nvPr/>
        </p:nvSpPr>
        <p:spPr>
          <a:xfrm>
            <a:off x="640080" y="5788152"/>
            <a:ext cx="256032" cy="256032"/>
          </a:xfrm>
          <a:prstGeom prst="ellipse">
            <a:avLst/>
          </a:prstGeom>
          <a:solidFill>
            <a:srgbClr val="F4F1EA"/>
          </a:solidFill>
          <a:ln w="12700">
            <a:solidFill>
              <a:srgbClr val="F4F1EA"/>
            </a:solidFill>
            <a:prstDash val="solid"/>
          </a:ln>
        </p:spPr>
      </p:sp>
      <p:sp>
        <p:nvSpPr>
          <p:cNvPr id="68" name="Text 65"/>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9" name="Text 66"/>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هٰذَا الخِيَارُ الأَفْضَلُ.</a:t>
            </a:r>
            <a:endParaRPr lang="ar-SA" sz="2050" dirty="0"/>
          </a:p>
        </p:txBody>
      </p:sp>
      <p:sp>
        <p:nvSpPr>
          <p:cNvPr id="70" name="Shape 67"/>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1" name="Shape 68"/>
          <p:cNvSpPr/>
          <p:nvPr/>
        </p:nvSpPr>
        <p:spPr>
          <a:xfrm>
            <a:off x="4404360" y="4288536"/>
            <a:ext cx="310896" cy="310896"/>
          </a:xfrm>
          <a:prstGeom prst="ellipse">
            <a:avLst/>
          </a:prstGeom>
          <a:solidFill>
            <a:srgbClr val="1B3B6F"/>
          </a:solidFill>
          <a:ln w="12700">
            <a:solidFill>
              <a:srgbClr val="1B3B6F"/>
            </a:solidFill>
            <a:prstDash val="solid"/>
          </a:ln>
        </p:spPr>
      </p:sp>
      <p:sp>
        <p:nvSpPr>
          <p:cNvPr id="72" name="Text 69"/>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3" name="Text 70"/>
          <p:cNvSpPr txBox="1"/>
          <p:nvPr/>
        </p:nvSpPr>
        <p:spPr>
          <a:xfrm>
            <a:off x="4770120" y="4224528"/>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74" name="Text 71"/>
          <p:cNvSpPr txBox="1"/>
          <p:nvPr/>
        </p:nvSpPr>
        <p:spPr>
          <a:xfrm>
            <a:off x="6225845" y="4224528"/>
            <a:ext cx="1577035" cy="475488"/>
          </a:xfrm>
          <a:prstGeom prst="rect">
            <a:avLst/>
          </a:prstGeom>
          <a:noFill/>
          <a:ln/>
        </p:spPr>
        <p:txBody>
          <a:bodyPr wrap="square" lIns="0" tIns="0" rIns="0" bIns="0" rtlCol="0" anchor="ctr"/>
          <a:lstStyle/>
          <a:p>
            <a:pPr rtl="1" algn="r" indent="0" marL="0">
              <a:buNone/>
            </a:pPr>
            <a:r>
              <a:rPr lang="ar-SA" altLang="en-US" sz="1100" b="1" dirty="0">
                <a:solidFill>
                  <a:srgbClr val="1F2A37"/>
                </a:solidFill>
                <a:latin typeface="Amiri" pitchFamily="2" charset="-78"/>
                <a:cs typeface="Amiri" pitchFamily="2" charset="-78"/>
              </a:rPr>
              <a:t>عَلَاقَتُنَا قَوِيَّةٌ ___ نَثِقُ بِبَعْضِنَا.</a:t>
            </a:r>
            <a:endParaRPr lang="ar-SA" sz="1100" dirty="0"/>
          </a:p>
        </p:txBody>
      </p:sp>
      <p:sp>
        <p:nvSpPr>
          <p:cNvPr id="75" name="Shape 72"/>
          <p:cNvSpPr/>
          <p:nvPr/>
        </p:nvSpPr>
        <p:spPr>
          <a:xfrm>
            <a:off x="4459224" y="4873752"/>
            <a:ext cx="256032" cy="256032"/>
          </a:xfrm>
          <a:prstGeom prst="ellipse">
            <a:avLst/>
          </a:prstGeom>
          <a:solidFill>
            <a:srgbClr val="F4F1EA"/>
          </a:solidFill>
          <a:ln w="12700">
            <a:solidFill>
              <a:srgbClr val="F4F1EA"/>
            </a:solidFill>
            <a:prstDash val="solid"/>
          </a:ln>
        </p:spPr>
      </p:sp>
      <p:sp>
        <p:nvSpPr>
          <p:cNvPr id="76" name="Text 73"/>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7" name="Text 74"/>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لِأَنَّنَا</a:t>
            </a:r>
            <a:endParaRPr lang="ar-SA" sz="2050" dirty="0"/>
          </a:p>
        </p:txBody>
      </p:sp>
      <p:sp>
        <p:nvSpPr>
          <p:cNvPr id="78" name="Shape 75"/>
          <p:cNvSpPr/>
          <p:nvPr/>
        </p:nvSpPr>
        <p:spPr>
          <a:xfrm>
            <a:off x="4459224" y="5330952"/>
            <a:ext cx="256032" cy="256032"/>
          </a:xfrm>
          <a:prstGeom prst="ellipse">
            <a:avLst/>
          </a:prstGeom>
          <a:solidFill>
            <a:srgbClr val="F4F1EA"/>
          </a:solidFill>
          <a:ln w="12700">
            <a:solidFill>
              <a:srgbClr val="F4F1EA"/>
            </a:solidFill>
            <a:prstDash val="solid"/>
          </a:ln>
        </p:spPr>
      </p:sp>
      <p:sp>
        <p:nvSpPr>
          <p:cNvPr id="79" name="Text 76"/>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0" name="Text 77"/>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لِأَنَّهُ</a:t>
            </a:r>
            <a:endParaRPr lang="ar-SA" sz="2050" dirty="0"/>
          </a:p>
        </p:txBody>
      </p:sp>
      <p:sp>
        <p:nvSpPr>
          <p:cNvPr id="81" name="Shape 78"/>
          <p:cNvSpPr/>
          <p:nvPr/>
        </p:nvSpPr>
        <p:spPr>
          <a:xfrm>
            <a:off x="4459224" y="5788152"/>
            <a:ext cx="256032" cy="256032"/>
          </a:xfrm>
          <a:prstGeom prst="ellipse">
            <a:avLst/>
          </a:prstGeom>
          <a:solidFill>
            <a:srgbClr val="F4F1EA"/>
          </a:solidFill>
          <a:ln w="12700">
            <a:solidFill>
              <a:srgbClr val="F4F1EA"/>
            </a:solidFill>
            <a:prstDash val="solid"/>
          </a:ln>
        </p:spPr>
      </p:sp>
      <p:sp>
        <p:nvSpPr>
          <p:cNvPr id="82" name="Text 79"/>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3" name="Text 80"/>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وَلٰكِنَّهَا</a:t>
            </a:r>
            <a:endParaRPr lang="ar-SA" sz="2050" dirty="0"/>
          </a:p>
        </p:txBody>
      </p:sp>
      <p:sp>
        <p:nvSpPr>
          <p:cNvPr id="84" name="Shape 81"/>
          <p:cNvSpPr/>
          <p:nvPr/>
        </p:nvSpPr>
        <p:spPr>
          <a:xfrm>
            <a:off x="8095488"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5" name="Shape 82"/>
          <p:cNvSpPr/>
          <p:nvPr/>
        </p:nvSpPr>
        <p:spPr>
          <a:xfrm>
            <a:off x="8223504" y="4288536"/>
            <a:ext cx="310896" cy="310896"/>
          </a:xfrm>
          <a:prstGeom prst="ellipse">
            <a:avLst/>
          </a:prstGeom>
          <a:solidFill>
            <a:srgbClr val="1B3B6F"/>
          </a:solidFill>
          <a:ln w="12700">
            <a:solidFill>
              <a:srgbClr val="1B3B6F"/>
            </a:solidFill>
            <a:prstDash val="solid"/>
          </a:ln>
        </p:spPr>
      </p:sp>
      <p:sp>
        <p:nvSpPr>
          <p:cNvPr id="86" name="Text 83"/>
          <p:cNvSpPr txBox="1"/>
          <p:nvPr/>
        </p:nvSpPr>
        <p:spPr>
          <a:xfrm>
            <a:off x="822350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87" name="Text 84"/>
          <p:cNvSpPr txBox="1"/>
          <p:nvPr/>
        </p:nvSpPr>
        <p:spPr>
          <a:xfrm>
            <a:off x="8589264"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strongest developed answer.</a:t>
            </a:r>
            <a:endParaRPr lang="en-US" sz="1250" dirty="0"/>
          </a:p>
        </p:txBody>
      </p:sp>
      <p:sp>
        <p:nvSpPr>
          <p:cNvPr id="88" name="Shape 85"/>
          <p:cNvSpPr/>
          <p:nvPr/>
        </p:nvSpPr>
        <p:spPr>
          <a:xfrm>
            <a:off x="8278368" y="4873752"/>
            <a:ext cx="256032" cy="256032"/>
          </a:xfrm>
          <a:prstGeom prst="ellipse">
            <a:avLst/>
          </a:prstGeom>
          <a:solidFill>
            <a:srgbClr val="F4F1EA"/>
          </a:solidFill>
          <a:ln w="12700">
            <a:solidFill>
              <a:srgbClr val="F4F1EA"/>
            </a:solidFill>
            <a:prstDash val="solid"/>
          </a:ln>
        </p:spPr>
      </p:sp>
      <p:sp>
        <p:nvSpPr>
          <p:cNvPr id="89" name="Text 86"/>
          <p:cNvSpPr txBox="1"/>
          <p:nvPr/>
        </p:nvSpPr>
        <p:spPr>
          <a:xfrm>
            <a:off x="8278368"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90" name="Text 87"/>
          <p:cNvSpPr txBox="1"/>
          <p:nvPr/>
        </p:nvSpPr>
        <p:spPr>
          <a:xfrm>
            <a:off x="8607552" y="4773168"/>
            <a:ext cx="2977896" cy="45720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cs typeface="Amiri" pitchFamily="2" charset="-78"/>
              </a:rPr>
              <a:t>هٰذَا المِعْطَفُ.</a:t>
            </a:r>
            <a:endParaRPr lang="ar-SA" sz="1550" dirty="0"/>
          </a:p>
        </p:txBody>
      </p:sp>
      <p:sp>
        <p:nvSpPr>
          <p:cNvPr id="91" name="Shape 88"/>
          <p:cNvSpPr/>
          <p:nvPr/>
        </p:nvSpPr>
        <p:spPr>
          <a:xfrm>
            <a:off x="8278368" y="5330952"/>
            <a:ext cx="256032" cy="256032"/>
          </a:xfrm>
          <a:prstGeom prst="ellipse">
            <a:avLst/>
          </a:prstGeom>
          <a:solidFill>
            <a:srgbClr val="F4F1EA"/>
          </a:solidFill>
          <a:ln w="12700">
            <a:solidFill>
              <a:srgbClr val="F4F1EA"/>
            </a:solidFill>
            <a:prstDash val="solid"/>
          </a:ln>
        </p:spPr>
      </p:sp>
      <p:sp>
        <p:nvSpPr>
          <p:cNvPr id="92" name="Text 89"/>
          <p:cNvSpPr txBox="1"/>
          <p:nvPr/>
        </p:nvSpPr>
        <p:spPr>
          <a:xfrm>
            <a:off x="8278368"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93" name="Text 90"/>
          <p:cNvSpPr txBox="1"/>
          <p:nvPr/>
        </p:nvSpPr>
        <p:spPr>
          <a:xfrm>
            <a:off x="8607552" y="5230368"/>
            <a:ext cx="2977896" cy="45720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cs typeface="Amiri" pitchFamily="2" charset="-78"/>
              </a:rPr>
              <a:t>أُفَضِّلُ هٰذَا المِعْطَفَ لِأَنَّهُ أَرْخَصُ وَأَكْثَرُ رَاحَةً.</a:t>
            </a:r>
            <a:endParaRPr lang="ar-SA" sz="1550" dirty="0"/>
          </a:p>
        </p:txBody>
      </p:sp>
      <p:sp>
        <p:nvSpPr>
          <p:cNvPr id="94" name="Shape 91"/>
          <p:cNvSpPr/>
          <p:nvPr/>
        </p:nvSpPr>
        <p:spPr>
          <a:xfrm>
            <a:off x="8278368" y="5788152"/>
            <a:ext cx="256032" cy="256032"/>
          </a:xfrm>
          <a:prstGeom prst="ellipse">
            <a:avLst/>
          </a:prstGeom>
          <a:solidFill>
            <a:srgbClr val="F4F1EA"/>
          </a:solidFill>
          <a:ln w="12700">
            <a:solidFill>
              <a:srgbClr val="F4F1EA"/>
            </a:solidFill>
            <a:prstDash val="solid"/>
          </a:ln>
        </p:spPr>
      </p:sp>
      <p:sp>
        <p:nvSpPr>
          <p:cNvPr id="95" name="Text 92"/>
          <p:cNvSpPr txBox="1"/>
          <p:nvPr/>
        </p:nvSpPr>
        <p:spPr>
          <a:xfrm>
            <a:off x="8278368"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6" name="Text 93"/>
          <p:cNvSpPr txBox="1"/>
          <p:nvPr/>
        </p:nvSpPr>
        <p:spPr>
          <a:xfrm>
            <a:off x="8607552" y="5687568"/>
            <a:ext cx="2977896" cy="45720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cs typeface="Amiri" pitchFamily="2" charset="-78"/>
              </a:rPr>
              <a:t>نَعَمْ.</a:t>
            </a:r>
            <a:endParaRPr lang="ar-SA" sz="1550" dirty="0"/>
          </a:p>
        </p:txBody>
      </p:sp>
      <p:sp>
        <p:nvSpPr>
          <p:cNvPr id="97" name="Text 9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24</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D2-L12 · D2 Assessment</a:t>
            </a:r>
            <a:endParaRPr lang="en-US" sz="950" dirty="0"/>
          </a:p>
        </p:txBody>
      </p:sp>
      <p:sp>
        <p:nvSpPr>
          <p:cNvPr id="8" name="Shape 6"/>
          <p:cNvSpPr/>
          <p:nvPr/>
        </p:nvSpPr>
        <p:spPr>
          <a:xfrm>
            <a:off x="7388352" y="274320"/>
            <a:ext cx="1371600"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REVISION ·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Grammar laboratory: answers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D2-L12</a:t>
            </a:r>
            <a:endParaRPr lang="en-US" sz="850" dirty="0"/>
          </a:p>
        </p:txBody>
      </p:sp>
      <p:sp>
        <p:nvSpPr>
          <p:cNvPr id="16"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7"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8"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9" name="Text 17"/>
          <p:cNvSpPr txBox="1"/>
          <p:nvPr/>
        </p:nvSpPr>
        <p:spPr>
          <a:xfrm>
            <a:off x="950976"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 the comparison:</a:t>
            </a:r>
            <a:endParaRPr lang="en-US" sz="1200" dirty="0"/>
          </a:p>
        </p:txBody>
      </p:sp>
      <p:sp>
        <p:nvSpPr>
          <p:cNvPr id="20" name="Text 18"/>
          <p:cNvSpPr txBox="1"/>
          <p:nvPr/>
        </p:nvSpPr>
        <p:spPr>
          <a:xfrm>
            <a:off x="2406701" y="1883664"/>
            <a:ext cx="1577035"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cs typeface="Amiri" pitchFamily="2" charset="-78"/>
              </a:rPr>
              <a:t>هٰذَا أَرْخَصُ ___ ذٰلِكَ.</a:t>
            </a:r>
            <a:endParaRPr lang="ar-SA" sz="1500" dirty="0"/>
          </a:p>
        </p:txBody>
      </p:sp>
      <p:sp>
        <p:nvSpPr>
          <p:cNvPr id="21" name="Shape 19"/>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20"/>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1"/>
          <p:cNvSpPr txBox="1"/>
          <p:nvPr/>
        </p:nvSpPr>
        <p:spPr>
          <a:xfrm>
            <a:off x="969264"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مَعَ</a:t>
            </a:r>
            <a:endParaRPr lang="ar-SA" sz="1700" dirty="0"/>
          </a:p>
        </p:txBody>
      </p:sp>
      <p:sp>
        <p:nvSpPr>
          <p:cNvPr id="24" name="Shape 22"/>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5" name="Shape 23"/>
          <p:cNvSpPr/>
          <p:nvPr/>
        </p:nvSpPr>
        <p:spPr>
          <a:xfrm>
            <a:off x="640080" y="2862072"/>
            <a:ext cx="256032" cy="256032"/>
          </a:xfrm>
          <a:prstGeom prst="ellipse">
            <a:avLst/>
          </a:prstGeom>
          <a:solidFill>
            <a:srgbClr val="2E8B57"/>
          </a:solidFill>
          <a:ln w="12700">
            <a:solidFill>
              <a:srgbClr val="2E8B57"/>
            </a:solidFill>
            <a:prstDash val="solid"/>
          </a:ln>
        </p:spPr>
      </p:sp>
      <p:sp>
        <p:nvSpPr>
          <p:cNvPr id="26" name="Text 24"/>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7" name="Text 25"/>
          <p:cNvSpPr txBox="1"/>
          <p:nvPr/>
        </p:nvSpPr>
        <p:spPr>
          <a:xfrm>
            <a:off x="969264" y="280416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مِنْ</a:t>
            </a:r>
            <a:endParaRPr lang="ar-SA" sz="1700" dirty="0"/>
          </a:p>
        </p:txBody>
      </p:sp>
      <p:sp>
        <p:nvSpPr>
          <p:cNvPr id="28" name="Shape 26"/>
          <p:cNvSpPr/>
          <p:nvPr/>
        </p:nvSpPr>
        <p:spPr>
          <a:xfrm>
            <a:off x="640080" y="3233928"/>
            <a:ext cx="256032" cy="256032"/>
          </a:xfrm>
          <a:prstGeom prst="ellipse">
            <a:avLst/>
          </a:prstGeom>
          <a:solidFill>
            <a:srgbClr val="C9CED6"/>
          </a:solidFill>
          <a:ln w="12700">
            <a:solidFill>
              <a:srgbClr val="C9CED6"/>
            </a:solidFill>
            <a:prstDash val="solid"/>
          </a:ln>
        </p:spPr>
      </p:sp>
      <p:sp>
        <p:nvSpPr>
          <p:cNvPr id="29" name="Text 27"/>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30" name="Text 28"/>
          <p:cNvSpPr txBox="1"/>
          <p:nvPr/>
        </p:nvSpPr>
        <p:spPr>
          <a:xfrm>
            <a:off x="969264"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عَلَى</a:t>
            </a:r>
            <a:endParaRPr lang="ar-SA" sz="1700" dirty="0"/>
          </a:p>
        </p:txBody>
      </p:sp>
      <p:sp>
        <p:nvSpPr>
          <p:cNvPr id="31" name="Text 29"/>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Comparative takes </a:t>
            </a:r>
            <a:pPr algn="l" indent="0" marL="0">
              <a:buNone/>
            </a:pPr>
            <a:r>
              <a:rPr lang="ar-SA" altLang="en-US" sz="1350" dirty="0">
                <a:solidFill>
                  <a:srgbClr val="8A6D1E"/>
                </a:solidFill>
                <a:latin typeface="Amiri" pitchFamily="2" charset="-78"/>
                <a:cs typeface="Amiri" pitchFamily="2" charset="-78"/>
              </a:rPr>
              <a:t>مِنْ</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32" name="Shape 30"/>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1"/>
          <p:cNvSpPr/>
          <p:nvPr/>
        </p:nvSpPr>
        <p:spPr>
          <a:xfrm>
            <a:off x="4404360" y="1947672"/>
            <a:ext cx="310896" cy="310896"/>
          </a:xfrm>
          <a:prstGeom prst="ellipse">
            <a:avLst/>
          </a:prstGeom>
          <a:solidFill>
            <a:srgbClr val="1B3B6F"/>
          </a:solidFill>
          <a:ln w="12700">
            <a:solidFill>
              <a:srgbClr val="1B3B6F"/>
            </a:solidFill>
            <a:prstDash val="solid"/>
          </a:ln>
        </p:spPr>
      </p:sp>
      <p:sp>
        <p:nvSpPr>
          <p:cNvPr id="34" name="Text 32"/>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5" name="Text 33"/>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sentence gives evidence for helpfulness?</a:t>
            </a:r>
            <a:endParaRPr lang="en-US" sz="1250" dirty="0"/>
          </a:p>
        </p:txBody>
      </p:sp>
      <p:sp>
        <p:nvSpPr>
          <p:cNvPr id="36" name="Shape 34"/>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7" name="Shape 35"/>
          <p:cNvSpPr/>
          <p:nvPr/>
        </p:nvSpPr>
        <p:spPr>
          <a:xfrm>
            <a:off x="4459224" y="2490216"/>
            <a:ext cx="256032" cy="256032"/>
          </a:xfrm>
          <a:prstGeom prst="ellipse">
            <a:avLst/>
          </a:prstGeom>
          <a:solidFill>
            <a:srgbClr val="2E8B57"/>
          </a:solidFill>
          <a:ln w="12700">
            <a:solidFill>
              <a:srgbClr val="2E8B57"/>
            </a:solidFill>
            <a:prstDash val="solid"/>
          </a:ln>
        </p:spPr>
      </p:sp>
      <p:sp>
        <p:nvSpPr>
          <p:cNvPr id="38" name="Text 36"/>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9" name="Text 37"/>
          <p:cNvSpPr txBox="1"/>
          <p:nvPr/>
        </p:nvSpPr>
        <p:spPr>
          <a:xfrm>
            <a:off x="4788408" y="243230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هِيَ مُتَعَاوِنَةٌ لِأَنَّهَا تُسَاعِدُ زَمِيلَاتِهَا.</a:t>
            </a:r>
            <a:endParaRPr lang="ar-SA" sz="1700" dirty="0"/>
          </a:p>
        </p:txBody>
      </p:sp>
      <p:sp>
        <p:nvSpPr>
          <p:cNvPr id="40" name="Shape 38"/>
          <p:cNvSpPr/>
          <p:nvPr/>
        </p:nvSpPr>
        <p:spPr>
          <a:xfrm>
            <a:off x="4459224" y="2862072"/>
            <a:ext cx="256032" cy="256032"/>
          </a:xfrm>
          <a:prstGeom prst="ellipse">
            <a:avLst/>
          </a:prstGeom>
          <a:solidFill>
            <a:srgbClr val="C9CED6"/>
          </a:solidFill>
          <a:ln w="12700">
            <a:solidFill>
              <a:srgbClr val="C9CED6"/>
            </a:solidFill>
            <a:prstDash val="solid"/>
          </a:ln>
        </p:spPr>
      </p:sp>
      <p:sp>
        <p:nvSpPr>
          <p:cNvPr id="41" name="Text 39"/>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2" name="Text 40"/>
          <p:cNvSpPr txBox="1"/>
          <p:nvPr/>
        </p:nvSpPr>
        <p:spPr>
          <a:xfrm>
            <a:off x="4788408"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هِيَ مُتَعَاوِنَةٌ لِأَنَّ قَمِيصَهَا أَزْرَقُ.</a:t>
            </a:r>
            <a:endParaRPr lang="ar-SA" sz="1700" dirty="0"/>
          </a:p>
        </p:txBody>
      </p:sp>
      <p:sp>
        <p:nvSpPr>
          <p:cNvPr id="43" name="Shape 41"/>
          <p:cNvSpPr/>
          <p:nvPr/>
        </p:nvSpPr>
        <p:spPr>
          <a:xfrm>
            <a:off x="4459224" y="3233928"/>
            <a:ext cx="256032" cy="256032"/>
          </a:xfrm>
          <a:prstGeom prst="ellipse">
            <a:avLst/>
          </a:prstGeom>
          <a:solidFill>
            <a:srgbClr val="C9CED6"/>
          </a:solidFill>
          <a:ln w="12700">
            <a:solidFill>
              <a:srgbClr val="C9CED6"/>
            </a:solidFill>
            <a:prstDash val="solid"/>
          </a:ln>
        </p:spPr>
      </p:sp>
      <p:sp>
        <p:nvSpPr>
          <p:cNvPr id="44" name="Text 42"/>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5" name="Text 43"/>
          <p:cNvSpPr txBox="1"/>
          <p:nvPr/>
        </p:nvSpPr>
        <p:spPr>
          <a:xfrm>
            <a:off x="4788408"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هِيَ مُتَعَاوِنَةٌ.</a:t>
            </a:r>
            <a:endParaRPr lang="ar-SA" sz="1700" dirty="0"/>
          </a:p>
        </p:txBody>
      </p:sp>
      <p:sp>
        <p:nvSpPr>
          <p:cNvPr id="46" name="Text 44"/>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behaviour proves the adjective.</a:t>
            </a:r>
            <a:endParaRPr lang="en-US" sz="1050" dirty="0"/>
          </a:p>
        </p:txBody>
      </p:sp>
      <p:sp>
        <p:nvSpPr>
          <p:cNvPr id="47" name="Shape 45"/>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6"/>
          <p:cNvSpPr/>
          <p:nvPr/>
        </p:nvSpPr>
        <p:spPr>
          <a:xfrm>
            <a:off x="8223504" y="1947672"/>
            <a:ext cx="310896" cy="310896"/>
          </a:xfrm>
          <a:prstGeom prst="ellipse">
            <a:avLst/>
          </a:prstGeom>
          <a:solidFill>
            <a:srgbClr val="1B3B6F"/>
          </a:solidFill>
          <a:ln w="12700">
            <a:solidFill>
              <a:srgbClr val="1B3B6F"/>
            </a:solidFill>
            <a:prstDash val="solid"/>
          </a:ln>
        </p:spPr>
      </p:sp>
      <p:sp>
        <p:nvSpPr>
          <p:cNvPr id="49" name="Text 47"/>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50" name="Text 48"/>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balanced style opinion.</a:t>
            </a:r>
            <a:endParaRPr lang="en-US" sz="1250" dirty="0"/>
          </a:p>
        </p:txBody>
      </p:sp>
      <p:sp>
        <p:nvSpPr>
          <p:cNvPr id="51" name="Shape 49"/>
          <p:cNvSpPr/>
          <p:nvPr/>
        </p:nvSpPr>
        <p:spPr>
          <a:xfrm>
            <a:off x="8278368" y="2490216"/>
            <a:ext cx="256032" cy="256032"/>
          </a:xfrm>
          <a:prstGeom prst="ellipse">
            <a:avLst/>
          </a:prstGeom>
          <a:solidFill>
            <a:srgbClr val="C9CED6"/>
          </a:solidFill>
          <a:ln w="12700">
            <a:solidFill>
              <a:srgbClr val="C9CED6"/>
            </a:solidFill>
            <a:prstDash val="solid"/>
          </a:ln>
        </p:spPr>
      </p:sp>
      <p:sp>
        <p:nvSpPr>
          <p:cNvPr id="52" name="Text 50"/>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3" name="Text 51"/>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600" dirty="0">
                <a:solidFill>
                  <a:srgbClr val="9AA1AB"/>
                </a:solidFill>
                <a:latin typeface="Amiri" pitchFamily="2" charset="-78"/>
                <a:cs typeface="Amiri" pitchFamily="2" charset="-78"/>
              </a:rPr>
              <a:t>أُحِبُّ المَوْضَةَ لِأَنَّ.</a:t>
            </a:r>
            <a:endParaRPr lang="ar-SA" sz="1600" dirty="0"/>
          </a:p>
        </p:txBody>
      </p:sp>
      <p:sp>
        <p:nvSpPr>
          <p:cNvPr id="54" name="Shape 52"/>
          <p:cNvSpPr/>
          <p:nvPr/>
        </p:nvSpPr>
        <p:spPr>
          <a:xfrm>
            <a:off x="8278368" y="2862072"/>
            <a:ext cx="256032" cy="256032"/>
          </a:xfrm>
          <a:prstGeom prst="ellipse">
            <a:avLst/>
          </a:prstGeom>
          <a:solidFill>
            <a:srgbClr val="C9CED6"/>
          </a:solidFill>
          <a:ln w="12700">
            <a:solidFill>
              <a:srgbClr val="C9CED6"/>
            </a:solidFill>
            <a:prstDash val="solid"/>
          </a:ln>
        </p:spPr>
      </p:sp>
      <p:sp>
        <p:nvSpPr>
          <p:cNvPr id="55" name="Text 53"/>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6" name="Text 54"/>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600" dirty="0">
                <a:solidFill>
                  <a:srgbClr val="9AA1AB"/>
                </a:solidFill>
                <a:latin typeface="Amiri" pitchFamily="2" charset="-78"/>
                <a:cs typeface="Amiri" pitchFamily="2" charset="-78"/>
              </a:rPr>
              <a:t>المَوْضَةُ دَائِمًا صَحِيحَةٌ.</a:t>
            </a:r>
            <a:endParaRPr lang="ar-SA" sz="1600" dirty="0"/>
          </a:p>
        </p:txBody>
      </p:sp>
      <p:sp>
        <p:nvSpPr>
          <p:cNvPr id="57" name="Shape 55"/>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8" name="Shape 56"/>
          <p:cNvSpPr/>
          <p:nvPr/>
        </p:nvSpPr>
        <p:spPr>
          <a:xfrm>
            <a:off x="8278368" y="3233928"/>
            <a:ext cx="256032" cy="256032"/>
          </a:xfrm>
          <a:prstGeom prst="ellipse">
            <a:avLst/>
          </a:prstGeom>
          <a:solidFill>
            <a:srgbClr val="2E8B57"/>
          </a:solidFill>
          <a:ln w="12700">
            <a:solidFill>
              <a:srgbClr val="2E8B57"/>
            </a:solidFill>
            <a:prstDash val="solid"/>
          </a:ln>
        </p:spPr>
      </p:sp>
      <p:sp>
        <p:nvSpPr>
          <p:cNvPr id="59" name="Text 57"/>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60" name="Text 58"/>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cs typeface="Amiri" pitchFamily="2" charset="-78"/>
              </a:rPr>
              <a:t>أُحِبُّ المَوْضَةَ، وَلٰكِنَّنِي أَخْتَارُ مَا يُنَاسِبُنِي.</a:t>
            </a:r>
            <a:endParaRPr lang="ar-SA" sz="1600" dirty="0"/>
          </a:p>
        </p:txBody>
      </p:sp>
      <p:sp>
        <p:nvSpPr>
          <p:cNvPr id="61" name="Text 59"/>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It gives contrast and personal judgement.</a:t>
            </a:r>
            <a:endParaRPr lang="en-US" sz="1050" dirty="0"/>
          </a:p>
        </p:txBody>
      </p:sp>
      <p:sp>
        <p:nvSpPr>
          <p:cNvPr id="62" name="Shape 60"/>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1"/>
          <p:cNvSpPr/>
          <p:nvPr/>
        </p:nvSpPr>
        <p:spPr>
          <a:xfrm>
            <a:off x="585216" y="4288536"/>
            <a:ext cx="310896" cy="310896"/>
          </a:xfrm>
          <a:prstGeom prst="ellipse">
            <a:avLst/>
          </a:prstGeom>
          <a:solidFill>
            <a:srgbClr val="1B3B6F"/>
          </a:solidFill>
          <a:ln w="12700">
            <a:solidFill>
              <a:srgbClr val="1B3B6F"/>
            </a:solidFill>
            <a:prstDash val="solid"/>
          </a:ln>
        </p:spPr>
      </p:sp>
      <p:sp>
        <p:nvSpPr>
          <p:cNvPr id="64" name="Text 62"/>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5" name="Text 63"/>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the superlative?</a:t>
            </a:r>
            <a:endParaRPr lang="en-US" sz="1250" dirty="0"/>
          </a:p>
        </p:txBody>
      </p:sp>
      <p:sp>
        <p:nvSpPr>
          <p:cNvPr id="66" name="Shape 64"/>
          <p:cNvSpPr/>
          <p:nvPr/>
        </p:nvSpPr>
        <p:spPr>
          <a:xfrm>
            <a:off x="640080" y="4831080"/>
            <a:ext cx="256032" cy="256032"/>
          </a:xfrm>
          <a:prstGeom prst="ellipse">
            <a:avLst/>
          </a:prstGeom>
          <a:solidFill>
            <a:srgbClr val="C9CED6"/>
          </a:solidFill>
          <a:ln w="12700">
            <a:solidFill>
              <a:srgbClr val="C9CED6"/>
            </a:solidFill>
            <a:prstDash val="solid"/>
          </a:ln>
        </p:spPr>
      </p:sp>
      <p:sp>
        <p:nvSpPr>
          <p:cNvPr id="67" name="Text 65"/>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8" name="Text 66"/>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هٰذَا أَفْضَلُ مِنْ ذٰلِكَ.</a:t>
            </a:r>
            <a:endParaRPr lang="ar-SA" sz="1700" dirty="0"/>
          </a:p>
        </p:txBody>
      </p:sp>
      <p:sp>
        <p:nvSpPr>
          <p:cNvPr id="69" name="Shape 67"/>
          <p:cNvSpPr/>
          <p:nvPr/>
        </p:nvSpPr>
        <p:spPr>
          <a:xfrm>
            <a:off x="640080" y="5202936"/>
            <a:ext cx="256032" cy="256032"/>
          </a:xfrm>
          <a:prstGeom prst="ellipse">
            <a:avLst/>
          </a:prstGeom>
          <a:solidFill>
            <a:srgbClr val="C9CED6"/>
          </a:solidFill>
          <a:ln w="12700">
            <a:solidFill>
              <a:srgbClr val="C9CED6"/>
            </a:solidFill>
            <a:prstDash val="solid"/>
          </a:ln>
        </p:spPr>
      </p:sp>
      <p:sp>
        <p:nvSpPr>
          <p:cNvPr id="70" name="Text 68"/>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1" name="Text 69"/>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هٰذَا جَيِّدٌ.</a:t>
            </a:r>
            <a:endParaRPr lang="ar-SA" sz="1700" dirty="0"/>
          </a:p>
        </p:txBody>
      </p:sp>
      <p:sp>
        <p:nvSpPr>
          <p:cNvPr id="72" name="Shape 70"/>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3" name="Shape 71"/>
          <p:cNvSpPr/>
          <p:nvPr/>
        </p:nvSpPr>
        <p:spPr>
          <a:xfrm>
            <a:off x="640080" y="5574792"/>
            <a:ext cx="256032" cy="256032"/>
          </a:xfrm>
          <a:prstGeom prst="ellipse">
            <a:avLst/>
          </a:prstGeom>
          <a:solidFill>
            <a:srgbClr val="2E8B57"/>
          </a:solidFill>
          <a:ln w="12700">
            <a:solidFill>
              <a:srgbClr val="2E8B57"/>
            </a:solidFill>
            <a:prstDash val="solid"/>
          </a:ln>
        </p:spPr>
      </p:sp>
      <p:sp>
        <p:nvSpPr>
          <p:cNvPr id="74" name="Text 72"/>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5" name="Text 73"/>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هٰذَا الخِيَارُ الأَفْضَلُ.</a:t>
            </a:r>
            <a:endParaRPr lang="ar-SA" sz="1700" dirty="0"/>
          </a:p>
        </p:txBody>
      </p:sp>
      <p:sp>
        <p:nvSpPr>
          <p:cNvPr id="76" name="Text 74"/>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Definite </a:t>
            </a:r>
            <a:pPr algn="l" indent="0" marL="0">
              <a:buNone/>
            </a:pPr>
            <a:r>
              <a:rPr lang="ar-SA" altLang="en-US" sz="1350" dirty="0">
                <a:solidFill>
                  <a:srgbClr val="8A6D1E"/>
                </a:solidFill>
                <a:latin typeface="Amiri" pitchFamily="2" charset="-78"/>
                <a:cs typeface="Amiri" pitchFamily="2" charset="-78"/>
              </a:rPr>
              <a:t>الأَفْضَلُ</a:t>
            </a:r>
            <a:pPr algn="l" indent="0" marL="0">
              <a:buNone/>
            </a:pPr>
            <a:r>
              <a:rPr lang="en-US" sz="1050" i="1" dirty="0">
                <a:solidFill>
                  <a:srgbClr val="8A6D1E"/>
                </a:solidFill>
                <a:latin typeface="Calibri" pitchFamily="34" charset="0"/>
                <a:cs typeface="Amiri" pitchFamily="2" charset="-78"/>
              </a:rPr>
              <a:t> means the best.</a:t>
            </a:r>
            <a:endParaRPr lang="en-US" sz="1050" dirty="0"/>
          </a:p>
        </p:txBody>
      </p:sp>
      <p:sp>
        <p:nvSpPr>
          <p:cNvPr id="77" name="Shape 75"/>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8" name="Shape 76"/>
          <p:cNvSpPr/>
          <p:nvPr/>
        </p:nvSpPr>
        <p:spPr>
          <a:xfrm>
            <a:off x="4404360" y="4288536"/>
            <a:ext cx="310896" cy="310896"/>
          </a:xfrm>
          <a:prstGeom prst="ellipse">
            <a:avLst/>
          </a:prstGeom>
          <a:solidFill>
            <a:srgbClr val="1B3B6F"/>
          </a:solidFill>
          <a:ln w="12700">
            <a:solidFill>
              <a:srgbClr val="1B3B6F"/>
            </a:solidFill>
            <a:prstDash val="solid"/>
          </a:ln>
        </p:spPr>
      </p:sp>
      <p:sp>
        <p:nvSpPr>
          <p:cNvPr id="79" name="Text 77"/>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80" name="Text 78"/>
          <p:cNvSpPr txBox="1"/>
          <p:nvPr/>
        </p:nvSpPr>
        <p:spPr>
          <a:xfrm>
            <a:off x="4770120" y="4224528"/>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81" name="Text 79"/>
          <p:cNvSpPr txBox="1"/>
          <p:nvPr/>
        </p:nvSpPr>
        <p:spPr>
          <a:xfrm>
            <a:off x="6225845" y="4224528"/>
            <a:ext cx="1577035" cy="475488"/>
          </a:xfrm>
          <a:prstGeom prst="rect">
            <a:avLst/>
          </a:prstGeom>
          <a:noFill/>
          <a:ln/>
        </p:spPr>
        <p:txBody>
          <a:bodyPr wrap="square" lIns="0" tIns="0" rIns="0" bIns="0" rtlCol="0" anchor="ctr"/>
          <a:lstStyle/>
          <a:p>
            <a:pPr rtl="1" algn="r" indent="0" marL="0">
              <a:buNone/>
            </a:pPr>
            <a:r>
              <a:rPr lang="ar-SA" altLang="en-US" sz="1100" b="1" dirty="0">
                <a:solidFill>
                  <a:srgbClr val="1F2A37"/>
                </a:solidFill>
                <a:latin typeface="Amiri" pitchFamily="2" charset="-78"/>
                <a:cs typeface="Amiri" pitchFamily="2" charset="-78"/>
              </a:rPr>
              <a:t>عَلَاقَتُنَا قَوِيَّةٌ ___ نَثِقُ بِبَعْضِنَا.</a:t>
            </a:r>
            <a:endParaRPr lang="ar-SA" sz="1100" dirty="0"/>
          </a:p>
        </p:txBody>
      </p:sp>
      <p:sp>
        <p:nvSpPr>
          <p:cNvPr id="82" name="Shape 80"/>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3" name="Shape 81"/>
          <p:cNvSpPr/>
          <p:nvPr/>
        </p:nvSpPr>
        <p:spPr>
          <a:xfrm>
            <a:off x="4459224" y="4831080"/>
            <a:ext cx="256032" cy="256032"/>
          </a:xfrm>
          <a:prstGeom prst="ellipse">
            <a:avLst/>
          </a:prstGeom>
          <a:solidFill>
            <a:srgbClr val="2E8B57"/>
          </a:solidFill>
          <a:ln w="12700">
            <a:solidFill>
              <a:srgbClr val="2E8B57"/>
            </a:solidFill>
            <a:prstDash val="solid"/>
          </a:ln>
        </p:spPr>
      </p:sp>
      <p:sp>
        <p:nvSpPr>
          <p:cNvPr id="84" name="Text 82"/>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5" name="Text 83"/>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لِأَنَّنَا</a:t>
            </a:r>
            <a:endParaRPr lang="ar-SA" sz="1700" dirty="0"/>
          </a:p>
        </p:txBody>
      </p:sp>
      <p:sp>
        <p:nvSpPr>
          <p:cNvPr id="86" name="Shape 84"/>
          <p:cNvSpPr/>
          <p:nvPr/>
        </p:nvSpPr>
        <p:spPr>
          <a:xfrm>
            <a:off x="4459224" y="5202936"/>
            <a:ext cx="256032" cy="256032"/>
          </a:xfrm>
          <a:prstGeom prst="ellipse">
            <a:avLst/>
          </a:prstGeom>
          <a:solidFill>
            <a:srgbClr val="C9CED6"/>
          </a:solidFill>
          <a:ln w="12700">
            <a:solidFill>
              <a:srgbClr val="C9CED6"/>
            </a:solidFill>
            <a:prstDash val="solid"/>
          </a:ln>
        </p:spPr>
      </p:sp>
      <p:sp>
        <p:nvSpPr>
          <p:cNvPr id="87" name="Text 85"/>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8" name="Text 86"/>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لِأَنَّهُ</a:t>
            </a:r>
            <a:endParaRPr lang="ar-SA" sz="1700" dirty="0"/>
          </a:p>
        </p:txBody>
      </p:sp>
      <p:sp>
        <p:nvSpPr>
          <p:cNvPr id="89" name="Shape 87"/>
          <p:cNvSpPr/>
          <p:nvPr/>
        </p:nvSpPr>
        <p:spPr>
          <a:xfrm>
            <a:off x="4459224" y="5574792"/>
            <a:ext cx="256032" cy="256032"/>
          </a:xfrm>
          <a:prstGeom prst="ellipse">
            <a:avLst/>
          </a:prstGeom>
          <a:solidFill>
            <a:srgbClr val="C9CED6"/>
          </a:solidFill>
          <a:ln w="12700">
            <a:solidFill>
              <a:srgbClr val="C9CED6"/>
            </a:solidFill>
            <a:prstDash val="solid"/>
          </a:ln>
        </p:spPr>
      </p:sp>
      <p:sp>
        <p:nvSpPr>
          <p:cNvPr id="90" name="Text 88"/>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1" name="Text 89"/>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وَلٰكِنَّهَا</a:t>
            </a:r>
            <a:endParaRPr lang="ar-SA" sz="1700" dirty="0"/>
          </a:p>
        </p:txBody>
      </p:sp>
      <p:sp>
        <p:nvSpPr>
          <p:cNvPr id="92" name="Text 90"/>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subject is we: </a:t>
            </a:r>
            <a:pPr algn="l" indent="0" marL="0">
              <a:buNone/>
            </a:pPr>
            <a:r>
              <a:rPr lang="ar-SA" altLang="en-US" sz="1350" dirty="0">
                <a:solidFill>
                  <a:srgbClr val="8A6D1E"/>
                </a:solidFill>
                <a:latin typeface="Amiri" pitchFamily="2" charset="-78"/>
                <a:cs typeface="Amiri" pitchFamily="2" charset="-78"/>
              </a:rPr>
              <a:t>لِأَنَّنَا</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93" name="Shape 91"/>
          <p:cNvSpPr/>
          <p:nvPr/>
        </p:nvSpPr>
        <p:spPr>
          <a:xfrm>
            <a:off x="8095488"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4" name="Shape 92"/>
          <p:cNvSpPr/>
          <p:nvPr/>
        </p:nvSpPr>
        <p:spPr>
          <a:xfrm>
            <a:off x="8223504" y="4288536"/>
            <a:ext cx="310896" cy="310896"/>
          </a:xfrm>
          <a:prstGeom prst="ellipse">
            <a:avLst/>
          </a:prstGeom>
          <a:solidFill>
            <a:srgbClr val="1B3B6F"/>
          </a:solidFill>
          <a:ln w="12700">
            <a:solidFill>
              <a:srgbClr val="1B3B6F"/>
            </a:solidFill>
            <a:prstDash val="solid"/>
          </a:ln>
        </p:spPr>
      </p:sp>
      <p:sp>
        <p:nvSpPr>
          <p:cNvPr id="95" name="Text 93"/>
          <p:cNvSpPr txBox="1"/>
          <p:nvPr/>
        </p:nvSpPr>
        <p:spPr>
          <a:xfrm>
            <a:off x="822350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96" name="Text 94"/>
          <p:cNvSpPr txBox="1"/>
          <p:nvPr/>
        </p:nvSpPr>
        <p:spPr>
          <a:xfrm>
            <a:off x="8589264"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strongest developed answer.</a:t>
            </a:r>
            <a:endParaRPr lang="en-US" sz="1250" dirty="0"/>
          </a:p>
        </p:txBody>
      </p:sp>
      <p:sp>
        <p:nvSpPr>
          <p:cNvPr id="97" name="Shape 95"/>
          <p:cNvSpPr/>
          <p:nvPr/>
        </p:nvSpPr>
        <p:spPr>
          <a:xfrm>
            <a:off x="8278368" y="4831080"/>
            <a:ext cx="256032" cy="256032"/>
          </a:xfrm>
          <a:prstGeom prst="ellipse">
            <a:avLst/>
          </a:prstGeom>
          <a:solidFill>
            <a:srgbClr val="C9CED6"/>
          </a:solidFill>
          <a:ln w="12700">
            <a:solidFill>
              <a:srgbClr val="C9CED6"/>
            </a:solidFill>
            <a:prstDash val="solid"/>
          </a:ln>
        </p:spPr>
      </p:sp>
      <p:sp>
        <p:nvSpPr>
          <p:cNvPr id="98" name="Text 96"/>
          <p:cNvSpPr txBox="1"/>
          <p:nvPr/>
        </p:nvSpPr>
        <p:spPr>
          <a:xfrm>
            <a:off x="8278368"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99" name="Text 97"/>
          <p:cNvSpPr txBox="1"/>
          <p:nvPr/>
        </p:nvSpPr>
        <p:spPr>
          <a:xfrm>
            <a:off x="8607552" y="4773168"/>
            <a:ext cx="2977896" cy="371856"/>
          </a:xfrm>
          <a:prstGeom prst="rect">
            <a:avLst/>
          </a:prstGeom>
          <a:noFill/>
          <a:ln/>
        </p:spPr>
        <p:txBody>
          <a:bodyPr wrap="square" lIns="0" tIns="0" rIns="0" bIns="0" rtlCol="0" anchor="ctr"/>
          <a:lstStyle/>
          <a:p>
            <a:pPr rtl="1" algn="r" indent="0" marL="0">
              <a:buNone/>
            </a:pPr>
            <a:r>
              <a:rPr lang="ar-SA" altLang="en-US" sz="1550" dirty="0">
                <a:solidFill>
                  <a:srgbClr val="9AA1AB"/>
                </a:solidFill>
                <a:latin typeface="Amiri" pitchFamily="2" charset="-78"/>
                <a:cs typeface="Amiri" pitchFamily="2" charset="-78"/>
              </a:rPr>
              <a:t>هٰذَا المِعْطَفُ.</a:t>
            </a:r>
            <a:endParaRPr lang="ar-SA" sz="1550" dirty="0"/>
          </a:p>
        </p:txBody>
      </p:sp>
      <p:sp>
        <p:nvSpPr>
          <p:cNvPr id="100" name="Shape 98"/>
          <p:cNvSpPr/>
          <p:nvPr/>
        </p:nvSpPr>
        <p:spPr>
          <a:xfrm>
            <a:off x="8186928" y="5166360"/>
            <a:ext cx="3453384" cy="347472"/>
          </a:xfrm>
          <a:prstGeom prst="roundRect">
            <a:avLst>
              <a:gd name="adj" fmla="val 15789"/>
            </a:avLst>
          </a:prstGeom>
          <a:solidFill>
            <a:srgbClr val="E6F4EC"/>
          </a:solidFill>
          <a:ln w="9525">
            <a:solidFill>
              <a:srgbClr val="2E8B57"/>
            </a:solidFill>
            <a:prstDash val="solid"/>
          </a:ln>
        </p:spPr>
      </p:sp>
      <p:sp>
        <p:nvSpPr>
          <p:cNvPr id="101" name="Shape 99"/>
          <p:cNvSpPr/>
          <p:nvPr/>
        </p:nvSpPr>
        <p:spPr>
          <a:xfrm>
            <a:off x="8278368" y="5202936"/>
            <a:ext cx="256032" cy="256032"/>
          </a:xfrm>
          <a:prstGeom prst="ellipse">
            <a:avLst/>
          </a:prstGeom>
          <a:solidFill>
            <a:srgbClr val="2E8B57"/>
          </a:solidFill>
          <a:ln w="12700">
            <a:solidFill>
              <a:srgbClr val="2E8B57"/>
            </a:solidFill>
            <a:prstDash val="solid"/>
          </a:ln>
        </p:spPr>
      </p:sp>
      <p:sp>
        <p:nvSpPr>
          <p:cNvPr id="102" name="Text 100"/>
          <p:cNvSpPr txBox="1"/>
          <p:nvPr/>
        </p:nvSpPr>
        <p:spPr>
          <a:xfrm>
            <a:off x="8278368"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103" name="Text 101"/>
          <p:cNvSpPr txBox="1"/>
          <p:nvPr/>
        </p:nvSpPr>
        <p:spPr>
          <a:xfrm>
            <a:off x="8607552" y="5145024"/>
            <a:ext cx="2977896" cy="371856"/>
          </a:xfrm>
          <a:prstGeom prst="rect">
            <a:avLst/>
          </a:prstGeom>
          <a:noFill/>
          <a:ln/>
        </p:spPr>
        <p:txBody>
          <a:bodyPr wrap="square" lIns="0" tIns="0" rIns="0" bIns="0" rtlCol="0" anchor="ctr"/>
          <a:lstStyle/>
          <a:p>
            <a:pPr rtl="1" algn="r" indent="0" marL="0">
              <a:buNone/>
            </a:pPr>
            <a:r>
              <a:rPr lang="ar-SA" altLang="en-US" sz="1550" b="1" dirty="0">
                <a:solidFill>
                  <a:srgbClr val="1F2A37"/>
                </a:solidFill>
                <a:latin typeface="Amiri" pitchFamily="2" charset="-78"/>
                <a:cs typeface="Amiri" pitchFamily="2" charset="-78"/>
              </a:rPr>
              <a:t>أُفَضِّلُ هٰذَا المِعْطَفَ لِأَنَّهُ أَرْخَصُ وَأَكْثَرُ رَاحَةً.</a:t>
            </a:r>
            <a:endParaRPr lang="ar-SA" sz="1550" dirty="0"/>
          </a:p>
        </p:txBody>
      </p:sp>
      <p:sp>
        <p:nvSpPr>
          <p:cNvPr id="104" name="Shape 102"/>
          <p:cNvSpPr/>
          <p:nvPr/>
        </p:nvSpPr>
        <p:spPr>
          <a:xfrm>
            <a:off x="8278368" y="5574792"/>
            <a:ext cx="256032" cy="256032"/>
          </a:xfrm>
          <a:prstGeom prst="ellipse">
            <a:avLst/>
          </a:prstGeom>
          <a:solidFill>
            <a:srgbClr val="C9CED6"/>
          </a:solidFill>
          <a:ln w="12700">
            <a:solidFill>
              <a:srgbClr val="C9CED6"/>
            </a:solidFill>
            <a:prstDash val="solid"/>
          </a:ln>
        </p:spPr>
      </p:sp>
      <p:sp>
        <p:nvSpPr>
          <p:cNvPr id="105" name="Text 103"/>
          <p:cNvSpPr txBox="1"/>
          <p:nvPr/>
        </p:nvSpPr>
        <p:spPr>
          <a:xfrm>
            <a:off x="8278368"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106" name="Text 104"/>
          <p:cNvSpPr txBox="1"/>
          <p:nvPr/>
        </p:nvSpPr>
        <p:spPr>
          <a:xfrm>
            <a:off x="8607552" y="5516880"/>
            <a:ext cx="2977896" cy="371856"/>
          </a:xfrm>
          <a:prstGeom prst="rect">
            <a:avLst/>
          </a:prstGeom>
          <a:noFill/>
          <a:ln/>
        </p:spPr>
        <p:txBody>
          <a:bodyPr wrap="square" lIns="0" tIns="0" rIns="0" bIns="0" rtlCol="0" anchor="ctr"/>
          <a:lstStyle/>
          <a:p>
            <a:pPr rtl="1" algn="r" indent="0" marL="0">
              <a:buNone/>
            </a:pPr>
            <a:r>
              <a:rPr lang="ar-SA" altLang="en-US" sz="1550" dirty="0">
                <a:solidFill>
                  <a:srgbClr val="9AA1AB"/>
                </a:solidFill>
                <a:latin typeface="Amiri" pitchFamily="2" charset="-78"/>
                <a:cs typeface="Amiri" pitchFamily="2" charset="-78"/>
              </a:rPr>
              <a:t>نَعَمْ.</a:t>
            </a:r>
            <a:endParaRPr lang="ar-SA" sz="1550" dirty="0"/>
          </a:p>
        </p:txBody>
      </p:sp>
      <p:sp>
        <p:nvSpPr>
          <p:cNvPr id="107" name="Text 105"/>
          <p:cNvSpPr txBox="1"/>
          <p:nvPr/>
        </p:nvSpPr>
        <p:spPr>
          <a:xfrm>
            <a:off x="8223504"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It includes preference, comparison and reason.</a:t>
            </a:r>
            <a:endParaRPr lang="en-US" sz="1050" dirty="0"/>
          </a:p>
        </p:txBody>
      </p:sp>
      <p:sp>
        <p:nvSpPr>
          <p:cNvPr id="108" name="Text 10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24</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D2-L12 · D2 Assessment</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ASSESSMENT MAP (WEBSITE) · 60 MARKS IN TOTAL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Your 60-mark D2 profile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خُطَّةُ التَّقْيِيمِ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D2-L12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10524744" y="1810512"/>
            <a:ext cx="1133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Marks</a:t>
            </a:r>
            <a:endParaRPr lang="en-US" sz="1100" dirty="0"/>
          </a:p>
        </p:txBody>
      </p:sp>
      <p:sp>
        <p:nvSpPr>
          <p:cNvPr id="17" name="Text 14"/>
          <p:cNvSpPr txBox="1"/>
          <p:nvPr/>
        </p:nvSpPr>
        <p:spPr>
          <a:xfrm>
            <a:off x="3941064" y="1810512"/>
            <a:ext cx="64373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What you do</a:t>
            </a:r>
            <a:endParaRPr lang="en-US" sz="1100" dirty="0"/>
          </a:p>
        </p:txBody>
      </p:sp>
      <p:sp>
        <p:nvSpPr>
          <p:cNvPr id="18" name="Text 15"/>
          <p:cNvSpPr txBox="1"/>
          <p:nvPr/>
        </p:nvSpPr>
        <p:spPr>
          <a:xfrm>
            <a:off x="530352" y="1810512"/>
            <a:ext cx="326440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Skill</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10561320" y="2267712"/>
            <a:ext cx="10972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20</a:t>
            </a:r>
            <a:endParaRPr lang="en-US" sz="1100" dirty="0"/>
          </a:p>
        </p:txBody>
      </p:sp>
      <p:sp>
        <p:nvSpPr>
          <p:cNvPr id="21" name="Text 18"/>
          <p:cNvSpPr txBox="1"/>
          <p:nvPr/>
        </p:nvSpPr>
        <p:spPr>
          <a:xfrm>
            <a:off x="3977640" y="2267712"/>
            <a:ext cx="64008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Two texts, each heard twice: a friend and her style · buying a coat (12 questions)</a:t>
            </a:r>
            <a:endParaRPr lang="en-US" sz="1100" dirty="0"/>
          </a:p>
        </p:txBody>
      </p:sp>
      <p:sp>
        <p:nvSpPr>
          <p:cNvPr id="22" name="Text 19"/>
          <p:cNvSpPr txBox="1"/>
          <p:nvPr/>
        </p:nvSpPr>
        <p:spPr>
          <a:xfrm>
            <a:off x="566928" y="2267712"/>
            <a:ext cx="322783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 Listening · </a:t>
            </a:r>
            <a:pPr algn="l" indent="0" marL="0">
              <a:buNone/>
            </a:pPr>
            <a:r>
              <a:rPr lang="ar-SA" altLang="en-US" sz="1450" dirty="0">
                <a:solidFill>
                  <a:srgbClr val="5A6472"/>
                </a:solidFill>
                <a:latin typeface="Amiri" pitchFamily="2" charset="-78"/>
                <a:cs typeface="Amiri" pitchFamily="2" charset="-78"/>
              </a:rPr>
              <a:t>الاِسْتِمَاعُ</a:t>
            </a:r>
            <a:endParaRPr lang="en-US" sz="11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6" name="Text 23"/>
          <p:cNvSpPr txBox="1"/>
          <p:nvPr/>
        </p:nvSpPr>
        <p:spPr>
          <a:xfrm>
            <a:off x="10561320" y="3054096"/>
            <a:ext cx="10972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10</a:t>
            </a:r>
            <a:endParaRPr lang="en-US" sz="1100" dirty="0"/>
          </a:p>
        </p:txBody>
      </p:sp>
      <p:sp>
        <p:nvSpPr>
          <p:cNvPr id="27" name="Text 24"/>
          <p:cNvSpPr txBox="1"/>
          <p:nvPr/>
        </p:nvSpPr>
        <p:spPr>
          <a:xfrm>
            <a:off x="3977640" y="3054096"/>
            <a:ext cx="64008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Salma’s portrait: ten questions — evidence, reference, inference</a:t>
            </a:r>
            <a:endParaRPr lang="en-US" sz="1100" dirty="0"/>
          </a:p>
        </p:txBody>
      </p:sp>
      <p:sp>
        <p:nvSpPr>
          <p:cNvPr id="28" name="Text 25"/>
          <p:cNvSpPr txBox="1"/>
          <p:nvPr/>
        </p:nvSpPr>
        <p:spPr>
          <a:xfrm>
            <a:off x="566928" y="3054096"/>
            <a:ext cx="322783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 Reading · </a:t>
            </a:r>
            <a:pPr algn="l" indent="0" marL="0">
              <a:buNone/>
            </a:pPr>
            <a:r>
              <a:rPr lang="ar-SA" altLang="en-US" sz="1450" dirty="0">
                <a:solidFill>
                  <a:srgbClr val="5A6472"/>
                </a:solidFill>
                <a:latin typeface="Amiri" pitchFamily="2" charset="-78"/>
                <a:cs typeface="Amiri" pitchFamily="2" charset="-78"/>
              </a:rPr>
              <a:t>القِرَاءَةُ</a:t>
            </a:r>
            <a:endParaRPr lang="en-US" sz="1100" dirty="0"/>
          </a:p>
        </p:txBody>
      </p:sp>
      <p:sp>
        <p:nvSpPr>
          <p:cNvPr id="29" name="Shape 26"/>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2" name="Text 29"/>
          <p:cNvSpPr txBox="1"/>
          <p:nvPr/>
        </p:nvSpPr>
        <p:spPr>
          <a:xfrm>
            <a:off x="10561320" y="3840480"/>
            <a:ext cx="10972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20</a:t>
            </a:r>
            <a:endParaRPr lang="en-US" sz="1100" dirty="0"/>
          </a:p>
        </p:txBody>
      </p:sp>
      <p:sp>
        <p:nvSpPr>
          <p:cNvPr id="33" name="Text 30"/>
          <p:cNvSpPr txBox="1"/>
          <p:nvPr/>
        </p:nvSpPr>
        <p:spPr>
          <a:xfrm>
            <a:off x="3977640" y="3840480"/>
            <a:ext cx="64008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Person-profile form (5) · article or email, 100–120 words (15)</a:t>
            </a:r>
            <a:endParaRPr lang="en-US" sz="1100" dirty="0"/>
          </a:p>
        </p:txBody>
      </p:sp>
      <p:sp>
        <p:nvSpPr>
          <p:cNvPr id="34" name="Text 31"/>
          <p:cNvSpPr txBox="1"/>
          <p:nvPr/>
        </p:nvSpPr>
        <p:spPr>
          <a:xfrm>
            <a:off x="566928" y="3840480"/>
            <a:ext cx="322783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 Writing · </a:t>
            </a:r>
            <a:pPr algn="l" indent="0" marL="0">
              <a:buNone/>
            </a:pPr>
            <a:r>
              <a:rPr lang="ar-SA" altLang="en-US" sz="1450" dirty="0">
                <a:solidFill>
                  <a:srgbClr val="5A6472"/>
                </a:solidFill>
                <a:latin typeface="Amiri" pitchFamily="2" charset="-78"/>
                <a:cs typeface="Amiri" pitchFamily="2" charset="-78"/>
              </a:rPr>
              <a:t>الكِتَابَةُ</a:t>
            </a:r>
            <a:endParaRPr lang="en-US" sz="1100" dirty="0"/>
          </a:p>
        </p:txBody>
      </p:sp>
      <p:sp>
        <p:nvSpPr>
          <p:cNvPr id="35" name="Shape 32"/>
          <p:cNvSpPr/>
          <p:nvPr/>
        </p:nvSpPr>
        <p:spPr>
          <a:xfrm>
            <a:off x="11091672" y="3886200"/>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88620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38" name="Text 35"/>
          <p:cNvSpPr txBox="1"/>
          <p:nvPr/>
        </p:nvSpPr>
        <p:spPr>
          <a:xfrm>
            <a:off x="10561320" y="4626864"/>
            <a:ext cx="10972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10</a:t>
            </a:r>
            <a:endParaRPr lang="en-US" sz="1100" dirty="0"/>
          </a:p>
        </p:txBody>
      </p:sp>
      <p:sp>
        <p:nvSpPr>
          <p:cNvPr id="39" name="Text 36"/>
          <p:cNvSpPr txBox="1"/>
          <p:nvPr/>
        </p:nvSpPr>
        <p:spPr>
          <a:xfrm>
            <a:off x="3977640" y="4626864"/>
            <a:ext cx="64008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Portrait + topic conversation — cue words only</a:t>
            </a:r>
            <a:endParaRPr lang="en-US" sz="1100" dirty="0"/>
          </a:p>
        </p:txBody>
      </p:sp>
      <p:sp>
        <p:nvSpPr>
          <p:cNvPr id="40" name="Text 37"/>
          <p:cNvSpPr txBox="1"/>
          <p:nvPr/>
        </p:nvSpPr>
        <p:spPr>
          <a:xfrm>
            <a:off x="566928" y="4626864"/>
            <a:ext cx="322783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 Speaking · </a:t>
            </a:r>
            <a:pPr algn="l" indent="0" marL="0">
              <a:buNone/>
            </a:pPr>
            <a:r>
              <a:rPr lang="ar-SA" altLang="en-US" sz="1450" dirty="0">
                <a:solidFill>
                  <a:srgbClr val="5A6472"/>
                </a:solidFill>
                <a:latin typeface="Amiri" pitchFamily="2" charset="-78"/>
                <a:cs typeface="Amiri" pitchFamily="2" charset="-78"/>
              </a:rPr>
              <a:t>التَّحَدُّثُ</a:t>
            </a:r>
            <a:endParaRPr lang="en-US" sz="1100" dirty="0"/>
          </a:p>
        </p:txBody>
      </p:sp>
      <p:sp>
        <p:nvSpPr>
          <p:cNvPr id="41" name="Shape 38"/>
          <p:cNvSpPr/>
          <p:nvPr/>
        </p:nvSpPr>
        <p:spPr>
          <a:xfrm>
            <a:off x="11091672" y="4672584"/>
            <a:ext cx="548640" cy="182880"/>
          </a:xfrm>
          <a:prstGeom prst="roundRect">
            <a:avLst>
              <a:gd name="adj" fmla="val 50000"/>
            </a:avLst>
          </a:prstGeom>
          <a:solidFill>
            <a:srgbClr val="2E8B57"/>
          </a:solidFill>
          <a:ln w="12700">
            <a:solidFill>
              <a:srgbClr val="2E8B57"/>
            </a:solidFill>
            <a:prstDash val="solid"/>
          </a:ln>
        </p:spPr>
      </p:sp>
      <p:sp>
        <p:nvSpPr>
          <p:cNvPr id="42" name="Text 39"/>
          <p:cNvSpPr txBox="1"/>
          <p:nvPr/>
        </p:nvSpPr>
        <p:spPr>
          <a:xfrm>
            <a:off x="11091672" y="467258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3" name="Text 4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24</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D2-L12 · D2 Assessment</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LISTENING · TEXT 1 · HEARD TWICE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Text 1 · A friend and her style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الاِسْتِمَاعُ (١)</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D2-L12</a:t>
            </a:r>
            <a:endParaRPr lang="en-US" sz="850" dirty="0"/>
          </a:p>
        </p:txBody>
      </p:sp>
      <p:sp>
        <p:nvSpPr>
          <p:cNvPr id="15" name="Shape 12"/>
          <p:cNvSpPr/>
          <p:nvPr/>
        </p:nvSpPr>
        <p:spPr>
          <a:xfrm>
            <a:off x="457200"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Who is described first?</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shop assistant</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teacher</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female friend</a:t>
            </a:r>
            <a:endParaRPr lang="en-US" sz="1250" dirty="0"/>
          </a:p>
        </p:txBody>
      </p:sp>
      <p:sp>
        <p:nvSpPr>
          <p:cNvPr id="28" name="Shape 25"/>
          <p:cNvSpPr/>
          <p:nvPr/>
        </p:nvSpPr>
        <p:spPr>
          <a:xfrm>
            <a:off x="3321558"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3449574"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344957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3815334"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she like?</a:t>
            </a:r>
            <a:endParaRPr lang="en-US" sz="1250" dirty="0"/>
          </a:p>
        </p:txBody>
      </p:sp>
      <p:sp>
        <p:nvSpPr>
          <p:cNvPr id="32" name="Shape 29"/>
          <p:cNvSpPr/>
          <p:nvPr/>
        </p:nvSpPr>
        <p:spPr>
          <a:xfrm>
            <a:off x="3504438"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350443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3833622"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selfish and nervous</a:t>
            </a:r>
            <a:endParaRPr lang="en-US" sz="1250" dirty="0"/>
          </a:p>
        </p:txBody>
      </p:sp>
      <p:sp>
        <p:nvSpPr>
          <p:cNvPr id="35" name="Shape 32"/>
          <p:cNvSpPr/>
          <p:nvPr/>
        </p:nvSpPr>
        <p:spPr>
          <a:xfrm>
            <a:off x="3504438"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350443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3833622"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patient and helpful</a:t>
            </a:r>
            <a:endParaRPr lang="en-US" sz="1250" dirty="0"/>
          </a:p>
        </p:txBody>
      </p:sp>
      <p:sp>
        <p:nvSpPr>
          <p:cNvPr id="38" name="Shape 35"/>
          <p:cNvSpPr/>
          <p:nvPr/>
        </p:nvSpPr>
        <p:spPr>
          <a:xfrm>
            <a:off x="3504438"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350443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3833622"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quiet and dishonest</a:t>
            </a:r>
            <a:endParaRPr lang="en-US" sz="1250" dirty="0"/>
          </a:p>
        </p:txBody>
      </p:sp>
      <p:sp>
        <p:nvSpPr>
          <p:cNvPr id="41" name="Shape 38"/>
          <p:cNvSpPr/>
          <p:nvPr/>
        </p:nvSpPr>
        <p:spPr>
          <a:xfrm>
            <a:off x="6185916"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313932"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6679692"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she usually wear?</a:t>
            </a:r>
            <a:endParaRPr lang="en-US" sz="1250" dirty="0"/>
          </a:p>
        </p:txBody>
      </p:sp>
      <p:sp>
        <p:nvSpPr>
          <p:cNvPr id="45" name="Shape 42"/>
          <p:cNvSpPr/>
          <p:nvPr/>
        </p:nvSpPr>
        <p:spPr>
          <a:xfrm>
            <a:off x="6368796"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6697980"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school uniform</a:t>
            </a:r>
            <a:endParaRPr lang="en-US" sz="1250" dirty="0"/>
          </a:p>
        </p:txBody>
      </p:sp>
      <p:sp>
        <p:nvSpPr>
          <p:cNvPr id="48" name="Shape 45"/>
          <p:cNvSpPr/>
          <p:nvPr/>
        </p:nvSpPr>
        <p:spPr>
          <a:xfrm>
            <a:off x="6368796"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6697980"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simple modest clothes</a:t>
            </a:r>
            <a:endParaRPr lang="en-US" sz="1250" dirty="0"/>
          </a:p>
        </p:txBody>
      </p:sp>
      <p:sp>
        <p:nvSpPr>
          <p:cNvPr id="51" name="Shape 48"/>
          <p:cNvSpPr/>
          <p:nvPr/>
        </p:nvSpPr>
        <p:spPr>
          <a:xfrm>
            <a:off x="6368796"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6697980"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sports kit only</a:t>
            </a:r>
            <a:endParaRPr lang="en-US" sz="1250" dirty="0"/>
          </a:p>
        </p:txBody>
      </p:sp>
      <p:sp>
        <p:nvSpPr>
          <p:cNvPr id="54" name="Shape 51"/>
          <p:cNvSpPr/>
          <p:nvPr/>
        </p:nvSpPr>
        <p:spPr>
          <a:xfrm>
            <a:off x="9050274"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9178290" y="1947672"/>
            <a:ext cx="310896" cy="310896"/>
          </a:xfrm>
          <a:prstGeom prst="ellipse">
            <a:avLst/>
          </a:prstGeom>
          <a:solidFill>
            <a:srgbClr val="1B3B6F"/>
          </a:solidFill>
          <a:ln w="12700">
            <a:solidFill>
              <a:srgbClr val="1B3B6F"/>
            </a:solidFill>
            <a:prstDash val="solid"/>
          </a:ln>
        </p:spPr>
      </p:sp>
      <p:sp>
        <p:nvSpPr>
          <p:cNvPr id="56" name="Text 53"/>
          <p:cNvSpPr txBox="1"/>
          <p:nvPr/>
        </p:nvSpPr>
        <p:spPr>
          <a:xfrm>
            <a:off x="917829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44050"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evidence supports helpfulness?</a:t>
            </a:r>
            <a:endParaRPr lang="en-US" sz="1250" dirty="0"/>
          </a:p>
        </p:txBody>
      </p:sp>
      <p:sp>
        <p:nvSpPr>
          <p:cNvPr id="58" name="Shape 55"/>
          <p:cNvSpPr/>
          <p:nvPr/>
        </p:nvSpPr>
        <p:spPr>
          <a:xfrm>
            <a:off x="9233154" y="2532888"/>
            <a:ext cx="256032" cy="256032"/>
          </a:xfrm>
          <a:prstGeom prst="ellipse">
            <a:avLst/>
          </a:prstGeom>
          <a:solidFill>
            <a:srgbClr val="F4F1EA"/>
          </a:solidFill>
          <a:ln w="12700">
            <a:solidFill>
              <a:srgbClr val="F4F1EA"/>
            </a:solidFill>
            <a:prstDash val="solid"/>
          </a:ln>
        </p:spPr>
      </p:sp>
      <p:sp>
        <p:nvSpPr>
          <p:cNvPr id="59" name="Text 56"/>
          <p:cNvSpPr txBox="1"/>
          <p:nvPr/>
        </p:nvSpPr>
        <p:spPr>
          <a:xfrm>
            <a:off x="923315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562338"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She buys expensive clothes.</a:t>
            </a:r>
            <a:endParaRPr lang="en-US" sz="1250" dirty="0"/>
          </a:p>
        </p:txBody>
      </p:sp>
      <p:sp>
        <p:nvSpPr>
          <p:cNvPr id="61" name="Shape 58"/>
          <p:cNvSpPr/>
          <p:nvPr/>
        </p:nvSpPr>
        <p:spPr>
          <a:xfrm>
            <a:off x="9233154" y="2990088"/>
            <a:ext cx="256032" cy="256032"/>
          </a:xfrm>
          <a:prstGeom prst="ellipse">
            <a:avLst/>
          </a:prstGeom>
          <a:solidFill>
            <a:srgbClr val="F4F1EA"/>
          </a:solidFill>
          <a:ln w="12700">
            <a:solidFill>
              <a:srgbClr val="F4F1EA"/>
            </a:solidFill>
            <a:prstDash val="solid"/>
          </a:ln>
        </p:spPr>
      </p:sp>
      <p:sp>
        <p:nvSpPr>
          <p:cNvPr id="62" name="Text 59"/>
          <p:cNvSpPr txBox="1"/>
          <p:nvPr/>
        </p:nvSpPr>
        <p:spPr>
          <a:xfrm>
            <a:off x="923315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562338"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She has long hair.</a:t>
            </a:r>
            <a:endParaRPr lang="en-US" sz="1250" dirty="0"/>
          </a:p>
        </p:txBody>
      </p:sp>
      <p:sp>
        <p:nvSpPr>
          <p:cNvPr id="64" name="Shape 61"/>
          <p:cNvSpPr/>
          <p:nvPr/>
        </p:nvSpPr>
        <p:spPr>
          <a:xfrm>
            <a:off x="9233154" y="3447288"/>
            <a:ext cx="256032" cy="256032"/>
          </a:xfrm>
          <a:prstGeom prst="ellipse">
            <a:avLst/>
          </a:prstGeom>
          <a:solidFill>
            <a:srgbClr val="F4F1EA"/>
          </a:solidFill>
          <a:ln w="12700">
            <a:solidFill>
              <a:srgbClr val="F4F1EA"/>
            </a:solidFill>
            <a:prstDash val="solid"/>
          </a:ln>
        </p:spPr>
      </p:sp>
      <p:sp>
        <p:nvSpPr>
          <p:cNvPr id="65" name="Text 62"/>
          <p:cNvSpPr txBox="1"/>
          <p:nvPr/>
        </p:nvSpPr>
        <p:spPr>
          <a:xfrm>
            <a:off x="923315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562338"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She explains work to new students.</a:t>
            </a:r>
            <a:endParaRPr lang="en-US" sz="1250" dirty="0"/>
          </a:p>
        </p:txBody>
      </p:sp>
      <p:sp>
        <p:nvSpPr>
          <p:cNvPr id="67" name="Shape 64"/>
          <p:cNvSpPr/>
          <p:nvPr/>
        </p:nvSpPr>
        <p:spPr>
          <a:xfrm>
            <a:off x="457200"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585216"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950976"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does the speaker’s style differ?</a:t>
            </a:r>
            <a:endParaRPr lang="en-US" sz="1250" dirty="0"/>
          </a:p>
        </p:txBody>
      </p:sp>
      <p:sp>
        <p:nvSpPr>
          <p:cNvPr id="71" name="Shape 68"/>
          <p:cNvSpPr/>
          <p:nvPr/>
        </p:nvSpPr>
        <p:spPr>
          <a:xfrm>
            <a:off x="640080"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969264" y="47731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is more colourful.</a:t>
            </a:r>
            <a:endParaRPr lang="en-US" sz="1250" dirty="0"/>
          </a:p>
        </p:txBody>
      </p:sp>
      <p:sp>
        <p:nvSpPr>
          <p:cNvPr id="74" name="Shape 71"/>
          <p:cNvSpPr/>
          <p:nvPr/>
        </p:nvSpPr>
        <p:spPr>
          <a:xfrm>
            <a:off x="640080"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969264" y="52303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is more formal.</a:t>
            </a:r>
            <a:endParaRPr lang="en-US" sz="1250" dirty="0"/>
          </a:p>
        </p:txBody>
      </p:sp>
      <p:sp>
        <p:nvSpPr>
          <p:cNvPr id="77" name="Shape 74"/>
          <p:cNvSpPr/>
          <p:nvPr/>
        </p:nvSpPr>
        <p:spPr>
          <a:xfrm>
            <a:off x="640080"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969264" y="56875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is identical.</a:t>
            </a:r>
            <a:endParaRPr lang="en-US" sz="1250" dirty="0"/>
          </a:p>
        </p:txBody>
      </p:sp>
      <p:sp>
        <p:nvSpPr>
          <p:cNvPr id="80" name="Shape 77"/>
          <p:cNvSpPr/>
          <p:nvPr/>
        </p:nvSpPr>
        <p:spPr>
          <a:xfrm>
            <a:off x="3321558"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1" name="Shape 78"/>
          <p:cNvSpPr/>
          <p:nvPr/>
        </p:nvSpPr>
        <p:spPr>
          <a:xfrm>
            <a:off x="3449574" y="4288536"/>
            <a:ext cx="310896" cy="310896"/>
          </a:xfrm>
          <a:prstGeom prst="ellipse">
            <a:avLst/>
          </a:prstGeom>
          <a:solidFill>
            <a:srgbClr val="1B3B6F"/>
          </a:solidFill>
          <a:ln w="12700">
            <a:solidFill>
              <a:srgbClr val="1B3B6F"/>
            </a:solidFill>
            <a:prstDash val="solid"/>
          </a:ln>
        </p:spPr>
      </p:sp>
      <p:sp>
        <p:nvSpPr>
          <p:cNvPr id="82" name="Text 79"/>
          <p:cNvSpPr txBox="1"/>
          <p:nvPr/>
        </p:nvSpPr>
        <p:spPr>
          <a:xfrm>
            <a:off x="344957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83" name="Text 80"/>
          <p:cNvSpPr txBox="1"/>
          <p:nvPr/>
        </p:nvSpPr>
        <p:spPr>
          <a:xfrm>
            <a:off x="3815334"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conclusion is given?</a:t>
            </a:r>
            <a:endParaRPr lang="en-US" sz="1250" dirty="0"/>
          </a:p>
        </p:txBody>
      </p:sp>
      <p:sp>
        <p:nvSpPr>
          <p:cNvPr id="84" name="Shape 81"/>
          <p:cNvSpPr/>
          <p:nvPr/>
        </p:nvSpPr>
        <p:spPr>
          <a:xfrm>
            <a:off x="3504438" y="4873752"/>
            <a:ext cx="256032" cy="256032"/>
          </a:xfrm>
          <a:prstGeom prst="ellipse">
            <a:avLst/>
          </a:prstGeom>
          <a:solidFill>
            <a:srgbClr val="F4F1EA"/>
          </a:solidFill>
          <a:ln w="12700">
            <a:solidFill>
              <a:srgbClr val="F4F1EA"/>
            </a:solidFill>
            <a:prstDash val="solid"/>
          </a:ln>
        </p:spPr>
      </p:sp>
      <p:sp>
        <p:nvSpPr>
          <p:cNvPr id="85" name="Text 82"/>
          <p:cNvSpPr txBox="1"/>
          <p:nvPr/>
        </p:nvSpPr>
        <p:spPr>
          <a:xfrm>
            <a:off x="3504438"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6" name="Text 83"/>
          <p:cNvSpPr txBox="1"/>
          <p:nvPr/>
        </p:nvSpPr>
        <p:spPr>
          <a:xfrm>
            <a:off x="3833622" y="47731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Fashion is always bad.</a:t>
            </a:r>
            <a:endParaRPr lang="en-US" sz="1250" dirty="0"/>
          </a:p>
        </p:txBody>
      </p:sp>
      <p:sp>
        <p:nvSpPr>
          <p:cNvPr id="87" name="Shape 84"/>
          <p:cNvSpPr/>
          <p:nvPr/>
        </p:nvSpPr>
        <p:spPr>
          <a:xfrm>
            <a:off x="3504438" y="5330952"/>
            <a:ext cx="256032" cy="256032"/>
          </a:xfrm>
          <a:prstGeom prst="ellipse">
            <a:avLst/>
          </a:prstGeom>
          <a:solidFill>
            <a:srgbClr val="F4F1EA"/>
          </a:solidFill>
          <a:ln w="12700">
            <a:solidFill>
              <a:srgbClr val="F4F1EA"/>
            </a:solidFill>
            <a:prstDash val="solid"/>
          </a:ln>
        </p:spPr>
      </p:sp>
      <p:sp>
        <p:nvSpPr>
          <p:cNvPr id="88" name="Text 85"/>
          <p:cNvSpPr txBox="1"/>
          <p:nvPr/>
        </p:nvSpPr>
        <p:spPr>
          <a:xfrm>
            <a:off x="3504438"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9" name="Text 86"/>
          <p:cNvSpPr txBox="1"/>
          <p:nvPr/>
        </p:nvSpPr>
        <p:spPr>
          <a:xfrm>
            <a:off x="3833622" y="52303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Different styles can suit different personalities.</a:t>
            </a:r>
            <a:endParaRPr lang="en-US" sz="1250" dirty="0"/>
          </a:p>
        </p:txBody>
      </p:sp>
      <p:sp>
        <p:nvSpPr>
          <p:cNvPr id="90" name="Shape 87"/>
          <p:cNvSpPr/>
          <p:nvPr/>
        </p:nvSpPr>
        <p:spPr>
          <a:xfrm>
            <a:off x="3504438" y="5788152"/>
            <a:ext cx="256032" cy="256032"/>
          </a:xfrm>
          <a:prstGeom prst="ellipse">
            <a:avLst/>
          </a:prstGeom>
          <a:solidFill>
            <a:srgbClr val="F4F1EA"/>
          </a:solidFill>
          <a:ln w="12700">
            <a:solidFill>
              <a:srgbClr val="F4F1EA"/>
            </a:solidFill>
            <a:prstDash val="solid"/>
          </a:ln>
        </p:spPr>
      </p:sp>
      <p:sp>
        <p:nvSpPr>
          <p:cNvPr id="91" name="Text 88"/>
          <p:cNvSpPr txBox="1"/>
          <p:nvPr/>
        </p:nvSpPr>
        <p:spPr>
          <a:xfrm>
            <a:off x="3504438"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2" name="Text 89"/>
          <p:cNvSpPr txBox="1"/>
          <p:nvPr/>
        </p:nvSpPr>
        <p:spPr>
          <a:xfrm>
            <a:off x="3833622" y="56875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Friends must dress alike.</a:t>
            </a:r>
            <a:endParaRPr lang="en-US" sz="1250" dirty="0"/>
          </a:p>
        </p:txBody>
      </p:sp>
      <p:sp>
        <p:nvSpPr>
          <p:cNvPr id="93" name="Shape 90"/>
          <p:cNvSpPr/>
          <p:nvPr/>
        </p:nvSpPr>
        <p:spPr>
          <a:xfrm>
            <a:off x="6185916" y="4151376"/>
            <a:ext cx="2681478" cy="2157984"/>
          </a:xfrm>
          <a:prstGeom prst="roundRect">
            <a:avLst>
              <a:gd name="adj" fmla="val 3390"/>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94" name="Text 91"/>
          <p:cNvSpPr txBox="1"/>
          <p:nvPr/>
        </p:nvSpPr>
        <p:spPr>
          <a:xfrm>
            <a:off x="6368796" y="4279392"/>
            <a:ext cx="2315718"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TWO PEOPLE</a:t>
            </a:r>
            <a:endParaRPr lang="en-US" sz="1000" dirty="0"/>
          </a:p>
        </p:txBody>
      </p:sp>
      <p:sp>
        <p:nvSpPr>
          <p:cNvPr id="95" name="Text 92"/>
          <p:cNvSpPr txBox="1"/>
          <p:nvPr/>
        </p:nvSpPr>
        <p:spPr>
          <a:xfrm>
            <a:off x="6368796" y="4590288"/>
            <a:ext cx="2315718"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Huda speaks about Salma.</a:t>
            </a:r>
            <a:endParaRPr lang="en-US" sz="1250" dirty="0"/>
          </a:p>
          <a:p>
            <a:pPr algn="l" indent="0" marL="0">
              <a:buNone/>
            </a:pPr>
            <a:r>
              <a:rPr lang="en-US" sz="1250" dirty="0">
                <a:solidFill>
                  <a:srgbClr val="1F2A37"/>
                </a:solidFill>
                <a:latin typeface="Calibri" pitchFamily="34" charset="0"/>
                <a:cs typeface="Amiri" pitchFamily="2" charset="-78"/>
              </a:rPr>
              <a:t>Chat: 1_ 2_ 3_ 4_ 5_ 6_</a:t>
            </a:r>
            <a:endParaRPr lang="en-US" sz="1250" dirty="0"/>
          </a:p>
        </p:txBody>
      </p:sp>
      <p:sp>
        <p:nvSpPr>
          <p:cNvPr id="96" name="Text 9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24</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D2-L12 · D2 Assessment</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LISTENING · TEXT 1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Text 1 ·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D2-L12</a:t>
            </a:r>
            <a:endParaRPr lang="en-US" sz="850" dirty="0"/>
          </a:p>
        </p:txBody>
      </p:sp>
      <p:sp>
        <p:nvSpPr>
          <p:cNvPr id="15" name="Shape 12"/>
          <p:cNvSpPr/>
          <p:nvPr/>
        </p:nvSpPr>
        <p:spPr>
          <a:xfrm>
            <a:off x="457200"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Who is described first?</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shop assistant</a:t>
            </a:r>
            <a:endParaRPr lang="en-US" sz="1250" dirty="0"/>
          </a:p>
        </p:txBody>
      </p:sp>
      <p:sp>
        <p:nvSpPr>
          <p:cNvPr id="22" name="Shape 19"/>
          <p:cNvSpPr/>
          <p:nvPr/>
        </p:nvSpPr>
        <p:spPr>
          <a:xfrm>
            <a:off x="640080" y="2862072"/>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teacher</a:t>
            </a:r>
            <a:endParaRPr lang="en-US" sz="1250" dirty="0"/>
          </a:p>
        </p:txBody>
      </p:sp>
      <p:sp>
        <p:nvSpPr>
          <p:cNvPr id="25" name="Shape 22"/>
          <p:cNvSpPr/>
          <p:nvPr/>
        </p:nvSpPr>
        <p:spPr>
          <a:xfrm>
            <a:off x="548640" y="3197352"/>
            <a:ext cx="2498598" cy="347472"/>
          </a:xfrm>
          <a:prstGeom prst="roundRect">
            <a:avLst>
              <a:gd name="adj" fmla="val 15789"/>
            </a:avLst>
          </a:prstGeom>
          <a:solidFill>
            <a:srgbClr val="E6F4EC"/>
          </a:solidFill>
          <a:ln w="9525">
            <a:solidFill>
              <a:srgbClr val="2E8B57"/>
            </a:solidFill>
            <a:prstDash val="solid"/>
          </a:ln>
        </p:spPr>
      </p:sp>
      <p:sp>
        <p:nvSpPr>
          <p:cNvPr id="26" name="Shape 23"/>
          <p:cNvSpPr/>
          <p:nvPr/>
        </p:nvSpPr>
        <p:spPr>
          <a:xfrm>
            <a:off x="640080" y="3233928"/>
            <a:ext cx="256032" cy="256032"/>
          </a:xfrm>
          <a:prstGeom prst="ellipse">
            <a:avLst/>
          </a:prstGeom>
          <a:solidFill>
            <a:srgbClr val="2E8B57"/>
          </a:solidFill>
          <a:ln w="12700">
            <a:solidFill>
              <a:srgbClr val="2E8B57"/>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28" name="Text 25"/>
          <p:cNvSpPr txBox="1"/>
          <p:nvPr/>
        </p:nvSpPr>
        <p:spPr>
          <a:xfrm>
            <a:off x="969264" y="3176016"/>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 female friend</a:t>
            </a:r>
            <a:endParaRPr lang="en-US" sz="1250" dirty="0"/>
          </a:p>
        </p:txBody>
      </p:sp>
      <p:sp>
        <p:nvSpPr>
          <p:cNvPr id="29" name="Text 26"/>
          <p:cNvSpPr txBox="1"/>
          <p:nvPr/>
        </p:nvSpPr>
        <p:spPr>
          <a:xfrm>
            <a:off x="585216" y="3566160"/>
            <a:ext cx="2425446"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speaker begins with her friend.</a:t>
            </a:r>
            <a:endParaRPr lang="en-US" sz="1050" dirty="0"/>
          </a:p>
        </p:txBody>
      </p:sp>
      <p:sp>
        <p:nvSpPr>
          <p:cNvPr id="30" name="Shape 27"/>
          <p:cNvSpPr/>
          <p:nvPr/>
        </p:nvSpPr>
        <p:spPr>
          <a:xfrm>
            <a:off x="3321558"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3449574"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344957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3815334"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she like?</a:t>
            </a:r>
            <a:endParaRPr lang="en-US" sz="1250" dirty="0"/>
          </a:p>
        </p:txBody>
      </p:sp>
      <p:sp>
        <p:nvSpPr>
          <p:cNvPr id="34" name="Shape 31"/>
          <p:cNvSpPr/>
          <p:nvPr/>
        </p:nvSpPr>
        <p:spPr>
          <a:xfrm>
            <a:off x="3504438"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350443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3833622" y="243230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selfish and nervous</a:t>
            </a:r>
            <a:endParaRPr lang="en-US" sz="1250" dirty="0"/>
          </a:p>
        </p:txBody>
      </p:sp>
      <p:sp>
        <p:nvSpPr>
          <p:cNvPr id="37" name="Shape 34"/>
          <p:cNvSpPr/>
          <p:nvPr/>
        </p:nvSpPr>
        <p:spPr>
          <a:xfrm>
            <a:off x="3412998" y="2825496"/>
            <a:ext cx="2498598"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3504438" y="2862072"/>
            <a:ext cx="256032" cy="256032"/>
          </a:xfrm>
          <a:prstGeom prst="ellipse">
            <a:avLst/>
          </a:prstGeom>
          <a:solidFill>
            <a:srgbClr val="2E8B57"/>
          </a:solidFill>
          <a:ln w="12700">
            <a:solidFill>
              <a:srgbClr val="2E8B57"/>
            </a:solidFill>
            <a:prstDash val="solid"/>
          </a:ln>
        </p:spPr>
      </p:sp>
      <p:sp>
        <p:nvSpPr>
          <p:cNvPr id="39" name="Text 36"/>
          <p:cNvSpPr txBox="1"/>
          <p:nvPr/>
        </p:nvSpPr>
        <p:spPr>
          <a:xfrm>
            <a:off x="3504438"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0" name="Text 37"/>
          <p:cNvSpPr txBox="1"/>
          <p:nvPr/>
        </p:nvSpPr>
        <p:spPr>
          <a:xfrm>
            <a:off x="3833622" y="2804160"/>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patient and helpful</a:t>
            </a:r>
            <a:endParaRPr lang="en-US" sz="1250" dirty="0"/>
          </a:p>
        </p:txBody>
      </p:sp>
      <p:sp>
        <p:nvSpPr>
          <p:cNvPr id="41" name="Shape 38"/>
          <p:cNvSpPr/>
          <p:nvPr/>
        </p:nvSpPr>
        <p:spPr>
          <a:xfrm>
            <a:off x="3504438"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350443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3833622" y="3176016"/>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quiet and dishonest</a:t>
            </a:r>
            <a:endParaRPr lang="en-US" sz="1250" dirty="0"/>
          </a:p>
        </p:txBody>
      </p:sp>
      <p:sp>
        <p:nvSpPr>
          <p:cNvPr id="44" name="Text 41"/>
          <p:cNvSpPr txBox="1"/>
          <p:nvPr/>
        </p:nvSpPr>
        <p:spPr>
          <a:xfrm>
            <a:off x="3449574" y="3566160"/>
            <a:ext cx="2425446"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speaker says </a:t>
            </a:r>
            <a:pPr algn="l" indent="0" marL="0">
              <a:buNone/>
            </a:pPr>
            <a:r>
              <a:rPr lang="ar-SA" altLang="en-US" sz="1350" dirty="0">
                <a:solidFill>
                  <a:srgbClr val="8A6D1E"/>
                </a:solidFill>
                <a:latin typeface="Amiri" pitchFamily="2" charset="-78"/>
                <a:cs typeface="Amiri" pitchFamily="2" charset="-78"/>
              </a:rPr>
              <a:t>صَبُورَةٌ وَمُتَعَاوِنَةٌ</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45" name="Shape 42"/>
          <p:cNvSpPr/>
          <p:nvPr/>
        </p:nvSpPr>
        <p:spPr>
          <a:xfrm>
            <a:off x="6185916"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6313932"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6679692"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she usually wear?</a:t>
            </a:r>
            <a:endParaRPr lang="en-US" sz="1250" dirty="0"/>
          </a:p>
        </p:txBody>
      </p:sp>
      <p:sp>
        <p:nvSpPr>
          <p:cNvPr id="49" name="Shape 46"/>
          <p:cNvSpPr/>
          <p:nvPr/>
        </p:nvSpPr>
        <p:spPr>
          <a:xfrm>
            <a:off x="6368796"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6697980" y="243230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school uniform</a:t>
            </a:r>
            <a:endParaRPr lang="en-US" sz="1250" dirty="0"/>
          </a:p>
        </p:txBody>
      </p:sp>
      <p:sp>
        <p:nvSpPr>
          <p:cNvPr id="52" name="Shape 49"/>
          <p:cNvSpPr/>
          <p:nvPr/>
        </p:nvSpPr>
        <p:spPr>
          <a:xfrm>
            <a:off x="6277356" y="2825496"/>
            <a:ext cx="2498598" cy="347472"/>
          </a:xfrm>
          <a:prstGeom prst="roundRect">
            <a:avLst>
              <a:gd name="adj" fmla="val 15789"/>
            </a:avLst>
          </a:prstGeom>
          <a:solidFill>
            <a:srgbClr val="E6F4EC"/>
          </a:solidFill>
          <a:ln w="9525">
            <a:solidFill>
              <a:srgbClr val="2E8B57"/>
            </a:solidFill>
            <a:prstDash val="solid"/>
          </a:ln>
        </p:spPr>
      </p:sp>
      <p:sp>
        <p:nvSpPr>
          <p:cNvPr id="53" name="Shape 50"/>
          <p:cNvSpPr/>
          <p:nvPr/>
        </p:nvSpPr>
        <p:spPr>
          <a:xfrm>
            <a:off x="6368796" y="2862072"/>
            <a:ext cx="256032" cy="256032"/>
          </a:xfrm>
          <a:prstGeom prst="ellipse">
            <a:avLst/>
          </a:prstGeom>
          <a:solidFill>
            <a:srgbClr val="2E8B57"/>
          </a:solidFill>
          <a:ln w="12700">
            <a:solidFill>
              <a:srgbClr val="2E8B57"/>
            </a:solidFill>
            <a:prstDash val="solid"/>
          </a:ln>
        </p:spPr>
      </p:sp>
      <p:sp>
        <p:nvSpPr>
          <p:cNvPr id="54" name="Text 51"/>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5" name="Text 52"/>
          <p:cNvSpPr txBox="1"/>
          <p:nvPr/>
        </p:nvSpPr>
        <p:spPr>
          <a:xfrm>
            <a:off x="6697980" y="2804160"/>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simple modest clothes</a:t>
            </a:r>
            <a:endParaRPr lang="en-US" sz="1250" dirty="0"/>
          </a:p>
        </p:txBody>
      </p:sp>
      <p:sp>
        <p:nvSpPr>
          <p:cNvPr id="56" name="Shape 53"/>
          <p:cNvSpPr/>
          <p:nvPr/>
        </p:nvSpPr>
        <p:spPr>
          <a:xfrm>
            <a:off x="6368796" y="323392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6697980" y="3176016"/>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sports kit only</a:t>
            </a:r>
            <a:endParaRPr lang="en-US" sz="1250" dirty="0"/>
          </a:p>
        </p:txBody>
      </p:sp>
      <p:sp>
        <p:nvSpPr>
          <p:cNvPr id="59" name="Text 56"/>
          <p:cNvSpPr txBox="1"/>
          <p:nvPr/>
        </p:nvSpPr>
        <p:spPr>
          <a:xfrm>
            <a:off x="6313932" y="3566160"/>
            <a:ext cx="2425446"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text states simple, modest clothes.</a:t>
            </a:r>
            <a:endParaRPr lang="en-US" sz="1050" dirty="0"/>
          </a:p>
        </p:txBody>
      </p:sp>
      <p:sp>
        <p:nvSpPr>
          <p:cNvPr id="60" name="Shape 57"/>
          <p:cNvSpPr/>
          <p:nvPr/>
        </p:nvSpPr>
        <p:spPr>
          <a:xfrm>
            <a:off x="9050274"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9178290" y="1947672"/>
            <a:ext cx="310896" cy="310896"/>
          </a:xfrm>
          <a:prstGeom prst="ellipse">
            <a:avLst/>
          </a:prstGeom>
          <a:solidFill>
            <a:srgbClr val="1B3B6F"/>
          </a:solidFill>
          <a:ln w="12700">
            <a:solidFill>
              <a:srgbClr val="1B3B6F"/>
            </a:solidFill>
            <a:prstDash val="solid"/>
          </a:ln>
        </p:spPr>
      </p:sp>
      <p:sp>
        <p:nvSpPr>
          <p:cNvPr id="62" name="Text 59"/>
          <p:cNvSpPr txBox="1"/>
          <p:nvPr/>
        </p:nvSpPr>
        <p:spPr>
          <a:xfrm>
            <a:off x="917829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44050"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evidence supports helpfulness?</a:t>
            </a:r>
            <a:endParaRPr lang="en-US" sz="1250" dirty="0"/>
          </a:p>
        </p:txBody>
      </p:sp>
      <p:sp>
        <p:nvSpPr>
          <p:cNvPr id="64" name="Shape 61"/>
          <p:cNvSpPr/>
          <p:nvPr/>
        </p:nvSpPr>
        <p:spPr>
          <a:xfrm>
            <a:off x="9233154" y="2490216"/>
            <a:ext cx="256032" cy="256032"/>
          </a:xfrm>
          <a:prstGeom prst="ellipse">
            <a:avLst/>
          </a:prstGeom>
          <a:solidFill>
            <a:srgbClr val="C9CED6"/>
          </a:solidFill>
          <a:ln w="12700">
            <a:solidFill>
              <a:srgbClr val="C9CED6"/>
            </a:solidFill>
            <a:prstDash val="solid"/>
          </a:ln>
        </p:spPr>
      </p:sp>
      <p:sp>
        <p:nvSpPr>
          <p:cNvPr id="65" name="Text 62"/>
          <p:cNvSpPr txBox="1"/>
          <p:nvPr/>
        </p:nvSpPr>
        <p:spPr>
          <a:xfrm>
            <a:off x="923315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562338" y="2432304"/>
            <a:ext cx="2023110" cy="371856"/>
          </a:xfrm>
          <a:prstGeom prst="rect">
            <a:avLst/>
          </a:prstGeom>
          <a:noFill/>
          <a:ln/>
        </p:spPr>
        <p:txBody>
          <a:bodyPr wrap="square" lIns="0" tIns="0" rIns="0" bIns="0" rtlCol="0" anchor="ctr"/>
          <a:lstStyle/>
          <a:p>
            <a:pPr algn="l" indent="0" marL="0">
              <a:buNone/>
            </a:pPr>
            <a:r>
              <a:rPr lang="en-US" sz="1200" dirty="0">
                <a:solidFill>
                  <a:srgbClr val="9AA1AB"/>
                </a:solidFill>
                <a:latin typeface="Calibri" pitchFamily="34" charset="0"/>
                <a:cs typeface="Amiri" pitchFamily="2" charset="-78"/>
              </a:rPr>
              <a:t>She buys expensive clothes.</a:t>
            </a:r>
            <a:endParaRPr lang="en-US" sz="1200" dirty="0"/>
          </a:p>
        </p:txBody>
      </p:sp>
      <p:sp>
        <p:nvSpPr>
          <p:cNvPr id="67" name="Shape 64"/>
          <p:cNvSpPr/>
          <p:nvPr/>
        </p:nvSpPr>
        <p:spPr>
          <a:xfrm>
            <a:off x="9233154" y="2862072"/>
            <a:ext cx="256032" cy="256032"/>
          </a:xfrm>
          <a:prstGeom prst="ellipse">
            <a:avLst/>
          </a:prstGeom>
          <a:solidFill>
            <a:srgbClr val="C9CED6"/>
          </a:solidFill>
          <a:ln w="12700">
            <a:solidFill>
              <a:srgbClr val="C9CED6"/>
            </a:solidFill>
            <a:prstDash val="solid"/>
          </a:ln>
        </p:spPr>
      </p:sp>
      <p:sp>
        <p:nvSpPr>
          <p:cNvPr id="68" name="Text 65"/>
          <p:cNvSpPr txBox="1"/>
          <p:nvPr/>
        </p:nvSpPr>
        <p:spPr>
          <a:xfrm>
            <a:off x="923315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9" name="Text 66"/>
          <p:cNvSpPr txBox="1"/>
          <p:nvPr/>
        </p:nvSpPr>
        <p:spPr>
          <a:xfrm>
            <a:off x="9562338"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She has long hair.</a:t>
            </a:r>
            <a:endParaRPr lang="en-US" sz="1250" dirty="0"/>
          </a:p>
        </p:txBody>
      </p:sp>
      <p:sp>
        <p:nvSpPr>
          <p:cNvPr id="70" name="Shape 67"/>
          <p:cNvSpPr/>
          <p:nvPr/>
        </p:nvSpPr>
        <p:spPr>
          <a:xfrm>
            <a:off x="9141714" y="3197352"/>
            <a:ext cx="2498598"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9233154" y="3233928"/>
            <a:ext cx="256032" cy="256032"/>
          </a:xfrm>
          <a:prstGeom prst="ellipse">
            <a:avLst/>
          </a:prstGeom>
          <a:solidFill>
            <a:srgbClr val="2E8B57"/>
          </a:solidFill>
          <a:ln w="12700">
            <a:solidFill>
              <a:srgbClr val="2E8B57"/>
            </a:solidFill>
            <a:prstDash val="solid"/>
          </a:ln>
        </p:spPr>
      </p:sp>
      <p:sp>
        <p:nvSpPr>
          <p:cNvPr id="72" name="Text 69"/>
          <p:cNvSpPr txBox="1"/>
          <p:nvPr/>
        </p:nvSpPr>
        <p:spPr>
          <a:xfrm>
            <a:off x="923315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3" name="Text 70"/>
          <p:cNvSpPr txBox="1"/>
          <p:nvPr/>
        </p:nvSpPr>
        <p:spPr>
          <a:xfrm>
            <a:off x="9562338" y="3176016"/>
            <a:ext cx="2023110"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She explains work to new students.</a:t>
            </a:r>
            <a:endParaRPr lang="en-US" sz="1150" dirty="0"/>
          </a:p>
        </p:txBody>
      </p:sp>
      <p:sp>
        <p:nvSpPr>
          <p:cNvPr id="74" name="Text 71"/>
          <p:cNvSpPr txBox="1"/>
          <p:nvPr/>
        </p:nvSpPr>
        <p:spPr>
          <a:xfrm>
            <a:off x="9178290" y="3566160"/>
            <a:ext cx="2425446"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action supports the quality.</a:t>
            </a:r>
            <a:endParaRPr lang="en-US" sz="1050" dirty="0"/>
          </a:p>
        </p:txBody>
      </p:sp>
      <p:sp>
        <p:nvSpPr>
          <p:cNvPr id="75" name="Shape 72"/>
          <p:cNvSpPr/>
          <p:nvPr/>
        </p:nvSpPr>
        <p:spPr>
          <a:xfrm>
            <a:off x="457200"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585216"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950976"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does the speaker’s style differ?</a:t>
            </a:r>
            <a:endParaRPr lang="en-US" sz="1250" dirty="0"/>
          </a:p>
        </p:txBody>
      </p:sp>
      <p:sp>
        <p:nvSpPr>
          <p:cNvPr id="79" name="Shape 76"/>
          <p:cNvSpPr/>
          <p:nvPr/>
        </p:nvSpPr>
        <p:spPr>
          <a:xfrm>
            <a:off x="548640" y="4794504"/>
            <a:ext cx="2498598"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640080"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2" name="Text 79"/>
          <p:cNvSpPr txBox="1"/>
          <p:nvPr/>
        </p:nvSpPr>
        <p:spPr>
          <a:xfrm>
            <a:off x="969264" y="4773168"/>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It is more colourful.</a:t>
            </a:r>
            <a:endParaRPr lang="en-US" sz="1250" dirty="0"/>
          </a:p>
        </p:txBody>
      </p:sp>
      <p:sp>
        <p:nvSpPr>
          <p:cNvPr id="83" name="Shape 80"/>
          <p:cNvSpPr/>
          <p:nvPr/>
        </p:nvSpPr>
        <p:spPr>
          <a:xfrm>
            <a:off x="640080"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5" name="Text 82"/>
          <p:cNvSpPr txBox="1"/>
          <p:nvPr/>
        </p:nvSpPr>
        <p:spPr>
          <a:xfrm>
            <a:off x="969264" y="514502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It is more formal.</a:t>
            </a:r>
            <a:endParaRPr lang="en-US" sz="1250" dirty="0"/>
          </a:p>
        </p:txBody>
      </p:sp>
      <p:sp>
        <p:nvSpPr>
          <p:cNvPr id="86" name="Shape 83"/>
          <p:cNvSpPr/>
          <p:nvPr/>
        </p:nvSpPr>
        <p:spPr>
          <a:xfrm>
            <a:off x="640080"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969264" y="551688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It is identical.</a:t>
            </a:r>
            <a:endParaRPr lang="en-US" sz="1250" dirty="0"/>
          </a:p>
        </p:txBody>
      </p:sp>
      <p:sp>
        <p:nvSpPr>
          <p:cNvPr id="89" name="Text 86"/>
          <p:cNvSpPr txBox="1"/>
          <p:nvPr/>
        </p:nvSpPr>
        <p:spPr>
          <a:xfrm>
            <a:off x="585216" y="5907024"/>
            <a:ext cx="2425446"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speaker prefers more colourful clothes.</a:t>
            </a:r>
            <a:endParaRPr lang="en-US" sz="1050" dirty="0"/>
          </a:p>
        </p:txBody>
      </p:sp>
      <p:sp>
        <p:nvSpPr>
          <p:cNvPr id="90" name="Shape 87"/>
          <p:cNvSpPr/>
          <p:nvPr/>
        </p:nvSpPr>
        <p:spPr>
          <a:xfrm>
            <a:off x="3321558"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1" name="Shape 88"/>
          <p:cNvSpPr/>
          <p:nvPr/>
        </p:nvSpPr>
        <p:spPr>
          <a:xfrm>
            <a:off x="3449574" y="4288536"/>
            <a:ext cx="310896" cy="310896"/>
          </a:xfrm>
          <a:prstGeom prst="ellipse">
            <a:avLst/>
          </a:prstGeom>
          <a:solidFill>
            <a:srgbClr val="1B3B6F"/>
          </a:solidFill>
          <a:ln w="12700">
            <a:solidFill>
              <a:srgbClr val="1B3B6F"/>
            </a:solidFill>
            <a:prstDash val="solid"/>
          </a:ln>
        </p:spPr>
      </p:sp>
      <p:sp>
        <p:nvSpPr>
          <p:cNvPr id="92" name="Text 89"/>
          <p:cNvSpPr txBox="1"/>
          <p:nvPr/>
        </p:nvSpPr>
        <p:spPr>
          <a:xfrm>
            <a:off x="344957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93" name="Text 90"/>
          <p:cNvSpPr txBox="1"/>
          <p:nvPr/>
        </p:nvSpPr>
        <p:spPr>
          <a:xfrm>
            <a:off x="3815334"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conclusion is given?</a:t>
            </a:r>
            <a:endParaRPr lang="en-US" sz="1250" dirty="0"/>
          </a:p>
        </p:txBody>
      </p:sp>
      <p:sp>
        <p:nvSpPr>
          <p:cNvPr id="94" name="Shape 91"/>
          <p:cNvSpPr/>
          <p:nvPr/>
        </p:nvSpPr>
        <p:spPr>
          <a:xfrm>
            <a:off x="3504438" y="4831080"/>
            <a:ext cx="256032" cy="256032"/>
          </a:xfrm>
          <a:prstGeom prst="ellipse">
            <a:avLst/>
          </a:prstGeom>
          <a:solidFill>
            <a:srgbClr val="C9CED6"/>
          </a:solidFill>
          <a:ln w="12700">
            <a:solidFill>
              <a:srgbClr val="C9CED6"/>
            </a:solidFill>
            <a:prstDash val="solid"/>
          </a:ln>
        </p:spPr>
      </p:sp>
      <p:sp>
        <p:nvSpPr>
          <p:cNvPr id="95" name="Text 92"/>
          <p:cNvSpPr txBox="1"/>
          <p:nvPr/>
        </p:nvSpPr>
        <p:spPr>
          <a:xfrm>
            <a:off x="3504438"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96" name="Text 93"/>
          <p:cNvSpPr txBox="1"/>
          <p:nvPr/>
        </p:nvSpPr>
        <p:spPr>
          <a:xfrm>
            <a:off x="3833622" y="4773168"/>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Fashion is always bad.</a:t>
            </a:r>
            <a:endParaRPr lang="en-US" sz="1250" dirty="0"/>
          </a:p>
        </p:txBody>
      </p:sp>
      <p:sp>
        <p:nvSpPr>
          <p:cNvPr id="97" name="Shape 94"/>
          <p:cNvSpPr/>
          <p:nvPr/>
        </p:nvSpPr>
        <p:spPr>
          <a:xfrm>
            <a:off x="3412998" y="5166360"/>
            <a:ext cx="2498598" cy="347472"/>
          </a:xfrm>
          <a:prstGeom prst="roundRect">
            <a:avLst>
              <a:gd name="adj" fmla="val 15789"/>
            </a:avLst>
          </a:prstGeom>
          <a:solidFill>
            <a:srgbClr val="E6F4EC"/>
          </a:solidFill>
          <a:ln w="9525">
            <a:solidFill>
              <a:srgbClr val="2E8B57"/>
            </a:solidFill>
            <a:prstDash val="solid"/>
          </a:ln>
        </p:spPr>
      </p:sp>
      <p:sp>
        <p:nvSpPr>
          <p:cNvPr id="98" name="Shape 95"/>
          <p:cNvSpPr/>
          <p:nvPr/>
        </p:nvSpPr>
        <p:spPr>
          <a:xfrm>
            <a:off x="3504438" y="5202936"/>
            <a:ext cx="256032" cy="256032"/>
          </a:xfrm>
          <a:prstGeom prst="ellipse">
            <a:avLst/>
          </a:prstGeom>
          <a:solidFill>
            <a:srgbClr val="2E8B57"/>
          </a:solidFill>
          <a:ln w="12700">
            <a:solidFill>
              <a:srgbClr val="2E8B57"/>
            </a:solidFill>
            <a:prstDash val="solid"/>
          </a:ln>
        </p:spPr>
      </p:sp>
      <p:sp>
        <p:nvSpPr>
          <p:cNvPr id="99" name="Text 96"/>
          <p:cNvSpPr txBox="1"/>
          <p:nvPr/>
        </p:nvSpPr>
        <p:spPr>
          <a:xfrm>
            <a:off x="3504438"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100" name="Text 97"/>
          <p:cNvSpPr txBox="1"/>
          <p:nvPr/>
        </p:nvSpPr>
        <p:spPr>
          <a:xfrm>
            <a:off x="3833622" y="5145024"/>
            <a:ext cx="2023110"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Different styles can suit different personalities.</a:t>
            </a:r>
            <a:endParaRPr lang="en-US" sz="1150" dirty="0"/>
          </a:p>
        </p:txBody>
      </p:sp>
      <p:sp>
        <p:nvSpPr>
          <p:cNvPr id="101" name="Shape 98"/>
          <p:cNvSpPr/>
          <p:nvPr/>
        </p:nvSpPr>
        <p:spPr>
          <a:xfrm>
            <a:off x="3504438" y="5574792"/>
            <a:ext cx="256032" cy="256032"/>
          </a:xfrm>
          <a:prstGeom prst="ellipse">
            <a:avLst/>
          </a:prstGeom>
          <a:solidFill>
            <a:srgbClr val="C9CED6"/>
          </a:solidFill>
          <a:ln w="12700">
            <a:solidFill>
              <a:srgbClr val="C9CED6"/>
            </a:solidFill>
            <a:prstDash val="solid"/>
          </a:ln>
        </p:spPr>
      </p:sp>
      <p:sp>
        <p:nvSpPr>
          <p:cNvPr id="102" name="Text 99"/>
          <p:cNvSpPr txBox="1"/>
          <p:nvPr/>
        </p:nvSpPr>
        <p:spPr>
          <a:xfrm>
            <a:off x="3504438"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103" name="Text 100"/>
          <p:cNvSpPr txBox="1"/>
          <p:nvPr/>
        </p:nvSpPr>
        <p:spPr>
          <a:xfrm>
            <a:off x="3833622" y="551688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Friends must dress alike.</a:t>
            </a:r>
            <a:endParaRPr lang="en-US" sz="1250" dirty="0"/>
          </a:p>
        </p:txBody>
      </p:sp>
      <p:sp>
        <p:nvSpPr>
          <p:cNvPr id="104" name="Text 101"/>
          <p:cNvSpPr txBox="1"/>
          <p:nvPr/>
        </p:nvSpPr>
        <p:spPr>
          <a:xfrm>
            <a:off x="3449574" y="5907024"/>
            <a:ext cx="2425446"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conclusion values individual suitability.</a:t>
            </a:r>
            <a:endParaRPr lang="en-US" sz="1050" dirty="0"/>
          </a:p>
        </p:txBody>
      </p:sp>
      <p:sp>
        <p:nvSpPr>
          <p:cNvPr id="105" name="Shape 102"/>
          <p:cNvSpPr/>
          <p:nvPr/>
        </p:nvSpPr>
        <p:spPr>
          <a:xfrm>
            <a:off x="6185916" y="4151376"/>
            <a:ext cx="2681478" cy="2157984"/>
          </a:xfrm>
          <a:prstGeom prst="roundRect">
            <a:avLst>
              <a:gd name="adj" fmla="val 3390"/>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06" name="Text 103"/>
          <p:cNvSpPr txBox="1"/>
          <p:nvPr/>
        </p:nvSpPr>
        <p:spPr>
          <a:xfrm>
            <a:off x="6368796" y="4279392"/>
            <a:ext cx="2315718"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TWO PEOPLE</a:t>
            </a:r>
            <a:endParaRPr lang="en-US" sz="1000" dirty="0"/>
          </a:p>
        </p:txBody>
      </p:sp>
      <p:sp>
        <p:nvSpPr>
          <p:cNvPr id="107" name="Text 104"/>
          <p:cNvSpPr txBox="1"/>
          <p:nvPr/>
        </p:nvSpPr>
        <p:spPr>
          <a:xfrm>
            <a:off x="6368796" y="4590288"/>
            <a:ext cx="2315718"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Huda speaks about Salma.</a:t>
            </a:r>
            <a:endParaRPr lang="en-US" sz="1250" dirty="0"/>
          </a:p>
          <a:p>
            <a:pPr algn="l" indent="0" marL="0">
              <a:buNone/>
            </a:pPr>
            <a:r>
              <a:rPr lang="en-US" sz="1250" dirty="0">
                <a:solidFill>
                  <a:srgbClr val="1F2A37"/>
                </a:solidFill>
                <a:latin typeface="Calibri" pitchFamily="34" charset="0"/>
                <a:cs typeface="Amiri" pitchFamily="2" charset="-78"/>
              </a:rPr>
              <a:t>Chat: 1_ 2_ 3_ 4_ 5_ 6_</a:t>
            </a:r>
            <a:endParaRPr lang="en-US" sz="1250" dirty="0"/>
          </a:p>
        </p:txBody>
      </p:sp>
      <p:sp>
        <p:nvSpPr>
          <p:cNvPr id="108" name="Text 10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24</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D2-L12 · D2 Assessment</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LISTENING · TEXT 2 · HEARD TWICE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Text 2 · Buying a coat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الاِسْتِمَاعُ (٢)</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D2-L12</a:t>
            </a:r>
            <a:endParaRPr lang="en-US" sz="850" dirty="0"/>
          </a:p>
        </p:txBody>
      </p:sp>
      <p:sp>
        <p:nvSpPr>
          <p:cNvPr id="15" name="Shape 12"/>
          <p:cNvSpPr/>
          <p:nvPr/>
        </p:nvSpPr>
        <p:spPr>
          <a:xfrm>
            <a:off x="457200"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item is the customer looking for?</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bag</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coat</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shoes</a:t>
            </a:r>
            <a:endParaRPr lang="en-US" sz="1250" dirty="0"/>
          </a:p>
        </p:txBody>
      </p:sp>
      <p:sp>
        <p:nvSpPr>
          <p:cNvPr id="28" name="Shape 25"/>
          <p:cNvSpPr/>
          <p:nvPr/>
        </p:nvSpPr>
        <p:spPr>
          <a:xfrm>
            <a:off x="3321558"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3449574"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344957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3815334"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problem is there with the first item?</a:t>
            </a:r>
            <a:endParaRPr lang="en-US" sz="1250" dirty="0"/>
          </a:p>
        </p:txBody>
      </p:sp>
      <p:sp>
        <p:nvSpPr>
          <p:cNvPr id="32" name="Shape 29"/>
          <p:cNvSpPr/>
          <p:nvPr/>
        </p:nvSpPr>
        <p:spPr>
          <a:xfrm>
            <a:off x="3504438"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350443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3833622"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is too cheap.</a:t>
            </a:r>
            <a:endParaRPr lang="en-US" sz="1250" dirty="0"/>
          </a:p>
        </p:txBody>
      </p:sp>
      <p:sp>
        <p:nvSpPr>
          <p:cNvPr id="35" name="Shape 32"/>
          <p:cNvSpPr/>
          <p:nvPr/>
        </p:nvSpPr>
        <p:spPr>
          <a:xfrm>
            <a:off x="3504438"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350443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3833622"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is too tight.</a:t>
            </a:r>
            <a:endParaRPr lang="en-US" sz="1250" dirty="0"/>
          </a:p>
        </p:txBody>
      </p:sp>
      <p:sp>
        <p:nvSpPr>
          <p:cNvPr id="38" name="Shape 35"/>
          <p:cNvSpPr/>
          <p:nvPr/>
        </p:nvSpPr>
        <p:spPr>
          <a:xfrm>
            <a:off x="3504438"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350443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3833622"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is the wrong colour only.</a:t>
            </a:r>
            <a:endParaRPr lang="en-US" sz="1250" dirty="0"/>
          </a:p>
        </p:txBody>
      </p:sp>
      <p:sp>
        <p:nvSpPr>
          <p:cNvPr id="41" name="Shape 38"/>
          <p:cNvSpPr/>
          <p:nvPr/>
        </p:nvSpPr>
        <p:spPr>
          <a:xfrm>
            <a:off x="6185916"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313932"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6679692"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the assistant bring?</a:t>
            </a:r>
            <a:endParaRPr lang="en-US" sz="1250" dirty="0"/>
          </a:p>
        </p:txBody>
      </p:sp>
      <p:sp>
        <p:nvSpPr>
          <p:cNvPr id="45" name="Shape 42"/>
          <p:cNvSpPr/>
          <p:nvPr/>
        </p:nvSpPr>
        <p:spPr>
          <a:xfrm>
            <a:off x="6368796"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6697980"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smaller size</a:t>
            </a:r>
            <a:endParaRPr lang="en-US" sz="1250" dirty="0"/>
          </a:p>
        </p:txBody>
      </p:sp>
      <p:sp>
        <p:nvSpPr>
          <p:cNvPr id="48" name="Shape 45"/>
          <p:cNvSpPr/>
          <p:nvPr/>
        </p:nvSpPr>
        <p:spPr>
          <a:xfrm>
            <a:off x="6368796"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6697980"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different bag</a:t>
            </a:r>
            <a:endParaRPr lang="en-US" sz="1250" dirty="0"/>
          </a:p>
        </p:txBody>
      </p:sp>
      <p:sp>
        <p:nvSpPr>
          <p:cNvPr id="51" name="Shape 48"/>
          <p:cNvSpPr/>
          <p:nvPr/>
        </p:nvSpPr>
        <p:spPr>
          <a:xfrm>
            <a:off x="6368796"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6697980"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larger size</a:t>
            </a:r>
            <a:endParaRPr lang="en-US" sz="1250" dirty="0"/>
          </a:p>
        </p:txBody>
      </p:sp>
      <p:sp>
        <p:nvSpPr>
          <p:cNvPr id="54" name="Shape 51"/>
          <p:cNvSpPr/>
          <p:nvPr/>
        </p:nvSpPr>
        <p:spPr>
          <a:xfrm>
            <a:off x="9050274"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9178290" y="1947672"/>
            <a:ext cx="310896" cy="310896"/>
          </a:xfrm>
          <a:prstGeom prst="ellipse">
            <a:avLst/>
          </a:prstGeom>
          <a:solidFill>
            <a:srgbClr val="1B3B6F"/>
          </a:solidFill>
          <a:ln w="12700">
            <a:solidFill>
              <a:srgbClr val="1B3B6F"/>
            </a:solidFill>
            <a:prstDash val="solid"/>
          </a:ln>
        </p:spPr>
      </p:sp>
      <p:sp>
        <p:nvSpPr>
          <p:cNvPr id="56" name="Text 53"/>
          <p:cNvSpPr txBox="1"/>
          <p:nvPr/>
        </p:nvSpPr>
        <p:spPr>
          <a:xfrm>
            <a:off x="917829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44050"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coat is cheaper?</a:t>
            </a:r>
            <a:endParaRPr lang="en-US" sz="1250" dirty="0"/>
          </a:p>
        </p:txBody>
      </p:sp>
      <p:sp>
        <p:nvSpPr>
          <p:cNvPr id="58" name="Shape 55"/>
          <p:cNvSpPr/>
          <p:nvPr/>
        </p:nvSpPr>
        <p:spPr>
          <a:xfrm>
            <a:off x="9233154" y="2532888"/>
            <a:ext cx="256032" cy="256032"/>
          </a:xfrm>
          <a:prstGeom prst="ellipse">
            <a:avLst/>
          </a:prstGeom>
          <a:solidFill>
            <a:srgbClr val="F4F1EA"/>
          </a:solidFill>
          <a:ln w="12700">
            <a:solidFill>
              <a:srgbClr val="F4F1EA"/>
            </a:solidFill>
            <a:prstDash val="solid"/>
          </a:ln>
        </p:spPr>
      </p:sp>
      <p:sp>
        <p:nvSpPr>
          <p:cNvPr id="59" name="Text 56"/>
          <p:cNvSpPr txBox="1"/>
          <p:nvPr/>
        </p:nvSpPr>
        <p:spPr>
          <a:xfrm>
            <a:off x="923315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562338"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blue coat</a:t>
            </a:r>
            <a:endParaRPr lang="en-US" sz="1250" dirty="0"/>
          </a:p>
        </p:txBody>
      </p:sp>
      <p:sp>
        <p:nvSpPr>
          <p:cNvPr id="61" name="Shape 58"/>
          <p:cNvSpPr/>
          <p:nvPr/>
        </p:nvSpPr>
        <p:spPr>
          <a:xfrm>
            <a:off x="9233154" y="2990088"/>
            <a:ext cx="256032" cy="256032"/>
          </a:xfrm>
          <a:prstGeom prst="ellipse">
            <a:avLst/>
          </a:prstGeom>
          <a:solidFill>
            <a:srgbClr val="F4F1EA"/>
          </a:solidFill>
          <a:ln w="12700">
            <a:solidFill>
              <a:srgbClr val="F4F1EA"/>
            </a:solidFill>
            <a:prstDash val="solid"/>
          </a:ln>
        </p:spPr>
      </p:sp>
      <p:sp>
        <p:nvSpPr>
          <p:cNvPr id="62" name="Text 59"/>
          <p:cNvSpPr txBox="1"/>
          <p:nvPr/>
        </p:nvSpPr>
        <p:spPr>
          <a:xfrm>
            <a:off x="923315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562338"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black coat</a:t>
            </a:r>
            <a:endParaRPr lang="en-US" sz="1250" dirty="0"/>
          </a:p>
        </p:txBody>
      </p:sp>
      <p:sp>
        <p:nvSpPr>
          <p:cNvPr id="64" name="Shape 61"/>
          <p:cNvSpPr/>
          <p:nvPr/>
        </p:nvSpPr>
        <p:spPr>
          <a:xfrm>
            <a:off x="9233154" y="3447288"/>
            <a:ext cx="256032" cy="256032"/>
          </a:xfrm>
          <a:prstGeom prst="ellipse">
            <a:avLst/>
          </a:prstGeom>
          <a:solidFill>
            <a:srgbClr val="F4F1EA"/>
          </a:solidFill>
          <a:ln w="12700">
            <a:solidFill>
              <a:srgbClr val="F4F1EA"/>
            </a:solidFill>
            <a:prstDash val="solid"/>
          </a:ln>
        </p:spPr>
      </p:sp>
      <p:sp>
        <p:nvSpPr>
          <p:cNvPr id="65" name="Text 62"/>
          <p:cNvSpPr txBox="1"/>
          <p:nvPr/>
        </p:nvSpPr>
        <p:spPr>
          <a:xfrm>
            <a:off x="923315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562338"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they cost the same</a:t>
            </a:r>
            <a:endParaRPr lang="en-US" sz="1250" dirty="0"/>
          </a:p>
        </p:txBody>
      </p:sp>
      <p:sp>
        <p:nvSpPr>
          <p:cNvPr id="67" name="Shape 64"/>
          <p:cNvSpPr/>
          <p:nvPr/>
        </p:nvSpPr>
        <p:spPr>
          <a:xfrm>
            <a:off x="457200"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585216"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950976"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does the customer choose black?</a:t>
            </a:r>
            <a:endParaRPr lang="en-US" sz="1250" dirty="0"/>
          </a:p>
        </p:txBody>
      </p:sp>
      <p:sp>
        <p:nvSpPr>
          <p:cNvPr id="71" name="Shape 68"/>
          <p:cNvSpPr/>
          <p:nvPr/>
        </p:nvSpPr>
        <p:spPr>
          <a:xfrm>
            <a:off x="640080"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969264" y="47731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is the cheapest.</a:t>
            </a:r>
            <a:endParaRPr lang="en-US" sz="1250" dirty="0"/>
          </a:p>
        </p:txBody>
      </p:sp>
      <p:sp>
        <p:nvSpPr>
          <p:cNvPr id="74" name="Shape 71"/>
          <p:cNvSpPr/>
          <p:nvPr/>
        </p:nvSpPr>
        <p:spPr>
          <a:xfrm>
            <a:off x="640080"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969264" y="52303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is more elegant and suitable.</a:t>
            </a:r>
            <a:endParaRPr lang="en-US" sz="1250" dirty="0"/>
          </a:p>
        </p:txBody>
      </p:sp>
      <p:sp>
        <p:nvSpPr>
          <p:cNvPr id="77" name="Shape 74"/>
          <p:cNvSpPr/>
          <p:nvPr/>
        </p:nvSpPr>
        <p:spPr>
          <a:xfrm>
            <a:off x="640080"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969264" y="56875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is lighter.</a:t>
            </a:r>
            <a:endParaRPr lang="en-US" sz="1250" dirty="0"/>
          </a:p>
        </p:txBody>
      </p:sp>
      <p:sp>
        <p:nvSpPr>
          <p:cNvPr id="80" name="Shape 77"/>
          <p:cNvSpPr/>
          <p:nvPr/>
        </p:nvSpPr>
        <p:spPr>
          <a:xfrm>
            <a:off x="3321558"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1" name="Shape 78"/>
          <p:cNvSpPr/>
          <p:nvPr/>
        </p:nvSpPr>
        <p:spPr>
          <a:xfrm>
            <a:off x="3449574" y="4288536"/>
            <a:ext cx="310896" cy="310896"/>
          </a:xfrm>
          <a:prstGeom prst="ellipse">
            <a:avLst/>
          </a:prstGeom>
          <a:solidFill>
            <a:srgbClr val="1B3B6F"/>
          </a:solidFill>
          <a:ln w="12700">
            <a:solidFill>
              <a:srgbClr val="1B3B6F"/>
            </a:solidFill>
            <a:prstDash val="solid"/>
          </a:ln>
        </p:spPr>
      </p:sp>
      <p:sp>
        <p:nvSpPr>
          <p:cNvPr id="82" name="Text 79"/>
          <p:cNvSpPr txBox="1"/>
          <p:nvPr/>
        </p:nvSpPr>
        <p:spPr>
          <a:xfrm>
            <a:off x="344957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83" name="Text 80"/>
          <p:cNvSpPr txBox="1"/>
          <p:nvPr/>
        </p:nvSpPr>
        <p:spPr>
          <a:xfrm>
            <a:off x="3815334"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language function is used at the end?</a:t>
            </a:r>
            <a:endParaRPr lang="en-US" sz="1250" dirty="0"/>
          </a:p>
        </p:txBody>
      </p:sp>
      <p:sp>
        <p:nvSpPr>
          <p:cNvPr id="84" name="Shape 81"/>
          <p:cNvSpPr/>
          <p:nvPr/>
        </p:nvSpPr>
        <p:spPr>
          <a:xfrm>
            <a:off x="3504438" y="4873752"/>
            <a:ext cx="256032" cy="256032"/>
          </a:xfrm>
          <a:prstGeom prst="ellipse">
            <a:avLst/>
          </a:prstGeom>
          <a:solidFill>
            <a:srgbClr val="F4F1EA"/>
          </a:solidFill>
          <a:ln w="12700">
            <a:solidFill>
              <a:srgbClr val="F4F1EA"/>
            </a:solidFill>
            <a:prstDash val="solid"/>
          </a:ln>
        </p:spPr>
      </p:sp>
      <p:sp>
        <p:nvSpPr>
          <p:cNvPr id="85" name="Text 82"/>
          <p:cNvSpPr txBox="1"/>
          <p:nvPr/>
        </p:nvSpPr>
        <p:spPr>
          <a:xfrm>
            <a:off x="3504438"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6" name="Text 83"/>
          <p:cNvSpPr txBox="1"/>
          <p:nvPr/>
        </p:nvSpPr>
        <p:spPr>
          <a:xfrm>
            <a:off x="3833622" y="47731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polite purchase decision</a:t>
            </a:r>
            <a:endParaRPr lang="en-US" sz="1250" dirty="0"/>
          </a:p>
        </p:txBody>
      </p:sp>
      <p:sp>
        <p:nvSpPr>
          <p:cNvPr id="87" name="Shape 84"/>
          <p:cNvSpPr/>
          <p:nvPr/>
        </p:nvSpPr>
        <p:spPr>
          <a:xfrm>
            <a:off x="3504438" y="5330952"/>
            <a:ext cx="256032" cy="256032"/>
          </a:xfrm>
          <a:prstGeom prst="ellipse">
            <a:avLst/>
          </a:prstGeom>
          <a:solidFill>
            <a:srgbClr val="F4F1EA"/>
          </a:solidFill>
          <a:ln w="12700">
            <a:solidFill>
              <a:srgbClr val="F4F1EA"/>
            </a:solidFill>
            <a:prstDash val="solid"/>
          </a:ln>
        </p:spPr>
      </p:sp>
      <p:sp>
        <p:nvSpPr>
          <p:cNvPr id="88" name="Text 85"/>
          <p:cNvSpPr txBox="1"/>
          <p:nvPr/>
        </p:nvSpPr>
        <p:spPr>
          <a:xfrm>
            <a:off x="3504438"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9" name="Text 86"/>
          <p:cNvSpPr txBox="1"/>
          <p:nvPr/>
        </p:nvSpPr>
        <p:spPr>
          <a:xfrm>
            <a:off x="3833622" y="52303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asking directions</a:t>
            </a:r>
            <a:endParaRPr lang="en-US" sz="1250" dirty="0"/>
          </a:p>
        </p:txBody>
      </p:sp>
      <p:sp>
        <p:nvSpPr>
          <p:cNvPr id="90" name="Shape 87"/>
          <p:cNvSpPr/>
          <p:nvPr/>
        </p:nvSpPr>
        <p:spPr>
          <a:xfrm>
            <a:off x="3504438" y="5788152"/>
            <a:ext cx="256032" cy="256032"/>
          </a:xfrm>
          <a:prstGeom prst="ellipse">
            <a:avLst/>
          </a:prstGeom>
          <a:solidFill>
            <a:srgbClr val="F4F1EA"/>
          </a:solidFill>
          <a:ln w="12700">
            <a:solidFill>
              <a:srgbClr val="F4F1EA"/>
            </a:solidFill>
            <a:prstDash val="solid"/>
          </a:ln>
        </p:spPr>
      </p:sp>
      <p:sp>
        <p:nvSpPr>
          <p:cNvPr id="91" name="Text 88"/>
          <p:cNvSpPr txBox="1"/>
          <p:nvPr/>
        </p:nvSpPr>
        <p:spPr>
          <a:xfrm>
            <a:off x="3504438"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2" name="Text 89"/>
          <p:cNvSpPr txBox="1"/>
          <p:nvPr/>
        </p:nvSpPr>
        <p:spPr>
          <a:xfrm>
            <a:off x="3833622" y="56875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describing family</a:t>
            </a:r>
            <a:endParaRPr lang="en-US" sz="1250" dirty="0"/>
          </a:p>
        </p:txBody>
      </p:sp>
      <p:sp>
        <p:nvSpPr>
          <p:cNvPr id="93" name="Shape 90"/>
          <p:cNvSpPr/>
          <p:nvPr/>
        </p:nvSpPr>
        <p:spPr>
          <a:xfrm>
            <a:off x="6185916" y="4151376"/>
            <a:ext cx="2681478" cy="2157984"/>
          </a:xfrm>
          <a:prstGeom prst="roundRect">
            <a:avLst>
              <a:gd name="adj" fmla="val 3390"/>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94" name="Text 91"/>
          <p:cNvSpPr txBox="1"/>
          <p:nvPr/>
        </p:nvSpPr>
        <p:spPr>
          <a:xfrm>
            <a:off x="6368796" y="4279392"/>
            <a:ext cx="2315718"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IN A SHOP</a:t>
            </a:r>
            <a:endParaRPr lang="en-US" sz="1000" dirty="0"/>
          </a:p>
        </p:txBody>
      </p:sp>
      <p:sp>
        <p:nvSpPr>
          <p:cNvPr id="95" name="Text 92"/>
          <p:cNvSpPr txBox="1"/>
          <p:nvPr/>
        </p:nvSpPr>
        <p:spPr>
          <a:xfrm>
            <a:off x="6368796" y="4590288"/>
            <a:ext cx="2315718"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Listen past “however” (maʿa dhālika).</a:t>
            </a:r>
            <a:endParaRPr lang="en-US" sz="1250" dirty="0"/>
          </a:p>
          <a:p>
            <a:pPr algn="l" indent="0" marL="0">
              <a:buNone/>
            </a:pPr>
            <a:r>
              <a:rPr lang="en-US" sz="1250" dirty="0">
                <a:solidFill>
                  <a:srgbClr val="1F2A37"/>
                </a:solidFill>
                <a:latin typeface="Calibri" pitchFamily="34" charset="0"/>
                <a:cs typeface="Amiri" pitchFamily="2" charset="-78"/>
              </a:rPr>
              <a:t>Chat: 1_ 2_ 3_ 4_ 5_ 6_</a:t>
            </a:r>
            <a:endParaRPr lang="en-US" sz="1250" dirty="0"/>
          </a:p>
        </p:txBody>
      </p:sp>
      <p:sp>
        <p:nvSpPr>
          <p:cNvPr id="96" name="Text 9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24</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D2-L12 · D2 Assessment</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LISTENING · TEXT 2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Text 2 ·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D2-L12</a:t>
            </a:r>
            <a:endParaRPr lang="en-US" sz="850" dirty="0"/>
          </a:p>
        </p:txBody>
      </p:sp>
      <p:sp>
        <p:nvSpPr>
          <p:cNvPr id="15" name="Shape 12"/>
          <p:cNvSpPr/>
          <p:nvPr/>
        </p:nvSpPr>
        <p:spPr>
          <a:xfrm>
            <a:off x="457200"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item is the customer looking for?</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bag</a:t>
            </a:r>
            <a:endParaRPr lang="en-US" sz="1250" dirty="0"/>
          </a:p>
        </p:txBody>
      </p:sp>
      <p:sp>
        <p:nvSpPr>
          <p:cNvPr id="22" name="Shape 19"/>
          <p:cNvSpPr/>
          <p:nvPr/>
        </p:nvSpPr>
        <p:spPr>
          <a:xfrm>
            <a:off x="548640" y="2825496"/>
            <a:ext cx="2498598"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 coat</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shoes</a:t>
            </a:r>
            <a:endParaRPr lang="en-US" sz="1250" dirty="0"/>
          </a:p>
        </p:txBody>
      </p:sp>
      <p:sp>
        <p:nvSpPr>
          <p:cNvPr id="29" name="Text 26"/>
          <p:cNvSpPr txBox="1"/>
          <p:nvPr/>
        </p:nvSpPr>
        <p:spPr>
          <a:xfrm>
            <a:off x="585216" y="3566160"/>
            <a:ext cx="2425446"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customer asks for a coat.</a:t>
            </a:r>
            <a:endParaRPr lang="en-US" sz="1050" dirty="0"/>
          </a:p>
        </p:txBody>
      </p:sp>
      <p:sp>
        <p:nvSpPr>
          <p:cNvPr id="30" name="Shape 27"/>
          <p:cNvSpPr/>
          <p:nvPr/>
        </p:nvSpPr>
        <p:spPr>
          <a:xfrm>
            <a:off x="3321558"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3449574"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344957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3815334"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problem is there with the first item?</a:t>
            </a:r>
            <a:endParaRPr lang="en-US" sz="1250" dirty="0"/>
          </a:p>
        </p:txBody>
      </p:sp>
      <p:sp>
        <p:nvSpPr>
          <p:cNvPr id="34" name="Shape 31"/>
          <p:cNvSpPr/>
          <p:nvPr/>
        </p:nvSpPr>
        <p:spPr>
          <a:xfrm>
            <a:off x="3504438"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350443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3833622" y="243230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It is too cheap.</a:t>
            </a:r>
            <a:endParaRPr lang="en-US" sz="1250" dirty="0"/>
          </a:p>
        </p:txBody>
      </p:sp>
      <p:sp>
        <p:nvSpPr>
          <p:cNvPr id="37" name="Shape 34"/>
          <p:cNvSpPr/>
          <p:nvPr/>
        </p:nvSpPr>
        <p:spPr>
          <a:xfrm>
            <a:off x="3412998" y="2825496"/>
            <a:ext cx="2498598"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3504438" y="2862072"/>
            <a:ext cx="256032" cy="256032"/>
          </a:xfrm>
          <a:prstGeom prst="ellipse">
            <a:avLst/>
          </a:prstGeom>
          <a:solidFill>
            <a:srgbClr val="2E8B57"/>
          </a:solidFill>
          <a:ln w="12700">
            <a:solidFill>
              <a:srgbClr val="2E8B57"/>
            </a:solidFill>
            <a:prstDash val="solid"/>
          </a:ln>
        </p:spPr>
      </p:sp>
      <p:sp>
        <p:nvSpPr>
          <p:cNvPr id="39" name="Text 36"/>
          <p:cNvSpPr txBox="1"/>
          <p:nvPr/>
        </p:nvSpPr>
        <p:spPr>
          <a:xfrm>
            <a:off x="3504438"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0" name="Text 37"/>
          <p:cNvSpPr txBox="1"/>
          <p:nvPr/>
        </p:nvSpPr>
        <p:spPr>
          <a:xfrm>
            <a:off x="3833622" y="2804160"/>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It is too tight.</a:t>
            </a:r>
            <a:endParaRPr lang="en-US" sz="1250" dirty="0"/>
          </a:p>
        </p:txBody>
      </p:sp>
      <p:sp>
        <p:nvSpPr>
          <p:cNvPr id="41" name="Shape 38"/>
          <p:cNvSpPr/>
          <p:nvPr/>
        </p:nvSpPr>
        <p:spPr>
          <a:xfrm>
            <a:off x="3504438"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350443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3833622" y="3176016"/>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It is the wrong colour only.</a:t>
            </a:r>
            <a:endParaRPr lang="en-US" sz="1250" dirty="0"/>
          </a:p>
        </p:txBody>
      </p:sp>
      <p:sp>
        <p:nvSpPr>
          <p:cNvPr id="44" name="Text 41"/>
          <p:cNvSpPr txBox="1"/>
          <p:nvPr/>
        </p:nvSpPr>
        <p:spPr>
          <a:xfrm>
            <a:off x="3449574" y="3566160"/>
            <a:ext cx="2425446"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first coat is tight.</a:t>
            </a:r>
            <a:endParaRPr lang="en-US" sz="1050" dirty="0"/>
          </a:p>
        </p:txBody>
      </p:sp>
      <p:sp>
        <p:nvSpPr>
          <p:cNvPr id="45" name="Shape 42"/>
          <p:cNvSpPr/>
          <p:nvPr/>
        </p:nvSpPr>
        <p:spPr>
          <a:xfrm>
            <a:off x="6185916"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6313932"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6679692"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the assistant bring?</a:t>
            </a:r>
            <a:endParaRPr lang="en-US" sz="1250" dirty="0"/>
          </a:p>
        </p:txBody>
      </p:sp>
      <p:sp>
        <p:nvSpPr>
          <p:cNvPr id="49" name="Shape 46"/>
          <p:cNvSpPr/>
          <p:nvPr/>
        </p:nvSpPr>
        <p:spPr>
          <a:xfrm>
            <a:off x="6368796"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6697980" y="243230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smaller size</a:t>
            </a:r>
            <a:endParaRPr lang="en-US" sz="1250" dirty="0"/>
          </a:p>
        </p:txBody>
      </p:sp>
      <p:sp>
        <p:nvSpPr>
          <p:cNvPr id="52" name="Shape 49"/>
          <p:cNvSpPr/>
          <p:nvPr/>
        </p:nvSpPr>
        <p:spPr>
          <a:xfrm>
            <a:off x="6368796"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6697980"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different bag</a:t>
            </a:r>
            <a:endParaRPr lang="en-US" sz="1250" dirty="0"/>
          </a:p>
        </p:txBody>
      </p:sp>
      <p:sp>
        <p:nvSpPr>
          <p:cNvPr id="55" name="Shape 52"/>
          <p:cNvSpPr/>
          <p:nvPr/>
        </p:nvSpPr>
        <p:spPr>
          <a:xfrm>
            <a:off x="6277356" y="3197352"/>
            <a:ext cx="2498598"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6368796"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6697980" y="3176016"/>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 larger size</a:t>
            </a:r>
            <a:endParaRPr lang="en-US" sz="1250" dirty="0"/>
          </a:p>
        </p:txBody>
      </p:sp>
      <p:sp>
        <p:nvSpPr>
          <p:cNvPr id="59" name="Text 56"/>
          <p:cNvSpPr txBox="1"/>
          <p:nvPr/>
        </p:nvSpPr>
        <p:spPr>
          <a:xfrm>
            <a:off x="6313932" y="3566160"/>
            <a:ext cx="2425446"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 larger size is brought.</a:t>
            </a:r>
            <a:endParaRPr lang="en-US" sz="1050" dirty="0"/>
          </a:p>
        </p:txBody>
      </p:sp>
      <p:sp>
        <p:nvSpPr>
          <p:cNvPr id="60" name="Shape 57"/>
          <p:cNvSpPr/>
          <p:nvPr/>
        </p:nvSpPr>
        <p:spPr>
          <a:xfrm>
            <a:off x="9050274"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9178290" y="1947672"/>
            <a:ext cx="310896" cy="310896"/>
          </a:xfrm>
          <a:prstGeom prst="ellipse">
            <a:avLst/>
          </a:prstGeom>
          <a:solidFill>
            <a:srgbClr val="1B3B6F"/>
          </a:solidFill>
          <a:ln w="12700">
            <a:solidFill>
              <a:srgbClr val="1B3B6F"/>
            </a:solidFill>
            <a:prstDash val="solid"/>
          </a:ln>
        </p:spPr>
      </p:sp>
      <p:sp>
        <p:nvSpPr>
          <p:cNvPr id="62" name="Text 59"/>
          <p:cNvSpPr txBox="1"/>
          <p:nvPr/>
        </p:nvSpPr>
        <p:spPr>
          <a:xfrm>
            <a:off x="917829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44050"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coat is cheaper?</a:t>
            </a:r>
            <a:endParaRPr lang="en-US" sz="1250" dirty="0"/>
          </a:p>
        </p:txBody>
      </p:sp>
      <p:sp>
        <p:nvSpPr>
          <p:cNvPr id="64" name="Shape 61"/>
          <p:cNvSpPr/>
          <p:nvPr/>
        </p:nvSpPr>
        <p:spPr>
          <a:xfrm>
            <a:off x="9141714" y="2453640"/>
            <a:ext cx="2498598"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9233154" y="2490216"/>
            <a:ext cx="256032" cy="256032"/>
          </a:xfrm>
          <a:prstGeom prst="ellipse">
            <a:avLst/>
          </a:prstGeom>
          <a:solidFill>
            <a:srgbClr val="2E8B57"/>
          </a:solidFill>
          <a:ln w="12700">
            <a:solidFill>
              <a:srgbClr val="2E8B57"/>
            </a:solidFill>
            <a:prstDash val="solid"/>
          </a:ln>
        </p:spPr>
      </p:sp>
      <p:sp>
        <p:nvSpPr>
          <p:cNvPr id="66" name="Text 63"/>
          <p:cNvSpPr txBox="1"/>
          <p:nvPr/>
        </p:nvSpPr>
        <p:spPr>
          <a:xfrm>
            <a:off x="923315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9562338" y="2432304"/>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the blue coat</a:t>
            </a:r>
            <a:endParaRPr lang="en-US" sz="1250" dirty="0"/>
          </a:p>
        </p:txBody>
      </p:sp>
      <p:sp>
        <p:nvSpPr>
          <p:cNvPr id="68" name="Shape 65"/>
          <p:cNvSpPr/>
          <p:nvPr/>
        </p:nvSpPr>
        <p:spPr>
          <a:xfrm>
            <a:off x="9233154" y="2862072"/>
            <a:ext cx="256032" cy="256032"/>
          </a:xfrm>
          <a:prstGeom prst="ellipse">
            <a:avLst/>
          </a:prstGeom>
          <a:solidFill>
            <a:srgbClr val="C9CED6"/>
          </a:solidFill>
          <a:ln w="12700">
            <a:solidFill>
              <a:srgbClr val="C9CED6"/>
            </a:solidFill>
            <a:prstDash val="solid"/>
          </a:ln>
        </p:spPr>
      </p:sp>
      <p:sp>
        <p:nvSpPr>
          <p:cNvPr id="69" name="Text 66"/>
          <p:cNvSpPr txBox="1"/>
          <p:nvPr/>
        </p:nvSpPr>
        <p:spPr>
          <a:xfrm>
            <a:off x="923315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9562338"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black coat</a:t>
            </a:r>
            <a:endParaRPr lang="en-US" sz="1250" dirty="0"/>
          </a:p>
        </p:txBody>
      </p:sp>
      <p:sp>
        <p:nvSpPr>
          <p:cNvPr id="71" name="Shape 68"/>
          <p:cNvSpPr/>
          <p:nvPr/>
        </p:nvSpPr>
        <p:spPr>
          <a:xfrm>
            <a:off x="9233154" y="3233928"/>
            <a:ext cx="256032" cy="256032"/>
          </a:xfrm>
          <a:prstGeom prst="ellipse">
            <a:avLst/>
          </a:prstGeom>
          <a:solidFill>
            <a:srgbClr val="C9CED6"/>
          </a:solidFill>
          <a:ln w="12700">
            <a:solidFill>
              <a:srgbClr val="C9CED6"/>
            </a:solidFill>
            <a:prstDash val="solid"/>
          </a:ln>
        </p:spPr>
      </p:sp>
      <p:sp>
        <p:nvSpPr>
          <p:cNvPr id="72" name="Text 69"/>
          <p:cNvSpPr txBox="1"/>
          <p:nvPr/>
        </p:nvSpPr>
        <p:spPr>
          <a:xfrm>
            <a:off x="923315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562338" y="3176016"/>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they cost the same</a:t>
            </a:r>
            <a:endParaRPr lang="en-US" sz="1250" dirty="0"/>
          </a:p>
        </p:txBody>
      </p:sp>
      <p:sp>
        <p:nvSpPr>
          <p:cNvPr id="74" name="Text 71"/>
          <p:cNvSpPr txBox="1"/>
          <p:nvPr/>
        </p:nvSpPr>
        <p:spPr>
          <a:xfrm>
            <a:off x="9178290" y="3566160"/>
            <a:ext cx="2425446"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blue coat is cheaper.</a:t>
            </a:r>
            <a:endParaRPr lang="en-US" sz="1050" dirty="0"/>
          </a:p>
        </p:txBody>
      </p:sp>
      <p:sp>
        <p:nvSpPr>
          <p:cNvPr id="75" name="Shape 72"/>
          <p:cNvSpPr/>
          <p:nvPr/>
        </p:nvSpPr>
        <p:spPr>
          <a:xfrm>
            <a:off x="457200"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585216"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950976"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does the customer choose black?</a:t>
            </a:r>
            <a:endParaRPr lang="en-US" sz="1250" dirty="0"/>
          </a:p>
        </p:txBody>
      </p:sp>
      <p:sp>
        <p:nvSpPr>
          <p:cNvPr id="79" name="Shape 76"/>
          <p:cNvSpPr/>
          <p:nvPr/>
        </p:nvSpPr>
        <p:spPr>
          <a:xfrm>
            <a:off x="640080" y="4831080"/>
            <a:ext cx="256032" cy="256032"/>
          </a:xfrm>
          <a:prstGeom prst="ellipse">
            <a:avLst/>
          </a:prstGeom>
          <a:solidFill>
            <a:srgbClr val="C9CED6"/>
          </a:solidFill>
          <a:ln w="12700">
            <a:solidFill>
              <a:srgbClr val="C9CED6"/>
            </a:solidFill>
            <a:prstDash val="solid"/>
          </a:ln>
        </p:spPr>
      </p:sp>
      <p:sp>
        <p:nvSpPr>
          <p:cNvPr id="80" name="Text 77"/>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1" name="Text 78"/>
          <p:cNvSpPr txBox="1"/>
          <p:nvPr/>
        </p:nvSpPr>
        <p:spPr>
          <a:xfrm>
            <a:off x="969264" y="4773168"/>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It is the cheapest.</a:t>
            </a:r>
            <a:endParaRPr lang="en-US" sz="1250" dirty="0"/>
          </a:p>
        </p:txBody>
      </p:sp>
      <p:sp>
        <p:nvSpPr>
          <p:cNvPr id="82" name="Shape 79"/>
          <p:cNvSpPr/>
          <p:nvPr/>
        </p:nvSpPr>
        <p:spPr>
          <a:xfrm>
            <a:off x="548640" y="5166360"/>
            <a:ext cx="2498598" cy="347472"/>
          </a:xfrm>
          <a:prstGeom prst="roundRect">
            <a:avLst>
              <a:gd name="adj" fmla="val 15789"/>
            </a:avLst>
          </a:prstGeom>
          <a:solidFill>
            <a:srgbClr val="E6F4EC"/>
          </a:solidFill>
          <a:ln w="9525">
            <a:solidFill>
              <a:srgbClr val="2E8B57"/>
            </a:solidFill>
            <a:prstDash val="solid"/>
          </a:ln>
        </p:spPr>
      </p:sp>
      <p:sp>
        <p:nvSpPr>
          <p:cNvPr id="83" name="Shape 80"/>
          <p:cNvSpPr/>
          <p:nvPr/>
        </p:nvSpPr>
        <p:spPr>
          <a:xfrm>
            <a:off x="640080" y="5202936"/>
            <a:ext cx="256032" cy="256032"/>
          </a:xfrm>
          <a:prstGeom prst="ellipse">
            <a:avLst/>
          </a:prstGeom>
          <a:solidFill>
            <a:srgbClr val="2E8B57"/>
          </a:solidFill>
          <a:ln w="12700">
            <a:solidFill>
              <a:srgbClr val="2E8B57"/>
            </a:solidFill>
            <a:prstDash val="solid"/>
          </a:ln>
        </p:spPr>
      </p:sp>
      <p:sp>
        <p:nvSpPr>
          <p:cNvPr id="84" name="Text 81"/>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85" name="Text 82"/>
          <p:cNvSpPr txBox="1"/>
          <p:nvPr/>
        </p:nvSpPr>
        <p:spPr>
          <a:xfrm>
            <a:off x="969264" y="5145024"/>
            <a:ext cx="2023110"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It is more elegant and suitable.</a:t>
            </a:r>
            <a:endParaRPr lang="en-US" sz="1150" dirty="0"/>
          </a:p>
        </p:txBody>
      </p:sp>
      <p:sp>
        <p:nvSpPr>
          <p:cNvPr id="86" name="Shape 83"/>
          <p:cNvSpPr/>
          <p:nvPr/>
        </p:nvSpPr>
        <p:spPr>
          <a:xfrm>
            <a:off x="640080"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969264" y="551688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It is lighter.</a:t>
            </a:r>
            <a:endParaRPr lang="en-US" sz="1250" dirty="0"/>
          </a:p>
        </p:txBody>
      </p:sp>
      <p:sp>
        <p:nvSpPr>
          <p:cNvPr id="89" name="Text 86"/>
          <p:cNvSpPr txBox="1"/>
          <p:nvPr/>
        </p:nvSpPr>
        <p:spPr>
          <a:xfrm>
            <a:off x="585216" y="5907024"/>
            <a:ext cx="2425446"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Elegance and suitability decide the choice.</a:t>
            </a:r>
            <a:endParaRPr lang="en-US" sz="1050" dirty="0"/>
          </a:p>
        </p:txBody>
      </p:sp>
      <p:sp>
        <p:nvSpPr>
          <p:cNvPr id="90" name="Shape 87"/>
          <p:cNvSpPr/>
          <p:nvPr/>
        </p:nvSpPr>
        <p:spPr>
          <a:xfrm>
            <a:off x="3321558"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1" name="Shape 88"/>
          <p:cNvSpPr/>
          <p:nvPr/>
        </p:nvSpPr>
        <p:spPr>
          <a:xfrm>
            <a:off x="3449574" y="4288536"/>
            <a:ext cx="310896" cy="310896"/>
          </a:xfrm>
          <a:prstGeom prst="ellipse">
            <a:avLst/>
          </a:prstGeom>
          <a:solidFill>
            <a:srgbClr val="1B3B6F"/>
          </a:solidFill>
          <a:ln w="12700">
            <a:solidFill>
              <a:srgbClr val="1B3B6F"/>
            </a:solidFill>
            <a:prstDash val="solid"/>
          </a:ln>
        </p:spPr>
      </p:sp>
      <p:sp>
        <p:nvSpPr>
          <p:cNvPr id="92" name="Text 89"/>
          <p:cNvSpPr txBox="1"/>
          <p:nvPr/>
        </p:nvSpPr>
        <p:spPr>
          <a:xfrm>
            <a:off x="344957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93" name="Text 90"/>
          <p:cNvSpPr txBox="1"/>
          <p:nvPr/>
        </p:nvSpPr>
        <p:spPr>
          <a:xfrm>
            <a:off x="3815334"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language function is used at the end?</a:t>
            </a:r>
            <a:endParaRPr lang="en-US" sz="1250" dirty="0"/>
          </a:p>
        </p:txBody>
      </p:sp>
      <p:sp>
        <p:nvSpPr>
          <p:cNvPr id="94" name="Shape 91"/>
          <p:cNvSpPr/>
          <p:nvPr/>
        </p:nvSpPr>
        <p:spPr>
          <a:xfrm>
            <a:off x="3412998" y="4794504"/>
            <a:ext cx="2498598" cy="347472"/>
          </a:xfrm>
          <a:prstGeom prst="roundRect">
            <a:avLst>
              <a:gd name="adj" fmla="val 15789"/>
            </a:avLst>
          </a:prstGeom>
          <a:solidFill>
            <a:srgbClr val="E6F4EC"/>
          </a:solidFill>
          <a:ln w="9525">
            <a:solidFill>
              <a:srgbClr val="2E8B57"/>
            </a:solidFill>
            <a:prstDash val="solid"/>
          </a:ln>
        </p:spPr>
      </p:sp>
      <p:sp>
        <p:nvSpPr>
          <p:cNvPr id="95" name="Shape 92"/>
          <p:cNvSpPr/>
          <p:nvPr/>
        </p:nvSpPr>
        <p:spPr>
          <a:xfrm>
            <a:off x="3504438" y="4831080"/>
            <a:ext cx="256032" cy="256032"/>
          </a:xfrm>
          <a:prstGeom prst="ellipse">
            <a:avLst/>
          </a:prstGeom>
          <a:solidFill>
            <a:srgbClr val="2E8B57"/>
          </a:solidFill>
          <a:ln w="12700">
            <a:solidFill>
              <a:srgbClr val="2E8B57"/>
            </a:solidFill>
            <a:prstDash val="solid"/>
          </a:ln>
        </p:spPr>
      </p:sp>
      <p:sp>
        <p:nvSpPr>
          <p:cNvPr id="96" name="Text 93"/>
          <p:cNvSpPr txBox="1"/>
          <p:nvPr/>
        </p:nvSpPr>
        <p:spPr>
          <a:xfrm>
            <a:off x="3504438"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97" name="Text 94"/>
          <p:cNvSpPr txBox="1"/>
          <p:nvPr/>
        </p:nvSpPr>
        <p:spPr>
          <a:xfrm>
            <a:off x="3833622" y="4773168"/>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polite purchase decision</a:t>
            </a:r>
            <a:endParaRPr lang="en-US" sz="1250" dirty="0"/>
          </a:p>
        </p:txBody>
      </p:sp>
      <p:sp>
        <p:nvSpPr>
          <p:cNvPr id="98" name="Shape 95"/>
          <p:cNvSpPr/>
          <p:nvPr/>
        </p:nvSpPr>
        <p:spPr>
          <a:xfrm>
            <a:off x="3504438" y="5202936"/>
            <a:ext cx="256032" cy="256032"/>
          </a:xfrm>
          <a:prstGeom prst="ellipse">
            <a:avLst/>
          </a:prstGeom>
          <a:solidFill>
            <a:srgbClr val="C9CED6"/>
          </a:solidFill>
          <a:ln w="12700">
            <a:solidFill>
              <a:srgbClr val="C9CED6"/>
            </a:solidFill>
            <a:prstDash val="solid"/>
          </a:ln>
        </p:spPr>
      </p:sp>
      <p:sp>
        <p:nvSpPr>
          <p:cNvPr id="99" name="Text 96"/>
          <p:cNvSpPr txBox="1"/>
          <p:nvPr/>
        </p:nvSpPr>
        <p:spPr>
          <a:xfrm>
            <a:off x="3504438"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100" name="Text 97"/>
          <p:cNvSpPr txBox="1"/>
          <p:nvPr/>
        </p:nvSpPr>
        <p:spPr>
          <a:xfrm>
            <a:off x="3833622" y="514502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asking directions</a:t>
            </a:r>
            <a:endParaRPr lang="en-US" sz="1250" dirty="0"/>
          </a:p>
        </p:txBody>
      </p:sp>
      <p:sp>
        <p:nvSpPr>
          <p:cNvPr id="101" name="Shape 98"/>
          <p:cNvSpPr/>
          <p:nvPr/>
        </p:nvSpPr>
        <p:spPr>
          <a:xfrm>
            <a:off x="3504438" y="5574792"/>
            <a:ext cx="256032" cy="256032"/>
          </a:xfrm>
          <a:prstGeom prst="ellipse">
            <a:avLst/>
          </a:prstGeom>
          <a:solidFill>
            <a:srgbClr val="C9CED6"/>
          </a:solidFill>
          <a:ln w="12700">
            <a:solidFill>
              <a:srgbClr val="C9CED6"/>
            </a:solidFill>
            <a:prstDash val="solid"/>
          </a:ln>
        </p:spPr>
      </p:sp>
      <p:sp>
        <p:nvSpPr>
          <p:cNvPr id="102" name="Text 99"/>
          <p:cNvSpPr txBox="1"/>
          <p:nvPr/>
        </p:nvSpPr>
        <p:spPr>
          <a:xfrm>
            <a:off x="3504438"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103" name="Text 100"/>
          <p:cNvSpPr txBox="1"/>
          <p:nvPr/>
        </p:nvSpPr>
        <p:spPr>
          <a:xfrm>
            <a:off x="3833622" y="551688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describing family</a:t>
            </a:r>
            <a:endParaRPr lang="en-US" sz="1250" dirty="0"/>
          </a:p>
        </p:txBody>
      </p:sp>
      <p:sp>
        <p:nvSpPr>
          <p:cNvPr id="104" name="Text 101"/>
          <p:cNvSpPr txBox="1"/>
          <p:nvPr/>
        </p:nvSpPr>
        <p:spPr>
          <a:xfrm>
            <a:off x="3449574" y="5907024"/>
            <a:ext cx="2425446"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customer confirms the purchase politely.</a:t>
            </a:r>
            <a:endParaRPr lang="en-US" sz="1050" dirty="0"/>
          </a:p>
        </p:txBody>
      </p:sp>
      <p:sp>
        <p:nvSpPr>
          <p:cNvPr id="105" name="Shape 102"/>
          <p:cNvSpPr/>
          <p:nvPr/>
        </p:nvSpPr>
        <p:spPr>
          <a:xfrm>
            <a:off x="6185916" y="4151376"/>
            <a:ext cx="2681478" cy="2157984"/>
          </a:xfrm>
          <a:prstGeom prst="roundRect">
            <a:avLst>
              <a:gd name="adj" fmla="val 3390"/>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06" name="Text 103"/>
          <p:cNvSpPr txBox="1"/>
          <p:nvPr/>
        </p:nvSpPr>
        <p:spPr>
          <a:xfrm>
            <a:off x="6368796" y="4279392"/>
            <a:ext cx="2315718"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IN A SHOP</a:t>
            </a:r>
            <a:endParaRPr lang="en-US" sz="1000" dirty="0"/>
          </a:p>
        </p:txBody>
      </p:sp>
      <p:sp>
        <p:nvSpPr>
          <p:cNvPr id="107" name="Text 104"/>
          <p:cNvSpPr txBox="1"/>
          <p:nvPr/>
        </p:nvSpPr>
        <p:spPr>
          <a:xfrm>
            <a:off x="6368796" y="4590288"/>
            <a:ext cx="2315718"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Listen past “however” (maʿa dhālika).</a:t>
            </a:r>
            <a:endParaRPr lang="en-US" sz="1250" dirty="0"/>
          </a:p>
          <a:p>
            <a:pPr algn="l" indent="0" marL="0">
              <a:buNone/>
            </a:pPr>
            <a:r>
              <a:rPr lang="en-US" sz="1250" dirty="0">
                <a:solidFill>
                  <a:srgbClr val="1F2A37"/>
                </a:solidFill>
                <a:latin typeface="Calibri" pitchFamily="34" charset="0"/>
                <a:cs typeface="Amiri" pitchFamily="2" charset="-78"/>
              </a:rPr>
              <a:t>Chat: 1_ 2_ 3_ 4_ 5_ 6_</a:t>
            </a:r>
            <a:endParaRPr lang="en-US" sz="1250" dirty="0"/>
          </a:p>
        </p:txBody>
      </p:sp>
      <p:sp>
        <p:nvSpPr>
          <p:cNvPr id="108" name="Text 10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24</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D2-L12 · D2 Assessment</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READING · 10 MARKS · SALMA’S PORTRAIT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 Salma, my close friend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نَصُّ القِرَاءَةِ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D2-L12</a:t>
            </a:r>
            <a:endParaRPr lang="en-US" sz="850" dirty="0"/>
          </a:p>
        </p:txBody>
      </p:sp>
      <p:sp>
        <p:nvSpPr>
          <p:cNvPr id="15" name="Shape 12"/>
          <p:cNvSpPr/>
          <p:nvPr/>
        </p:nvSpPr>
        <p:spPr>
          <a:xfrm>
            <a:off x="457200" y="1810512"/>
            <a:ext cx="1127455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65960"/>
            <a:ext cx="10817352" cy="4206240"/>
          </a:xfrm>
          <a:prstGeom prst="rect">
            <a:avLst/>
          </a:prstGeom>
          <a:noFill/>
          <a:ln/>
        </p:spPr>
        <p:txBody>
          <a:bodyPr wrap="square" lIns="0" tIns="0" rIns="0" bIns="0" rtlCol="0" anchor="t"/>
          <a:lstStyle/>
          <a:p>
            <a:pPr rtl="1" algn="r" indent="0" marL="0">
              <a:lnSpc>
                <a:spcPct val="120000"/>
              </a:lnSpc>
              <a:buNone/>
            </a:pPr>
            <a:r>
              <a:rPr lang="ar-SA" altLang="en-US" sz="2600" dirty="0">
                <a:solidFill>
                  <a:srgbClr val="1F2A37"/>
                </a:solidFill>
                <a:latin typeface="Amiri" pitchFamily="2" charset="-78"/>
                <a:cs typeface="Amiri" pitchFamily="2" charset="-78"/>
              </a:rPr>
              <a:t>سَلْمَى صَدِيقَتِي المُقَرَّبَةُ الَّتِي أَعْرِفُهَا مُنْذُ سِتِّ سَنَوَاتٍ. هِيَ مُتَوَسِّطَةُ القَامَةِ وَلَهَا شَعْرٌ قَصِيرٌ وَمُجَعَّدٌ. تَرْتَدِي عَادَةً مَلَابِسَ أَكْثَرَ رَسْمِيَّةً مِنْ مَلَابِسِي، بَيْنَمَا أُفَضِّلُ أَنَا الأُسْلُوبَ العَمَلِيَّ. سَلْمَى وَدُودَةٌ وَوَاثِقَةٌ؛ فَهِيَ تَتَحَدَّثُ أَمَامَ المَجْمُوعَاتِ دُونَ خَوْفٍ. وَهِيَ أَيْضًا مُتَعَاوِنَةٌ لِأَنَّهَا تُسَاعِدُ الطَّالِبَاتِ الجَدِيدَاتِ. أَثِقُ بِهَا لِأَنَّهَا صَادِقَةٌ وَتَسْتَمِعُ إِلَيَّ. فِي رَأْيِي، المَلَابِسُ قَدْ تُعَبِّرُ عَنِ الذَّوْقِ، وَلٰكِنَّ الشَّخْصِيَّةَ وَالسُّلُوكَ أَهَمُّ مِنَ المَظْهَرِ وَحْدَهُ.</a:t>
            </a:r>
            <a:endParaRPr lang="ar-SA" sz="2600" dirty="0"/>
          </a:p>
        </p:txBody>
      </p:sp>
      <p:sp>
        <p:nvSpPr>
          <p:cNvPr id="17" name="Text 1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24</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D2-L12 · D2 Assessment</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READING · QUESTIONS 1–5 · 5 MARKS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 Questions 1–5</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القِرَاءَةُ (١–٥)</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D2-L12</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writer’s relationship to Salma?</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sister</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teacher</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close friend</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quality is supported by helping new students?</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cooperative</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shy</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selfish</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does Salma’s style compare with the writer’s?</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less colourful</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more formal</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exactly the same</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الَّتِي</a:t>
            </a:r>
            <a:pPr algn="l" indent="0" marL="0">
              <a:buNone/>
            </a:pPr>
            <a:r>
              <a:rPr lang="en-US" sz="1250" b="1" dirty="0">
                <a:solidFill>
                  <a:srgbClr val="1B3B6F"/>
                </a:solidFill>
                <a:latin typeface="Calibri" pitchFamily="34" charset="0"/>
                <a:cs typeface="Amiri" pitchFamily="2" charset="-78"/>
              </a:rPr>
              <a:t> refer to?</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Salma</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coat</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school</a:t>
            </a:r>
            <a:endParaRPr lang="en-US" sz="12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does the writer trust her?</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She buys gifts.</a:t>
            </a:r>
            <a:endParaRPr lang="en-US" sz="12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She is tall.</a:t>
            </a:r>
            <a:endParaRPr lang="en-US" sz="12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She is honest and listens.</a:t>
            </a:r>
            <a:endParaRPr lang="en-US" sz="1250" dirty="0"/>
          </a:p>
        </p:txBody>
      </p:sp>
      <p:sp>
        <p:nvSpPr>
          <p:cNvPr id="80" name="Shape 77"/>
          <p:cNvSpPr/>
          <p:nvPr/>
        </p:nvSpPr>
        <p:spPr>
          <a:xfrm>
            <a:off x="8095488" y="4151376"/>
            <a:ext cx="3636264" cy="2157984"/>
          </a:xfrm>
          <a:prstGeom prst="roundRect">
            <a:avLst>
              <a:gd name="adj" fmla="val 3390"/>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81" name="Text 78"/>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FIND THE EVIDENCE</a:t>
            </a:r>
            <a:endParaRPr lang="en-US" sz="1000" dirty="0"/>
          </a:p>
        </p:txBody>
      </p:sp>
      <p:sp>
        <p:nvSpPr>
          <p:cNvPr id="82" name="Text 79"/>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Go back to the text for every answer.</a:t>
            </a:r>
            <a:endParaRPr lang="en-US" sz="1250" dirty="0"/>
          </a:p>
          <a:p>
            <a:pPr algn="l" indent="0" marL="0">
              <a:buNone/>
            </a:pPr>
            <a:r>
              <a:rPr lang="en-US" sz="1250" dirty="0">
                <a:solidFill>
                  <a:srgbClr val="1F2A37"/>
                </a:solidFill>
                <a:latin typeface="Calibri" pitchFamily="34" charset="0"/>
                <a:cs typeface="Amiri" pitchFamily="2" charset="-78"/>
              </a:rPr>
              <a:t>Chat: 1_ 2_ 3_ 4_ 5_</a:t>
            </a:r>
            <a:endParaRPr lang="en-US" sz="1250" dirty="0"/>
          </a:p>
        </p:txBody>
      </p:sp>
      <p:sp>
        <p:nvSpPr>
          <p:cNvPr id="83" name="Text 8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24</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D2-L12 · D2 Assessment</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READING · QUESTIONS 1–5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1–5 ·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D2-L12</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writer’s relationship to Salma?</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sister</a:t>
            </a:r>
            <a:endParaRPr lang="en-US" sz="1250" dirty="0"/>
          </a:p>
        </p:txBody>
      </p:sp>
      <p:sp>
        <p:nvSpPr>
          <p:cNvPr id="22" name="Shape 19"/>
          <p:cNvSpPr/>
          <p:nvPr/>
        </p:nvSpPr>
        <p:spPr>
          <a:xfrm>
            <a:off x="640080" y="2862072"/>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teacher</a:t>
            </a:r>
            <a:endParaRPr lang="en-US" sz="1250" dirty="0"/>
          </a:p>
        </p:txBody>
      </p:sp>
      <p:sp>
        <p:nvSpPr>
          <p:cNvPr id="25" name="Shape 22"/>
          <p:cNvSpPr/>
          <p:nvPr/>
        </p:nvSpPr>
        <p:spPr>
          <a:xfrm>
            <a:off x="548640" y="3197352"/>
            <a:ext cx="3453384" cy="347472"/>
          </a:xfrm>
          <a:prstGeom prst="roundRect">
            <a:avLst>
              <a:gd name="adj" fmla="val 15789"/>
            </a:avLst>
          </a:prstGeom>
          <a:solidFill>
            <a:srgbClr val="E6F4EC"/>
          </a:solidFill>
          <a:ln w="9525">
            <a:solidFill>
              <a:srgbClr val="2E8B57"/>
            </a:solidFill>
            <a:prstDash val="solid"/>
          </a:ln>
        </p:spPr>
      </p:sp>
      <p:sp>
        <p:nvSpPr>
          <p:cNvPr id="26" name="Shape 23"/>
          <p:cNvSpPr/>
          <p:nvPr/>
        </p:nvSpPr>
        <p:spPr>
          <a:xfrm>
            <a:off x="640080" y="3233928"/>
            <a:ext cx="256032" cy="256032"/>
          </a:xfrm>
          <a:prstGeom prst="ellipse">
            <a:avLst/>
          </a:prstGeom>
          <a:solidFill>
            <a:srgbClr val="2E8B57"/>
          </a:solidFill>
          <a:ln w="12700">
            <a:solidFill>
              <a:srgbClr val="2E8B57"/>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close friend</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text says </a:t>
            </a:r>
            <a:pPr algn="l" indent="0" marL="0">
              <a:buNone/>
            </a:pPr>
            <a:r>
              <a:rPr lang="ar-SA" altLang="en-US" sz="1350" dirty="0">
                <a:solidFill>
                  <a:srgbClr val="8A6D1E"/>
                </a:solidFill>
                <a:latin typeface="Amiri" pitchFamily="2" charset="-78"/>
                <a:cs typeface="Amiri" pitchFamily="2" charset="-78"/>
              </a:rPr>
              <a:t>صَدِيقَتِي المُقَرَّبَةُ</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quality is supported by helping new students?</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cooperative</a:t>
            </a:r>
            <a:endParaRPr lang="en-US" sz="125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shy</a:t>
            </a:r>
            <a:endParaRPr lang="en-US" sz="125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selfish</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Helping supports cooperation.</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does Salma’s style compare with the writer’s?</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less colourful</a:t>
            </a:r>
            <a:endParaRPr lang="en-US" sz="1250" dirty="0"/>
          </a:p>
        </p:txBody>
      </p:sp>
      <p:sp>
        <p:nvSpPr>
          <p:cNvPr id="52" name="Shape 49"/>
          <p:cNvSpPr/>
          <p:nvPr/>
        </p:nvSpPr>
        <p:spPr>
          <a:xfrm>
            <a:off x="8186928" y="2825496"/>
            <a:ext cx="3453384" cy="347472"/>
          </a:xfrm>
          <a:prstGeom prst="roundRect">
            <a:avLst>
              <a:gd name="adj" fmla="val 15789"/>
            </a:avLst>
          </a:prstGeom>
          <a:solidFill>
            <a:srgbClr val="E6F4EC"/>
          </a:solidFill>
          <a:ln w="9525">
            <a:solidFill>
              <a:srgbClr val="2E8B57"/>
            </a:solidFill>
            <a:prstDash val="solid"/>
          </a:ln>
        </p:spPr>
      </p:sp>
      <p:sp>
        <p:nvSpPr>
          <p:cNvPr id="53" name="Shape 50"/>
          <p:cNvSpPr/>
          <p:nvPr/>
        </p:nvSpPr>
        <p:spPr>
          <a:xfrm>
            <a:off x="8278368" y="2862072"/>
            <a:ext cx="256032" cy="256032"/>
          </a:xfrm>
          <a:prstGeom prst="ellipse">
            <a:avLst/>
          </a:prstGeom>
          <a:solidFill>
            <a:srgbClr val="2E8B57"/>
          </a:solidFill>
          <a:ln w="12700">
            <a:solidFill>
              <a:srgbClr val="2E8B57"/>
            </a:solidFill>
            <a:prstDash val="solid"/>
          </a:ln>
        </p:spPr>
      </p:sp>
      <p:sp>
        <p:nvSpPr>
          <p:cNvPr id="54" name="Text 51"/>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5" name="Text 52"/>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more formal</a:t>
            </a:r>
            <a:endParaRPr lang="en-US" sz="1250" dirty="0"/>
          </a:p>
        </p:txBody>
      </p:sp>
      <p:sp>
        <p:nvSpPr>
          <p:cNvPr id="56" name="Shape 53"/>
          <p:cNvSpPr/>
          <p:nvPr/>
        </p:nvSpPr>
        <p:spPr>
          <a:xfrm>
            <a:off x="8278368" y="323392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exactly the same</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text states her style is more formal.</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الَّتِي</a:t>
            </a:r>
            <a:pPr algn="l" indent="0" marL="0">
              <a:buNone/>
            </a:pPr>
            <a:r>
              <a:rPr lang="en-US" sz="1250" b="1" dirty="0">
                <a:solidFill>
                  <a:srgbClr val="1B3B6F"/>
                </a:solidFill>
                <a:latin typeface="Calibri" pitchFamily="34" charset="0"/>
                <a:cs typeface="Amiri" pitchFamily="2" charset="-78"/>
              </a:rPr>
              <a:t> refer to?</a:t>
            </a:r>
            <a:endParaRPr lang="en-US" sz="1250" dirty="0"/>
          </a:p>
        </p:txBody>
      </p:sp>
      <p:sp>
        <p:nvSpPr>
          <p:cNvPr id="64" name="Shape 61"/>
          <p:cNvSpPr/>
          <p:nvPr/>
        </p:nvSpPr>
        <p:spPr>
          <a:xfrm>
            <a:off x="548640" y="4794504"/>
            <a:ext cx="3453384"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40080"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Salma</a:t>
            </a:r>
            <a:endParaRPr lang="en-US" sz="1250" dirty="0"/>
          </a:p>
        </p:txBody>
      </p:sp>
      <p:sp>
        <p:nvSpPr>
          <p:cNvPr id="68" name="Shape 65"/>
          <p:cNvSpPr/>
          <p:nvPr/>
        </p:nvSpPr>
        <p:spPr>
          <a:xfrm>
            <a:off x="640080"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coat</a:t>
            </a:r>
            <a:endParaRPr lang="en-US" sz="125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school</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feminine relative pronoun refers to Salma.</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does the writer trust her?</a:t>
            </a:r>
            <a:endParaRPr lang="en-US" sz="1250" dirty="0"/>
          </a:p>
        </p:txBody>
      </p:sp>
      <p:sp>
        <p:nvSpPr>
          <p:cNvPr id="79" name="Shape 76"/>
          <p:cNvSpPr/>
          <p:nvPr/>
        </p:nvSpPr>
        <p:spPr>
          <a:xfrm>
            <a:off x="4459224" y="4831080"/>
            <a:ext cx="256032" cy="256032"/>
          </a:xfrm>
          <a:prstGeom prst="ellipse">
            <a:avLst/>
          </a:prstGeom>
          <a:solidFill>
            <a:srgbClr val="C9CED6"/>
          </a:solidFill>
          <a:ln w="12700">
            <a:solidFill>
              <a:srgbClr val="C9CED6"/>
            </a:solidFill>
            <a:prstDash val="solid"/>
          </a:ln>
        </p:spPr>
      </p:sp>
      <p:sp>
        <p:nvSpPr>
          <p:cNvPr id="80" name="Text 77"/>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1" name="Text 78"/>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She buys gifts.</a:t>
            </a:r>
            <a:endParaRPr lang="en-US" sz="1250" dirty="0"/>
          </a:p>
        </p:txBody>
      </p:sp>
      <p:sp>
        <p:nvSpPr>
          <p:cNvPr id="82" name="Shape 79"/>
          <p:cNvSpPr/>
          <p:nvPr/>
        </p:nvSpPr>
        <p:spPr>
          <a:xfrm>
            <a:off x="4459224" y="5202936"/>
            <a:ext cx="256032" cy="256032"/>
          </a:xfrm>
          <a:prstGeom prst="ellipse">
            <a:avLst/>
          </a:prstGeom>
          <a:solidFill>
            <a:srgbClr val="C9CED6"/>
          </a:solidFill>
          <a:ln w="12700">
            <a:solidFill>
              <a:srgbClr val="C9CED6"/>
            </a:solidFill>
            <a:prstDash val="solid"/>
          </a:ln>
        </p:spPr>
      </p:sp>
      <p:sp>
        <p:nvSpPr>
          <p:cNvPr id="83" name="Text 80"/>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4" name="Text 81"/>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She is tall.</a:t>
            </a:r>
            <a:endParaRPr lang="en-US" sz="1250" dirty="0"/>
          </a:p>
        </p:txBody>
      </p:sp>
      <p:sp>
        <p:nvSpPr>
          <p:cNvPr id="85" name="Shape 82"/>
          <p:cNvSpPr/>
          <p:nvPr/>
        </p:nvSpPr>
        <p:spPr>
          <a:xfrm>
            <a:off x="4367784" y="5538216"/>
            <a:ext cx="3453384" cy="347472"/>
          </a:xfrm>
          <a:prstGeom prst="roundRect">
            <a:avLst>
              <a:gd name="adj" fmla="val 15789"/>
            </a:avLst>
          </a:prstGeom>
          <a:solidFill>
            <a:srgbClr val="E6F4EC"/>
          </a:solidFill>
          <a:ln w="9525">
            <a:solidFill>
              <a:srgbClr val="2E8B57"/>
            </a:solidFill>
            <a:prstDash val="solid"/>
          </a:ln>
        </p:spPr>
      </p:sp>
      <p:sp>
        <p:nvSpPr>
          <p:cNvPr id="86" name="Shape 83"/>
          <p:cNvSpPr/>
          <p:nvPr/>
        </p:nvSpPr>
        <p:spPr>
          <a:xfrm>
            <a:off x="4459224" y="5574792"/>
            <a:ext cx="256032" cy="256032"/>
          </a:xfrm>
          <a:prstGeom prst="ellipse">
            <a:avLst/>
          </a:prstGeom>
          <a:solidFill>
            <a:srgbClr val="2E8B57"/>
          </a:solidFill>
          <a:ln w="12700">
            <a:solidFill>
              <a:srgbClr val="2E8B57"/>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She is honest and listens.</a:t>
            </a:r>
            <a:endParaRPr lang="en-US" sz="125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writer gives both behaviours as evidence.</a:t>
            </a:r>
            <a:endParaRPr lang="en-US" sz="1050" dirty="0"/>
          </a:p>
        </p:txBody>
      </p:sp>
      <p:sp>
        <p:nvSpPr>
          <p:cNvPr id="90" name="Shape 87"/>
          <p:cNvSpPr/>
          <p:nvPr/>
        </p:nvSpPr>
        <p:spPr>
          <a:xfrm>
            <a:off x="8095488" y="4151376"/>
            <a:ext cx="3636264" cy="2157984"/>
          </a:xfrm>
          <a:prstGeom prst="roundRect">
            <a:avLst>
              <a:gd name="adj" fmla="val 3390"/>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91" name="Text 88"/>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FIND THE EVIDENCE</a:t>
            </a:r>
            <a:endParaRPr lang="en-US" sz="1000" dirty="0"/>
          </a:p>
        </p:txBody>
      </p:sp>
      <p:sp>
        <p:nvSpPr>
          <p:cNvPr id="92" name="Text 89"/>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Go back to the text for every answer.</a:t>
            </a:r>
            <a:endParaRPr lang="en-US" sz="1250" dirty="0"/>
          </a:p>
          <a:p>
            <a:pPr algn="l" indent="0" marL="0">
              <a:buNone/>
            </a:pPr>
            <a:r>
              <a:rPr lang="en-US" sz="1250" dirty="0">
                <a:solidFill>
                  <a:srgbClr val="1F2A37"/>
                </a:solidFill>
                <a:latin typeface="Calibri" pitchFamily="34" charset="0"/>
                <a:cs typeface="Amiri" pitchFamily="2" charset="-78"/>
              </a:rPr>
              <a:t>Chat: 1_ 2_ 3_ 4_ 5_</a:t>
            </a:r>
            <a:endParaRPr lang="en-US" sz="1250" dirty="0"/>
          </a:p>
        </p:txBody>
      </p:sp>
      <p:sp>
        <p:nvSpPr>
          <p:cNvPr id="93" name="Text 9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24</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D2-L12 · D2 Assessment</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READING · QUESTIONS 6–10 · 5 MARKS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 Questions 6–10</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القِرَاءَةُ (٦–١٠)</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D2-L12</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writer’s final judgement?</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Character matters more than clothes alone.</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Fashion determines personality.</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Friends should dress alike.</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7</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phrase signals contrast?</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لِأَنَّ</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بَيْنَمَا</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ثُمَّ</a:t>
            </a:r>
            <a:endParaRPr lang="ar-SA" sz="20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8</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comparative is used?</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أَكْثَرُ رَسْمِيَّةً</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رَسْمِيَّةٌ جِدًّا</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الأَكْثَرُ رَسْمِيَّةً مِنْهَا</a:t>
            </a:r>
            <a:endParaRPr lang="ar-SA" sz="20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9</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evidence shows confidence?</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She has brown eyes.</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She wears blue.</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She speaks to groups without fear.</a:t>
            </a:r>
            <a:endParaRPr lang="en-US" sz="12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10</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summary is best?</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price list.</a:t>
            </a:r>
            <a:endParaRPr lang="en-US" sz="12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timetable.</a:t>
            </a:r>
            <a:endParaRPr lang="en-US" sz="12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 balanced portrait combining appearance, style, relationship and evidence.</a:t>
            </a:r>
            <a:endParaRPr lang="en-US" sz="1150" dirty="0"/>
          </a:p>
        </p:txBody>
      </p:sp>
      <p:sp>
        <p:nvSpPr>
          <p:cNvPr id="80" name="Shape 77"/>
          <p:cNvSpPr/>
          <p:nvPr/>
        </p:nvSpPr>
        <p:spPr>
          <a:xfrm>
            <a:off x="8095488" y="4151376"/>
            <a:ext cx="3636264" cy="2157984"/>
          </a:xfrm>
          <a:prstGeom prst="roundRect">
            <a:avLst>
              <a:gd name="adj" fmla="val 3390"/>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81" name="Text 78"/>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FIND THE EVIDENCE</a:t>
            </a:r>
            <a:endParaRPr lang="en-US" sz="1000" dirty="0"/>
          </a:p>
        </p:txBody>
      </p:sp>
      <p:sp>
        <p:nvSpPr>
          <p:cNvPr id="82" name="Text 79"/>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Q7–8: find the exact words.</a:t>
            </a:r>
            <a:endParaRPr lang="en-US" sz="1250" dirty="0"/>
          </a:p>
          <a:p>
            <a:pPr algn="l" indent="0" marL="0">
              <a:buNone/>
            </a:pPr>
            <a:r>
              <a:rPr lang="en-US" sz="1250" dirty="0">
                <a:solidFill>
                  <a:srgbClr val="1F2A37"/>
                </a:solidFill>
                <a:latin typeface="Calibri" pitchFamily="34" charset="0"/>
                <a:cs typeface="Amiri" pitchFamily="2" charset="-78"/>
              </a:rPr>
              <a:t>Chat: 6_ 7_ 8_ 9_ 10_</a:t>
            </a:r>
            <a:endParaRPr lang="en-US" sz="1250" dirty="0"/>
          </a:p>
        </p:txBody>
      </p:sp>
      <p:sp>
        <p:nvSpPr>
          <p:cNvPr id="83" name="Text 8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24</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D2-L12 · D2 Assessment</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READING · QUESTIONS 6–10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6–10 ·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D2-L12</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writer’s final judgement?</a:t>
            </a:r>
            <a:endParaRPr lang="en-US" sz="1250" dirty="0"/>
          </a:p>
        </p:txBody>
      </p:sp>
      <p:sp>
        <p:nvSpPr>
          <p:cNvPr id="19" name="Shape 16"/>
          <p:cNvSpPr/>
          <p:nvPr/>
        </p:nvSpPr>
        <p:spPr>
          <a:xfrm>
            <a:off x="548640" y="2453640"/>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490216"/>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Character matters more than clothes alone.</a:t>
            </a:r>
            <a:endParaRPr lang="en-US" sz="115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Fashion determines personality.</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Friends should dress alike.</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conclusion prioritises character.</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7</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phrase signals contrast?</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لِأَنَّ</a:t>
            </a:r>
            <a:endParaRPr lang="ar-SA" sz="1700" dirty="0"/>
          </a:p>
        </p:txBody>
      </p:sp>
      <p:sp>
        <p:nvSpPr>
          <p:cNvPr id="37" name="Shape 34"/>
          <p:cNvSpPr/>
          <p:nvPr/>
        </p:nvSpPr>
        <p:spPr>
          <a:xfrm>
            <a:off x="4367784" y="2825496"/>
            <a:ext cx="3453384"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4459224" y="2862072"/>
            <a:ext cx="256032" cy="256032"/>
          </a:xfrm>
          <a:prstGeom prst="ellipse">
            <a:avLst/>
          </a:prstGeom>
          <a:solidFill>
            <a:srgbClr val="2E8B57"/>
          </a:solidFill>
          <a:ln w="12700">
            <a:solidFill>
              <a:srgbClr val="2E8B57"/>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بَيْنَمَا</a:t>
            </a:r>
            <a:endParaRPr lang="ar-SA" sz="170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ثُمَّ</a:t>
            </a:r>
            <a:endParaRPr lang="ar-SA" sz="170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بَيْنَمَا</a:t>
            </a:r>
            <a:pPr algn="l" indent="0" marL="0">
              <a:buNone/>
            </a:pPr>
            <a:r>
              <a:rPr lang="en-US" sz="1050" i="1" dirty="0">
                <a:solidFill>
                  <a:srgbClr val="8A6D1E"/>
                </a:solidFill>
                <a:latin typeface="Calibri" pitchFamily="34" charset="0"/>
                <a:cs typeface="Amiri" pitchFamily="2" charset="-78"/>
              </a:rPr>
              <a:t> contrasts two styles.</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8</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comparative is used?</a:t>
            </a:r>
            <a:endParaRPr lang="en-US" sz="1250" dirty="0"/>
          </a:p>
        </p:txBody>
      </p:sp>
      <p:sp>
        <p:nvSpPr>
          <p:cNvPr id="49" name="Shape 46"/>
          <p:cNvSpPr/>
          <p:nvPr/>
        </p:nvSpPr>
        <p:spPr>
          <a:xfrm>
            <a:off x="8186928" y="2453640"/>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490216"/>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أَكْثَرُ رَسْمِيَّةً</a:t>
            </a:r>
            <a:endParaRPr lang="ar-SA" sz="1700" dirty="0"/>
          </a:p>
        </p:txBody>
      </p:sp>
      <p:sp>
        <p:nvSpPr>
          <p:cNvPr id="53" name="Shape 50"/>
          <p:cNvSpPr/>
          <p:nvPr/>
        </p:nvSpPr>
        <p:spPr>
          <a:xfrm>
            <a:off x="8278368" y="2862072"/>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رَسْمِيَّةٌ جِدًّا</a:t>
            </a:r>
            <a:endParaRPr lang="ar-SA" sz="1700" dirty="0"/>
          </a:p>
        </p:txBody>
      </p:sp>
      <p:sp>
        <p:nvSpPr>
          <p:cNvPr id="56" name="Shape 53"/>
          <p:cNvSpPr/>
          <p:nvPr/>
        </p:nvSpPr>
        <p:spPr>
          <a:xfrm>
            <a:off x="8278368" y="323392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الأَكْثَرُ رَسْمِيَّةً مِنْهَا</a:t>
            </a:r>
            <a:endParaRPr lang="ar-SA" sz="170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text uses </a:t>
            </a:r>
            <a:pPr algn="l" indent="0" marL="0">
              <a:buNone/>
            </a:pPr>
            <a:r>
              <a:rPr lang="ar-SA" altLang="en-US" sz="1350" dirty="0">
                <a:solidFill>
                  <a:srgbClr val="8A6D1E"/>
                </a:solidFill>
                <a:latin typeface="Amiri" pitchFamily="2" charset="-78"/>
                <a:cs typeface="Amiri" pitchFamily="2" charset="-78"/>
              </a:rPr>
              <a:t>أَكْثَرُ رَسْمِيَّةً</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9</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evidence shows confidence?</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She has brown eyes.</a:t>
            </a:r>
            <a:endParaRPr lang="en-US" sz="1250" dirty="0"/>
          </a:p>
        </p:txBody>
      </p:sp>
      <p:sp>
        <p:nvSpPr>
          <p:cNvPr id="67" name="Shape 64"/>
          <p:cNvSpPr/>
          <p:nvPr/>
        </p:nvSpPr>
        <p:spPr>
          <a:xfrm>
            <a:off x="640080" y="5202936"/>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9" name="Text 66"/>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She wears blue.</a:t>
            </a:r>
            <a:endParaRPr lang="en-US" sz="1250" dirty="0"/>
          </a:p>
        </p:txBody>
      </p:sp>
      <p:sp>
        <p:nvSpPr>
          <p:cNvPr id="70" name="Shape 67"/>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640080" y="5574792"/>
            <a:ext cx="256032" cy="256032"/>
          </a:xfrm>
          <a:prstGeom prst="ellipse">
            <a:avLst/>
          </a:prstGeom>
          <a:solidFill>
            <a:srgbClr val="2E8B57"/>
          </a:solidFill>
          <a:ln w="12700">
            <a:solidFill>
              <a:srgbClr val="2E8B57"/>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She speaks to groups without fear.</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behaviour supports confidence.</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10</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summary is best?</a:t>
            </a:r>
            <a:endParaRPr lang="en-US" sz="1250" dirty="0"/>
          </a:p>
        </p:txBody>
      </p:sp>
      <p:sp>
        <p:nvSpPr>
          <p:cNvPr id="79" name="Shape 76"/>
          <p:cNvSpPr/>
          <p:nvPr/>
        </p:nvSpPr>
        <p:spPr>
          <a:xfrm>
            <a:off x="4459224" y="4831080"/>
            <a:ext cx="256032" cy="256032"/>
          </a:xfrm>
          <a:prstGeom prst="ellipse">
            <a:avLst/>
          </a:prstGeom>
          <a:solidFill>
            <a:srgbClr val="C9CED6"/>
          </a:solidFill>
          <a:ln w="12700">
            <a:solidFill>
              <a:srgbClr val="C9CED6"/>
            </a:solidFill>
            <a:prstDash val="solid"/>
          </a:ln>
        </p:spPr>
      </p:sp>
      <p:sp>
        <p:nvSpPr>
          <p:cNvPr id="80" name="Text 77"/>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1" name="Text 78"/>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price list.</a:t>
            </a:r>
            <a:endParaRPr lang="en-US" sz="1250" dirty="0"/>
          </a:p>
        </p:txBody>
      </p:sp>
      <p:sp>
        <p:nvSpPr>
          <p:cNvPr id="82" name="Shape 79"/>
          <p:cNvSpPr/>
          <p:nvPr/>
        </p:nvSpPr>
        <p:spPr>
          <a:xfrm>
            <a:off x="4459224" y="5202936"/>
            <a:ext cx="256032" cy="256032"/>
          </a:xfrm>
          <a:prstGeom prst="ellipse">
            <a:avLst/>
          </a:prstGeom>
          <a:solidFill>
            <a:srgbClr val="C9CED6"/>
          </a:solidFill>
          <a:ln w="12700">
            <a:solidFill>
              <a:srgbClr val="C9CED6"/>
            </a:solidFill>
            <a:prstDash val="solid"/>
          </a:ln>
        </p:spPr>
      </p:sp>
      <p:sp>
        <p:nvSpPr>
          <p:cNvPr id="83" name="Text 80"/>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4" name="Text 81"/>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timetable.</a:t>
            </a:r>
            <a:endParaRPr lang="en-US" sz="1250" dirty="0"/>
          </a:p>
        </p:txBody>
      </p:sp>
      <p:sp>
        <p:nvSpPr>
          <p:cNvPr id="85" name="Shape 82"/>
          <p:cNvSpPr/>
          <p:nvPr/>
        </p:nvSpPr>
        <p:spPr>
          <a:xfrm>
            <a:off x="4367784" y="5538216"/>
            <a:ext cx="3453384" cy="347472"/>
          </a:xfrm>
          <a:prstGeom prst="roundRect">
            <a:avLst>
              <a:gd name="adj" fmla="val 15789"/>
            </a:avLst>
          </a:prstGeom>
          <a:solidFill>
            <a:srgbClr val="E6F4EC"/>
          </a:solidFill>
          <a:ln w="9525">
            <a:solidFill>
              <a:srgbClr val="2E8B57"/>
            </a:solidFill>
            <a:prstDash val="solid"/>
          </a:ln>
        </p:spPr>
      </p:sp>
      <p:sp>
        <p:nvSpPr>
          <p:cNvPr id="86" name="Shape 83"/>
          <p:cNvSpPr/>
          <p:nvPr/>
        </p:nvSpPr>
        <p:spPr>
          <a:xfrm>
            <a:off x="4459224" y="5574792"/>
            <a:ext cx="256032" cy="256032"/>
          </a:xfrm>
          <a:prstGeom prst="ellipse">
            <a:avLst/>
          </a:prstGeom>
          <a:solidFill>
            <a:srgbClr val="2E8B57"/>
          </a:solidFill>
          <a:ln w="12700">
            <a:solidFill>
              <a:srgbClr val="2E8B57"/>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A balanced portrait combining appearance, style, relationship and evidence.</a:t>
            </a:r>
            <a:endParaRPr lang="en-US" sz="115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text integrates the unit themes.</a:t>
            </a:r>
            <a:endParaRPr lang="en-US" sz="1050" dirty="0"/>
          </a:p>
        </p:txBody>
      </p:sp>
      <p:sp>
        <p:nvSpPr>
          <p:cNvPr id="90" name="Shape 87"/>
          <p:cNvSpPr/>
          <p:nvPr/>
        </p:nvSpPr>
        <p:spPr>
          <a:xfrm>
            <a:off x="8095488" y="4151376"/>
            <a:ext cx="3636264" cy="2157984"/>
          </a:xfrm>
          <a:prstGeom prst="roundRect">
            <a:avLst>
              <a:gd name="adj" fmla="val 3390"/>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91" name="Text 88"/>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FIND THE EVIDENCE</a:t>
            </a:r>
            <a:endParaRPr lang="en-US" sz="1000" dirty="0"/>
          </a:p>
        </p:txBody>
      </p:sp>
      <p:sp>
        <p:nvSpPr>
          <p:cNvPr id="92" name="Text 89"/>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Q7–8: find the exact words.</a:t>
            </a:r>
            <a:endParaRPr lang="en-US" sz="1250" dirty="0"/>
          </a:p>
          <a:p>
            <a:pPr algn="l" indent="0" marL="0">
              <a:buNone/>
            </a:pPr>
            <a:r>
              <a:rPr lang="en-US" sz="1250" dirty="0">
                <a:solidFill>
                  <a:srgbClr val="1F2A37"/>
                </a:solidFill>
                <a:latin typeface="Calibri" pitchFamily="34" charset="0"/>
                <a:cs typeface="Amiri" pitchFamily="2" charset="-78"/>
              </a:rPr>
              <a:t>Chat: 6_ 7_ 8_ 9_ 10_</a:t>
            </a:r>
            <a:endParaRPr lang="en-US" sz="1250" dirty="0"/>
          </a:p>
        </p:txBody>
      </p:sp>
      <p:sp>
        <p:nvSpPr>
          <p:cNvPr id="93" name="Text 9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24</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D2-L12 · D2 Assessment</a:t>
            </a:r>
            <a:endParaRPr lang="en-US" sz="950" dirty="0"/>
          </a:p>
        </p:txBody>
      </p:sp>
      <p:sp>
        <p:nvSpPr>
          <p:cNvPr id="8" name="Shape 6"/>
          <p:cNvSpPr/>
          <p:nvPr/>
        </p:nvSpPr>
        <p:spPr>
          <a:xfrm>
            <a:off x="7219188" y="274320"/>
            <a:ext cx="1540764"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14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WRITING · 20 MARKS · PROFILE FORM (5) + ARTICLE OR EMAIL (15)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Writing assessment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تَقْيِيمُ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D2-L12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415784" y="1810512"/>
            <a:ext cx="42428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Question 1 · person profile (5)</a:t>
            </a:r>
            <a:endParaRPr lang="en-US" sz="1100" dirty="0"/>
          </a:p>
        </p:txBody>
      </p:sp>
      <p:sp>
        <p:nvSpPr>
          <p:cNvPr id="17" name="Text 14"/>
          <p:cNvSpPr txBox="1"/>
          <p:nvPr/>
        </p:nvSpPr>
        <p:spPr>
          <a:xfrm>
            <a:off x="530352" y="1810512"/>
            <a:ext cx="67391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Question 2 · article or email, 100–120 words (15)</a:t>
            </a:r>
            <a:endParaRPr lang="en-US" sz="1100" dirty="0"/>
          </a:p>
        </p:txBody>
      </p:sp>
      <p:sp>
        <p:nvSpPr>
          <p:cNvPr id="18" name="Shape 15"/>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19" name="Text 16"/>
          <p:cNvSpPr txBox="1"/>
          <p:nvPr/>
        </p:nvSpPr>
        <p:spPr>
          <a:xfrm>
            <a:off x="7434072" y="2267712"/>
            <a:ext cx="420624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الاِسْمُ: ______</a:t>
            </a:r>
            <a:endParaRPr lang="ar-SA" sz="2200" dirty="0"/>
          </a:p>
        </p:txBody>
      </p:sp>
      <p:sp>
        <p:nvSpPr>
          <p:cNvPr id="20" name="Text 17"/>
          <p:cNvSpPr txBox="1"/>
          <p:nvPr/>
        </p:nvSpPr>
        <p:spPr>
          <a:xfrm>
            <a:off x="566928" y="2267712"/>
            <a:ext cx="670255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About a person: your relationship, their appearance and style</a:t>
            </a:r>
            <a:endParaRPr lang="en-US" sz="1100" dirty="0"/>
          </a:p>
        </p:txBody>
      </p:sp>
      <p:sp>
        <p:nvSpPr>
          <p:cNvPr id="21" name="Shape 18"/>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2" name="Text 19"/>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3" name="Shape 20"/>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4" name="Text 21"/>
          <p:cNvSpPr txBox="1"/>
          <p:nvPr/>
        </p:nvSpPr>
        <p:spPr>
          <a:xfrm>
            <a:off x="7434072" y="3004718"/>
            <a:ext cx="420624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صِفَتَانِ شَخْصِيَّتَانِ: ______</a:t>
            </a:r>
            <a:endParaRPr lang="ar-SA" sz="2200" dirty="0"/>
          </a:p>
        </p:txBody>
      </p:sp>
      <p:sp>
        <p:nvSpPr>
          <p:cNvPr id="25" name="Text 22"/>
          <p:cNvSpPr txBox="1"/>
          <p:nvPr/>
        </p:nvSpPr>
        <p:spPr>
          <a:xfrm>
            <a:off x="566928" y="3004718"/>
            <a:ext cx="670255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Include: a comparison · evidence · a reasoned opinion</a:t>
            </a:r>
            <a:endParaRPr lang="en-US" sz="1100" dirty="0"/>
          </a:p>
        </p:txBody>
      </p:sp>
      <p:sp>
        <p:nvSpPr>
          <p:cNvPr id="26" name="Shape 23"/>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27" name="Text 24"/>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8" name="Shape 25"/>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29" name="Text 26"/>
          <p:cNvSpPr txBox="1"/>
          <p:nvPr/>
        </p:nvSpPr>
        <p:spPr>
          <a:xfrm>
            <a:off x="7434072" y="3741725"/>
            <a:ext cx="420624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دَلِيلٌ عَلَى صِفَةٍ: ______</a:t>
            </a:r>
            <a:endParaRPr lang="ar-SA" sz="2200" dirty="0"/>
          </a:p>
        </p:txBody>
      </p:sp>
      <p:sp>
        <p:nvSpPr>
          <p:cNvPr id="30" name="Text 27"/>
          <p:cNvSpPr txBox="1"/>
          <p:nvPr/>
        </p:nvSpPr>
        <p:spPr>
          <a:xfrm>
            <a:off x="566928" y="3741725"/>
            <a:ext cx="670255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Task /5 — all content points developed</a:t>
            </a:r>
            <a:endParaRPr lang="en-US" sz="1100" dirty="0"/>
          </a:p>
        </p:txBody>
      </p:sp>
      <p:sp>
        <p:nvSpPr>
          <p:cNvPr id="31" name="Shape 28"/>
          <p:cNvSpPr/>
          <p:nvPr/>
        </p:nvSpPr>
        <p:spPr>
          <a:xfrm>
            <a:off x="11091672" y="3787445"/>
            <a:ext cx="548640" cy="182880"/>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11091672" y="3787445"/>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3" name="Shape 30"/>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34" name="Text 31"/>
          <p:cNvSpPr txBox="1"/>
          <p:nvPr/>
        </p:nvSpPr>
        <p:spPr>
          <a:xfrm>
            <a:off x="7434072" y="4478731"/>
            <a:ext cx="420624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وَصْفُ المَظْهَرِ: ______</a:t>
            </a:r>
            <a:endParaRPr lang="ar-SA" sz="2200" dirty="0"/>
          </a:p>
        </p:txBody>
      </p:sp>
      <p:sp>
        <p:nvSpPr>
          <p:cNvPr id="35" name="Text 32"/>
          <p:cNvSpPr txBox="1"/>
          <p:nvPr/>
        </p:nvSpPr>
        <p:spPr>
          <a:xfrm>
            <a:off x="566928" y="4478731"/>
            <a:ext cx="670255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Range /5 — varied grammar and vocabulary</a:t>
            </a:r>
            <a:endParaRPr lang="en-US" sz="1100" dirty="0"/>
          </a:p>
        </p:txBody>
      </p:sp>
      <p:sp>
        <p:nvSpPr>
          <p:cNvPr id="36" name="Shape 33"/>
          <p:cNvSpPr/>
          <p:nvPr/>
        </p:nvSpPr>
        <p:spPr>
          <a:xfrm>
            <a:off x="11091672" y="4524451"/>
            <a:ext cx="548640" cy="182880"/>
          </a:xfrm>
          <a:prstGeom prst="roundRect">
            <a:avLst>
              <a:gd name="adj" fmla="val 50000"/>
            </a:avLst>
          </a:prstGeom>
          <a:solidFill>
            <a:srgbClr val="2E8B57"/>
          </a:solidFill>
          <a:ln w="12700">
            <a:solidFill>
              <a:srgbClr val="2E8B57"/>
            </a:solidFill>
            <a:prstDash val="solid"/>
          </a:ln>
        </p:spPr>
      </p:sp>
      <p:sp>
        <p:nvSpPr>
          <p:cNvPr id="37" name="Text 34"/>
          <p:cNvSpPr txBox="1"/>
          <p:nvPr/>
        </p:nvSpPr>
        <p:spPr>
          <a:xfrm>
            <a:off x="11091672" y="4524451"/>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8" name="Shape 35"/>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39" name="Text 36"/>
          <p:cNvSpPr txBox="1"/>
          <p:nvPr/>
        </p:nvSpPr>
        <p:spPr>
          <a:xfrm>
            <a:off x="7434072" y="5215738"/>
            <a:ext cx="420624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الأُسْلُوبُ فِي المَلَابِسِ: ______</a:t>
            </a:r>
            <a:endParaRPr lang="ar-SA" sz="2200" dirty="0"/>
          </a:p>
        </p:txBody>
      </p:sp>
      <p:sp>
        <p:nvSpPr>
          <p:cNvPr id="40" name="Text 37"/>
          <p:cNvSpPr txBox="1"/>
          <p:nvPr/>
        </p:nvSpPr>
        <p:spPr>
          <a:xfrm>
            <a:off x="566928" y="5215738"/>
            <a:ext cx="670255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Accuracy /5 — agreement, reference and spelling</a:t>
            </a:r>
            <a:endParaRPr lang="en-US" sz="1100" dirty="0"/>
          </a:p>
        </p:txBody>
      </p:sp>
      <p:sp>
        <p:nvSpPr>
          <p:cNvPr id="41" name="Shape 38"/>
          <p:cNvSpPr/>
          <p:nvPr/>
        </p:nvSpPr>
        <p:spPr>
          <a:xfrm>
            <a:off x="11091672" y="5261458"/>
            <a:ext cx="548640" cy="182880"/>
          </a:xfrm>
          <a:prstGeom prst="roundRect">
            <a:avLst>
              <a:gd name="adj" fmla="val 50000"/>
            </a:avLst>
          </a:prstGeom>
          <a:solidFill>
            <a:srgbClr val="2E8B57"/>
          </a:solidFill>
          <a:ln w="12700">
            <a:solidFill>
              <a:srgbClr val="2E8B57"/>
            </a:solidFill>
            <a:prstDash val="solid"/>
          </a:ln>
        </p:spPr>
      </p:sp>
      <p:sp>
        <p:nvSpPr>
          <p:cNvPr id="42" name="Text 39"/>
          <p:cNvSpPr txBox="1"/>
          <p:nvPr/>
        </p:nvSpPr>
        <p:spPr>
          <a:xfrm>
            <a:off x="11091672" y="526145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3" name="Text 40"/>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Check before you finish: m. / f. adjectives · he / she all the way · hair masc., eyes dual · connectors.</a:t>
            </a:r>
            <a:endParaRPr lang="en-US" sz="115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24</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D2-L12 · D2 Assessment</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8A6D1E"/>
                </a:solidFill>
                <a:latin typeface="Calibri" pitchFamily="34" charset="0"/>
                <a:cs typeface="Amiri" pitchFamily="2" charset="-78"/>
              </a:rPr>
              <a:t>WRITING · A STRONG ANSWER (WEBSITE D2-L11 MODEL) · SHOW AFTER WRITING</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What a strong article includes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نَمُوذَجُ إِجَابَةٍ قَوِيَّةٍ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D2-L12</a:t>
            </a:r>
            <a:endParaRPr lang="en-US" sz="850" dirty="0"/>
          </a:p>
        </p:txBody>
      </p:sp>
      <p:sp>
        <p:nvSpPr>
          <p:cNvPr id="15" name="Shape 12"/>
          <p:cNvSpPr/>
          <p:nvPr/>
        </p:nvSpPr>
        <p:spPr>
          <a:xfrm>
            <a:off x="457200" y="1810512"/>
            <a:ext cx="11274552" cy="841248"/>
          </a:xfrm>
          <a:prstGeom prst="roundRect">
            <a:avLst>
              <a:gd name="adj" fmla="val 5435"/>
            </a:avLst>
          </a:prstGeom>
          <a:solidFill>
            <a:srgbClr val="FFFFFF"/>
          </a:solidFill>
          <a:ln w="9525">
            <a:solidFill>
              <a:srgbClr val="D8D0BF"/>
            </a:solidFill>
            <a:prstDash val="solid"/>
          </a:ln>
        </p:spPr>
      </p:sp>
      <p:sp>
        <p:nvSpPr>
          <p:cNvPr id="16" name="Text 13"/>
          <p:cNvSpPr txBox="1"/>
          <p:nvPr/>
        </p:nvSpPr>
        <p:spPr>
          <a:xfrm>
            <a:off x="4937760" y="18288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سَأَكْتُبُ عَنْ صَدِيقَتِي سَلْمَى الَّتِي أَعْرِفُهَا مُنْذُ خَمْسِ سَنَوَاتٍ.</a:t>
            </a:r>
            <a:endParaRPr lang="ar-SA" sz="2000" dirty="0"/>
          </a:p>
        </p:txBody>
      </p:sp>
      <p:sp>
        <p:nvSpPr>
          <p:cNvPr id="17" name="Text 14"/>
          <p:cNvSpPr txBox="1"/>
          <p:nvPr/>
        </p:nvSpPr>
        <p:spPr>
          <a:xfrm>
            <a:off x="640080" y="18288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person + relationship · relative clause</a:t>
            </a:r>
            <a:endParaRPr lang="en-US" sz="1250" dirty="0"/>
          </a:p>
        </p:txBody>
      </p:sp>
      <p:sp>
        <p:nvSpPr>
          <p:cNvPr id="18" name="Shape 15"/>
          <p:cNvSpPr/>
          <p:nvPr/>
        </p:nvSpPr>
        <p:spPr>
          <a:xfrm>
            <a:off x="457200" y="2724912"/>
            <a:ext cx="11274552" cy="841248"/>
          </a:xfrm>
          <a:prstGeom prst="roundRect">
            <a:avLst>
              <a:gd name="adj" fmla="val 5435"/>
            </a:avLst>
          </a:prstGeom>
          <a:solidFill>
            <a:srgbClr val="F4F1EA"/>
          </a:solidFill>
          <a:ln w="9525">
            <a:solidFill>
              <a:srgbClr val="D8D0BF"/>
            </a:solidFill>
            <a:prstDash val="solid"/>
          </a:ln>
        </p:spPr>
      </p:sp>
      <p:sp>
        <p:nvSpPr>
          <p:cNvPr id="19" name="Text 16"/>
          <p:cNvSpPr txBox="1"/>
          <p:nvPr/>
        </p:nvSpPr>
        <p:spPr>
          <a:xfrm>
            <a:off x="4937760" y="2743200"/>
            <a:ext cx="6675120" cy="804672"/>
          </a:xfrm>
          <a:prstGeom prst="rect">
            <a:avLst/>
          </a:prstGeom>
          <a:noFill/>
          <a:ln/>
        </p:spPr>
        <p:txBody>
          <a:bodyPr wrap="square" lIns="0" tIns="0" rIns="0" bIns="0" rtlCol="0" anchor="ctr"/>
          <a:lstStyle/>
          <a:p>
            <a:pPr rtl="1" algn="r" indent="0" marL="0">
              <a:buNone/>
            </a:pPr>
            <a:r>
              <a:rPr lang="ar-SA" altLang="en-US" sz="1850" b="1" dirty="0">
                <a:solidFill>
                  <a:srgbClr val="1B3B6F"/>
                </a:solidFill>
                <a:latin typeface="Amiri" pitchFamily="2" charset="-78"/>
                <a:cs typeface="Amiri" pitchFamily="2" charset="-78"/>
              </a:rPr>
              <a:t>هِيَ مُتَوَسِّطَةُ القَامَةِ، وَلَهَا شَعْرٌ قَصِيرٌ وَمُجَعَّدٌ، وَتَرْتَدِي عَادَةً مَلَابِسَ بَسِيطَةً وَمُحْتَشِمَةً.</a:t>
            </a:r>
            <a:endParaRPr lang="ar-SA" sz="1850" dirty="0"/>
          </a:p>
        </p:txBody>
      </p:sp>
      <p:sp>
        <p:nvSpPr>
          <p:cNvPr id="20" name="Text 17"/>
          <p:cNvSpPr txBox="1"/>
          <p:nvPr/>
        </p:nvSpPr>
        <p:spPr>
          <a:xfrm>
            <a:off x="640080" y="27432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appearance + style</a:t>
            </a:r>
            <a:endParaRPr lang="en-US" sz="1250" dirty="0"/>
          </a:p>
        </p:txBody>
      </p:sp>
      <p:sp>
        <p:nvSpPr>
          <p:cNvPr id="21" name="Shape 18"/>
          <p:cNvSpPr/>
          <p:nvPr/>
        </p:nvSpPr>
        <p:spPr>
          <a:xfrm>
            <a:off x="457200" y="3639312"/>
            <a:ext cx="11274552" cy="841248"/>
          </a:xfrm>
          <a:prstGeom prst="roundRect">
            <a:avLst>
              <a:gd name="adj" fmla="val 5435"/>
            </a:avLst>
          </a:prstGeom>
          <a:solidFill>
            <a:srgbClr val="FFFFFF"/>
          </a:solidFill>
          <a:ln w="9525">
            <a:solidFill>
              <a:srgbClr val="D8D0BF"/>
            </a:solidFill>
            <a:prstDash val="solid"/>
          </a:ln>
        </p:spPr>
      </p:sp>
      <p:sp>
        <p:nvSpPr>
          <p:cNvPr id="22" name="Text 19"/>
          <p:cNvSpPr txBox="1"/>
          <p:nvPr/>
        </p:nvSpPr>
        <p:spPr>
          <a:xfrm>
            <a:off x="4937760" y="36576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سَلْمَى وَدُودَةٌ وَصَادِقَةٌ، وَأَثِقُ بِهَا لِأَنَّهَا تَسْتَمِعُ إِلَيَّ وَتَقُولُ الحَقَّ.</a:t>
            </a:r>
            <a:endParaRPr lang="ar-SA" sz="2000" dirty="0"/>
          </a:p>
        </p:txBody>
      </p:sp>
      <p:sp>
        <p:nvSpPr>
          <p:cNvPr id="23" name="Text 20"/>
          <p:cNvSpPr txBox="1"/>
          <p:nvPr/>
        </p:nvSpPr>
        <p:spPr>
          <a:xfrm>
            <a:off x="640080" y="36576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qualities + evidence</a:t>
            </a:r>
            <a:endParaRPr lang="en-US" sz="1250" dirty="0"/>
          </a:p>
        </p:txBody>
      </p:sp>
      <p:sp>
        <p:nvSpPr>
          <p:cNvPr id="24" name="Shape 21"/>
          <p:cNvSpPr/>
          <p:nvPr/>
        </p:nvSpPr>
        <p:spPr>
          <a:xfrm>
            <a:off x="457200" y="4553712"/>
            <a:ext cx="11274552" cy="841248"/>
          </a:xfrm>
          <a:prstGeom prst="roundRect">
            <a:avLst>
              <a:gd name="adj" fmla="val 5435"/>
            </a:avLst>
          </a:prstGeom>
          <a:solidFill>
            <a:srgbClr val="F4F1EA"/>
          </a:solidFill>
          <a:ln w="9525">
            <a:solidFill>
              <a:srgbClr val="D8D0BF"/>
            </a:solidFill>
            <a:prstDash val="solid"/>
          </a:ln>
        </p:spPr>
      </p:sp>
      <p:sp>
        <p:nvSpPr>
          <p:cNvPr id="25" name="Text 22"/>
          <p:cNvSpPr txBox="1"/>
          <p:nvPr/>
        </p:nvSpPr>
        <p:spPr>
          <a:xfrm>
            <a:off x="4937760" y="45720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أُسْلُوبُهَا أَكْثَرُ عَصْرِيَّةً مِنْ أُسْلُوبِي، بَيْنَمَا أُفَضِّلُ المَلَابِسَ العَمَلِيَّةَ.</a:t>
            </a:r>
            <a:endParaRPr lang="ar-SA" sz="2000" dirty="0"/>
          </a:p>
        </p:txBody>
      </p:sp>
      <p:sp>
        <p:nvSpPr>
          <p:cNvPr id="26" name="Text 23"/>
          <p:cNvSpPr txBox="1"/>
          <p:nvPr/>
        </p:nvSpPr>
        <p:spPr>
          <a:xfrm>
            <a:off x="640080" y="45720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comparison + contrast</a:t>
            </a:r>
            <a:endParaRPr lang="en-US" sz="1250" dirty="0"/>
          </a:p>
        </p:txBody>
      </p:sp>
      <p:sp>
        <p:nvSpPr>
          <p:cNvPr id="27" name="Shape 24"/>
          <p:cNvSpPr/>
          <p:nvPr/>
        </p:nvSpPr>
        <p:spPr>
          <a:xfrm>
            <a:off x="457200" y="5468112"/>
            <a:ext cx="11274552" cy="841248"/>
          </a:xfrm>
          <a:prstGeom prst="roundRect">
            <a:avLst>
              <a:gd name="adj" fmla="val 5435"/>
            </a:avLst>
          </a:prstGeom>
          <a:solidFill>
            <a:srgbClr val="FFFFFF"/>
          </a:solidFill>
          <a:ln w="9525">
            <a:solidFill>
              <a:srgbClr val="D8D0BF"/>
            </a:solidFill>
            <a:prstDash val="solid"/>
          </a:ln>
        </p:spPr>
      </p:sp>
      <p:sp>
        <p:nvSpPr>
          <p:cNvPr id="28" name="Text 25"/>
          <p:cNvSpPr txBox="1"/>
          <p:nvPr/>
        </p:nvSpPr>
        <p:spPr>
          <a:xfrm>
            <a:off x="4937760" y="54864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فِي رَأْيِي، أَفْضَلُ صِفَةٍ فِيهَا هِيَ صِدْقُهَا، لِأَنَّهُ يَجْعَلُ عَلَاقَتَنَا قَوِيَّةً.</a:t>
            </a:r>
            <a:endParaRPr lang="ar-SA" sz="2000" dirty="0"/>
          </a:p>
        </p:txBody>
      </p:sp>
      <p:sp>
        <p:nvSpPr>
          <p:cNvPr id="29" name="Text 26"/>
          <p:cNvSpPr txBox="1"/>
          <p:nvPr/>
        </p:nvSpPr>
        <p:spPr>
          <a:xfrm>
            <a:off x="640080" y="54864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reasoned opinion</a:t>
            </a:r>
            <a:endParaRPr lang="en-US" sz="125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24</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D2-L12 · D2 Assessment</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9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SPEAKING · 10 MARKS · PORTRAIT + TOPIC CONVERSATION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Speaking assessment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تَقْيِيمُ التَّحَدُّثِ</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D2-L12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5312664" y="1810512"/>
            <a:ext cx="63459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Prepare concise cues (website)</a:t>
            </a:r>
            <a:endParaRPr lang="en-US" sz="1100" dirty="0"/>
          </a:p>
        </p:txBody>
      </p:sp>
      <p:sp>
        <p:nvSpPr>
          <p:cNvPr id="17" name="Text 14"/>
          <p:cNvSpPr txBox="1"/>
          <p:nvPr/>
        </p:nvSpPr>
        <p:spPr>
          <a:xfrm>
            <a:off x="530352" y="1810512"/>
            <a:ext cx="463600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Marked for</a:t>
            </a:r>
            <a:endParaRPr lang="en-US" sz="1100" dirty="0"/>
          </a:p>
        </p:txBody>
      </p:sp>
      <p:sp>
        <p:nvSpPr>
          <p:cNvPr id="18" name="Shape 15"/>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19" name="Text 16"/>
          <p:cNvSpPr txBox="1"/>
          <p:nvPr/>
        </p:nvSpPr>
        <p:spPr>
          <a:xfrm>
            <a:off x="5349240" y="2267712"/>
            <a:ext cx="63093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 · Describe a person and your relationship.</a:t>
            </a:r>
            <a:endParaRPr lang="en-US" sz="1100" dirty="0"/>
          </a:p>
        </p:txBody>
      </p:sp>
      <p:sp>
        <p:nvSpPr>
          <p:cNvPr id="20" name="Text 17"/>
          <p:cNvSpPr txBox="1"/>
          <p:nvPr/>
        </p:nvSpPr>
        <p:spPr>
          <a:xfrm>
            <a:off x="566928" y="2267712"/>
            <a:ext cx="459943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Communication /5 — clear, developed, relevant</a:t>
            </a:r>
            <a:endParaRPr lang="en-US" sz="1100" dirty="0"/>
          </a:p>
        </p:txBody>
      </p:sp>
      <p:sp>
        <p:nvSpPr>
          <p:cNvPr id="21" name="Shape 18"/>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2" name="Text 19"/>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3" name="Shape 20"/>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4" name="Text 21"/>
          <p:cNvSpPr txBox="1"/>
          <p:nvPr/>
        </p:nvSpPr>
        <p:spPr>
          <a:xfrm>
            <a:off x="5349240" y="3004718"/>
            <a:ext cx="63093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 · Give appearance and clothing detail.</a:t>
            </a:r>
            <a:endParaRPr lang="en-US" sz="1100" dirty="0"/>
          </a:p>
        </p:txBody>
      </p:sp>
      <p:sp>
        <p:nvSpPr>
          <p:cNvPr id="25" name="Text 22"/>
          <p:cNvSpPr txBox="1"/>
          <p:nvPr/>
        </p:nvSpPr>
        <p:spPr>
          <a:xfrm>
            <a:off x="566928" y="3004718"/>
            <a:ext cx="459943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Accuracy and range /5 — agreement, reference, variety</a:t>
            </a:r>
            <a:endParaRPr lang="en-US" sz="1100" dirty="0"/>
          </a:p>
        </p:txBody>
      </p:sp>
      <p:sp>
        <p:nvSpPr>
          <p:cNvPr id="26" name="Shape 23"/>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27" name="Text 24"/>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8" name="Shape 25"/>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29" name="Text 26"/>
          <p:cNvSpPr txBox="1"/>
          <p:nvPr/>
        </p:nvSpPr>
        <p:spPr>
          <a:xfrm>
            <a:off x="5349240" y="3741725"/>
            <a:ext cx="63093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 · Give personality evidence.</a:t>
            </a:r>
            <a:endParaRPr lang="en-US" sz="1100" dirty="0"/>
          </a:p>
        </p:txBody>
      </p:sp>
      <p:sp>
        <p:nvSpPr>
          <p:cNvPr id="30" name="Text 27"/>
          <p:cNvSpPr txBox="1"/>
          <p:nvPr/>
        </p:nvSpPr>
        <p:spPr>
          <a:xfrm>
            <a:off x="566928" y="3741725"/>
            <a:ext cx="4599432" cy="682142"/>
          </a:xfrm>
          <a:prstGeom prst="rect">
            <a:avLst/>
          </a:prstGeom>
          <a:noFill/>
          <a:ln/>
        </p:spPr>
        <p:txBody>
          <a:bodyPr wrap="square" lIns="0" tIns="0" rIns="0" bIns="0" rtlCol="0" anchor="ctr"/>
          <a:lstStyle/>
          <a:p>
            <a:pPr algn="l" indent="0" marL="0">
              <a:buNone/>
            </a:pPr>
            <a:endParaRPr lang="en-US" sz="1100" dirty="0"/>
          </a:p>
        </p:txBody>
      </p:sp>
      <p:sp>
        <p:nvSpPr>
          <p:cNvPr id="31" name="Shape 28"/>
          <p:cNvSpPr/>
          <p:nvPr/>
        </p:nvSpPr>
        <p:spPr>
          <a:xfrm>
            <a:off x="11091672" y="3787445"/>
            <a:ext cx="548640" cy="182880"/>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11091672" y="3787445"/>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3" name="Shape 30"/>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34" name="Text 31"/>
          <p:cNvSpPr txBox="1"/>
          <p:nvPr/>
        </p:nvSpPr>
        <p:spPr>
          <a:xfrm>
            <a:off x="5349240" y="4478731"/>
            <a:ext cx="63093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 · Compare your styles.</a:t>
            </a:r>
            <a:endParaRPr lang="en-US" sz="1100" dirty="0"/>
          </a:p>
        </p:txBody>
      </p:sp>
      <p:sp>
        <p:nvSpPr>
          <p:cNvPr id="35" name="Text 32"/>
          <p:cNvSpPr txBox="1"/>
          <p:nvPr/>
        </p:nvSpPr>
        <p:spPr>
          <a:xfrm>
            <a:off x="566928" y="4478731"/>
            <a:ext cx="4599432" cy="682142"/>
          </a:xfrm>
          <a:prstGeom prst="rect">
            <a:avLst/>
          </a:prstGeom>
          <a:noFill/>
          <a:ln/>
        </p:spPr>
        <p:txBody>
          <a:bodyPr wrap="square" lIns="0" tIns="0" rIns="0" bIns="0" rtlCol="0" anchor="ctr"/>
          <a:lstStyle/>
          <a:p>
            <a:pPr algn="l" indent="0" marL="0">
              <a:buNone/>
            </a:pPr>
            <a:endParaRPr lang="en-US" sz="1100" dirty="0"/>
          </a:p>
        </p:txBody>
      </p:sp>
      <p:sp>
        <p:nvSpPr>
          <p:cNvPr id="36" name="Shape 33"/>
          <p:cNvSpPr/>
          <p:nvPr/>
        </p:nvSpPr>
        <p:spPr>
          <a:xfrm>
            <a:off x="11091672" y="4524451"/>
            <a:ext cx="548640" cy="182880"/>
          </a:xfrm>
          <a:prstGeom prst="roundRect">
            <a:avLst>
              <a:gd name="adj" fmla="val 50000"/>
            </a:avLst>
          </a:prstGeom>
          <a:solidFill>
            <a:srgbClr val="2E8B57"/>
          </a:solidFill>
          <a:ln w="12700">
            <a:solidFill>
              <a:srgbClr val="2E8B57"/>
            </a:solidFill>
            <a:prstDash val="solid"/>
          </a:ln>
        </p:spPr>
      </p:sp>
      <p:sp>
        <p:nvSpPr>
          <p:cNvPr id="37" name="Text 34"/>
          <p:cNvSpPr txBox="1"/>
          <p:nvPr/>
        </p:nvSpPr>
        <p:spPr>
          <a:xfrm>
            <a:off x="11091672" y="4524451"/>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8" name="Shape 35"/>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39" name="Text 36"/>
          <p:cNvSpPr txBox="1"/>
          <p:nvPr/>
        </p:nvSpPr>
        <p:spPr>
          <a:xfrm>
            <a:off x="5349240" y="5215738"/>
            <a:ext cx="63093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 · Give and justify an opinion.</a:t>
            </a:r>
            <a:endParaRPr lang="en-US" sz="1100" dirty="0"/>
          </a:p>
        </p:txBody>
      </p:sp>
      <p:sp>
        <p:nvSpPr>
          <p:cNvPr id="40" name="Text 37"/>
          <p:cNvSpPr txBox="1"/>
          <p:nvPr/>
        </p:nvSpPr>
        <p:spPr>
          <a:xfrm>
            <a:off x="566928" y="5215738"/>
            <a:ext cx="4599432" cy="682142"/>
          </a:xfrm>
          <a:prstGeom prst="rect">
            <a:avLst/>
          </a:prstGeom>
          <a:noFill/>
          <a:ln/>
        </p:spPr>
        <p:txBody>
          <a:bodyPr wrap="square" lIns="0" tIns="0" rIns="0" bIns="0" rtlCol="0" anchor="ctr"/>
          <a:lstStyle/>
          <a:p>
            <a:pPr algn="l" indent="0" marL="0">
              <a:buNone/>
            </a:pPr>
            <a:endParaRPr lang="en-US" sz="1100" dirty="0"/>
          </a:p>
        </p:txBody>
      </p:sp>
      <p:sp>
        <p:nvSpPr>
          <p:cNvPr id="41" name="Shape 38"/>
          <p:cNvSpPr/>
          <p:nvPr/>
        </p:nvSpPr>
        <p:spPr>
          <a:xfrm>
            <a:off x="11091672" y="5261458"/>
            <a:ext cx="548640" cy="182880"/>
          </a:xfrm>
          <a:prstGeom prst="roundRect">
            <a:avLst>
              <a:gd name="adj" fmla="val 50000"/>
            </a:avLst>
          </a:prstGeom>
          <a:solidFill>
            <a:srgbClr val="2E8B57"/>
          </a:solidFill>
          <a:ln w="12700">
            <a:solidFill>
              <a:srgbClr val="2E8B57"/>
            </a:solidFill>
            <a:prstDash val="solid"/>
          </a:ln>
        </p:spPr>
      </p:sp>
      <p:sp>
        <p:nvSpPr>
          <p:cNvPr id="42" name="Text 39"/>
          <p:cNvSpPr txBox="1"/>
          <p:nvPr/>
        </p:nvSpPr>
        <p:spPr>
          <a:xfrm>
            <a:off x="11091672" y="526145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3" name="Text 40"/>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Cue words only — one or two per stage (D2-L10). Then answer the teacher’s follow-up questions (D2-L09).</a:t>
            </a:r>
            <a:endParaRPr lang="en-US" sz="115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24</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D2-L12 · D2 Assessment</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8A6D1E"/>
                </a:solidFill>
                <a:latin typeface="Calibri" pitchFamily="34" charset="0"/>
                <a:cs typeface="Amiri" pitchFamily="2" charset="-78"/>
              </a:rPr>
              <a:t>RESULTS · RECORD YOUR PROFILE AND SET ONE TARGET (WEBSITE REFLECTION)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My D2 score profile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سَجِّلْ دَرَجَتَكَ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D2-L12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5468112" y="1810512"/>
            <a:ext cx="61904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Guide (total /60) · teacher guide, not an exam grade</a:t>
            </a:r>
            <a:endParaRPr lang="en-US" sz="1100" dirty="0"/>
          </a:p>
        </p:txBody>
      </p:sp>
      <p:sp>
        <p:nvSpPr>
          <p:cNvPr id="17" name="Text 14"/>
          <p:cNvSpPr txBox="1"/>
          <p:nvPr/>
        </p:nvSpPr>
        <p:spPr>
          <a:xfrm>
            <a:off x="3639312" y="1810512"/>
            <a:ext cx="16824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My score</a:t>
            </a:r>
            <a:endParaRPr lang="en-US" sz="1100" dirty="0"/>
          </a:p>
        </p:txBody>
      </p:sp>
      <p:sp>
        <p:nvSpPr>
          <p:cNvPr id="18" name="Text 15"/>
          <p:cNvSpPr txBox="1"/>
          <p:nvPr/>
        </p:nvSpPr>
        <p:spPr>
          <a:xfrm>
            <a:off x="530352" y="1810512"/>
            <a:ext cx="29626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Skill</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5504688" y="2267712"/>
            <a:ext cx="615391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54–60 Excellent — secure D2 foundation</a:t>
            </a:r>
            <a:endParaRPr lang="en-US" sz="1100" dirty="0"/>
          </a:p>
        </p:txBody>
      </p:sp>
      <p:sp>
        <p:nvSpPr>
          <p:cNvPr id="21" name="Text 18"/>
          <p:cNvSpPr txBox="1"/>
          <p:nvPr/>
        </p:nvSpPr>
        <p:spPr>
          <a:xfrm>
            <a:off x="3675888" y="2267712"/>
            <a:ext cx="164592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/20</a:t>
            </a:r>
            <a:endParaRPr lang="en-US" sz="1100" dirty="0"/>
          </a:p>
        </p:txBody>
      </p:sp>
      <p:sp>
        <p:nvSpPr>
          <p:cNvPr id="22" name="Text 19"/>
          <p:cNvSpPr txBox="1"/>
          <p:nvPr/>
        </p:nvSpPr>
        <p:spPr>
          <a:xfrm>
            <a:off x="566928" y="2267712"/>
            <a:ext cx="29260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 Listening</a:t>
            </a:r>
            <a:endParaRPr lang="en-US" sz="11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6" name="Text 23"/>
          <p:cNvSpPr txBox="1"/>
          <p:nvPr/>
        </p:nvSpPr>
        <p:spPr>
          <a:xfrm>
            <a:off x="5504688" y="3054096"/>
            <a:ext cx="615391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42–53 Good — ready to move on with one practice target</a:t>
            </a:r>
            <a:endParaRPr lang="en-US" sz="1100" dirty="0"/>
          </a:p>
        </p:txBody>
      </p:sp>
      <p:sp>
        <p:nvSpPr>
          <p:cNvPr id="27" name="Text 24"/>
          <p:cNvSpPr txBox="1"/>
          <p:nvPr/>
        </p:nvSpPr>
        <p:spPr>
          <a:xfrm>
            <a:off x="3675888" y="3054096"/>
            <a:ext cx="164592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/10</a:t>
            </a:r>
            <a:endParaRPr lang="en-US" sz="1100" dirty="0"/>
          </a:p>
        </p:txBody>
      </p:sp>
      <p:sp>
        <p:nvSpPr>
          <p:cNvPr id="28" name="Text 25"/>
          <p:cNvSpPr txBox="1"/>
          <p:nvPr/>
        </p:nvSpPr>
        <p:spPr>
          <a:xfrm>
            <a:off x="566928" y="3054096"/>
            <a:ext cx="29260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 Reading</a:t>
            </a:r>
            <a:endParaRPr lang="en-US" sz="1100" dirty="0"/>
          </a:p>
        </p:txBody>
      </p:sp>
      <p:sp>
        <p:nvSpPr>
          <p:cNvPr id="29" name="Shape 26"/>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2" name="Text 29"/>
          <p:cNvSpPr txBox="1"/>
          <p:nvPr/>
        </p:nvSpPr>
        <p:spPr>
          <a:xfrm>
            <a:off x="5504688" y="3840480"/>
            <a:ext cx="615391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30–41 Satisfactory — targeted D2 retrieval early next unit</a:t>
            </a:r>
            <a:endParaRPr lang="en-US" sz="1100" dirty="0"/>
          </a:p>
        </p:txBody>
      </p:sp>
      <p:sp>
        <p:nvSpPr>
          <p:cNvPr id="33" name="Text 30"/>
          <p:cNvSpPr txBox="1"/>
          <p:nvPr/>
        </p:nvSpPr>
        <p:spPr>
          <a:xfrm>
            <a:off x="3675888" y="3840480"/>
            <a:ext cx="164592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/20</a:t>
            </a:r>
            <a:endParaRPr lang="en-US" sz="1100" dirty="0"/>
          </a:p>
        </p:txBody>
      </p:sp>
      <p:sp>
        <p:nvSpPr>
          <p:cNvPr id="34" name="Text 31"/>
          <p:cNvSpPr txBox="1"/>
          <p:nvPr/>
        </p:nvSpPr>
        <p:spPr>
          <a:xfrm>
            <a:off x="566928" y="3840480"/>
            <a:ext cx="29260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 Writing</a:t>
            </a:r>
            <a:endParaRPr lang="en-US" sz="1100" dirty="0"/>
          </a:p>
        </p:txBody>
      </p:sp>
      <p:sp>
        <p:nvSpPr>
          <p:cNvPr id="35" name="Shape 32"/>
          <p:cNvSpPr/>
          <p:nvPr/>
        </p:nvSpPr>
        <p:spPr>
          <a:xfrm>
            <a:off x="11091672" y="3886200"/>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88620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38" name="Text 35"/>
          <p:cNvSpPr txBox="1"/>
          <p:nvPr/>
        </p:nvSpPr>
        <p:spPr>
          <a:xfrm>
            <a:off x="5504688" y="4626864"/>
            <a:ext cx="615391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Below 30 — catch-up on the lowest skill first</a:t>
            </a:r>
            <a:endParaRPr lang="en-US" sz="1100" dirty="0"/>
          </a:p>
        </p:txBody>
      </p:sp>
      <p:sp>
        <p:nvSpPr>
          <p:cNvPr id="39" name="Text 36"/>
          <p:cNvSpPr txBox="1"/>
          <p:nvPr/>
        </p:nvSpPr>
        <p:spPr>
          <a:xfrm>
            <a:off x="3675888" y="4626864"/>
            <a:ext cx="164592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/10</a:t>
            </a:r>
            <a:endParaRPr lang="en-US" sz="1100" dirty="0"/>
          </a:p>
        </p:txBody>
      </p:sp>
      <p:sp>
        <p:nvSpPr>
          <p:cNvPr id="40" name="Text 37"/>
          <p:cNvSpPr txBox="1"/>
          <p:nvPr/>
        </p:nvSpPr>
        <p:spPr>
          <a:xfrm>
            <a:off x="566928" y="4626864"/>
            <a:ext cx="29260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 Speaking</a:t>
            </a:r>
            <a:endParaRPr lang="en-US" sz="1100" dirty="0"/>
          </a:p>
        </p:txBody>
      </p:sp>
      <p:sp>
        <p:nvSpPr>
          <p:cNvPr id="41" name="Shape 38"/>
          <p:cNvSpPr/>
          <p:nvPr/>
        </p:nvSpPr>
        <p:spPr>
          <a:xfrm>
            <a:off x="11091672" y="4672584"/>
            <a:ext cx="548640" cy="182880"/>
          </a:xfrm>
          <a:prstGeom prst="roundRect">
            <a:avLst>
              <a:gd name="adj" fmla="val 50000"/>
            </a:avLst>
          </a:prstGeom>
          <a:solidFill>
            <a:srgbClr val="2E8B57"/>
          </a:solidFill>
          <a:ln w="12700">
            <a:solidFill>
              <a:srgbClr val="2E8B57"/>
            </a:solidFill>
            <a:prstDash val="solid"/>
          </a:ln>
        </p:spPr>
      </p:sp>
      <p:sp>
        <p:nvSpPr>
          <p:cNvPr id="42" name="Text 39"/>
          <p:cNvSpPr txBox="1"/>
          <p:nvPr/>
        </p:nvSpPr>
        <p:spPr>
          <a:xfrm>
            <a:off x="11091672" y="467258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3" name="Text 40"/>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Write in your book (website reflection): one secure language feature · one precise next action.</a:t>
            </a:r>
            <a:endParaRPr lang="en-US" sz="115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24</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D2-L12 · D2 Assessment</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D2-L12</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can describe a person’s personality with m. / f. adjectives.</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can describe clothes with this / this (f.) and colours.</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can compare people and clothes (…-er than, more … than).</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can describe appearance: he / she has …, hair, eyes.</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can give a balanced opinion with evidence.</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24</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D2-L12 · D2 Assessment</a:t>
            </a:r>
            <a:endParaRPr lang="en-US" sz="950" dirty="0"/>
          </a:p>
        </p:txBody>
      </p:sp>
      <p:sp>
        <p:nvSpPr>
          <p:cNvPr id="8" name="Shape 6"/>
          <p:cNvSpPr/>
          <p:nvPr/>
        </p:nvSpPr>
        <p:spPr>
          <a:xfrm>
            <a:off x="6915607" y="274320"/>
            <a:ext cx="1844345" cy="329184"/>
          </a:xfrm>
          <a:prstGeom prst="roundRect">
            <a:avLst>
              <a:gd name="adj" fmla="val 50000"/>
            </a:avLst>
          </a:prstGeom>
          <a:solidFill>
            <a:srgbClr val="C45A3C"/>
          </a:solidFill>
          <a:ln w="12700">
            <a:solidFill>
              <a:srgbClr val="C45A3C"/>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PREPARATION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C45A3C"/>
                </a:solidFill>
                <a:latin typeface="Calibri" pitchFamily="34" charset="0"/>
                <a:cs typeface="Amiri" pitchFamily="2" charset="-78"/>
              </a:rPr>
              <a:t>PREPARATION FOR NEXT LESSON · ABOUT 10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Before D3-L01: get ready at home</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التَّحْضِيرُ لِلدَّرْسِ القَادِمِ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D2-L12</a:t>
            </a:r>
            <a:endParaRPr lang="en-US" sz="850" dirty="0"/>
          </a:p>
        </p:txBody>
      </p:sp>
      <p:sp>
        <p:nvSpPr>
          <p:cNvPr id="15" name="Shape 12"/>
          <p:cNvSpPr/>
          <p:nvPr/>
        </p:nvSpPr>
        <p:spPr>
          <a:xfrm>
            <a:off x="457200" y="1810512"/>
            <a:ext cx="5394960" cy="4498848"/>
          </a:xfrm>
          <a:prstGeom prst="roundRect">
            <a:avLst>
              <a:gd name="adj" fmla="val 1626"/>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475488" cy="475488"/>
          </a:xfrm>
          <a:prstGeom prst="ellipse">
            <a:avLst/>
          </a:prstGeom>
          <a:solidFill>
            <a:srgbClr val="C45A3C"/>
          </a:solidFill>
          <a:ln w="12700">
            <a:solidFill>
              <a:srgbClr val="C45A3C"/>
            </a:solidFill>
            <a:prstDash val="solid"/>
          </a:ln>
        </p:spPr>
      </p:sp>
      <p:pic>
        <p:nvPicPr>
          <p:cNvPr id="17" name="Image 0" descr="preencoded.png">    </p:cNvPr>
          <p:cNvPicPr>
            <a:picLocks noChangeAspect="1"/>
          </p:cNvPicPr>
          <p:nvPr/>
        </p:nvPicPr>
        <p:blipFill>
          <a:blip r:embed="rId1"/>
          <a:stretch>
            <a:fillRect/>
          </a:stretch>
        </p:blipFill>
        <p:spPr>
          <a:xfrm>
            <a:off x="731520" y="2029968"/>
            <a:ext cx="292608" cy="292608"/>
          </a:xfrm>
          <a:prstGeom prst="rect">
            <a:avLst/>
          </a:prstGeom>
        </p:spPr>
      </p:pic>
      <p:sp>
        <p:nvSpPr>
          <p:cNvPr id="18" name="Text 14"/>
          <p:cNvSpPr txBox="1"/>
          <p:nvPr/>
        </p:nvSpPr>
        <p:spPr>
          <a:xfrm>
            <a:off x="1207008" y="1920240"/>
            <a:ext cx="4480560" cy="512064"/>
          </a:xfrm>
          <a:prstGeom prst="rect">
            <a:avLst/>
          </a:prstGeom>
          <a:noFill/>
          <a:ln/>
        </p:spPr>
        <p:txBody>
          <a:bodyPr wrap="square" lIns="0" tIns="0" rIns="0" bIns="0" rtlCol="0" anchor="ctr"/>
          <a:lstStyle/>
          <a:p>
            <a:pPr indent="0" marL="0">
              <a:buNone/>
            </a:pPr>
            <a:r>
              <a:rPr lang="en-US" sz="1100" b="1" spc="200" kern="0" dirty="0">
                <a:solidFill>
                  <a:srgbClr val="C45A3C"/>
                </a:solidFill>
                <a:latin typeface="Calibri" pitchFamily="34" charset="0"/>
                <a:cs typeface="Amiri" pitchFamily="2" charset="-78"/>
              </a:rPr>
              <a:t>LEARN THESE 5 WORDS</a:t>
            </a:r>
            <a:endParaRPr lang="en-US" sz="1100" dirty="0"/>
          </a:p>
          <a:p>
            <a:pPr indent="0" marL="0">
              <a:buNone/>
            </a:pPr>
            <a:r>
              <a:rPr lang="en-US" sz="1000" dirty="0">
                <a:solidFill>
                  <a:srgbClr val="5A6472"/>
                </a:solidFill>
                <a:latin typeface="Calibri" pitchFamily="34" charset="0"/>
                <a:cs typeface="Amiri" pitchFamily="2" charset="-78"/>
              </a:rPr>
              <a:t>for D3-L01 · Jobs and Professions (D3)</a:t>
            </a:r>
            <a:endParaRPr lang="en-US" sz="1100" dirty="0"/>
          </a:p>
        </p:txBody>
      </p:sp>
      <p:sp>
        <p:nvSpPr>
          <p:cNvPr id="19" name="Text 15"/>
          <p:cNvSpPr txBox="1"/>
          <p:nvPr/>
        </p:nvSpPr>
        <p:spPr>
          <a:xfrm>
            <a:off x="3017520" y="25603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مُرَاجَعَةٌ</a:t>
            </a:r>
            <a:endParaRPr lang="ar-SA" sz="2000" dirty="0"/>
          </a:p>
        </p:txBody>
      </p:sp>
      <p:sp>
        <p:nvSpPr>
          <p:cNvPr id="20" name="Text 16"/>
          <p:cNvSpPr txBox="1"/>
          <p:nvPr/>
        </p:nvSpPr>
        <p:spPr>
          <a:xfrm>
            <a:off x="685800" y="25603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review</a:t>
            </a:r>
            <a:pPr indent="0" marL="0">
              <a:buNone/>
            </a:pPr>
            <a:r>
              <a:rPr lang="en-US" sz="1000" i="1" dirty="0">
                <a:solidFill>
                  <a:srgbClr val="5A6472"/>
                </a:solidFill>
                <a:latin typeface="Calibri" pitchFamily="34" charset="0"/>
                <a:cs typeface="Amiri" pitchFamily="2" charset="-78"/>
              </a:rPr>
              <a:t>  D2-L11</a:t>
            </a:r>
            <a:endParaRPr lang="en-US" sz="1200" dirty="0"/>
          </a:p>
        </p:txBody>
      </p:sp>
      <p:sp>
        <p:nvSpPr>
          <p:cNvPr id="21" name="Text 17"/>
          <p:cNvSpPr txBox="1"/>
          <p:nvPr/>
        </p:nvSpPr>
        <p:spPr>
          <a:xfrm>
            <a:off x="3017520" y="30175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نُقْطَةُ قُوَّةٍ</a:t>
            </a:r>
            <a:endParaRPr lang="ar-SA" sz="2000" dirty="0"/>
          </a:p>
        </p:txBody>
      </p:sp>
      <p:sp>
        <p:nvSpPr>
          <p:cNvPr id="22" name="Text 18"/>
          <p:cNvSpPr txBox="1"/>
          <p:nvPr/>
        </p:nvSpPr>
        <p:spPr>
          <a:xfrm>
            <a:off x="685800" y="30175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 strength</a:t>
            </a:r>
            <a:pPr indent="0" marL="0">
              <a:buNone/>
            </a:pPr>
            <a:endParaRPr lang="en-US" sz="1200" dirty="0"/>
          </a:p>
        </p:txBody>
      </p:sp>
      <p:sp>
        <p:nvSpPr>
          <p:cNvPr id="23" name="Text 19"/>
          <p:cNvSpPr txBox="1"/>
          <p:nvPr/>
        </p:nvSpPr>
        <p:spPr>
          <a:xfrm>
            <a:off x="3017520" y="34747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هَدَفٌ</a:t>
            </a:r>
            <a:endParaRPr lang="ar-SA" sz="2000" dirty="0"/>
          </a:p>
        </p:txBody>
      </p:sp>
      <p:sp>
        <p:nvSpPr>
          <p:cNvPr id="24" name="Text 20"/>
          <p:cNvSpPr txBox="1"/>
          <p:nvPr/>
        </p:nvSpPr>
        <p:spPr>
          <a:xfrm>
            <a:off x="685800" y="34747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 target</a:t>
            </a:r>
            <a:pPr indent="0" marL="0">
              <a:buNone/>
            </a:pPr>
            <a:r>
              <a:rPr lang="en-US" sz="1000" i="1" dirty="0">
                <a:solidFill>
                  <a:srgbClr val="5A6472"/>
                </a:solidFill>
                <a:latin typeface="Calibri" pitchFamily="34" charset="0"/>
                <a:cs typeface="Amiri" pitchFamily="2" charset="-78"/>
              </a:rPr>
              <a:t>  pl. أَهْدَافٌ</a:t>
            </a:r>
            <a:endParaRPr lang="en-US" sz="1200" dirty="0"/>
          </a:p>
        </p:txBody>
      </p:sp>
      <p:sp>
        <p:nvSpPr>
          <p:cNvPr id="25" name="Text 21"/>
          <p:cNvSpPr txBox="1"/>
          <p:nvPr/>
        </p:nvSpPr>
        <p:spPr>
          <a:xfrm>
            <a:off x="3017520" y="39319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أُحَسِّنُ</a:t>
            </a:r>
            <a:endParaRPr lang="ar-SA" sz="2000" dirty="0"/>
          </a:p>
        </p:txBody>
      </p:sp>
      <p:sp>
        <p:nvSpPr>
          <p:cNvPr id="26" name="Text 22"/>
          <p:cNvSpPr txBox="1"/>
          <p:nvPr/>
        </p:nvSpPr>
        <p:spPr>
          <a:xfrm>
            <a:off x="685800" y="39319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I improve</a:t>
            </a:r>
            <a:pPr indent="0" marL="0">
              <a:buNone/>
            </a:pPr>
            <a:r>
              <a:rPr lang="en-US" sz="1000" i="1" dirty="0">
                <a:solidFill>
                  <a:srgbClr val="5A6472"/>
                </a:solidFill>
                <a:latin typeface="Calibri" pitchFamily="34" charset="0"/>
                <a:cs typeface="Amiri" pitchFamily="2" charset="-78"/>
              </a:rPr>
              <a:t>  he: يُحَسِّنُ</a:t>
            </a:r>
            <a:endParaRPr lang="en-US" sz="1200" dirty="0"/>
          </a:p>
        </p:txBody>
      </p:sp>
      <p:sp>
        <p:nvSpPr>
          <p:cNvPr id="27" name="Text 23"/>
          <p:cNvSpPr txBox="1"/>
          <p:nvPr/>
        </p:nvSpPr>
        <p:spPr>
          <a:xfrm>
            <a:off x="3017520" y="43891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أَتَدَرَّبُ</a:t>
            </a:r>
            <a:endParaRPr lang="ar-SA" sz="2000" dirty="0"/>
          </a:p>
        </p:txBody>
      </p:sp>
      <p:sp>
        <p:nvSpPr>
          <p:cNvPr id="28" name="Text 24"/>
          <p:cNvSpPr txBox="1"/>
          <p:nvPr/>
        </p:nvSpPr>
        <p:spPr>
          <a:xfrm>
            <a:off x="685800" y="43891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I practise</a:t>
            </a:r>
            <a:pPr indent="0" marL="0">
              <a:buNone/>
            </a:pPr>
            <a:r>
              <a:rPr lang="en-US" sz="1000" i="1" dirty="0">
                <a:solidFill>
                  <a:srgbClr val="5A6472"/>
                </a:solidFill>
                <a:latin typeface="Calibri" pitchFamily="34" charset="0"/>
                <a:cs typeface="Amiri" pitchFamily="2" charset="-78"/>
              </a:rPr>
              <a:t>  he: يَتَدَرَّبُ</a:t>
            </a:r>
            <a:endParaRPr lang="en-US" sz="1200" dirty="0"/>
          </a:p>
        </p:txBody>
      </p:sp>
      <p:sp>
        <p:nvSpPr>
          <p:cNvPr id="29" name="Text 25"/>
          <p:cNvSpPr txBox="1"/>
          <p:nvPr/>
        </p:nvSpPr>
        <p:spPr>
          <a:xfrm>
            <a:off x="685800" y="4892040"/>
            <a:ext cx="2743200" cy="237744"/>
          </a:xfrm>
          <a:prstGeom prst="rect">
            <a:avLst/>
          </a:prstGeom>
          <a:noFill/>
          <a:ln/>
        </p:spPr>
        <p:txBody>
          <a:bodyPr wrap="square" lIns="0" tIns="0" rIns="0" bIns="0" rtlCol="0" anchor="ctr"/>
          <a:lstStyle/>
          <a:p>
            <a:pPr algn="l" indent="0" marL="0">
              <a:buNone/>
            </a:pPr>
            <a:r>
              <a:rPr lang="en-US" sz="900" b="1" spc="200" kern="0" dirty="0">
                <a:solidFill>
                  <a:srgbClr val="C45A3C"/>
                </a:solidFill>
                <a:latin typeface="Calibri" pitchFamily="34" charset="0"/>
                <a:cs typeface="Amiri" pitchFamily="2" charset="-78"/>
              </a:rPr>
              <a:t>AND ANSWER ONE QUESTION</a:t>
            </a:r>
            <a:endParaRPr lang="en-US" sz="900" dirty="0"/>
          </a:p>
        </p:txBody>
      </p:sp>
      <p:sp>
        <p:nvSpPr>
          <p:cNvPr id="30" name="Text 26"/>
          <p:cNvSpPr txBox="1"/>
          <p:nvPr/>
        </p:nvSpPr>
        <p:spPr>
          <a:xfrm>
            <a:off x="685800" y="5129784"/>
            <a:ext cx="2194560" cy="1005840"/>
          </a:xfrm>
          <a:prstGeom prst="rect">
            <a:avLst/>
          </a:prstGeom>
          <a:noFill/>
          <a:ln/>
        </p:spPr>
        <p:txBody>
          <a:bodyPr wrap="square" lIns="0" tIns="0" rIns="0" bIns="0" rtlCol="0" anchor="t"/>
          <a:lstStyle/>
          <a:p>
            <a:pPr algn="l" indent="0" marL="0">
              <a:buNone/>
            </a:pPr>
            <a:r>
              <a:rPr lang="en-US" sz="1050" dirty="0">
                <a:solidFill>
                  <a:srgbClr val="1F2A37"/>
                </a:solidFill>
                <a:latin typeface="Calibri" pitchFamily="34" charset="0"/>
                <a:cs typeface="Amiri" pitchFamily="2" charset="-78"/>
              </a:rPr>
              <a:t>Write your target for the next unit: one skill, one repeated action, one check date.</a:t>
            </a:r>
            <a:endParaRPr lang="en-US" sz="1050" dirty="0"/>
          </a:p>
        </p:txBody>
      </p:sp>
      <p:sp>
        <p:nvSpPr>
          <p:cNvPr id="31" name="Text 27"/>
          <p:cNvSpPr txBox="1"/>
          <p:nvPr/>
        </p:nvSpPr>
        <p:spPr>
          <a:xfrm>
            <a:off x="2926080" y="5074920"/>
            <a:ext cx="2743200" cy="1051560"/>
          </a:xfrm>
          <a:prstGeom prst="rect">
            <a:avLst/>
          </a:prstGeom>
          <a:noFill/>
          <a:ln/>
        </p:spPr>
        <p:txBody>
          <a:bodyPr wrap="square" lIns="0" tIns="0" rIns="0" bIns="0" rtlCol="0" anchor="ctr"/>
          <a:lstStyle/>
          <a:p>
            <a:pPr rtl="1" algn="r" indent="0" marL="0">
              <a:buNone/>
            </a:pPr>
            <a:r>
              <a:rPr lang="ar-SA" altLang="en-US" sz="1700" b="1" dirty="0">
                <a:solidFill>
                  <a:srgbClr val="1B3B6F"/>
                </a:solidFill>
                <a:latin typeface="Amiri" pitchFamily="2" charset="-78"/>
                <a:cs typeface="Amiri" pitchFamily="2" charset="-78"/>
              </a:rPr>
              <a:t>هَدَفِي …</a:t>
            </a:r>
            <a:endParaRPr lang="ar-SA" sz="1700" dirty="0"/>
          </a:p>
        </p:txBody>
      </p:sp>
      <p:sp>
        <p:nvSpPr>
          <p:cNvPr id="32" name="Text 28"/>
          <p:cNvSpPr txBox="1"/>
          <p:nvPr/>
        </p:nvSpPr>
        <p:spPr>
          <a:xfrm>
            <a:off x="6126480" y="1828800"/>
            <a:ext cx="54864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HOMEWORK — CHOOSE YOUR ROUTE</a:t>
            </a:r>
            <a:endParaRPr lang="en-US" sz="1000" dirty="0"/>
          </a:p>
        </p:txBody>
      </p:sp>
      <p:sp>
        <p:nvSpPr>
          <p:cNvPr id="33" name="Shape 29"/>
          <p:cNvSpPr/>
          <p:nvPr/>
        </p:nvSpPr>
        <p:spPr>
          <a:xfrm>
            <a:off x="6126480" y="2194560"/>
            <a:ext cx="5605272" cy="1243584"/>
          </a:xfrm>
          <a:prstGeom prst="roundRect">
            <a:avLst>
              <a:gd name="adj" fmla="val 5882"/>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0"/>
          <p:cNvSpPr/>
          <p:nvPr/>
        </p:nvSpPr>
        <p:spPr>
          <a:xfrm>
            <a:off x="6309360" y="2322576"/>
            <a:ext cx="1051560" cy="274320"/>
          </a:xfrm>
          <a:prstGeom prst="roundRect">
            <a:avLst>
              <a:gd name="adj" fmla="val 50000"/>
            </a:avLst>
          </a:prstGeom>
          <a:solidFill>
            <a:srgbClr val="2E8B57"/>
          </a:solidFill>
          <a:ln w="12700">
            <a:solidFill>
              <a:srgbClr val="2E8B57"/>
            </a:solidFill>
            <a:prstDash val="solid"/>
          </a:ln>
        </p:spPr>
      </p:sp>
      <p:sp>
        <p:nvSpPr>
          <p:cNvPr id="35" name="Text 31"/>
          <p:cNvSpPr txBox="1"/>
          <p:nvPr/>
        </p:nvSpPr>
        <p:spPr>
          <a:xfrm>
            <a:off x="6309360" y="23225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2"/>
          <p:cNvSpPr txBox="1"/>
          <p:nvPr/>
        </p:nvSpPr>
        <p:spPr>
          <a:xfrm>
            <a:off x="6309360" y="26517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Redo the D2-L12 grammar laboratory on the website; relearn any adjective pair you got wrong.</a:t>
            </a:r>
            <a:endParaRPr lang="en-US" sz="1200" dirty="0"/>
          </a:p>
        </p:txBody>
      </p:sp>
      <p:sp>
        <p:nvSpPr>
          <p:cNvPr id="37" name="Shape 33"/>
          <p:cNvSpPr/>
          <p:nvPr/>
        </p:nvSpPr>
        <p:spPr>
          <a:xfrm>
            <a:off x="6126480" y="3566160"/>
            <a:ext cx="5605272" cy="1243584"/>
          </a:xfrm>
          <a:prstGeom prst="roundRect">
            <a:avLst>
              <a:gd name="adj" fmla="val 5882"/>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4"/>
          <p:cNvSpPr/>
          <p:nvPr/>
        </p:nvSpPr>
        <p:spPr>
          <a:xfrm>
            <a:off x="6309360" y="3694176"/>
            <a:ext cx="1051560" cy="274320"/>
          </a:xfrm>
          <a:prstGeom prst="roundRect">
            <a:avLst>
              <a:gd name="adj" fmla="val 50000"/>
            </a:avLst>
          </a:prstGeom>
          <a:solidFill>
            <a:srgbClr val="C9780A"/>
          </a:solidFill>
          <a:ln w="12700">
            <a:solidFill>
              <a:srgbClr val="C9780A"/>
            </a:solidFill>
            <a:prstDash val="solid"/>
          </a:ln>
        </p:spPr>
      </p:sp>
      <p:sp>
        <p:nvSpPr>
          <p:cNvPr id="39" name="Text 35"/>
          <p:cNvSpPr txBox="1"/>
          <p:nvPr/>
        </p:nvSpPr>
        <p:spPr>
          <a:xfrm>
            <a:off x="6309360" y="36941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6"/>
          <p:cNvSpPr txBox="1"/>
          <p:nvPr/>
        </p:nvSpPr>
        <p:spPr>
          <a:xfrm>
            <a:off x="6309360" y="40233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Redo the assessment section with your lowest score on the website.</a:t>
            </a:r>
            <a:endParaRPr lang="en-US" sz="1200" dirty="0"/>
          </a:p>
        </p:txBody>
      </p:sp>
      <p:sp>
        <p:nvSpPr>
          <p:cNvPr id="41" name="Shape 37"/>
          <p:cNvSpPr/>
          <p:nvPr/>
        </p:nvSpPr>
        <p:spPr>
          <a:xfrm>
            <a:off x="6126480" y="4937760"/>
            <a:ext cx="5605272" cy="1243584"/>
          </a:xfrm>
          <a:prstGeom prst="roundRect">
            <a:avLst>
              <a:gd name="adj" fmla="val 5882"/>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8"/>
          <p:cNvSpPr/>
          <p:nvPr/>
        </p:nvSpPr>
        <p:spPr>
          <a:xfrm>
            <a:off x="6309360" y="5065776"/>
            <a:ext cx="1051560" cy="274320"/>
          </a:xfrm>
          <a:prstGeom prst="roundRect">
            <a:avLst>
              <a:gd name="adj" fmla="val 50000"/>
            </a:avLst>
          </a:prstGeom>
          <a:solidFill>
            <a:srgbClr val="B83227"/>
          </a:solidFill>
          <a:ln w="12700">
            <a:solidFill>
              <a:srgbClr val="B83227"/>
            </a:solidFill>
            <a:prstDash val="solid"/>
          </a:ln>
        </p:spPr>
      </p:sp>
      <p:sp>
        <p:nvSpPr>
          <p:cNvPr id="43" name="Text 39"/>
          <p:cNvSpPr txBox="1"/>
          <p:nvPr/>
        </p:nvSpPr>
        <p:spPr>
          <a:xfrm>
            <a:off x="6309360" y="50657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0"/>
          <p:cNvSpPr txBox="1"/>
          <p:nvPr/>
        </p:nvSpPr>
        <p:spPr>
          <a:xfrm>
            <a:off x="6309360" y="53949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Write your D2 reflection (one secure feature + one precise next action) in Arabic.</a:t>
            </a:r>
            <a:endParaRPr lang="en-US" sz="1200" dirty="0"/>
          </a:p>
        </p:txBody>
      </p:sp>
      <p:sp>
        <p:nvSpPr>
          <p:cNvPr id="45"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23 / 24</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D2-L12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see you next lesson.</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2750" b="1" dirty="0">
                <a:solidFill>
                  <a:srgbClr val="FFFFFF"/>
                </a:solidFill>
                <a:latin typeface="Cambria" pitchFamily="34" charset="0"/>
                <a:cs typeface="Amiri" pitchFamily="2" charset="-78"/>
              </a:rPr>
              <a:t>D3-L01 · Jobs and Professions (D3)</a:t>
            </a:r>
            <a:endParaRPr lang="en-US" sz="275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cs typeface="Amiri" pitchFamily="2" charset="-78"/>
              </a:rPr>
              <a:t>الوَظَائِفُ وَالمِهَنُ</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D2 complete — well done! Keep your target visible.</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D2-L12 · Review and Unit Assessment</dc:title>
  <dc:subject>PptxGenJS Presentation</dc:subject>
  <dc:creator>Al Madina Online School · Arabic Department</dc:creator>
  <cp:lastModifiedBy>Al Madina Online School · Arabic Department</cp:lastModifiedBy>
  <cp:revision>1</cp:revision>
  <dcterms:created xsi:type="dcterms:W3CDTF">2026-10-11T06:40:41Z</dcterms:created>
  <dcterms:modified xsi:type="dcterms:W3CDTF">2026-10-11T06:40:41Z</dcterms:modified>
</cp:coreProperties>
</file>