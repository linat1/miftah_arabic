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2–8 Grammar laboratory (not marked) · 8–9 Assessment map · 9–20 Listening (20: two texts) · 20–30 Reading (10) · 30–44 Writing (20: profile form + article) · 44–53 Speaking (10: portrait + conversation, pairs / one-to-one) · 53–56 Score profile, strength and next target.
FLEX slides are optional. Use them if the class is moving quickly; otherwise the same activities are on the website for homework.
Content source: Miftah Arabic website, Pathways › Development › D2 People, Relationships and Style › D2-L12. The website D2-L12 is a 60-mark Development profile (not an external exam paper): listening 20 (a friend and her style · buying a coat — 12 questions) · reading 10 (Salma’s portrait) · writing 20 (person-profile form 5 + article or email 15: Task 5 · Range 5 · Accuracy 5) · speaking 10 (Communication 5 · Accuracy and range 5). The grammar laboratory (12) is practice. Every item, script, text and mark allocation is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Listening: the website has 12 listening questions and reports the section out of 20. Mark each question out of 1, then scale ×5/3 and round (12/12 = 20) — or simply record /12 and convert at the end.
• Scripts: read each text twice at natural pace if the website audio is unavailable; scripts are in the slide notes — do not show them before the section is submitted.
• Answer slides follow each part — mark live, or hide them and mark later.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structure: 01 Language vault · 02 Grammar laboratory · 03 60-mark profile · 04 Listening · 05 Reading · 06 Writing · 07 Speaking · 08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Five of the twelve website grammar-laboratory questions (D2-L01, L02, L03, L06). Students scoring below 3/5 revise the D2-L11 personality bank before writing.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D2: agreement · object pronouns · this (f.) · who (f.) · dual eyes.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six more website grammar-laboratory questions (comparison, evidence, balanced opinion, superlative, لِأَنَّنَا, developed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“Your 60-mark D2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Students read the questions (30 s). Read the script twice.
SCRIPT: تَصِفُ هُدَى صَدِيقَتَهَا سَلْمَى. تَقُولُ إِنَّهَا صَبُورَةٌ وَمُتَعَاوِنَةٌ، لِأَنَّهَا تَشْرَحُ العَمَلَ لِلطَّالِبَاتِ الجَدِيدَاتِ. تَرْتَدِي سَلْمَى عَادَةً مَلَابِسَ بَسِيطَةً وَمُحْتَشِمَةً، بَيْنَمَا تُفَضِّلُ هُدَى أَلْوَانًا أَكْثَرَ زَهَاءً. فِي رَأْيِ هُدَى، اخْتِلَافُ الأُسْلُوبِ لَا يَمْنَعُ الصَّدَاقَةَ، لِأَنَّ كُلَّ شَخْصٍ يَخْتَارُ مَا يُنَاسِبُهُ.
Website note: Q5 “How does the speaker’s style differ?” — Huda prefers brighter colours (أَلْوَانًا أَكْثَرَ زَهَاءً).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Read twice; two voices if possible.
SCRIPT: يَبْحَثُ عُمَرُ عَنْ مِعْطَفٍ جَدِيدٍ. يُجَرِّبُ مِعْطَفًا أَزْرَقَ، وَلٰكِنَّهُ ضَيِّقٌ. تُحْضِرُ البَائِعَةُ مَقَاسًا أَكْبَرَ وَتَقُولُ إِنَّ المِعْطَفَ الأَزْرَقَ أَرْخَصُ مِنَ الأَسْوَدِ. مَعَ ذٰلِكَ يَخْتَارُ عُمَرُ الأَسْوَدَ لِأَنَّهُ أَكْثَرُ أَنَاقَةً وَمُنَاسِبٌ لِلْمُنَاسَبَاتِ. يَقُولُ: سَآخُذُهُ، مِنْ فَضْلِكِ.
Listening total: /12 → ×5/3 = /20 (website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/12 and convert to /20 (12 → 20, 9 → 15, 6 → 10, 3 →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Read once for the overall picture, then return for evidence, reference and contrast. No English support on assessment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1–5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6–10 (website).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Reading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20 marks). Three routes (website): type, write or draw on screen, or on paper.
MARK SCHEME (website): Form /5 — one mark per field completed in Arabic. Article /15 — Task 5 · Range 5 · Accuracy 5.
Core access: the D2-L11 frames may be used for Question 1 only. Teacher model on the next slide — show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website D2-L11 writing model (the assessment page prints no model). Students compare and add ONE improvement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Communication /5 · Accuracy and range /5).
Follow-up questions for the conversation part: مَنْ يَدْعَمُكَ؟ · كَيْفَ تَتَفَاهَمَانِ؟ · مَا أَهَمُّ: الرَّاحَةُ أَمِ الأَنَاقَةُ؟ · أَيُّهُمَا تُفَضِّلُ وَلِمَاذَا؟
ORGANISATION: one-to-one (others finish writing) or trusted pairs with the teacher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“Evidence · target · transfer — D2 reflection”). The bands are a teacher guide in line with the other units (the website totals the four scores but prints no bands).
A precise action = rule + task + frequency, e.g. “Adjective agreement: five he / she pairs every two days; check in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(D3-L01 · Jobs and Professions (D3)) will spend class time USING this language, so students prepare it tonight — short, simple, easy to access (school guidance: “Simple, Short, Interesting, Relevant, Easy to access”). Reflection words (the next Development unit starts with its own website preparation). The website’s next Development unit is D3, starting with jobs and professions.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Review and Unit Assessment</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وَالتَّقْيِيمُ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Bring together personality, relationships, clothes, appearance, comparison and style — revise the D2 grammar, then show it across a 60-mark four-skills profile and set one precise next target.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D2-L12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end of unit D2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المُرَاجَعَةُ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11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23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my strength, my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next unit.</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Each section starts with the easier questions.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feminine personality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وَدُودٌ وَصَادِقٌ.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وَدُودَةٌ وَصَادِقَةٌ.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وَدُودَةٌ.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تَحْتَرِمُنِي.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السُّتْرَةُ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 who wears glasses”.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الَّذِي يَرْتَدِي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الَّتِي تَرْتَدِي نَظَّارَةً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dual-eye agreement.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عَيْنَاهَا بُنِّيَّتَانِ.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عَيْنَاهَا بُنِّيَّةٌ.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عَيْنَاهَا بُنِّيٌّ.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feminine personality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وَدُودٌ وَصَادِقٌ.</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وَدُودَةٌ وَصَادِقَةٌ.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وَدُودَةٌ.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subject requires feminine adjectives.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أَحْتَرِمُهَا.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أَحْتَرِمُهُ.</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تَحْتَرِمُنِي.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refers to 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السُّتْرَةُ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السُّتْرَةَ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السُّتْرَةُ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 who wears glasses”.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الفَتَاةُ الَّذِي يَرْتَدِي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 الَّتِي تَرْتَدِي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الفَتَاةُ الَّتِي تَرْتَدِي نَظَّارَةً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dual-eye agreement.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عَيْنَاهَا بُنِّيَّتَانِ.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عَيْنَاهَا بُنِّيَّةٌ.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عَيْنَاهَا بُنِّيٌّ.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feminine adjective is </a:t>
            </a:r>
            <a:pPr algn="l" indent="0" marL="0">
              <a:buNone/>
            </a:pPr>
            <a:r>
              <a:rPr lang="ar-SA" altLang="en-US" sz="1350" dirty="0">
                <a:solidFill>
                  <a:srgbClr val="8A6D1E"/>
                </a:solidFill>
                <a:latin typeface="Amiri" pitchFamily="34" charset="0"/>
                <a:ea typeface="Amiri" pitchFamily="34" charset="-122"/>
                <a:cs typeface="Amiri" pitchFamily="34" charset="-120"/>
              </a:rPr>
              <a:t>بُنِّيَّتَانِ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This warm-up does NOT count. It samples D2: agreement · object pronouns · this (f.) · who (f.) · dual eyes.</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مُرَاجَعَةٌ ثُمَّ تَقْيِيمٌ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WEBSITE GRAMMAR LABORATORY · FLEX (NOT MARKED)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laboratory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هٰذَا أَرْخَصُ ___ ذٰلِكَ.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evidence for helpfulness?</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هِيَ مُتَعَاوِنَةٌ لِأَنَّهَا تُسَاعِدُ زَمِيلَاتِهَا.</a:t>
            </a:r>
            <a:endParaRPr lang="ar-SA" sz="180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هِيَ مُتَعَاوِنَةٌ لِأَنَّ قَمِيصَهَا أَزْرَقُ.</a:t>
            </a:r>
            <a:endParaRPr lang="ar-SA" sz="180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هِيَ مُتَعَاوِنَةٌ.</a:t>
            </a:r>
            <a:endParaRPr lang="ar-SA" sz="180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style opinion.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أُحِبُّ المَوْضَةَ لِأَنَّ.</a:t>
            </a:r>
            <a:endParaRPr lang="ar-SA" sz="16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المَوْضَةُ دَائِمًا صَحِيحَةٌ.</a:t>
            </a:r>
            <a:endParaRPr lang="ar-SA" sz="16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أُحِبُّ المَوْضَةَ، وَلٰكِنَّنِي أَخْتَارُ مَا يُنَاسِبُنِي.</a:t>
            </a:r>
            <a:endParaRPr lang="ar-SA" sz="16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superlative?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أَفْضَلُ مِنْ ذٰلِكَ.</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جَيِّدٌ.</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الخِيَارُ الأَفْضَلُ.</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عَلَاقَتُنَا قَوِيَّةٌ ___ نَثِقُ بِبَعْضِنَا.</a:t>
            </a:r>
            <a:endParaRPr lang="ar-SA" sz="11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لِأَنَّنَا</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وَلٰكِنَّهَا</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developed answer.</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هٰذَا المِعْطَفُ.</a:t>
            </a:r>
            <a:endParaRPr lang="ar-SA" sz="15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هٰذَا المِعْطَفَ لِأَنَّهُ أَرْخَصُ وَأَكْثَرُ رَاحَةً.</a:t>
            </a:r>
            <a:endParaRPr lang="ar-SA" sz="15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a:t>
            </a:r>
            <a:endParaRPr lang="ar-SA" sz="15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laboratory: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هٰذَا أَرْخَصُ ___ ذٰلِكَ.</a:t>
            </a:r>
            <a:endParaRPr lang="ar-SA"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evidence for helpfulness?</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مُتَعَاوِنَةٌ لِأَنَّهَا تُسَاعِدُ زَمِيلَاتِهَا.</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مُتَعَاوِنَةٌ لِأَنَّ قَمِيصَهَا أَزْرَقُ.</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مُتَعَاوِنَةٌ.</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behaviour proves the adjective.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style opinion.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أُحِبُّ المَوْضَةَ لِأَنَّ.</a:t>
            </a:r>
            <a:endParaRPr lang="ar-SA" sz="16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المَوْضَةُ دَائِمًا صَحِيحَةٌ.</a:t>
            </a:r>
            <a:endParaRPr lang="ar-SA" sz="16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أُحِبُّ المَوْضَةَ، وَلٰكِنَّنِي أَخْتَارُ مَا يُنَاسِبُنِي.</a:t>
            </a:r>
            <a:endParaRPr lang="ar-SA" sz="16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gives contrast and personal judgement.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superlative?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أَفْضَلُ مِنْ ذٰلِكَ.</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جَيِّدٌ.</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الخِيَارُ الأَفْضَلُ.</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a:t>
            </a:r>
            <a:pPr algn="l" indent="0" marL="0">
              <a:buNone/>
            </a:pPr>
            <a:r>
              <a:rPr lang="ar-SA" altLang="en-US" sz="1350" dirty="0">
                <a:solidFill>
                  <a:srgbClr val="8A6D1E"/>
                </a:solidFill>
                <a:latin typeface="Amiri" pitchFamily="34" charset="0"/>
                <a:ea typeface="Amiri" pitchFamily="34" charset="-122"/>
                <a:cs typeface="Amiri" pitchFamily="34" charset="-120"/>
              </a:rPr>
              <a:t>الأَفْضَلُ</a:t>
            </a:r>
            <a:pPr algn="l" indent="0" marL="0">
              <a:buNone/>
            </a:pPr>
            <a:r>
              <a:rPr lang="en-US" sz="1050" i="1" dirty="0">
                <a:solidFill>
                  <a:srgbClr val="8A6D1E"/>
                </a:solidFill>
                <a:latin typeface="Calibri" pitchFamily="34" charset="0"/>
                <a:ea typeface="Calibri" pitchFamily="34" charset="-122"/>
                <a:cs typeface="Calibri" pitchFamily="34" charset="-120"/>
              </a:rPr>
              <a:t> means the best.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عَلَاقَتُنَا قَوِيَّةٌ ___ نَثِقُ بِبَعْضِنَا.</a:t>
            </a:r>
            <a:endParaRPr lang="ar-SA" sz="11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لِأَنَّنَا</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وَلٰكِنَّهَا</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is we: </a:t>
            </a:r>
            <a:pPr algn="l" indent="0" marL="0">
              <a:buNone/>
            </a:pPr>
            <a:r>
              <a:rPr lang="ar-SA" altLang="en-US" sz="1350" dirty="0">
                <a:solidFill>
                  <a:srgbClr val="8A6D1E"/>
                </a:solidFill>
                <a:latin typeface="Amiri" pitchFamily="34" charset="0"/>
                <a:ea typeface="Amiri" pitchFamily="34" charset="-122"/>
                <a:cs typeface="Amiri" pitchFamily="34" charset="-120"/>
              </a:rPr>
              <a:t>لِأَنَّنَا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developed answer.</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هٰذَا المِعْطَفُ.</a:t>
            </a:r>
            <a:endParaRPr lang="ar-SA" sz="15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أُفَضِّلُ هٰذَا المِعْطَفَ لِأَنَّهُ أَرْخَصُ وَأَكْثَرُ رَاحَةً.</a:t>
            </a:r>
            <a:endParaRPr lang="ar-SA" sz="15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نَعَمْ.</a:t>
            </a:r>
            <a:endParaRPr lang="ar-SA" sz="15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includes preference, comparison and reason.</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60-mark D2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texts, each heard twice: a friend and her style · buying a coat (12 questions)</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 · </a:t>
            </a:r>
            <a:pPr algn="l" indent="0" marL="0">
              <a:buNone/>
            </a:pPr>
            <a:r>
              <a:rPr lang="ar-SA" altLang="en-US" sz="1450" dirty="0">
                <a:solidFill>
                  <a:srgbClr val="5A6472"/>
                </a:solidFill>
                <a:latin typeface="Amiri" pitchFamily="34" charset="0"/>
                <a:ea typeface="Amiri" pitchFamily="34" charset="-122"/>
                <a:cs typeface="Amiri" pitchFamily="34" charset="-120"/>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Salma’s portrait: ten questions — evidence, reference, inference</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 · </a:t>
            </a:r>
            <a:pPr algn="l" indent="0" marL="0">
              <a:buNone/>
            </a:pPr>
            <a:r>
              <a:rPr lang="ar-SA" altLang="en-US" sz="1450" dirty="0">
                <a:solidFill>
                  <a:srgbClr val="5A6472"/>
                </a:solidFill>
                <a:latin typeface="Amiri" pitchFamily="34" charset="0"/>
                <a:ea typeface="Amiri" pitchFamily="34" charset="-122"/>
                <a:cs typeface="Amiri" pitchFamily="34" charset="-120"/>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Person-profile form (5) · article or email, 100–120 words (15)</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 · </a:t>
            </a:r>
            <a:pPr algn="l" indent="0" marL="0">
              <a:buNone/>
            </a:pPr>
            <a:r>
              <a:rPr lang="ar-SA" altLang="en-US" sz="1450" dirty="0">
                <a:solidFill>
                  <a:srgbClr val="5A6472"/>
                </a:solidFill>
                <a:latin typeface="Amiri" pitchFamily="34" charset="0"/>
                <a:ea typeface="Amiri" pitchFamily="34" charset="-122"/>
                <a:cs typeface="Amiri" pitchFamily="34" charset="-120"/>
              </a:rPr>
              <a:t>الكِتَابَةُ</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Portrait + topic conversation — cue words only</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 · </a:t>
            </a:r>
            <a:pPr algn="l" indent="0" marL="0">
              <a:buNone/>
            </a:pPr>
            <a:r>
              <a:rPr lang="ar-SA" altLang="en-US" sz="1450" dirty="0">
                <a:solidFill>
                  <a:srgbClr val="5A6472"/>
                </a:solidFill>
                <a:latin typeface="Amiri" pitchFamily="34" charset="0"/>
                <a:ea typeface="Amiri" pitchFamily="34" charset="-122"/>
                <a:cs typeface="Amiri" pitchFamily="34" charset="-120"/>
              </a:rPr>
              <a:t>التَّحَدُّثُ</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A friend and her style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described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shop assistant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female friend</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she like?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selfish and nervous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patient and helpful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quiet and dishonest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usually wear?</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uniform</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simple modest clothes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sports kit only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supports helpfulness?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buys expensive clothes.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has long hair.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explains work to new students.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speaker’s style differ?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more colourful.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more formal.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identical.</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conclusion is given?</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 is always bad.</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Different styles can suit different personalities.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Friends must dress alike.</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TWO PEOPLE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Huda speaks about Salma.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described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shop assistant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teacher</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female friend</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begins with her friend.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she like?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selfish and nervous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patient and helpful</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quiet and dishonest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صَبُورَةٌ وَمُتَعَاوِنَةٌ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usually wear?</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uniform</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simple modest clothes</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sports kit only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states simple, modest clothes.</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supports helpfulness?</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She buys expensive clothes.</a:t>
            </a:r>
            <a:endParaRPr lang="en-US" sz="120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has long hair.</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explains work to new students.</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action supports the quality.</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speaker’s style differ?</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more colourful.</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more formal.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identical.</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prefers more colourful clothes.</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conclusion is given?</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Fashion is always bad.</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Different styles can suit different personalities.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Friends must dress alike.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conclusion values individual suitability.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TWO PEOPLE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Huda speaks about Salma.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Buying a coat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item is the customer looking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shoes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there with the first item?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cheap.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tight.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wrong colour only.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assistant bring?</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smaller size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different bag</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larger size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coat is cheaper?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blue coat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black coat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cost the same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customer choose black?</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cheapest.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more elegant and suitable.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lighter.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language function is used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polite purchase decision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asking directions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describing family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IN A SHOP</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past “however” (maʿa dhālika).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item is the customer looking for?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bag</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shoes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customer asks for a coat.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there with the first item?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cheap.</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too tight.</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wrong colour only.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coat is tight.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assistant bring?</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smaller size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different bag</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larger size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larger size is brought.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coat is cheaper?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blue coat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black coat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cost the same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blue coat is cheaper.</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customer choose black?</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cheapest.</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more elegant and suitable.</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lighter.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Elegance and suitability decide the choice.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language function is used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polite purchase decision</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asking directions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describing family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customer confirms the purchase politely.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IN A SHOP</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past “however” (maʿa dhālika).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10 MARKS · SALMA’S PORTRAIT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Salma, my close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سَلْمَى صَدِيقَتِي المُقَرَّبَةُ الَّتِي أَعْرِفُهَا مُنْذُ سِتِّ سَنَوَاتٍ. هِيَ مُتَوَسِّطَةُ القَامَةِ وَلَهَا شَعْرٌ قَصِيرٌ وَمُجَعَّدٌ. تَرْتَدِي عَادَةً مَلَابِسَ أَكْثَرَ رَسْمِيَّةً مِنْ مَلَابِسِي، بَيْنَمَا أُفَضِّلُ أَنَا الأُسْلُوبَ العَمَلِيَّ. سَلْمَى وَدُودَةٌ وَوَاثِقَةٌ؛ فَهِيَ تَتَحَدَّثُ أَمَامَ المَجْمُوعَاتِ دُونَ خَوْفٍ. وَهِيَ أَيْضًا مُتَعَاوِنَةٌ لِأَنَّهَا تُسَاعِدُ الطَّالِبَاتِ الجَدِيدَاتِ. أَثِقُ بِهَا لِأَنَّهَا صَادِقَةٌ وَتَسْتَمِعُ إِلَيَّ. فِي رَأْيِي، المَلَابِسُ قَدْ تُعَبِّرُ عَنِ الذَّوْقِ، وَلٰكِنَّ الشَّخْصِيَّةَ وَالسُّلُوكَ أَهَمُّ مِنَ المَظْهَرِ وَحْدَهُ.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(١–٥)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relationship to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close friend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quality is supported by helping new students?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cooperative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Salma’s style compare with the writer’s?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colourful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formal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الَّتِي</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trust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buys gifts.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tall.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honest and listens.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Go back to the text for every answer.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1–5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relationship to Salma?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sister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teacher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close friend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صَدِيقَتِي المُقَرَّبَةُ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quality is supported by helping new students?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cooperative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selfish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Helping supports cooperation.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Salma’s style compare with the writer’s?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colourful</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more formal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states her style is more formal.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الَّتِي</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coat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relative pronoun refers to Salma.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trust her?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buys gifts.</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tall.</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is honest and listens.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gives both behaviours as evidence.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Go back to the text for every answer.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(٦–١٠)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final judgement?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Character matters more than clothes alone.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 determines personality.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Friends should dress alike.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comparative is used?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رَسْمِيَّةً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رَسْمِيَّةٌ جِدًّا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الأَكْثَرُ رَسْمِيَّةً مِنْهَا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shows confidence?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has brown eyes.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wears blue.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speaks to groups without fear.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summary is best?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price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balanced portrait combining appearance, style, relationship and evidence.</a:t>
            </a:r>
            <a:endParaRPr lang="en-US" sz="11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Q7–8: find the exact words.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6_ 7_ 8_ 9_ 10_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6–10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final judgement?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Character matters more than clothes alone.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Fashion determines personality.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Friends should dress alike.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conclusion prioritises character.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contrast?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two styles.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comparative is used?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رَسْمِيَّةً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رَسْمِيَّةٌ جِدًّا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الأَكْثَرُ رَسْمِيَّةً مِنْهَا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uses </a:t>
            </a:r>
            <a:pPr algn="l" indent="0" marL="0">
              <a:buNone/>
            </a:pPr>
            <a:r>
              <a:rPr lang="ar-SA" altLang="en-US" sz="1350" dirty="0">
                <a:solidFill>
                  <a:srgbClr val="8A6D1E"/>
                </a:solidFill>
                <a:latin typeface="Amiri" pitchFamily="34" charset="0"/>
                <a:ea typeface="Amiri" pitchFamily="34" charset="-122"/>
                <a:cs typeface="Amiri" pitchFamily="34" charset="-120"/>
              </a:rPr>
              <a:t>أَكْثَرُ رَسْمِيَّةً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shows confidence?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has brown eyes.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wears blue.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speaks to groups without fear.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behaviour supports confidence.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summary is best?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price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balanced portrait combining appearance, style, relationship and evidence.</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integrates the unit themes.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Q7–8: find the exact words.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6_ 7_ 8_ 9_ 10_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20 MARKS · PROFILE FORM (5) + ARTICLE OR EMAIL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157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1 · person profile (5)</a:t>
            </a:r>
            <a:endParaRPr lang="en-US" sz="1100" dirty="0"/>
          </a:p>
        </p:txBody>
      </p:sp>
      <p:sp>
        <p:nvSpPr>
          <p:cNvPr id="17" name="Text 14"/>
          <p:cNvSpPr txBox="1"/>
          <p:nvPr/>
        </p:nvSpPr>
        <p:spPr>
          <a:xfrm>
            <a:off x="53035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2 · article or email, 100–120 words (15)</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434072"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الاِسْمُ: ______</a:t>
            </a:r>
            <a:endParaRPr lang="ar-SA" sz="2200" dirty="0"/>
          </a:p>
        </p:txBody>
      </p:sp>
      <p:sp>
        <p:nvSpPr>
          <p:cNvPr id="20" name="Text 17"/>
          <p:cNvSpPr txBox="1"/>
          <p:nvPr/>
        </p:nvSpPr>
        <p:spPr>
          <a:xfrm>
            <a:off x="566928" y="2267712"/>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About a person: your relationship, their appearance and style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434072"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صِفَتَانِ شَخْصِيَّتَانِ: ______</a:t>
            </a:r>
            <a:endParaRPr lang="ar-SA" sz="2200" dirty="0"/>
          </a:p>
        </p:txBody>
      </p:sp>
      <p:sp>
        <p:nvSpPr>
          <p:cNvPr id="25" name="Text 22"/>
          <p:cNvSpPr txBox="1"/>
          <p:nvPr/>
        </p:nvSpPr>
        <p:spPr>
          <a:xfrm>
            <a:off x="566928" y="300471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Include: a comparison · evidence · a reasoned opinion</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434072"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دَلِيلٌ عَلَى صِفَةٍ: ______</a:t>
            </a:r>
            <a:endParaRPr lang="ar-SA" sz="2200" dirty="0"/>
          </a:p>
        </p:txBody>
      </p:sp>
      <p:sp>
        <p:nvSpPr>
          <p:cNvPr id="30" name="Text 27"/>
          <p:cNvSpPr txBox="1"/>
          <p:nvPr/>
        </p:nvSpPr>
        <p:spPr>
          <a:xfrm>
            <a:off x="566928" y="3741725"/>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/5 — all content points developed</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434072"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وَصْفُ المَظْهَرِ: ______</a:t>
            </a:r>
            <a:endParaRPr lang="ar-SA" sz="2200" dirty="0"/>
          </a:p>
        </p:txBody>
      </p:sp>
      <p:sp>
        <p:nvSpPr>
          <p:cNvPr id="35" name="Text 32"/>
          <p:cNvSpPr txBox="1"/>
          <p:nvPr/>
        </p:nvSpPr>
        <p:spPr>
          <a:xfrm>
            <a:off x="566928" y="4478731"/>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 — varied grammar and vocabulary</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434072"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الأُسْلُوبُ فِي المَلَابِسِ: ______</a:t>
            </a:r>
            <a:endParaRPr lang="ar-SA" sz="2200" dirty="0"/>
          </a:p>
        </p:txBody>
      </p:sp>
      <p:sp>
        <p:nvSpPr>
          <p:cNvPr id="40" name="Text 37"/>
          <p:cNvSpPr txBox="1"/>
          <p:nvPr/>
        </p:nvSpPr>
        <p:spPr>
          <a:xfrm>
            <a:off x="566928" y="521573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 — agreement, reference and spelling</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Check before you finish: m. / f. adjectives · he / she all the way · hair masc., eyes dual · connectors.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ea typeface="Calibri" pitchFamily="34" charset="-122"/>
                <a:cs typeface="Calibri" pitchFamily="34" charset="-120"/>
              </a:rPr>
              <a:t>WRITING · A STRONG ANSWER (WEBSITE D2-L11 MODEL) · SHOW AFTER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article includes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إِجَابَةٍ قَوِيَّةٍ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سَأَكْتُبُ عَنْ صَدِيقَتِي سَلْمَى الَّتِي أَعْرِفُهَا مُنْذُ خَمْسِ سَنَوَاتٍ.</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 + relationship · relative clause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هِيَ مُتَوَسِّطَةُ القَامَةِ، وَلَهَا شَعْرٌ قَصِيرٌ وَمُجَعَّدٌ، وَتَرْتَدِي عَادَةً مَلَابِسَ بَسِيطَةً وَمُحْتَشِمَةً.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appearance + style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سَلْمَى وَدُودَةٌ وَصَادِقَةٌ، وَأَثِقُ بِهَا لِأَنَّهَا تَسْتَمِعُ إِلَيَّ وَتَقُولُ الحَقَّ.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qualities + evidence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أُسْلُوبُهَا أَكْثَرُ عَصْرِيَّةً مِنْ أُسْلُوبِي، بَيْنَمَا أُفَضِّلُ المَلَابِسَ العَمَلِيَّةَ.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comparison + contrast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أَفْضَلُ صِفَةٍ فِيهَا هِيَ صِدْقُهَا، لِأَنَّهُ يَجْعَلُ عَلَاقَتَنَا قَوِيَّةً.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reasoned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SPEAKING · 10 MARKS · PORTRAIT + TOPIC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12664" y="1810512"/>
            <a:ext cx="6345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Prepare concise cues (website)</a:t>
            </a:r>
            <a:endParaRPr lang="en-US" sz="1100" dirty="0"/>
          </a:p>
        </p:txBody>
      </p:sp>
      <p:sp>
        <p:nvSpPr>
          <p:cNvPr id="17" name="Text 14"/>
          <p:cNvSpPr txBox="1"/>
          <p:nvPr/>
        </p:nvSpPr>
        <p:spPr>
          <a:xfrm>
            <a:off x="53035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Marked for</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5349240" y="2267712"/>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Describe a person and your relationship.</a:t>
            </a:r>
            <a:endParaRPr lang="en-US" sz="1100" dirty="0"/>
          </a:p>
        </p:txBody>
      </p:sp>
      <p:sp>
        <p:nvSpPr>
          <p:cNvPr id="20" name="Text 17"/>
          <p:cNvSpPr txBox="1"/>
          <p:nvPr/>
        </p:nvSpPr>
        <p:spPr>
          <a:xfrm>
            <a:off x="566928" y="2267712"/>
            <a:ext cx="4599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Communication /5 — clear, developed, relevant</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349240" y="3004718"/>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Give appearance and clothing detail.</a:t>
            </a:r>
            <a:endParaRPr lang="en-US" sz="1100" dirty="0"/>
          </a:p>
        </p:txBody>
      </p:sp>
      <p:sp>
        <p:nvSpPr>
          <p:cNvPr id="25" name="Text 22"/>
          <p:cNvSpPr txBox="1"/>
          <p:nvPr/>
        </p:nvSpPr>
        <p:spPr>
          <a:xfrm>
            <a:off x="566928" y="3004718"/>
            <a:ext cx="4599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and range /5 — agreement, reference, variety</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5349240" y="3741725"/>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Give personality evidence.</a:t>
            </a:r>
            <a:endParaRPr lang="en-US" sz="1100" dirty="0"/>
          </a:p>
        </p:txBody>
      </p:sp>
      <p:sp>
        <p:nvSpPr>
          <p:cNvPr id="30" name="Text 27"/>
          <p:cNvSpPr txBox="1"/>
          <p:nvPr/>
        </p:nvSpPr>
        <p:spPr>
          <a:xfrm>
            <a:off x="566928" y="3741725"/>
            <a:ext cx="4599432" cy="682142"/>
          </a:xfrm>
          <a:prstGeom prst="rect">
            <a:avLst/>
          </a:prstGeom>
          <a:noFill/>
          <a:ln/>
        </p:spPr>
        <p:txBody>
          <a:bodyPr wrap="square" lIns="0" tIns="0" rIns="0" bIns="0" rtlCol="0" anchor="ctr"/>
          <a:lstStyle/>
          <a:p>
            <a:pPr algn="l" indent="0" marL="0">
              <a:buNone/>
            </a:pP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5349240" y="4478731"/>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Compare your styles.</a:t>
            </a:r>
            <a:endParaRPr lang="en-US" sz="1100" dirty="0"/>
          </a:p>
        </p:txBody>
      </p:sp>
      <p:sp>
        <p:nvSpPr>
          <p:cNvPr id="35" name="Text 32"/>
          <p:cNvSpPr txBox="1"/>
          <p:nvPr/>
        </p:nvSpPr>
        <p:spPr>
          <a:xfrm>
            <a:off x="566928" y="4478731"/>
            <a:ext cx="4599432" cy="682142"/>
          </a:xfrm>
          <a:prstGeom prst="rect">
            <a:avLst/>
          </a:prstGeom>
          <a:noFill/>
          <a:ln/>
        </p:spPr>
        <p:txBody>
          <a:bodyPr wrap="square" lIns="0" tIns="0" rIns="0" bIns="0" rtlCol="0" anchor="ctr"/>
          <a:lstStyle/>
          <a:p>
            <a:pPr algn="l" indent="0" marL="0">
              <a:buNone/>
            </a:pP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5349240" y="5215738"/>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Give and justify an opinion.</a:t>
            </a:r>
            <a:endParaRPr lang="en-US" sz="1100" dirty="0"/>
          </a:p>
        </p:txBody>
      </p:sp>
      <p:sp>
        <p:nvSpPr>
          <p:cNvPr id="40" name="Text 37"/>
          <p:cNvSpPr txBox="1"/>
          <p:nvPr/>
        </p:nvSpPr>
        <p:spPr>
          <a:xfrm>
            <a:off x="566928" y="5215738"/>
            <a:ext cx="4599432" cy="682142"/>
          </a:xfrm>
          <a:prstGeom prst="rect">
            <a:avLst/>
          </a:prstGeom>
          <a:noFill/>
          <a:ln/>
        </p:spPr>
        <p:txBody>
          <a:bodyPr wrap="square" lIns="0" tIns="0" rIns="0" bIns="0" rtlCol="0" anchor="ctr"/>
          <a:lstStyle/>
          <a:p>
            <a:pPr algn="l" indent="0" marL="0">
              <a:buNone/>
            </a:pP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Cue words only — one or two per stage (D2-L10). Then answer the teacher’s follow-up questions (D2-L09).</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ea typeface="Calibri" pitchFamily="34" charset="-122"/>
                <a:cs typeface="Calibri" pitchFamily="34" charset="-120"/>
              </a:rPr>
              <a:t>RESULTS · RECORD YOUR PROFILE AND SET ONE TARGET (WEBSITE REFLECTION)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D2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secure D2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ready to move on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targeted D2 retrieval early next unit</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catch-up on the lowest skill first</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in your book (website reflection): one secure language feature · one precise next action.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a person’s personality with m. / f. adjectives.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clothes with this / this (f.) and colours.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compare people and clothes (…-er than, more … than).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appearance: he / she has …, hair, eyes.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a balanced opinion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D2-L12 · D2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D3-L01 · Jobs and Professions (D3)</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review</a:t>
            </a:r>
            <a:pPr indent="0" marL="0">
              <a:buNone/>
            </a:pPr>
            <a:r>
              <a:rPr lang="en-US" sz="1000" i="1" dirty="0">
                <a:solidFill>
                  <a:srgbClr val="5A6472"/>
                </a:solidFill>
                <a:latin typeface="Calibri" pitchFamily="34" charset="0"/>
                <a:ea typeface="Calibri" pitchFamily="34" charset="-122"/>
                <a:cs typeface="Calibri" pitchFamily="34" charset="-120"/>
              </a:rPr>
              <a:t>  D2-L11</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هَدَفٌ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target</a:t>
            </a:r>
            <a:pPr indent="0" marL="0">
              <a:buNone/>
            </a:pPr>
            <a:r>
              <a:rPr lang="en-US" sz="1000" i="1" dirty="0">
                <a:solidFill>
                  <a:srgbClr val="5A6472"/>
                </a:solidFill>
                <a:latin typeface="Calibri" pitchFamily="34" charset="0"/>
                <a:ea typeface="Calibri" pitchFamily="34" charset="-122"/>
                <a:cs typeface="Calibri" pitchFamily="34" charset="-120"/>
              </a:rPr>
              <a:t>  pl. أَهْدَافٌ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أُحَسِّنُ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improve</a:t>
            </a:r>
            <a:pPr indent="0" marL="0">
              <a:buNone/>
            </a:pPr>
            <a:r>
              <a:rPr lang="en-US" sz="1000" i="1" dirty="0">
                <a:solidFill>
                  <a:srgbClr val="5A6472"/>
                </a:solidFill>
                <a:latin typeface="Calibri" pitchFamily="34" charset="0"/>
                <a:ea typeface="Calibri" pitchFamily="34" charset="-122"/>
                <a:cs typeface="Calibri" pitchFamily="34" charset="-120"/>
              </a:rPr>
              <a:t>  he: يُحَسِّنُ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أَتَدَرَّبُ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practise</a:t>
            </a:r>
            <a:pPr indent="0" marL="0">
              <a:buNone/>
            </a:pPr>
            <a:r>
              <a:rPr lang="en-US" sz="1000" i="1" dirty="0">
                <a:solidFill>
                  <a:srgbClr val="5A6472"/>
                </a:solidFill>
                <a:latin typeface="Calibri" pitchFamily="34" charset="0"/>
                <a:ea typeface="Calibri" pitchFamily="34" charset="-122"/>
                <a:cs typeface="Calibri" pitchFamily="34" charset="-120"/>
              </a:rPr>
              <a:t>  he: يَتَدَرَّبُ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target for the next unit: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D2-L12 grammar laboratory on the website; relearn any adjective pair you got wrong.</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assessment section with your lowest score on the website.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D2 reflection (one secure feature + one precise next action) in Arabic.</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D3-L01 · Jobs and Professions (D3)</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الوَظَائِفُ وَالمِهَنُ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D2 complete — well done! Keep your target visible.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D2-L12 · Review and Unit Assessment</dc:title>
  <dc:subject>PptxGenJS Presentation</dc:subject>
  <dc:creator>Al Madina Online School · Arabic Department</dc:creator>
  <cp:lastModifiedBy>Al Madina Online School · Arabic Department</cp:lastModifiedBy>
  <cp:revision>1</cp:revision>
  <dcterms:created xsi:type="dcterms:W3CDTF">2026-09-27T12:01:49Z</dcterms:created>
  <dcterms:modified xsi:type="dcterms:W3CDTF">2026-09-27T12:01:49Z</dcterms:modified>
</cp:coreProperties>
</file>