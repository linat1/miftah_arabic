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D2-L09. The website lesson “Speaking — People, Relationships and Style Topic Conversation”: vocabulary, grammar rules and quiz, patterns, common mistakes, sorter, listening, reading, speaking prompts and model, writing task and model, differentiation, final check and the lesson mission. Picture match: website visual game “Speaking — People, Relationships and Style Topic Conversation”.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the paired topic conversation (website prompts). Everything before it builds the “answer ladder” and the follow-up / repair phrases.
• Core: answer three questions with Direct answer + Reason, reading from cue words. Develop: add an example or a comparison and ask one follow-up question. Stretch: 45–60 seconds per answer, spontaneous follow-ups, and self-repair.
• The website grammar and quiz for this lesson are copies of D2-L07; the deck replaces them with the rules named in the website title (“Developing answers and follow-up questions”) — flagged for the website editor.
• Urdu bridge: سوال، جواب، مثال، مقابلہ ≠ مُقَارَنَةٌ, دوبارہ (→ إِعَادَةُ).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conversation questions prepared at home. Questions 3–5 retrieve D2-L08, D2-L02 and D2-L05.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“Yes” or “no” is never enough. Answer → reason → example 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 جواب → سُؤَالٌ / جَوَابٌ; مثال → مِثَالٌ; اعادہ (repetition) → إِعَادَةُ السُّؤَالِ (repeat the question). CAREFUL: Urdu محاورہ = an idiom; Arabic مُحَاوَرَةٌ / مُحَادَثَةٌ =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(1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(2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(1 of 3)). Hear → Say → See → Use. Transliteration is printed for Core students (cover it for Develop/Stretch).
FLEX: teach if time allows; otherwise these are on the website vocabulary tab for homework.
Description and comparison (FLEX) — D2-L01 and D2-L05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(2 of 3)). Hear → Say → See → Use. Transliteration is printed for Core students (cover it for Develop/Stretch).
FLEX: teach if time allows; otherwise these are on the website vocabulary tab for homework.
Description and comparison (FLEX) — D2-L01 and D2-L05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(3 of 3)). Hear → Say → See → Use. Transliteration is printed for Core students (cover it for Develop/Stretch).
FLEX: teach if time allows; otherwise these are on the website vocabulary tab for homework.
Description and comparison (FLEX) — D2-L01 and D2-L05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(1 of 2)). Hear → Say → See → Use. Transliteration is printed for Core students (cover it for Develop/Stretch).
FLEX: teach if time allows; otherwise these are on the website vocabulary tab for homework.
Style language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(2 of 2)). Hear → Say → See → Use. Transliteration is printed for Core students (cover it for Develop/Stretch).
FLEX: teach if time allows; otherwise these are on the website vocabulary tab for homework.
Style language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for this lesson IS the rule: “A strong answer starts with a direct answer, then adds a description or reason, then an example or comparison.” Rows use the website model answers (Omar; style).
Practice: teacher asks the class a question; three students build ONE answer together, one step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repair phrases from the website reading text (هَلْ يُمْكِنُكَ إِعَادَةُ السُّؤَالِ؟ / مَاذَا تَقْصِدُ بِـ…؟) and the follow-up move from the website listening (“then he asks the interviewer a follow-up question”). Polite disagreement recycles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“Turn short answers into a coherent topic conversation with description, evidence, comparison and natural follow-up.”
• Start with a direct answer: Answer the exact question in the first sentence.
• Add a reason or description: Develop the answer with a reason or more detail.
• Add an example or a comparison: Evidence and comparison make the answer convincing.
• Ask a follow-up and repair: Keep the conversation going; ask for help politely when you do not understand.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conversation performed by the teacher (both parts, or with a confident student), thinking aloud about each rung. Then show how the SAME answer can shrink to Core size (rungs 1–2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prompts and reading text. After each reveal, a student gives their OWN answer to the question on the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answer the question for themselves, climbing at least two rungs.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فِي مُحَادَثَةٍ، يُسْأَلُ الطَّالِبُ عَنْ أَقْرَبِ صَدِيقٍ لَهُ، وَمَا يُعْجِبُهُ فِي شَخْصِيَّتِهِ، وَكَيْفَ يَخْتَلِفُ أُسْلُوبُهُمَا فِي المَلَابِسِ. يُجِيبُ بِجُمَلٍ مُتَّصِلَةٍ وَيُقَدِّمُ دَلِيلًا وَمُقَارَنَةً، ثُمَّ يَسْأَلُ المُحَاوِرَ سُؤَالًا تَابِعًا.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أُسْلُبُكُمَا؟ (How does your style differ?)
B: هُوَ أَكْثَرُ رَسْمِيَّةً مِنِّي، بَيْنَمَا أُفَضِّلُ الأُسْلُوبَ العَمَلِيَّ. (He is more formal, while I prefer practical style.)
MAIN TASK OF THE LESSON (extend to 8–10 minutes). Pairs on the mic (or breakout rooms): A asks all four website prompts, B answers from cue words only, then swap. The listener must ask ONE follow-up per answer. Website model continues: A: كَيْفَ يَخْتَلِفُ أُسْلُوبُكُمَا؟ B: هُوَ أَكْثَرُ رَسْمِيَّةً مِنِّي، بَيْنَمَا أُفَضِّلُ الأُسْلُوبَ العَمَلِيَّ. (Website typo: أُسْلُبُكُمَا → أُسْلُوبُكُمَا.)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Prepare a 100–120-word written rehearsal for a topic conversation about a person, relationship and personal style. Include possible questions and developed answers, but do not memorise it word for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لِأَنَّهُ يَسْتَمِعُ / لِأَنَّهُ يَبْنِي · بَيْنَمَا هُوَ أَكْثَرُ اهْتِمَامًا · فِي رَأْيِي · نَتَكَلَّمُ … وَنَتَصَالَحُ. Remind Stretch: turn this into CUE WORDS (عُمَرُ · وَدُودٌ · يَسْتَمِعُ · مَوْضَة · صِدْق) and speak from them.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(D2-L10 · Speaking — Describing People and Personal Style) will spend class time USING this language, so students prepare it tonight — short, simple, easy to access (school guidance: “Simple, Short, Interesting, Relevant, Easy to access”). D2-L10 is a speaking lesson describing people and style: these five structures (D2-L03, L04, L06) are its building blocks.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Speaking — People, Relationships and Style Topic Conversation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المُحَادَثَةُ — الأَشْخَاصُ وَالعَلَاقَاتُ وَالأُسْلُوبُ الشَّخْصِيُّ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Hold a real topic conversation about a person, a relationship and style: answer directly, then build (reason → example → comparison), ask a follow-up question, and repair when you don’t understand.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D2-L09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answer ladder, follow-ups and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Which answer is stronger?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كَيْفَ هِيَ؟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is she?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she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is she?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أَيُّهُمَا تُفَضِّلُ؟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of the two do you prefer?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do you prefer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you agree?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writer’s view?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يَذْكُرُ مِثَالًا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 …</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يَرَى الكَاتِبُ أَنَّ …</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أَكْثَرُ رَسْمِيَّةً مِنِّي.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رَسْمِيٌّ مِنِّي.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أَكْثَرُ رَسْمِيٌّ مِنِّي.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كَيْفَ هِيَ؟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is she?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is she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 is she?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أَيُّهُمَا تُفَضِّلُ؟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Which of the two do you prefer?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Why do you prefer it?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 you agree?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writer’s view?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يَذْكُرُ مِثَالًا …</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يَرَى الكَاتِبُ أَنَّ …</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D2-L08: the four moves.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أَكْثَرُ رَسْمِيَّةً مِنِّي.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رَسْمِيٌّ مِنِّي.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أَكْثَرُ رَسْمِيٌّ مِنِّي.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 more +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“Yes” or “no” is never enough. Answer → reason → example or comparison.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هُوَ وَدُودٌ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يَسْتَمِعُ إِلَيَّ؛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مَثَلًا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D2-L09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Developing answers and follow-up questions.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three questions with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someone to repeat a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an example or a comparison to each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speak for 45–60 seconds per answer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react to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Conversation questions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Description and comparison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language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 تَابِعٌ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a (follow-up)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 مُبَاشِرٌ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 براہ راست‎ </a:t>
            </a:r>
            <a:pPr indent="0" marL="0">
              <a:buNone/>
            </a:pPr>
            <a:r>
              <a:rPr lang="en-US" sz="950" b="1" dirty="0">
                <a:solidFill>
                  <a:srgbClr val="2E8B57"/>
                </a:solidFill>
                <a:latin typeface="Calibri" pitchFamily="34" charset="0"/>
                <a:ea typeface="Calibri" pitchFamily="34" charset="-122"/>
                <a:cs typeface="Calibri" pitchFamily="34" charset="-120"/>
              </a:rPr>
              <a:t> jawāb · a direct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إِعَادَةُ السُّؤَالِ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‎اعادہ‎ </a:t>
            </a:r>
            <a:pPr indent="0" marL="0">
              <a:buNone/>
            </a:pPr>
            <a:r>
              <a:rPr lang="en-US" sz="950" b="1" dirty="0">
                <a:solidFill>
                  <a:srgbClr val="2E8B57"/>
                </a:solidFill>
                <a:latin typeface="Calibri" pitchFamily="34" charset="0"/>
                <a:ea typeface="Calibri" pitchFamily="34" charset="-122"/>
                <a:cs typeface="Calibri" pitchFamily="34" charset="-120"/>
              </a:rPr>
              <a:t> iʿāda · repeating the question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مُحَادَثَةٌ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‎محاورہ‎ </a:t>
            </a:r>
            <a:pPr indent="0" marL="0">
              <a:buNone/>
            </a:pPr>
            <a:r>
              <a:rPr lang="en-US" sz="950" b="1" dirty="0">
                <a:solidFill>
                  <a:srgbClr val="2E8B57"/>
                </a:solidFill>
                <a:latin typeface="Calibri" pitchFamily="34" charset="0"/>
                <a:ea typeface="Calibri" pitchFamily="34" charset="-122"/>
                <a:cs typeface="Calibri" pitchFamily="34" charset="-120"/>
              </a:rPr>
              <a:t> muhāwara · Urdu: idiom · Arabic مُحَاوَرَةٌ: dialogue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questions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on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أَخْتَلِفُ مَعَ</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disagree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akh-ta-li-fu ma-ʿa</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1" name="Shape 38"/>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أَثِقُ بِـ</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a-thi-qu bi</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أَثِقُ بِهِ</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أَثِقُ بِهَا</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هَلْ تَثِقُ بِـ …؟</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أَحْتَرِمُ</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aḥ-ta-ri-mu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يَدْعَمُنِي</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yad-ʿa-mu-nī</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questions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Description and comparison (1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Description and comparison (2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مِنْ</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min</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 مِنْ</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 min</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Description and comparison (3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أَجْمَلُ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beautiful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aj-ma-lu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أَغْلَى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expensive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agh-lā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FOCUS · PART 1 · THE ANSWER LADDER (WEBSITE READING TEXT + MODEL)</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Answer → reason → example /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جَوَابٌ مُبَاشِرٌ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direct answer</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 / description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مِثَالٌ / 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example / comparison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My friend Omar is friendly and honest; I trust him because he listens to me; for example, he helps me with my homework.</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صَدِيقِي عُمَرُ وَدُودٌ وَصَادِقٌ،</a:t>
            </a:r>
            <a:endParaRPr lang="ar-SA" sz="235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وَأَثِقُ بِهِ </a:t>
            </a:r>
            <a:pPr rtl="1" algn="ctr" indent="0" marL="0">
              <a:buNone/>
            </a:pPr>
            <a:r>
              <a:rPr lang="ar-SA" altLang="en-US" sz="2100" b="1" dirty="0">
                <a:solidFill>
                  <a:srgbClr val="0E7C86"/>
                </a:solidFill>
                <a:latin typeface="Amiri" pitchFamily="34" charset="0"/>
                <a:ea typeface="Amiri" pitchFamily="34" charset="-122"/>
                <a:cs typeface="Amiri" pitchFamily="34" charset="-120"/>
              </a:rPr>
              <a:t>لِأَنَّهُ</a:t>
            </a:r>
            <a:pPr rtl="1" algn="ctr" indent="0" marL="0">
              <a:buNone/>
            </a:pPr>
            <a:r>
              <a:rPr lang="ar-SA" altLang="en-US" sz="2100" b="1" dirty="0">
                <a:solidFill>
                  <a:srgbClr val="1B3B6F"/>
                </a:solidFill>
                <a:latin typeface="Amiri" pitchFamily="34" charset="0"/>
                <a:ea typeface="Amiri" pitchFamily="34" charset="-122"/>
                <a:cs typeface="Amiri" pitchFamily="34" charset="-120"/>
              </a:rPr>
              <a:t> يَسْتَمِعُ إِلَيَّ؛</a:t>
            </a:r>
            <a:endParaRPr lang="ar-SA" sz="21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050" b="1" dirty="0">
                <a:solidFill>
                  <a:srgbClr val="0E7C86"/>
                </a:solidFill>
                <a:latin typeface="Amiri" pitchFamily="34" charset="0"/>
                <a:ea typeface="Amiri" pitchFamily="34" charset="-122"/>
                <a:cs typeface="Amiri" pitchFamily="34" charset="-120"/>
              </a:rPr>
              <a:t>مَثَلًا</a:t>
            </a:r>
            <a:pPr rtl="1" algn="ctr" indent="0" marL="0">
              <a:buNone/>
            </a:pPr>
            <a:r>
              <a:rPr lang="ar-SA" altLang="en-US" sz="2050" b="1" dirty="0">
                <a:solidFill>
                  <a:srgbClr val="1B3B6F"/>
                </a:solidFill>
                <a:latin typeface="Amiri" pitchFamily="34" charset="0"/>
                <a:ea typeface="Amiri" pitchFamily="34" charset="-122"/>
                <a:cs typeface="Amiri" pitchFamily="34" charset="-120"/>
              </a:rPr>
              <a:t>، يُسَاعِدُنِي فِي الوَاجِبِ.</a:t>
            </a:r>
            <a:endParaRPr lang="ar-SA" sz="20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prefer simple clothes because I like comfort, whereas he is more interested in fashion than me.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أُفَضِّلُ المَلَابِسَ البَسِيطَةَ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لِأَنَّنِي</a:t>
            </a:r>
            <a:pPr rtl="1" algn="ctr" indent="0" marL="0">
              <a:buNone/>
            </a:pPr>
            <a:r>
              <a:rPr lang="ar-SA" altLang="en-US" sz="2400" b="1" dirty="0">
                <a:solidFill>
                  <a:srgbClr val="1B3B6F"/>
                </a:solidFill>
                <a:latin typeface="Amiri" pitchFamily="34" charset="0"/>
                <a:ea typeface="Amiri" pitchFamily="34" charset="-122"/>
                <a:cs typeface="Amiri" pitchFamily="34" charset="-120"/>
              </a:rPr>
              <a:t> أُحِبُّ الرَّاحَةَ،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هُوَ أَكْثَرُ اهْتِمَامًا بِالمَوْضَةِ مِنِّي.</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steps 1–2. Develop: all three. Stretch: all three + a follow-up question to your partner.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KEEP THE CONVERSATION GOING (WEBSITE READING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Follow up · repair · disagree politely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 اِطْلُبْ · نَاقِشْ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FOLLOW UP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وَأَنْتَ؟ · لِمَاذَا؟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وَأَنْتِ، كَيْفَ أُسْلُوبُكِ؟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And you (f.), what is your style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boy -ka, to a girl -ki.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REPAIR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إِعَادَةُ السُّؤَالِ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يُمْكِنُكَ إِعَادَةُ السُّؤَالِ؟ مَاذَا تَقْصِدُ بِـ «مُحْتَشِمٌ»؟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Can you repeat the question? What do you mean by “modest”?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stay silent.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أَفْهَمُ رَأْيَكَ،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أَفْهَمُ رَأْيَكَ، وَلٰكِنَّنِي أَرَى أَنَّ الرَّاحَةَ أَهَمُّ.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understand your view, but I think comfort is more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Acknowledge, then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one-word answer ends the conversation.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نَعَمْ، لِأَنَّهُ يُسَاعِدُنِي دَائِمًا. وَأَنْتَ؟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Developing answers and follow-up questions</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تَطْوِيرُ الإِجَابَةِ وَطَرْحُ أَسْئِلَةٍ تَابِعَةٍ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Start with a direct answer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السُّؤَالُ ← جَوَابٌ مُبَاشِرٌ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صِفْ صَدِيقَكَ. ← صَدِيقِي عُمَرُ وَدُودٌ وَصَادِقٌ.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a reason or description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 لِأَنَّ … / … وَ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أَثِقُ بِهِ لِأَنَّهُ يَسْتَمِعُ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Add an example or a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مَثَلًا … / أَكْثَرُ … مِنْ / بَيْنَمَا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أَكْثَرُ رَسْمِيَّةً مِنِّي، بَيْنَمَا أُفَضِّلُ الأُسْلُوبَ العَمَلِيَّ.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 follow-up and repair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وَأَنْتَ؟ · لِمَاذَا؟ · هَلْ يُمْكِنُكَ إِعَادَةُ السُّؤَالِ؟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وَأَنْتِ، كَيْفَ أُسْلُوبُكِ؟   ·   مَاذَا تَقْصِدُ بِـ «مُحْتَشِمٌ»؟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to </a:t>
            </a:r>
            <a:pPr algn="l" indent="0" marL="0">
              <a:buNone/>
            </a:pPr>
            <a:r>
              <a:rPr lang="ar-SA" altLang="en-US" sz="1650" b="1" dirty="0">
                <a:solidFill>
                  <a:srgbClr val="1B3B6F"/>
                </a:solidFill>
                <a:latin typeface="Amiri" pitchFamily="34" charset="0"/>
                <a:ea typeface="Amiri" pitchFamily="34" charset="-122"/>
                <a:cs typeface="Amiri" pitchFamily="34" charset="-120"/>
              </a:rPr>
              <a:t>صِفْ صَدِيقَكَ</a:t>
            </a:r>
            <a:pPr algn="l" indent="0" marL="0">
              <a:buNone/>
            </a:pPr>
            <a:r>
              <a:rPr lang="en-US" sz="1250" b="1" dirty="0">
                <a:solidFill>
                  <a:srgbClr val="1B3B6F"/>
                </a:solidFill>
                <a:latin typeface="Calibri" pitchFamily="34" charset="0"/>
                <a:ea typeface="Calibri" pitchFamily="34" charset="-122"/>
                <a:cs typeface="Calibri" pitchFamily="34" charset="-120"/>
              </a:rPr>
              <a:t>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وَدُودٌ وَأَثِقُ بِهِ لِأَنَّهُ يَسْتَمِعُ إِلَيَّ.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follow-up question?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 مَا أُسْلُوبُكَ؟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 not understand. What do you say?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إِعَادَةُ السُّؤَالِ؟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لَا أَعْرِفُ شَيْئًا.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comparison?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أَكْثَرُ رَسْمِيَّةً مِنِّي.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رَسْمِيٌّ.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هُنَا.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to </a:t>
            </a:r>
            <a:pPr algn="l" indent="0" marL="0">
              <a:buNone/>
            </a:pPr>
            <a:r>
              <a:rPr lang="ar-SA" altLang="en-US" sz="1650" b="1" dirty="0">
                <a:solidFill>
                  <a:srgbClr val="1B3B6F"/>
                </a:solidFill>
                <a:latin typeface="Amiri" pitchFamily="34" charset="0"/>
                <a:ea typeface="Amiri" pitchFamily="34" charset="-122"/>
                <a:cs typeface="Amiri" pitchFamily="34" charset="-120"/>
              </a:rPr>
              <a:t>صِفْ صَدِيقَكَ</a:t>
            </a:r>
            <a:pPr algn="l" indent="0" marL="0">
              <a:buNone/>
            </a:pPr>
            <a:r>
              <a:rPr lang="en-US" sz="1250" b="1" dirty="0">
                <a:solidFill>
                  <a:srgbClr val="1B3B6F"/>
                </a:solidFill>
                <a:latin typeface="Calibri" pitchFamily="34" charset="0"/>
                <a:ea typeface="Calibri" pitchFamily="34" charset="-122"/>
                <a:cs typeface="Calibri" pitchFamily="34" charset="-120"/>
              </a:rPr>
              <a:t> is strongest?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وَدُودٌ وَأَثِقُ بِهِ لِأَنَّهُ يَسْتَمِعُ إِلَيَّ.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Direct answer + reason.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follow-up question?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 مَا أُسْلُوبُكَ؟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turns the question back to the partner.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 not understand. What do you say?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يُمْكِنُكَ إِعَادَةُ السُّؤَالِ؟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لَا أَعْرِفُ شَيْئًا.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polite repair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comparison?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أَكْثَرُ رَسْمِيَّةً مِنِّي.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رَسْمِيٌّ.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هُنَا.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 مِنْ.</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صِفْ صَدِيقَكَ المُقَرَّبَ.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exactly is asked?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Direct 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صَدِيقِي عُمَرُ وَدُودٌ وَصَادِقٌ.</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 + comparison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أَثِقُ بِهِ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يَسْتَمِعُ إِلَيَّ،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هُوَ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رَسْمِيَّةً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Build.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Follow-up</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وَأَنْتَ، مَنْ صَدِيقُكَ المُقَرَّبُ؟</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 the ball.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ANSWER / FOLLOW-UP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 صِفْ صَدِيقَكَ المُقَرَّبَ.  ب: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صَدِيقِي عُمَرُ وَدُودٌ وَصَادِقٌ،</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وَأَثِقُ بِهِ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لِأَنَّهُ</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يَسْتَمِعُ إِلَيَّ. هُوَ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أَكْثَرُ</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رَسْمِيَّةً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مِنِّي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بَيْنَمَا أُفَضِّلُ الأُسْلُوبَ العَمَلِيَّ.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وَأَنْتَ، مَنْ صَدِيقُكَ المُقَرَّبُ؟</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Describe your close friend. B: My friend Omar is friendly and honest, and I trust him because he listens to me. He is more formal than me, whereas I prefer a practical style. And you, who is your close friend?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صَدِيقِي عُمَرُ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friend Omar is friendly and honest.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Direct answer.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أَثِقُ بِهِ لِأَنَّهُ يَسْتَمِعُ إِلَيَّ.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trust him because he listens to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أَكْثَرُ اهْتِمَامًا بِالمَوْضَةِ مِنِّي.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more interested in fashion than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وَأَنْتَ، مَنْ صَدِيقُكَ المُقَرَّبُ؟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And you, who is your close friend?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Follow-up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WHICH ANSWER CLIMBS HIGHER?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طَوِّرِ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كَيْفَ تَتَفَاهَمُ مَعَ أَصْدِقَائِكَ؟</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جَيِّدًا.</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أَتَفَاهَمُ مَعَهُمْ لِأَنَّنَا نَحْتَرِمُ بَعْضَنَا.</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أَصْدِقَائِي.</a:t>
            </a:r>
            <a:endParaRPr lang="ar-SA" sz="19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مَا أُسْلُوبُكَ فِي المَلَابِسِ؟</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بَسِيطٌ.</a:t>
            </a:r>
            <a:endParaRPr lang="ar-SA" sz="13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نَعَمْ.</a:t>
            </a:r>
            <a:endParaRPr lang="ar-SA" sz="13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أُسْلُوبِي بَسِيطٌ وَعَمَلِيٌّ، بَيْنَمَا أُخْتِي تُفَضِّلُ الأَلْوَانَ.</a:t>
            </a:r>
            <a:endParaRPr lang="ar-SA" sz="13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Your partner said: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المَوْضَةَ</a:t>
            </a:r>
            <a:pPr algn="l" indent="0" marL="0">
              <a:buNone/>
            </a:pPr>
            <a:r>
              <a:rPr lang="en-US" sz="1250" b="1" dirty="0">
                <a:solidFill>
                  <a:srgbClr val="1B3B6F"/>
                </a:solidFill>
                <a:latin typeface="Calibri" pitchFamily="34" charset="0"/>
                <a:ea typeface="Calibri" pitchFamily="34" charset="-122"/>
                <a:cs typeface="Calibri" pitchFamily="34" charset="-120"/>
              </a:rPr>
              <a:t>. Best follow-up?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وَمَا أُسْلُوبُكَ المُفَضَّلُ؟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أَيْضًا.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didn’t understand </a:t>
            </a:r>
            <a:pPr algn="l" indent="0" marL="0">
              <a:buNone/>
            </a:pPr>
            <a:r>
              <a:rPr lang="ar-SA" altLang="en-US" sz="1650" b="1" dirty="0">
                <a:solidFill>
                  <a:srgbClr val="1B3B6F"/>
                </a:solidFill>
                <a:latin typeface="Amiri" pitchFamily="34" charset="0"/>
                <a:ea typeface="Amiri" pitchFamily="34" charset="-122"/>
                <a:cs typeface="Amiri" pitchFamily="34" charset="-120"/>
              </a:rPr>
              <a:t>مُحْتَشِمٌ</a:t>
            </a:r>
            <a:pPr algn="l" indent="0" marL="0">
              <a:buNone/>
            </a:pPr>
            <a:r>
              <a:rPr lang="en-US" sz="1250" b="1" dirty="0">
                <a:solidFill>
                  <a:srgbClr val="1B3B6F"/>
                </a:solidFill>
                <a:latin typeface="Calibri" pitchFamily="34" charset="0"/>
                <a:ea typeface="Calibri" pitchFamily="34" charset="-122"/>
                <a:cs typeface="Calibri" pitchFamily="34" charset="-120"/>
              </a:rPr>
              <a:t>. You say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تَقْصِدُ بِـ «مُحْتَشِمٌ»؟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says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Develop: + example / comparison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answer: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كَيْفَ تَتَفَاهَمُ مَعَ أَصْدِقَائِكَ؟</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مَعَهُمْ لِأَنَّنَا نَحْتَرِمُ بَعْضَنَا.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مَا أُسْلُوبُكَ فِي المَلَابِسِ؟</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بَسِيطٌ.</a:t>
            </a:r>
            <a:endParaRPr lang="ar-SA" sz="13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نَعَمْ.</a:t>
            </a:r>
            <a:endParaRPr lang="ar-SA" sz="13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أُسْلُوبِي بَسِيطٌ وَعَمَلِيٌّ، بَيْنَمَا أُخْتِي تُفَضِّلُ الأَلْوَانَ.</a:t>
            </a:r>
            <a:endParaRPr lang="ar-SA" sz="13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 comparison.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Your partner said: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المَوْضَةَ</a:t>
            </a:r>
            <a:pPr algn="l" indent="0" marL="0">
              <a:buNone/>
            </a:pPr>
            <a:r>
              <a:rPr lang="en-US" sz="1250" b="1" dirty="0">
                <a:solidFill>
                  <a:srgbClr val="1B3B6F"/>
                </a:solidFill>
                <a:latin typeface="Calibri" pitchFamily="34" charset="0"/>
                <a:ea typeface="Calibri" pitchFamily="34" charset="-122"/>
                <a:cs typeface="Calibri" pitchFamily="34" charset="-120"/>
              </a:rPr>
              <a:t>. Best follow-up?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وَمَا أُسْلُوبُكَ المُفَضَّلُ؟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أَيْضًا.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Ask why / ask for more.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didn’t understand </a:t>
            </a:r>
            <a:pPr algn="l" indent="0" marL="0">
              <a:buNone/>
            </a:pPr>
            <a:r>
              <a:rPr lang="ar-SA" altLang="en-US" sz="1650" b="1" dirty="0">
                <a:solidFill>
                  <a:srgbClr val="1B3B6F"/>
                </a:solidFill>
                <a:latin typeface="Amiri" pitchFamily="34" charset="0"/>
                <a:ea typeface="Amiri" pitchFamily="34" charset="-122"/>
                <a:cs typeface="Amiri" pitchFamily="34" charset="-120"/>
              </a:rPr>
              <a:t>مُحْتَشِمٌ</a:t>
            </a:r>
            <a:pPr algn="l" indent="0" marL="0">
              <a:buNone/>
            </a:pPr>
            <a:r>
              <a:rPr lang="en-US" sz="1250" b="1" dirty="0">
                <a:solidFill>
                  <a:srgbClr val="1B3B6F"/>
                </a:solidFill>
                <a:latin typeface="Calibri" pitchFamily="34" charset="0"/>
                <a:ea typeface="Calibri" pitchFamily="34" charset="-122"/>
                <a:cs typeface="Calibri" pitchFamily="34" charset="-120"/>
              </a:rPr>
              <a:t>. You say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تَقْصِدُ بِـ «مُحْتَشِمٌ»؟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Repair politely.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says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Develop: + example / comparison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part of the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صَدِيقِي عُمَرُ وَدُودٌ.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أُسْلُوبِي بَسِيطٌ.</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يَسْتَمِعُ إِلَيَّ.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مَثَلًا، يُسَاعِدُنِي فِي الوَاجِبِ.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أَكْثَرُ رَسْمِيَّةً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يُمْكِنُكَ إِعَادَةُ السُّؤَالِ؟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مَاذَا تَقْصِدُ بِـ …؟</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answer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Development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Follow-up or repair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answer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صَدِيقِي عُمَرُ وَدُودٌ.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أُسْلُوبِي بَسِيطٌ.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Development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يَسْتَمِعُ إِلَيَّ.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مَثَلًا، يُسَاعِدُنِي فِي الوَاجِبِ.</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أَكْثَرُ رَسْمِيَّةً مِنِّي.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Follow-up or repair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يُمْكِنُكَ إِعَادَةُ السُّؤَالِ؟</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مَاذَا تَقْصِدُ بِـ …؟</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an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مَثَلًا، يُسَاعِدُنِي فِي الوَاجِبِ.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about her style.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أُسْلُوبُكَ؟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أُسْلُوبُكِ؟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أُسْلُوبُهُ؟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a reason?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you disagree politely?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مُخْطِئٌ.</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أُرِيدُ.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رَأْيَكَ، وَلٰكِنَّنِي أَرَى أَنَّ …</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an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مَثَلًا، يُسَاعِدُنِي فِي الوَاجِبِ.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مَثَلًا</a:t>
            </a:r>
            <a:pPr algn="l" indent="0" marL="0">
              <a:buNone/>
            </a:pPr>
            <a:r>
              <a:rPr lang="en-US" sz="1050" i="1" dirty="0">
                <a:solidFill>
                  <a:srgbClr val="8A6D1E"/>
                </a:solidFill>
                <a:latin typeface="Calibri" pitchFamily="34" charset="0"/>
                <a:ea typeface="Calibri" pitchFamily="34" charset="-122"/>
                <a:cs typeface="Calibri" pitchFamily="34" charset="-120"/>
              </a:rPr>
              <a:t> introduces an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about her style.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أُسْلُوبُكَ؟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أُسْلُوبُكِ؟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أُسْلُوبُهُ؟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 a girl: -ki.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a reason?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you disagree politely?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مُخْطِئٌ.</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أُرِيدُ.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 رَأْيَكَ، وَلٰكِنَّنِي أَرَى أَنَّ …</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Acknowledge, then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صِفْ صَدِيقَكَ. — نَعَمْ.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Did it answer the question? Why?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أَنْتَ مُخْطِئٌ.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Polite or rude?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مَا أُسْلُوبُكَ؟</a:t>
            </a:r>
            <a:pPr algn="l" indent="0" marL="0">
              <a:buNone/>
            </a:pPr>
            <a:r>
              <a:rPr lang="en-US" sz="3000" b="1" dirty="0">
                <a:solidFill>
                  <a:srgbClr val="B83227"/>
                </a:solidFill>
                <a:latin typeface="Calibri" pitchFamily="34" charset="0"/>
                <a:ea typeface="Calibri" pitchFamily="34" charset="-122"/>
                <a:cs typeface="Calibri" pitchFamily="34" charset="-120"/>
              </a:rPr>
              <a:t> (to a girl)</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-ka or -ki?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صِفْ صَدِيقَكَ. — نَعَمْ.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صِفْ صَدِيقَكَ. — صَدِيقِي وَدُودٌ لِأَنَّهُ يُسَاعِدُنِي.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the question and add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أَنْتَ مُخْطِئٌ.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أَفْهَمُ رَأْيَكَ، وَلٰكِنَّنِي أَرَى أَنَّ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Disagree politely.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مَا أُسْلُوبُكَ؟</a:t>
            </a:r>
            <a:pPr algn="l" indent="0" marL="0">
              <a:buNone/>
            </a:pPr>
            <a:r>
              <a:rPr lang="en-US" sz="1800" dirty="0">
                <a:solidFill>
                  <a:srgbClr val="B83227"/>
                </a:solidFill>
                <a:latin typeface="Calibri" pitchFamily="34" charset="0"/>
                <a:ea typeface="Calibri" pitchFamily="34" charset="-122"/>
                <a:cs typeface="Calibri" pitchFamily="34" charset="-120"/>
              </a:rPr>
              <a:t> (to a girl)</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 أُسْلُوبُكِ؟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a girl: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Listening focus: topic conversation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 asked about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closest friend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school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else is he asked?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his friend lives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friend’s age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he likes about his friend’s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compared?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marks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families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styles of clothing</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he answer?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connected sentences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yes / no</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English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add to his answers?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joke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 and a comparison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the interviewer a follow-up question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says goodbye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stops talking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أَقْرَبِ صَدِيقٍ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المَلَابِسِ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سُؤَالًا تَابِعًا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مُحَادَثَةٍ، يُسْأَلُ الطَّالِبُ عَنْ أَقْرَبِ صَدِيقٍ لَهُ،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conversation, the student is asked about his closest friend,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وَمَا يُعْجِبُهُ فِي شَخْصِيَّتِهِ، وَكَيْفَ يَخْتَلِفُ أُسْلُوبُهُمَا فِي 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he likes about his personality, and how their clothing styles differ.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يُجِيبُ بِجُمَلٍ مُتَّصِلَةٍ وَيُقَدِّمُ دَلِيلًا وَمُقَارَنَةً،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answers in connected sentences and gives evidence and a comparison,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يَسْأَلُ المُحَاوِرَ سُؤَالًا تَابِعًا.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asks the interviewer a follow-up question.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 asked about first?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closest friend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school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يُسْأَلُ الطَّالِبُ عَنْ أَقْرَبِ صَدِيقٍ لَهُ.</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else is he asked?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his friend lives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friend’s age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what he likes about his friend’s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وَمَا يُعْجِبُهُ فِي شَخْصِيَّتِهِ.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compared?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marks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families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their styles of clothing</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كَيْفَ يَخْتَلِفُ أُسْلُوبُهُمَا فِي 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he answer?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connected sentences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yes / no</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English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يُجِيبُ بِجُمَلٍ مُتَّصِلَةٍ.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add to his answers?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joke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 and a comparison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 دَلِيلًا وَمُقَارَنَةً.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asks the interviewer a follow-up question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says goodbye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stops talking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يَسْأَلُ المُحَاوِرَ سُؤَالًا تَابِعًا.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أَقْرَبِ صَدِيقٍ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المَلَابِسِ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سُؤَالًا تَابِعًا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Developed speaking: topic conversation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مُهِمًّا فِي حَيَاتِكَ.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تَتَفَاهَمُ مَعَ أَصْدِقَائِكَ؟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أُسْلُوبُكَ فِي المَلَابِسِ؟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بَيْنَكَ وَبَيْنَ شَخْصٍ آخَرَ.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34" charset="0"/>
                <a:ea typeface="Amiri" pitchFamily="34" charset="-122"/>
                <a:cs typeface="Amiri" pitchFamily="34" charset="-120"/>
              </a:rPr>
              <a:t>___ مُهِمٌّ / مُهِمَّةٌ لِي لِأَنَّهُ / لِأَنَّهَا ___ .</a:t>
            </a:r>
            <a:endParaRPr lang="ar-SA" sz="14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أَتَفَاهَمُ مَعَ أَصْدِقَائِي لِأَنَّ ___ ؛ مَثَلًا ___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أُسْلُوبِي ___ ، بَيْنَمَا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أَكْثَرُ ___ مِنْ ___ ، وَلٰكِنَّ ___ . وَأَنْتَ؟</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صَدِيقَكَ المُقَرَّبَ.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close friend.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وَدُودٌ وَصَادِقٌ، وَأَثِقُ بِهِ لِأَنَّهُ يَسْتَمِعُ إِلَيَّ.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is friendly and honest; I trust him because he listens to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Q + A</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Prepare cue cards: answer four conversation questions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answers to four questions: direct answer + reason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Q + A</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developed answers and follow-ups.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Answers with a reason and an example or comparison; add two follow-up questions.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then reduce to cue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written rehearsal (questions + developed answers) — then reduce it to cue words. Do not memorise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مَثَلًا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أَكْثَرُ ______ مِنِّي.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more … than me.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أُفَضِّلُ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I prefer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تَقْصِدُ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do you mean by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أَفْهَمُ رَأْيَكَ، وَلٰكِنَّنِي أَرَى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understand your view,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صَدِيقِي / صَدِيقَتِي ______ ______ وَ ______ .</a:t>
            </a:r>
            <a:endParaRPr lang="ar-SA" sz="17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أَثِقُ بِهِ / بِهَا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trust him / her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أُسْلُوبِي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style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وَأَنْتَ؟ / وَأَنْتِ؟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يُمْكِنُكَ إِعَادَةُ السُّؤَالِ؟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Can you repeat the question?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وَدُودٌ  ·  صَادِقٌ  ·  أَثِقُ بِهِ  ·  يَدْعَمُنِي  ·  لِأَنَّ  ·  مَثَلًا  ·  أَكْثَرُ … مِنْ  ·  بَيْنَمَا  ·  وَأَنْتَ؟  ·  لِمَاذَا؟  ·  إِعَادَةُ السُّؤَالِ  ·  مَاذَا تَقْصِدُ؟</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Prepare a 100–120-word written rehearsal for a topic conversation about a person, relationship and personal style. Include possible questions and developed answers, but do not memorise it word for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اهْتِمَامًا بِالمَوْضَةِ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interested in fashion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الصِّدْقُ يَبْنِي الثِّقَةَ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honesty builds trust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نَتَكَلَّمُ بِهُدُوءٍ وَنَتَصَالَحُ</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talk calmly and make up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أَفْهَمُ رَأْيَكَ، وَلٰكِنَّ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understand your view, but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سُؤَالٌ جَيِّدٌ! فِي رَأْيِي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that’s a good question! In my opinion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 صِفْ صَدِيقًا مُقَرَّبًا. ج: صَدِيقِي عُمَرُ وَدُودٌ وَصَادِقٌ، وَأَثِقُ بِهِ لِأَنَّهُ يَسْتَمِعُ إِلَيَّ. س: كَيْفَ يَخْتَلِفُ أُسْلُوبُكُمَا؟ ج: أَنَا أُفَضِّلُ المَلَابِسَ البَسِيطَةَ، بَيْنَمَا هُوَ أَكْثَرُ اهْتِمَامًا بِالمَوْضَةِ. س: مَا أَهَمُّ صِفَةٍ فِي الصَّدِيقِ؟ ج: فِي رَأْيِي، الصِّدْقُ أَهَمُّ صِفَةٍ لِأَنَّهُ يَبْنِي الثِّقَةَ. س: هَلْ يُمْكِنُ أَنْ تَخْتَلِفَا؟ ج: نَعَمْ، وَلٰكِنَّنَا نَتَكَلَّمُ بِهُدُوءٍ وَنَتَصَالَحُ.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Q: Describe a close friend. A: My friend Omar is friendly and honest, and I trust him because he listens to me. Q: How do your styles differ? A: I prefer simple clothes, whereas he is more interested in fashion. Q: What is the most important quality in a friend? A: In my opinion, honesty is the most important quality because it builds trust. Q: Can you two disagree? A: Yes, but we talk calmly and make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in each answer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reciprocal “we”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answer answers the question directly.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answer has a reason.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example or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spoke from cue words, not a script.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أُسْلُوبِي بَسِيطٌ لِأَنَّنِي أُحِبُّ الرَّاحَةَ.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بَسِيطٌ.</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نَعَمْ.</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repair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إِعَادَةُ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example?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مَثَلًا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strongest?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أُسْلُوبِي بَسِيطٌ لِأَنَّنِي أُحِبُّ الرَّاحَةَ.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بَسِيطٌ.</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نَعَمْ.</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repair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وَأَنْتَ؟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يُمْكِنُكَ إِعَادَةُ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مَثَلًا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example?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مَثَلًا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mathalan = for example.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نَصٌّ تَدْرِيبِيٌّ لِمُحَادَثَةٍ: لَا تَكْفِي إِجَابَةُ «نَعَمْ» أَوْ «لَا». الإِجَابَةُ القَوِيَّةُ تَبْدَأُ بِجَوَابٍ مُبَاشِرٍ، ثُمَّ تُضِيفُ وَصْفًا أَوْ سَبَبًا، وَبَعْدَ ذٰلِكَ مِثَالًا أَوْ مُقَارَنَةً. عِنْدَمَا لَا تَفْهَمُ السُّؤَالَ، يُمْكِنُكَ أَنْ تَقُولَ: هَلْ يُمْكِنُكَ إِعَادَةُ السُّؤَالِ؟ أَوْ مَاذَا تَقْصِدُ بِـ...؟</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 تَدْرِيبِيٌّ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practice text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تَكْفِي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enough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إِجَابَةُ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answer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تَبْدَأُ بِـ</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starts with</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مُبَاشِرٍ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تُضِيفُ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description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عِنْدَمَا لَا تَفْهَمُ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when you don’t understand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السُّؤَالِ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repeating the question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مَاذَا تَقْصِدُ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what do you mean by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practice guide for conversations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enough?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a reason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an example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answering “yes” or “no”</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strong answer start?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direct answer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an example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next?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goodbye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description or a reason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And after that?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example or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same answer again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you say if you don’t understand?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want to answer.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 you repeat the question?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practice guide for conversations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advert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نَصٌّ تَدْرِيبِيٌّ لِمُحَادَثَةٍ.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enough?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a reason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an example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answering “yes” or “no”</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تَكْفِي إِجَابَةُ «نَعَمْ» أَوْ «لَا».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strong answer start?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direct answer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an example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تَبْدَأُ بِجَوَابٍ مُبَاشِرٍ.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next?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goodbye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description or a reason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تُضِيفُ وَصْفًا أَوْ سَبَبًا.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And after that?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 example or a comparison</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same answer again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وَبَعْدَ ذٰلِكَ مِثَالًا أَوْ 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you say if you don’t understand?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don’t want to answer.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Can you repeat the question?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هَلْ يُمْكِنُكَ إِعَادَةُ السُّؤَالِ؟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D2-L09 · Topic Conversation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D2-L10 · Speaking — Describing People and Personal Style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يَبْدُو / تَبْدُو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 seems</a:t>
            </a:r>
            <a:pPr indent="0" marL="0">
              <a:buNone/>
            </a:pPr>
            <a:r>
              <a:rPr lang="en-US" sz="1000" i="1" dirty="0">
                <a:solidFill>
                  <a:srgbClr val="5A6472"/>
                </a:solidFill>
                <a:latin typeface="Calibri" pitchFamily="34" charset="0"/>
                <a:ea typeface="Calibri" pitchFamily="34" charset="-122"/>
                <a:cs typeface="Calibri" pitchFamily="34" charset="-120"/>
              </a:rPr>
              <a:t>  D2-L06</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لَهُ / لَهَا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 has</a:t>
            </a:r>
            <a:pPr indent="0" marL="0">
              <a:buNone/>
            </a:pPr>
            <a:r>
              <a:rPr lang="en-US" sz="1000" i="1" dirty="0">
                <a:solidFill>
                  <a:srgbClr val="5A6472"/>
                </a:solidFill>
                <a:latin typeface="Calibri" pitchFamily="34" charset="0"/>
                <a:ea typeface="Calibri" pitchFamily="34" charset="-122"/>
                <a:cs typeface="Calibri" pitchFamily="34" charset="-120"/>
              </a:rPr>
              <a:t>  D2-L06</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الَّذِي / الَّتِي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 (m. / f.)</a:t>
            </a:r>
            <a:pPr indent="0" marL="0">
              <a:buNone/>
            </a:pPr>
            <a:r>
              <a:rPr lang="en-US" sz="1000" i="1" dirty="0">
                <a:solidFill>
                  <a:srgbClr val="5A6472"/>
                </a:solidFill>
                <a:latin typeface="Calibri" pitchFamily="34" charset="0"/>
                <a:ea typeface="Calibri" pitchFamily="34" charset="-122"/>
                <a:cs typeface="Calibri" pitchFamily="34" charset="-120"/>
              </a:rPr>
              <a:t>  D2-L06</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يَرْتَدِي / تَرْتَدِي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 wears</a:t>
            </a:r>
            <a:pPr indent="0" marL="0">
              <a:buNone/>
            </a:pPr>
            <a:r>
              <a:rPr lang="en-US" sz="1000" i="1" dirty="0">
                <a:solidFill>
                  <a:srgbClr val="5A6472"/>
                </a:solidFill>
                <a:latin typeface="Calibri" pitchFamily="34" charset="0"/>
                <a:ea typeface="Calibri" pitchFamily="34" charset="-122"/>
                <a:cs typeface="Calibri" pitchFamily="34" charset="-120"/>
              </a:rPr>
              <a:t>  D2-L03</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أُسْلُوبُهُ / أُسْلُوبُهَا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 her style</a:t>
            </a:r>
            <a:pPr indent="0" marL="0">
              <a:buNone/>
            </a:pPr>
            <a:r>
              <a:rPr lang="en-US" sz="1000" i="1" dirty="0">
                <a:solidFill>
                  <a:srgbClr val="5A6472"/>
                </a:solidFill>
                <a:latin typeface="Calibri" pitchFamily="34" charset="0"/>
                <a:ea typeface="Calibri" pitchFamily="34" charset="-122"/>
                <a:cs typeface="Calibri" pitchFamily="34" charset="-120"/>
              </a:rPr>
              <a:t>  D2-L04</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Choose a photo of a person (family, a famous person, a character). Prepare cue words for their appearance, clothes and personality.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شَخْصًا فِي صُورَةٍ.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cue cards (3–5 words) for each of the four conversation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yourself answering two questions for 30 seconds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rehearsal, then reduce it to cue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D2-L10 · Speaking — Describing People and Personal Style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 reason → example — then “And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D2-L09 · Speaking — People, Relationships and Style Topic Conversation</dc:title>
  <dc:subject>PptxGenJS Presentation</dc:subject>
  <dc:creator>Al Madina Online School · Arabic Department</dc:creator>
  <cp:lastModifiedBy>Al Madina Online School · Arabic Department</cp:lastModifiedBy>
  <cp:revision>1</cp:revision>
  <dcterms:created xsi:type="dcterms:W3CDTF">2026-09-27T11:54:53Z</dcterms:created>
  <dcterms:modified xsi:type="dcterms:W3CDTF">2026-09-27T11:54:53Z</dcterms:modified>
</cp:coreProperties>
</file>