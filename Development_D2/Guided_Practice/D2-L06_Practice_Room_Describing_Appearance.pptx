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D2-L06 (Describing Appearance — A Full Physical Portrait) — new practice tasks built on the lesson’s own word bank and grammar (portrait order (height → hair → eyes → clothes); lahu / lahā (he / she has); hair is masculine (shaʿruhā ṭawīlun); eyes are dual (ʿaynāhā bunniyyatāni); yartadī / tartadī; picking people out with alladhī / allatī; respectful description only).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D2-L06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for a lost sister: عُمْرُهَا · قَصِيرَةُ القَامَةِ · شَعْرُهَا · عَيْنَاهَا · تَرْتَدِي · البِنْتُ الَّتِي. Portrait order + alladhī / allatī to pick a person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(56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D2  ·  D2-L06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D2-L06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Describing Appearance — A Full Physical Portrait</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وَصْفُ المَظْهَرِ</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50" dirty="0">
                <a:solidFill>
                  <a:srgbClr val="C6D2E6"/>
                </a:solidFill>
                <a:latin typeface="Calibri" pitchFamily="34" charset="0"/>
                <a:cs typeface="Amiri" pitchFamily="2" charset="-78"/>
              </a:rPr>
              <a:t>Students run their own speaking and writing practice describing appearance: say the appearance words, act a “who is it?” dialogue, answer question cards, do a role-play card describing a lost child to security, give a one-minute portrait, then build, fix and write a full portrait of someone they admire.</a:t>
            </a:r>
            <a:endParaRPr lang="en-US" sz="125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D2-L06 · Development D2 · People, Relationships and Style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D2 › D2-L06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Height and hair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2550" b="1" dirty="0">
                <a:solidFill>
                  <a:srgbClr val="1B3B6F"/>
                </a:solidFill>
                <a:latin typeface="Amiri" pitchFamily="2" charset="-78"/>
                <a:ea typeface="Amiri" pitchFamily="2" charset="-78"/>
                <a:cs typeface="Amiri" pitchFamily="2" charset="-78"/>
              </a:rPr>
              <a:t>طَوِيلُ القَامَةِ / طَوِيلَةُ القَامَةِ</a:t>
            </a:r>
            <a:endParaRPr lang="ar-SA" sz="255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tall</a:t>
            </a:r>
            <a:endParaRPr lang="en-US" sz="1350" dirty="0"/>
          </a:p>
          <a:p>
            <a:pPr indent="0" marL="0">
              <a:buNone/>
            </a:pPr>
            <a:r>
              <a:rPr lang="en-US" sz="1100" i="1" dirty="0">
                <a:solidFill>
                  <a:srgbClr val="5A6472"/>
                </a:solidFill>
                <a:latin typeface="Calibri" pitchFamily="34" charset="0"/>
                <a:cs typeface="Amiri" pitchFamily="2" charset="-78"/>
              </a:rPr>
              <a:t>ṭa-wī-lu al-qā-ma-ti / ṭa-wī-la-tu al-qā-ma-ti</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طَوِيلَةُ القَامَةِ</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طَوِيلُ القَامَةِ</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2550" b="1" dirty="0">
                <a:solidFill>
                  <a:srgbClr val="1B3B6F"/>
                </a:solidFill>
                <a:latin typeface="Amiri" pitchFamily="2" charset="-78"/>
                <a:ea typeface="Amiri" pitchFamily="2" charset="-78"/>
                <a:cs typeface="Amiri" pitchFamily="2" charset="-78"/>
              </a:rPr>
              <a:t>قَصِيرُ القَامَةِ / قَصِيرَةُ القَامَةِ</a:t>
            </a:r>
            <a:endParaRPr lang="ar-SA" sz="255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short</a:t>
            </a:r>
            <a:endParaRPr lang="en-US" sz="1350" dirty="0"/>
          </a:p>
          <a:p>
            <a:pPr indent="0" marL="0">
              <a:buNone/>
            </a:pPr>
            <a:r>
              <a:rPr lang="en-US" sz="1100" i="1" dirty="0">
                <a:solidFill>
                  <a:srgbClr val="5A6472"/>
                </a:solidFill>
                <a:latin typeface="Calibri" pitchFamily="34" charset="0"/>
                <a:cs typeface="Amiri" pitchFamily="2" charset="-78"/>
              </a:rPr>
              <a:t>qa-ṣī-ru al-qā-ma-ti / qa-ṣī-ra-tu al-qā-ma-ti</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1" name="Text 38"/>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قَصِيرَةُ القَامَةِ</a:t>
            </a:r>
            <a:endParaRPr lang="ar-SA" sz="150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قَصِيرُ القَامَةِ</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8" name="Shape 45"/>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2400" b="1" dirty="0">
                <a:solidFill>
                  <a:srgbClr val="1B3B6F"/>
                </a:solidFill>
                <a:latin typeface="Amiri" pitchFamily="2" charset="-78"/>
                <a:ea typeface="Amiri" pitchFamily="2" charset="-78"/>
                <a:cs typeface="Amiri" pitchFamily="2" charset="-78"/>
              </a:rPr>
              <a:t>مُتَوَسِّطُ القَامَةِ / مُتَوَسِّطَةُ القَامَةِ</a:t>
            </a:r>
            <a:endParaRPr lang="ar-SA" sz="24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medium height</a:t>
            </a:r>
            <a:endParaRPr lang="en-US" sz="1350" dirty="0"/>
          </a:p>
          <a:p>
            <a:pPr indent="0" marL="0">
              <a:buNone/>
            </a:pPr>
            <a:r>
              <a:rPr lang="en-US" sz="1100" i="1" dirty="0">
                <a:solidFill>
                  <a:srgbClr val="5A6472"/>
                </a:solidFill>
                <a:latin typeface="Calibri" pitchFamily="34" charset="0"/>
                <a:cs typeface="Amiri" pitchFamily="2" charset="-78"/>
              </a:rPr>
              <a:t>mu-ta-was-si-ṭu al-qā-ma-ti / mu-ta-was-si-ṭa-tu al-qā-ma-ti</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مُتَوَسِّطَةُ القَامَةِ</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مُتَوَسِّطُ القَامَةِ</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3" name="Shape 60"/>
          <p:cNvSpPr/>
          <p:nvPr/>
        </p:nvSpPr>
        <p:spPr>
          <a:xfrm>
            <a:off x="8604504" y="4279392"/>
            <a:ext cx="833933"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his · her</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شَعْرٌ طَوِيلٌ</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long hair</a:t>
            </a:r>
            <a:endParaRPr lang="en-US" sz="1350" dirty="0"/>
          </a:p>
          <a:p>
            <a:pPr indent="0" marL="0">
              <a:buNone/>
            </a:pPr>
            <a:r>
              <a:rPr lang="en-US" sz="1100" i="1" dirty="0">
                <a:solidFill>
                  <a:srgbClr val="5A6472"/>
                </a:solidFill>
                <a:latin typeface="Calibri" pitchFamily="34" charset="0"/>
                <a:cs typeface="Amiri" pitchFamily="2" charset="-78"/>
              </a:rPr>
              <a:t>shaʿ-run ṭa-wī-lun</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71" name="Text 68"/>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شَعْرُهَا طَوِيلٌ</a:t>
            </a:r>
            <a:endParaRPr lang="ar-SA" sz="150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شَعْرُهُ طَوِيلٌ</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8" name="Shape 75"/>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his · her</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شَعْرٌ قَصِيرٌ</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short hair</a:t>
            </a:r>
            <a:endParaRPr lang="en-US" sz="1350" dirty="0"/>
          </a:p>
          <a:p>
            <a:pPr indent="0" marL="0">
              <a:buNone/>
            </a:pPr>
            <a:r>
              <a:rPr lang="en-US" sz="1100" i="1" dirty="0">
                <a:solidFill>
                  <a:srgbClr val="5A6472"/>
                </a:solidFill>
                <a:latin typeface="Calibri" pitchFamily="34" charset="0"/>
                <a:cs typeface="Amiri" pitchFamily="2" charset="-78"/>
              </a:rPr>
              <a:t>shaʿ-run qa-ṣī-run</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86" name="Text 83"/>
          <p:cNvSpPr txBox="1"/>
          <p:nvPr/>
        </p:nvSpPr>
        <p:spPr>
          <a:xfrm>
            <a:off x="6190488"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شَعْرُهَا قَصِيرٌ</a:t>
            </a:r>
            <a:endParaRPr lang="ar-SA" sz="150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89" name="Text 86"/>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شَعْرُهُ قَصِيرٌ</a:t>
            </a:r>
            <a:endParaRPr lang="ar-SA" sz="1500" dirty="0"/>
          </a:p>
        </p:txBody>
      </p:sp>
      <p:sp>
        <p:nvSpPr>
          <p:cNvPr id="90" name="Shape 8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566928" y="4261104"/>
            <a:ext cx="310896" cy="310896"/>
          </a:xfrm>
          <a:prstGeom prst="ellipse">
            <a:avLst/>
          </a:prstGeom>
          <a:solidFill>
            <a:srgbClr val="F4F1EA"/>
          </a:solidFill>
          <a:ln w="12700">
            <a:solidFill>
              <a:srgbClr val="F4F1EA"/>
            </a:solidFill>
            <a:prstDash val="solid"/>
          </a:ln>
        </p:spPr>
      </p:sp>
      <p:sp>
        <p:nvSpPr>
          <p:cNvPr id="92" name="Text 8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93" name="Shape 90"/>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94" name="Text 91"/>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his · her</a:t>
            </a:r>
            <a:endParaRPr lang="en-US" sz="800" dirty="0"/>
          </a:p>
        </p:txBody>
      </p:sp>
      <p:sp>
        <p:nvSpPr>
          <p:cNvPr id="95" name="Shape 92"/>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96" name="Text 93"/>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7" name="Text 94"/>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شَعْرٌ مُجَعَّدٌ</a:t>
            </a:r>
            <a:endParaRPr lang="ar-SA" sz="3000" dirty="0"/>
          </a:p>
        </p:txBody>
      </p:sp>
      <p:sp>
        <p:nvSpPr>
          <p:cNvPr id="98" name="Text 95"/>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curly hair</a:t>
            </a:r>
            <a:endParaRPr lang="en-US" sz="1350" dirty="0"/>
          </a:p>
          <a:p>
            <a:pPr indent="0" marL="0">
              <a:buNone/>
            </a:pPr>
            <a:r>
              <a:rPr lang="en-US" sz="1100" i="1" dirty="0">
                <a:solidFill>
                  <a:srgbClr val="5A6472"/>
                </a:solidFill>
                <a:latin typeface="Calibri" pitchFamily="34" charset="0"/>
                <a:cs typeface="Amiri" pitchFamily="2" charset="-78"/>
              </a:rPr>
              <a:t>shaʿ-run mu-jaʿ-ʿa-dun</a:t>
            </a:r>
            <a:endParaRPr lang="en-US" sz="1350" dirty="0"/>
          </a:p>
        </p:txBody>
      </p:sp>
      <p:sp>
        <p:nvSpPr>
          <p:cNvPr id="99" name="Shape 96"/>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101" name="Text 98"/>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شَعْرُهَا مُجَعَّدٌ</a:t>
            </a:r>
            <a:endParaRPr lang="ar-SA" sz="1500" dirty="0"/>
          </a:p>
        </p:txBody>
      </p:sp>
      <p:sp>
        <p:nvSpPr>
          <p:cNvPr id="102" name="Shape 99"/>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104" name="Text 101"/>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شَعْرُهُ مُجَعَّدٌ</a:t>
            </a:r>
            <a:endParaRPr lang="ar-SA" sz="1500" dirty="0"/>
          </a:p>
        </p:txBody>
      </p:sp>
      <p:sp>
        <p:nvSpPr>
          <p:cNvPr id="105" name="Text 10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Eyes, features and clothes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his · her</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شَعْرٌ مُسْتَقِيمٌ</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straight hair</a:t>
            </a:r>
            <a:endParaRPr lang="en-US" sz="1350" dirty="0"/>
          </a:p>
          <a:p>
            <a:pPr indent="0" marL="0">
              <a:buNone/>
            </a:pPr>
            <a:r>
              <a:rPr lang="en-US" sz="1100" i="1" dirty="0">
                <a:solidFill>
                  <a:srgbClr val="5A6472"/>
                </a:solidFill>
                <a:latin typeface="Calibri" pitchFamily="34" charset="0"/>
                <a:cs typeface="Amiri" pitchFamily="2" charset="-78"/>
              </a:rPr>
              <a:t>shaʿ-run mus-ta-qī-mun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شَعْرُهَا مُسْتَقِيمٌ</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شَعْرُهُ مُسْتَقِيمٌ</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3" name="Shape 3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one · two</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عَيْنَانِ بُنِّيَّتَانِ</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brown eyes</a:t>
            </a:r>
            <a:endParaRPr lang="en-US" sz="1350" dirty="0"/>
          </a:p>
          <a:p>
            <a:pPr indent="0" marL="0">
              <a:buNone/>
            </a:pPr>
            <a:r>
              <a:rPr lang="en-US" sz="1100" i="1" dirty="0">
                <a:solidFill>
                  <a:srgbClr val="5A6472"/>
                </a:solidFill>
                <a:latin typeface="Calibri" pitchFamily="34" charset="0"/>
                <a:cs typeface="Amiri" pitchFamily="2" charset="-78"/>
              </a:rPr>
              <a:t>ʿay-nā-ni bun-niy-ya-tā-ni</a:t>
            </a:r>
            <a:endParaRPr lang="en-US" sz="1350" dirty="0"/>
          </a:p>
        </p:txBody>
      </p:sp>
      <p:sp>
        <p:nvSpPr>
          <p:cNvPr id="39" name="Shape 36"/>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her eyes</a:t>
            </a:r>
            <a:endParaRPr lang="en-US" sz="700" dirty="0"/>
          </a:p>
        </p:txBody>
      </p:sp>
      <p:sp>
        <p:nvSpPr>
          <p:cNvPr id="41" name="Text 38"/>
          <p:cNvSpPr txBox="1"/>
          <p:nvPr/>
        </p:nvSpPr>
        <p:spPr>
          <a:xfrm>
            <a:off x="6766560"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عَيْنَاهَا</a:t>
            </a:r>
            <a:endParaRPr lang="ar-SA" sz="1350" dirty="0"/>
          </a:p>
        </p:txBody>
      </p:sp>
      <p:sp>
        <p:nvSpPr>
          <p:cNvPr id="42" name="Shape 39"/>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blue (2)</a:t>
            </a:r>
            <a:endParaRPr lang="en-US" sz="700" dirty="0"/>
          </a:p>
        </p:txBody>
      </p:sp>
      <p:sp>
        <p:nvSpPr>
          <p:cNvPr id="44" name="Text 41"/>
          <p:cNvSpPr txBox="1"/>
          <p:nvPr/>
        </p:nvSpPr>
        <p:spPr>
          <a:xfrm>
            <a:off x="5614416"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زَرْقَاوَانِ</a:t>
            </a:r>
            <a:endParaRPr lang="ar-SA" sz="1350" dirty="0"/>
          </a:p>
        </p:txBody>
      </p:sp>
      <p:sp>
        <p:nvSpPr>
          <p:cNvPr id="45" name="Shape 42"/>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47" name="Text 44"/>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عَيْنٌ بُنِّيَّةٌ</a:t>
            </a:r>
            <a:endParaRPr lang="ar-SA" sz="1500" dirty="0"/>
          </a:p>
        </p:txBody>
      </p:sp>
      <p:sp>
        <p:nvSpPr>
          <p:cNvPr id="48" name="Shape 4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66928" y="1920240"/>
            <a:ext cx="310896" cy="310896"/>
          </a:xfrm>
          <a:prstGeom prst="ellipse">
            <a:avLst/>
          </a:prstGeom>
          <a:solidFill>
            <a:srgbClr val="F4F1EA"/>
          </a:solidFill>
          <a:ln w="12700">
            <a:solidFill>
              <a:srgbClr val="F4F1EA"/>
            </a:solidFill>
            <a:prstDash val="solid"/>
          </a:ln>
        </p:spPr>
      </p:sp>
      <p:sp>
        <p:nvSpPr>
          <p:cNvPr id="50" name="Text 4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1" name="Shape 48"/>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52" name="Text 49"/>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3" name="Shape 5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يَرْتَدِي نَظَّارَةً</a:t>
            </a:r>
            <a:endParaRPr lang="ar-SA" sz="3000" dirty="0"/>
          </a:p>
        </p:txBody>
      </p:sp>
      <p:sp>
        <p:nvSpPr>
          <p:cNvPr id="56" name="Text 53"/>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wears glasses</a:t>
            </a:r>
            <a:endParaRPr lang="en-US" sz="1350" dirty="0"/>
          </a:p>
          <a:p>
            <a:pPr indent="0" marL="0">
              <a:buNone/>
            </a:pPr>
            <a:r>
              <a:rPr lang="en-US" sz="1100" i="1" dirty="0">
                <a:solidFill>
                  <a:srgbClr val="5A6472"/>
                </a:solidFill>
                <a:latin typeface="Calibri" pitchFamily="34" charset="0"/>
                <a:cs typeface="Amiri" pitchFamily="2" charset="-78"/>
              </a:rPr>
              <a:t>yar-ta-dī naẓ-ẓā-ra-tan</a:t>
            </a:r>
            <a:endParaRPr lang="en-US" sz="1350" dirty="0"/>
          </a:p>
        </p:txBody>
      </p:sp>
      <p:sp>
        <p:nvSpPr>
          <p:cNvPr id="57" name="Shape 54"/>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9" name="Text 56"/>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نَظَّارَاتٌ</a:t>
            </a:r>
            <a:endParaRPr lang="ar-SA" sz="1500" dirty="0"/>
          </a:p>
        </p:txBody>
      </p:sp>
      <p:sp>
        <p:nvSpPr>
          <p:cNvPr id="60" name="Shape 57"/>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glasses</a:t>
            </a:r>
            <a:endParaRPr lang="en-US" sz="700" dirty="0"/>
          </a:p>
        </p:txBody>
      </p:sp>
      <p:sp>
        <p:nvSpPr>
          <p:cNvPr id="62" name="Text 59"/>
          <p:cNvSpPr txBox="1"/>
          <p:nvPr/>
        </p:nvSpPr>
        <p:spPr>
          <a:xfrm>
            <a:off x="1792224" y="3575304"/>
            <a:ext cx="969264"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نَظَّارَةٌ</a:t>
            </a:r>
            <a:endParaRPr lang="ar-SA" sz="1350" dirty="0"/>
          </a:p>
        </p:txBody>
      </p:sp>
      <p:sp>
        <p:nvSpPr>
          <p:cNvPr id="63" name="Shape 60"/>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she</a:t>
            </a:r>
            <a:endParaRPr lang="en-US" sz="750" dirty="0"/>
          </a:p>
        </p:txBody>
      </p:sp>
      <p:sp>
        <p:nvSpPr>
          <p:cNvPr id="65" name="Text 62"/>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تَرْتَدِي</a:t>
            </a:r>
            <a:endParaRPr lang="ar-SA" sz="1500" dirty="0"/>
          </a:p>
        </p:txBody>
      </p:sp>
      <p:sp>
        <p:nvSpPr>
          <p:cNvPr id="66" name="Shape 6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8211312"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69" name="Shape 6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0" name="Text 6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1" name="Text 6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تَرْتَدِي نَظَّارَةً</a:t>
            </a:r>
            <a:endParaRPr lang="ar-SA" sz="3000" dirty="0"/>
          </a:p>
        </p:txBody>
      </p:sp>
      <p:sp>
        <p:nvSpPr>
          <p:cNvPr id="72" name="Text 6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she wears glasses</a:t>
            </a:r>
            <a:endParaRPr lang="en-US" sz="1350" dirty="0"/>
          </a:p>
          <a:p>
            <a:pPr indent="0" marL="0">
              <a:buNone/>
            </a:pPr>
            <a:r>
              <a:rPr lang="en-US" sz="1100" i="1" dirty="0">
                <a:solidFill>
                  <a:srgbClr val="5A6472"/>
                </a:solidFill>
                <a:latin typeface="Calibri" pitchFamily="34" charset="0"/>
                <a:cs typeface="Amiri" pitchFamily="2" charset="-78"/>
              </a:rPr>
              <a:t>tar-ta-dī naẓ-ẓā-ra-tan</a:t>
            </a:r>
            <a:endParaRPr lang="en-US" sz="1350" dirty="0"/>
          </a:p>
        </p:txBody>
      </p:sp>
      <p:sp>
        <p:nvSpPr>
          <p:cNvPr id="73" name="Shape 7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4" name="Shape 71"/>
          <p:cNvSpPr/>
          <p:nvPr/>
        </p:nvSpPr>
        <p:spPr>
          <a:xfrm>
            <a:off x="4389120" y="4261104"/>
            <a:ext cx="310896" cy="310896"/>
          </a:xfrm>
          <a:prstGeom prst="ellipse">
            <a:avLst/>
          </a:prstGeom>
          <a:solidFill>
            <a:srgbClr val="F4F1EA"/>
          </a:solidFill>
          <a:ln w="12700">
            <a:solidFill>
              <a:srgbClr val="F4F1EA"/>
            </a:solidFill>
            <a:prstDash val="solid"/>
          </a:ln>
        </p:spPr>
      </p:sp>
      <p:sp>
        <p:nvSpPr>
          <p:cNvPr id="75" name="Text 7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6" name="Text 73"/>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لَهُ لِحْيَةٌ</a:t>
            </a:r>
            <a:endParaRPr lang="ar-SA" sz="3000" dirty="0"/>
          </a:p>
        </p:txBody>
      </p:sp>
      <p:sp>
        <p:nvSpPr>
          <p:cNvPr id="77" name="Text 74"/>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has a beard</a:t>
            </a:r>
            <a:endParaRPr lang="en-US" sz="1350" dirty="0"/>
          </a:p>
          <a:p>
            <a:pPr indent="0" marL="0">
              <a:buNone/>
            </a:pPr>
            <a:r>
              <a:rPr lang="en-US" sz="1100" i="1" dirty="0">
                <a:solidFill>
                  <a:srgbClr val="5A6472"/>
                </a:solidFill>
                <a:latin typeface="Calibri" pitchFamily="34" charset="0"/>
                <a:cs typeface="Amiri" pitchFamily="2" charset="-78"/>
              </a:rPr>
              <a:t>la-hu liḥ-ya-tun</a:t>
            </a:r>
            <a:endParaRPr lang="en-US" sz="1350" dirty="0"/>
          </a:p>
        </p:txBody>
      </p:sp>
      <p:sp>
        <p:nvSpPr>
          <p:cNvPr id="78" name="Shape 7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9" name="Shape 76"/>
          <p:cNvSpPr/>
          <p:nvPr/>
        </p:nvSpPr>
        <p:spPr>
          <a:xfrm>
            <a:off x="566928" y="4261104"/>
            <a:ext cx="310896" cy="310896"/>
          </a:xfrm>
          <a:prstGeom prst="ellipse">
            <a:avLst/>
          </a:prstGeom>
          <a:solidFill>
            <a:srgbClr val="F4F1EA"/>
          </a:solidFill>
          <a:ln w="12700">
            <a:solidFill>
              <a:srgbClr val="F4F1EA"/>
            </a:solidFill>
            <a:prstDash val="solid"/>
          </a:ln>
        </p:spPr>
      </p:sp>
      <p:sp>
        <p:nvSpPr>
          <p:cNvPr id="80" name="Text 7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1" name="Text 78"/>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مَلَامِحُهُ هَادِئَةٌ</a:t>
            </a:r>
            <a:endParaRPr lang="ar-SA" sz="3000" dirty="0"/>
          </a:p>
        </p:txBody>
      </p:sp>
      <p:sp>
        <p:nvSpPr>
          <p:cNvPr id="82" name="Text 79"/>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his features are calm</a:t>
            </a:r>
            <a:endParaRPr lang="en-US" sz="1350" dirty="0"/>
          </a:p>
          <a:p>
            <a:pPr indent="0" marL="0">
              <a:buNone/>
            </a:pPr>
            <a:r>
              <a:rPr lang="en-US" sz="1100" i="1" dirty="0">
                <a:solidFill>
                  <a:srgbClr val="5A6472"/>
                </a:solidFill>
                <a:latin typeface="Calibri" pitchFamily="34" charset="0"/>
                <a:cs typeface="Amiri" pitchFamily="2" charset="-78"/>
              </a:rPr>
              <a:t>ma-lā-mi-ḥu-hu hā-di-ʾa-tun</a:t>
            </a:r>
            <a:endParaRPr lang="en-US" sz="13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Which one is your cousin?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ابْنَةُ عَمِّكَ؟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girl is your cousin?</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أَيُّ بِنْتٍ هِيَ ابْنَةُ عَمِّكَ؟</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She’s the girl who is wearing glasses.</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هِيَ البِنْتُ الَّتِي تَرْتَدِي نَظَّارَةً.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tall one or the short one?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الطَّوِيلَةُ أَمِ القَصِيرَةُ؟</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is of medium height, and her hair is long and black.</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هِيَ مُتَوَسِّطَةُ القَامَةِ، وَشَعْرُهَا أَسْوَدُ طَوِيلٌ.</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the boy next to her?</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وَالوَلَدُ الَّذِي بِجَانِبِهَا؟</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That’s her brother. He has curly hair, and his eyes are green.</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هٰذَا أَخُوهَا. لَهُ شَعْرٌ مُجَعَّدٌ، وَعَيْنَاهُ خَضْرَاوَانِ.</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describe someone in a photo on your screen — your partner guesses who.</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وَعَيْنَايَ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أَنَا … القَامَةِ، وَشَعْرِي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yourself.</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نَفْسَكَ.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وَيَرْتَدِي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هُوَ … القَامَةِ، وَلَهُ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your best friend look like?</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يَبْدُو صَدِيقُكَ المُقَرَّبُ؟</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مِثْلَ عَيْنَيَّ</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عَيْنَاهَا بُنِّيَّتَانِ / سَوْدَاوَانِ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colour are your mother’s eyes?</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لَوْنُ عَيْنَيْ أُمِّكَ؟</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لِلْقِرَاءَةِ فَقَطْ</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 يَرْتَدِي / تَرْتَدِي نَظَّارَةً</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wears glasses in your family?</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يَرْتَدِي نَظَّارَةً فِي عَائِلَتِكَ؟</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وَهُوَ / هِيَ أَيْضًا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الشَّخْصُ الَّذِي / الَّتِي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Describe the person who sits next to you in class.</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الشَّخْصَ الَّذِي يَجْلِسُ بِجَانِبِكَ فِي الصَّفِّ.</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Role-play card — a lost child at the shopping centre</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طِفْلٌ ضَائِعٌ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 عُمْرُهُ … وَهُوَ … القَامَةِ</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Age + height.</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يَبْدُو أَخُوكَ؟</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شَعْرُهُ ← شَعْرُهُ … ، وَعَيْنَاهُ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Hair + eyes.</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وَشَعْرُهُ؟</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Clothes + colours.</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يَرْتَدِي؟</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Pick him out.</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هُنَاكَ وَلَدَانِ. هَلْ هُوَ الوَلَدُ الَّذِي يَبْكِي؟</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an older sibling · Leader = the security guard.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a portrait in order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صُورَةٌ بِالتَّرْتِيبِ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Describe someone you admire for one minute in order: who → height → hair → eyes → clothes → one quality.</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Height, hair and eyes with the right agreement.</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لَهُ / لَهَا</a:t>
            </a:r>
            <a:pPr algn="l" indent="0" marL="0">
              <a:buNone/>
            </a:pPr>
            <a:r>
              <a:rPr lang="en-US" sz="1150" dirty="0">
                <a:solidFill>
                  <a:srgbClr val="1F2A37"/>
                </a:solidFill>
                <a:latin typeface="Calibri" pitchFamily="34" charset="0"/>
                <a:cs typeface="Amiri" pitchFamily="2" charset="-78"/>
              </a:rPr>
              <a:t>, clothes with colours, and </a:t>
            </a:r>
            <a:pPr algn="l" indent="0" marL="0">
              <a:buNone/>
            </a:pPr>
            <a:r>
              <a:rPr lang="ar-SA" altLang="en-US" sz="1500" dirty="0">
                <a:solidFill>
                  <a:srgbClr val="1F2A37"/>
                </a:solidFill>
                <a:latin typeface="Amiri" pitchFamily="2" charset="-78"/>
                <a:ea typeface="Amiri" pitchFamily="2" charset="-78"/>
                <a:cs typeface="Amiri" pitchFamily="2" charset="-78"/>
              </a:rPr>
              <a:t>الَّذِي / الَّتِي</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 personality quality with evidence and a comparison (</a:t>
            </a:r>
            <a:pPr algn="l" indent="0" marL="0">
              <a:buNone/>
            </a:pPr>
            <a:r>
              <a:rPr lang="ar-SA" altLang="en-US" sz="1500" dirty="0">
                <a:solidFill>
                  <a:srgbClr val="1F2A37"/>
                </a:solidFill>
                <a:latin typeface="Amiri" pitchFamily="2" charset="-78"/>
                <a:ea typeface="Amiri" pitchFamily="2" charset="-78"/>
                <a:cs typeface="Amiri" pitchFamily="2" charset="-78"/>
              </a:rPr>
              <a:t>أَطْوَلُ مِنْ</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She is tall and her hair is curly.</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 طَوِيلَةُ القَامَةِ،</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 طَوِيلُ القَامَةِ،</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وَشَعْرُهَا</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وَشَعْرُهُ</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مُجَعَّدٌ.</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مُجَعَّدَةٌ.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His eyes are brown and big.</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عَيْنَاهُ</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عَيْنُهُ</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بُنِّيَّتَانِ</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بُنِّيٌّ</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وَكَبِيرَتَانِ.</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وَكَبِيرٌ.</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man who wears glasses is my teacher.</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الرَّجُلُ</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رَجُلٌ</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الَّذِي يَرْتَدِي نَظَّارَةً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الَّتِي تَرْتَدِي نَظَّارَةً</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هُوَ أُسْتَاذِي.</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 أُسْتَاذِي.</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She is tall and her hair is curly.</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a:t>
            </a:r>
            <a:pPr algn="l" indent="0" marL="0">
              <a:buNone/>
            </a:pPr>
            <a:r>
              <a:rPr lang="ar-SA" altLang="en-US" sz="1350" dirty="0">
                <a:solidFill>
                  <a:srgbClr val="5A6472"/>
                </a:solidFill>
                <a:latin typeface="Amiri" pitchFamily="2" charset="-78"/>
                <a:ea typeface="Amiri" pitchFamily="2" charset="-78"/>
                <a:cs typeface="Amiri" pitchFamily="2" charset="-78"/>
              </a:rPr>
              <a:t>طَوِيلَةُ</a:t>
            </a:r>
            <a:pPr algn="l" indent="0" marL="0">
              <a:buNone/>
            </a:pPr>
            <a:r>
              <a:rPr lang="en-US" sz="1050" i="1" dirty="0">
                <a:solidFill>
                  <a:srgbClr val="5A6472"/>
                </a:solidFill>
                <a:latin typeface="Calibri" pitchFamily="34" charset="0"/>
                <a:cs typeface="Amiri" pitchFamily="2" charset="-78"/>
              </a:rPr>
              <a:t>; hair is masculine → </a:t>
            </a:r>
            <a:pPr algn="l" indent="0" marL="0">
              <a:buNone/>
            </a:pPr>
            <a:r>
              <a:rPr lang="ar-SA" altLang="en-US" sz="1350" dirty="0">
                <a:solidFill>
                  <a:srgbClr val="5A6472"/>
                </a:solidFill>
                <a:latin typeface="Amiri" pitchFamily="2" charset="-78"/>
                <a:ea typeface="Amiri" pitchFamily="2" charset="-78"/>
                <a:cs typeface="Amiri" pitchFamily="2" charset="-78"/>
              </a:rPr>
              <a:t>مُجَعَّدٌ</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هِيَ طَوِيلَةُ القَامَةِ، وَشَعْرُهَا مُجَعَّدٌ.</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His eyes are brown and big.</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Eyes = dual feminine → </a:t>
            </a:r>
            <a:pPr algn="l" indent="0" marL="0">
              <a:buNone/>
            </a:pPr>
            <a:r>
              <a:rPr lang="ar-SA" altLang="en-US" sz="1350" dirty="0">
                <a:solidFill>
                  <a:srgbClr val="5A6472"/>
                </a:solidFill>
                <a:latin typeface="Amiri" pitchFamily="2" charset="-78"/>
                <a:ea typeface="Amiri" pitchFamily="2" charset="-78"/>
                <a:cs typeface="Amiri" pitchFamily="2" charset="-78"/>
              </a:rPr>
              <a:t>بُنِّيَّتَانِ وَكَبِيرَتَانِ</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عَيْنَاهُ بُنِّيَّتَانِ وَكَبِيرَتَانِ.</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man who wears glasses is my teacher.</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Definite man → </a:t>
            </a:r>
            <a:pPr algn="l" indent="0" marL="0">
              <a:buNone/>
            </a:pPr>
            <a:r>
              <a:rPr lang="ar-SA" altLang="en-US" sz="1350" dirty="0">
                <a:solidFill>
                  <a:srgbClr val="5A6472"/>
                </a:solidFill>
                <a:latin typeface="Amiri" pitchFamily="2" charset="-78"/>
                <a:ea typeface="Amiri" pitchFamily="2" charset="-78"/>
                <a:cs typeface="Amiri" pitchFamily="2" charset="-78"/>
              </a:rPr>
              <a:t>الَّذِي</a:t>
            </a:r>
            <a:pPr algn="l" indent="0" marL="0">
              <a:buNone/>
            </a:pPr>
            <a:r>
              <a:rPr lang="en-US" sz="1050" i="1" dirty="0">
                <a:solidFill>
                  <a:srgbClr val="5A6472"/>
                </a:solidFill>
                <a:latin typeface="Calibri" pitchFamily="34" charset="0"/>
                <a:cs typeface="Amiri" pitchFamily="2" charset="-78"/>
              </a:rPr>
              <a:t> + ya-.</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الرَّجُلُ الَّذِي يَرْتَدِي نَظَّارَةً هُوَ أُسْتَاذِي.</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شَعْرُهَا طَوِيلَةٌ.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hair masculine or feminine?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عَيْنَاهَا أَخْضَرُ.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Two eyes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البِنْتُ الَّذِي تَرْتَدِي الحِجَابَ أُخْتِي.</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 / which for a girl?</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شَعْرُهَا طَوِيلَةٌ.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شَعْرُهَا طَوِيلٌ.</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شَعْرٌ</a:t>
            </a:r>
            <a:pPr algn="l" indent="0" marL="0">
              <a:buNone/>
            </a:pPr>
            <a:r>
              <a:rPr lang="en-US" sz="1150" b="1" dirty="0">
                <a:solidFill>
                  <a:srgbClr val="1B3B6F"/>
                </a:solidFill>
                <a:latin typeface="Calibri" pitchFamily="34" charset="0"/>
                <a:cs typeface="Amiri" pitchFamily="2" charset="-78"/>
              </a:rPr>
              <a:t> is masculine, even for a girl.</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عَيْنَاهَا أَخْضَرُ.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عَيْنَاهَا خَضْرَاوَانِ.</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Dual feminine colour: </a:t>
            </a:r>
            <a:pPr algn="l" indent="0" marL="0">
              <a:buNone/>
            </a:pPr>
            <a:r>
              <a:rPr lang="ar-SA" altLang="en-US" sz="1500" b="1" dirty="0">
                <a:solidFill>
                  <a:srgbClr val="1B3B6F"/>
                </a:solidFill>
                <a:latin typeface="Amiri" pitchFamily="2" charset="-78"/>
                <a:ea typeface="Amiri" pitchFamily="2" charset="-78"/>
                <a:cs typeface="Amiri" pitchFamily="2" charset="-78"/>
              </a:rPr>
              <a:t>خَضْرَاوَانِ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البِنْتُ الَّذِي تَرْتَدِي الحِجَابَ أُخْتِي.</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البِنْتُ الَّتِي تَرْتَدِي الحِجَابَ أُخْتِي.</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 </a:t>
            </a:r>
            <a:pPr algn="l" indent="0" marL="0">
              <a:buNone/>
            </a:pPr>
            <a:r>
              <a:rPr lang="ar-SA" altLang="en-US" sz="1500" b="1" dirty="0">
                <a:solidFill>
                  <a:srgbClr val="1B3B6F"/>
                </a:solidFill>
                <a:latin typeface="Amiri" pitchFamily="2" charset="-78"/>
                <a:ea typeface="Amiri" pitchFamily="2" charset="-78"/>
                <a:cs typeface="Amiri" pitchFamily="2" charset="-78"/>
              </a:rPr>
              <a:t>الَّتِي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هُوَ الشَّخْصُ الَّذِي / هِيَ الشَّخْصُ الَّتِي ______ .</a:t>
            </a:r>
            <a:endParaRPr lang="ar-SA" sz="175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is the person who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 هِيَ أَطْوَلُ مِنْ ______ ، وَ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is taller than …, and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أُعْجَبُ بِ______ كَثِيرًا، وَهُوَ / هِيَ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admire …, who is my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هُوَ / هِيَ ______ القَامَةِ، وَشَعْرُهُ / شَعْرُهَا ______ .</a:t>
            </a:r>
            <a:endParaRPr lang="ar-SA" sz="145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is … height, and his / her hair is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عَيْنَاهُ / عَيْنَاهَا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 her eyes are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عَادَةً يَرْتَدِي / تَرْتَدِي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usually wears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طَوِيلُ / طَوِيلَةُ القَامَةِ  ·  مُتَوَسِّطُ القَامَةِ  ·  شَعْرٌ مُجَعَّدٌ · مُسْتَقِيمٌ  ·  عَيْنَانِ بُنِّيَّتَانِ  ·  لَهُ لِحْيَةٌ  ·  يَرْتَدِي · تَرْتَدِي  ·  نَظَّارَةٌ  ·  الَّذِي · الَّتِي</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portrait of someone I admire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صُورَةُ شَخْصٍ أُعْجَبُ بِهِ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00" b="1" dirty="0">
                <a:solidFill>
                  <a:srgbClr val="1F2A37"/>
                </a:solidFill>
                <a:latin typeface="Calibri" pitchFamily="34" charset="0"/>
                <a:cs typeface="Amiri" pitchFamily="2" charset="-78"/>
              </a:rPr>
              <a:t>Write a respectful portrait (about 60–80 words) of someone you admire. Follow the order: who they are → height → hair → eyes → typical clothes → one quality with evidence. Include: • </a:t>
            </a:r>
            <a:pPr algn="l" indent="0" marL="0">
              <a:buNone/>
            </a:pPr>
            <a:r>
              <a:rPr lang="ar-SA" altLang="en-US" sz="1700" b="1" dirty="0">
                <a:solidFill>
                  <a:srgbClr val="1F2A37"/>
                </a:solidFill>
                <a:latin typeface="Amiri" pitchFamily="2" charset="-78"/>
                <a:ea typeface="Amiri" pitchFamily="2" charset="-78"/>
                <a:cs typeface="Amiri" pitchFamily="2" charset="-78"/>
              </a:rPr>
              <a:t>لَهُ / لَهَا</a:t>
            </a:r>
            <a:pPr algn="l" indent="0" marL="0">
              <a:buNone/>
            </a:pPr>
            <a:r>
              <a:rPr lang="en-US" sz="1300" b="1" dirty="0">
                <a:solidFill>
                  <a:srgbClr val="1F2A37"/>
                </a:solidFill>
                <a:latin typeface="Calibri" pitchFamily="34" charset="0"/>
                <a:cs typeface="Amiri" pitchFamily="2" charset="-78"/>
              </a:rPr>
              <a:t> • a dual for the eyes • one </a:t>
            </a:r>
            <a:pPr algn="l" indent="0" marL="0">
              <a:buNone/>
            </a:pPr>
            <a:r>
              <a:rPr lang="ar-SA" altLang="en-US" sz="1700" b="1" dirty="0">
                <a:solidFill>
                  <a:srgbClr val="1F2A37"/>
                </a:solidFill>
                <a:latin typeface="Amiri" pitchFamily="2" charset="-78"/>
                <a:ea typeface="Amiri" pitchFamily="2" charset="-78"/>
                <a:cs typeface="Amiri" pitchFamily="2" charset="-78"/>
              </a:rPr>
              <a:t>الَّذِي / الَّتِي</a:t>
            </a:r>
            <a:pPr algn="l" indent="0" marL="0">
              <a:buNone/>
            </a:pPr>
            <a:r>
              <a:rPr lang="en-US" sz="1300" b="1" dirty="0">
                <a:solidFill>
                  <a:srgbClr val="1F2A37"/>
                </a:solidFill>
                <a:latin typeface="Calibri" pitchFamily="34" charset="0"/>
                <a:cs typeface="Amiri" pitchFamily="2" charset="-78"/>
              </a:rPr>
              <a:t> sentence • one comparison.</a:t>
            </a:r>
            <a:endParaRPr lang="en-US" sz="13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 / هِيَ … القَامَةِ</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 she is … (height)</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شَعْرُهُ / شَعْرُهَا … · لَهُ لِحْيَةٌ</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his / her hair … · he has a beard</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عَيْنَاهُ / عَيْنَاهَا بُنِّيَّتَانِ</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his / her eyes are brown</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عَادَةً يَرْتَدِي / تَرْتَدِي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 she usually wears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follow the portrait order and treat hair as masculine?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dual for eyes, </a:t>
            </a:r>
            <a:pPr algn="l" indent="0" marL="0">
              <a:buNone/>
            </a:pPr>
            <a:r>
              <a:rPr lang="ar-SA" altLang="en-US" sz="1450" dirty="0">
                <a:solidFill>
                  <a:srgbClr val="5A6472"/>
                </a:solidFill>
                <a:latin typeface="Amiri" pitchFamily="2" charset="-78"/>
                <a:ea typeface="Amiri" pitchFamily="2" charset="-78"/>
                <a:cs typeface="Amiri" pitchFamily="2" charset="-78"/>
              </a:rPr>
              <a:t>لَهُ / لَهَا</a:t>
            </a:r>
            <a:pPr algn="l" indent="0" marL="0">
              <a:buNone/>
            </a:pPr>
            <a:r>
              <a:rPr lang="en-US" sz="1100" dirty="0">
                <a:solidFill>
                  <a:srgbClr val="5A6472"/>
                </a:solidFill>
                <a:latin typeface="Calibri" pitchFamily="34" charset="0"/>
                <a:cs typeface="Amiri" pitchFamily="2" charset="-78"/>
              </a:rPr>
              <a:t> and </a:t>
            </a:r>
            <a:pPr algn="l" indent="0" marL="0">
              <a:buNone/>
            </a:pPr>
            <a:r>
              <a:rPr lang="ar-SA" altLang="en-US" sz="1450" dirty="0">
                <a:solidFill>
                  <a:srgbClr val="5A6472"/>
                </a:solidFill>
                <a:latin typeface="Amiri" pitchFamily="2" charset="-78"/>
                <a:ea typeface="Amiri" pitchFamily="2" charset="-78"/>
                <a:cs typeface="Amiri" pitchFamily="2" charset="-78"/>
              </a:rPr>
              <a:t>الَّذِي / الَّتِي</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عُمْرُهُ سِتُّ سَنَوَاتٍ، وَهُوَ قَصِيرُ القَامَةِ.</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is six and short.</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يَبْدُو أَخُوكَ؟</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شَعْرُهُ بُنِّيٌّ قَصِيرٌ، وَعَيْنَاهُ زَرْقَاوَانِ.</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His hair is short and brown, and his eyes are blue.</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وَشَعْرُهُ؟</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يَرْتَدِي قَمِيصًا أَحْمَرَ وَسِرْوَالًا أَزْرَقَ، وَمَعَهُ حَقِيبَةٌ صَغِيرَةٌ.</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is wearing a red shirt and blue trousers, and he has a small bag.</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يَرْتَدِي؟</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أَخِي هُوَ الوَلَدُ الَّذِي يَرْتَدِي القُبَّعَةَ الصَّفْرَاءَ!</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No — my brother is the boy wearing the yellow cap!</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هُنَاكَ وَلَدَانِ. هَلْ هُوَ الوَلَدُ الَّذِي يَبْكِي؟</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أُعْجَبُ بِجَدِّي كَثِيرًا. هُوَ طَوِيلُ القَامَةِ، وَشَعْرُهُ أَبْيَضُ قَصِيرٌ، وَلَهُ لِحْيَةٌ بَيْضَاءُ أَنِيقَةٌ. عَيْنَاهُ بُنِّيَّتَانِ، وَيَرْتَدِي نَظَّارَةً لِلْقِرَاءَةِ. عَادَةً يَرْتَدِي ثَوْبًا تَقْلِيدِيًّا أَبْيَضَ، وَفِي الشِّتَاءِ يَلْبَسُ مِعْطَفًا رَمَادِيًّا. هُوَ أَطْوَلُ مِنْ أَبِي، وَلٰكِنَّهُ أَهْدَأُ مِنْهُ. جَدِّي هُوَ الشَّخْصُ الَّذِي يَسْمَعُنِي دَائِمًا، وَهُوَ صَبُورٌ جِدًّا، لِأَنَّهُ يُعَلِّمُنِي القُرْآنَ كُلَّ جُمُعَةٍ بِدُونِ تَعَبٍ. أُحِبُّهُ لِأَنَّ وَجْهَهُ يَبْتَسِمُ دَائِمًا.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admire my grandfather very much. He is tall, his hair is short and white, and he has a neat white beard. His eyes are brown, and he wears reading glasses. He usually wears a traditional white thobe, and in winter he wears a grey coat. He is taller than my father, but calmer than him. My grandfather is the person who always listens to me, and he is very patient, because he teaches me the Qur’an every Friday without getting tired. I love him because his face is always smiling.”</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طَوِيلُ القَامَةِ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وَلَهُ لِحْيَةٌ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عَيْنَاهُ بُنِّيَّتَانِ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الشَّخْصُ الَّذِي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D2-L06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D2 · People, Relationships and Style · D2-L06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D2-L06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D2-L07 · Listening — People, Personality and Style Descriptions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الاِسْتِمَاعُ — وَصْفُ الأَشْخَاصِ وَالشَّخْصِيَّةِ وَالأُسْلُوبِ</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D2-L06 · Practice Room — Describing Appearance — A Full Physical Portrait</dc:title>
  <dc:subject>PptxGenJS Presentation</dc:subject>
  <dc:creator>Al Madina Online School · Arabic Department</dc:creator>
  <cp:lastModifiedBy>Al Madina Online School · Arabic Department</cp:lastModifiedBy>
  <cp:revision>1</cp:revision>
  <dcterms:created xsi:type="dcterms:W3CDTF">2026-10-25T18:12:25Z</dcterms:created>
  <dcterms:modified xsi:type="dcterms:W3CDTF">2026-10-25T18:12:25Z</dcterms:modified>
</cp:coreProperties>
</file>