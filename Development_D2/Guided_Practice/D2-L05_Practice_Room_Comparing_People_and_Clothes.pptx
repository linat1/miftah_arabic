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D2-L05 (Comparing People and Clothes — More, Less and Better) — new practice tasks built on the lesson’s own word bank and grammar (comparative afʿalu + min (aṭwalu min · arkhaṣu min · aghlā min); akthar / aqall + an accusative noun (akthar thiqatan · aqall saʿran); the same: mithla · bi-nafsi al-daraja; preference: ufaḍḍilu … ʿalā …; superlative: al-afḍal · aṭwalu ṭālibin).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sister: أَنْتِ تَعْرِفِينَ · لِأَنَّكِ تَتَسَوَّقِينَ. afʿalu + min never changes for gender: الحَقِيبَةُ أَجْمَلُ · المِعْطَفُ أَجْمَلُ.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Comparing People and Clothes — More, Less and Better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المُقَارَنَةُ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speaking and writing practice comparing people and clothes: say the comparatives, act a shopping comparison dialogue, answer comparison cards, do a role-play card choosing a gift with a sibling, give a one-minute comparison talk, then build, fix and write a comparison of two people or two outfits.</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D2-L05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Comparing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than</a:t>
            </a:r>
            <a:endParaRPr lang="en-US" sz="1350" dirty="0"/>
          </a:p>
          <a:p>
            <a:pPr indent="0" marL="0">
              <a:buNone/>
            </a:pPr>
            <a:r>
              <a:rPr lang="en-US" sz="1100" i="1" dirty="0">
                <a:solidFill>
                  <a:srgbClr val="5A6472"/>
                </a:solidFill>
                <a:latin typeface="Calibri" pitchFamily="34" charset="0"/>
                <a:cs typeface="Amiri" pitchFamily="2" charset="-78"/>
              </a:rPr>
              <a:t>ak-tha-ru ...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 مِنْ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 than</a:t>
            </a:r>
            <a:endParaRPr lang="en-US" sz="1350" dirty="0"/>
          </a:p>
          <a:p>
            <a:pPr indent="0" marL="0">
              <a:buNone/>
            </a:pPr>
            <a:r>
              <a:rPr lang="en-US" sz="1100" i="1" dirty="0">
                <a:solidFill>
                  <a:srgbClr val="5A6472"/>
                </a:solidFill>
                <a:latin typeface="Calibri" pitchFamily="34" charset="0"/>
                <a:cs typeface="Amiri" pitchFamily="2" charset="-78"/>
              </a:rPr>
              <a:t>a-qal-lu ... min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مِنْ</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better than</a:t>
            </a:r>
            <a:endParaRPr lang="en-US" sz="1350" dirty="0"/>
          </a:p>
          <a:p>
            <a:pPr indent="0" marL="0">
              <a:buNone/>
            </a:pPr>
            <a:r>
              <a:rPr lang="en-US" sz="1100" i="1" dirty="0">
                <a:solidFill>
                  <a:srgbClr val="5A6472"/>
                </a:solidFill>
                <a:latin typeface="Calibri" pitchFamily="34" charset="0"/>
                <a:cs typeface="Amiri" pitchFamily="2" charset="-78"/>
              </a:rPr>
              <a:t>af-ḍa-lu min</a:t>
            </a:r>
            <a:endParaRPr lang="en-US" sz="1350" dirty="0"/>
          </a:p>
        </p:txBody>
      </p:sp>
      <p:sp>
        <p:nvSpPr>
          <p:cNvPr id="38" name="Shape 3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40" name="Text 37"/>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الأَفْضَلُ</a:t>
            </a:r>
            <a:endParaRPr lang="ar-SA" sz="1350" dirty="0"/>
          </a:p>
        </p:txBody>
      </p:sp>
      <p:sp>
        <p:nvSpPr>
          <p:cNvPr id="41" name="Shape 3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43" name="Text 40"/>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جَيِّدٌ</a:t>
            </a:r>
            <a:endParaRPr lang="ar-SA"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1580083"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أَرْخَصُ مِنْ</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 than</a:t>
            </a:r>
            <a:endParaRPr lang="en-US" sz="1350" dirty="0"/>
          </a:p>
          <a:p>
            <a:pPr indent="0" marL="0">
              <a:buNone/>
            </a:pPr>
            <a:r>
              <a:rPr lang="en-US" sz="1100" i="1" dirty="0">
                <a:solidFill>
                  <a:srgbClr val="5A6472"/>
                </a:solidFill>
                <a:latin typeface="Calibri" pitchFamily="34" charset="0"/>
                <a:cs typeface="Amiri" pitchFamily="2" charset="-78"/>
              </a:rPr>
              <a:t>ar-kha-ṣu min</a:t>
            </a:r>
            <a:endParaRPr lang="en-US" sz="1350" dirty="0"/>
          </a:p>
        </p:txBody>
      </p:sp>
      <p:sp>
        <p:nvSpPr>
          <p:cNvPr id="53" name="Shape 5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55" name="Text 52"/>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الأَرْخَصُ</a:t>
            </a:r>
            <a:endParaRPr lang="ar-SA" sz="1350" dirty="0"/>
          </a:p>
        </p:txBody>
      </p:sp>
      <p:sp>
        <p:nvSpPr>
          <p:cNvPr id="56" name="Shape 5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58" name="Text 55"/>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رَخِيصٌ</a:t>
            </a:r>
            <a:endParaRPr lang="ar-SA"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2" name="Shape 59"/>
          <p:cNvSpPr/>
          <p:nvPr/>
        </p:nvSpPr>
        <p:spPr>
          <a:xfrm>
            <a:off x="4782312" y="4279392"/>
            <a:ext cx="1580083"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64" name="Shape 6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أَغْلَى مِنْ</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expensive than</a:t>
            </a:r>
            <a:endParaRPr lang="en-US" sz="1350" dirty="0"/>
          </a:p>
          <a:p>
            <a:pPr indent="0" marL="0">
              <a:buNone/>
            </a:pPr>
            <a:r>
              <a:rPr lang="en-US" sz="1100" i="1" dirty="0">
                <a:solidFill>
                  <a:srgbClr val="5A6472"/>
                </a:solidFill>
                <a:latin typeface="Calibri" pitchFamily="34" charset="0"/>
                <a:cs typeface="Amiri" pitchFamily="2" charset="-78"/>
              </a:rPr>
              <a:t>agh-lā min</a:t>
            </a:r>
            <a:endParaRPr lang="en-US" sz="1350" dirty="0"/>
          </a:p>
        </p:txBody>
      </p:sp>
      <p:sp>
        <p:nvSpPr>
          <p:cNvPr id="68" name="Shape 6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70" name="Text 67"/>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الأَغْلَى</a:t>
            </a:r>
            <a:endParaRPr lang="ar-SA" sz="1350" dirty="0"/>
          </a:p>
        </p:txBody>
      </p:sp>
      <p:sp>
        <p:nvSpPr>
          <p:cNvPr id="71" name="Shape 6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73" name="Text 70"/>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غَالٍ</a:t>
            </a:r>
            <a:endParaRPr lang="ar-SA" sz="135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7" name="Shape 74"/>
          <p:cNvSpPr/>
          <p:nvPr/>
        </p:nvSpPr>
        <p:spPr>
          <a:xfrm>
            <a:off x="960120" y="4279392"/>
            <a:ext cx="1580083"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79" name="Shape 7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أَطْوَلُ مِنْ</a:t>
            </a:r>
            <a:endParaRPr lang="ar-SA" sz="3000" dirty="0"/>
          </a:p>
        </p:txBody>
      </p:sp>
      <p:sp>
        <p:nvSpPr>
          <p:cNvPr id="82" name="Text 7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taller/longer than</a:t>
            </a:r>
            <a:endParaRPr lang="en-US" sz="1350" dirty="0"/>
          </a:p>
          <a:p>
            <a:pPr indent="0" marL="0">
              <a:buNone/>
            </a:pPr>
            <a:r>
              <a:rPr lang="en-US" sz="1100" i="1" dirty="0">
                <a:solidFill>
                  <a:srgbClr val="5A6472"/>
                </a:solidFill>
                <a:latin typeface="Calibri" pitchFamily="34" charset="0"/>
                <a:cs typeface="Amiri" pitchFamily="2" charset="-78"/>
              </a:rPr>
              <a:t>aṭ-wa-lu min</a:t>
            </a:r>
            <a:endParaRPr lang="en-US" sz="1350" dirty="0"/>
          </a:p>
        </p:txBody>
      </p:sp>
      <p:sp>
        <p:nvSpPr>
          <p:cNvPr id="83" name="Shape 8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85" name="Text 82"/>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الأَطْوَلُ</a:t>
            </a:r>
            <a:endParaRPr lang="ar-SA" sz="1350" dirty="0"/>
          </a:p>
        </p:txBody>
      </p:sp>
      <p:sp>
        <p:nvSpPr>
          <p:cNvPr id="86" name="Shape 8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88" name="Text 85"/>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طَوِيلٌ</a:t>
            </a:r>
            <a:endParaRPr lang="ar-SA" sz="13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Comparing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58008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أَقْصَرُ 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shorter than</a:t>
            </a:r>
            <a:endParaRPr lang="en-US" sz="1350" dirty="0"/>
          </a:p>
          <a:p>
            <a:pPr indent="0" marL="0">
              <a:buNone/>
            </a:pPr>
            <a:r>
              <a:rPr lang="en-US" sz="1100" i="1" dirty="0">
                <a:solidFill>
                  <a:srgbClr val="5A6472"/>
                </a:solidFill>
                <a:latin typeface="Calibri" pitchFamily="34" charset="0"/>
                <a:cs typeface="Amiri" pitchFamily="2" charset="-78"/>
              </a:rPr>
              <a:t>aq-ṣa-ru min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الأَقْصَرُ</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قَصِيرٌ</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الأَفْضَلُ</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best</a:t>
            </a:r>
            <a:endParaRPr lang="en-US" sz="1350" dirty="0"/>
          </a:p>
          <a:p>
            <a:pPr indent="0" marL="0">
              <a:buNone/>
            </a:pPr>
            <a:r>
              <a:rPr lang="en-US" sz="1100" i="1" dirty="0">
                <a:solidFill>
                  <a:srgbClr val="5A6472"/>
                </a:solidFill>
                <a:latin typeface="Calibri" pitchFamily="34" charset="0"/>
                <a:cs typeface="Amiri" pitchFamily="2" charset="-78"/>
              </a:rPr>
              <a:t>al-af-ḍa-lu</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Shape 37"/>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أَجْمَلُ مِنْ</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beautiful than</a:t>
            </a:r>
            <a:endParaRPr lang="en-US" sz="1350" dirty="0"/>
          </a:p>
          <a:p>
            <a:pPr indent="0" marL="0">
              <a:buNone/>
            </a:pPr>
            <a:r>
              <a:rPr lang="en-US" sz="1100" i="1" dirty="0">
                <a:solidFill>
                  <a:srgbClr val="5A6472"/>
                </a:solidFill>
                <a:latin typeface="Calibri" pitchFamily="34" charset="0"/>
                <a:cs typeface="Amiri" pitchFamily="2" charset="-78"/>
              </a:rPr>
              <a:t>aj-ma-lu min</a:t>
            </a:r>
            <a:endParaRPr lang="en-US" sz="1350" dirty="0"/>
          </a:p>
        </p:txBody>
      </p:sp>
      <p:sp>
        <p:nvSpPr>
          <p:cNvPr id="44" name="Shape 4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46" name="Text 4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الأَجْمَلُ</a:t>
            </a:r>
            <a:endParaRPr lang="ar-SA" sz="1350" dirty="0"/>
          </a:p>
        </p:txBody>
      </p:sp>
      <p:sp>
        <p:nvSpPr>
          <p:cNvPr id="47" name="Shape 4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49" name="Text 4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جَمِيلٌ</a:t>
            </a:r>
            <a:endParaRPr lang="ar-SA" sz="135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مِثْلُ</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like/same as</a:t>
            </a:r>
            <a:endParaRPr lang="en-US" sz="1350" dirty="0"/>
          </a:p>
          <a:p>
            <a:pPr indent="0" marL="0">
              <a:buNone/>
            </a:pPr>
            <a:r>
              <a:rPr lang="en-US" sz="1100" i="1" dirty="0">
                <a:solidFill>
                  <a:srgbClr val="5A6472"/>
                </a:solidFill>
                <a:latin typeface="Calibri" pitchFamily="34" charset="0"/>
                <a:cs typeface="Amiri" pitchFamily="2" charset="-78"/>
              </a:rPr>
              <a:t>mith-lu</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بِنَفْسِ الدَّرَجَةِ</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the same degree</a:t>
            </a:r>
            <a:endParaRPr lang="en-US" sz="1350" dirty="0"/>
          </a:p>
          <a:p>
            <a:pPr indent="0" marL="0">
              <a:buNone/>
            </a:pPr>
            <a:r>
              <a:rPr lang="en-US" sz="1100" i="1" dirty="0">
                <a:solidFill>
                  <a:srgbClr val="5A6472"/>
                </a:solidFill>
                <a:latin typeface="Calibri" pitchFamily="34" charset="0"/>
                <a:cs typeface="Amiri" pitchFamily="2" charset="-78"/>
              </a:rPr>
              <a:t>bi-naf-si ad-da-ra-ja-ti</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الأَكْثَرُ مُنَاسَبَةً</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most suitable</a:t>
            </a:r>
            <a:endParaRPr lang="en-US" sz="1350" dirty="0"/>
          </a:p>
          <a:p>
            <a:pPr indent="0" marL="0">
              <a:buNone/>
            </a:pPr>
            <a:r>
              <a:rPr lang="en-US" sz="1100" i="1" dirty="0">
                <a:solidFill>
                  <a:srgbClr val="5A6472"/>
                </a:solidFill>
                <a:latin typeface="Calibri" pitchFamily="34" charset="0"/>
                <a:cs typeface="Amiri" pitchFamily="2" charset="-78"/>
              </a:rPr>
              <a:t>al-ak-tha-ru mu-nā-sa-ba-tan</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one is better?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أَيُّهُمَا أَفْضَلُ؟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is better: the black coat or the grey one?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أَيُّهُمَا أَفْضَلُ: المِعْطَفُ الأَسْوَدُ أَمِ الرَّمَادِيُّ؟</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black one is nicer, but it is more expensive than the grey one.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الأَسْوَدُ أَجْمَلُ، وَلٰكِنَّهُ أَغْلَى مِنَ الرَّمَادِيِّ.</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which is warmer?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وَأَيُّهُمَا أَدْفَأُ؟</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grey one is warmer and more comfortable.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الرَّمَادِيُّ أَدْفَأُ وَأَكْثَرُ رَاحَةً.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it’s the most suitable for winter!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هُوَ الأَكْثَرُ مُنَاسَبَةً لِلشِّتَاءِ!</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I prefer comfort to fashion.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صَحِيحٌ. أُفَضِّلُ الرَّاحَةَ عَلَى المَوْضَةِ.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compare two REAL things you own (shoes, bags, phones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وَلٰكِنَّنِي أَكْبَرُ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أَطْوَلُ مِنِّي / أَنَا أَطْوَلُ مِنْ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taller: you or your brother / sister?</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أَطْوَلُ: أَنْتَ أَمْ أَخُوكَ / أُخْتُكَ؟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أَكْثَرُ صَبْرًا مِنْ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the most patient in your family?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أَكْثَرُ صَبْرًا فِي عَائِلَتِكَ؟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أَكْثَرُ رَاحَةً</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عَلَى … لِأَنَّهُ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Trainers or formal shoes?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الحِذَاءُ الرِّيَاضِيُّ أَمِ الرَّسْمِيُّ؟</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أَقَلُّ جَوْدَةً أَحْيَانًا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أَرْخَصُ، وَلٰكِنَّ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clothes online cheaper than in shops?</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هَلِ المَلَابِسُ عَلَى الإِنْتَرْنِت أَرْخَصُ مِنَ المَحَلَّاتِ؟</a:t>
            </a:r>
            <a:endParaRPr lang="ar-SA" sz="165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أَكْثَرُ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صَدِيقٍ عِنْدِي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your best friend? Why?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أَفْضَلُ صَدِيقٍ عِنْدَكَ؟ لِمَاذَا؟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choosing a gift for Mum with your sibling</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هَدِيَّةٌ لِأُمِّي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أَيُّهُمَا ← الحَقِيبَةُ أَجْمَلُ مِنْ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 comparison.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نَشْتَرِي الحَقِيبَةَ أَمِ الوِشَاحَ؟</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الثَّمَنُ ← صَحِيحٌ، وَلٰكِنَّهَا أَكْثَرُ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with a price comparison.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وَلٰكِنَّهَا أَغْلَى!</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Preference with </a:t>
            </a:r>
            <a:pPr algn="l" indent="0" marL="0">
              <a:buNone/>
            </a:pPr>
            <a:r>
              <a:rPr lang="ar-SA" altLang="en-US" sz="1450" dirty="0">
                <a:solidFill>
                  <a:srgbClr val="5A6472"/>
                </a:solidFill>
                <a:latin typeface="Amiri" pitchFamily="2" charset="-78"/>
                <a:ea typeface="Amiri" pitchFamily="2" charset="-78"/>
                <a:cs typeface="Amiri" pitchFamily="2" charset="-78"/>
              </a:rPr>
              <a:t>عَلَى</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وَأَيُّ لَوْنٍ؟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يَعْرِفُ ذَوْقَ أُمِّي أَكْثَرَ: أَنَا أَمْ أَنْتَ؟</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yourself · Leader = your brother or sister.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compare two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أُقَارِنُ بَيْنَ شَخْصَيْنِ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Compare two people you know for one minute: appearance, personality and style.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sentences with </a:t>
            </a:r>
            <a:pPr algn="l" indent="0" marL="0">
              <a:buNone/>
            </a:pPr>
            <a:r>
              <a:rPr lang="ar-SA" altLang="en-US" sz="1500" dirty="0">
                <a:solidFill>
                  <a:srgbClr val="1F2A37"/>
                </a:solidFill>
                <a:latin typeface="Amiri" pitchFamily="2" charset="-78"/>
                <a:ea typeface="Amiri" pitchFamily="2" charset="-78"/>
                <a:cs typeface="Amiri" pitchFamily="2" charset="-78"/>
              </a:rPr>
              <a:t>أَفْعَلُ</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أَكْثَرُ / أَقَلُّ</a:t>
            </a:r>
            <a:pPr algn="l" indent="0" marL="0">
              <a:buNone/>
            </a:pPr>
            <a:r>
              <a:rPr lang="en-US" sz="1150" dirty="0">
                <a:solidFill>
                  <a:srgbClr val="1F2A37"/>
                </a:solidFill>
                <a:latin typeface="Calibri" pitchFamily="34" charset="0"/>
                <a:cs typeface="Amiri" pitchFamily="2" charset="-78"/>
              </a:rPr>
              <a:t> + noun (</a:t>
            </a:r>
            <a:pPr algn="l" indent="0" marL="0">
              <a:buNone/>
            </a:pPr>
            <a:r>
              <a:rPr lang="ar-SA" altLang="en-US" sz="1500" dirty="0">
                <a:solidFill>
                  <a:srgbClr val="1F2A37"/>
                </a:solidFill>
                <a:latin typeface="Amiri" pitchFamily="2" charset="-78"/>
                <a:ea typeface="Amiri" pitchFamily="2" charset="-78"/>
                <a:cs typeface="Amiri" pitchFamily="2" charset="-78"/>
              </a:rPr>
              <a:t>أَكْثَرُ ثِقَةً</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مِثْلُ</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superlative (</a:t>
            </a:r>
            <a:pPr algn="l" indent="0" marL="0">
              <a:buNone/>
            </a:pPr>
            <a:r>
              <a:rPr lang="ar-SA" altLang="en-US" sz="1500" dirty="0">
                <a:solidFill>
                  <a:srgbClr val="1F2A37"/>
                </a:solidFill>
                <a:latin typeface="Amiri" pitchFamily="2" charset="-78"/>
                <a:ea typeface="Amiri" pitchFamily="2" charset="-78"/>
                <a:cs typeface="Amiri" pitchFamily="2" charset="-78"/>
              </a:rPr>
              <a:t>أَطْوَلُ شَخْصٍ</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أُفَضِّلُ … عَلَى</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is taller than me.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أَطْوَلُ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أَنَا.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father is more patient than my uncle.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أَبُو</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صَبْرًا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صَبُورٌ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عَمِّي.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عَمِّيَ.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prefer cotton to wool.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 مِنْ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القُطْنَ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القُطْنُ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الصُّوفِ.</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الصُّوفِ.</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is taller than me.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أَفْعَلُ</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doesn’t change for gender; from me = </a:t>
            </a:r>
            <a:pPr algn="l" indent="0" marL="0">
              <a:buNone/>
            </a:pPr>
            <a:r>
              <a:rPr lang="ar-SA" altLang="en-US" sz="1350" dirty="0">
                <a:solidFill>
                  <a:srgbClr val="5A6472"/>
                </a:solidFill>
                <a:latin typeface="Amiri" pitchFamily="2" charset="-78"/>
                <a:ea typeface="Amiri" pitchFamily="2" charset="-78"/>
                <a:cs typeface="Amiri" pitchFamily="2" charset="-78"/>
              </a:rPr>
              <a:t>مِنِّي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أَطْوَلُ مِنِّي.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father is more patient than my uncle.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أَكْثَرُ</a:t>
            </a:r>
            <a:pPr algn="l" indent="0" marL="0">
              <a:buNone/>
            </a:pPr>
            <a:r>
              <a:rPr lang="en-US" sz="1050" i="1" dirty="0">
                <a:solidFill>
                  <a:srgbClr val="5A6472"/>
                </a:solidFill>
                <a:latin typeface="Calibri" pitchFamily="34" charset="0"/>
                <a:cs typeface="Amiri" pitchFamily="2" charset="-78"/>
              </a:rPr>
              <a:t> + accusative noun: </a:t>
            </a:r>
            <a:pPr algn="l" indent="0" marL="0">
              <a:buNone/>
            </a:pPr>
            <a:r>
              <a:rPr lang="ar-SA" altLang="en-US" sz="1350" dirty="0">
                <a:solidFill>
                  <a:srgbClr val="5A6472"/>
                </a:solidFill>
                <a:latin typeface="Amiri" pitchFamily="2" charset="-78"/>
                <a:ea typeface="Amiri" pitchFamily="2" charset="-78"/>
                <a:cs typeface="Amiri" pitchFamily="2" charset="-78"/>
              </a:rPr>
              <a:t>صَبْرًا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أَبِي أَكْثَرُ صَبْرًا مِنْ عَمِّي.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prefer cotton to wool.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أُفَضِّلُ</a:t>
            </a:r>
            <a:pPr algn="l" indent="0" marL="0">
              <a:buNone/>
            </a:pPr>
            <a:r>
              <a:rPr lang="en-US" sz="1050" i="1" dirty="0">
                <a:solidFill>
                  <a:srgbClr val="5A6472"/>
                </a:solidFill>
                <a:latin typeface="Calibri" pitchFamily="34" charset="0"/>
                <a:cs typeface="Amiri" pitchFamily="2" charset="-78"/>
              </a:rPr>
              <a:t> X (object, -a) </a:t>
            </a:r>
            <a:pPr algn="l" indent="0" marL="0">
              <a:buNone/>
            </a:pPr>
            <a:r>
              <a:rPr lang="ar-SA" altLang="en-US" sz="1350" dirty="0">
                <a:solidFill>
                  <a:srgbClr val="5A6472"/>
                </a:solidFill>
                <a:latin typeface="Amiri" pitchFamily="2" charset="-78"/>
                <a:ea typeface="Amiri" pitchFamily="2" charset="-78"/>
                <a:cs typeface="Amiri" pitchFamily="2" charset="-78"/>
              </a:rPr>
              <a:t>عَلَى</a:t>
            </a:r>
            <a:pPr algn="l" indent="0" marL="0">
              <a:buNone/>
            </a:pPr>
            <a:r>
              <a:rPr lang="en-US" sz="1050" i="1" dirty="0">
                <a:solidFill>
                  <a:srgbClr val="5A6472"/>
                </a:solidFill>
                <a:latin typeface="Calibri" pitchFamily="34" charset="0"/>
                <a:cs typeface="Amiri" pitchFamily="2" charset="-78"/>
              </a:rPr>
              <a:t> Y.</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أُفَضِّلُ القُطْنَ عَلَى الصُّوفِ.</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هٰذِهِ السُّتْرَةُ أَرْخَصَةٌ مِنْ تِلْكَ.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comparative never takes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أَخِي أَكْثَرُ ذَكِيٌّ مِنِّي.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ذَكِيٌّ</a:t>
            </a:r>
            <a:pPr algn="l" indent="0" marL="0">
              <a:buNone/>
            </a:pPr>
            <a:r>
              <a:rPr lang="en-US" sz="1300" i="1" dirty="0">
                <a:solidFill>
                  <a:srgbClr val="5A6472"/>
                </a:solidFill>
                <a:latin typeface="Calibri" pitchFamily="34" charset="0"/>
                <a:cs typeface="Amiri" pitchFamily="2" charset="-78"/>
              </a:rPr>
              <a:t> has its own comparative.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أُفَضِّلُ الشَّايَ مِنَ القَهْوَةِ.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Prefer X to 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هٰذِهِ السُّتْرَةُ أَرْخَصَةٌ مِنْ تِلْكَ.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السُّتْرَةُ أَرْخَصُ مِنْ تِلْكَ.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أَفْعَلُ</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no feminine ending.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أَخِي أَكْثَرُ ذَكِيٌّ مِنِّي.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أَخِي أَذْكَى مِنِّي.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أَفْعَلُ</a:t>
            </a:r>
            <a:pPr algn="l" indent="0" marL="0">
              <a:buNone/>
            </a:pPr>
            <a:r>
              <a:rPr lang="en-US" sz="1150" b="1" dirty="0">
                <a:solidFill>
                  <a:srgbClr val="1B3B6F"/>
                </a:solidFill>
                <a:latin typeface="Calibri" pitchFamily="34" charset="0"/>
                <a:cs typeface="Amiri" pitchFamily="2" charset="-78"/>
              </a:rPr>
              <a:t> when it exists: </a:t>
            </a:r>
            <a:pPr algn="l" indent="0" marL="0">
              <a:buNone/>
            </a:pPr>
            <a:r>
              <a:rPr lang="ar-SA" altLang="en-US" sz="1500" b="1" dirty="0">
                <a:solidFill>
                  <a:srgbClr val="1B3B6F"/>
                </a:solidFill>
                <a:latin typeface="Amiri" pitchFamily="2" charset="-78"/>
                <a:ea typeface="Amiri" pitchFamily="2" charset="-78"/>
                <a:cs typeface="Amiri" pitchFamily="2" charset="-78"/>
              </a:rPr>
              <a:t>أَذْكَى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أُفَضِّلُ الشَّايَ مِنَ القَهْوَةِ.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أُفَضِّلُ الشَّايَ عَلَى القَهْوَةِ.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أُفَضِّلُ … عَلَى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كِلَاهُمَا ______ بِنَفْسِ الدَّرَجَةِ.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Both are … to the same degree.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شَخْصٍ ______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the most … person in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أَطْوَلُ مِنْ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taller than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أَكْبَرُ / أَصْغَرُ مِنْ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older / younger than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______ مِنْ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more … than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أُفَضِّلُ أُسْلُوبَ ______ عَلَى ______ ، لِأَنَّ ______ .</a:t>
            </a:r>
            <a:endParaRPr lang="ar-SA" sz="155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…’s style to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أَطْوَلُ · أَقْصَرُ  ·  أَكْبَرُ · أَصْغَرُ  ·  أَرْخَصُ · أَغْلَى  ·  أَجْمَلُ · أَفْضَلُ  ·  أَكْثَرُ ثِقَةً  ·  أَقَلُّ صَبْرًا  ·  مِثْلُ · بِنَفْسِ الدَّرَجَةِ  ·  أُفَضِّلُ … عَلَى …</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people, two styles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شَخْصَانِ وَأُسْلُوبَانِ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comparison (about 60–80 words) of two people you know — their appearance, personality and style of clothes. Include: • four comparatives with </a:t>
            </a:r>
            <a:pPr algn="l" indent="0" marL="0">
              <a:buNone/>
            </a:pPr>
            <a:r>
              <a:rPr lang="ar-SA" altLang="en-US" sz="1450" b="1" dirty="0">
                <a:solidFill>
                  <a:srgbClr val="1F2A37"/>
                </a:solidFill>
                <a:latin typeface="Amiri" pitchFamily="2" charset="-78"/>
                <a:ea typeface="Amiri" pitchFamily="2" charset="-78"/>
                <a:cs typeface="Amiri" pitchFamily="2" charset="-78"/>
              </a:rPr>
              <a:t>مِنْ</a:t>
            </a:r>
            <a:pPr algn="l" indent="0" marL="0">
              <a:buNone/>
            </a:pPr>
            <a:r>
              <a:rPr lang="en-US" sz="1100" b="1" dirty="0">
                <a:solidFill>
                  <a:srgbClr val="1F2A37"/>
                </a:solidFill>
                <a:latin typeface="Calibri" pitchFamily="34" charset="0"/>
                <a:cs typeface="Amiri" pitchFamily="2" charset="-78"/>
              </a:rPr>
              <a:t> • one </a:t>
            </a:r>
            <a:pPr algn="l" indent="0" marL="0">
              <a:buNone/>
            </a:pPr>
            <a:r>
              <a:rPr lang="ar-SA" altLang="en-US" sz="1450" b="1" dirty="0">
                <a:solidFill>
                  <a:srgbClr val="1F2A37"/>
                </a:solidFill>
                <a:latin typeface="Amiri" pitchFamily="2" charset="-78"/>
                <a:ea typeface="Amiri" pitchFamily="2" charset="-78"/>
                <a:cs typeface="Amiri" pitchFamily="2" charset="-78"/>
              </a:rPr>
              <a:t>أَكْثَرُ / أَقَلُّ</a:t>
            </a:r>
            <a:pPr algn="l" indent="0" marL="0">
              <a:buNone/>
            </a:pPr>
            <a:r>
              <a:rPr lang="en-US" sz="1100" b="1" dirty="0">
                <a:solidFill>
                  <a:srgbClr val="1F2A37"/>
                </a:solidFill>
                <a:latin typeface="Calibri" pitchFamily="34" charset="0"/>
                <a:cs typeface="Amiri" pitchFamily="2" charset="-78"/>
              </a:rPr>
              <a:t> + noun • one similarity with </a:t>
            </a:r>
            <a:pPr algn="l" indent="0" marL="0">
              <a:buNone/>
            </a:pPr>
            <a:r>
              <a:rPr lang="ar-SA" altLang="en-US" sz="1450" b="1" dirty="0">
                <a:solidFill>
                  <a:srgbClr val="1F2A37"/>
                </a:solidFill>
                <a:latin typeface="Amiri" pitchFamily="2" charset="-78"/>
                <a:ea typeface="Amiri" pitchFamily="2" charset="-78"/>
                <a:cs typeface="Amiri" pitchFamily="2" charset="-78"/>
              </a:rPr>
              <a:t>مِثْلُ</a:t>
            </a:r>
            <a:pPr algn="l" indent="0" marL="0">
              <a:buNone/>
            </a:pPr>
            <a:r>
              <a:rPr lang="en-US" sz="1100" b="1" dirty="0">
                <a:solidFill>
                  <a:srgbClr val="1F2A37"/>
                </a:solidFill>
                <a:latin typeface="Calibri" pitchFamily="34" charset="0"/>
                <a:cs typeface="Amiri" pitchFamily="2" charset="-78"/>
              </a:rPr>
              <a:t> or </a:t>
            </a:r>
            <a:pPr algn="l" indent="0" marL="0">
              <a:buNone/>
            </a:pPr>
            <a:r>
              <a:rPr lang="ar-SA" altLang="en-US" sz="1450" b="1" dirty="0">
                <a:solidFill>
                  <a:srgbClr val="1F2A37"/>
                </a:solidFill>
                <a:latin typeface="Amiri" pitchFamily="2" charset="-78"/>
                <a:ea typeface="Amiri" pitchFamily="2" charset="-78"/>
                <a:cs typeface="Amiri" pitchFamily="2" charset="-78"/>
              </a:rPr>
              <a:t>بِنَفْسِ الدَّرَجَةِ</a:t>
            </a:r>
            <a:pPr algn="l" indent="0" marL="0">
              <a:buNone/>
            </a:pPr>
            <a:r>
              <a:rPr lang="en-US" sz="1100" b="1" dirty="0">
                <a:solidFill>
                  <a:srgbClr val="1F2A37"/>
                </a:solidFill>
                <a:latin typeface="Calibri" pitchFamily="34" charset="0"/>
                <a:cs typeface="Amiri" pitchFamily="2" charset="-78"/>
              </a:rPr>
              <a:t> • one superlative • which style you prefer and why (</a:t>
            </a:r>
            <a:pPr algn="l" indent="0" marL="0">
              <a:buNone/>
            </a:pPr>
            <a:r>
              <a:rPr lang="ar-SA" altLang="en-US" sz="1450" b="1" dirty="0">
                <a:solidFill>
                  <a:srgbClr val="1F2A37"/>
                </a:solidFill>
                <a:latin typeface="Amiri" pitchFamily="2" charset="-78"/>
                <a:ea typeface="Amiri" pitchFamily="2" charset="-78"/>
                <a:cs typeface="Amiri" pitchFamily="2" charset="-78"/>
              </a:rPr>
              <a:t>أُفَضِّلُ … عَلَى</a:t>
            </a:r>
            <a:pPr algn="l" indent="0" marL="0">
              <a:buNone/>
            </a:pPr>
            <a:r>
              <a:rPr lang="en-US" sz="1100" b="1" dirty="0">
                <a:solidFill>
                  <a:srgbClr val="1F2A37"/>
                </a:solidFill>
                <a:latin typeface="Calibri" pitchFamily="34" charset="0"/>
                <a:cs typeface="Amiri" pitchFamily="2" charset="-78"/>
              </a:rPr>
              <a:t> …).</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أَطْوَلُ / أَصْغَرُ مِنْ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taller / younger than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ثِقَةً · أَقَلُّ صَبْرًا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confident · less patient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مِثْلُ … · بِنَفْسِ الدَّرَجَةِ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like … · to the same degree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أُسْلُوبَ … عَلَى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…’s style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أَفْعَلُ</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مِنْ</a:t>
            </a:r>
            <a:pPr algn="l" indent="0" marL="0">
              <a:buNone/>
            </a:pPr>
            <a:r>
              <a:rPr lang="en-US" sz="1100" dirty="0">
                <a:solidFill>
                  <a:srgbClr val="5A6472"/>
                </a:solidFill>
                <a:latin typeface="Calibri" pitchFamily="34" charset="0"/>
                <a:cs typeface="Amiri" pitchFamily="2" charset="-78"/>
              </a:rPr>
              <a:t> without a feminine ending?</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أَكْثَرُ / أَقَلُّ</a:t>
            </a:r>
            <a:pPr algn="l" indent="0" marL="0">
              <a:buNone/>
            </a:pPr>
            <a:r>
              <a:rPr lang="en-US" sz="1100" dirty="0">
                <a:solidFill>
                  <a:srgbClr val="5A6472"/>
                </a:solidFill>
                <a:latin typeface="Calibri" pitchFamily="34" charset="0"/>
                <a:cs typeface="Amiri" pitchFamily="2" charset="-78"/>
              </a:rPr>
              <a:t> + noun, a superlative and </a:t>
            </a:r>
            <a:pPr algn="l" indent="0" marL="0">
              <a:buNone/>
            </a:pPr>
            <a:r>
              <a:rPr lang="ar-SA" altLang="en-US" sz="1450" dirty="0">
                <a:solidFill>
                  <a:srgbClr val="5A6472"/>
                </a:solidFill>
                <a:latin typeface="Amiri" pitchFamily="2" charset="-78"/>
                <a:ea typeface="Amiri" pitchFamily="2" charset="-78"/>
                <a:cs typeface="Amiri" pitchFamily="2" charset="-78"/>
              </a:rPr>
              <a:t>أُفَضِّلُ … عَلَى</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الحَقِيبَةُ أَجْمَلُ مِنَ الوِشَاحِ، وَأُمِّي تَحْتَاجُهَا.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bag is nicer than the scarf, and Mum needs it.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نَشْتَرِي الحَقِيبَةَ أَمِ الوِشَاحَ؟</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وَلٰكِنَّهَا أَكْثَرُ جَوْدَةً، وَنَدْفَعُ ثَمَنَهَا مَعًا.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True, but it is better quality, and we pay for it together.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وَلٰكِنَّهَا أَغْلَى!</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البُنِّيَّ عَلَى الأَسْوَدِ، لِأَنَّهُ أَنْسَبُ لِمَلَابِسِهَا.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brown to black, because it suits her clothes better.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وَأَيُّ لَوْنٍ؟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 تَعْرِفُ ذَوْقَهَا أَكْثَرَ مِنِّي، لِأَنَّكَ تَتَسَوَّقُ مَعَهَا دَائِمًا.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know her taste better than me, because you always shop with her.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يَعْرِفُ ذَوْقَ أُمِّي أَكْثَرَ: أَنَا أَمْ أَنْتَ؟</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سَأُقَارِنُ بَيْنَ خَالِي وَعَمَّتِي. خَالِي أَطْوَلُ مِنْ عَمَّتِي، وَهُوَ أَصْغَرُ مِنْهَا بِخَمْسِ سَنَوَاتٍ. عَمَّتِي أَكْثَرُ صَبْرًا مِنْهُ، أَمَّا خَالِي فَهُوَ أَكْثَرُ مَرَحًا. كِلَاهُمَا كَرِيمٌ بِنَفْسِ الدَّرَجَةِ. خَالِي يَلْبَسُ مَلَابِسَ عَصْرِيَّةً وَمُلَوَّنَةً، بَيْنَمَا تَلْبَسُ عَمَّتِي مَلَابِسَ تَقْلِيدِيَّةً أَنِيقَةً. مَلَابِسُ خَالِي أَرْخَصُ، وَلٰكِنَّ مَلَابِسَ عَمَّتِي أَكْثَرُ جَوْدَةً. فِي رَأْيِي عَمَّتِي أَكْثَرُ شَخْصٍ أَنِيقٍ فِي عَائِلَتِنَا. أُفَضِّلُ أُسْلُوبَهَا عَلَى أُسْلُوبِ خَالِي، لِأَنَّهُ بَسِيطٌ وَمُحْتَشِمٌ.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will compare my uncle and my aunt. My uncle is taller than my aunt, and he is five years younger than her. My aunt is more patient than him; as for my uncle, he is more fun. Both are generous to the same degree. My uncle wears modern, colourful clothes, whereas my aunt wears elegant traditional clothes. My uncle’s clothes are cheaper, but my aunt’s are better quality. In my opinion my aunt is the most elegant person in our family. I prefer her style to my uncle’s, because it is simple and modest.”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أَطْوَلُ مِنْ عَمَّتِي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صَبْرًا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بِنَفْسِ الدَّرَجَةِ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أُسْلُوبَهَا عَلَى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D2-L06 · Describing Appearance — A Full Physical Portrait</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وَصْفُ المَظْهَرِ — صُورَةٌ جِسْمِيَّةٌ كَامِلَةٌ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D2-L05 · Practice Room — Comparing People and Clothes — More, Less and Better</dc:title>
  <dc:subject>PptxGenJS Presentation</dc:subject>
  <dc:creator>Al Madina Online School · Arabic Department</dc:creator>
  <cp:lastModifiedBy>Al Madina Online School · Arabic Department</cp:lastModifiedBy>
  <cp:revision>1</cp:revision>
  <dcterms:created xsi:type="dcterms:W3CDTF">2026-10-25T18:34:24Z</dcterms:created>
  <dcterms:modified xsi:type="dcterms:W3CDTF">2026-10-25T18:34:24Z</dcterms:modified>
</cp:coreProperties>
</file>