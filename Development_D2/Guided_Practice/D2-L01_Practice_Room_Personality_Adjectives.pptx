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D2-L01 (Personality Adjectives — What Is He / She Like?) — new practice tasks built on the lesson’s own word bank and grammar (adjective agreement: masculine (ṣabūrun) · feminine with tāʾ marbūṭa (ṣabūratun) · plural (mujtahidūna / mujtahidātun); intensity: jiddan · nawʿan mā · laysa / laysat … ; evidence with li-annahu / li-annahā + a behaviour).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تَقْتَرِحِينَ · رَأْيُكِ (the adjectives stay about Samer and Reem). Every quality needs evidence: li-annahu / li-annahā + a real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Personality Adjectives — What Is He / She Like?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كَيْفَ شَخْصِيَّتُهُ؟</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describing personality: say the adjectives in masculine and feminine, act a short dialogue, answer question cards with evidence, do a role-play card choosing a team captain, give a one-minute talk about two people, then build, fix and write a description of a friend and a family member.</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D2-L01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Personality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Personality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Shape 6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70" name="Shape 6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73" name="Shape 7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76" name="Shape 7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2" name="Shape 79"/>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4" name="Text 8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 / كَرِيمَةٌ</a:t>
            </a:r>
            <a:endParaRPr lang="ar-SA" sz="3000" dirty="0"/>
          </a:p>
        </p:txBody>
      </p:sp>
      <p:sp>
        <p:nvSpPr>
          <p:cNvPr id="85" name="Text 8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ka-rī-mun / ka-rī-ma-tun</a:t>
            </a:r>
            <a:endParaRPr lang="en-US" sz="1350" dirty="0"/>
          </a:p>
        </p:txBody>
      </p:sp>
      <p:sp>
        <p:nvSpPr>
          <p:cNvPr id="86" name="Shape 83"/>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8" name="Text 85"/>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كُرَمَاءُ</a:t>
            </a:r>
            <a:endParaRPr lang="ar-SA" sz="1500" dirty="0"/>
          </a:p>
        </p:txBody>
      </p:sp>
      <p:sp>
        <p:nvSpPr>
          <p:cNvPr id="89" name="Shape 86"/>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1" name="Text 88"/>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92" name="Shape 89"/>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4" name="Text 91"/>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your new friend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صَدِيقَتُكِ الجَدِيدَةُ؟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new friend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صَدِيقَتُكِ الجَدِيدَةُ؟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very friendly and cheerful.</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وَدُودَةٌ جِدًّا وَمَرِحَةٌ.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say that?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لِمَاذَا تَقُولِينَ ذٰلِكَ؟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she always smiles and helps the new students.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لِأَنَّهَا تَبْتَسِمُ دَائِمًا، وَتُسَاعِدُ الطَّالِبَاتِ الجُدُدَ.</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she shy?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هِيَ خَجُولَةٌ؟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bit at the start, but she is confident now.</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نَوْعًا مَا فِي البِدَايَةِ، وَلٰكِنَّهَا وَاثِقَةٌ الآنَ.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a BOY — change every adjective and every -hā to -hu.</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وَ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personality like?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صَبُورَةٌ جِدًّا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most patient person in your family?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شَخْصٍ صَبُورٍ فِي عَائِلَتِكَ؟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وَلٰكِنَّهُ أَحْيَانًا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وَ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close friend.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صَدِيقَكَ المُقَرَّبَ.</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الشَّخْصَ الأَنَانِيَّ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quality don’t you like?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الصِّفَةُ الَّتِي لَا تُحِبُّهَا؟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سَبِيلِ المِثَالِ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مُعَلِّمُونَا … / مُعَلِّمَاتُنَا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your teachers patient?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مُعَلِّمُوكَ صَبُورُونَ؟</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choosing a team captain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اخْتِيَارُ قَائِدِ الفَرِيقِ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أَقْتَرِحُ … لِأَنَّهُ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two qualities.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تَقْتَرِحُ قَائِدًا لِلْفَرِيقِ؟</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مِثَالٌ ← مَثَلًا، يُسَاعِدُ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 a behaviour.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أَعْطِنِي مِثَالًا.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softened.</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رَأْيُكَ فِي رِيمَ؟</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 سَامِرٍ صِفَةٌ سَلْبِيَّةٌ؟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team member · Leader = the PE teacher.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two people I admire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أُعْجَبُ بِهِمَا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one male and one female person you admire for one minute: three qualities each, with evidence.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adjectives for him and three for her — with the right ending.</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جِدًّا / نَوْعًا مَا / لَيْسَ</a:t>
            </a:r>
            <a:pPr algn="l" indent="0" marL="0">
              <a:buNone/>
            </a:pPr>
            <a:r>
              <a:rPr lang="en-US" sz="1150" dirty="0">
                <a:solidFill>
                  <a:srgbClr val="1F2A37"/>
                </a:solidFill>
                <a:latin typeface="Calibri" pitchFamily="34" charset="0"/>
                <a:cs typeface="Amiri" pitchFamily="2" charset="-78"/>
              </a:rPr>
              <a:t> … and one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 each.</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behaviour example for every quality and one plural (</a:t>
            </a:r>
            <a:pPr algn="l" indent="0" marL="0">
              <a:buNone/>
            </a:pPr>
            <a:r>
              <a:rPr lang="ar-SA" altLang="en-US" sz="1500" dirty="0">
                <a:solidFill>
                  <a:srgbClr val="1F2A37"/>
                </a:solidFill>
                <a:latin typeface="Amiri" pitchFamily="2" charset="-78"/>
                <a:ea typeface="Amiri" pitchFamily="2" charset="-78"/>
                <a:cs typeface="Amiri" pitchFamily="2" charset="-78"/>
              </a:rPr>
              <a:t>هُمْ كُرَمَاءُ</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very patient.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صَبُورٌ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 جِدًّا.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isn’t selfish, because he shares everything.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أَنَانِيًّا،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أَنَانِيٌّ،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يُشَارِكُ كُلَّ شَيْءٍ.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تُشَارِكُ كُلَّ شَيْءٍ.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classmates are hard-working and helpful.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زُمَلَائِي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زَمِيلِي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مُجْتَهِدُونَ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مُجْتَهِدٌ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وَمُتَعَاوِنُونَ.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وَمُتَعَاوِنَةٌ.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very patient.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Sister (f.) → </a:t>
            </a:r>
            <a:pPr algn="l" indent="0" marL="0">
              <a:buNone/>
            </a:pPr>
            <a:r>
              <a:rPr lang="ar-SA" altLang="en-US" sz="1350" dirty="0">
                <a:solidFill>
                  <a:srgbClr val="5A6472"/>
                </a:solidFill>
                <a:latin typeface="Amiri" pitchFamily="2" charset="-78"/>
                <a:ea typeface="Amiri" pitchFamily="2" charset="-78"/>
                <a:cs typeface="Amiri" pitchFamily="2" charset="-78"/>
              </a:rPr>
              <a:t>صَبُورَةٌ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صَبُورَةٌ جِدًّا.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isn’t selfish, because he shares everything.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لَيْسَ</a:t>
            </a:r>
            <a:pPr algn="l" indent="0" marL="0">
              <a:buNone/>
            </a:pPr>
            <a:r>
              <a:rPr lang="en-US" sz="1050" i="1" dirty="0">
                <a:solidFill>
                  <a:srgbClr val="5A6472"/>
                </a:solidFill>
                <a:latin typeface="Calibri" pitchFamily="34" charset="0"/>
                <a:cs typeface="Amiri" pitchFamily="2" charset="-78"/>
              </a:rPr>
              <a:t> + accusative (</a:t>
            </a:r>
            <a:pPr algn="l" indent="0" marL="0">
              <a:buNone/>
            </a:pPr>
            <a:r>
              <a:rPr lang="ar-SA" altLang="en-US" sz="1350" dirty="0">
                <a:solidFill>
                  <a:srgbClr val="5A6472"/>
                </a:solidFill>
                <a:latin typeface="Amiri" pitchFamily="2" charset="-78"/>
                <a:ea typeface="Amiri" pitchFamily="2" charset="-78"/>
                <a:cs typeface="Amiri" pitchFamily="2" charset="-78"/>
              </a:rPr>
              <a:t>أَنَانِيًّا</a:t>
            </a:r>
            <a:pPr algn="l" indent="0" marL="0">
              <a:buNone/>
            </a:pPr>
            <a:r>
              <a:rPr lang="en-US" sz="1050" i="1" dirty="0">
                <a:solidFill>
                  <a:srgbClr val="5A6472"/>
                </a:solidFill>
                <a:latin typeface="Calibri" pitchFamily="34" charset="0"/>
                <a:cs typeface="Amiri" pitchFamily="2" charset="-78"/>
              </a:rPr>
              <a:t>); he → </a:t>
            </a:r>
            <a:pPr algn="l" indent="0" marL="0">
              <a:buNone/>
            </a:pPr>
            <a:r>
              <a:rPr lang="ar-SA" altLang="en-US" sz="1350" dirty="0">
                <a:solidFill>
                  <a:srgbClr val="5A6472"/>
                </a:solidFill>
                <a:latin typeface="Amiri" pitchFamily="2" charset="-78"/>
                <a:ea typeface="Amiri" pitchFamily="2" charset="-78"/>
                <a:cs typeface="Amiri" pitchFamily="2" charset="-78"/>
              </a:rPr>
              <a:t>لِأَنَّهُ 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 أَنَانِيًّا، لِأَنَّهُ يُشَارِكُ كُلَّ شَيْءٍ.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classmates are hard-working and helpful.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Plural people → plural adjectives -ūna, both of them.</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زُمَلَائِي مُجْتَهِدُونَ وَمُتَعَاوِنُونَ.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صَبُورٌ وَكَرِيمٌ.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لَيْسَتْ أُخْتِي خَجُولَةٌ.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لَيْسَ / لَيْسَتْ</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صَدِيقِي مَرِحٌ لِأَنَّهَا تَضْحَكُ كَثِيرًا.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laughs?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صَبُورٌ وَكَرِيمٌ.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صَبُورَةٌ وَكَرِيمَةٌ.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add tāʾ marbūṭa.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لَيْسَتْ أُخْتِي خَجُولَةٌ.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لَيْسَتْ أُخْتِي خَجُولَةً.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لَيْسَتْ</a:t>
            </a:r>
            <a:pPr algn="l" indent="0" marL="0">
              <a:buNone/>
            </a:pPr>
            <a:r>
              <a:rPr lang="en-US" sz="1150" b="1" dirty="0">
                <a:solidFill>
                  <a:srgbClr val="1B3B6F"/>
                </a:solidFill>
                <a:latin typeface="Calibri" pitchFamily="34" charset="0"/>
                <a:cs typeface="Amiri" pitchFamily="2" charset="-78"/>
              </a:rPr>
              <a:t> makes the adjective accusative: </a:t>
            </a:r>
            <a:pPr algn="l" indent="0" marL="0">
              <a:buNone/>
            </a:pPr>
            <a:r>
              <a:rPr lang="ar-SA" altLang="en-US" sz="1500" b="1" dirty="0">
                <a:solidFill>
                  <a:srgbClr val="1B3B6F"/>
                </a:solidFill>
                <a:latin typeface="Amiri" pitchFamily="2" charset="-78"/>
                <a:ea typeface="Amiri" pitchFamily="2" charset="-78"/>
                <a:cs typeface="Amiri" pitchFamily="2" charset="-78"/>
              </a:rPr>
              <a:t>خَجُولَةً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صَدِيقِي مَرِحٌ لِأَنَّهَا تَضْحَكُ كَثِيرًا.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صَدِيقِي مَرِحٌ لِأَنَّهُ يَضْحَكُ كَثِيرًا.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 → </a:t>
            </a:r>
            <a:pPr algn="l" indent="0" marL="0">
              <a:buNone/>
            </a:pPr>
            <a:r>
              <a:rPr lang="ar-SA" altLang="en-US" sz="1500" b="1" dirty="0">
                <a:solidFill>
                  <a:srgbClr val="1B3B6F"/>
                </a:solidFill>
                <a:latin typeface="Amiri" pitchFamily="2" charset="-78"/>
                <a:ea typeface="Amiri" pitchFamily="2" charset="-78"/>
                <a:cs typeface="Amiri" pitchFamily="2" charset="-78"/>
              </a:rPr>
              <a:t>لِأَنَّهُ</a:t>
            </a:r>
            <a:pPr algn="l" indent="0" marL="0">
              <a:buNone/>
            </a:pPr>
            <a:r>
              <a:rPr lang="en-US" sz="1150" b="1" dirty="0">
                <a:solidFill>
                  <a:srgbClr val="1B3B6F"/>
                </a:solidFill>
                <a:latin typeface="Calibri" pitchFamily="34" charset="0"/>
                <a:cs typeface="Amiri" pitchFamily="2" charset="-78"/>
              </a:rPr>
              <a:t> + ya-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 وَلٰكِنَّهُ / وَلٰكِنَّهَا أَحْيَانًا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sometimes he / she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 صَدِيقَتِي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هُوَ / هِيَ ______ جِدًّا، لِأَنَّهُ / لِأَنَّهَا ______ .</a:t>
            </a:r>
            <a:endParaRPr lang="ar-SA" sz="16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very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 أُخْتِي ______ نَوْعًا مَا.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sister is fairly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 لَيْسَتْ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isn’t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وَدُودٌ · وَدُودَةٌ  ·  صَبُورٌ · صَبُورَةٌ  ·  مُجْتَهِدٌ · مُجْتَهِدَةٌ  ·  كَرِيمٌ · كَرِيمَةٌ  ·  خَجُولٌ · خَجُولَةٌ  ·  جِدًّا · نَوْعًا مَا  ·  لَيْسَ · لَيْسَتْ  ·  لِأَنَّهُ · لِأَنَّهَا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two personalities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وَشَخْصِيَّتَانِ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description (about 60–80 words) of a friend and a family member (one male, one female). Include: • three qualities for each, with correct agreement • one quality made stronger (</a:t>
            </a:r>
            <a:pPr algn="l" indent="0" marL="0">
              <a:buNone/>
            </a:pPr>
            <a:r>
              <a:rPr lang="ar-SA" altLang="en-US" sz="1450" b="1" dirty="0">
                <a:solidFill>
                  <a:srgbClr val="1F2A37"/>
                </a:solidFill>
                <a:latin typeface="Amiri" pitchFamily="2" charset="-78"/>
                <a:ea typeface="Amiri" pitchFamily="2" charset="-78"/>
                <a:cs typeface="Amiri" pitchFamily="2" charset="-78"/>
              </a:rPr>
              <a:t>جِدًّا</a:t>
            </a:r>
            <a:pPr algn="l" indent="0" marL="0">
              <a:buNone/>
            </a:pPr>
            <a:r>
              <a:rPr lang="en-US" sz="1100" b="1" dirty="0">
                <a:solidFill>
                  <a:srgbClr val="1F2A37"/>
                </a:solidFill>
                <a:latin typeface="Calibri" pitchFamily="34" charset="0"/>
                <a:cs typeface="Amiri" pitchFamily="2" charset="-78"/>
              </a:rPr>
              <a:t>) and one softer (</a:t>
            </a:r>
            <a:pPr algn="l" indent="0" marL="0">
              <a:buNone/>
            </a:pPr>
            <a:r>
              <a:rPr lang="ar-SA" altLang="en-US" sz="1450" b="1" dirty="0">
                <a:solidFill>
                  <a:srgbClr val="1F2A37"/>
                </a:solidFill>
                <a:latin typeface="Amiri" pitchFamily="2" charset="-78"/>
                <a:ea typeface="Amiri" pitchFamily="2" charset="-78"/>
                <a:cs typeface="Amiri" pitchFamily="2" charset="-78"/>
              </a:rPr>
              <a:t>نَوْعًا مَا</a:t>
            </a:r>
            <a:pPr algn="l" indent="0" marL="0">
              <a:buNone/>
            </a:pPr>
            <a:r>
              <a:rPr lang="en-US" sz="1100" b="1" dirty="0">
                <a:solidFill>
                  <a:srgbClr val="1F2A37"/>
                </a:solidFill>
                <a:latin typeface="Calibri" pitchFamily="34" charset="0"/>
                <a:cs typeface="Amiri" pitchFamily="2" charset="-78"/>
              </a:rPr>
              <a:t>) • a negative with </a:t>
            </a:r>
            <a:pPr algn="l" indent="0" marL="0">
              <a:buNone/>
            </a:pPr>
            <a:r>
              <a:rPr lang="ar-SA" altLang="en-US" sz="1450" b="1" dirty="0">
                <a:solidFill>
                  <a:srgbClr val="1F2A37"/>
                </a:solidFill>
                <a:latin typeface="Amiri" pitchFamily="2" charset="-78"/>
                <a:ea typeface="Amiri" pitchFamily="2" charset="-78"/>
                <a:cs typeface="Amiri" pitchFamily="2" charset="-78"/>
              </a:rPr>
              <a:t>لَيْسَ / لَيْسَتْ</a:t>
            </a:r>
            <a:pPr algn="l" indent="0" marL="0">
              <a:buNone/>
            </a:pPr>
            <a:r>
              <a:rPr lang="en-US" sz="1100" b="1" dirty="0">
                <a:solidFill>
                  <a:srgbClr val="1F2A37"/>
                </a:solidFill>
                <a:latin typeface="Calibri" pitchFamily="34" charset="0"/>
                <a:cs typeface="Amiri" pitchFamily="2" charset="-78"/>
              </a:rPr>
              <a:t> • evidence with </a:t>
            </a:r>
            <a:pPr algn="l" indent="0" marL="0">
              <a:buNone/>
            </a:pPr>
            <a:r>
              <a:rPr lang="ar-SA" altLang="en-US" sz="1450" b="1" dirty="0">
                <a:solidFill>
                  <a:srgbClr val="1F2A37"/>
                </a:solidFill>
                <a:latin typeface="Amiri" pitchFamily="2" charset="-78"/>
                <a:ea typeface="Amiri" pitchFamily="2" charset="-78"/>
                <a:cs typeface="Amiri" pitchFamily="2" charset="-78"/>
              </a:rPr>
              <a:t>لِأَنَّهُ / لِأَنَّهَا</a:t>
            </a:r>
            <a:pPr algn="l" indent="0" marL="0">
              <a:buNone/>
            </a:pPr>
            <a:r>
              <a:rPr lang="en-US" sz="1100" b="1" dirty="0">
                <a:solidFill>
                  <a:srgbClr val="1F2A37"/>
                </a:solidFill>
                <a:latin typeface="Calibri" pitchFamily="34" charset="0"/>
                <a:cs typeface="Amiri" pitchFamily="2" charset="-78"/>
              </a:rPr>
              <a:t> for at least two qualities.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جِدًّا · هِيَ … نَوْعًا مَا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 very … · she is fairly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 / لَيْسَتْ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isn’t … / she isn’t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 يُسَاعِدُ … · لِأَنَّهَا تَسْمَعُ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he helps … · because she listens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وَلٰكِنَّهُ / وَلٰكِنَّهَا أَحْيَانًا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sometimes he / she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agree (m. / f. / pl.)?</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لَيْسَ</a:t>
            </a:r>
            <a:pPr algn="l" indent="0" marL="0">
              <a:buNone/>
            </a:pPr>
            <a:r>
              <a:rPr lang="en-US" sz="1100" dirty="0">
                <a:solidFill>
                  <a:srgbClr val="5A6472"/>
                </a:solidFill>
                <a:latin typeface="Calibri" pitchFamily="34" charset="0"/>
                <a:cs typeface="Amiri" pitchFamily="2" charset="-78"/>
              </a:rPr>
              <a:t> + -an, </a:t>
            </a:r>
            <a:pPr algn="l" indent="0" marL="0">
              <a:buNone/>
            </a:pPr>
            <a:r>
              <a:rPr lang="ar-SA" altLang="en-US" sz="1450" dirty="0">
                <a:solidFill>
                  <a:srgbClr val="5A6472"/>
                </a:solidFill>
                <a:latin typeface="Amiri" pitchFamily="2" charset="-78"/>
                <a:ea typeface="Amiri" pitchFamily="2" charset="-78"/>
                <a:cs typeface="Amiri" pitchFamily="2" charset="-78"/>
              </a:rPr>
              <a:t>جِدًّا / نَوْعًا مَا</a:t>
            </a:r>
            <a:pPr algn="l" indent="0" marL="0">
              <a:buNone/>
            </a:pPr>
            <a:r>
              <a:rPr lang="en-US" sz="1100" dirty="0">
                <a:solidFill>
                  <a:srgbClr val="5A6472"/>
                </a:solidFill>
                <a:latin typeface="Calibri" pitchFamily="34" charset="0"/>
                <a:cs typeface="Amiri" pitchFamily="2" charset="-78"/>
              </a:rPr>
              <a:t> and evidence with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أَقْتَرِحُ سَامِرًا، لِأَنَّهُ وَاثِقٌ وَمُتَعَاوِنٌ.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suggest Samer, because he is confident and cooperative.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تَقْتَرِحُ قَائِدًا لِلْفَرِيقِ؟</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مَثَلًا، يُسَاعِدُ اللَّاعِبِينَ الجُدُدَ بَعْدَ كُلِّ تَدْرِيبٍ.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 example, he helps the new players after every training session.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أَعْطِنِي مِثَالًا.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رِيمُ مُجْتَهِدَةٌ جِدًّا، وَلٰكِنَّهَا خَجُولَةٌ نَوْعًا مَا.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Reem is very hard-working, but she is a bit shy.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رَأْيُكَ فِي رِيمَ؟</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هُوَ عَصَبِيٌّ قَلِيلًا عِنْدَمَا نَخْسَرُ، لٰكِنَّهُ يَعْتَذِرُ دَائِمًا.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he is a bit irritable when we lose, but he always apologises.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 سَامِرٍ صِفَةٌ سَلْبِيَّةٌ؟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صَدِيقِي يُوسُفُ مَرِحٌ وَصَادِقٌ وَكَرِيمٌ. هُوَ مَرِحٌ جِدًّا، لِأَنَّهُ يُضْحِكُنَا دَائِمًا فِي الاسْتِرَاحَةِ. وَهُوَ كَرِيمٌ، فَمَثَلًا يُشَارِكُ طَعَامَهُ مَعَ الجَمِيعِ. لَيْسَ أَنَانِيًّا أَبَدًا. أَمَّا جَدَّتِي فَهِيَ هَادِئَةٌ وَصَبُورَةٌ وَحَكِيمَةٌ. هِيَ صَبُورَةٌ لِأَنَّهَا تَسْمَعُ مُشْكِلَاتِي بِدُونِ مَلَلٍ، وَتُعْطِينِي نَصَائِحَ مُفِيدَةً. لَيْسَتْ عَصَبِيَّةً، وَلٰكِنَّهَا صَارِمَةٌ نَوْعًا مَا عِنْدَمَا نَتَأَخَّرُ عَنِ الصَّلَاةِ. أُحِبُّهُمَا كَثِيرًا، لِأَنَّهُمَا يَجْعَلَانِ حَيَاتِي أَجْمَلَ.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friend Yusuf is cheerful, honest and generous. He is very cheerful, because he always makes us laugh at break. And he is generous — for example, he shares his food with everyone. He is never selfish. As for my grandmother, she is calm, patient and wise. She is patient because she listens to my problems without getting bored and gives me useful advice. She isn’t irritable, but she is fairly strict when we are late for prayer. I love them both, because they make my life more beautiful.”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مَرِحٌ جِدًّا، لِأَنَّهُ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أَنَانِيًّا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صَبُورَةٌ لِأَنَّهَا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صَارِمَةٌ نَوْعًا 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D2-L02 · Relationships — Family, Friends and How We Get 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العَلَاقَاتُ — العَائِلَةُ وَالأَصْدِقَاءُ وَكَيْفِيَّةُ التَّعَامُلِ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D2-L01 · Practice Room — Personality Adjectives — What Is He / She Like?</dc:title>
  <dc:subject>PptxGenJS Presentation</dc:subject>
  <dc:creator>Al Madina Online School · Arabic Department</dc:creator>
  <cp:lastModifiedBy>Al Madina Online School · Arabic Department</cp:lastModifiedBy>
  <cp:revision>1</cp:revision>
  <dcterms:created xsi:type="dcterms:W3CDTF">2026-10-25T18:12:25Z</dcterms:created>
  <dcterms:modified xsi:type="dcterms:W3CDTF">2026-10-25T18:12:25Z</dcterms:modified>
</cp:coreProperties>
</file>