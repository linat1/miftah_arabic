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D2-L09 (Speaking — People, Relationships and Style Topic Conversation) — new practice tasks built on the lesson’s own word bank and grammar (answer directly, then build: reason (li-anna) → example (mathalan) → comparison (baynamā / akthar min); ask a follow-up (wa-anta? · limādhā?); repair: ʿafwan, mā maʿnā …? · hal tuqṣidu …? · aʿid min faḍlik; tenses: present habits, past example, future plan).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D2-L09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new student to a girl: صَفِّكِ · لَكِ. Answer → build → ask back. Explaining a word in Arabic is a key exam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(58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D2-L09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550" b="1" dirty="0">
                <a:solidFill>
                  <a:srgbClr val="FFFFFF"/>
                </a:solidFill>
                <a:latin typeface="Cambria" pitchFamily="34" charset="0"/>
                <a:cs typeface="Amiri" pitchFamily="2" charset="-78"/>
              </a:rPr>
              <a:t>Practice Room — Speaking — People, Relationships and Style Topic Conversation</a:t>
            </a:r>
            <a:endParaRPr lang="en-US" sz="25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مُحَادَثَةٌ مَوْضُوعِيَّةٌ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exam-style topic conversation about people, relationships and style: practise the build-up of an answer, act a model conversation, take turns with the examiner cards, do a role-play card, keep talking for one minute with follow-up questions, then build, fix and write the script of their best conversation.</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D2-L09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Relationships and linking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we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أَتَفَاهَمُ مَعَ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on with</a:t>
            </a:r>
            <a:endParaRPr lang="en-US" sz="1350" dirty="0"/>
          </a:p>
          <a:p>
            <a:pPr indent="0" marL="0">
              <a:buNone/>
            </a:pPr>
            <a:r>
              <a:rPr lang="en-US" sz="1100" i="1" dirty="0">
                <a:solidFill>
                  <a:srgbClr val="5A6472"/>
                </a:solidFill>
                <a:latin typeface="Calibri" pitchFamily="34" charset="0"/>
                <a:cs typeface="Amiri" pitchFamily="2" charset="-78"/>
              </a:rPr>
              <a:t>a-ta-fā-ha-mu ma-ʿa</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نَتَفَاهَمُ</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يَتَفَاهَمُ</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هَلْ تَتَفَاهَمُ …؟</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Text 3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أَخْتَلِفُ مَعَ</a:t>
            </a:r>
            <a:endParaRPr lang="ar-SA" sz="3000" dirty="0"/>
          </a:p>
        </p:txBody>
      </p:sp>
      <p:sp>
        <p:nvSpPr>
          <p:cNvPr id="37" name="Text 3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disagree with</a:t>
            </a:r>
            <a:endParaRPr lang="en-US" sz="1350" dirty="0"/>
          </a:p>
          <a:p>
            <a:pPr indent="0" marL="0">
              <a:buNone/>
            </a:pPr>
            <a:r>
              <a:rPr lang="en-US" sz="1100" i="1" dirty="0">
                <a:solidFill>
                  <a:srgbClr val="5A6472"/>
                </a:solidFill>
                <a:latin typeface="Calibri" pitchFamily="34" charset="0"/>
                <a:cs typeface="Amiri" pitchFamily="2" charset="-78"/>
              </a:rPr>
              <a:t>akh-ta-li-fu ma-ʿa</a:t>
            </a:r>
            <a:endParaRPr lang="en-US" sz="135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1" name="Text 38"/>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أَحْتَرِمُ</a:t>
            </a:r>
            <a:endParaRPr lang="ar-SA" sz="3000" dirty="0"/>
          </a:p>
        </p:txBody>
      </p:sp>
      <p:sp>
        <p:nvSpPr>
          <p:cNvPr id="42" name="Text 39"/>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respect</a:t>
            </a:r>
            <a:endParaRPr lang="en-US" sz="1350" dirty="0"/>
          </a:p>
          <a:p>
            <a:pPr indent="0" marL="0">
              <a:buNone/>
            </a:pPr>
            <a:r>
              <a:rPr lang="en-US" sz="1100" i="1" dirty="0">
                <a:solidFill>
                  <a:srgbClr val="5A6472"/>
                </a:solidFill>
                <a:latin typeface="Calibri" pitchFamily="34" charset="0"/>
                <a:cs typeface="Amiri" pitchFamily="2" charset="-78"/>
              </a:rPr>
              <a:t>aḥ-ta-ri-mu</a:t>
            </a:r>
            <a:endParaRPr lang="en-US" sz="1350" dirty="0"/>
          </a:p>
        </p:txBody>
      </p:sp>
      <p:sp>
        <p:nvSpPr>
          <p:cNvPr id="43" name="Shape 4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11312"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6" name="Shape 4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يَدْعَمُنِي</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supports me</a:t>
            </a:r>
            <a:endParaRPr lang="en-US" sz="1350" dirty="0"/>
          </a:p>
          <a:p>
            <a:pPr indent="0" marL="0">
              <a:buNone/>
            </a:pPr>
            <a:r>
              <a:rPr lang="en-US" sz="1100" i="1" dirty="0">
                <a:solidFill>
                  <a:srgbClr val="5A6472"/>
                </a:solidFill>
                <a:latin typeface="Calibri" pitchFamily="34" charset="0"/>
                <a:cs typeface="Amiri" pitchFamily="2" charset="-78"/>
              </a:rPr>
              <a:t>yad-ʿa-mu-nī</a:t>
            </a:r>
            <a:endParaRPr lang="en-US" sz="1350" dirty="0"/>
          </a:p>
        </p:txBody>
      </p:sp>
      <p:sp>
        <p:nvSpPr>
          <p:cNvPr id="50" name="Shape 4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4389120"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3" name="Shape 5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56" name="Text 5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57" name="Shape 5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66928"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Qualities and style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صَادِقٌ / صَادِقَةٌ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ṣā-di-qun / ṣā-di-qa-tun</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صَادِقُونَ</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4" name="Shape 31"/>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6" name="Text 43"/>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 مِنْ</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better than</a:t>
            </a:r>
            <a:endParaRPr lang="en-US" sz="1350" dirty="0"/>
          </a:p>
          <a:p>
            <a:pPr indent="0" marL="0">
              <a:buNone/>
            </a:pPr>
            <a:r>
              <a:rPr lang="en-US" sz="1100" i="1" dirty="0">
                <a:solidFill>
                  <a:srgbClr val="5A6472"/>
                </a:solidFill>
                <a:latin typeface="Calibri" pitchFamily="34" charset="0"/>
                <a:cs typeface="Amiri" pitchFamily="2" charset="-78"/>
              </a:rPr>
              <a:t>af-ḍa-lu min</a:t>
            </a:r>
            <a:endParaRPr lang="en-US" sz="135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5" name="Shape 52"/>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7" name="Text 5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أَنِيقٌ / أَنِيقَةٌ</a:t>
            </a:r>
            <a:endParaRPr lang="ar-SA" sz="3000" dirty="0"/>
          </a:p>
        </p:txBody>
      </p:sp>
      <p:sp>
        <p:nvSpPr>
          <p:cNvPr id="58" name="Text 5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elegant</a:t>
            </a:r>
            <a:endParaRPr lang="en-US" sz="1350" dirty="0"/>
          </a:p>
          <a:p>
            <a:pPr indent="0" marL="0">
              <a:buNone/>
            </a:pPr>
            <a:r>
              <a:rPr lang="en-US" sz="1100" i="1" dirty="0">
                <a:solidFill>
                  <a:srgbClr val="5A6472"/>
                </a:solidFill>
                <a:latin typeface="Calibri" pitchFamily="34" charset="0"/>
                <a:cs typeface="Amiri" pitchFamily="2" charset="-78"/>
              </a:rPr>
              <a:t>a-nī-qun / a-nī-qa-tun</a:t>
            </a:r>
            <a:endParaRPr lang="en-US" sz="1350" dirty="0"/>
          </a:p>
        </p:txBody>
      </p:sp>
      <p:sp>
        <p:nvSpPr>
          <p:cNvPr id="59" name="Shape 56"/>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1" name="Text 58"/>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أَنِيقُونَ</a:t>
            </a:r>
            <a:endParaRPr lang="ar-SA" sz="1500" dirty="0"/>
          </a:p>
        </p:txBody>
      </p:sp>
      <p:sp>
        <p:nvSpPr>
          <p:cNvPr id="62" name="Shape 59"/>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4" name="Text 61"/>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أَنِيقَةٌ</a:t>
            </a:r>
            <a:endParaRPr lang="ar-SA" sz="1500" dirty="0"/>
          </a:p>
        </p:txBody>
      </p:sp>
      <p:sp>
        <p:nvSpPr>
          <p:cNvPr id="65" name="Shape 62"/>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7" name="Text 64"/>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a:t>
            </a:r>
            <a:endParaRPr lang="ar-SA" sz="1500" dirty="0"/>
          </a:p>
        </p:txBody>
      </p:sp>
      <p:sp>
        <p:nvSpPr>
          <p:cNvPr id="68" name="Shape 6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389120"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1" name="Shape 68"/>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72" name="Text 69"/>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3" name="Text 70"/>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رَسْمِيٍّ / غَيْرُ رَسْمِيَّةٍ</a:t>
            </a:r>
            <a:endParaRPr lang="ar-SA" sz="3000" dirty="0"/>
          </a:p>
        </p:txBody>
      </p:sp>
      <p:sp>
        <p:nvSpPr>
          <p:cNvPr id="74" name="Text 71"/>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casual</a:t>
            </a:r>
            <a:endParaRPr lang="en-US" sz="1350" dirty="0"/>
          </a:p>
          <a:p>
            <a:pPr indent="0" marL="0">
              <a:buNone/>
            </a:pPr>
            <a:r>
              <a:rPr lang="en-US" sz="1100" i="1" dirty="0">
                <a:solidFill>
                  <a:srgbClr val="5A6472"/>
                </a:solidFill>
                <a:latin typeface="Calibri" pitchFamily="34" charset="0"/>
                <a:cs typeface="Amiri" pitchFamily="2" charset="-78"/>
              </a:rPr>
              <a:t>ghay-ru ras-miy-yin / ghay-ru ras-miy-ya-tin</a:t>
            </a:r>
            <a:endParaRPr lang="en-US" sz="1350" dirty="0"/>
          </a:p>
        </p:txBody>
      </p:sp>
      <p:sp>
        <p:nvSpPr>
          <p:cNvPr id="75" name="Shape 72"/>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رَسْمِيَّةٍ</a:t>
            </a:r>
            <a:endParaRPr lang="ar-SA" sz="1500" dirty="0"/>
          </a:p>
        </p:txBody>
      </p:sp>
      <p:sp>
        <p:nvSpPr>
          <p:cNvPr id="78" name="Shape 75"/>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a:t>
            </a:r>
            <a:endParaRPr lang="ar-SA" sz="1500" dirty="0"/>
          </a:p>
        </p:txBody>
      </p:sp>
      <p:sp>
        <p:nvSpPr>
          <p:cNvPr id="81" name="Shape 7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566928"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4" name="Shape 81"/>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مُرِيحٌ / مُرِيحَةٌ</a:t>
            </a:r>
            <a:endParaRPr lang="ar-SA" sz="3000" dirty="0"/>
          </a:p>
        </p:txBody>
      </p:sp>
      <p:sp>
        <p:nvSpPr>
          <p:cNvPr id="87" name="Text 8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comfortable</a:t>
            </a:r>
            <a:endParaRPr lang="en-US" sz="1350" dirty="0"/>
          </a:p>
          <a:p>
            <a:pPr indent="0" marL="0">
              <a:buNone/>
            </a:pPr>
            <a:r>
              <a:rPr lang="en-US" sz="1100" i="1" dirty="0">
                <a:solidFill>
                  <a:srgbClr val="5A6472"/>
                </a:solidFill>
                <a:latin typeface="Calibri" pitchFamily="34" charset="0"/>
                <a:cs typeface="Amiri" pitchFamily="2" charset="-78"/>
              </a:rPr>
              <a:t>mu-rī-ḥun / mu-rī-ḥa-tun</a:t>
            </a:r>
            <a:endParaRPr lang="en-US" sz="1350" dirty="0"/>
          </a:p>
        </p:txBody>
      </p:sp>
      <p:sp>
        <p:nvSpPr>
          <p:cNvPr id="88" name="Shape 85"/>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مُرِيحَةٌ</a:t>
            </a:r>
            <a:endParaRPr lang="ar-SA" sz="1500" dirty="0"/>
          </a:p>
        </p:txBody>
      </p:sp>
      <p:sp>
        <p:nvSpPr>
          <p:cNvPr id="91" name="Shape 88"/>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مُرِيحَةٌ</a:t>
            </a:r>
            <a:endParaRPr lang="ar-SA" sz="1500" dirty="0"/>
          </a:p>
        </p:txBody>
      </p:sp>
      <p:sp>
        <p:nvSpPr>
          <p:cNvPr id="94" name="Shape 91"/>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مُرِيحٌ</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A topic conversation — with a repair</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مُحَادَثَةٌ مَعَ تَصْحِيحٍ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close friend to me.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صِفْ لِي صَدِيقًا مُقَرَّبًا.</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friend Ziad is honest and fun, because he always tells the truth and makes me laugh.</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صَدِيقِي زِيَادٌ صَادِقٌ وَمَرِحٌ، لِأَنَّهُ يَقُولُ الحَقِيقَةَ دَائِمًا وَيُضْحِكُنِي.</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two sometimes disagree?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تَخْتَلِفَانِ أَحْيَانًا؟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Sorry, what does “takhtalifāni” mean?</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عَفْوًا، مَا مَعْنَى «تَخْتَلِفَانِ»؟</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means: you don’t have the same opinion.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يَعْنِي: لَيْسَ عِنْدَكُمَا نَفْسُ الرَّأْيِ.</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Ah, yes! For example, yesterday we disagreed about a film, but we made up. And you — do you disagree with your friends?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آهِ، نَعَمْ! مَثَلًا أَمْسِ اخْتَلَفْنَا عَلَى فِيلْمٍ، وَلٰكِنَّنَا تَصَالَحْنَا. وَأَنْتَ، هَلْ تَخْتَلِفُ مَعَ أَصْدِقَائِكَ؟</a:t>
            </a:r>
            <a:endParaRPr lang="ar-SA" sz="15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answer about YOUR friend — use the repair phrase once and end with a question back.</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Examiner cards — answer, build, ask back</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مَثَلًا … · وَأَنْتَ؟</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هُوَ / هِيَ … لِأَنَّ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an important person in your life.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شَخْصًا مُهِمًّا فِي حَيَاتِكَ.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أَمْسِ / الأُسْبُوعَ المَاضِيَ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أَتَفَاهَمُ مَعَ … ، بَيْنَمَا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is your relationship with your siblings?</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عَلَاقَتُكَ بِإِخْوَتِكَ؟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أَكْثَرُ رَاحَةً مِنْ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المَلَابِسَ … لِأَنَّهَا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clothing style?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أُسْلُوبُكَ فِي المَلَابِسِ؟</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عَلَى الرَّغْمِ مِنْ أَنَّ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الصِّدْقُ وَ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qualities matter in a friend?</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الصِّفَاتُ المُهِمَّةُ فِي الصَّدِيقِ؟</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سَأَلْبَسُ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will you wear at the next Eid party?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سَتَلْبَسُ فِي حَفْلَةِ العِيدِ القَادِمَةِ؟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Role-play card — a new student asks about your class</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طَالِبٌ جَدِيدٌ يَسْأَلُ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الصَّفُّ ← الطُّلَّابُ … وَ … لِأَنَّهُمْ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class.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الطُّلَّابُ فِي صَفِّكَ؟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صَدِيقِي ← … ، مَثَلًا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person + example.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وَمَنْ أَقْرَبُ صَدِيقٍ لَكَ؟</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Opinion + contrast.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الزِّيُّ المَدْرَسِيُّ مُرِيحٌ؟</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 a word.</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مَعْنَى «مُتَعَاوِنٌ»؟</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yourself · Leader = a new student.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One minute: keep the conversation going</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لَا تَتَوَقَّفْ!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then ask back</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asks one question from the cards. The Speaker answers for one minute, then asks the Leader a follow-up question.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 reason + one question back (</a:t>
            </a:r>
            <a:pPr algn="l" indent="0" marL="0">
              <a:buNone/>
            </a:pPr>
            <a:r>
              <a:rPr lang="ar-SA" altLang="en-US" sz="1500" dirty="0">
                <a:solidFill>
                  <a:srgbClr val="1F2A37"/>
                </a:solidFill>
                <a:latin typeface="Amiri" pitchFamily="2" charset="-78"/>
                <a:ea typeface="Amiri" pitchFamily="2" charset="-78"/>
                <a:cs typeface="Amiri" pitchFamily="2" charset="-78"/>
              </a:rPr>
              <a:t>وَأَنْتَ؟</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an example in the past and a comparison.</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concession and a future plan, and use one repair phrase naturally.</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For example, last week my sister supported me.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مَثَلًا،</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الأُسْبُوعَ المَاضِيَ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الأُسْبُوعُ المَاضِي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دَعَمَتْنِي أُخْتِي.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تَدْعَمُنِي أُخْتِي.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Sorry, do you mean “honest”?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عَفْوًا،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شُكْرًا،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 تَقْصِدُ</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 يَقْصِدُ</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«صَادِقٌ»؟</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«صَادِقَةٌ»؟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get on with my cousin more than my brother.</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أَتَفَاهَمُ مَعَ ابْنِ عَمِّي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أَتَفَاهَمُ ابْنَ عَمِّي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أَكْثَرَ</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أَكْثَرُ</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أَخِي.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أَخِيَ.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For example, last week my sister supported me.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Past example → past verb (</a:t>
            </a:r>
            <a:pPr algn="l" indent="0" marL="0">
              <a:buNone/>
            </a:pPr>
            <a:r>
              <a:rPr lang="ar-SA" altLang="en-US" sz="1350" dirty="0">
                <a:solidFill>
                  <a:srgbClr val="5A6472"/>
                </a:solidFill>
                <a:latin typeface="Amiri" pitchFamily="2" charset="-78"/>
                <a:ea typeface="Amiri" pitchFamily="2" charset="-78"/>
                <a:cs typeface="Amiri" pitchFamily="2" charset="-78"/>
              </a:rPr>
              <a:t>دَعَمَتْنِي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مَثَلًا، الأُسْبُوعَ المَاضِيَ دَعَمَتْنِي أُخْتِي.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Sorry, do you mean “honest”?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Repair to “you” → </a:t>
            </a:r>
            <a:pPr algn="l" indent="0" marL="0">
              <a:buNone/>
            </a:pPr>
            <a:r>
              <a:rPr lang="ar-SA" altLang="en-US" sz="1350" dirty="0">
                <a:solidFill>
                  <a:srgbClr val="5A6472"/>
                </a:solidFill>
                <a:latin typeface="Amiri" pitchFamily="2" charset="-78"/>
                <a:ea typeface="Amiri" pitchFamily="2" charset="-78"/>
                <a:cs typeface="Amiri" pitchFamily="2" charset="-78"/>
              </a:rPr>
              <a:t>تَقْصِدُ</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عَفْوًا، هَلْ تَقْصِدُ «صَادِقٌ»؟</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get on with my cousin more than my brother.</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مَعَ</a:t>
            </a:r>
            <a:pPr algn="l" indent="0" marL="0">
              <a:buNone/>
            </a:pPr>
            <a:r>
              <a:rPr lang="en-US" sz="1050" i="1" dirty="0">
                <a:solidFill>
                  <a:srgbClr val="5A6472"/>
                </a:solidFill>
                <a:latin typeface="Calibri" pitchFamily="34" charset="0"/>
                <a:cs typeface="Amiri" pitchFamily="2" charset="-78"/>
              </a:rPr>
              <a:t> is needed; </a:t>
            </a:r>
            <a:pPr algn="l" indent="0" marL="0">
              <a:buNone/>
            </a:pPr>
            <a:r>
              <a:rPr lang="ar-SA" altLang="en-US" sz="1350" dirty="0">
                <a:solidFill>
                  <a:srgbClr val="5A6472"/>
                </a:solidFill>
                <a:latin typeface="Amiri" pitchFamily="2" charset="-78"/>
                <a:ea typeface="Amiri" pitchFamily="2" charset="-78"/>
                <a:cs typeface="Amiri" pitchFamily="2" charset="-78"/>
              </a:rPr>
              <a:t>أَكْثَرَ</a:t>
            </a:r>
            <a:pPr algn="l" indent="0" marL="0">
              <a:buNone/>
            </a:pPr>
            <a:r>
              <a:rPr lang="en-US" sz="1050" i="1" dirty="0">
                <a:solidFill>
                  <a:srgbClr val="5A6472"/>
                </a:solidFill>
                <a:latin typeface="Calibri" pitchFamily="34" charset="0"/>
                <a:cs typeface="Amiri" pitchFamily="2" charset="-78"/>
              </a:rPr>
              <a:t> as an adverb (-a).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أَتَفَاهَمُ مَعَ ابْنِ عَمِّي أَكْثَرَ مِنْ أَخِي.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صَدِيقِي صَادِقٌ.</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Too short for the exam.</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أَمْسِ نَتَصَالَحُ.</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Time word.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لَا أَفْهَمُ…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Repair politely.</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صَدِيقِي صَادِقٌ.</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صَدِيقِي صَادِقٌ، لِأَنَّهُ يَقُولُ الحَقِيقَةَ دَائِمًا؛ مَثَلًا …</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Build: reason + example.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أَمْسِ نَتَصَالَحُ.</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أَمْسِ تَصَالَحْنَا.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أَمْسِ</a:t>
            </a:r>
            <a:pPr algn="l" indent="0" marL="0">
              <a:buNone/>
            </a:pPr>
            <a:r>
              <a:rPr lang="en-US" sz="1150" b="1" dirty="0">
                <a:solidFill>
                  <a:srgbClr val="1B3B6F"/>
                </a:solidFill>
                <a:latin typeface="Calibri" pitchFamily="34" charset="0"/>
                <a:cs typeface="Amiri" pitchFamily="2" charset="-78"/>
              </a:rPr>
              <a:t> → past.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لَا أَفْهَمُ…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عَفْوًا، أَعِدِ السُّؤَالَ مِنْ فَضْلِكَ.</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Ask for repetition in Arabic, then answer.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______ ، فَإِنَّ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س١: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Q1: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 ______ ، لِأَنَّ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 because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مَثَلًا،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example,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وَأَنْتَ / وَأَنْتِ،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you,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أَتَفَاهَمُ مَعَ  ·  أَخْتَلِفُ مَعَ  ·  يَدْعَمُنِي · تَدْعَمُنِي  ·  لِأَنَّ · مَثَلًا  ·  بَيْنَمَا  ·  أَكْثَرُ … مِنْ  ·  عَفْوًا، هَلْ تَقْصِدُ …؟  ·  وَأَنْتَ؟</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of my best conversation</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أَفْضَلِ 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the script (about 60–80 words) of your best answers from today: answer two examiner questions about a person, a relationship or style. For each answer: • a direct answer • a reason • an example (past) • a comparison or contrast. End with one question back to the examiner.</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لِأَنَّ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because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مَثَلًا، أَمْسِ / الأُسْبُوعَ المَاضِيَ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example, yesterday / last week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بَيْنَمَا … · أَكْثَرُ مِنْ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whereas … · more than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وَأَنْتَ / وَأَنْتِ،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you,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directly, give a reason, and ask a question back?</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past example and a comparison to every answer?</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الطُّلَّابُ وَدُودُونَ وَمُتَعَاوِنُونَ، لِأَنَّهُمْ يُسَاعِدُونَ الجُدُدَ.</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students are friendly and helpful, because they help new people.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الطُّلَّابُ فِي صَفِّكَ؟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أَحْمَدُ. مَثَلًا، سَاعَدَنِي فِي الرِّيَاضِيَّاتِ قَبْلَ الامْتِحَانِ.</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Ahmad. For example, he helped me with maths before the exam.</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وَمَنْ أَقْرَبُ صَدِيقٍ لَكَ؟</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القَمِيصُ مُرِيحٌ، وَلٰكِنَّ السُّتْرَةَ ضَيِّقَةٌ قَلِيلًا.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shirt is comfortable, but the blazer is a bit tight.</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الزِّيُّ المَدْرَسِيُّ مُرِيحٌ؟</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يَعْنِي شَخْصًا يُسَاعِدُ الآخَرِينَ وَيَعْمَلُ مَعَهُمْ فِي فَرِيقٍ.</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means a person who helps others and works with them in a team.</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مَعْنَى «مُتَعَاوِنٌ»؟</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150" dirty="0">
                <a:solidFill>
                  <a:srgbClr val="1F2A37"/>
                </a:solidFill>
                <a:latin typeface="Amiri" pitchFamily="2" charset="-78"/>
                <a:ea typeface="Amiri" pitchFamily="2" charset="-78"/>
                <a:cs typeface="Amiri" pitchFamily="2" charset="-78"/>
              </a:rPr>
              <a:t>س١: صِفْ شَخْصًا مُهِمًّا فِي حَيَاتِكَ.</a:t>
            </a:r>
            <a:endParaRPr lang="ar-SA" sz="2150" dirty="0"/>
          </a:p>
          <a:p>
            <a:pPr rtl="1" algn="r" indent="0" marL="0">
              <a:lnSpc>
                <a:spcPct val="120000"/>
              </a:lnSpc>
              <a:buNone/>
            </a:pPr>
            <a:r>
              <a:rPr lang="ar-SA" altLang="en-US" sz="2150" dirty="0">
                <a:solidFill>
                  <a:srgbClr val="1F2A37"/>
                </a:solidFill>
                <a:latin typeface="Amiri" pitchFamily="2" charset="-78"/>
                <a:ea typeface="Amiri" pitchFamily="2" charset="-78"/>
                <a:cs typeface="Amiri" pitchFamily="2" charset="-78"/>
              </a:rPr>
              <a:t>ج: أَهَمُّ شَخْصٍ فِي حَيَاتِي خَالَتِي، لِأَنَّهَا صَبُورَةٌ وَتَدْعَمُنِي دَائِمًا. مَثَلًا، الشَّهْرَ المَاضِيَ سَاعَدَتْنِي فِي مَشْرُوعِ العُلُومِ لِمُدَّةِ أُسْبُوعٍ.</a:t>
            </a:r>
            <a:endParaRPr lang="ar-SA" sz="2150" dirty="0"/>
          </a:p>
          <a:p>
            <a:pPr rtl="1" algn="r" indent="0" marL="0">
              <a:lnSpc>
                <a:spcPct val="120000"/>
              </a:lnSpc>
              <a:buNone/>
            </a:pPr>
            <a:r>
              <a:rPr lang="ar-SA" altLang="en-US" sz="2150" dirty="0">
                <a:solidFill>
                  <a:srgbClr val="1F2A37"/>
                </a:solidFill>
                <a:latin typeface="Amiri" pitchFamily="2" charset="-78"/>
                <a:ea typeface="Amiri" pitchFamily="2" charset="-78"/>
                <a:cs typeface="Amiri" pitchFamily="2" charset="-78"/>
              </a:rPr>
              <a:t>س٢: مَا أُسْلُوبُكَ فِي المَلَابِسِ؟</a:t>
            </a:r>
            <a:endParaRPr lang="ar-SA" sz="2150" dirty="0"/>
          </a:p>
          <a:p>
            <a:pPr rtl="1" algn="r" indent="0" marL="0">
              <a:lnSpc>
                <a:spcPct val="120000"/>
              </a:lnSpc>
              <a:buNone/>
            </a:pPr>
            <a:r>
              <a:rPr lang="ar-SA" altLang="en-US" sz="2150" dirty="0">
                <a:solidFill>
                  <a:srgbClr val="1F2A37"/>
                </a:solidFill>
                <a:latin typeface="Amiri" pitchFamily="2" charset="-78"/>
                <a:ea typeface="Amiri" pitchFamily="2" charset="-78"/>
                <a:cs typeface="Amiri" pitchFamily="2" charset="-78"/>
              </a:rPr>
              <a:t>ج: أُفَضِّلُ المَلَابِسَ البَسِيطَةَ وَالمُرِيحَةَ، بَيْنَمَا يُحِبُّ أَخِي المَوْضَةَ وَالأَلْوَانَ. مَثَلًا، فِي العِيدِ لَبِسْتُ قَمِيصًا أَبْيَضَ فَقَطْ. عَلَى الرَّغْمِ مِنْ أَنَّ أُسْلُوبِي بَسِيطٌ، فَإِنَّهُ أَنِيقٌ. وَأَنْتَ، مَا أُسْلُوبُكَ؟</a:t>
            </a:r>
            <a:endParaRPr lang="ar-SA" sz="21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“Q1: Describe an important person in your life. A: The most important person in my life is my aunt, because she is patient and always supports me. For example, last month she helped me with my science project for a week. Q2: What is your clothing style? A: I prefer simple, comfortable clothes, whereas my brother loves fashion and colours. For example, at Eid I just wore a white shirt. Although my style is simple, it is smart. And you, what is your style?”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صَبُورَةٌ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مَثَلًا، الشَّهْرَ المَاضِيَ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يُحِبُّ أَخِي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وَأَنْتَ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D2-L09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D2-L10 · Speaking — Describing People and Personal Style</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التَّحَدُّثُ — وَصْفُ النَّاسِ وَالأُسْلُوبِ الشَّخْصِيِّ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D2-L09 · Practice Room — Speaking — People, Relationships and Style Topic Conversation</dc:title>
  <dc:subject>PptxGenJS Presentation</dc:subject>
  <dc:creator>Al Madina Online School · Arabic Department</dc:creator>
  <cp:lastModifiedBy>Al Madina Online School · Arabic Department</cp:lastModifiedBy>
  <cp:revision>1</cp:revision>
  <dcterms:created xsi:type="dcterms:W3CDTF">2026-10-25T18:34:25Z</dcterms:created>
  <dcterms:modified xsi:type="dcterms:W3CDTF">2026-10-25T18:34:25Z</dcterms:modified>
</cp:coreProperties>
</file>