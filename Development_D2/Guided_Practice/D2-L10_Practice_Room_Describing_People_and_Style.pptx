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D2-L10 (Speaking — Describing People and Personal Style) — new practice tasks built on the lesson’s own word bank and grammar (six-stage portrait: who → appearance → qualities + evidence → relationship → style → comparison + opinion; keeping he / she and his / her consistent (-hu / -hā, ya- / ta-); hair masculine, eyes dual; linking the stages (awwalan · baʿda dhālika · akhīran)).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D2-L10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if you nominate a woman: صِفْهَا · هِيَ مُتَوَسِّطَةُ القَامَةِ · لِأَنَّهَا لَطِيفَةٌ · تُسَاعِدُ. Keep the reference consistent: once he, always he (-hu, 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(59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D2-L10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Speaking — Describing People and Personal Style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صُورَةٌ شَفَهِيَّةٌ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run their own speaking practice for a full one-minute spoken portrait: rehearse the six stages, act a model portrait as a dialogue, answer stage-by-stage cards, do a role-play card nominating someone for a school award, perform the full one-minute portrait, then build, fix and write the portrait as a script.</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D2-L10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Appearance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طَوِيلُ القَامَةِ / طَوِيلَةُ القَامَةِ</a:t>
            </a:r>
            <a:endParaRPr lang="ar-SA" sz="255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tall</a:t>
            </a:r>
            <a:endParaRPr lang="en-US" sz="1350" dirty="0"/>
          </a:p>
          <a:p>
            <a:pPr indent="0" marL="0">
              <a:buNone/>
            </a:pPr>
            <a:r>
              <a:rPr lang="en-US" sz="1100" i="1" dirty="0">
                <a:solidFill>
                  <a:srgbClr val="5A6472"/>
                </a:solidFill>
                <a:latin typeface="Calibri" pitchFamily="34" charset="0"/>
                <a:cs typeface="Amiri" pitchFamily="2" charset="-78"/>
              </a:rPr>
              <a:t>ṭa-wī-lu al-qā-ma-ti / ṭa-wī-la-tu al-qā-ma-ti</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طَوِيلَةُ القَامَةِ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 القَامَةِ</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2" charset="-78"/>
                <a:ea typeface="Amiri" pitchFamily="2" charset="-78"/>
                <a:cs typeface="Amiri" pitchFamily="2" charset="-78"/>
              </a:rPr>
              <a:t>مُتَوَسِّطُ القَامَةِ / مُتَوَسِّطَةُ القَامَةِ</a:t>
            </a:r>
            <a:endParaRPr lang="ar-SA" sz="24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medium height</a:t>
            </a:r>
            <a:endParaRPr lang="en-US" sz="1350" dirty="0"/>
          </a:p>
          <a:p>
            <a:pPr indent="0" marL="0">
              <a:buNone/>
            </a:pPr>
            <a:r>
              <a:rPr lang="en-US" sz="1100" i="1" dirty="0">
                <a:solidFill>
                  <a:srgbClr val="5A6472"/>
                </a:solidFill>
                <a:latin typeface="Calibri" pitchFamily="34" charset="0"/>
                <a:cs typeface="Amiri" pitchFamily="2" charset="-78"/>
              </a:rPr>
              <a:t>mu-ta-was-si-ṭu al-qā-ma-ti / mu-ta-was-si-ṭa-tu al-qā-ma-ti</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مُتَوَسِّطَةُ القَامَةِ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مُتَوَسِّطُ القَامَةِ</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طَوِيلٌ</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long hair</a:t>
            </a:r>
            <a:endParaRPr lang="en-US" sz="1350" dirty="0"/>
          </a:p>
          <a:p>
            <a:pPr indent="0" marL="0">
              <a:buNone/>
            </a:pPr>
            <a:r>
              <a:rPr lang="en-US" sz="1100" i="1" dirty="0">
                <a:solidFill>
                  <a:srgbClr val="5A6472"/>
                </a:solidFill>
                <a:latin typeface="Calibri" pitchFamily="34" charset="0"/>
                <a:cs typeface="Amiri" pitchFamily="2" charset="-78"/>
              </a:rPr>
              <a:t>shaʿ-run ṭa-wī-lun</a:t>
            </a:r>
            <a:endParaRPr lang="en-US" sz="135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5" name="Shape 5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قَصِيرٌ</a:t>
            </a:r>
            <a:endParaRPr lang="ar-SA" sz="3000" dirty="0"/>
          </a:p>
        </p:txBody>
      </p:sp>
      <p:sp>
        <p:nvSpPr>
          <p:cNvPr id="58" name="Text 5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 hair</a:t>
            </a:r>
            <a:endParaRPr lang="en-US" sz="1350" dirty="0"/>
          </a:p>
          <a:p>
            <a:pPr indent="0" marL="0">
              <a:buNone/>
            </a:pPr>
            <a:r>
              <a:rPr lang="en-US" sz="1100" i="1" dirty="0">
                <a:solidFill>
                  <a:srgbClr val="5A6472"/>
                </a:solidFill>
                <a:latin typeface="Calibri" pitchFamily="34" charset="0"/>
                <a:cs typeface="Amiri" pitchFamily="2" charset="-78"/>
              </a:rPr>
              <a:t>shaʿ-run qa-ṣī-run</a:t>
            </a:r>
            <a:endParaRPr lang="en-US" sz="135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2" name="Shape 5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عَيْنَانِ بُنِّيَّتَانِ</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brown eyes</a:t>
            </a:r>
            <a:endParaRPr lang="en-US" sz="1350" dirty="0"/>
          </a:p>
          <a:p>
            <a:pPr indent="0" marL="0">
              <a:buNone/>
            </a:pPr>
            <a:r>
              <a:rPr lang="en-US" sz="1100" i="1" dirty="0">
                <a:solidFill>
                  <a:srgbClr val="5A6472"/>
                </a:solidFill>
                <a:latin typeface="Calibri" pitchFamily="34" charset="0"/>
                <a:cs typeface="Amiri" pitchFamily="2" charset="-78"/>
              </a:rPr>
              <a:t>ʿay-nā-ni bun-niy-ya-tā-ni</a:t>
            </a:r>
            <a:endParaRPr lang="en-US" sz="135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9" name="Shape 6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0" name="Text 6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1" name="Text 6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يَرْتَدِي نَظَّارَةً</a:t>
            </a:r>
            <a:endParaRPr lang="ar-SA" sz="3000" dirty="0"/>
          </a:p>
        </p:txBody>
      </p:sp>
      <p:sp>
        <p:nvSpPr>
          <p:cNvPr id="72" name="Text 6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wears glasses</a:t>
            </a:r>
            <a:endParaRPr lang="en-US" sz="1350" dirty="0"/>
          </a:p>
          <a:p>
            <a:pPr indent="0" marL="0">
              <a:buNone/>
            </a:pPr>
            <a:r>
              <a:rPr lang="en-US" sz="1100" i="1" dirty="0">
                <a:solidFill>
                  <a:srgbClr val="5A6472"/>
                </a:solidFill>
                <a:latin typeface="Calibri" pitchFamily="34" charset="0"/>
                <a:cs typeface="Amiri" pitchFamily="2" charset="-78"/>
              </a:rPr>
              <a:t>yar-ta-dī naẓ-ẓā-ra-tan</a:t>
            </a:r>
            <a:endParaRPr lang="en-US" sz="13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Qualities and style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وَدُودٌ / وَدُودَةٌ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friendly</a:t>
            </a:r>
            <a:endParaRPr lang="en-US" sz="1350" dirty="0"/>
          </a:p>
          <a:p>
            <a:pPr indent="0" marL="0">
              <a:buNone/>
            </a:pPr>
            <a:r>
              <a:rPr lang="en-US" sz="1100" i="1" dirty="0">
                <a:solidFill>
                  <a:srgbClr val="5A6472"/>
                </a:solidFill>
                <a:latin typeface="Calibri" pitchFamily="34" charset="0"/>
                <a:cs typeface="Amiri" pitchFamily="2" charset="-78"/>
              </a:rPr>
              <a:t>wa-dū-dun / wa-dū-da-tun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صَادِقٌ / صَادِقَةٌ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a:t>
            </a:r>
            <a:endParaRPr lang="en-US" sz="1350" dirty="0"/>
          </a:p>
          <a:p>
            <a:pPr indent="0" marL="0">
              <a:buNone/>
            </a:pPr>
            <a:r>
              <a:rPr lang="en-US" sz="1100" i="1" dirty="0">
                <a:solidFill>
                  <a:srgbClr val="5A6472"/>
                </a:solidFill>
                <a:latin typeface="Calibri" pitchFamily="34" charset="0"/>
                <a:cs typeface="Amiri" pitchFamily="2" charset="-78"/>
              </a:rPr>
              <a:t>ṣā-di-qun / ṣā-di-qa-tun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Text 7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قَصِيرُ القَامَةِ / قَصِيرَةُ القَامَةِ</a:t>
            </a:r>
            <a:endParaRPr lang="ar-SA" sz="2550" dirty="0"/>
          </a:p>
        </p:txBody>
      </p:sp>
      <p:sp>
        <p:nvSpPr>
          <p:cNvPr id="75" name="Text 7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a:t>
            </a:r>
            <a:endParaRPr lang="en-US" sz="1350" dirty="0"/>
          </a:p>
          <a:p>
            <a:pPr indent="0" marL="0">
              <a:buNone/>
            </a:pPr>
            <a:r>
              <a:rPr lang="en-US" sz="1100" i="1" dirty="0">
                <a:solidFill>
                  <a:srgbClr val="5A6472"/>
                </a:solidFill>
                <a:latin typeface="Calibri" pitchFamily="34" charset="0"/>
                <a:cs typeface="Amiri" pitchFamily="2" charset="-78"/>
              </a:rPr>
              <a:t>qa-ṣī-ru al-qā-ma-ti / qa-ṣī-ra-tu al-qā-ma-ti</a:t>
            </a:r>
            <a:endParaRPr lang="en-US" sz="1350" dirty="0"/>
          </a:p>
        </p:txBody>
      </p:sp>
      <p:sp>
        <p:nvSpPr>
          <p:cNvPr id="76" name="Shape 73"/>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8" name="Text 75"/>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قَصِيرَةُ القَامَةِ</a:t>
            </a:r>
            <a:endParaRPr lang="ar-SA" sz="1500" dirty="0"/>
          </a:p>
        </p:txBody>
      </p:sp>
      <p:sp>
        <p:nvSpPr>
          <p:cNvPr id="79" name="Shape 76"/>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1" name="Text 78"/>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قَصِيرُ القَامَةِ</a:t>
            </a:r>
            <a:endParaRPr lang="ar-SA" sz="1500" dirty="0"/>
          </a:p>
        </p:txBody>
      </p:sp>
      <p:sp>
        <p:nvSpPr>
          <p:cNvPr id="82" name="Shape 7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4389120" y="4261104"/>
            <a:ext cx="310896" cy="310896"/>
          </a:xfrm>
          <a:prstGeom prst="ellipse">
            <a:avLst/>
          </a:prstGeom>
          <a:solidFill>
            <a:srgbClr val="F4F1EA"/>
          </a:solidFill>
          <a:ln w="12700">
            <a:solidFill>
              <a:srgbClr val="F4F1EA"/>
            </a:solidFill>
            <a:prstDash val="solid"/>
          </a:ln>
        </p:spPr>
      </p:sp>
      <p:sp>
        <p:nvSpPr>
          <p:cNvPr id="84" name="Text 8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85" name="Text 8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مُجَعَّدٌ</a:t>
            </a:r>
            <a:endParaRPr lang="ar-SA" sz="3000" dirty="0"/>
          </a:p>
        </p:txBody>
      </p:sp>
      <p:sp>
        <p:nvSpPr>
          <p:cNvPr id="86" name="Text 8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curly hair</a:t>
            </a:r>
            <a:endParaRPr lang="en-US" sz="1350" dirty="0"/>
          </a:p>
          <a:p>
            <a:pPr indent="0" marL="0">
              <a:buNone/>
            </a:pPr>
            <a:r>
              <a:rPr lang="en-US" sz="1100" i="1" dirty="0">
                <a:solidFill>
                  <a:srgbClr val="5A6472"/>
                </a:solidFill>
                <a:latin typeface="Calibri" pitchFamily="34" charset="0"/>
                <a:cs typeface="Amiri" pitchFamily="2" charset="-78"/>
              </a:rPr>
              <a:t>shaʿ-run mu-jaʿ-ʿa-dun</a:t>
            </a:r>
            <a:endParaRPr lang="en-US" sz="1350" dirty="0"/>
          </a:p>
        </p:txBody>
      </p:sp>
      <p:sp>
        <p:nvSpPr>
          <p:cNvPr id="87" name="Shape 8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566928"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90" name="Text 8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مُسْتَقِيمٌ</a:t>
            </a:r>
            <a:endParaRPr lang="ar-SA" sz="3000" dirty="0"/>
          </a:p>
        </p:txBody>
      </p:sp>
      <p:sp>
        <p:nvSpPr>
          <p:cNvPr id="91" name="Text 8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straight hair</a:t>
            </a:r>
            <a:endParaRPr lang="en-US" sz="1350" dirty="0"/>
          </a:p>
          <a:p>
            <a:pPr indent="0" marL="0">
              <a:buNone/>
            </a:pPr>
            <a:r>
              <a:rPr lang="en-US" sz="1100" i="1" dirty="0">
                <a:solidFill>
                  <a:srgbClr val="5A6472"/>
                </a:solidFill>
                <a:latin typeface="Calibri" pitchFamily="34" charset="0"/>
                <a:cs typeface="Amiri" pitchFamily="2" charset="-78"/>
              </a:rPr>
              <a:t>shaʿ-run mus-ta-qī-mun</a:t>
            </a:r>
            <a:endParaRPr lang="en-US" sz="1350" dirty="0"/>
          </a:p>
        </p:txBody>
      </p:sp>
      <p:sp>
        <p:nvSpPr>
          <p:cNvPr id="92" name="Text 8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portrait in six stages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صُورَةٌ فِي سِتِّ مَرَاحِلَ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Who? — I will describe my coach at the club, Ms Hala.</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١) مَنْ؟ — سَأَصِفُ مُدَرِّبَتِي فِي النَّادِي، الأُسْتَاذَةَ هَالَةَ.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Appearance — she is tall, her hair is short, and her eyes are brown.</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٢) المَظْهَرُ — هِيَ طَوِيلَةُ القَامَةِ، وَشَعْرُهَا قَصِيرٌ، وَعَيْنَاهَا بُنِّيَّتَانِ.</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Qualities — she is patient, because she explains a move ten times without getting angry.</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٣) الصِّفَاتُ — هِيَ صَبُورَةٌ، لِأَنَّهَا تَشْرَحُ الحَرَكَةَ عَشْرَ مَرَّاتٍ بِدُونِ غَضَبٍ.</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Relationship — I respect her a lot, and she supports me before every match.</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٤) العَلَاقَةُ — أَحْتَرِمُهَا كَثِيرًا، وَهِيَ تَدْعَمُنِي قَبْلَ كُلِّ مُبَارَاةٍ.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Style — she wears simple, practical sportswear.</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٥) الأُسْلُوبُ — تَرْتَدِي مَلَابِسَ رِيَاضِيَّةً بَسِيطَةً وَعَمَلِيَّةً.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 Comparison and opinion — she is more patient than my previous coach, and I think she is the best coach.</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٦) المُقَارَنَةُ وَالرَّأْيُ — هِيَ أَكْثَرُ صَبْرًا مِنْ مُدَرِّبِي السَّابِقِ، وَفِي رَأْيِي هِيَ أَفْضَلُ مُدَرِّبَةٍ.</a:t>
            </a:r>
            <a:endParaRPr lang="ar-SA" sz="16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the six stages in pairs. Round 2: swap letters. Round 3: describe a MAN using the same six stages — change every -hā to -hu and every ta- to ya-.</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Stage cards — one stage per question</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عُمْرُهُ / عُمْرُهَا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سَأَصِفُ … ، وَهُوَ / هِيَ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Who are you describing?</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١) مَنْ تَصِفُ؟</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وَعَيْنَاهُ / عَيْنَاهَا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 / هِيَ … القَامَةِ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What does he / she look like?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٢) كَيْفَ يَبْدُو / تَبْدُو؟</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 … / هِيَ … لِأَنَّهُ / لِأَنَّهَا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What is his / her personality like?</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٣) كَيْفَ شَخْصِيَّتُهُ / شَخْصِيَّتُهَا؟</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يَدْعَمُنِي / تَدْعَمُنِي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أَتَفَاهَمُ مَعَهُ / مَعَهَا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What is your relationship like?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٤) كَيْفَ عَلَاقَتُكَ بِهِ / بِهَا؟</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أَكْثَرُ … مِنْ … · فِي رَأْيِي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يَرْتَدِي / تَرْتَدِي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+ 6) His / her style? Your opinion?</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٥ + ٦) مَا أُسْلُوبُهُ؟ وَمَا رَأْيُكَ فِيهِ؟</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nominating someone for the “Kindness Award”</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جَائِزَةُ اللُّطْفِ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أُرَشِّحُ … ، وَهُوَ / هِيَ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 one fact.</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تُرَشِّحُ لِلْجَائِزَةِ؟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المَظْهَرُ ← هُوَ … وَلَهُ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Appearance (two details).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صِفْهُ لِي.</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Quality + evidence.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يَسْتَحِقُّ الجَائِزَةَ؟</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تَعْرِفُ شَيْئًا عَنْ حَيَاتِهِ؟</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student · Leader = the head of year.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the full portrait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الصُّورَةُ الكَامِلَةُ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Give the full one-minute portrait of a real person in six stages. The Coach ticks each stage and counts any he / she slips.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Stages 1–4, one sentence each.</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All six stages, with evidence for each quality.</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All six with linking words (</a:t>
            </a:r>
            <a:pPr algn="l" indent="0" marL="0">
              <a:buNone/>
            </a:pPr>
            <a:r>
              <a:rPr lang="ar-SA" altLang="en-US" sz="1500" dirty="0">
                <a:solidFill>
                  <a:srgbClr val="1F2A37"/>
                </a:solidFill>
                <a:latin typeface="Amiri" pitchFamily="2" charset="-78"/>
                <a:ea typeface="Amiri" pitchFamily="2" charset="-78"/>
                <a:cs typeface="Amiri" pitchFamily="2" charset="-78"/>
              </a:rPr>
              <a:t>أَوَّلًا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بَعْدَ ذٰلِكَ</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أَخِيرًا</a:t>
            </a:r>
            <a:pPr algn="l" indent="0" marL="0">
              <a:buNone/>
            </a:pPr>
            <a:r>
              <a:rPr lang="en-US" sz="1150" dirty="0">
                <a:solidFill>
                  <a:srgbClr val="1F2A37"/>
                </a:solidFill>
                <a:latin typeface="Calibri" pitchFamily="34" charset="0"/>
                <a:cs typeface="Amiri" pitchFamily="2" charset="-78"/>
              </a:rPr>
              <a:t>) and zero he / she slips.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She is short and her eyes are green.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قَصِيرَةُ القَامَةِ،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قَصِيرُ القَامَةِ،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وَعَيْنَاهَا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وَعَيْنُهَا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خَضْرَاوَانِ.</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أَخْضَرُ.</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respect him because he is honest.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أَحْتَرِمُهُ</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أَحْتَرِمُهَا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صَادِقٌ.</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صَادِقَةٌ.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Finally, in my opinion she is the best teacher.</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أَخِيرًا،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أَوَّلًا،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رَأْيِي هِيَ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رَأْيِي هُوَ</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أَفْضَلُ مُعَلِّمَةٍ.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أَفْضَلُ المُعَلِّمَةِ.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She is short and her eyes are green.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قَصِيرَةُ</a:t>
            </a:r>
            <a:pPr algn="l" indent="0" marL="0">
              <a:buNone/>
            </a:pPr>
            <a:r>
              <a:rPr lang="en-US" sz="1050" i="1" dirty="0">
                <a:solidFill>
                  <a:srgbClr val="5A6472"/>
                </a:solidFill>
                <a:latin typeface="Calibri" pitchFamily="34" charset="0"/>
                <a:cs typeface="Amiri" pitchFamily="2" charset="-78"/>
              </a:rPr>
              <a:t>; eyes = dual → </a:t>
            </a:r>
            <a:pPr algn="l" indent="0" marL="0">
              <a:buNone/>
            </a:pPr>
            <a:r>
              <a:rPr lang="ar-SA" altLang="en-US" sz="1350" dirty="0">
                <a:solidFill>
                  <a:srgbClr val="5A6472"/>
                </a:solidFill>
                <a:latin typeface="Amiri" pitchFamily="2" charset="-78"/>
                <a:ea typeface="Amiri" pitchFamily="2" charset="-78"/>
                <a:cs typeface="Amiri" pitchFamily="2" charset="-78"/>
              </a:rPr>
              <a:t>خَضْرَاوَانِ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هِيَ قَصِيرَةُ القَامَةِ، وَعَيْنَاهَا خَضْرَاوَانِ.</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respect him because he is honest.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Him → -hu everywhere.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أَحْتَرِمُهُ لِأَنَّهُ صَادِقٌ.</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Finally, in my opinion she is the best teacher.</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Superlative + indefinite noun: </a:t>
            </a:r>
            <a:pPr algn="l" indent="0" marL="0">
              <a:buNone/>
            </a:pPr>
            <a:r>
              <a:rPr lang="ar-SA" altLang="en-US" sz="1350" dirty="0">
                <a:solidFill>
                  <a:srgbClr val="5A6472"/>
                </a:solidFill>
                <a:latin typeface="Amiri" pitchFamily="2" charset="-78"/>
                <a:ea typeface="Amiri" pitchFamily="2" charset="-78"/>
                <a:cs typeface="Amiri" pitchFamily="2" charset="-78"/>
              </a:rPr>
              <a:t>أَفْضَلُ مُعَلِّمَةٍ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أَخِيرًا، فِي رَأْيِي هِيَ أَفْضَلُ مُعَلِّمَةٍ.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خَالَتِي طَوِيلَةٌ، وَهُوَ يَعْمَلُ فِي مُسْتَشْفًى.</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he / she slip.</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لَهَا شَعْرٌ طَوِيلَةٌ.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Hair is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هُوَ أَفْضَلُ المُدَرِّبِ.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Superlative pattern.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خَالَتِي طَوِيلَةٌ، وَهُوَ يَعْمَلُ فِي مُسْتَشْفًى.</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خَالَتِي طَوِيلَةٌ، وَهِيَ تَعْمَلُ فِي مُسْتَشْفًى.</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Keep the same person: </a:t>
            </a:r>
            <a:pPr algn="l" indent="0" marL="0">
              <a:buNone/>
            </a:pPr>
            <a:r>
              <a:rPr lang="ar-SA" altLang="en-US" sz="1500" b="1" dirty="0">
                <a:solidFill>
                  <a:srgbClr val="1B3B6F"/>
                </a:solidFill>
                <a:latin typeface="Amiri" pitchFamily="2" charset="-78"/>
                <a:ea typeface="Amiri" pitchFamily="2" charset="-78"/>
                <a:cs typeface="Amiri" pitchFamily="2" charset="-78"/>
              </a:rPr>
              <a:t>هِيَ تَعْمَلُ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لَهَا شَعْرٌ طَوِيلَةٌ.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لَهَا شَعْرٌ طَوِيلٌ.</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شَعْرٌ</a:t>
            </a:r>
            <a:pPr algn="l" indent="0" marL="0">
              <a:buNone/>
            </a:pPr>
            <a:r>
              <a:rPr lang="en-US" sz="1150" b="1" dirty="0">
                <a:solidFill>
                  <a:srgbClr val="1B3B6F"/>
                </a:solidFill>
                <a:latin typeface="Calibri" pitchFamily="34" charset="0"/>
                <a:cs typeface="Amiri" pitchFamily="2" charset="-78"/>
              </a:rPr>
              <a:t> is masculine.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هُوَ أَفْضَلُ المُدَرِّبِ.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هُوَ أَفْضَلُ مُدَرِّبٍ.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أَفْضَلُ</a:t>
            </a:r>
            <a:pPr algn="l" indent="0" marL="0">
              <a:buNone/>
            </a:pPr>
            <a:r>
              <a:rPr lang="en-US" sz="1150" b="1" dirty="0">
                <a:solidFill>
                  <a:srgbClr val="1B3B6F"/>
                </a:solidFill>
                <a:latin typeface="Calibri" pitchFamily="34" charset="0"/>
                <a:cs typeface="Amiri" pitchFamily="2" charset="-78"/>
              </a:rPr>
              <a:t> + indefinite singular.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أَحْتَرِمُهُ / أَحْتَرِمُهَا ______ ، وَيَدْعَمُنِي / وَتَدْعَمُنِي ______ .</a:t>
            </a:r>
            <a:endParaRPr lang="ar-SA" sz="12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respect him / her …, and he / she supports me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B3B6F"/>
                </a:solidFill>
                <a:latin typeface="Amiri" pitchFamily="2" charset="-78"/>
                <a:ea typeface="Amiri" pitchFamily="2" charset="-78"/>
                <a:cs typeface="Amiri" pitchFamily="2" charset="-78"/>
              </a:rPr>
              <a:t>أَخِيرًا، هُوَ / هِيَ أَكْثَرُ ______ مِنْ ______ ، وَفِي رَأْيِي ______ .</a:t>
            </a:r>
            <a:endParaRPr lang="ar-SA" sz="11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Finally, he / she is more … than …, and I think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سَأَصِفُ ______ ، لِأَنَّ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describe …, because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هُوَ / هِيَ ______ القَامَةِ، وَشَعْرُهُ / شَعْرُهَا ______ .</a:t>
            </a:r>
            <a:endParaRPr lang="ar-SA" sz="14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 height, and his / her hair is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هُوَ / هِيَ ______ ، لِأَنَّهُ / لِأَنَّهَا ______ .</a:t>
            </a:r>
            <a:endParaRPr lang="ar-SA" sz="175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 because he / she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يَرْتَدِي / تَرْتَدِي عَادَةً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usually wears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algn="l" indent="0" marL="0">
              <a:buNone/>
            </a:pPr>
            <a:r>
              <a:rPr lang="ar-SA" altLang="en-US" sz="2000" b="1" dirty="0">
                <a:solidFill>
                  <a:srgbClr val="1B3B6F"/>
                </a:solidFill>
                <a:latin typeface="Amiri" pitchFamily="2" charset="-78"/>
                <a:ea typeface="Amiri" pitchFamily="2" charset="-78"/>
                <a:cs typeface="Amiri" pitchFamily="2" charset="-78"/>
              </a:rPr>
              <a:t>طَوِيلُ / طَوِيلَةُ القَامَةِ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شَعْرٌ قَصِيرٌ</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مُجَعَّدٌ</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عَيْنَانِ بُنِّيَّتَانِ</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يَرْتَدِي نَظَّارَةً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وَدُودٌ</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صَبُورٌ</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صَادِقٌ</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أَحْتَرِمُهُ</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أَحْتَرِمُهَا</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أَوَّلًا</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بَعْدَ ذٰلِكَ</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أَخِيرًا</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أَفْضَلُ</a:t>
            </a:r>
            <a:pPr algn="l" indent="0" marL="0">
              <a:buNone/>
            </a:pPr>
            <a:r>
              <a:rPr lang="en-US" sz="1550" b="1" dirty="0">
                <a:solidFill>
                  <a:srgbClr val="1B3B6F"/>
                </a:solidFill>
                <a:latin typeface="Calibri" pitchFamily="34" charset="0"/>
                <a:cs typeface="Amiri" pitchFamily="2" charset="-78"/>
              </a:rPr>
              <a:t> + noun</a:t>
            </a:r>
            <a:endParaRPr lang="en-US" sz="15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My one-minute portrait — the script</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الصُّورَةِ الشَّفَهِيَّةِ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the script (about 60–80 words) of your one-minute portrait, in six stages. Include: • who and why you chose him / her • two appearance details (hair masculine, eyes dual) • two qualities with evidence • your relationship (object suffix) • style • a comparison and a final opinion with a superlative.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سَأَصِفُ … لِأَنَّ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describe … because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هُوَ / هِيَ … القَامَةِ · عَيْنَاهُ / عَيْنَاهَا …</a:t>
            </a:r>
            <a:endParaRPr lang="ar-SA" sz="175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is … · his / her eyes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أَحْتَرِمُهُ / أَحْتَرِمُهَا لِأَنَّ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respect him / her because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أَخِيرًا، فِي رَأْيِي هُوَ / هِيَ أَفْضَلُ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finally, I think he / she is the best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cover at least four stages and keep he / she consistent?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cover all six stages with evidence, a comparison and a superlative?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أُرَشِّحُ عَامِلَ النَّظَافَةِ، العَمَّ مُصْطَفَى.</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nominate the cleaner, Uncle Mustafa.</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تُرَشِّحُ لِلْجَائِزَةِ؟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مُتَوَسِّطُ القَامَةِ، وَلَهُ لِحْيَةٌ رَمَادِيَّةٌ وَابْتِسَامَةٌ جَمِيلَةٌ.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is of medium height, with a grey beard and a lovely smile.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صِفْهُ لِي.</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 لَطِيفٌ جِدًّا؛ مَثَلًا، يُسَاعِدُ الطُّلَّابَ الصِّغَارَ كُلَّ صَبَاحٍ.</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he is very kind — for example, he helps the young pupils every morning.</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يَسْتَحِقُّ الجَائِزَةَ؟</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عِنْدَهُ أَرْبَعَةُ أَوْلَادٍ، وَيَعْمَلُ فِي المَدْرَسَةِ مُنْذُ عِشْرِينَ سَنَةً.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 he has four children and has worked at the school for twenty years.</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تَعْرِفُ شَيْئًا عَنْ حَيَاتِهِ؟</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سَأَصِفُ عَمِّي يُونُسَ، لِأَنَّهُ قُدْوَتِي. هُوَ طَوِيلُ القَامَةِ، وَشَعْرُهُ أَسْوَدُ قَصِيرٌ، وَعَيْنَاهُ عَسَلِيَّتَانِ، وَيَرْتَدِي نَظَّارَةً. هُوَ كَرِيمٌ جِدًّا، لِأَنَّهُ يُسَاعِدُ الفُقَرَاءَ فِي حَيِّهِ كُلَّ شَهْرٍ، وَهُوَ صَبُورٌ مَعَ الأَطْفَالِ. أَحْتَرِمُهُ كَثِيرًا، وَيَدْعَمُنِي فِي دِرَاسَتِي؛ مَثَلًا، اشْتَرَى لِي كُتُبًا قَبْلَ الامْتِحَانَاتِ. عَادَةً يَرْتَدِي مَلَابِسَ رَسْمِيَّةً أَنِيقَةً لِأَنَّهُ مُهَنْدِسٌ. أَخِيرًا، هُوَ أَهْدَأُ مِنْ أَبِي، وَفِي رَأْيِي هُوَ أَطْيَبُ شَخْصٍ فِي عَائِلَتِنَا.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will describe my uncle Yunus, because he is my role model. He is tall, his hair is short and black, his eyes are hazel, and he wears glasses. He is very generous, because he helps the poor in his neighbourhood every month, and he is patient with children. I respect him a lot, and he supports me in my studies — for example, he bought me books before the exams. He usually wears smart formal clothes because he is an engineer. Finally, he is calmer than my father, and in my opinion he is the kindest person in our family.”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وَعَيْنَاهُ عَسَلِيَّتَانِ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 يُسَاعِدُ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أَحْتَرِمُهُ كَثِيرًا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أَطْيَبُ شَخْصٍ</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D2-L11 · Writing — Describing People, Relationships and Style</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 وَصْفُ النَّاسِ وَالعَلَاقَاتِ وَالأُسْلُوبِ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D2-L10 · Practice Room — Speaking — Describing People and Personal Style</dc:title>
  <dc:subject>PptxGenJS Presentation</dc:subject>
  <dc:creator>Al Madina Online School · Arabic Department</dc:creator>
  <cp:lastModifiedBy>Al Madina Online School · Arabic Department</cp:lastModifiedBy>
  <cp:revision>1</cp:revision>
  <dcterms:created xsi:type="dcterms:W3CDTF">2026-10-25T18:11:38Z</dcterms:created>
  <dcterms:modified xsi:type="dcterms:W3CDTF">2026-10-25T18:11:38Z</dcterms:modified>
</cp:coreProperties>
</file>