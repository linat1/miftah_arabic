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D2-L03 (Clothes and Accessories — Vocabulary and Shopping) — new practice tasks built on the lesson’s own word bank and grammar (hādhā (m.) / hādhihi (f. and non-human plural); colour agreement (azraqu / zarqāʾu; abyaḍu / bayḍāʾu); shopping phrases: urīdu an ujarriba · hal ʿindakum maqāsun akbaru? · kam thamanuhu / thamanuhā?; numbers with prices).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D2-L03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female customer: أُسَاعِدُكِ · تُرِيدِينَ. hādhā / hādhihi + colour agreement · past tense ishtaraytu · polite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D2-L03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Clothes and Accessories — Vocabulary and Shopping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المَلَابِسُ وَالتَّسَوُّقُ</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run their own speaking and writing practice with clothes and shopping: say the clothes words, act a shop dialogue, answer question cards, do a role-play card returning an item, give a one-minute talk about an outfit, then build, fix and write a review of an online clothes order.</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D2-L03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Clothes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قَمِيصٌ</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shirt</a:t>
            </a:r>
            <a:endParaRPr lang="en-US" sz="1350" dirty="0"/>
          </a:p>
          <a:p>
            <a:pPr indent="0" marL="0">
              <a:buNone/>
            </a:pPr>
            <a:r>
              <a:rPr lang="en-US" sz="1100" i="1" dirty="0">
                <a:solidFill>
                  <a:srgbClr val="5A6472"/>
                </a:solidFill>
                <a:latin typeface="Calibri" pitchFamily="34" charset="0"/>
                <a:cs typeface="Amiri" pitchFamily="2" charset="-78"/>
              </a:rPr>
              <a:t>qa-mī-ṣun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قُمْصَانٌ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القَمِيصُ</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سِرْوَالٌ</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trousers</a:t>
            </a:r>
            <a:endParaRPr lang="en-US" sz="1350" dirty="0"/>
          </a:p>
          <a:p>
            <a:pPr indent="0" marL="0">
              <a:buNone/>
            </a:pPr>
            <a:r>
              <a:rPr lang="en-US" sz="1100" i="1" dirty="0">
                <a:solidFill>
                  <a:srgbClr val="5A6472"/>
                </a:solidFill>
                <a:latin typeface="Calibri" pitchFamily="34" charset="0"/>
                <a:cs typeface="Amiri" pitchFamily="2" charset="-78"/>
              </a:rPr>
              <a:t>sir-wā-lun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سَرَاوِيلُ</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السِّرْوَالُ</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تَنُّورَةٌ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skirt</a:t>
            </a:r>
            <a:endParaRPr lang="en-US" sz="1350" dirty="0"/>
          </a:p>
          <a:p>
            <a:pPr indent="0" marL="0">
              <a:buNone/>
            </a:pPr>
            <a:r>
              <a:rPr lang="en-US" sz="1100" i="1" dirty="0">
                <a:solidFill>
                  <a:srgbClr val="5A6472"/>
                </a:solidFill>
                <a:latin typeface="Calibri" pitchFamily="34" charset="0"/>
                <a:cs typeface="Amiri" pitchFamily="2" charset="-78"/>
              </a:rPr>
              <a:t>tan-nū-ra-tun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تَنَانِيرُ</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65" name="Text 62"/>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التَّنُّورَةُ</a:t>
            </a:r>
            <a:endParaRPr lang="ar-SA" sz="135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فُسْتَانٌ</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dress</a:t>
            </a:r>
            <a:endParaRPr lang="en-US" sz="1350" dirty="0"/>
          </a:p>
          <a:p>
            <a:pPr indent="0" marL="0">
              <a:buNone/>
            </a:pPr>
            <a:r>
              <a:rPr lang="en-US" sz="1100" i="1" dirty="0">
                <a:solidFill>
                  <a:srgbClr val="5A6472"/>
                </a:solidFill>
                <a:latin typeface="Calibri" pitchFamily="34" charset="0"/>
                <a:cs typeface="Amiri" pitchFamily="2" charset="-78"/>
              </a:rPr>
              <a:t>fus-tā-nun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فَسَاتِينُ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83" name="Text 80"/>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الفُسْتَانُ</a:t>
            </a:r>
            <a:endParaRPr lang="ar-SA" sz="135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مِعْطَفٌ</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coat</a:t>
            </a:r>
            <a:endParaRPr lang="en-US" sz="1350" dirty="0"/>
          </a:p>
          <a:p>
            <a:pPr indent="0" marL="0">
              <a:buNone/>
            </a:pPr>
            <a:r>
              <a:rPr lang="en-US" sz="1100" i="1" dirty="0">
                <a:solidFill>
                  <a:srgbClr val="5A6472"/>
                </a:solidFill>
                <a:latin typeface="Calibri" pitchFamily="34" charset="0"/>
                <a:cs typeface="Amiri" pitchFamily="2" charset="-78"/>
              </a:rPr>
              <a:t>miʿ-ṭa-fun</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مَعَاطِفُ</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101" name="Text 98"/>
          <p:cNvSpPr txBox="1"/>
          <p:nvPr/>
        </p:nvSpPr>
        <p:spPr>
          <a:xfrm>
            <a:off x="5614416"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المِعْطَفُ</a:t>
            </a:r>
            <a:endParaRPr lang="ar-SA" sz="135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سُتْرَةٌ</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jacket</a:t>
            </a:r>
            <a:endParaRPr lang="en-US" sz="1350" dirty="0"/>
          </a:p>
          <a:p>
            <a:pPr indent="0" marL="0">
              <a:buNone/>
            </a:pPr>
            <a:r>
              <a:rPr lang="en-US" sz="1100" i="1" dirty="0">
                <a:solidFill>
                  <a:srgbClr val="5A6472"/>
                </a:solidFill>
                <a:latin typeface="Calibri" pitchFamily="34" charset="0"/>
                <a:cs typeface="Amiri" pitchFamily="2" charset="-78"/>
              </a:rPr>
              <a:t>sut-ra-tun</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6" name="Text 11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سُتَرٌ</a:t>
            </a:r>
            <a:endParaRPr lang="ar-SA" sz="150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119" name="Text 116"/>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السُّتْرَةُ</a:t>
            </a:r>
            <a:endParaRPr lang="ar-SA" sz="135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Accessories and shopping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حِذَاءٌ</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shoes</a:t>
            </a:r>
            <a:endParaRPr lang="en-US" sz="1350" dirty="0"/>
          </a:p>
          <a:p>
            <a:pPr indent="0" marL="0">
              <a:buNone/>
            </a:pPr>
            <a:r>
              <a:rPr lang="en-US" sz="1100" i="1" dirty="0">
                <a:solidFill>
                  <a:srgbClr val="5A6472"/>
                </a:solidFill>
                <a:latin typeface="Calibri" pitchFamily="34" charset="0"/>
                <a:cs typeface="Amiri" pitchFamily="2" charset="-78"/>
              </a:rPr>
              <a:t>ḥi-dhā-ʾun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أَحْذِيَةٌ</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الحِذَاءُ</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حَقِيبَةٌ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bag</a:t>
            </a:r>
            <a:endParaRPr lang="en-US" sz="1350" dirty="0"/>
          </a:p>
          <a:p>
            <a:pPr indent="0" marL="0">
              <a:buNone/>
            </a:pPr>
            <a:r>
              <a:rPr lang="en-US" sz="1100" i="1" dirty="0">
                <a:solidFill>
                  <a:srgbClr val="5A6472"/>
                </a:solidFill>
                <a:latin typeface="Calibri" pitchFamily="34" charset="0"/>
                <a:cs typeface="Amiri" pitchFamily="2" charset="-78"/>
              </a:rPr>
              <a:t>ḥa-qī-ba-tun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حَقَائِبُ</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الحَقِيبَةُ</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مَقَاسٌ</a:t>
            </a:r>
            <a:endParaRPr lang="ar-SA" sz="3000" dirty="0"/>
          </a:p>
        </p:txBody>
      </p:sp>
      <p:sp>
        <p:nvSpPr>
          <p:cNvPr id="57" name="Text 5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size</a:t>
            </a:r>
            <a:endParaRPr lang="en-US" sz="1350" dirty="0"/>
          </a:p>
          <a:p>
            <a:pPr indent="0" marL="0">
              <a:buNone/>
            </a:pPr>
            <a:r>
              <a:rPr lang="en-US" sz="1100" i="1" dirty="0">
                <a:solidFill>
                  <a:srgbClr val="5A6472"/>
                </a:solidFill>
                <a:latin typeface="Calibri" pitchFamily="34" charset="0"/>
                <a:cs typeface="Amiri" pitchFamily="2" charset="-78"/>
              </a:rPr>
              <a:t>ma-qā-sun</a:t>
            </a:r>
            <a:endParaRPr lang="en-US"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ثَمَنٌ</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price</a:t>
            </a:r>
            <a:endParaRPr lang="en-US" sz="1350" dirty="0"/>
          </a:p>
          <a:p>
            <a:pPr indent="0" marL="0">
              <a:buNone/>
            </a:pPr>
            <a:r>
              <a:rPr lang="en-US" sz="1100" i="1" dirty="0">
                <a:solidFill>
                  <a:srgbClr val="5A6472"/>
                </a:solidFill>
                <a:latin typeface="Calibri" pitchFamily="34" charset="0"/>
                <a:cs typeface="Amiri" pitchFamily="2" charset="-78"/>
              </a:rPr>
              <a:t>tha-ma-nun</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أُرِيدُ أَنْ أُجَرِّبَ</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want to try on</a:t>
            </a:r>
            <a:endParaRPr lang="en-US" sz="1350" dirty="0"/>
          </a:p>
          <a:p>
            <a:pPr indent="0" marL="0">
              <a:buNone/>
            </a:pPr>
            <a:r>
              <a:rPr lang="en-US" sz="1100" i="1" dirty="0">
                <a:solidFill>
                  <a:srgbClr val="5A6472"/>
                </a:solidFill>
                <a:latin typeface="Calibri" pitchFamily="34" charset="0"/>
                <a:cs typeface="Amiri" pitchFamily="2" charset="-78"/>
              </a:rPr>
              <a:t>u-rī-du an u-jar-ri-ba</a:t>
            </a:r>
            <a:endParaRPr lang="en-US" sz="135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5" name="Shape 7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ثَمَنُهُ / ثَمَنُهَا؟</a:t>
            </a:r>
            <a:endParaRPr lang="ar-SA" sz="3000" dirty="0"/>
          </a:p>
        </p:txBody>
      </p:sp>
      <p:sp>
        <p:nvSpPr>
          <p:cNvPr id="78" name="Text 7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is it?</a:t>
            </a:r>
            <a:endParaRPr lang="en-US" sz="1350" dirty="0"/>
          </a:p>
          <a:p>
            <a:pPr indent="0" marL="0">
              <a:buNone/>
            </a:pPr>
            <a:r>
              <a:rPr lang="en-US" sz="1100" i="1" dirty="0">
                <a:solidFill>
                  <a:srgbClr val="5A6472"/>
                </a:solidFill>
                <a:latin typeface="Calibri" pitchFamily="34" charset="0"/>
                <a:cs typeface="Amiri" pitchFamily="2" charset="-78"/>
              </a:rPr>
              <a:t>kam tha-ma-nu-hu / tha-ma-nu-hā?</a:t>
            </a:r>
            <a:endParaRPr lang="en-US" sz="13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 the clothes shop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مَحَلِّ المَلَابِسِ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how can I help you?</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أَهْلًا، كَيْفَ أُسَاعِدُكِ؟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would like this blue jacket, please.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 هٰذِهِ السُّتْرَةَ الزَّرْقَاءَ، مِنْ فَضْلِكَ.</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size?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مَقَاسُكِ؟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Medium. I want to try it on. Where is the fitting room?</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مُتَوَسِّطٌ. أُرِيدُ أَنْ أُجَرِّبَهَا. أَيْنَ غُرْفَةُ القِيَاسِ؟</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Over there on the right.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هُنَاكَ عَلَى اليَمِينِ.</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It’s a bit tight. Do you have a bigger size? And how much is it?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إِنَّهَا ضَيِّقَةٌ قَلِيلًا. هَلْ عِنْدَكُمْ مَقَاسٌ أَكْبَرُ؟ وَكَمْ ثَمَنُهَا؟</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buy a MASCULINE item (</a:t>
            </a:r>
            <a:pPr algn="l" indent="0" marL="0">
              <a:buNone/>
            </a:pPr>
            <a:r>
              <a:rPr lang="ar-SA" altLang="en-US" sz="1500" b="1" dirty="0">
                <a:solidFill>
                  <a:srgbClr val="1B3B6F"/>
                </a:solidFill>
                <a:latin typeface="Amiri" pitchFamily="2" charset="-78"/>
                <a:ea typeface="Amiri" pitchFamily="2" charset="-78"/>
                <a:cs typeface="Amiri" pitchFamily="2" charset="-78"/>
              </a:rPr>
              <a:t>قَمِيصٌ</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مِعْطَفٌ</a:t>
            </a:r>
            <a:pPr algn="l" indent="0" marL="0">
              <a:buNone/>
            </a:pPr>
            <a:r>
              <a:rPr lang="en-US" sz="1150" b="1" dirty="0">
                <a:solidFill>
                  <a:srgbClr val="1B3B6F"/>
                </a:solidFill>
                <a:latin typeface="Calibri" pitchFamily="34" charset="0"/>
                <a:cs typeface="Amiri" pitchFamily="2" charset="-78"/>
              </a:rPr>
              <a:t>) — change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هٰذَا</a:t>
            </a:r>
            <a:pPr algn="l" indent="0" marL="0">
              <a:buNone/>
            </a:pPr>
            <a:r>
              <a:rPr lang="en-US" sz="1150" b="1" dirty="0">
                <a:solidFill>
                  <a:srgbClr val="1B3B6F"/>
                </a:solidFill>
                <a:latin typeface="Calibri" pitchFamily="34" charset="0"/>
                <a:cs typeface="Amiri" pitchFamily="2" charset="-78"/>
              </a:rPr>
              <a:t> and </a:t>
            </a:r>
            <a:pPr algn="l" indent="0" marL="0">
              <a:buNone/>
            </a:pPr>
            <a:r>
              <a:rPr lang="ar-SA" altLang="en-US" sz="1500" b="1" dirty="0">
                <a:solidFill>
                  <a:srgbClr val="1B3B6F"/>
                </a:solidFill>
                <a:latin typeface="Amiri" pitchFamily="2" charset="-78"/>
                <a:ea typeface="Amiri" pitchFamily="2" charset="-78"/>
                <a:cs typeface="Amiri" pitchFamily="2" charset="-78"/>
              </a:rPr>
              <a:t>أُجَرِّبَهَا</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أُجَرِّبَهُ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وَحِذَاءً أَسْوَدَ</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أَلْبَسُ قَمِيصًا … وَسِرْوَالًا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wear to school?</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تَلْبَسُ إِلَى المَدْرَسَةِ؟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أُحِبُّ اللَّوْنَ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colour in clothes?</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لَوْنُكَ المُفَضَّلُ فِي المَلَابِسِ؟</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وَهِيَ غَالِيَةٌ / رَخِيصَةٌ</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ثَمَنُهَا … جُنَيْهًا</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is this bag?</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ثَمَنُ هٰذِهِ الحَقِيبَةِ؟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الجَوَّ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الشِّتَاءِ أَلْبَسُ مِعْطَفًا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wear in winter?</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تَلْبَسُ فِي الشِّتَاءِ؟</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الأَسْعَارَ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أَشْتَرِي مَلَابِسِي مِنْ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usually buy your clothes?</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تَشْتَرِي مَلَابِسَكَ عَادَةً؟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Role-play card — returning an item</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إِرْجَاعُ قِطْعَةِ مَلَابِسَ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اشْتَرَيْتُ ← اشْتَرَيْتُ هٰذَا القَمِيصَ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bought.</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مَرْحَبًا، كَيْفَ أُسَاعِدُكَ؟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المُشْكِلَةُ ← إِنَّهُ صَغِيرٌ / ضَيِّقٌ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problem.</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المُشْكِلَةُ؟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 reason.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تُرِيدُ مَقَاسًا آخَرَ أَمْ لَوْنًا آخَرَ؟</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لِلْأَسَفِ لَيْسَ عِنْدَنَا مَقَاسٌ أَكْبَرُ.</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customer · Leader = the shop assistant.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my favourite outfit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مَلَابِسِي المُفَضَّلَةُ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Describe your favourite outfit for one minute: each item, its colour, where you wear it and why you like it.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items with a colour each.</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Colour agreement for masculine and feminine items + where you bought it and its price.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comparison with another outfit and an opinion (</a:t>
            </a:r>
            <a:pPr algn="l" indent="0" marL="0">
              <a:buNone/>
            </a:pPr>
            <a:r>
              <a:rPr lang="ar-SA" altLang="en-US" sz="1500" dirty="0">
                <a:solidFill>
                  <a:srgbClr val="1F2A37"/>
                </a:solidFill>
                <a:latin typeface="Amiri" pitchFamily="2" charset="-78"/>
                <a:ea typeface="Amiri" pitchFamily="2" charset="-78"/>
                <a:cs typeface="Amiri" pitchFamily="2" charset="-78"/>
              </a:rPr>
              <a:t>أَنِيقٌ</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مُرِيحٌ</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want to try on this red dress.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أُرِيدُ أَنْ أُجَرِّبَ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أُرِيدُ أَنْ أُجَرِّبُ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الفُسْتَانَ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الفُسْتَانَ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الأَحْمَرَ.</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الحَمْرَاءَ.</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How much is this white skirt?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كَمْ ثَمَنُ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كَمْ ثَمَنَ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التَّنُّورَةِ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التَّنُّورَةِ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البَيْضَاءِ؟</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الأَبْيَضِ؟</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Do you have a bigger size?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 عِنْدَكُمْ</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 عِنْدِي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مَقَاسٌ</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مَقَاسًا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أَكْبَرُ؟</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كَبِيرَةٌ؟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want to try on this red dress.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a:t>
            </a:r>
            <a:pPr algn="l" indent="0" marL="0">
              <a:buNone/>
            </a:pPr>
            <a:r>
              <a:rPr lang="ar-SA" altLang="en-US" sz="1350" dirty="0">
                <a:solidFill>
                  <a:srgbClr val="5A6472"/>
                </a:solidFill>
                <a:latin typeface="Amiri" pitchFamily="2" charset="-78"/>
                <a:ea typeface="Amiri" pitchFamily="2" charset="-78"/>
                <a:cs typeface="Amiri" pitchFamily="2" charset="-78"/>
              </a:rPr>
              <a:t>فُسْتَانٌ</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هٰذَا</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أَحْمَرُ</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أُرِيدُ أَنْ أُجَرِّبَ هٰذَا الفُسْتَانَ الأَحْمَرَ.</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How much is this white skirt?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تَنُّورَةٌ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هٰذِهِ</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بَيْضَاءُ</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كَمْ ثَمَنُ هٰذِهِ التَّنُّورَةِ البَيْضَاءِ؟</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Do you have a bigger size?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a:t>
            </a:r>
            <a:pPr algn="l" indent="0" marL="0">
              <a:buNone/>
            </a:pPr>
            <a:r>
              <a:rPr lang="ar-SA" altLang="en-US" sz="1350" dirty="0">
                <a:solidFill>
                  <a:srgbClr val="5A6472"/>
                </a:solidFill>
                <a:latin typeface="Amiri" pitchFamily="2" charset="-78"/>
                <a:ea typeface="Amiri" pitchFamily="2" charset="-78"/>
                <a:cs typeface="Amiri" pitchFamily="2" charset="-78"/>
              </a:rPr>
              <a:t>عِنْدَ</a:t>
            </a:r>
            <a:pPr algn="l" indent="0" marL="0">
              <a:buNone/>
            </a:pPr>
            <a:r>
              <a:rPr lang="en-US" sz="1050" i="1" dirty="0">
                <a:solidFill>
                  <a:srgbClr val="5A6472"/>
                </a:solidFill>
                <a:latin typeface="Calibri" pitchFamily="34" charset="0"/>
                <a:cs typeface="Amiri" pitchFamily="2" charset="-78"/>
              </a:rPr>
              <a:t> the thing owned is the subject → </a:t>
            </a:r>
            <a:pPr algn="l" indent="0" marL="0">
              <a:buNone/>
            </a:pPr>
            <a:r>
              <a:rPr lang="ar-SA" altLang="en-US" sz="1350" dirty="0">
                <a:solidFill>
                  <a:srgbClr val="5A6472"/>
                </a:solidFill>
                <a:latin typeface="Amiri" pitchFamily="2" charset="-78"/>
                <a:ea typeface="Amiri" pitchFamily="2" charset="-78"/>
                <a:cs typeface="Amiri" pitchFamily="2" charset="-78"/>
              </a:rPr>
              <a:t>مَقَاسٌ أَكْبَرُ</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هَلْ عِنْدَكُمْ مَقَاسٌ أَكْبَرُ؟</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الحَقِيبَةُ جَمِيلَةٌ.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حَقِيبَةٌ</a:t>
            </a:r>
            <a:pPr algn="l" indent="0" marL="0">
              <a:buNone/>
            </a:pPr>
            <a:r>
              <a:rPr lang="en-US" sz="1300" i="1" dirty="0">
                <a:solidFill>
                  <a:srgbClr val="5A6472"/>
                </a:solidFill>
                <a:latin typeface="Calibri" pitchFamily="34" charset="0"/>
                <a:cs typeface="Amiri" pitchFamily="2" charset="-78"/>
              </a:rPr>
              <a:t> is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السُّتْرَةَ الأَزْرَقَ.</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Colour agreement.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كَمْ ثَمَنُهُ هٰذِهِ الأَحْذِيَةِ؟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problems.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الحَقِيبَةُ جَمِيلَةٌ.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الحَقِيبَةُ جَمِيلَةٌ.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السُّتْرَةَ الأَزْرَقَ.</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السُّتْرَةَ الزَّرْقَاءَ.</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colour: </a:t>
            </a:r>
            <a:pPr algn="l" indent="0" marL="0">
              <a:buNone/>
            </a:pPr>
            <a:r>
              <a:rPr lang="ar-SA" altLang="en-US" sz="1500" b="1" dirty="0">
                <a:solidFill>
                  <a:srgbClr val="1B3B6F"/>
                </a:solidFill>
                <a:latin typeface="Amiri" pitchFamily="2" charset="-78"/>
                <a:ea typeface="Amiri" pitchFamily="2" charset="-78"/>
                <a:cs typeface="Amiri" pitchFamily="2" charset="-78"/>
              </a:rPr>
              <a:t>زَرْقَاءُ</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كَمْ ثَمَنُهُ هٰذِهِ الأَحْذِيَةِ؟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كَمْ ثَمَنُ هٰذِهِ الأَحْذِيَةِ؟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Iḍāfa: no suffix on </a:t>
            </a:r>
            <a:pPr algn="l" indent="0" marL="0">
              <a:buNone/>
            </a:pPr>
            <a:r>
              <a:rPr lang="ar-SA" altLang="en-US" sz="1500" b="1" dirty="0">
                <a:solidFill>
                  <a:srgbClr val="1B3B6F"/>
                </a:solidFill>
                <a:latin typeface="Amiri" pitchFamily="2" charset="-78"/>
                <a:ea typeface="Amiri" pitchFamily="2" charset="-78"/>
                <a:cs typeface="Amiri" pitchFamily="2" charset="-78"/>
              </a:rPr>
              <a:t>ثَمَنُ</a:t>
            </a:r>
            <a:pPr algn="l" indent="0" marL="0">
              <a:buNone/>
            </a:pPr>
            <a:r>
              <a:rPr lang="en-US" sz="1150" b="1" dirty="0">
                <a:solidFill>
                  <a:srgbClr val="1B3B6F"/>
                </a:solidFill>
                <a:latin typeface="Calibri" pitchFamily="34" charset="0"/>
                <a:cs typeface="Amiri" pitchFamily="2" charset="-78"/>
              </a:rPr>
              <a:t> when a noun follows.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لِذٰلِكَ سَأُرْجِعُ ______ وَأَطْلُبُ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 I will return … and order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تَقْيِيمِي ______ مِنْ خَمْسَةٍ،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rating is … out of five,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طَلَبْتُ ______ وَ ______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ordered …,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ثَمَنُهُ / ثَمَنُهَا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cost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مُمْتَازٌ / مُمْتَازَةٌ لِأَنَّ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excellent because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المُشْكِلَةُ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problem is that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قَمِيصٌ · سِرْوَالٌ  ·  تَنُّورَةٌ · فُسْتَانٌ  ·  سُتْرَةٌ · مِعْطَفٌ  ·  حِذَاءٌ · حَقِيبَةٌ  ·  أَزْرَقُ · زَرْقَاءُ  ·  أَبْيَضُ · بَيْضَاءُ  ·  مَقَاسٌ · ثَمَنٌ  ·  ضَيِّقٌ · وَاسِعٌ</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review of an online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تَقْيِيمُ طَلَبٍ عَلَى الإِنْتَرْنِت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 ordered clothes online. Write a review (about 60–80 words) for the shop’s website. Include: • three items you ordered, with colour and price • one item that was perfect and why • one problem (size / colour) • what you will do next and your rating (… / </a:t>
            </a:r>
            <a:pPr algn="l" indent="0" marL="0">
              <a:buNone/>
            </a:pPr>
            <a:r>
              <a:rPr lang="ar-SA" altLang="en-US" sz="1650" b="1" dirty="0">
                <a:solidFill>
                  <a:srgbClr val="1F2A37"/>
                </a:solidFill>
                <a:latin typeface="Amiri" pitchFamily="2" charset="-78"/>
                <a:ea typeface="Amiri" pitchFamily="2" charset="-78"/>
                <a:cs typeface="Amiri" pitchFamily="2" charset="-78"/>
              </a:rPr>
              <a:t>٥</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طَلَبْتُ … وَ … وَ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ordered … and … and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ثَمَنُهُ / ثَمَنُهَا … جُنَيْهًا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cost … pounds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المُشْكِلَةُ أَنَّ المَقَاسَ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problem is that the size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سَأُرْجِعُهُ / سَأُرْجِعُهَا · تَقْيِيمِي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return it · my rating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a:t>
            </a:r>
            <a:pPr algn="l" indent="0" marL="0">
              <a:buNone/>
            </a:pPr>
            <a:r>
              <a:rPr lang="ar-SA" altLang="en-US" sz="1450" dirty="0">
                <a:solidFill>
                  <a:srgbClr val="5A6472"/>
                </a:solidFill>
                <a:latin typeface="Amiri" pitchFamily="2" charset="-78"/>
                <a:ea typeface="Amiri" pitchFamily="2" charset="-78"/>
                <a:cs typeface="Amiri" pitchFamily="2" charset="-78"/>
              </a:rPr>
              <a:t>هٰذَا / هٰذِهِ</a:t>
            </a:r>
            <a:pPr algn="l" indent="0" marL="0">
              <a:buNone/>
            </a:pPr>
            <a:r>
              <a:rPr lang="en-US" sz="1100" dirty="0">
                <a:solidFill>
                  <a:srgbClr val="5A6472"/>
                </a:solidFill>
                <a:latin typeface="Calibri" pitchFamily="34" charset="0"/>
                <a:cs typeface="Amiri" pitchFamily="2" charset="-78"/>
              </a:rPr>
              <a:t> and make the colour agree?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shopping phrases (</a:t>
            </a:r>
            <a:pPr algn="l" indent="0" marL="0">
              <a:buNone/>
            </a:pPr>
            <a:r>
              <a:rPr lang="ar-SA" altLang="en-US" sz="1450" dirty="0">
                <a:solidFill>
                  <a:srgbClr val="5A6472"/>
                </a:solidFill>
                <a:latin typeface="Amiri" pitchFamily="2" charset="-78"/>
                <a:ea typeface="Amiri" pitchFamily="2" charset="-78"/>
                <a:cs typeface="Amiri" pitchFamily="2" charset="-78"/>
              </a:rPr>
              <a:t>أُرِيدُ أَنْ أُجَرِّبَ</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كَمْ ثَمَنُهُ</a:t>
            </a:r>
            <a:pPr algn="l" indent="0" marL="0">
              <a:buNone/>
            </a:pPr>
            <a:r>
              <a:rPr lang="en-US" sz="1100" dirty="0">
                <a:solidFill>
                  <a:srgbClr val="5A6472"/>
                </a:solidFill>
                <a:latin typeface="Calibri" pitchFamily="34" charset="0"/>
                <a:cs typeface="Amiri" pitchFamily="2" charset="-78"/>
              </a:rPr>
              <a:t>) and give a problem + solution?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اشْتَرَيْتُ هٰذَا القَمِيصَ الأَبْيَضَ أَمْسِ.</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bought this white shirt yesterday.</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مَرْحَبًا، كَيْفَ أُسَاعِدُكَ؟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المُشْكِلَةُ أَنَّهُ صَغِيرٌ جِدًّا، وَالمَقَاسُ غَيْرُ مُنَاسِبٍ.</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problem is that it’s too small; the size isn’t right.</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المُشْكِلَةُ؟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مَقَاسًا أَكْبَرَ بِنَفْسِ اللَّوْنِ، لِأَنَّنِي أُحِبُّ الأَبْيَضَ.</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a bigger size in the same colour, because I like white.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تُرِيدُ مَقَاسًا آخَرَ أَمْ لَوْنًا آخَرَ؟</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مُشْكِلَةَ. هَلْ يُمْكِنُ أَنْ تُرْجِعَ لِي الثَّمَنَ مِنْ فَضْلِكَ؟</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problem. Can you give me a refund, please?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لِلْأَسَفِ لَيْسَ عِنْدَنَا مَقَاسٌ أَكْبَرُ.</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طَلَبْتُ مِنْ مَوْقِعِكُمْ قَمِيصًا أَبْيَضَ وَسُتْرَةً زَرْقَاءَ وَحِذَاءً رِيَاضِيًّا. القَمِيصُ ثَمَنُهُ عِشْرُونَ جُنَيْهًا، وَهُوَ مُمْتَازٌ لِأَنَّ القُمَاشَ نَاعِمٌ وَمُرِيحٌ. الحِذَاءُ أَيْضًا جَمِيلٌ وَخَفِيفٌ. المُشْكِلَةُ أَنَّ السُّتْرَةَ ضَيِّقَةٌ جِدًّا، وَلَوْنُهَا أَغْمَقُ مِنَ الصُّورَةِ. ثَمَنُهَا أَرْبَعُونَ جُنَيْهًا، وَهٰذَا غَالٍ. لِذٰلِكَ سَأُرْجِعُهَا وَأَطْلُبُ مَقَاسًا أَكْبَرَ. تَقْيِيمِي أَرْبَعَةٌ مِنْ خَمْسَةٍ، لِأَنَّ التَّوْصِيلَ كَانَ سَرِيعًا جِدًّا، وَالمَلَابِسَ وَصَلَتْ فِي يَوْمَيْنِ فَقَطْ. أَنْصَحُ أَصْدِقَائِي بِهٰذَا المَوْقِعِ.</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ordered a white shirt, a blue jacket and trainers from your website. The shirt cost twenty pounds, and it is excellent because the fabric is soft and comfortable. The shoes are also nice and light. The problem is that the jacket is very tight, and its colour is darker than the picture. It cost forty pounds, which is expensive. So I will return it and order a bigger size. My rating is four out of five, because delivery was very fast — the clothes arrived in just two days. I recommend this website to my friends.”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سُتْرَةً زَرْقَاءَ</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ثَمَنُهُ عِشْرُونَ جُنَيْهًا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المُشْكِلَةُ أَنَّ السُّتْرَةَ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سَأُرْجِعُهَا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D2-L04 · Fashion and Identity — Opinions on Style and Dress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المَوْضَةُ وَالهُوِيَّةُ — آرَاءٌ حَوْلَ الأُسْلُوبِ وَاللِّبَاسِ</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D2-L03 · Practice Room — Clothes and Accessories — Vocabulary and Shopping</dc:title>
  <dc:subject>PptxGenJS Presentation</dc:subject>
  <dc:creator>Al Madina Online School · Arabic Department</dc:creator>
  <cp:lastModifiedBy>Al Madina Online School · Arabic Department</cp:lastModifiedBy>
  <cp:revision>1</cp:revision>
  <dcterms:created xsi:type="dcterms:W3CDTF">2026-10-25T18:04:40Z</dcterms:created>
  <dcterms:modified xsi:type="dcterms:W3CDTF">2026-10-25T18:04:40Z</dcterms:modified>
</cp:coreProperties>
</file>