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D2-L08 (Reading — Personality, Relationships and Fashion Texts) — new practice tasks built on the lesson’s own word bank and grammar (reporting a writer’s view: yarā anna … · yadhkuru mithālan … · yukhālifu … · yakhluṣu ilā anna …; anna + noun in -a; finding contrast (baynamā · wa-lākinna) and concession; agreeing / disagreeing with evidence (uwāfiqu / lā uwāfiqu li-anna …)).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D2-L08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FADED SUPPORT: tasks 1–2 show the plan (question word → first words); students write their own plan for 3–4. Everyone is Speaker once. To a girl the Leader says: leader to a girl: تُوَافِقِينَ. anna + noun in -a: يَرَى أَنَّ الصَّدَاقَةَ … · يَخْلُصُ إِلَى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(40–50 words). Develop: 60–80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(60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D2-L08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Reading — Personality, Relationships and Fashion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أَقْرَأُ رَأْيَ الكَاتِبِ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50" dirty="0">
                <a:solidFill>
                  <a:srgbClr val="C6D2E6"/>
                </a:solidFill>
                <a:latin typeface="Calibri" pitchFamily="34" charset="0"/>
                <a:cs typeface="Amiri" pitchFamily="2" charset="-78"/>
              </a:rPr>
              <a:t>Students run their own reading-and-speaking practice: read a short opinion text aloud, report what the writer thinks, find the example and the conclusion, then agree or disagree with evidence. They do a role-play card on a book-club discussion, give a one-minute response, then build, fix and write a short reply to an opinion article.</a:t>
            </a:r>
            <a:endParaRPr lang="en-US" sz="11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D2-L08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 argument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49" name="Shape 46"/>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1" name="Text 4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أَنِيقٌ / أَنِيقَةٌ</a:t>
            </a:r>
            <a:endParaRPr lang="ar-SA" sz="3000" dirty="0"/>
          </a:p>
        </p:txBody>
      </p:sp>
      <p:sp>
        <p:nvSpPr>
          <p:cNvPr id="52" name="Text 4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53" name="Shape 50"/>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أَنِيقُونَ</a:t>
            </a:r>
            <a:endParaRPr lang="ar-SA" sz="1500" dirty="0"/>
          </a:p>
        </p:txBody>
      </p:sp>
      <p:sp>
        <p:nvSpPr>
          <p:cNvPr id="56" name="Shape 53"/>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8" name="Text 55"/>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أَنِيقَةٌ</a:t>
            </a:r>
            <a:endParaRPr lang="ar-SA" sz="1500" dirty="0"/>
          </a:p>
        </p:txBody>
      </p:sp>
      <p:sp>
        <p:nvSpPr>
          <p:cNvPr id="59" name="Shape 56"/>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1" name="Text 58"/>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a:t>
            </a:r>
            <a:endParaRPr lang="ar-SA" sz="150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Style and fashion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عَصْرِيٌّ / عَصْرِيَّةٌ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ʿaṣ-riy-yun / ʿaṣ-riy-ya-tun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مُحْتَشِمٌ / مُحْتَشِمَةٌ</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muḥ-ta-shi-mun / muḥ-ta-shi-ma-tun</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مُحْتَشِمُونَ</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0" name="Shape 4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مُرِيحٌ / مُرِيحَةٌ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comfortable</a:t>
            </a:r>
            <a:endParaRPr lang="en-US" sz="1350" dirty="0"/>
          </a:p>
          <a:p>
            <a:pPr indent="0" marL="0">
              <a:buNone/>
            </a:pPr>
            <a:r>
              <a:rPr lang="en-US" sz="1100" i="1" dirty="0">
                <a:solidFill>
                  <a:srgbClr val="5A6472"/>
                </a:solidFill>
                <a:latin typeface="Calibri" pitchFamily="34" charset="0"/>
                <a:cs typeface="Amiri" pitchFamily="2" charset="-78"/>
              </a:rPr>
              <a:t>mu-rī-ḥun / mu-rī-ḥa-tun</a:t>
            </a:r>
            <a:endParaRPr lang="en-US" sz="1350" dirty="0"/>
          </a:p>
        </p:txBody>
      </p:sp>
      <p:sp>
        <p:nvSpPr>
          <p:cNvPr id="54" name="Shape 5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مُرِيحَةٌ</a:t>
            </a:r>
            <a:endParaRPr lang="ar-SA" sz="1500" dirty="0"/>
          </a:p>
        </p:txBody>
      </p:sp>
      <p:sp>
        <p:nvSpPr>
          <p:cNvPr id="57" name="Shape 5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9" name="Text 5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مُرِيحَةٌ</a:t>
            </a:r>
            <a:endParaRPr lang="ar-SA" sz="1500" dirty="0"/>
          </a:p>
        </p:txBody>
      </p:sp>
      <p:sp>
        <p:nvSpPr>
          <p:cNvPr id="60" name="Shape 5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2" name="Text 5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a:t>
            </a:r>
            <a:endParaRPr lang="ar-SA" sz="1500" dirty="0"/>
          </a:p>
        </p:txBody>
      </p:sp>
      <p:sp>
        <p:nvSpPr>
          <p:cNvPr id="63" name="Shape 6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8211312"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6" name="Shape 63"/>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8" name="Text 6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عَمَلِيٌّ / عَمَلِيَّةٌ</a:t>
            </a:r>
            <a:endParaRPr lang="ar-SA" sz="3000" dirty="0"/>
          </a:p>
        </p:txBody>
      </p:sp>
      <p:sp>
        <p:nvSpPr>
          <p:cNvPr id="69" name="Text 6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practical</a:t>
            </a:r>
            <a:endParaRPr lang="en-US" sz="1350" dirty="0"/>
          </a:p>
          <a:p>
            <a:pPr indent="0" marL="0">
              <a:buNone/>
            </a:pPr>
            <a:r>
              <a:rPr lang="en-US" sz="1100" i="1" dirty="0">
                <a:solidFill>
                  <a:srgbClr val="5A6472"/>
                </a:solidFill>
                <a:latin typeface="Calibri" pitchFamily="34" charset="0"/>
                <a:cs typeface="Amiri" pitchFamily="2" charset="-78"/>
              </a:rPr>
              <a:t>ʿa-ma-liy-yun / ʿa-ma-liy-ya-tun</a:t>
            </a:r>
            <a:endParaRPr lang="en-US" sz="1350" dirty="0"/>
          </a:p>
        </p:txBody>
      </p:sp>
      <p:sp>
        <p:nvSpPr>
          <p:cNvPr id="70" name="Shape 6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2" name="Text 6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عَمَلِيَّةٌ</a:t>
            </a:r>
            <a:endParaRPr lang="ar-SA" sz="1500" dirty="0"/>
          </a:p>
        </p:txBody>
      </p:sp>
      <p:sp>
        <p:nvSpPr>
          <p:cNvPr id="73" name="Shape 7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5" name="Text 7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عَمَلِيَّةٌ</a:t>
            </a:r>
            <a:endParaRPr lang="ar-SA" sz="1500" dirty="0"/>
          </a:p>
        </p:txBody>
      </p:sp>
      <p:sp>
        <p:nvSpPr>
          <p:cNvPr id="76" name="Shape 7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8" name="Text 7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a:t>
            </a:r>
            <a:endParaRPr lang="ar-SA" sz="1500" dirty="0"/>
          </a:p>
        </p:txBody>
      </p:sp>
      <p:sp>
        <p:nvSpPr>
          <p:cNvPr id="79" name="Shape 7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389120"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2" name="Text 7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يُعَبِّرُ عَنْ</a:t>
            </a:r>
            <a:endParaRPr lang="ar-SA" sz="3000" dirty="0"/>
          </a:p>
        </p:txBody>
      </p:sp>
      <p:sp>
        <p:nvSpPr>
          <p:cNvPr id="83" name="Text 8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expresses</a:t>
            </a:r>
            <a:endParaRPr lang="en-US" sz="1350" dirty="0"/>
          </a:p>
          <a:p>
            <a:pPr indent="0" marL="0">
              <a:buNone/>
            </a:pPr>
            <a:r>
              <a:rPr lang="en-US" sz="1100" i="1" dirty="0">
                <a:solidFill>
                  <a:srgbClr val="5A6472"/>
                </a:solidFill>
                <a:latin typeface="Calibri" pitchFamily="34" charset="0"/>
                <a:cs typeface="Amiri" pitchFamily="2" charset="-78"/>
              </a:rPr>
              <a:t>yu-ʿab-bi-ru ʿan</a:t>
            </a:r>
            <a:endParaRPr lang="en-US" sz="1350" dirty="0"/>
          </a:p>
        </p:txBody>
      </p:sp>
      <p:sp>
        <p:nvSpPr>
          <p:cNvPr id="84" name="Shape 8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566928" y="4261104"/>
            <a:ext cx="310896" cy="310896"/>
          </a:xfrm>
          <a:prstGeom prst="ellipse">
            <a:avLst/>
          </a:prstGeom>
          <a:solidFill>
            <a:srgbClr val="F4F1EA"/>
          </a:solidFill>
          <a:ln w="12700">
            <a:solidFill>
              <a:srgbClr val="F4F1EA"/>
            </a:solidFill>
            <a:prstDash val="solid"/>
          </a:ln>
        </p:spPr>
      </p:sp>
      <p:sp>
        <p:nvSpPr>
          <p:cNvPr id="86" name="Text 8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7" name="Text 8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يُنَاسِبُ</a:t>
            </a:r>
            <a:endParaRPr lang="ar-SA" sz="3000" dirty="0"/>
          </a:p>
        </p:txBody>
      </p:sp>
      <p:sp>
        <p:nvSpPr>
          <p:cNvPr id="88" name="Text 8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suits</a:t>
            </a:r>
            <a:endParaRPr lang="en-US" sz="1350" dirty="0"/>
          </a:p>
          <a:p>
            <a:pPr indent="0" marL="0">
              <a:buNone/>
            </a:pPr>
            <a:r>
              <a:rPr lang="en-US" sz="1100" i="1" dirty="0">
                <a:solidFill>
                  <a:srgbClr val="5A6472"/>
                </a:solidFill>
                <a:latin typeface="Calibri" pitchFamily="34" charset="0"/>
                <a:cs typeface="Amiri" pitchFamily="2" charset="-78"/>
              </a:rPr>
              <a:t>yu-nā-si-bu</a:t>
            </a:r>
            <a:endParaRPr lang="en-US" sz="13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does the writer think?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يَرَى الكَاتِبُ؟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read an article about fashion. The writer thinks young people spend too much on clothes.</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قَرَأْتُ مَقَالَةً عَنِ المَوْضَةِ. الكَاتِبُ يَرَى أَنَّ الشَّبَابَ يُنْفِقُونَ كَثِيرًا عَلَى المَلَابِسِ.</a:t>
            </a:r>
            <a:endParaRPr lang="ar-SA" sz="175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he give an example?</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وَهَلْ يَذْكُرُ مِثَالًا؟</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he mentions that some students buy new shoes every month.</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نَعَمْ، يَذْكُرُ أَنَّ بَعْضَ الطُّلَّابِ يَشْتَرُونَ حِذَاءً جَدِيدًا كُلَّ شَهْرٍ.</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does he think of traditional dress?</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وَمَا رَأْيُهُ فِي اللِّبَاسِ التَّقْلِيدِيِّ؟</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concludes that it is practical and expresses our identity.</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يَخْلُصُ إِلَى أَنَّهُ عَمَلِيٌّ وَيُعَبِّرُ عَنْ هُوِيَّتِنَا.</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partly agree with him, but modern clothes are comfortable too.</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أُوَافِقُهُ جُزْئِيًّا، وَلٰكِنَّ المَلَابِسَ العَصْرِيَّةَ مُرِيحَةٌ أَيْضًا.</a:t>
            </a:r>
            <a:endParaRPr lang="ar-SA" sz="20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report a text you read this week — use </a:t>
            </a:r>
            <a:pPr algn="l" indent="0" marL="0">
              <a:buNone/>
            </a:pPr>
            <a:r>
              <a:rPr lang="ar-SA" altLang="en-US" sz="1500" b="1" dirty="0">
                <a:solidFill>
                  <a:srgbClr val="1B3B6F"/>
                </a:solidFill>
                <a:latin typeface="Amiri" pitchFamily="2" charset="-78"/>
                <a:ea typeface="Amiri" pitchFamily="2" charset="-78"/>
                <a:cs typeface="Amiri" pitchFamily="2" charset="-78"/>
              </a:rPr>
              <a:t>يَرَى أَنَّ</a:t>
            </a:r>
            <a:pPr algn="l" indent="0" marL="0">
              <a:buNone/>
            </a:pPr>
            <a:r>
              <a:rPr lang="en-US" sz="1150" b="1" dirty="0">
                <a:solidFill>
                  <a:srgbClr val="1B3B6F"/>
                </a:solidFill>
                <a:latin typeface="Calibri" pitchFamily="34" charset="0"/>
                <a:cs typeface="Amiri" pitchFamily="2" charset="-78"/>
              </a:rPr>
              <a:t> and </a:t>
            </a:r>
            <a:pPr algn="l" indent="0" marL="0">
              <a:buNone/>
            </a:pPr>
            <a:r>
              <a:rPr lang="ar-SA" altLang="en-US" sz="1500" b="1" dirty="0">
                <a:solidFill>
                  <a:srgbClr val="1B3B6F"/>
                </a:solidFill>
                <a:latin typeface="Amiri" pitchFamily="2" charset="-78"/>
                <a:ea typeface="Amiri" pitchFamily="2" charset="-78"/>
                <a:cs typeface="Amiri" pitchFamily="2" charset="-78"/>
              </a:rPr>
              <a:t>يَخْلُصُ إِلَى 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Text detective — read it, report it</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وَأَنَا أُوَافِقُهُ لِأَنَّ …</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يَرَى الكَاتِبُ أَنَّ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think a true friend always tells the truth.” — The writer’s view?</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«أَرَى أَنَّ الصَّدِيقَ الحَقِيقِيَّ يَقُولُ الصِّدْقَ دَائِمًا.» — مَا رَأْيُ الكَاتِبِ؟</a:t>
            </a:r>
            <a:endParaRPr lang="ar-SA" sz="13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وَهٰذَا يَدُلُّ عَلَى …</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يَذْكُرُ مِثَالًا: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example, my sister supports me in every exam.” — What is the example?</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«مَثَلًا، أُخْتِي تَدْعَمُنِي فِي كُلِّ امْتِحَانٍ.» — مَا المِثَالُ؟</a:t>
            </a:r>
            <a:endParaRPr lang="ar-SA" sz="145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الكَلِمَةُ: بَيْنَمَا</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يُقَارِنُ بَيْنَ … وَ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 love fashion, whereas others prefer comfort.” — The contrast?</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«بَعْضُ النَّاسِ يُحِبُّونَ المَوْضَةَ، بَيْنَمَا يُفَضِّلُ آخَرُونَ الرَّاحَةَ.» — مَا المُقَارَنَةُ؟</a:t>
            </a:r>
            <a:endParaRPr lang="ar-SA" sz="13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هَلْ تُوَافِقُ؟</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يَخْلُصُ إِلَى أَنَّ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end, character matters more than appearance.” — The conclusion?</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«فِي النِّهَايَةِ، الأَخْلَاقُ أَهَمُّ مِنَ المَظْهَرِ.» — مَا الخُلَاصَةُ؟</a:t>
            </a:r>
            <a:endParaRPr lang="ar-SA" sz="13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عَلَى سَبِيلِ المِثَالِ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أُوَافِقُ / لَا أُوَافِقُ، لِأَنَّ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agree that clothes show personality?</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تُوَافِقُ عَلَى أَنَّ المَلَابِسَ تُظْهِرُ الشَّخْصِيَّةَ؟</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4 · ROLE-PLAY CARD · PLANS FOR TASKS 1–2 ARE GIVEN — PLAN 3–4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Role-play card — the book club: a story about two friends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نَادِي الكِتَابِ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الفِكْرَةُ ← تَتَحَدَّثُ القِصَّةُ عَنْ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Main idea.</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الفِكْرَةُ الرَّئِيسِيَّةُ فِي القِصَّةِ؟</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لَيْلَى ← هِيَ … ، وَالدَّلِيلُ أَنَّهَا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Quality + evidence.</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شَخْصِيَّةُ لَيْلَى؟ وَمَا الدَّلِيلُ؟</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93608" y="3840480"/>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conclusion.</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يَرَى الكَاتِبُ فِي النِّهَايَةِ؟</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293608" y="4626864"/>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 / disagree + reason.</a:t>
            </a:r>
            <a:endParaRPr lang="en-US" sz="1100" dirty="0"/>
          </a:p>
        </p:txBody>
      </p:sp>
      <p:sp>
        <p:nvSpPr>
          <p:cNvPr id="42" name="Text 39"/>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تُوَافِقُ الكَاتِبَ؟</a:t>
            </a:r>
            <a:endParaRPr lang="ar-SA" sz="1700" dirty="0"/>
          </a:p>
        </p:txBody>
      </p:sp>
      <p:sp>
        <p:nvSpPr>
          <p:cNvPr id="43" name="Text 40"/>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a club member who read the story · Leader = the club leader. Write the plan for tasks 3–4 in your book first. Task ! is a surprise — the Leader reads it without warning. Then swap roles.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minute: respond to a 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أَرُدُّ عَلَى رَأْيٍ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reads this view: «</a:t>
            </a:r>
            <a:pPr algn="l" indent="0" marL="0">
              <a:buNone/>
            </a:pPr>
            <a:r>
              <a:rPr lang="ar-SA" altLang="en-US" sz="1750" dirty="0">
                <a:solidFill>
                  <a:srgbClr val="1F2A37"/>
                </a:solidFill>
                <a:latin typeface="Amiri" pitchFamily="2" charset="-78"/>
                <a:ea typeface="Amiri" pitchFamily="2" charset="-78"/>
                <a:cs typeface="Amiri" pitchFamily="2" charset="-78"/>
              </a:rPr>
              <a:t>المَلَابِسُ الغَالِيَةُ أَفْضَلُ دَائِمًا</a:t>
            </a:r>
            <a:pPr algn="l" indent="0" marL="0">
              <a:buNone/>
            </a:pPr>
            <a:r>
              <a:rPr lang="en-US" sz="1350" dirty="0">
                <a:solidFill>
                  <a:srgbClr val="1F2A37"/>
                </a:solidFill>
                <a:latin typeface="Calibri" pitchFamily="34" charset="0"/>
                <a:cs typeface="Amiri" pitchFamily="2" charset="-78"/>
              </a:rPr>
              <a:t>.» Report it, then agree or disagree for one minute with reasons and examples.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يَرَى الكَاتِبُ أَنَّ … + أُوَافِقُ / لَا أُوَافِقُ لِأَنَّ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an example (</a:t>
            </a:r>
            <a:pPr algn="l" indent="0" marL="0">
              <a:buNone/>
            </a:pPr>
            <a:r>
              <a:rPr lang="ar-SA" altLang="en-US" sz="1500" dirty="0">
                <a:solidFill>
                  <a:srgbClr val="1F2A37"/>
                </a:solidFill>
                <a:latin typeface="Amiri" pitchFamily="2" charset="-78"/>
                <a:ea typeface="Amiri" pitchFamily="2" charset="-78"/>
                <a:cs typeface="Amiri" pitchFamily="2" charset="-78"/>
              </a:rPr>
              <a:t>مَثَلًا</a:t>
            </a:r>
            <a:pPr algn="l" indent="0" marL="0">
              <a:buNone/>
            </a:pPr>
            <a:r>
              <a:rPr lang="en-US" sz="1150" dirty="0">
                <a:solidFill>
                  <a:srgbClr val="1F2A37"/>
                </a:solidFill>
                <a:latin typeface="Calibri" pitchFamily="34" charset="0"/>
                <a:cs typeface="Amiri" pitchFamily="2" charset="-78"/>
              </a:rPr>
              <a:t> …) and a contrast (</a:t>
            </a:r>
            <a:pPr algn="l" indent="0" marL="0">
              <a:buNone/>
            </a:pPr>
            <a:r>
              <a:rPr lang="ar-SA" altLang="en-US" sz="1500" dirty="0">
                <a:solidFill>
                  <a:srgbClr val="1F2A37"/>
                </a:solidFill>
                <a:latin typeface="Amiri" pitchFamily="2" charset="-78"/>
                <a:ea typeface="Amiri" pitchFamily="2" charset="-78"/>
                <a:cs typeface="Amiri" pitchFamily="2" charset="-78"/>
              </a:rPr>
              <a:t>بَيْنَمَا / وَلٰكِنَّ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concession (</a:t>
            </a:r>
            <a:pPr algn="l" indent="0" marL="0">
              <a:buNone/>
            </a:pPr>
            <a:r>
              <a:rPr lang="ar-SA" altLang="en-US" sz="1500" dirty="0">
                <a:solidFill>
                  <a:srgbClr val="1F2A37"/>
                </a:solidFill>
                <a:latin typeface="Amiri" pitchFamily="2" charset="-78"/>
                <a:ea typeface="Amiri" pitchFamily="2" charset="-78"/>
                <a:cs typeface="Amiri" pitchFamily="2" charset="-78"/>
              </a:rPr>
              <a:t>عَلَى الرَّغْمِ مِنْ أَنَّ … فَإِنَّ</a:t>
            </a:r>
            <a:pPr algn="l" indent="0" marL="0">
              <a:buNone/>
            </a:pPr>
            <a:r>
              <a:rPr lang="en-US" sz="1150" dirty="0">
                <a:solidFill>
                  <a:srgbClr val="1F2A37"/>
                </a:solidFill>
                <a:latin typeface="Calibri" pitchFamily="34" charset="0"/>
                <a:cs typeface="Amiri" pitchFamily="2" charset="-78"/>
              </a:rPr>
              <a:t> …) and a conclusion.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writer thinks that fashion is expensive.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يَرَى الكَاتِبُ</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يَرَى الكَاتِبَ</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المَوْضَةَ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المَوْضَةُ</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غَالِيَةٌ.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غَالِيَةً.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He mentions an example from his school.</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يَذْكُرُ</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يَذْكُرُونَ</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مِثَالًا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مِثَالٌ</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مَدْرَسَتِهِ.</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مَدْرَسَتِهَا.</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don’t agree, because comfort is more important.</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لَا أُوَافِقُ،</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لَمْ أُوَافِقُ،</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لِذٰلِكَ</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الرَّاحَةَ أَهَمُّ.</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الرَّاحَةُ أَهَمُّ.</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writer thinks that fashion is expensive.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noun in -a; its adjective stays -un.</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يَرَى الكَاتِبُ أَنَّ المَوْضَةَ غَالِيَةٌ.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He mentions an example from his school.</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Object → </a:t>
            </a:r>
            <a:pPr algn="l" indent="0" marL="0">
              <a:buNone/>
            </a:pPr>
            <a:r>
              <a:rPr lang="ar-SA" altLang="en-US" sz="1350" dirty="0">
                <a:solidFill>
                  <a:srgbClr val="5A6472"/>
                </a:solidFill>
                <a:latin typeface="Amiri" pitchFamily="2" charset="-78"/>
                <a:ea typeface="Amiri" pitchFamily="2" charset="-78"/>
                <a:cs typeface="Amiri" pitchFamily="2" charset="-78"/>
              </a:rPr>
              <a:t>مِثَالًا</a:t>
            </a:r>
            <a:pPr algn="l" indent="0" marL="0">
              <a:buNone/>
            </a:pPr>
            <a:r>
              <a:rPr lang="en-US" sz="1050" i="1" dirty="0">
                <a:solidFill>
                  <a:srgbClr val="5A6472"/>
                </a:solidFill>
                <a:latin typeface="Calibri" pitchFamily="34" charset="0"/>
                <a:cs typeface="Amiri" pitchFamily="2" charset="-78"/>
              </a:rPr>
              <a:t>; his → -hi.</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يَذْكُرُ مِثَالًا مِنْ مَدْرَسَتِهِ.</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don’t agree, because comfort is more important.</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لِأَنَّ</a:t>
            </a:r>
            <a:pPr algn="l" indent="0" marL="0">
              <a:buNone/>
            </a:pPr>
            <a:r>
              <a:rPr lang="en-US" sz="1050" i="1" dirty="0">
                <a:solidFill>
                  <a:srgbClr val="5A6472"/>
                </a:solidFill>
                <a:latin typeface="Calibri" pitchFamily="34" charset="0"/>
                <a:cs typeface="Amiri" pitchFamily="2" charset="-78"/>
              </a:rPr>
              <a:t> + noun in -a.</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لَا أُوَافِقُ، لِأَنَّ الرَّاحَةَ أَهَمُّ.</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يَرَى الكَاتِبُ أَنَّ الأَصْدِقَاءُ مُهِمُّونَ.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يَخْلُصُ أَنَّ الأَخْلَاقَ أَهَمُّ.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Missing word?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algn="l" indent="0" marL="0">
              <a:buNone/>
            </a:pPr>
            <a:r>
              <a:rPr lang="ar-SA" altLang="en-US" sz="3900" b="1" dirty="0">
                <a:solidFill>
                  <a:srgbClr val="B83227"/>
                </a:solidFill>
                <a:latin typeface="Amiri" pitchFamily="2" charset="-78"/>
                <a:ea typeface="Amiri" pitchFamily="2" charset="-78"/>
                <a:cs typeface="Amiri" pitchFamily="2" charset="-78"/>
              </a:rPr>
              <a:t>أُوَافِقُ لِأَنَّ</a:t>
            </a:r>
            <a:pPr algn="l" indent="0" marL="0">
              <a:buNone/>
            </a:pPr>
            <a:r>
              <a:rPr lang="en-US" sz="3000" b="1" dirty="0">
                <a:solidFill>
                  <a:srgbClr val="B83227"/>
                </a:solidFill>
                <a:latin typeface="Calibri" pitchFamily="34" charset="0"/>
                <a:cs typeface="Amiri" pitchFamily="2" charset="-78"/>
              </a:rPr>
              <a:t> … (no reason)</a:t>
            </a:r>
            <a:endParaRPr lang="en-US"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Agreement needs evidence.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يَرَى الكَاتِبُ أَنَّ الأَصْدِقَاءُ مُهِمُّونَ.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يَرَى الكَاتِبُ أَنَّ الأَصْدِقَاءَ مُهِمُّونَ.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 noun in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يَخْلُصُ أَنَّ الأَخْلَاقَ أَهَمُّ.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يَخْلُصُ إِلَى أَنَّ الأَخْلَاقَ أَهَمُّ.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rtl="1" algn="r" indent="0" marL="0">
              <a:buNone/>
            </a:pPr>
            <a:r>
              <a:rPr lang="ar-SA" altLang="en-US" sz="1450" dirty="0">
                <a:solidFill>
                  <a:srgbClr val="1B3B6F"/>
                </a:solidFill>
                <a:latin typeface="Amiri" pitchFamily="2" charset="-78"/>
                <a:ea typeface="Amiri" pitchFamily="2" charset="-78"/>
                <a:cs typeface="Amiri" pitchFamily="2" charset="-78"/>
              </a:rPr>
              <a:t>يَخْلُصُ إِلَى أَنَّ …</a:t>
            </a:r>
            <a:endParaRPr lang="ar-SA" sz="14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algn="l" indent="0" marL="0">
              <a:buNone/>
            </a:pPr>
            <a:r>
              <a:rPr lang="ar-SA" altLang="en-US" sz="2350" dirty="0">
                <a:solidFill>
                  <a:srgbClr val="B83227"/>
                </a:solidFill>
                <a:latin typeface="Amiri" pitchFamily="2" charset="-78"/>
                <a:ea typeface="Amiri" pitchFamily="2" charset="-78"/>
                <a:cs typeface="Amiri" pitchFamily="2" charset="-78"/>
              </a:rPr>
              <a:t>أُوَافِقُ لِأَنَّ</a:t>
            </a:r>
            <a:pPr algn="l" indent="0" marL="0">
              <a:buNone/>
            </a:pPr>
            <a:r>
              <a:rPr lang="en-US" sz="1800" dirty="0">
                <a:solidFill>
                  <a:srgbClr val="B83227"/>
                </a:solidFill>
                <a:latin typeface="Calibri" pitchFamily="34" charset="0"/>
                <a:cs typeface="Amiri" pitchFamily="2" charset="-78"/>
              </a:rPr>
              <a:t> … (no reason)</a:t>
            </a:r>
            <a:endParaRPr lang="en-US"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أُوَافِقُ، لِأَنَّ أُخْتِي تَدْعَمُنِي دَائِمًا.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a real reason or example.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جِهَةٍ ______ ، وَمِنْ جِهَةٍ أُخْرَى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one hand …, on the other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______ ، فَإِنَّ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يَرَى الكَاتِبُ أَنَّ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 thinks that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أُوَافِقُ / لَا أُوَافِقُ، لِأَنَّ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agree / don’t agree, because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سَبِيلِ المِثَالِ،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For example,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النِّهَايَةِ أَرَى أَنَّ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end I think that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يَرَى أَنَّ  ·  يَذْكُرُ مِثَالًا  ·  يَخْلُصُ إِلَى أَنَّ  ·  أُوَافِقُ · لَا أُوَافِقُ  ·  جُزْئِيًّا  ·  مِنْ جِهَةٍ أُخْرَى  ·  بَيْنَمَا · وَلٰكِنَّ  ·  عَلَى الرَّغْمِ مِنْ أَنَّ</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reply to an opinion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رَدٌّ عَلَى مَقَالَةِ رَأْيٍ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A magazine article says: «</a:t>
            </a:r>
            <a:pPr algn="l" indent="0" marL="0">
              <a:buNone/>
            </a:pPr>
            <a:r>
              <a:rPr lang="ar-SA" altLang="en-US" sz="1450" b="1" dirty="0">
                <a:solidFill>
                  <a:srgbClr val="1F2A37"/>
                </a:solidFill>
                <a:latin typeface="Amiri" pitchFamily="2" charset="-78"/>
                <a:ea typeface="Amiri" pitchFamily="2" charset="-78"/>
                <a:cs typeface="Amiri" pitchFamily="2" charset="-78"/>
              </a:rPr>
              <a:t>الأَصْدِقَاءُ أَهَمُّ مِنَ العَائِلَةِ فِي حَيَاةِ المُرَاهِقِينَ</a:t>
            </a:r>
            <a:pPr algn="l" indent="0" marL="0">
              <a:buNone/>
            </a:pPr>
            <a:r>
              <a:rPr lang="en-US" sz="1100" b="1" dirty="0">
                <a:solidFill>
                  <a:srgbClr val="1F2A37"/>
                </a:solidFill>
                <a:latin typeface="Calibri" pitchFamily="34" charset="0"/>
                <a:cs typeface="Amiri" pitchFamily="2" charset="-78"/>
              </a:rPr>
              <a:t>.» Write a reply (about 60–80 words). Include: • report the writer’s view (</a:t>
            </a:r>
            <a:pPr algn="l" indent="0" marL="0">
              <a:buNone/>
            </a:pPr>
            <a:r>
              <a:rPr lang="ar-SA" altLang="en-US" sz="1450" b="1" dirty="0">
                <a:solidFill>
                  <a:srgbClr val="1F2A37"/>
                </a:solidFill>
                <a:latin typeface="Amiri" pitchFamily="2" charset="-78"/>
                <a:ea typeface="Amiri" pitchFamily="2" charset="-78"/>
                <a:cs typeface="Amiri" pitchFamily="2" charset="-78"/>
              </a:rPr>
              <a:t>يَرَى الكَاتِبُ أَنَّ</a:t>
            </a:r>
            <a:pPr algn="l" indent="0" marL="0">
              <a:buNone/>
            </a:pPr>
            <a:r>
              <a:rPr lang="en-US" sz="1100" b="1" dirty="0">
                <a:solidFill>
                  <a:srgbClr val="1F2A37"/>
                </a:solidFill>
                <a:latin typeface="Calibri" pitchFamily="34" charset="0"/>
                <a:cs typeface="Amiri" pitchFamily="2" charset="-78"/>
              </a:rPr>
              <a:t> …) • do you agree? why? • an example from your life • a contrast or concession • your conclusion (</a:t>
            </a:r>
            <a:pPr algn="l" indent="0" marL="0">
              <a:buNone/>
            </a:pPr>
            <a:r>
              <a:rPr lang="ar-SA" altLang="en-US" sz="1450" b="1" dirty="0">
                <a:solidFill>
                  <a:srgbClr val="1F2A37"/>
                </a:solidFill>
                <a:latin typeface="Amiri" pitchFamily="2" charset="-78"/>
                <a:ea typeface="Amiri" pitchFamily="2" charset="-78"/>
                <a:cs typeface="Amiri" pitchFamily="2" charset="-78"/>
              </a:rPr>
              <a:t>فِي النِّهَايَةِ</a:t>
            </a:r>
            <a:pPr algn="l" indent="0" marL="0">
              <a:buNone/>
            </a:pPr>
            <a:r>
              <a:rPr lang="en-US" sz="1100" b="1" dirty="0">
                <a:solidFill>
                  <a:srgbClr val="1F2A37"/>
                </a:solidFill>
                <a:latin typeface="Calibri" pitchFamily="34" charset="0"/>
                <a:cs typeface="Amiri" pitchFamily="2" charset="-78"/>
              </a:rPr>
              <a:t> …).</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right tense for each bullet.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يَرَى الكَاتِبُ 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writer thinks that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أُوَافِقُ جُزْئِيًّا / لَا أُوَافِقُ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partly agree / I don’t agree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سَبِيلِ المِثَالِ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example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النِّهَايَةِ أَرَى 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end I think that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 the writer’s view with </a:t>
            </a:r>
            <a:pPr algn="l" indent="0" marL="0">
              <a:buNone/>
            </a:pPr>
            <a:r>
              <a:rPr lang="ar-SA" altLang="en-US" sz="1450" dirty="0">
                <a:solidFill>
                  <a:srgbClr val="5A6472"/>
                </a:solidFill>
                <a:latin typeface="Amiri" pitchFamily="2" charset="-78"/>
                <a:ea typeface="Amiri" pitchFamily="2" charset="-78"/>
                <a:cs typeface="Amiri" pitchFamily="2" charset="-78"/>
              </a:rPr>
              <a:t>يَرَى أَنَّ</a:t>
            </a:r>
            <a:pPr algn="l" indent="0" marL="0">
              <a:buNone/>
            </a:pPr>
            <a:r>
              <a:rPr lang="en-US" sz="1100" dirty="0">
                <a:solidFill>
                  <a:srgbClr val="5A6472"/>
                </a:solidFill>
                <a:latin typeface="Calibri" pitchFamily="34" charset="0"/>
                <a:cs typeface="Amiri" pitchFamily="2" charset="-78"/>
              </a:rPr>
              <a:t> + noun in -a?</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 / disagree with an example and a concession?</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تَتَحَدَّثُ القِصَّةُ عَنْ صَدِيقَتَيْنِ تَخْتَلِفَانِ ثُمَّ تَتَصَالَحَانِ.</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story is about two friends who fall out and then make up.</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الفِكْرَةُ الرَّئِيسِيَّةُ فِي القِصَّةِ؟</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صَبُورَةٌ، وَالدَّلِيلُ أَنَّهَا تَنْتَظِرُ صَدِيقَتَهَا شَهْرًا.</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is patient — the evidence is that she waits a month for her friend.</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شَخْصِيَّةُ لَيْلَى؟ وَمَا الدَّلِيلُ؟</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يَخْلُصُ الكَاتِبُ إِلَى أَنَّ الصَّدَاقَةَ الحَقِيقِيَّةَ تَحْتَاجُ إِلَى الصَّبْرِ.</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writer concludes that real friendship needs patience.</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يَرَى الكَاتِبُ فِي النِّهَايَةِ؟</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أُوَافِقُهُ، لِأَنَّنِي اخْتَلَفْتُ مَعَ صَدِيقِي مَرَّةً، وَبَعْدَ أُسْبُوعٍ تَصَالَحْنَا.</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agree, because I once fell out with my friend, and after a week we made up.</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تُوَافِقُ الكَاتِبَ؟</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يَرَى الكَاتِبُ أَنَّ الأَصْدِقَاءَ أَهَمُّ مِنَ العَائِلَةِ فِي حَيَاةِ المُرَاهِقِينَ. أُوَافِقُهُ جُزْئِيًّا فَقَطْ. مِنْ جِهَةٍ، أَقْضِي وَقْتًا طَوِيلًا مَعَ أَصْدِقَائِي، وَهُمْ يَفْهَمُونَ مُشْكِلَاتِي. وَمِنْ جِهَةٍ أُخْرَى، عَائِلَتِي تَدْعَمُنِي دَائِمًا. عَلَى سَبِيلِ المِثَالِ، عِنْدَمَا كُنْتُ مَرِيضًا، بَقِيَتْ أُمِّي بِجَانِبِي طُولَ اللَّيْلِ. عَلَى الرَّغْمِ مِنْ أَنَّ الأَصْدِقَاءَ مُهِمُّونَ، فَإِنَّ العَائِلَةَ بَاقِيَةٌ مَعَنَا طُولَ الحَيَاةِ. فِي النِّهَايَةِ أَرَى أَنَّنَا نَحْتَاجُ إِلَى الاثْنَيْنِ مَعًا.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writer thinks friends are more important than family in teenagers’ lives. I only partly agree with him. On one hand, I spend a long time with my friends, and they understand my problems. On the other hand, my family always supports me. For example, when I was ill, my mum stayed beside me all night. Although friends are important, family stays with us for life. In the end I think we need both together.”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يَرَى الكَاتِبُ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أُوَافِقُهُ جُزْئِيًّا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عَلَى سَبِيلِ المِثَالِ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فَإِنَّ العَائِلَةَ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D2-L09 · Speaking — People, Relationships and Style Topic Conversation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المُحَادَثَةُ — الأَشْخَاصُ وَالعَلَاقَاتُ وَالأُسْلُوبُ الشَّخْصِيُّ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D2-L08 · Practice Room — Reading — Personality, Relationships and Fashion Texts</dc:title>
  <dc:subject>PptxGenJS Presentation</dc:subject>
  <dc:creator>Al Madina Online School · Arabic Department</dc:creator>
  <cp:lastModifiedBy>Al Madina Online School · Arabic Department</cp:lastModifiedBy>
  <cp:revision>1</cp:revision>
  <dcterms:created xsi:type="dcterms:W3CDTF">2026-10-25T18:09:21Z</dcterms:created>
  <dcterms:modified xsi:type="dcterms:W3CDTF">2026-10-25T18:09:21Z</dcterms:modified>
</cp:coreProperties>
</file>