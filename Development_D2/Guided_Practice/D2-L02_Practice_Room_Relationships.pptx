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D2-L02 (Relationships — Family, Friends and How We Get On) — new practice tasks built on the lesson’s own word bank and grammar (relationship verbs with their prepositions (atafāhamu maʿa · akhtalifu maʿa · athiqu bi- · aḥtarimu); object suffixes (yadʿamunī · aḥtarimuhā · usāʿiduhu); reciprocal we-verbs (natashājaru · natasālaḥu); always give the reason).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تَكَلَّمِي · تَتَشَاجَرِينَ · إِخْوَتِكِ · تُحِبُّكِ. Object suffixes in action: tadʿamuka · tuḥibbuka; imperative for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Relationships — Family, Friends and How We Get 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العَلَاقَاتُ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about relationships: say the relationship verbs, act a short dialogue, answer question cards, do a role-play card giving advice to a friend after an argument, give a one-minute talk about three relationships, then build, fix and write a forum post about the people closest to them.</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D2-L02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Getting 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نَتَفَاهَمُ</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تَتَفَاهَمُ</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يَتَفَاهَمُ</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أَخْتَلِفُ مَعَ</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disagree with</a:t>
            </a:r>
            <a:endParaRPr lang="en-US" sz="1350" dirty="0"/>
          </a:p>
          <a:p>
            <a:pPr indent="0" marL="0">
              <a:buNone/>
            </a:pPr>
            <a:r>
              <a:rPr lang="en-US" sz="1100" i="1" dirty="0">
                <a:solidFill>
                  <a:srgbClr val="5A6472"/>
                </a:solidFill>
                <a:latin typeface="Calibri" pitchFamily="34" charset="0"/>
                <a:cs typeface="Amiri" pitchFamily="2" charset="-78"/>
              </a:rPr>
              <a:t>akh-ta-li-fu ma-ʿa</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نَخْتَلِفُ</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تَخْتَلِفُ</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يَخْتَلِفُ</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him · her · them</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أَحْتَرِمُ</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respect</a:t>
            </a:r>
            <a:endParaRPr lang="en-US" sz="1350" dirty="0"/>
          </a:p>
          <a:p>
            <a:pPr indent="0" marL="0">
              <a:buNone/>
            </a:pPr>
            <a:r>
              <a:rPr lang="en-US" sz="1100" i="1" dirty="0">
                <a:solidFill>
                  <a:srgbClr val="5A6472"/>
                </a:solidFill>
                <a:latin typeface="Calibri" pitchFamily="34" charset="0"/>
                <a:cs typeface="Amiri" pitchFamily="2" charset="-78"/>
              </a:rPr>
              <a:t>aḥ-ta-ri-mu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them</a:t>
            </a:r>
            <a:endParaRPr lang="en-US" sz="700" dirty="0"/>
          </a:p>
        </p:txBody>
      </p:sp>
      <p:sp>
        <p:nvSpPr>
          <p:cNvPr id="62" name="Text 59"/>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أَحْتَرِمُهُمْ</a:t>
            </a:r>
            <a:endParaRPr lang="ar-SA" sz="135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أَحْتَرِمُهَا</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أَحْتَرِمُهُ</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me · us · him</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supports me</a:t>
            </a:r>
            <a:endParaRPr lang="en-US" sz="1350" dirty="0"/>
          </a:p>
          <a:p>
            <a:pPr indent="0" marL="0">
              <a:buNone/>
            </a:pPr>
            <a:r>
              <a:rPr lang="en-US" sz="1100" i="1" dirty="0">
                <a:solidFill>
                  <a:srgbClr val="5A6472"/>
                </a:solidFill>
                <a:latin typeface="Calibri" pitchFamily="34" charset="0"/>
                <a:cs typeface="Amiri" pitchFamily="2" charset="-78"/>
              </a:rPr>
              <a:t>yad-ʿa-mu-nī</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him</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يَدْعَمُهُ</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us</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يَدْعَمُنَا</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me</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يَدْعَمُنِي</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تَدْعَمُنِي</a:t>
            </a:r>
            <a:endParaRPr lang="ar-SA" sz="3000" dirty="0"/>
          </a:p>
        </p:txBody>
      </p:sp>
      <p:sp>
        <p:nvSpPr>
          <p:cNvPr id="93" name="Text 9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supports me</a:t>
            </a:r>
            <a:endParaRPr lang="en-US" sz="1350" dirty="0"/>
          </a:p>
          <a:p>
            <a:pPr indent="0" marL="0">
              <a:buNone/>
            </a:pPr>
            <a:r>
              <a:rPr lang="en-US" sz="1100" i="1" dirty="0">
                <a:solidFill>
                  <a:srgbClr val="5A6472"/>
                </a:solidFill>
                <a:latin typeface="Calibri" pitchFamily="34" charset="0"/>
                <a:cs typeface="Amiri" pitchFamily="2" charset="-78"/>
              </a:rPr>
              <a:t>tad-ʿa-mu-nī</a:t>
            </a:r>
            <a:endParaRPr lang="en-US" sz="1350" dirty="0"/>
          </a:p>
        </p:txBody>
      </p:sp>
      <p:sp>
        <p:nvSpPr>
          <p:cNvPr id="94" name="Shape 9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5" name="Shape 92"/>
          <p:cNvSpPr/>
          <p:nvPr/>
        </p:nvSpPr>
        <p:spPr>
          <a:xfrm>
            <a:off x="566928" y="4261104"/>
            <a:ext cx="310896" cy="310896"/>
          </a:xfrm>
          <a:prstGeom prst="ellipse">
            <a:avLst/>
          </a:prstGeom>
          <a:solidFill>
            <a:srgbClr val="F4F1EA"/>
          </a:solidFill>
          <a:ln w="12700">
            <a:solidFill>
              <a:srgbClr val="F4F1EA"/>
            </a:solidFill>
            <a:prstDash val="solid"/>
          </a:ln>
        </p:spPr>
      </p:sp>
      <p:sp>
        <p:nvSpPr>
          <p:cNvPr id="96" name="Text 9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7" name="Shape 9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8" name="Text 9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9" name="Text 9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نَتَشَاجَرُ</a:t>
            </a:r>
            <a:endParaRPr lang="ar-SA" sz="3000" dirty="0"/>
          </a:p>
        </p:txBody>
      </p:sp>
      <p:sp>
        <p:nvSpPr>
          <p:cNvPr id="100" name="Text 9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argue</a:t>
            </a:r>
            <a:endParaRPr lang="en-US" sz="1350" dirty="0"/>
          </a:p>
          <a:p>
            <a:pPr indent="0" marL="0">
              <a:buNone/>
            </a:pPr>
            <a:r>
              <a:rPr lang="en-US" sz="1100" i="1" dirty="0">
                <a:solidFill>
                  <a:srgbClr val="5A6472"/>
                </a:solidFill>
                <a:latin typeface="Calibri" pitchFamily="34" charset="0"/>
                <a:cs typeface="Amiri" pitchFamily="2" charset="-78"/>
              </a:rPr>
              <a:t>na-ta-shā-ja-ru</a:t>
            </a:r>
            <a:endParaRPr lang="en-US" sz="135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Relationships and linking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نَتَصَالَحُ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make up</a:t>
            </a:r>
            <a:endParaRPr lang="en-US" sz="1350" dirty="0"/>
          </a:p>
          <a:p>
            <a:pPr indent="0" marL="0">
              <a:buNone/>
            </a:pPr>
            <a:r>
              <a:rPr lang="en-US" sz="1100" i="1" dirty="0">
                <a:solidFill>
                  <a:srgbClr val="5A6472"/>
                </a:solidFill>
                <a:latin typeface="Calibri" pitchFamily="34" charset="0"/>
                <a:cs typeface="Amiri" pitchFamily="2" charset="-78"/>
              </a:rPr>
              <a:t>na-ta-ṣā-la-ḥu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نَقْضِي الوَقْتَ مَعًا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spend time together</a:t>
            </a:r>
            <a:endParaRPr lang="en-US" sz="1350" dirty="0"/>
          </a:p>
          <a:p>
            <a:pPr indent="0" marL="0">
              <a:buNone/>
            </a:pPr>
            <a:r>
              <a:rPr lang="en-US" sz="1100" i="1" dirty="0">
                <a:solidFill>
                  <a:srgbClr val="5A6472"/>
                </a:solidFill>
                <a:latin typeface="Calibri" pitchFamily="34" charset="0"/>
                <a:cs typeface="Amiri" pitchFamily="2" charset="-78"/>
              </a:rPr>
              <a:t>naq-ḍī al-waq-ta ma-ʿan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 مُقَرَّبٌ</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close friend</a:t>
            </a:r>
            <a:endParaRPr lang="en-US" sz="1350" dirty="0"/>
          </a:p>
          <a:p>
            <a:pPr indent="0" marL="0">
              <a:buNone/>
            </a:pPr>
            <a:r>
              <a:rPr lang="en-US" sz="1100" i="1" dirty="0">
                <a:solidFill>
                  <a:srgbClr val="5A6472"/>
                </a:solidFill>
                <a:latin typeface="Calibri" pitchFamily="34" charset="0"/>
                <a:cs typeface="Amiri" pitchFamily="2" charset="-78"/>
              </a:rPr>
              <a:t>ṣa-dī-qun mu-qar-ra-bun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450" b="1" dirty="0">
                <a:solidFill>
                  <a:srgbClr val="1B3B6F"/>
                </a:solidFill>
                <a:latin typeface="Amiri" pitchFamily="2" charset="-78"/>
                <a:ea typeface="Amiri" pitchFamily="2" charset="-78"/>
                <a:cs typeface="Amiri" pitchFamily="2" charset="-78"/>
              </a:rPr>
              <a:t>أَصْدِقَاءُ مُقَرَّبُونَ</a:t>
            </a:r>
            <a:endParaRPr lang="ar-SA" sz="145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 مُقَرَّبَةٌ</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 مُقَرَّبٌ</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8" name="Shape 45"/>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0" name="Text 4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عَلَاقَةٌ قَوِيَّةٌ</a:t>
            </a:r>
            <a:endParaRPr lang="ar-SA" sz="3000" dirty="0"/>
          </a:p>
        </p:txBody>
      </p:sp>
      <p:sp>
        <p:nvSpPr>
          <p:cNvPr id="51" name="Text 4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strong relationship</a:t>
            </a:r>
            <a:endParaRPr lang="en-US" sz="1350" dirty="0"/>
          </a:p>
          <a:p>
            <a:pPr indent="0" marL="0">
              <a:buNone/>
            </a:pPr>
            <a:r>
              <a:rPr lang="en-US" sz="1100" i="1" dirty="0">
                <a:solidFill>
                  <a:srgbClr val="5A6472"/>
                </a:solidFill>
                <a:latin typeface="Calibri" pitchFamily="34" charset="0"/>
                <a:cs typeface="Amiri" pitchFamily="2" charset="-78"/>
              </a:rPr>
              <a:t>ʿa-lā-qa-tun qa-wiy-ya-tun</a:t>
            </a:r>
            <a:endParaRPr lang="en-US" sz="1350" dirty="0"/>
          </a:p>
        </p:txBody>
      </p:sp>
      <p:sp>
        <p:nvSpPr>
          <p:cNvPr id="52" name="Shape 4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4" name="Text 5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عَلَاقَاتٌ قَوِيَّةٌ</a:t>
            </a:r>
            <a:endParaRPr lang="ar-SA" sz="1500" dirty="0"/>
          </a:p>
        </p:txBody>
      </p:sp>
      <p:sp>
        <p:nvSpPr>
          <p:cNvPr id="55" name="Shape 5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weak</a:t>
            </a:r>
            <a:endParaRPr lang="en-US" sz="700" dirty="0"/>
          </a:p>
        </p:txBody>
      </p:sp>
      <p:sp>
        <p:nvSpPr>
          <p:cNvPr id="57" name="Text 5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عَلَاقَةٌ ضَعِيفَةٌ</a:t>
            </a:r>
            <a:endParaRPr lang="ar-SA" sz="1350" dirty="0"/>
          </a:p>
        </p:txBody>
      </p:sp>
      <p:sp>
        <p:nvSpPr>
          <p:cNvPr id="58" name="Shape 5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0" name="Text 5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عَلَاقَةٌ قَوِيَّةٌ</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Text 6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70" name="Text 6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do you get on with?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 مَنْ تَتَفَاهَمُ؟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get on with most in your family?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 مَنْ تَتَفَاهَمُ أَكْثَرَ فِي عَائِلَتِكَ؟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get on with my dad very well, because he always supports me.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أَتَفَاهَمُ مَعَ أَبِي جِدًّا، لِأَنَّهُ يَدْعَمُنِي دَائِمًا.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older brother?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وَأَخُوكَ الكَبِيرُ؟</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Sometimes we argue over the computer, then we make up quickly.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أَحْيَانًا نَتَشَاجَرُ عَلَى الحَاسُوبِ، ثُمَّ نَتَصَالَحُ بِسُرْعَةٍ.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who is your close friend?</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وَمَنْ صَدِيقُكَ المُقَرَّبُ؟</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Omar. I trust him a lot, and we spend time together every holiday.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عُمَرُ. أَثِقُ بِهِ كَثِيرًا، وَنَقْضِي الوَقْتَ مَعًا كُلَّ عُطْلَةٍ.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answer about YOUR family — each answer needs a reason with </a:t>
            </a:r>
            <a:pPr algn="l" indent="0" marL="0">
              <a:buNone/>
            </a:pPr>
            <a:r>
              <a:rPr lang="ar-SA" altLang="en-US" sz="1500" b="1" dirty="0">
                <a:solidFill>
                  <a:srgbClr val="1B3B6F"/>
                </a:solidFill>
                <a:latin typeface="Amiri" pitchFamily="2" charset="-78"/>
                <a:ea typeface="Amiri" pitchFamily="2" charset="-78"/>
                <a:cs typeface="Amiri" pitchFamily="2" charset="-78"/>
              </a:rPr>
              <a:t>لِأَنَّ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 … لِأَنَّهُ / 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get on with in your family? Why?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تَتَفَاهَمُ فِي عَائِلَتِكَ؟ لِمَاذَا؟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نَتَصَالَحُ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أَخْتَلِفُ مَعَ … عَلَى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sometimes disagree with?</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تَخْتَلِفُ أَحْيَانًا؟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عِنْدَمَا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يَدْعَمُنِي … / تَدْعَمُنِي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supports you in your studies?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يَدْعَمُكَ فِي الدِّرَاسَةِ؟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أَثِقُ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الصِّدْقُ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important quality in a close friend?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الصِّفَةُ المُهِمَّةُ فِي الصَّدِيقِ المُقَرَّبِ؟</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نَقْضِي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أَتَّصِلُ بِهِ / أَعْتَذِرُ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make up with your friend after a problem?</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تَتَصَالَحُ مَعَ صَدِيقِكَ بَعْدَ مُشْكِلَةٍ؟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Role-play card — advising a friend after an argument</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نَصِيحَةٌ لِصَدِيقٍ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 لِمَاذَا تَشَاجَرْتُمَا؟</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why.</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تَشَاجَرْتُ مَعَ أُخْتِي أَمْسِ.</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أَفْهَمُ ← أَفْهَمُ، وَلٰكِنَّ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Show understanding.</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أَخَذَتْ هَاتِفِي بِدُونِ إِذْنٍ.</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advice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أَفْعَلُ؟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وَأَنْتَ، هَلْ تَتَشَاجَرُ مَعَ إِخْوَتِكَ؟</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good friend · Leader = a friend who argued with their sister.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three relationships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 عَلَاقَاتٍ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three people: one you get on with, one you sometimes disagree with, and one you trust. Give a reason for each.</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 for each person.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object suffixes (</a:t>
            </a:r>
            <a:pPr algn="l" indent="0" marL="0">
              <a:buNone/>
            </a:pPr>
            <a:r>
              <a:rPr lang="ar-SA" altLang="en-US" sz="1500" dirty="0">
                <a:solidFill>
                  <a:srgbClr val="1F2A37"/>
                </a:solidFill>
                <a:latin typeface="Amiri" pitchFamily="2" charset="-78"/>
                <a:ea typeface="Amiri" pitchFamily="2" charset="-78"/>
                <a:cs typeface="Amiri" pitchFamily="2" charset="-78"/>
              </a:rPr>
              <a:t>يَدْعَمُنِي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أَحْتَرِمُهَا</a:t>
            </a:r>
            <a:pPr algn="l" indent="0" marL="0">
              <a:buNone/>
            </a:pPr>
            <a:r>
              <a:rPr lang="en-US" sz="1150" dirty="0">
                <a:solidFill>
                  <a:srgbClr val="1F2A37"/>
                </a:solidFill>
                <a:latin typeface="Calibri" pitchFamily="34" charset="0"/>
                <a:cs typeface="Amiri" pitchFamily="2" charset="-78"/>
              </a:rPr>
              <a:t>) and a we-verb (</a:t>
            </a:r>
            <a:pPr algn="l" indent="0" marL="0">
              <a:buNone/>
            </a:pPr>
            <a:r>
              <a:rPr lang="ar-SA" altLang="en-US" sz="1500" dirty="0">
                <a:solidFill>
                  <a:srgbClr val="1F2A37"/>
                </a:solidFill>
                <a:latin typeface="Amiri" pitchFamily="2" charset="-78"/>
                <a:ea typeface="Amiri" pitchFamily="2" charset="-78"/>
                <a:cs typeface="Amiri" pitchFamily="2" charset="-78"/>
              </a:rPr>
              <a:t>نَتَصَالَحُ</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an example of a real moment and </a:t>
            </a:r>
            <a:pPr algn="l" indent="0" marL="0">
              <a:buNone/>
            </a:pPr>
            <a:r>
              <a:rPr lang="ar-SA" altLang="en-US" sz="1500" dirty="0">
                <a:solidFill>
                  <a:srgbClr val="1F2A37"/>
                </a:solidFill>
                <a:latin typeface="Amiri" pitchFamily="2" charset="-78"/>
                <a:ea typeface="Amiri" pitchFamily="2" charset="-78"/>
                <a:cs typeface="Amiri" pitchFamily="2" charset="-78"/>
              </a:rPr>
              <a:t>عَلَى الرَّغْمِ مِنْ أَنَّ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respect my teacher because she supports me.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أَحْتَرِمُ مُعَلِّمَتِي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أَحْتَرِمُ مُعَلِّمَتِيَ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تَدْعَمُنِي.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يَدْعَمُنِي.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get on with my cousin, but we argue sometimes.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أَتَفَاهَمُ مَعَ</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أَتَفَاهَمُ فِي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عَمِّي،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عَمِّي،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وَلٰكِنَّنَا نَتَشَاجَرُ أَحْيَانًا.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وَلٰكِنَّنَا يَتَشَاجَرُ أَحْيَانًا.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trust my friend completely.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أَثِقُ</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أَثِقُ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بِصَدِيقِي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صَدِيقِي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تَمَامًا.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تَمَامٌ.</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respect my teacher because she supports me.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Teacher (f.) → </a:t>
            </a:r>
            <a:pPr algn="l" indent="0" marL="0">
              <a:buNone/>
            </a:pPr>
            <a:r>
              <a:rPr lang="ar-SA" altLang="en-US" sz="1350" dirty="0">
                <a:solidFill>
                  <a:srgbClr val="5A6472"/>
                </a:solidFill>
                <a:latin typeface="Amiri" pitchFamily="2" charset="-78"/>
                <a:ea typeface="Amiri" pitchFamily="2" charset="-78"/>
                <a:cs typeface="Amiri" pitchFamily="2" charset="-78"/>
              </a:rPr>
              <a:t>لِأَنَّهَا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تَدْعَمُنِي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أَحْتَرِمُ مُعَلِّمَتِي لِأَنَّهَا تَدْعَمُنِي.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get on with my cousin, but we argue sometimes.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أَتَفَاهَمُ مَعَ</a:t>
            </a:r>
            <a:pPr algn="l" indent="0" marL="0">
              <a:buNone/>
            </a:pPr>
            <a:r>
              <a:rPr lang="en-US" sz="1050" i="1" dirty="0">
                <a:solidFill>
                  <a:srgbClr val="5A6472"/>
                </a:solidFill>
                <a:latin typeface="Calibri" pitchFamily="34" charset="0"/>
                <a:cs typeface="Amiri" pitchFamily="2" charset="-78"/>
              </a:rPr>
              <a:t> + genitive; we → </a:t>
            </a:r>
            <a:pPr algn="l" indent="0" marL="0">
              <a:buNone/>
            </a:pPr>
            <a:r>
              <a:rPr lang="ar-SA" altLang="en-US" sz="1350" dirty="0">
                <a:solidFill>
                  <a:srgbClr val="5A6472"/>
                </a:solidFill>
                <a:latin typeface="Amiri" pitchFamily="2" charset="-78"/>
                <a:ea typeface="Amiri" pitchFamily="2" charset="-78"/>
                <a:cs typeface="Amiri" pitchFamily="2" charset="-78"/>
              </a:rPr>
              <a:t>نَتَشَاجَرُ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أَتَفَاهَمُ مَعَ ابْنِ عَمِّي، وَلٰكِنَّنَا نَتَشَاجَرُ أَحْيَانًا.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trust my friend completely.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أَثِقُ</a:t>
            </a:r>
            <a:pPr algn="l" indent="0" marL="0">
              <a:buNone/>
            </a:pPr>
            <a:r>
              <a:rPr lang="en-US" sz="1050" i="1" dirty="0">
                <a:solidFill>
                  <a:srgbClr val="5A6472"/>
                </a:solidFill>
                <a:latin typeface="Calibri" pitchFamily="34" charset="0"/>
                <a:cs typeface="Amiri" pitchFamily="2" charset="-78"/>
              </a:rPr>
              <a:t> takes bi-: </a:t>
            </a:r>
            <a:pPr algn="l" indent="0" marL="0">
              <a:buNone/>
            </a:pPr>
            <a:r>
              <a:rPr lang="ar-SA" altLang="en-US" sz="1350" dirty="0">
                <a:solidFill>
                  <a:srgbClr val="5A6472"/>
                </a:solidFill>
                <a:latin typeface="Amiri" pitchFamily="2" charset="-78"/>
                <a:ea typeface="Amiri" pitchFamily="2" charset="-78"/>
                <a:cs typeface="Amiri" pitchFamily="2" charset="-78"/>
              </a:rPr>
              <a:t>بِصَدِيقِي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أَثِقُ بِصَدِيقِي تَمَامًا.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أَثِقُ صَدِيقَتِي.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يَدْعَمُنِي.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أَحْتَرِمُ جَدِّي لِأَنَّهَا حَكِيمٌ.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Grandfather → which pronoun?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أَثِقُ صَدِيقَتِي.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أَثِقُ بِصَدِيقَتِي.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أَثِقُ</a:t>
            </a:r>
            <a:pPr algn="l" indent="0" marL="0">
              <a:buNone/>
            </a:pPr>
            <a:r>
              <a:rPr lang="en-US" sz="1150" b="1" dirty="0">
                <a:solidFill>
                  <a:srgbClr val="1B3B6F"/>
                </a:solidFill>
                <a:latin typeface="Calibri" pitchFamily="34" charset="0"/>
                <a:cs typeface="Amiri" pitchFamily="2" charset="-78"/>
              </a:rPr>
              <a:t> + bi-.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يَدْعَمُنِي.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تَدْعَمُنِي.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أَحْتَرِمُ جَدِّي لِأَنَّهَا حَكِيمٌ.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أَحْتَرِمُ جَدِّي لِأَنَّهُ حَكِيمٌ.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 → </a:t>
            </a:r>
            <a:pPr algn="l" indent="0" marL="0">
              <a:buNone/>
            </a:pPr>
            <a:r>
              <a:rPr lang="ar-SA" altLang="en-US" sz="1500" b="1" dirty="0">
                <a:solidFill>
                  <a:srgbClr val="1B3B6F"/>
                </a:solidFill>
                <a:latin typeface="Amiri" pitchFamily="2" charset="-78"/>
                <a:ea typeface="Amiri" pitchFamily="2" charset="-78"/>
                <a:cs typeface="Amiri" pitchFamily="2" charset="-78"/>
              </a:rPr>
              <a:t>لِأَنَّهُ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يَدْعَمُنِي / تَدْعَمُنِي عِنْدَمَا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supports me when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نَتَشَاجَرُ أَحْيَانًا، وَلٰكِنَّنَا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argue sometimes, but we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أَتَفَاهَمُ مَعَ ______ لِأَنَّهُ / لِأَنَّهَا ______ .</a:t>
            </a:r>
            <a:endParaRPr lang="ar-SA" sz="17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 because he / she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أَثِقُ بِ______ ، لِأَنَّ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trust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أَحْيَانًا أَخْتَلِفُ مَعَ ______ عَلَى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disagree with … about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أَتَفَاهَمُ مَعَ  ·  أَخْتَلِفُ مَعَ  ·  أَحْتَرِمُ  ·  يَدْعَمُنِي · تَدْعَمُنِي  ·  نَتَشَاجَرُ · نَتَصَالَحُ  ·  صَدِيقٌ مُقَرَّبٌ  ·  عَلَاقَةٌ قَوِيَّةٌ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 forum post: the people closest to 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مُنْتَدَى: أَقْرَبُ النَّاسِ إِلَيَّ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forum post (about 60–80 words) about your relationships. Include: • someone you get on with and why • someone you trust and why • a time you disagree or argue — and how you make up • two object suffixes (</a:t>
            </a:r>
            <a:pPr algn="l" indent="0" marL="0">
              <a:buNone/>
            </a:pPr>
            <a:r>
              <a:rPr lang="ar-SA" altLang="en-US" sz="1450" b="1" dirty="0">
                <a:solidFill>
                  <a:srgbClr val="1F2A37"/>
                </a:solidFill>
                <a:latin typeface="Amiri" pitchFamily="2" charset="-78"/>
                <a:ea typeface="Amiri" pitchFamily="2" charset="-78"/>
                <a:cs typeface="Amiri" pitchFamily="2" charset="-78"/>
              </a:rPr>
              <a:t>يَدْعَمُنِي</a:t>
            </a:r>
            <a:pPr algn="l" indent="0" marL="0">
              <a:buNone/>
            </a:pPr>
            <a:r>
              <a:rPr lang="en-US" sz="1100" b="1" dirty="0">
                <a:solidFill>
                  <a:srgbClr val="1F2A37"/>
                </a:solidFill>
                <a:latin typeface="Calibri" pitchFamily="34" charset="0"/>
                <a:cs typeface="Amiri" pitchFamily="2" charset="-78"/>
              </a:rPr>
              <a:t> · </a:t>
            </a:r>
            <a:pPr algn="l" indent="0" marL="0">
              <a:buNone/>
            </a:pPr>
            <a:r>
              <a:rPr lang="ar-SA" altLang="en-US" sz="1450" b="1" dirty="0">
                <a:solidFill>
                  <a:srgbClr val="1F2A37"/>
                </a:solidFill>
                <a:latin typeface="Amiri" pitchFamily="2" charset="-78"/>
                <a:ea typeface="Amiri" pitchFamily="2" charset="-78"/>
                <a:cs typeface="Amiri" pitchFamily="2" charset="-78"/>
              </a:rPr>
              <a:t>أَحْتَرِمُهُ</a:t>
            </a:r>
            <a:pPr algn="l" indent="0" marL="0">
              <a:buNone/>
            </a:pPr>
            <a:r>
              <a:rPr lang="en-US" sz="1100" b="1" dirty="0">
                <a:solidFill>
                  <a:srgbClr val="1F2A37"/>
                </a:solidFill>
                <a:latin typeface="Calibri" pitchFamily="34" charset="0"/>
                <a:cs typeface="Amiri" pitchFamily="2" charset="-78"/>
              </a:rPr>
              <a:t> …) • your opinion: what makes a strong relationship?</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أَتَفَاهَمُ مَعَ …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get on with …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أَثِقُ بِصَدِيقِي / بِأُمِّي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trust my friend / my mum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نَتَشَاجَرُ أَحْيَانًا ثُمَّ نَتَصَالَحُ</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argue sometimes, then make up</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العَلَاقَةُ القَوِيَّةُ تَحْتَاجُ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a strong relationship needs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relationship verbs with the right preposition (</a:t>
            </a:r>
            <a:pPr algn="l" indent="0" marL="0">
              <a:buNone/>
            </a:pPr>
            <a:r>
              <a:rPr lang="ar-SA" altLang="en-US" sz="1450" dirty="0">
                <a:solidFill>
                  <a:srgbClr val="5A6472"/>
                </a:solidFill>
                <a:latin typeface="Amiri" pitchFamily="2" charset="-78"/>
                <a:ea typeface="Amiri" pitchFamily="2" charset="-78"/>
                <a:cs typeface="Amiri" pitchFamily="2" charset="-78"/>
              </a:rPr>
              <a:t>مَعَ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object suffixes (</a:t>
            </a:r>
            <a:pPr algn="l" indent="0" marL="0">
              <a:buNone/>
            </a:pPr>
            <a:r>
              <a:rPr lang="ar-SA" altLang="en-US" sz="1450" dirty="0">
                <a:solidFill>
                  <a:srgbClr val="5A6472"/>
                </a:solidFill>
                <a:latin typeface="Amiri" pitchFamily="2" charset="-78"/>
                <a:ea typeface="Amiri" pitchFamily="2" charset="-78"/>
                <a:cs typeface="Amiri" pitchFamily="2" charset="-78"/>
              </a:rPr>
              <a:t>يَدْعَمُنِي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أَحْتَرِمُهُ</a:t>
            </a:r>
            <a:pPr algn="l" indent="0" marL="0">
              <a:buNone/>
            </a:pPr>
            <a:r>
              <a:rPr lang="en-US" sz="1100" dirty="0">
                <a:solidFill>
                  <a:srgbClr val="5A6472"/>
                </a:solidFill>
                <a:latin typeface="Calibri" pitchFamily="34" charset="0"/>
                <a:cs typeface="Amiri" pitchFamily="2" charset="-78"/>
              </a:rPr>
              <a:t>) and give a reason every time?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آسِفٌ! لِمَاذَا تَشَاجَرْتُمَا؟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I’m sorry! Why did you two argue?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تَشَاجَرْتُ مَعَ أُخْتِي أَمْسِ.</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أَفْهَمُ ذٰلِكَ، وَلٰكِنَّهَا تُحِبُّكَ وَتَدْعَمُكَ دَائِمًا.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understand, but she loves you and always supports you.</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أَخَذَتْ هَاتِفِي بِدُونِ إِذْنٍ.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تَكَلَّمْ مَعَهَا بِهُدُوءٍ، لِأَنَّ العَلَاقَةَ القَوِيَّةَ أَهَمُّ مِنَ الهَاتِفِ.</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Talk to her calmly, because a strong relationship matters more than the phone.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أَفْعَلُ؟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أَحْيَانًا، وَلٰكِنَّنَا نَتَصَالَحُ قَبْلَ النَّوْمِ دَائِمًا.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but we always make up before bedtime.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وَأَنْتَ، هَلْ تَتَشَاجَرُ مَعَ إِخْوَتِكَ؟</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أَتَفَاهَمُ مَعَ أُمِّي جِدًّا، لِأَنَّهَا تَسْمَعُنِي وَتَدْعَمُنِي فِي كُلِّ شَيْءٍ. صَدِيقَتِي المُقَرَّبَةُ هِيَ نُورٌ، وَأَثِقُ بِهَا تَمَامًا لِأَنَّهَا صَادِقَةٌ وَلَا تُخْبِرُ أَحَدًا بِأَسْرَارِي. أَمَّا أَخِي الصَّغِيرُ فَنَتَشَاجَرُ أَحْيَانًا عَلَى التِّلْفَازِ، وَلٰكِنَّنَا نَتَصَالَحُ بِسُرْعَةٍ، لِأَنَّنِي أُحِبُّهُ وَأَحْتَرِمُهُ. عَلَى الرَّغْمِ مِنْ أَنَّنَا مُخْتَلِفَانِ، نَقْضِي الوَقْتَ مَعًا كُلَّ مَسَاءٍ. فِي رَأْيِي العَلَاقَةُ القَوِيَّةُ تَحْتَاجُ إِلَى الصِّدْقِ وَالاحْتِرَامِ وَالصَّبْرِ أَيْضًا.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get on very well with my mum, because she listens to me and supports me in everything. My close friend is Nour, and I trust her completely because she is honest and never tells anyone my secrets. As for my little brother, we argue sometimes over the TV, but we make up quickly, because I love him and respect him. Although we are different, we spend time together every evening. In my opinion a strong relationship needs honesty, respect and patience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وَتَدْعَمُنِي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وَأَثِقُ بِهَا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نَتَصَالَحُ بِسُرْعَةٍ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الرَّغْمِ مِنْ أَنَّنَا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D2-L03 · Clothes and Accessories — Vocabulary and Shopping</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المَلَابِسُ وَالإِكْسِسْوَارَاتُ — المُفْرَدَاتُ وَالتَّسَوُّقُ</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D2-L02 · Practice Room — Relationships — Family, Friends and How We Get On</dc:title>
  <dc:subject>PptxGenJS Presentation</dc:subject>
  <dc:creator>Al Madina Online School · Arabic Department</dc:creator>
  <cp:lastModifiedBy>Al Madina Online School · Arabic Department</cp:lastModifiedBy>
  <cp:revision>1</cp:revision>
  <dcterms:created xsi:type="dcterms:W3CDTF">2026-10-25T18:03:45Z</dcterms:created>
  <dcterms:modified xsi:type="dcterms:W3CDTF">2026-10-25T18:03:45Z</dcterms:modified>
</cp:coreProperties>
</file>