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D2-L04 (Fashion and Identity — Opinions on Style and Dress) — new practice tasks built on the lesson’s own word bank and grammar (opinion + reason: fī raʾyī … li-anna; contrast: wa-lākinna + noun / pronoun; concession: ʿalā al-raghmi min anna … fa-inna …; style adjectives with agreement (anīq / anīqa · ʿaṣrī / ʿaṣriyya · taqlīdī / taqlīdiyya); judging clothes, never people).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head teacher to a girl: اقْتِرَاحُكِ. Concession frame: ʿalā al-raghmi min anna-hu … fa-inna-hu … (judge the clothes, not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Fashion and Identity — Opinions on Style and Dress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المَوْضَةُ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giving balanced opinions on fashion: say the style adjectives, act a short debate dialogue, answer opinion cards, do a role-play card on a school-uniform consultation, give a one-minute balanced talk, then build, fix and write a balanced opinion paragraph about fashion and identity.</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D2-L04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adjectives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language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8" name="Text 4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49" name="Text 4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50" name="Shape 4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53" name="Shape 5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5" name="Text 5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9" name="Shape 5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1" name="Text 5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62" name="Text 5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63" name="Shape 60"/>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66" name="Shape 63"/>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69" name="Shape 66"/>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1" name="Text 68"/>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fashion important?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المَوْضَةُ مُهِمَّةٌ؟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follow fashion?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تَتْبَعُ المَوْضَةَ؟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little. In my opinion clothes express our personality.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قَلِيلًا. فِي رَأْيِي المَلَابِسُ تُعَبِّرُ عَنْ شَخْصِيَّتِنَا.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fashion is very expensive!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وَلٰكِنَّ المَوْضَةَ غَالِيَةٌ جِدًّا!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so I prefer simple, comfortable clothes.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صَحِيحٌ، لِذٰلِكَ أُفَضِّلُ المَلَابِسَ البَسِيطَةَ وَالمُرِيحَةَ.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think of traditional dress?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رَأْيُكَ فِي اللِّبَاسِ التَّقْلِيدِيِّ؟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Although it is old, it is elegant and expresses our identity.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الرَّغْمِ مِنْ أَنَّهُ قَدِيمٌ، فَإِنَّهُ أَنِيقٌ وَيُعَبِّرُ عَنْ هُوِيَّتِنَا.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opinions — every opinion needs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 وَلٰكِنَّ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المَوْضَةُ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fashion?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المَوْضَةِ؟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لِأَنَّهَا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Modern or traditional clothes?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المَلَابِسَ العَصْرِيَّةَ أَمِ التَّقْلِيدِيَّةَ؟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فِي العِيدِ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 أَنِيقًا / أَنِيقَةً</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on a formal occasion?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فِي مُنَاسَبَةٍ رَسْمِيَّةٍ؟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الأَخْلَاقَ أَهَمُّ</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إِلَى حَدٍّ مَا، لِأَنَّ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clothes express personality?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المَلَابِسُ تُعَبِّرُ عَنِ الشَّخْصِيَّةِ؟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لِأَنَّ … / نَعَمْ،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spend a lot of money on clothes?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تُنْفِقُ مَالًا كَثِيرًا عَلَى المَلَابِسِ؟</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school uniform consultation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اسْتِشَارَةٌ عَنِ الزِّيِّ المَدْرَسِيِّ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رَأْيٌ ← فِي رَأْيِ الطُّلَّابِ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 الطُّلَّابِ فِي الزِّيِّ الحَالِيِّ؟</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مُشْكِلَةٌ ← وَلٰكِنَّ السُّتْرَةَ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problem — with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مُشْكِلَةٌ؟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proposal.</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اقْتِرَاحُكَ؟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concession.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 بَعْضَ الأَهَالِي يَقُولُونَ إِنَّهُ غَيْرُ رَسْمِيٍّ.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representative · Leader = the head teacher.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One minute: fashion — for and against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المَوْضَةُ: مَعَ وَضِدَّ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balanced one-minute talk: two points for following fashion, two against, then your conclusion.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opinions with </a:t>
            </a:r>
            <a:pPr algn="l" indent="0" marL="0">
              <a:buNone/>
            </a:pPr>
            <a:r>
              <a:rPr lang="ar-SA" altLang="en-US" sz="1500" dirty="0">
                <a:solidFill>
                  <a:srgbClr val="1F2A37"/>
                </a:solidFill>
                <a:latin typeface="Amiri" pitchFamily="2" charset="-78"/>
                <a:ea typeface="Amiri" pitchFamily="2" charset="-78"/>
                <a:cs typeface="Amiri" pitchFamily="2" charset="-78"/>
              </a:rPr>
              <a:t>فِي رَأْيِي … 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 + one counter-point and four style adjectives.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dirty="0">
                <a:solidFill>
                  <a:srgbClr val="1F2A37"/>
                </a:solidFill>
                <a:latin typeface="Calibri" pitchFamily="34" charset="0"/>
                <a:cs typeface="Amiri" pitchFamily="2" charset="-78"/>
              </a:rPr>
              <a:t> … and a personal example.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opinion this dress is elegant.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الفُسْتَانُ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الفُسْتَانُ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أَنِيقٌ.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أَنِيقَةٌ.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Modern clothes are nice, but they are expensive.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المَلَابِسُ العَصْرِيَّةُ جَمِيلَةٌ،</a:t>
            </a:r>
            <a:endParaRPr lang="ar-SA" sz="175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المَلَابِسُ العَصْرِيُّ جَمِيلٌ،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Although the uniform is simple, it is practical.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 مِنْ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الزِّيَّ بَسِيطٌ،</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الزِّيُّ بَسِيطٌ،</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فَإِنَّهُ عَمَلِيٌّ.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لٰكِنَّهُ عَمَلِيٌّ.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opinion this dress is elegant.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فُسْتَانٌ</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أَنِيقٌ</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رَأْيِي هٰذَا الفُسْتَانُ أَنِيقٌ.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Modern clothes are nice, but they are expensive.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جَمِيلَةٌ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وَلٰكِنَّهَا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غَالِيَةٌ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المَلَابِسُ العَصْرِيَّةُ جَمِيلَةٌ، وَلٰكِنَّهَا غَالِيَةٌ.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Although the uniform is simple, it is practical.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أَنَّ</a:t>
            </a:r>
            <a:pPr algn="l" indent="0" marL="0">
              <a:buNone/>
            </a:pPr>
            <a:r>
              <a:rPr lang="en-US" sz="1050" i="1" dirty="0">
                <a:solidFill>
                  <a:srgbClr val="5A6472"/>
                </a:solidFill>
                <a:latin typeface="Calibri" pitchFamily="34" charset="0"/>
                <a:cs typeface="Amiri" pitchFamily="2" charset="-78"/>
              </a:rPr>
              <a:t> + noun in -a (</a:t>
            </a:r>
            <a:pPr algn="l" indent="0" marL="0">
              <a:buNone/>
            </a:pPr>
            <a:r>
              <a:rPr lang="ar-SA" altLang="en-US" sz="1350" dirty="0">
                <a:solidFill>
                  <a:srgbClr val="5A6472"/>
                </a:solidFill>
                <a:latin typeface="Amiri" pitchFamily="2" charset="-78"/>
                <a:ea typeface="Amiri" pitchFamily="2" charset="-78"/>
                <a:cs typeface="Amiri" pitchFamily="2" charset="-78"/>
              </a:rPr>
              <a:t>الزِّيَّ</a:t>
            </a:r>
            <a:pPr algn="l" indent="0" marL="0">
              <a:buNone/>
            </a:pPr>
            <a:r>
              <a:rPr lang="en-US" sz="1050" i="1" dirty="0">
                <a:solidFill>
                  <a:srgbClr val="5A6472"/>
                </a:solidFill>
                <a:latin typeface="Calibri" pitchFamily="34" charset="0"/>
                <a:cs typeface="Amiri" pitchFamily="2" charset="-78"/>
              </a:rPr>
              <a:t>); answer with </a:t>
            </a:r>
            <a:pPr algn="l" indent="0" marL="0">
              <a:buNone/>
            </a:pPr>
            <a:r>
              <a:rPr lang="ar-SA" altLang="en-US" sz="1350" dirty="0">
                <a:solidFill>
                  <a:srgbClr val="5A6472"/>
                </a:solidFill>
                <a:latin typeface="Amiri" pitchFamily="2" charset="-78"/>
                <a:ea typeface="Amiri" pitchFamily="2" charset="-78"/>
                <a:cs typeface="Amiri" pitchFamily="2" charset="-78"/>
              </a:rPr>
              <a:t>فَإِنَّ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الرَّغْمِ مِنْ أَنَّ الزِّيَّ بَسِيطٌ، فَإِنَّهُ عَمَلِيٌّ.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المَلَابِسُ التَّقْلِيدِيَّةُ أَنِيقُونَ.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Non-human plural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وَلٰكِنَّ المَوْضَةُ غَالِيَةٌ.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وَلٰكِنَّ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البِنْتُ قَبِيحَةٌ لِأَنَّ مَلَابِسَهَا قَدِيمَةٌ.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Judge the clothes, not the person.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المَلَابِسُ التَّقْلِيدِيَّةُ أَنِيقُونَ.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المَلَابِسُ التَّقْلِيدِيَّةُ أَنِيقَةٌ.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in the plural → feminine singular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وَلٰكِنَّ المَوْضَةُ غَالِيَةٌ.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وَلٰكِنَّ المَوْضَةَ غَالِيَةٌ.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وَلٰكِنَّ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هٰذِهِ البِنْتُ قَبِيحَةٌ لِأَنَّ مَلَابِسَهَا قَدِيمَةٌ.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رَأْيِي هٰذَا الأُسْلُوبُ لَا يُنَاسِبُنِي.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Respectful opinions: talk about style, not people’s looks.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جِهَةٍ ______ ، وَمِنْ جِهَةٍ أُخْرَى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المَلَابِسُ ______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clothes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مَثَلًا، أُحِبُّ ______ لِأَنَّهُ / لِأَنَّهَا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I like … because it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أَنِيقٌ · أَنِيقَةٌ  ·  عَصْرِيٌّ · عَصْرِيَّةٌ  ·  تَقْلِيدِيٌّ · تَقْلِيدِيَّةٌ  ·  بَسِيطٌ · مُرِيحٌ  ·  مُحْتَشِمٌ · رَسْمِيٌّ  ·  تُعَبِّرُ عَنْ  ·  وَلٰكِنَّ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 balanced opinion: fashion and identity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مُتَوَازِنٌ: المَوْضَةُ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balanced paragraph (about 60–80 words) for a class debate: “Do clothes show who we are?” Include: • your opinion with a reason • one point for and one point against (</a:t>
            </a:r>
            <a:pPr algn="l" indent="0" marL="0">
              <a:buNone/>
            </a:pPr>
            <a:r>
              <a:rPr lang="ar-SA" altLang="en-US" sz="1500" b="1" dirty="0">
                <a:solidFill>
                  <a:srgbClr val="1F2A37"/>
                </a:solidFill>
                <a:latin typeface="Amiri" pitchFamily="2" charset="-78"/>
                <a:ea typeface="Amiri" pitchFamily="2" charset="-78"/>
                <a:cs typeface="Amiri" pitchFamily="2" charset="-78"/>
              </a:rPr>
              <a:t>وَلٰكِنَّ</a:t>
            </a:r>
            <a:pPr algn="l" indent="0" marL="0">
              <a:buNone/>
            </a:pPr>
            <a:r>
              <a:rPr lang="en-US" sz="1150" b="1" dirty="0">
                <a:solidFill>
                  <a:srgbClr val="1F2A37"/>
                </a:solidFill>
                <a:latin typeface="Calibri" pitchFamily="34" charset="0"/>
                <a:cs typeface="Amiri" pitchFamily="2" charset="-78"/>
              </a:rPr>
              <a:t>) • a concession with </a:t>
            </a:r>
            <a:pPr algn="l" indent="0" marL="0">
              <a:buNone/>
            </a:pPr>
            <a:r>
              <a:rPr lang="ar-SA" altLang="en-US" sz="1500" b="1"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b="1" dirty="0">
                <a:solidFill>
                  <a:srgbClr val="1F2A37"/>
                </a:solidFill>
                <a:latin typeface="Calibri" pitchFamily="34" charset="0"/>
                <a:cs typeface="Amiri" pitchFamily="2" charset="-78"/>
              </a:rPr>
              <a:t> … • four style adjectives that agree • a conclusion.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جِهَةٍ … وَمِنْ جِهَةٍ أُخْرَى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with a reason and make the adjectives agree?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 it with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 and a concession (</a:t>
            </a:r>
            <a:pPr algn="l" indent="0" marL="0">
              <a:buNone/>
            </a:pPr>
            <a:r>
              <a:rPr lang="ar-SA" altLang="en-US" sz="1450" dirty="0">
                <a:solidFill>
                  <a:srgbClr val="5A6472"/>
                </a:solidFill>
                <a:latin typeface="Amiri" pitchFamily="2" charset="-78"/>
                <a:ea typeface="Amiri" pitchFamily="2" charset="-78"/>
                <a:cs typeface="Amiri" pitchFamily="2" charset="-78"/>
              </a:rPr>
              <a:t>عَلَى الرَّغْمِ مِنْ أَنَّ … فَإِنَّ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 الطُّلَّابِ الزِّيُّ أَنِيقٌ، لِأَنَّ لَوْنَهُ جَمِيلٌ.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students think the uniform is smart, because its colour is nice.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 الطُّلَّابِ فِي الزِّيِّ الحَالِيِّ؟</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وَلٰكِنَّ السُّتْرَةَ ثَقِيلَةٌ وَغَيْرُ مُرِيحَةٍ فِي الصَّيْفِ.</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but the blazer is heavy and uncomfortable in summer.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مُشْكِلَةٌ؟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نَقْتَرِحُ قَمِيصًا رِيَاضِيًّا بَسِيطًا لِلصَّيْفِ، لِأَنَّهُ عَمَلِيٌّ.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suggest a simple polo shirt for summer, because it is practical.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اقْتِرَاحُكَ؟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أَنَّهُ غَيْرُ رَسْمِيٍّ، فَإِنَّهُ مُرِيحٌ وَأَرْخَصُ لِلْعَائِلَاتِ.</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Although it isn’t formal, it is comfortable and cheaper for families.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 بَعْضَ الأَهَالِي يَقُولُونَ إِنَّهُ غَيْرُ رَسْمِيٍّ.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رَأْيِي المَلَابِسُ تُعَبِّرُ عَنْ جُزْءٍ مِنْ شَخْصِيَّتِنَا، لِأَنَّنَا نَخْتَارُ الأَلْوَانَ وَالأُسْلُوبَ بِأَنْفُسِنَا. مَثَلًا، أُحِبُّ المَلَابِسَ البَسِيطَةَ وَالمُرِيحَةَ، لِأَنَّنِي شَخْصٌ هَادِئٌ وَعَمَلِيٌّ. مِنْ جِهَةٍ، اللِّبَاسُ التَّقْلِيدِيُّ أَنِيقٌ وَمُحْتَشِمٌ وَيُعَبِّرُ عَنْ هُوِيَّتِنَا. وَلٰكِنَّ المَوْضَةَ العَصْرِيَّةَ تَتَغَيَّرُ بِسُرْعَةٍ وَغَالِيَةٌ جِدًّا. عَلَى الرَّغْمِ مِنْ أَنَّ المَلَابِسَ مُهِمَّةٌ، فَإِنَّ الأَخْلَاقَ أَهَمُّ مِنْهَا بِكَثِيرٍ. فِي النِّهَايَةِ أَرَى أَنَّ المَلَابِسَ تُظْهِرُ ذَوْقَنَا فَقَطْ، وَلَا تُظْهِرُ مَنْ نَحْنُ حَقًّا.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opinion clothes express part of our personality, because we choose the colours and style ourselves. For example, I like simple, comfortable clothes, because I am a calm, practical person. On one hand, traditional dress is elegant and modest and expresses our identity. But modern fashion changes quickly and is very expensive. Although clothes are important, good character is much more important. In the end I think clothes only show our taste — they don’t show who we really are.”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 المَوْضَةَ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 الأَخْلَاقَ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D2-L05 · Comparing People and Clothes — More, Less and Better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المُقَارَنَةُ بَيْنَ النَّاسِ وَالمَلَابِسِ — أَكْثَرُ وَأَقَلُّ وَأَفْضَلُ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D2-L04 · Practice Room — Fashion and Identity — Opinions on Style and Dress</dc:title>
  <dc:subject>PptxGenJS Presentation</dc:subject>
  <dc:creator>Al Madina Online School · Arabic Department</dc:creator>
  <cp:lastModifiedBy>Al Madina Online School · Arabic Department</cp:lastModifiedBy>
  <cp:revision>1</cp:revision>
  <dcterms:created xsi:type="dcterms:W3CDTF">2026-10-25T18:05:33Z</dcterms:created>
  <dcterms:modified xsi:type="dcterms:W3CDTF">2026-10-25T18:05:33Z</dcterms:modified>
</cp:coreProperties>
</file>