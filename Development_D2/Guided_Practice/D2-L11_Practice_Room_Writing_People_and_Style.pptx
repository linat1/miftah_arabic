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ROOM AT A GLANCE — one combined lesson (speaking, then writing), 55–60 minutes: about 6 minutes in the main room, about 45 minutes in breakout rooms of two or three, about 6 minutes back together.
0–2 Welcome · 2–5 How the room works · ROOMS, Part A Speaking: Step 1 Word warm-up (5) · Step 2 Say the model dialogue (5) · Step 3 Question cards (7) · Step 4 Role-play card (7) · Step 5 Short talk (4) · Part B Writing: Step 6 Sentence builder (4) · Step 7 Spot and fix (3) · Step 8 Write your text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D2-L11 (Writing — Describing People, Relationships and Style) — new practice tasks built on the lesson’s own word bank and grammar (three-paragraph plan: (1) person + appearance · (2) personality + relationship · (3) style + opinion; checking agreement (m. / f. / pl.; non-human plural → f. sg.), references (-hu / -hā), connectors (li-anna · wa-lākinna · baynamā · ʿalā al-raghmi min anna … fa-inna)).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D2-L11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starter column is support, not the answer: students finish it with their OWN information. Coach listens for the key structure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4 (7 min). FADED SUPPORT: tasks 1–2 show the plan (question word → first words); students write their own plan for 3–4. Everyone is Speaker once. To a girl the Leader says: to a girl writer: رَأْيُكِ · كَتَبْتِ · أَضِيفِي. Feedback = one strength + one correction + one improvement.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writing). Core: frames for every bullet (40–50 words). Develop: 60–80 words, frames only if stuck. Stretch: no frames, add reasons and another time frame. Teacher visits rooms and reads ONE sentence per student.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(67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D2  ·  D2-L11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D2-L11</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Practice Room — Writing — Describing People, Relationships and Style</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الكِتَابَةُ عَنِ النَّاسِ</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150" dirty="0">
                <a:solidFill>
                  <a:srgbClr val="C6D2E6"/>
                </a:solidFill>
                <a:latin typeface="Calibri" pitchFamily="34" charset="0"/>
                <a:cs typeface="Amiri" pitchFamily="2" charset="-78"/>
              </a:rPr>
              <a:t>Students run their own writing workshop, with speaking first: say the adjectives in all forms, act a planning dialogue, plan aloud with question cards, do a role-play card giving peer feedback, rehearse their text aloud for one minute, then build, fix and write an extended three-paragraph text and check it with a buddy.</a:t>
            </a:r>
            <a:endParaRPr lang="en-US" sz="115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D2-L11 · Development D2 · People, Relationships and Style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D2 › D2-L11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D2-L11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D2-L11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D2-L11 · Speaking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D2-L11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word warm-up · say the model 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question cards · role-play card · short talk.</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sentence builder · spot and fix.</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D2-L11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D2-L11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opens the next step, keeps the time and reads the questions.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answers in Arabic, in a full sentence. Think for a few seconds, then speak.</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listens,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their OWN text;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D2-L11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WORD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use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قُلْهَا وَاسْتَعْمِلْهَا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D2-L11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in ENGLISH from the next two slides. The Speaker says it in ARABIC. The Coach checks the Arabic (and the ending)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English words; Speaker answers in Arabic.</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word on the slide.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words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each word in a short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a:t>
            </a:r>
            <a:pPr algn="l" indent="0" marL="0">
              <a:buNone/>
            </a:pPr>
            <a:r>
              <a:rPr lang="ar-SA" altLang="en-US" sz="1500" dirty="0">
                <a:solidFill>
                  <a:srgbClr val="1F2A37"/>
                </a:solidFill>
                <a:latin typeface="Amiri" pitchFamily="2" charset="-78"/>
                <a:ea typeface="Amiri" pitchFamily="2" charset="-78"/>
                <a:cs typeface="Amiri" pitchFamily="2" charset="-78"/>
              </a:rPr>
              <a:t>أَنَا … / عِنْدِي … / هٰذَا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the feminine or plural form too, then a sentence with two words.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D2-L11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Personality (m. / f.)</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D2-L11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وَدُودٌ / وَدُودَةٌ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friendly</a:t>
            </a:r>
            <a:endParaRPr lang="en-US" sz="1350" dirty="0"/>
          </a:p>
          <a:p>
            <a:pPr indent="0" marL="0">
              <a:buNone/>
            </a:pPr>
            <a:r>
              <a:rPr lang="en-US" sz="1100" i="1" dirty="0">
                <a:solidFill>
                  <a:srgbClr val="5A6472"/>
                </a:solidFill>
                <a:latin typeface="Calibri" pitchFamily="34" charset="0"/>
                <a:cs typeface="Amiri" pitchFamily="2" charset="-78"/>
              </a:rPr>
              <a:t>wa-dū-dun / wa-dū-da-tun</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وَدُودُونَ</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وَدُودَةٌ</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وَدُودٌ</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6" name="Shape 33"/>
          <p:cNvSpPr/>
          <p:nvPr/>
        </p:nvSpPr>
        <p:spPr>
          <a:xfrm>
            <a:off x="4782312" y="1938528"/>
            <a:ext cx="896112"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38" name="Shape 3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صَادِقٌ / صَادِقَةٌ</a:t>
            </a:r>
            <a:endParaRPr lang="ar-SA" sz="3000" dirty="0"/>
          </a:p>
        </p:txBody>
      </p:sp>
      <p:sp>
        <p:nvSpPr>
          <p:cNvPr id="41" name="Text 38"/>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honest</a:t>
            </a:r>
            <a:endParaRPr lang="en-US" sz="1350" dirty="0"/>
          </a:p>
          <a:p>
            <a:pPr indent="0" marL="0">
              <a:buNone/>
            </a:pPr>
            <a:r>
              <a:rPr lang="en-US" sz="1100" i="1" dirty="0">
                <a:solidFill>
                  <a:srgbClr val="5A6472"/>
                </a:solidFill>
                <a:latin typeface="Calibri" pitchFamily="34" charset="0"/>
                <a:cs typeface="Amiri" pitchFamily="2" charset="-78"/>
              </a:rPr>
              <a:t>ṣā-di-qun / ṣā-di-qa-tun</a:t>
            </a:r>
            <a:endParaRPr lang="en-US" sz="1350" dirty="0"/>
          </a:p>
        </p:txBody>
      </p:sp>
      <p:sp>
        <p:nvSpPr>
          <p:cNvPr id="42" name="Shape 39"/>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4" name="Text 41"/>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صَادِقُونَ</a:t>
            </a:r>
            <a:endParaRPr lang="ar-SA" sz="1500" dirty="0"/>
          </a:p>
        </p:txBody>
      </p:sp>
      <p:sp>
        <p:nvSpPr>
          <p:cNvPr id="45" name="Shape 42"/>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7" name="Text 44"/>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صَادِقَةٌ</a:t>
            </a:r>
            <a:endParaRPr lang="ar-SA" sz="1500" dirty="0"/>
          </a:p>
        </p:txBody>
      </p:sp>
      <p:sp>
        <p:nvSpPr>
          <p:cNvPr id="48" name="Shape 45"/>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50" name="Text 47"/>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صَادِقٌ</a:t>
            </a:r>
            <a:endParaRPr lang="ar-SA" sz="1500" dirty="0"/>
          </a:p>
        </p:txBody>
      </p:sp>
      <p:sp>
        <p:nvSpPr>
          <p:cNvPr id="51" name="Shape 4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566928" y="1920240"/>
            <a:ext cx="310896" cy="310896"/>
          </a:xfrm>
          <a:prstGeom prst="ellipse">
            <a:avLst/>
          </a:prstGeom>
          <a:solidFill>
            <a:srgbClr val="F4F1EA"/>
          </a:solidFill>
          <a:ln w="12700">
            <a:solidFill>
              <a:srgbClr val="F4F1EA"/>
            </a:solidFill>
            <a:prstDash val="solid"/>
          </a:ln>
        </p:spPr>
      </p:sp>
      <p:sp>
        <p:nvSpPr>
          <p:cNvPr id="53" name="Text 5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54" name="Shape 51"/>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56" name="Shape 53"/>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7" name="Text 54"/>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8" name="Text 55"/>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صَبُورٌ / صَبُورَةٌ</a:t>
            </a:r>
            <a:endParaRPr lang="ar-SA" sz="3000" dirty="0"/>
          </a:p>
        </p:txBody>
      </p:sp>
      <p:sp>
        <p:nvSpPr>
          <p:cNvPr id="59" name="Text 56"/>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patient</a:t>
            </a:r>
            <a:endParaRPr lang="en-US" sz="1350" dirty="0"/>
          </a:p>
          <a:p>
            <a:pPr indent="0" marL="0">
              <a:buNone/>
            </a:pPr>
            <a:r>
              <a:rPr lang="en-US" sz="1100" i="1" dirty="0">
                <a:solidFill>
                  <a:srgbClr val="5A6472"/>
                </a:solidFill>
                <a:latin typeface="Calibri" pitchFamily="34" charset="0"/>
                <a:cs typeface="Amiri" pitchFamily="2" charset="-78"/>
              </a:rPr>
              <a:t>ṣa-bū-run / ṣa-bū-ra-tun</a:t>
            </a:r>
            <a:endParaRPr lang="en-US" sz="1350" dirty="0"/>
          </a:p>
        </p:txBody>
      </p:sp>
      <p:sp>
        <p:nvSpPr>
          <p:cNvPr id="60" name="Shape 57"/>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2" name="Text 59"/>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صَبُورُونَ</a:t>
            </a:r>
            <a:endParaRPr lang="ar-SA" sz="1500" dirty="0"/>
          </a:p>
        </p:txBody>
      </p:sp>
      <p:sp>
        <p:nvSpPr>
          <p:cNvPr id="63" name="Shape 60"/>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64" name="Text 61"/>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65" name="Text 62"/>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صَبُورَةٌ</a:t>
            </a:r>
            <a:endParaRPr lang="ar-SA" sz="1500" dirty="0"/>
          </a:p>
        </p:txBody>
      </p:sp>
      <p:sp>
        <p:nvSpPr>
          <p:cNvPr id="66" name="Shape 63"/>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7" name="Text 64"/>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68" name="Text 65"/>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صَبُورٌ</a:t>
            </a:r>
            <a:endParaRPr lang="ar-SA" sz="1500" dirty="0"/>
          </a:p>
        </p:txBody>
      </p:sp>
      <p:sp>
        <p:nvSpPr>
          <p:cNvPr id="69" name="Shape 6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8211312" y="4261104"/>
            <a:ext cx="310896" cy="310896"/>
          </a:xfrm>
          <a:prstGeom prst="ellipse">
            <a:avLst/>
          </a:prstGeom>
          <a:solidFill>
            <a:srgbClr val="F4F1EA"/>
          </a:solidFill>
          <a:ln w="12700">
            <a:solidFill>
              <a:srgbClr val="F4F1EA"/>
            </a:solidFill>
            <a:prstDash val="solid"/>
          </a:ln>
        </p:spPr>
      </p:sp>
      <p:sp>
        <p:nvSpPr>
          <p:cNvPr id="71" name="Text 6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72" name="Shape 69"/>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73" name="Text 70"/>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74" name="Shape 71"/>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75" name="Text 72"/>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6" name="Text 73"/>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مُتَعَاوِنٌ / مُتَعَاوِنَةٌ</a:t>
            </a:r>
            <a:endParaRPr lang="ar-SA" sz="3000" dirty="0"/>
          </a:p>
        </p:txBody>
      </p:sp>
      <p:sp>
        <p:nvSpPr>
          <p:cNvPr id="77" name="Text 74"/>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helpful/cooperative</a:t>
            </a:r>
            <a:endParaRPr lang="en-US" sz="1350" dirty="0"/>
          </a:p>
          <a:p>
            <a:pPr indent="0" marL="0">
              <a:buNone/>
            </a:pPr>
            <a:r>
              <a:rPr lang="en-US" sz="1100" i="1" dirty="0">
                <a:solidFill>
                  <a:srgbClr val="5A6472"/>
                </a:solidFill>
                <a:latin typeface="Calibri" pitchFamily="34" charset="0"/>
                <a:cs typeface="Amiri" pitchFamily="2" charset="-78"/>
              </a:rPr>
              <a:t>mu-ta-ʿā-wi-nun / mu-ta-ʿā-wi-na-tun</a:t>
            </a:r>
            <a:endParaRPr lang="en-US" sz="1350" dirty="0"/>
          </a:p>
        </p:txBody>
      </p:sp>
      <p:sp>
        <p:nvSpPr>
          <p:cNvPr id="78" name="Shape 75"/>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79" name="Text 76"/>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80" name="Text 77"/>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مُتَعَاوِنُونَ</a:t>
            </a:r>
            <a:endParaRPr lang="ar-SA" sz="1500" dirty="0"/>
          </a:p>
        </p:txBody>
      </p:sp>
      <p:sp>
        <p:nvSpPr>
          <p:cNvPr id="81" name="Shape 78"/>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82" name="Text 79"/>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83" name="Text 80"/>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مُتَعَاوِنَةٌ</a:t>
            </a:r>
            <a:endParaRPr lang="ar-SA" sz="1500" dirty="0"/>
          </a:p>
        </p:txBody>
      </p:sp>
      <p:sp>
        <p:nvSpPr>
          <p:cNvPr id="84" name="Shape 81"/>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85" name="Text 82"/>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86" name="Text 83"/>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مُتَعَاوِنٌ</a:t>
            </a:r>
            <a:endParaRPr lang="ar-SA" sz="1500" dirty="0"/>
          </a:p>
        </p:txBody>
      </p:sp>
      <p:sp>
        <p:nvSpPr>
          <p:cNvPr id="87" name="Shape 8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8" name="Shape 85"/>
          <p:cNvSpPr/>
          <p:nvPr/>
        </p:nvSpPr>
        <p:spPr>
          <a:xfrm>
            <a:off x="4389120" y="4261104"/>
            <a:ext cx="310896" cy="310896"/>
          </a:xfrm>
          <a:prstGeom prst="ellipse">
            <a:avLst/>
          </a:prstGeom>
          <a:solidFill>
            <a:srgbClr val="F4F1EA"/>
          </a:solidFill>
          <a:ln w="12700">
            <a:solidFill>
              <a:srgbClr val="F4F1EA"/>
            </a:solidFill>
            <a:prstDash val="solid"/>
          </a:ln>
        </p:spPr>
      </p:sp>
      <p:sp>
        <p:nvSpPr>
          <p:cNvPr id="89" name="Text 8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90" name="Shape 87"/>
          <p:cNvSpPr/>
          <p:nvPr/>
        </p:nvSpPr>
        <p:spPr>
          <a:xfrm>
            <a:off x="4782312" y="4279392"/>
            <a:ext cx="896112" cy="256032"/>
          </a:xfrm>
          <a:prstGeom prst="roundRect">
            <a:avLst>
              <a:gd name="adj" fmla="val 50000"/>
            </a:avLst>
          </a:prstGeom>
          <a:solidFill>
            <a:srgbClr val="EFE7D2"/>
          </a:solidFill>
          <a:ln w="12700">
            <a:solidFill>
              <a:srgbClr val="EFE7D2"/>
            </a:solidFill>
            <a:prstDash val="solid"/>
          </a:ln>
        </p:spPr>
      </p:sp>
      <p:sp>
        <p:nvSpPr>
          <p:cNvPr id="91" name="Text 88"/>
          <p:cNvSpPr txBox="1"/>
          <p:nvPr/>
        </p:nvSpPr>
        <p:spPr>
          <a:xfrm>
            <a:off x="4782312"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92" name="Shape 89"/>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93" name="Text 90"/>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94" name="Text 91"/>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هَادِئٌ / هَادِئَةٌ</a:t>
            </a:r>
            <a:endParaRPr lang="ar-SA" sz="3000" dirty="0"/>
          </a:p>
        </p:txBody>
      </p:sp>
      <p:sp>
        <p:nvSpPr>
          <p:cNvPr id="95" name="Text 92"/>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calm</a:t>
            </a:r>
            <a:endParaRPr lang="en-US" sz="1350" dirty="0"/>
          </a:p>
          <a:p>
            <a:pPr indent="0" marL="0">
              <a:buNone/>
            </a:pPr>
            <a:r>
              <a:rPr lang="en-US" sz="1100" i="1" dirty="0">
                <a:solidFill>
                  <a:srgbClr val="5A6472"/>
                </a:solidFill>
                <a:latin typeface="Calibri" pitchFamily="34" charset="0"/>
                <a:cs typeface="Amiri" pitchFamily="2" charset="-78"/>
              </a:rPr>
              <a:t>hā-di-ʾun / hā-di-ʾa-tun</a:t>
            </a:r>
            <a:endParaRPr lang="en-US" sz="1350" dirty="0"/>
          </a:p>
        </p:txBody>
      </p:sp>
      <p:sp>
        <p:nvSpPr>
          <p:cNvPr id="96" name="Shape 93"/>
          <p:cNvSpPr/>
          <p:nvPr/>
        </p:nvSpPr>
        <p:spPr>
          <a:xfrm>
            <a:off x="6720840" y="5779008"/>
            <a:ext cx="1060704" cy="438912"/>
          </a:xfrm>
          <a:prstGeom prst="roundRect">
            <a:avLst>
              <a:gd name="adj" fmla="val 10417"/>
            </a:avLst>
          </a:prstGeom>
          <a:solidFill>
            <a:srgbClr val="F4F1EA"/>
          </a:solidFill>
          <a:ln w="9525">
            <a:solidFill>
              <a:srgbClr val="F4F1EA"/>
            </a:solidFill>
            <a:prstDash val="solid"/>
          </a:ln>
        </p:spPr>
      </p:sp>
      <p:sp>
        <p:nvSpPr>
          <p:cNvPr id="97" name="Text 94"/>
          <p:cNvSpPr txBox="1"/>
          <p:nvPr/>
        </p:nvSpPr>
        <p:spPr>
          <a:xfrm>
            <a:off x="677570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98" name="Text 95"/>
          <p:cNvSpPr txBox="1"/>
          <p:nvPr/>
        </p:nvSpPr>
        <p:spPr>
          <a:xfrm>
            <a:off x="676656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هَادِئُونَ</a:t>
            </a:r>
            <a:endParaRPr lang="ar-SA" sz="1500" dirty="0"/>
          </a:p>
        </p:txBody>
      </p:sp>
      <p:sp>
        <p:nvSpPr>
          <p:cNvPr id="99" name="Shape 96"/>
          <p:cNvSpPr/>
          <p:nvPr/>
        </p:nvSpPr>
        <p:spPr>
          <a:xfrm>
            <a:off x="5568696" y="5779008"/>
            <a:ext cx="1060704" cy="438912"/>
          </a:xfrm>
          <a:prstGeom prst="roundRect">
            <a:avLst>
              <a:gd name="adj" fmla="val 10417"/>
            </a:avLst>
          </a:prstGeom>
          <a:solidFill>
            <a:srgbClr val="F4F1EA"/>
          </a:solidFill>
          <a:ln w="9525">
            <a:solidFill>
              <a:srgbClr val="F4F1EA"/>
            </a:solidFill>
            <a:prstDash val="solid"/>
          </a:ln>
        </p:spPr>
      </p:sp>
      <p:sp>
        <p:nvSpPr>
          <p:cNvPr id="100" name="Text 97"/>
          <p:cNvSpPr txBox="1"/>
          <p:nvPr/>
        </p:nvSpPr>
        <p:spPr>
          <a:xfrm>
            <a:off x="5623560"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101" name="Text 98"/>
          <p:cNvSpPr txBox="1"/>
          <p:nvPr/>
        </p:nvSpPr>
        <p:spPr>
          <a:xfrm>
            <a:off x="5614416"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هَادِئَةٌ</a:t>
            </a:r>
            <a:endParaRPr lang="ar-SA" sz="1500" dirty="0"/>
          </a:p>
        </p:txBody>
      </p:sp>
      <p:sp>
        <p:nvSpPr>
          <p:cNvPr id="102" name="Shape 99"/>
          <p:cNvSpPr/>
          <p:nvPr/>
        </p:nvSpPr>
        <p:spPr>
          <a:xfrm>
            <a:off x="4416552" y="5779008"/>
            <a:ext cx="1060704" cy="438912"/>
          </a:xfrm>
          <a:prstGeom prst="roundRect">
            <a:avLst>
              <a:gd name="adj" fmla="val 10417"/>
            </a:avLst>
          </a:prstGeom>
          <a:solidFill>
            <a:srgbClr val="F4F1EA"/>
          </a:solidFill>
          <a:ln w="9525">
            <a:solidFill>
              <a:srgbClr val="F4F1EA"/>
            </a:solidFill>
            <a:prstDash val="solid"/>
          </a:ln>
        </p:spPr>
      </p:sp>
      <p:sp>
        <p:nvSpPr>
          <p:cNvPr id="103" name="Text 100"/>
          <p:cNvSpPr txBox="1"/>
          <p:nvPr/>
        </p:nvSpPr>
        <p:spPr>
          <a:xfrm>
            <a:off x="447141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104" name="Text 101"/>
          <p:cNvSpPr txBox="1"/>
          <p:nvPr/>
        </p:nvSpPr>
        <p:spPr>
          <a:xfrm>
            <a:off x="446227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هَادِئٌ</a:t>
            </a:r>
            <a:endParaRPr lang="ar-SA" sz="1500" dirty="0"/>
          </a:p>
        </p:txBody>
      </p:sp>
      <p:sp>
        <p:nvSpPr>
          <p:cNvPr id="105" name="Shape 10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06" name="Shape 103"/>
          <p:cNvSpPr/>
          <p:nvPr/>
        </p:nvSpPr>
        <p:spPr>
          <a:xfrm>
            <a:off x="566928" y="4261104"/>
            <a:ext cx="310896" cy="310896"/>
          </a:xfrm>
          <a:prstGeom prst="ellipse">
            <a:avLst/>
          </a:prstGeom>
          <a:solidFill>
            <a:srgbClr val="F4F1EA"/>
          </a:solidFill>
          <a:ln w="12700">
            <a:solidFill>
              <a:srgbClr val="F4F1EA"/>
            </a:solidFill>
            <a:prstDash val="solid"/>
          </a:ln>
        </p:spPr>
      </p:sp>
      <p:sp>
        <p:nvSpPr>
          <p:cNvPr id="107" name="Text 10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108" name="Shape 105"/>
          <p:cNvSpPr/>
          <p:nvPr/>
        </p:nvSpPr>
        <p:spPr>
          <a:xfrm>
            <a:off x="960120" y="4279392"/>
            <a:ext cx="896112" cy="256032"/>
          </a:xfrm>
          <a:prstGeom prst="roundRect">
            <a:avLst>
              <a:gd name="adj" fmla="val 50000"/>
            </a:avLst>
          </a:prstGeom>
          <a:solidFill>
            <a:srgbClr val="EFE7D2"/>
          </a:solidFill>
          <a:ln w="12700">
            <a:solidFill>
              <a:srgbClr val="EFE7D2"/>
            </a:solidFill>
            <a:prstDash val="solid"/>
          </a:ln>
        </p:spPr>
      </p:sp>
      <p:sp>
        <p:nvSpPr>
          <p:cNvPr id="109" name="Text 106"/>
          <p:cNvSpPr txBox="1"/>
          <p:nvPr/>
        </p:nvSpPr>
        <p:spPr>
          <a:xfrm>
            <a:off x="960120"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110" name="Shape 107"/>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111" name="Text 108"/>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112" name="Text 109"/>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وَاثِقٌ / وَاثِقَةٌ</a:t>
            </a:r>
            <a:endParaRPr lang="ar-SA" sz="3000" dirty="0"/>
          </a:p>
        </p:txBody>
      </p:sp>
      <p:sp>
        <p:nvSpPr>
          <p:cNvPr id="113" name="Text 110"/>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confident</a:t>
            </a:r>
            <a:endParaRPr lang="en-US" sz="1350" dirty="0"/>
          </a:p>
          <a:p>
            <a:pPr indent="0" marL="0">
              <a:buNone/>
            </a:pPr>
            <a:r>
              <a:rPr lang="en-US" sz="1100" i="1" dirty="0">
                <a:solidFill>
                  <a:srgbClr val="5A6472"/>
                </a:solidFill>
                <a:latin typeface="Calibri" pitchFamily="34" charset="0"/>
                <a:cs typeface="Amiri" pitchFamily="2" charset="-78"/>
              </a:rPr>
              <a:t>wā-thi-qun / wā-thi-qa-tun</a:t>
            </a:r>
            <a:endParaRPr lang="en-US" sz="1350" dirty="0"/>
          </a:p>
        </p:txBody>
      </p:sp>
      <p:sp>
        <p:nvSpPr>
          <p:cNvPr id="114" name="Shape 111"/>
          <p:cNvSpPr/>
          <p:nvPr/>
        </p:nvSpPr>
        <p:spPr>
          <a:xfrm>
            <a:off x="2898648" y="5779008"/>
            <a:ext cx="1060704" cy="438912"/>
          </a:xfrm>
          <a:prstGeom prst="roundRect">
            <a:avLst>
              <a:gd name="adj" fmla="val 10417"/>
            </a:avLst>
          </a:prstGeom>
          <a:solidFill>
            <a:srgbClr val="F4F1EA"/>
          </a:solidFill>
          <a:ln w="9525">
            <a:solidFill>
              <a:srgbClr val="F4F1EA"/>
            </a:solidFill>
            <a:prstDash val="solid"/>
          </a:ln>
        </p:spPr>
      </p:sp>
      <p:sp>
        <p:nvSpPr>
          <p:cNvPr id="115" name="Text 112"/>
          <p:cNvSpPr txBox="1"/>
          <p:nvPr/>
        </p:nvSpPr>
        <p:spPr>
          <a:xfrm>
            <a:off x="295351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116" name="Text 113"/>
          <p:cNvSpPr txBox="1"/>
          <p:nvPr/>
        </p:nvSpPr>
        <p:spPr>
          <a:xfrm>
            <a:off x="294436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وَاثِقُونَ</a:t>
            </a:r>
            <a:endParaRPr lang="ar-SA" sz="1500" dirty="0"/>
          </a:p>
        </p:txBody>
      </p:sp>
      <p:sp>
        <p:nvSpPr>
          <p:cNvPr id="117" name="Shape 114"/>
          <p:cNvSpPr/>
          <p:nvPr/>
        </p:nvSpPr>
        <p:spPr>
          <a:xfrm>
            <a:off x="1746504" y="5779008"/>
            <a:ext cx="1060704" cy="438912"/>
          </a:xfrm>
          <a:prstGeom prst="roundRect">
            <a:avLst>
              <a:gd name="adj" fmla="val 10417"/>
            </a:avLst>
          </a:prstGeom>
          <a:solidFill>
            <a:srgbClr val="F4F1EA"/>
          </a:solidFill>
          <a:ln w="9525">
            <a:solidFill>
              <a:srgbClr val="F4F1EA"/>
            </a:solidFill>
            <a:prstDash val="solid"/>
          </a:ln>
        </p:spPr>
      </p:sp>
      <p:sp>
        <p:nvSpPr>
          <p:cNvPr id="118" name="Text 115"/>
          <p:cNvSpPr txBox="1"/>
          <p:nvPr/>
        </p:nvSpPr>
        <p:spPr>
          <a:xfrm>
            <a:off x="180136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119" name="Text 116"/>
          <p:cNvSpPr txBox="1"/>
          <p:nvPr/>
        </p:nvSpPr>
        <p:spPr>
          <a:xfrm>
            <a:off x="179222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وَاثِقَةٌ</a:t>
            </a:r>
            <a:endParaRPr lang="ar-SA" sz="1500" dirty="0"/>
          </a:p>
        </p:txBody>
      </p:sp>
      <p:sp>
        <p:nvSpPr>
          <p:cNvPr id="120" name="Shape 117"/>
          <p:cNvSpPr/>
          <p:nvPr/>
        </p:nvSpPr>
        <p:spPr>
          <a:xfrm>
            <a:off x="594360" y="5779008"/>
            <a:ext cx="1060704" cy="438912"/>
          </a:xfrm>
          <a:prstGeom prst="roundRect">
            <a:avLst>
              <a:gd name="adj" fmla="val 10417"/>
            </a:avLst>
          </a:prstGeom>
          <a:solidFill>
            <a:srgbClr val="F4F1EA"/>
          </a:solidFill>
          <a:ln w="9525">
            <a:solidFill>
              <a:srgbClr val="F4F1EA"/>
            </a:solidFill>
            <a:prstDash val="solid"/>
          </a:ln>
        </p:spPr>
      </p:sp>
      <p:sp>
        <p:nvSpPr>
          <p:cNvPr id="121" name="Text 118"/>
          <p:cNvSpPr txBox="1"/>
          <p:nvPr/>
        </p:nvSpPr>
        <p:spPr>
          <a:xfrm>
            <a:off x="64922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122" name="Text 119"/>
          <p:cNvSpPr txBox="1"/>
          <p:nvPr/>
        </p:nvSpPr>
        <p:spPr>
          <a:xfrm>
            <a:off x="64008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وَاثِقٌ</a:t>
            </a:r>
            <a:endParaRPr lang="ar-SA" sz="1500" dirty="0"/>
          </a:p>
        </p:txBody>
      </p:sp>
      <p:sp>
        <p:nvSpPr>
          <p:cNvPr id="123" name="Text 12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D2-L11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qualities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D2-L11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20" name="Text 17"/>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مُجْتَهِدٌ / مُجْتَهِدَةٌ</a:t>
            </a:r>
            <a:endParaRPr lang="ar-SA" sz="3000" dirty="0"/>
          </a:p>
        </p:txBody>
      </p:sp>
      <p:sp>
        <p:nvSpPr>
          <p:cNvPr id="21" name="Text 18"/>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hard-working</a:t>
            </a:r>
            <a:endParaRPr lang="en-US" sz="1350" dirty="0"/>
          </a:p>
          <a:p>
            <a:pPr indent="0" marL="0">
              <a:buNone/>
            </a:pPr>
            <a:r>
              <a:rPr lang="en-US" sz="1100" i="1" dirty="0">
                <a:solidFill>
                  <a:srgbClr val="5A6472"/>
                </a:solidFill>
                <a:latin typeface="Calibri" pitchFamily="34" charset="0"/>
                <a:cs typeface="Amiri" pitchFamily="2" charset="-78"/>
              </a:rPr>
              <a:t>muj-ta-hi-dun / muj-ta-hi-da-tun</a:t>
            </a:r>
            <a:endParaRPr lang="en-US" sz="1350" dirty="0"/>
          </a:p>
        </p:txBody>
      </p:sp>
      <p:sp>
        <p:nvSpPr>
          <p:cNvPr id="22" name="Shape 19"/>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3" name="Text 20"/>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4" name="Text 21"/>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مُجْتَهِدُونَ</a:t>
            </a:r>
            <a:endParaRPr lang="ar-SA" sz="1500" dirty="0"/>
          </a:p>
        </p:txBody>
      </p:sp>
      <p:sp>
        <p:nvSpPr>
          <p:cNvPr id="25" name="Shape 22"/>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6" name="Text 23"/>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7" name="Text 24"/>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مُجْتَهِدَةٌ</a:t>
            </a:r>
            <a:endParaRPr lang="ar-SA" sz="1500" dirty="0"/>
          </a:p>
        </p:txBody>
      </p:sp>
      <p:sp>
        <p:nvSpPr>
          <p:cNvPr id="28" name="Shape 25"/>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29" name="Text 26"/>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30" name="Text 27"/>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مُجْتَهِدٌ</a:t>
            </a:r>
            <a:endParaRPr lang="ar-SA" sz="1500" dirty="0"/>
          </a:p>
        </p:txBody>
      </p:sp>
      <p:sp>
        <p:nvSpPr>
          <p:cNvPr id="31" name="Shape 28"/>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389120"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4" name="Shape 31"/>
          <p:cNvSpPr/>
          <p:nvPr/>
        </p:nvSpPr>
        <p:spPr>
          <a:xfrm>
            <a:off x="4782312" y="1938528"/>
            <a:ext cx="896112" cy="256032"/>
          </a:xfrm>
          <a:prstGeom prst="roundRect">
            <a:avLst>
              <a:gd name="adj" fmla="val 50000"/>
            </a:avLst>
          </a:prstGeom>
          <a:solidFill>
            <a:srgbClr val="EFE7D2"/>
          </a:solidFill>
          <a:ln w="12700">
            <a:solidFill>
              <a:srgbClr val="EFE7D2"/>
            </a:solidFill>
            <a:prstDash val="solid"/>
          </a:ln>
        </p:spPr>
      </p:sp>
      <p:sp>
        <p:nvSpPr>
          <p:cNvPr id="35" name="Text 32"/>
          <p:cNvSpPr txBox="1"/>
          <p:nvPr/>
        </p:nvSpPr>
        <p:spPr>
          <a:xfrm>
            <a:off x="4782312"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36" name="Text 33"/>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مَرِحٌ / مَرِحَةٌ</a:t>
            </a:r>
            <a:endParaRPr lang="ar-SA" sz="3000" dirty="0"/>
          </a:p>
        </p:txBody>
      </p:sp>
      <p:sp>
        <p:nvSpPr>
          <p:cNvPr id="37" name="Text 34"/>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cheerful</a:t>
            </a:r>
            <a:endParaRPr lang="en-US" sz="1350" dirty="0"/>
          </a:p>
          <a:p>
            <a:pPr indent="0" marL="0">
              <a:buNone/>
            </a:pPr>
            <a:r>
              <a:rPr lang="en-US" sz="1100" i="1" dirty="0">
                <a:solidFill>
                  <a:srgbClr val="5A6472"/>
                </a:solidFill>
                <a:latin typeface="Calibri" pitchFamily="34" charset="0"/>
                <a:cs typeface="Amiri" pitchFamily="2" charset="-78"/>
              </a:rPr>
              <a:t>ma-ri-ḥun / ma-ri-ḥa-tun</a:t>
            </a:r>
            <a:endParaRPr lang="en-US" sz="1350" dirty="0"/>
          </a:p>
        </p:txBody>
      </p:sp>
      <p:sp>
        <p:nvSpPr>
          <p:cNvPr id="38" name="Shape 35"/>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39" name="Text 36"/>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0" name="Text 37"/>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مَرِحُونَ</a:t>
            </a:r>
            <a:endParaRPr lang="ar-SA" sz="1500" dirty="0"/>
          </a:p>
        </p:txBody>
      </p:sp>
      <p:sp>
        <p:nvSpPr>
          <p:cNvPr id="41" name="Shape 38"/>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2" name="Text 39"/>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3" name="Text 40"/>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مَرِحَةٌ</a:t>
            </a:r>
            <a:endParaRPr lang="ar-SA" sz="1500" dirty="0"/>
          </a:p>
        </p:txBody>
      </p:sp>
      <p:sp>
        <p:nvSpPr>
          <p:cNvPr id="44" name="Shape 41"/>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5" name="Text 42"/>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46" name="Text 43"/>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مَرِحٌ</a:t>
            </a:r>
            <a:endParaRPr lang="ar-SA" sz="1500" dirty="0"/>
          </a:p>
        </p:txBody>
      </p:sp>
      <p:sp>
        <p:nvSpPr>
          <p:cNvPr id="47" name="Shape 4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66928" y="1920240"/>
            <a:ext cx="310896" cy="310896"/>
          </a:xfrm>
          <a:prstGeom prst="ellipse">
            <a:avLst/>
          </a:prstGeom>
          <a:solidFill>
            <a:srgbClr val="F4F1EA"/>
          </a:solidFill>
          <a:ln w="12700">
            <a:solidFill>
              <a:srgbClr val="F4F1EA"/>
            </a:solidFill>
            <a:prstDash val="solid"/>
          </a:ln>
        </p:spPr>
      </p:sp>
      <p:sp>
        <p:nvSpPr>
          <p:cNvPr id="49" name="Text 4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50" name="Shape 47"/>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51" name="Text 48"/>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52" name="Text 4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خَجُولٌ / خَجُولَةٌ</a:t>
            </a:r>
            <a:endParaRPr lang="ar-SA" sz="3000" dirty="0"/>
          </a:p>
        </p:txBody>
      </p:sp>
      <p:sp>
        <p:nvSpPr>
          <p:cNvPr id="53" name="Text 5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shy</a:t>
            </a:r>
            <a:endParaRPr lang="en-US" sz="1350" dirty="0"/>
          </a:p>
          <a:p>
            <a:pPr indent="0" marL="0">
              <a:buNone/>
            </a:pPr>
            <a:r>
              <a:rPr lang="en-US" sz="1100" i="1" dirty="0">
                <a:solidFill>
                  <a:srgbClr val="5A6472"/>
                </a:solidFill>
                <a:latin typeface="Calibri" pitchFamily="34" charset="0"/>
                <a:cs typeface="Amiri" pitchFamily="2" charset="-78"/>
              </a:rPr>
              <a:t>kha-jū-lun / kha-jū-la-tun</a:t>
            </a:r>
            <a:endParaRPr lang="en-US" sz="1350" dirty="0"/>
          </a:p>
        </p:txBody>
      </p:sp>
      <p:sp>
        <p:nvSpPr>
          <p:cNvPr id="54" name="Shape 51"/>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6" name="Text 53"/>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خَجُولُونَ</a:t>
            </a:r>
            <a:endParaRPr lang="ar-SA" sz="1500" dirty="0"/>
          </a:p>
        </p:txBody>
      </p:sp>
      <p:sp>
        <p:nvSpPr>
          <p:cNvPr id="57" name="Shape 54"/>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59" name="Text 56"/>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خَجُولَةٌ</a:t>
            </a:r>
            <a:endParaRPr lang="ar-SA" sz="1500" dirty="0"/>
          </a:p>
        </p:txBody>
      </p:sp>
      <p:sp>
        <p:nvSpPr>
          <p:cNvPr id="60" name="Shape 57"/>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62" name="Text 59"/>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خَجُولٌ</a:t>
            </a:r>
            <a:endParaRPr lang="ar-SA" sz="1500" dirty="0"/>
          </a:p>
        </p:txBody>
      </p:sp>
      <p:sp>
        <p:nvSpPr>
          <p:cNvPr id="63" name="Shape 60"/>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8211312" y="4261104"/>
            <a:ext cx="310896" cy="310896"/>
          </a:xfrm>
          <a:prstGeom prst="ellipse">
            <a:avLst/>
          </a:prstGeom>
          <a:solidFill>
            <a:srgbClr val="F4F1EA"/>
          </a:solidFill>
          <a:ln w="12700">
            <a:solidFill>
              <a:srgbClr val="F4F1EA"/>
            </a:solidFill>
            <a:prstDash val="solid"/>
          </a:ln>
        </p:spPr>
      </p:sp>
      <p:sp>
        <p:nvSpPr>
          <p:cNvPr id="65" name="Text 62"/>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66" name="Shape 63"/>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67" name="Text 64"/>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68" name="Text 65"/>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كَرِيمٌ / كَرِيمَةٌ</a:t>
            </a:r>
            <a:endParaRPr lang="ar-SA" sz="3000" dirty="0"/>
          </a:p>
        </p:txBody>
      </p:sp>
      <p:sp>
        <p:nvSpPr>
          <p:cNvPr id="69" name="Text 66"/>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generous</a:t>
            </a:r>
            <a:endParaRPr lang="en-US" sz="1350" dirty="0"/>
          </a:p>
          <a:p>
            <a:pPr indent="0" marL="0">
              <a:buNone/>
            </a:pPr>
            <a:r>
              <a:rPr lang="en-US" sz="1100" i="1" dirty="0">
                <a:solidFill>
                  <a:srgbClr val="5A6472"/>
                </a:solidFill>
                <a:latin typeface="Calibri" pitchFamily="34" charset="0"/>
                <a:cs typeface="Amiri" pitchFamily="2" charset="-78"/>
              </a:rPr>
              <a:t>ka-rī-mun / ka-rī-ma-tun</a:t>
            </a:r>
            <a:endParaRPr lang="en-US" sz="1350" dirty="0"/>
          </a:p>
        </p:txBody>
      </p:sp>
      <p:sp>
        <p:nvSpPr>
          <p:cNvPr id="70" name="Shape 67"/>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71" name="Text 68"/>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72" name="Text 69"/>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كُرَمَاءُ</a:t>
            </a:r>
            <a:endParaRPr lang="ar-SA" sz="1500" dirty="0"/>
          </a:p>
        </p:txBody>
      </p:sp>
      <p:sp>
        <p:nvSpPr>
          <p:cNvPr id="73" name="Shape 70"/>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74" name="Text 71"/>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75" name="Text 72"/>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كَرِيمَةٌ</a:t>
            </a:r>
            <a:endParaRPr lang="ar-SA" sz="1500" dirty="0"/>
          </a:p>
        </p:txBody>
      </p:sp>
      <p:sp>
        <p:nvSpPr>
          <p:cNvPr id="76" name="Shape 73"/>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77" name="Text 74"/>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78" name="Text 75"/>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كَرِيمٌ</a:t>
            </a:r>
            <a:endParaRPr lang="ar-SA" sz="1500" dirty="0"/>
          </a:p>
        </p:txBody>
      </p:sp>
      <p:sp>
        <p:nvSpPr>
          <p:cNvPr id="79" name="Shape 76"/>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0" name="Shape 77"/>
          <p:cNvSpPr/>
          <p:nvPr/>
        </p:nvSpPr>
        <p:spPr>
          <a:xfrm>
            <a:off x="4389120" y="4261104"/>
            <a:ext cx="310896" cy="310896"/>
          </a:xfrm>
          <a:prstGeom prst="ellipse">
            <a:avLst/>
          </a:prstGeom>
          <a:solidFill>
            <a:srgbClr val="F4F1EA"/>
          </a:solidFill>
          <a:ln w="12700">
            <a:solidFill>
              <a:srgbClr val="F4F1EA"/>
            </a:solidFill>
            <a:prstDash val="solid"/>
          </a:ln>
        </p:spPr>
      </p:sp>
      <p:sp>
        <p:nvSpPr>
          <p:cNvPr id="81" name="Text 78"/>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82" name="Shape 79"/>
          <p:cNvSpPr/>
          <p:nvPr/>
        </p:nvSpPr>
        <p:spPr>
          <a:xfrm>
            <a:off x="4782312" y="4279392"/>
            <a:ext cx="896112" cy="256032"/>
          </a:xfrm>
          <a:prstGeom prst="roundRect">
            <a:avLst>
              <a:gd name="adj" fmla="val 50000"/>
            </a:avLst>
          </a:prstGeom>
          <a:solidFill>
            <a:srgbClr val="EFE7D2"/>
          </a:solidFill>
          <a:ln w="12700">
            <a:solidFill>
              <a:srgbClr val="EFE7D2"/>
            </a:solidFill>
            <a:prstDash val="solid"/>
          </a:ln>
        </p:spPr>
      </p:sp>
      <p:sp>
        <p:nvSpPr>
          <p:cNvPr id="83" name="Text 80"/>
          <p:cNvSpPr txBox="1"/>
          <p:nvPr/>
        </p:nvSpPr>
        <p:spPr>
          <a:xfrm>
            <a:off x="4782312"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84" name="Text 81"/>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أَنَانِيٌّ / أَنَانِيَّةٌ</a:t>
            </a:r>
            <a:endParaRPr lang="ar-SA" sz="3000" dirty="0"/>
          </a:p>
        </p:txBody>
      </p:sp>
      <p:sp>
        <p:nvSpPr>
          <p:cNvPr id="85" name="Text 82"/>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selfish</a:t>
            </a:r>
            <a:endParaRPr lang="en-US" sz="1350" dirty="0"/>
          </a:p>
          <a:p>
            <a:pPr indent="0" marL="0">
              <a:buNone/>
            </a:pPr>
            <a:r>
              <a:rPr lang="en-US" sz="1100" i="1" dirty="0">
                <a:solidFill>
                  <a:srgbClr val="5A6472"/>
                </a:solidFill>
                <a:latin typeface="Calibri" pitchFamily="34" charset="0"/>
                <a:cs typeface="Amiri" pitchFamily="2" charset="-78"/>
              </a:rPr>
              <a:t>a-nā-niy-yun / a-nā-niy-ya-tun</a:t>
            </a:r>
            <a:endParaRPr lang="en-US" sz="1350" dirty="0"/>
          </a:p>
        </p:txBody>
      </p:sp>
      <p:sp>
        <p:nvSpPr>
          <p:cNvPr id="86" name="Shape 83"/>
          <p:cNvSpPr/>
          <p:nvPr/>
        </p:nvSpPr>
        <p:spPr>
          <a:xfrm>
            <a:off x="6720840" y="5779008"/>
            <a:ext cx="1060704" cy="438912"/>
          </a:xfrm>
          <a:prstGeom prst="roundRect">
            <a:avLst>
              <a:gd name="adj" fmla="val 10417"/>
            </a:avLst>
          </a:prstGeom>
          <a:solidFill>
            <a:srgbClr val="F4F1EA"/>
          </a:solidFill>
          <a:ln w="9525">
            <a:solidFill>
              <a:srgbClr val="F4F1EA"/>
            </a:solidFill>
            <a:prstDash val="solid"/>
          </a:ln>
        </p:spPr>
      </p:sp>
      <p:sp>
        <p:nvSpPr>
          <p:cNvPr id="87" name="Text 84"/>
          <p:cNvSpPr txBox="1"/>
          <p:nvPr/>
        </p:nvSpPr>
        <p:spPr>
          <a:xfrm>
            <a:off x="677570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88" name="Text 85"/>
          <p:cNvSpPr txBox="1"/>
          <p:nvPr/>
        </p:nvSpPr>
        <p:spPr>
          <a:xfrm>
            <a:off x="676656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أَنَانِيُّونَ</a:t>
            </a:r>
            <a:endParaRPr lang="ar-SA" sz="1500" dirty="0"/>
          </a:p>
        </p:txBody>
      </p:sp>
      <p:sp>
        <p:nvSpPr>
          <p:cNvPr id="89" name="Shape 86"/>
          <p:cNvSpPr/>
          <p:nvPr/>
        </p:nvSpPr>
        <p:spPr>
          <a:xfrm>
            <a:off x="5568696" y="5779008"/>
            <a:ext cx="1060704" cy="438912"/>
          </a:xfrm>
          <a:prstGeom prst="roundRect">
            <a:avLst>
              <a:gd name="adj" fmla="val 10417"/>
            </a:avLst>
          </a:prstGeom>
          <a:solidFill>
            <a:srgbClr val="F4F1EA"/>
          </a:solidFill>
          <a:ln w="9525">
            <a:solidFill>
              <a:srgbClr val="F4F1EA"/>
            </a:solidFill>
            <a:prstDash val="solid"/>
          </a:ln>
        </p:spPr>
      </p:sp>
      <p:sp>
        <p:nvSpPr>
          <p:cNvPr id="90" name="Text 87"/>
          <p:cNvSpPr txBox="1"/>
          <p:nvPr/>
        </p:nvSpPr>
        <p:spPr>
          <a:xfrm>
            <a:off x="5623560"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91" name="Text 88"/>
          <p:cNvSpPr txBox="1"/>
          <p:nvPr/>
        </p:nvSpPr>
        <p:spPr>
          <a:xfrm>
            <a:off x="5614416"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أَنَانِيَّةٌ</a:t>
            </a:r>
            <a:endParaRPr lang="ar-SA" sz="1500" dirty="0"/>
          </a:p>
        </p:txBody>
      </p:sp>
      <p:sp>
        <p:nvSpPr>
          <p:cNvPr id="92" name="Shape 89"/>
          <p:cNvSpPr/>
          <p:nvPr/>
        </p:nvSpPr>
        <p:spPr>
          <a:xfrm>
            <a:off x="4416552" y="5779008"/>
            <a:ext cx="1060704" cy="438912"/>
          </a:xfrm>
          <a:prstGeom prst="roundRect">
            <a:avLst>
              <a:gd name="adj" fmla="val 10417"/>
            </a:avLst>
          </a:prstGeom>
          <a:solidFill>
            <a:srgbClr val="F4F1EA"/>
          </a:solidFill>
          <a:ln w="9525">
            <a:solidFill>
              <a:srgbClr val="F4F1EA"/>
            </a:solidFill>
            <a:prstDash val="solid"/>
          </a:ln>
        </p:spPr>
      </p:sp>
      <p:sp>
        <p:nvSpPr>
          <p:cNvPr id="93" name="Text 90"/>
          <p:cNvSpPr txBox="1"/>
          <p:nvPr/>
        </p:nvSpPr>
        <p:spPr>
          <a:xfrm>
            <a:off x="447141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94" name="Text 91"/>
          <p:cNvSpPr txBox="1"/>
          <p:nvPr/>
        </p:nvSpPr>
        <p:spPr>
          <a:xfrm>
            <a:off x="446227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أَنَانِيٌّ</a:t>
            </a:r>
            <a:endParaRPr lang="ar-SA" sz="1500" dirty="0"/>
          </a:p>
        </p:txBody>
      </p:sp>
      <p:sp>
        <p:nvSpPr>
          <p:cNvPr id="95" name="Shape 9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6" name="Shape 93"/>
          <p:cNvSpPr/>
          <p:nvPr/>
        </p:nvSpPr>
        <p:spPr>
          <a:xfrm>
            <a:off x="566928" y="4261104"/>
            <a:ext cx="310896" cy="310896"/>
          </a:xfrm>
          <a:prstGeom prst="ellipse">
            <a:avLst/>
          </a:prstGeom>
          <a:solidFill>
            <a:srgbClr val="F4F1EA"/>
          </a:solidFill>
          <a:ln w="12700">
            <a:solidFill>
              <a:srgbClr val="F4F1EA"/>
            </a:solidFill>
            <a:prstDash val="solid"/>
          </a:ln>
        </p:spPr>
      </p:sp>
      <p:sp>
        <p:nvSpPr>
          <p:cNvPr id="97" name="Text 9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98" name="Shape 95"/>
          <p:cNvSpPr/>
          <p:nvPr/>
        </p:nvSpPr>
        <p:spPr>
          <a:xfrm>
            <a:off x="960120" y="4279392"/>
            <a:ext cx="896112" cy="256032"/>
          </a:xfrm>
          <a:prstGeom prst="roundRect">
            <a:avLst>
              <a:gd name="adj" fmla="val 50000"/>
            </a:avLst>
          </a:prstGeom>
          <a:solidFill>
            <a:srgbClr val="EFE7D2"/>
          </a:solidFill>
          <a:ln w="12700">
            <a:solidFill>
              <a:srgbClr val="EFE7D2"/>
            </a:solidFill>
            <a:prstDash val="solid"/>
          </a:ln>
        </p:spPr>
      </p:sp>
      <p:sp>
        <p:nvSpPr>
          <p:cNvPr id="99" name="Text 96"/>
          <p:cNvSpPr txBox="1"/>
          <p:nvPr/>
        </p:nvSpPr>
        <p:spPr>
          <a:xfrm>
            <a:off x="960120"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100" name="Text 97"/>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عَصَبِيٌّ / عَصَبِيَّةٌ</a:t>
            </a:r>
            <a:endParaRPr lang="ar-SA" sz="3000" dirty="0"/>
          </a:p>
        </p:txBody>
      </p:sp>
      <p:sp>
        <p:nvSpPr>
          <p:cNvPr id="101" name="Text 98"/>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nervous/irritable</a:t>
            </a:r>
            <a:endParaRPr lang="en-US" sz="1350" dirty="0"/>
          </a:p>
          <a:p>
            <a:pPr indent="0" marL="0">
              <a:buNone/>
            </a:pPr>
            <a:r>
              <a:rPr lang="en-US" sz="1100" i="1" dirty="0">
                <a:solidFill>
                  <a:srgbClr val="5A6472"/>
                </a:solidFill>
                <a:latin typeface="Calibri" pitchFamily="34" charset="0"/>
                <a:cs typeface="Amiri" pitchFamily="2" charset="-78"/>
              </a:rPr>
              <a:t>ʿa-ṣa-biy-yun / ʿa-ṣa-biy-ya-tun</a:t>
            </a:r>
            <a:endParaRPr lang="en-US" sz="1350" dirty="0"/>
          </a:p>
        </p:txBody>
      </p:sp>
      <p:sp>
        <p:nvSpPr>
          <p:cNvPr id="102" name="Shape 99"/>
          <p:cNvSpPr/>
          <p:nvPr/>
        </p:nvSpPr>
        <p:spPr>
          <a:xfrm>
            <a:off x="2898648" y="5779008"/>
            <a:ext cx="1060704" cy="438912"/>
          </a:xfrm>
          <a:prstGeom prst="roundRect">
            <a:avLst>
              <a:gd name="adj" fmla="val 10417"/>
            </a:avLst>
          </a:prstGeom>
          <a:solidFill>
            <a:srgbClr val="F4F1EA"/>
          </a:solidFill>
          <a:ln w="9525">
            <a:solidFill>
              <a:srgbClr val="F4F1EA"/>
            </a:solidFill>
            <a:prstDash val="solid"/>
          </a:ln>
        </p:spPr>
      </p:sp>
      <p:sp>
        <p:nvSpPr>
          <p:cNvPr id="103" name="Text 100"/>
          <p:cNvSpPr txBox="1"/>
          <p:nvPr/>
        </p:nvSpPr>
        <p:spPr>
          <a:xfrm>
            <a:off x="295351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104" name="Text 101"/>
          <p:cNvSpPr txBox="1"/>
          <p:nvPr/>
        </p:nvSpPr>
        <p:spPr>
          <a:xfrm>
            <a:off x="294436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عَصَبِيُّونَ</a:t>
            </a:r>
            <a:endParaRPr lang="ar-SA" sz="1500" dirty="0"/>
          </a:p>
        </p:txBody>
      </p:sp>
      <p:sp>
        <p:nvSpPr>
          <p:cNvPr id="105" name="Shape 102"/>
          <p:cNvSpPr/>
          <p:nvPr/>
        </p:nvSpPr>
        <p:spPr>
          <a:xfrm>
            <a:off x="1746504" y="5779008"/>
            <a:ext cx="1060704" cy="438912"/>
          </a:xfrm>
          <a:prstGeom prst="roundRect">
            <a:avLst>
              <a:gd name="adj" fmla="val 10417"/>
            </a:avLst>
          </a:prstGeom>
          <a:solidFill>
            <a:srgbClr val="F4F1EA"/>
          </a:solidFill>
          <a:ln w="9525">
            <a:solidFill>
              <a:srgbClr val="F4F1EA"/>
            </a:solidFill>
            <a:prstDash val="solid"/>
          </a:ln>
        </p:spPr>
      </p:sp>
      <p:sp>
        <p:nvSpPr>
          <p:cNvPr id="106" name="Text 103"/>
          <p:cNvSpPr txBox="1"/>
          <p:nvPr/>
        </p:nvSpPr>
        <p:spPr>
          <a:xfrm>
            <a:off x="180136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107" name="Text 104"/>
          <p:cNvSpPr txBox="1"/>
          <p:nvPr/>
        </p:nvSpPr>
        <p:spPr>
          <a:xfrm>
            <a:off x="179222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عَصَبِيَّةٌ</a:t>
            </a:r>
            <a:endParaRPr lang="ar-SA" sz="1500" dirty="0"/>
          </a:p>
        </p:txBody>
      </p:sp>
      <p:sp>
        <p:nvSpPr>
          <p:cNvPr id="108" name="Shape 105"/>
          <p:cNvSpPr/>
          <p:nvPr/>
        </p:nvSpPr>
        <p:spPr>
          <a:xfrm>
            <a:off x="594360" y="5779008"/>
            <a:ext cx="1060704" cy="438912"/>
          </a:xfrm>
          <a:prstGeom prst="roundRect">
            <a:avLst>
              <a:gd name="adj" fmla="val 10417"/>
            </a:avLst>
          </a:prstGeom>
          <a:solidFill>
            <a:srgbClr val="F4F1EA"/>
          </a:solidFill>
          <a:ln w="9525">
            <a:solidFill>
              <a:srgbClr val="F4F1EA"/>
            </a:solidFill>
            <a:prstDash val="solid"/>
          </a:ln>
        </p:spPr>
      </p:sp>
      <p:sp>
        <p:nvSpPr>
          <p:cNvPr id="109" name="Text 106"/>
          <p:cNvSpPr txBox="1"/>
          <p:nvPr/>
        </p:nvSpPr>
        <p:spPr>
          <a:xfrm>
            <a:off x="64922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110" name="Text 107"/>
          <p:cNvSpPr txBox="1"/>
          <p:nvPr/>
        </p:nvSpPr>
        <p:spPr>
          <a:xfrm>
            <a:off x="64008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عَصَبِيٌّ</a:t>
            </a:r>
            <a:endParaRPr lang="ar-SA" sz="1500" dirty="0"/>
          </a:p>
        </p:txBody>
      </p:sp>
      <p:sp>
        <p:nvSpPr>
          <p:cNvPr id="111" name="Text 10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D2-L11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MODEL 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Planning my text with a partner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أُخَطِّطُ مَعَ زَمِيلِي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D2-L11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Who will you write about?</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عَنْ مَنْ سَتَكْتُبُ؟</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About my friend Asma. Paragraph one is about her appearance.</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عَنْ صَدِيقَتِي أَسْمَاءَ. الفِقْرَةُ الأُولَى عَنْ مَظْهَرِهَا.</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paragraph two?</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وَالفِقْرَةُ الثَّانِيَةُ؟</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About her personality and our relationship: she is honest and helpful, and I trust her.</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عَنْ شَخْصِيَّتِهَا وَعَلَاقَتِي بِهَا: هِيَ صَادِقَةٌ وَمُتَعَاوِنَةٌ، وَأَثِقُ بِهَا.</a:t>
            </a:r>
            <a:endParaRPr lang="ar-SA" sz="20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the third?</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وَالثَّالِثَةُ؟</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About her style and my opinion of it, with “although”.</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عَنْ أُسْلُوبِهَا وَرَأْيِي فِيهِ، مَعَ «عَلَى الرَّغْمِ مِنْ أَنَّ».</a:t>
            </a:r>
            <a:endParaRPr lang="ar-SA" sz="20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Round 1: read it in pairs. Round 2: swap letters. Round 3: plan YOUR three paragraphs aloud the same way.</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D2-L11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QUESTION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Plan aloud — one card per paragraph</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D2-L11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وَعَيْنَاهُ / عَيْنَاهَا …</a:t>
            </a:r>
            <a:endParaRPr lang="ar-SA" sz="15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سَأَكْتُبُ عَنْ … هُوَ / هِيَ …</a:t>
            </a:r>
            <a:endParaRPr lang="ar-SA" sz="1600" dirty="0"/>
          </a:p>
        </p:txBody>
      </p:sp>
      <p:sp>
        <p:nvSpPr>
          <p:cNvPr id="24" name="Text 21"/>
          <p:cNvSpPr txBox="1"/>
          <p:nvPr/>
        </p:nvSpPr>
        <p:spPr>
          <a:xfrm>
            <a:off x="463600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Paragraph 1: who, and what do they look like?</a:t>
            </a:r>
            <a:endParaRPr lang="en-US" sz="1100" dirty="0"/>
          </a:p>
        </p:txBody>
      </p:sp>
      <p:sp>
        <p:nvSpPr>
          <p:cNvPr id="25" name="Text 22"/>
          <p:cNvSpPr txBox="1"/>
          <p:nvPr/>
        </p:nvSpPr>
        <p:spPr>
          <a:xfrm>
            <a:off x="1051560" y="2267712"/>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الفِقْرَةُ ١: مَنْ هُوَ / هِيَ؟ وَكَيْفَ يَبْدُو / تَبْدُو؟</a:t>
            </a:r>
            <a:endParaRPr lang="ar-SA" sz="17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38360" y="300471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وَلٰكِنَّهُ / وَلٰكِنَّهَا أَحْيَانًا …</a:t>
            </a:r>
            <a:endParaRPr lang="ar-SA" sz="15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 وَ … لِأَنَّهُ / لِأَنَّهَا …</a:t>
            </a:r>
            <a:endParaRPr lang="ar-SA" sz="1600" dirty="0"/>
          </a:p>
        </p:txBody>
      </p:sp>
      <p:sp>
        <p:nvSpPr>
          <p:cNvPr id="32" name="Text 29"/>
          <p:cNvSpPr txBox="1"/>
          <p:nvPr/>
        </p:nvSpPr>
        <p:spPr>
          <a:xfrm>
            <a:off x="46360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Paragraph 2: personality?</a:t>
            </a:r>
            <a:endParaRPr lang="en-US" sz="1100" dirty="0"/>
          </a:p>
        </p:txBody>
      </p:sp>
      <p:sp>
        <p:nvSpPr>
          <p:cNvPr id="33" name="Text 30"/>
          <p:cNvSpPr txBox="1"/>
          <p:nvPr/>
        </p:nvSpPr>
        <p:spPr>
          <a:xfrm>
            <a:off x="1051560" y="300471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الفِقْرَةُ ٢: كَيْفَ شَخْصِيَّتُهُ / شَخْصِيَّتُهَا؟</a:t>
            </a:r>
            <a:endParaRPr lang="ar-SA" sz="17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38360" y="3741725"/>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مَثَلًا …</a:t>
            </a:r>
            <a:endParaRPr lang="ar-SA" sz="15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أَتَفَاهَمُ مَعَهُ / مَعَهَا …</a:t>
            </a:r>
            <a:endParaRPr lang="ar-SA" sz="1600" dirty="0"/>
          </a:p>
        </p:txBody>
      </p:sp>
      <p:sp>
        <p:nvSpPr>
          <p:cNvPr id="40" name="Text 37"/>
          <p:cNvSpPr txBox="1"/>
          <p:nvPr/>
        </p:nvSpPr>
        <p:spPr>
          <a:xfrm>
            <a:off x="463600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Paragraph 2: your relationship?</a:t>
            </a:r>
            <a:endParaRPr lang="en-US" sz="1100" dirty="0"/>
          </a:p>
        </p:txBody>
      </p:sp>
      <p:sp>
        <p:nvSpPr>
          <p:cNvPr id="41" name="Text 38"/>
          <p:cNvSpPr txBox="1"/>
          <p:nvPr/>
        </p:nvSpPr>
        <p:spPr>
          <a:xfrm>
            <a:off x="1051560" y="3741725"/>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الفِقْرَةُ ٢: كَيْفَ عَلَاقَتُكُمَا؟</a:t>
            </a:r>
            <a:endParaRPr lang="ar-SA" sz="17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38360" y="4478731"/>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أَكْثَرُ … مِنْ …</a:t>
            </a:r>
            <a:endParaRPr lang="ar-SA" sz="15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يَلْبَسُ / تَلْبَسُ …</a:t>
            </a:r>
            <a:endParaRPr lang="ar-SA" sz="1600" dirty="0"/>
          </a:p>
        </p:txBody>
      </p:sp>
      <p:sp>
        <p:nvSpPr>
          <p:cNvPr id="48" name="Text 45"/>
          <p:cNvSpPr txBox="1"/>
          <p:nvPr/>
        </p:nvSpPr>
        <p:spPr>
          <a:xfrm>
            <a:off x="46360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Paragraph 3: style?</a:t>
            </a:r>
            <a:endParaRPr lang="en-US" sz="1100" dirty="0"/>
          </a:p>
        </p:txBody>
      </p:sp>
      <p:sp>
        <p:nvSpPr>
          <p:cNvPr id="49" name="Text 46"/>
          <p:cNvSpPr txBox="1"/>
          <p:nvPr/>
        </p:nvSpPr>
        <p:spPr>
          <a:xfrm>
            <a:off x="1051560" y="4478731"/>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الفِقْرَةُ ٣: مَا أُسْلُوبُهُ / أُسْلُوبُهَا؟</a:t>
            </a:r>
            <a:endParaRPr lang="ar-SA" sz="17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38360" y="521573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عَلَى الرَّغْمِ مِنْ أَنَّ … فَإِنَّ …</a:t>
            </a:r>
            <a:endParaRPr lang="ar-SA" sz="15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فِي رَأْيِي …</a:t>
            </a:r>
            <a:endParaRPr lang="ar-SA" sz="1600" dirty="0"/>
          </a:p>
        </p:txBody>
      </p:sp>
      <p:sp>
        <p:nvSpPr>
          <p:cNvPr id="54" name="Text 51"/>
          <p:cNvSpPr txBox="1"/>
          <p:nvPr/>
        </p:nvSpPr>
        <p:spPr>
          <a:xfrm>
            <a:off x="463600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Paragraph 3: final opinion?</a:t>
            </a:r>
            <a:endParaRPr lang="en-US" sz="1100" dirty="0"/>
          </a:p>
        </p:txBody>
      </p:sp>
      <p:sp>
        <p:nvSpPr>
          <p:cNvPr id="55" name="Text 52"/>
          <p:cNvSpPr txBox="1"/>
          <p:nvPr/>
        </p:nvSpPr>
        <p:spPr>
          <a:xfrm>
            <a:off x="1051560" y="521573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الفِقْرَةُ ٣: مَا رَأْيُكَ النِّهَائِيُّ؟</a:t>
            </a:r>
            <a:endParaRPr lang="ar-SA" sz="17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answers every question. Core: a full sentence from the starter. Develop: add the “more” part. Stretch: add a reason with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 second detail. Swap after each question.</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D2-L11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1E6B52"/>
                </a:solidFill>
                <a:latin typeface="Calibri" pitchFamily="34" charset="0"/>
                <a:cs typeface="Amiri" pitchFamily="2" charset="-78"/>
              </a:rPr>
              <a:t>STEP 4 · ROLE-PLAY CARD · PLANS FOR TASKS 1–2 ARE GIVEN — PLAN 3–4 YOURSELF</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Role-play card — giving peer feedback</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تَغْذِيَةٌ رَاجِعَةٌ لِزَمِيلٍ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D2-L11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75320" y="2267712"/>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إِيجَابِيٌّ ← أَعْجَبَنِي … لِأَنَّ …</a:t>
            </a:r>
            <a:endParaRPr lang="ar-SA" sz="16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strength.</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رَأْيُكَ فِي نَصِّي؟</a:t>
            </a:r>
            <a:endParaRPr lang="ar-SA" sz="17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75320" y="3054096"/>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خَطَأٌ ← كَتَبْتَ «…» وَالصَّوَابُ «…»</a:t>
            </a:r>
            <a:endParaRPr lang="ar-SA" sz="16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agreement error.</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هُنَاكَ أَخْطَاءٌ؟</a:t>
            </a:r>
            <a:endParaRPr lang="ar-SA" sz="17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93608" y="3840480"/>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improvement.</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أُحَسِّنُ الفِقْرَةَ الثَّالِثَةَ؟</a:t>
            </a:r>
            <a:endParaRPr lang="ar-SA" sz="17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0" name="Text 37"/>
          <p:cNvSpPr txBox="1"/>
          <p:nvPr/>
        </p:nvSpPr>
        <p:spPr>
          <a:xfrm>
            <a:off x="8293608" y="4626864"/>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the surprise question.</a:t>
            </a:r>
            <a:endParaRPr lang="en-US" sz="1100" dirty="0"/>
          </a:p>
        </p:txBody>
      </p:sp>
      <p:sp>
        <p:nvSpPr>
          <p:cNvPr id="42" name="Text 39"/>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نَصِّي طَوِيلٌ بِمَا يَكْفِي؟</a:t>
            </a:r>
            <a:endParaRPr lang="ar-SA" sz="1700" dirty="0"/>
          </a:p>
        </p:txBody>
      </p:sp>
      <p:sp>
        <p:nvSpPr>
          <p:cNvPr id="43" name="Text 40"/>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Speaker = the reviewer · Leader = the writer of a draft. Write the plan for tasks 3–4 in your book first. Task ! is a surprise — the Leader reads it without warning. Then swap roles.</a:t>
            </a:r>
            <a:endParaRPr lang="en-US" sz="11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D2-L11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SHORT TALK · ONE MINUTE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One minute: say your text before you write it</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أَقُولُ نَصِّي أَوَّلًا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D2-L11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one minute — no stopping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Speak your three paragraphs aloud for one minute from your plan. Your partner listens for agreement slips.</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3–4 key words,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Leader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until everyone has spoken.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Two sentences per paragraph.</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 reason and an example in paragraph 2.</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 concession in paragraph 3 and a comparison.</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 لِذٰلِكَ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 so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الخِتَامِ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to finish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D2-L11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SENTENCE BUILDER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D2-L11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His clothes are simple and practical.</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مَلَابِسُهُ</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مَلَابِسُهَا</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بَسِيطَةٌ</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بَسِيطُونَ</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وَعَمَلِيَّةٌ.</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وَعَمَلِيٌّ.</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She is shy, but she is confident in class.</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هِيَ خَجُولَةٌ،</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هِيَ خَجُولٌ،</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وَلٰكِنَّهَا</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وَلٰكِنَّهُ</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وَاثِقَةٌ فِي الصَّفِّ.</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وَاثِقٌ فِي الصَّفِّ.</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Although his style is modern, it is modest.</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عَلَى الرَّغْمِ مِنْ أَنَّ</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عَلَى الرَّغْمِ مِنْ</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أُسْلُوبَهُ عَصْرِيٌّ،</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أُسْلُوبُهُ عَصْرِيٌّ،</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فَإِنَّهُ مُحْتَشِمٌ.</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فَإِنَّهَا مُحْتَشِمٌ.</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D2-L11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D2-L11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His clothes are simple and practical.</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Non-human plural → feminine singular adjectives.</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مَلَابِسُهُ بَسِيطَةٌ وَعَمَلِيَّةٌ.</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She is shy, but she is confident in class.</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She → feminine all the way.</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هِيَ خَجُولَةٌ، وَلٰكِنَّهَا وَاثِقَةٌ فِي الصَّفِّ.</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Although his style is modern, it is modest.</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أَنَّ</a:t>
            </a:r>
            <a:pPr algn="l" indent="0" marL="0">
              <a:buNone/>
            </a:pPr>
            <a:r>
              <a:rPr lang="en-US" sz="1050" i="1" dirty="0">
                <a:solidFill>
                  <a:srgbClr val="5A6472"/>
                </a:solidFill>
                <a:latin typeface="Calibri" pitchFamily="34" charset="0"/>
                <a:cs typeface="Amiri" pitchFamily="2" charset="-78"/>
              </a:rPr>
              <a:t> + noun in -a; it (style, m.) → </a:t>
            </a:r>
            <a:pPr algn="l" indent="0" marL="0">
              <a:buNone/>
            </a:pPr>
            <a:r>
              <a:rPr lang="ar-SA" altLang="en-US" sz="1350" dirty="0">
                <a:solidFill>
                  <a:srgbClr val="5A6472"/>
                </a:solidFill>
                <a:latin typeface="Amiri" pitchFamily="2" charset="-78"/>
                <a:ea typeface="Amiri" pitchFamily="2" charset="-78"/>
                <a:cs typeface="Amiri" pitchFamily="2" charset="-78"/>
              </a:rPr>
              <a:t>فَإِنَّهُ</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عَلَى الرَّغْمِ مِنْ أَنَّ أُسْلُوبَهُ عَصْرِيٌّ، فَإِنَّهُ مُحْتَشِمٌ.</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D2-L11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AND FIX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D2-L11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أَحْذِيَتُهَا جَمِيلُونَ.</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Things in the plural …</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أَخِي صَبُورٌ، وَهِيَ تُسَاعِدُنِي دَائِمًا.</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Reference slip.</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هِيَ وَدُودَةٌ. هِيَ صَادِقَةٌ. هِيَ مُجْتَهِدَةٌ.</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Join them!</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D2-L11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D2-L11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أَحْذِيَتُهَا جَمِيلُونَ.</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أَحْذِيَتُهَا جَمِيلَةٌ.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Non-human plural → feminine singular.</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أَخِي صَبُورٌ، وَهِيَ تُسَاعِدُنِي دَائِمًا.</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أَخِي صَبُورٌ، وَهُوَ يُسَاعِدُنِي دَائِمًا.</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Keep the same person: </a:t>
            </a:r>
            <a:pPr algn="l" indent="0" marL="0">
              <a:buNone/>
            </a:pPr>
            <a:r>
              <a:rPr lang="ar-SA" altLang="en-US" sz="1500" b="1" dirty="0">
                <a:solidFill>
                  <a:srgbClr val="1B3B6F"/>
                </a:solidFill>
                <a:latin typeface="Amiri" pitchFamily="2" charset="-78"/>
                <a:ea typeface="Amiri" pitchFamily="2" charset="-78"/>
                <a:cs typeface="Amiri" pitchFamily="2" charset="-78"/>
              </a:rPr>
              <a:t>هُوَ يُسَاعِدُنِي</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هِيَ وَدُودَةٌ. هِيَ صَادِقَةٌ. هِيَ مُجْتَهِدَةٌ.</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هِيَ وَدُودَةٌ وَصَادِقَةٌ، كَمَا أَنَّهَا مُجْتَهِدَةٌ جِدًّا.</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Use connectors to join short sentences.</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D2-L11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D2-L11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 كَمَا أَنَّهُ / أَنَّهَا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and also he / she is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عَلَى الرَّغْمِ مِنْ أَنَّ ______ ، فَإِنَّ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Although …,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lnSpc>
                <a:spcPct val="120000"/>
              </a:lnSpc>
              <a:buNone/>
            </a:pPr>
            <a:r>
              <a:rPr lang="ar-SA" altLang="en-US" sz="1200" b="1" dirty="0">
                <a:solidFill>
                  <a:srgbClr val="1B3B6F"/>
                </a:solidFill>
                <a:latin typeface="Amiri" pitchFamily="2" charset="-78"/>
                <a:ea typeface="Amiri" pitchFamily="2" charset="-78"/>
                <a:cs typeface="Amiri" pitchFamily="2" charset="-78"/>
              </a:rPr>
              <a:t>¶١ سَأَكْتُبُ عَنْ ______ . هُوَ / هِيَ ______ القَامَةِ، وَ ______ .</a:t>
            </a:r>
            <a:endParaRPr lang="ar-SA" sz="12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¶1 I will write about … He / she is …, and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¶٢ هُوَ / هِيَ ______ ، لِأَنَّهُ / لِأَنَّهَا ______ .</a:t>
            </a:r>
            <a:endParaRPr lang="ar-SA" sz="16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¶2 He / she is …, because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أَتَفَاهَمُ مَعَهُ / مَعَهَا، وَمَثَلًا ______ .</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get on with him / her, and for example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¶٣ يَلْبَسُ / تَلْبَسُ ______ ، وَفِي رَأْيِي ______ .</a:t>
            </a:r>
            <a:endParaRPr lang="ar-SA" sz="16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¶3 He / she wears …, and in my opinion …</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وَدُودٌ · وَدُودَةٌ  ·  صَادِقٌ · صَادِقَةٌ  ·  مُتَعَاوِنٌ · مُتَعَاوِنَةٌ  ·  وَاثِقٌ · وَاثِقَةٌ  ·  كَمَا أَنَّ  ·  وَلٰكِنَّ · بَيْنَمَا  ·  عَلَى الرَّغْمِ مِنْ أَنَّ  ·  فِي رَأْيِي</a:t>
            </a:r>
            <a:endParaRPr lang="ar-SA" sz="16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D2-L11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ABOUT 60–80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50" b="1" dirty="0">
                <a:solidFill>
                  <a:srgbClr val="1B3B6F"/>
                </a:solidFill>
                <a:latin typeface="Cambria" pitchFamily="34" charset="0"/>
                <a:cs typeface="Amiri" pitchFamily="2" charset="-78"/>
              </a:rPr>
              <a:t>Three paragraphs about someone important</a:t>
            </a:r>
            <a:endParaRPr lang="en-US" sz="21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ثَلَاثُ فِقْرَاتٍ عَنْ شَخْصٍ مُهِمٍّ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D2-L11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206197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206197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DIRECTED TASK</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Write a text (about 70–90 words) in three paragraphs about someone important to you. ¶1 who they are + appearance. ¶2 personality with evidence + your relationship (an example in the past). ¶3 style + a balanced opinion (</a:t>
            </a:r>
            <a:pPr algn="l" indent="0" marL="0">
              <a:buNone/>
            </a:pPr>
            <a:r>
              <a:rPr lang="ar-SA" altLang="en-US" sz="1450" b="1" dirty="0">
                <a:solidFill>
                  <a:srgbClr val="1F2A37"/>
                </a:solidFill>
                <a:latin typeface="Amiri" pitchFamily="2" charset="-78"/>
                <a:ea typeface="Amiri" pitchFamily="2" charset="-78"/>
                <a:cs typeface="Amiri" pitchFamily="2" charset="-78"/>
              </a:rPr>
              <a:t>عَلَى الرَّغْمِ مِنْ أَنَّ … فَإِنَّ</a:t>
            </a:r>
            <a:pPr algn="l" indent="0" marL="0">
              <a:buNone/>
            </a:pPr>
            <a:r>
              <a:rPr lang="en-US" sz="1100" b="1" dirty="0">
                <a:solidFill>
                  <a:srgbClr val="1F2A37"/>
                </a:solidFill>
                <a:latin typeface="Calibri" pitchFamily="34" charset="0"/>
                <a:cs typeface="Amiri" pitchFamily="2" charset="-78"/>
              </a:rPr>
              <a:t> …). Then check agreement, references and connectors with your buddy.</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the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right tense for each bullet.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Linking words: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ثُمَّ</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لٰكِنَّ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opinion with a reason.</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سَأَكْتُبُ عَنْ … لِأَنَّ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will write about … because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هُوَ / هِيَ … ، كَمَا أَنَّهُ / أَنَّهَا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he / she is …, and also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مَثَلًا، فِي الصَّيْفِ المَاضِي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for example, last summer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عَلَى الرَّغْمِ مِنْ أَنَّ … فَإِنَّ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although …,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D2-L11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D2-L11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write three clear paragraphs with correct he / she references?</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check agreement (including non-human plurals) and use a concession?</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more than one tense and give an opinion with a reason?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D2-L11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D2-L11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أَعْجَبَتْنِي الفِقْرَةُ الثَّانِيَةُ، لِأَنَّ الأَمْثِلَةَ وَاضِحَةٌ.</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liked the second paragraph, because the examples are clear.</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رَأْيُكَ فِي نَصِّي؟</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كَتَبْتَ «شَعْرُهَا طَوِيلَةٌ»، وَالصَّوَابُ «شَعْرُهَا طَوِيلٌ».</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You wrote “her hair is long (f.)”; correct is “long (m.)”.</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هُنَاكَ أَخْطَاءٌ؟</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أَضِفْ جُمْلَةً فِيهَا «عَلَى الرَّغْمِ مِنْ أَنَّ» لِكَيْ يَكُونَ الرَّأْيُ مُتَوَازِنًا.</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Add a sentence with “although” so the opinion is balanced.</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كَيْفَ أُحَسِّنُ الفِقْرَةَ الثَّالِثَةَ؟</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لَيْسَ بَعْدُ. أَضِفْ مِثَالًا فِي المَاضِي، مَثَلًا شَيْئًا فَعَلْتُمَاهُ مَعًا.</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Not yet. Add an example in the past — something you did together.</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نَصِّي طَوِيلٌ بِمَا يَكْفِي؟</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Choose one phrase you did not use and say it aloud.</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D2-L11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D2-L11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سَأَكْتُبُ عَنْ جَارَتِنَا أُمِّ سَلِيمٍ. هِيَ قَصِيرَةُ القَامَةِ، وَشَعْرُهَا رَمَادِيٌّ، وَعَيْنَاهَا سَوْدَاوَانِ.</a:t>
            </a:r>
            <a:endParaRPr lang="ar-SA" sz="2300" dirty="0"/>
          </a:p>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هِيَ كَرِيمَةٌ جِدًّا، لِأَنَّهَا تُرْسِلُ لَنَا الطَّعَامَ فِي رَمَضَانَ، كَمَا أَنَّهَا صَبُورَةٌ مَعَ الأَطْفَالِ. أَتَفَاهَمُ مَعَهَا كَثِيرًا؛ مَثَلًا، فِي الصَّيْفِ المَاضِي عَلَّمَتْنِي كَيْفَ أَطْبُخُ المَقْلُوبَةَ.</a:t>
            </a:r>
            <a:endParaRPr lang="ar-SA" sz="2300" dirty="0"/>
          </a:p>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تَلْبَسُ عَادَةً مَلَابِسَ تَقْلِيدِيَّةً بَسِيطَةً. عَلَى الرَّغْمِ مِنْ أَنَّ أُسْلُوبَهَا قَدِيمٌ، فَإِنَّهُ أَنِيقٌ وَمُحْتَشِمٌ. فِي رَأْيِي هِيَ أَطْيَبُ جَارَةٍ فِي حَيِّنَا، وَهِيَ مِثْلُ جَدَّةٍ ثَانِيَةٍ لِي، لِذٰلِكَ أَزُورُهَا كُلَّ أُسْبُوعٍ.</a:t>
            </a:r>
            <a:endParaRPr lang="ar-SA" sz="23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 will write about our neighbour Umm Salim. She is short, her hair is grey, and her eyes are black. She is very generous, because she sends us food in Ramadan, and she is also patient with children. I get on with her very well — for example, last summer she taught me how to cook maqluba. She usually wears simple traditional clothes. Although her style is old-fashioned, it is elegant and modest. In my opinion she is the kindest neighbour in our area, and she is like a second grandmother to me, so I visit her every week.”</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وَعَيْنَاهَا سَوْدَاوَانِ</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كَمَا أَنَّهَا صَبُورَةٌ</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فِي الصَّيْفِ المَاضِي</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عَلَى الرَّغْمِ مِنْ أَنَّ أُسْلُوبَهَا</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D2-L11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D2-L11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questions and the role-play tasks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today’s key structure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more than one tense and gave opinions with reasons.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D2-L11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600" b="1" dirty="0">
                <a:solidFill>
                  <a:srgbClr val="FFFFFF"/>
                </a:solidFill>
                <a:latin typeface="Cambria" pitchFamily="34" charset="0"/>
                <a:cs typeface="Amiri" pitchFamily="2" charset="-78"/>
              </a:rPr>
              <a:t>D2-L12 · Review and Unit Assessment</a:t>
            </a:r>
            <a:endParaRPr lang="en-US" sz="26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المُرَاجَعَةُ وَالتَّقْيِيمُ</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say it, then write it — full sentences,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D2-L11 · Practice Room — Writing — Describing People, Relationships and Style</dc:title>
  <dc:subject>PptxGenJS Presentation</dc:subject>
  <dc:creator>Al Madina Online School · Arabic Department</dc:creator>
  <cp:lastModifiedBy>Al Madina Online School · Arabic Department</cp:lastModifiedBy>
  <cp:revision>1</cp:revision>
  <dcterms:created xsi:type="dcterms:W3CDTF">2026-10-25T18:11:51Z</dcterms:created>
  <dcterms:modified xsi:type="dcterms:W3CDTF">2026-10-25T18:11:51Z</dcterms:modified>
</cp:coreProperties>
</file>