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D2-L12 (Review and Unit Assessment) — new practice tasks built on the lesson’s own word bank and grammar (D2 review: adjective agreement (m. / f. / pl. / non-human pl.); laysa + -an; relationship verbs + prepositions and object suffixes; hādhā / hādhihi + colour agreement; comparatives and superlatives; appearance (hair m., eyes dual, lahu / lahā, alladhī / allatī); opinions with li-anna · wa-lākinna · ʿalā al-raghmi min anna … fa-inna).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D2-L12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editor to a girl: صِفِي نَفْسَكِ · أَنَا مُجْتَهِدَةٌ وَمَرِحَةٌ وَمُتَعَاوِنَةٌ · صَدِيقَتِي … هِيَ قَصِيرَةُ القَامَةِ. This card mixes every D2 structure; the Coach ticks each one heard.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(69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D2-L12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Review and Unit Assessment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مُرَاجَعَةُ الوَحْدَةِ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run their own review of the whole D2 unit: recall twelve key D2 expressions, act a mixed dialogue, answer mixed exam-style cards, do a full role-play card, give a one-minute talk, then build, fix and write an exam-style text — and set one target for D3.</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D2-L12 · Development D2 · People, Relationships and Style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end of unit D2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D2 key language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صَبُورٌ · صَبُورَةٌ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patient (m. · f.)</a:t>
            </a:r>
            <a:endParaRPr lang="en-US" sz="1350" dirty="0"/>
          </a:p>
          <a:p>
            <a:pPr indent="0" marL="0">
              <a:buNone/>
            </a:pPr>
            <a:r>
              <a:rPr lang="en-US" sz="1100" i="1" dirty="0">
                <a:solidFill>
                  <a:srgbClr val="5A6472"/>
                </a:solidFill>
                <a:latin typeface="Calibri" pitchFamily="34" charset="0"/>
                <a:cs typeface="Amiri" pitchFamily="2" charset="-78"/>
              </a:rPr>
              <a:t>ṣa-bū-run · ṣa-bū-ra-tun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لَيْسَ أَنَانِيًّا</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isn’t selfish</a:t>
            </a:r>
            <a:endParaRPr lang="en-US" sz="1350" dirty="0"/>
          </a:p>
          <a:p>
            <a:pPr indent="0" marL="0">
              <a:buNone/>
            </a:pPr>
            <a:r>
              <a:rPr lang="en-US" sz="1100" i="1" dirty="0">
                <a:solidFill>
                  <a:srgbClr val="5A6472"/>
                </a:solidFill>
                <a:latin typeface="Calibri" pitchFamily="34" charset="0"/>
                <a:cs typeface="Amiri" pitchFamily="2" charset="-78"/>
              </a:rPr>
              <a:t>lay-sa a-nā-niy-yan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أَتَفَاهَمُ مَعَ</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get on with</a:t>
            </a:r>
            <a:endParaRPr lang="en-US" sz="1350" dirty="0"/>
          </a:p>
          <a:p>
            <a:pPr indent="0" marL="0">
              <a:buNone/>
            </a:pPr>
            <a:r>
              <a:rPr lang="en-US" sz="1100" i="1" dirty="0">
                <a:solidFill>
                  <a:srgbClr val="5A6472"/>
                </a:solidFill>
                <a:latin typeface="Calibri" pitchFamily="34" charset="0"/>
                <a:cs typeface="Amiri" pitchFamily="2" charset="-78"/>
              </a:rPr>
              <a:t>a-ta-fā-ha-mu ma-ʿa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أَثِقُ بِهِ · بِهَا</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trust him · her</a:t>
            </a:r>
            <a:endParaRPr lang="en-US" sz="1350" dirty="0"/>
          </a:p>
          <a:p>
            <a:pPr indent="0" marL="0">
              <a:buNone/>
            </a:pPr>
            <a:r>
              <a:rPr lang="en-US" sz="1100" i="1" dirty="0">
                <a:solidFill>
                  <a:srgbClr val="5A6472"/>
                </a:solidFill>
                <a:latin typeface="Calibri" pitchFamily="34" charset="0"/>
                <a:cs typeface="Amiri" pitchFamily="2" charset="-78"/>
              </a:rPr>
              <a:t>a-thi-qu bi-hi · bi-hā</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يَدْعَمُنِي · تَدْعَمُنِي</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 she supports me</a:t>
            </a:r>
            <a:endParaRPr lang="en-US" sz="1350" dirty="0"/>
          </a:p>
          <a:p>
            <a:pPr indent="0" marL="0">
              <a:buNone/>
            </a:pPr>
            <a:r>
              <a:rPr lang="en-US" sz="1100" i="1" dirty="0">
                <a:solidFill>
                  <a:srgbClr val="5A6472"/>
                </a:solidFill>
                <a:latin typeface="Calibri" pitchFamily="34" charset="0"/>
                <a:cs typeface="Amiri" pitchFamily="2" charset="-78"/>
              </a:rPr>
              <a:t>yad-ʿa-mu-nī · tad-ʿa-mu-nī</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هٰذِهِ السُّتْرَةُ الزَّرْقَاءُ</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this blue jacket</a:t>
            </a:r>
            <a:endParaRPr lang="en-US" sz="1350" dirty="0"/>
          </a:p>
          <a:p>
            <a:pPr indent="0" marL="0">
              <a:buNone/>
            </a:pPr>
            <a:r>
              <a:rPr lang="en-US" sz="1100" i="1" dirty="0">
                <a:solidFill>
                  <a:srgbClr val="5A6472"/>
                </a:solidFill>
                <a:latin typeface="Calibri" pitchFamily="34" charset="0"/>
                <a:cs typeface="Amiri" pitchFamily="2" charset="-78"/>
              </a:rPr>
              <a:t>hā-dhi-hi as-sut-ra-tu az-zar-qā-ʾu</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D2 key language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أَرْخَصُ مِنْ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cheaper than</a:t>
            </a:r>
            <a:endParaRPr lang="en-US" sz="1350" dirty="0"/>
          </a:p>
          <a:p>
            <a:pPr indent="0" marL="0">
              <a:buNone/>
            </a:pPr>
            <a:r>
              <a:rPr lang="en-US" sz="1100" i="1" dirty="0">
                <a:solidFill>
                  <a:srgbClr val="5A6472"/>
                </a:solidFill>
                <a:latin typeface="Calibri" pitchFamily="34" charset="0"/>
                <a:cs typeface="Amiri" pitchFamily="2" charset="-78"/>
              </a:rPr>
              <a:t>ar-kha-ṣu min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أَكْثَرُ ثِقَةً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confident</a:t>
            </a:r>
            <a:endParaRPr lang="en-US" sz="1350" dirty="0"/>
          </a:p>
          <a:p>
            <a:pPr indent="0" marL="0">
              <a:buNone/>
            </a:pPr>
            <a:r>
              <a:rPr lang="en-US" sz="1100" i="1" dirty="0">
                <a:solidFill>
                  <a:srgbClr val="5A6472"/>
                </a:solidFill>
                <a:latin typeface="Calibri" pitchFamily="34" charset="0"/>
                <a:cs typeface="Amiri" pitchFamily="2" charset="-78"/>
              </a:rPr>
              <a:t>ak-tha-ru thi-qa-tan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شَعْرُهَا طَوِيلٌ</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her hair is long</a:t>
            </a:r>
            <a:endParaRPr lang="en-US" sz="1350" dirty="0"/>
          </a:p>
          <a:p>
            <a:pPr indent="0" marL="0">
              <a:buNone/>
            </a:pPr>
            <a:r>
              <a:rPr lang="en-US" sz="1100" i="1" dirty="0">
                <a:solidFill>
                  <a:srgbClr val="5A6472"/>
                </a:solidFill>
                <a:latin typeface="Calibri" pitchFamily="34" charset="0"/>
                <a:cs typeface="Amiri" pitchFamily="2" charset="-78"/>
              </a:rPr>
              <a:t>shaʿ-ru-hā ṭa-wī-lun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عَيْنَاهُ بُنِّيَّتَانِ</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 eyes are brown</a:t>
            </a:r>
            <a:endParaRPr lang="en-US" sz="1350" dirty="0"/>
          </a:p>
          <a:p>
            <a:pPr indent="0" marL="0">
              <a:buNone/>
            </a:pPr>
            <a:r>
              <a:rPr lang="en-US" sz="1100" i="1" dirty="0">
                <a:solidFill>
                  <a:srgbClr val="5A6472"/>
                </a:solidFill>
                <a:latin typeface="Calibri" pitchFamily="34" charset="0"/>
                <a:cs typeface="Amiri" pitchFamily="2" charset="-78"/>
              </a:rPr>
              <a:t>ʿay-nā-hu bun-niy-ya-tā-ni</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الَّذِي · الَّتِي</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who (m. · f.)</a:t>
            </a:r>
            <a:endParaRPr lang="en-US" sz="1350" dirty="0"/>
          </a:p>
          <a:p>
            <a:pPr indent="0" marL="0">
              <a:buNone/>
            </a:pPr>
            <a:r>
              <a:rPr lang="ar-SA" sz="1100" i="1" dirty="0">
                <a:solidFill>
                  <a:srgbClr val="5A6472"/>
                </a:solidFill>
                <a:latin typeface="Calibri" pitchFamily="34" charset="0"/>
                <a:ea typeface="Amiri" pitchFamily="2" charset="-78"/>
                <a:cs typeface="Amiri" pitchFamily="2" charset="-78"/>
              </a:rPr>
              <a:t>al-َ-dhī · al-َ-tī</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أَنَّ</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Everything from D2 in one conversation</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 الوَحْدَةِ فِي حِوَارٍ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the girl wearing the blue jacket?</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البِنْتُ الَّتِي تَرْتَدِي السُّتْرَةَ الزَّرْقَاءَ؟</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is my cousin. Her hair is long, and her eyes are green.</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هِيَ ابْنَةُ خَالَتِي. شَعْرُهَا طَوِيلٌ، وَعَيْنَاهَا خَضْرَاوَانِ.</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she like?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كَيْفَ شَخْصِيَّتُهَا؟</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is patient and generous, and never shy. I get on with her because she supports me.</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هِيَ صَبُورَةٌ وَكَرِيمَةٌ، وَلَيْسَتْ خَجُولَةً أَبَدًا. أَتَفَاهَمُ مَعَهَا لِأَنَّهَا تَدْعَمُنِي.</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her style?</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وَأُسْلُوبُهَا؟</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Her style is more elegant than mine! Although her clothes are simple, they are beautiful.</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أُسْلُوبُهَا أَكْثَرُ أَنَاقَةً مِنْ أُسْلُوبِي! عَلَى الرَّغْمِ مِنْ أَنَّ مَلَابِسَهَا بَسِيطَةٌ، فَإِنَّهَا جَمِيلَةٌ.</a:t>
            </a:r>
            <a:endParaRPr lang="ar-SA" sz="165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Round 2: swap letters. Round 3: describe a MALE relative with the same questions — every ending must change.</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Mixed exam cards — one from each part of D2</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وَلَيْسَ / وَلَيْسَتْ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 صَبُورٌ / صَبُورَةٌ لِأَنَّهُ / لِأَنَّهَا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 family member’s personality.</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شَخْصِيَّةَ أَحَدِ أَفْرَادِ عَائِلَتِكَ.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يَدْعَمُنِي / تَدْعَمُنِي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أَتَفَاهَمُ مَعَ … لِأَنَّ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do you get on with most? Why?</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مَعَ مَنْ تَتَفَاهَمُ أَكْثَرَ؟ لِمَاذَا؟</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مُرِيحٌ</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أَلْبَسُ … أَزْرَقَ / زَرْقَاءَ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wear in the holidays?</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تَلْبَسُ فِي العُطْلَةِ؟</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وَلٰكِنَّنَا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أَطْوَلُ … / هُوَ أَكْثَرُ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yourself with your friend.</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قَارِنْ بَيْنَكَ وَبَيْنَ صَدِيقِكَ.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عَلَى الرَّغْمِ مِنْ أَنَّ … فَإِنَّ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رَأْيِي … لِأَنَّ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appearance important?</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المَظْهَرُ مُهِمٌّ؟</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Role-play card — the school yearbook interview</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مُقَابَلَةُ كِتَابِ السَّنَةِ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 أَنَا … وَ … وَ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qualities.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نَفْسَكَ فِي ثَلَاثِ كَلِمَاتٍ.</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صَدِيقِي ← هُوَ … القَامَةِ وَ … لِأَنَّهُ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Appearance + quality.</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أَقْرَبُ صَدِيقٍ لَكَ؟ صِفْهُ.</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Style + comparison.</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أُسْلُوبُكَ فِي المَلَابِسِ؟</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in the past.</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أَجْمَلُ ذِكْرَى مَعَ صَدِيقِكَ هٰذِهِ السَّنَةَ؟</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student · Leader = the yearbook editor.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my D2 showcase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أَعْرِضُ مَا تَعَلَّمْتُ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about a person you know and show as many D2 structures as you can. The Coach ticks: agreement · </a:t>
            </a:r>
            <a:pPr algn="l" indent="0" marL="0">
              <a:buNone/>
            </a:pPr>
            <a:r>
              <a:rPr lang="ar-SA" altLang="en-US" sz="1750" dirty="0">
                <a:solidFill>
                  <a:srgbClr val="1F2A37"/>
                </a:solidFill>
                <a:latin typeface="Amiri" pitchFamily="2" charset="-78"/>
                <a:ea typeface="Amiri" pitchFamily="2" charset="-78"/>
                <a:cs typeface="Amiri" pitchFamily="2" charset="-78"/>
              </a:rPr>
              <a:t>لَيْسَ</a:t>
            </a:r>
            <a:pPr algn="l" indent="0" marL="0">
              <a:buNone/>
            </a:pPr>
            <a:r>
              <a:rPr lang="en-US" sz="1350" dirty="0">
                <a:solidFill>
                  <a:srgbClr val="1F2A37"/>
                </a:solidFill>
                <a:latin typeface="Calibri" pitchFamily="34" charset="0"/>
                <a:cs typeface="Amiri" pitchFamily="2" charset="-78"/>
              </a:rPr>
              <a:t> · relationship verb · object suffix · colour · comparative · hair / eyes · </a:t>
            </a:r>
            <a:pPr algn="l" indent="0" marL="0">
              <a:buNone/>
            </a:pPr>
            <a:r>
              <a:rPr lang="ar-SA" altLang="en-US" sz="1750" dirty="0">
                <a:solidFill>
                  <a:srgbClr val="1F2A37"/>
                </a:solidFill>
                <a:latin typeface="Amiri" pitchFamily="2" charset="-78"/>
                <a:ea typeface="Amiri" pitchFamily="2" charset="-78"/>
                <a:cs typeface="Amiri" pitchFamily="2" charset="-78"/>
              </a:rPr>
              <a:t>الَّذِي / الَّتِي</a:t>
            </a:r>
            <a:pPr algn="l" indent="0" marL="0">
              <a:buNone/>
            </a:pPr>
            <a:r>
              <a:rPr lang="en-US" sz="1350" dirty="0">
                <a:solidFill>
                  <a:srgbClr val="1F2A37"/>
                </a:solidFill>
                <a:latin typeface="Calibri" pitchFamily="34" charset="0"/>
                <a:cs typeface="Amiri" pitchFamily="2" charset="-78"/>
              </a:rPr>
              <a:t> · concession.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Five structures from the list.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Seven structures, all with correct agreement.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All nine, with a past example.</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cousin (f.) isn’t shy; she is confident.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ابْنَةُ عَمِّي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ابْنُ عَمِّي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لَيْسَتْ خَجُولَةً،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لَيْسَتْ خَجُولَةٌ،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وَاثِقَةٌ.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وَاثِقٌ.</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man who wears the black coat is my uncle.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الرَّجُلُ الَّذِي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الرَّجُلُ الَّتِي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يَرْتَدِي المِعْطَفَ الأَسْوَدَ</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يَرْتَدِي المِعْطَفَ السَّوْدَاءَ</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هُوَ عَمِّي.</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عَمِّي.</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This bag is cheaper than that one.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 الحَقِيبَةُ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 الحَقِيبَةُ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أَرْخَصُ</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أَرْخَصَةٌ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تِلْكَ.</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ذٰلِكَ.</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cousin (f.) isn’t shy; she is confident.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لَيْسَتْ</a:t>
            </a:r>
            <a:pPr algn="l" indent="0" marL="0">
              <a:buNone/>
            </a:pPr>
            <a:r>
              <a:rPr lang="en-US" sz="1050" i="1" dirty="0">
                <a:solidFill>
                  <a:srgbClr val="5A6472"/>
                </a:solidFill>
                <a:latin typeface="Calibri" pitchFamily="34" charset="0"/>
                <a:cs typeface="Amiri" pitchFamily="2" charset="-78"/>
              </a:rPr>
              <a:t> + -an; she → </a:t>
            </a:r>
            <a:pPr algn="l" indent="0" marL="0">
              <a:buNone/>
            </a:pPr>
            <a:r>
              <a:rPr lang="ar-SA" altLang="en-US" sz="1350" dirty="0">
                <a:solidFill>
                  <a:srgbClr val="5A6472"/>
                </a:solidFill>
                <a:latin typeface="Amiri" pitchFamily="2" charset="-78"/>
                <a:ea typeface="Amiri" pitchFamily="2" charset="-78"/>
                <a:cs typeface="Amiri" pitchFamily="2" charset="-78"/>
              </a:rPr>
              <a:t>وَاثِقَةٌ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ابْنَةُ عَمِّي لَيْسَتْ خَجُولَةً، هِيَ وَاثِقَةٌ.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man who wears the black coat is my uncle.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Man → </a:t>
            </a:r>
            <a:pPr algn="l" indent="0" marL="0">
              <a:buNone/>
            </a:pPr>
            <a:r>
              <a:rPr lang="ar-SA" altLang="en-US" sz="1350" dirty="0">
                <a:solidFill>
                  <a:srgbClr val="5A6472"/>
                </a:solidFill>
                <a:latin typeface="Amiri" pitchFamily="2" charset="-78"/>
                <a:ea typeface="Amiri" pitchFamily="2" charset="-78"/>
                <a:cs typeface="Amiri" pitchFamily="2" charset="-78"/>
              </a:rPr>
              <a:t>الَّذِي</a:t>
            </a:r>
            <a:pPr algn="l" indent="0" marL="0">
              <a:buNone/>
            </a:pPr>
            <a:r>
              <a:rPr lang="en-US" sz="1050" i="1" dirty="0">
                <a:solidFill>
                  <a:srgbClr val="5A6472"/>
                </a:solidFill>
                <a:latin typeface="Calibri" pitchFamily="34" charset="0"/>
                <a:cs typeface="Amiri" pitchFamily="2" charset="-78"/>
              </a:rPr>
              <a:t>; coat (m.) → </a:t>
            </a:r>
            <a:pPr algn="l" indent="0" marL="0">
              <a:buNone/>
            </a:pPr>
            <a:r>
              <a:rPr lang="ar-SA" altLang="en-US" sz="1350" dirty="0">
                <a:solidFill>
                  <a:srgbClr val="5A6472"/>
                </a:solidFill>
                <a:latin typeface="Amiri" pitchFamily="2" charset="-78"/>
                <a:ea typeface="Amiri" pitchFamily="2" charset="-78"/>
                <a:cs typeface="Amiri" pitchFamily="2" charset="-78"/>
              </a:rPr>
              <a:t>أَسْوَدُ</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الرَّجُلُ الَّذِي يَرْتَدِي المِعْطَفَ الأَسْوَدَ هُوَ عَمِّي.</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This bag is cheaper than that one.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Feminine → </a:t>
            </a:r>
            <a:pPr algn="l" indent="0" marL="0">
              <a:buNone/>
            </a:pPr>
            <a:r>
              <a:rPr lang="ar-SA" altLang="en-US" sz="1350" dirty="0">
                <a:solidFill>
                  <a:srgbClr val="5A6472"/>
                </a:solidFill>
                <a:latin typeface="Amiri" pitchFamily="2" charset="-78"/>
                <a:ea typeface="Amiri" pitchFamily="2" charset="-78"/>
                <a:cs typeface="Amiri" pitchFamily="2" charset="-78"/>
              </a:rPr>
              <a:t>هٰذِهِ / تِلْكَ</a:t>
            </a:r>
            <a:pPr algn="l" indent="0" marL="0">
              <a:buNone/>
            </a:pPr>
            <a:r>
              <a:rPr lang="en-US" sz="1050" i="1" dirty="0">
                <a:solidFill>
                  <a:srgbClr val="5A6472"/>
                </a:solidFill>
                <a:latin typeface="Calibri" pitchFamily="34" charset="0"/>
                <a:cs typeface="Amiri" pitchFamily="2" charset="-78"/>
              </a:rPr>
              <a:t>; comparative never changes.</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هٰذِهِ الحَقِيبَةُ أَرْخَصُ مِنْ تِلْكَ.</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أُمِّي صَبُورٌ وَلَيْسَتْ عَصَبِيَّةٌ.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errors.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أَخِي أَطْوَلُ مِنِّي، وَشَعْرُهُ طَوِيلَةٌ وَعَيْنُهُ زَرْقَاءُ.</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errors.</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أَثِقُ صَدِيقِي لِأَنَّهَا صَادِقٌ.</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errors.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أُمِّي صَبُورٌ وَلَيْسَتْ عَصَبِيَّةٌ.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أُمِّي صَبُورَةٌ وَلَيْسَتْ عَصَبِيَّةً.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agreement; </a:t>
            </a:r>
            <a:pPr algn="l" indent="0" marL="0">
              <a:buNone/>
            </a:pPr>
            <a:r>
              <a:rPr lang="ar-SA" altLang="en-US" sz="1500" b="1" dirty="0">
                <a:solidFill>
                  <a:srgbClr val="1B3B6F"/>
                </a:solidFill>
                <a:latin typeface="Amiri" pitchFamily="2" charset="-78"/>
                <a:ea typeface="Amiri" pitchFamily="2" charset="-78"/>
                <a:cs typeface="Amiri" pitchFamily="2" charset="-78"/>
              </a:rPr>
              <a:t>لَيْسَتْ</a:t>
            </a:r>
            <a:pPr algn="l" indent="0" marL="0">
              <a:buNone/>
            </a:pPr>
            <a:r>
              <a:rPr lang="en-US" sz="1150" b="1" dirty="0">
                <a:solidFill>
                  <a:srgbClr val="1B3B6F"/>
                </a:solidFill>
                <a:latin typeface="Calibri" pitchFamily="34" charset="0"/>
                <a:cs typeface="Amiri" pitchFamily="2" charset="-78"/>
              </a:rPr>
              <a:t> + -an.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أَخِي أَطْوَلُ مِنِّي، وَشَعْرُهُ طَوِيلَةٌ وَعَيْنُهُ زَرْقَاءُ.</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lnSpc>
                <a:spcPct val="120000"/>
              </a:lnSpc>
              <a:buNone/>
            </a:pPr>
            <a:r>
              <a:rPr lang="ar-SA" altLang="en-US" sz="2200" b="1" dirty="0">
                <a:solidFill>
                  <a:srgbClr val="1E6B52"/>
                </a:solidFill>
                <a:latin typeface="Amiri" pitchFamily="2" charset="-78"/>
                <a:ea typeface="Amiri" pitchFamily="2" charset="-78"/>
                <a:cs typeface="Amiri" pitchFamily="2" charset="-78"/>
              </a:rPr>
              <a:t>أَخِي أَطْوَلُ مِنِّي، وَشَعْرُهُ طَوِيلٌ وَعَيْنَاهُ زَرْقَاوَانِ.</a:t>
            </a:r>
            <a:endParaRPr lang="ar-SA" sz="22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Hair is masculine; eyes are dual.</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أَثِقُ صَدِيقِي لِأَنَّهَا صَادِقٌ.</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أَثِقُ بِصَدِيقِي لِأَنَّهُ صَادِقٌ.</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أَثِقُ</a:t>
            </a:r>
            <a:pPr algn="l" indent="0" marL="0">
              <a:buNone/>
            </a:pPr>
            <a:r>
              <a:rPr lang="en-US" sz="1150" b="1" dirty="0">
                <a:solidFill>
                  <a:srgbClr val="1B3B6F"/>
                </a:solidFill>
                <a:latin typeface="Calibri" pitchFamily="34" charset="0"/>
                <a:cs typeface="Amiri" pitchFamily="2" charset="-78"/>
              </a:rPr>
              <a:t> + bi-; he → </a:t>
            </a:r>
            <a:pPr algn="l" indent="0" marL="0">
              <a:buNone/>
            </a:pPr>
            <a:r>
              <a:rPr lang="ar-SA" altLang="en-US" sz="1500" b="1" dirty="0">
                <a:solidFill>
                  <a:srgbClr val="1B3B6F"/>
                </a:solidFill>
                <a:latin typeface="Amiri" pitchFamily="2" charset="-78"/>
                <a:ea typeface="Amiri" pitchFamily="2" charset="-78"/>
                <a:cs typeface="Amiri" pitchFamily="2" charset="-78"/>
              </a:rPr>
              <a:t>لِأَنَّهُ</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 هِيَ أَكْثَرُ ______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more … than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أَنَّ ______ ، فَإِنَّ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Although …,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أُرِيدُ أَنْ أُخْبِرَكَ عَنْ ______ . هُوَ / هِيَ ______ .</a:t>
            </a:r>
            <a:endParaRPr lang="ar-SA" sz="155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want to tell you about … He / she is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هُوَ / هِيَ ______ ، لِأَنَّهُ / لِأَنَّهَا ______ .</a:t>
            </a:r>
            <a:endParaRPr lang="ar-SA" sz="17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 because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أَتَفَاهَمُ مَعَهُ / مَعَهَا، وَ ______ مَعًا.</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get on with him / her, and we … together.</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يَلْبَسُ / تَلْبَسُ ______ ، وَفِي رَأْيِي ______ .</a:t>
            </a:r>
            <a:endParaRPr lang="ar-SA" sz="175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wears …, and in my opinion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طَوِيلُ / طَوِيلَةُ القَامَةِ  ·  عَيْنَاهُ · عَيْنَاهَا  ·  صَبُورٌ · صَبُورَةٌ  ·  لَيْسَ خَجُولًا · لَيْسَتْ خَجُولَةً  ·  أَتَفَاهَمُ مَعَ · أَثِقُ بِ…  ·  أَكْثَرُ … مِنْ  ·  وَلٰكِنَّ  ·  عَلَى الرَّغْمِ مِنْ أَنَّ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Exam-style text: a special person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بِأُسْلُوبِ الامْتِحَانِ: شَخْصٌ مُمَيَّزٌ</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Write an email (about 70–90 words) to an Arabic-speaking friend about a special person in your life. Answer ALL four bullets: • who they are and what they look like • their personality, with evidence • your relationship and something you did together • their style, and your opinion of it.</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أُخْبِرَكَ عَنْ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want to tell you about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 هِيَ … لِأَنَّهُ / لِأَنَّهَا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 she is … because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أَتَفَاهَمُ مَعَهُ / مَعَهَا · فِي الصَّيْفِ المَاضِي …</a:t>
            </a:r>
            <a:endParaRPr lang="ar-SA" sz="165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get on with him / her · last summer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أَنَّ … فَإِنَّ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although …,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with correct agreement?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 comparative, a concession and a past example?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مُجْتَهِدٌ وَمَرِحٌ وَمُتَعَاوِنٌ.</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hard-working, cheerful and helpful.</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نَفْسَكَ فِي ثَلَاثِ كَلِمَاتٍ.</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صَدِيقِي آدَمُ؛ هُوَ قَصِيرُ القَامَةِ، وَصَادِقٌ لِأَنَّهُ لَا يَكْذِبُ أَبَدًا.</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friend Adam — he is short, and honest because he never lies.</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أَقْرَبُ صَدِيقٍ لَكَ؟ صِفْهُ.</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المَلَابِسَ الرِّيَاضِيَّةَ، لِأَنَّهَا أَكْثَرُ رَاحَةً مِنَ الرَّسْمِيَّةِ.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prefer sportswear, because it is more comfortable than formal clothes.</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أُسْلُوبُكَ فِي المَلَابِسِ؟</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رِحْلَةُ المَدْرَسَةِ إِلَى الجِبَالِ؛ ضَحِكْنَا كَثِيرًا، وَتَصَالَحْنَا بَعْدَ خِلَافٍ صَغِيرٍ.</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school trip to the mountains — we laughed a lot and made up after a small argument.</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أَجْمَلُ ذِكْرَى مَعَ صَدِيقِكَ هٰذِهِ السَّنَةَ؟</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50" dirty="0">
                <a:solidFill>
                  <a:srgbClr val="1F2A37"/>
                </a:solidFill>
                <a:latin typeface="Amiri" pitchFamily="2" charset="-78"/>
                <a:ea typeface="Amiri" pitchFamily="2" charset="-78"/>
                <a:cs typeface="Amiri" pitchFamily="2" charset="-78"/>
              </a:rPr>
              <a:t>مَرْحَبًا يَا جُودُ،</a:t>
            </a:r>
            <a:endParaRPr lang="ar-SA" sz="1950" dirty="0"/>
          </a:p>
          <a:p>
            <a:pPr rtl="1" algn="r" indent="0" marL="0">
              <a:lnSpc>
                <a:spcPct val="120000"/>
              </a:lnSpc>
              <a:buNone/>
            </a:pPr>
            <a:r>
              <a:rPr lang="ar-SA" altLang="en-US" sz="1950" dirty="0">
                <a:solidFill>
                  <a:srgbClr val="1F2A37"/>
                </a:solidFill>
                <a:latin typeface="Amiri" pitchFamily="2" charset="-78"/>
                <a:ea typeface="Amiri" pitchFamily="2" charset="-78"/>
                <a:cs typeface="Amiri" pitchFamily="2" charset="-78"/>
              </a:rPr>
              <a:t>أُرِيدُ أَنْ أُخْبِرَكِ عَنْ أُخْتِي الكَبِيرَةِ مَرْيَمَ. هِيَ طَوِيلَةُ القَامَةِ، وَشَعْرُهَا بُنِّيٌّ مُجَعَّدٌ، وَعَيْنَاهَا عَسَلِيَّتَانِ. هِيَ ذَكِيَّةٌ وَصَبُورَةٌ، لِأَنَّهَا تَشْرَحُ لِي الرِّيَاضِيَّاتِ كُلَّ مَسَاءٍ، وَلَيْسَتْ عَصَبِيَّةً أَبَدًا. أَتَفَاهَمُ مَعَهَا جِدًّا، وَأَثِقُ بِهَا؛ فِي الصَّيْفِ المَاضِي سَافَرْنَا مَعًا إِلَى بَيْتِ جَدَّتِي. تَلْبَسُ عَادَةً مَلَابِسَ عَصْرِيَّةً وَمُحْتَشِمَةً، وَهِيَ أَكْثَرُ أَنَاقَةً مِنِّي! عَلَى الرَّغْمِ مِنْ أَنَّ أُسْلُوبَهَا بَسِيطٌ، فَإِنَّهُ جَمِيلٌ جِدًّا. وَأَنْتِ، مَنِ الشَّخْصُ المُمَيَّزُ فِي حَيَاتِكِ؟</a:t>
            </a:r>
            <a:endParaRPr lang="ar-SA" sz="1950" dirty="0"/>
          </a:p>
          <a:p>
            <a:pPr rtl="1" algn="r" indent="0" marL="0">
              <a:lnSpc>
                <a:spcPct val="120000"/>
              </a:lnSpc>
              <a:buNone/>
            </a:pPr>
            <a:r>
              <a:rPr lang="ar-SA" altLang="en-US" sz="1950" dirty="0">
                <a:solidFill>
                  <a:srgbClr val="1F2A37"/>
                </a:solidFill>
                <a:latin typeface="Amiri" pitchFamily="2" charset="-78"/>
                <a:ea typeface="Amiri" pitchFamily="2" charset="-78"/>
                <a:cs typeface="Amiri" pitchFamily="2" charset="-78"/>
              </a:rPr>
              <a:t>صَدِيقَتُكِ، هِنْدُ</a:t>
            </a:r>
            <a:endParaRPr lang="ar-SA" sz="19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Jude, I want to tell you about my older sister Maryam. She is tall, her hair is curly and brown, and her eyes are hazel. She is clever and patient, because she explains maths to me every evening, and she is never irritable. I get on with her very well and trust her — last summer we travelled together to my grandmother’s house. She usually wears modern, modest clothes, and she is more elegant than me! Although her style is simple, it is very beautiful. And you — who is the special person in your life? Your friend, Hind.”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وَعَيْنَاهَا عَسَلِيَّتَانِ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وَلَيْسَتْ عَصَبِيَّةً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وَأَثِقُ بِهَا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عَلَى الرَّغْمِ مِنْ أَنَّ أُسْلُوبَهَا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D2-L12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D2-L12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D2 review · Well done — the unit is complete</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أَحْسَنْتُمْ</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Before you leave: write ONE target for D3 in your book, e.g. “I will check hair = masculine, eyes = dual.”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D2-L12 · Practice Room — Review and Unit Assessment</dc:title>
  <dc:subject>PptxGenJS Presentation</dc:subject>
  <dc:creator>Al Madina Online School · Arabic Department</dc:creator>
  <cp:lastModifiedBy>Al Madina Online School · Arabic Department</cp:lastModifiedBy>
  <cp:revision>1</cp:revision>
  <dcterms:created xsi:type="dcterms:W3CDTF">2026-10-25T18:34:26Z</dcterms:created>
  <dcterms:modified xsi:type="dcterms:W3CDTF">2026-10-25T18:34:26Z</dcterms:modified>
</cp:coreProperties>
</file>