
<file path=[Content_Types].xml><?xml version="1.0" encoding="utf-8"?>
<Types xmlns="http://schemas.openxmlformats.org/package/2006/content-types">
  <Default Extension="fntdata" ContentType="application/x-fontdata"/>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embedTrueTypeFonts="1"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Lst>
  <p:notesMasterIdLst>
    <p:notesMasterId r:id="rId24"/>
  </p:notesMasterIdLst>
  <p:sldSz cx="12192000" cy="6858000"/>
  <p:notesSz cx="6858000" cy="12192000"/>
  <p:embeddedFontLst>
    <p:embeddedFont>
      <p:font typeface="Amiri" pitchFamily="2" charset="-78"/>
      <p:regular r:id="rIdFont1"/>
      <p:bold r:id="rIdFont2"/>
    </p:embeddedFont>
  </p:embeddedFontLst>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notesMaster" Target="notesMasters/notesMaster1.xml"/><Relationship Id="rId25" Type="http://schemas.openxmlformats.org/officeDocument/2006/relationships/presProps" Target="presProps.xml"/><Relationship Id="rId26" Type="http://schemas.openxmlformats.org/officeDocument/2006/relationships/viewProps" Target="viewProps.xml"/><Relationship Id="rId27" Type="http://schemas.openxmlformats.org/officeDocument/2006/relationships/theme" Target="theme/theme1.xml"/><Relationship Id="rId28" Type="http://schemas.openxmlformats.org/officeDocument/2006/relationships/tableStyles" Target="tableStyles.xml"/><Relationship Id="rIdFont1" Type="http://schemas.openxmlformats.org/officeDocument/2006/relationships/font" Target="fonts/font1.fntdata"/><Relationship Id="rIdFont2" Type="http://schemas.openxmlformats.org/officeDocument/2006/relationships/font" Target="fonts/font2.fntdata"/></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cs typeface="Amiri" pitchFamily="2" charset="-78"/>
      </a:defRPr>
    </a:lvl1pPr>
    <a:lvl2pPr marL="457200" algn="l" defTabSz="914400" rtl="0" eaLnBrk="1" latinLnBrk="0" hangingPunct="1">
      <a:defRPr sz="1200" kern="1200">
        <a:solidFill>
          <a:schemeClr val="tx1"/>
        </a:solidFill>
        <a:latin typeface="+mn-lt"/>
        <a:cs typeface="Amiri" pitchFamily="2" charset="-78"/>
      </a:defRPr>
    </a:lvl2pPr>
    <a:lvl3pPr marL="914400" algn="l" defTabSz="914400" rtl="0" eaLnBrk="1" latinLnBrk="0" hangingPunct="1">
      <a:defRPr sz="1200" kern="1200">
        <a:solidFill>
          <a:schemeClr val="tx1"/>
        </a:solidFill>
        <a:latin typeface="+mn-lt"/>
        <a:cs typeface="Amiri" pitchFamily="2" charset="-78"/>
      </a:defRPr>
    </a:lvl3pPr>
    <a:lvl4pPr marL="1371600" algn="l" defTabSz="914400" rtl="0" eaLnBrk="1" latinLnBrk="0" hangingPunct="1">
      <a:defRPr sz="1200" kern="1200">
        <a:solidFill>
          <a:schemeClr val="tx1"/>
        </a:solidFill>
        <a:latin typeface="+mn-lt"/>
        <a:cs typeface="Amiri" pitchFamily="2" charset="-78"/>
      </a:defRPr>
    </a:lvl4pPr>
    <a:lvl5pPr marL="1828800" algn="l" defTabSz="914400" rtl="0" eaLnBrk="1" latinLnBrk="0" hangingPunct="1">
      <a:defRPr sz="1200" kern="1200">
        <a:solidFill>
          <a:schemeClr val="tx1"/>
        </a:solidFill>
        <a:latin typeface="+mn-lt"/>
        <a:cs typeface="Amiri" pitchFamily="2" charset="-78"/>
      </a:defRPr>
    </a:lvl5pPr>
    <a:lvl6pPr marL="2286000" algn="l" defTabSz="914400" rtl="0" eaLnBrk="1" latinLnBrk="0" hangingPunct="1">
      <a:defRPr sz="1200" kern="1200">
        <a:solidFill>
          <a:schemeClr val="tx1"/>
        </a:solidFill>
        <a:latin typeface="+mn-lt"/>
        <a:cs typeface="Amiri" pitchFamily="2" charset="-78"/>
      </a:defRPr>
    </a:lvl6pPr>
    <a:lvl7pPr marL="2743200" algn="l" defTabSz="914400" rtl="0" eaLnBrk="1" latinLnBrk="0" hangingPunct="1">
      <a:defRPr sz="1200" kern="1200">
        <a:solidFill>
          <a:schemeClr val="tx1"/>
        </a:solidFill>
        <a:latin typeface="+mn-lt"/>
        <a:cs typeface="Amiri" pitchFamily="2" charset="-78"/>
      </a:defRPr>
    </a:lvl7pPr>
    <a:lvl8pPr marL="3200400" algn="l" defTabSz="914400" rtl="0" eaLnBrk="1" latinLnBrk="0" hangingPunct="1">
      <a:defRPr sz="1200" kern="1200">
        <a:solidFill>
          <a:schemeClr val="tx1"/>
        </a:solidFill>
        <a:latin typeface="+mn-lt"/>
        <a:cs typeface="Amiri" pitchFamily="2" charset="-78"/>
      </a:defRPr>
    </a:lvl8pPr>
    <a:lvl9pPr marL="3657600" algn="l" defTabSz="914400" rtl="0" eaLnBrk="1" latinLnBrk="0" hangingPunct="1">
      <a:defRPr sz="1200" kern="1200">
        <a:solidFill>
          <a:schemeClr val="tx1"/>
        </a:solidFill>
        <a:latin typeface="+mn-lt"/>
        <a:cs typeface="Amiri" pitchFamily="2" charset="-78"/>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PRACTICE ROOM AT A GLANCE — one combined lesson (speaking, then writing), 55–60 minutes: about 6 minutes in the main room, about 45 minutes in breakout rooms of two or three, about 6 minutes back together.
0–2 Welcome · 2–5 How the room works · ROOMS, Part A Speaking: Step 1 Word warm-up (5) · Step 2 Say the model dialogue (5) · Step 3 Question cards (7) · Step 4 Role-play card (7) · Step 5 Short talk (4) · Part B Writing: Step 6 Sentence builder (4) · Step 7 Spot and fix (3) · Step 8 Write your text (12) + buddy check (3) · back in the main room: Check yourself (4) · Self-check + close (2).
PURPOSE: students practise the lesson’s language ON THEIR OWN with a clear structure. The teacher visits each room (about 3 minutes per room), listens, reads one piece of writing per student and gives one live correction.
CONTENT: D2-L12 (Review and Unit Assessment) — new practice tasks built on the lesson’s own word bank and grammar (D2 review: adjective agreement (m. / f. / pl. / non-human pl.); laysa + -an; relationship verbs + prepositions and object suffixes; hādhā / hādhihi + colour agreement; comparatives and superlatives; appearance (hair m., eyes dual, lahu / lahā, alladhī / allatī); opinions with li-anna · wa-lākinna · ʿalā al-raghmi min anna … fa-inna).
SET-UP: rooms of two or three (same-level rooms keep the routes simple). Share this deck or its PDF in the chat so every room can follow the steps. Each student writes in their own book or document.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WELCOME (1 min) — while students join.
• Greet each student by name as they arrive: السَّلَامُ عَلَيْكُمْ. Take the register (Pastoral Tracker: attendance 0/1).
• 2-MINUTE CHECK-IN (SEND training): a private chat to any student who seemed unsettled last lesson — “Are you okay today? 👍 / 👎”.
• Point to the four expectations — brief and positive: this is our class agreement.
• Talk code: “I will always give you thinking and practice time before I ask anyone.” Reading aloud is by invitation — a student may say “pass” and you return to them later.
• Follow-up on preparation: who learnt the five words? Quick private reminder to anyone who did not (Flipped Learning: follow up every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MAP (1 min) — Part A is speaking, Part B is writing. The step number is always in the top-left of each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HOW THE ROOM WORKS (3 min, main room). Model the roles quickly with two volunteers using one question from Step 3. Stress: the Coach is kind and specific. Then open the breakout rooms.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STEP 1 (5 min in rooms). The two word slides that follow come from the D2-L12 lesson. Teacher: visit the first room straight away to model the pace.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Step 1 reference — the Leader picks the English, the Speaker gives the Arabic.</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Step 1 reference.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STEP 2 (5 min). The dialogue models today’s language in a real exchange.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STEP 3 (7 min). The starter column is support, not the answer: students finish it with their OWN information. Coach listens for the key structure of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STEP 4 (7 min). FADED SUPPORT: tasks 1–2 show the plan (question word → first words); students write their own plan for 3–4. Everyone is Speaker once. To a girl the Leader says: editor to a girl: صِفِي نَفْسَكِ · أَنَا مُجْتَهِدَةٌ وَمَرِحَةٌ وَمُتَعَاوِنَةٌ · صَدِيقَتِي … هِيَ قَصِيرَةُ القَامَةِ. This card mixes every D2 structure; the Coach ticks each one heard.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STEP 5 (4 min). A short talk builds fluency and confidence.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STEP 6 (4 min). Read the English, then choose the correct part from each column (start on the RIGHT, column 1). Buddies agree before checking the answer slide. Students copy the three correct sentences into their book — they are useful for Step 8.</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STEP 6 (4 min). Read the English, then choose the correct part from each column (start on the RIGHT, column 1). Buddies agree before checking the answer slide. Students copy the three correct sentences into their book — they are useful for Step 8.</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STEP 7 (3 min). Pairs agree on each correction before the answer slide. These are the mistakes to look for in the buddy check.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STEP 7 (3 min). Pairs agree on each correction before the answer slide. These are the mistakes to look for in the buddy check.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STEP 8 support. Core: use the Core frames for every sentence. Develop: use the Develop frames only if stuck. Stretch: no frames — add a reason, a time phrase and one extra detail.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STEP 8 (10 min writing). Core: frames for every bullet (40–50 words). Develop: 60–80 words, frames only if stuck. Stretch: no frames, add reasons and another time frame. Teacher visits rooms and reads ONE sentence per student.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BUDDY CHECK (3 min). Then everyone returns to the main room.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CHECK YOURSELF (2 min, main room). Each student finds one task they answered less fully and says it again using the model.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MODEL ANSWER (69 words). CHECK YOURSELF (2 min). Find each bullet point in the model. Then each student copies ONE phrase from the model into their own text.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SELF-CHECK (1 min) against the website success criteria. Students tick privately, then type one WWW and one EBI in the chat (English is fine).
Teacher: one whole-class feedback point from live feedback. Pastoral: Curiosity &amp; Growth for honest reflection and a harder target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 thank students, dismiss calmly. After the lesson: complete the Pastoral Tracker (attendance, character, self-management, curiosity; demerits only for the five listed concerns). Note any student below 2/3 on the exit ticket for a Do Now check-in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cs typeface="Amiri" pitchFamily="2" charset="-78"/>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cs typeface="Amiri" pitchFamily="2" charset="-78"/>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cs typeface="Amiri" pitchFamily="2" charset="-78"/>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cs typeface="Amiri" pitchFamily="2" charset="-78"/>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9pPr>
    </p:bodyStyle>
    <p:otherStyle>
      <a:defPPr>
        <a:defRPr lang="en-US"/>
      </a:defPPr>
      <a:lvl1pPr marL="0" algn="l" defTabSz="914400" rtl="0" eaLnBrk="1" latinLnBrk="0" hangingPunct="1">
        <a:defRPr sz="1800" kern="1200">
          <a:solidFill>
            <a:schemeClr val="tx1"/>
          </a:solidFill>
          <a:latin typeface="+mn-lt"/>
          <a:cs typeface="Amiri" pitchFamily="2" charset="-78"/>
        </a:defRPr>
      </a:lvl1pPr>
      <a:lvl2pPr marL="457200" algn="l" defTabSz="914400" rtl="0" eaLnBrk="1" latinLnBrk="0" hangingPunct="1">
        <a:defRPr sz="1800" kern="1200">
          <a:solidFill>
            <a:schemeClr val="tx1"/>
          </a:solidFill>
          <a:latin typeface="+mn-lt"/>
          <a:cs typeface="Amiri" pitchFamily="2" charset="-78"/>
        </a:defRPr>
      </a:lvl2pPr>
      <a:lvl3pPr marL="914400" algn="l" defTabSz="914400" rtl="0" eaLnBrk="1" latinLnBrk="0" hangingPunct="1">
        <a:defRPr sz="1800" kern="1200">
          <a:solidFill>
            <a:schemeClr val="tx1"/>
          </a:solidFill>
          <a:latin typeface="+mn-lt"/>
          <a:cs typeface="Amiri" pitchFamily="2" charset="-78"/>
        </a:defRPr>
      </a:lvl3pPr>
      <a:lvl4pPr marL="1371600" algn="l" defTabSz="914400" rtl="0" eaLnBrk="1" latinLnBrk="0" hangingPunct="1">
        <a:defRPr sz="1800" kern="1200">
          <a:solidFill>
            <a:schemeClr val="tx1"/>
          </a:solidFill>
          <a:latin typeface="+mn-lt"/>
          <a:cs typeface="Amiri" pitchFamily="2" charset="-78"/>
        </a:defRPr>
      </a:lvl4pPr>
      <a:lvl5pPr marL="1828800" algn="l" defTabSz="914400" rtl="0" eaLnBrk="1" latinLnBrk="0" hangingPunct="1">
        <a:defRPr sz="1800" kern="1200">
          <a:solidFill>
            <a:schemeClr val="tx1"/>
          </a:solidFill>
          <a:latin typeface="+mn-lt"/>
          <a:cs typeface="Amiri" pitchFamily="2" charset="-78"/>
        </a:defRPr>
      </a:lvl5pPr>
      <a:lvl6pPr marL="2286000" algn="l" defTabSz="914400" rtl="0" eaLnBrk="1" latinLnBrk="0" hangingPunct="1">
        <a:defRPr sz="1800" kern="1200">
          <a:solidFill>
            <a:schemeClr val="tx1"/>
          </a:solidFill>
          <a:latin typeface="+mn-lt"/>
          <a:cs typeface="Amiri" pitchFamily="2" charset="-78"/>
        </a:defRPr>
      </a:lvl6pPr>
      <a:lvl7pPr marL="2743200" algn="l" defTabSz="914400" rtl="0" eaLnBrk="1" latinLnBrk="0" hangingPunct="1">
        <a:defRPr sz="1800" kern="1200">
          <a:solidFill>
            <a:schemeClr val="tx1"/>
          </a:solidFill>
          <a:latin typeface="+mn-lt"/>
          <a:cs typeface="Amiri" pitchFamily="2" charset="-78"/>
        </a:defRPr>
      </a:lvl7pPr>
      <a:lvl8pPr marL="3200400" algn="l" defTabSz="914400" rtl="0" eaLnBrk="1" latinLnBrk="0" hangingPunct="1">
        <a:defRPr sz="1800" kern="1200">
          <a:solidFill>
            <a:schemeClr val="tx1"/>
          </a:solidFill>
          <a:latin typeface="+mn-lt"/>
          <a:cs typeface="Amiri" pitchFamily="2" charset="-78"/>
        </a:defRPr>
      </a:lvl8pPr>
      <a:lvl9pPr marL="3657600" algn="l" defTabSz="914400" rtl="0" eaLnBrk="1" latinLnBrk="0" hangingPunct="1">
        <a:defRPr sz="1800" kern="1200">
          <a:solidFill>
            <a:schemeClr val="tx1"/>
          </a:solidFill>
          <a:latin typeface="+mn-lt"/>
          <a:cs typeface="Amiri" pitchFamily="2" charset="-78"/>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slideLayout" Target="../slideLayouts/slideLayout1.xml"/><Relationship Id="rId6"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1.xml"/><Relationship Id="rId3" Type="http://schemas.openxmlformats.org/officeDocument/2006/relationships/notesSlide" Target="../notesSlides/notesSlide22.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463040"/>
            <a:ext cx="5852160" cy="5852160"/>
          </a:xfrm>
          <a:prstGeom prst="ellipse">
            <a:avLst/>
          </a:prstGeom>
          <a:solidFill>
            <a:srgbClr val="14315C"/>
          </a:solidFill>
          <a:ln w="12700">
            <a:solidFill>
              <a:srgbClr val="14315C"/>
            </a:solidFill>
            <a:prstDash val="solid"/>
          </a:ln>
        </p:spPr>
      </p:sp>
      <p:sp>
        <p:nvSpPr>
          <p:cNvPr id="3" name="Shape 1"/>
          <p:cNvSpPr/>
          <p:nvPr/>
        </p:nvSpPr>
        <p:spPr>
          <a:xfrm>
            <a:off x="8778240" y="-548640"/>
            <a:ext cx="4023360" cy="4023360"/>
          </a:xfrm>
          <a:prstGeom prst="ellipse">
            <a:avLst/>
          </a:prstGeom>
          <a:solidFill>
            <a:srgbClr val="1B3B6F"/>
          </a:solidFill>
          <a:ln w="12700">
            <a:solidFill>
              <a:srgbClr val="1B3B6F"/>
            </a:solidFill>
            <a:prstDash val="solid"/>
          </a:ln>
        </p:spPr>
      </p:sp>
      <p:pic>
        <p:nvPicPr>
          <p:cNvPr id="4" name="Image 0" descr="preencoded.png">    </p:cNvPr>
          <p:cNvPicPr>
            <a:picLocks noChangeAspect="1"/>
          </p:cNvPicPr>
          <p:nvPr/>
        </p:nvPicPr>
        <p:blipFill>
          <a:blip r:embed="rId1"/>
          <a:stretch>
            <a:fillRect/>
          </a:stretch>
        </p:blipFill>
        <p:spPr>
          <a:xfrm>
            <a:off x="10012680" y="685800"/>
            <a:ext cx="1554480" cy="1554480"/>
          </a:xfrm>
          <a:prstGeom prst="rect">
            <a:avLst/>
          </a:prstGeom>
        </p:spPr>
      </p:pic>
      <p:sp>
        <p:nvSpPr>
          <p:cNvPr id="5" name="Shape 2"/>
          <p:cNvSpPr/>
          <p:nvPr/>
        </p:nvSpPr>
        <p:spPr>
          <a:xfrm>
            <a:off x="457200" y="411480"/>
            <a:ext cx="502920" cy="502920"/>
          </a:xfrm>
          <a:prstGeom prst="ellipse">
            <a:avLst/>
          </a:prstGeom>
          <a:solidFill>
            <a:srgbClr val="1B3B6F"/>
          </a:solidFill>
          <a:ln w="15875">
            <a:solidFill>
              <a:srgbClr val="D4AF37"/>
            </a:solidFill>
            <a:prstDash val="solid"/>
          </a:ln>
        </p:spPr>
      </p:sp>
      <p:sp>
        <p:nvSpPr>
          <p:cNvPr id="6" name="Text 3"/>
          <p:cNvSpPr txBox="1"/>
          <p:nvPr/>
        </p:nvSpPr>
        <p:spPr>
          <a:xfrm>
            <a:off x="457200" y="393192"/>
            <a:ext cx="502920" cy="502920"/>
          </a:xfrm>
          <a:prstGeom prst="rect">
            <a:avLst/>
          </a:prstGeom>
          <a:noFill/>
          <a:ln/>
        </p:spPr>
        <p:txBody>
          <a:bodyPr wrap="square" lIns="0" tIns="0" rIns="0" bIns="0" rtlCol="0" anchor="ctr"/>
          <a:lstStyle/>
          <a:p>
            <a:pPr rtl="1" algn="ctr" indent="0" marL="0">
              <a:buNone/>
            </a:pPr>
            <a:r>
              <a:rPr lang="ar-SA" altLang="en-US" sz="2200" b="1" dirty="0">
                <a:solidFill>
                  <a:srgbClr val="D4AF37"/>
                </a:solidFill>
                <a:latin typeface="Amiri" pitchFamily="2" charset="-78"/>
                <a:ea typeface="Amiri" pitchFamily="2" charset="-78"/>
                <a:cs typeface="Amiri" pitchFamily="2" charset="-78"/>
              </a:rPr>
              <a:t>م</a:t>
            </a:r>
            <a:endParaRPr lang="ar-SA" sz="2200" dirty="0"/>
          </a:p>
        </p:txBody>
      </p:sp>
      <p:sp>
        <p:nvSpPr>
          <p:cNvPr id="7" name="Text 4"/>
          <p:cNvSpPr txBox="1"/>
          <p:nvPr/>
        </p:nvSpPr>
        <p:spPr>
          <a:xfrm>
            <a:off x="1078992" y="384048"/>
            <a:ext cx="5486400" cy="566928"/>
          </a:xfrm>
          <a:prstGeom prst="rect">
            <a:avLst/>
          </a:prstGeom>
          <a:noFill/>
          <a:ln/>
        </p:spPr>
        <p:txBody>
          <a:bodyPr wrap="square" lIns="0" tIns="0" rIns="0" bIns="0" rtlCol="0" anchor="ctr"/>
          <a:lstStyle/>
          <a:p>
            <a:pPr indent="0" marL="0">
              <a:buNone/>
            </a:pPr>
            <a:r>
              <a:rPr lang="en-US" sz="1400" b="1" dirty="0">
                <a:solidFill>
                  <a:srgbClr val="FFFFFF"/>
                </a:solidFill>
                <a:latin typeface="Cambria" pitchFamily="34" charset="0"/>
                <a:cs typeface="Amiri" pitchFamily="2" charset="-78"/>
              </a:rPr>
              <a:t>Al Madina Online School</a:t>
            </a:r>
            <a:endParaRPr lang="en-US" sz="1400" dirty="0"/>
          </a:p>
          <a:p>
            <a:pPr indent="0" marL="0">
              <a:buNone/>
            </a:pPr>
            <a:r>
              <a:rPr lang="en-US" sz="800" b="1" spc="200" kern="0" dirty="0">
                <a:solidFill>
                  <a:srgbClr val="D4AF37"/>
                </a:solidFill>
                <a:latin typeface="Calibri" pitchFamily="34" charset="0"/>
                <a:cs typeface="Amiri" pitchFamily="2" charset="-78"/>
              </a:rPr>
              <a:t>ARABIC DEPARTMENT · MIFTAH ARABIC</a:t>
            </a:r>
            <a:endParaRPr lang="en-US" sz="1400" dirty="0"/>
          </a:p>
        </p:txBody>
      </p:sp>
      <p:sp>
        <p:nvSpPr>
          <p:cNvPr id="8" name="Text 5"/>
          <p:cNvSpPr txBox="1"/>
          <p:nvPr/>
        </p:nvSpPr>
        <p:spPr>
          <a:xfrm>
            <a:off x="457200" y="1600200"/>
            <a:ext cx="8686800" cy="274320"/>
          </a:xfrm>
          <a:prstGeom prst="rect">
            <a:avLst/>
          </a:prstGeom>
          <a:noFill/>
          <a:ln/>
        </p:spPr>
        <p:txBody>
          <a:bodyPr wrap="square" lIns="0" tIns="0" rIns="0" bIns="0" rtlCol="0" anchor="ctr"/>
          <a:lstStyle/>
          <a:p>
            <a:pPr algn="l" indent="0" marL="0">
              <a:buNone/>
            </a:pPr>
            <a:r>
              <a:rPr lang="en-US" sz="1100" b="1" spc="200" kern="0" dirty="0">
                <a:solidFill>
                  <a:srgbClr val="D4AF37"/>
                </a:solidFill>
                <a:latin typeface="Calibri" pitchFamily="34" charset="0"/>
                <a:cs typeface="Amiri" pitchFamily="2" charset="-78"/>
              </a:rPr>
              <a:t>CAMBRIDGE IGCSE ARABIC 0544  ·  YEAR 8  ·  DEVELOPMENT D2  ·  D2-L12 · PRACTICE ROOM</a:t>
            </a:r>
            <a:endParaRPr lang="en-US" sz="1100" dirty="0"/>
          </a:p>
        </p:txBody>
      </p:sp>
      <p:sp>
        <p:nvSpPr>
          <p:cNvPr id="9" name="Text 6"/>
          <p:cNvSpPr txBox="1"/>
          <p:nvPr/>
        </p:nvSpPr>
        <p:spPr>
          <a:xfrm>
            <a:off x="457200" y="1965960"/>
            <a:ext cx="7315200" cy="548640"/>
          </a:xfrm>
          <a:prstGeom prst="rect">
            <a:avLst/>
          </a:prstGeom>
          <a:noFill/>
          <a:ln/>
        </p:spPr>
        <p:txBody>
          <a:bodyPr wrap="square" lIns="0" tIns="0" rIns="0" bIns="0" rtlCol="0" anchor="ctr"/>
          <a:lstStyle/>
          <a:p>
            <a:pPr algn="l" indent="0" marL="0">
              <a:buNone/>
            </a:pPr>
            <a:r>
              <a:rPr lang="en-US" sz="2600" b="1" dirty="0">
                <a:solidFill>
                  <a:srgbClr val="9FB3D1"/>
                </a:solidFill>
                <a:latin typeface="Cambria" pitchFamily="34" charset="0"/>
                <a:cs typeface="Amiri" pitchFamily="2" charset="-78"/>
              </a:rPr>
              <a:t>D2-L12</a:t>
            </a:r>
            <a:endParaRPr lang="en-US" sz="2600" dirty="0"/>
          </a:p>
        </p:txBody>
      </p:sp>
      <p:sp>
        <p:nvSpPr>
          <p:cNvPr id="10" name="Text 7"/>
          <p:cNvSpPr txBox="1"/>
          <p:nvPr/>
        </p:nvSpPr>
        <p:spPr>
          <a:xfrm>
            <a:off x="457200" y="2487168"/>
            <a:ext cx="8046720" cy="868680"/>
          </a:xfrm>
          <a:prstGeom prst="rect">
            <a:avLst/>
          </a:prstGeom>
          <a:noFill/>
          <a:ln/>
        </p:spPr>
        <p:txBody>
          <a:bodyPr wrap="square" lIns="0" tIns="0" rIns="0" bIns="0" rtlCol="0" anchor="ctr"/>
          <a:lstStyle/>
          <a:p>
            <a:pPr algn="l" indent="0" marL="0">
              <a:buNone/>
            </a:pPr>
            <a:r>
              <a:rPr lang="en-US" sz="2650" b="1" dirty="0">
                <a:solidFill>
                  <a:srgbClr val="FFFFFF"/>
                </a:solidFill>
                <a:latin typeface="Cambria" pitchFamily="34" charset="0"/>
                <a:cs typeface="Amiri" pitchFamily="2" charset="-78"/>
              </a:rPr>
              <a:t>Practice Room — Review and Unit Assessment</a:t>
            </a:r>
            <a:endParaRPr lang="en-US" sz="2650" dirty="0"/>
          </a:p>
        </p:txBody>
      </p:sp>
      <p:sp>
        <p:nvSpPr>
          <p:cNvPr id="11" name="Text 8"/>
          <p:cNvSpPr txBox="1"/>
          <p:nvPr/>
        </p:nvSpPr>
        <p:spPr>
          <a:xfrm>
            <a:off x="457200" y="3310128"/>
            <a:ext cx="8046720" cy="868680"/>
          </a:xfrm>
          <a:prstGeom prst="rect">
            <a:avLst/>
          </a:prstGeom>
          <a:noFill/>
          <a:ln/>
        </p:spPr>
        <p:txBody>
          <a:bodyPr wrap="square" lIns="0" tIns="0" rIns="0" bIns="0" rtlCol="0" anchor="ctr"/>
          <a:lstStyle/>
          <a:p>
            <a:pPr rtl="1" algn="l" indent="0" marL="0">
              <a:buNone/>
            </a:pPr>
            <a:r>
              <a:rPr lang="ar-SA" altLang="en-US" sz="3600" b="1" dirty="0">
                <a:solidFill>
                  <a:srgbClr val="D4AF37"/>
                </a:solidFill>
                <a:latin typeface="Amiri" pitchFamily="2" charset="-78"/>
                <a:ea typeface="Amiri" pitchFamily="2" charset="-78"/>
                <a:cs typeface="Amiri" pitchFamily="2" charset="-78"/>
              </a:rPr>
              <a:t>غُرْفَةُ التَّدَرُّبِ — مُرَاجَعَةُ الوَحْدَةِ</a:t>
            </a:r>
            <a:endParaRPr lang="ar-SA" sz="3600" dirty="0"/>
          </a:p>
        </p:txBody>
      </p:sp>
      <p:sp>
        <p:nvSpPr>
          <p:cNvPr id="12" name="Text 9"/>
          <p:cNvSpPr txBox="1"/>
          <p:nvPr/>
        </p:nvSpPr>
        <p:spPr>
          <a:xfrm>
            <a:off x="457200" y="4224528"/>
            <a:ext cx="7863840" cy="731520"/>
          </a:xfrm>
          <a:prstGeom prst="rect">
            <a:avLst/>
          </a:prstGeom>
          <a:noFill/>
          <a:ln/>
        </p:spPr>
        <p:txBody>
          <a:bodyPr wrap="square" lIns="0" tIns="0" rIns="0" bIns="0" rtlCol="0" anchor="t"/>
          <a:lstStyle/>
          <a:p>
            <a:pPr algn="l" indent="0" marL="0">
              <a:buNone/>
            </a:pPr>
            <a:r>
              <a:rPr lang="en-US" sz="1400" dirty="0">
                <a:solidFill>
                  <a:srgbClr val="C6D2E6"/>
                </a:solidFill>
                <a:latin typeface="Calibri" pitchFamily="34" charset="0"/>
                <a:cs typeface="Amiri" pitchFamily="2" charset="-78"/>
              </a:rPr>
              <a:t>Students run their own review of the whole D2 unit: recall twelve key D2 expressions, act a mixed dialogue, answer mixed exam-style cards, do a full role-play card, give a one-minute talk, then build, fix and write an exam-style text — and set one target for D3.</a:t>
            </a:r>
            <a:endParaRPr lang="en-US" sz="1400" dirty="0"/>
          </a:p>
        </p:txBody>
      </p:sp>
      <p:sp>
        <p:nvSpPr>
          <p:cNvPr id="13" name="Shape 10"/>
          <p:cNvSpPr/>
          <p:nvPr/>
        </p:nvSpPr>
        <p:spPr>
          <a:xfrm>
            <a:off x="457200" y="5166360"/>
            <a:ext cx="2651760" cy="868680"/>
          </a:xfrm>
          <a:prstGeom prst="roundRect">
            <a:avLst>
              <a:gd name="adj" fmla="val 8421"/>
            </a:avLst>
          </a:prstGeom>
          <a:solidFill>
            <a:srgbClr val="16335F"/>
          </a:solidFill>
          <a:ln w="12700">
            <a:solidFill>
              <a:srgbClr val="2A4B7C"/>
            </a:solidFill>
            <a:prstDash val="solid"/>
          </a:ln>
        </p:spPr>
      </p:sp>
      <p:sp>
        <p:nvSpPr>
          <p:cNvPr id="14" name="Text 11"/>
          <p:cNvSpPr txBox="1"/>
          <p:nvPr/>
        </p:nvSpPr>
        <p:spPr>
          <a:xfrm>
            <a:off x="621792"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LESSON</a:t>
            </a:r>
            <a:endParaRPr lang="en-US" sz="850" dirty="0"/>
          </a:p>
          <a:p>
            <a:pPr indent="0" marL="0">
              <a:buNone/>
            </a:pPr>
            <a:r>
              <a:rPr lang="en-US" sz="1200" b="1" dirty="0">
                <a:solidFill>
                  <a:srgbClr val="FFFFFF"/>
                </a:solidFill>
                <a:latin typeface="Calibri" pitchFamily="34" charset="0"/>
                <a:cs typeface="Amiri" pitchFamily="2" charset="-78"/>
              </a:rPr>
              <a:t>D2-L12 · Development D2 · People, Relationships and Style</a:t>
            </a:r>
            <a:endParaRPr lang="en-US" sz="850" dirty="0"/>
          </a:p>
        </p:txBody>
      </p:sp>
      <p:sp>
        <p:nvSpPr>
          <p:cNvPr id="15" name="Shape 12"/>
          <p:cNvSpPr/>
          <p:nvPr/>
        </p:nvSpPr>
        <p:spPr>
          <a:xfrm>
            <a:off x="3273552" y="5166360"/>
            <a:ext cx="2651760" cy="868680"/>
          </a:xfrm>
          <a:prstGeom prst="roundRect">
            <a:avLst>
              <a:gd name="adj" fmla="val 8421"/>
            </a:avLst>
          </a:prstGeom>
          <a:solidFill>
            <a:srgbClr val="16335F"/>
          </a:solidFill>
          <a:ln w="12700">
            <a:solidFill>
              <a:srgbClr val="2A4B7C"/>
            </a:solidFill>
            <a:prstDash val="solid"/>
          </a:ln>
        </p:spPr>
      </p:sp>
      <p:sp>
        <p:nvSpPr>
          <p:cNvPr id="16" name="Text 13"/>
          <p:cNvSpPr txBox="1"/>
          <p:nvPr/>
        </p:nvSpPr>
        <p:spPr>
          <a:xfrm>
            <a:off x="3438144"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DURATION</a:t>
            </a:r>
            <a:endParaRPr lang="en-US" sz="850" dirty="0"/>
          </a:p>
          <a:p>
            <a:pPr indent="0" marL="0">
              <a:buNone/>
            </a:pPr>
            <a:r>
              <a:rPr lang="en-US" sz="1200" b="1" dirty="0">
                <a:solidFill>
                  <a:srgbClr val="FFFFFF"/>
                </a:solidFill>
                <a:latin typeface="Calibri" pitchFamily="34" charset="0"/>
                <a:cs typeface="Amiri" pitchFamily="2" charset="-78"/>
              </a:rPr>
              <a:t>60 minutes · Teams</a:t>
            </a:r>
            <a:endParaRPr lang="en-US" sz="850" dirty="0"/>
          </a:p>
        </p:txBody>
      </p:sp>
      <p:sp>
        <p:nvSpPr>
          <p:cNvPr id="17" name="Shape 14"/>
          <p:cNvSpPr/>
          <p:nvPr/>
        </p:nvSpPr>
        <p:spPr>
          <a:xfrm>
            <a:off x="6089904" y="5166360"/>
            <a:ext cx="2651760" cy="868680"/>
          </a:xfrm>
          <a:prstGeom prst="roundRect">
            <a:avLst>
              <a:gd name="adj" fmla="val 8421"/>
            </a:avLst>
          </a:prstGeom>
          <a:solidFill>
            <a:srgbClr val="16335F"/>
          </a:solidFill>
          <a:ln w="12700">
            <a:solidFill>
              <a:srgbClr val="2A4B7C"/>
            </a:solidFill>
            <a:prstDash val="solid"/>
          </a:ln>
        </p:spPr>
      </p:sp>
      <p:sp>
        <p:nvSpPr>
          <p:cNvPr id="18" name="Text 15"/>
          <p:cNvSpPr txBox="1"/>
          <p:nvPr/>
        </p:nvSpPr>
        <p:spPr>
          <a:xfrm>
            <a:off x="6254496"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LEVEL</a:t>
            </a:r>
            <a:endParaRPr lang="en-US" sz="850" dirty="0"/>
          </a:p>
          <a:p>
            <a:pPr indent="0" marL="0">
              <a:buNone/>
            </a:pPr>
            <a:r>
              <a:rPr lang="en-US" sz="1200" b="1" dirty="0">
                <a:solidFill>
                  <a:srgbClr val="FFFFFF"/>
                </a:solidFill>
                <a:latin typeface="Calibri" pitchFamily="34" charset="0"/>
                <a:cs typeface="Amiri" pitchFamily="2" charset="-78"/>
              </a:rPr>
              <a:t>Development · end of unit D2</a:t>
            </a:r>
            <a:endParaRPr lang="en-US" sz="850" dirty="0"/>
          </a:p>
        </p:txBody>
      </p:sp>
      <p:sp>
        <p:nvSpPr>
          <p:cNvPr id="19" name="Shape 16"/>
          <p:cNvSpPr/>
          <p:nvPr/>
        </p:nvSpPr>
        <p:spPr>
          <a:xfrm>
            <a:off x="8906256" y="5166360"/>
            <a:ext cx="2651760" cy="868680"/>
          </a:xfrm>
          <a:prstGeom prst="roundRect">
            <a:avLst>
              <a:gd name="adj" fmla="val 8421"/>
            </a:avLst>
          </a:prstGeom>
          <a:solidFill>
            <a:srgbClr val="16335F"/>
          </a:solidFill>
          <a:ln w="12700">
            <a:solidFill>
              <a:srgbClr val="2A4B7C"/>
            </a:solidFill>
            <a:prstDash val="solid"/>
          </a:ln>
        </p:spPr>
      </p:sp>
      <p:sp>
        <p:nvSpPr>
          <p:cNvPr id="20" name="Text 17"/>
          <p:cNvSpPr txBox="1"/>
          <p:nvPr/>
        </p:nvSpPr>
        <p:spPr>
          <a:xfrm>
            <a:off x="9070848"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ON THE WEBSITE</a:t>
            </a:r>
            <a:endParaRPr lang="en-US" sz="850" dirty="0"/>
          </a:p>
          <a:p>
            <a:pPr indent="0" marL="0">
              <a:buNone/>
            </a:pPr>
            <a:r>
              <a:rPr lang="en-US" sz="1200" b="1" dirty="0">
                <a:solidFill>
                  <a:srgbClr val="FFFFFF"/>
                </a:solidFill>
                <a:latin typeface="Calibri" pitchFamily="34" charset="0"/>
                <a:cs typeface="Amiri" pitchFamily="2" charset="-78"/>
              </a:rPr>
              <a:t>Pathways › Development › D2 › D2-L12</a:t>
            </a:r>
            <a:endParaRPr lang="en-US" sz="8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D2-L12 · Speaking + writing practice room</a:t>
            </a:r>
            <a:endParaRPr lang="en-US" sz="950" dirty="0"/>
          </a:p>
        </p:txBody>
      </p:sp>
      <p:sp>
        <p:nvSpPr>
          <p:cNvPr id="8" name="Shape 6"/>
          <p:cNvSpPr/>
          <p:nvPr/>
        </p:nvSpPr>
        <p:spPr>
          <a:xfrm>
            <a:off x="7219188" y="274320"/>
            <a:ext cx="1540764"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WELCOME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cs typeface="Amiri" pitchFamily="2" charset="-78"/>
              </a:rPr>
              <a:t>BEFORE WE BEGIN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Our online classroom</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آدَابُ الصَّفِّ</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D2 · People, Relationships and Style · D2-L12 · practice room</a:t>
            </a:r>
            <a:endParaRPr lang="en-US" sz="850" dirty="0"/>
          </a:p>
        </p:txBody>
      </p:sp>
      <p:sp>
        <p:nvSpPr>
          <p:cNvPr id="15" name="Shape 12"/>
          <p:cNvSpPr/>
          <p:nvPr/>
        </p:nvSpPr>
        <p:spPr>
          <a:xfrm>
            <a:off x="457200" y="1828800"/>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2002536"/>
            <a:ext cx="585216" cy="585216"/>
          </a:xfrm>
          <a:prstGeom prst="ellipse">
            <a:avLst/>
          </a:prstGeom>
          <a:solidFill>
            <a:srgbClr val="EEF3FA"/>
          </a:solidFill>
          <a:ln w="12700">
            <a:solidFill>
              <a:srgbClr val="EEF3FA"/>
            </a:solidFill>
            <a:prstDash val="solid"/>
          </a:ln>
        </p:spPr>
      </p:sp>
      <p:pic>
        <p:nvPicPr>
          <p:cNvPr id="17" name="Image 0" descr="preencoded.png">    </p:cNvPr>
          <p:cNvPicPr>
            <a:picLocks noChangeAspect="1"/>
          </p:cNvPicPr>
          <p:nvPr/>
        </p:nvPicPr>
        <p:blipFill>
          <a:blip r:embed="rId1"/>
          <a:stretch>
            <a:fillRect/>
          </a:stretch>
        </p:blipFill>
        <p:spPr>
          <a:xfrm>
            <a:off x="777240" y="2139696"/>
            <a:ext cx="310896" cy="310896"/>
          </a:xfrm>
          <a:prstGeom prst="rect">
            <a:avLst/>
          </a:prstGeom>
        </p:spPr>
      </p:pic>
      <p:sp>
        <p:nvSpPr>
          <p:cNvPr id="18" name="Text 14"/>
          <p:cNvSpPr txBox="1"/>
          <p:nvPr/>
        </p:nvSpPr>
        <p:spPr>
          <a:xfrm>
            <a:off x="1371600" y="1901952"/>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Camera on</a:t>
            </a:r>
            <a:endParaRPr lang="en-US" sz="1500" dirty="0"/>
          </a:p>
          <a:p>
            <a:pPr indent="0" marL="0">
              <a:buNone/>
            </a:pPr>
            <a:r>
              <a:rPr lang="en-US" sz="1150" dirty="0">
                <a:solidFill>
                  <a:srgbClr val="5A6472"/>
                </a:solidFill>
                <a:latin typeface="Calibri" pitchFamily="34" charset="0"/>
                <a:cs typeface="Amiri" pitchFamily="2" charset="-78"/>
              </a:rPr>
              <a:t>So I can see you learning and help you quickly.</a:t>
            </a:r>
            <a:endParaRPr lang="en-US" sz="1500" dirty="0"/>
          </a:p>
        </p:txBody>
      </p:sp>
      <p:sp>
        <p:nvSpPr>
          <p:cNvPr id="19" name="Shape 15"/>
          <p:cNvSpPr/>
          <p:nvPr/>
        </p:nvSpPr>
        <p:spPr>
          <a:xfrm>
            <a:off x="457200" y="2907792"/>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0" name="Shape 16"/>
          <p:cNvSpPr/>
          <p:nvPr/>
        </p:nvSpPr>
        <p:spPr>
          <a:xfrm>
            <a:off x="640080" y="3081528"/>
            <a:ext cx="585216" cy="585216"/>
          </a:xfrm>
          <a:prstGeom prst="ellipse">
            <a:avLst/>
          </a:prstGeom>
          <a:solidFill>
            <a:srgbClr val="EEF3FA"/>
          </a:solidFill>
          <a:ln w="12700">
            <a:solidFill>
              <a:srgbClr val="EEF3FA"/>
            </a:solidFill>
            <a:prstDash val="solid"/>
          </a:ln>
        </p:spPr>
      </p:sp>
      <p:pic>
        <p:nvPicPr>
          <p:cNvPr id="21" name="Image 1" descr="preencoded.png">    </p:cNvPr>
          <p:cNvPicPr>
            <a:picLocks noChangeAspect="1"/>
          </p:cNvPicPr>
          <p:nvPr/>
        </p:nvPicPr>
        <p:blipFill>
          <a:blip r:embed="rId2"/>
          <a:stretch>
            <a:fillRect/>
          </a:stretch>
        </p:blipFill>
        <p:spPr>
          <a:xfrm>
            <a:off x="777240" y="3218688"/>
            <a:ext cx="310896" cy="310896"/>
          </a:xfrm>
          <a:prstGeom prst="rect">
            <a:avLst/>
          </a:prstGeom>
        </p:spPr>
      </p:pic>
      <p:sp>
        <p:nvSpPr>
          <p:cNvPr id="22" name="Text 17"/>
          <p:cNvSpPr txBox="1"/>
          <p:nvPr/>
        </p:nvSpPr>
        <p:spPr>
          <a:xfrm>
            <a:off x="1371600" y="2980944"/>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Mic muted</a:t>
            </a:r>
            <a:endParaRPr lang="en-US" sz="1500" dirty="0"/>
          </a:p>
          <a:p>
            <a:pPr indent="0" marL="0">
              <a:buNone/>
            </a:pPr>
            <a:r>
              <a:rPr lang="en-US" sz="1150" dirty="0">
                <a:solidFill>
                  <a:srgbClr val="5A6472"/>
                </a:solidFill>
                <a:latin typeface="Calibri" pitchFamily="34" charset="0"/>
                <a:cs typeface="Amiri" pitchFamily="2" charset="-78"/>
              </a:rPr>
              <a:t>Unmute only when invited to speak.</a:t>
            </a:r>
            <a:endParaRPr lang="en-US" sz="1500" dirty="0"/>
          </a:p>
        </p:txBody>
      </p:sp>
      <p:sp>
        <p:nvSpPr>
          <p:cNvPr id="23" name="Shape 18"/>
          <p:cNvSpPr/>
          <p:nvPr/>
        </p:nvSpPr>
        <p:spPr>
          <a:xfrm>
            <a:off x="457200" y="3986784"/>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19"/>
          <p:cNvSpPr/>
          <p:nvPr/>
        </p:nvSpPr>
        <p:spPr>
          <a:xfrm>
            <a:off x="640080" y="4160520"/>
            <a:ext cx="585216" cy="585216"/>
          </a:xfrm>
          <a:prstGeom prst="ellipse">
            <a:avLst/>
          </a:prstGeom>
          <a:solidFill>
            <a:srgbClr val="EEF3FA"/>
          </a:solidFill>
          <a:ln w="12700">
            <a:solidFill>
              <a:srgbClr val="EEF3FA"/>
            </a:solidFill>
            <a:prstDash val="solid"/>
          </a:ln>
        </p:spPr>
      </p:sp>
      <p:pic>
        <p:nvPicPr>
          <p:cNvPr id="25" name="Image 2" descr="preencoded.png">    </p:cNvPr>
          <p:cNvPicPr>
            <a:picLocks noChangeAspect="1"/>
          </p:cNvPicPr>
          <p:nvPr/>
        </p:nvPicPr>
        <p:blipFill>
          <a:blip r:embed="rId3"/>
          <a:stretch>
            <a:fillRect/>
          </a:stretch>
        </p:blipFill>
        <p:spPr>
          <a:xfrm>
            <a:off x="777240" y="4297680"/>
            <a:ext cx="310896" cy="310896"/>
          </a:xfrm>
          <a:prstGeom prst="rect">
            <a:avLst/>
          </a:prstGeom>
        </p:spPr>
      </p:pic>
      <p:sp>
        <p:nvSpPr>
          <p:cNvPr id="26" name="Text 20"/>
          <p:cNvSpPr txBox="1"/>
          <p:nvPr/>
        </p:nvSpPr>
        <p:spPr>
          <a:xfrm>
            <a:off x="1371600" y="4059936"/>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Chat for learning</a:t>
            </a:r>
            <a:endParaRPr lang="en-US" sz="1500" dirty="0"/>
          </a:p>
          <a:p>
            <a:pPr indent="0" marL="0">
              <a:buNone/>
            </a:pPr>
            <a:r>
              <a:rPr lang="en-US" sz="1150" dirty="0">
                <a:solidFill>
                  <a:srgbClr val="5A6472"/>
                </a:solidFill>
                <a:latin typeface="Calibri" pitchFamily="34" charset="0"/>
                <a:cs typeface="Amiri" pitchFamily="2" charset="-78"/>
              </a:rPr>
              <a:t>Answers, questions and Arabic only.</a:t>
            </a:r>
            <a:endParaRPr lang="en-US" sz="1500" dirty="0"/>
          </a:p>
        </p:txBody>
      </p:sp>
      <p:sp>
        <p:nvSpPr>
          <p:cNvPr id="27" name="Shape 21"/>
          <p:cNvSpPr/>
          <p:nvPr/>
        </p:nvSpPr>
        <p:spPr>
          <a:xfrm>
            <a:off x="457200" y="5065776"/>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2"/>
          <p:cNvSpPr/>
          <p:nvPr/>
        </p:nvSpPr>
        <p:spPr>
          <a:xfrm>
            <a:off x="640080" y="5239512"/>
            <a:ext cx="585216" cy="585216"/>
          </a:xfrm>
          <a:prstGeom prst="ellipse">
            <a:avLst/>
          </a:prstGeom>
          <a:solidFill>
            <a:srgbClr val="EEF3FA"/>
          </a:solidFill>
          <a:ln w="12700">
            <a:solidFill>
              <a:srgbClr val="EEF3FA"/>
            </a:solidFill>
            <a:prstDash val="solid"/>
          </a:ln>
        </p:spPr>
      </p:sp>
      <p:pic>
        <p:nvPicPr>
          <p:cNvPr id="29" name="Image 3" descr="preencoded.png">    </p:cNvPr>
          <p:cNvPicPr>
            <a:picLocks noChangeAspect="1"/>
          </p:cNvPicPr>
          <p:nvPr/>
        </p:nvPicPr>
        <p:blipFill>
          <a:blip r:embed="rId4"/>
          <a:stretch>
            <a:fillRect/>
          </a:stretch>
        </p:blipFill>
        <p:spPr>
          <a:xfrm>
            <a:off x="777240" y="5376672"/>
            <a:ext cx="310896" cy="310896"/>
          </a:xfrm>
          <a:prstGeom prst="rect">
            <a:avLst/>
          </a:prstGeom>
        </p:spPr>
      </p:pic>
      <p:sp>
        <p:nvSpPr>
          <p:cNvPr id="30" name="Text 23"/>
          <p:cNvSpPr txBox="1"/>
          <p:nvPr/>
        </p:nvSpPr>
        <p:spPr>
          <a:xfrm>
            <a:off x="1371600" y="5138928"/>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Raise your hand</a:t>
            </a:r>
            <a:endParaRPr lang="en-US" sz="1500" dirty="0"/>
          </a:p>
          <a:p>
            <a:pPr indent="0" marL="0">
              <a:buNone/>
            </a:pPr>
            <a:r>
              <a:rPr lang="en-US" sz="1150" dirty="0">
                <a:solidFill>
                  <a:srgbClr val="5A6472"/>
                </a:solidFill>
                <a:latin typeface="Calibri" pitchFamily="34" charset="0"/>
                <a:cs typeface="Amiri" pitchFamily="2" charset="-78"/>
              </a:rPr>
              <a:t>Use the hand button to ask for help.</a:t>
            </a:r>
            <a:endParaRPr lang="en-US" sz="1500" dirty="0"/>
          </a:p>
        </p:txBody>
      </p:sp>
      <p:sp>
        <p:nvSpPr>
          <p:cNvPr id="31" name="Shape 24"/>
          <p:cNvSpPr/>
          <p:nvPr/>
        </p:nvSpPr>
        <p:spPr>
          <a:xfrm>
            <a:off x="6172200" y="1828800"/>
            <a:ext cx="5559552" cy="4169664"/>
          </a:xfrm>
          <a:prstGeom prst="roundRect">
            <a:avLst>
              <a:gd name="adj" fmla="val 1754"/>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32" name="Text 25"/>
          <p:cNvSpPr txBox="1"/>
          <p:nvPr/>
        </p:nvSpPr>
        <p:spPr>
          <a:xfrm>
            <a:off x="6400800" y="1938528"/>
            <a:ext cx="5102352" cy="310896"/>
          </a:xfrm>
          <a:prstGeom prst="rect">
            <a:avLst/>
          </a:prstGeom>
          <a:noFill/>
          <a:ln/>
        </p:spPr>
        <p:txBody>
          <a:bodyPr wrap="square" lIns="0" tIns="0" rIns="0" bIns="0" rtlCol="0" anchor="ctr"/>
          <a:lstStyle/>
          <a:p>
            <a:pPr algn="l" indent="0" marL="0">
              <a:buNone/>
            </a:pPr>
            <a:r>
              <a:rPr lang="en-US" sz="1100" b="1" spc="200" kern="0" dirty="0">
                <a:solidFill>
                  <a:srgbClr val="1B3B6F"/>
                </a:solidFill>
                <a:latin typeface="Calibri" pitchFamily="34" charset="0"/>
                <a:cs typeface="Amiri" pitchFamily="2" charset="-78"/>
              </a:rPr>
              <a:t>HOW WE TALK — THE ORACY CODE</a:t>
            </a:r>
            <a:endParaRPr lang="en-US" sz="1100" dirty="0"/>
          </a:p>
        </p:txBody>
      </p:sp>
      <p:sp>
        <p:nvSpPr>
          <p:cNvPr id="33" name="Shape 26"/>
          <p:cNvSpPr/>
          <p:nvPr/>
        </p:nvSpPr>
        <p:spPr>
          <a:xfrm>
            <a:off x="6400800" y="2450592"/>
            <a:ext cx="548640" cy="548640"/>
          </a:xfrm>
          <a:prstGeom prst="ellipse">
            <a:avLst/>
          </a:prstGeom>
          <a:solidFill>
            <a:srgbClr val="1B3B6F"/>
          </a:solidFill>
          <a:ln w="12700">
            <a:solidFill>
              <a:srgbClr val="1B3B6F"/>
            </a:solidFill>
            <a:prstDash val="solid"/>
          </a:ln>
        </p:spPr>
      </p:sp>
      <p:sp>
        <p:nvSpPr>
          <p:cNvPr id="34" name="Text 27"/>
          <p:cNvSpPr txBox="1"/>
          <p:nvPr/>
        </p:nvSpPr>
        <p:spPr>
          <a:xfrm>
            <a:off x="6400800"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35" name="Text 28"/>
          <p:cNvSpPr txBox="1"/>
          <p:nvPr/>
        </p:nvSpPr>
        <p:spPr>
          <a:xfrm>
            <a:off x="7059168"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Think</a:t>
            </a:r>
            <a:endParaRPr lang="en-US" sz="1400" dirty="0"/>
          </a:p>
          <a:p>
            <a:pPr indent="0" marL="0">
              <a:buNone/>
            </a:pPr>
            <a:r>
              <a:rPr lang="en-US" sz="1100" dirty="0">
                <a:solidFill>
                  <a:srgbClr val="5A6472"/>
                </a:solidFill>
                <a:latin typeface="Calibri" pitchFamily="34" charset="0"/>
                <a:cs typeface="Amiri" pitchFamily="2" charset="-78"/>
              </a:rPr>
              <a:t>silent preparation</a:t>
            </a:r>
            <a:endParaRPr lang="en-US" sz="1400" dirty="0"/>
          </a:p>
        </p:txBody>
      </p:sp>
      <p:sp>
        <p:nvSpPr>
          <p:cNvPr id="36" name="Shape 29"/>
          <p:cNvSpPr/>
          <p:nvPr/>
        </p:nvSpPr>
        <p:spPr>
          <a:xfrm>
            <a:off x="8997696" y="2450592"/>
            <a:ext cx="548640" cy="548640"/>
          </a:xfrm>
          <a:prstGeom prst="ellipse">
            <a:avLst/>
          </a:prstGeom>
          <a:solidFill>
            <a:srgbClr val="1B3B6F"/>
          </a:solidFill>
          <a:ln w="12700">
            <a:solidFill>
              <a:srgbClr val="1B3B6F"/>
            </a:solidFill>
            <a:prstDash val="solid"/>
          </a:ln>
        </p:spPr>
      </p:sp>
      <p:sp>
        <p:nvSpPr>
          <p:cNvPr id="37" name="Text 30"/>
          <p:cNvSpPr txBox="1"/>
          <p:nvPr/>
        </p:nvSpPr>
        <p:spPr>
          <a:xfrm>
            <a:off x="8997696"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38" name="Text 31"/>
          <p:cNvSpPr txBox="1"/>
          <p:nvPr/>
        </p:nvSpPr>
        <p:spPr>
          <a:xfrm>
            <a:off x="9656064"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Rehearse</a:t>
            </a:r>
            <a:endParaRPr lang="en-US" sz="1400" dirty="0"/>
          </a:p>
          <a:p>
            <a:pPr indent="0" marL="0">
              <a:buNone/>
            </a:pPr>
            <a:r>
              <a:rPr lang="en-US" sz="1100" dirty="0">
                <a:solidFill>
                  <a:srgbClr val="5A6472"/>
                </a:solidFill>
                <a:latin typeface="Calibri" pitchFamily="34" charset="0"/>
                <a:cs typeface="Amiri" pitchFamily="2" charset="-78"/>
              </a:rPr>
              <a:t>both partners speak</a:t>
            </a:r>
            <a:endParaRPr lang="en-US" sz="1400" dirty="0"/>
          </a:p>
        </p:txBody>
      </p:sp>
      <p:sp>
        <p:nvSpPr>
          <p:cNvPr id="39" name="Shape 32"/>
          <p:cNvSpPr/>
          <p:nvPr/>
        </p:nvSpPr>
        <p:spPr>
          <a:xfrm>
            <a:off x="6400800" y="3364992"/>
            <a:ext cx="548640" cy="548640"/>
          </a:xfrm>
          <a:prstGeom prst="ellipse">
            <a:avLst/>
          </a:prstGeom>
          <a:solidFill>
            <a:srgbClr val="1B3B6F"/>
          </a:solidFill>
          <a:ln w="12700">
            <a:solidFill>
              <a:srgbClr val="1B3B6F"/>
            </a:solidFill>
            <a:prstDash val="solid"/>
          </a:ln>
        </p:spPr>
      </p:sp>
      <p:sp>
        <p:nvSpPr>
          <p:cNvPr id="40" name="Text 33"/>
          <p:cNvSpPr txBox="1"/>
          <p:nvPr/>
        </p:nvSpPr>
        <p:spPr>
          <a:xfrm>
            <a:off x="6400800"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1" name="Text 34"/>
          <p:cNvSpPr txBox="1"/>
          <p:nvPr/>
        </p:nvSpPr>
        <p:spPr>
          <a:xfrm>
            <a:off x="7059168"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Build</a:t>
            </a:r>
            <a:endParaRPr lang="en-US" sz="1400" dirty="0"/>
          </a:p>
          <a:p>
            <a:pPr indent="0" marL="0">
              <a:buNone/>
            </a:pPr>
            <a:r>
              <a:rPr lang="en-US" sz="1100" dirty="0">
                <a:solidFill>
                  <a:srgbClr val="5A6472"/>
                </a:solidFill>
                <a:latin typeface="Calibri" pitchFamily="34" charset="0"/>
                <a:cs typeface="Amiri" pitchFamily="2" charset="-78"/>
              </a:rPr>
              <a:t>add a reason or detail</a:t>
            </a:r>
            <a:endParaRPr lang="en-US" sz="1400" dirty="0"/>
          </a:p>
        </p:txBody>
      </p:sp>
      <p:sp>
        <p:nvSpPr>
          <p:cNvPr id="42" name="Shape 35"/>
          <p:cNvSpPr/>
          <p:nvPr/>
        </p:nvSpPr>
        <p:spPr>
          <a:xfrm>
            <a:off x="8997696" y="3364992"/>
            <a:ext cx="548640" cy="548640"/>
          </a:xfrm>
          <a:prstGeom prst="ellipse">
            <a:avLst/>
          </a:prstGeom>
          <a:solidFill>
            <a:srgbClr val="1B3B6F"/>
          </a:solidFill>
          <a:ln w="12700">
            <a:solidFill>
              <a:srgbClr val="1B3B6F"/>
            </a:solidFill>
            <a:prstDash val="solid"/>
          </a:ln>
        </p:spPr>
      </p:sp>
      <p:sp>
        <p:nvSpPr>
          <p:cNvPr id="43" name="Text 36"/>
          <p:cNvSpPr txBox="1"/>
          <p:nvPr/>
        </p:nvSpPr>
        <p:spPr>
          <a:xfrm>
            <a:off x="8997696"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4" name="Text 37"/>
          <p:cNvSpPr txBox="1"/>
          <p:nvPr/>
        </p:nvSpPr>
        <p:spPr>
          <a:xfrm>
            <a:off x="9656064"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Challenge</a:t>
            </a:r>
            <a:endParaRPr lang="en-US" sz="1400" dirty="0"/>
          </a:p>
          <a:p>
            <a:pPr indent="0" marL="0">
              <a:buNone/>
            </a:pPr>
            <a:r>
              <a:rPr lang="en-US" sz="1100" dirty="0">
                <a:solidFill>
                  <a:srgbClr val="5A6472"/>
                </a:solidFill>
                <a:latin typeface="Calibri" pitchFamily="34" charset="0"/>
                <a:cs typeface="Amiri" pitchFamily="2" charset="-78"/>
              </a:rPr>
              <a:t>question respectfully</a:t>
            </a:r>
            <a:endParaRPr lang="en-US" sz="1400" dirty="0"/>
          </a:p>
        </p:txBody>
      </p:sp>
      <p:sp>
        <p:nvSpPr>
          <p:cNvPr id="45" name="Shape 38"/>
          <p:cNvSpPr/>
          <p:nvPr/>
        </p:nvSpPr>
        <p:spPr>
          <a:xfrm>
            <a:off x="6400800" y="4279392"/>
            <a:ext cx="548640" cy="548640"/>
          </a:xfrm>
          <a:prstGeom prst="ellipse">
            <a:avLst/>
          </a:prstGeom>
          <a:solidFill>
            <a:srgbClr val="1B3B6F"/>
          </a:solidFill>
          <a:ln w="12700">
            <a:solidFill>
              <a:srgbClr val="1B3B6F"/>
            </a:solidFill>
            <a:prstDash val="solid"/>
          </a:ln>
        </p:spPr>
      </p:sp>
      <p:sp>
        <p:nvSpPr>
          <p:cNvPr id="46" name="Text 39"/>
          <p:cNvSpPr txBox="1"/>
          <p:nvPr/>
        </p:nvSpPr>
        <p:spPr>
          <a:xfrm>
            <a:off x="6400800"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7" name="Text 40"/>
          <p:cNvSpPr txBox="1"/>
          <p:nvPr/>
        </p:nvSpPr>
        <p:spPr>
          <a:xfrm>
            <a:off x="7059168"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Share</a:t>
            </a:r>
            <a:endParaRPr lang="en-US" sz="1400" dirty="0"/>
          </a:p>
          <a:p>
            <a:pPr indent="0" marL="0">
              <a:buNone/>
            </a:pPr>
            <a:r>
              <a:rPr lang="en-US" sz="1100" dirty="0">
                <a:solidFill>
                  <a:srgbClr val="5A6472"/>
                </a:solidFill>
                <a:latin typeface="Calibri" pitchFamily="34" charset="0"/>
                <a:cs typeface="Amiri" pitchFamily="2" charset="-78"/>
              </a:rPr>
              <a:t>anyone may be invited</a:t>
            </a:r>
            <a:endParaRPr lang="en-US" sz="1400" dirty="0"/>
          </a:p>
        </p:txBody>
      </p:sp>
      <p:sp>
        <p:nvSpPr>
          <p:cNvPr id="48" name="Shape 41"/>
          <p:cNvSpPr/>
          <p:nvPr/>
        </p:nvSpPr>
        <p:spPr>
          <a:xfrm>
            <a:off x="8997696" y="4279392"/>
            <a:ext cx="548640" cy="548640"/>
          </a:xfrm>
          <a:prstGeom prst="ellipse">
            <a:avLst/>
          </a:prstGeom>
          <a:solidFill>
            <a:srgbClr val="1B3B6F"/>
          </a:solidFill>
          <a:ln w="12700">
            <a:solidFill>
              <a:srgbClr val="1B3B6F"/>
            </a:solidFill>
            <a:prstDash val="solid"/>
          </a:ln>
        </p:spPr>
      </p:sp>
      <p:sp>
        <p:nvSpPr>
          <p:cNvPr id="49" name="Text 42"/>
          <p:cNvSpPr txBox="1"/>
          <p:nvPr/>
        </p:nvSpPr>
        <p:spPr>
          <a:xfrm>
            <a:off x="8997696"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50" name="Text 43"/>
          <p:cNvSpPr txBox="1"/>
          <p:nvPr/>
        </p:nvSpPr>
        <p:spPr>
          <a:xfrm>
            <a:off x="9656064"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Summarise</a:t>
            </a:r>
            <a:endParaRPr lang="en-US" sz="1400" dirty="0"/>
          </a:p>
          <a:p>
            <a:pPr indent="0" marL="0">
              <a:buNone/>
            </a:pPr>
            <a:r>
              <a:rPr lang="en-US" sz="1100" dirty="0">
                <a:solidFill>
                  <a:srgbClr val="5A6472"/>
                </a:solidFill>
                <a:latin typeface="Calibri" pitchFamily="34" charset="0"/>
                <a:cs typeface="Amiri" pitchFamily="2" charset="-78"/>
              </a:rPr>
              <a:t>say it more precisely</a:t>
            </a:r>
            <a:endParaRPr lang="en-US" sz="1400" dirty="0"/>
          </a:p>
        </p:txBody>
      </p:sp>
      <p:sp>
        <p:nvSpPr>
          <p:cNvPr id="51" name="Text 44"/>
          <p:cNvSpPr txBox="1"/>
          <p:nvPr/>
        </p:nvSpPr>
        <p:spPr>
          <a:xfrm>
            <a:off x="6400800" y="5230368"/>
            <a:ext cx="5102352" cy="694944"/>
          </a:xfrm>
          <a:prstGeom prst="rect">
            <a:avLst/>
          </a:prstGeom>
          <a:noFill/>
          <a:ln/>
        </p:spPr>
        <p:txBody>
          <a:bodyPr wrap="square" lIns="0" tIns="0" rIns="0" bIns="0" rtlCol="0" anchor="ctr"/>
          <a:lstStyle/>
          <a:p>
            <a:pPr algn="l" indent="0" marL="0">
              <a:buNone/>
            </a:pPr>
            <a:r>
              <a:rPr lang="en-US" sz="1150" i="1" dirty="0">
                <a:solidFill>
                  <a:srgbClr val="8A6D1E"/>
                </a:solidFill>
                <a:latin typeface="Calibri" pitchFamily="34" charset="0"/>
                <a:cs typeface="Amiri" pitchFamily="2" charset="-78"/>
              </a:rPr>
              <a:t>I will always give you thinking and practice time before I ask anyone. Reading aloud is by invitation — you can always say “pass, please come back to me”.</a:t>
            </a:r>
            <a:endParaRPr lang="en-US" sz="1150" dirty="0"/>
          </a:p>
        </p:txBody>
      </p:sp>
      <p:sp>
        <p:nvSpPr>
          <p:cNvPr id="52"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 / 22</a:t>
            </a:r>
            <a:endParaRPr lang="en-US" sz="8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D2-L12 · Speaking + writing practice room</a:t>
            </a:r>
            <a:endParaRPr lang="en-US" sz="950" dirty="0"/>
          </a:p>
        </p:txBody>
      </p:sp>
      <p:sp>
        <p:nvSpPr>
          <p:cNvPr id="8" name="Shape 6"/>
          <p:cNvSpPr/>
          <p:nvPr/>
        </p:nvSpPr>
        <p:spPr>
          <a:xfrm>
            <a:off x="7388352" y="274320"/>
            <a:ext cx="1371600"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WELCOME</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cs typeface="Amiri" pitchFamily="2" charset="-78"/>
              </a:rPr>
              <a:t>TODAY’S ROOM PLAN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000" b="1" dirty="0">
                <a:solidFill>
                  <a:srgbClr val="1B3B6F"/>
                </a:solidFill>
                <a:latin typeface="Cambria" pitchFamily="34" charset="0"/>
                <a:cs typeface="Amiri" pitchFamily="2" charset="-78"/>
              </a:rPr>
              <a:t>Speak first, then write — you run it yourselves</a:t>
            </a:r>
            <a:endParaRPr lang="en-US" sz="20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خُطُوَاتُ الغُرْفَةِ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D2 · People, Relationships and Style · D2-L12 · practice room</a:t>
            </a:r>
            <a:endParaRPr lang="en-US" sz="850" dirty="0"/>
          </a:p>
        </p:txBody>
      </p:sp>
      <p:sp>
        <p:nvSpPr>
          <p:cNvPr id="15" name="Shape 12"/>
          <p:cNvSpPr/>
          <p:nvPr/>
        </p:nvSpPr>
        <p:spPr>
          <a:xfrm>
            <a:off x="457200" y="1828800"/>
            <a:ext cx="2152498" cy="3246120"/>
          </a:xfrm>
          <a:prstGeom prst="roundRect">
            <a:avLst>
              <a:gd name="adj" fmla="val 3398"/>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66928" y="1938528"/>
            <a:ext cx="1933042" cy="566928"/>
          </a:xfrm>
          <a:prstGeom prst="roundRect">
            <a:avLst>
              <a:gd name="adj" fmla="val 9677"/>
            </a:avLst>
          </a:prstGeom>
          <a:solidFill>
            <a:srgbClr val="2F6FB0"/>
          </a:solidFill>
          <a:ln w="12700">
            <a:solidFill>
              <a:srgbClr val="2F6FB0"/>
            </a:solidFill>
            <a:prstDash val="solid"/>
          </a:ln>
        </p:spPr>
      </p:sp>
      <p:sp>
        <p:nvSpPr>
          <p:cNvPr id="17" name="Text 14"/>
          <p:cNvSpPr txBox="1"/>
          <p:nvPr/>
        </p:nvSpPr>
        <p:spPr>
          <a:xfrm>
            <a:off x="603504" y="1956816"/>
            <a:ext cx="1859890"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WE DO</a:t>
            </a:r>
            <a:endParaRPr lang="en-US" sz="1000" dirty="0"/>
          </a:p>
        </p:txBody>
      </p:sp>
      <p:sp>
        <p:nvSpPr>
          <p:cNvPr id="18" name="Text 15"/>
          <p:cNvSpPr txBox="1"/>
          <p:nvPr/>
        </p:nvSpPr>
        <p:spPr>
          <a:xfrm>
            <a:off x="603504" y="2249424"/>
            <a:ext cx="1859890"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10 min</a:t>
            </a:r>
            <a:endParaRPr lang="en-US" sz="1000" dirty="0"/>
          </a:p>
        </p:txBody>
      </p:sp>
      <p:sp>
        <p:nvSpPr>
          <p:cNvPr id="19" name="Shape 16"/>
          <p:cNvSpPr/>
          <p:nvPr/>
        </p:nvSpPr>
        <p:spPr>
          <a:xfrm>
            <a:off x="1332281" y="2651760"/>
            <a:ext cx="402336" cy="402336"/>
          </a:xfrm>
          <a:prstGeom prst="ellipse">
            <a:avLst/>
          </a:prstGeom>
          <a:solidFill>
            <a:srgbClr val="F4F1EA"/>
          </a:solidFill>
          <a:ln w="12700">
            <a:solidFill>
              <a:srgbClr val="F4F1EA"/>
            </a:solidFill>
            <a:prstDash val="solid"/>
          </a:ln>
        </p:spPr>
      </p:sp>
      <p:sp>
        <p:nvSpPr>
          <p:cNvPr id="20" name="Text 17"/>
          <p:cNvSpPr txBox="1"/>
          <p:nvPr/>
        </p:nvSpPr>
        <p:spPr>
          <a:xfrm>
            <a:off x="1332281"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1</a:t>
            </a:r>
            <a:endParaRPr lang="en-US" sz="1300" dirty="0"/>
          </a:p>
        </p:txBody>
      </p:sp>
      <p:sp>
        <p:nvSpPr>
          <p:cNvPr id="21" name="Text 18"/>
          <p:cNvSpPr txBox="1"/>
          <p:nvPr/>
        </p:nvSpPr>
        <p:spPr>
          <a:xfrm>
            <a:off x="585216" y="3145536"/>
            <a:ext cx="1896466"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Steps 1–2: word warm-up · say the model dialogue.</a:t>
            </a:r>
            <a:endParaRPr lang="en-US" sz="1200" dirty="0"/>
          </a:p>
        </p:txBody>
      </p:sp>
      <p:sp>
        <p:nvSpPr>
          <p:cNvPr id="22" name="Text 19"/>
          <p:cNvSpPr txBox="1"/>
          <p:nvPr/>
        </p:nvSpPr>
        <p:spPr>
          <a:xfrm>
            <a:off x="548640" y="4526280"/>
            <a:ext cx="1969618" cy="438912"/>
          </a:xfrm>
          <a:prstGeom prst="rect">
            <a:avLst/>
          </a:prstGeom>
          <a:noFill/>
          <a:ln/>
        </p:spPr>
        <p:txBody>
          <a:bodyPr wrap="square" lIns="0" tIns="0" rIns="0" bIns="0" rtlCol="0" anchor="ctr"/>
          <a:lstStyle/>
          <a:p>
            <a:pPr rtl="1" algn="ctr" indent="0" marL="0">
              <a:buNone/>
            </a:pPr>
            <a:r>
              <a:rPr lang="ar-SA" altLang="en-US" sz="1500" b="1" dirty="0">
                <a:solidFill>
                  <a:srgbClr val="2F6FB0"/>
                </a:solidFill>
                <a:latin typeface="Amiri" pitchFamily="2" charset="-78"/>
                <a:ea typeface="Amiri" pitchFamily="2" charset="-78"/>
                <a:cs typeface="Amiri" pitchFamily="2" charset="-78"/>
              </a:rPr>
              <a:t>الكَلِمَاتُ وَالحِوَارُ</a:t>
            </a:r>
            <a:endParaRPr lang="ar-SA" sz="1500" dirty="0"/>
          </a:p>
        </p:txBody>
      </p:sp>
      <p:sp>
        <p:nvSpPr>
          <p:cNvPr id="23" name="Shape 20"/>
          <p:cNvSpPr/>
          <p:nvPr/>
        </p:nvSpPr>
        <p:spPr>
          <a:xfrm>
            <a:off x="2737714" y="1828800"/>
            <a:ext cx="2152498" cy="3246120"/>
          </a:xfrm>
          <a:prstGeom prst="roundRect">
            <a:avLst>
              <a:gd name="adj" fmla="val 3398"/>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2847442" y="1938528"/>
            <a:ext cx="1933042" cy="566928"/>
          </a:xfrm>
          <a:prstGeom prst="roundRect">
            <a:avLst>
              <a:gd name="adj" fmla="val 9677"/>
            </a:avLst>
          </a:prstGeom>
          <a:solidFill>
            <a:srgbClr val="1E6B52"/>
          </a:solidFill>
          <a:ln w="12700">
            <a:solidFill>
              <a:srgbClr val="1E6B52"/>
            </a:solidFill>
            <a:prstDash val="solid"/>
          </a:ln>
        </p:spPr>
      </p:sp>
      <p:sp>
        <p:nvSpPr>
          <p:cNvPr id="25" name="Text 22"/>
          <p:cNvSpPr txBox="1"/>
          <p:nvPr/>
        </p:nvSpPr>
        <p:spPr>
          <a:xfrm>
            <a:off x="2884018" y="1956816"/>
            <a:ext cx="1859890"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YOU DO</a:t>
            </a:r>
            <a:endParaRPr lang="en-US" sz="1000" dirty="0"/>
          </a:p>
        </p:txBody>
      </p:sp>
      <p:sp>
        <p:nvSpPr>
          <p:cNvPr id="26" name="Text 23"/>
          <p:cNvSpPr txBox="1"/>
          <p:nvPr/>
        </p:nvSpPr>
        <p:spPr>
          <a:xfrm>
            <a:off x="2884018" y="2249424"/>
            <a:ext cx="1859890"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18 min</a:t>
            </a:r>
            <a:endParaRPr lang="en-US" sz="1000" dirty="0"/>
          </a:p>
        </p:txBody>
      </p:sp>
      <p:sp>
        <p:nvSpPr>
          <p:cNvPr id="27" name="Shape 24"/>
          <p:cNvSpPr/>
          <p:nvPr/>
        </p:nvSpPr>
        <p:spPr>
          <a:xfrm>
            <a:off x="3612794" y="2651760"/>
            <a:ext cx="402336" cy="402336"/>
          </a:xfrm>
          <a:prstGeom prst="ellipse">
            <a:avLst/>
          </a:prstGeom>
          <a:solidFill>
            <a:srgbClr val="F4F1EA"/>
          </a:solidFill>
          <a:ln w="12700">
            <a:solidFill>
              <a:srgbClr val="F4F1EA"/>
            </a:solidFill>
            <a:prstDash val="solid"/>
          </a:ln>
        </p:spPr>
      </p:sp>
      <p:sp>
        <p:nvSpPr>
          <p:cNvPr id="28" name="Text 25"/>
          <p:cNvSpPr txBox="1"/>
          <p:nvPr/>
        </p:nvSpPr>
        <p:spPr>
          <a:xfrm>
            <a:off x="3612794"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2</a:t>
            </a:r>
            <a:endParaRPr lang="en-US" sz="1300" dirty="0"/>
          </a:p>
        </p:txBody>
      </p:sp>
      <p:sp>
        <p:nvSpPr>
          <p:cNvPr id="29" name="Text 26"/>
          <p:cNvSpPr txBox="1"/>
          <p:nvPr/>
        </p:nvSpPr>
        <p:spPr>
          <a:xfrm>
            <a:off x="2865730" y="3145536"/>
            <a:ext cx="1896466"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Steps 3–5: question cards · role-play card · short talk.</a:t>
            </a:r>
            <a:endParaRPr lang="en-US" sz="1200" dirty="0"/>
          </a:p>
        </p:txBody>
      </p:sp>
      <p:sp>
        <p:nvSpPr>
          <p:cNvPr id="30" name="Text 27"/>
          <p:cNvSpPr txBox="1"/>
          <p:nvPr/>
        </p:nvSpPr>
        <p:spPr>
          <a:xfrm>
            <a:off x="2829154" y="4526280"/>
            <a:ext cx="1969618" cy="438912"/>
          </a:xfrm>
          <a:prstGeom prst="rect">
            <a:avLst/>
          </a:prstGeom>
          <a:noFill/>
          <a:ln/>
        </p:spPr>
        <p:txBody>
          <a:bodyPr wrap="square" lIns="0" tIns="0" rIns="0" bIns="0" rtlCol="0" anchor="ctr"/>
          <a:lstStyle/>
          <a:p>
            <a:pPr rtl="1" algn="ctr" indent="0" marL="0">
              <a:buNone/>
            </a:pPr>
            <a:r>
              <a:rPr lang="ar-SA" altLang="en-US" sz="1500" b="1" dirty="0">
                <a:solidFill>
                  <a:srgbClr val="1E6B52"/>
                </a:solidFill>
                <a:latin typeface="Amiri" pitchFamily="2" charset="-78"/>
                <a:ea typeface="Amiri" pitchFamily="2" charset="-78"/>
                <a:cs typeface="Amiri" pitchFamily="2" charset="-78"/>
              </a:rPr>
              <a:t>تَكَلَّمْ</a:t>
            </a:r>
            <a:endParaRPr lang="ar-SA" sz="1500" dirty="0"/>
          </a:p>
        </p:txBody>
      </p:sp>
      <p:sp>
        <p:nvSpPr>
          <p:cNvPr id="31" name="Shape 28"/>
          <p:cNvSpPr/>
          <p:nvPr/>
        </p:nvSpPr>
        <p:spPr>
          <a:xfrm>
            <a:off x="5018227" y="1828800"/>
            <a:ext cx="2152498" cy="3246120"/>
          </a:xfrm>
          <a:prstGeom prst="roundRect">
            <a:avLst>
              <a:gd name="adj" fmla="val 3398"/>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5127955" y="1938528"/>
            <a:ext cx="1933042" cy="566928"/>
          </a:xfrm>
          <a:prstGeom prst="roundRect">
            <a:avLst>
              <a:gd name="adj" fmla="val 9677"/>
            </a:avLst>
          </a:prstGeom>
          <a:solidFill>
            <a:srgbClr val="2F6FB0"/>
          </a:solidFill>
          <a:ln w="12700">
            <a:solidFill>
              <a:srgbClr val="2F6FB0"/>
            </a:solidFill>
            <a:prstDash val="solid"/>
          </a:ln>
        </p:spPr>
      </p:sp>
      <p:sp>
        <p:nvSpPr>
          <p:cNvPr id="33" name="Text 30"/>
          <p:cNvSpPr txBox="1"/>
          <p:nvPr/>
        </p:nvSpPr>
        <p:spPr>
          <a:xfrm>
            <a:off x="5164531" y="1956816"/>
            <a:ext cx="1859890"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WE DO</a:t>
            </a:r>
            <a:endParaRPr lang="en-US" sz="1000" dirty="0"/>
          </a:p>
        </p:txBody>
      </p:sp>
      <p:sp>
        <p:nvSpPr>
          <p:cNvPr id="34" name="Text 31"/>
          <p:cNvSpPr txBox="1"/>
          <p:nvPr/>
        </p:nvSpPr>
        <p:spPr>
          <a:xfrm>
            <a:off x="5164531" y="2249424"/>
            <a:ext cx="1859890"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7 min</a:t>
            </a:r>
            <a:endParaRPr lang="en-US" sz="1000" dirty="0"/>
          </a:p>
        </p:txBody>
      </p:sp>
      <p:sp>
        <p:nvSpPr>
          <p:cNvPr id="35" name="Shape 32"/>
          <p:cNvSpPr/>
          <p:nvPr/>
        </p:nvSpPr>
        <p:spPr>
          <a:xfrm>
            <a:off x="5893308" y="2651760"/>
            <a:ext cx="402336" cy="402336"/>
          </a:xfrm>
          <a:prstGeom prst="ellipse">
            <a:avLst/>
          </a:prstGeom>
          <a:solidFill>
            <a:srgbClr val="F4F1EA"/>
          </a:solidFill>
          <a:ln w="12700">
            <a:solidFill>
              <a:srgbClr val="F4F1EA"/>
            </a:solidFill>
            <a:prstDash val="solid"/>
          </a:ln>
        </p:spPr>
      </p:sp>
      <p:sp>
        <p:nvSpPr>
          <p:cNvPr id="36" name="Text 33"/>
          <p:cNvSpPr txBox="1"/>
          <p:nvPr/>
        </p:nvSpPr>
        <p:spPr>
          <a:xfrm>
            <a:off x="5893308"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3</a:t>
            </a:r>
            <a:endParaRPr lang="en-US" sz="1300" dirty="0"/>
          </a:p>
        </p:txBody>
      </p:sp>
      <p:sp>
        <p:nvSpPr>
          <p:cNvPr id="37" name="Text 34"/>
          <p:cNvSpPr txBox="1"/>
          <p:nvPr/>
        </p:nvSpPr>
        <p:spPr>
          <a:xfrm>
            <a:off x="5146243" y="3145536"/>
            <a:ext cx="1896466"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Steps 6–7: sentence builder · spot and fix.</a:t>
            </a:r>
            <a:endParaRPr lang="en-US" sz="1200" dirty="0"/>
          </a:p>
        </p:txBody>
      </p:sp>
      <p:sp>
        <p:nvSpPr>
          <p:cNvPr id="38" name="Text 35"/>
          <p:cNvSpPr txBox="1"/>
          <p:nvPr/>
        </p:nvSpPr>
        <p:spPr>
          <a:xfrm>
            <a:off x="5109667" y="4526280"/>
            <a:ext cx="1969618" cy="438912"/>
          </a:xfrm>
          <a:prstGeom prst="rect">
            <a:avLst/>
          </a:prstGeom>
          <a:noFill/>
          <a:ln/>
        </p:spPr>
        <p:txBody>
          <a:bodyPr wrap="square" lIns="0" tIns="0" rIns="0" bIns="0" rtlCol="0" anchor="ctr"/>
          <a:lstStyle/>
          <a:p>
            <a:pPr rtl="1" algn="ctr" indent="0" marL="0">
              <a:buNone/>
            </a:pPr>
            <a:r>
              <a:rPr lang="ar-SA" altLang="en-US" sz="1500" b="1" dirty="0">
                <a:solidFill>
                  <a:srgbClr val="2F6FB0"/>
                </a:solidFill>
                <a:latin typeface="Amiri" pitchFamily="2" charset="-78"/>
                <a:ea typeface="Amiri" pitchFamily="2" charset="-78"/>
                <a:cs typeface="Amiri" pitchFamily="2" charset="-78"/>
              </a:rPr>
              <a:t>ابْنِ وَصَحِّحْ</a:t>
            </a:r>
            <a:endParaRPr lang="ar-SA" sz="1500" dirty="0"/>
          </a:p>
        </p:txBody>
      </p:sp>
      <p:sp>
        <p:nvSpPr>
          <p:cNvPr id="39" name="Shape 36"/>
          <p:cNvSpPr/>
          <p:nvPr/>
        </p:nvSpPr>
        <p:spPr>
          <a:xfrm>
            <a:off x="7298741" y="1828800"/>
            <a:ext cx="2152498" cy="3246120"/>
          </a:xfrm>
          <a:prstGeom prst="roundRect">
            <a:avLst>
              <a:gd name="adj" fmla="val 3398"/>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0" name="Shape 37"/>
          <p:cNvSpPr/>
          <p:nvPr/>
        </p:nvSpPr>
        <p:spPr>
          <a:xfrm>
            <a:off x="7408469" y="1938528"/>
            <a:ext cx="1933042" cy="566928"/>
          </a:xfrm>
          <a:prstGeom prst="roundRect">
            <a:avLst>
              <a:gd name="adj" fmla="val 9677"/>
            </a:avLst>
          </a:prstGeom>
          <a:solidFill>
            <a:srgbClr val="1E6B52"/>
          </a:solidFill>
          <a:ln w="12700">
            <a:solidFill>
              <a:srgbClr val="1E6B52"/>
            </a:solidFill>
            <a:prstDash val="solid"/>
          </a:ln>
        </p:spPr>
      </p:sp>
      <p:sp>
        <p:nvSpPr>
          <p:cNvPr id="41" name="Text 38"/>
          <p:cNvSpPr txBox="1"/>
          <p:nvPr/>
        </p:nvSpPr>
        <p:spPr>
          <a:xfrm>
            <a:off x="7445045" y="1956816"/>
            <a:ext cx="1859890"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YOU DO</a:t>
            </a:r>
            <a:endParaRPr lang="en-US" sz="1000" dirty="0"/>
          </a:p>
        </p:txBody>
      </p:sp>
      <p:sp>
        <p:nvSpPr>
          <p:cNvPr id="42" name="Text 39"/>
          <p:cNvSpPr txBox="1"/>
          <p:nvPr/>
        </p:nvSpPr>
        <p:spPr>
          <a:xfrm>
            <a:off x="7445045" y="2249424"/>
            <a:ext cx="1859890"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15 min</a:t>
            </a:r>
            <a:endParaRPr lang="en-US" sz="1000" dirty="0"/>
          </a:p>
        </p:txBody>
      </p:sp>
      <p:sp>
        <p:nvSpPr>
          <p:cNvPr id="43" name="Shape 40"/>
          <p:cNvSpPr/>
          <p:nvPr/>
        </p:nvSpPr>
        <p:spPr>
          <a:xfrm>
            <a:off x="8173822" y="2651760"/>
            <a:ext cx="402336" cy="402336"/>
          </a:xfrm>
          <a:prstGeom prst="ellipse">
            <a:avLst/>
          </a:prstGeom>
          <a:solidFill>
            <a:srgbClr val="F4F1EA"/>
          </a:solidFill>
          <a:ln w="12700">
            <a:solidFill>
              <a:srgbClr val="F4F1EA"/>
            </a:solidFill>
            <a:prstDash val="solid"/>
          </a:ln>
        </p:spPr>
      </p:sp>
      <p:sp>
        <p:nvSpPr>
          <p:cNvPr id="44" name="Text 41"/>
          <p:cNvSpPr txBox="1"/>
          <p:nvPr/>
        </p:nvSpPr>
        <p:spPr>
          <a:xfrm>
            <a:off x="8173822"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4</a:t>
            </a:r>
            <a:endParaRPr lang="en-US" sz="1300" dirty="0"/>
          </a:p>
        </p:txBody>
      </p:sp>
      <p:sp>
        <p:nvSpPr>
          <p:cNvPr id="45" name="Text 42"/>
          <p:cNvSpPr txBox="1"/>
          <p:nvPr/>
        </p:nvSpPr>
        <p:spPr>
          <a:xfrm>
            <a:off x="7426757" y="3145536"/>
            <a:ext cx="1896466"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Step 8: write your text · buddy check.</a:t>
            </a:r>
            <a:endParaRPr lang="en-US" sz="1200" dirty="0"/>
          </a:p>
        </p:txBody>
      </p:sp>
      <p:sp>
        <p:nvSpPr>
          <p:cNvPr id="46" name="Text 43"/>
          <p:cNvSpPr txBox="1"/>
          <p:nvPr/>
        </p:nvSpPr>
        <p:spPr>
          <a:xfrm>
            <a:off x="7390181" y="4526280"/>
            <a:ext cx="1969618" cy="438912"/>
          </a:xfrm>
          <a:prstGeom prst="rect">
            <a:avLst/>
          </a:prstGeom>
          <a:noFill/>
          <a:ln/>
        </p:spPr>
        <p:txBody>
          <a:bodyPr wrap="square" lIns="0" tIns="0" rIns="0" bIns="0" rtlCol="0" anchor="ctr"/>
          <a:lstStyle/>
          <a:p>
            <a:pPr rtl="1" algn="ctr" indent="0" marL="0">
              <a:buNone/>
            </a:pPr>
            <a:r>
              <a:rPr lang="ar-SA" altLang="en-US" sz="1500" b="1" dirty="0">
                <a:solidFill>
                  <a:srgbClr val="1E6B52"/>
                </a:solidFill>
                <a:latin typeface="Amiri" pitchFamily="2" charset="-78"/>
                <a:ea typeface="Amiri" pitchFamily="2" charset="-78"/>
                <a:cs typeface="Amiri" pitchFamily="2" charset="-78"/>
              </a:rPr>
              <a:t>اكْتُبْ</a:t>
            </a:r>
            <a:endParaRPr lang="ar-SA" sz="1500" dirty="0"/>
          </a:p>
        </p:txBody>
      </p:sp>
      <p:sp>
        <p:nvSpPr>
          <p:cNvPr id="47" name="Shape 44"/>
          <p:cNvSpPr/>
          <p:nvPr/>
        </p:nvSpPr>
        <p:spPr>
          <a:xfrm>
            <a:off x="9579254" y="1828800"/>
            <a:ext cx="2152498" cy="3246120"/>
          </a:xfrm>
          <a:prstGeom prst="roundRect">
            <a:avLst>
              <a:gd name="adj" fmla="val 3398"/>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9688982" y="1938528"/>
            <a:ext cx="1933042" cy="566928"/>
          </a:xfrm>
          <a:prstGeom prst="roundRect">
            <a:avLst>
              <a:gd name="adj" fmla="val 9677"/>
            </a:avLst>
          </a:prstGeom>
          <a:solidFill>
            <a:srgbClr val="8A6D1E"/>
          </a:solidFill>
          <a:ln w="12700">
            <a:solidFill>
              <a:srgbClr val="8A6D1E"/>
            </a:solidFill>
            <a:prstDash val="solid"/>
          </a:ln>
        </p:spPr>
      </p:sp>
      <p:sp>
        <p:nvSpPr>
          <p:cNvPr id="49" name="Text 46"/>
          <p:cNvSpPr txBox="1"/>
          <p:nvPr/>
        </p:nvSpPr>
        <p:spPr>
          <a:xfrm>
            <a:off x="9725558" y="1956816"/>
            <a:ext cx="1859890"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FEEDBACK</a:t>
            </a:r>
            <a:endParaRPr lang="en-US" sz="1000" dirty="0"/>
          </a:p>
        </p:txBody>
      </p:sp>
      <p:sp>
        <p:nvSpPr>
          <p:cNvPr id="50" name="Text 47"/>
          <p:cNvSpPr txBox="1"/>
          <p:nvPr/>
        </p:nvSpPr>
        <p:spPr>
          <a:xfrm>
            <a:off x="9725558" y="2249424"/>
            <a:ext cx="1859890"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4 min</a:t>
            </a:r>
            <a:endParaRPr lang="en-US" sz="1000" dirty="0"/>
          </a:p>
        </p:txBody>
      </p:sp>
      <p:sp>
        <p:nvSpPr>
          <p:cNvPr id="51" name="Shape 48"/>
          <p:cNvSpPr/>
          <p:nvPr/>
        </p:nvSpPr>
        <p:spPr>
          <a:xfrm>
            <a:off x="10454335" y="2651760"/>
            <a:ext cx="402336" cy="402336"/>
          </a:xfrm>
          <a:prstGeom prst="ellipse">
            <a:avLst/>
          </a:prstGeom>
          <a:solidFill>
            <a:srgbClr val="F4F1EA"/>
          </a:solidFill>
          <a:ln w="12700">
            <a:solidFill>
              <a:srgbClr val="F4F1EA"/>
            </a:solidFill>
            <a:prstDash val="solid"/>
          </a:ln>
        </p:spPr>
      </p:sp>
      <p:sp>
        <p:nvSpPr>
          <p:cNvPr id="52" name="Text 49"/>
          <p:cNvSpPr txBox="1"/>
          <p:nvPr/>
        </p:nvSpPr>
        <p:spPr>
          <a:xfrm>
            <a:off x="10454335"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5</a:t>
            </a:r>
            <a:endParaRPr lang="en-US" sz="1300" dirty="0"/>
          </a:p>
        </p:txBody>
      </p:sp>
      <p:sp>
        <p:nvSpPr>
          <p:cNvPr id="53" name="Text 50"/>
          <p:cNvSpPr txBox="1"/>
          <p:nvPr/>
        </p:nvSpPr>
        <p:spPr>
          <a:xfrm>
            <a:off x="9707270" y="3145536"/>
            <a:ext cx="1896466"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Check yourself with the models.</a:t>
            </a:r>
            <a:endParaRPr lang="en-US" sz="1200" dirty="0"/>
          </a:p>
        </p:txBody>
      </p:sp>
      <p:sp>
        <p:nvSpPr>
          <p:cNvPr id="54" name="Text 51"/>
          <p:cNvSpPr txBox="1"/>
          <p:nvPr/>
        </p:nvSpPr>
        <p:spPr>
          <a:xfrm>
            <a:off x="9670694" y="4526280"/>
            <a:ext cx="1969618" cy="438912"/>
          </a:xfrm>
          <a:prstGeom prst="rect">
            <a:avLst/>
          </a:prstGeom>
          <a:noFill/>
          <a:ln/>
        </p:spPr>
        <p:txBody>
          <a:bodyPr wrap="square" lIns="0" tIns="0" rIns="0" bIns="0" rtlCol="0" anchor="ctr"/>
          <a:lstStyle/>
          <a:p>
            <a:pPr rtl="1" algn="ctr" indent="0" marL="0">
              <a:buNone/>
            </a:pPr>
            <a:r>
              <a:rPr lang="ar-SA" altLang="en-US" sz="1500" b="1" dirty="0">
                <a:solidFill>
                  <a:srgbClr val="8A6D1E"/>
                </a:solidFill>
                <a:latin typeface="Amiri" pitchFamily="2" charset="-78"/>
                <a:ea typeface="Amiri" pitchFamily="2" charset="-78"/>
                <a:cs typeface="Amiri" pitchFamily="2" charset="-78"/>
              </a:rPr>
              <a:t>قَارِنْ</a:t>
            </a:r>
            <a:endParaRPr lang="ar-SA" sz="1500" dirty="0"/>
          </a:p>
        </p:txBody>
      </p:sp>
      <p:sp>
        <p:nvSpPr>
          <p:cNvPr id="55" name="Shape 52"/>
          <p:cNvSpPr/>
          <p:nvPr/>
        </p:nvSpPr>
        <p:spPr>
          <a:xfrm>
            <a:off x="457200" y="5285232"/>
            <a:ext cx="11274552" cy="1024128"/>
          </a:xfrm>
          <a:prstGeom prst="roundRect">
            <a:avLst>
              <a:gd name="adj" fmla="val 7143"/>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56" name="Text 53"/>
          <p:cNvSpPr txBox="1"/>
          <p:nvPr/>
        </p:nvSpPr>
        <p:spPr>
          <a:xfrm>
            <a:off x="685800" y="5358384"/>
            <a:ext cx="4572000"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cs typeface="Amiri" pitchFamily="2" charset="-78"/>
              </a:rPr>
              <a:t>HOW THE ROOM RUNS</a:t>
            </a:r>
            <a:endParaRPr lang="en-US" sz="1000" dirty="0"/>
          </a:p>
        </p:txBody>
      </p:sp>
      <p:sp>
        <p:nvSpPr>
          <p:cNvPr id="57" name="Text 54"/>
          <p:cNvSpPr txBox="1"/>
          <p:nvPr/>
        </p:nvSpPr>
        <p:spPr>
          <a:xfrm>
            <a:off x="685800" y="5632704"/>
            <a:ext cx="10881360" cy="621792"/>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cs typeface="Amiri" pitchFamily="2" charset="-78"/>
              </a:rPr>
              <a:t>Everybody speaks in every step and everybody writes their own text. Swap roles after each task. If you finish early, do the step again with the Stretch route.</a:t>
            </a:r>
            <a:endParaRPr lang="en-US" sz="1250" dirty="0"/>
          </a:p>
        </p:txBody>
      </p:sp>
      <p:sp>
        <p:nvSpPr>
          <p:cNvPr id="58" name="Text 5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 / 22</a:t>
            </a:r>
            <a:endParaRPr lang="en-US" sz="8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D2-L12 · Speaking + writing practice room</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BEFORE THE ROOMS · HOW YOUR ROOM WORKS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000" b="1" dirty="0">
                <a:solidFill>
                  <a:srgbClr val="1B3B6F"/>
                </a:solidFill>
                <a:latin typeface="Cambria" pitchFamily="34" charset="0"/>
                <a:cs typeface="Amiri" pitchFamily="2" charset="-78"/>
              </a:rPr>
              <a:t>Three roles — then write alone, check together</a:t>
            </a:r>
            <a:endParaRPr lang="en-US" sz="20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كَيْفَ نَعْمَلُ فِي الغُرْفَةِ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D2 · People, Relationships and Style · D2-L12 · practice room</a:t>
            </a:r>
            <a:endParaRPr lang="en-US" sz="850" dirty="0"/>
          </a:p>
        </p:txBody>
      </p:sp>
      <p:sp>
        <p:nvSpPr>
          <p:cNvPr id="15" name="Shape 12"/>
          <p:cNvSpPr/>
          <p:nvPr/>
        </p:nvSpPr>
        <p:spPr>
          <a:xfrm>
            <a:off x="457200" y="1810512"/>
            <a:ext cx="6172200" cy="4498848"/>
          </a:xfrm>
          <a:prstGeom prst="roundRect">
            <a:avLst>
              <a:gd name="adj" fmla="val 1626"/>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58368" y="1883664"/>
            <a:ext cx="580644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cs typeface="Amiri" pitchFamily="2" charset="-78"/>
              </a:rPr>
              <a:t>ROLES (SWAP AFTER EVERY TASK)</a:t>
            </a:r>
            <a:endParaRPr lang="en-US" sz="1000" dirty="0"/>
          </a:p>
        </p:txBody>
      </p:sp>
      <p:sp>
        <p:nvSpPr>
          <p:cNvPr id="17" name="Shape 14"/>
          <p:cNvSpPr/>
          <p:nvPr/>
        </p:nvSpPr>
        <p:spPr>
          <a:xfrm>
            <a:off x="658368" y="2286000"/>
            <a:ext cx="310896" cy="310896"/>
          </a:xfrm>
          <a:prstGeom prst="ellipse">
            <a:avLst/>
          </a:prstGeom>
          <a:solidFill>
            <a:srgbClr val="1B3B6F"/>
          </a:solidFill>
          <a:ln w="12700">
            <a:solidFill>
              <a:srgbClr val="1B3B6F"/>
            </a:solidFill>
            <a:prstDash val="solid"/>
          </a:ln>
        </p:spPr>
      </p:sp>
      <p:sp>
        <p:nvSpPr>
          <p:cNvPr id="18" name="Text 15"/>
          <p:cNvSpPr txBox="1"/>
          <p:nvPr/>
        </p:nvSpPr>
        <p:spPr>
          <a:xfrm>
            <a:off x="658368" y="2286000"/>
            <a:ext cx="310896" cy="310896"/>
          </a:xfrm>
          <a:prstGeom prst="rect">
            <a:avLst/>
          </a:prstGeom>
          <a:noFill/>
          <a:ln/>
        </p:spPr>
        <p:txBody>
          <a:bodyPr wrap="square" lIns="0" tIns="0" rIns="0" bIns="0" rtlCol="0" anchor="ctr"/>
          <a:lstStyle/>
          <a:p>
            <a:pPr algn="ctr" indent="0" marL="0">
              <a:buNone/>
            </a:pPr>
            <a:r>
              <a:rPr lang="en-US" sz="1100" b="1" dirty="0">
                <a:solidFill>
                  <a:srgbClr val="D4AF37"/>
                </a:solidFill>
                <a:latin typeface="Calibri" pitchFamily="34" charset="0"/>
                <a:cs typeface="Amiri" pitchFamily="2" charset="-78"/>
              </a:rPr>
              <a:t>1</a:t>
            </a:r>
            <a:endParaRPr lang="en-US" sz="1100" dirty="0"/>
          </a:p>
        </p:txBody>
      </p:sp>
      <p:sp>
        <p:nvSpPr>
          <p:cNvPr id="19" name="Text 16"/>
          <p:cNvSpPr txBox="1"/>
          <p:nvPr/>
        </p:nvSpPr>
        <p:spPr>
          <a:xfrm>
            <a:off x="1078992" y="2176272"/>
            <a:ext cx="5394960" cy="973836"/>
          </a:xfrm>
          <a:prstGeom prst="rect">
            <a:avLst/>
          </a:prstGeom>
          <a:noFill/>
          <a:ln/>
        </p:spPr>
        <p:txBody>
          <a:bodyPr wrap="square" lIns="0" tIns="0" rIns="0" bIns="0" rtlCol="0" anchor="t"/>
          <a:lstStyle/>
          <a:p>
            <a:pPr algn="l" indent="0" marL="0">
              <a:buNone/>
            </a:pPr>
            <a:r>
              <a:rPr lang="en-US" sz="1300" dirty="0">
                <a:solidFill>
                  <a:srgbClr val="1F2A37"/>
                </a:solidFill>
                <a:latin typeface="Calibri" pitchFamily="34" charset="0"/>
                <a:cs typeface="Amiri" pitchFamily="2" charset="-78"/>
              </a:rPr>
              <a:t>LEADER — opens the next step, keeps the time and reads the questions.</a:t>
            </a:r>
            <a:endParaRPr lang="en-US" sz="1300" dirty="0"/>
          </a:p>
        </p:txBody>
      </p:sp>
      <p:sp>
        <p:nvSpPr>
          <p:cNvPr id="20" name="Shape 17"/>
          <p:cNvSpPr/>
          <p:nvPr/>
        </p:nvSpPr>
        <p:spPr>
          <a:xfrm>
            <a:off x="658368" y="3296412"/>
            <a:ext cx="310896" cy="310896"/>
          </a:xfrm>
          <a:prstGeom prst="ellipse">
            <a:avLst/>
          </a:prstGeom>
          <a:solidFill>
            <a:srgbClr val="1B3B6F"/>
          </a:solidFill>
          <a:ln w="12700">
            <a:solidFill>
              <a:srgbClr val="1B3B6F"/>
            </a:solidFill>
            <a:prstDash val="solid"/>
          </a:ln>
        </p:spPr>
      </p:sp>
      <p:sp>
        <p:nvSpPr>
          <p:cNvPr id="21" name="Text 18"/>
          <p:cNvSpPr txBox="1"/>
          <p:nvPr/>
        </p:nvSpPr>
        <p:spPr>
          <a:xfrm>
            <a:off x="658368" y="3296412"/>
            <a:ext cx="310896" cy="310896"/>
          </a:xfrm>
          <a:prstGeom prst="rect">
            <a:avLst/>
          </a:prstGeom>
          <a:noFill/>
          <a:ln/>
        </p:spPr>
        <p:txBody>
          <a:bodyPr wrap="square" lIns="0" tIns="0" rIns="0" bIns="0" rtlCol="0" anchor="ctr"/>
          <a:lstStyle/>
          <a:p>
            <a:pPr algn="ctr" indent="0" marL="0">
              <a:buNone/>
            </a:pPr>
            <a:r>
              <a:rPr lang="en-US" sz="1100" b="1" dirty="0">
                <a:solidFill>
                  <a:srgbClr val="D4AF37"/>
                </a:solidFill>
                <a:latin typeface="Calibri" pitchFamily="34" charset="0"/>
                <a:cs typeface="Amiri" pitchFamily="2" charset="-78"/>
              </a:rPr>
              <a:t>2</a:t>
            </a:r>
            <a:endParaRPr lang="en-US" sz="1100" dirty="0"/>
          </a:p>
        </p:txBody>
      </p:sp>
      <p:sp>
        <p:nvSpPr>
          <p:cNvPr id="22" name="Text 19"/>
          <p:cNvSpPr txBox="1"/>
          <p:nvPr/>
        </p:nvSpPr>
        <p:spPr>
          <a:xfrm>
            <a:off x="1078992" y="3186684"/>
            <a:ext cx="5394960" cy="973836"/>
          </a:xfrm>
          <a:prstGeom prst="rect">
            <a:avLst/>
          </a:prstGeom>
          <a:noFill/>
          <a:ln/>
        </p:spPr>
        <p:txBody>
          <a:bodyPr wrap="square" lIns="0" tIns="0" rIns="0" bIns="0" rtlCol="0" anchor="t"/>
          <a:lstStyle/>
          <a:p>
            <a:pPr algn="l" indent="0" marL="0">
              <a:buNone/>
            </a:pPr>
            <a:r>
              <a:rPr lang="en-US" sz="1300" dirty="0">
                <a:solidFill>
                  <a:srgbClr val="1F2A37"/>
                </a:solidFill>
                <a:latin typeface="Calibri" pitchFamily="34" charset="0"/>
                <a:cs typeface="Amiri" pitchFamily="2" charset="-78"/>
              </a:rPr>
              <a:t>SPEAKER — answers in Arabic, in a full sentence. Think for a few seconds, then speak.</a:t>
            </a:r>
            <a:endParaRPr lang="en-US" sz="1300" dirty="0"/>
          </a:p>
        </p:txBody>
      </p:sp>
      <p:sp>
        <p:nvSpPr>
          <p:cNvPr id="23" name="Shape 20"/>
          <p:cNvSpPr/>
          <p:nvPr/>
        </p:nvSpPr>
        <p:spPr>
          <a:xfrm>
            <a:off x="658368" y="4306824"/>
            <a:ext cx="310896" cy="310896"/>
          </a:xfrm>
          <a:prstGeom prst="ellipse">
            <a:avLst/>
          </a:prstGeom>
          <a:solidFill>
            <a:srgbClr val="1B3B6F"/>
          </a:solidFill>
          <a:ln w="12700">
            <a:solidFill>
              <a:srgbClr val="1B3B6F"/>
            </a:solidFill>
            <a:prstDash val="solid"/>
          </a:ln>
        </p:spPr>
      </p:sp>
      <p:sp>
        <p:nvSpPr>
          <p:cNvPr id="24" name="Text 21"/>
          <p:cNvSpPr txBox="1"/>
          <p:nvPr/>
        </p:nvSpPr>
        <p:spPr>
          <a:xfrm>
            <a:off x="658368" y="4306824"/>
            <a:ext cx="310896" cy="310896"/>
          </a:xfrm>
          <a:prstGeom prst="rect">
            <a:avLst/>
          </a:prstGeom>
          <a:noFill/>
          <a:ln/>
        </p:spPr>
        <p:txBody>
          <a:bodyPr wrap="square" lIns="0" tIns="0" rIns="0" bIns="0" rtlCol="0" anchor="ctr"/>
          <a:lstStyle/>
          <a:p>
            <a:pPr algn="ctr" indent="0" marL="0">
              <a:buNone/>
            </a:pPr>
            <a:r>
              <a:rPr lang="en-US" sz="1100" b="1" dirty="0">
                <a:solidFill>
                  <a:srgbClr val="D4AF37"/>
                </a:solidFill>
                <a:latin typeface="Calibri" pitchFamily="34" charset="0"/>
                <a:cs typeface="Amiri" pitchFamily="2" charset="-78"/>
              </a:rPr>
              <a:t>3</a:t>
            </a:r>
            <a:endParaRPr lang="en-US" sz="1100" dirty="0"/>
          </a:p>
        </p:txBody>
      </p:sp>
      <p:sp>
        <p:nvSpPr>
          <p:cNvPr id="25" name="Text 22"/>
          <p:cNvSpPr txBox="1"/>
          <p:nvPr/>
        </p:nvSpPr>
        <p:spPr>
          <a:xfrm>
            <a:off x="1078992" y="4197096"/>
            <a:ext cx="5394960" cy="973836"/>
          </a:xfrm>
          <a:prstGeom prst="rect">
            <a:avLst/>
          </a:prstGeom>
          <a:noFill/>
          <a:ln/>
        </p:spPr>
        <p:txBody>
          <a:bodyPr wrap="square" lIns="0" tIns="0" rIns="0" bIns="0" rtlCol="0" anchor="t"/>
          <a:lstStyle/>
          <a:p>
            <a:pPr algn="l" indent="0" marL="0">
              <a:buNone/>
            </a:pPr>
            <a:r>
              <a:rPr lang="en-US" sz="1300" dirty="0">
                <a:solidFill>
                  <a:srgbClr val="1F2A37"/>
                </a:solidFill>
                <a:latin typeface="Calibri" pitchFamily="34" charset="0"/>
                <a:cs typeface="Amiri" pitchFamily="2" charset="-78"/>
              </a:rPr>
              <a:t>COACH — listens, checks with the slide, then says one thing that went well and one thing to improve. (In a pair, the Leader is also the Coach.)</a:t>
            </a:r>
            <a:endParaRPr lang="en-US" sz="1300" dirty="0"/>
          </a:p>
        </p:txBody>
      </p:sp>
      <p:sp>
        <p:nvSpPr>
          <p:cNvPr id="26" name="Shape 23"/>
          <p:cNvSpPr/>
          <p:nvPr/>
        </p:nvSpPr>
        <p:spPr>
          <a:xfrm>
            <a:off x="658368" y="5317236"/>
            <a:ext cx="310896" cy="310896"/>
          </a:xfrm>
          <a:prstGeom prst="ellipse">
            <a:avLst/>
          </a:prstGeom>
          <a:solidFill>
            <a:srgbClr val="1B3B6F"/>
          </a:solidFill>
          <a:ln w="12700">
            <a:solidFill>
              <a:srgbClr val="1B3B6F"/>
            </a:solidFill>
            <a:prstDash val="solid"/>
          </a:ln>
        </p:spPr>
      </p:sp>
      <p:sp>
        <p:nvSpPr>
          <p:cNvPr id="27" name="Text 24"/>
          <p:cNvSpPr txBox="1"/>
          <p:nvPr/>
        </p:nvSpPr>
        <p:spPr>
          <a:xfrm>
            <a:off x="658368" y="5317236"/>
            <a:ext cx="310896" cy="310896"/>
          </a:xfrm>
          <a:prstGeom prst="rect">
            <a:avLst/>
          </a:prstGeom>
          <a:noFill/>
          <a:ln/>
        </p:spPr>
        <p:txBody>
          <a:bodyPr wrap="square" lIns="0" tIns="0" rIns="0" bIns="0" rtlCol="0" anchor="ctr"/>
          <a:lstStyle/>
          <a:p>
            <a:pPr algn="ctr" indent="0" marL="0">
              <a:buNone/>
            </a:pPr>
            <a:r>
              <a:rPr lang="en-US" sz="1100" b="1" dirty="0">
                <a:solidFill>
                  <a:srgbClr val="D4AF37"/>
                </a:solidFill>
                <a:latin typeface="Calibri" pitchFamily="34" charset="0"/>
                <a:cs typeface="Amiri" pitchFamily="2" charset="-78"/>
              </a:rPr>
              <a:t>4</a:t>
            </a:r>
            <a:endParaRPr lang="en-US" sz="1100" dirty="0"/>
          </a:p>
        </p:txBody>
      </p:sp>
      <p:sp>
        <p:nvSpPr>
          <p:cNvPr id="28" name="Text 25"/>
          <p:cNvSpPr txBox="1"/>
          <p:nvPr/>
        </p:nvSpPr>
        <p:spPr>
          <a:xfrm>
            <a:off x="1078992" y="5207508"/>
            <a:ext cx="5394960" cy="973836"/>
          </a:xfrm>
          <a:prstGeom prst="rect">
            <a:avLst/>
          </a:prstGeom>
          <a:noFill/>
          <a:ln/>
        </p:spPr>
        <p:txBody>
          <a:bodyPr wrap="square" lIns="0" tIns="0" rIns="0" bIns="0" rtlCol="0" anchor="t"/>
          <a:lstStyle/>
          <a:p>
            <a:pPr algn="l" indent="0" marL="0">
              <a:buNone/>
            </a:pPr>
            <a:r>
              <a:rPr lang="en-US" sz="1300" dirty="0">
                <a:solidFill>
                  <a:srgbClr val="1F2A37"/>
                </a:solidFill>
                <a:latin typeface="Calibri" pitchFamily="34" charset="0"/>
                <a:cs typeface="Amiri" pitchFamily="2" charset="-78"/>
              </a:rPr>
              <a:t>WRITING (Part B): everyone writes their OWN text; then swap with a buddy and check.</a:t>
            </a:r>
            <a:endParaRPr lang="en-US" sz="1300" dirty="0"/>
          </a:p>
        </p:txBody>
      </p:sp>
      <p:sp>
        <p:nvSpPr>
          <p:cNvPr id="29" name="Shape 26"/>
          <p:cNvSpPr/>
          <p:nvPr/>
        </p:nvSpPr>
        <p:spPr>
          <a:xfrm>
            <a:off x="6812280" y="1810512"/>
            <a:ext cx="4919472" cy="4498848"/>
          </a:xfrm>
          <a:prstGeom prst="roundRect">
            <a:avLst>
              <a:gd name="adj" fmla="val 162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Text 27"/>
          <p:cNvSpPr txBox="1"/>
          <p:nvPr/>
        </p:nvSpPr>
        <p:spPr>
          <a:xfrm>
            <a:off x="6995160" y="1883664"/>
            <a:ext cx="4553712" cy="274320"/>
          </a:xfrm>
          <a:prstGeom prst="rect">
            <a:avLst/>
          </a:prstGeom>
          <a:noFill/>
          <a:ln/>
        </p:spPr>
        <p:txBody>
          <a:bodyPr wrap="square" lIns="0" tIns="0" rIns="0" bIns="0" rtlCol="0" anchor="ctr"/>
          <a:lstStyle/>
          <a:p>
            <a:pPr algn="l" indent="0" marL="0">
              <a:buNone/>
            </a:pPr>
            <a:r>
              <a:rPr lang="en-US" sz="1000" b="1" spc="200" kern="0" dirty="0">
                <a:solidFill>
                  <a:srgbClr val="8A6D1E"/>
                </a:solidFill>
                <a:latin typeface="Calibri" pitchFamily="34" charset="0"/>
                <a:cs typeface="Amiri" pitchFamily="2" charset="-78"/>
              </a:rPr>
              <a:t>USEFUL ROOM PHRASES</a:t>
            </a:r>
            <a:endParaRPr lang="en-US" sz="1000" dirty="0"/>
          </a:p>
        </p:txBody>
      </p:sp>
      <p:sp>
        <p:nvSpPr>
          <p:cNvPr id="31" name="Text 28"/>
          <p:cNvSpPr txBox="1"/>
          <p:nvPr/>
        </p:nvSpPr>
        <p:spPr>
          <a:xfrm>
            <a:off x="6949440" y="2194560"/>
            <a:ext cx="4645152" cy="761268"/>
          </a:xfrm>
          <a:prstGeom prst="rect">
            <a:avLst/>
          </a:prstGeom>
          <a:noFill/>
          <a:ln/>
        </p:spPr>
        <p:txBody>
          <a:bodyPr wrap="square" lIns="0" tIns="0" rIns="0" bIns="0" rtlCol="0" anchor="ctr"/>
          <a:lstStyle/>
          <a:p>
            <a:pPr rtl="1" algn="ctr" indent="0" marL="0">
              <a:buNone/>
            </a:pPr>
            <a:r>
              <a:rPr lang="ar-SA" altLang="en-US" sz="2800" b="1" dirty="0">
                <a:solidFill>
                  <a:srgbClr val="1B3B6F"/>
                </a:solidFill>
                <a:latin typeface="Amiri" pitchFamily="2" charset="-78"/>
                <a:ea typeface="Amiri" pitchFamily="2" charset="-78"/>
                <a:cs typeface="Amiri" pitchFamily="2" charset="-78"/>
              </a:rPr>
              <a:t>دَوْرُكَ! / دَوْرُكِ!</a:t>
            </a:r>
            <a:endParaRPr lang="ar-SA" sz="2800" dirty="0"/>
          </a:p>
        </p:txBody>
      </p:sp>
      <p:sp>
        <p:nvSpPr>
          <p:cNvPr id="32" name="Text 29"/>
          <p:cNvSpPr txBox="1"/>
          <p:nvPr/>
        </p:nvSpPr>
        <p:spPr>
          <a:xfrm>
            <a:off x="6949440" y="2955828"/>
            <a:ext cx="4645152" cy="543763"/>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Your turn! (m. / f.)</a:t>
            </a:r>
            <a:endParaRPr lang="en-US" sz="1100" dirty="0"/>
          </a:p>
        </p:txBody>
      </p:sp>
      <p:sp>
        <p:nvSpPr>
          <p:cNvPr id="33" name="Shape 30"/>
          <p:cNvSpPr/>
          <p:nvPr/>
        </p:nvSpPr>
        <p:spPr>
          <a:xfrm>
            <a:off x="6995160" y="3535680"/>
            <a:ext cx="4553712" cy="0"/>
          </a:xfrm>
          <a:prstGeom prst="line">
            <a:avLst/>
          </a:prstGeom>
          <a:noFill/>
          <a:ln w="9525">
            <a:solidFill>
              <a:srgbClr val="E4DCCB"/>
            </a:solidFill>
            <a:prstDash val="dash"/>
          </a:ln>
        </p:spPr>
      </p:sp>
      <p:sp>
        <p:nvSpPr>
          <p:cNvPr id="34" name="Text 31"/>
          <p:cNvSpPr txBox="1"/>
          <p:nvPr/>
        </p:nvSpPr>
        <p:spPr>
          <a:xfrm>
            <a:off x="6949440" y="3553968"/>
            <a:ext cx="4645152" cy="761268"/>
          </a:xfrm>
          <a:prstGeom prst="rect">
            <a:avLst/>
          </a:prstGeom>
          <a:noFill/>
          <a:ln/>
        </p:spPr>
        <p:txBody>
          <a:bodyPr wrap="square" lIns="0" tIns="0" rIns="0" bIns="0" rtlCol="0" anchor="ctr"/>
          <a:lstStyle/>
          <a:p>
            <a:pPr rtl="1" algn="ctr" indent="0" marL="0">
              <a:buNone/>
            </a:pPr>
            <a:r>
              <a:rPr lang="ar-SA" altLang="en-US" sz="2800" b="1" dirty="0">
                <a:solidFill>
                  <a:srgbClr val="1B3B6F"/>
                </a:solidFill>
                <a:latin typeface="Amiri" pitchFamily="2" charset="-78"/>
                <a:ea typeface="Amiri" pitchFamily="2" charset="-78"/>
                <a:cs typeface="Amiri" pitchFamily="2" charset="-78"/>
              </a:rPr>
              <a:t>عَفْوًا، أَعِدْ مِنْ فَضْلِكَ.</a:t>
            </a:r>
            <a:endParaRPr lang="ar-SA" sz="2800" dirty="0"/>
          </a:p>
        </p:txBody>
      </p:sp>
      <p:sp>
        <p:nvSpPr>
          <p:cNvPr id="35" name="Text 32"/>
          <p:cNvSpPr txBox="1"/>
          <p:nvPr/>
        </p:nvSpPr>
        <p:spPr>
          <a:xfrm>
            <a:off x="6949440" y="4315236"/>
            <a:ext cx="4645152" cy="543763"/>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Sorry, repeat please.</a:t>
            </a:r>
            <a:endParaRPr lang="en-US" sz="1100" dirty="0"/>
          </a:p>
        </p:txBody>
      </p:sp>
      <p:sp>
        <p:nvSpPr>
          <p:cNvPr id="36" name="Shape 33"/>
          <p:cNvSpPr/>
          <p:nvPr/>
        </p:nvSpPr>
        <p:spPr>
          <a:xfrm>
            <a:off x="6995160" y="4895088"/>
            <a:ext cx="4553712" cy="0"/>
          </a:xfrm>
          <a:prstGeom prst="line">
            <a:avLst/>
          </a:prstGeom>
          <a:noFill/>
          <a:ln w="9525">
            <a:solidFill>
              <a:srgbClr val="E4DCCB"/>
            </a:solidFill>
            <a:prstDash val="dash"/>
          </a:ln>
        </p:spPr>
      </p:sp>
      <p:sp>
        <p:nvSpPr>
          <p:cNvPr id="37" name="Text 34"/>
          <p:cNvSpPr txBox="1"/>
          <p:nvPr/>
        </p:nvSpPr>
        <p:spPr>
          <a:xfrm>
            <a:off x="6949440" y="4913376"/>
            <a:ext cx="4645152" cy="761268"/>
          </a:xfrm>
          <a:prstGeom prst="rect">
            <a:avLst/>
          </a:prstGeom>
          <a:noFill/>
          <a:ln/>
        </p:spPr>
        <p:txBody>
          <a:bodyPr wrap="square" lIns="0" tIns="0" rIns="0" bIns="0" rtlCol="0" anchor="ctr"/>
          <a:lstStyle/>
          <a:p>
            <a:pPr rtl="1" algn="ctr" indent="0" marL="0">
              <a:buNone/>
            </a:pPr>
            <a:r>
              <a:rPr lang="ar-SA" altLang="en-US" sz="2800" b="1" dirty="0">
                <a:solidFill>
                  <a:srgbClr val="1B3B6F"/>
                </a:solidFill>
                <a:latin typeface="Amiri" pitchFamily="2" charset="-78"/>
                <a:ea typeface="Amiri" pitchFamily="2" charset="-78"/>
                <a:cs typeface="Amiri" pitchFamily="2" charset="-78"/>
              </a:rPr>
              <a:t>لَحْظَةً، أُفَكِّرُ …</a:t>
            </a:r>
            <a:endParaRPr lang="ar-SA" sz="2800" dirty="0"/>
          </a:p>
        </p:txBody>
      </p:sp>
      <p:sp>
        <p:nvSpPr>
          <p:cNvPr id="38" name="Text 35"/>
          <p:cNvSpPr txBox="1"/>
          <p:nvPr/>
        </p:nvSpPr>
        <p:spPr>
          <a:xfrm>
            <a:off x="6949440" y="5674644"/>
            <a:ext cx="4645152" cy="543763"/>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One moment, I’m thinking …</a:t>
            </a:r>
            <a:endParaRPr lang="en-US" sz="1100" dirty="0"/>
          </a:p>
        </p:txBody>
      </p:sp>
      <p:sp>
        <p:nvSpPr>
          <p:cNvPr id="39" name="Text 3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 / 22</a:t>
            </a:r>
            <a:endParaRPr lang="en-US" sz="8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D2-L12 · Speaking + writing practice room</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5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PART A · STEP 1 · WORD WARM-UP · 5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Say it — then use it</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قُلْهَا وَاسْتَعْمِلْهَا</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D2 · People, Relationships and Style · D2-L12 · practice room</a:t>
            </a:r>
            <a:endParaRPr lang="en-US" sz="850" dirty="0"/>
          </a:p>
        </p:txBody>
      </p:sp>
      <p:sp>
        <p:nvSpPr>
          <p:cNvPr id="15" name="Shape 12"/>
          <p:cNvSpPr/>
          <p:nvPr/>
        </p:nvSpPr>
        <p:spPr>
          <a:xfrm>
            <a:off x="457200" y="1810512"/>
            <a:ext cx="5715000" cy="4498848"/>
          </a:xfrm>
          <a:prstGeom prst="roundRect">
            <a:avLst>
              <a:gd name="adj" fmla="val 1626"/>
            </a:avLst>
          </a:prstGeom>
          <a:solidFill>
            <a:srgbClr val="F4F1EA"/>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20240"/>
            <a:ext cx="3108960" cy="292608"/>
          </a:xfrm>
          <a:prstGeom prst="roundRect">
            <a:avLst>
              <a:gd name="adj" fmla="val 50000"/>
            </a:avLst>
          </a:prstGeom>
          <a:solidFill>
            <a:srgbClr val="8A6D1E"/>
          </a:solidFill>
          <a:ln w="12700">
            <a:solidFill>
              <a:srgbClr val="8A6D1E"/>
            </a:solidFill>
            <a:prstDash val="solid"/>
          </a:ln>
        </p:spPr>
      </p:sp>
      <p:sp>
        <p:nvSpPr>
          <p:cNvPr id="17" name="Text 14"/>
          <p:cNvSpPr txBox="1"/>
          <p:nvPr/>
        </p:nvSpPr>
        <p:spPr>
          <a:xfrm>
            <a:off x="640080" y="1920240"/>
            <a:ext cx="3108960" cy="292608"/>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STEP 1 · IN YOUR ROOM</a:t>
            </a:r>
            <a:endParaRPr lang="en-US" sz="900" dirty="0"/>
          </a:p>
        </p:txBody>
      </p:sp>
      <p:sp>
        <p:nvSpPr>
          <p:cNvPr id="18" name="Text 15"/>
          <p:cNvSpPr txBox="1"/>
          <p:nvPr/>
        </p:nvSpPr>
        <p:spPr>
          <a:xfrm>
            <a:off x="640080" y="2286000"/>
            <a:ext cx="5349240" cy="502920"/>
          </a:xfrm>
          <a:prstGeom prst="rect">
            <a:avLst/>
          </a:prstGeom>
          <a:noFill/>
          <a:ln/>
        </p:spPr>
        <p:txBody>
          <a:bodyPr wrap="square" lIns="0" tIns="0" rIns="0" bIns="0" rtlCol="0" anchor="ctr"/>
          <a:lstStyle/>
          <a:p>
            <a:pPr algn="l" indent="0" marL="0">
              <a:buNone/>
            </a:pPr>
            <a:r>
              <a:rPr lang="en-US" sz="2200" b="1" dirty="0">
                <a:solidFill>
                  <a:srgbClr val="1B3B6F"/>
                </a:solidFill>
                <a:latin typeface="Calibri" pitchFamily="34" charset="0"/>
                <a:cs typeface="Amiri" pitchFamily="2" charset="-78"/>
              </a:rPr>
              <a:t>🔤  Word ping-pong</a:t>
            </a:r>
            <a:endParaRPr lang="en-US" sz="2200" dirty="0"/>
          </a:p>
        </p:txBody>
      </p:sp>
      <p:sp>
        <p:nvSpPr>
          <p:cNvPr id="19" name="Text 16"/>
          <p:cNvSpPr txBox="1"/>
          <p:nvPr/>
        </p:nvSpPr>
        <p:spPr>
          <a:xfrm>
            <a:off x="640080" y="2816352"/>
            <a:ext cx="5349240" cy="1188720"/>
          </a:xfrm>
          <a:prstGeom prst="rect">
            <a:avLst/>
          </a:prstGeom>
          <a:noFill/>
          <a:ln/>
        </p:spPr>
        <p:txBody>
          <a:bodyPr wrap="square" lIns="0" tIns="0" rIns="0" bIns="0" rtlCol="0" anchor="t"/>
          <a:lstStyle/>
          <a:p>
            <a:pPr algn="l" indent="0" marL="0">
              <a:buNone/>
            </a:pPr>
            <a:r>
              <a:rPr lang="en-US" sz="1350" dirty="0">
                <a:solidFill>
                  <a:srgbClr val="1F2A37"/>
                </a:solidFill>
                <a:latin typeface="Calibri" pitchFamily="34" charset="0"/>
                <a:cs typeface="Amiri" pitchFamily="2" charset="-78"/>
              </a:rPr>
              <a:t>The Leader says a word in ENGLISH from the next two slides. The Speaker says it in ARABIC. The Coach checks the Arabic (and the ending) on the slide.</a:t>
            </a:r>
            <a:endParaRPr lang="en-US" sz="1350" dirty="0"/>
          </a:p>
        </p:txBody>
      </p:sp>
      <p:sp>
        <p:nvSpPr>
          <p:cNvPr id="20" name="Text 17"/>
          <p:cNvSpPr txBox="1"/>
          <p:nvPr/>
        </p:nvSpPr>
        <p:spPr>
          <a:xfrm>
            <a:off x="640080" y="4041648"/>
            <a:ext cx="5303520" cy="256032"/>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HOW WE RUN IT ONLINE</a:t>
            </a:r>
            <a:endParaRPr lang="en-US" sz="950" dirty="0"/>
          </a:p>
        </p:txBody>
      </p:sp>
      <p:sp>
        <p:nvSpPr>
          <p:cNvPr id="21" name="Shape 18"/>
          <p:cNvSpPr/>
          <p:nvPr/>
        </p:nvSpPr>
        <p:spPr>
          <a:xfrm>
            <a:off x="658368" y="4407408"/>
            <a:ext cx="274320" cy="274320"/>
          </a:xfrm>
          <a:prstGeom prst="ellipse">
            <a:avLst/>
          </a:prstGeom>
          <a:solidFill>
            <a:srgbClr val="1B3B6F"/>
          </a:solidFill>
          <a:ln w="12700">
            <a:solidFill>
              <a:srgbClr val="1B3B6F"/>
            </a:solidFill>
            <a:prstDash val="solid"/>
          </a:ln>
        </p:spPr>
      </p:sp>
      <p:sp>
        <p:nvSpPr>
          <p:cNvPr id="22" name="Text 19"/>
          <p:cNvSpPr txBox="1"/>
          <p:nvPr/>
        </p:nvSpPr>
        <p:spPr>
          <a:xfrm>
            <a:off x="658368" y="4407408"/>
            <a:ext cx="274320" cy="27432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1</a:t>
            </a:r>
            <a:endParaRPr lang="en-US" sz="1000" dirty="0"/>
          </a:p>
        </p:txBody>
      </p:sp>
      <p:sp>
        <p:nvSpPr>
          <p:cNvPr id="23" name="Text 20"/>
          <p:cNvSpPr txBox="1"/>
          <p:nvPr/>
        </p:nvSpPr>
        <p:spPr>
          <a:xfrm>
            <a:off x="1024128" y="4334256"/>
            <a:ext cx="4983480" cy="457200"/>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Leader: say 4 English words; Speaker answers in Arabic.</a:t>
            </a:r>
            <a:endParaRPr lang="en-US" sz="1150" dirty="0"/>
          </a:p>
        </p:txBody>
      </p:sp>
      <p:sp>
        <p:nvSpPr>
          <p:cNvPr id="24" name="Shape 21"/>
          <p:cNvSpPr/>
          <p:nvPr/>
        </p:nvSpPr>
        <p:spPr>
          <a:xfrm>
            <a:off x="658368" y="4864608"/>
            <a:ext cx="274320" cy="274320"/>
          </a:xfrm>
          <a:prstGeom prst="ellipse">
            <a:avLst/>
          </a:prstGeom>
          <a:solidFill>
            <a:srgbClr val="1B3B6F"/>
          </a:solidFill>
          <a:ln w="12700">
            <a:solidFill>
              <a:srgbClr val="1B3B6F"/>
            </a:solidFill>
            <a:prstDash val="solid"/>
          </a:ln>
        </p:spPr>
      </p:sp>
      <p:sp>
        <p:nvSpPr>
          <p:cNvPr id="25" name="Text 22"/>
          <p:cNvSpPr txBox="1"/>
          <p:nvPr/>
        </p:nvSpPr>
        <p:spPr>
          <a:xfrm>
            <a:off x="658368" y="4864608"/>
            <a:ext cx="274320" cy="27432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2</a:t>
            </a:r>
            <a:endParaRPr lang="en-US" sz="1000" dirty="0"/>
          </a:p>
        </p:txBody>
      </p:sp>
      <p:sp>
        <p:nvSpPr>
          <p:cNvPr id="26" name="Text 23"/>
          <p:cNvSpPr txBox="1"/>
          <p:nvPr/>
        </p:nvSpPr>
        <p:spPr>
          <a:xfrm>
            <a:off x="1024128" y="4791456"/>
            <a:ext cx="4983480" cy="457200"/>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Coach checks the word on the slide.</a:t>
            </a:r>
            <a:endParaRPr lang="en-US" sz="1150" dirty="0"/>
          </a:p>
        </p:txBody>
      </p:sp>
      <p:sp>
        <p:nvSpPr>
          <p:cNvPr id="27" name="Shape 24"/>
          <p:cNvSpPr/>
          <p:nvPr/>
        </p:nvSpPr>
        <p:spPr>
          <a:xfrm>
            <a:off x="658368" y="5321808"/>
            <a:ext cx="274320" cy="274320"/>
          </a:xfrm>
          <a:prstGeom prst="ellipse">
            <a:avLst/>
          </a:prstGeom>
          <a:solidFill>
            <a:srgbClr val="1B3B6F"/>
          </a:solidFill>
          <a:ln w="12700">
            <a:solidFill>
              <a:srgbClr val="1B3B6F"/>
            </a:solidFill>
            <a:prstDash val="solid"/>
          </a:ln>
        </p:spPr>
      </p:sp>
      <p:sp>
        <p:nvSpPr>
          <p:cNvPr id="28" name="Text 25"/>
          <p:cNvSpPr txBox="1"/>
          <p:nvPr/>
        </p:nvSpPr>
        <p:spPr>
          <a:xfrm>
            <a:off x="658368" y="5321808"/>
            <a:ext cx="274320" cy="27432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3</a:t>
            </a:r>
            <a:endParaRPr lang="en-US" sz="1000" dirty="0"/>
          </a:p>
        </p:txBody>
      </p:sp>
      <p:sp>
        <p:nvSpPr>
          <p:cNvPr id="29" name="Text 26"/>
          <p:cNvSpPr txBox="1"/>
          <p:nvPr/>
        </p:nvSpPr>
        <p:spPr>
          <a:xfrm>
            <a:off x="1024128" y="5248656"/>
            <a:ext cx="4983480" cy="457200"/>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Swap roles — new words each time.</a:t>
            </a:r>
            <a:endParaRPr lang="en-US" sz="1150" dirty="0"/>
          </a:p>
        </p:txBody>
      </p:sp>
      <p:sp>
        <p:nvSpPr>
          <p:cNvPr id="30" name="Shape 27"/>
          <p:cNvSpPr/>
          <p:nvPr/>
        </p:nvSpPr>
        <p:spPr>
          <a:xfrm>
            <a:off x="658368" y="5779008"/>
            <a:ext cx="274320" cy="274320"/>
          </a:xfrm>
          <a:prstGeom prst="ellipse">
            <a:avLst/>
          </a:prstGeom>
          <a:solidFill>
            <a:srgbClr val="1B3B6F"/>
          </a:solidFill>
          <a:ln w="12700">
            <a:solidFill>
              <a:srgbClr val="1B3B6F"/>
            </a:solidFill>
            <a:prstDash val="solid"/>
          </a:ln>
        </p:spPr>
      </p:sp>
      <p:sp>
        <p:nvSpPr>
          <p:cNvPr id="31" name="Text 28"/>
          <p:cNvSpPr txBox="1"/>
          <p:nvPr/>
        </p:nvSpPr>
        <p:spPr>
          <a:xfrm>
            <a:off x="658368" y="5779008"/>
            <a:ext cx="274320" cy="27432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4</a:t>
            </a:r>
            <a:endParaRPr lang="en-US" sz="1000" dirty="0"/>
          </a:p>
        </p:txBody>
      </p:sp>
      <p:sp>
        <p:nvSpPr>
          <p:cNvPr id="32" name="Text 29"/>
          <p:cNvSpPr txBox="1"/>
          <p:nvPr/>
        </p:nvSpPr>
        <p:spPr>
          <a:xfrm>
            <a:off x="1024128" y="5705856"/>
            <a:ext cx="4983480" cy="457200"/>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Last round: use each word in a short sentence.</a:t>
            </a:r>
            <a:endParaRPr lang="en-US" sz="1150" dirty="0"/>
          </a:p>
        </p:txBody>
      </p:sp>
      <p:sp>
        <p:nvSpPr>
          <p:cNvPr id="33" name="Shape 30"/>
          <p:cNvSpPr/>
          <p:nvPr/>
        </p:nvSpPr>
        <p:spPr>
          <a:xfrm>
            <a:off x="6355080" y="1810512"/>
            <a:ext cx="5376672" cy="896112"/>
          </a:xfrm>
          <a:prstGeom prst="roundRect">
            <a:avLst>
              <a:gd name="adj" fmla="val 8163"/>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34" name="Shape 31"/>
          <p:cNvSpPr/>
          <p:nvPr/>
        </p:nvSpPr>
        <p:spPr>
          <a:xfrm>
            <a:off x="6473952" y="1901952"/>
            <a:ext cx="1051560" cy="256032"/>
          </a:xfrm>
          <a:prstGeom prst="roundRect">
            <a:avLst>
              <a:gd name="adj" fmla="val 50000"/>
            </a:avLst>
          </a:prstGeom>
          <a:solidFill>
            <a:srgbClr val="2E8B57"/>
          </a:solidFill>
          <a:ln w="12700">
            <a:solidFill>
              <a:srgbClr val="2E8B57"/>
            </a:solidFill>
            <a:prstDash val="solid"/>
          </a:ln>
        </p:spPr>
      </p:sp>
      <p:sp>
        <p:nvSpPr>
          <p:cNvPr id="35" name="Text 32"/>
          <p:cNvSpPr txBox="1"/>
          <p:nvPr/>
        </p:nvSpPr>
        <p:spPr>
          <a:xfrm>
            <a:off x="6473952" y="1901952"/>
            <a:ext cx="1051560" cy="256032"/>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36" name="Text 33"/>
          <p:cNvSpPr txBox="1"/>
          <p:nvPr/>
        </p:nvSpPr>
        <p:spPr>
          <a:xfrm>
            <a:off x="6473952" y="2176272"/>
            <a:ext cx="5120640" cy="475488"/>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Say the Arabic word clearly.</a:t>
            </a:r>
            <a:endParaRPr lang="en-US" sz="1150" dirty="0"/>
          </a:p>
        </p:txBody>
      </p:sp>
      <p:sp>
        <p:nvSpPr>
          <p:cNvPr id="37" name="Shape 34"/>
          <p:cNvSpPr/>
          <p:nvPr/>
        </p:nvSpPr>
        <p:spPr>
          <a:xfrm>
            <a:off x="6355080" y="2816352"/>
            <a:ext cx="5376672" cy="896112"/>
          </a:xfrm>
          <a:prstGeom prst="roundRect">
            <a:avLst>
              <a:gd name="adj" fmla="val 8163"/>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38" name="Shape 35"/>
          <p:cNvSpPr/>
          <p:nvPr/>
        </p:nvSpPr>
        <p:spPr>
          <a:xfrm>
            <a:off x="6473952" y="2907792"/>
            <a:ext cx="1051560" cy="256032"/>
          </a:xfrm>
          <a:prstGeom prst="roundRect">
            <a:avLst>
              <a:gd name="adj" fmla="val 50000"/>
            </a:avLst>
          </a:prstGeom>
          <a:solidFill>
            <a:srgbClr val="C9780A"/>
          </a:solidFill>
          <a:ln w="12700">
            <a:solidFill>
              <a:srgbClr val="C9780A"/>
            </a:solidFill>
            <a:prstDash val="solid"/>
          </a:ln>
        </p:spPr>
      </p:sp>
      <p:sp>
        <p:nvSpPr>
          <p:cNvPr id="39" name="Text 36"/>
          <p:cNvSpPr txBox="1"/>
          <p:nvPr/>
        </p:nvSpPr>
        <p:spPr>
          <a:xfrm>
            <a:off x="6473952" y="2907792"/>
            <a:ext cx="1051560" cy="256032"/>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DEVELOP</a:t>
            </a:r>
            <a:endParaRPr lang="en-US" sz="850" dirty="0"/>
          </a:p>
        </p:txBody>
      </p:sp>
      <p:sp>
        <p:nvSpPr>
          <p:cNvPr id="40" name="Text 37"/>
          <p:cNvSpPr txBox="1"/>
          <p:nvPr/>
        </p:nvSpPr>
        <p:spPr>
          <a:xfrm>
            <a:off x="6473952" y="3182112"/>
            <a:ext cx="5120640" cy="475488"/>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Say the word, then a short sentence: </a:t>
            </a:r>
            <a:pPr algn="l" indent="0" marL="0">
              <a:buNone/>
            </a:pPr>
            <a:r>
              <a:rPr lang="ar-SA" altLang="en-US" sz="1500" dirty="0">
                <a:solidFill>
                  <a:srgbClr val="1F2A37"/>
                </a:solidFill>
                <a:latin typeface="Amiri" pitchFamily="2" charset="-78"/>
                <a:ea typeface="Amiri" pitchFamily="2" charset="-78"/>
                <a:cs typeface="Amiri" pitchFamily="2" charset="-78"/>
              </a:rPr>
              <a:t>أَنَا … / عِنْدِي … / هٰذَا</a:t>
            </a:r>
            <a:pPr algn="l" indent="0" marL="0">
              <a:buNone/>
            </a:pPr>
            <a:r>
              <a:rPr lang="en-US" sz="1150" dirty="0">
                <a:solidFill>
                  <a:srgbClr val="1F2A37"/>
                </a:solidFill>
                <a:latin typeface="Calibri" pitchFamily="34" charset="0"/>
                <a:cs typeface="Amiri" pitchFamily="2" charset="-78"/>
              </a:rPr>
              <a:t> …</a:t>
            </a:r>
            <a:endParaRPr lang="en-US" sz="1150" dirty="0"/>
          </a:p>
        </p:txBody>
      </p:sp>
      <p:sp>
        <p:nvSpPr>
          <p:cNvPr id="41" name="Shape 38"/>
          <p:cNvSpPr/>
          <p:nvPr/>
        </p:nvSpPr>
        <p:spPr>
          <a:xfrm>
            <a:off x="6355080" y="3822192"/>
            <a:ext cx="5376672" cy="896112"/>
          </a:xfrm>
          <a:prstGeom prst="roundRect">
            <a:avLst>
              <a:gd name="adj" fmla="val 8163"/>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6473952" y="3913632"/>
            <a:ext cx="1051560" cy="256032"/>
          </a:xfrm>
          <a:prstGeom prst="roundRect">
            <a:avLst>
              <a:gd name="adj" fmla="val 50000"/>
            </a:avLst>
          </a:prstGeom>
          <a:solidFill>
            <a:srgbClr val="B83227"/>
          </a:solidFill>
          <a:ln w="12700">
            <a:solidFill>
              <a:srgbClr val="B83227"/>
            </a:solidFill>
            <a:prstDash val="solid"/>
          </a:ln>
        </p:spPr>
      </p:sp>
      <p:sp>
        <p:nvSpPr>
          <p:cNvPr id="43" name="Text 40"/>
          <p:cNvSpPr txBox="1"/>
          <p:nvPr/>
        </p:nvSpPr>
        <p:spPr>
          <a:xfrm>
            <a:off x="6473952" y="3913632"/>
            <a:ext cx="1051560" cy="256032"/>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STRETCH</a:t>
            </a:r>
            <a:endParaRPr lang="en-US" sz="850" dirty="0"/>
          </a:p>
        </p:txBody>
      </p:sp>
      <p:sp>
        <p:nvSpPr>
          <p:cNvPr id="44" name="Text 41"/>
          <p:cNvSpPr txBox="1"/>
          <p:nvPr/>
        </p:nvSpPr>
        <p:spPr>
          <a:xfrm>
            <a:off x="6473952" y="4187952"/>
            <a:ext cx="5120640" cy="475488"/>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Give the feminine or plural form too, then a sentence with two words.</a:t>
            </a:r>
            <a:endParaRPr lang="en-US" sz="1150" dirty="0"/>
          </a:p>
        </p:txBody>
      </p:sp>
      <p:sp>
        <p:nvSpPr>
          <p:cNvPr id="45" name="Shape 42"/>
          <p:cNvSpPr/>
          <p:nvPr/>
        </p:nvSpPr>
        <p:spPr>
          <a:xfrm>
            <a:off x="6355080" y="4828032"/>
            <a:ext cx="5376672" cy="1481328"/>
          </a:xfrm>
          <a:prstGeom prst="roundRect">
            <a:avLst>
              <a:gd name="adj" fmla="val 4938"/>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Text 43"/>
          <p:cNvSpPr txBox="1"/>
          <p:nvPr/>
        </p:nvSpPr>
        <p:spPr>
          <a:xfrm>
            <a:off x="6492240" y="4882896"/>
            <a:ext cx="2743200" cy="237744"/>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USEFUL LANGUAGE</a:t>
            </a:r>
            <a:endParaRPr lang="en-US" sz="950" dirty="0"/>
          </a:p>
        </p:txBody>
      </p:sp>
      <p:sp>
        <p:nvSpPr>
          <p:cNvPr id="47" name="Text 44"/>
          <p:cNvSpPr txBox="1"/>
          <p:nvPr/>
        </p:nvSpPr>
        <p:spPr>
          <a:xfrm>
            <a:off x="8732520" y="5138928"/>
            <a:ext cx="2880360" cy="283464"/>
          </a:xfrm>
          <a:prstGeom prst="rect">
            <a:avLst/>
          </a:prstGeom>
          <a:noFill/>
          <a:ln/>
        </p:spPr>
        <p:txBody>
          <a:bodyPr wrap="square" lIns="0" tIns="0" rIns="0" bIns="0" rtlCol="0" anchor="ctr"/>
          <a:lstStyle/>
          <a:p>
            <a:pPr rtl="1" algn="r" indent="0" marL="0">
              <a:buNone/>
            </a:pPr>
            <a:r>
              <a:rPr lang="ar-SA" altLang="en-US" sz="1300" b="1" dirty="0">
                <a:solidFill>
                  <a:srgbClr val="1B3B6F"/>
                </a:solidFill>
                <a:latin typeface="Amiri" pitchFamily="2" charset="-78"/>
                <a:ea typeface="Amiri" pitchFamily="2" charset="-78"/>
                <a:cs typeface="Amiri" pitchFamily="2" charset="-78"/>
              </a:rPr>
              <a:t>دَوْرُكَ! / دَوْرُكِ!</a:t>
            </a:r>
            <a:endParaRPr lang="ar-SA" sz="1300" dirty="0"/>
          </a:p>
        </p:txBody>
      </p:sp>
      <p:sp>
        <p:nvSpPr>
          <p:cNvPr id="48" name="Text 45"/>
          <p:cNvSpPr txBox="1"/>
          <p:nvPr/>
        </p:nvSpPr>
        <p:spPr>
          <a:xfrm>
            <a:off x="6492240" y="5138928"/>
            <a:ext cx="2194560" cy="283464"/>
          </a:xfrm>
          <a:prstGeom prst="rect">
            <a:avLst/>
          </a:prstGeom>
          <a:noFill/>
          <a:ln/>
        </p:spPr>
        <p:txBody>
          <a:bodyPr wrap="square" lIns="0" tIns="0" rIns="0" bIns="0" rtlCol="0" anchor="ctr"/>
          <a:lstStyle/>
          <a:p>
            <a:pPr algn="l" indent="0" marL="0">
              <a:buNone/>
            </a:pPr>
            <a:r>
              <a:rPr lang="en-US" sz="1000" i="1" dirty="0">
                <a:solidFill>
                  <a:srgbClr val="5A6472"/>
                </a:solidFill>
                <a:latin typeface="Calibri" pitchFamily="34" charset="0"/>
                <a:cs typeface="Amiri" pitchFamily="2" charset="-78"/>
              </a:rPr>
              <a:t>your turn! (m. / f.)</a:t>
            </a:r>
            <a:endParaRPr lang="en-US" sz="1000" dirty="0"/>
          </a:p>
        </p:txBody>
      </p:sp>
      <p:sp>
        <p:nvSpPr>
          <p:cNvPr id="49" name="Text 46"/>
          <p:cNvSpPr txBox="1"/>
          <p:nvPr/>
        </p:nvSpPr>
        <p:spPr>
          <a:xfrm>
            <a:off x="8732520" y="5422392"/>
            <a:ext cx="2880360" cy="283464"/>
          </a:xfrm>
          <a:prstGeom prst="rect">
            <a:avLst/>
          </a:prstGeom>
          <a:noFill/>
          <a:ln/>
        </p:spPr>
        <p:txBody>
          <a:bodyPr wrap="square" lIns="0" tIns="0" rIns="0" bIns="0" rtlCol="0" anchor="ctr"/>
          <a:lstStyle/>
          <a:p>
            <a:pPr rtl="1" algn="r" indent="0" marL="0">
              <a:buNone/>
            </a:pPr>
            <a:r>
              <a:rPr lang="ar-SA" altLang="en-US" sz="1300" b="1" dirty="0">
                <a:solidFill>
                  <a:srgbClr val="1B3B6F"/>
                </a:solidFill>
                <a:latin typeface="Amiri" pitchFamily="2" charset="-78"/>
                <a:ea typeface="Amiri" pitchFamily="2" charset="-78"/>
                <a:cs typeface="Amiri" pitchFamily="2" charset="-78"/>
              </a:rPr>
              <a:t>أَعِدْ مِنْ فَضْلِكَ / أَعِيدِي</a:t>
            </a:r>
            <a:endParaRPr lang="ar-SA" sz="1300" dirty="0"/>
          </a:p>
        </p:txBody>
      </p:sp>
      <p:sp>
        <p:nvSpPr>
          <p:cNvPr id="50" name="Text 47"/>
          <p:cNvSpPr txBox="1"/>
          <p:nvPr/>
        </p:nvSpPr>
        <p:spPr>
          <a:xfrm>
            <a:off x="6492240" y="5422392"/>
            <a:ext cx="2194560" cy="283464"/>
          </a:xfrm>
          <a:prstGeom prst="rect">
            <a:avLst/>
          </a:prstGeom>
          <a:noFill/>
          <a:ln/>
        </p:spPr>
        <p:txBody>
          <a:bodyPr wrap="square" lIns="0" tIns="0" rIns="0" bIns="0" rtlCol="0" anchor="ctr"/>
          <a:lstStyle/>
          <a:p>
            <a:pPr algn="l" indent="0" marL="0">
              <a:buNone/>
            </a:pPr>
            <a:r>
              <a:rPr lang="en-US" sz="1000" i="1" dirty="0">
                <a:solidFill>
                  <a:srgbClr val="5A6472"/>
                </a:solidFill>
                <a:latin typeface="Calibri" pitchFamily="34" charset="0"/>
                <a:cs typeface="Amiri" pitchFamily="2" charset="-78"/>
              </a:rPr>
              <a:t>repeat please (m. / f.)</a:t>
            </a:r>
            <a:endParaRPr lang="en-US" sz="1000" dirty="0"/>
          </a:p>
        </p:txBody>
      </p:sp>
      <p:sp>
        <p:nvSpPr>
          <p:cNvPr id="51" name="Text 48"/>
          <p:cNvSpPr txBox="1"/>
          <p:nvPr/>
        </p:nvSpPr>
        <p:spPr>
          <a:xfrm>
            <a:off x="8732520" y="5705856"/>
            <a:ext cx="2880360" cy="283464"/>
          </a:xfrm>
          <a:prstGeom prst="rect">
            <a:avLst/>
          </a:prstGeom>
          <a:noFill/>
          <a:ln/>
        </p:spPr>
        <p:txBody>
          <a:bodyPr wrap="square" lIns="0" tIns="0" rIns="0" bIns="0" rtlCol="0" anchor="ctr"/>
          <a:lstStyle/>
          <a:p>
            <a:pPr rtl="1" algn="r" indent="0" marL="0">
              <a:buNone/>
            </a:pPr>
            <a:r>
              <a:rPr lang="ar-SA" altLang="en-US" sz="1300" b="1" dirty="0">
                <a:solidFill>
                  <a:srgbClr val="1B3B6F"/>
                </a:solidFill>
                <a:latin typeface="Amiri" pitchFamily="2" charset="-78"/>
                <a:ea typeface="Amiri" pitchFamily="2" charset="-78"/>
                <a:cs typeface="Amiri" pitchFamily="2" charset="-78"/>
              </a:rPr>
              <a:t>أَحْسَنْتَ! / أَحْسَنْتِ!</a:t>
            </a:r>
            <a:endParaRPr lang="ar-SA" sz="1300" dirty="0"/>
          </a:p>
        </p:txBody>
      </p:sp>
      <p:sp>
        <p:nvSpPr>
          <p:cNvPr id="52" name="Text 49"/>
          <p:cNvSpPr txBox="1"/>
          <p:nvPr/>
        </p:nvSpPr>
        <p:spPr>
          <a:xfrm>
            <a:off x="6492240" y="5705856"/>
            <a:ext cx="2194560" cy="283464"/>
          </a:xfrm>
          <a:prstGeom prst="rect">
            <a:avLst/>
          </a:prstGeom>
          <a:noFill/>
          <a:ln/>
        </p:spPr>
        <p:txBody>
          <a:bodyPr wrap="square" lIns="0" tIns="0" rIns="0" bIns="0" rtlCol="0" anchor="ctr"/>
          <a:lstStyle/>
          <a:p>
            <a:pPr algn="l" indent="0" marL="0">
              <a:buNone/>
            </a:pPr>
            <a:r>
              <a:rPr lang="en-US" sz="1000" i="1" dirty="0">
                <a:solidFill>
                  <a:srgbClr val="5A6472"/>
                </a:solidFill>
                <a:latin typeface="Calibri" pitchFamily="34" charset="0"/>
                <a:cs typeface="Amiri" pitchFamily="2" charset="-78"/>
              </a:rPr>
              <a:t>well done! (m. / f.)</a:t>
            </a:r>
            <a:endParaRPr lang="en-US" sz="1000" dirty="0"/>
          </a:p>
        </p:txBody>
      </p:sp>
      <p:sp>
        <p:nvSpPr>
          <p:cNvPr id="53" name="Text 50"/>
          <p:cNvSpPr txBox="1"/>
          <p:nvPr/>
        </p:nvSpPr>
        <p:spPr>
          <a:xfrm>
            <a:off x="8732520" y="5989320"/>
            <a:ext cx="2880360" cy="283464"/>
          </a:xfrm>
          <a:prstGeom prst="rect">
            <a:avLst/>
          </a:prstGeom>
          <a:noFill/>
          <a:ln/>
        </p:spPr>
        <p:txBody>
          <a:bodyPr wrap="square" lIns="0" tIns="0" rIns="0" bIns="0" rtlCol="0" anchor="ctr"/>
          <a:lstStyle/>
          <a:p>
            <a:pPr rtl="1" algn="r" indent="0" marL="0">
              <a:buNone/>
            </a:pPr>
            <a:r>
              <a:rPr lang="ar-SA" altLang="en-US" sz="1300" b="1" dirty="0">
                <a:solidFill>
                  <a:srgbClr val="1B3B6F"/>
                </a:solidFill>
                <a:latin typeface="Amiri" pitchFamily="2" charset="-78"/>
                <a:ea typeface="Amiri" pitchFamily="2" charset="-78"/>
                <a:cs typeface="Amiri" pitchFamily="2" charset="-78"/>
              </a:rPr>
              <a:t>بِبُطْءٍ مِنْ فَضْلِكَ</a:t>
            </a:r>
            <a:endParaRPr lang="ar-SA" sz="1300" dirty="0"/>
          </a:p>
        </p:txBody>
      </p:sp>
      <p:sp>
        <p:nvSpPr>
          <p:cNvPr id="54" name="Text 51"/>
          <p:cNvSpPr txBox="1"/>
          <p:nvPr/>
        </p:nvSpPr>
        <p:spPr>
          <a:xfrm>
            <a:off x="6492240" y="5989320"/>
            <a:ext cx="2194560" cy="283464"/>
          </a:xfrm>
          <a:prstGeom prst="rect">
            <a:avLst/>
          </a:prstGeom>
          <a:noFill/>
          <a:ln/>
        </p:spPr>
        <p:txBody>
          <a:bodyPr wrap="square" lIns="0" tIns="0" rIns="0" bIns="0" rtlCol="0" anchor="ctr"/>
          <a:lstStyle/>
          <a:p>
            <a:pPr algn="l" indent="0" marL="0">
              <a:buNone/>
            </a:pPr>
            <a:r>
              <a:rPr lang="en-US" sz="1000" i="1" dirty="0">
                <a:solidFill>
                  <a:srgbClr val="5A6472"/>
                </a:solidFill>
                <a:latin typeface="Calibri" pitchFamily="34" charset="0"/>
                <a:cs typeface="Amiri" pitchFamily="2" charset="-78"/>
              </a:rPr>
              <a:t>slowly, please</a:t>
            </a:r>
            <a:endParaRPr lang="en-US" sz="1000" dirty="0"/>
          </a:p>
        </p:txBody>
      </p:sp>
      <p:sp>
        <p:nvSpPr>
          <p:cNvPr id="55" name="Text 5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5 / 22</a:t>
            </a:r>
            <a:endParaRPr lang="en-US" sz="8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D2-L12 · Speaking + writing practice room</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STEP 1 · WORD BANK (1) · FROM THE LESSON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D2 key language (1)</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كَلِمَاتُ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D2 · People, Relationships and Style · D2-L12 · practice room</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a:t>
            </a:r>
            <a:endParaRPr lang="en-US" sz="1000" dirty="0"/>
          </a:p>
        </p:txBody>
      </p:sp>
      <p:sp>
        <p:nvSpPr>
          <p:cNvPr id="18" name="Shape 15"/>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0" name="Text 17"/>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صَبُورٌ · صَبُورَةٌ</a:t>
            </a:r>
            <a:endParaRPr lang="ar-SA" sz="3000" dirty="0"/>
          </a:p>
        </p:txBody>
      </p:sp>
      <p:sp>
        <p:nvSpPr>
          <p:cNvPr id="21" name="Text 18"/>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patient (m. · f.)</a:t>
            </a:r>
            <a:endParaRPr lang="en-US" sz="1350" dirty="0"/>
          </a:p>
          <a:p>
            <a:pPr indent="0" marL="0">
              <a:buNone/>
            </a:pPr>
            <a:r>
              <a:rPr lang="en-US" sz="1100" i="1" dirty="0">
                <a:solidFill>
                  <a:srgbClr val="5A6472"/>
                </a:solidFill>
                <a:latin typeface="Calibri" pitchFamily="34" charset="0"/>
                <a:cs typeface="Amiri" pitchFamily="2" charset="-78"/>
              </a:rPr>
              <a:t>ṣa-bū-run · ṣa-bū-ra-tun</a:t>
            </a:r>
            <a:endParaRPr lang="en-US" sz="1350" dirty="0"/>
          </a:p>
        </p:txBody>
      </p:sp>
      <p:sp>
        <p:nvSpPr>
          <p:cNvPr id="22" name="Shape 19"/>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4389120" y="1920240"/>
            <a:ext cx="310896" cy="310896"/>
          </a:xfrm>
          <a:prstGeom prst="ellipse">
            <a:avLst/>
          </a:prstGeom>
          <a:solidFill>
            <a:srgbClr val="F4F1EA"/>
          </a:solidFill>
          <a:ln w="12700">
            <a:solidFill>
              <a:srgbClr val="F4F1EA"/>
            </a:solidFill>
            <a:prstDash val="solid"/>
          </a:ln>
        </p:spPr>
      </p:sp>
      <p:sp>
        <p:nvSpPr>
          <p:cNvPr id="24" name="Text 21"/>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a:t>
            </a:r>
            <a:endParaRPr lang="en-US" sz="1000" dirty="0"/>
          </a:p>
        </p:txBody>
      </p:sp>
      <p:sp>
        <p:nvSpPr>
          <p:cNvPr id="25" name="Shape 22"/>
          <p:cNvSpPr/>
          <p:nvPr/>
        </p:nvSpPr>
        <p:spPr>
          <a:xfrm>
            <a:off x="7050024" y="1938528"/>
            <a:ext cx="731520" cy="256032"/>
          </a:xfrm>
          <a:prstGeom prst="roundRect">
            <a:avLst>
              <a:gd name="adj" fmla="val 50000"/>
            </a:avLst>
          </a:prstGeom>
          <a:solidFill>
            <a:srgbClr val="2E8B57"/>
          </a:solidFill>
          <a:ln w="12700">
            <a:solidFill>
              <a:srgbClr val="2E8B57"/>
            </a:solidFill>
            <a:prstDash val="solid"/>
          </a:ln>
        </p:spPr>
      </p:sp>
      <p:sp>
        <p:nvSpPr>
          <p:cNvPr id="26" name="Text 23"/>
          <p:cNvSpPr txBox="1"/>
          <p:nvPr/>
        </p:nvSpPr>
        <p:spPr>
          <a:xfrm>
            <a:off x="7050024"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7" name="Text 24"/>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لَيْسَ أَنَانِيًّا</a:t>
            </a:r>
            <a:endParaRPr lang="ar-SA" sz="3000" dirty="0"/>
          </a:p>
        </p:txBody>
      </p:sp>
      <p:sp>
        <p:nvSpPr>
          <p:cNvPr id="28" name="Text 25"/>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he isn’t selfish</a:t>
            </a:r>
            <a:endParaRPr lang="en-US" sz="1350" dirty="0"/>
          </a:p>
          <a:p>
            <a:pPr indent="0" marL="0">
              <a:buNone/>
            </a:pPr>
            <a:r>
              <a:rPr lang="en-US" sz="1100" i="1" dirty="0">
                <a:solidFill>
                  <a:srgbClr val="5A6472"/>
                </a:solidFill>
                <a:latin typeface="Calibri" pitchFamily="34" charset="0"/>
                <a:cs typeface="Amiri" pitchFamily="2" charset="-78"/>
              </a:rPr>
              <a:t>lay-sa a-nā-niy-yan</a:t>
            </a:r>
            <a:endParaRPr lang="en-US" sz="1350" dirty="0"/>
          </a:p>
        </p:txBody>
      </p:sp>
      <p:sp>
        <p:nvSpPr>
          <p:cNvPr id="29" name="Shape 26"/>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Shape 27"/>
          <p:cNvSpPr/>
          <p:nvPr/>
        </p:nvSpPr>
        <p:spPr>
          <a:xfrm>
            <a:off x="566928" y="1920240"/>
            <a:ext cx="310896" cy="310896"/>
          </a:xfrm>
          <a:prstGeom prst="ellipse">
            <a:avLst/>
          </a:prstGeom>
          <a:solidFill>
            <a:srgbClr val="F4F1EA"/>
          </a:solidFill>
          <a:ln w="12700">
            <a:solidFill>
              <a:srgbClr val="F4F1EA"/>
            </a:solidFill>
            <a:prstDash val="solid"/>
          </a:ln>
        </p:spPr>
      </p:sp>
      <p:sp>
        <p:nvSpPr>
          <p:cNvPr id="31" name="Text 28"/>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3</a:t>
            </a:r>
            <a:endParaRPr lang="en-US" sz="1000" dirty="0"/>
          </a:p>
        </p:txBody>
      </p:sp>
      <p:sp>
        <p:nvSpPr>
          <p:cNvPr id="32" name="Shape 29"/>
          <p:cNvSpPr/>
          <p:nvPr/>
        </p:nvSpPr>
        <p:spPr>
          <a:xfrm>
            <a:off x="3227832" y="1938528"/>
            <a:ext cx="731520" cy="256032"/>
          </a:xfrm>
          <a:prstGeom prst="roundRect">
            <a:avLst>
              <a:gd name="adj" fmla="val 50000"/>
            </a:avLst>
          </a:prstGeom>
          <a:solidFill>
            <a:srgbClr val="2E8B57"/>
          </a:solidFill>
          <a:ln w="12700">
            <a:solidFill>
              <a:srgbClr val="2E8B57"/>
            </a:solidFill>
            <a:prstDash val="solid"/>
          </a:ln>
        </p:spPr>
      </p:sp>
      <p:sp>
        <p:nvSpPr>
          <p:cNvPr id="33" name="Text 30"/>
          <p:cNvSpPr txBox="1"/>
          <p:nvPr/>
        </p:nvSpPr>
        <p:spPr>
          <a:xfrm>
            <a:off x="3227832"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34" name="Text 31"/>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أَتَفَاهَمُ مَعَ</a:t>
            </a:r>
            <a:endParaRPr lang="ar-SA" sz="3000" dirty="0"/>
          </a:p>
        </p:txBody>
      </p:sp>
      <p:sp>
        <p:nvSpPr>
          <p:cNvPr id="35" name="Text 32"/>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I get on with</a:t>
            </a:r>
            <a:endParaRPr lang="en-US" sz="1350" dirty="0"/>
          </a:p>
          <a:p>
            <a:pPr indent="0" marL="0">
              <a:buNone/>
            </a:pPr>
            <a:r>
              <a:rPr lang="en-US" sz="1100" i="1" dirty="0">
                <a:solidFill>
                  <a:srgbClr val="5A6472"/>
                </a:solidFill>
                <a:latin typeface="Calibri" pitchFamily="34" charset="0"/>
                <a:cs typeface="Amiri" pitchFamily="2" charset="-78"/>
              </a:rPr>
              <a:t>a-ta-fā-ha-mu ma-ʿa</a:t>
            </a:r>
            <a:endParaRPr lang="en-US" sz="1350" dirty="0"/>
          </a:p>
        </p:txBody>
      </p:sp>
      <p:sp>
        <p:nvSpPr>
          <p:cNvPr id="36" name="Shape 33"/>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7" name="Shape 34"/>
          <p:cNvSpPr/>
          <p:nvPr/>
        </p:nvSpPr>
        <p:spPr>
          <a:xfrm>
            <a:off x="8211312" y="4261104"/>
            <a:ext cx="310896" cy="310896"/>
          </a:xfrm>
          <a:prstGeom prst="ellipse">
            <a:avLst/>
          </a:prstGeom>
          <a:solidFill>
            <a:srgbClr val="F4F1EA"/>
          </a:solidFill>
          <a:ln w="12700">
            <a:solidFill>
              <a:srgbClr val="F4F1EA"/>
            </a:solidFill>
            <a:prstDash val="solid"/>
          </a:ln>
        </p:spPr>
      </p:sp>
      <p:sp>
        <p:nvSpPr>
          <p:cNvPr id="38" name="Text 35"/>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4</a:t>
            </a:r>
            <a:endParaRPr lang="en-US" sz="1000" dirty="0"/>
          </a:p>
        </p:txBody>
      </p:sp>
      <p:sp>
        <p:nvSpPr>
          <p:cNvPr id="39" name="Shape 36"/>
          <p:cNvSpPr/>
          <p:nvPr/>
        </p:nvSpPr>
        <p:spPr>
          <a:xfrm>
            <a:off x="10872216" y="4279392"/>
            <a:ext cx="731520" cy="256032"/>
          </a:xfrm>
          <a:prstGeom prst="roundRect">
            <a:avLst>
              <a:gd name="adj" fmla="val 50000"/>
            </a:avLst>
          </a:prstGeom>
          <a:solidFill>
            <a:srgbClr val="2E8B57"/>
          </a:solidFill>
          <a:ln w="12700">
            <a:solidFill>
              <a:srgbClr val="2E8B57"/>
            </a:solidFill>
            <a:prstDash val="solid"/>
          </a:ln>
        </p:spPr>
      </p:sp>
      <p:sp>
        <p:nvSpPr>
          <p:cNvPr id="40" name="Text 37"/>
          <p:cNvSpPr txBox="1"/>
          <p:nvPr/>
        </p:nvSpPr>
        <p:spPr>
          <a:xfrm>
            <a:off x="10872216"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41" name="Text 38"/>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أَثِقُ بِهِ · بِهَا</a:t>
            </a:r>
            <a:endParaRPr lang="ar-SA" sz="3000" dirty="0"/>
          </a:p>
        </p:txBody>
      </p:sp>
      <p:sp>
        <p:nvSpPr>
          <p:cNvPr id="42" name="Text 39"/>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I trust him · her</a:t>
            </a:r>
            <a:endParaRPr lang="en-US" sz="1350" dirty="0"/>
          </a:p>
          <a:p>
            <a:pPr indent="0" marL="0">
              <a:buNone/>
            </a:pPr>
            <a:r>
              <a:rPr lang="en-US" sz="1100" i="1" dirty="0">
                <a:solidFill>
                  <a:srgbClr val="5A6472"/>
                </a:solidFill>
                <a:latin typeface="Calibri" pitchFamily="34" charset="0"/>
                <a:cs typeface="Amiri" pitchFamily="2" charset="-78"/>
              </a:rPr>
              <a:t>a-thi-qu bi-hi · bi-hā</a:t>
            </a:r>
            <a:endParaRPr lang="en-US" sz="1350" dirty="0"/>
          </a:p>
        </p:txBody>
      </p:sp>
      <p:sp>
        <p:nvSpPr>
          <p:cNvPr id="43" name="Shape 40"/>
          <p:cNvSpPr/>
          <p:nvPr/>
        </p:nvSpPr>
        <p:spPr>
          <a:xfrm>
            <a:off x="4279392"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4" name="Shape 41"/>
          <p:cNvSpPr/>
          <p:nvPr/>
        </p:nvSpPr>
        <p:spPr>
          <a:xfrm>
            <a:off x="4389120" y="4261104"/>
            <a:ext cx="310896" cy="310896"/>
          </a:xfrm>
          <a:prstGeom prst="ellipse">
            <a:avLst/>
          </a:prstGeom>
          <a:solidFill>
            <a:srgbClr val="F4F1EA"/>
          </a:solidFill>
          <a:ln w="12700">
            <a:solidFill>
              <a:srgbClr val="F4F1EA"/>
            </a:solidFill>
            <a:prstDash val="solid"/>
          </a:ln>
        </p:spPr>
      </p:sp>
      <p:sp>
        <p:nvSpPr>
          <p:cNvPr id="45" name="Text 42"/>
          <p:cNvSpPr txBox="1"/>
          <p:nvPr/>
        </p:nvSpPr>
        <p:spPr>
          <a:xfrm>
            <a:off x="4389120"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5</a:t>
            </a:r>
            <a:endParaRPr lang="en-US" sz="1000" dirty="0"/>
          </a:p>
        </p:txBody>
      </p:sp>
      <p:sp>
        <p:nvSpPr>
          <p:cNvPr id="46" name="Shape 43"/>
          <p:cNvSpPr/>
          <p:nvPr/>
        </p:nvSpPr>
        <p:spPr>
          <a:xfrm>
            <a:off x="7050024" y="4279392"/>
            <a:ext cx="731520" cy="256032"/>
          </a:xfrm>
          <a:prstGeom prst="roundRect">
            <a:avLst>
              <a:gd name="adj" fmla="val 50000"/>
            </a:avLst>
          </a:prstGeom>
          <a:solidFill>
            <a:srgbClr val="2E8B57"/>
          </a:solidFill>
          <a:ln w="12700">
            <a:solidFill>
              <a:srgbClr val="2E8B57"/>
            </a:solidFill>
            <a:prstDash val="solid"/>
          </a:ln>
        </p:spPr>
      </p:sp>
      <p:sp>
        <p:nvSpPr>
          <p:cNvPr id="47" name="Text 44"/>
          <p:cNvSpPr txBox="1"/>
          <p:nvPr/>
        </p:nvSpPr>
        <p:spPr>
          <a:xfrm>
            <a:off x="7050024"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48" name="Text 45"/>
          <p:cNvSpPr txBox="1"/>
          <p:nvPr/>
        </p:nvSpPr>
        <p:spPr>
          <a:xfrm>
            <a:off x="4389120"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يَدْعَمُنِي · تَدْعَمُنِي</a:t>
            </a:r>
            <a:endParaRPr lang="ar-SA" sz="3000" dirty="0"/>
          </a:p>
        </p:txBody>
      </p:sp>
      <p:sp>
        <p:nvSpPr>
          <p:cNvPr id="49" name="Text 46"/>
          <p:cNvSpPr txBox="1"/>
          <p:nvPr/>
        </p:nvSpPr>
        <p:spPr>
          <a:xfrm>
            <a:off x="4416552"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he · she supports me</a:t>
            </a:r>
            <a:endParaRPr lang="en-US" sz="1350" dirty="0"/>
          </a:p>
          <a:p>
            <a:pPr indent="0" marL="0">
              <a:buNone/>
            </a:pPr>
            <a:r>
              <a:rPr lang="en-US" sz="1100" i="1" dirty="0">
                <a:solidFill>
                  <a:srgbClr val="5A6472"/>
                </a:solidFill>
                <a:latin typeface="Calibri" pitchFamily="34" charset="0"/>
                <a:cs typeface="Amiri" pitchFamily="2" charset="-78"/>
              </a:rPr>
              <a:t>yad-ʿa-mu-nī · tad-ʿa-mu-nī</a:t>
            </a:r>
            <a:endParaRPr lang="en-US" sz="1350" dirty="0"/>
          </a:p>
        </p:txBody>
      </p:sp>
      <p:sp>
        <p:nvSpPr>
          <p:cNvPr id="50" name="Shape 47"/>
          <p:cNvSpPr/>
          <p:nvPr/>
        </p:nvSpPr>
        <p:spPr>
          <a:xfrm>
            <a:off x="457200"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1" name="Shape 48"/>
          <p:cNvSpPr/>
          <p:nvPr/>
        </p:nvSpPr>
        <p:spPr>
          <a:xfrm>
            <a:off x="566928" y="4261104"/>
            <a:ext cx="310896" cy="310896"/>
          </a:xfrm>
          <a:prstGeom prst="ellipse">
            <a:avLst/>
          </a:prstGeom>
          <a:solidFill>
            <a:srgbClr val="F4F1EA"/>
          </a:solidFill>
          <a:ln w="12700">
            <a:solidFill>
              <a:srgbClr val="F4F1EA"/>
            </a:solidFill>
            <a:prstDash val="solid"/>
          </a:ln>
        </p:spPr>
      </p:sp>
      <p:sp>
        <p:nvSpPr>
          <p:cNvPr id="52" name="Text 49"/>
          <p:cNvSpPr txBox="1"/>
          <p:nvPr/>
        </p:nvSpPr>
        <p:spPr>
          <a:xfrm>
            <a:off x="566928"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6</a:t>
            </a:r>
            <a:endParaRPr lang="en-US" sz="1000" dirty="0"/>
          </a:p>
        </p:txBody>
      </p:sp>
      <p:sp>
        <p:nvSpPr>
          <p:cNvPr id="53" name="Shape 50"/>
          <p:cNvSpPr/>
          <p:nvPr/>
        </p:nvSpPr>
        <p:spPr>
          <a:xfrm>
            <a:off x="3227832" y="4279392"/>
            <a:ext cx="731520" cy="256032"/>
          </a:xfrm>
          <a:prstGeom prst="roundRect">
            <a:avLst>
              <a:gd name="adj" fmla="val 50000"/>
            </a:avLst>
          </a:prstGeom>
          <a:solidFill>
            <a:srgbClr val="2E8B57"/>
          </a:solidFill>
          <a:ln w="12700">
            <a:solidFill>
              <a:srgbClr val="2E8B57"/>
            </a:solidFill>
            <a:prstDash val="solid"/>
          </a:ln>
        </p:spPr>
      </p:sp>
      <p:sp>
        <p:nvSpPr>
          <p:cNvPr id="54" name="Text 51"/>
          <p:cNvSpPr txBox="1"/>
          <p:nvPr/>
        </p:nvSpPr>
        <p:spPr>
          <a:xfrm>
            <a:off x="3227832"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55" name="Text 52"/>
          <p:cNvSpPr txBox="1"/>
          <p:nvPr/>
        </p:nvSpPr>
        <p:spPr>
          <a:xfrm>
            <a:off x="566928"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هٰذِهِ السُّتْرَةُ الزَّرْقَاءُ</a:t>
            </a:r>
            <a:endParaRPr lang="ar-SA" sz="3000" dirty="0"/>
          </a:p>
        </p:txBody>
      </p:sp>
      <p:sp>
        <p:nvSpPr>
          <p:cNvPr id="56" name="Text 53"/>
          <p:cNvSpPr txBox="1"/>
          <p:nvPr/>
        </p:nvSpPr>
        <p:spPr>
          <a:xfrm>
            <a:off x="594360"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this blue jacket</a:t>
            </a:r>
            <a:endParaRPr lang="en-US" sz="1350" dirty="0"/>
          </a:p>
          <a:p>
            <a:pPr indent="0" marL="0">
              <a:buNone/>
            </a:pPr>
            <a:r>
              <a:rPr lang="en-US" sz="1100" i="1" dirty="0">
                <a:solidFill>
                  <a:srgbClr val="5A6472"/>
                </a:solidFill>
                <a:latin typeface="Calibri" pitchFamily="34" charset="0"/>
                <a:cs typeface="Amiri" pitchFamily="2" charset="-78"/>
              </a:rPr>
              <a:t>hā-dhi-hi as-sut-ra-tu az-zar-qā-ʾu</a:t>
            </a:r>
            <a:endParaRPr lang="en-US" sz="1350" dirty="0"/>
          </a:p>
        </p:txBody>
      </p:sp>
      <p:sp>
        <p:nvSpPr>
          <p:cNvPr id="57" name="Text 5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6 / 22</a:t>
            </a:r>
            <a:endParaRPr lang="en-US" sz="8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D2-L12 · Speaking + writing practice room</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STEP 1 · WORD BANK (2) · FROM THE LESSON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D2 key language (2)</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كَلِمَاتُ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D2 · People, Relationships and Style · D2-L12 · practice room</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7</a:t>
            </a:r>
            <a:endParaRPr lang="en-US" sz="1000" dirty="0"/>
          </a:p>
        </p:txBody>
      </p:sp>
      <p:sp>
        <p:nvSpPr>
          <p:cNvPr id="18" name="Shape 15"/>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0" name="Text 17"/>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أَرْخَصُ مِنْ</a:t>
            </a:r>
            <a:endParaRPr lang="ar-SA" sz="3000" dirty="0"/>
          </a:p>
        </p:txBody>
      </p:sp>
      <p:sp>
        <p:nvSpPr>
          <p:cNvPr id="21" name="Text 18"/>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cheaper than</a:t>
            </a:r>
            <a:endParaRPr lang="en-US" sz="1350" dirty="0"/>
          </a:p>
          <a:p>
            <a:pPr indent="0" marL="0">
              <a:buNone/>
            </a:pPr>
            <a:r>
              <a:rPr lang="en-US" sz="1100" i="1" dirty="0">
                <a:solidFill>
                  <a:srgbClr val="5A6472"/>
                </a:solidFill>
                <a:latin typeface="Calibri" pitchFamily="34" charset="0"/>
                <a:cs typeface="Amiri" pitchFamily="2" charset="-78"/>
              </a:rPr>
              <a:t>ar-kha-ṣu min</a:t>
            </a:r>
            <a:endParaRPr lang="en-US" sz="1350" dirty="0"/>
          </a:p>
        </p:txBody>
      </p:sp>
      <p:sp>
        <p:nvSpPr>
          <p:cNvPr id="22" name="Shape 19"/>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4389120" y="1920240"/>
            <a:ext cx="310896" cy="310896"/>
          </a:xfrm>
          <a:prstGeom prst="ellipse">
            <a:avLst/>
          </a:prstGeom>
          <a:solidFill>
            <a:srgbClr val="F4F1EA"/>
          </a:solidFill>
          <a:ln w="12700">
            <a:solidFill>
              <a:srgbClr val="F4F1EA"/>
            </a:solidFill>
            <a:prstDash val="solid"/>
          </a:ln>
        </p:spPr>
      </p:sp>
      <p:sp>
        <p:nvSpPr>
          <p:cNvPr id="24" name="Text 21"/>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8</a:t>
            </a:r>
            <a:endParaRPr lang="en-US" sz="1000" dirty="0"/>
          </a:p>
        </p:txBody>
      </p:sp>
      <p:sp>
        <p:nvSpPr>
          <p:cNvPr id="25" name="Shape 22"/>
          <p:cNvSpPr/>
          <p:nvPr/>
        </p:nvSpPr>
        <p:spPr>
          <a:xfrm>
            <a:off x="7050024" y="1938528"/>
            <a:ext cx="731520" cy="256032"/>
          </a:xfrm>
          <a:prstGeom prst="roundRect">
            <a:avLst>
              <a:gd name="adj" fmla="val 50000"/>
            </a:avLst>
          </a:prstGeom>
          <a:solidFill>
            <a:srgbClr val="2E8B57"/>
          </a:solidFill>
          <a:ln w="12700">
            <a:solidFill>
              <a:srgbClr val="2E8B57"/>
            </a:solidFill>
            <a:prstDash val="solid"/>
          </a:ln>
        </p:spPr>
      </p:sp>
      <p:sp>
        <p:nvSpPr>
          <p:cNvPr id="26" name="Text 23"/>
          <p:cNvSpPr txBox="1"/>
          <p:nvPr/>
        </p:nvSpPr>
        <p:spPr>
          <a:xfrm>
            <a:off x="7050024"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7" name="Text 24"/>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أَكْثَرُ ثِقَةً</a:t>
            </a:r>
            <a:endParaRPr lang="ar-SA" sz="3000" dirty="0"/>
          </a:p>
        </p:txBody>
      </p:sp>
      <p:sp>
        <p:nvSpPr>
          <p:cNvPr id="28" name="Text 25"/>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more confident</a:t>
            </a:r>
            <a:endParaRPr lang="en-US" sz="1350" dirty="0"/>
          </a:p>
          <a:p>
            <a:pPr indent="0" marL="0">
              <a:buNone/>
            </a:pPr>
            <a:r>
              <a:rPr lang="en-US" sz="1100" i="1" dirty="0">
                <a:solidFill>
                  <a:srgbClr val="5A6472"/>
                </a:solidFill>
                <a:latin typeface="Calibri" pitchFamily="34" charset="0"/>
                <a:cs typeface="Amiri" pitchFamily="2" charset="-78"/>
              </a:rPr>
              <a:t>ak-tha-ru thi-qa-tan</a:t>
            </a:r>
            <a:endParaRPr lang="en-US" sz="1350" dirty="0"/>
          </a:p>
        </p:txBody>
      </p:sp>
      <p:sp>
        <p:nvSpPr>
          <p:cNvPr id="29" name="Shape 26"/>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Shape 27"/>
          <p:cNvSpPr/>
          <p:nvPr/>
        </p:nvSpPr>
        <p:spPr>
          <a:xfrm>
            <a:off x="566928" y="1920240"/>
            <a:ext cx="310896" cy="310896"/>
          </a:xfrm>
          <a:prstGeom prst="ellipse">
            <a:avLst/>
          </a:prstGeom>
          <a:solidFill>
            <a:srgbClr val="F4F1EA"/>
          </a:solidFill>
          <a:ln w="12700">
            <a:solidFill>
              <a:srgbClr val="F4F1EA"/>
            </a:solidFill>
            <a:prstDash val="solid"/>
          </a:ln>
        </p:spPr>
      </p:sp>
      <p:sp>
        <p:nvSpPr>
          <p:cNvPr id="31" name="Text 28"/>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9</a:t>
            </a:r>
            <a:endParaRPr lang="en-US" sz="1000" dirty="0"/>
          </a:p>
        </p:txBody>
      </p:sp>
      <p:sp>
        <p:nvSpPr>
          <p:cNvPr id="32" name="Shape 29"/>
          <p:cNvSpPr/>
          <p:nvPr/>
        </p:nvSpPr>
        <p:spPr>
          <a:xfrm>
            <a:off x="3227832" y="1938528"/>
            <a:ext cx="731520" cy="256032"/>
          </a:xfrm>
          <a:prstGeom prst="roundRect">
            <a:avLst>
              <a:gd name="adj" fmla="val 50000"/>
            </a:avLst>
          </a:prstGeom>
          <a:solidFill>
            <a:srgbClr val="2E8B57"/>
          </a:solidFill>
          <a:ln w="12700">
            <a:solidFill>
              <a:srgbClr val="2E8B57"/>
            </a:solidFill>
            <a:prstDash val="solid"/>
          </a:ln>
        </p:spPr>
      </p:sp>
      <p:sp>
        <p:nvSpPr>
          <p:cNvPr id="33" name="Text 30"/>
          <p:cNvSpPr txBox="1"/>
          <p:nvPr/>
        </p:nvSpPr>
        <p:spPr>
          <a:xfrm>
            <a:off x="3227832"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34" name="Text 31"/>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شَعْرُهَا طَوِيلٌ</a:t>
            </a:r>
            <a:endParaRPr lang="ar-SA" sz="3000" dirty="0"/>
          </a:p>
        </p:txBody>
      </p:sp>
      <p:sp>
        <p:nvSpPr>
          <p:cNvPr id="35" name="Text 32"/>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her hair is long</a:t>
            </a:r>
            <a:endParaRPr lang="en-US" sz="1350" dirty="0"/>
          </a:p>
          <a:p>
            <a:pPr indent="0" marL="0">
              <a:buNone/>
            </a:pPr>
            <a:r>
              <a:rPr lang="en-US" sz="1100" i="1" dirty="0">
                <a:solidFill>
                  <a:srgbClr val="5A6472"/>
                </a:solidFill>
                <a:latin typeface="Calibri" pitchFamily="34" charset="0"/>
                <a:cs typeface="Amiri" pitchFamily="2" charset="-78"/>
              </a:rPr>
              <a:t>shaʿ-ru-hā ṭa-wī-lun</a:t>
            </a:r>
            <a:endParaRPr lang="en-US" sz="1350" dirty="0"/>
          </a:p>
        </p:txBody>
      </p:sp>
      <p:sp>
        <p:nvSpPr>
          <p:cNvPr id="36" name="Shape 33"/>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7" name="Shape 34"/>
          <p:cNvSpPr/>
          <p:nvPr/>
        </p:nvSpPr>
        <p:spPr>
          <a:xfrm>
            <a:off x="8211312" y="4261104"/>
            <a:ext cx="310896" cy="310896"/>
          </a:xfrm>
          <a:prstGeom prst="ellipse">
            <a:avLst/>
          </a:prstGeom>
          <a:solidFill>
            <a:srgbClr val="F4F1EA"/>
          </a:solidFill>
          <a:ln w="12700">
            <a:solidFill>
              <a:srgbClr val="F4F1EA"/>
            </a:solidFill>
            <a:prstDash val="solid"/>
          </a:ln>
        </p:spPr>
      </p:sp>
      <p:sp>
        <p:nvSpPr>
          <p:cNvPr id="38" name="Text 35"/>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10</a:t>
            </a:r>
            <a:endParaRPr lang="en-US" sz="1000" dirty="0"/>
          </a:p>
        </p:txBody>
      </p:sp>
      <p:sp>
        <p:nvSpPr>
          <p:cNvPr id="39" name="Shape 36"/>
          <p:cNvSpPr/>
          <p:nvPr/>
        </p:nvSpPr>
        <p:spPr>
          <a:xfrm>
            <a:off x="10872216" y="4279392"/>
            <a:ext cx="731520" cy="256032"/>
          </a:xfrm>
          <a:prstGeom prst="roundRect">
            <a:avLst>
              <a:gd name="adj" fmla="val 50000"/>
            </a:avLst>
          </a:prstGeom>
          <a:solidFill>
            <a:srgbClr val="2E8B57"/>
          </a:solidFill>
          <a:ln w="12700">
            <a:solidFill>
              <a:srgbClr val="2E8B57"/>
            </a:solidFill>
            <a:prstDash val="solid"/>
          </a:ln>
        </p:spPr>
      </p:sp>
      <p:sp>
        <p:nvSpPr>
          <p:cNvPr id="40" name="Text 37"/>
          <p:cNvSpPr txBox="1"/>
          <p:nvPr/>
        </p:nvSpPr>
        <p:spPr>
          <a:xfrm>
            <a:off x="10872216"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41" name="Text 38"/>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عَيْنَاهُ بُنِّيَّتَانِ</a:t>
            </a:r>
            <a:endParaRPr lang="ar-SA" sz="3000" dirty="0"/>
          </a:p>
        </p:txBody>
      </p:sp>
      <p:sp>
        <p:nvSpPr>
          <p:cNvPr id="42" name="Text 39"/>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his eyes are brown</a:t>
            </a:r>
            <a:endParaRPr lang="en-US" sz="1350" dirty="0"/>
          </a:p>
          <a:p>
            <a:pPr indent="0" marL="0">
              <a:buNone/>
            </a:pPr>
            <a:r>
              <a:rPr lang="en-US" sz="1100" i="1" dirty="0">
                <a:solidFill>
                  <a:srgbClr val="5A6472"/>
                </a:solidFill>
                <a:latin typeface="Calibri" pitchFamily="34" charset="0"/>
                <a:cs typeface="Amiri" pitchFamily="2" charset="-78"/>
              </a:rPr>
              <a:t>ʿay-nā-hu bun-niy-ya-tā-ni</a:t>
            </a:r>
            <a:endParaRPr lang="en-US" sz="1350" dirty="0"/>
          </a:p>
        </p:txBody>
      </p:sp>
      <p:sp>
        <p:nvSpPr>
          <p:cNvPr id="43" name="Shape 40"/>
          <p:cNvSpPr/>
          <p:nvPr/>
        </p:nvSpPr>
        <p:spPr>
          <a:xfrm>
            <a:off x="4279392"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4" name="Shape 41"/>
          <p:cNvSpPr/>
          <p:nvPr/>
        </p:nvSpPr>
        <p:spPr>
          <a:xfrm>
            <a:off x="4389120" y="4261104"/>
            <a:ext cx="310896" cy="310896"/>
          </a:xfrm>
          <a:prstGeom prst="ellipse">
            <a:avLst/>
          </a:prstGeom>
          <a:solidFill>
            <a:srgbClr val="F4F1EA"/>
          </a:solidFill>
          <a:ln w="12700">
            <a:solidFill>
              <a:srgbClr val="F4F1EA"/>
            </a:solidFill>
            <a:prstDash val="solid"/>
          </a:ln>
        </p:spPr>
      </p:sp>
      <p:sp>
        <p:nvSpPr>
          <p:cNvPr id="45" name="Text 42"/>
          <p:cNvSpPr txBox="1"/>
          <p:nvPr/>
        </p:nvSpPr>
        <p:spPr>
          <a:xfrm>
            <a:off x="4389120"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11</a:t>
            </a:r>
            <a:endParaRPr lang="en-US" sz="1000" dirty="0"/>
          </a:p>
        </p:txBody>
      </p:sp>
      <p:sp>
        <p:nvSpPr>
          <p:cNvPr id="46" name="Shape 43"/>
          <p:cNvSpPr/>
          <p:nvPr/>
        </p:nvSpPr>
        <p:spPr>
          <a:xfrm>
            <a:off x="7050024" y="4279392"/>
            <a:ext cx="731520" cy="256032"/>
          </a:xfrm>
          <a:prstGeom prst="roundRect">
            <a:avLst>
              <a:gd name="adj" fmla="val 50000"/>
            </a:avLst>
          </a:prstGeom>
          <a:solidFill>
            <a:srgbClr val="2E8B57"/>
          </a:solidFill>
          <a:ln w="12700">
            <a:solidFill>
              <a:srgbClr val="2E8B57"/>
            </a:solidFill>
            <a:prstDash val="solid"/>
          </a:ln>
        </p:spPr>
      </p:sp>
      <p:sp>
        <p:nvSpPr>
          <p:cNvPr id="47" name="Text 44"/>
          <p:cNvSpPr txBox="1"/>
          <p:nvPr/>
        </p:nvSpPr>
        <p:spPr>
          <a:xfrm>
            <a:off x="7050024"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48" name="Text 45"/>
          <p:cNvSpPr txBox="1"/>
          <p:nvPr/>
        </p:nvSpPr>
        <p:spPr>
          <a:xfrm>
            <a:off x="4389120"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الَّذِي · الَّتِي</a:t>
            </a:r>
            <a:endParaRPr lang="ar-SA" sz="3000" dirty="0"/>
          </a:p>
        </p:txBody>
      </p:sp>
      <p:sp>
        <p:nvSpPr>
          <p:cNvPr id="49" name="Text 46"/>
          <p:cNvSpPr txBox="1"/>
          <p:nvPr/>
        </p:nvSpPr>
        <p:spPr>
          <a:xfrm>
            <a:off x="4416552"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who (m. · f.)</a:t>
            </a:r>
            <a:endParaRPr lang="en-US" sz="1350" dirty="0"/>
          </a:p>
          <a:p>
            <a:pPr indent="0" marL="0">
              <a:buNone/>
            </a:pPr>
            <a:r>
              <a:rPr lang="ar-SA" sz="1100" i="1" dirty="0">
                <a:solidFill>
                  <a:srgbClr val="5A6472"/>
                </a:solidFill>
                <a:latin typeface="Calibri" pitchFamily="34" charset="0"/>
                <a:ea typeface="Amiri" pitchFamily="2" charset="-78"/>
                <a:cs typeface="Amiri" pitchFamily="2" charset="-78"/>
              </a:rPr>
              <a:t>al-َ-dhī · al-َ-tī</a:t>
            </a:r>
            <a:endParaRPr lang="en-US" sz="1350" dirty="0"/>
          </a:p>
        </p:txBody>
      </p:sp>
      <p:sp>
        <p:nvSpPr>
          <p:cNvPr id="50" name="Shape 47"/>
          <p:cNvSpPr/>
          <p:nvPr/>
        </p:nvSpPr>
        <p:spPr>
          <a:xfrm>
            <a:off x="457200"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1" name="Shape 48"/>
          <p:cNvSpPr/>
          <p:nvPr/>
        </p:nvSpPr>
        <p:spPr>
          <a:xfrm>
            <a:off x="566928" y="4261104"/>
            <a:ext cx="310896" cy="310896"/>
          </a:xfrm>
          <a:prstGeom prst="ellipse">
            <a:avLst/>
          </a:prstGeom>
          <a:solidFill>
            <a:srgbClr val="F4F1EA"/>
          </a:solidFill>
          <a:ln w="12700">
            <a:solidFill>
              <a:srgbClr val="F4F1EA"/>
            </a:solidFill>
            <a:prstDash val="solid"/>
          </a:ln>
        </p:spPr>
      </p:sp>
      <p:sp>
        <p:nvSpPr>
          <p:cNvPr id="52" name="Text 49"/>
          <p:cNvSpPr txBox="1"/>
          <p:nvPr/>
        </p:nvSpPr>
        <p:spPr>
          <a:xfrm>
            <a:off x="566928"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12</a:t>
            </a:r>
            <a:endParaRPr lang="en-US" sz="1000" dirty="0"/>
          </a:p>
        </p:txBody>
      </p:sp>
      <p:sp>
        <p:nvSpPr>
          <p:cNvPr id="53" name="Shape 50"/>
          <p:cNvSpPr/>
          <p:nvPr/>
        </p:nvSpPr>
        <p:spPr>
          <a:xfrm>
            <a:off x="3227832" y="4279392"/>
            <a:ext cx="731520" cy="256032"/>
          </a:xfrm>
          <a:prstGeom prst="roundRect">
            <a:avLst>
              <a:gd name="adj" fmla="val 50000"/>
            </a:avLst>
          </a:prstGeom>
          <a:solidFill>
            <a:srgbClr val="2E8B57"/>
          </a:solidFill>
          <a:ln w="12700">
            <a:solidFill>
              <a:srgbClr val="2E8B57"/>
            </a:solidFill>
            <a:prstDash val="solid"/>
          </a:ln>
        </p:spPr>
      </p:sp>
      <p:sp>
        <p:nvSpPr>
          <p:cNvPr id="54" name="Text 51"/>
          <p:cNvSpPr txBox="1"/>
          <p:nvPr/>
        </p:nvSpPr>
        <p:spPr>
          <a:xfrm>
            <a:off x="3227832"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55" name="Text 52"/>
          <p:cNvSpPr txBox="1"/>
          <p:nvPr/>
        </p:nvSpPr>
        <p:spPr>
          <a:xfrm>
            <a:off x="566928"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عَلَى الرَّغْمِ مِنْ أَنَّ</a:t>
            </a:r>
            <a:endParaRPr lang="ar-SA" sz="3000" dirty="0"/>
          </a:p>
        </p:txBody>
      </p:sp>
      <p:sp>
        <p:nvSpPr>
          <p:cNvPr id="56" name="Text 53"/>
          <p:cNvSpPr txBox="1"/>
          <p:nvPr/>
        </p:nvSpPr>
        <p:spPr>
          <a:xfrm>
            <a:off x="594360"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although</a:t>
            </a:r>
            <a:endParaRPr lang="en-US" sz="1350" dirty="0"/>
          </a:p>
          <a:p>
            <a:pPr indent="0" marL="0">
              <a:buNone/>
            </a:pPr>
            <a:r>
              <a:rPr lang="en-US" sz="1100" i="1" dirty="0">
                <a:solidFill>
                  <a:srgbClr val="5A6472"/>
                </a:solidFill>
                <a:latin typeface="Calibri" pitchFamily="34" charset="0"/>
                <a:cs typeface="Amiri" pitchFamily="2" charset="-78"/>
              </a:rPr>
              <a:t>ʿa-lā ar-ragh-mi min an-na</a:t>
            </a:r>
            <a:endParaRPr lang="en-US" sz="1350" dirty="0"/>
          </a:p>
        </p:txBody>
      </p:sp>
      <p:sp>
        <p:nvSpPr>
          <p:cNvPr id="57" name="Text 5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7 / 22</a:t>
            </a:r>
            <a:endParaRPr lang="en-US" sz="8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D2-L12 · Speaking + writing practice room</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5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150" kern="0" dirty="0">
                <a:solidFill>
                  <a:srgbClr val="2F6FB0"/>
                </a:solidFill>
                <a:latin typeface="Calibri" pitchFamily="34" charset="0"/>
                <a:cs typeface="Amiri" pitchFamily="2" charset="-78"/>
              </a:rPr>
              <a:t>STEP 2 · SAY THE MODEL DIALOGUE · READ IT, THEN SAY IT WITHOUT LOOKING</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400" b="1" dirty="0">
                <a:solidFill>
                  <a:srgbClr val="1B3B6F"/>
                </a:solidFill>
                <a:latin typeface="Cambria" pitchFamily="34" charset="0"/>
                <a:cs typeface="Amiri" pitchFamily="2" charset="-78"/>
              </a:rPr>
              <a:t>Everything from D2 in one conversation</a:t>
            </a:r>
            <a:endParaRPr lang="en-US" sz="24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كُلُّ الوَحْدَةِ فِي حِوَارٍ</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D2 · People, Relationships and Style · D2-L12 · practice room</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7754112" y="1810512"/>
            <a:ext cx="390448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Meaning</a:t>
            </a:r>
            <a:endParaRPr lang="en-US" sz="1100" dirty="0"/>
          </a:p>
        </p:txBody>
      </p:sp>
      <p:sp>
        <p:nvSpPr>
          <p:cNvPr id="17" name="Text 14"/>
          <p:cNvSpPr txBox="1"/>
          <p:nvPr/>
        </p:nvSpPr>
        <p:spPr>
          <a:xfrm>
            <a:off x="1444752" y="1810512"/>
            <a:ext cx="616305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Say it in Arabic</a:t>
            </a:r>
            <a:endParaRPr lang="en-US" sz="1100" dirty="0"/>
          </a:p>
        </p:txBody>
      </p:sp>
      <p:sp>
        <p:nvSpPr>
          <p:cNvPr id="18" name="Text 15"/>
          <p:cNvSpPr txBox="1"/>
          <p:nvPr/>
        </p:nvSpPr>
        <p:spPr>
          <a:xfrm>
            <a:off x="530352" y="1810512"/>
            <a:ext cx="76809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Who</a:t>
            </a:r>
            <a:endParaRPr lang="en-US" sz="1100" dirty="0"/>
          </a:p>
        </p:txBody>
      </p:sp>
      <p:sp>
        <p:nvSpPr>
          <p:cNvPr id="19" name="Shape 16"/>
          <p:cNvSpPr/>
          <p:nvPr/>
        </p:nvSpPr>
        <p:spPr>
          <a:xfrm>
            <a:off x="457200" y="2267712"/>
            <a:ext cx="11274552" cy="559308"/>
          </a:xfrm>
          <a:prstGeom prst="roundRect">
            <a:avLst>
              <a:gd name="adj" fmla="val 8174"/>
            </a:avLst>
          </a:prstGeom>
          <a:solidFill>
            <a:srgbClr val="FFFFFF"/>
          </a:solidFill>
          <a:ln w="9525">
            <a:solidFill>
              <a:srgbClr val="D8D0BF"/>
            </a:solidFill>
            <a:prstDash val="solid"/>
          </a:ln>
        </p:spPr>
      </p:sp>
      <p:sp>
        <p:nvSpPr>
          <p:cNvPr id="20" name="Text 17"/>
          <p:cNvSpPr txBox="1"/>
          <p:nvPr/>
        </p:nvSpPr>
        <p:spPr>
          <a:xfrm>
            <a:off x="7790688" y="2267712"/>
            <a:ext cx="386791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Who is the girl wearing the blue jacket?</a:t>
            </a:r>
            <a:endParaRPr lang="en-US" sz="1100" dirty="0"/>
          </a:p>
        </p:txBody>
      </p:sp>
      <p:sp>
        <p:nvSpPr>
          <p:cNvPr id="21" name="Text 18"/>
          <p:cNvSpPr txBox="1"/>
          <p:nvPr/>
        </p:nvSpPr>
        <p:spPr>
          <a:xfrm>
            <a:off x="1463040" y="2267712"/>
            <a:ext cx="6126480" cy="559308"/>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2" charset="-78"/>
                <a:ea typeface="Amiri" pitchFamily="2" charset="-78"/>
                <a:cs typeface="Amiri" pitchFamily="2" charset="-78"/>
              </a:rPr>
              <a:t>مَنِ البِنْتُ الَّتِي تَرْتَدِي السُّتْرَةَ الزَّرْقَاءَ؟</a:t>
            </a:r>
            <a:endParaRPr lang="ar-SA" sz="2000" dirty="0"/>
          </a:p>
        </p:txBody>
      </p:sp>
      <p:sp>
        <p:nvSpPr>
          <p:cNvPr id="22" name="Text 19"/>
          <p:cNvSpPr txBox="1"/>
          <p:nvPr/>
        </p:nvSpPr>
        <p:spPr>
          <a:xfrm>
            <a:off x="566928" y="2267712"/>
            <a:ext cx="73152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a:t>
            </a:r>
            <a:endParaRPr lang="en-US" sz="1100" dirty="0"/>
          </a:p>
        </p:txBody>
      </p:sp>
      <p:sp>
        <p:nvSpPr>
          <p:cNvPr id="23" name="Shape 20"/>
          <p:cNvSpPr/>
          <p:nvPr/>
        </p:nvSpPr>
        <p:spPr>
          <a:xfrm>
            <a:off x="457200" y="2881884"/>
            <a:ext cx="11274552" cy="559308"/>
          </a:xfrm>
          <a:prstGeom prst="roundRect">
            <a:avLst>
              <a:gd name="adj" fmla="val 8174"/>
            </a:avLst>
          </a:prstGeom>
          <a:solidFill>
            <a:srgbClr val="F4F1EA"/>
          </a:solidFill>
          <a:ln w="9525">
            <a:solidFill>
              <a:srgbClr val="D8D0BF"/>
            </a:solidFill>
            <a:prstDash val="solid"/>
          </a:ln>
        </p:spPr>
      </p:sp>
      <p:sp>
        <p:nvSpPr>
          <p:cNvPr id="24" name="Text 21"/>
          <p:cNvSpPr txBox="1"/>
          <p:nvPr/>
        </p:nvSpPr>
        <p:spPr>
          <a:xfrm>
            <a:off x="7790688" y="2881884"/>
            <a:ext cx="386791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She is my cousin. Her hair is long, and her eyes are green.</a:t>
            </a:r>
            <a:endParaRPr lang="en-US" sz="1100" dirty="0"/>
          </a:p>
        </p:txBody>
      </p:sp>
      <p:sp>
        <p:nvSpPr>
          <p:cNvPr id="25" name="Text 22"/>
          <p:cNvSpPr txBox="1"/>
          <p:nvPr/>
        </p:nvSpPr>
        <p:spPr>
          <a:xfrm>
            <a:off x="1463040" y="2881884"/>
            <a:ext cx="6126480" cy="559308"/>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2" charset="-78"/>
                <a:ea typeface="Amiri" pitchFamily="2" charset="-78"/>
                <a:cs typeface="Amiri" pitchFamily="2" charset="-78"/>
              </a:rPr>
              <a:t>هِيَ ابْنَةُ خَالَتِي. شَعْرُهَا طَوِيلٌ، وَعَيْنَاهَا خَضْرَاوَانِ.</a:t>
            </a:r>
            <a:endParaRPr lang="ar-SA" sz="2000" dirty="0"/>
          </a:p>
        </p:txBody>
      </p:sp>
      <p:sp>
        <p:nvSpPr>
          <p:cNvPr id="26" name="Text 23"/>
          <p:cNvSpPr txBox="1"/>
          <p:nvPr/>
        </p:nvSpPr>
        <p:spPr>
          <a:xfrm>
            <a:off x="566928" y="2881884"/>
            <a:ext cx="73152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B</a:t>
            </a:r>
            <a:endParaRPr lang="en-US" sz="1100" dirty="0"/>
          </a:p>
        </p:txBody>
      </p:sp>
      <p:sp>
        <p:nvSpPr>
          <p:cNvPr id="27" name="Shape 24"/>
          <p:cNvSpPr/>
          <p:nvPr/>
        </p:nvSpPr>
        <p:spPr>
          <a:xfrm>
            <a:off x="457200" y="3496056"/>
            <a:ext cx="11274552" cy="559308"/>
          </a:xfrm>
          <a:prstGeom prst="roundRect">
            <a:avLst>
              <a:gd name="adj" fmla="val 8174"/>
            </a:avLst>
          </a:prstGeom>
          <a:solidFill>
            <a:srgbClr val="FFFFFF"/>
          </a:solidFill>
          <a:ln w="9525">
            <a:solidFill>
              <a:srgbClr val="D8D0BF"/>
            </a:solidFill>
            <a:prstDash val="solid"/>
          </a:ln>
        </p:spPr>
      </p:sp>
      <p:sp>
        <p:nvSpPr>
          <p:cNvPr id="28" name="Text 25"/>
          <p:cNvSpPr txBox="1"/>
          <p:nvPr/>
        </p:nvSpPr>
        <p:spPr>
          <a:xfrm>
            <a:off x="7790688" y="3496056"/>
            <a:ext cx="386791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What is she like?</a:t>
            </a:r>
            <a:endParaRPr lang="en-US" sz="1100" dirty="0"/>
          </a:p>
        </p:txBody>
      </p:sp>
      <p:sp>
        <p:nvSpPr>
          <p:cNvPr id="29" name="Text 26"/>
          <p:cNvSpPr txBox="1"/>
          <p:nvPr/>
        </p:nvSpPr>
        <p:spPr>
          <a:xfrm>
            <a:off x="1463040" y="3496056"/>
            <a:ext cx="6126480" cy="559308"/>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2" charset="-78"/>
                <a:ea typeface="Amiri" pitchFamily="2" charset="-78"/>
                <a:cs typeface="Amiri" pitchFamily="2" charset="-78"/>
              </a:rPr>
              <a:t>كَيْفَ شَخْصِيَّتُهَا؟</a:t>
            </a:r>
            <a:endParaRPr lang="ar-SA" sz="2000" dirty="0"/>
          </a:p>
        </p:txBody>
      </p:sp>
      <p:sp>
        <p:nvSpPr>
          <p:cNvPr id="30" name="Text 27"/>
          <p:cNvSpPr txBox="1"/>
          <p:nvPr/>
        </p:nvSpPr>
        <p:spPr>
          <a:xfrm>
            <a:off x="566928" y="3496056"/>
            <a:ext cx="73152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a:t>
            </a:r>
            <a:endParaRPr lang="en-US" sz="1100" dirty="0"/>
          </a:p>
        </p:txBody>
      </p:sp>
      <p:sp>
        <p:nvSpPr>
          <p:cNvPr id="31" name="Shape 28"/>
          <p:cNvSpPr/>
          <p:nvPr/>
        </p:nvSpPr>
        <p:spPr>
          <a:xfrm>
            <a:off x="457200" y="4110228"/>
            <a:ext cx="11274552" cy="559308"/>
          </a:xfrm>
          <a:prstGeom prst="roundRect">
            <a:avLst>
              <a:gd name="adj" fmla="val 8174"/>
            </a:avLst>
          </a:prstGeom>
          <a:solidFill>
            <a:srgbClr val="F4F1EA"/>
          </a:solidFill>
          <a:ln w="9525">
            <a:solidFill>
              <a:srgbClr val="D8D0BF"/>
            </a:solidFill>
            <a:prstDash val="solid"/>
          </a:ln>
        </p:spPr>
      </p:sp>
      <p:sp>
        <p:nvSpPr>
          <p:cNvPr id="32" name="Text 29"/>
          <p:cNvSpPr txBox="1"/>
          <p:nvPr/>
        </p:nvSpPr>
        <p:spPr>
          <a:xfrm>
            <a:off x="7790688" y="4110228"/>
            <a:ext cx="386791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She is patient and generous, and never shy. I get on with her because she supports me.</a:t>
            </a:r>
            <a:endParaRPr lang="en-US" sz="1100" dirty="0"/>
          </a:p>
        </p:txBody>
      </p:sp>
      <p:sp>
        <p:nvSpPr>
          <p:cNvPr id="33" name="Text 30"/>
          <p:cNvSpPr txBox="1"/>
          <p:nvPr/>
        </p:nvSpPr>
        <p:spPr>
          <a:xfrm>
            <a:off x="1463040" y="4110228"/>
            <a:ext cx="6126480" cy="559308"/>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2" charset="-78"/>
                <a:ea typeface="Amiri" pitchFamily="2" charset="-78"/>
                <a:cs typeface="Amiri" pitchFamily="2" charset="-78"/>
              </a:rPr>
              <a:t>هِيَ صَبُورَةٌ وَكَرِيمَةٌ، وَلَيْسَتْ خَجُولَةً أَبَدًا. أَتَفَاهَمُ مَعَهَا لِأَنَّهَا تَدْعَمُنِي.</a:t>
            </a:r>
            <a:endParaRPr lang="ar-SA" sz="2000" dirty="0"/>
          </a:p>
        </p:txBody>
      </p:sp>
      <p:sp>
        <p:nvSpPr>
          <p:cNvPr id="34" name="Text 31"/>
          <p:cNvSpPr txBox="1"/>
          <p:nvPr/>
        </p:nvSpPr>
        <p:spPr>
          <a:xfrm>
            <a:off x="566928" y="4110228"/>
            <a:ext cx="73152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B</a:t>
            </a:r>
            <a:endParaRPr lang="en-US" sz="1100" dirty="0"/>
          </a:p>
        </p:txBody>
      </p:sp>
      <p:sp>
        <p:nvSpPr>
          <p:cNvPr id="35" name="Shape 32"/>
          <p:cNvSpPr/>
          <p:nvPr/>
        </p:nvSpPr>
        <p:spPr>
          <a:xfrm>
            <a:off x="457200" y="4724400"/>
            <a:ext cx="11274552" cy="559308"/>
          </a:xfrm>
          <a:prstGeom prst="roundRect">
            <a:avLst>
              <a:gd name="adj" fmla="val 8174"/>
            </a:avLst>
          </a:prstGeom>
          <a:solidFill>
            <a:srgbClr val="FFFFFF"/>
          </a:solidFill>
          <a:ln w="9525">
            <a:solidFill>
              <a:srgbClr val="D8D0BF"/>
            </a:solidFill>
            <a:prstDash val="solid"/>
          </a:ln>
        </p:spPr>
      </p:sp>
      <p:sp>
        <p:nvSpPr>
          <p:cNvPr id="36" name="Text 33"/>
          <p:cNvSpPr txBox="1"/>
          <p:nvPr/>
        </p:nvSpPr>
        <p:spPr>
          <a:xfrm>
            <a:off x="7790688" y="4724400"/>
            <a:ext cx="386791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And her style?</a:t>
            </a:r>
            <a:endParaRPr lang="en-US" sz="1100" dirty="0"/>
          </a:p>
        </p:txBody>
      </p:sp>
      <p:sp>
        <p:nvSpPr>
          <p:cNvPr id="37" name="Text 34"/>
          <p:cNvSpPr txBox="1"/>
          <p:nvPr/>
        </p:nvSpPr>
        <p:spPr>
          <a:xfrm>
            <a:off x="1463040" y="4724400"/>
            <a:ext cx="6126480" cy="559308"/>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2" charset="-78"/>
                <a:ea typeface="Amiri" pitchFamily="2" charset="-78"/>
                <a:cs typeface="Amiri" pitchFamily="2" charset="-78"/>
              </a:rPr>
              <a:t>وَأُسْلُوبُهَا؟</a:t>
            </a:r>
            <a:endParaRPr lang="ar-SA" sz="2000" dirty="0"/>
          </a:p>
        </p:txBody>
      </p:sp>
      <p:sp>
        <p:nvSpPr>
          <p:cNvPr id="38" name="Text 35"/>
          <p:cNvSpPr txBox="1"/>
          <p:nvPr/>
        </p:nvSpPr>
        <p:spPr>
          <a:xfrm>
            <a:off x="566928" y="4724400"/>
            <a:ext cx="73152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a:t>
            </a:r>
            <a:endParaRPr lang="en-US" sz="1100" dirty="0"/>
          </a:p>
        </p:txBody>
      </p:sp>
      <p:sp>
        <p:nvSpPr>
          <p:cNvPr id="39" name="Shape 36"/>
          <p:cNvSpPr/>
          <p:nvPr/>
        </p:nvSpPr>
        <p:spPr>
          <a:xfrm>
            <a:off x="457200" y="5338572"/>
            <a:ext cx="11274552" cy="559308"/>
          </a:xfrm>
          <a:prstGeom prst="roundRect">
            <a:avLst>
              <a:gd name="adj" fmla="val 8174"/>
            </a:avLst>
          </a:prstGeom>
          <a:solidFill>
            <a:srgbClr val="F4F1EA"/>
          </a:solidFill>
          <a:ln w="9525">
            <a:solidFill>
              <a:srgbClr val="D8D0BF"/>
            </a:solidFill>
            <a:prstDash val="solid"/>
          </a:ln>
        </p:spPr>
      </p:sp>
      <p:sp>
        <p:nvSpPr>
          <p:cNvPr id="40" name="Text 37"/>
          <p:cNvSpPr txBox="1"/>
          <p:nvPr/>
        </p:nvSpPr>
        <p:spPr>
          <a:xfrm>
            <a:off x="7790688" y="5338572"/>
            <a:ext cx="386791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Her style is more elegant than mine! Although her clothes are simple, they are beautiful.</a:t>
            </a:r>
            <a:endParaRPr lang="en-US" sz="1100" dirty="0"/>
          </a:p>
        </p:txBody>
      </p:sp>
      <p:sp>
        <p:nvSpPr>
          <p:cNvPr id="41" name="Text 38"/>
          <p:cNvSpPr txBox="1"/>
          <p:nvPr/>
        </p:nvSpPr>
        <p:spPr>
          <a:xfrm>
            <a:off x="1463040" y="5338572"/>
            <a:ext cx="6126480" cy="559308"/>
          </a:xfrm>
          <a:prstGeom prst="rect">
            <a:avLst/>
          </a:prstGeom>
          <a:noFill/>
          <a:ln/>
        </p:spPr>
        <p:txBody>
          <a:bodyPr wrap="square" lIns="0" tIns="0" rIns="0" bIns="0" rtlCol="0" anchor="ctr"/>
          <a:lstStyle/>
          <a:p>
            <a:pPr rtl="1" algn="ctr" indent="0" marL="0">
              <a:buNone/>
            </a:pPr>
            <a:r>
              <a:rPr lang="ar-SA" altLang="en-US" sz="1650" b="1" dirty="0">
                <a:solidFill>
                  <a:srgbClr val="1B3B6F"/>
                </a:solidFill>
                <a:latin typeface="Amiri" pitchFamily="2" charset="-78"/>
                <a:ea typeface="Amiri" pitchFamily="2" charset="-78"/>
                <a:cs typeface="Amiri" pitchFamily="2" charset="-78"/>
              </a:rPr>
              <a:t>أُسْلُوبُهَا أَكْثَرُ أَنَاقَةً مِنْ أُسْلُوبِي! عَلَى الرَّغْمِ مِنْ أَنَّ مَلَابِسَهَا بَسِيطَةٌ، فَإِنَّهَا جَمِيلَةٌ.</a:t>
            </a:r>
            <a:endParaRPr lang="ar-SA" sz="1650" dirty="0"/>
          </a:p>
        </p:txBody>
      </p:sp>
      <p:sp>
        <p:nvSpPr>
          <p:cNvPr id="42" name="Text 39"/>
          <p:cNvSpPr txBox="1"/>
          <p:nvPr/>
        </p:nvSpPr>
        <p:spPr>
          <a:xfrm>
            <a:off x="566928" y="5338572"/>
            <a:ext cx="73152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B</a:t>
            </a:r>
            <a:endParaRPr lang="en-US" sz="1100" dirty="0"/>
          </a:p>
        </p:txBody>
      </p:sp>
      <p:sp>
        <p:nvSpPr>
          <p:cNvPr id="43" name="Text 40"/>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Round 1: read it. Round 2: swap letters. Round 3: describe a MALE relative with the same questions — every ending must change.</a:t>
            </a:r>
            <a:endParaRPr lang="en-US" sz="1150" dirty="0"/>
          </a:p>
        </p:txBody>
      </p:sp>
      <p:sp>
        <p:nvSpPr>
          <p:cNvPr id="44"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8 / 22</a:t>
            </a:r>
            <a:endParaRPr lang="en-US" sz="8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D2-L12 · Speaking + writing practice room</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7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150" kern="0" dirty="0">
                <a:solidFill>
                  <a:srgbClr val="1E6B52"/>
                </a:solidFill>
                <a:latin typeface="Calibri" pitchFamily="34" charset="0"/>
                <a:cs typeface="Amiri" pitchFamily="2" charset="-78"/>
              </a:rPr>
              <a:t>STEP 3 · QUESTION CARDS · THE LEADER ASKS, THE SPEAKER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100" b="1" dirty="0">
                <a:solidFill>
                  <a:srgbClr val="1B3B6F"/>
                </a:solidFill>
                <a:latin typeface="Cambria" pitchFamily="34" charset="0"/>
                <a:cs typeface="Amiri" pitchFamily="2" charset="-78"/>
              </a:rPr>
              <a:t>Mixed exam cards — one from each part of D2</a:t>
            </a:r>
            <a:endParaRPr lang="en-US" sz="21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أَسْئِلَةٌ وَأَجْوِبَةٌ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D2 · People, Relationships and Style · D2-L12 · practice room</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9720072" y="1810512"/>
            <a:ext cx="193852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Add more (Develop · Stretch)</a:t>
            </a:r>
            <a:endParaRPr lang="en-US" sz="1100" dirty="0"/>
          </a:p>
        </p:txBody>
      </p:sp>
      <p:sp>
        <p:nvSpPr>
          <p:cNvPr id="17" name="Text 14"/>
          <p:cNvSpPr txBox="1"/>
          <p:nvPr/>
        </p:nvSpPr>
        <p:spPr>
          <a:xfrm>
            <a:off x="6976872" y="1810512"/>
            <a:ext cx="259689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Start your answer (Core)</a:t>
            </a:r>
            <a:endParaRPr lang="en-US" sz="1100" dirty="0"/>
          </a:p>
        </p:txBody>
      </p:sp>
      <p:sp>
        <p:nvSpPr>
          <p:cNvPr id="18" name="Text 15"/>
          <p:cNvSpPr txBox="1"/>
          <p:nvPr/>
        </p:nvSpPr>
        <p:spPr>
          <a:xfrm>
            <a:off x="4599432" y="1810512"/>
            <a:ext cx="22311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Meaning</a:t>
            </a:r>
            <a:endParaRPr lang="en-US" sz="1100" dirty="0"/>
          </a:p>
        </p:txBody>
      </p:sp>
      <p:sp>
        <p:nvSpPr>
          <p:cNvPr id="19" name="Text 16"/>
          <p:cNvSpPr txBox="1"/>
          <p:nvPr/>
        </p:nvSpPr>
        <p:spPr>
          <a:xfrm>
            <a:off x="1033272" y="1810512"/>
            <a:ext cx="341985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Leader asks</a:t>
            </a:r>
            <a:endParaRPr lang="en-US" sz="1100" dirty="0"/>
          </a:p>
        </p:txBody>
      </p:sp>
      <p:sp>
        <p:nvSpPr>
          <p:cNvPr id="20" name="Text 17"/>
          <p:cNvSpPr txBox="1"/>
          <p:nvPr/>
        </p:nvSpPr>
        <p:spPr>
          <a:xfrm>
            <a:off x="530352" y="1810512"/>
            <a:ext cx="35661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a:t>
            </a:r>
            <a:endParaRPr lang="en-US" sz="1100" dirty="0"/>
          </a:p>
        </p:txBody>
      </p:sp>
      <p:sp>
        <p:nvSpPr>
          <p:cNvPr id="21" name="Shape 18"/>
          <p:cNvSpPr/>
          <p:nvPr/>
        </p:nvSpPr>
        <p:spPr>
          <a:xfrm>
            <a:off x="457200" y="2267712"/>
            <a:ext cx="11274552" cy="682142"/>
          </a:xfrm>
          <a:prstGeom prst="roundRect">
            <a:avLst>
              <a:gd name="adj" fmla="val 6702"/>
            </a:avLst>
          </a:prstGeom>
          <a:solidFill>
            <a:srgbClr val="FFFFFF"/>
          </a:solidFill>
          <a:ln w="9525">
            <a:solidFill>
              <a:srgbClr val="D8D0BF"/>
            </a:solidFill>
            <a:prstDash val="solid"/>
          </a:ln>
        </p:spPr>
      </p:sp>
      <p:sp>
        <p:nvSpPr>
          <p:cNvPr id="22" name="Text 19"/>
          <p:cNvSpPr txBox="1"/>
          <p:nvPr/>
        </p:nvSpPr>
        <p:spPr>
          <a:xfrm>
            <a:off x="9738360" y="2267712"/>
            <a:ext cx="1901952" cy="682142"/>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 وَلَيْسَ / وَلَيْسَتْ …</a:t>
            </a:r>
            <a:endParaRPr lang="ar-SA" sz="1500" dirty="0"/>
          </a:p>
        </p:txBody>
      </p:sp>
      <p:sp>
        <p:nvSpPr>
          <p:cNvPr id="23" name="Text 20"/>
          <p:cNvSpPr txBox="1"/>
          <p:nvPr/>
        </p:nvSpPr>
        <p:spPr>
          <a:xfrm>
            <a:off x="6995160" y="2267712"/>
            <a:ext cx="2560320" cy="682142"/>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 صَبُورٌ / صَبُورَةٌ لِأَنَّهُ / لِأَنَّهَا …</a:t>
            </a:r>
            <a:endParaRPr lang="ar-SA" sz="1600" dirty="0"/>
          </a:p>
        </p:txBody>
      </p:sp>
      <p:sp>
        <p:nvSpPr>
          <p:cNvPr id="24" name="Text 21"/>
          <p:cNvSpPr txBox="1"/>
          <p:nvPr/>
        </p:nvSpPr>
        <p:spPr>
          <a:xfrm>
            <a:off x="4636008" y="2267712"/>
            <a:ext cx="219456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Describe a family member’s personality.</a:t>
            </a:r>
            <a:endParaRPr lang="en-US" sz="1100" dirty="0"/>
          </a:p>
        </p:txBody>
      </p:sp>
      <p:sp>
        <p:nvSpPr>
          <p:cNvPr id="25" name="Text 22"/>
          <p:cNvSpPr txBox="1"/>
          <p:nvPr/>
        </p:nvSpPr>
        <p:spPr>
          <a:xfrm>
            <a:off x="1051560" y="2267712"/>
            <a:ext cx="3383280" cy="682142"/>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ea typeface="Amiri" pitchFamily="2" charset="-78"/>
                <a:cs typeface="Amiri" pitchFamily="2" charset="-78"/>
              </a:rPr>
              <a:t>صِفْ شَخْصِيَّةَ أَحَدِ أَفْرَادِ عَائِلَتِكَ.</a:t>
            </a:r>
            <a:endParaRPr lang="ar-SA" sz="1700" dirty="0"/>
          </a:p>
        </p:txBody>
      </p:sp>
      <p:sp>
        <p:nvSpPr>
          <p:cNvPr id="26" name="Text 23"/>
          <p:cNvSpPr txBox="1"/>
          <p:nvPr/>
        </p:nvSpPr>
        <p:spPr>
          <a:xfrm>
            <a:off x="566928" y="2267712"/>
            <a:ext cx="32004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1</a:t>
            </a:r>
            <a:endParaRPr lang="en-US" sz="1100" dirty="0"/>
          </a:p>
        </p:txBody>
      </p:sp>
      <p:sp>
        <p:nvSpPr>
          <p:cNvPr id="27" name="Shape 24"/>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8" name="Text 25"/>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29" name="Shape 26"/>
          <p:cNvSpPr/>
          <p:nvPr/>
        </p:nvSpPr>
        <p:spPr>
          <a:xfrm>
            <a:off x="457200" y="3004718"/>
            <a:ext cx="11274552" cy="682142"/>
          </a:xfrm>
          <a:prstGeom prst="roundRect">
            <a:avLst>
              <a:gd name="adj" fmla="val 6702"/>
            </a:avLst>
          </a:prstGeom>
          <a:solidFill>
            <a:srgbClr val="F4F1EA"/>
          </a:solidFill>
          <a:ln w="9525">
            <a:solidFill>
              <a:srgbClr val="D8D0BF"/>
            </a:solidFill>
            <a:prstDash val="solid"/>
          </a:ln>
        </p:spPr>
      </p:sp>
      <p:sp>
        <p:nvSpPr>
          <p:cNvPr id="30" name="Text 27"/>
          <p:cNvSpPr txBox="1"/>
          <p:nvPr/>
        </p:nvSpPr>
        <p:spPr>
          <a:xfrm>
            <a:off x="9738360" y="3004718"/>
            <a:ext cx="1901952" cy="682142"/>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 يَدْعَمُنِي / تَدْعَمُنِي …</a:t>
            </a:r>
            <a:endParaRPr lang="ar-SA" sz="1500" dirty="0"/>
          </a:p>
        </p:txBody>
      </p:sp>
      <p:sp>
        <p:nvSpPr>
          <p:cNvPr id="31" name="Text 28"/>
          <p:cNvSpPr txBox="1"/>
          <p:nvPr/>
        </p:nvSpPr>
        <p:spPr>
          <a:xfrm>
            <a:off x="6995160" y="3004718"/>
            <a:ext cx="2560320" cy="682142"/>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أَتَفَاهَمُ مَعَ … لِأَنَّ …</a:t>
            </a:r>
            <a:endParaRPr lang="ar-SA" sz="1600" dirty="0"/>
          </a:p>
        </p:txBody>
      </p:sp>
      <p:sp>
        <p:nvSpPr>
          <p:cNvPr id="32" name="Text 29"/>
          <p:cNvSpPr txBox="1"/>
          <p:nvPr/>
        </p:nvSpPr>
        <p:spPr>
          <a:xfrm>
            <a:off x="4636008" y="3004718"/>
            <a:ext cx="219456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Who do you get on with most? Why?</a:t>
            </a:r>
            <a:endParaRPr lang="en-US" sz="1100" dirty="0"/>
          </a:p>
        </p:txBody>
      </p:sp>
      <p:sp>
        <p:nvSpPr>
          <p:cNvPr id="33" name="Text 30"/>
          <p:cNvSpPr txBox="1"/>
          <p:nvPr/>
        </p:nvSpPr>
        <p:spPr>
          <a:xfrm>
            <a:off x="1051560" y="3004718"/>
            <a:ext cx="3383280" cy="682142"/>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ea typeface="Amiri" pitchFamily="2" charset="-78"/>
                <a:cs typeface="Amiri" pitchFamily="2" charset="-78"/>
              </a:rPr>
              <a:t>مَعَ مَنْ تَتَفَاهَمُ أَكْثَرَ؟ لِمَاذَا؟</a:t>
            </a:r>
            <a:endParaRPr lang="ar-SA" sz="1700" dirty="0"/>
          </a:p>
        </p:txBody>
      </p:sp>
      <p:sp>
        <p:nvSpPr>
          <p:cNvPr id="34" name="Text 31"/>
          <p:cNvSpPr txBox="1"/>
          <p:nvPr/>
        </p:nvSpPr>
        <p:spPr>
          <a:xfrm>
            <a:off x="566928" y="3004718"/>
            <a:ext cx="32004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2</a:t>
            </a:r>
            <a:endParaRPr lang="en-US" sz="1100" dirty="0"/>
          </a:p>
        </p:txBody>
      </p:sp>
      <p:sp>
        <p:nvSpPr>
          <p:cNvPr id="35" name="Shape 32"/>
          <p:cNvSpPr/>
          <p:nvPr/>
        </p:nvSpPr>
        <p:spPr>
          <a:xfrm>
            <a:off x="11091672" y="3050438"/>
            <a:ext cx="548640" cy="182880"/>
          </a:xfrm>
          <a:prstGeom prst="roundRect">
            <a:avLst>
              <a:gd name="adj" fmla="val 50000"/>
            </a:avLst>
          </a:prstGeom>
          <a:solidFill>
            <a:srgbClr val="2E8B57"/>
          </a:solidFill>
          <a:ln w="12700">
            <a:solidFill>
              <a:srgbClr val="2E8B57"/>
            </a:solidFill>
            <a:prstDash val="solid"/>
          </a:ln>
        </p:spPr>
      </p:sp>
      <p:sp>
        <p:nvSpPr>
          <p:cNvPr id="36" name="Text 33"/>
          <p:cNvSpPr txBox="1"/>
          <p:nvPr/>
        </p:nvSpPr>
        <p:spPr>
          <a:xfrm>
            <a:off x="11091672" y="3050438"/>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7" name="Shape 34"/>
          <p:cNvSpPr/>
          <p:nvPr/>
        </p:nvSpPr>
        <p:spPr>
          <a:xfrm>
            <a:off x="457200" y="3741725"/>
            <a:ext cx="11274552" cy="682142"/>
          </a:xfrm>
          <a:prstGeom prst="roundRect">
            <a:avLst>
              <a:gd name="adj" fmla="val 6702"/>
            </a:avLst>
          </a:prstGeom>
          <a:solidFill>
            <a:srgbClr val="FFFFFF"/>
          </a:solidFill>
          <a:ln w="9525">
            <a:solidFill>
              <a:srgbClr val="D8D0BF"/>
            </a:solidFill>
            <a:prstDash val="solid"/>
          </a:ln>
        </p:spPr>
      </p:sp>
      <p:sp>
        <p:nvSpPr>
          <p:cNvPr id="38" name="Text 35"/>
          <p:cNvSpPr txBox="1"/>
          <p:nvPr/>
        </p:nvSpPr>
        <p:spPr>
          <a:xfrm>
            <a:off x="9738360" y="3741725"/>
            <a:ext cx="1901952" cy="682142"/>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 لِأَنَّهُ مُرِيحٌ</a:t>
            </a:r>
            <a:endParaRPr lang="ar-SA" sz="1500" dirty="0"/>
          </a:p>
        </p:txBody>
      </p:sp>
      <p:sp>
        <p:nvSpPr>
          <p:cNvPr id="39" name="Text 36"/>
          <p:cNvSpPr txBox="1"/>
          <p:nvPr/>
        </p:nvSpPr>
        <p:spPr>
          <a:xfrm>
            <a:off x="6995160" y="3741725"/>
            <a:ext cx="2560320" cy="682142"/>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أَلْبَسُ … أَزْرَقَ / زَرْقَاءَ …</a:t>
            </a:r>
            <a:endParaRPr lang="ar-SA" sz="1600" dirty="0"/>
          </a:p>
        </p:txBody>
      </p:sp>
      <p:sp>
        <p:nvSpPr>
          <p:cNvPr id="40" name="Text 37"/>
          <p:cNvSpPr txBox="1"/>
          <p:nvPr/>
        </p:nvSpPr>
        <p:spPr>
          <a:xfrm>
            <a:off x="4636008" y="3741725"/>
            <a:ext cx="219456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What do you wear in the holidays?</a:t>
            </a:r>
            <a:endParaRPr lang="en-US" sz="1100" dirty="0"/>
          </a:p>
        </p:txBody>
      </p:sp>
      <p:sp>
        <p:nvSpPr>
          <p:cNvPr id="41" name="Text 38"/>
          <p:cNvSpPr txBox="1"/>
          <p:nvPr/>
        </p:nvSpPr>
        <p:spPr>
          <a:xfrm>
            <a:off x="1051560" y="3741725"/>
            <a:ext cx="3383280" cy="682142"/>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ea typeface="Amiri" pitchFamily="2" charset="-78"/>
                <a:cs typeface="Amiri" pitchFamily="2" charset="-78"/>
              </a:rPr>
              <a:t>مَاذَا تَلْبَسُ فِي العُطْلَةِ؟</a:t>
            </a:r>
            <a:endParaRPr lang="ar-SA" sz="1700" dirty="0"/>
          </a:p>
        </p:txBody>
      </p:sp>
      <p:sp>
        <p:nvSpPr>
          <p:cNvPr id="42" name="Text 39"/>
          <p:cNvSpPr txBox="1"/>
          <p:nvPr/>
        </p:nvSpPr>
        <p:spPr>
          <a:xfrm>
            <a:off x="566928" y="3741725"/>
            <a:ext cx="32004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3</a:t>
            </a:r>
            <a:endParaRPr lang="en-US" sz="1100" dirty="0"/>
          </a:p>
        </p:txBody>
      </p:sp>
      <p:sp>
        <p:nvSpPr>
          <p:cNvPr id="43" name="Shape 40"/>
          <p:cNvSpPr/>
          <p:nvPr/>
        </p:nvSpPr>
        <p:spPr>
          <a:xfrm>
            <a:off x="11091672" y="3787445"/>
            <a:ext cx="548640" cy="182880"/>
          </a:xfrm>
          <a:prstGeom prst="roundRect">
            <a:avLst>
              <a:gd name="adj" fmla="val 50000"/>
            </a:avLst>
          </a:prstGeom>
          <a:solidFill>
            <a:srgbClr val="2E8B57"/>
          </a:solidFill>
          <a:ln w="12700">
            <a:solidFill>
              <a:srgbClr val="2E8B57"/>
            </a:solidFill>
            <a:prstDash val="solid"/>
          </a:ln>
        </p:spPr>
      </p:sp>
      <p:sp>
        <p:nvSpPr>
          <p:cNvPr id="44" name="Text 41"/>
          <p:cNvSpPr txBox="1"/>
          <p:nvPr/>
        </p:nvSpPr>
        <p:spPr>
          <a:xfrm>
            <a:off x="11091672" y="3787445"/>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45" name="Shape 42"/>
          <p:cNvSpPr/>
          <p:nvPr/>
        </p:nvSpPr>
        <p:spPr>
          <a:xfrm>
            <a:off x="457200" y="4478731"/>
            <a:ext cx="11274552" cy="682142"/>
          </a:xfrm>
          <a:prstGeom prst="roundRect">
            <a:avLst>
              <a:gd name="adj" fmla="val 6702"/>
            </a:avLst>
          </a:prstGeom>
          <a:solidFill>
            <a:srgbClr val="F4F1EA"/>
          </a:solidFill>
          <a:ln w="9525">
            <a:solidFill>
              <a:srgbClr val="D8D0BF"/>
            </a:solidFill>
            <a:prstDash val="solid"/>
          </a:ln>
        </p:spPr>
      </p:sp>
      <p:sp>
        <p:nvSpPr>
          <p:cNvPr id="46" name="Text 43"/>
          <p:cNvSpPr txBox="1"/>
          <p:nvPr/>
        </p:nvSpPr>
        <p:spPr>
          <a:xfrm>
            <a:off x="9738360" y="4478731"/>
            <a:ext cx="1901952" cy="682142"/>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 وَلٰكِنَّنَا …</a:t>
            </a:r>
            <a:endParaRPr lang="ar-SA" sz="1500" dirty="0"/>
          </a:p>
        </p:txBody>
      </p:sp>
      <p:sp>
        <p:nvSpPr>
          <p:cNvPr id="47" name="Text 44"/>
          <p:cNvSpPr txBox="1"/>
          <p:nvPr/>
        </p:nvSpPr>
        <p:spPr>
          <a:xfrm>
            <a:off x="6995160" y="4478731"/>
            <a:ext cx="2560320" cy="682142"/>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أَنَا أَطْوَلُ … / هُوَ أَكْثَرُ …</a:t>
            </a:r>
            <a:endParaRPr lang="ar-SA" sz="1600" dirty="0"/>
          </a:p>
        </p:txBody>
      </p:sp>
      <p:sp>
        <p:nvSpPr>
          <p:cNvPr id="48" name="Text 45"/>
          <p:cNvSpPr txBox="1"/>
          <p:nvPr/>
        </p:nvSpPr>
        <p:spPr>
          <a:xfrm>
            <a:off x="4636008" y="4478731"/>
            <a:ext cx="219456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Compare yourself with your friend.</a:t>
            </a:r>
            <a:endParaRPr lang="en-US" sz="1100" dirty="0"/>
          </a:p>
        </p:txBody>
      </p:sp>
      <p:sp>
        <p:nvSpPr>
          <p:cNvPr id="49" name="Text 46"/>
          <p:cNvSpPr txBox="1"/>
          <p:nvPr/>
        </p:nvSpPr>
        <p:spPr>
          <a:xfrm>
            <a:off x="1051560" y="4478731"/>
            <a:ext cx="3383280" cy="682142"/>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ea typeface="Amiri" pitchFamily="2" charset="-78"/>
                <a:cs typeface="Amiri" pitchFamily="2" charset="-78"/>
              </a:rPr>
              <a:t>قَارِنْ بَيْنَكَ وَبَيْنَ صَدِيقِكَ.</a:t>
            </a:r>
            <a:endParaRPr lang="ar-SA" sz="1700" dirty="0"/>
          </a:p>
        </p:txBody>
      </p:sp>
      <p:sp>
        <p:nvSpPr>
          <p:cNvPr id="50" name="Text 47"/>
          <p:cNvSpPr txBox="1"/>
          <p:nvPr/>
        </p:nvSpPr>
        <p:spPr>
          <a:xfrm>
            <a:off x="566928" y="4478731"/>
            <a:ext cx="32004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4</a:t>
            </a:r>
            <a:endParaRPr lang="en-US" sz="1100" dirty="0"/>
          </a:p>
        </p:txBody>
      </p:sp>
      <p:sp>
        <p:nvSpPr>
          <p:cNvPr id="51" name="Shape 48"/>
          <p:cNvSpPr/>
          <p:nvPr/>
        </p:nvSpPr>
        <p:spPr>
          <a:xfrm>
            <a:off x="457200" y="5215738"/>
            <a:ext cx="11274552" cy="682142"/>
          </a:xfrm>
          <a:prstGeom prst="roundRect">
            <a:avLst>
              <a:gd name="adj" fmla="val 6702"/>
            </a:avLst>
          </a:prstGeom>
          <a:solidFill>
            <a:srgbClr val="FFFFFF"/>
          </a:solidFill>
          <a:ln w="9525">
            <a:solidFill>
              <a:srgbClr val="D8D0BF"/>
            </a:solidFill>
            <a:prstDash val="solid"/>
          </a:ln>
        </p:spPr>
      </p:sp>
      <p:sp>
        <p:nvSpPr>
          <p:cNvPr id="52" name="Text 49"/>
          <p:cNvSpPr txBox="1"/>
          <p:nvPr/>
        </p:nvSpPr>
        <p:spPr>
          <a:xfrm>
            <a:off x="9738360" y="5215738"/>
            <a:ext cx="1901952" cy="682142"/>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 عَلَى الرَّغْمِ مِنْ أَنَّ … فَإِنَّ …</a:t>
            </a:r>
            <a:endParaRPr lang="ar-SA" sz="1500" dirty="0"/>
          </a:p>
        </p:txBody>
      </p:sp>
      <p:sp>
        <p:nvSpPr>
          <p:cNvPr id="53" name="Text 50"/>
          <p:cNvSpPr txBox="1"/>
          <p:nvPr/>
        </p:nvSpPr>
        <p:spPr>
          <a:xfrm>
            <a:off x="6995160" y="5215738"/>
            <a:ext cx="2560320" cy="682142"/>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فِي رَأْيِي … لِأَنَّ …</a:t>
            </a:r>
            <a:endParaRPr lang="ar-SA" sz="1600" dirty="0"/>
          </a:p>
        </p:txBody>
      </p:sp>
      <p:sp>
        <p:nvSpPr>
          <p:cNvPr id="54" name="Text 51"/>
          <p:cNvSpPr txBox="1"/>
          <p:nvPr/>
        </p:nvSpPr>
        <p:spPr>
          <a:xfrm>
            <a:off x="4636008" y="5215738"/>
            <a:ext cx="219456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Is appearance important?</a:t>
            </a:r>
            <a:endParaRPr lang="en-US" sz="1100" dirty="0"/>
          </a:p>
        </p:txBody>
      </p:sp>
      <p:sp>
        <p:nvSpPr>
          <p:cNvPr id="55" name="Text 52"/>
          <p:cNvSpPr txBox="1"/>
          <p:nvPr/>
        </p:nvSpPr>
        <p:spPr>
          <a:xfrm>
            <a:off x="1051560" y="5215738"/>
            <a:ext cx="3383280" cy="682142"/>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ea typeface="Amiri" pitchFamily="2" charset="-78"/>
                <a:cs typeface="Amiri" pitchFamily="2" charset="-78"/>
              </a:rPr>
              <a:t>هَلِ المَظْهَرُ مُهِمٌّ؟</a:t>
            </a:r>
            <a:endParaRPr lang="ar-SA" sz="1700" dirty="0"/>
          </a:p>
        </p:txBody>
      </p:sp>
      <p:sp>
        <p:nvSpPr>
          <p:cNvPr id="56" name="Text 53"/>
          <p:cNvSpPr txBox="1"/>
          <p:nvPr/>
        </p:nvSpPr>
        <p:spPr>
          <a:xfrm>
            <a:off x="566928" y="5215738"/>
            <a:ext cx="32004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5</a:t>
            </a:r>
            <a:endParaRPr lang="en-US" sz="1100" dirty="0"/>
          </a:p>
        </p:txBody>
      </p:sp>
      <p:sp>
        <p:nvSpPr>
          <p:cNvPr id="57" name="Text 54"/>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00" b="1" dirty="0">
                <a:solidFill>
                  <a:srgbClr val="1B3B6F"/>
                </a:solidFill>
                <a:latin typeface="Calibri" pitchFamily="34" charset="0"/>
                <a:cs typeface="Amiri" pitchFamily="2" charset="-78"/>
              </a:rPr>
              <a:t>Each Speaker answers every question. Core: a full sentence from the starter. Develop: add the “more” part. Stretch: add a reason with </a:t>
            </a:r>
            <a:pPr algn="l" indent="0" marL="0">
              <a:buNone/>
            </a:pPr>
            <a:r>
              <a:rPr lang="ar-SA" altLang="en-US" sz="1450" b="1" dirty="0">
                <a:solidFill>
                  <a:srgbClr val="1B3B6F"/>
                </a:solidFill>
                <a:latin typeface="Amiri" pitchFamily="2" charset="-78"/>
                <a:ea typeface="Amiri" pitchFamily="2" charset="-78"/>
                <a:cs typeface="Amiri" pitchFamily="2" charset="-78"/>
              </a:rPr>
              <a:t>لِأَنَّ</a:t>
            </a:r>
            <a:pPr algn="l" indent="0" marL="0">
              <a:buNone/>
            </a:pPr>
            <a:r>
              <a:rPr lang="en-US" sz="1100" b="1" dirty="0">
                <a:solidFill>
                  <a:srgbClr val="1B3B6F"/>
                </a:solidFill>
                <a:latin typeface="Calibri" pitchFamily="34" charset="0"/>
                <a:cs typeface="Amiri" pitchFamily="2" charset="-78"/>
              </a:rPr>
              <a:t> or a second detail. Swap after each question.</a:t>
            </a:r>
            <a:endParaRPr lang="en-US" sz="1100" dirty="0"/>
          </a:p>
        </p:txBody>
      </p:sp>
      <p:sp>
        <p:nvSpPr>
          <p:cNvPr id="58" name="Text 5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9 / 22</a:t>
            </a:r>
            <a:endParaRPr lang="en-US" sz="8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D2-L12 · Speaking + writing practice room</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7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934" b="1" spc="150" kern="0" dirty="0">
                <a:solidFill>
                  <a:srgbClr val="1E6B52"/>
                </a:solidFill>
                <a:latin typeface="Calibri" pitchFamily="34" charset="0"/>
                <a:cs typeface="Amiri" pitchFamily="2" charset="-78"/>
              </a:rPr>
              <a:t>STEP 4 · ROLE-PLAY CARD · PLANS FOR TASKS 1–2 ARE GIVEN — PLAN 3–4 YOURSELF</a:t>
            </a:r>
            <a:endParaRPr lang="en-US" sz="934"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000" b="1" dirty="0">
                <a:solidFill>
                  <a:srgbClr val="1B3B6F"/>
                </a:solidFill>
                <a:latin typeface="Cambria" pitchFamily="34" charset="0"/>
                <a:cs typeface="Amiri" pitchFamily="2" charset="-78"/>
              </a:rPr>
              <a:t>Role-play card — the school yearbook interview</a:t>
            </a:r>
            <a:endParaRPr lang="en-US" sz="20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مُقَابَلَةُ كِتَابِ السَّنَةِ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D2 · People, Relationships and Style · D2-L12 · practice room</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8257032" y="1810512"/>
            <a:ext cx="340156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Plan: first words</a:t>
            </a:r>
            <a:endParaRPr lang="en-US" sz="1100" dirty="0"/>
          </a:p>
        </p:txBody>
      </p:sp>
      <p:sp>
        <p:nvSpPr>
          <p:cNvPr id="17" name="Text 14"/>
          <p:cNvSpPr txBox="1"/>
          <p:nvPr/>
        </p:nvSpPr>
        <p:spPr>
          <a:xfrm>
            <a:off x="4965192" y="1810512"/>
            <a:ext cx="31455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Speaker’s task</a:t>
            </a:r>
            <a:endParaRPr lang="en-US" sz="1100" dirty="0"/>
          </a:p>
        </p:txBody>
      </p:sp>
      <p:sp>
        <p:nvSpPr>
          <p:cNvPr id="18" name="Text 15"/>
          <p:cNvSpPr txBox="1"/>
          <p:nvPr/>
        </p:nvSpPr>
        <p:spPr>
          <a:xfrm>
            <a:off x="1033272" y="1810512"/>
            <a:ext cx="378561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Leader reads</a:t>
            </a:r>
            <a:endParaRPr lang="en-US" sz="1100" dirty="0"/>
          </a:p>
        </p:txBody>
      </p:sp>
      <p:sp>
        <p:nvSpPr>
          <p:cNvPr id="19" name="Text 16"/>
          <p:cNvSpPr txBox="1"/>
          <p:nvPr/>
        </p:nvSpPr>
        <p:spPr>
          <a:xfrm>
            <a:off x="530352" y="1810512"/>
            <a:ext cx="35661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a:t>
            </a:r>
            <a:endParaRPr lang="en-US" sz="1100" dirty="0"/>
          </a:p>
        </p:txBody>
      </p:sp>
      <p:sp>
        <p:nvSpPr>
          <p:cNvPr id="20" name="Shape 17"/>
          <p:cNvSpPr/>
          <p:nvPr/>
        </p:nvSpPr>
        <p:spPr>
          <a:xfrm>
            <a:off x="457200" y="2267712"/>
            <a:ext cx="11274552" cy="731520"/>
          </a:xfrm>
          <a:prstGeom prst="roundRect">
            <a:avLst>
              <a:gd name="adj" fmla="val 6250"/>
            </a:avLst>
          </a:prstGeom>
          <a:solidFill>
            <a:srgbClr val="FFFFFF"/>
          </a:solidFill>
          <a:ln w="9525">
            <a:solidFill>
              <a:srgbClr val="D8D0BF"/>
            </a:solidFill>
            <a:prstDash val="solid"/>
          </a:ln>
        </p:spPr>
      </p:sp>
      <p:sp>
        <p:nvSpPr>
          <p:cNvPr id="21" name="Text 18"/>
          <p:cNvSpPr txBox="1"/>
          <p:nvPr/>
        </p:nvSpPr>
        <p:spPr>
          <a:xfrm>
            <a:off x="8275320" y="2267712"/>
            <a:ext cx="3364992" cy="731520"/>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أَنَا ← أَنَا … وَ … وَ …</a:t>
            </a:r>
            <a:endParaRPr lang="ar-SA" sz="1600" dirty="0"/>
          </a:p>
        </p:txBody>
      </p:sp>
      <p:sp>
        <p:nvSpPr>
          <p:cNvPr id="22" name="Text 19"/>
          <p:cNvSpPr txBox="1"/>
          <p:nvPr/>
        </p:nvSpPr>
        <p:spPr>
          <a:xfrm>
            <a:off x="5001768" y="2267712"/>
            <a:ext cx="310896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Three qualities.</a:t>
            </a:r>
            <a:endParaRPr lang="en-US" sz="1100" dirty="0"/>
          </a:p>
        </p:txBody>
      </p:sp>
      <p:sp>
        <p:nvSpPr>
          <p:cNvPr id="23" name="Text 20"/>
          <p:cNvSpPr txBox="1"/>
          <p:nvPr/>
        </p:nvSpPr>
        <p:spPr>
          <a:xfrm>
            <a:off x="1051560" y="2267712"/>
            <a:ext cx="3749040" cy="731520"/>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ea typeface="Amiri" pitchFamily="2" charset="-78"/>
                <a:cs typeface="Amiri" pitchFamily="2" charset="-78"/>
              </a:rPr>
              <a:t>صِفْ نَفْسَكَ فِي ثَلَاثِ كَلِمَاتٍ.</a:t>
            </a:r>
            <a:endParaRPr lang="ar-SA" sz="1700" dirty="0"/>
          </a:p>
        </p:txBody>
      </p:sp>
      <p:sp>
        <p:nvSpPr>
          <p:cNvPr id="24" name="Text 21"/>
          <p:cNvSpPr txBox="1"/>
          <p:nvPr/>
        </p:nvSpPr>
        <p:spPr>
          <a:xfrm>
            <a:off x="566928" y="2267712"/>
            <a:ext cx="32004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1</a:t>
            </a:r>
            <a:endParaRPr lang="en-US" sz="1100" dirty="0"/>
          </a:p>
        </p:txBody>
      </p:sp>
      <p:sp>
        <p:nvSpPr>
          <p:cNvPr id="25" name="Shape 22"/>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6" name="Text 23"/>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27" name="Shape 24"/>
          <p:cNvSpPr/>
          <p:nvPr/>
        </p:nvSpPr>
        <p:spPr>
          <a:xfrm>
            <a:off x="457200" y="3054096"/>
            <a:ext cx="11274552" cy="731520"/>
          </a:xfrm>
          <a:prstGeom prst="roundRect">
            <a:avLst>
              <a:gd name="adj" fmla="val 6250"/>
            </a:avLst>
          </a:prstGeom>
          <a:solidFill>
            <a:srgbClr val="F4F1EA"/>
          </a:solidFill>
          <a:ln w="9525">
            <a:solidFill>
              <a:srgbClr val="D8D0BF"/>
            </a:solidFill>
            <a:prstDash val="solid"/>
          </a:ln>
        </p:spPr>
      </p:sp>
      <p:sp>
        <p:nvSpPr>
          <p:cNvPr id="28" name="Text 25"/>
          <p:cNvSpPr txBox="1"/>
          <p:nvPr/>
        </p:nvSpPr>
        <p:spPr>
          <a:xfrm>
            <a:off x="8275320" y="3054096"/>
            <a:ext cx="3364992" cy="731520"/>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صَدِيقِي ← هُوَ … القَامَةِ وَ … لِأَنَّهُ …</a:t>
            </a:r>
            <a:endParaRPr lang="ar-SA" sz="1600" dirty="0"/>
          </a:p>
        </p:txBody>
      </p:sp>
      <p:sp>
        <p:nvSpPr>
          <p:cNvPr id="29" name="Text 26"/>
          <p:cNvSpPr txBox="1"/>
          <p:nvPr/>
        </p:nvSpPr>
        <p:spPr>
          <a:xfrm>
            <a:off x="5001768" y="3054096"/>
            <a:ext cx="310896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Appearance + quality.</a:t>
            </a:r>
            <a:endParaRPr lang="en-US" sz="1100" dirty="0"/>
          </a:p>
        </p:txBody>
      </p:sp>
      <p:sp>
        <p:nvSpPr>
          <p:cNvPr id="30" name="Text 27"/>
          <p:cNvSpPr txBox="1"/>
          <p:nvPr/>
        </p:nvSpPr>
        <p:spPr>
          <a:xfrm>
            <a:off x="1051560" y="3054096"/>
            <a:ext cx="3749040" cy="731520"/>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ea typeface="Amiri" pitchFamily="2" charset="-78"/>
                <a:cs typeface="Amiri" pitchFamily="2" charset="-78"/>
              </a:rPr>
              <a:t>مَنْ أَقْرَبُ صَدِيقٍ لَكَ؟ صِفْهُ.</a:t>
            </a:r>
            <a:endParaRPr lang="ar-SA" sz="1700" dirty="0"/>
          </a:p>
        </p:txBody>
      </p:sp>
      <p:sp>
        <p:nvSpPr>
          <p:cNvPr id="31" name="Text 28"/>
          <p:cNvSpPr txBox="1"/>
          <p:nvPr/>
        </p:nvSpPr>
        <p:spPr>
          <a:xfrm>
            <a:off x="566928" y="3054096"/>
            <a:ext cx="32004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2</a:t>
            </a:r>
            <a:endParaRPr lang="en-US" sz="1100" dirty="0"/>
          </a:p>
        </p:txBody>
      </p:sp>
      <p:sp>
        <p:nvSpPr>
          <p:cNvPr id="32" name="Shape 29"/>
          <p:cNvSpPr/>
          <p:nvPr/>
        </p:nvSpPr>
        <p:spPr>
          <a:xfrm>
            <a:off x="11091672" y="3099816"/>
            <a:ext cx="548640" cy="182880"/>
          </a:xfrm>
          <a:prstGeom prst="roundRect">
            <a:avLst>
              <a:gd name="adj" fmla="val 50000"/>
            </a:avLst>
          </a:prstGeom>
          <a:solidFill>
            <a:srgbClr val="2E8B57"/>
          </a:solidFill>
          <a:ln w="12700">
            <a:solidFill>
              <a:srgbClr val="2E8B57"/>
            </a:solidFill>
            <a:prstDash val="solid"/>
          </a:ln>
        </p:spPr>
      </p:sp>
      <p:sp>
        <p:nvSpPr>
          <p:cNvPr id="33" name="Text 30"/>
          <p:cNvSpPr txBox="1"/>
          <p:nvPr/>
        </p:nvSpPr>
        <p:spPr>
          <a:xfrm>
            <a:off x="11091672" y="3099816"/>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4" name="Shape 31"/>
          <p:cNvSpPr/>
          <p:nvPr/>
        </p:nvSpPr>
        <p:spPr>
          <a:xfrm>
            <a:off x="457200" y="3840480"/>
            <a:ext cx="11274552" cy="731520"/>
          </a:xfrm>
          <a:prstGeom prst="roundRect">
            <a:avLst>
              <a:gd name="adj" fmla="val 6250"/>
            </a:avLst>
          </a:prstGeom>
          <a:solidFill>
            <a:srgbClr val="FFFFFF"/>
          </a:solidFill>
          <a:ln w="9525">
            <a:solidFill>
              <a:srgbClr val="D8D0BF"/>
            </a:solidFill>
            <a:prstDash val="solid"/>
          </a:ln>
        </p:spPr>
      </p:sp>
      <p:sp>
        <p:nvSpPr>
          <p:cNvPr id="35" name="Text 32"/>
          <p:cNvSpPr txBox="1"/>
          <p:nvPr/>
        </p:nvSpPr>
        <p:spPr>
          <a:xfrm>
            <a:off x="8293608" y="3840480"/>
            <a:ext cx="336499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______________</a:t>
            </a:r>
            <a:endParaRPr lang="en-US" sz="1100" dirty="0"/>
          </a:p>
        </p:txBody>
      </p:sp>
      <p:sp>
        <p:nvSpPr>
          <p:cNvPr id="36" name="Text 33"/>
          <p:cNvSpPr txBox="1"/>
          <p:nvPr/>
        </p:nvSpPr>
        <p:spPr>
          <a:xfrm>
            <a:off x="5001768" y="3840480"/>
            <a:ext cx="310896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Style + comparison.</a:t>
            </a:r>
            <a:endParaRPr lang="en-US" sz="1100" dirty="0"/>
          </a:p>
        </p:txBody>
      </p:sp>
      <p:sp>
        <p:nvSpPr>
          <p:cNvPr id="37" name="Text 34"/>
          <p:cNvSpPr txBox="1"/>
          <p:nvPr/>
        </p:nvSpPr>
        <p:spPr>
          <a:xfrm>
            <a:off x="1051560" y="3840480"/>
            <a:ext cx="3749040" cy="731520"/>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ea typeface="Amiri" pitchFamily="2" charset="-78"/>
                <a:cs typeface="Amiri" pitchFamily="2" charset="-78"/>
              </a:rPr>
              <a:t>مَا أُسْلُوبُكَ فِي المَلَابِسِ؟</a:t>
            </a:r>
            <a:endParaRPr lang="ar-SA" sz="1700" dirty="0"/>
          </a:p>
        </p:txBody>
      </p:sp>
      <p:sp>
        <p:nvSpPr>
          <p:cNvPr id="38" name="Text 35"/>
          <p:cNvSpPr txBox="1"/>
          <p:nvPr/>
        </p:nvSpPr>
        <p:spPr>
          <a:xfrm>
            <a:off x="566928" y="3840480"/>
            <a:ext cx="32004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3</a:t>
            </a:r>
            <a:endParaRPr lang="en-US" sz="1100" dirty="0"/>
          </a:p>
        </p:txBody>
      </p:sp>
      <p:sp>
        <p:nvSpPr>
          <p:cNvPr id="39" name="Shape 36"/>
          <p:cNvSpPr/>
          <p:nvPr/>
        </p:nvSpPr>
        <p:spPr>
          <a:xfrm>
            <a:off x="457200" y="4626864"/>
            <a:ext cx="11274552" cy="731520"/>
          </a:xfrm>
          <a:prstGeom prst="roundRect">
            <a:avLst>
              <a:gd name="adj" fmla="val 6250"/>
            </a:avLst>
          </a:prstGeom>
          <a:solidFill>
            <a:srgbClr val="F4F1EA"/>
          </a:solidFill>
          <a:ln w="9525">
            <a:solidFill>
              <a:srgbClr val="D8D0BF"/>
            </a:solidFill>
            <a:prstDash val="solid"/>
          </a:ln>
        </p:spPr>
      </p:sp>
      <p:sp>
        <p:nvSpPr>
          <p:cNvPr id="40" name="Text 37"/>
          <p:cNvSpPr txBox="1"/>
          <p:nvPr/>
        </p:nvSpPr>
        <p:spPr>
          <a:xfrm>
            <a:off x="8293608" y="4626864"/>
            <a:ext cx="336499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______________</a:t>
            </a:r>
            <a:endParaRPr lang="en-US" sz="1100" dirty="0"/>
          </a:p>
        </p:txBody>
      </p:sp>
      <p:sp>
        <p:nvSpPr>
          <p:cNvPr id="41" name="Text 38"/>
          <p:cNvSpPr txBox="1"/>
          <p:nvPr/>
        </p:nvSpPr>
        <p:spPr>
          <a:xfrm>
            <a:off x="5001768" y="4626864"/>
            <a:ext cx="310896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Answer in the past.</a:t>
            </a:r>
            <a:endParaRPr lang="en-US" sz="1100" dirty="0"/>
          </a:p>
        </p:txBody>
      </p:sp>
      <p:sp>
        <p:nvSpPr>
          <p:cNvPr id="42" name="Text 39"/>
          <p:cNvSpPr txBox="1"/>
          <p:nvPr/>
        </p:nvSpPr>
        <p:spPr>
          <a:xfrm>
            <a:off x="1051560" y="4626864"/>
            <a:ext cx="3749040" cy="731520"/>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ea typeface="Amiri" pitchFamily="2" charset="-78"/>
                <a:cs typeface="Amiri" pitchFamily="2" charset="-78"/>
              </a:rPr>
              <a:t>مَا أَجْمَلُ ذِكْرَى مَعَ صَدِيقِكَ هٰذِهِ السَّنَةَ؟</a:t>
            </a:r>
            <a:endParaRPr lang="ar-SA" sz="1700" dirty="0"/>
          </a:p>
        </p:txBody>
      </p:sp>
      <p:sp>
        <p:nvSpPr>
          <p:cNvPr id="43" name="Text 40"/>
          <p:cNvSpPr txBox="1"/>
          <p:nvPr/>
        </p:nvSpPr>
        <p:spPr>
          <a:xfrm>
            <a:off x="566928" y="4626864"/>
            <a:ext cx="32004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4 !</a:t>
            </a:r>
            <a:endParaRPr lang="en-US" sz="1100" dirty="0"/>
          </a:p>
        </p:txBody>
      </p:sp>
      <p:sp>
        <p:nvSpPr>
          <p:cNvPr id="44" name="Text 41"/>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00" b="1" dirty="0">
                <a:solidFill>
                  <a:srgbClr val="1B3B6F"/>
                </a:solidFill>
                <a:latin typeface="Calibri" pitchFamily="34" charset="0"/>
                <a:cs typeface="Amiri" pitchFamily="2" charset="-78"/>
              </a:rPr>
              <a:t>Speaker = a student · Leader = the yearbook editor. Write the plan for tasks 3–4 in your book first. Task ! is a surprise — the Leader reads it without warning. Then swap roles.</a:t>
            </a:r>
            <a:endParaRPr lang="en-US" sz="1100" dirty="0"/>
          </a:p>
        </p:txBody>
      </p:sp>
      <p:sp>
        <p:nvSpPr>
          <p:cNvPr id="45" name="Text 4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10 / 22</a:t>
            </a:r>
            <a:endParaRPr lang="en-US" sz="8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D2-L12 · Speaking + writing practice room</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4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STEP 5 · SHORT TALK · ONE MINUTE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One minute: my D2 showcase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أَعْرِضُ مَا تَعَلَّمْتُ</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D2 · People, Relationships and Style · D2-L12 · practice room</a:t>
            </a:r>
            <a:endParaRPr lang="en-US" sz="850" dirty="0"/>
          </a:p>
        </p:txBody>
      </p:sp>
      <p:sp>
        <p:nvSpPr>
          <p:cNvPr id="15" name="Shape 12"/>
          <p:cNvSpPr/>
          <p:nvPr/>
        </p:nvSpPr>
        <p:spPr>
          <a:xfrm>
            <a:off x="457200" y="1810512"/>
            <a:ext cx="5715000" cy="4498848"/>
          </a:xfrm>
          <a:prstGeom prst="roundRect">
            <a:avLst>
              <a:gd name="adj" fmla="val 1626"/>
            </a:avLst>
          </a:prstGeom>
          <a:solidFill>
            <a:srgbClr val="F4F1EA"/>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20240"/>
            <a:ext cx="3108960" cy="292608"/>
          </a:xfrm>
          <a:prstGeom prst="roundRect">
            <a:avLst>
              <a:gd name="adj" fmla="val 50000"/>
            </a:avLst>
          </a:prstGeom>
          <a:solidFill>
            <a:srgbClr val="8A6D1E"/>
          </a:solidFill>
          <a:ln w="12700">
            <a:solidFill>
              <a:srgbClr val="8A6D1E"/>
            </a:solidFill>
            <a:prstDash val="solid"/>
          </a:ln>
        </p:spPr>
      </p:sp>
      <p:sp>
        <p:nvSpPr>
          <p:cNvPr id="17" name="Text 14"/>
          <p:cNvSpPr txBox="1"/>
          <p:nvPr/>
        </p:nvSpPr>
        <p:spPr>
          <a:xfrm>
            <a:off x="640080" y="1920240"/>
            <a:ext cx="3108960" cy="292608"/>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STEP 5 · IN YOUR ROOM</a:t>
            </a:r>
            <a:endParaRPr lang="en-US" sz="900" dirty="0"/>
          </a:p>
        </p:txBody>
      </p:sp>
      <p:sp>
        <p:nvSpPr>
          <p:cNvPr id="18" name="Text 15"/>
          <p:cNvSpPr txBox="1"/>
          <p:nvPr/>
        </p:nvSpPr>
        <p:spPr>
          <a:xfrm>
            <a:off x="640080" y="2286000"/>
            <a:ext cx="5349240" cy="502920"/>
          </a:xfrm>
          <a:prstGeom prst="rect">
            <a:avLst/>
          </a:prstGeom>
          <a:noFill/>
          <a:ln/>
        </p:spPr>
        <p:txBody>
          <a:bodyPr wrap="square" lIns="0" tIns="0" rIns="0" bIns="0" rtlCol="0" anchor="ctr"/>
          <a:lstStyle/>
          <a:p>
            <a:pPr algn="l" indent="0" marL="0">
              <a:buNone/>
            </a:pPr>
            <a:r>
              <a:rPr lang="en-US" sz="2200" b="1" dirty="0">
                <a:solidFill>
                  <a:srgbClr val="1B3B6F"/>
                </a:solidFill>
                <a:latin typeface="Calibri" pitchFamily="34" charset="0"/>
                <a:cs typeface="Amiri" pitchFamily="2" charset="-78"/>
              </a:rPr>
              <a:t>⏱  Talk for one minute — no stopping</a:t>
            </a:r>
            <a:endParaRPr lang="en-US" sz="2200" dirty="0"/>
          </a:p>
        </p:txBody>
      </p:sp>
      <p:sp>
        <p:nvSpPr>
          <p:cNvPr id="19" name="Text 16"/>
          <p:cNvSpPr txBox="1"/>
          <p:nvPr/>
        </p:nvSpPr>
        <p:spPr>
          <a:xfrm>
            <a:off x="640080" y="2816352"/>
            <a:ext cx="5349240" cy="1188720"/>
          </a:xfrm>
          <a:prstGeom prst="rect">
            <a:avLst/>
          </a:prstGeom>
          <a:noFill/>
          <a:ln/>
        </p:spPr>
        <p:txBody>
          <a:bodyPr wrap="square" lIns="0" tIns="0" rIns="0" bIns="0" rtlCol="0" anchor="t"/>
          <a:lstStyle/>
          <a:p>
            <a:pPr algn="l" indent="0" marL="0">
              <a:buNone/>
            </a:pPr>
            <a:r>
              <a:rPr lang="en-US" sz="1350" dirty="0">
                <a:solidFill>
                  <a:srgbClr val="1F2A37"/>
                </a:solidFill>
                <a:latin typeface="Calibri" pitchFamily="34" charset="0"/>
                <a:cs typeface="Amiri" pitchFamily="2" charset="-78"/>
              </a:rPr>
              <a:t>Talk for one minute about a person you know and show as many D2 structures as you can. The Coach ticks: agreement · </a:t>
            </a:r>
            <a:pPr algn="l" indent="0" marL="0">
              <a:buNone/>
            </a:pPr>
            <a:r>
              <a:rPr lang="ar-SA" altLang="en-US" sz="1750" dirty="0">
                <a:solidFill>
                  <a:srgbClr val="1F2A37"/>
                </a:solidFill>
                <a:latin typeface="Amiri" pitchFamily="2" charset="-78"/>
                <a:ea typeface="Amiri" pitchFamily="2" charset="-78"/>
                <a:cs typeface="Amiri" pitchFamily="2" charset="-78"/>
              </a:rPr>
              <a:t>لَيْسَ</a:t>
            </a:r>
            <a:pPr algn="l" indent="0" marL="0">
              <a:buNone/>
            </a:pPr>
            <a:r>
              <a:rPr lang="en-US" sz="1350" dirty="0">
                <a:solidFill>
                  <a:srgbClr val="1F2A37"/>
                </a:solidFill>
                <a:latin typeface="Calibri" pitchFamily="34" charset="0"/>
                <a:cs typeface="Amiri" pitchFamily="2" charset="-78"/>
              </a:rPr>
              <a:t> · relationship verb · object suffix · colour · comparative · hair / eyes · </a:t>
            </a:r>
            <a:pPr algn="l" indent="0" marL="0">
              <a:buNone/>
            </a:pPr>
            <a:r>
              <a:rPr lang="ar-SA" altLang="en-US" sz="1750" dirty="0">
                <a:solidFill>
                  <a:srgbClr val="1F2A37"/>
                </a:solidFill>
                <a:latin typeface="Amiri" pitchFamily="2" charset="-78"/>
                <a:ea typeface="Amiri" pitchFamily="2" charset="-78"/>
                <a:cs typeface="Amiri" pitchFamily="2" charset="-78"/>
              </a:rPr>
              <a:t>الَّذِي / الَّتِي</a:t>
            </a:r>
            <a:pPr algn="l" indent="0" marL="0">
              <a:buNone/>
            </a:pPr>
            <a:r>
              <a:rPr lang="en-US" sz="1350" dirty="0">
                <a:solidFill>
                  <a:srgbClr val="1F2A37"/>
                </a:solidFill>
                <a:latin typeface="Calibri" pitchFamily="34" charset="0"/>
                <a:cs typeface="Amiri" pitchFamily="2" charset="-78"/>
              </a:rPr>
              <a:t> · concession.</a:t>
            </a:r>
            <a:endParaRPr lang="en-US" sz="1350" dirty="0"/>
          </a:p>
        </p:txBody>
      </p:sp>
      <p:sp>
        <p:nvSpPr>
          <p:cNvPr id="20" name="Text 17"/>
          <p:cNvSpPr txBox="1"/>
          <p:nvPr/>
        </p:nvSpPr>
        <p:spPr>
          <a:xfrm>
            <a:off x="640080" y="4041648"/>
            <a:ext cx="5303520" cy="256032"/>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HOW WE RUN IT ONLINE</a:t>
            </a:r>
            <a:endParaRPr lang="en-US" sz="950" dirty="0"/>
          </a:p>
        </p:txBody>
      </p:sp>
      <p:sp>
        <p:nvSpPr>
          <p:cNvPr id="21" name="Shape 18"/>
          <p:cNvSpPr/>
          <p:nvPr/>
        </p:nvSpPr>
        <p:spPr>
          <a:xfrm>
            <a:off x="658368" y="4407408"/>
            <a:ext cx="274320" cy="274320"/>
          </a:xfrm>
          <a:prstGeom prst="ellipse">
            <a:avLst/>
          </a:prstGeom>
          <a:solidFill>
            <a:srgbClr val="1B3B6F"/>
          </a:solidFill>
          <a:ln w="12700">
            <a:solidFill>
              <a:srgbClr val="1B3B6F"/>
            </a:solidFill>
            <a:prstDash val="solid"/>
          </a:ln>
        </p:spPr>
      </p:sp>
      <p:sp>
        <p:nvSpPr>
          <p:cNvPr id="22" name="Text 19"/>
          <p:cNvSpPr txBox="1"/>
          <p:nvPr/>
        </p:nvSpPr>
        <p:spPr>
          <a:xfrm>
            <a:off x="658368" y="4407408"/>
            <a:ext cx="274320" cy="27432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1</a:t>
            </a:r>
            <a:endParaRPr lang="en-US" sz="1000" dirty="0"/>
          </a:p>
        </p:txBody>
      </p:sp>
      <p:sp>
        <p:nvSpPr>
          <p:cNvPr id="23" name="Text 20"/>
          <p:cNvSpPr txBox="1"/>
          <p:nvPr/>
        </p:nvSpPr>
        <p:spPr>
          <a:xfrm>
            <a:off x="1024128" y="4334256"/>
            <a:ext cx="4983480" cy="457200"/>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Think for 30 seconds: 3–4 key words, no sentences.</a:t>
            </a:r>
            <a:endParaRPr lang="en-US" sz="1150" dirty="0"/>
          </a:p>
        </p:txBody>
      </p:sp>
      <p:sp>
        <p:nvSpPr>
          <p:cNvPr id="24" name="Shape 21"/>
          <p:cNvSpPr/>
          <p:nvPr/>
        </p:nvSpPr>
        <p:spPr>
          <a:xfrm>
            <a:off x="658368" y="4864608"/>
            <a:ext cx="274320" cy="274320"/>
          </a:xfrm>
          <a:prstGeom prst="ellipse">
            <a:avLst/>
          </a:prstGeom>
          <a:solidFill>
            <a:srgbClr val="1B3B6F"/>
          </a:solidFill>
          <a:ln w="12700">
            <a:solidFill>
              <a:srgbClr val="1B3B6F"/>
            </a:solidFill>
            <a:prstDash val="solid"/>
          </a:ln>
        </p:spPr>
      </p:sp>
      <p:sp>
        <p:nvSpPr>
          <p:cNvPr id="25" name="Text 22"/>
          <p:cNvSpPr txBox="1"/>
          <p:nvPr/>
        </p:nvSpPr>
        <p:spPr>
          <a:xfrm>
            <a:off x="658368" y="4864608"/>
            <a:ext cx="274320" cy="27432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2</a:t>
            </a:r>
            <a:endParaRPr lang="en-US" sz="1000" dirty="0"/>
          </a:p>
        </p:txBody>
      </p:sp>
      <p:sp>
        <p:nvSpPr>
          <p:cNvPr id="26" name="Text 23"/>
          <p:cNvSpPr txBox="1"/>
          <p:nvPr/>
        </p:nvSpPr>
        <p:spPr>
          <a:xfrm>
            <a:off x="1024128" y="4791456"/>
            <a:ext cx="4983480" cy="457200"/>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Speaker talks; the Leader times it.</a:t>
            </a:r>
            <a:endParaRPr lang="en-US" sz="1150" dirty="0"/>
          </a:p>
        </p:txBody>
      </p:sp>
      <p:sp>
        <p:nvSpPr>
          <p:cNvPr id="27" name="Shape 24"/>
          <p:cNvSpPr/>
          <p:nvPr/>
        </p:nvSpPr>
        <p:spPr>
          <a:xfrm>
            <a:off x="658368" y="5321808"/>
            <a:ext cx="274320" cy="274320"/>
          </a:xfrm>
          <a:prstGeom prst="ellipse">
            <a:avLst/>
          </a:prstGeom>
          <a:solidFill>
            <a:srgbClr val="1B3B6F"/>
          </a:solidFill>
          <a:ln w="12700">
            <a:solidFill>
              <a:srgbClr val="1B3B6F"/>
            </a:solidFill>
            <a:prstDash val="solid"/>
          </a:ln>
        </p:spPr>
      </p:sp>
      <p:sp>
        <p:nvSpPr>
          <p:cNvPr id="28" name="Text 25"/>
          <p:cNvSpPr txBox="1"/>
          <p:nvPr/>
        </p:nvSpPr>
        <p:spPr>
          <a:xfrm>
            <a:off x="658368" y="5321808"/>
            <a:ext cx="274320" cy="27432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3</a:t>
            </a:r>
            <a:endParaRPr lang="en-US" sz="1000" dirty="0"/>
          </a:p>
        </p:txBody>
      </p:sp>
      <p:sp>
        <p:nvSpPr>
          <p:cNvPr id="29" name="Text 26"/>
          <p:cNvSpPr txBox="1"/>
          <p:nvPr/>
        </p:nvSpPr>
        <p:spPr>
          <a:xfrm>
            <a:off x="1024128" y="5248656"/>
            <a:ext cx="4983480" cy="457200"/>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Coach: one thing that went well + one thing to improve.</a:t>
            </a:r>
            <a:endParaRPr lang="en-US" sz="1150" dirty="0"/>
          </a:p>
        </p:txBody>
      </p:sp>
      <p:sp>
        <p:nvSpPr>
          <p:cNvPr id="30" name="Shape 27"/>
          <p:cNvSpPr/>
          <p:nvPr/>
        </p:nvSpPr>
        <p:spPr>
          <a:xfrm>
            <a:off x="658368" y="5779008"/>
            <a:ext cx="274320" cy="274320"/>
          </a:xfrm>
          <a:prstGeom prst="ellipse">
            <a:avLst/>
          </a:prstGeom>
          <a:solidFill>
            <a:srgbClr val="1B3B6F"/>
          </a:solidFill>
          <a:ln w="12700">
            <a:solidFill>
              <a:srgbClr val="1B3B6F"/>
            </a:solidFill>
            <a:prstDash val="solid"/>
          </a:ln>
        </p:spPr>
      </p:sp>
      <p:sp>
        <p:nvSpPr>
          <p:cNvPr id="31" name="Text 28"/>
          <p:cNvSpPr txBox="1"/>
          <p:nvPr/>
        </p:nvSpPr>
        <p:spPr>
          <a:xfrm>
            <a:off x="658368" y="5779008"/>
            <a:ext cx="274320" cy="27432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4</a:t>
            </a:r>
            <a:endParaRPr lang="en-US" sz="1000" dirty="0"/>
          </a:p>
        </p:txBody>
      </p:sp>
      <p:sp>
        <p:nvSpPr>
          <p:cNvPr id="32" name="Text 29"/>
          <p:cNvSpPr txBox="1"/>
          <p:nvPr/>
        </p:nvSpPr>
        <p:spPr>
          <a:xfrm>
            <a:off x="1024128" y="5705856"/>
            <a:ext cx="4983480" cy="457200"/>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Swap until everyone has spoken.</a:t>
            </a:r>
            <a:endParaRPr lang="en-US" sz="1150" dirty="0"/>
          </a:p>
        </p:txBody>
      </p:sp>
      <p:sp>
        <p:nvSpPr>
          <p:cNvPr id="33" name="Shape 30"/>
          <p:cNvSpPr/>
          <p:nvPr/>
        </p:nvSpPr>
        <p:spPr>
          <a:xfrm>
            <a:off x="6355080" y="1810512"/>
            <a:ext cx="5376672" cy="896112"/>
          </a:xfrm>
          <a:prstGeom prst="roundRect">
            <a:avLst>
              <a:gd name="adj" fmla="val 8163"/>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34" name="Shape 31"/>
          <p:cNvSpPr/>
          <p:nvPr/>
        </p:nvSpPr>
        <p:spPr>
          <a:xfrm>
            <a:off x="6473952" y="1901952"/>
            <a:ext cx="1051560" cy="256032"/>
          </a:xfrm>
          <a:prstGeom prst="roundRect">
            <a:avLst>
              <a:gd name="adj" fmla="val 50000"/>
            </a:avLst>
          </a:prstGeom>
          <a:solidFill>
            <a:srgbClr val="2E8B57"/>
          </a:solidFill>
          <a:ln w="12700">
            <a:solidFill>
              <a:srgbClr val="2E8B57"/>
            </a:solidFill>
            <a:prstDash val="solid"/>
          </a:ln>
        </p:spPr>
      </p:sp>
      <p:sp>
        <p:nvSpPr>
          <p:cNvPr id="35" name="Text 32"/>
          <p:cNvSpPr txBox="1"/>
          <p:nvPr/>
        </p:nvSpPr>
        <p:spPr>
          <a:xfrm>
            <a:off x="6473952" y="1901952"/>
            <a:ext cx="1051560" cy="256032"/>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36" name="Text 33"/>
          <p:cNvSpPr txBox="1"/>
          <p:nvPr/>
        </p:nvSpPr>
        <p:spPr>
          <a:xfrm>
            <a:off x="6473952" y="2176272"/>
            <a:ext cx="5120640" cy="475488"/>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Five structures from the list.</a:t>
            </a:r>
            <a:endParaRPr lang="en-US" sz="1150" dirty="0"/>
          </a:p>
        </p:txBody>
      </p:sp>
      <p:sp>
        <p:nvSpPr>
          <p:cNvPr id="37" name="Shape 34"/>
          <p:cNvSpPr/>
          <p:nvPr/>
        </p:nvSpPr>
        <p:spPr>
          <a:xfrm>
            <a:off x="6355080" y="2816352"/>
            <a:ext cx="5376672" cy="896112"/>
          </a:xfrm>
          <a:prstGeom prst="roundRect">
            <a:avLst>
              <a:gd name="adj" fmla="val 8163"/>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38" name="Shape 35"/>
          <p:cNvSpPr/>
          <p:nvPr/>
        </p:nvSpPr>
        <p:spPr>
          <a:xfrm>
            <a:off x="6473952" y="2907792"/>
            <a:ext cx="1051560" cy="256032"/>
          </a:xfrm>
          <a:prstGeom prst="roundRect">
            <a:avLst>
              <a:gd name="adj" fmla="val 50000"/>
            </a:avLst>
          </a:prstGeom>
          <a:solidFill>
            <a:srgbClr val="C9780A"/>
          </a:solidFill>
          <a:ln w="12700">
            <a:solidFill>
              <a:srgbClr val="C9780A"/>
            </a:solidFill>
            <a:prstDash val="solid"/>
          </a:ln>
        </p:spPr>
      </p:sp>
      <p:sp>
        <p:nvSpPr>
          <p:cNvPr id="39" name="Text 36"/>
          <p:cNvSpPr txBox="1"/>
          <p:nvPr/>
        </p:nvSpPr>
        <p:spPr>
          <a:xfrm>
            <a:off x="6473952" y="2907792"/>
            <a:ext cx="1051560" cy="256032"/>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DEVELOP</a:t>
            </a:r>
            <a:endParaRPr lang="en-US" sz="850" dirty="0"/>
          </a:p>
        </p:txBody>
      </p:sp>
      <p:sp>
        <p:nvSpPr>
          <p:cNvPr id="40" name="Text 37"/>
          <p:cNvSpPr txBox="1"/>
          <p:nvPr/>
        </p:nvSpPr>
        <p:spPr>
          <a:xfrm>
            <a:off x="6473952" y="3182112"/>
            <a:ext cx="5120640" cy="475488"/>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Seven structures, all with correct agreement.</a:t>
            </a:r>
            <a:endParaRPr lang="en-US" sz="1150" dirty="0"/>
          </a:p>
        </p:txBody>
      </p:sp>
      <p:sp>
        <p:nvSpPr>
          <p:cNvPr id="41" name="Shape 38"/>
          <p:cNvSpPr/>
          <p:nvPr/>
        </p:nvSpPr>
        <p:spPr>
          <a:xfrm>
            <a:off x="6355080" y="3822192"/>
            <a:ext cx="5376672" cy="896112"/>
          </a:xfrm>
          <a:prstGeom prst="roundRect">
            <a:avLst>
              <a:gd name="adj" fmla="val 8163"/>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6473952" y="3913632"/>
            <a:ext cx="1051560" cy="256032"/>
          </a:xfrm>
          <a:prstGeom prst="roundRect">
            <a:avLst>
              <a:gd name="adj" fmla="val 50000"/>
            </a:avLst>
          </a:prstGeom>
          <a:solidFill>
            <a:srgbClr val="B83227"/>
          </a:solidFill>
          <a:ln w="12700">
            <a:solidFill>
              <a:srgbClr val="B83227"/>
            </a:solidFill>
            <a:prstDash val="solid"/>
          </a:ln>
        </p:spPr>
      </p:sp>
      <p:sp>
        <p:nvSpPr>
          <p:cNvPr id="43" name="Text 40"/>
          <p:cNvSpPr txBox="1"/>
          <p:nvPr/>
        </p:nvSpPr>
        <p:spPr>
          <a:xfrm>
            <a:off x="6473952" y="3913632"/>
            <a:ext cx="1051560" cy="256032"/>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STRETCH</a:t>
            </a:r>
            <a:endParaRPr lang="en-US" sz="850" dirty="0"/>
          </a:p>
        </p:txBody>
      </p:sp>
      <p:sp>
        <p:nvSpPr>
          <p:cNvPr id="44" name="Text 41"/>
          <p:cNvSpPr txBox="1"/>
          <p:nvPr/>
        </p:nvSpPr>
        <p:spPr>
          <a:xfrm>
            <a:off x="6473952" y="4187952"/>
            <a:ext cx="5120640" cy="475488"/>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All nine, with a past example.</a:t>
            </a:r>
            <a:endParaRPr lang="en-US" sz="1150" dirty="0"/>
          </a:p>
        </p:txBody>
      </p:sp>
      <p:sp>
        <p:nvSpPr>
          <p:cNvPr id="45" name="Shape 42"/>
          <p:cNvSpPr/>
          <p:nvPr/>
        </p:nvSpPr>
        <p:spPr>
          <a:xfrm>
            <a:off x="6355080" y="4828032"/>
            <a:ext cx="5376672" cy="1481328"/>
          </a:xfrm>
          <a:prstGeom prst="roundRect">
            <a:avLst>
              <a:gd name="adj" fmla="val 4938"/>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Text 43"/>
          <p:cNvSpPr txBox="1"/>
          <p:nvPr/>
        </p:nvSpPr>
        <p:spPr>
          <a:xfrm>
            <a:off x="6492240" y="4882896"/>
            <a:ext cx="2743200" cy="237744"/>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USEFUL LANGUAGE</a:t>
            </a:r>
            <a:endParaRPr lang="en-US" sz="950" dirty="0"/>
          </a:p>
        </p:txBody>
      </p:sp>
      <p:sp>
        <p:nvSpPr>
          <p:cNvPr id="47" name="Text 44"/>
          <p:cNvSpPr txBox="1"/>
          <p:nvPr/>
        </p:nvSpPr>
        <p:spPr>
          <a:xfrm>
            <a:off x="8732520" y="5138928"/>
            <a:ext cx="2880360" cy="283464"/>
          </a:xfrm>
          <a:prstGeom prst="rect">
            <a:avLst/>
          </a:prstGeom>
          <a:noFill/>
          <a:ln/>
        </p:spPr>
        <p:txBody>
          <a:bodyPr wrap="square" lIns="0" tIns="0" rIns="0" bIns="0" rtlCol="0" anchor="ctr"/>
          <a:lstStyle/>
          <a:p>
            <a:pPr rtl="1" algn="r" indent="0" marL="0">
              <a:buNone/>
            </a:pPr>
            <a:r>
              <a:rPr lang="ar-SA" altLang="en-US" sz="1300" b="1" dirty="0">
                <a:solidFill>
                  <a:srgbClr val="1B3B6F"/>
                </a:solidFill>
                <a:latin typeface="Amiri" pitchFamily="2" charset="-78"/>
                <a:ea typeface="Amiri" pitchFamily="2" charset="-78"/>
                <a:cs typeface="Amiri" pitchFamily="2" charset="-78"/>
              </a:rPr>
              <a:t>أَوَّلًا … ثُمَّ …</a:t>
            </a:r>
            <a:endParaRPr lang="ar-SA" sz="1300" dirty="0"/>
          </a:p>
        </p:txBody>
      </p:sp>
      <p:sp>
        <p:nvSpPr>
          <p:cNvPr id="48" name="Text 45"/>
          <p:cNvSpPr txBox="1"/>
          <p:nvPr/>
        </p:nvSpPr>
        <p:spPr>
          <a:xfrm>
            <a:off x="6492240" y="5138928"/>
            <a:ext cx="2194560" cy="283464"/>
          </a:xfrm>
          <a:prstGeom prst="rect">
            <a:avLst/>
          </a:prstGeom>
          <a:noFill/>
          <a:ln/>
        </p:spPr>
        <p:txBody>
          <a:bodyPr wrap="square" lIns="0" tIns="0" rIns="0" bIns="0" rtlCol="0" anchor="ctr"/>
          <a:lstStyle/>
          <a:p>
            <a:pPr algn="l" indent="0" marL="0">
              <a:buNone/>
            </a:pPr>
            <a:r>
              <a:rPr lang="en-US" sz="1000" i="1" dirty="0">
                <a:solidFill>
                  <a:srgbClr val="5A6472"/>
                </a:solidFill>
                <a:latin typeface="Calibri" pitchFamily="34" charset="0"/>
                <a:cs typeface="Amiri" pitchFamily="2" charset="-78"/>
              </a:rPr>
              <a:t>first … then …</a:t>
            </a:r>
            <a:endParaRPr lang="en-US" sz="1000" dirty="0"/>
          </a:p>
        </p:txBody>
      </p:sp>
      <p:sp>
        <p:nvSpPr>
          <p:cNvPr id="49" name="Text 46"/>
          <p:cNvSpPr txBox="1"/>
          <p:nvPr/>
        </p:nvSpPr>
        <p:spPr>
          <a:xfrm>
            <a:off x="8732520" y="5422392"/>
            <a:ext cx="2880360" cy="283464"/>
          </a:xfrm>
          <a:prstGeom prst="rect">
            <a:avLst/>
          </a:prstGeom>
          <a:noFill/>
          <a:ln/>
        </p:spPr>
        <p:txBody>
          <a:bodyPr wrap="square" lIns="0" tIns="0" rIns="0" bIns="0" rtlCol="0" anchor="ctr"/>
          <a:lstStyle/>
          <a:p>
            <a:pPr rtl="1" algn="r" indent="0" marL="0">
              <a:buNone/>
            </a:pPr>
            <a:r>
              <a:rPr lang="ar-SA" altLang="en-US" sz="1300" b="1" dirty="0">
                <a:solidFill>
                  <a:srgbClr val="1B3B6F"/>
                </a:solidFill>
                <a:latin typeface="Amiri" pitchFamily="2" charset="-78"/>
                <a:ea typeface="Amiri" pitchFamily="2" charset="-78"/>
                <a:cs typeface="Amiri" pitchFamily="2" charset="-78"/>
              </a:rPr>
              <a:t>لِأَنَّ … · لِذٰلِكَ …</a:t>
            </a:r>
            <a:endParaRPr lang="ar-SA" sz="1300" dirty="0"/>
          </a:p>
        </p:txBody>
      </p:sp>
      <p:sp>
        <p:nvSpPr>
          <p:cNvPr id="50" name="Text 47"/>
          <p:cNvSpPr txBox="1"/>
          <p:nvPr/>
        </p:nvSpPr>
        <p:spPr>
          <a:xfrm>
            <a:off x="6492240" y="5422392"/>
            <a:ext cx="2194560" cy="283464"/>
          </a:xfrm>
          <a:prstGeom prst="rect">
            <a:avLst/>
          </a:prstGeom>
          <a:noFill/>
          <a:ln/>
        </p:spPr>
        <p:txBody>
          <a:bodyPr wrap="square" lIns="0" tIns="0" rIns="0" bIns="0" rtlCol="0" anchor="ctr"/>
          <a:lstStyle/>
          <a:p>
            <a:pPr algn="l" indent="0" marL="0">
              <a:buNone/>
            </a:pPr>
            <a:r>
              <a:rPr lang="en-US" sz="1000" i="1" dirty="0">
                <a:solidFill>
                  <a:srgbClr val="5A6472"/>
                </a:solidFill>
                <a:latin typeface="Calibri" pitchFamily="34" charset="0"/>
                <a:cs typeface="Amiri" pitchFamily="2" charset="-78"/>
              </a:rPr>
              <a:t>because … · so …</a:t>
            </a:r>
            <a:endParaRPr lang="en-US" sz="1000" dirty="0"/>
          </a:p>
        </p:txBody>
      </p:sp>
      <p:sp>
        <p:nvSpPr>
          <p:cNvPr id="51" name="Text 48"/>
          <p:cNvSpPr txBox="1"/>
          <p:nvPr/>
        </p:nvSpPr>
        <p:spPr>
          <a:xfrm>
            <a:off x="8732520" y="5705856"/>
            <a:ext cx="2880360" cy="283464"/>
          </a:xfrm>
          <a:prstGeom prst="rect">
            <a:avLst/>
          </a:prstGeom>
          <a:noFill/>
          <a:ln/>
        </p:spPr>
        <p:txBody>
          <a:bodyPr wrap="square" lIns="0" tIns="0" rIns="0" bIns="0" rtlCol="0" anchor="ctr"/>
          <a:lstStyle/>
          <a:p>
            <a:pPr rtl="1" algn="r" indent="0" marL="0">
              <a:buNone/>
            </a:pPr>
            <a:r>
              <a:rPr lang="ar-SA" altLang="en-US" sz="1300" b="1" dirty="0">
                <a:solidFill>
                  <a:srgbClr val="1B3B6F"/>
                </a:solidFill>
                <a:latin typeface="Amiri" pitchFamily="2" charset="-78"/>
                <a:ea typeface="Amiri" pitchFamily="2" charset="-78"/>
                <a:cs typeface="Amiri" pitchFamily="2" charset="-78"/>
              </a:rPr>
              <a:t>فِي رَأْيِي …</a:t>
            </a:r>
            <a:endParaRPr lang="ar-SA" sz="1300" dirty="0"/>
          </a:p>
        </p:txBody>
      </p:sp>
      <p:sp>
        <p:nvSpPr>
          <p:cNvPr id="52" name="Text 49"/>
          <p:cNvSpPr txBox="1"/>
          <p:nvPr/>
        </p:nvSpPr>
        <p:spPr>
          <a:xfrm>
            <a:off x="6492240" y="5705856"/>
            <a:ext cx="2194560" cy="283464"/>
          </a:xfrm>
          <a:prstGeom prst="rect">
            <a:avLst/>
          </a:prstGeom>
          <a:noFill/>
          <a:ln/>
        </p:spPr>
        <p:txBody>
          <a:bodyPr wrap="square" lIns="0" tIns="0" rIns="0" bIns="0" rtlCol="0" anchor="ctr"/>
          <a:lstStyle/>
          <a:p>
            <a:pPr algn="l" indent="0" marL="0">
              <a:buNone/>
            </a:pPr>
            <a:r>
              <a:rPr lang="en-US" sz="1000" i="1" dirty="0">
                <a:solidFill>
                  <a:srgbClr val="5A6472"/>
                </a:solidFill>
                <a:latin typeface="Calibri" pitchFamily="34" charset="0"/>
                <a:cs typeface="Amiri" pitchFamily="2" charset="-78"/>
              </a:rPr>
              <a:t>in my opinion …</a:t>
            </a:r>
            <a:endParaRPr lang="en-US" sz="1000" dirty="0"/>
          </a:p>
        </p:txBody>
      </p:sp>
      <p:sp>
        <p:nvSpPr>
          <p:cNvPr id="53" name="Text 50"/>
          <p:cNvSpPr txBox="1"/>
          <p:nvPr/>
        </p:nvSpPr>
        <p:spPr>
          <a:xfrm>
            <a:off x="8732520" y="5989320"/>
            <a:ext cx="2880360" cy="283464"/>
          </a:xfrm>
          <a:prstGeom prst="rect">
            <a:avLst/>
          </a:prstGeom>
          <a:noFill/>
          <a:ln/>
        </p:spPr>
        <p:txBody>
          <a:bodyPr wrap="square" lIns="0" tIns="0" rIns="0" bIns="0" rtlCol="0" anchor="ctr"/>
          <a:lstStyle/>
          <a:p>
            <a:pPr rtl="1" algn="r" indent="0" marL="0">
              <a:buNone/>
            </a:pPr>
            <a:r>
              <a:rPr lang="ar-SA" altLang="en-US" sz="1300" b="1" dirty="0">
                <a:solidFill>
                  <a:srgbClr val="1B3B6F"/>
                </a:solidFill>
                <a:latin typeface="Amiri" pitchFamily="2" charset="-78"/>
                <a:ea typeface="Amiri" pitchFamily="2" charset="-78"/>
                <a:cs typeface="Amiri" pitchFamily="2" charset="-78"/>
              </a:rPr>
              <a:t>فِي الخِتَامِ …</a:t>
            </a:r>
            <a:endParaRPr lang="ar-SA" sz="1300" dirty="0"/>
          </a:p>
        </p:txBody>
      </p:sp>
      <p:sp>
        <p:nvSpPr>
          <p:cNvPr id="54" name="Text 51"/>
          <p:cNvSpPr txBox="1"/>
          <p:nvPr/>
        </p:nvSpPr>
        <p:spPr>
          <a:xfrm>
            <a:off x="6492240" y="5989320"/>
            <a:ext cx="2194560" cy="283464"/>
          </a:xfrm>
          <a:prstGeom prst="rect">
            <a:avLst/>
          </a:prstGeom>
          <a:noFill/>
          <a:ln/>
        </p:spPr>
        <p:txBody>
          <a:bodyPr wrap="square" lIns="0" tIns="0" rIns="0" bIns="0" rtlCol="0" anchor="ctr"/>
          <a:lstStyle/>
          <a:p>
            <a:pPr algn="l" indent="0" marL="0">
              <a:buNone/>
            </a:pPr>
            <a:r>
              <a:rPr lang="en-US" sz="1000" i="1" dirty="0">
                <a:solidFill>
                  <a:srgbClr val="5A6472"/>
                </a:solidFill>
                <a:latin typeface="Calibri" pitchFamily="34" charset="0"/>
                <a:cs typeface="Amiri" pitchFamily="2" charset="-78"/>
              </a:rPr>
              <a:t>to finish …</a:t>
            </a:r>
            <a:endParaRPr lang="en-US" sz="1000" dirty="0"/>
          </a:p>
        </p:txBody>
      </p:sp>
      <p:sp>
        <p:nvSpPr>
          <p:cNvPr id="55" name="Text 5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11 / 22</a:t>
            </a:r>
            <a:endParaRPr lang="en-US" sz="8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D2-L12 · Speaking + writing practice room</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4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150" kern="0" dirty="0">
                <a:solidFill>
                  <a:srgbClr val="2F6FB0"/>
                </a:solidFill>
                <a:latin typeface="Calibri" pitchFamily="34" charset="0"/>
                <a:cs typeface="Amiri" pitchFamily="2" charset="-78"/>
              </a:rPr>
              <a:t>PART B · STEP 6 · SENTENCE BUILDER · CHOOSE A OR B IN EACH COLUMN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Build three correct sentences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ابْنِ الجُمْلَةَ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D2 · People, Relationships and Style · D2-L12 · practice room</a:t>
            </a:r>
            <a:endParaRPr lang="en-US" sz="850" dirty="0"/>
          </a:p>
        </p:txBody>
      </p:sp>
      <p:sp>
        <p:nvSpPr>
          <p:cNvPr id="15" name="Text 12"/>
          <p:cNvSpPr txBox="1"/>
          <p:nvPr/>
        </p:nvSpPr>
        <p:spPr>
          <a:xfrm>
            <a:off x="9180576" y="1700784"/>
            <a:ext cx="2414016" cy="256032"/>
          </a:xfrm>
          <a:prstGeom prst="rect">
            <a:avLst/>
          </a:prstGeom>
          <a:noFill/>
          <a:ln/>
        </p:spPr>
        <p:txBody>
          <a:bodyPr wrap="square" lIns="0" tIns="0" rIns="0" bIns="0" rtlCol="0" anchor="ctr"/>
          <a:lstStyle/>
          <a:p>
            <a:pPr algn="ctr" indent="0" marL="0">
              <a:buNone/>
            </a:pPr>
            <a:r>
              <a:rPr lang="en-US" sz="1000" b="1" dirty="0">
                <a:solidFill>
                  <a:srgbClr val="2F6FB0"/>
                </a:solidFill>
                <a:latin typeface="Calibri" pitchFamily="34" charset="0"/>
                <a:cs typeface="Amiri" pitchFamily="2" charset="-78"/>
              </a:rPr>
              <a:t>Column 1 · start here</a:t>
            </a:r>
            <a:endParaRPr lang="en-US" sz="1000" dirty="0"/>
          </a:p>
        </p:txBody>
      </p:sp>
      <p:sp>
        <p:nvSpPr>
          <p:cNvPr id="16" name="Text 13"/>
          <p:cNvSpPr txBox="1"/>
          <p:nvPr/>
        </p:nvSpPr>
        <p:spPr>
          <a:xfrm>
            <a:off x="6624828" y="1700784"/>
            <a:ext cx="2414016" cy="256032"/>
          </a:xfrm>
          <a:prstGeom prst="rect">
            <a:avLst/>
          </a:prstGeom>
          <a:noFill/>
          <a:ln/>
        </p:spPr>
        <p:txBody>
          <a:bodyPr wrap="square" lIns="0" tIns="0" rIns="0" bIns="0" rtlCol="0" anchor="ctr"/>
          <a:lstStyle/>
          <a:p>
            <a:pPr algn="ctr" indent="0" marL="0">
              <a:buNone/>
            </a:pPr>
            <a:r>
              <a:rPr lang="en-US" sz="1000" b="1" dirty="0">
                <a:solidFill>
                  <a:srgbClr val="2F6FB0"/>
                </a:solidFill>
                <a:latin typeface="Calibri" pitchFamily="34" charset="0"/>
                <a:cs typeface="Amiri" pitchFamily="2" charset="-78"/>
              </a:rPr>
              <a:t>Column 2</a:t>
            </a:r>
            <a:endParaRPr lang="en-US" sz="1000" dirty="0"/>
          </a:p>
        </p:txBody>
      </p:sp>
      <p:sp>
        <p:nvSpPr>
          <p:cNvPr id="17" name="Text 14"/>
          <p:cNvSpPr txBox="1"/>
          <p:nvPr/>
        </p:nvSpPr>
        <p:spPr>
          <a:xfrm>
            <a:off x="4069080" y="1700784"/>
            <a:ext cx="2414016" cy="256032"/>
          </a:xfrm>
          <a:prstGeom prst="rect">
            <a:avLst/>
          </a:prstGeom>
          <a:noFill/>
          <a:ln/>
        </p:spPr>
        <p:txBody>
          <a:bodyPr wrap="square" lIns="0" tIns="0" rIns="0" bIns="0" rtlCol="0" anchor="ctr"/>
          <a:lstStyle/>
          <a:p>
            <a:pPr algn="ctr" indent="0" marL="0">
              <a:buNone/>
            </a:pPr>
            <a:r>
              <a:rPr lang="en-US" sz="1000" b="1" dirty="0">
                <a:solidFill>
                  <a:srgbClr val="2F6FB0"/>
                </a:solidFill>
                <a:latin typeface="Calibri" pitchFamily="34" charset="0"/>
                <a:cs typeface="Amiri" pitchFamily="2" charset="-78"/>
              </a:rPr>
              <a:t>Column 3</a:t>
            </a:r>
            <a:endParaRPr lang="en-US" sz="1000" dirty="0"/>
          </a:p>
        </p:txBody>
      </p:sp>
      <p:sp>
        <p:nvSpPr>
          <p:cNvPr id="18" name="Shape 15"/>
          <p:cNvSpPr/>
          <p:nvPr/>
        </p:nvSpPr>
        <p:spPr>
          <a:xfrm>
            <a:off x="457200" y="2011680"/>
            <a:ext cx="11274552" cy="1261872"/>
          </a:xfrm>
          <a:prstGeom prst="roundRect">
            <a:avLst>
              <a:gd name="adj" fmla="val 579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9" name="Shape 16"/>
          <p:cNvSpPr/>
          <p:nvPr/>
        </p:nvSpPr>
        <p:spPr>
          <a:xfrm>
            <a:off x="594360" y="2148840"/>
            <a:ext cx="365760" cy="365760"/>
          </a:xfrm>
          <a:prstGeom prst="ellipse">
            <a:avLst/>
          </a:prstGeom>
          <a:solidFill>
            <a:srgbClr val="2F6FB0"/>
          </a:solidFill>
          <a:ln w="12700">
            <a:solidFill>
              <a:srgbClr val="2F6FB0"/>
            </a:solidFill>
            <a:prstDash val="solid"/>
          </a:ln>
        </p:spPr>
      </p:sp>
      <p:sp>
        <p:nvSpPr>
          <p:cNvPr id="20" name="Text 17"/>
          <p:cNvSpPr txBox="1"/>
          <p:nvPr/>
        </p:nvSpPr>
        <p:spPr>
          <a:xfrm>
            <a:off x="594360" y="2148840"/>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1</a:t>
            </a:r>
            <a:endParaRPr lang="en-US" sz="1200" dirty="0"/>
          </a:p>
        </p:txBody>
      </p:sp>
      <p:sp>
        <p:nvSpPr>
          <p:cNvPr id="21" name="Text 18"/>
          <p:cNvSpPr txBox="1"/>
          <p:nvPr/>
        </p:nvSpPr>
        <p:spPr>
          <a:xfrm>
            <a:off x="1051560" y="2121408"/>
            <a:ext cx="2834640" cy="1042416"/>
          </a:xfrm>
          <a:prstGeom prst="rect">
            <a:avLst/>
          </a:prstGeom>
          <a:noFill/>
          <a:ln/>
        </p:spPr>
        <p:txBody>
          <a:bodyPr wrap="square" lIns="0" tIns="0" rIns="0" bIns="0" rtlCol="0" anchor="t"/>
          <a:lstStyle/>
          <a:p>
            <a:pPr algn="l" indent="0" marL="0">
              <a:buNone/>
            </a:pPr>
            <a:r>
              <a:rPr lang="en-US" sz="1400" b="1" dirty="0">
                <a:solidFill>
                  <a:srgbClr val="1B3B6F"/>
                </a:solidFill>
                <a:latin typeface="Calibri" pitchFamily="34" charset="0"/>
                <a:cs typeface="Amiri" pitchFamily="2" charset="-78"/>
              </a:rPr>
              <a:t>My cousin (f.) isn’t shy; she is confident.</a:t>
            </a:r>
            <a:endParaRPr lang="en-US" sz="1400" dirty="0"/>
          </a:p>
        </p:txBody>
      </p:sp>
      <p:sp>
        <p:nvSpPr>
          <p:cNvPr id="22" name="Shape 19"/>
          <p:cNvSpPr/>
          <p:nvPr/>
        </p:nvSpPr>
        <p:spPr>
          <a:xfrm>
            <a:off x="9180576" y="2103120"/>
            <a:ext cx="2414016" cy="512064"/>
          </a:xfrm>
          <a:prstGeom prst="roundRect">
            <a:avLst>
              <a:gd name="adj" fmla="val 10714"/>
            </a:avLst>
          </a:prstGeom>
          <a:solidFill>
            <a:srgbClr val="EEF3FA"/>
          </a:solidFill>
          <a:ln w="9525">
            <a:solidFill>
              <a:srgbClr val="C9D6EA"/>
            </a:solidFill>
            <a:prstDash val="solid"/>
          </a:ln>
        </p:spPr>
      </p:sp>
      <p:sp>
        <p:nvSpPr>
          <p:cNvPr id="23" name="Text 20"/>
          <p:cNvSpPr txBox="1"/>
          <p:nvPr/>
        </p:nvSpPr>
        <p:spPr>
          <a:xfrm>
            <a:off x="9235440" y="2103120"/>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cs typeface="Amiri" pitchFamily="2" charset="-78"/>
              </a:rPr>
              <a:t>A</a:t>
            </a:r>
            <a:endParaRPr lang="en-US" sz="1000" dirty="0"/>
          </a:p>
        </p:txBody>
      </p:sp>
      <p:sp>
        <p:nvSpPr>
          <p:cNvPr id="24" name="Text 21"/>
          <p:cNvSpPr txBox="1"/>
          <p:nvPr/>
        </p:nvSpPr>
        <p:spPr>
          <a:xfrm>
            <a:off x="9500616" y="2103120"/>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ea typeface="Amiri" pitchFamily="2" charset="-78"/>
                <a:cs typeface="Amiri" pitchFamily="2" charset="-78"/>
              </a:rPr>
              <a:t>ابْنَةُ عَمِّي</a:t>
            </a:r>
            <a:endParaRPr lang="ar-SA" sz="1800" dirty="0"/>
          </a:p>
        </p:txBody>
      </p:sp>
      <p:sp>
        <p:nvSpPr>
          <p:cNvPr id="25" name="Shape 22"/>
          <p:cNvSpPr/>
          <p:nvPr/>
        </p:nvSpPr>
        <p:spPr>
          <a:xfrm>
            <a:off x="9180576" y="2670048"/>
            <a:ext cx="2414016" cy="512064"/>
          </a:xfrm>
          <a:prstGeom prst="roundRect">
            <a:avLst>
              <a:gd name="adj" fmla="val 10714"/>
            </a:avLst>
          </a:prstGeom>
          <a:solidFill>
            <a:srgbClr val="EEF3FA"/>
          </a:solidFill>
          <a:ln w="9525">
            <a:solidFill>
              <a:srgbClr val="C9D6EA"/>
            </a:solidFill>
            <a:prstDash val="solid"/>
          </a:ln>
        </p:spPr>
      </p:sp>
      <p:sp>
        <p:nvSpPr>
          <p:cNvPr id="26" name="Text 23"/>
          <p:cNvSpPr txBox="1"/>
          <p:nvPr/>
        </p:nvSpPr>
        <p:spPr>
          <a:xfrm>
            <a:off x="9235440" y="2670048"/>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cs typeface="Amiri" pitchFamily="2" charset="-78"/>
              </a:rPr>
              <a:t>B</a:t>
            </a:r>
            <a:endParaRPr lang="en-US" sz="1000" dirty="0"/>
          </a:p>
        </p:txBody>
      </p:sp>
      <p:sp>
        <p:nvSpPr>
          <p:cNvPr id="27" name="Text 24"/>
          <p:cNvSpPr txBox="1"/>
          <p:nvPr/>
        </p:nvSpPr>
        <p:spPr>
          <a:xfrm>
            <a:off x="9500616" y="2670048"/>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ea typeface="Amiri" pitchFamily="2" charset="-78"/>
                <a:cs typeface="Amiri" pitchFamily="2" charset="-78"/>
              </a:rPr>
              <a:t>ابْنُ عَمِّي</a:t>
            </a:r>
            <a:endParaRPr lang="ar-SA" sz="1800" dirty="0"/>
          </a:p>
        </p:txBody>
      </p:sp>
      <p:sp>
        <p:nvSpPr>
          <p:cNvPr id="28" name="Shape 25"/>
          <p:cNvSpPr/>
          <p:nvPr/>
        </p:nvSpPr>
        <p:spPr>
          <a:xfrm>
            <a:off x="6624828" y="2103120"/>
            <a:ext cx="2414016" cy="512064"/>
          </a:xfrm>
          <a:prstGeom prst="roundRect">
            <a:avLst>
              <a:gd name="adj" fmla="val 10714"/>
            </a:avLst>
          </a:prstGeom>
          <a:solidFill>
            <a:srgbClr val="EEF3FA"/>
          </a:solidFill>
          <a:ln w="9525">
            <a:solidFill>
              <a:srgbClr val="C9D6EA"/>
            </a:solidFill>
            <a:prstDash val="solid"/>
          </a:ln>
        </p:spPr>
      </p:sp>
      <p:sp>
        <p:nvSpPr>
          <p:cNvPr id="29" name="Text 26"/>
          <p:cNvSpPr txBox="1"/>
          <p:nvPr/>
        </p:nvSpPr>
        <p:spPr>
          <a:xfrm>
            <a:off x="6679692" y="2103120"/>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cs typeface="Amiri" pitchFamily="2" charset="-78"/>
              </a:rPr>
              <a:t>A</a:t>
            </a:r>
            <a:endParaRPr lang="en-US" sz="1000" dirty="0"/>
          </a:p>
        </p:txBody>
      </p:sp>
      <p:sp>
        <p:nvSpPr>
          <p:cNvPr id="30" name="Text 27"/>
          <p:cNvSpPr txBox="1"/>
          <p:nvPr/>
        </p:nvSpPr>
        <p:spPr>
          <a:xfrm>
            <a:off x="6944868" y="2103120"/>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ea typeface="Amiri" pitchFamily="2" charset="-78"/>
                <a:cs typeface="Amiri" pitchFamily="2" charset="-78"/>
              </a:rPr>
              <a:t>لَيْسَتْ خَجُولَةً،</a:t>
            </a:r>
            <a:endParaRPr lang="ar-SA" sz="1800" dirty="0"/>
          </a:p>
        </p:txBody>
      </p:sp>
      <p:sp>
        <p:nvSpPr>
          <p:cNvPr id="31" name="Shape 28"/>
          <p:cNvSpPr/>
          <p:nvPr/>
        </p:nvSpPr>
        <p:spPr>
          <a:xfrm>
            <a:off x="6624828" y="2670048"/>
            <a:ext cx="2414016" cy="512064"/>
          </a:xfrm>
          <a:prstGeom prst="roundRect">
            <a:avLst>
              <a:gd name="adj" fmla="val 10714"/>
            </a:avLst>
          </a:prstGeom>
          <a:solidFill>
            <a:srgbClr val="EEF3FA"/>
          </a:solidFill>
          <a:ln w="9525">
            <a:solidFill>
              <a:srgbClr val="C9D6EA"/>
            </a:solidFill>
            <a:prstDash val="solid"/>
          </a:ln>
        </p:spPr>
      </p:sp>
      <p:sp>
        <p:nvSpPr>
          <p:cNvPr id="32" name="Text 29"/>
          <p:cNvSpPr txBox="1"/>
          <p:nvPr/>
        </p:nvSpPr>
        <p:spPr>
          <a:xfrm>
            <a:off x="6679692" y="2670048"/>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cs typeface="Amiri" pitchFamily="2" charset="-78"/>
              </a:rPr>
              <a:t>B</a:t>
            </a:r>
            <a:endParaRPr lang="en-US" sz="1000" dirty="0"/>
          </a:p>
        </p:txBody>
      </p:sp>
      <p:sp>
        <p:nvSpPr>
          <p:cNvPr id="33" name="Text 30"/>
          <p:cNvSpPr txBox="1"/>
          <p:nvPr/>
        </p:nvSpPr>
        <p:spPr>
          <a:xfrm>
            <a:off x="6944868" y="2670048"/>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ea typeface="Amiri" pitchFamily="2" charset="-78"/>
                <a:cs typeface="Amiri" pitchFamily="2" charset="-78"/>
              </a:rPr>
              <a:t>لَيْسَتْ خَجُولَةٌ،</a:t>
            </a:r>
            <a:endParaRPr lang="ar-SA" sz="1800" dirty="0"/>
          </a:p>
        </p:txBody>
      </p:sp>
      <p:sp>
        <p:nvSpPr>
          <p:cNvPr id="34" name="Shape 31"/>
          <p:cNvSpPr/>
          <p:nvPr/>
        </p:nvSpPr>
        <p:spPr>
          <a:xfrm>
            <a:off x="4069080" y="2103120"/>
            <a:ext cx="2414016" cy="512064"/>
          </a:xfrm>
          <a:prstGeom prst="roundRect">
            <a:avLst>
              <a:gd name="adj" fmla="val 10714"/>
            </a:avLst>
          </a:prstGeom>
          <a:solidFill>
            <a:srgbClr val="EEF3FA"/>
          </a:solidFill>
          <a:ln w="9525">
            <a:solidFill>
              <a:srgbClr val="C9D6EA"/>
            </a:solidFill>
            <a:prstDash val="solid"/>
          </a:ln>
        </p:spPr>
      </p:sp>
      <p:sp>
        <p:nvSpPr>
          <p:cNvPr id="35" name="Text 32"/>
          <p:cNvSpPr txBox="1"/>
          <p:nvPr/>
        </p:nvSpPr>
        <p:spPr>
          <a:xfrm>
            <a:off x="4123944" y="2103120"/>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cs typeface="Amiri" pitchFamily="2" charset="-78"/>
              </a:rPr>
              <a:t>A</a:t>
            </a:r>
            <a:endParaRPr lang="en-US" sz="1000" dirty="0"/>
          </a:p>
        </p:txBody>
      </p:sp>
      <p:sp>
        <p:nvSpPr>
          <p:cNvPr id="36" name="Text 33"/>
          <p:cNvSpPr txBox="1"/>
          <p:nvPr/>
        </p:nvSpPr>
        <p:spPr>
          <a:xfrm>
            <a:off x="4389120" y="2103120"/>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ea typeface="Amiri" pitchFamily="2" charset="-78"/>
                <a:cs typeface="Amiri" pitchFamily="2" charset="-78"/>
              </a:rPr>
              <a:t>هِيَ وَاثِقَةٌ.</a:t>
            </a:r>
            <a:endParaRPr lang="ar-SA" sz="1800" dirty="0"/>
          </a:p>
        </p:txBody>
      </p:sp>
      <p:sp>
        <p:nvSpPr>
          <p:cNvPr id="37" name="Shape 34"/>
          <p:cNvSpPr/>
          <p:nvPr/>
        </p:nvSpPr>
        <p:spPr>
          <a:xfrm>
            <a:off x="4069080" y="2670048"/>
            <a:ext cx="2414016" cy="512064"/>
          </a:xfrm>
          <a:prstGeom prst="roundRect">
            <a:avLst>
              <a:gd name="adj" fmla="val 10714"/>
            </a:avLst>
          </a:prstGeom>
          <a:solidFill>
            <a:srgbClr val="EEF3FA"/>
          </a:solidFill>
          <a:ln w="9525">
            <a:solidFill>
              <a:srgbClr val="C9D6EA"/>
            </a:solidFill>
            <a:prstDash val="solid"/>
          </a:ln>
        </p:spPr>
      </p:sp>
      <p:sp>
        <p:nvSpPr>
          <p:cNvPr id="38" name="Text 35"/>
          <p:cNvSpPr txBox="1"/>
          <p:nvPr/>
        </p:nvSpPr>
        <p:spPr>
          <a:xfrm>
            <a:off x="4123944" y="2670048"/>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cs typeface="Amiri" pitchFamily="2" charset="-78"/>
              </a:rPr>
              <a:t>B</a:t>
            </a:r>
            <a:endParaRPr lang="en-US" sz="1000" dirty="0"/>
          </a:p>
        </p:txBody>
      </p:sp>
      <p:sp>
        <p:nvSpPr>
          <p:cNvPr id="39" name="Text 36"/>
          <p:cNvSpPr txBox="1"/>
          <p:nvPr/>
        </p:nvSpPr>
        <p:spPr>
          <a:xfrm>
            <a:off x="4389120" y="2670048"/>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ea typeface="Amiri" pitchFamily="2" charset="-78"/>
                <a:cs typeface="Amiri" pitchFamily="2" charset="-78"/>
              </a:rPr>
              <a:t>هِيَ وَاثِقٌ.</a:t>
            </a:r>
            <a:endParaRPr lang="ar-SA" sz="1800" dirty="0"/>
          </a:p>
        </p:txBody>
      </p:sp>
      <p:sp>
        <p:nvSpPr>
          <p:cNvPr id="40" name="Shape 37"/>
          <p:cNvSpPr/>
          <p:nvPr/>
        </p:nvSpPr>
        <p:spPr>
          <a:xfrm>
            <a:off x="457200" y="3392424"/>
            <a:ext cx="11274552" cy="1261872"/>
          </a:xfrm>
          <a:prstGeom prst="roundRect">
            <a:avLst>
              <a:gd name="adj" fmla="val 579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1" name="Shape 38"/>
          <p:cNvSpPr/>
          <p:nvPr/>
        </p:nvSpPr>
        <p:spPr>
          <a:xfrm>
            <a:off x="594360" y="3529584"/>
            <a:ext cx="365760" cy="365760"/>
          </a:xfrm>
          <a:prstGeom prst="ellipse">
            <a:avLst/>
          </a:prstGeom>
          <a:solidFill>
            <a:srgbClr val="2F6FB0"/>
          </a:solidFill>
          <a:ln w="12700">
            <a:solidFill>
              <a:srgbClr val="2F6FB0"/>
            </a:solidFill>
            <a:prstDash val="solid"/>
          </a:ln>
        </p:spPr>
      </p:sp>
      <p:sp>
        <p:nvSpPr>
          <p:cNvPr id="42" name="Text 39"/>
          <p:cNvSpPr txBox="1"/>
          <p:nvPr/>
        </p:nvSpPr>
        <p:spPr>
          <a:xfrm>
            <a:off x="594360" y="3529584"/>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2</a:t>
            </a:r>
            <a:endParaRPr lang="en-US" sz="1200" dirty="0"/>
          </a:p>
        </p:txBody>
      </p:sp>
      <p:sp>
        <p:nvSpPr>
          <p:cNvPr id="43" name="Text 40"/>
          <p:cNvSpPr txBox="1"/>
          <p:nvPr/>
        </p:nvSpPr>
        <p:spPr>
          <a:xfrm>
            <a:off x="1051560" y="3502152"/>
            <a:ext cx="2834640" cy="1042416"/>
          </a:xfrm>
          <a:prstGeom prst="rect">
            <a:avLst/>
          </a:prstGeom>
          <a:noFill/>
          <a:ln/>
        </p:spPr>
        <p:txBody>
          <a:bodyPr wrap="square" lIns="0" tIns="0" rIns="0" bIns="0" rtlCol="0" anchor="t"/>
          <a:lstStyle/>
          <a:p>
            <a:pPr algn="l" indent="0" marL="0">
              <a:buNone/>
            </a:pPr>
            <a:r>
              <a:rPr lang="en-US" sz="1400" b="1" dirty="0">
                <a:solidFill>
                  <a:srgbClr val="1B3B6F"/>
                </a:solidFill>
                <a:latin typeface="Calibri" pitchFamily="34" charset="0"/>
                <a:cs typeface="Amiri" pitchFamily="2" charset="-78"/>
              </a:rPr>
              <a:t>The man who wears the black coat is my uncle.</a:t>
            </a:r>
            <a:endParaRPr lang="en-US" sz="1400" dirty="0"/>
          </a:p>
        </p:txBody>
      </p:sp>
      <p:sp>
        <p:nvSpPr>
          <p:cNvPr id="44" name="Shape 41"/>
          <p:cNvSpPr/>
          <p:nvPr/>
        </p:nvSpPr>
        <p:spPr>
          <a:xfrm>
            <a:off x="9180576" y="3483864"/>
            <a:ext cx="2414016" cy="512064"/>
          </a:xfrm>
          <a:prstGeom prst="roundRect">
            <a:avLst>
              <a:gd name="adj" fmla="val 10714"/>
            </a:avLst>
          </a:prstGeom>
          <a:solidFill>
            <a:srgbClr val="EEF3FA"/>
          </a:solidFill>
          <a:ln w="9525">
            <a:solidFill>
              <a:srgbClr val="C9D6EA"/>
            </a:solidFill>
            <a:prstDash val="solid"/>
          </a:ln>
        </p:spPr>
      </p:sp>
      <p:sp>
        <p:nvSpPr>
          <p:cNvPr id="45" name="Text 42"/>
          <p:cNvSpPr txBox="1"/>
          <p:nvPr/>
        </p:nvSpPr>
        <p:spPr>
          <a:xfrm>
            <a:off x="9235440" y="3483864"/>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cs typeface="Amiri" pitchFamily="2" charset="-78"/>
              </a:rPr>
              <a:t>A</a:t>
            </a:r>
            <a:endParaRPr lang="en-US" sz="1000" dirty="0"/>
          </a:p>
        </p:txBody>
      </p:sp>
      <p:sp>
        <p:nvSpPr>
          <p:cNvPr id="46" name="Text 43"/>
          <p:cNvSpPr txBox="1"/>
          <p:nvPr/>
        </p:nvSpPr>
        <p:spPr>
          <a:xfrm>
            <a:off x="9500616" y="3483864"/>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ea typeface="Amiri" pitchFamily="2" charset="-78"/>
                <a:cs typeface="Amiri" pitchFamily="2" charset="-78"/>
              </a:rPr>
              <a:t>الرَّجُلُ الَّذِي</a:t>
            </a:r>
            <a:endParaRPr lang="ar-SA" sz="1800" dirty="0"/>
          </a:p>
        </p:txBody>
      </p:sp>
      <p:sp>
        <p:nvSpPr>
          <p:cNvPr id="47" name="Shape 44"/>
          <p:cNvSpPr/>
          <p:nvPr/>
        </p:nvSpPr>
        <p:spPr>
          <a:xfrm>
            <a:off x="9180576" y="4050792"/>
            <a:ext cx="2414016" cy="512064"/>
          </a:xfrm>
          <a:prstGeom prst="roundRect">
            <a:avLst>
              <a:gd name="adj" fmla="val 10714"/>
            </a:avLst>
          </a:prstGeom>
          <a:solidFill>
            <a:srgbClr val="EEF3FA"/>
          </a:solidFill>
          <a:ln w="9525">
            <a:solidFill>
              <a:srgbClr val="C9D6EA"/>
            </a:solidFill>
            <a:prstDash val="solid"/>
          </a:ln>
        </p:spPr>
      </p:sp>
      <p:sp>
        <p:nvSpPr>
          <p:cNvPr id="48" name="Text 45"/>
          <p:cNvSpPr txBox="1"/>
          <p:nvPr/>
        </p:nvSpPr>
        <p:spPr>
          <a:xfrm>
            <a:off x="9235440" y="4050792"/>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cs typeface="Amiri" pitchFamily="2" charset="-78"/>
              </a:rPr>
              <a:t>B</a:t>
            </a:r>
            <a:endParaRPr lang="en-US" sz="1000" dirty="0"/>
          </a:p>
        </p:txBody>
      </p:sp>
      <p:sp>
        <p:nvSpPr>
          <p:cNvPr id="49" name="Text 46"/>
          <p:cNvSpPr txBox="1"/>
          <p:nvPr/>
        </p:nvSpPr>
        <p:spPr>
          <a:xfrm>
            <a:off x="9500616" y="4050792"/>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ea typeface="Amiri" pitchFamily="2" charset="-78"/>
                <a:cs typeface="Amiri" pitchFamily="2" charset="-78"/>
              </a:rPr>
              <a:t>الرَّجُلُ الَّتِي</a:t>
            </a:r>
            <a:endParaRPr lang="ar-SA" sz="1800" dirty="0"/>
          </a:p>
        </p:txBody>
      </p:sp>
      <p:sp>
        <p:nvSpPr>
          <p:cNvPr id="50" name="Shape 47"/>
          <p:cNvSpPr/>
          <p:nvPr/>
        </p:nvSpPr>
        <p:spPr>
          <a:xfrm>
            <a:off x="6624828" y="3483864"/>
            <a:ext cx="2414016" cy="512064"/>
          </a:xfrm>
          <a:prstGeom prst="roundRect">
            <a:avLst>
              <a:gd name="adj" fmla="val 10714"/>
            </a:avLst>
          </a:prstGeom>
          <a:solidFill>
            <a:srgbClr val="EEF3FA"/>
          </a:solidFill>
          <a:ln w="9525">
            <a:solidFill>
              <a:srgbClr val="C9D6EA"/>
            </a:solidFill>
            <a:prstDash val="solid"/>
          </a:ln>
        </p:spPr>
      </p:sp>
      <p:sp>
        <p:nvSpPr>
          <p:cNvPr id="51" name="Text 48"/>
          <p:cNvSpPr txBox="1"/>
          <p:nvPr/>
        </p:nvSpPr>
        <p:spPr>
          <a:xfrm>
            <a:off x="6679692" y="3483864"/>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cs typeface="Amiri" pitchFamily="2" charset="-78"/>
              </a:rPr>
              <a:t>A</a:t>
            </a:r>
            <a:endParaRPr lang="en-US" sz="1000" dirty="0"/>
          </a:p>
        </p:txBody>
      </p:sp>
      <p:sp>
        <p:nvSpPr>
          <p:cNvPr id="52" name="Text 49"/>
          <p:cNvSpPr txBox="1"/>
          <p:nvPr/>
        </p:nvSpPr>
        <p:spPr>
          <a:xfrm>
            <a:off x="6944868" y="3483864"/>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ea typeface="Amiri" pitchFamily="2" charset="-78"/>
                <a:cs typeface="Amiri" pitchFamily="2" charset="-78"/>
              </a:rPr>
              <a:t>يَرْتَدِي المِعْطَفَ الأَسْوَدَ</a:t>
            </a:r>
            <a:endParaRPr lang="ar-SA" sz="1800" dirty="0"/>
          </a:p>
        </p:txBody>
      </p:sp>
      <p:sp>
        <p:nvSpPr>
          <p:cNvPr id="53" name="Shape 50"/>
          <p:cNvSpPr/>
          <p:nvPr/>
        </p:nvSpPr>
        <p:spPr>
          <a:xfrm>
            <a:off x="6624828" y="4050792"/>
            <a:ext cx="2414016" cy="512064"/>
          </a:xfrm>
          <a:prstGeom prst="roundRect">
            <a:avLst>
              <a:gd name="adj" fmla="val 10714"/>
            </a:avLst>
          </a:prstGeom>
          <a:solidFill>
            <a:srgbClr val="EEF3FA"/>
          </a:solidFill>
          <a:ln w="9525">
            <a:solidFill>
              <a:srgbClr val="C9D6EA"/>
            </a:solidFill>
            <a:prstDash val="solid"/>
          </a:ln>
        </p:spPr>
      </p:sp>
      <p:sp>
        <p:nvSpPr>
          <p:cNvPr id="54" name="Text 51"/>
          <p:cNvSpPr txBox="1"/>
          <p:nvPr/>
        </p:nvSpPr>
        <p:spPr>
          <a:xfrm>
            <a:off x="6679692" y="4050792"/>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cs typeface="Amiri" pitchFamily="2" charset="-78"/>
              </a:rPr>
              <a:t>B</a:t>
            </a:r>
            <a:endParaRPr lang="en-US" sz="1000" dirty="0"/>
          </a:p>
        </p:txBody>
      </p:sp>
      <p:sp>
        <p:nvSpPr>
          <p:cNvPr id="55" name="Text 52"/>
          <p:cNvSpPr txBox="1"/>
          <p:nvPr/>
        </p:nvSpPr>
        <p:spPr>
          <a:xfrm>
            <a:off x="6944868" y="4050792"/>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ea typeface="Amiri" pitchFamily="2" charset="-78"/>
                <a:cs typeface="Amiri" pitchFamily="2" charset="-78"/>
              </a:rPr>
              <a:t>يَرْتَدِي المِعْطَفَ السَّوْدَاءَ</a:t>
            </a:r>
            <a:endParaRPr lang="ar-SA" sz="1800" dirty="0"/>
          </a:p>
        </p:txBody>
      </p:sp>
      <p:sp>
        <p:nvSpPr>
          <p:cNvPr id="56" name="Shape 53"/>
          <p:cNvSpPr/>
          <p:nvPr/>
        </p:nvSpPr>
        <p:spPr>
          <a:xfrm>
            <a:off x="4069080" y="3483864"/>
            <a:ext cx="2414016" cy="512064"/>
          </a:xfrm>
          <a:prstGeom prst="roundRect">
            <a:avLst>
              <a:gd name="adj" fmla="val 10714"/>
            </a:avLst>
          </a:prstGeom>
          <a:solidFill>
            <a:srgbClr val="EEF3FA"/>
          </a:solidFill>
          <a:ln w="9525">
            <a:solidFill>
              <a:srgbClr val="C9D6EA"/>
            </a:solidFill>
            <a:prstDash val="solid"/>
          </a:ln>
        </p:spPr>
      </p:sp>
      <p:sp>
        <p:nvSpPr>
          <p:cNvPr id="57" name="Text 54"/>
          <p:cNvSpPr txBox="1"/>
          <p:nvPr/>
        </p:nvSpPr>
        <p:spPr>
          <a:xfrm>
            <a:off x="4123944" y="3483864"/>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cs typeface="Amiri" pitchFamily="2" charset="-78"/>
              </a:rPr>
              <a:t>A</a:t>
            </a:r>
            <a:endParaRPr lang="en-US" sz="1000" dirty="0"/>
          </a:p>
        </p:txBody>
      </p:sp>
      <p:sp>
        <p:nvSpPr>
          <p:cNvPr id="58" name="Text 55"/>
          <p:cNvSpPr txBox="1"/>
          <p:nvPr/>
        </p:nvSpPr>
        <p:spPr>
          <a:xfrm>
            <a:off x="4389120" y="3483864"/>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ea typeface="Amiri" pitchFamily="2" charset="-78"/>
                <a:cs typeface="Amiri" pitchFamily="2" charset="-78"/>
              </a:rPr>
              <a:t>هُوَ عَمِّي.</a:t>
            </a:r>
            <a:endParaRPr lang="ar-SA" sz="1800" dirty="0"/>
          </a:p>
        </p:txBody>
      </p:sp>
      <p:sp>
        <p:nvSpPr>
          <p:cNvPr id="59" name="Shape 56"/>
          <p:cNvSpPr/>
          <p:nvPr/>
        </p:nvSpPr>
        <p:spPr>
          <a:xfrm>
            <a:off x="4069080" y="4050792"/>
            <a:ext cx="2414016" cy="512064"/>
          </a:xfrm>
          <a:prstGeom prst="roundRect">
            <a:avLst>
              <a:gd name="adj" fmla="val 10714"/>
            </a:avLst>
          </a:prstGeom>
          <a:solidFill>
            <a:srgbClr val="EEF3FA"/>
          </a:solidFill>
          <a:ln w="9525">
            <a:solidFill>
              <a:srgbClr val="C9D6EA"/>
            </a:solidFill>
            <a:prstDash val="solid"/>
          </a:ln>
        </p:spPr>
      </p:sp>
      <p:sp>
        <p:nvSpPr>
          <p:cNvPr id="60" name="Text 57"/>
          <p:cNvSpPr txBox="1"/>
          <p:nvPr/>
        </p:nvSpPr>
        <p:spPr>
          <a:xfrm>
            <a:off x="4123944" y="4050792"/>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cs typeface="Amiri" pitchFamily="2" charset="-78"/>
              </a:rPr>
              <a:t>B</a:t>
            </a:r>
            <a:endParaRPr lang="en-US" sz="1000" dirty="0"/>
          </a:p>
        </p:txBody>
      </p:sp>
      <p:sp>
        <p:nvSpPr>
          <p:cNvPr id="61" name="Text 58"/>
          <p:cNvSpPr txBox="1"/>
          <p:nvPr/>
        </p:nvSpPr>
        <p:spPr>
          <a:xfrm>
            <a:off x="4389120" y="4050792"/>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ea typeface="Amiri" pitchFamily="2" charset="-78"/>
                <a:cs typeface="Amiri" pitchFamily="2" charset="-78"/>
              </a:rPr>
              <a:t>هِيَ عَمِّي.</a:t>
            </a:r>
            <a:endParaRPr lang="ar-SA" sz="1800" dirty="0"/>
          </a:p>
        </p:txBody>
      </p:sp>
      <p:sp>
        <p:nvSpPr>
          <p:cNvPr id="62" name="Shape 59"/>
          <p:cNvSpPr/>
          <p:nvPr/>
        </p:nvSpPr>
        <p:spPr>
          <a:xfrm>
            <a:off x="457200" y="4773168"/>
            <a:ext cx="11274552" cy="1261872"/>
          </a:xfrm>
          <a:prstGeom prst="roundRect">
            <a:avLst>
              <a:gd name="adj" fmla="val 579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3" name="Shape 60"/>
          <p:cNvSpPr/>
          <p:nvPr/>
        </p:nvSpPr>
        <p:spPr>
          <a:xfrm>
            <a:off x="594360" y="4910328"/>
            <a:ext cx="365760" cy="365760"/>
          </a:xfrm>
          <a:prstGeom prst="ellipse">
            <a:avLst/>
          </a:prstGeom>
          <a:solidFill>
            <a:srgbClr val="2F6FB0"/>
          </a:solidFill>
          <a:ln w="12700">
            <a:solidFill>
              <a:srgbClr val="2F6FB0"/>
            </a:solidFill>
            <a:prstDash val="solid"/>
          </a:ln>
        </p:spPr>
      </p:sp>
      <p:sp>
        <p:nvSpPr>
          <p:cNvPr id="64" name="Text 61"/>
          <p:cNvSpPr txBox="1"/>
          <p:nvPr/>
        </p:nvSpPr>
        <p:spPr>
          <a:xfrm>
            <a:off x="594360" y="49103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3</a:t>
            </a:r>
            <a:endParaRPr lang="en-US" sz="1200" dirty="0"/>
          </a:p>
        </p:txBody>
      </p:sp>
      <p:sp>
        <p:nvSpPr>
          <p:cNvPr id="65" name="Text 62"/>
          <p:cNvSpPr txBox="1"/>
          <p:nvPr/>
        </p:nvSpPr>
        <p:spPr>
          <a:xfrm>
            <a:off x="1051560" y="4882896"/>
            <a:ext cx="2834640" cy="1042416"/>
          </a:xfrm>
          <a:prstGeom prst="rect">
            <a:avLst/>
          </a:prstGeom>
          <a:noFill/>
          <a:ln/>
        </p:spPr>
        <p:txBody>
          <a:bodyPr wrap="square" lIns="0" tIns="0" rIns="0" bIns="0" rtlCol="0" anchor="t"/>
          <a:lstStyle/>
          <a:p>
            <a:pPr algn="l" indent="0" marL="0">
              <a:buNone/>
            </a:pPr>
            <a:r>
              <a:rPr lang="en-US" sz="1400" b="1" dirty="0">
                <a:solidFill>
                  <a:srgbClr val="1B3B6F"/>
                </a:solidFill>
                <a:latin typeface="Calibri" pitchFamily="34" charset="0"/>
                <a:cs typeface="Amiri" pitchFamily="2" charset="-78"/>
              </a:rPr>
              <a:t>This bag is cheaper than that one.</a:t>
            </a:r>
            <a:endParaRPr lang="en-US" sz="1400" dirty="0"/>
          </a:p>
        </p:txBody>
      </p:sp>
      <p:sp>
        <p:nvSpPr>
          <p:cNvPr id="66" name="Shape 63"/>
          <p:cNvSpPr/>
          <p:nvPr/>
        </p:nvSpPr>
        <p:spPr>
          <a:xfrm>
            <a:off x="9180576" y="4864608"/>
            <a:ext cx="2414016" cy="512064"/>
          </a:xfrm>
          <a:prstGeom prst="roundRect">
            <a:avLst>
              <a:gd name="adj" fmla="val 10714"/>
            </a:avLst>
          </a:prstGeom>
          <a:solidFill>
            <a:srgbClr val="EEF3FA"/>
          </a:solidFill>
          <a:ln w="9525">
            <a:solidFill>
              <a:srgbClr val="C9D6EA"/>
            </a:solidFill>
            <a:prstDash val="solid"/>
          </a:ln>
        </p:spPr>
      </p:sp>
      <p:sp>
        <p:nvSpPr>
          <p:cNvPr id="67" name="Text 64"/>
          <p:cNvSpPr txBox="1"/>
          <p:nvPr/>
        </p:nvSpPr>
        <p:spPr>
          <a:xfrm>
            <a:off x="9235440" y="4864608"/>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cs typeface="Amiri" pitchFamily="2" charset="-78"/>
              </a:rPr>
              <a:t>A</a:t>
            </a:r>
            <a:endParaRPr lang="en-US" sz="1000" dirty="0"/>
          </a:p>
        </p:txBody>
      </p:sp>
      <p:sp>
        <p:nvSpPr>
          <p:cNvPr id="68" name="Text 65"/>
          <p:cNvSpPr txBox="1"/>
          <p:nvPr/>
        </p:nvSpPr>
        <p:spPr>
          <a:xfrm>
            <a:off x="9500616" y="4864608"/>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ea typeface="Amiri" pitchFamily="2" charset="-78"/>
                <a:cs typeface="Amiri" pitchFamily="2" charset="-78"/>
              </a:rPr>
              <a:t>هٰذِهِ الحَقِيبَةُ</a:t>
            </a:r>
            <a:endParaRPr lang="ar-SA" sz="1800" dirty="0"/>
          </a:p>
        </p:txBody>
      </p:sp>
      <p:sp>
        <p:nvSpPr>
          <p:cNvPr id="69" name="Shape 66"/>
          <p:cNvSpPr/>
          <p:nvPr/>
        </p:nvSpPr>
        <p:spPr>
          <a:xfrm>
            <a:off x="9180576" y="5431536"/>
            <a:ext cx="2414016" cy="512064"/>
          </a:xfrm>
          <a:prstGeom prst="roundRect">
            <a:avLst>
              <a:gd name="adj" fmla="val 10714"/>
            </a:avLst>
          </a:prstGeom>
          <a:solidFill>
            <a:srgbClr val="EEF3FA"/>
          </a:solidFill>
          <a:ln w="9525">
            <a:solidFill>
              <a:srgbClr val="C9D6EA"/>
            </a:solidFill>
            <a:prstDash val="solid"/>
          </a:ln>
        </p:spPr>
      </p:sp>
      <p:sp>
        <p:nvSpPr>
          <p:cNvPr id="70" name="Text 67"/>
          <p:cNvSpPr txBox="1"/>
          <p:nvPr/>
        </p:nvSpPr>
        <p:spPr>
          <a:xfrm>
            <a:off x="9235440" y="5431536"/>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cs typeface="Amiri" pitchFamily="2" charset="-78"/>
              </a:rPr>
              <a:t>B</a:t>
            </a:r>
            <a:endParaRPr lang="en-US" sz="1000" dirty="0"/>
          </a:p>
        </p:txBody>
      </p:sp>
      <p:sp>
        <p:nvSpPr>
          <p:cNvPr id="71" name="Text 68"/>
          <p:cNvSpPr txBox="1"/>
          <p:nvPr/>
        </p:nvSpPr>
        <p:spPr>
          <a:xfrm>
            <a:off x="9500616" y="5431536"/>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ea typeface="Amiri" pitchFamily="2" charset="-78"/>
                <a:cs typeface="Amiri" pitchFamily="2" charset="-78"/>
              </a:rPr>
              <a:t>هٰذَا الحَقِيبَةُ</a:t>
            </a:r>
            <a:endParaRPr lang="ar-SA" sz="1800" dirty="0"/>
          </a:p>
        </p:txBody>
      </p:sp>
      <p:sp>
        <p:nvSpPr>
          <p:cNvPr id="72" name="Shape 69"/>
          <p:cNvSpPr/>
          <p:nvPr/>
        </p:nvSpPr>
        <p:spPr>
          <a:xfrm>
            <a:off x="6624828" y="4864608"/>
            <a:ext cx="2414016" cy="512064"/>
          </a:xfrm>
          <a:prstGeom prst="roundRect">
            <a:avLst>
              <a:gd name="adj" fmla="val 10714"/>
            </a:avLst>
          </a:prstGeom>
          <a:solidFill>
            <a:srgbClr val="EEF3FA"/>
          </a:solidFill>
          <a:ln w="9525">
            <a:solidFill>
              <a:srgbClr val="C9D6EA"/>
            </a:solidFill>
            <a:prstDash val="solid"/>
          </a:ln>
        </p:spPr>
      </p:sp>
      <p:sp>
        <p:nvSpPr>
          <p:cNvPr id="73" name="Text 70"/>
          <p:cNvSpPr txBox="1"/>
          <p:nvPr/>
        </p:nvSpPr>
        <p:spPr>
          <a:xfrm>
            <a:off x="6679692" y="4864608"/>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cs typeface="Amiri" pitchFamily="2" charset="-78"/>
              </a:rPr>
              <a:t>A</a:t>
            </a:r>
            <a:endParaRPr lang="en-US" sz="1000" dirty="0"/>
          </a:p>
        </p:txBody>
      </p:sp>
      <p:sp>
        <p:nvSpPr>
          <p:cNvPr id="74" name="Text 71"/>
          <p:cNvSpPr txBox="1"/>
          <p:nvPr/>
        </p:nvSpPr>
        <p:spPr>
          <a:xfrm>
            <a:off x="6944868" y="4864608"/>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ea typeface="Amiri" pitchFamily="2" charset="-78"/>
                <a:cs typeface="Amiri" pitchFamily="2" charset="-78"/>
              </a:rPr>
              <a:t>أَرْخَصُ</a:t>
            </a:r>
            <a:endParaRPr lang="ar-SA" sz="1800" dirty="0"/>
          </a:p>
        </p:txBody>
      </p:sp>
      <p:sp>
        <p:nvSpPr>
          <p:cNvPr id="75" name="Shape 72"/>
          <p:cNvSpPr/>
          <p:nvPr/>
        </p:nvSpPr>
        <p:spPr>
          <a:xfrm>
            <a:off x="6624828" y="5431536"/>
            <a:ext cx="2414016" cy="512064"/>
          </a:xfrm>
          <a:prstGeom prst="roundRect">
            <a:avLst>
              <a:gd name="adj" fmla="val 10714"/>
            </a:avLst>
          </a:prstGeom>
          <a:solidFill>
            <a:srgbClr val="EEF3FA"/>
          </a:solidFill>
          <a:ln w="9525">
            <a:solidFill>
              <a:srgbClr val="C9D6EA"/>
            </a:solidFill>
            <a:prstDash val="solid"/>
          </a:ln>
        </p:spPr>
      </p:sp>
      <p:sp>
        <p:nvSpPr>
          <p:cNvPr id="76" name="Text 73"/>
          <p:cNvSpPr txBox="1"/>
          <p:nvPr/>
        </p:nvSpPr>
        <p:spPr>
          <a:xfrm>
            <a:off x="6679692" y="5431536"/>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cs typeface="Amiri" pitchFamily="2" charset="-78"/>
              </a:rPr>
              <a:t>B</a:t>
            </a:r>
            <a:endParaRPr lang="en-US" sz="1000" dirty="0"/>
          </a:p>
        </p:txBody>
      </p:sp>
      <p:sp>
        <p:nvSpPr>
          <p:cNvPr id="77" name="Text 74"/>
          <p:cNvSpPr txBox="1"/>
          <p:nvPr/>
        </p:nvSpPr>
        <p:spPr>
          <a:xfrm>
            <a:off x="6944868" y="5431536"/>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ea typeface="Amiri" pitchFamily="2" charset="-78"/>
                <a:cs typeface="Amiri" pitchFamily="2" charset="-78"/>
              </a:rPr>
              <a:t>أَرْخَصَةٌ</a:t>
            </a:r>
            <a:endParaRPr lang="ar-SA" sz="1800" dirty="0"/>
          </a:p>
        </p:txBody>
      </p:sp>
      <p:sp>
        <p:nvSpPr>
          <p:cNvPr id="78" name="Shape 75"/>
          <p:cNvSpPr/>
          <p:nvPr/>
        </p:nvSpPr>
        <p:spPr>
          <a:xfrm>
            <a:off x="4069080" y="4864608"/>
            <a:ext cx="2414016" cy="512064"/>
          </a:xfrm>
          <a:prstGeom prst="roundRect">
            <a:avLst>
              <a:gd name="adj" fmla="val 10714"/>
            </a:avLst>
          </a:prstGeom>
          <a:solidFill>
            <a:srgbClr val="EEF3FA"/>
          </a:solidFill>
          <a:ln w="9525">
            <a:solidFill>
              <a:srgbClr val="C9D6EA"/>
            </a:solidFill>
            <a:prstDash val="solid"/>
          </a:ln>
        </p:spPr>
      </p:sp>
      <p:sp>
        <p:nvSpPr>
          <p:cNvPr id="79" name="Text 76"/>
          <p:cNvSpPr txBox="1"/>
          <p:nvPr/>
        </p:nvSpPr>
        <p:spPr>
          <a:xfrm>
            <a:off x="4123944" y="4864608"/>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cs typeface="Amiri" pitchFamily="2" charset="-78"/>
              </a:rPr>
              <a:t>A</a:t>
            </a:r>
            <a:endParaRPr lang="en-US" sz="1000" dirty="0"/>
          </a:p>
        </p:txBody>
      </p:sp>
      <p:sp>
        <p:nvSpPr>
          <p:cNvPr id="80" name="Text 77"/>
          <p:cNvSpPr txBox="1"/>
          <p:nvPr/>
        </p:nvSpPr>
        <p:spPr>
          <a:xfrm>
            <a:off x="4389120" y="4864608"/>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ea typeface="Amiri" pitchFamily="2" charset="-78"/>
                <a:cs typeface="Amiri" pitchFamily="2" charset="-78"/>
              </a:rPr>
              <a:t>مِنْ تِلْكَ.</a:t>
            </a:r>
            <a:endParaRPr lang="ar-SA" sz="1800" dirty="0"/>
          </a:p>
        </p:txBody>
      </p:sp>
      <p:sp>
        <p:nvSpPr>
          <p:cNvPr id="81" name="Shape 78"/>
          <p:cNvSpPr/>
          <p:nvPr/>
        </p:nvSpPr>
        <p:spPr>
          <a:xfrm>
            <a:off x="4069080" y="5431536"/>
            <a:ext cx="2414016" cy="512064"/>
          </a:xfrm>
          <a:prstGeom prst="roundRect">
            <a:avLst>
              <a:gd name="adj" fmla="val 10714"/>
            </a:avLst>
          </a:prstGeom>
          <a:solidFill>
            <a:srgbClr val="EEF3FA"/>
          </a:solidFill>
          <a:ln w="9525">
            <a:solidFill>
              <a:srgbClr val="C9D6EA"/>
            </a:solidFill>
            <a:prstDash val="solid"/>
          </a:ln>
        </p:spPr>
      </p:sp>
      <p:sp>
        <p:nvSpPr>
          <p:cNvPr id="82" name="Text 79"/>
          <p:cNvSpPr txBox="1"/>
          <p:nvPr/>
        </p:nvSpPr>
        <p:spPr>
          <a:xfrm>
            <a:off x="4123944" y="5431536"/>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cs typeface="Amiri" pitchFamily="2" charset="-78"/>
              </a:rPr>
              <a:t>B</a:t>
            </a:r>
            <a:endParaRPr lang="en-US" sz="1000" dirty="0"/>
          </a:p>
        </p:txBody>
      </p:sp>
      <p:sp>
        <p:nvSpPr>
          <p:cNvPr id="83" name="Text 80"/>
          <p:cNvSpPr txBox="1"/>
          <p:nvPr/>
        </p:nvSpPr>
        <p:spPr>
          <a:xfrm>
            <a:off x="4389120" y="5431536"/>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ea typeface="Amiri" pitchFamily="2" charset="-78"/>
                <a:cs typeface="Amiri" pitchFamily="2" charset="-78"/>
              </a:rPr>
              <a:t>مِنْ ذٰلِكَ.</a:t>
            </a:r>
            <a:endParaRPr lang="ar-SA" sz="1800" dirty="0"/>
          </a:p>
        </p:txBody>
      </p:sp>
      <p:sp>
        <p:nvSpPr>
          <p:cNvPr id="84" name="Text 8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12 / 22</a:t>
            </a:r>
            <a:endParaRPr lang="en-US" sz="8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D2-L12 · Speaking + writing practice room</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STEP 6 · CHECK YOUR SENTENCES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Sentence builder: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ابْنِ الجُمْلَةَ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D2 · People, Relationships and Style · D2-L12 · practice room</a:t>
            </a:r>
            <a:endParaRPr lang="en-US" sz="850" dirty="0"/>
          </a:p>
        </p:txBody>
      </p:sp>
      <p:sp>
        <p:nvSpPr>
          <p:cNvPr id="15" name="Shape 12"/>
          <p:cNvSpPr/>
          <p:nvPr/>
        </p:nvSpPr>
        <p:spPr>
          <a:xfrm>
            <a:off x="457200" y="1810512"/>
            <a:ext cx="11274552" cy="1353312"/>
          </a:xfrm>
          <a:prstGeom prst="roundRect">
            <a:avLst>
              <a:gd name="adj" fmla="val 5405"/>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47672"/>
            <a:ext cx="365760" cy="365760"/>
          </a:xfrm>
          <a:prstGeom prst="ellipse">
            <a:avLst/>
          </a:prstGeom>
          <a:solidFill>
            <a:srgbClr val="2E8B57"/>
          </a:solidFill>
          <a:ln w="12700">
            <a:solidFill>
              <a:srgbClr val="2E8B57"/>
            </a:solidFill>
            <a:prstDash val="solid"/>
          </a:ln>
        </p:spPr>
      </p:sp>
      <p:sp>
        <p:nvSpPr>
          <p:cNvPr id="17" name="Text 14"/>
          <p:cNvSpPr txBox="1"/>
          <p:nvPr/>
        </p:nvSpPr>
        <p:spPr>
          <a:xfrm>
            <a:off x="640080" y="1947672"/>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1</a:t>
            </a:r>
            <a:endParaRPr lang="en-US" sz="1200" dirty="0"/>
          </a:p>
        </p:txBody>
      </p:sp>
      <p:sp>
        <p:nvSpPr>
          <p:cNvPr id="18" name="Text 15"/>
          <p:cNvSpPr txBox="1"/>
          <p:nvPr/>
        </p:nvSpPr>
        <p:spPr>
          <a:xfrm>
            <a:off x="1143000" y="1901952"/>
            <a:ext cx="3291840" cy="457200"/>
          </a:xfrm>
          <a:prstGeom prst="rect">
            <a:avLst/>
          </a:prstGeom>
          <a:noFill/>
          <a:ln/>
        </p:spPr>
        <p:txBody>
          <a:bodyPr wrap="square" lIns="0" tIns="0" rIns="0" bIns="0" rtlCol="0" anchor="ctr"/>
          <a:lstStyle/>
          <a:p>
            <a:pPr algn="l" indent="0" marL="0">
              <a:buNone/>
            </a:pPr>
            <a:r>
              <a:rPr lang="en-US" sz="1300" b="1" dirty="0">
                <a:solidFill>
                  <a:srgbClr val="1B3B6F"/>
                </a:solidFill>
                <a:latin typeface="Calibri" pitchFamily="34" charset="0"/>
                <a:cs typeface="Amiri" pitchFamily="2" charset="-78"/>
              </a:rPr>
              <a:t>My cousin (f.) isn’t shy; she is confident.</a:t>
            </a:r>
            <a:endParaRPr lang="en-US" sz="1300" dirty="0"/>
          </a:p>
        </p:txBody>
      </p:sp>
      <p:sp>
        <p:nvSpPr>
          <p:cNvPr id="19" name="Text 16"/>
          <p:cNvSpPr txBox="1"/>
          <p:nvPr/>
        </p:nvSpPr>
        <p:spPr>
          <a:xfrm>
            <a:off x="1143000" y="2359152"/>
            <a:ext cx="3291840" cy="256032"/>
          </a:xfrm>
          <a:prstGeom prst="rect">
            <a:avLst/>
          </a:prstGeom>
          <a:noFill/>
          <a:ln/>
        </p:spPr>
        <p:txBody>
          <a:bodyPr wrap="square" lIns="0" tIns="0" rIns="0" bIns="0" rtlCol="0" anchor="ctr"/>
          <a:lstStyle/>
          <a:p>
            <a:pPr algn="l" indent="0" marL="0">
              <a:buNone/>
            </a:pPr>
            <a:r>
              <a:rPr lang="en-US" sz="1050" b="1" dirty="0">
                <a:solidFill>
                  <a:srgbClr val="1E6B52"/>
                </a:solidFill>
                <a:latin typeface="Calibri" pitchFamily="34" charset="0"/>
                <a:cs typeface="Amiri" pitchFamily="2" charset="-78"/>
              </a:rPr>
              <a:t>Columns = A · A · A</a:t>
            </a:r>
            <a:endParaRPr lang="en-US" sz="1050" dirty="0"/>
          </a:p>
        </p:txBody>
      </p:sp>
      <p:sp>
        <p:nvSpPr>
          <p:cNvPr id="20" name="Text 17"/>
          <p:cNvSpPr txBox="1"/>
          <p:nvPr/>
        </p:nvSpPr>
        <p:spPr>
          <a:xfrm>
            <a:off x="1143000" y="2633472"/>
            <a:ext cx="3291840" cy="438912"/>
          </a:xfrm>
          <a:prstGeom prst="rect">
            <a:avLst/>
          </a:prstGeom>
          <a:noFill/>
          <a:ln/>
        </p:spPr>
        <p:txBody>
          <a:bodyPr wrap="square" lIns="0" tIns="0" rIns="0" bIns="0" rtlCol="0" anchor="ctr"/>
          <a:lstStyle/>
          <a:p>
            <a:pPr algn="l" indent="0" marL="0">
              <a:buNone/>
            </a:pPr>
            <a:r>
              <a:rPr lang="ar-SA" altLang="en-US" sz="1350" dirty="0">
                <a:solidFill>
                  <a:srgbClr val="5A6472"/>
                </a:solidFill>
                <a:latin typeface="Amiri" pitchFamily="2" charset="-78"/>
                <a:ea typeface="Amiri" pitchFamily="2" charset="-78"/>
                <a:cs typeface="Amiri" pitchFamily="2" charset="-78"/>
              </a:rPr>
              <a:t>لَيْسَتْ</a:t>
            </a:r>
            <a:pPr algn="l" indent="0" marL="0">
              <a:buNone/>
            </a:pPr>
            <a:r>
              <a:rPr lang="en-US" sz="1050" i="1" dirty="0">
                <a:solidFill>
                  <a:srgbClr val="5A6472"/>
                </a:solidFill>
                <a:latin typeface="Calibri" pitchFamily="34" charset="0"/>
                <a:cs typeface="Amiri" pitchFamily="2" charset="-78"/>
              </a:rPr>
              <a:t> + -an; she → </a:t>
            </a:r>
            <a:pPr algn="l" indent="0" marL="0">
              <a:buNone/>
            </a:pPr>
            <a:r>
              <a:rPr lang="ar-SA" altLang="en-US" sz="1350" dirty="0">
                <a:solidFill>
                  <a:srgbClr val="5A6472"/>
                </a:solidFill>
                <a:latin typeface="Amiri" pitchFamily="2" charset="-78"/>
                <a:ea typeface="Amiri" pitchFamily="2" charset="-78"/>
                <a:cs typeface="Amiri" pitchFamily="2" charset="-78"/>
              </a:rPr>
              <a:t>وَاثِقَةٌ</a:t>
            </a:r>
            <a:pPr algn="l" indent="0" marL="0">
              <a:buNone/>
            </a:pPr>
            <a:r>
              <a:rPr lang="en-US" sz="1050" i="1" dirty="0">
                <a:solidFill>
                  <a:srgbClr val="5A6472"/>
                </a:solidFill>
                <a:latin typeface="Calibri" pitchFamily="34" charset="0"/>
                <a:cs typeface="Amiri" pitchFamily="2" charset="-78"/>
              </a:rPr>
              <a:t>.</a:t>
            </a:r>
            <a:endParaRPr lang="en-US" sz="1050" dirty="0"/>
          </a:p>
        </p:txBody>
      </p:sp>
      <p:sp>
        <p:nvSpPr>
          <p:cNvPr id="21" name="Text 18"/>
          <p:cNvSpPr txBox="1"/>
          <p:nvPr/>
        </p:nvSpPr>
        <p:spPr>
          <a:xfrm>
            <a:off x="4572000" y="1901952"/>
            <a:ext cx="6949440" cy="1170432"/>
          </a:xfrm>
          <a:prstGeom prst="rect">
            <a:avLst/>
          </a:prstGeom>
          <a:noFill/>
          <a:ln/>
        </p:spPr>
        <p:txBody>
          <a:bodyPr wrap="square" lIns="0" tIns="0" rIns="0" bIns="0" rtlCol="0" anchor="ctr"/>
          <a:lstStyle/>
          <a:p>
            <a:pPr rtl="1" algn="r" indent="0" marL="0">
              <a:buNone/>
            </a:pPr>
            <a:r>
              <a:rPr lang="ar-SA" altLang="en-US" sz="2800" b="1" dirty="0">
                <a:solidFill>
                  <a:srgbClr val="1B3B6F"/>
                </a:solidFill>
                <a:latin typeface="Amiri" pitchFamily="2" charset="-78"/>
                <a:ea typeface="Amiri" pitchFamily="2" charset="-78"/>
                <a:cs typeface="Amiri" pitchFamily="2" charset="-78"/>
              </a:rPr>
              <a:t>ابْنَةُ عَمِّي لَيْسَتْ خَجُولَةً، هِيَ وَاثِقَةٌ.</a:t>
            </a:r>
            <a:endParaRPr lang="ar-SA" sz="2800" dirty="0"/>
          </a:p>
        </p:txBody>
      </p:sp>
      <p:sp>
        <p:nvSpPr>
          <p:cNvPr id="22" name="Shape 19"/>
          <p:cNvSpPr/>
          <p:nvPr/>
        </p:nvSpPr>
        <p:spPr>
          <a:xfrm>
            <a:off x="457200" y="3291840"/>
            <a:ext cx="11274552" cy="1353312"/>
          </a:xfrm>
          <a:prstGeom prst="roundRect">
            <a:avLst>
              <a:gd name="adj" fmla="val 5405"/>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640080" y="3429000"/>
            <a:ext cx="365760" cy="365760"/>
          </a:xfrm>
          <a:prstGeom prst="ellipse">
            <a:avLst/>
          </a:prstGeom>
          <a:solidFill>
            <a:srgbClr val="2E8B57"/>
          </a:solidFill>
          <a:ln w="12700">
            <a:solidFill>
              <a:srgbClr val="2E8B57"/>
            </a:solidFill>
            <a:prstDash val="solid"/>
          </a:ln>
        </p:spPr>
      </p:sp>
      <p:sp>
        <p:nvSpPr>
          <p:cNvPr id="24" name="Text 21"/>
          <p:cNvSpPr txBox="1"/>
          <p:nvPr/>
        </p:nvSpPr>
        <p:spPr>
          <a:xfrm>
            <a:off x="640080" y="3429000"/>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2</a:t>
            </a:r>
            <a:endParaRPr lang="en-US" sz="1200" dirty="0"/>
          </a:p>
        </p:txBody>
      </p:sp>
      <p:sp>
        <p:nvSpPr>
          <p:cNvPr id="25" name="Text 22"/>
          <p:cNvSpPr txBox="1"/>
          <p:nvPr/>
        </p:nvSpPr>
        <p:spPr>
          <a:xfrm>
            <a:off x="1143000" y="3383280"/>
            <a:ext cx="3291840" cy="457200"/>
          </a:xfrm>
          <a:prstGeom prst="rect">
            <a:avLst/>
          </a:prstGeom>
          <a:noFill/>
          <a:ln/>
        </p:spPr>
        <p:txBody>
          <a:bodyPr wrap="square" lIns="0" tIns="0" rIns="0" bIns="0" rtlCol="0" anchor="ctr"/>
          <a:lstStyle/>
          <a:p>
            <a:pPr algn="l" indent="0" marL="0">
              <a:buNone/>
            </a:pPr>
            <a:r>
              <a:rPr lang="en-US" sz="1300" b="1" dirty="0">
                <a:solidFill>
                  <a:srgbClr val="1B3B6F"/>
                </a:solidFill>
                <a:latin typeface="Calibri" pitchFamily="34" charset="0"/>
                <a:cs typeface="Amiri" pitchFamily="2" charset="-78"/>
              </a:rPr>
              <a:t>The man who wears the black coat is my uncle.</a:t>
            </a:r>
            <a:endParaRPr lang="en-US" sz="1300" dirty="0"/>
          </a:p>
        </p:txBody>
      </p:sp>
      <p:sp>
        <p:nvSpPr>
          <p:cNvPr id="26" name="Text 23"/>
          <p:cNvSpPr txBox="1"/>
          <p:nvPr/>
        </p:nvSpPr>
        <p:spPr>
          <a:xfrm>
            <a:off x="1143000" y="3840480"/>
            <a:ext cx="3291840" cy="256032"/>
          </a:xfrm>
          <a:prstGeom prst="rect">
            <a:avLst/>
          </a:prstGeom>
          <a:noFill/>
          <a:ln/>
        </p:spPr>
        <p:txBody>
          <a:bodyPr wrap="square" lIns="0" tIns="0" rIns="0" bIns="0" rtlCol="0" anchor="ctr"/>
          <a:lstStyle/>
          <a:p>
            <a:pPr algn="l" indent="0" marL="0">
              <a:buNone/>
            </a:pPr>
            <a:r>
              <a:rPr lang="en-US" sz="1050" b="1" dirty="0">
                <a:solidFill>
                  <a:srgbClr val="1E6B52"/>
                </a:solidFill>
                <a:latin typeface="Calibri" pitchFamily="34" charset="0"/>
                <a:cs typeface="Amiri" pitchFamily="2" charset="-78"/>
              </a:rPr>
              <a:t>Columns = A · A · A</a:t>
            </a:r>
            <a:endParaRPr lang="en-US" sz="1050" dirty="0"/>
          </a:p>
        </p:txBody>
      </p:sp>
      <p:sp>
        <p:nvSpPr>
          <p:cNvPr id="27" name="Text 24"/>
          <p:cNvSpPr txBox="1"/>
          <p:nvPr/>
        </p:nvSpPr>
        <p:spPr>
          <a:xfrm>
            <a:off x="1143000" y="4114800"/>
            <a:ext cx="3291840" cy="43891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Man → </a:t>
            </a:r>
            <a:pPr algn="l" indent="0" marL="0">
              <a:buNone/>
            </a:pPr>
            <a:r>
              <a:rPr lang="ar-SA" altLang="en-US" sz="1350" dirty="0">
                <a:solidFill>
                  <a:srgbClr val="5A6472"/>
                </a:solidFill>
                <a:latin typeface="Amiri" pitchFamily="2" charset="-78"/>
                <a:ea typeface="Amiri" pitchFamily="2" charset="-78"/>
                <a:cs typeface="Amiri" pitchFamily="2" charset="-78"/>
              </a:rPr>
              <a:t>الَّذِي</a:t>
            </a:r>
            <a:pPr algn="l" indent="0" marL="0">
              <a:buNone/>
            </a:pPr>
            <a:r>
              <a:rPr lang="en-US" sz="1050" i="1" dirty="0">
                <a:solidFill>
                  <a:srgbClr val="5A6472"/>
                </a:solidFill>
                <a:latin typeface="Calibri" pitchFamily="34" charset="0"/>
                <a:cs typeface="Amiri" pitchFamily="2" charset="-78"/>
              </a:rPr>
              <a:t>; coat (m.) → </a:t>
            </a:r>
            <a:pPr algn="l" indent="0" marL="0">
              <a:buNone/>
            </a:pPr>
            <a:r>
              <a:rPr lang="ar-SA" altLang="en-US" sz="1350" dirty="0">
                <a:solidFill>
                  <a:srgbClr val="5A6472"/>
                </a:solidFill>
                <a:latin typeface="Amiri" pitchFamily="2" charset="-78"/>
                <a:ea typeface="Amiri" pitchFamily="2" charset="-78"/>
                <a:cs typeface="Amiri" pitchFamily="2" charset="-78"/>
              </a:rPr>
              <a:t>أَسْوَدُ</a:t>
            </a:r>
            <a:pPr algn="l" indent="0" marL="0">
              <a:buNone/>
            </a:pPr>
            <a:r>
              <a:rPr lang="en-US" sz="1050" i="1" dirty="0">
                <a:solidFill>
                  <a:srgbClr val="5A6472"/>
                </a:solidFill>
                <a:latin typeface="Calibri" pitchFamily="34" charset="0"/>
                <a:cs typeface="Amiri" pitchFamily="2" charset="-78"/>
              </a:rPr>
              <a:t>.</a:t>
            </a:r>
            <a:endParaRPr lang="en-US" sz="1050" dirty="0"/>
          </a:p>
        </p:txBody>
      </p:sp>
      <p:sp>
        <p:nvSpPr>
          <p:cNvPr id="28" name="Text 25"/>
          <p:cNvSpPr txBox="1"/>
          <p:nvPr/>
        </p:nvSpPr>
        <p:spPr>
          <a:xfrm>
            <a:off x="4572000" y="3383280"/>
            <a:ext cx="6949440" cy="1170432"/>
          </a:xfrm>
          <a:prstGeom prst="rect">
            <a:avLst/>
          </a:prstGeom>
          <a:noFill/>
          <a:ln/>
        </p:spPr>
        <p:txBody>
          <a:bodyPr wrap="square" lIns="0" tIns="0" rIns="0" bIns="0" rtlCol="0" anchor="ctr"/>
          <a:lstStyle/>
          <a:p>
            <a:pPr rtl="1" algn="r" indent="0" marL="0">
              <a:buNone/>
            </a:pPr>
            <a:r>
              <a:rPr lang="ar-SA" altLang="en-US" sz="2800" b="1" dirty="0">
                <a:solidFill>
                  <a:srgbClr val="1B3B6F"/>
                </a:solidFill>
                <a:latin typeface="Amiri" pitchFamily="2" charset="-78"/>
                <a:ea typeface="Amiri" pitchFamily="2" charset="-78"/>
                <a:cs typeface="Amiri" pitchFamily="2" charset="-78"/>
              </a:rPr>
              <a:t>الرَّجُلُ الَّذِي يَرْتَدِي المِعْطَفَ الأَسْوَدَ هُوَ عَمِّي.</a:t>
            </a:r>
            <a:endParaRPr lang="ar-SA" sz="2800" dirty="0"/>
          </a:p>
        </p:txBody>
      </p:sp>
      <p:sp>
        <p:nvSpPr>
          <p:cNvPr id="29" name="Shape 26"/>
          <p:cNvSpPr/>
          <p:nvPr/>
        </p:nvSpPr>
        <p:spPr>
          <a:xfrm>
            <a:off x="457200" y="4773168"/>
            <a:ext cx="11274552" cy="1353312"/>
          </a:xfrm>
          <a:prstGeom prst="roundRect">
            <a:avLst>
              <a:gd name="adj" fmla="val 5405"/>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30" name="Shape 27"/>
          <p:cNvSpPr/>
          <p:nvPr/>
        </p:nvSpPr>
        <p:spPr>
          <a:xfrm>
            <a:off x="640080" y="4910328"/>
            <a:ext cx="365760" cy="365760"/>
          </a:xfrm>
          <a:prstGeom prst="ellipse">
            <a:avLst/>
          </a:prstGeom>
          <a:solidFill>
            <a:srgbClr val="2E8B57"/>
          </a:solidFill>
          <a:ln w="12700">
            <a:solidFill>
              <a:srgbClr val="2E8B57"/>
            </a:solidFill>
            <a:prstDash val="solid"/>
          </a:ln>
        </p:spPr>
      </p:sp>
      <p:sp>
        <p:nvSpPr>
          <p:cNvPr id="31" name="Text 28"/>
          <p:cNvSpPr txBox="1"/>
          <p:nvPr/>
        </p:nvSpPr>
        <p:spPr>
          <a:xfrm>
            <a:off x="640080" y="49103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3</a:t>
            </a:r>
            <a:endParaRPr lang="en-US" sz="1200" dirty="0"/>
          </a:p>
        </p:txBody>
      </p:sp>
      <p:sp>
        <p:nvSpPr>
          <p:cNvPr id="32" name="Text 29"/>
          <p:cNvSpPr txBox="1"/>
          <p:nvPr/>
        </p:nvSpPr>
        <p:spPr>
          <a:xfrm>
            <a:off x="1143000" y="4864608"/>
            <a:ext cx="3291840" cy="457200"/>
          </a:xfrm>
          <a:prstGeom prst="rect">
            <a:avLst/>
          </a:prstGeom>
          <a:noFill/>
          <a:ln/>
        </p:spPr>
        <p:txBody>
          <a:bodyPr wrap="square" lIns="0" tIns="0" rIns="0" bIns="0" rtlCol="0" anchor="ctr"/>
          <a:lstStyle/>
          <a:p>
            <a:pPr algn="l" indent="0" marL="0">
              <a:buNone/>
            </a:pPr>
            <a:r>
              <a:rPr lang="en-US" sz="1300" b="1" dirty="0">
                <a:solidFill>
                  <a:srgbClr val="1B3B6F"/>
                </a:solidFill>
                <a:latin typeface="Calibri" pitchFamily="34" charset="0"/>
                <a:cs typeface="Amiri" pitchFamily="2" charset="-78"/>
              </a:rPr>
              <a:t>This bag is cheaper than that one.</a:t>
            </a:r>
            <a:endParaRPr lang="en-US" sz="1300" dirty="0"/>
          </a:p>
        </p:txBody>
      </p:sp>
      <p:sp>
        <p:nvSpPr>
          <p:cNvPr id="33" name="Text 30"/>
          <p:cNvSpPr txBox="1"/>
          <p:nvPr/>
        </p:nvSpPr>
        <p:spPr>
          <a:xfrm>
            <a:off x="1143000" y="5321808"/>
            <a:ext cx="3291840" cy="256032"/>
          </a:xfrm>
          <a:prstGeom prst="rect">
            <a:avLst/>
          </a:prstGeom>
          <a:noFill/>
          <a:ln/>
        </p:spPr>
        <p:txBody>
          <a:bodyPr wrap="square" lIns="0" tIns="0" rIns="0" bIns="0" rtlCol="0" anchor="ctr"/>
          <a:lstStyle/>
          <a:p>
            <a:pPr algn="l" indent="0" marL="0">
              <a:buNone/>
            </a:pPr>
            <a:r>
              <a:rPr lang="en-US" sz="1050" b="1" dirty="0">
                <a:solidFill>
                  <a:srgbClr val="1E6B52"/>
                </a:solidFill>
                <a:latin typeface="Calibri" pitchFamily="34" charset="0"/>
                <a:cs typeface="Amiri" pitchFamily="2" charset="-78"/>
              </a:rPr>
              <a:t>Columns = A · A · A</a:t>
            </a:r>
            <a:endParaRPr lang="en-US" sz="1050" dirty="0"/>
          </a:p>
        </p:txBody>
      </p:sp>
      <p:sp>
        <p:nvSpPr>
          <p:cNvPr id="34" name="Text 31"/>
          <p:cNvSpPr txBox="1"/>
          <p:nvPr/>
        </p:nvSpPr>
        <p:spPr>
          <a:xfrm>
            <a:off x="1143000" y="5596128"/>
            <a:ext cx="3291840" cy="43891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Feminine → </a:t>
            </a:r>
            <a:pPr algn="l" indent="0" marL="0">
              <a:buNone/>
            </a:pPr>
            <a:r>
              <a:rPr lang="ar-SA" altLang="en-US" sz="1350" dirty="0">
                <a:solidFill>
                  <a:srgbClr val="5A6472"/>
                </a:solidFill>
                <a:latin typeface="Amiri" pitchFamily="2" charset="-78"/>
                <a:ea typeface="Amiri" pitchFamily="2" charset="-78"/>
                <a:cs typeface="Amiri" pitchFamily="2" charset="-78"/>
              </a:rPr>
              <a:t>هٰذِهِ / تِلْكَ</a:t>
            </a:r>
            <a:pPr algn="l" indent="0" marL="0">
              <a:buNone/>
            </a:pPr>
            <a:r>
              <a:rPr lang="en-US" sz="1050" i="1" dirty="0">
                <a:solidFill>
                  <a:srgbClr val="5A6472"/>
                </a:solidFill>
                <a:latin typeface="Calibri" pitchFamily="34" charset="0"/>
                <a:cs typeface="Amiri" pitchFamily="2" charset="-78"/>
              </a:rPr>
              <a:t>; comparative never changes.</a:t>
            </a:r>
            <a:endParaRPr lang="en-US" sz="1050" dirty="0"/>
          </a:p>
        </p:txBody>
      </p:sp>
      <p:sp>
        <p:nvSpPr>
          <p:cNvPr id="35" name="Text 32"/>
          <p:cNvSpPr txBox="1"/>
          <p:nvPr/>
        </p:nvSpPr>
        <p:spPr>
          <a:xfrm>
            <a:off x="4572000" y="4864608"/>
            <a:ext cx="6949440" cy="1170432"/>
          </a:xfrm>
          <a:prstGeom prst="rect">
            <a:avLst/>
          </a:prstGeom>
          <a:noFill/>
          <a:ln/>
        </p:spPr>
        <p:txBody>
          <a:bodyPr wrap="square" lIns="0" tIns="0" rIns="0" bIns="0" rtlCol="0" anchor="ctr"/>
          <a:lstStyle/>
          <a:p>
            <a:pPr rtl="1" algn="r" indent="0" marL="0">
              <a:buNone/>
            </a:pPr>
            <a:r>
              <a:rPr lang="ar-SA" altLang="en-US" sz="2800" b="1" dirty="0">
                <a:solidFill>
                  <a:srgbClr val="1B3B6F"/>
                </a:solidFill>
                <a:latin typeface="Amiri" pitchFamily="2" charset="-78"/>
                <a:ea typeface="Amiri" pitchFamily="2" charset="-78"/>
                <a:cs typeface="Amiri" pitchFamily="2" charset="-78"/>
              </a:rPr>
              <a:t>هٰذِهِ الحَقِيبَةُ أَرْخَصُ مِنْ تِلْكَ.</a:t>
            </a:r>
            <a:endParaRPr lang="ar-SA" sz="2800" dirty="0"/>
          </a:p>
        </p:txBody>
      </p:sp>
      <p:sp>
        <p:nvSpPr>
          <p:cNvPr id="36" name="Text 3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13 / 22</a:t>
            </a:r>
            <a:endParaRPr lang="en-US" sz="8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D2-L12 · Speaking + writing practice room</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STEP 7 · SPOT AND FIX · MISTAKES STUDENTS OFTEN MAKE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Find the mistake, fix it</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اكْتَشِفِ الخَطَأَ</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D2 · People, Relationships and Style · D2-L12 · practice room</a:t>
            </a:r>
            <a:endParaRPr lang="en-US" sz="850" dirty="0"/>
          </a:p>
        </p:txBody>
      </p:sp>
      <p:sp>
        <p:nvSpPr>
          <p:cNvPr id="15" name="Shape 12"/>
          <p:cNvSpPr/>
          <p:nvPr/>
        </p:nvSpPr>
        <p:spPr>
          <a:xfrm>
            <a:off x="457200" y="1810512"/>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183112" y="2249424"/>
            <a:ext cx="402336" cy="402336"/>
          </a:xfrm>
          <a:prstGeom prst="ellipse">
            <a:avLst/>
          </a:prstGeom>
          <a:solidFill>
            <a:srgbClr val="B83227"/>
          </a:solidFill>
          <a:ln w="12700">
            <a:solidFill>
              <a:srgbClr val="B83227"/>
            </a:solidFill>
            <a:prstDash val="solid"/>
          </a:ln>
        </p:spPr>
      </p:sp>
      <p:sp>
        <p:nvSpPr>
          <p:cNvPr id="17" name="Text 14"/>
          <p:cNvSpPr txBox="1"/>
          <p:nvPr/>
        </p:nvSpPr>
        <p:spPr>
          <a:xfrm>
            <a:off x="11183112" y="2249424"/>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1</a:t>
            </a:r>
            <a:endParaRPr lang="en-US" sz="1300" dirty="0"/>
          </a:p>
        </p:txBody>
      </p:sp>
      <p:sp>
        <p:nvSpPr>
          <p:cNvPr id="18" name="Text 15"/>
          <p:cNvSpPr txBox="1"/>
          <p:nvPr/>
        </p:nvSpPr>
        <p:spPr>
          <a:xfrm>
            <a:off x="4023360" y="1901952"/>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2" charset="-78"/>
                <a:ea typeface="Amiri" pitchFamily="2" charset="-78"/>
                <a:cs typeface="Amiri" pitchFamily="2" charset="-78"/>
              </a:rPr>
              <a:t>أُمِّي صَبُورٌ وَلَيْسَتْ عَصَبِيَّةٌ.</a:t>
            </a:r>
            <a:endParaRPr lang="ar-SA" sz="3000" dirty="0"/>
          </a:p>
        </p:txBody>
      </p:sp>
      <p:sp>
        <p:nvSpPr>
          <p:cNvPr id="19" name="Text 16"/>
          <p:cNvSpPr txBox="1"/>
          <p:nvPr/>
        </p:nvSpPr>
        <p:spPr>
          <a:xfrm>
            <a:off x="731520" y="1901952"/>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cs typeface="Amiri" pitchFamily="2" charset="-78"/>
              </a:rPr>
              <a:t>Two errors.</a:t>
            </a:r>
            <a:endParaRPr lang="en-US" sz="1300" dirty="0"/>
          </a:p>
        </p:txBody>
      </p:sp>
      <p:sp>
        <p:nvSpPr>
          <p:cNvPr id="20" name="Shape 17"/>
          <p:cNvSpPr/>
          <p:nvPr/>
        </p:nvSpPr>
        <p:spPr>
          <a:xfrm>
            <a:off x="457200" y="3255264"/>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11183112" y="3694176"/>
            <a:ext cx="402336" cy="402336"/>
          </a:xfrm>
          <a:prstGeom prst="ellipse">
            <a:avLst/>
          </a:prstGeom>
          <a:solidFill>
            <a:srgbClr val="B83227"/>
          </a:solidFill>
          <a:ln w="12700">
            <a:solidFill>
              <a:srgbClr val="B83227"/>
            </a:solidFill>
            <a:prstDash val="solid"/>
          </a:ln>
        </p:spPr>
      </p:sp>
      <p:sp>
        <p:nvSpPr>
          <p:cNvPr id="22" name="Text 19"/>
          <p:cNvSpPr txBox="1"/>
          <p:nvPr/>
        </p:nvSpPr>
        <p:spPr>
          <a:xfrm>
            <a:off x="11183112" y="3694176"/>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2</a:t>
            </a:r>
            <a:endParaRPr lang="en-US" sz="1300" dirty="0"/>
          </a:p>
        </p:txBody>
      </p:sp>
      <p:sp>
        <p:nvSpPr>
          <p:cNvPr id="23" name="Text 20"/>
          <p:cNvSpPr txBox="1"/>
          <p:nvPr/>
        </p:nvSpPr>
        <p:spPr>
          <a:xfrm>
            <a:off x="4023360" y="3346704"/>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2" charset="-78"/>
                <a:ea typeface="Amiri" pitchFamily="2" charset="-78"/>
                <a:cs typeface="Amiri" pitchFamily="2" charset="-78"/>
              </a:rPr>
              <a:t>أَخِي أَطْوَلُ مِنِّي، وَشَعْرُهُ طَوِيلَةٌ وَعَيْنُهُ زَرْقَاءُ.</a:t>
            </a:r>
            <a:endParaRPr lang="ar-SA" sz="3000" dirty="0"/>
          </a:p>
        </p:txBody>
      </p:sp>
      <p:sp>
        <p:nvSpPr>
          <p:cNvPr id="24" name="Text 21"/>
          <p:cNvSpPr txBox="1"/>
          <p:nvPr/>
        </p:nvSpPr>
        <p:spPr>
          <a:xfrm>
            <a:off x="731520" y="3346704"/>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cs typeface="Amiri" pitchFamily="2" charset="-78"/>
              </a:rPr>
              <a:t>Two errors.</a:t>
            </a:r>
            <a:endParaRPr lang="en-US" sz="1300" dirty="0"/>
          </a:p>
        </p:txBody>
      </p:sp>
      <p:sp>
        <p:nvSpPr>
          <p:cNvPr id="25" name="Shape 22"/>
          <p:cNvSpPr/>
          <p:nvPr/>
        </p:nvSpPr>
        <p:spPr>
          <a:xfrm>
            <a:off x="457200" y="4700016"/>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11183112" y="5138928"/>
            <a:ext cx="402336" cy="402336"/>
          </a:xfrm>
          <a:prstGeom prst="ellipse">
            <a:avLst/>
          </a:prstGeom>
          <a:solidFill>
            <a:srgbClr val="B83227"/>
          </a:solidFill>
          <a:ln w="12700">
            <a:solidFill>
              <a:srgbClr val="B83227"/>
            </a:solidFill>
            <a:prstDash val="solid"/>
          </a:ln>
        </p:spPr>
      </p:sp>
      <p:sp>
        <p:nvSpPr>
          <p:cNvPr id="27" name="Text 24"/>
          <p:cNvSpPr txBox="1"/>
          <p:nvPr/>
        </p:nvSpPr>
        <p:spPr>
          <a:xfrm>
            <a:off x="11183112" y="5138928"/>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3</a:t>
            </a:r>
            <a:endParaRPr lang="en-US" sz="1300" dirty="0"/>
          </a:p>
        </p:txBody>
      </p:sp>
      <p:sp>
        <p:nvSpPr>
          <p:cNvPr id="28" name="Text 25"/>
          <p:cNvSpPr txBox="1"/>
          <p:nvPr/>
        </p:nvSpPr>
        <p:spPr>
          <a:xfrm>
            <a:off x="4023360" y="4791456"/>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2" charset="-78"/>
                <a:ea typeface="Amiri" pitchFamily="2" charset="-78"/>
                <a:cs typeface="Amiri" pitchFamily="2" charset="-78"/>
              </a:rPr>
              <a:t>أَثِقُ صَدِيقِي لِأَنَّهَا صَادِقٌ.</a:t>
            </a:r>
            <a:endParaRPr lang="ar-SA" sz="3000" dirty="0"/>
          </a:p>
        </p:txBody>
      </p:sp>
      <p:sp>
        <p:nvSpPr>
          <p:cNvPr id="29" name="Text 26"/>
          <p:cNvSpPr txBox="1"/>
          <p:nvPr/>
        </p:nvSpPr>
        <p:spPr>
          <a:xfrm>
            <a:off x="731520" y="4791456"/>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cs typeface="Amiri" pitchFamily="2" charset="-78"/>
              </a:rPr>
              <a:t>Two errors.</a:t>
            </a:r>
            <a:endParaRPr lang="en-US" sz="1300" dirty="0"/>
          </a:p>
        </p:txBody>
      </p:sp>
      <p:sp>
        <p:nvSpPr>
          <p:cNvPr id="30" name="Text 2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14 / 22</a:t>
            </a:r>
            <a:endParaRPr lang="en-US" sz="8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D2-L12 · Speaking + writing practice room</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STEP 7 · CORRECTIONS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Spot and fix: corrections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اكْتَشِفِ الخَطَأَ</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D2 · People, Relationships and Style · D2-L12 · practice room</a:t>
            </a:r>
            <a:endParaRPr lang="en-US" sz="850" dirty="0"/>
          </a:p>
        </p:txBody>
      </p:sp>
      <p:sp>
        <p:nvSpPr>
          <p:cNvPr id="15" name="Shape 12"/>
          <p:cNvSpPr/>
          <p:nvPr/>
        </p:nvSpPr>
        <p:spPr>
          <a:xfrm>
            <a:off x="457200" y="1810512"/>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8503920" y="1901952"/>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2" charset="-78"/>
                <a:ea typeface="Amiri" pitchFamily="2" charset="-78"/>
                <a:cs typeface="Amiri" pitchFamily="2" charset="-78"/>
              </a:rPr>
              <a:t>أُمِّي صَبُورٌ وَلَيْسَتْ عَصَبِيَّةٌ.</a:t>
            </a:r>
            <a:endParaRPr lang="ar-SA" sz="1800" dirty="0"/>
          </a:p>
        </p:txBody>
      </p:sp>
      <p:sp>
        <p:nvSpPr>
          <p:cNvPr id="17" name="Shape 14"/>
          <p:cNvSpPr/>
          <p:nvPr/>
        </p:nvSpPr>
        <p:spPr>
          <a:xfrm>
            <a:off x="8641080" y="2459736"/>
            <a:ext cx="2834640" cy="0"/>
          </a:xfrm>
          <a:prstGeom prst="line">
            <a:avLst/>
          </a:prstGeom>
          <a:noFill/>
          <a:ln w="15875">
            <a:solidFill>
              <a:srgbClr val="B83227"/>
            </a:solidFill>
            <a:prstDash val="solid"/>
          </a:ln>
        </p:spPr>
      </p:sp>
      <p:sp>
        <p:nvSpPr>
          <p:cNvPr id="18" name="Text 15"/>
          <p:cNvSpPr txBox="1"/>
          <p:nvPr/>
        </p:nvSpPr>
        <p:spPr>
          <a:xfrm>
            <a:off x="8138160" y="1901952"/>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cs typeface="Amiri" pitchFamily="2" charset="-78"/>
              </a:rPr>
              <a:t>←</a:t>
            </a:r>
            <a:endParaRPr lang="en-US" sz="2000" dirty="0"/>
          </a:p>
        </p:txBody>
      </p:sp>
      <p:sp>
        <p:nvSpPr>
          <p:cNvPr id="19" name="Text 16"/>
          <p:cNvSpPr txBox="1"/>
          <p:nvPr/>
        </p:nvSpPr>
        <p:spPr>
          <a:xfrm>
            <a:off x="3566160" y="1901952"/>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2" charset="-78"/>
                <a:ea typeface="Amiri" pitchFamily="2" charset="-78"/>
                <a:cs typeface="Amiri" pitchFamily="2" charset="-78"/>
              </a:rPr>
              <a:t>أُمِّي صَبُورَةٌ وَلَيْسَتْ عَصَبِيَّةً.</a:t>
            </a:r>
            <a:endParaRPr lang="ar-SA" sz="2400" dirty="0"/>
          </a:p>
        </p:txBody>
      </p:sp>
      <p:sp>
        <p:nvSpPr>
          <p:cNvPr id="20" name="Text 17"/>
          <p:cNvSpPr txBox="1"/>
          <p:nvPr/>
        </p:nvSpPr>
        <p:spPr>
          <a:xfrm>
            <a:off x="685800" y="1901952"/>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Feminine agreement; </a:t>
            </a:r>
            <a:pPr algn="l" indent="0" marL="0">
              <a:buNone/>
            </a:pPr>
            <a:r>
              <a:rPr lang="ar-SA" altLang="en-US" sz="1500" b="1" dirty="0">
                <a:solidFill>
                  <a:srgbClr val="1B3B6F"/>
                </a:solidFill>
                <a:latin typeface="Amiri" pitchFamily="2" charset="-78"/>
                <a:ea typeface="Amiri" pitchFamily="2" charset="-78"/>
                <a:cs typeface="Amiri" pitchFamily="2" charset="-78"/>
              </a:rPr>
              <a:t>لَيْسَتْ</a:t>
            </a:r>
            <a:pPr algn="l" indent="0" marL="0">
              <a:buNone/>
            </a:pPr>
            <a:r>
              <a:rPr lang="en-US" sz="1150" b="1" dirty="0">
                <a:solidFill>
                  <a:srgbClr val="1B3B6F"/>
                </a:solidFill>
                <a:latin typeface="Calibri" pitchFamily="34" charset="0"/>
                <a:cs typeface="Amiri" pitchFamily="2" charset="-78"/>
              </a:rPr>
              <a:t> + -an.</a:t>
            </a:r>
            <a:endParaRPr lang="en-US" sz="1150" dirty="0"/>
          </a:p>
        </p:txBody>
      </p:sp>
      <p:sp>
        <p:nvSpPr>
          <p:cNvPr id="21" name="Shape 18"/>
          <p:cNvSpPr/>
          <p:nvPr/>
        </p:nvSpPr>
        <p:spPr>
          <a:xfrm>
            <a:off x="457200" y="3255264"/>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8503920" y="3346704"/>
            <a:ext cx="3063240" cy="1097280"/>
          </a:xfrm>
          <a:prstGeom prst="rect">
            <a:avLst/>
          </a:prstGeom>
          <a:noFill/>
          <a:ln/>
        </p:spPr>
        <p:txBody>
          <a:bodyPr wrap="square" lIns="0" tIns="0" rIns="0" bIns="0" rtlCol="0" anchor="ctr"/>
          <a:lstStyle/>
          <a:p>
            <a:pPr rtl="1" algn="r" indent="0" marL="0">
              <a:lnSpc>
                <a:spcPct val="120000"/>
              </a:lnSpc>
              <a:buNone/>
            </a:pPr>
            <a:r>
              <a:rPr lang="ar-SA" altLang="en-US" sz="1800" b="1" dirty="0">
                <a:solidFill>
                  <a:srgbClr val="B83227"/>
                </a:solidFill>
                <a:latin typeface="Amiri" pitchFamily="2" charset="-78"/>
                <a:ea typeface="Amiri" pitchFamily="2" charset="-78"/>
                <a:cs typeface="Amiri" pitchFamily="2" charset="-78"/>
              </a:rPr>
              <a:t>أَخِي أَطْوَلُ مِنِّي، وَشَعْرُهُ طَوِيلَةٌ وَعَيْنُهُ زَرْقَاءُ.</a:t>
            </a:r>
            <a:endParaRPr lang="ar-SA" sz="1800" dirty="0"/>
          </a:p>
        </p:txBody>
      </p:sp>
      <p:sp>
        <p:nvSpPr>
          <p:cNvPr id="23" name="Shape 20"/>
          <p:cNvSpPr/>
          <p:nvPr/>
        </p:nvSpPr>
        <p:spPr>
          <a:xfrm>
            <a:off x="8641080" y="3904488"/>
            <a:ext cx="2834640" cy="0"/>
          </a:xfrm>
          <a:prstGeom prst="line">
            <a:avLst/>
          </a:prstGeom>
          <a:noFill/>
          <a:ln w="15875">
            <a:solidFill>
              <a:srgbClr val="B83227"/>
            </a:solidFill>
            <a:prstDash val="solid"/>
          </a:ln>
        </p:spPr>
      </p:sp>
      <p:sp>
        <p:nvSpPr>
          <p:cNvPr id="24" name="Text 21"/>
          <p:cNvSpPr txBox="1"/>
          <p:nvPr/>
        </p:nvSpPr>
        <p:spPr>
          <a:xfrm>
            <a:off x="8138160" y="3346704"/>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cs typeface="Amiri" pitchFamily="2" charset="-78"/>
              </a:rPr>
              <a:t>←</a:t>
            </a:r>
            <a:endParaRPr lang="en-US" sz="2000" dirty="0"/>
          </a:p>
        </p:txBody>
      </p:sp>
      <p:sp>
        <p:nvSpPr>
          <p:cNvPr id="25" name="Text 22"/>
          <p:cNvSpPr txBox="1"/>
          <p:nvPr/>
        </p:nvSpPr>
        <p:spPr>
          <a:xfrm>
            <a:off x="3566160" y="3346704"/>
            <a:ext cx="4526280" cy="1097280"/>
          </a:xfrm>
          <a:prstGeom prst="rect">
            <a:avLst/>
          </a:prstGeom>
          <a:noFill/>
          <a:ln/>
        </p:spPr>
        <p:txBody>
          <a:bodyPr wrap="square" lIns="0" tIns="0" rIns="0" bIns="0" rtlCol="0" anchor="ctr"/>
          <a:lstStyle/>
          <a:p>
            <a:pPr rtl="1" algn="r" indent="0" marL="0">
              <a:lnSpc>
                <a:spcPct val="120000"/>
              </a:lnSpc>
              <a:buNone/>
            </a:pPr>
            <a:r>
              <a:rPr lang="ar-SA" altLang="en-US" sz="2200" b="1" dirty="0">
                <a:solidFill>
                  <a:srgbClr val="1E6B52"/>
                </a:solidFill>
                <a:latin typeface="Amiri" pitchFamily="2" charset="-78"/>
                <a:ea typeface="Amiri" pitchFamily="2" charset="-78"/>
                <a:cs typeface="Amiri" pitchFamily="2" charset="-78"/>
              </a:rPr>
              <a:t>أَخِي أَطْوَلُ مِنِّي، وَشَعْرُهُ طَوِيلٌ وَعَيْنَاهُ زَرْقَاوَانِ.</a:t>
            </a:r>
            <a:endParaRPr lang="ar-SA" sz="2200" dirty="0"/>
          </a:p>
        </p:txBody>
      </p:sp>
      <p:sp>
        <p:nvSpPr>
          <p:cNvPr id="26" name="Text 23"/>
          <p:cNvSpPr txBox="1"/>
          <p:nvPr/>
        </p:nvSpPr>
        <p:spPr>
          <a:xfrm>
            <a:off x="685800" y="3346704"/>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Hair is masculine; eyes are dual.</a:t>
            </a:r>
            <a:endParaRPr lang="en-US" sz="1150" dirty="0"/>
          </a:p>
        </p:txBody>
      </p:sp>
      <p:sp>
        <p:nvSpPr>
          <p:cNvPr id="27" name="Shape 24"/>
          <p:cNvSpPr/>
          <p:nvPr/>
        </p:nvSpPr>
        <p:spPr>
          <a:xfrm>
            <a:off x="457200" y="4700016"/>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8" name="Text 25"/>
          <p:cNvSpPr txBox="1"/>
          <p:nvPr/>
        </p:nvSpPr>
        <p:spPr>
          <a:xfrm>
            <a:off x="8503920" y="4791456"/>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2" charset="-78"/>
                <a:ea typeface="Amiri" pitchFamily="2" charset="-78"/>
                <a:cs typeface="Amiri" pitchFamily="2" charset="-78"/>
              </a:rPr>
              <a:t>أَثِقُ صَدِيقِي لِأَنَّهَا صَادِقٌ.</a:t>
            </a:r>
            <a:endParaRPr lang="ar-SA" sz="1800" dirty="0"/>
          </a:p>
        </p:txBody>
      </p:sp>
      <p:sp>
        <p:nvSpPr>
          <p:cNvPr id="29" name="Shape 26"/>
          <p:cNvSpPr/>
          <p:nvPr/>
        </p:nvSpPr>
        <p:spPr>
          <a:xfrm>
            <a:off x="8641080" y="5349240"/>
            <a:ext cx="2834640" cy="0"/>
          </a:xfrm>
          <a:prstGeom prst="line">
            <a:avLst/>
          </a:prstGeom>
          <a:noFill/>
          <a:ln w="15875">
            <a:solidFill>
              <a:srgbClr val="B83227"/>
            </a:solidFill>
            <a:prstDash val="solid"/>
          </a:ln>
        </p:spPr>
      </p:sp>
      <p:sp>
        <p:nvSpPr>
          <p:cNvPr id="30" name="Text 27"/>
          <p:cNvSpPr txBox="1"/>
          <p:nvPr/>
        </p:nvSpPr>
        <p:spPr>
          <a:xfrm>
            <a:off x="8138160" y="4791456"/>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cs typeface="Amiri" pitchFamily="2" charset="-78"/>
              </a:rPr>
              <a:t>←</a:t>
            </a:r>
            <a:endParaRPr lang="en-US" sz="2000" dirty="0"/>
          </a:p>
        </p:txBody>
      </p:sp>
      <p:sp>
        <p:nvSpPr>
          <p:cNvPr id="31" name="Text 28"/>
          <p:cNvSpPr txBox="1"/>
          <p:nvPr/>
        </p:nvSpPr>
        <p:spPr>
          <a:xfrm>
            <a:off x="3566160" y="4791456"/>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2" charset="-78"/>
                <a:ea typeface="Amiri" pitchFamily="2" charset="-78"/>
                <a:cs typeface="Amiri" pitchFamily="2" charset="-78"/>
              </a:rPr>
              <a:t>أَثِقُ بِصَدِيقِي لِأَنَّهُ صَادِقٌ.</a:t>
            </a:r>
            <a:endParaRPr lang="ar-SA" sz="2400" dirty="0"/>
          </a:p>
        </p:txBody>
      </p:sp>
      <p:sp>
        <p:nvSpPr>
          <p:cNvPr id="32" name="Text 29"/>
          <p:cNvSpPr txBox="1"/>
          <p:nvPr/>
        </p:nvSpPr>
        <p:spPr>
          <a:xfrm>
            <a:off x="685800" y="4791456"/>
            <a:ext cx="2788920" cy="1097280"/>
          </a:xfrm>
          <a:prstGeom prst="rect">
            <a:avLst/>
          </a:prstGeom>
          <a:noFill/>
          <a:ln/>
        </p:spPr>
        <p:txBody>
          <a:bodyPr wrap="square" lIns="0" tIns="0" rIns="0" bIns="0" rtlCol="0" anchor="ctr"/>
          <a:lstStyle/>
          <a:p>
            <a:pPr algn="l" indent="0" marL="0">
              <a:buNone/>
            </a:pPr>
            <a:r>
              <a:rPr lang="ar-SA" altLang="en-US" sz="1500" b="1" dirty="0">
                <a:solidFill>
                  <a:srgbClr val="1B3B6F"/>
                </a:solidFill>
                <a:latin typeface="Amiri" pitchFamily="2" charset="-78"/>
                <a:ea typeface="Amiri" pitchFamily="2" charset="-78"/>
                <a:cs typeface="Amiri" pitchFamily="2" charset="-78"/>
              </a:rPr>
              <a:t>أَثِقُ</a:t>
            </a:r>
            <a:pPr algn="l" indent="0" marL="0">
              <a:buNone/>
            </a:pPr>
            <a:r>
              <a:rPr lang="en-US" sz="1150" b="1" dirty="0">
                <a:solidFill>
                  <a:srgbClr val="1B3B6F"/>
                </a:solidFill>
                <a:latin typeface="Calibri" pitchFamily="34" charset="0"/>
                <a:cs typeface="Amiri" pitchFamily="2" charset="-78"/>
              </a:rPr>
              <a:t> + bi-; he → </a:t>
            </a:r>
            <a:pPr algn="l" indent="0" marL="0">
              <a:buNone/>
            </a:pPr>
            <a:r>
              <a:rPr lang="ar-SA" altLang="en-US" sz="1500" b="1" dirty="0">
                <a:solidFill>
                  <a:srgbClr val="1B3B6F"/>
                </a:solidFill>
                <a:latin typeface="Amiri" pitchFamily="2" charset="-78"/>
                <a:ea typeface="Amiri" pitchFamily="2" charset="-78"/>
                <a:cs typeface="Amiri" pitchFamily="2" charset="-78"/>
              </a:rPr>
              <a:t>لِأَنَّهُ</a:t>
            </a:r>
            <a:pPr algn="l" indent="0" marL="0">
              <a:buNone/>
            </a:pPr>
            <a:r>
              <a:rPr lang="en-US" sz="1150" b="1" dirty="0">
                <a:solidFill>
                  <a:srgbClr val="1B3B6F"/>
                </a:solidFill>
                <a:latin typeface="Calibri" pitchFamily="34" charset="0"/>
                <a:cs typeface="Amiri" pitchFamily="2" charset="-78"/>
              </a:rPr>
              <a:t>.</a:t>
            </a:r>
            <a:endParaRPr lang="en-US" sz="1150" dirty="0"/>
          </a:p>
        </p:txBody>
      </p:sp>
      <p:sp>
        <p:nvSpPr>
          <p:cNvPr id="33" name="Text 3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15 / 22</a:t>
            </a:r>
            <a:endParaRPr lang="en-US" sz="8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D2-L12 · Speaking + writing practice room</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STEP 8 · WRITE YOUR TEXT · FRAMES IF YOU NEED THEM</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Your writing frames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قَوَالِبُ الكِتَابَةِ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D2 · People, Relationships and Style · D2-L12 · practice room</a:t>
            </a:r>
            <a:endParaRPr lang="en-US" sz="850" dirty="0"/>
          </a:p>
        </p:txBody>
      </p:sp>
      <p:sp>
        <p:nvSpPr>
          <p:cNvPr id="15" name="Shape 12"/>
          <p:cNvSpPr/>
          <p:nvPr/>
        </p:nvSpPr>
        <p:spPr>
          <a:xfrm>
            <a:off x="457200" y="1810512"/>
            <a:ext cx="5541264" cy="3566160"/>
          </a:xfrm>
          <a:prstGeom prst="roundRect">
            <a:avLst>
              <a:gd name="adj" fmla="val 2051"/>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94360" y="1901952"/>
            <a:ext cx="1051560" cy="274320"/>
          </a:xfrm>
          <a:prstGeom prst="roundRect">
            <a:avLst>
              <a:gd name="adj" fmla="val 50000"/>
            </a:avLst>
          </a:prstGeom>
          <a:solidFill>
            <a:srgbClr val="C9780A"/>
          </a:solidFill>
          <a:ln w="12700">
            <a:solidFill>
              <a:srgbClr val="C9780A"/>
            </a:solidFill>
            <a:prstDash val="solid"/>
          </a:ln>
        </p:spPr>
      </p:sp>
      <p:sp>
        <p:nvSpPr>
          <p:cNvPr id="17" name="Text 14"/>
          <p:cNvSpPr txBox="1"/>
          <p:nvPr/>
        </p:nvSpPr>
        <p:spPr>
          <a:xfrm>
            <a:off x="594360" y="1901952"/>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DEVELOP</a:t>
            </a:r>
            <a:endParaRPr lang="en-US" sz="850" dirty="0"/>
          </a:p>
        </p:txBody>
      </p:sp>
      <p:sp>
        <p:nvSpPr>
          <p:cNvPr id="18" name="Text 15"/>
          <p:cNvSpPr txBox="1"/>
          <p:nvPr/>
        </p:nvSpPr>
        <p:spPr>
          <a:xfrm>
            <a:off x="2468880" y="2249424"/>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هُوَ / هِيَ أَكْثَرُ ______ مِنْ ______ .</a:t>
            </a:r>
            <a:endParaRPr lang="ar-SA" sz="1800" dirty="0"/>
          </a:p>
        </p:txBody>
      </p:sp>
      <p:sp>
        <p:nvSpPr>
          <p:cNvPr id="19" name="Text 16"/>
          <p:cNvSpPr txBox="1"/>
          <p:nvPr/>
        </p:nvSpPr>
        <p:spPr>
          <a:xfrm>
            <a:off x="594360" y="2249424"/>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He / she is more … than …</a:t>
            </a:r>
            <a:endParaRPr lang="en-US" sz="1050" dirty="0"/>
          </a:p>
        </p:txBody>
      </p:sp>
      <p:sp>
        <p:nvSpPr>
          <p:cNvPr id="20" name="Text 17"/>
          <p:cNvSpPr txBox="1"/>
          <p:nvPr/>
        </p:nvSpPr>
        <p:spPr>
          <a:xfrm>
            <a:off x="2468880" y="2816352"/>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عَلَى الرَّغْمِ مِنْ أَنَّ ______ ، فَإِنَّ ______ .</a:t>
            </a:r>
            <a:endParaRPr lang="ar-SA" sz="1800" dirty="0"/>
          </a:p>
        </p:txBody>
      </p:sp>
      <p:sp>
        <p:nvSpPr>
          <p:cNvPr id="21" name="Text 18"/>
          <p:cNvSpPr txBox="1"/>
          <p:nvPr/>
        </p:nvSpPr>
        <p:spPr>
          <a:xfrm>
            <a:off x="594360" y="2816352"/>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Although …, …</a:t>
            </a:r>
            <a:endParaRPr lang="en-US" sz="1050" dirty="0"/>
          </a:p>
        </p:txBody>
      </p:sp>
      <p:sp>
        <p:nvSpPr>
          <p:cNvPr id="22" name="Shape 19"/>
          <p:cNvSpPr/>
          <p:nvPr/>
        </p:nvSpPr>
        <p:spPr>
          <a:xfrm>
            <a:off x="6190488" y="1810512"/>
            <a:ext cx="5541264" cy="3566160"/>
          </a:xfrm>
          <a:prstGeom prst="roundRect">
            <a:avLst>
              <a:gd name="adj" fmla="val 2051"/>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10543032" y="1901952"/>
            <a:ext cx="1051560" cy="274320"/>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10543032" y="1901952"/>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25" name="Text 22"/>
          <p:cNvSpPr txBox="1"/>
          <p:nvPr/>
        </p:nvSpPr>
        <p:spPr>
          <a:xfrm>
            <a:off x="8202168" y="2249424"/>
            <a:ext cx="3383280" cy="538582"/>
          </a:xfrm>
          <a:prstGeom prst="rect">
            <a:avLst/>
          </a:prstGeom>
          <a:noFill/>
          <a:ln/>
        </p:spPr>
        <p:txBody>
          <a:bodyPr wrap="square" lIns="0" tIns="0" rIns="0" bIns="0" rtlCol="0" anchor="ctr"/>
          <a:lstStyle/>
          <a:p>
            <a:pPr rtl="1" algn="r" indent="0" marL="0">
              <a:buNone/>
            </a:pPr>
            <a:r>
              <a:rPr lang="ar-SA" altLang="en-US" sz="1550" b="1" dirty="0">
                <a:solidFill>
                  <a:srgbClr val="1B3B6F"/>
                </a:solidFill>
                <a:latin typeface="Amiri" pitchFamily="2" charset="-78"/>
                <a:ea typeface="Amiri" pitchFamily="2" charset="-78"/>
                <a:cs typeface="Amiri" pitchFamily="2" charset="-78"/>
              </a:rPr>
              <a:t>أُرِيدُ أَنْ أُخْبِرَكَ عَنْ ______ . هُوَ / هِيَ ______ .</a:t>
            </a:r>
            <a:endParaRPr lang="ar-SA" sz="1550" dirty="0"/>
          </a:p>
        </p:txBody>
      </p:sp>
      <p:sp>
        <p:nvSpPr>
          <p:cNvPr id="26" name="Text 23"/>
          <p:cNvSpPr txBox="1"/>
          <p:nvPr/>
        </p:nvSpPr>
        <p:spPr>
          <a:xfrm>
            <a:off x="6327648" y="2249424"/>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I want to tell you about … He / she is …</a:t>
            </a:r>
            <a:endParaRPr lang="en-US" sz="1050" dirty="0"/>
          </a:p>
        </p:txBody>
      </p:sp>
      <p:sp>
        <p:nvSpPr>
          <p:cNvPr id="27" name="Text 24"/>
          <p:cNvSpPr txBox="1"/>
          <p:nvPr/>
        </p:nvSpPr>
        <p:spPr>
          <a:xfrm>
            <a:off x="8202168" y="2816352"/>
            <a:ext cx="3383280" cy="538582"/>
          </a:xfrm>
          <a:prstGeom prst="rect">
            <a:avLst/>
          </a:prstGeom>
          <a:noFill/>
          <a:ln/>
        </p:spPr>
        <p:txBody>
          <a:bodyPr wrap="square" lIns="0" tIns="0" rIns="0" bIns="0" rtlCol="0" anchor="ctr"/>
          <a:lstStyle/>
          <a:p>
            <a:pPr rtl="1" algn="r" indent="0" marL="0">
              <a:buNone/>
            </a:pPr>
            <a:r>
              <a:rPr lang="ar-SA" altLang="en-US" sz="1750" b="1" dirty="0">
                <a:solidFill>
                  <a:srgbClr val="1B3B6F"/>
                </a:solidFill>
                <a:latin typeface="Amiri" pitchFamily="2" charset="-78"/>
                <a:ea typeface="Amiri" pitchFamily="2" charset="-78"/>
                <a:cs typeface="Amiri" pitchFamily="2" charset="-78"/>
              </a:rPr>
              <a:t>هُوَ / هِيَ ______ ، لِأَنَّهُ / لِأَنَّهَا ______ .</a:t>
            </a:r>
            <a:endParaRPr lang="ar-SA" sz="1750" dirty="0"/>
          </a:p>
        </p:txBody>
      </p:sp>
      <p:sp>
        <p:nvSpPr>
          <p:cNvPr id="28" name="Text 25"/>
          <p:cNvSpPr txBox="1"/>
          <p:nvPr/>
        </p:nvSpPr>
        <p:spPr>
          <a:xfrm>
            <a:off x="6327648" y="2816352"/>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He / she is …, because …</a:t>
            </a:r>
            <a:endParaRPr lang="en-US" sz="1050" dirty="0"/>
          </a:p>
        </p:txBody>
      </p:sp>
      <p:sp>
        <p:nvSpPr>
          <p:cNvPr id="29" name="Text 26"/>
          <p:cNvSpPr txBox="1"/>
          <p:nvPr/>
        </p:nvSpPr>
        <p:spPr>
          <a:xfrm>
            <a:off x="8202168" y="3383280"/>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أَتَفَاهَمُ مَعَهُ / مَعَهَا، وَ ______ مَعًا.</a:t>
            </a:r>
            <a:endParaRPr lang="ar-SA" sz="1800" dirty="0"/>
          </a:p>
        </p:txBody>
      </p:sp>
      <p:sp>
        <p:nvSpPr>
          <p:cNvPr id="30" name="Text 27"/>
          <p:cNvSpPr txBox="1"/>
          <p:nvPr/>
        </p:nvSpPr>
        <p:spPr>
          <a:xfrm>
            <a:off x="6327648" y="3383280"/>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I get on with him / her, and we … together.</a:t>
            </a:r>
            <a:endParaRPr lang="en-US" sz="1050" dirty="0"/>
          </a:p>
        </p:txBody>
      </p:sp>
      <p:sp>
        <p:nvSpPr>
          <p:cNvPr id="31" name="Text 28"/>
          <p:cNvSpPr txBox="1"/>
          <p:nvPr/>
        </p:nvSpPr>
        <p:spPr>
          <a:xfrm>
            <a:off x="8202168" y="3950208"/>
            <a:ext cx="3383280" cy="538582"/>
          </a:xfrm>
          <a:prstGeom prst="rect">
            <a:avLst/>
          </a:prstGeom>
          <a:noFill/>
          <a:ln/>
        </p:spPr>
        <p:txBody>
          <a:bodyPr wrap="square" lIns="0" tIns="0" rIns="0" bIns="0" rtlCol="0" anchor="ctr"/>
          <a:lstStyle/>
          <a:p>
            <a:pPr rtl="1" algn="r" indent="0" marL="0">
              <a:buNone/>
            </a:pPr>
            <a:r>
              <a:rPr lang="ar-SA" altLang="en-US" sz="1750" b="1" dirty="0">
                <a:solidFill>
                  <a:srgbClr val="1B3B6F"/>
                </a:solidFill>
                <a:latin typeface="Amiri" pitchFamily="2" charset="-78"/>
                <a:ea typeface="Amiri" pitchFamily="2" charset="-78"/>
                <a:cs typeface="Amiri" pitchFamily="2" charset="-78"/>
              </a:rPr>
              <a:t>يَلْبَسُ / تَلْبَسُ ______ ، وَفِي رَأْيِي ______ .</a:t>
            </a:r>
            <a:endParaRPr lang="ar-SA" sz="1750" dirty="0"/>
          </a:p>
        </p:txBody>
      </p:sp>
      <p:sp>
        <p:nvSpPr>
          <p:cNvPr id="32" name="Text 29"/>
          <p:cNvSpPr txBox="1"/>
          <p:nvPr/>
        </p:nvSpPr>
        <p:spPr>
          <a:xfrm>
            <a:off x="6327648" y="3950208"/>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He / she wears …, and in my opinion …</a:t>
            </a:r>
            <a:endParaRPr lang="en-US" sz="1050" dirty="0"/>
          </a:p>
        </p:txBody>
      </p:sp>
      <p:sp>
        <p:nvSpPr>
          <p:cNvPr id="33" name="Shape 30"/>
          <p:cNvSpPr/>
          <p:nvPr/>
        </p:nvSpPr>
        <p:spPr>
          <a:xfrm>
            <a:off x="457200" y="5504688"/>
            <a:ext cx="11274552" cy="804672"/>
          </a:xfrm>
          <a:prstGeom prst="roundRect">
            <a:avLst>
              <a:gd name="adj" fmla="val 909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4" name="Text 31"/>
          <p:cNvSpPr txBox="1"/>
          <p:nvPr/>
        </p:nvSpPr>
        <p:spPr>
          <a:xfrm>
            <a:off x="640080" y="5541264"/>
            <a:ext cx="1828800" cy="237744"/>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WORD BANK</a:t>
            </a:r>
            <a:endParaRPr lang="en-US" sz="950" dirty="0"/>
          </a:p>
        </p:txBody>
      </p:sp>
      <p:sp>
        <p:nvSpPr>
          <p:cNvPr id="35" name="Text 32"/>
          <p:cNvSpPr txBox="1"/>
          <p:nvPr/>
        </p:nvSpPr>
        <p:spPr>
          <a:xfrm>
            <a:off x="640080" y="5760720"/>
            <a:ext cx="10908792" cy="512064"/>
          </a:xfrm>
          <a:prstGeom prst="rect">
            <a:avLst/>
          </a:prstGeom>
          <a:noFill/>
          <a:ln/>
        </p:spPr>
        <p:txBody>
          <a:bodyPr wrap="square" lIns="0" tIns="0" rIns="0" bIns="0" rtlCol="0" anchor="ctr"/>
          <a:lstStyle/>
          <a:p>
            <a:pPr algn="l" indent="0" marL="0">
              <a:buNone/>
            </a:pPr>
            <a:r>
              <a:rPr lang="ar-SA" altLang="en-US" sz="2000" b="1" dirty="0">
                <a:solidFill>
                  <a:srgbClr val="1B3B6F"/>
                </a:solidFill>
                <a:latin typeface="Amiri" pitchFamily="2" charset="-78"/>
                <a:ea typeface="Amiri" pitchFamily="2" charset="-78"/>
                <a:cs typeface="Amiri" pitchFamily="2" charset="-78"/>
              </a:rPr>
              <a:t>طَوِيلُ / طَوِيلَةُ القَامَةِ</a:t>
            </a:r>
            <a:pPr algn="l" indent="0" marL="0">
              <a:buNone/>
            </a:pPr>
            <a:r>
              <a:rPr lang="en-US" sz="1550" b="1" dirty="0">
                <a:solidFill>
                  <a:srgbClr val="1B3B6F"/>
                </a:solidFill>
                <a:latin typeface="Calibri" pitchFamily="34" charset="0"/>
                <a:cs typeface="Amiri" pitchFamily="2" charset="-78"/>
              </a:rPr>
              <a:t>  ·  </a:t>
            </a:r>
            <a:pPr algn="l" indent="0" marL="0">
              <a:buNone/>
            </a:pPr>
            <a:r>
              <a:rPr lang="ar-SA" altLang="en-US" sz="2000" b="1" dirty="0">
                <a:solidFill>
                  <a:srgbClr val="1B3B6F"/>
                </a:solidFill>
                <a:latin typeface="Amiri" pitchFamily="2" charset="-78"/>
                <a:ea typeface="Amiri" pitchFamily="2" charset="-78"/>
                <a:cs typeface="Amiri" pitchFamily="2" charset="-78"/>
              </a:rPr>
              <a:t>عَيْنَاهُ</a:t>
            </a:r>
            <a:pPr algn="l" indent="0" marL="0">
              <a:buNone/>
            </a:pPr>
            <a:r>
              <a:rPr lang="en-US" sz="1550" b="1" dirty="0">
                <a:solidFill>
                  <a:srgbClr val="1B3B6F"/>
                </a:solidFill>
                <a:latin typeface="Calibri" pitchFamily="34" charset="0"/>
                <a:cs typeface="Amiri" pitchFamily="2" charset="-78"/>
              </a:rPr>
              <a:t> · </a:t>
            </a:r>
            <a:pPr algn="l" indent="0" marL="0">
              <a:buNone/>
            </a:pPr>
            <a:r>
              <a:rPr lang="ar-SA" altLang="en-US" sz="2000" b="1" dirty="0">
                <a:solidFill>
                  <a:srgbClr val="1B3B6F"/>
                </a:solidFill>
                <a:latin typeface="Amiri" pitchFamily="2" charset="-78"/>
                <a:ea typeface="Amiri" pitchFamily="2" charset="-78"/>
                <a:cs typeface="Amiri" pitchFamily="2" charset="-78"/>
              </a:rPr>
              <a:t>عَيْنَاهَا</a:t>
            </a:r>
            <a:pPr algn="l" indent="0" marL="0">
              <a:buNone/>
            </a:pPr>
            <a:r>
              <a:rPr lang="en-US" sz="1550" b="1" dirty="0">
                <a:solidFill>
                  <a:srgbClr val="1B3B6F"/>
                </a:solidFill>
                <a:latin typeface="Calibri" pitchFamily="34" charset="0"/>
                <a:cs typeface="Amiri" pitchFamily="2" charset="-78"/>
              </a:rPr>
              <a:t>  ·  </a:t>
            </a:r>
            <a:pPr algn="l" indent="0" marL="0">
              <a:buNone/>
            </a:pPr>
            <a:r>
              <a:rPr lang="ar-SA" altLang="en-US" sz="2000" b="1" dirty="0">
                <a:solidFill>
                  <a:srgbClr val="1B3B6F"/>
                </a:solidFill>
                <a:latin typeface="Amiri" pitchFamily="2" charset="-78"/>
                <a:ea typeface="Amiri" pitchFamily="2" charset="-78"/>
                <a:cs typeface="Amiri" pitchFamily="2" charset="-78"/>
              </a:rPr>
              <a:t>صَبُورٌ</a:t>
            </a:r>
            <a:pPr algn="l" indent="0" marL="0">
              <a:buNone/>
            </a:pPr>
            <a:r>
              <a:rPr lang="en-US" sz="1550" b="1" dirty="0">
                <a:solidFill>
                  <a:srgbClr val="1B3B6F"/>
                </a:solidFill>
                <a:latin typeface="Calibri" pitchFamily="34" charset="0"/>
                <a:cs typeface="Amiri" pitchFamily="2" charset="-78"/>
              </a:rPr>
              <a:t> · </a:t>
            </a:r>
            <a:pPr algn="l" indent="0" marL="0">
              <a:buNone/>
            </a:pPr>
            <a:r>
              <a:rPr lang="ar-SA" altLang="en-US" sz="2000" b="1" dirty="0">
                <a:solidFill>
                  <a:srgbClr val="1B3B6F"/>
                </a:solidFill>
                <a:latin typeface="Amiri" pitchFamily="2" charset="-78"/>
                <a:ea typeface="Amiri" pitchFamily="2" charset="-78"/>
                <a:cs typeface="Amiri" pitchFamily="2" charset="-78"/>
              </a:rPr>
              <a:t>صَبُورَةٌ</a:t>
            </a:r>
            <a:pPr algn="l" indent="0" marL="0">
              <a:buNone/>
            </a:pPr>
            <a:r>
              <a:rPr lang="en-US" sz="1550" b="1" dirty="0">
                <a:solidFill>
                  <a:srgbClr val="1B3B6F"/>
                </a:solidFill>
                <a:latin typeface="Calibri" pitchFamily="34" charset="0"/>
                <a:cs typeface="Amiri" pitchFamily="2" charset="-78"/>
              </a:rPr>
              <a:t>  ·  </a:t>
            </a:r>
            <a:pPr algn="l" indent="0" marL="0">
              <a:buNone/>
            </a:pPr>
            <a:r>
              <a:rPr lang="ar-SA" altLang="en-US" sz="2000" b="1" dirty="0">
                <a:solidFill>
                  <a:srgbClr val="1B3B6F"/>
                </a:solidFill>
                <a:latin typeface="Amiri" pitchFamily="2" charset="-78"/>
                <a:ea typeface="Amiri" pitchFamily="2" charset="-78"/>
                <a:cs typeface="Amiri" pitchFamily="2" charset="-78"/>
              </a:rPr>
              <a:t>لَيْسَ / لَيْسَتْ</a:t>
            </a:r>
            <a:pPr algn="l" indent="0" marL="0">
              <a:buNone/>
            </a:pPr>
            <a:r>
              <a:rPr lang="en-US" sz="1550" b="1" dirty="0">
                <a:solidFill>
                  <a:srgbClr val="1B3B6F"/>
                </a:solidFill>
                <a:latin typeface="Calibri" pitchFamily="34" charset="0"/>
                <a:cs typeface="Amiri" pitchFamily="2" charset="-78"/>
              </a:rPr>
              <a:t> + -an  ·  </a:t>
            </a:r>
            <a:pPr algn="l" indent="0" marL="0">
              <a:buNone/>
            </a:pPr>
            <a:r>
              <a:rPr lang="ar-SA" altLang="en-US" sz="2000" b="1" dirty="0">
                <a:solidFill>
                  <a:srgbClr val="1B3B6F"/>
                </a:solidFill>
                <a:latin typeface="Amiri" pitchFamily="2" charset="-78"/>
                <a:ea typeface="Amiri" pitchFamily="2" charset="-78"/>
                <a:cs typeface="Amiri" pitchFamily="2" charset="-78"/>
              </a:rPr>
              <a:t>أَتَفَاهَمُ مَعَ</a:t>
            </a:r>
            <a:pPr algn="l" indent="0" marL="0">
              <a:buNone/>
            </a:pPr>
            <a:r>
              <a:rPr lang="en-US" sz="1550" b="1" dirty="0">
                <a:solidFill>
                  <a:srgbClr val="1B3B6F"/>
                </a:solidFill>
                <a:latin typeface="Calibri" pitchFamily="34" charset="0"/>
                <a:cs typeface="Amiri" pitchFamily="2" charset="-78"/>
              </a:rPr>
              <a:t> · </a:t>
            </a:r>
            <a:pPr algn="l" indent="0" marL="0">
              <a:buNone/>
            </a:pPr>
            <a:r>
              <a:rPr lang="ar-SA" altLang="en-US" sz="2000" b="1" dirty="0">
                <a:solidFill>
                  <a:srgbClr val="1B3B6F"/>
                </a:solidFill>
                <a:latin typeface="Amiri" pitchFamily="2" charset="-78"/>
                <a:ea typeface="Amiri" pitchFamily="2" charset="-78"/>
                <a:cs typeface="Amiri" pitchFamily="2" charset="-78"/>
              </a:rPr>
              <a:t>أَثِقُ بِ</a:t>
            </a:r>
            <a:pPr algn="l" indent="0" marL="0">
              <a:buNone/>
            </a:pPr>
            <a:r>
              <a:rPr lang="en-US" sz="1550" b="1" dirty="0">
                <a:solidFill>
                  <a:srgbClr val="1B3B6F"/>
                </a:solidFill>
                <a:latin typeface="Calibri" pitchFamily="34" charset="0"/>
                <a:cs typeface="Amiri" pitchFamily="2" charset="-78"/>
              </a:rPr>
              <a:t>…  ·  </a:t>
            </a:r>
            <a:pPr algn="l" indent="0" marL="0">
              <a:buNone/>
            </a:pPr>
            <a:r>
              <a:rPr lang="ar-SA" altLang="en-US" sz="2000" b="1" dirty="0">
                <a:solidFill>
                  <a:srgbClr val="1B3B6F"/>
                </a:solidFill>
                <a:latin typeface="Amiri" pitchFamily="2" charset="-78"/>
                <a:ea typeface="Amiri" pitchFamily="2" charset="-78"/>
                <a:cs typeface="Amiri" pitchFamily="2" charset="-78"/>
              </a:rPr>
              <a:t>أَكْثَرُ … مِنْ</a:t>
            </a:r>
            <a:pPr algn="l" indent="0" marL="0">
              <a:buNone/>
            </a:pPr>
            <a:r>
              <a:rPr lang="en-US" sz="1550" b="1" dirty="0">
                <a:solidFill>
                  <a:srgbClr val="1B3B6F"/>
                </a:solidFill>
                <a:latin typeface="Calibri" pitchFamily="34" charset="0"/>
                <a:cs typeface="Amiri" pitchFamily="2" charset="-78"/>
              </a:rPr>
              <a:t>  ·  </a:t>
            </a:r>
            <a:pPr algn="l" indent="0" marL="0">
              <a:buNone/>
            </a:pPr>
            <a:r>
              <a:rPr lang="ar-SA" altLang="en-US" sz="2000" b="1" dirty="0">
                <a:solidFill>
                  <a:srgbClr val="1B3B6F"/>
                </a:solidFill>
                <a:latin typeface="Amiri" pitchFamily="2" charset="-78"/>
                <a:ea typeface="Amiri" pitchFamily="2" charset="-78"/>
                <a:cs typeface="Amiri" pitchFamily="2" charset="-78"/>
              </a:rPr>
              <a:t>وَلٰكِنَّ</a:t>
            </a:r>
            <a:pPr algn="l" indent="0" marL="0">
              <a:buNone/>
            </a:pPr>
            <a:r>
              <a:rPr lang="en-US" sz="1550" b="1" dirty="0">
                <a:solidFill>
                  <a:srgbClr val="1B3B6F"/>
                </a:solidFill>
                <a:latin typeface="Calibri" pitchFamily="34" charset="0"/>
                <a:cs typeface="Amiri" pitchFamily="2" charset="-78"/>
              </a:rPr>
              <a:t>  ·  </a:t>
            </a:r>
            <a:pPr algn="l" indent="0" marL="0">
              <a:buNone/>
            </a:pPr>
            <a:r>
              <a:rPr lang="ar-SA" altLang="en-US" sz="2000" b="1" dirty="0">
                <a:solidFill>
                  <a:srgbClr val="1B3B6F"/>
                </a:solidFill>
                <a:latin typeface="Amiri" pitchFamily="2" charset="-78"/>
                <a:ea typeface="Amiri" pitchFamily="2" charset="-78"/>
                <a:cs typeface="Amiri" pitchFamily="2" charset="-78"/>
              </a:rPr>
              <a:t>عَلَى الرَّغْمِ مِنْ أَنَّ</a:t>
            </a:r>
            <a:endParaRPr lang="en-US" sz="1550" dirty="0"/>
          </a:p>
        </p:txBody>
      </p:sp>
      <p:sp>
        <p:nvSpPr>
          <p:cNvPr id="36" name="Text 3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16 / 22</a:t>
            </a:r>
            <a:endParaRPr lang="en-US" sz="8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D2-L12 · Speaking + writing practice room</a:t>
            </a:r>
            <a:endParaRPr lang="en-US" sz="950" dirty="0"/>
          </a:p>
        </p:txBody>
      </p:sp>
      <p:sp>
        <p:nvSpPr>
          <p:cNvPr id="8" name="Shape 6"/>
          <p:cNvSpPr/>
          <p:nvPr/>
        </p:nvSpPr>
        <p:spPr>
          <a:xfrm>
            <a:off x="7219188" y="274320"/>
            <a:ext cx="1540764"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10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STEP 8 · WRITE YOUR TEXT · ABOUT 60–80 WORDS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Exam-style text: a special person</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نَصٌّ بِأُسْلُوبِ الامْتِحَانِ: شَخْصٌ مُمَيَّزٌ</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D2 · People, Relationships and Style · D2-L12 · practice room</a:t>
            </a:r>
            <a:endParaRPr lang="en-US" sz="850" dirty="0"/>
          </a:p>
        </p:txBody>
      </p:sp>
      <p:sp>
        <p:nvSpPr>
          <p:cNvPr id="15" name="Shape 12"/>
          <p:cNvSpPr/>
          <p:nvPr/>
        </p:nvSpPr>
        <p:spPr>
          <a:xfrm>
            <a:off x="457200" y="1810512"/>
            <a:ext cx="5577840" cy="4498848"/>
          </a:xfrm>
          <a:prstGeom prst="roundRect">
            <a:avLst>
              <a:gd name="adj" fmla="val 1626"/>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2061972" cy="292608"/>
          </a:xfrm>
          <a:prstGeom prst="roundRect">
            <a:avLst>
              <a:gd name="adj" fmla="val 50000"/>
            </a:avLst>
          </a:prstGeom>
          <a:solidFill>
            <a:srgbClr val="1B3B6F"/>
          </a:solidFill>
          <a:ln w="12700">
            <a:solidFill>
              <a:srgbClr val="1B3B6F"/>
            </a:solidFill>
            <a:prstDash val="solid"/>
          </a:ln>
        </p:spPr>
      </p:sp>
      <p:sp>
        <p:nvSpPr>
          <p:cNvPr id="17" name="Text 14"/>
          <p:cNvSpPr txBox="1"/>
          <p:nvPr/>
        </p:nvSpPr>
        <p:spPr>
          <a:xfrm>
            <a:off x="640080" y="1938528"/>
            <a:ext cx="2061972"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WRITING · DIRECTED TASK</a:t>
            </a:r>
            <a:endParaRPr lang="en-US" sz="950" dirty="0"/>
          </a:p>
        </p:txBody>
      </p:sp>
      <p:sp>
        <p:nvSpPr>
          <p:cNvPr id="18" name="Text 15"/>
          <p:cNvSpPr txBox="1"/>
          <p:nvPr/>
        </p:nvSpPr>
        <p:spPr>
          <a:xfrm>
            <a:off x="640080" y="2331720"/>
            <a:ext cx="5212080" cy="914400"/>
          </a:xfrm>
          <a:prstGeom prst="rect">
            <a:avLst/>
          </a:prstGeom>
          <a:noFill/>
          <a:ln/>
        </p:spPr>
        <p:txBody>
          <a:bodyPr wrap="square" lIns="0" tIns="0" rIns="0" bIns="0" rtlCol="0" anchor="ctr"/>
          <a:lstStyle/>
          <a:p>
            <a:pPr algn="l" indent="0" marL="0">
              <a:buNone/>
            </a:pPr>
            <a:r>
              <a:rPr lang="en-US" sz="1150" b="1" dirty="0">
                <a:solidFill>
                  <a:srgbClr val="1F2A37"/>
                </a:solidFill>
                <a:latin typeface="Calibri" pitchFamily="34" charset="0"/>
                <a:cs typeface="Amiri" pitchFamily="2" charset="-78"/>
              </a:rPr>
              <a:t>Write an email (about 70–90 words) to an Arabic-speaking friend about a special person in your life. Answer ALL four bullets: • who they are and what they look like • their personality, with evidence • your relationship and something you did together • their style, and your opinion of it.</a:t>
            </a:r>
            <a:endParaRPr lang="en-US" sz="1150" dirty="0"/>
          </a:p>
        </p:txBody>
      </p:sp>
      <p:sp>
        <p:nvSpPr>
          <p:cNvPr id="19" name="Text 16"/>
          <p:cNvSpPr txBox="1"/>
          <p:nvPr/>
        </p:nvSpPr>
        <p:spPr>
          <a:xfrm>
            <a:off x="685800" y="3310128"/>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All the bullet points, in order.</a:t>
            </a:r>
            <a:endParaRPr lang="en-US" sz="1200" dirty="0"/>
          </a:p>
        </p:txBody>
      </p:sp>
      <p:sp>
        <p:nvSpPr>
          <p:cNvPr id="20" name="Text 17"/>
          <p:cNvSpPr txBox="1"/>
          <p:nvPr/>
        </p:nvSpPr>
        <p:spPr>
          <a:xfrm>
            <a:off x="685800" y="3840480"/>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The right tense for each bullet.</a:t>
            </a:r>
            <a:endParaRPr lang="en-US" sz="1200" dirty="0"/>
          </a:p>
        </p:txBody>
      </p:sp>
      <p:sp>
        <p:nvSpPr>
          <p:cNvPr id="21" name="Text 18"/>
          <p:cNvSpPr txBox="1"/>
          <p:nvPr/>
        </p:nvSpPr>
        <p:spPr>
          <a:xfrm>
            <a:off x="685800" y="4370832"/>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Linking words: </a:t>
            </a:r>
            <a:pPr algn="l" indent="0" marL="0">
              <a:buNone/>
            </a:pPr>
            <a:r>
              <a:rPr lang="ar-SA" altLang="en-US" sz="1550" dirty="0">
                <a:solidFill>
                  <a:srgbClr val="1F2A37"/>
                </a:solidFill>
                <a:latin typeface="Amiri" pitchFamily="2" charset="-78"/>
                <a:ea typeface="Amiri" pitchFamily="2" charset="-78"/>
                <a:cs typeface="Amiri" pitchFamily="2" charset="-78"/>
              </a:rPr>
              <a:t>وَ</a:t>
            </a:r>
            <a:pPr algn="l" indent="0" marL="0">
              <a:buNone/>
            </a:pPr>
            <a:r>
              <a:rPr lang="en-US" sz="1200" dirty="0">
                <a:solidFill>
                  <a:srgbClr val="1F2A37"/>
                </a:solidFill>
                <a:latin typeface="Calibri" pitchFamily="34" charset="0"/>
                <a:cs typeface="Amiri" pitchFamily="2" charset="-78"/>
              </a:rPr>
              <a:t> · </a:t>
            </a:r>
            <a:pPr algn="l" indent="0" marL="0">
              <a:buNone/>
            </a:pPr>
            <a:r>
              <a:rPr lang="ar-SA" altLang="en-US" sz="1550" dirty="0">
                <a:solidFill>
                  <a:srgbClr val="1F2A37"/>
                </a:solidFill>
                <a:latin typeface="Amiri" pitchFamily="2" charset="-78"/>
                <a:ea typeface="Amiri" pitchFamily="2" charset="-78"/>
                <a:cs typeface="Amiri" pitchFamily="2" charset="-78"/>
              </a:rPr>
              <a:t>ثُمَّ</a:t>
            </a:r>
            <a:pPr algn="l" indent="0" marL="0">
              <a:buNone/>
            </a:pPr>
            <a:r>
              <a:rPr lang="en-US" sz="1200" dirty="0">
                <a:solidFill>
                  <a:srgbClr val="1F2A37"/>
                </a:solidFill>
                <a:latin typeface="Calibri" pitchFamily="34" charset="0"/>
                <a:cs typeface="Amiri" pitchFamily="2" charset="-78"/>
              </a:rPr>
              <a:t> · </a:t>
            </a:r>
            <a:pPr algn="l" indent="0" marL="0">
              <a:buNone/>
            </a:pPr>
            <a:r>
              <a:rPr lang="ar-SA" altLang="en-US" sz="1550" dirty="0">
                <a:solidFill>
                  <a:srgbClr val="1F2A37"/>
                </a:solidFill>
                <a:latin typeface="Amiri" pitchFamily="2" charset="-78"/>
                <a:ea typeface="Amiri" pitchFamily="2" charset="-78"/>
                <a:cs typeface="Amiri" pitchFamily="2" charset="-78"/>
              </a:rPr>
              <a:t>لِأَنَّ</a:t>
            </a:r>
            <a:pPr algn="l" indent="0" marL="0">
              <a:buNone/>
            </a:pPr>
            <a:r>
              <a:rPr lang="en-US" sz="1200" dirty="0">
                <a:solidFill>
                  <a:srgbClr val="1F2A37"/>
                </a:solidFill>
                <a:latin typeface="Calibri" pitchFamily="34" charset="0"/>
                <a:cs typeface="Amiri" pitchFamily="2" charset="-78"/>
              </a:rPr>
              <a:t> · </a:t>
            </a:r>
            <a:pPr algn="l" indent="0" marL="0">
              <a:buNone/>
            </a:pPr>
            <a:r>
              <a:rPr lang="ar-SA" altLang="en-US" sz="1550" dirty="0">
                <a:solidFill>
                  <a:srgbClr val="1F2A37"/>
                </a:solidFill>
                <a:latin typeface="Amiri" pitchFamily="2" charset="-78"/>
                <a:ea typeface="Amiri" pitchFamily="2" charset="-78"/>
                <a:cs typeface="Amiri" pitchFamily="2" charset="-78"/>
              </a:rPr>
              <a:t>لٰكِنَّ</a:t>
            </a:r>
            <a:pPr algn="l" indent="0" marL="0">
              <a:buNone/>
            </a:pPr>
            <a:r>
              <a:rPr lang="en-US" sz="1200" dirty="0">
                <a:solidFill>
                  <a:srgbClr val="1F2A37"/>
                </a:solidFill>
                <a:latin typeface="Calibri" pitchFamily="34" charset="0"/>
                <a:cs typeface="Amiri" pitchFamily="2" charset="-78"/>
              </a:rPr>
              <a:t>.</a:t>
            </a:r>
            <a:endParaRPr lang="en-US" sz="1200" dirty="0"/>
          </a:p>
        </p:txBody>
      </p:sp>
      <p:sp>
        <p:nvSpPr>
          <p:cNvPr id="22" name="Text 19"/>
          <p:cNvSpPr txBox="1"/>
          <p:nvPr/>
        </p:nvSpPr>
        <p:spPr>
          <a:xfrm>
            <a:off x="685800" y="4901184"/>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One opinion with a reason.</a:t>
            </a:r>
            <a:endParaRPr lang="en-US" sz="1200" dirty="0"/>
          </a:p>
        </p:txBody>
      </p:sp>
      <p:sp>
        <p:nvSpPr>
          <p:cNvPr id="23" name="Text 20"/>
          <p:cNvSpPr txBox="1"/>
          <p:nvPr/>
        </p:nvSpPr>
        <p:spPr>
          <a:xfrm>
            <a:off x="685800" y="5431536"/>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Buddy check, then fix one thing.</a:t>
            </a:r>
            <a:endParaRPr lang="en-US" sz="1200" dirty="0"/>
          </a:p>
        </p:txBody>
      </p:sp>
      <p:sp>
        <p:nvSpPr>
          <p:cNvPr id="24" name="Shape 21"/>
          <p:cNvSpPr/>
          <p:nvPr/>
        </p:nvSpPr>
        <p:spPr>
          <a:xfrm>
            <a:off x="6217920" y="1810512"/>
            <a:ext cx="5513832" cy="4498848"/>
          </a:xfrm>
          <a:prstGeom prst="roundRect">
            <a:avLst>
              <a:gd name="adj" fmla="val 162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5" name="Text 22"/>
          <p:cNvSpPr txBox="1"/>
          <p:nvPr/>
        </p:nvSpPr>
        <p:spPr>
          <a:xfrm>
            <a:off x="6400800" y="1901952"/>
            <a:ext cx="5120640" cy="274320"/>
          </a:xfrm>
          <a:prstGeom prst="rect">
            <a:avLst/>
          </a:prstGeom>
          <a:noFill/>
          <a:ln/>
        </p:spPr>
        <p:txBody>
          <a:bodyPr wrap="square" lIns="0" tIns="0" rIns="0" bIns="0" rtlCol="0" anchor="ctr"/>
          <a:lstStyle/>
          <a:p>
            <a:pPr algn="l" indent="0" marL="0">
              <a:buNone/>
            </a:pPr>
            <a:r>
              <a:rPr lang="en-US" sz="950" b="1" spc="100" kern="0" dirty="0">
                <a:solidFill>
                  <a:srgbClr val="8A6D1E"/>
                </a:solidFill>
                <a:latin typeface="Calibri" pitchFamily="34" charset="0"/>
                <a:cs typeface="Amiri" pitchFamily="2" charset="-78"/>
              </a:rPr>
              <a:t>USEFUL LANGUAGE</a:t>
            </a:r>
            <a:endParaRPr lang="en-US" sz="950" dirty="0"/>
          </a:p>
        </p:txBody>
      </p:sp>
      <p:sp>
        <p:nvSpPr>
          <p:cNvPr id="26" name="Text 23"/>
          <p:cNvSpPr txBox="1"/>
          <p:nvPr/>
        </p:nvSpPr>
        <p:spPr>
          <a:xfrm>
            <a:off x="8412480" y="2231136"/>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أُرِيدُ أَنْ أُخْبِرَكَ عَنْ …</a:t>
            </a:r>
            <a:endParaRPr lang="ar-SA" sz="1800" dirty="0"/>
          </a:p>
        </p:txBody>
      </p:sp>
      <p:sp>
        <p:nvSpPr>
          <p:cNvPr id="27" name="Text 24"/>
          <p:cNvSpPr txBox="1"/>
          <p:nvPr/>
        </p:nvSpPr>
        <p:spPr>
          <a:xfrm>
            <a:off x="6400800" y="2560320"/>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I want to tell you about …</a:t>
            </a:r>
            <a:endParaRPr lang="en-US" sz="1050" dirty="0"/>
          </a:p>
        </p:txBody>
      </p:sp>
      <p:sp>
        <p:nvSpPr>
          <p:cNvPr id="28" name="Text 25"/>
          <p:cNvSpPr txBox="1"/>
          <p:nvPr/>
        </p:nvSpPr>
        <p:spPr>
          <a:xfrm>
            <a:off x="8412480" y="2889504"/>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هُوَ / هِيَ … لِأَنَّهُ / لِأَنَّهَا …</a:t>
            </a:r>
            <a:endParaRPr lang="ar-SA" sz="1800" dirty="0"/>
          </a:p>
        </p:txBody>
      </p:sp>
      <p:sp>
        <p:nvSpPr>
          <p:cNvPr id="29" name="Text 26"/>
          <p:cNvSpPr txBox="1"/>
          <p:nvPr/>
        </p:nvSpPr>
        <p:spPr>
          <a:xfrm>
            <a:off x="6400800" y="3218688"/>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he / she is … because …</a:t>
            </a:r>
            <a:endParaRPr lang="en-US" sz="1050" dirty="0"/>
          </a:p>
        </p:txBody>
      </p:sp>
      <p:sp>
        <p:nvSpPr>
          <p:cNvPr id="30" name="Text 27"/>
          <p:cNvSpPr txBox="1"/>
          <p:nvPr/>
        </p:nvSpPr>
        <p:spPr>
          <a:xfrm>
            <a:off x="8412480" y="3547872"/>
            <a:ext cx="3154680" cy="408188"/>
          </a:xfrm>
          <a:prstGeom prst="rect">
            <a:avLst/>
          </a:prstGeom>
          <a:noFill/>
          <a:ln/>
        </p:spPr>
        <p:txBody>
          <a:bodyPr wrap="square" lIns="0" tIns="0" rIns="0" bIns="0" rtlCol="0" anchor="ctr"/>
          <a:lstStyle/>
          <a:p>
            <a:pPr rtl="1" algn="r" indent="0" marL="0">
              <a:buNone/>
            </a:pPr>
            <a:r>
              <a:rPr lang="ar-SA" altLang="en-US" sz="1650" b="1" dirty="0">
                <a:solidFill>
                  <a:srgbClr val="1B3B6F"/>
                </a:solidFill>
                <a:latin typeface="Amiri" pitchFamily="2" charset="-78"/>
                <a:ea typeface="Amiri" pitchFamily="2" charset="-78"/>
                <a:cs typeface="Amiri" pitchFamily="2" charset="-78"/>
              </a:rPr>
              <a:t>أَتَفَاهَمُ مَعَهُ / مَعَهَا · فِي الصَّيْفِ المَاضِي …</a:t>
            </a:r>
            <a:endParaRPr lang="ar-SA" sz="1650" dirty="0"/>
          </a:p>
        </p:txBody>
      </p:sp>
      <p:sp>
        <p:nvSpPr>
          <p:cNvPr id="31" name="Text 28"/>
          <p:cNvSpPr txBox="1"/>
          <p:nvPr/>
        </p:nvSpPr>
        <p:spPr>
          <a:xfrm>
            <a:off x="6400800" y="3877056"/>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I get on with him / her · last summer …</a:t>
            </a:r>
            <a:endParaRPr lang="en-US" sz="1050" dirty="0"/>
          </a:p>
        </p:txBody>
      </p:sp>
      <p:sp>
        <p:nvSpPr>
          <p:cNvPr id="32" name="Text 29"/>
          <p:cNvSpPr txBox="1"/>
          <p:nvPr/>
        </p:nvSpPr>
        <p:spPr>
          <a:xfrm>
            <a:off x="8412480" y="4206240"/>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عَلَى الرَّغْمِ مِنْ أَنَّ … فَإِنَّ …</a:t>
            </a:r>
            <a:endParaRPr lang="ar-SA" sz="1800" dirty="0"/>
          </a:p>
        </p:txBody>
      </p:sp>
      <p:sp>
        <p:nvSpPr>
          <p:cNvPr id="33" name="Text 30"/>
          <p:cNvSpPr txBox="1"/>
          <p:nvPr/>
        </p:nvSpPr>
        <p:spPr>
          <a:xfrm>
            <a:off x="6400800" y="4535424"/>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although …, …</a:t>
            </a:r>
            <a:endParaRPr lang="en-US" sz="1050" dirty="0"/>
          </a:p>
        </p:txBody>
      </p:sp>
      <p:sp>
        <p:nvSpPr>
          <p:cNvPr id="34" name="Text 3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17 / 22</a:t>
            </a:r>
            <a:endParaRPr lang="en-US" sz="8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D2-L12 · Speaking + writing practice room</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STEP 8 · BUDDY CHECK · SWAP AND READ YOUR BUDDY’S TEXT</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Buddy check: five points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رَاجِعْ مَعَ زَمِيلِكَ</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D2 · People, Relationships and Style · D2-L12 · practice room</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8759952" y="1810512"/>
            <a:ext cx="289864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Line / example</a:t>
            </a:r>
            <a:endParaRPr lang="en-US" sz="1100" dirty="0"/>
          </a:p>
        </p:txBody>
      </p:sp>
      <p:sp>
        <p:nvSpPr>
          <p:cNvPr id="17" name="Text 14"/>
          <p:cNvSpPr txBox="1"/>
          <p:nvPr/>
        </p:nvSpPr>
        <p:spPr>
          <a:xfrm>
            <a:off x="7845552" y="1810512"/>
            <a:ext cx="76809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 / ✗</a:t>
            </a:r>
            <a:endParaRPr lang="en-US" sz="1100" dirty="0"/>
          </a:p>
        </p:txBody>
      </p:sp>
      <p:sp>
        <p:nvSpPr>
          <p:cNvPr id="18" name="Text 15"/>
          <p:cNvSpPr txBox="1"/>
          <p:nvPr/>
        </p:nvSpPr>
        <p:spPr>
          <a:xfrm>
            <a:off x="6565392" y="1810512"/>
            <a:ext cx="113385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Route</a:t>
            </a:r>
            <a:endParaRPr lang="en-US" sz="1100" dirty="0"/>
          </a:p>
        </p:txBody>
      </p:sp>
      <p:sp>
        <p:nvSpPr>
          <p:cNvPr id="19" name="Text 16"/>
          <p:cNvSpPr txBox="1"/>
          <p:nvPr/>
        </p:nvSpPr>
        <p:spPr>
          <a:xfrm>
            <a:off x="530352" y="1810512"/>
            <a:ext cx="58887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Did the writer …</a:t>
            </a:r>
            <a:endParaRPr lang="en-US" sz="1100" dirty="0"/>
          </a:p>
        </p:txBody>
      </p:sp>
      <p:sp>
        <p:nvSpPr>
          <p:cNvPr id="20" name="Shape 17"/>
          <p:cNvSpPr/>
          <p:nvPr/>
        </p:nvSpPr>
        <p:spPr>
          <a:xfrm>
            <a:off x="457200" y="2267712"/>
            <a:ext cx="11274552" cy="682142"/>
          </a:xfrm>
          <a:prstGeom prst="roundRect">
            <a:avLst>
              <a:gd name="adj" fmla="val 6702"/>
            </a:avLst>
          </a:prstGeom>
          <a:solidFill>
            <a:srgbClr val="FFFFFF"/>
          </a:solidFill>
          <a:ln w="9525">
            <a:solidFill>
              <a:srgbClr val="D8D0BF"/>
            </a:solidFill>
            <a:prstDash val="solid"/>
          </a:ln>
        </p:spPr>
      </p:sp>
      <p:sp>
        <p:nvSpPr>
          <p:cNvPr id="21" name="Text 18"/>
          <p:cNvSpPr txBox="1"/>
          <p:nvPr/>
        </p:nvSpPr>
        <p:spPr>
          <a:xfrm>
            <a:off x="8796528" y="2267712"/>
            <a:ext cx="2862072" cy="682142"/>
          </a:xfrm>
          <a:prstGeom prst="rect">
            <a:avLst/>
          </a:prstGeom>
          <a:noFill/>
          <a:ln/>
        </p:spPr>
        <p:txBody>
          <a:bodyPr wrap="square" lIns="0" tIns="0" rIns="0" bIns="0" rtlCol="0" anchor="ctr"/>
          <a:lstStyle/>
          <a:p>
            <a:pPr algn="l" indent="0" marL="0">
              <a:buNone/>
            </a:pPr>
            <a:endParaRPr lang="en-US" sz="1100" dirty="0"/>
          </a:p>
        </p:txBody>
      </p:sp>
      <p:sp>
        <p:nvSpPr>
          <p:cNvPr id="22" name="Text 19"/>
          <p:cNvSpPr txBox="1"/>
          <p:nvPr/>
        </p:nvSpPr>
        <p:spPr>
          <a:xfrm>
            <a:off x="7882128" y="2267712"/>
            <a:ext cx="731520" cy="682142"/>
          </a:xfrm>
          <a:prstGeom prst="rect">
            <a:avLst/>
          </a:prstGeom>
          <a:noFill/>
          <a:ln/>
        </p:spPr>
        <p:txBody>
          <a:bodyPr wrap="square" lIns="0" tIns="0" rIns="0" bIns="0" rtlCol="0" anchor="ctr"/>
          <a:lstStyle/>
          <a:p>
            <a:pPr algn="l" indent="0" marL="0">
              <a:buNone/>
            </a:pPr>
            <a:endParaRPr lang="en-US" sz="1100" dirty="0"/>
          </a:p>
        </p:txBody>
      </p:sp>
      <p:sp>
        <p:nvSpPr>
          <p:cNvPr id="23" name="Text 20"/>
          <p:cNvSpPr txBox="1"/>
          <p:nvPr/>
        </p:nvSpPr>
        <p:spPr>
          <a:xfrm>
            <a:off x="6601968" y="2267712"/>
            <a:ext cx="109728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Core</a:t>
            </a:r>
            <a:endParaRPr lang="en-US" sz="1100" dirty="0"/>
          </a:p>
        </p:txBody>
      </p:sp>
      <p:sp>
        <p:nvSpPr>
          <p:cNvPr id="24" name="Text 21"/>
          <p:cNvSpPr txBox="1"/>
          <p:nvPr/>
        </p:nvSpPr>
        <p:spPr>
          <a:xfrm>
            <a:off x="566928" y="2267712"/>
            <a:ext cx="585216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answer EVERY bullet point?</a:t>
            </a:r>
            <a:endParaRPr lang="en-US" sz="1100" dirty="0"/>
          </a:p>
        </p:txBody>
      </p:sp>
      <p:sp>
        <p:nvSpPr>
          <p:cNvPr id="25" name="Shape 22"/>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6" name="Text 23"/>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27" name="Shape 24"/>
          <p:cNvSpPr/>
          <p:nvPr/>
        </p:nvSpPr>
        <p:spPr>
          <a:xfrm>
            <a:off x="457200" y="3004718"/>
            <a:ext cx="11274552" cy="682142"/>
          </a:xfrm>
          <a:prstGeom prst="roundRect">
            <a:avLst>
              <a:gd name="adj" fmla="val 6702"/>
            </a:avLst>
          </a:prstGeom>
          <a:solidFill>
            <a:srgbClr val="F4F1EA"/>
          </a:solidFill>
          <a:ln w="9525">
            <a:solidFill>
              <a:srgbClr val="D8D0BF"/>
            </a:solidFill>
            <a:prstDash val="solid"/>
          </a:ln>
        </p:spPr>
      </p:sp>
      <p:sp>
        <p:nvSpPr>
          <p:cNvPr id="28" name="Text 25"/>
          <p:cNvSpPr txBox="1"/>
          <p:nvPr/>
        </p:nvSpPr>
        <p:spPr>
          <a:xfrm>
            <a:off x="8796528" y="3004718"/>
            <a:ext cx="2862072" cy="682142"/>
          </a:xfrm>
          <a:prstGeom prst="rect">
            <a:avLst/>
          </a:prstGeom>
          <a:noFill/>
          <a:ln/>
        </p:spPr>
        <p:txBody>
          <a:bodyPr wrap="square" lIns="0" tIns="0" rIns="0" bIns="0" rtlCol="0" anchor="ctr"/>
          <a:lstStyle/>
          <a:p>
            <a:pPr algn="l" indent="0" marL="0">
              <a:buNone/>
            </a:pPr>
            <a:endParaRPr lang="en-US" sz="1100" dirty="0"/>
          </a:p>
        </p:txBody>
      </p:sp>
      <p:sp>
        <p:nvSpPr>
          <p:cNvPr id="29" name="Text 26"/>
          <p:cNvSpPr txBox="1"/>
          <p:nvPr/>
        </p:nvSpPr>
        <p:spPr>
          <a:xfrm>
            <a:off x="7882128" y="3004718"/>
            <a:ext cx="731520" cy="682142"/>
          </a:xfrm>
          <a:prstGeom prst="rect">
            <a:avLst/>
          </a:prstGeom>
          <a:noFill/>
          <a:ln/>
        </p:spPr>
        <p:txBody>
          <a:bodyPr wrap="square" lIns="0" tIns="0" rIns="0" bIns="0" rtlCol="0" anchor="ctr"/>
          <a:lstStyle/>
          <a:p>
            <a:pPr algn="l" indent="0" marL="0">
              <a:buNone/>
            </a:pPr>
            <a:endParaRPr lang="en-US" sz="1100" dirty="0"/>
          </a:p>
        </p:txBody>
      </p:sp>
      <p:sp>
        <p:nvSpPr>
          <p:cNvPr id="30" name="Text 27"/>
          <p:cNvSpPr txBox="1"/>
          <p:nvPr/>
        </p:nvSpPr>
        <p:spPr>
          <a:xfrm>
            <a:off x="6601968" y="3004718"/>
            <a:ext cx="109728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Core</a:t>
            </a:r>
            <a:endParaRPr lang="en-US" sz="1100" dirty="0"/>
          </a:p>
        </p:txBody>
      </p:sp>
      <p:sp>
        <p:nvSpPr>
          <p:cNvPr id="31" name="Text 28"/>
          <p:cNvSpPr txBox="1"/>
          <p:nvPr/>
        </p:nvSpPr>
        <p:spPr>
          <a:xfrm>
            <a:off x="566928" y="3004718"/>
            <a:ext cx="585216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answer all four bullets with correct agreement?</a:t>
            </a:r>
            <a:endParaRPr lang="en-US" sz="1100" dirty="0"/>
          </a:p>
        </p:txBody>
      </p:sp>
      <p:sp>
        <p:nvSpPr>
          <p:cNvPr id="32" name="Shape 29"/>
          <p:cNvSpPr/>
          <p:nvPr/>
        </p:nvSpPr>
        <p:spPr>
          <a:xfrm>
            <a:off x="11091672" y="3050438"/>
            <a:ext cx="548640" cy="182880"/>
          </a:xfrm>
          <a:prstGeom prst="roundRect">
            <a:avLst>
              <a:gd name="adj" fmla="val 50000"/>
            </a:avLst>
          </a:prstGeom>
          <a:solidFill>
            <a:srgbClr val="2E8B57"/>
          </a:solidFill>
          <a:ln w="12700">
            <a:solidFill>
              <a:srgbClr val="2E8B57"/>
            </a:solidFill>
            <a:prstDash val="solid"/>
          </a:ln>
        </p:spPr>
      </p:sp>
      <p:sp>
        <p:nvSpPr>
          <p:cNvPr id="33" name="Text 30"/>
          <p:cNvSpPr txBox="1"/>
          <p:nvPr/>
        </p:nvSpPr>
        <p:spPr>
          <a:xfrm>
            <a:off x="11091672" y="3050438"/>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4" name="Shape 31"/>
          <p:cNvSpPr/>
          <p:nvPr/>
        </p:nvSpPr>
        <p:spPr>
          <a:xfrm>
            <a:off x="457200" y="3741725"/>
            <a:ext cx="11274552" cy="682142"/>
          </a:xfrm>
          <a:prstGeom prst="roundRect">
            <a:avLst>
              <a:gd name="adj" fmla="val 6702"/>
            </a:avLst>
          </a:prstGeom>
          <a:solidFill>
            <a:srgbClr val="FFFFFF"/>
          </a:solidFill>
          <a:ln w="9525">
            <a:solidFill>
              <a:srgbClr val="D8D0BF"/>
            </a:solidFill>
            <a:prstDash val="solid"/>
          </a:ln>
        </p:spPr>
      </p:sp>
      <p:sp>
        <p:nvSpPr>
          <p:cNvPr id="35" name="Text 32"/>
          <p:cNvSpPr txBox="1"/>
          <p:nvPr/>
        </p:nvSpPr>
        <p:spPr>
          <a:xfrm>
            <a:off x="8796528" y="3741725"/>
            <a:ext cx="2862072" cy="682142"/>
          </a:xfrm>
          <a:prstGeom prst="rect">
            <a:avLst/>
          </a:prstGeom>
          <a:noFill/>
          <a:ln/>
        </p:spPr>
        <p:txBody>
          <a:bodyPr wrap="square" lIns="0" tIns="0" rIns="0" bIns="0" rtlCol="0" anchor="ctr"/>
          <a:lstStyle/>
          <a:p>
            <a:pPr algn="l" indent="0" marL="0">
              <a:buNone/>
            </a:pPr>
            <a:endParaRPr lang="en-US" sz="1100" dirty="0"/>
          </a:p>
        </p:txBody>
      </p:sp>
      <p:sp>
        <p:nvSpPr>
          <p:cNvPr id="36" name="Text 33"/>
          <p:cNvSpPr txBox="1"/>
          <p:nvPr/>
        </p:nvSpPr>
        <p:spPr>
          <a:xfrm>
            <a:off x="7882128" y="3741725"/>
            <a:ext cx="731520" cy="682142"/>
          </a:xfrm>
          <a:prstGeom prst="rect">
            <a:avLst/>
          </a:prstGeom>
          <a:noFill/>
          <a:ln/>
        </p:spPr>
        <p:txBody>
          <a:bodyPr wrap="square" lIns="0" tIns="0" rIns="0" bIns="0" rtlCol="0" anchor="ctr"/>
          <a:lstStyle/>
          <a:p>
            <a:pPr algn="l" indent="0" marL="0">
              <a:buNone/>
            </a:pPr>
            <a:endParaRPr lang="en-US" sz="1100" dirty="0"/>
          </a:p>
        </p:txBody>
      </p:sp>
      <p:sp>
        <p:nvSpPr>
          <p:cNvPr id="37" name="Text 34"/>
          <p:cNvSpPr txBox="1"/>
          <p:nvPr/>
        </p:nvSpPr>
        <p:spPr>
          <a:xfrm>
            <a:off x="6601968" y="3741725"/>
            <a:ext cx="109728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Develop</a:t>
            </a:r>
            <a:endParaRPr lang="en-US" sz="1100" dirty="0"/>
          </a:p>
        </p:txBody>
      </p:sp>
      <p:sp>
        <p:nvSpPr>
          <p:cNvPr id="38" name="Text 35"/>
          <p:cNvSpPr txBox="1"/>
          <p:nvPr/>
        </p:nvSpPr>
        <p:spPr>
          <a:xfrm>
            <a:off x="566928" y="3741725"/>
            <a:ext cx="585216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use a comparative, a concession and a past example?</a:t>
            </a:r>
            <a:endParaRPr lang="en-US" sz="1100" dirty="0"/>
          </a:p>
        </p:txBody>
      </p:sp>
      <p:sp>
        <p:nvSpPr>
          <p:cNvPr id="39" name="Shape 36"/>
          <p:cNvSpPr/>
          <p:nvPr/>
        </p:nvSpPr>
        <p:spPr>
          <a:xfrm>
            <a:off x="457200" y="4478731"/>
            <a:ext cx="11274552" cy="682142"/>
          </a:xfrm>
          <a:prstGeom prst="roundRect">
            <a:avLst>
              <a:gd name="adj" fmla="val 6702"/>
            </a:avLst>
          </a:prstGeom>
          <a:solidFill>
            <a:srgbClr val="F4F1EA"/>
          </a:solidFill>
          <a:ln w="9525">
            <a:solidFill>
              <a:srgbClr val="D8D0BF"/>
            </a:solidFill>
            <a:prstDash val="solid"/>
          </a:ln>
        </p:spPr>
      </p:sp>
      <p:sp>
        <p:nvSpPr>
          <p:cNvPr id="40" name="Text 37"/>
          <p:cNvSpPr txBox="1"/>
          <p:nvPr/>
        </p:nvSpPr>
        <p:spPr>
          <a:xfrm>
            <a:off x="8796528" y="4478731"/>
            <a:ext cx="2862072" cy="682142"/>
          </a:xfrm>
          <a:prstGeom prst="rect">
            <a:avLst/>
          </a:prstGeom>
          <a:noFill/>
          <a:ln/>
        </p:spPr>
        <p:txBody>
          <a:bodyPr wrap="square" lIns="0" tIns="0" rIns="0" bIns="0" rtlCol="0" anchor="ctr"/>
          <a:lstStyle/>
          <a:p>
            <a:pPr algn="l" indent="0" marL="0">
              <a:buNone/>
            </a:pPr>
            <a:endParaRPr lang="en-US" sz="1100" dirty="0"/>
          </a:p>
        </p:txBody>
      </p:sp>
      <p:sp>
        <p:nvSpPr>
          <p:cNvPr id="41" name="Text 38"/>
          <p:cNvSpPr txBox="1"/>
          <p:nvPr/>
        </p:nvSpPr>
        <p:spPr>
          <a:xfrm>
            <a:off x="7882128" y="4478731"/>
            <a:ext cx="731520" cy="682142"/>
          </a:xfrm>
          <a:prstGeom prst="rect">
            <a:avLst/>
          </a:prstGeom>
          <a:noFill/>
          <a:ln/>
        </p:spPr>
        <p:txBody>
          <a:bodyPr wrap="square" lIns="0" tIns="0" rIns="0" bIns="0" rtlCol="0" anchor="ctr"/>
          <a:lstStyle/>
          <a:p>
            <a:pPr algn="l" indent="0" marL="0">
              <a:buNone/>
            </a:pPr>
            <a:endParaRPr lang="en-US" sz="1100" dirty="0"/>
          </a:p>
        </p:txBody>
      </p:sp>
      <p:sp>
        <p:nvSpPr>
          <p:cNvPr id="42" name="Text 39"/>
          <p:cNvSpPr txBox="1"/>
          <p:nvPr/>
        </p:nvSpPr>
        <p:spPr>
          <a:xfrm>
            <a:off x="6601968" y="4478731"/>
            <a:ext cx="109728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Develop</a:t>
            </a:r>
            <a:endParaRPr lang="en-US" sz="1100" dirty="0"/>
          </a:p>
        </p:txBody>
      </p:sp>
      <p:sp>
        <p:nvSpPr>
          <p:cNvPr id="43" name="Text 40"/>
          <p:cNvSpPr txBox="1"/>
          <p:nvPr/>
        </p:nvSpPr>
        <p:spPr>
          <a:xfrm>
            <a:off x="566928" y="4478731"/>
            <a:ext cx="585216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use linking words (</a:t>
            </a:r>
            <a:pPr algn="l" indent="0" marL="0">
              <a:buNone/>
            </a:pPr>
            <a:r>
              <a:rPr lang="ar-SA" altLang="en-US" sz="1450" dirty="0">
                <a:solidFill>
                  <a:srgbClr val="5A6472"/>
                </a:solidFill>
                <a:latin typeface="Amiri" pitchFamily="2" charset="-78"/>
                <a:ea typeface="Amiri" pitchFamily="2" charset="-78"/>
                <a:cs typeface="Amiri" pitchFamily="2" charset="-78"/>
              </a:rPr>
              <a:t>وَ</a:t>
            </a:r>
            <a:pPr algn="l" indent="0" marL="0">
              <a:buNone/>
            </a:pPr>
            <a:r>
              <a:rPr lang="en-US" sz="1100" dirty="0">
                <a:solidFill>
                  <a:srgbClr val="5A6472"/>
                </a:solidFill>
                <a:latin typeface="Calibri" pitchFamily="34" charset="0"/>
                <a:cs typeface="Amiri" pitchFamily="2" charset="-78"/>
              </a:rPr>
              <a:t> · </a:t>
            </a:r>
            <a:pPr algn="l" indent="0" marL="0">
              <a:buNone/>
            </a:pPr>
            <a:r>
              <a:rPr lang="ar-SA" altLang="en-US" sz="1450" dirty="0">
                <a:solidFill>
                  <a:srgbClr val="5A6472"/>
                </a:solidFill>
                <a:latin typeface="Amiri" pitchFamily="2" charset="-78"/>
                <a:ea typeface="Amiri" pitchFamily="2" charset="-78"/>
                <a:cs typeface="Amiri" pitchFamily="2" charset="-78"/>
              </a:rPr>
              <a:t>ثُمَّ</a:t>
            </a:r>
            <a:pPr algn="l" indent="0" marL="0">
              <a:buNone/>
            </a:pPr>
            <a:r>
              <a:rPr lang="en-US" sz="1100" dirty="0">
                <a:solidFill>
                  <a:srgbClr val="5A6472"/>
                </a:solidFill>
                <a:latin typeface="Calibri" pitchFamily="34" charset="0"/>
                <a:cs typeface="Amiri" pitchFamily="2" charset="-78"/>
              </a:rPr>
              <a:t> · </a:t>
            </a:r>
            <a:pPr algn="l" indent="0" marL="0">
              <a:buNone/>
            </a:pPr>
            <a:r>
              <a:rPr lang="ar-SA" altLang="en-US" sz="1450" dirty="0">
                <a:solidFill>
                  <a:srgbClr val="5A6472"/>
                </a:solidFill>
                <a:latin typeface="Amiri" pitchFamily="2" charset="-78"/>
                <a:ea typeface="Amiri" pitchFamily="2" charset="-78"/>
                <a:cs typeface="Amiri" pitchFamily="2" charset="-78"/>
              </a:rPr>
              <a:t>لِأَنَّ</a:t>
            </a:r>
            <a:pPr algn="l" indent="0" marL="0">
              <a:buNone/>
            </a:pPr>
            <a:r>
              <a:rPr lang="en-US" sz="1100" dirty="0">
                <a:solidFill>
                  <a:srgbClr val="5A6472"/>
                </a:solidFill>
                <a:latin typeface="Calibri" pitchFamily="34" charset="0"/>
                <a:cs typeface="Amiri" pitchFamily="2" charset="-78"/>
              </a:rPr>
              <a:t> · </a:t>
            </a:r>
            <a:pPr algn="l" indent="0" marL="0">
              <a:buNone/>
            </a:pPr>
            <a:r>
              <a:rPr lang="ar-SA" altLang="en-US" sz="1450" dirty="0">
                <a:solidFill>
                  <a:srgbClr val="5A6472"/>
                </a:solidFill>
                <a:latin typeface="Amiri" pitchFamily="2" charset="-78"/>
                <a:ea typeface="Amiri" pitchFamily="2" charset="-78"/>
                <a:cs typeface="Amiri" pitchFamily="2" charset="-78"/>
              </a:rPr>
              <a:t>لٰكِنَّ</a:t>
            </a:r>
            <a:pPr algn="l" indent="0" marL="0">
              <a:buNone/>
            </a:pPr>
            <a:r>
              <a:rPr lang="en-US" sz="1100" dirty="0">
                <a:solidFill>
                  <a:srgbClr val="5A6472"/>
                </a:solidFill>
                <a:latin typeface="Calibri" pitchFamily="34" charset="0"/>
                <a:cs typeface="Amiri" pitchFamily="2" charset="-78"/>
              </a:rPr>
              <a:t>)?</a:t>
            </a:r>
            <a:endParaRPr lang="en-US" sz="1100" dirty="0"/>
          </a:p>
        </p:txBody>
      </p:sp>
      <p:sp>
        <p:nvSpPr>
          <p:cNvPr id="44" name="Shape 41"/>
          <p:cNvSpPr/>
          <p:nvPr/>
        </p:nvSpPr>
        <p:spPr>
          <a:xfrm>
            <a:off x="457200" y="5215738"/>
            <a:ext cx="11274552" cy="682142"/>
          </a:xfrm>
          <a:prstGeom prst="roundRect">
            <a:avLst>
              <a:gd name="adj" fmla="val 6702"/>
            </a:avLst>
          </a:prstGeom>
          <a:solidFill>
            <a:srgbClr val="FFFFFF"/>
          </a:solidFill>
          <a:ln w="9525">
            <a:solidFill>
              <a:srgbClr val="D8D0BF"/>
            </a:solidFill>
            <a:prstDash val="solid"/>
          </a:ln>
        </p:spPr>
      </p:sp>
      <p:sp>
        <p:nvSpPr>
          <p:cNvPr id="45" name="Text 42"/>
          <p:cNvSpPr txBox="1"/>
          <p:nvPr/>
        </p:nvSpPr>
        <p:spPr>
          <a:xfrm>
            <a:off x="8796528" y="5215738"/>
            <a:ext cx="2862072" cy="682142"/>
          </a:xfrm>
          <a:prstGeom prst="rect">
            <a:avLst/>
          </a:prstGeom>
          <a:noFill/>
          <a:ln/>
        </p:spPr>
        <p:txBody>
          <a:bodyPr wrap="square" lIns="0" tIns="0" rIns="0" bIns="0" rtlCol="0" anchor="ctr"/>
          <a:lstStyle/>
          <a:p>
            <a:pPr algn="l" indent="0" marL="0">
              <a:buNone/>
            </a:pPr>
            <a:endParaRPr lang="en-US" sz="1100" dirty="0"/>
          </a:p>
        </p:txBody>
      </p:sp>
      <p:sp>
        <p:nvSpPr>
          <p:cNvPr id="46" name="Text 43"/>
          <p:cNvSpPr txBox="1"/>
          <p:nvPr/>
        </p:nvSpPr>
        <p:spPr>
          <a:xfrm>
            <a:off x="7882128" y="5215738"/>
            <a:ext cx="731520" cy="682142"/>
          </a:xfrm>
          <a:prstGeom prst="rect">
            <a:avLst/>
          </a:prstGeom>
          <a:noFill/>
          <a:ln/>
        </p:spPr>
        <p:txBody>
          <a:bodyPr wrap="square" lIns="0" tIns="0" rIns="0" bIns="0" rtlCol="0" anchor="ctr"/>
          <a:lstStyle/>
          <a:p>
            <a:pPr algn="l" indent="0" marL="0">
              <a:buNone/>
            </a:pPr>
            <a:endParaRPr lang="en-US" sz="1100" dirty="0"/>
          </a:p>
        </p:txBody>
      </p:sp>
      <p:sp>
        <p:nvSpPr>
          <p:cNvPr id="47" name="Text 44"/>
          <p:cNvSpPr txBox="1"/>
          <p:nvPr/>
        </p:nvSpPr>
        <p:spPr>
          <a:xfrm>
            <a:off x="6601968" y="5215738"/>
            <a:ext cx="109728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Stretch</a:t>
            </a:r>
            <a:endParaRPr lang="en-US" sz="1100" dirty="0"/>
          </a:p>
        </p:txBody>
      </p:sp>
      <p:sp>
        <p:nvSpPr>
          <p:cNvPr id="48" name="Text 45"/>
          <p:cNvSpPr txBox="1"/>
          <p:nvPr/>
        </p:nvSpPr>
        <p:spPr>
          <a:xfrm>
            <a:off x="566928" y="5215738"/>
            <a:ext cx="585216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use more than one tense and give an opinion with a reason?</a:t>
            </a:r>
            <a:endParaRPr lang="en-US" sz="1100" dirty="0"/>
          </a:p>
        </p:txBody>
      </p:sp>
      <p:sp>
        <p:nvSpPr>
          <p:cNvPr id="49" name="Text 46"/>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Give back: one thing that went well + one thing to improve. The writer fixes ONE thing straight away.</a:t>
            </a:r>
            <a:endParaRPr lang="en-US" sz="1150" dirty="0"/>
          </a:p>
        </p:txBody>
      </p:sp>
      <p:sp>
        <p:nvSpPr>
          <p:cNvPr id="50" name="Text 4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18 / 22</a:t>
            </a:r>
            <a:endParaRPr lang="en-US" sz="85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D2-L12 · Speaking + writing practice room</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CHECK YOURSELF · ROLE-PLAY CARD</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050" b="1" dirty="0">
                <a:solidFill>
                  <a:srgbClr val="1B3B6F"/>
                </a:solidFill>
                <a:latin typeface="Cambria" pitchFamily="34" charset="0"/>
                <a:cs typeface="Amiri" pitchFamily="2" charset="-78"/>
              </a:rPr>
              <a:t>Role-play card: compare with a strong answer</a:t>
            </a:r>
            <a:endParaRPr lang="en-US" sz="20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قَارِنْ إِجَابَتَكَ</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D2 · People, Relationships and Style · D2-L12 · practice room</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4782312" y="1810512"/>
            <a:ext cx="687628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A strong answer (with English)</a:t>
            </a:r>
            <a:endParaRPr lang="en-US" sz="1100" dirty="0"/>
          </a:p>
        </p:txBody>
      </p:sp>
      <p:sp>
        <p:nvSpPr>
          <p:cNvPr id="17" name="Text 14"/>
          <p:cNvSpPr txBox="1"/>
          <p:nvPr/>
        </p:nvSpPr>
        <p:spPr>
          <a:xfrm>
            <a:off x="1033272" y="1810512"/>
            <a:ext cx="36027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Leader reads</a:t>
            </a:r>
            <a:endParaRPr lang="en-US" sz="1100" dirty="0"/>
          </a:p>
        </p:txBody>
      </p:sp>
      <p:sp>
        <p:nvSpPr>
          <p:cNvPr id="18" name="Text 15"/>
          <p:cNvSpPr txBox="1"/>
          <p:nvPr/>
        </p:nvSpPr>
        <p:spPr>
          <a:xfrm>
            <a:off x="530352" y="1810512"/>
            <a:ext cx="35661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a:t>
            </a:r>
            <a:endParaRPr lang="en-US" sz="1100" dirty="0"/>
          </a:p>
        </p:txBody>
      </p:sp>
      <p:sp>
        <p:nvSpPr>
          <p:cNvPr id="19" name="Shape 16"/>
          <p:cNvSpPr/>
          <p:nvPr/>
        </p:nvSpPr>
        <p:spPr>
          <a:xfrm>
            <a:off x="457200" y="2267712"/>
            <a:ext cx="11274552" cy="731520"/>
          </a:xfrm>
          <a:prstGeom prst="roundRect">
            <a:avLst>
              <a:gd name="adj" fmla="val 6250"/>
            </a:avLst>
          </a:prstGeom>
          <a:solidFill>
            <a:srgbClr val="FFFFFF"/>
          </a:solidFill>
          <a:ln w="9525">
            <a:solidFill>
              <a:srgbClr val="D8D0BF"/>
            </a:solidFill>
            <a:prstDash val="solid"/>
          </a:ln>
        </p:spPr>
      </p:sp>
      <p:sp>
        <p:nvSpPr>
          <p:cNvPr id="20" name="Text 17"/>
          <p:cNvSpPr txBox="1"/>
          <p:nvPr/>
        </p:nvSpPr>
        <p:spPr>
          <a:xfrm>
            <a:off x="4800600" y="2286000"/>
            <a:ext cx="6839712" cy="45354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أَنَا مُجْتَهِدٌ وَمَرِحٌ وَمُتَعَاوِنٌ.</a:t>
            </a:r>
            <a:endParaRPr lang="ar-SA" sz="1800" dirty="0"/>
          </a:p>
        </p:txBody>
      </p:sp>
      <p:sp>
        <p:nvSpPr>
          <p:cNvPr id="21" name="Text 18"/>
          <p:cNvSpPr txBox="1"/>
          <p:nvPr/>
        </p:nvSpPr>
        <p:spPr>
          <a:xfrm>
            <a:off x="4754880" y="2706624"/>
            <a:ext cx="6931152" cy="277978"/>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cs typeface="Amiri" pitchFamily="2" charset="-78"/>
              </a:rPr>
              <a:t>I am hard-working, cheerful and helpful.</a:t>
            </a:r>
            <a:endParaRPr lang="en-US" sz="950" dirty="0"/>
          </a:p>
        </p:txBody>
      </p:sp>
      <p:sp>
        <p:nvSpPr>
          <p:cNvPr id="22" name="Text 19"/>
          <p:cNvSpPr txBox="1"/>
          <p:nvPr/>
        </p:nvSpPr>
        <p:spPr>
          <a:xfrm>
            <a:off x="1051560" y="2267712"/>
            <a:ext cx="3566160" cy="731520"/>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صِفْ نَفْسَكَ فِي ثَلَاثِ كَلِمَاتٍ.</a:t>
            </a:r>
            <a:endParaRPr lang="ar-SA" sz="1600" dirty="0"/>
          </a:p>
        </p:txBody>
      </p:sp>
      <p:sp>
        <p:nvSpPr>
          <p:cNvPr id="23" name="Text 20"/>
          <p:cNvSpPr txBox="1"/>
          <p:nvPr/>
        </p:nvSpPr>
        <p:spPr>
          <a:xfrm>
            <a:off x="566928" y="2267712"/>
            <a:ext cx="32004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1</a:t>
            </a:r>
            <a:endParaRPr lang="en-US" sz="1100" dirty="0"/>
          </a:p>
        </p:txBody>
      </p:sp>
      <p:sp>
        <p:nvSpPr>
          <p:cNvPr id="24" name="Shape 21"/>
          <p:cNvSpPr/>
          <p:nvPr/>
        </p:nvSpPr>
        <p:spPr>
          <a:xfrm>
            <a:off x="457200" y="3054096"/>
            <a:ext cx="11274552" cy="731520"/>
          </a:xfrm>
          <a:prstGeom prst="roundRect">
            <a:avLst>
              <a:gd name="adj" fmla="val 6250"/>
            </a:avLst>
          </a:prstGeom>
          <a:solidFill>
            <a:srgbClr val="F4F1EA"/>
          </a:solidFill>
          <a:ln w="9525">
            <a:solidFill>
              <a:srgbClr val="D8D0BF"/>
            </a:solidFill>
            <a:prstDash val="solid"/>
          </a:ln>
        </p:spPr>
      </p:sp>
      <p:sp>
        <p:nvSpPr>
          <p:cNvPr id="25" name="Text 22"/>
          <p:cNvSpPr txBox="1"/>
          <p:nvPr/>
        </p:nvSpPr>
        <p:spPr>
          <a:xfrm>
            <a:off x="4800600" y="3072384"/>
            <a:ext cx="6839712" cy="45354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صَدِيقِي آدَمُ؛ هُوَ قَصِيرُ القَامَةِ، وَصَادِقٌ لِأَنَّهُ لَا يَكْذِبُ أَبَدًا.</a:t>
            </a:r>
            <a:endParaRPr lang="ar-SA" sz="1800" dirty="0"/>
          </a:p>
        </p:txBody>
      </p:sp>
      <p:sp>
        <p:nvSpPr>
          <p:cNvPr id="26" name="Text 23"/>
          <p:cNvSpPr txBox="1"/>
          <p:nvPr/>
        </p:nvSpPr>
        <p:spPr>
          <a:xfrm>
            <a:off x="4754880" y="3493008"/>
            <a:ext cx="6931152" cy="277978"/>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cs typeface="Amiri" pitchFamily="2" charset="-78"/>
              </a:rPr>
              <a:t>My friend Adam — he is short, and honest because he never lies.</a:t>
            </a:r>
            <a:endParaRPr lang="en-US" sz="950" dirty="0"/>
          </a:p>
        </p:txBody>
      </p:sp>
      <p:sp>
        <p:nvSpPr>
          <p:cNvPr id="27" name="Text 24"/>
          <p:cNvSpPr txBox="1"/>
          <p:nvPr/>
        </p:nvSpPr>
        <p:spPr>
          <a:xfrm>
            <a:off x="1051560" y="3054096"/>
            <a:ext cx="3566160" cy="731520"/>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مَنْ أَقْرَبُ صَدِيقٍ لَكَ؟ صِفْهُ.</a:t>
            </a:r>
            <a:endParaRPr lang="ar-SA" sz="1600" dirty="0"/>
          </a:p>
        </p:txBody>
      </p:sp>
      <p:sp>
        <p:nvSpPr>
          <p:cNvPr id="28" name="Text 25"/>
          <p:cNvSpPr txBox="1"/>
          <p:nvPr/>
        </p:nvSpPr>
        <p:spPr>
          <a:xfrm>
            <a:off x="566928" y="3054096"/>
            <a:ext cx="32004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2</a:t>
            </a:r>
            <a:endParaRPr lang="en-US" sz="1100" dirty="0"/>
          </a:p>
        </p:txBody>
      </p:sp>
      <p:sp>
        <p:nvSpPr>
          <p:cNvPr id="29" name="Shape 26"/>
          <p:cNvSpPr/>
          <p:nvPr/>
        </p:nvSpPr>
        <p:spPr>
          <a:xfrm>
            <a:off x="457200" y="3840480"/>
            <a:ext cx="11274552" cy="731520"/>
          </a:xfrm>
          <a:prstGeom prst="roundRect">
            <a:avLst>
              <a:gd name="adj" fmla="val 6250"/>
            </a:avLst>
          </a:prstGeom>
          <a:solidFill>
            <a:srgbClr val="FFFFFF"/>
          </a:solidFill>
          <a:ln w="9525">
            <a:solidFill>
              <a:srgbClr val="D8D0BF"/>
            </a:solidFill>
            <a:prstDash val="solid"/>
          </a:ln>
        </p:spPr>
      </p:sp>
      <p:sp>
        <p:nvSpPr>
          <p:cNvPr id="30" name="Text 27"/>
          <p:cNvSpPr txBox="1"/>
          <p:nvPr/>
        </p:nvSpPr>
        <p:spPr>
          <a:xfrm>
            <a:off x="4800600" y="3858768"/>
            <a:ext cx="6839712" cy="45354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أُفَضِّلُ المَلَابِسَ الرِّيَاضِيَّةَ، لِأَنَّهَا أَكْثَرُ رَاحَةً مِنَ الرَّسْمِيَّةِ.</a:t>
            </a:r>
            <a:endParaRPr lang="ar-SA" sz="1800" dirty="0"/>
          </a:p>
        </p:txBody>
      </p:sp>
      <p:sp>
        <p:nvSpPr>
          <p:cNvPr id="31" name="Text 28"/>
          <p:cNvSpPr txBox="1"/>
          <p:nvPr/>
        </p:nvSpPr>
        <p:spPr>
          <a:xfrm>
            <a:off x="4754880" y="4279392"/>
            <a:ext cx="6931152" cy="277978"/>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cs typeface="Amiri" pitchFamily="2" charset="-78"/>
              </a:rPr>
              <a:t>I prefer sportswear, because it is more comfortable than formal clothes.</a:t>
            </a:r>
            <a:endParaRPr lang="en-US" sz="950" dirty="0"/>
          </a:p>
        </p:txBody>
      </p:sp>
      <p:sp>
        <p:nvSpPr>
          <p:cNvPr id="32" name="Text 29"/>
          <p:cNvSpPr txBox="1"/>
          <p:nvPr/>
        </p:nvSpPr>
        <p:spPr>
          <a:xfrm>
            <a:off x="1051560" y="3840480"/>
            <a:ext cx="3566160" cy="731520"/>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مَا أُسْلُوبُكَ فِي المَلَابِسِ؟</a:t>
            </a:r>
            <a:endParaRPr lang="ar-SA" sz="1600" dirty="0"/>
          </a:p>
        </p:txBody>
      </p:sp>
      <p:sp>
        <p:nvSpPr>
          <p:cNvPr id="33" name="Text 30"/>
          <p:cNvSpPr txBox="1"/>
          <p:nvPr/>
        </p:nvSpPr>
        <p:spPr>
          <a:xfrm>
            <a:off x="566928" y="3840480"/>
            <a:ext cx="32004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3</a:t>
            </a:r>
            <a:endParaRPr lang="en-US" sz="1100" dirty="0"/>
          </a:p>
        </p:txBody>
      </p:sp>
      <p:sp>
        <p:nvSpPr>
          <p:cNvPr id="34" name="Shape 31"/>
          <p:cNvSpPr/>
          <p:nvPr/>
        </p:nvSpPr>
        <p:spPr>
          <a:xfrm>
            <a:off x="457200" y="4626864"/>
            <a:ext cx="11274552" cy="731520"/>
          </a:xfrm>
          <a:prstGeom prst="roundRect">
            <a:avLst>
              <a:gd name="adj" fmla="val 6250"/>
            </a:avLst>
          </a:prstGeom>
          <a:solidFill>
            <a:srgbClr val="F4F1EA"/>
          </a:solidFill>
          <a:ln w="9525">
            <a:solidFill>
              <a:srgbClr val="D8D0BF"/>
            </a:solidFill>
            <a:prstDash val="solid"/>
          </a:ln>
        </p:spPr>
      </p:sp>
      <p:sp>
        <p:nvSpPr>
          <p:cNvPr id="35" name="Text 32"/>
          <p:cNvSpPr txBox="1"/>
          <p:nvPr/>
        </p:nvSpPr>
        <p:spPr>
          <a:xfrm>
            <a:off x="4800600" y="4645152"/>
            <a:ext cx="6839712" cy="45354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رِحْلَةُ المَدْرَسَةِ إِلَى الجِبَالِ؛ ضَحِكْنَا كَثِيرًا، وَتَصَالَحْنَا بَعْدَ خِلَافٍ صَغِيرٍ.</a:t>
            </a:r>
            <a:endParaRPr lang="ar-SA" sz="1800" dirty="0"/>
          </a:p>
        </p:txBody>
      </p:sp>
      <p:sp>
        <p:nvSpPr>
          <p:cNvPr id="36" name="Text 33"/>
          <p:cNvSpPr txBox="1"/>
          <p:nvPr/>
        </p:nvSpPr>
        <p:spPr>
          <a:xfrm>
            <a:off x="4754880" y="5065776"/>
            <a:ext cx="6931152" cy="277978"/>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cs typeface="Amiri" pitchFamily="2" charset="-78"/>
              </a:rPr>
              <a:t>The school trip to the mountains — we laughed a lot and made up after a small argument.</a:t>
            </a:r>
            <a:endParaRPr lang="en-US" sz="950" dirty="0"/>
          </a:p>
        </p:txBody>
      </p:sp>
      <p:sp>
        <p:nvSpPr>
          <p:cNvPr id="37" name="Text 34"/>
          <p:cNvSpPr txBox="1"/>
          <p:nvPr/>
        </p:nvSpPr>
        <p:spPr>
          <a:xfrm>
            <a:off x="1051560" y="4626864"/>
            <a:ext cx="3566160" cy="731520"/>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مَا أَجْمَلُ ذِكْرَى مَعَ صَدِيقِكَ هٰذِهِ السَّنَةَ؟</a:t>
            </a:r>
            <a:endParaRPr lang="ar-SA" sz="1600" dirty="0"/>
          </a:p>
        </p:txBody>
      </p:sp>
      <p:sp>
        <p:nvSpPr>
          <p:cNvPr id="38" name="Text 35"/>
          <p:cNvSpPr txBox="1"/>
          <p:nvPr/>
        </p:nvSpPr>
        <p:spPr>
          <a:xfrm>
            <a:off x="566928" y="4626864"/>
            <a:ext cx="32004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4</a:t>
            </a:r>
            <a:endParaRPr lang="en-US" sz="1100" dirty="0"/>
          </a:p>
        </p:txBody>
      </p:sp>
      <p:sp>
        <p:nvSpPr>
          <p:cNvPr id="39" name="Text 36"/>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Did you answer every task in a full sentence? Choose one phrase you did not use and say it aloud.</a:t>
            </a:r>
            <a:endParaRPr lang="en-US" sz="1150" dirty="0"/>
          </a:p>
        </p:txBody>
      </p:sp>
      <p:sp>
        <p:nvSpPr>
          <p:cNvPr id="40" name="Text 3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19 / 22</a:t>
            </a:r>
            <a:endParaRPr lang="en-US" sz="85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D2-L12 · Speaking + writing practice room</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CHECK YOURSELF · WRITE YOUR TEXT · A STRONG ANSWER</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400" b="1" dirty="0">
                <a:solidFill>
                  <a:srgbClr val="1B3B6F"/>
                </a:solidFill>
                <a:latin typeface="Cambria" pitchFamily="34" charset="0"/>
                <a:cs typeface="Amiri" pitchFamily="2" charset="-78"/>
              </a:rPr>
              <a:t>Writing: compare with a strong answer</a:t>
            </a:r>
            <a:endParaRPr lang="en-US" sz="24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قَارِنْ إِجَابَتَكَ</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D2 · People, Relationships and Style · D2-L12 · practice room</a:t>
            </a:r>
            <a:endParaRPr lang="en-US" sz="850" dirty="0"/>
          </a:p>
        </p:txBody>
      </p:sp>
      <p:sp>
        <p:nvSpPr>
          <p:cNvPr id="15" name="Shape 12"/>
          <p:cNvSpPr/>
          <p:nvPr/>
        </p:nvSpPr>
        <p:spPr>
          <a:xfrm>
            <a:off x="457200" y="1810512"/>
            <a:ext cx="11274552" cy="3246120"/>
          </a:xfrm>
          <a:prstGeom prst="roundRect">
            <a:avLst>
              <a:gd name="adj" fmla="val 225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38528"/>
            <a:ext cx="10817352" cy="2990088"/>
          </a:xfrm>
          <a:prstGeom prst="rect">
            <a:avLst/>
          </a:prstGeom>
          <a:noFill/>
          <a:ln/>
        </p:spPr>
        <p:txBody>
          <a:bodyPr wrap="square" lIns="0" tIns="0" rIns="0" bIns="0" rtlCol="0" anchor="ctr"/>
          <a:lstStyle/>
          <a:p>
            <a:pPr rtl="1" algn="r" indent="0" marL="0">
              <a:lnSpc>
                <a:spcPct val="120000"/>
              </a:lnSpc>
              <a:buNone/>
            </a:pPr>
            <a:r>
              <a:rPr lang="ar-SA" altLang="en-US" sz="1950" dirty="0">
                <a:solidFill>
                  <a:srgbClr val="1F2A37"/>
                </a:solidFill>
                <a:latin typeface="Amiri" pitchFamily="2" charset="-78"/>
                <a:ea typeface="Amiri" pitchFamily="2" charset="-78"/>
                <a:cs typeface="Amiri" pitchFamily="2" charset="-78"/>
              </a:rPr>
              <a:t>مَرْحَبًا يَا جُودُ،</a:t>
            </a:r>
            <a:endParaRPr lang="ar-SA" sz="1950" dirty="0"/>
          </a:p>
          <a:p>
            <a:pPr rtl="1" algn="r" indent="0" marL="0">
              <a:lnSpc>
                <a:spcPct val="120000"/>
              </a:lnSpc>
              <a:buNone/>
            </a:pPr>
            <a:r>
              <a:rPr lang="ar-SA" altLang="en-US" sz="1950" dirty="0">
                <a:solidFill>
                  <a:srgbClr val="1F2A37"/>
                </a:solidFill>
                <a:latin typeface="Amiri" pitchFamily="2" charset="-78"/>
                <a:ea typeface="Amiri" pitchFamily="2" charset="-78"/>
                <a:cs typeface="Amiri" pitchFamily="2" charset="-78"/>
              </a:rPr>
              <a:t>أُرِيدُ أَنْ أُخْبِرَكِ عَنْ أُخْتِي الكَبِيرَةِ مَرْيَمَ. هِيَ طَوِيلَةُ القَامَةِ، وَشَعْرُهَا بُنِّيٌّ مُجَعَّدٌ، وَعَيْنَاهَا عَسَلِيَّتَانِ. هِيَ ذَكِيَّةٌ وَصَبُورَةٌ، لِأَنَّهَا تَشْرَحُ لِي الرِّيَاضِيَّاتِ كُلَّ مَسَاءٍ، وَلَيْسَتْ عَصَبِيَّةً أَبَدًا. أَتَفَاهَمُ مَعَهَا جِدًّا، وَأَثِقُ بِهَا؛ فِي الصَّيْفِ المَاضِي سَافَرْنَا مَعًا إِلَى بَيْتِ جَدَّتِي. تَلْبَسُ عَادَةً مَلَابِسَ عَصْرِيَّةً وَمُحْتَشِمَةً، وَهِيَ أَكْثَرُ أَنَاقَةً مِنِّي! عَلَى الرَّغْمِ مِنْ أَنَّ أُسْلُوبَهَا بَسِيطٌ، فَإِنَّهُ جَمِيلٌ جِدًّا. وَأَنْتِ، مَنِ الشَّخْصُ المُمَيَّزُ فِي حَيَاتِكِ؟</a:t>
            </a:r>
            <a:endParaRPr lang="ar-SA" sz="1950" dirty="0"/>
          </a:p>
          <a:p>
            <a:pPr rtl="1" algn="r" indent="0" marL="0">
              <a:lnSpc>
                <a:spcPct val="120000"/>
              </a:lnSpc>
              <a:buNone/>
            </a:pPr>
            <a:r>
              <a:rPr lang="ar-SA" altLang="en-US" sz="1950" dirty="0">
                <a:solidFill>
                  <a:srgbClr val="1F2A37"/>
                </a:solidFill>
                <a:latin typeface="Amiri" pitchFamily="2" charset="-78"/>
                <a:ea typeface="Amiri" pitchFamily="2" charset="-78"/>
                <a:cs typeface="Amiri" pitchFamily="2" charset="-78"/>
              </a:rPr>
              <a:t>صَدِيقَتُكِ، هِنْدُ</a:t>
            </a:r>
            <a:endParaRPr lang="ar-SA" sz="1950" dirty="0"/>
          </a:p>
        </p:txBody>
      </p:sp>
      <p:sp>
        <p:nvSpPr>
          <p:cNvPr id="17" name="Shape 14"/>
          <p:cNvSpPr/>
          <p:nvPr/>
        </p:nvSpPr>
        <p:spPr>
          <a:xfrm>
            <a:off x="457200" y="5166360"/>
            <a:ext cx="11274552" cy="1024128"/>
          </a:xfrm>
          <a:prstGeom prst="roundRect">
            <a:avLst>
              <a:gd name="adj" fmla="val 7143"/>
            </a:avLst>
          </a:prstGeom>
          <a:solidFill>
            <a:srgbClr val="F4F1EA"/>
          </a:solidFill>
          <a:ln w="9525">
            <a:solidFill>
              <a:srgbClr val="F4F1EA"/>
            </a:solidFill>
            <a:prstDash val="solid"/>
          </a:ln>
        </p:spPr>
      </p:sp>
      <p:sp>
        <p:nvSpPr>
          <p:cNvPr id="18" name="Text 15"/>
          <p:cNvSpPr txBox="1"/>
          <p:nvPr/>
        </p:nvSpPr>
        <p:spPr>
          <a:xfrm>
            <a:off x="640080" y="5202936"/>
            <a:ext cx="10908792" cy="950976"/>
          </a:xfrm>
          <a:prstGeom prst="rect">
            <a:avLst/>
          </a:prstGeom>
          <a:noFill/>
          <a:ln/>
        </p:spPr>
        <p:txBody>
          <a:bodyPr wrap="square" lIns="0" tIns="0" rIns="0" bIns="0" rtlCol="0" anchor="t"/>
          <a:lstStyle/>
          <a:p>
            <a:pPr algn="l" indent="0" marL="0">
              <a:buNone/>
            </a:pPr>
            <a:r>
              <a:rPr lang="en-US" sz="1150" i="1" dirty="0">
                <a:solidFill>
                  <a:srgbClr val="5A6472"/>
                </a:solidFill>
                <a:latin typeface="Calibri" pitchFamily="34" charset="0"/>
                <a:cs typeface="Amiri" pitchFamily="2" charset="-78"/>
              </a:rPr>
              <a:t>“Hi Jude, I want to tell you about my older sister Maryam. She is tall, her hair is curly and brown, and her eyes are hazel. She is clever and patient, because she explains maths to me every evening, and she is never irritable. I get on with her very well and trust her — last summer we travelled together to my grandmother’s house. She usually wears modern, modest clothes, and she is more elegant than me! Although her style is simple, it is very beautiful. And you — who is the special person in your life? Your friend, Hind.”</a:t>
            </a:r>
            <a:endParaRPr lang="en-US" sz="1150" dirty="0"/>
          </a:p>
        </p:txBody>
      </p:sp>
      <p:sp>
        <p:nvSpPr>
          <p:cNvPr id="19" name="Text 16"/>
          <p:cNvSpPr txBox="1"/>
          <p:nvPr/>
        </p:nvSpPr>
        <p:spPr>
          <a:xfrm>
            <a:off x="457200" y="6053328"/>
            <a:ext cx="2194560" cy="256032"/>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FIND IN THE MODEL:</a:t>
            </a:r>
            <a:endParaRPr lang="en-US" sz="950" dirty="0"/>
          </a:p>
        </p:txBody>
      </p:sp>
      <p:sp>
        <p:nvSpPr>
          <p:cNvPr id="20" name="Shape 17"/>
          <p:cNvSpPr/>
          <p:nvPr/>
        </p:nvSpPr>
        <p:spPr>
          <a:xfrm>
            <a:off x="2697480" y="6035040"/>
            <a:ext cx="2148840" cy="274320"/>
          </a:xfrm>
          <a:prstGeom prst="roundRect">
            <a:avLst>
              <a:gd name="adj" fmla="val 50000"/>
            </a:avLst>
          </a:prstGeom>
          <a:solidFill>
            <a:srgbClr val="1D5FBF"/>
          </a:solidFill>
          <a:ln w="12700">
            <a:solidFill>
              <a:srgbClr val="1D5FBF"/>
            </a:solidFill>
            <a:prstDash val="solid"/>
          </a:ln>
        </p:spPr>
      </p:sp>
      <p:sp>
        <p:nvSpPr>
          <p:cNvPr id="21" name="Text 18"/>
          <p:cNvSpPr txBox="1"/>
          <p:nvPr/>
        </p:nvSpPr>
        <p:spPr>
          <a:xfrm>
            <a:off x="2697480" y="6035040"/>
            <a:ext cx="2148840" cy="274320"/>
          </a:xfrm>
          <a:prstGeom prst="rect">
            <a:avLst/>
          </a:prstGeom>
          <a:noFill/>
          <a:ln/>
        </p:spPr>
        <p:txBody>
          <a:bodyPr wrap="square" lIns="0" tIns="0" rIns="0" bIns="0" rtlCol="0" anchor="ctr"/>
          <a:lstStyle/>
          <a:p>
            <a:pPr algn="ctr" indent="0" marL="0">
              <a:buNone/>
            </a:pPr>
            <a:r>
              <a:rPr lang="ar-SA" sz="950" b="1" dirty="0">
                <a:solidFill>
                  <a:srgbClr val="FFFFFF"/>
                </a:solidFill>
                <a:latin typeface="Amiri" pitchFamily="2" charset="-78"/>
                <a:ea typeface="Amiri" pitchFamily="2" charset="-78"/>
                <a:cs typeface="Amiri" pitchFamily="2" charset="-78"/>
              </a:rPr>
              <a:t>وَعَيْنَاهَا عَسَلِيَّتَانِ</a:t>
            </a:r>
            <a:endParaRPr lang="en-US" sz="950" dirty="0"/>
          </a:p>
        </p:txBody>
      </p:sp>
      <p:sp>
        <p:nvSpPr>
          <p:cNvPr id="22" name="Shape 19"/>
          <p:cNvSpPr/>
          <p:nvPr/>
        </p:nvSpPr>
        <p:spPr>
          <a:xfrm>
            <a:off x="4983480" y="6035040"/>
            <a:ext cx="2148840" cy="274320"/>
          </a:xfrm>
          <a:prstGeom prst="roundRect">
            <a:avLst>
              <a:gd name="adj" fmla="val 50000"/>
            </a:avLst>
          </a:prstGeom>
          <a:solidFill>
            <a:srgbClr val="1B3B6F"/>
          </a:solidFill>
          <a:ln w="12700">
            <a:solidFill>
              <a:srgbClr val="1B3B6F"/>
            </a:solidFill>
            <a:prstDash val="solid"/>
          </a:ln>
        </p:spPr>
      </p:sp>
      <p:sp>
        <p:nvSpPr>
          <p:cNvPr id="23" name="Text 20"/>
          <p:cNvSpPr txBox="1"/>
          <p:nvPr/>
        </p:nvSpPr>
        <p:spPr>
          <a:xfrm>
            <a:off x="4983480" y="6035040"/>
            <a:ext cx="2148840" cy="274320"/>
          </a:xfrm>
          <a:prstGeom prst="rect">
            <a:avLst/>
          </a:prstGeom>
          <a:noFill/>
          <a:ln/>
        </p:spPr>
        <p:txBody>
          <a:bodyPr wrap="square" lIns="0" tIns="0" rIns="0" bIns="0" rtlCol="0" anchor="ctr"/>
          <a:lstStyle/>
          <a:p>
            <a:pPr algn="ctr" indent="0" marL="0">
              <a:buNone/>
            </a:pPr>
            <a:r>
              <a:rPr lang="ar-SA" sz="950" b="1" dirty="0">
                <a:solidFill>
                  <a:srgbClr val="FFFFFF"/>
                </a:solidFill>
                <a:latin typeface="Amiri" pitchFamily="2" charset="-78"/>
                <a:ea typeface="Amiri" pitchFamily="2" charset="-78"/>
                <a:cs typeface="Amiri" pitchFamily="2" charset="-78"/>
              </a:rPr>
              <a:t>وَلَيْسَتْ عَصَبِيَّةً</a:t>
            </a:r>
            <a:endParaRPr lang="en-US" sz="950" dirty="0"/>
          </a:p>
        </p:txBody>
      </p:sp>
      <p:sp>
        <p:nvSpPr>
          <p:cNvPr id="24" name="Shape 21"/>
          <p:cNvSpPr/>
          <p:nvPr/>
        </p:nvSpPr>
        <p:spPr>
          <a:xfrm>
            <a:off x="7269480" y="6035040"/>
            <a:ext cx="2148840" cy="274320"/>
          </a:xfrm>
          <a:prstGeom prst="roundRect">
            <a:avLst>
              <a:gd name="adj" fmla="val 50000"/>
            </a:avLst>
          </a:prstGeom>
          <a:solidFill>
            <a:srgbClr val="C77700"/>
          </a:solidFill>
          <a:ln w="12700">
            <a:solidFill>
              <a:srgbClr val="C77700"/>
            </a:solidFill>
            <a:prstDash val="solid"/>
          </a:ln>
        </p:spPr>
      </p:sp>
      <p:sp>
        <p:nvSpPr>
          <p:cNvPr id="25" name="Text 22"/>
          <p:cNvSpPr txBox="1"/>
          <p:nvPr/>
        </p:nvSpPr>
        <p:spPr>
          <a:xfrm>
            <a:off x="7269480" y="6035040"/>
            <a:ext cx="2148840" cy="274320"/>
          </a:xfrm>
          <a:prstGeom prst="rect">
            <a:avLst/>
          </a:prstGeom>
          <a:noFill/>
          <a:ln/>
        </p:spPr>
        <p:txBody>
          <a:bodyPr wrap="square" lIns="0" tIns="0" rIns="0" bIns="0" rtlCol="0" anchor="ctr"/>
          <a:lstStyle/>
          <a:p>
            <a:pPr algn="ctr" indent="0" marL="0">
              <a:buNone/>
            </a:pPr>
            <a:r>
              <a:rPr lang="ar-SA" sz="950" b="1" dirty="0">
                <a:solidFill>
                  <a:srgbClr val="FFFFFF"/>
                </a:solidFill>
                <a:latin typeface="Amiri" pitchFamily="2" charset="-78"/>
                <a:ea typeface="Amiri" pitchFamily="2" charset="-78"/>
                <a:cs typeface="Amiri" pitchFamily="2" charset="-78"/>
              </a:rPr>
              <a:t>وَأَثِقُ بِهَا</a:t>
            </a:r>
            <a:endParaRPr lang="en-US" sz="950" dirty="0"/>
          </a:p>
        </p:txBody>
      </p:sp>
      <p:sp>
        <p:nvSpPr>
          <p:cNvPr id="26" name="Shape 23"/>
          <p:cNvSpPr/>
          <p:nvPr/>
        </p:nvSpPr>
        <p:spPr>
          <a:xfrm>
            <a:off x="9555480" y="6035040"/>
            <a:ext cx="2148840" cy="274320"/>
          </a:xfrm>
          <a:prstGeom prst="roundRect">
            <a:avLst>
              <a:gd name="adj" fmla="val 50000"/>
            </a:avLst>
          </a:prstGeom>
          <a:solidFill>
            <a:srgbClr val="7B3FA0"/>
          </a:solidFill>
          <a:ln w="12700">
            <a:solidFill>
              <a:srgbClr val="7B3FA0"/>
            </a:solidFill>
            <a:prstDash val="solid"/>
          </a:ln>
        </p:spPr>
      </p:sp>
      <p:sp>
        <p:nvSpPr>
          <p:cNvPr id="27" name="Text 24"/>
          <p:cNvSpPr txBox="1"/>
          <p:nvPr/>
        </p:nvSpPr>
        <p:spPr>
          <a:xfrm>
            <a:off x="9555480" y="6035040"/>
            <a:ext cx="2148840" cy="274320"/>
          </a:xfrm>
          <a:prstGeom prst="rect">
            <a:avLst/>
          </a:prstGeom>
          <a:noFill/>
          <a:ln/>
        </p:spPr>
        <p:txBody>
          <a:bodyPr wrap="square" lIns="0" tIns="0" rIns="0" bIns="0" rtlCol="0" anchor="ctr"/>
          <a:lstStyle/>
          <a:p>
            <a:pPr algn="ctr" indent="0" marL="0">
              <a:buNone/>
            </a:pPr>
            <a:r>
              <a:rPr lang="ar-SA" sz="950" b="1" dirty="0">
                <a:solidFill>
                  <a:srgbClr val="FFFFFF"/>
                </a:solidFill>
                <a:latin typeface="Amiri" pitchFamily="2" charset="-78"/>
                <a:ea typeface="Amiri" pitchFamily="2" charset="-78"/>
                <a:cs typeface="Amiri" pitchFamily="2" charset="-78"/>
              </a:rPr>
              <a:t>عَلَى الرَّغْمِ مِنْ أَنَّ أُسْلُوبَهَا</a:t>
            </a:r>
            <a:endParaRPr lang="en-US" sz="950" dirty="0"/>
          </a:p>
        </p:txBody>
      </p:sp>
      <p:sp>
        <p:nvSpPr>
          <p:cNvPr id="28" name="Text 2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20 / 22</a:t>
            </a:r>
            <a:endParaRPr lang="en-US" sz="85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D2-L12 · Speaking + writing practice room</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FEEDBACK · SUCCESS CRITERIA</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Check your work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قَيِّمْ عَمَلَكَ</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D2 · People, Relationships and Style · D2-L12 · practice room</a:t>
            </a:r>
            <a:endParaRPr lang="en-US" sz="850" dirty="0"/>
          </a:p>
        </p:txBody>
      </p:sp>
      <p:sp>
        <p:nvSpPr>
          <p:cNvPr id="15" name="Shape 12"/>
          <p:cNvSpPr/>
          <p:nvPr/>
        </p:nvSpPr>
        <p:spPr>
          <a:xfrm>
            <a:off x="457200" y="181051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85800" y="2086661"/>
            <a:ext cx="219456" cy="219456"/>
          </a:xfrm>
          <a:prstGeom prst="rect">
            <a:avLst/>
          </a:prstGeom>
          <a:solidFill>
            <a:srgbClr val="FFFFFF"/>
          </a:solidFill>
          <a:ln w="19050">
            <a:solidFill>
              <a:srgbClr val="2E8B57"/>
            </a:solidFill>
            <a:prstDash val="solid"/>
          </a:ln>
        </p:spPr>
      </p:sp>
      <p:sp>
        <p:nvSpPr>
          <p:cNvPr id="17" name="Text 14"/>
          <p:cNvSpPr txBox="1"/>
          <p:nvPr/>
        </p:nvSpPr>
        <p:spPr>
          <a:xfrm>
            <a:off x="1097280" y="181051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I answered the questions and the role-play tasks in full sentences.</a:t>
            </a:r>
            <a:endParaRPr lang="en-US" sz="1300" dirty="0"/>
          </a:p>
        </p:txBody>
      </p:sp>
      <p:sp>
        <p:nvSpPr>
          <p:cNvPr id="18" name="Shape 15"/>
          <p:cNvSpPr/>
          <p:nvPr/>
        </p:nvSpPr>
        <p:spPr>
          <a:xfrm>
            <a:off x="6583680" y="2068373"/>
            <a:ext cx="109728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6583680" y="2068373"/>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0" name="Shape 17"/>
          <p:cNvSpPr/>
          <p:nvPr/>
        </p:nvSpPr>
        <p:spPr>
          <a:xfrm>
            <a:off x="457200" y="271028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685800" y="2986430"/>
            <a:ext cx="219456" cy="219456"/>
          </a:xfrm>
          <a:prstGeom prst="rect">
            <a:avLst/>
          </a:prstGeom>
          <a:solidFill>
            <a:srgbClr val="FFFFFF"/>
          </a:solidFill>
          <a:ln w="19050">
            <a:solidFill>
              <a:srgbClr val="2E8B57"/>
            </a:solidFill>
            <a:prstDash val="solid"/>
          </a:ln>
        </p:spPr>
      </p:sp>
      <p:sp>
        <p:nvSpPr>
          <p:cNvPr id="22" name="Text 19"/>
          <p:cNvSpPr txBox="1"/>
          <p:nvPr/>
        </p:nvSpPr>
        <p:spPr>
          <a:xfrm>
            <a:off x="1097280" y="271028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I wrote a sentence for every bullet point.</a:t>
            </a:r>
            <a:endParaRPr lang="en-US" sz="1300" dirty="0"/>
          </a:p>
        </p:txBody>
      </p:sp>
      <p:sp>
        <p:nvSpPr>
          <p:cNvPr id="23" name="Shape 20"/>
          <p:cNvSpPr/>
          <p:nvPr/>
        </p:nvSpPr>
        <p:spPr>
          <a:xfrm>
            <a:off x="6583680" y="2968142"/>
            <a:ext cx="1097280" cy="256032"/>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6583680" y="296814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5" name="Shape 22"/>
          <p:cNvSpPr/>
          <p:nvPr/>
        </p:nvSpPr>
        <p:spPr>
          <a:xfrm>
            <a:off x="457200" y="361005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685800" y="3886200"/>
            <a:ext cx="219456" cy="219456"/>
          </a:xfrm>
          <a:prstGeom prst="rect">
            <a:avLst/>
          </a:prstGeom>
          <a:solidFill>
            <a:srgbClr val="FFFFFF"/>
          </a:solidFill>
          <a:ln w="19050">
            <a:solidFill>
              <a:srgbClr val="C9780A"/>
            </a:solidFill>
            <a:prstDash val="solid"/>
          </a:ln>
        </p:spPr>
      </p:sp>
      <p:sp>
        <p:nvSpPr>
          <p:cNvPr id="27" name="Text 24"/>
          <p:cNvSpPr txBox="1"/>
          <p:nvPr/>
        </p:nvSpPr>
        <p:spPr>
          <a:xfrm>
            <a:off x="1097280" y="361005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I used today’s key structure when I spoke AND when I wrote.</a:t>
            </a:r>
            <a:endParaRPr lang="en-US" sz="1300" dirty="0"/>
          </a:p>
        </p:txBody>
      </p:sp>
      <p:sp>
        <p:nvSpPr>
          <p:cNvPr id="28" name="Shape 25"/>
          <p:cNvSpPr/>
          <p:nvPr/>
        </p:nvSpPr>
        <p:spPr>
          <a:xfrm>
            <a:off x="6583680" y="3867912"/>
            <a:ext cx="1097280" cy="256032"/>
          </a:xfrm>
          <a:prstGeom prst="roundRect">
            <a:avLst>
              <a:gd name="adj" fmla="val 50000"/>
            </a:avLst>
          </a:prstGeom>
          <a:solidFill>
            <a:srgbClr val="C9780A"/>
          </a:solidFill>
          <a:ln w="12700">
            <a:solidFill>
              <a:srgbClr val="C9780A"/>
            </a:solidFill>
            <a:prstDash val="solid"/>
          </a:ln>
        </p:spPr>
      </p:sp>
      <p:sp>
        <p:nvSpPr>
          <p:cNvPr id="29" name="Text 26"/>
          <p:cNvSpPr txBox="1"/>
          <p:nvPr/>
        </p:nvSpPr>
        <p:spPr>
          <a:xfrm>
            <a:off x="6583680" y="386791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30" name="Shape 27"/>
          <p:cNvSpPr/>
          <p:nvPr/>
        </p:nvSpPr>
        <p:spPr>
          <a:xfrm>
            <a:off x="457200" y="450982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85800" y="4785970"/>
            <a:ext cx="219456" cy="219456"/>
          </a:xfrm>
          <a:prstGeom prst="rect">
            <a:avLst/>
          </a:prstGeom>
          <a:solidFill>
            <a:srgbClr val="FFFFFF"/>
          </a:solidFill>
          <a:ln w="19050">
            <a:solidFill>
              <a:srgbClr val="C9780A"/>
            </a:solidFill>
            <a:prstDash val="solid"/>
          </a:ln>
        </p:spPr>
      </p:sp>
      <p:sp>
        <p:nvSpPr>
          <p:cNvPr id="32" name="Text 29"/>
          <p:cNvSpPr txBox="1"/>
          <p:nvPr/>
        </p:nvSpPr>
        <p:spPr>
          <a:xfrm>
            <a:off x="1097280" y="450982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My buddy checked my text and I fixed one mistake.</a:t>
            </a:r>
            <a:endParaRPr lang="en-US" sz="1300" dirty="0"/>
          </a:p>
        </p:txBody>
      </p:sp>
      <p:sp>
        <p:nvSpPr>
          <p:cNvPr id="33" name="Shape 30"/>
          <p:cNvSpPr/>
          <p:nvPr/>
        </p:nvSpPr>
        <p:spPr>
          <a:xfrm>
            <a:off x="6583680" y="4767682"/>
            <a:ext cx="1097280" cy="256032"/>
          </a:xfrm>
          <a:prstGeom prst="roundRect">
            <a:avLst>
              <a:gd name="adj" fmla="val 50000"/>
            </a:avLst>
          </a:prstGeom>
          <a:solidFill>
            <a:srgbClr val="C9780A"/>
          </a:solidFill>
          <a:ln w="12700">
            <a:solidFill>
              <a:srgbClr val="C9780A"/>
            </a:solidFill>
            <a:prstDash val="solid"/>
          </a:ln>
        </p:spPr>
      </p:sp>
      <p:sp>
        <p:nvSpPr>
          <p:cNvPr id="34" name="Text 31"/>
          <p:cNvSpPr txBox="1"/>
          <p:nvPr/>
        </p:nvSpPr>
        <p:spPr>
          <a:xfrm>
            <a:off x="6583680" y="476768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35" name="Shape 32"/>
          <p:cNvSpPr/>
          <p:nvPr/>
        </p:nvSpPr>
        <p:spPr>
          <a:xfrm>
            <a:off x="457200" y="5409590"/>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6" name="Shape 33"/>
          <p:cNvSpPr/>
          <p:nvPr/>
        </p:nvSpPr>
        <p:spPr>
          <a:xfrm>
            <a:off x="685800" y="5685739"/>
            <a:ext cx="219456" cy="219456"/>
          </a:xfrm>
          <a:prstGeom prst="rect">
            <a:avLst/>
          </a:prstGeom>
          <a:solidFill>
            <a:srgbClr val="FFFFFF"/>
          </a:solidFill>
          <a:ln w="19050">
            <a:solidFill>
              <a:srgbClr val="B83227"/>
            </a:solidFill>
            <a:prstDash val="solid"/>
          </a:ln>
        </p:spPr>
      </p:sp>
      <p:sp>
        <p:nvSpPr>
          <p:cNvPr id="37" name="Text 34"/>
          <p:cNvSpPr txBox="1"/>
          <p:nvPr/>
        </p:nvSpPr>
        <p:spPr>
          <a:xfrm>
            <a:off x="1097280" y="5409590"/>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I used more than one tense and gave opinions with reasons.</a:t>
            </a:r>
            <a:endParaRPr lang="en-US" sz="1300" dirty="0"/>
          </a:p>
        </p:txBody>
      </p:sp>
      <p:sp>
        <p:nvSpPr>
          <p:cNvPr id="38" name="Shape 35"/>
          <p:cNvSpPr/>
          <p:nvPr/>
        </p:nvSpPr>
        <p:spPr>
          <a:xfrm>
            <a:off x="6583680" y="5667451"/>
            <a:ext cx="1097280" cy="256032"/>
          </a:xfrm>
          <a:prstGeom prst="roundRect">
            <a:avLst>
              <a:gd name="adj" fmla="val 50000"/>
            </a:avLst>
          </a:prstGeom>
          <a:solidFill>
            <a:srgbClr val="B83227"/>
          </a:solidFill>
          <a:ln w="12700">
            <a:solidFill>
              <a:srgbClr val="B83227"/>
            </a:solidFill>
            <a:prstDash val="solid"/>
          </a:ln>
        </p:spPr>
      </p:sp>
      <p:sp>
        <p:nvSpPr>
          <p:cNvPr id="39" name="Text 36"/>
          <p:cNvSpPr txBox="1"/>
          <p:nvPr/>
        </p:nvSpPr>
        <p:spPr>
          <a:xfrm>
            <a:off x="6583680" y="5667451"/>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STRETCH</a:t>
            </a:r>
            <a:endParaRPr lang="en-US" sz="800" dirty="0"/>
          </a:p>
        </p:txBody>
      </p:sp>
      <p:sp>
        <p:nvSpPr>
          <p:cNvPr id="40" name="Shape 37"/>
          <p:cNvSpPr/>
          <p:nvPr/>
        </p:nvSpPr>
        <p:spPr>
          <a:xfrm>
            <a:off x="8092440" y="1810512"/>
            <a:ext cx="3639312" cy="2084832"/>
          </a:xfrm>
          <a:prstGeom prst="roundRect">
            <a:avLst>
              <a:gd name="adj" fmla="val 3509"/>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41" name="Text 38"/>
          <p:cNvSpPr txBox="1"/>
          <p:nvPr/>
        </p:nvSpPr>
        <p:spPr>
          <a:xfrm>
            <a:off x="8275320" y="1920240"/>
            <a:ext cx="3273552" cy="1828800"/>
          </a:xfrm>
          <a:prstGeom prst="rect">
            <a:avLst/>
          </a:prstGeom>
          <a:noFill/>
          <a:ln/>
        </p:spPr>
        <p:txBody>
          <a:bodyPr wrap="square" lIns="0" tIns="0" rIns="0" bIns="0" rtlCol="0" anchor="ctr"/>
          <a:lstStyle/>
          <a:p>
            <a:pPr indent="0" marL="0">
              <a:buNone/>
            </a:pPr>
            <a:r>
              <a:rPr lang="en-US" sz="1800" b="1" dirty="0">
                <a:solidFill>
                  <a:srgbClr val="2E8B57"/>
                </a:solidFill>
                <a:latin typeface="Calibri" pitchFamily="34" charset="0"/>
                <a:cs typeface="Amiri" pitchFamily="2" charset="-78"/>
              </a:rPr>
              <a:t>WWW</a:t>
            </a:r>
            <a:endParaRPr lang="en-US" sz="1800" dirty="0"/>
          </a:p>
          <a:p>
            <a:pPr indent="0" marL="0">
              <a:buNone/>
            </a:pPr>
            <a:r>
              <a:rPr lang="en-US" sz="1200" dirty="0">
                <a:solidFill>
                  <a:srgbClr val="1F2A37"/>
                </a:solidFill>
                <a:latin typeface="Calibri" pitchFamily="34" charset="0"/>
                <a:cs typeface="Amiri" pitchFamily="2" charset="-78"/>
              </a:rPr>
              <a:t>What went well? One thing you did accurately.</a:t>
            </a:r>
            <a:endParaRPr lang="en-US" sz="1800" dirty="0"/>
          </a:p>
        </p:txBody>
      </p:sp>
      <p:sp>
        <p:nvSpPr>
          <p:cNvPr id="42" name="Shape 39"/>
          <p:cNvSpPr/>
          <p:nvPr/>
        </p:nvSpPr>
        <p:spPr>
          <a:xfrm>
            <a:off x="8092440" y="4041648"/>
            <a:ext cx="3639312" cy="2084832"/>
          </a:xfrm>
          <a:prstGeom prst="roundRect">
            <a:avLst>
              <a:gd name="adj" fmla="val 3509"/>
            </a:avLst>
          </a:prstGeom>
          <a:solidFill>
            <a:srgbClr val="FFF4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43" name="Text 40"/>
          <p:cNvSpPr txBox="1"/>
          <p:nvPr/>
        </p:nvSpPr>
        <p:spPr>
          <a:xfrm>
            <a:off x="8275320" y="4151376"/>
            <a:ext cx="3273552" cy="1828800"/>
          </a:xfrm>
          <a:prstGeom prst="rect">
            <a:avLst/>
          </a:prstGeom>
          <a:noFill/>
          <a:ln/>
        </p:spPr>
        <p:txBody>
          <a:bodyPr wrap="square" lIns="0" tIns="0" rIns="0" bIns="0" rtlCol="0" anchor="ctr"/>
          <a:lstStyle/>
          <a:p>
            <a:pPr indent="0" marL="0">
              <a:buNone/>
            </a:pPr>
            <a:r>
              <a:rPr lang="en-US" sz="1800" b="1" dirty="0">
                <a:solidFill>
                  <a:srgbClr val="C9780A"/>
                </a:solidFill>
                <a:latin typeface="Calibri" pitchFamily="34" charset="0"/>
                <a:cs typeface="Amiri" pitchFamily="2" charset="-78"/>
              </a:rPr>
              <a:t>EBI</a:t>
            </a:r>
            <a:endParaRPr lang="en-US" sz="1800" dirty="0"/>
          </a:p>
          <a:p>
            <a:pPr indent="0" marL="0">
              <a:buNone/>
            </a:pPr>
            <a:r>
              <a:rPr lang="en-US" sz="1200" dirty="0">
                <a:solidFill>
                  <a:srgbClr val="1F2A37"/>
                </a:solidFill>
                <a:latin typeface="Calibri" pitchFamily="34" charset="0"/>
                <a:cs typeface="Amiri" pitchFamily="2" charset="-78"/>
              </a:rPr>
              <a:t>Even better if… One thing you will fix or add.</a:t>
            </a:r>
            <a:endParaRPr lang="en-US" sz="1800" dirty="0"/>
          </a:p>
        </p:txBody>
      </p:sp>
      <p:sp>
        <p:nvSpPr>
          <p:cNvPr id="44"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21 / 22</a:t>
            </a:r>
            <a:endParaRPr lang="en-US" sz="85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097280"/>
            <a:ext cx="5852160" cy="5852160"/>
          </a:xfrm>
          <a:prstGeom prst="ellipse">
            <a:avLst/>
          </a:prstGeom>
          <a:solidFill>
            <a:srgbClr val="14315C"/>
          </a:solidFill>
          <a:ln w="12700">
            <a:solidFill>
              <a:srgbClr val="14315C"/>
            </a:solidFill>
            <a:prstDash val="solid"/>
          </a:ln>
        </p:spPr>
      </p:sp>
      <p:sp>
        <p:nvSpPr>
          <p:cNvPr id="3" name="Shape 1"/>
          <p:cNvSpPr/>
          <p:nvPr/>
        </p:nvSpPr>
        <p:spPr>
          <a:xfrm>
            <a:off x="9372600" y="2606040"/>
            <a:ext cx="1737360" cy="1737360"/>
          </a:xfrm>
          <a:prstGeom prst="ellipse">
            <a:avLst/>
          </a:prstGeom>
          <a:solidFill>
            <a:srgbClr val="D4AF37"/>
          </a:solidFill>
          <a:ln w="12700">
            <a:solidFill>
              <a:srgbClr val="D4AF37"/>
            </a:solidFill>
            <a:prstDash val="solid"/>
          </a:ln>
        </p:spPr>
      </p:sp>
      <p:pic>
        <p:nvPicPr>
          <p:cNvPr id="4" name="Image 0" descr="preencoded.png">    </p:cNvPr>
          <p:cNvPicPr>
            <a:picLocks noChangeAspect="1"/>
          </p:cNvPicPr>
          <p:nvPr/>
        </p:nvPicPr>
        <p:blipFill>
          <a:blip r:embed="rId1"/>
          <a:stretch>
            <a:fillRect/>
          </a:stretch>
        </p:blipFill>
        <p:spPr>
          <a:xfrm>
            <a:off x="9710928" y="2944368"/>
            <a:ext cx="1060704" cy="1060704"/>
          </a:xfrm>
          <a:prstGeom prst="rect">
            <a:avLst/>
          </a:prstGeom>
        </p:spPr>
      </p:pic>
      <p:sp>
        <p:nvSpPr>
          <p:cNvPr id="5" name="Text 2"/>
          <p:cNvSpPr txBox="1"/>
          <p:nvPr/>
        </p:nvSpPr>
        <p:spPr>
          <a:xfrm>
            <a:off x="457200" y="1280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cs typeface="Amiri" pitchFamily="2" charset="-78"/>
              </a:rPr>
              <a:t>D2-L12 COMPLETE</a:t>
            </a:r>
            <a:endParaRPr lang="en-US" sz="1100" dirty="0"/>
          </a:p>
        </p:txBody>
      </p:sp>
      <p:sp>
        <p:nvSpPr>
          <p:cNvPr id="6" name="Text 3"/>
          <p:cNvSpPr txBox="1"/>
          <p:nvPr/>
        </p:nvSpPr>
        <p:spPr>
          <a:xfrm>
            <a:off x="457200" y="1691640"/>
            <a:ext cx="7315200" cy="914400"/>
          </a:xfrm>
          <a:prstGeom prst="rect">
            <a:avLst/>
          </a:prstGeom>
          <a:noFill/>
          <a:ln/>
        </p:spPr>
        <p:txBody>
          <a:bodyPr wrap="square" lIns="0" tIns="0" rIns="0" bIns="0" rtlCol="0" anchor="ctr"/>
          <a:lstStyle/>
          <a:p>
            <a:pPr rtl="1" algn="l" indent="0" marL="0">
              <a:buNone/>
            </a:pPr>
            <a:r>
              <a:rPr lang="ar-SA" altLang="en-US" sz="4000" b="1" dirty="0">
                <a:solidFill>
                  <a:srgbClr val="FFFFFF"/>
                </a:solidFill>
                <a:latin typeface="Amiri" pitchFamily="2" charset="-78"/>
                <a:ea typeface="Amiri" pitchFamily="2" charset="-78"/>
                <a:cs typeface="Amiri" pitchFamily="2" charset="-78"/>
              </a:rPr>
              <a:t>أَحْسَنْتُمْ! إِلَى اللِّقَاءِ</a:t>
            </a:r>
            <a:endParaRPr lang="ar-SA" sz="4000" dirty="0"/>
          </a:p>
        </p:txBody>
      </p:sp>
      <p:sp>
        <p:nvSpPr>
          <p:cNvPr id="7" name="Text 4"/>
          <p:cNvSpPr txBox="1"/>
          <p:nvPr/>
        </p:nvSpPr>
        <p:spPr>
          <a:xfrm>
            <a:off x="457200" y="2606040"/>
            <a:ext cx="7315200" cy="411480"/>
          </a:xfrm>
          <a:prstGeom prst="rect">
            <a:avLst/>
          </a:prstGeom>
          <a:noFill/>
          <a:ln/>
        </p:spPr>
        <p:txBody>
          <a:bodyPr wrap="square" lIns="0" tIns="0" rIns="0" bIns="0" rtlCol="0" anchor="ctr"/>
          <a:lstStyle/>
          <a:p>
            <a:pPr algn="l" indent="0" marL="0">
              <a:buNone/>
            </a:pPr>
            <a:r>
              <a:rPr lang="en-US" sz="1600" i="1" dirty="0">
                <a:solidFill>
                  <a:srgbClr val="C6D2E6"/>
                </a:solidFill>
                <a:latin typeface="Calibri" pitchFamily="34" charset="0"/>
                <a:cs typeface="Amiri" pitchFamily="2" charset="-78"/>
              </a:rPr>
              <a:t>Well done — you practised it yourselves!</a:t>
            </a:r>
            <a:endParaRPr lang="en-US" sz="1600" dirty="0"/>
          </a:p>
        </p:txBody>
      </p:sp>
      <p:sp>
        <p:nvSpPr>
          <p:cNvPr id="8" name="Text 5"/>
          <p:cNvSpPr txBox="1"/>
          <p:nvPr/>
        </p:nvSpPr>
        <p:spPr>
          <a:xfrm>
            <a:off x="457200" y="3566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cs typeface="Amiri" pitchFamily="2" charset="-78"/>
              </a:rPr>
              <a:t>NEXT</a:t>
            </a:r>
            <a:endParaRPr lang="en-US" sz="1100" dirty="0"/>
          </a:p>
        </p:txBody>
      </p:sp>
      <p:sp>
        <p:nvSpPr>
          <p:cNvPr id="9" name="Text 6"/>
          <p:cNvSpPr txBox="1"/>
          <p:nvPr/>
        </p:nvSpPr>
        <p:spPr>
          <a:xfrm>
            <a:off x="457200" y="3886200"/>
            <a:ext cx="7315200" cy="548640"/>
          </a:xfrm>
          <a:prstGeom prst="rect">
            <a:avLst/>
          </a:prstGeom>
          <a:noFill/>
          <a:ln/>
        </p:spPr>
        <p:txBody>
          <a:bodyPr wrap="square" lIns="0" tIns="0" rIns="0" bIns="0" rtlCol="0" anchor="ctr"/>
          <a:lstStyle/>
          <a:p>
            <a:pPr algn="l" indent="0" marL="0">
              <a:buNone/>
            </a:pPr>
            <a:r>
              <a:rPr lang="en-US" sz="2300" b="1" dirty="0">
                <a:solidFill>
                  <a:srgbClr val="FFFFFF"/>
                </a:solidFill>
                <a:latin typeface="Cambria" pitchFamily="34" charset="0"/>
                <a:cs typeface="Amiri" pitchFamily="2" charset="-78"/>
              </a:rPr>
              <a:t>D2 review · Well done — the unit is complete</a:t>
            </a:r>
            <a:endParaRPr lang="en-US" sz="2300" dirty="0"/>
          </a:p>
        </p:txBody>
      </p:sp>
      <p:sp>
        <p:nvSpPr>
          <p:cNvPr id="10" name="Text 7"/>
          <p:cNvSpPr txBox="1"/>
          <p:nvPr/>
        </p:nvSpPr>
        <p:spPr>
          <a:xfrm>
            <a:off x="457200" y="4434840"/>
            <a:ext cx="7315200" cy="548640"/>
          </a:xfrm>
          <a:prstGeom prst="rect">
            <a:avLst/>
          </a:prstGeom>
          <a:noFill/>
          <a:ln/>
        </p:spPr>
        <p:txBody>
          <a:bodyPr wrap="square" lIns="0" tIns="0" rIns="0" bIns="0" rtlCol="0" anchor="ctr"/>
          <a:lstStyle/>
          <a:p>
            <a:pPr rtl="1" algn="l" indent="0" marL="0">
              <a:buNone/>
            </a:pPr>
            <a:r>
              <a:rPr lang="ar-SA" altLang="en-US" sz="2400" b="1" dirty="0">
                <a:solidFill>
                  <a:srgbClr val="D4AF37"/>
                </a:solidFill>
                <a:latin typeface="Amiri" pitchFamily="2" charset="-78"/>
                <a:ea typeface="Amiri" pitchFamily="2" charset="-78"/>
                <a:cs typeface="Amiri" pitchFamily="2" charset="-78"/>
              </a:rPr>
              <a:t>أَحْسَنْتُمْ</a:t>
            </a:r>
            <a:endParaRPr lang="ar-SA" sz="2400" dirty="0"/>
          </a:p>
        </p:txBody>
      </p:sp>
      <p:sp>
        <p:nvSpPr>
          <p:cNvPr id="11" name="Text 8"/>
          <p:cNvSpPr txBox="1"/>
          <p:nvPr/>
        </p:nvSpPr>
        <p:spPr>
          <a:xfrm>
            <a:off x="457200" y="5303520"/>
            <a:ext cx="7315200" cy="365760"/>
          </a:xfrm>
          <a:prstGeom prst="rect">
            <a:avLst/>
          </a:prstGeom>
          <a:noFill/>
          <a:ln/>
        </p:spPr>
        <p:txBody>
          <a:bodyPr wrap="square" lIns="0" tIns="0" rIns="0" bIns="0" rtlCol="0" anchor="ctr"/>
          <a:lstStyle/>
          <a:p>
            <a:pPr algn="l" indent="0" marL="0">
              <a:buNone/>
            </a:pPr>
            <a:r>
              <a:rPr lang="en-US" sz="1300" b="1" dirty="0">
                <a:solidFill>
                  <a:srgbClr val="FFFFFF"/>
                </a:solidFill>
                <a:latin typeface="Calibri" pitchFamily="34" charset="0"/>
                <a:cs typeface="Amiri" pitchFamily="2" charset="-78"/>
              </a:rPr>
              <a:t>Before you leave: write ONE target for D3 in your book, e.g. “I will check hair = masculine, eyes = dual.”</a:t>
            </a:r>
            <a:endParaRPr lang="en-US" sz="13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Amiri" pitchFamily="2" charset="-78"/>
        <a:cs typeface="Amiri" pitchFamily="2" charset="-78"/>
        <a:font script="Arab" typeface="Amiri"/>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Amiri" pitchFamily="2" charset="-78"/>
        <a:cs typeface="Amiri" pitchFamily="2" charset="-78"/>
        <a:font script="Arab" typeface="Amiri"/>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22</Slides>
  <Notes>22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22</vt:i4>
      </vt:variant>
    </vt:vector>
  </HeadingPairs>
  <TitlesOfParts>
    <vt:vector size="25"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vector>
  </TitlesOfParts>
  <Company>Al Madina Online School</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D2-L12 · Practice Room — Review and Unit Assessment</dc:title>
  <dc:subject>PptxGenJS Presentation</dc:subject>
  <dc:creator>Al Madina Online School · Arabic Department</dc:creator>
  <cp:lastModifiedBy>Al Madina Online School · Arabic Department</cp:lastModifiedBy>
  <cp:revision>1</cp:revision>
  <dcterms:created xsi:type="dcterms:W3CDTF">2026-10-25T18:11:52Z</dcterms:created>
  <dcterms:modified xsi:type="dcterms:W3CDTF">2026-10-25T18:11:52Z</dcterms:modified>
</cp:coreProperties>
</file>