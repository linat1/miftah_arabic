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D2-L07 (Listening — People, Personality and Style Descriptions) — new practice tasks built on the lesson’s own word bank and grammar (tracking reference in descriptions: huwa / hiya · -hu / -hā · alladhī / allatī; what changes after wa-lākinna and baynamā; fact vs opinion (fī raʾyī · yabdū) vs inference (evidence → li-dhālika); adjective endings as clues to WHO).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presenter to a girl: رَأْيِكِ. Separate the three: fact (stated) · opinion (fī raʾyī) · inference (your conclusion +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People, Personality and Style Descriptions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إِلَى الوَصْفِ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listening-and-speaking practice in pairs: one reads a short description of people aloud, the other tracks who is who, catches what changes after “but”, and separates fact, opinion and inference. Then they build, fix and write a description with traps for a partner to test.</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D2-L07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Linking and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8" name="Text 4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49" name="Text 4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50" name="Shape 4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53" name="Shape 5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56" name="Shape 5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8" name="Text 5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2" name="Shape 5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4" name="Text 6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65" name="Text 6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66" name="Shape 6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69" name="Shape 6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72" name="Shape 6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style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who?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هُوَ؟ مَنْ 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brother and a sister. The older one is tall and shy, whereas the little one is very cheerful.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أَخٌ وَأُخْتٌ. الكَبِيرُ طَوِيلٌ وَخَجُولٌ، بَيْنَمَا الصَّغِيرَةُ مَرِحَةٌ جِدًّا.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the brother is shy, because “al-kabīr” is masculine.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الأَخُ خَجُولٌ، لِأَنَّ «الكَبِيرُ» مُذَكَّرٌ.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Right! My sister wears colourful clothes, but at school she wears formal uniform.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صَحِيحٌ! أُخْتِي تَلْبَسُ مَلَابِسَ مُلَوَّنَةً، وَلٰكِنَّهَا فِي المَدْرَسَةِ تَلْبَسُ الزِّيَّ الرَّسْمِيَّ.</a:t>
            </a:r>
            <a:endParaRPr lang="ar-SA" sz="185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school: formal uniform. “But” changed the information.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المَدْرَسَةِ: الزِّيُّ الرَّسْمِيُّ. «وَلٰكِنَّ» غَيَّرَتِ المَعْلُومَةَ.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my brother always helps my grandfather in the garden.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وَأَخِي دَائِمًا يُسَاعِدُ جَدِّي فِي الحَدِيقَةِ.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 is evidence he is helpful — an inference, not a stated fact.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دَلِيلٌ عَلَى أَنَّهُ مُتَعَاوِنٌ — اسْتِنْتَاجٌ، لَا حَقِيقَةٌ مَكْتُوبَةٌ.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describes two real people; B tracks who is who after every sentence.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Catch it — the Leader reads, the Speaker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Clue: </a:t>
            </a:r>
            <a:pPr algn="l" indent="0" marL="0">
              <a:buNone/>
            </a:pPr>
            <a:r>
              <a:rPr lang="ar-SA" altLang="en-US" sz="1450" dirty="0">
                <a:solidFill>
                  <a:srgbClr val="5A6472"/>
                </a:solidFill>
                <a:latin typeface="Amiri" pitchFamily="2" charset="-78"/>
                <a:ea typeface="Amiri" pitchFamily="2" charset="-78"/>
                <a:cs typeface="Amiri" pitchFamily="2" charset="-78"/>
              </a:rPr>
              <a:t>هُوَ أَطْوَلُ</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الأَخُ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and her brother: she is short, he is much taller.” — Who is tall?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سَارَةُ وَأَخُوهَا: هِيَ قَصِيرَةٌ، وَهُوَ أَطْوَلُ مِنْهَا بِكَثِيرٍ. — مَنِ الطَّوِيلُ؟</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 </a:t>
            </a:r>
            <a:pPr algn="l" indent="0" marL="0">
              <a:buNone/>
            </a:pPr>
            <a:r>
              <a:rPr lang="ar-SA" altLang="en-US" sz="1450" dirty="0">
                <a:solidFill>
                  <a:srgbClr val="5A6472"/>
                </a:solidFill>
                <a:latin typeface="Amiri" pitchFamily="2" charset="-78"/>
                <a:ea typeface="Amiri" pitchFamily="2" charset="-78"/>
                <a:cs typeface="Amiri" pitchFamily="2" charset="-78"/>
              </a:rPr>
              <a:t>وَلٰكِنَّ</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friend is usually patient, but irritable in matches.” — When is he irritable?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صَدِيقِي صَبُورٌ عَادَةً، وَلٰكِنَّهُ عَصَبِيٌّ فِي المُبَارَيَاتِ. — مَتَى هُوَ عَصَبِيٌّ؟</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النَّظَّارَةُ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الصَّارِمَةُ</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المُعَلِّمَةُ الَّتِي لَا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 who wears glasses is strict; the other is friendly.” — Who is friendly?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المُعَلِّمَةُ الَّتِي تَرْتَدِي نَظَّارَةً صَارِمَةٌ، أَمَّا الأُخْرَى فَوَدُودَةٌ. — مَنِ الوَدُودَةُ؟</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Clue: </a:t>
            </a:r>
            <a:pPr algn="l" indent="0" marL="0">
              <a:buNone/>
            </a:pPr>
            <a:r>
              <a:rPr lang="ar-SA" altLang="en-US" sz="1450" dirty="0">
                <a:solidFill>
                  <a:srgbClr val="5A6472"/>
                </a:solidFill>
                <a:latin typeface="Amiri" pitchFamily="2" charset="-78"/>
                <a:ea typeface="Amiri" pitchFamily="2" charset="-78"/>
                <a:cs typeface="Amiri" pitchFamily="2" charset="-78"/>
              </a:rPr>
              <a:t>فِي رَأْيِي</a:t>
            </a:r>
            <a:pPr algn="l" indent="0" marL="0">
              <a:buNone/>
            </a:pPr>
            <a:r>
              <a:rPr lang="en-US" sz="1100" dirty="0">
                <a:solidFill>
                  <a:srgbClr val="5A6472"/>
                </a:solidFill>
                <a:latin typeface="Calibri" pitchFamily="34" charset="0"/>
                <a:cs typeface="Amiri" pitchFamily="2" charset="-78"/>
              </a:rPr>
              <a:t> = opinion</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الحَقِيقَةُ: الثَّمَنُ … الرَّأْيُ: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this dress is elegant; it costs £100.” — Fact? Opinion?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فِي رَأْيِي هٰذَا الفُسْتَانُ أَنِيقٌ، وَثَمَنُهُ مِئَةُ جُنَيْهٍ. — مَا الحَقِيقَةُ؟ مَا الرَّأْيُ؟</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الدَّلِيلُ: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مَرِحٌ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“Khalid always smiles and makes everyone laugh.” — What is he like?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يَبْتَسِمُ خَالِدٌ دَائِمًا وَيُضْحِكُ الجَمِيعَ. — كَيْفَ شَخْصِيَّتُهُ؟</a:t>
            </a:r>
            <a:endParaRPr lang="ar-SA" sz="15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the radio quiz “Guess the person”</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مُسَابَقَةُ: مَنْ هٰذَا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حَقَائِقُ ← هِيَ … وَشَعْرُهَا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Repeat two facts.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هٰذِهِ الشَّخْصِيَّةُ امْرَأَةٌ طَوِيلَةُ القَامَةِ، شَعْرُهَا قَصِيرٌ.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اسْتِنْتَاجٌ ← إِذَنْ هِيَ … لِأَنَّهَا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Infer a quality.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تَعْمَلُ مَعَ الأَطْفَالِ كُلَّ يَوْمٍ، وَلَا تَغْضَبُ أَبَدًا.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change.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كَانَتْ تَلْبَسُ أَبْيَضَ دَائِمًا، وَلٰكِنَّهَا الآنَ تَلْبَسُ أَزْرَقَ.</a:t>
            </a:r>
            <a:endParaRPr lang="ar-SA" sz="165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Guess + evidence.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هِيَ فِي رَأْيِكَ؟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contestant (listen, then guess) · Leader = the quiz presenter.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One minute: a description with traps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وَصْفٌ فِيهِ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tracks who is who</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two people (one male, one female) for one minute. Hide two traps. Your partner must say who is who and name the traps.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facts about each person; partner writes them under “he” / “she”.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 change and one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contrast.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opinion and one behaviour your partner must turn into an inference.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is patient, whereas my uncle is irritable.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عَمَّتِي صَبُورَةٌ،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عَمَّتِي صَبُورٌ،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عَمِّي عَصَبِيٌّ.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عَمِّي عَصَبِيَّةٌ.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usually calm, but he is nervous before exams.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هَادِئٌ عَادَةً،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هَادِئَةٌ عَادَةً،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قَلِقٌ قَبْلَ الامْتِحَانَاتِ.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قَلِقَةٌ قَبْلَ الامْتِحَانَاتِ.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shares her food, so she is generous.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تُشَارِكُ طَعَامَهَا،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يُشَارِكُ طَعَامَهُ،</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كَرِيمَةٌ.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كَرِيمٌ.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is patient, whereas my uncle is irritable.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Each adjective agrees with its own person.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عَمَّتِي صَبُورَةٌ، بَيْنَمَا عَمِّي عَصَبِيٌّ.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usually calm, but he is nervous before exams.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-hu and masculine adjectives throughout.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هَادِئٌ عَادَةً، وَلٰكِنَّهُ قَلِقٌ قَبْلَ الامْتِحَانَاتِ.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shares her food, so she is generous.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Evidence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 → inference.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تُشَارِكُ طَعَامَهَا، لِذٰلِكَ هِيَ كَرِيمَةٌ.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طَوِيلَةٌ وَأَخِي قَصِيرٌ.» ← مَنِ الطَّوِيلُ؟ الأَخُ.</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850" b="1" dirty="0">
                <a:solidFill>
                  <a:srgbClr val="B83227"/>
                </a:solidFill>
                <a:latin typeface="Amiri" pitchFamily="2" charset="-78"/>
                <a:ea typeface="Amiri" pitchFamily="2" charset="-78"/>
                <a:cs typeface="Amiri" pitchFamily="2" charset="-78"/>
              </a:rPr>
              <a:t>«هُوَ مَرِحٌ، وَلٰكِنَّهُ اليَوْمَ حَزِينٌ.» ← كَيْفَ هُوَ اليَوْمَ؟ مَرِحٌ.</a:t>
            </a:r>
            <a:endParaRPr lang="ar-SA" sz="285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Listen after </a:t>
            </a:r>
            <a:pPr algn="l" indent="0" marL="0">
              <a:buNone/>
            </a:pPr>
            <a:r>
              <a:rPr lang="ar-SA" altLang="en-US" sz="1700" dirty="0">
                <a:solidFill>
                  <a:srgbClr val="5A6472"/>
                </a:solidFill>
                <a:latin typeface="Amiri" pitchFamily="2" charset="-78"/>
                <a:ea typeface="Amiri" pitchFamily="2" charset="-78"/>
                <a:cs typeface="Amiri" pitchFamily="2" charset="-78"/>
              </a:rPr>
              <a:t>وَلٰكِنَّ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رَأْيِي هِيَ أَنِيقَةٌ.» ← هٰذِهِ حَقِيقَةٌ.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says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«أُخْتِي طَوِيلَةٌ وَأَخِي قَصِيرٌ.» ← مَنِ الطَّوِيلُ؟ الأَخُ.</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الطَّوِيلَةُ هِيَ الأُخْتُ.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طَوِيلَةٌ</a:t>
            </a:r>
            <a:pPr algn="l" indent="0" marL="0">
              <a:buNone/>
            </a:pPr>
            <a:r>
              <a:rPr lang="en-US" sz="1150" b="1" dirty="0">
                <a:solidFill>
                  <a:srgbClr val="1B3B6F"/>
                </a:solidFill>
                <a:latin typeface="Calibri" pitchFamily="34" charset="0"/>
                <a:cs typeface="Amiri" pitchFamily="2" charset="-78"/>
              </a:rPr>
              <a:t> (f.) belongs to </a:t>
            </a:r>
            <a:pPr algn="l" indent="0" marL="0">
              <a:buNone/>
            </a:pPr>
            <a:r>
              <a:rPr lang="ar-SA" altLang="en-US" sz="1500" b="1" dirty="0">
                <a:solidFill>
                  <a:srgbClr val="1B3B6F"/>
                </a:solidFill>
                <a:latin typeface="Amiri" pitchFamily="2" charset="-78"/>
                <a:ea typeface="Amiri" pitchFamily="2" charset="-78"/>
                <a:cs typeface="Amiri" pitchFamily="2" charset="-78"/>
              </a:rPr>
              <a:t>أُخْتِي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«هُوَ مَرِحٌ، وَلٰكِنَّهُ اليَوْمَ حَزِينٌ.» ← كَيْفَ هُوَ اليَوْمَ؟ مَرِحٌ.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حَزِينٌ اليَوْمَ.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part after </a:t>
            </a:r>
            <a:pPr algn="l" indent="0" marL="0">
              <a:buNone/>
            </a:pPr>
            <a:r>
              <a:rPr lang="ar-SA" altLang="en-US" sz="1500" b="1" dirty="0">
                <a:solidFill>
                  <a:srgbClr val="1B3B6F"/>
                </a:solidFill>
                <a:latin typeface="Amiri" pitchFamily="2" charset="-78"/>
                <a:ea typeface="Amiri" pitchFamily="2" charset="-78"/>
                <a:cs typeface="Amiri" pitchFamily="2" charset="-78"/>
              </a:rPr>
              <a:t>وَلٰكِنَّ</a:t>
            </a:r>
            <a:pPr algn="l" indent="0" marL="0">
              <a:buNone/>
            </a:pPr>
            <a:r>
              <a:rPr lang="en-US" sz="1150" b="1" dirty="0">
                <a:solidFill>
                  <a:srgbClr val="1B3B6F"/>
                </a:solidFill>
                <a:latin typeface="Calibri" pitchFamily="34" charset="0"/>
                <a:cs typeface="Amiri" pitchFamily="2" charset="-78"/>
              </a:rPr>
              <a:t> is the answer for “today”.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رَأْيِي هِيَ أَنِيقَةٌ.» ← هٰذِهِ حَقِيقَةٌ.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رَأْيٌ، لَيْسَ حَقِيقَةً.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فِي رَأْيِي</a:t>
            </a:r>
            <a:pPr algn="l" indent="0" marL="0">
              <a:buNone/>
            </a:pPr>
            <a:r>
              <a:rPr lang="en-US" sz="1150" b="1" dirty="0">
                <a:solidFill>
                  <a:srgbClr val="1B3B6F"/>
                </a:solidFill>
                <a:latin typeface="Calibri" pitchFamily="34" charset="0"/>
                <a:cs typeface="Amiri" pitchFamily="2" charset="-78"/>
              </a:rPr>
              <a:t> marks an opinion.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دَائِمًا يُسَاعِدُ / تُسَاعِدُ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always helps … (→ inference)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أَسْئِلَةٌ: ١) مَنْ …؟ ٢) كَيْفَ …؟ ٣) مَا الدَّلِيلُ عَلَى أَنَّ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Who …? 2) What … like? 3) What shows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______ القَامَةِ وَ ______ ، بَيْنَمَا هِيَ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 and …, whereas she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وَلٰكِنَّهُ / وَلٰكِنَّهَا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he / she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بَيْنَمَا  ·  وَلٰكِنَّ  ·  فِي رَأْيِي  ·  لِذٰلِكَ  ·  عَلَى الرَّغْمِ مِنْ أَنَّ  ·  الَّذِي · الَّتِي  ·  هُوَ · هِيَ  ·  دَلِيلٌ · اسْتِنْتَاجٌ</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 description with traps for my partner</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وَصْفٌ فِيهِ فِخَاخٌ لِزَمِيلِي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description (about 60–80 words) of two people — one male, one female — for a listening test. Include: • appearance and personality for each, with correct agreement • one change after </a:t>
            </a:r>
            <a:pPr algn="l" indent="0" marL="0">
              <a:buNone/>
            </a:pPr>
            <a:r>
              <a:rPr lang="ar-SA" altLang="en-US" sz="1450" b="1" dirty="0">
                <a:solidFill>
                  <a:srgbClr val="1F2A37"/>
                </a:solidFill>
                <a:latin typeface="Amiri" pitchFamily="2" charset="-78"/>
                <a:ea typeface="Amiri" pitchFamily="2" charset="-78"/>
                <a:cs typeface="Amiri" pitchFamily="2" charset="-78"/>
              </a:rPr>
              <a:t>وَلٰكِنَّ</a:t>
            </a:r>
            <a:pPr algn="l" indent="0" marL="0">
              <a:buNone/>
            </a:pPr>
            <a:r>
              <a:rPr lang="en-US" sz="1100" b="1" dirty="0">
                <a:solidFill>
                  <a:srgbClr val="1F2A37"/>
                </a:solidFill>
                <a:latin typeface="Calibri" pitchFamily="34" charset="0"/>
                <a:cs typeface="Amiri" pitchFamily="2" charset="-78"/>
              </a:rPr>
              <a:t> • one contrast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 one opinion (</a:t>
            </a:r>
            <a:pPr algn="l" indent="0" marL="0">
              <a:buNone/>
            </a:pPr>
            <a:r>
              <a:rPr lang="ar-SA" altLang="en-US" sz="1450" b="1" dirty="0">
                <a:solidFill>
                  <a:srgbClr val="1F2A37"/>
                </a:solidFill>
                <a:latin typeface="Amiri" pitchFamily="2" charset="-78"/>
                <a:ea typeface="Amiri" pitchFamily="2" charset="-78"/>
                <a:cs typeface="Amiri" pitchFamily="2" charset="-78"/>
              </a:rPr>
              <a:t>فِي رَأْيِي</a:t>
            </a:r>
            <a:pPr algn="l" indent="0" marL="0">
              <a:buNone/>
            </a:pPr>
            <a:r>
              <a:rPr lang="en-US" sz="1100" b="1" dirty="0">
                <a:solidFill>
                  <a:srgbClr val="1F2A37"/>
                </a:solidFill>
                <a:latin typeface="Calibri" pitchFamily="34" charset="0"/>
                <a:cs typeface="Amiri" pitchFamily="2" charset="-78"/>
              </a:rPr>
              <a:t>) • one behaviour that shows a quality (for an inference). Then write three questions. Read it aloud to your partner.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وَلٰكِنَّهُ / وَلٰكِنَّهَا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but he / she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 · يَبْدُو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 · seems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 · كَيْفَ …؟ · مَا الدَّلِيلُ؟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who …? · what is … like? · what is the evidence?</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 who is who using he / she and the adjective endings?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separate fact, opinion and inference, and catch the change after </a:t>
            </a:r>
            <a:pPr algn="l" indent="0" marL="0">
              <a:buNone/>
            </a:pPr>
            <a:r>
              <a:rPr lang="ar-SA" altLang="en-US" sz="1450" dirty="0">
                <a:solidFill>
                  <a:srgbClr val="5A6472"/>
                </a:solidFill>
                <a:latin typeface="Amiri" pitchFamily="2" charset="-78"/>
                <a:ea typeface="Amiri" pitchFamily="2" charset="-78"/>
                <a:cs typeface="Amiri" pitchFamily="2" charset="-78"/>
              </a:rPr>
              <a:t>وَلٰكِنَّ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امْرَأَةٌ طَوِيلَةٌ، وَشَعْرُهَا قَصِيرٌ.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a tall woman, and her hair is short.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الشَّخْصِيَّةُ امْرَأَةٌ طَوِيلَةُ القَامَةِ، شَعْرُهَا قَصِيرٌ.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إِذَنْ هِيَ صَبُورَةٌ جِدًّا، لِأَنَّهَا لَا تَغْضَبُ أَبَدًا.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 she is very patient, because she never gets angry.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تَعْمَلُ مَعَ الأَطْفَالِ كُلَّ يَوْمٍ، وَلَا تَغْضَبُ أَبَدًا.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الآنَ تَلْبَسُ الأَزْرَقَ، لَا الأَبْيَضَ.</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Now she wears blue, not white.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تَلْبَسُ أَبْيَضَ دَائِمًا، وَلٰكِنَّهَا الآنَ تَلْبَسُ أَزْرَقَ.</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أَظُنُّ أَنَّهَا مُمَرِّضَةٌ فِي مُسْتَشْفَى الأَطْفَالِ، لِأَنَّهَا صَبُورَةٌ وَتَلْبَسُ الأَزْرَقَ.</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think she is a nurse at the children’s hospital, because she is patient and wears blue.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هِيَ فِي رَأْيِكَ؟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عِنْدِي جَارَانِ: سَمِيرٌ وَأُخْتُهُ دَانَةُ. سَمِيرٌ طَوِيلُ القَامَةِ وَخَجُولٌ، بَيْنَمَا دَانَةُ قَصِيرَةٌ وَوَاثِقَةٌ جِدًّا. شَعْرُ سَمِيرٍ أَسْوَدُ، وَلٰكِنَّهُ صَبَغَهُ أَزْرَقَ فِي الصَّيْفِ! دَانَةُ تُسَاعِدُ الجِيرَانَ كِبَارَ السِّنِّ كُلَّ أُسْبُوعٍ. فِي رَأْيِي سَمِيرٌ أَنِيقٌ أَكْثَرَ مِنْ أُخْتِهِ، لِأَنَّهُ يَلْبَسُ مَلَابِسَ رَسْمِيَّةً دَائِمًا.</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أَسْئِلَةٌ: ١) مَنِ الوَاثِقُ؟ ٢) مَا لَوْنُ شَعْرِ سَمِيرٍ فِي الصَّيْفِ؟ ٣) مَا الدَّلِيلُ عَلَى أَنَّ دَانَةَ مُتَعَاوِنَةٌ؟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have two neighbours: Samir and his sister Dana. Samir is tall and shy, whereas Dana is short and very confident. Samir’s hair is black, but he dyed it blue in the summer! Dana helps the elderly neighbours every week. In my opinion Samir is more elegant than his sister, because he always wears formal clothes. Questions: 1) Who is confident? 2) What colour is Samir’s hair in summer? 3) What shows that Dana is helpful?”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دَانَةُ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وَلٰكِنَّهُ صَبَغَهُ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تُسَاعِدُ الجِيرَانَ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D2-L08 · Reading — Personality, Relationships and Fashion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الشَّخْصِيَّةِ وَالعَلَاقَاتِ وَالمَوْضَةِ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D2-L07 · Practice Room — Listening — People, Personality and Style Descriptions</dc:title>
  <dc:subject>PptxGenJS Presentation</dc:subject>
  <dc:creator>Al Madina Online School · Arabic Department</dc:creator>
  <cp:lastModifiedBy>Al Madina Online School · Arabic Department</cp:lastModifiedBy>
  <cp:revision>1</cp:revision>
  <dcterms:created xsi:type="dcterms:W3CDTF">2026-10-25T18:09:19Z</dcterms:created>
  <dcterms:modified xsi:type="dcterms:W3CDTF">2026-10-25T18:09:19Z</dcterms:modified>
</cp:coreProperties>
</file>