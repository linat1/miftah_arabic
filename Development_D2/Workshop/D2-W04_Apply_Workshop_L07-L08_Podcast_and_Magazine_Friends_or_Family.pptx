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D2-L07 · Learn D2-L08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D2-L07 (Listening — People, Personality and Style Descriptions) and D2-L08 (Reading — Personality, Relationships and Fashion Texts).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D2-L07 and D2-L08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D2-L07? After D2-L08?” Take two answers in the chat for each lesson (one word or one sentence is enough). Then read objective 3 — today’s new situation that needs BOTH lessons. Students tick their route goals at the end of the lesson.
D2-L07 language: tracking reference in descriptions: huwa / hiya · -hu / -hā · alladhī / allatī; what changes after wa-lākinna and baynamā; fact vs opinion (fī raʾyī · yabdū) vs inference (evidence → li-dhālika); adjective endings as clues to WHO
D2-L08 language: reporting a writer’s view: yarā anna … · yadhkuru mithālan … · yukhālifu … · yakhluṣu ilā anna …; anna + noun in -a; finding contrast (baynamā · wa-lākinna) and concession; agreeing / disagreeing with evidence (uwāfiqu / lā uwāfiqu li-anna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D2-L07 and D2-L08. Teacher reads it once with a confident student; then pairs. Ask: “Which lines are from D2-L07? Which from D2-L08?” Tracking hiya / huwa, بَيْنَمَا and the change after وَلٰكِنَّ come from D2-L07; reporting a writer’s view (يَرَى الكَاتِبُ أَنَّ + accusative noun) and agreeing / disagreeing from D2-L08.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listening for reference, contrast and inference (D2-L07) and reading for the writer’s view, examples and concession (D2-L08). FADED SUPPORT: tasks 1–2 show the plan; students write their own plan for 3–5. To a girl Partner A says: وَأَنْتِ: هَلْ تُوَافِقِينَ الكَاتِبَ؟.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D2-L07 and D2-L08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D2-L07 and D2-L08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(50 words). CHECK YOURSELF (2 min). Find each bullet point in the model, and one phrase from D2-L07 and one from D2-L08.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D2-L07 + D2-L08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Podcast and Magazine: Friends or Family?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الأَصْدِقَاءُ أَمِ العَائِلَةُ؟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join listening and reading: they listen to a podcast clip about two people (tracking who is who, what changes after </a:t>
            </a:r>
            <a:pPr algn="l" indent="0" marL="0">
              <a:buNone/>
            </a:pPr>
            <a:r>
              <a:rPr lang="ar-SA" altLang="en-US" sz="1700" dirty="0">
                <a:solidFill>
                  <a:srgbClr val="C6D2E6"/>
                </a:solidFill>
                <a:latin typeface="Amiri" pitchFamily="2" charset="-78"/>
                <a:ea typeface="Amiri" pitchFamily="2" charset="-78"/>
                <a:cs typeface="Amiri" pitchFamily="2" charset="-78"/>
              </a:rPr>
              <a:t>وَلٰكِنَّ</a:t>
            </a:r>
            <a:pPr algn="l" indent="0" marL="0">
              <a:buNone/>
            </a:pPr>
            <a:r>
              <a:rPr lang="en-US" sz="1300" dirty="0">
                <a:solidFill>
                  <a:srgbClr val="C6D2E6"/>
                </a:solidFill>
                <a:latin typeface="Calibri" pitchFamily="34" charset="0"/>
                <a:cs typeface="Amiri" pitchFamily="2" charset="-78"/>
              </a:rPr>
              <a:t> and </a:t>
            </a:r>
            <a:pPr algn="l" indent="0" marL="0">
              <a:buNone/>
            </a:pPr>
            <a:r>
              <a:rPr lang="ar-SA" altLang="en-US" sz="1700" dirty="0">
                <a:solidFill>
                  <a:srgbClr val="C6D2E6"/>
                </a:solidFill>
                <a:latin typeface="Amiri" pitchFamily="2" charset="-78"/>
                <a:ea typeface="Amiri" pitchFamily="2" charset="-78"/>
                <a:cs typeface="Amiri" pitchFamily="2" charset="-78"/>
              </a:rPr>
              <a:t>بَيْنَمَا</a:t>
            </a:r>
            <a:pPr algn="l" indent="0" marL="0">
              <a:buNone/>
            </a:pPr>
            <a:r>
              <a:rPr lang="en-US" sz="1300" dirty="0">
                <a:solidFill>
                  <a:srgbClr val="C6D2E6"/>
                </a:solidFill>
                <a:latin typeface="Calibri" pitchFamily="34" charset="0"/>
                <a:cs typeface="Amiri" pitchFamily="2" charset="-78"/>
              </a:rPr>
              <a:t>, fact vs opinion), read a magazine opinion (</a:t>
            </a:r>
            <a:pPr algn="l" indent="0" marL="0">
              <a:buNone/>
            </a:pPr>
            <a:r>
              <a:rPr lang="ar-SA" altLang="en-US" sz="1700" dirty="0">
                <a:solidFill>
                  <a:srgbClr val="C6D2E6"/>
                </a:solidFill>
                <a:latin typeface="Amiri" pitchFamily="2" charset="-78"/>
                <a:ea typeface="Amiri" pitchFamily="2" charset="-78"/>
                <a:cs typeface="Amiri" pitchFamily="2" charset="-78"/>
              </a:rPr>
              <a:t>يَرَى الكَاتِبُ أَنَّ</a:t>
            </a:r>
            <a:pPr algn="l" indent="0" marL="0">
              <a:buNone/>
            </a:pPr>
            <a:r>
              <a:rPr lang="en-US" sz="1300" dirty="0">
                <a:solidFill>
                  <a:srgbClr val="C6D2E6"/>
                </a:solidFill>
                <a:latin typeface="Calibri" pitchFamily="34" charset="0"/>
                <a:cs typeface="Amiri" pitchFamily="2" charset="-78"/>
              </a:rPr>
              <a:t> …), report both views, and write a reply that agrees or disagrees with evidence.</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D2-L07 + D2-L08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D2-L07 and D2-L08.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D2-L07 + D2-L08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D2-L07: Listening — People, Personality and Style Descriptions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D2-L08: Reading — Personality, Relationships and Fashion Texts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Listening and reading card · A reply to the magazine article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D2-L07 and D2-L08.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D2-L07 · Listening — People, Personality and Style Descriptions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68" name="Shape 6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0" name="Text 6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71" name="Shape 6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3" name="Text 7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D2-L08 · Reading — Personality, Relationships and Fashion Texts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Shape 3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1" name="Shape 38"/>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4" name="Shape 41"/>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6" name="Text 43"/>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7" name="Shape 44"/>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9" name="Text 46"/>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3" name="Shape 5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5" name="Text 5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56" name="Text 5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57" name="Shape 54"/>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60" name="Shape 57"/>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2" name="Text 59"/>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63" name="Shape 60"/>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5" name="Text 62"/>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or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أَطْوَلُ مِنْ أَخِيهَا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يَبْدُو أَنَّهُ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نَظَّارَةً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تُسَاعِدُ أُمَّهَا كُلَّ يَوْمٍ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الكَاتِبُ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أُوَافِقُ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قَصِيرٌ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 or description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 or view</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 or description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أَطْوَلُ مِنْ أَخِيهَا</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نَظَّارَةً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تُسَاعِدُ أُمَّهَا كُلَّ يَوْمٍ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قَصِيرٌ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 or view</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يَبْدُو أَنَّهُ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الكَاتِبُ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أُوَافِقُ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the podcast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بَعْدَ البُودْكَاسْتِ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Salma say in the podcast?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قَالَتْ سَلْمَى فِي البُودْكَاسْتِ؟</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said that her sister is calm, whereas she herself is lively and cheerful.</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قَالَتْ إِنَّ أُخْتَهَا هَادِئَةٌ، بَيْنَمَا هِيَ نَشِيطَةٌ وَمَرِحَةٌ.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they get on?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تَتَفَاهَمَانِ؟</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but they disagree about clothes!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عَادَةً، وَلٰكِنَّهُمَا تَخْتَلِفَانِ فِي المَلَابِسِ!</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in the magazine? What is the writer’s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وَفِي المَجَلَّةِ؟ مَا رَأْيُ الكَاتِبِ؟</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writer thinks that friends are more important than family, and I don’t agree.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يَرَى الكَاتِبُ أَنَّ الأَصْدِقَاءَ أَهَمُّ مِنَ العَائِلَةِ، وَأَنَا لَا أُوَافِقُ.</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56648" y="226771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Clue: ‏</a:t>
            </a:r>
            <a:pPr algn="l" indent="0" marL="0">
              <a:buNone/>
            </a:pPr>
            <a:r>
              <a:rPr lang="ar-SA" altLang="en-US" sz="1450" dirty="0">
                <a:solidFill>
                  <a:srgbClr val="5A6472"/>
                </a:solidFill>
                <a:latin typeface="Amiri" pitchFamily="2" charset="-78"/>
                <a:ea typeface="Amiri" pitchFamily="2" charset="-78"/>
                <a:cs typeface="Amiri" pitchFamily="2" charset="-78"/>
              </a:rPr>
              <a:t>هُوَ أَطْوَلُ</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الأَخُ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“Sara and her brother: she is short, he is much taller.” — Who is tall?</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سَارَةُ وَأَخُوهَا: هِيَ قَصِيرَةٌ، وَهُوَ أَطْوَلُ مِنْهَا بِكَثِيرٍ. — مَنِ الطَّوِيلُ؟</a:t>
            </a:r>
            <a:endParaRPr lang="ar-SA" sz="12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وَأَنَا أُوَافِقُهُ لِأَنَّ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يَرَى الكَاتِبُ أَنَّ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a true friend always tells the truth.” — The writer’s view?</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«أَرَى أَنَّ الصَّدِيقَ الحَقِيقِيَّ يَقُولُ الصِّدْقَ دَائِمًا.» — مَا رَأْيُ الكَاتِبِ؟</a:t>
            </a:r>
            <a:endParaRPr lang="ar-SA" sz="12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word: ‏</a:t>
            </a:r>
            <a:pPr algn="l" indent="0" marL="0">
              <a:buNone/>
            </a:pPr>
            <a:r>
              <a:rPr lang="ar-SA" altLang="en-US" sz="1450" dirty="0">
                <a:solidFill>
                  <a:srgbClr val="5A6472"/>
                </a:solidFill>
                <a:latin typeface="Amiri" pitchFamily="2" charset="-78"/>
                <a:ea typeface="Amiri" pitchFamily="2" charset="-78"/>
                <a:cs typeface="Amiri" pitchFamily="2" charset="-78"/>
              </a:rPr>
              <a:t>وَلٰكِنَّ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friend is usually patient, but irritable in matches.” — When is he irritable?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صَدِيقِي صَبُورٌ عَادَةً، وَلٰكِنَّهُ عَصَبِيٌّ فِي المُبَارَيَاتِ. — مَتَى هُوَ عَصَبِيٌّ؟</a:t>
            </a:r>
            <a:endParaRPr lang="ar-SA" sz="12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يَدُلُّ عَلَى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يَذْكُرُ مِثَالًا: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example, my sister supports me in every exam.” — What is the example?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«مَثَلًا، أُخْتِي تَدْعَمُنِي فِي كُلِّ امْتِحَانٍ.» — مَا المِثَالُ؟</a:t>
            </a:r>
            <a:endParaRPr lang="ar-SA" sz="145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النَّظَّارَةُ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الصَّارِمَةُ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المُعَلِّمَةُ الَّتِي لَا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 who wears glasses is strict; the other is friendly.” — Who is friendly?</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المُعَلِّمَةُ الَّتِي تَرْتَدِي نَظَّارَةً صَارِمَةٌ، أَمَّا الأُخْرَى فَوَدُودَةٌ. — مَنِ الوَدُودَةُ؟</a:t>
            </a:r>
            <a:endParaRPr lang="ar-SA" sz="12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الكَلِمَةُ: بَيْنَمَا</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يُقَارِنُ بَيْنَ … وَ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 love fashion, whereas others prefer comfort.” — The contrast?</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«بَعْضُ النَّاسِ يُحِبُّونَ المَوْضَةَ، بَيْنَمَا يُفَضِّلُ آخَرُونَ الرَّاحَةَ.» — مَا المُقَارَنَةُ؟</a:t>
            </a:r>
            <a:endParaRPr lang="ar-SA" sz="12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D2-L07, even numbers from D2-L08.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and reading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الاسْتِمَاعِ وَالقِرَاءَةِ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هُوَ … / هِيَ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Track who is who.</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«يُوسُفُ وَأُخْتُهُ: هُوَ خَجُولٌ، بَيْنَمَا هِيَ اجْتِمَاعِيَّةٌ جِدًّا.» — مَنِ الخَجُولُ؟</a:t>
            </a:r>
            <a:endParaRPr lang="ar-SA" sz="13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 ← فِي النَّادِي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changes after ‏</a:t>
            </a:r>
            <a:pPr algn="l" indent="0" marL="0">
              <a:buNone/>
            </a:pPr>
            <a:r>
              <a:rPr lang="ar-SA" altLang="en-US" sz="1450" dirty="0">
                <a:solidFill>
                  <a:srgbClr val="5A6472"/>
                </a:solidFill>
                <a:latin typeface="Amiri" pitchFamily="2" charset="-78"/>
                <a:ea typeface="Amiri" pitchFamily="2" charset="-78"/>
                <a:cs typeface="Amiri" pitchFamily="2" charset="-78"/>
              </a:rPr>
              <a:t>وَلٰكِنَّ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«المُعَلِّمُ صَارِمٌ فِي الصَّفِّ، وَلٰكِنَّهُ لَطِيفٌ جِدًّا فِي النَّادِي.» — كَيْفَ هُوَ فِي النَّادِي؟</a:t>
            </a:r>
            <a:endParaRPr lang="ar-SA" sz="13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Infer a quality from a behaviour.</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«سَارَةُ تُسَاعِدُ جَارَتَهَا العَجُوزَ كُلَّ أُسْبُوعٍ.» — مَا الصِّفَةُ؟</a:t>
            </a:r>
            <a:endParaRPr lang="ar-SA" sz="15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writer’s view.</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«أَرَى أَنَّ الأَصْدِقَاءَ أَهَمُّ مِنَ العَائِلَةِ، لِأَنَّهُمْ يَفْهَمُونَنَا أَكْثَرَ.» — مَا رَأْيُ الكَاتِبِ؟</a:t>
            </a:r>
            <a:endParaRPr lang="ar-SA" sz="13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or disagree with an example.</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وَأَنْتَ: هَلْ تُوَافِقُ الكَاتِبَ؟</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Partner A reads each text twice. Answer briefly first, then in a full sentence, and say the clue (‏</a:t>
            </a:r>
            <a:pPr algn="l" indent="0" marL="0">
              <a:buNone/>
            </a:pPr>
            <a:r>
              <a:rPr lang="ar-SA" altLang="en-US" sz="1450" b="1" dirty="0">
                <a:solidFill>
                  <a:srgbClr val="1B3B6F"/>
                </a:solidFill>
                <a:latin typeface="Amiri" pitchFamily="2" charset="-78"/>
                <a:ea typeface="Amiri" pitchFamily="2" charset="-78"/>
                <a:cs typeface="Amiri" pitchFamily="2" charset="-78"/>
              </a:rPr>
              <a:t>هُوَ / هِيَ</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وَلٰكِنَّ</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بَيْنَمَا</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يَرَى</a:t>
            </a:r>
            <a:pPr algn="l" indent="0" marL="0">
              <a:buNone/>
            </a:pPr>
            <a:r>
              <a:rPr lang="en-US" sz="1100" b="1" dirty="0">
                <a:solidFill>
                  <a:srgbClr val="1B3B6F"/>
                </a:solidFill>
                <a:latin typeface="Calibri" pitchFamily="34" charset="0"/>
                <a:cs typeface="Amiri" pitchFamily="2" charset="-78"/>
              </a:rPr>
              <a:t>‏). Task ! is your own view. Then swap.</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Friends or family — my 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report what the writer thinks (‏</a:t>
            </a:r>
            <a:pPr algn="l" indent="0" marL="0">
              <a:buNone/>
            </a:pPr>
            <a:r>
              <a:rPr lang="ar-SA" altLang="en-US" sz="1750" dirty="0">
                <a:solidFill>
                  <a:srgbClr val="1F2A37"/>
                </a:solidFill>
                <a:latin typeface="Amiri" pitchFamily="2" charset="-78"/>
                <a:ea typeface="Amiri" pitchFamily="2" charset="-78"/>
                <a:cs typeface="Amiri" pitchFamily="2" charset="-78"/>
              </a:rPr>
              <a:t>يَرَى الكَاتِبُ أَنَّ</a:t>
            </a:r>
            <a:pPr algn="l" indent="0" marL="0">
              <a:buNone/>
            </a:pPr>
            <a:r>
              <a:rPr lang="en-US" sz="1350" dirty="0">
                <a:solidFill>
                  <a:srgbClr val="1F2A37"/>
                </a:solidFill>
                <a:latin typeface="Calibri" pitchFamily="34" charset="0"/>
                <a:cs typeface="Amiri" pitchFamily="2" charset="-78"/>
              </a:rPr>
              <a:t> …‏), say whether you agree, give an example from your own life of a friend and a family member (with qualities and evidence), add a contrast or concession, and conclude.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يَرَى الكَاتِبُ أَنَّ … · أُوَافِقُ / لَا أُوَافِقُ لِأَنَّ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an example (‏</a:t>
            </a:r>
            <a:pPr algn="l" indent="0" marL="0">
              <a:buNone/>
            </a:pPr>
            <a:r>
              <a:rPr lang="ar-SA" altLang="en-US" sz="1500" dirty="0">
                <a:solidFill>
                  <a:srgbClr val="1F2A37"/>
                </a:solidFill>
                <a:latin typeface="Amiri" pitchFamily="2" charset="-78"/>
                <a:ea typeface="Amiri" pitchFamily="2" charset="-78"/>
                <a:cs typeface="Amiri" pitchFamily="2" charset="-78"/>
              </a:rPr>
              <a:t>مَثَلًا</a:t>
            </a:r>
            <a:pPr algn="l" indent="0" marL="0">
              <a:buNone/>
            </a:pPr>
            <a:r>
              <a:rPr lang="en-US" sz="1150" dirty="0">
                <a:solidFill>
                  <a:srgbClr val="1F2A37"/>
                </a:solidFill>
                <a:latin typeface="Calibri" pitchFamily="34" charset="0"/>
                <a:cs typeface="Amiri" pitchFamily="2" charset="-78"/>
              </a:rPr>
              <a:t> …‏) and a contrast with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وَلٰكِنَّ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concession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50" dirty="0">
                <a:solidFill>
                  <a:srgbClr val="1F2A37"/>
                </a:solidFill>
                <a:latin typeface="Calibri" pitchFamily="34" charset="0"/>
                <a:cs typeface="Amiri" pitchFamily="2" charset="-78"/>
              </a:rPr>
              <a:t> …‏) and a conclusion with ‏</a:t>
            </a:r>
            <a:pPr algn="l" indent="0" marL="0">
              <a:buNone/>
            </a:pPr>
            <a:r>
              <a:rPr lang="ar-SA" altLang="en-US" sz="1500" dirty="0">
                <a:solidFill>
                  <a:srgbClr val="1F2A37"/>
                </a:solidFill>
                <a:latin typeface="Amiri" pitchFamily="2" charset="-78"/>
                <a:ea typeface="Amiri" pitchFamily="2" charset="-78"/>
                <a:cs typeface="Amiri" pitchFamily="2" charset="-78"/>
              </a:rPr>
              <a:t>أَرَى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is patient, whereas my uncle is irritable.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عَمَّتِي صَبُورَةٌ،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عَمَّتِي صَبُورٌ،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عَمِّي عَصَبِيٌّ.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عَمِّي عَصَبِيَّةٌ.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writer thinks that fashion is expensive.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يَرَى الكَاتِبُ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يَرَى الكَاتِبَ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المَوْضَةَ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المَوْضَةُ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غَالِيَةٌ.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غَالِيَةً.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 usually calm, but he is nervous before exams.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هَادِئٌ عَادَةً،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هَادِئَةٌ عَادَةً،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قَلِقٌ قَبْلَ الامْتِحَانَاتِ.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قَلِقَةٌ قَبْلَ الامْتِحَانَاتِ.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is patient, whereas my uncle is irritable.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Each adjective agrees with its own person.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عَمَّتِي صَبُورَةٌ، بَيْنَمَا عَمِّي عَصَبِيٌّ.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writer thinks that fashion is expensive.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in -a; its adjective stays -un.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يَرَى الكَاتِبُ أَنَّ المَوْضَةَ غَالِيَةٌ.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 usually calm, but he is nervous before exams.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-hu and masculine adjectives throughout.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هَادِئٌ عَادَةً، وَلٰكِنَّهُ قَلِقٌ قَبْلَ الامْتِحَانَاتِ.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طَوِيلَةٌ وَأَخِي قَصِيرٌ.» ← مَنِ الطَّوِيلُ؟ الأَخُ.</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يَرَى الكَاتِبُ أَنَّ الأَصْدِقَاءُ مُهِمُّونَ.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850" b="1" dirty="0">
                <a:solidFill>
                  <a:srgbClr val="B83227"/>
                </a:solidFill>
                <a:latin typeface="Amiri" pitchFamily="2" charset="-78"/>
                <a:ea typeface="Amiri" pitchFamily="2" charset="-78"/>
                <a:cs typeface="Amiri" pitchFamily="2" charset="-78"/>
              </a:rPr>
              <a:t>«هُوَ مَرِحٌ، وَلٰكِنَّهُ اليَوْمَ حَزِينٌ.» ← كَيْفَ هُوَ اليَوْمَ؟ مَرِحٌ.</a:t>
            </a:r>
            <a:endParaRPr lang="ar-SA" sz="285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Listen after </a:t>
            </a:r>
            <a:pPr algn="l" indent="0" marL="0">
              <a:buNone/>
            </a:pPr>
            <a:r>
              <a:rPr lang="ar-SA" altLang="en-US" sz="1700" dirty="0">
                <a:solidFill>
                  <a:srgbClr val="5A6472"/>
                </a:solidFill>
                <a:latin typeface="Amiri" pitchFamily="2" charset="-78"/>
                <a:ea typeface="Amiri" pitchFamily="2" charset="-78"/>
                <a:cs typeface="Amiri" pitchFamily="2" charset="-78"/>
              </a:rPr>
              <a:t>وَلٰكِنَّ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«أُخْتِي طَوِيلَةٌ وَأَخِي قَصِيرٌ.» ← مَنِ الطَّوِيلُ؟ الأَخُ.</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الطَّوِيلَةُ هِيَ الأُخْتُ.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طَوِيلَةٌ</a:t>
            </a:r>
            <a:pPr algn="l" indent="0" marL="0">
              <a:buNone/>
            </a:pPr>
            <a:r>
              <a:rPr lang="en-US" sz="1150" b="1" dirty="0">
                <a:solidFill>
                  <a:srgbClr val="1B3B6F"/>
                </a:solidFill>
                <a:latin typeface="Calibri" pitchFamily="34" charset="0"/>
                <a:cs typeface="Amiri" pitchFamily="2" charset="-78"/>
              </a:rPr>
              <a:t>‏ (f.) belongs to ‏</a:t>
            </a:r>
            <a:pPr algn="l" indent="0" marL="0">
              <a:buNone/>
            </a:pPr>
            <a:r>
              <a:rPr lang="ar-SA" altLang="en-US" sz="1500" b="1" dirty="0">
                <a:solidFill>
                  <a:srgbClr val="1B3B6F"/>
                </a:solidFill>
                <a:latin typeface="Amiri" pitchFamily="2" charset="-78"/>
                <a:ea typeface="Amiri" pitchFamily="2" charset="-78"/>
                <a:cs typeface="Amiri" pitchFamily="2" charset="-78"/>
              </a:rPr>
              <a:t>أُخْتِي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يَرَى الكَاتِبُ أَنَّ الأَصْدِقَاءُ مُهِمُّونَ.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يَرَى الكَاتِبُ أَنَّ الأَصْدِقَاءَ مُهِمُّونَ.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«هُوَ مَرِحٌ، وَلٰكِنَّهُ اليَوْمَ حَزِينٌ.» ← كَيْفَ هُوَ اليَوْمَ؟ مَرِحٌ.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حَزِينٌ اليَوْمَ.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part after ‏</a:t>
            </a:r>
            <a:pPr algn="l" indent="0" marL="0">
              <a:buNone/>
            </a:pPr>
            <a:r>
              <a:rPr lang="ar-SA" altLang="en-US" sz="1500" b="1" dirty="0">
                <a:solidFill>
                  <a:srgbClr val="1B3B6F"/>
                </a:solidFill>
                <a:latin typeface="Amiri" pitchFamily="2" charset="-78"/>
                <a:ea typeface="Amiri" pitchFamily="2" charset="-78"/>
                <a:cs typeface="Amiri" pitchFamily="2" charset="-78"/>
              </a:rPr>
              <a:t>وَلٰكِنَّ</a:t>
            </a:r>
            <a:pPr algn="l" indent="0" marL="0">
              <a:buNone/>
            </a:pPr>
            <a:r>
              <a:rPr lang="en-US" sz="1150" b="1" dirty="0">
                <a:solidFill>
                  <a:srgbClr val="1B3B6F"/>
                </a:solidFill>
                <a:latin typeface="Calibri" pitchFamily="34" charset="0"/>
                <a:cs typeface="Amiri" pitchFamily="2" charset="-78"/>
              </a:rPr>
              <a:t>‏ is the answer for “today”.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thinks that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أُوَافِقُ / لَا أُوَافِقُ لِأَنَّ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agree / don’t agree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صَدِيقِي ______ ، وَأُمِّي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my friend … and my mother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I think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يَرَى الكَاتِبُ أَنَّ  ·  أُوَافِقُ · لَا أُوَافِقُ  ·  جُزْئِيًّا  ·  مَثَلًا  ·  بَيْنَمَا · وَلٰكِنَّ  ·  يَبْدُو أَنَّ  ·  عَلَى الرَّغْمِ مِنْ أَنَّ  ·  فِي النِّهَايَةِ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reply to the magazine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رَدٌّ عَلَى المَقَالِ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The magazine says friends are more important than family in teenagers’ lives. Write a reply (about 60–80 words). Include: • report the writer’s view • do you agree? why? • an example from your life about a friend and a family member, with a quality shown by a behaviour • a contrast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or ‏</a:t>
            </a:r>
            <a:pPr algn="l" indent="0" marL="0">
              <a:buNone/>
            </a:pPr>
            <a:r>
              <a:rPr lang="ar-SA" altLang="en-US" sz="1450" b="1" dirty="0">
                <a:solidFill>
                  <a:srgbClr val="1F2A37"/>
                </a:solidFill>
                <a:latin typeface="Amiri" pitchFamily="2" charset="-78"/>
                <a:ea typeface="Amiri" pitchFamily="2" charset="-78"/>
                <a:cs typeface="Amiri" pitchFamily="2" charset="-78"/>
              </a:rPr>
              <a:t>وَلٰكِنَّ</a:t>
            </a:r>
            <a:pPr algn="l" indent="0" marL="0">
              <a:buNone/>
            </a:pPr>
            <a:r>
              <a:rPr lang="en-US" sz="1100" b="1" dirty="0">
                <a:solidFill>
                  <a:srgbClr val="1F2A37"/>
                </a:solidFill>
                <a:latin typeface="Calibri" pitchFamily="34" charset="0"/>
                <a:cs typeface="Amiri" pitchFamily="2" charset="-78"/>
              </a:rPr>
              <a:t>‏ • a concession • your conclusion.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D2-L07 AND D2-L08.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writer thinks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أُوَافِقُ جُزْئِيًّا / لَا أُوَافِقُ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partly agree / I don’t agree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 · بَيْنَمَا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 · whereas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I think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track who is who using he / she and the adjective endings?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 disagree with an example and a concession?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يُوسُفُ هُوَ الخَجُولُ؛ أُخْتُهُ اجْتِمَاعِيَّةٌ.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Yusuf is the shy one; his sister is sociable.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«يُوسُفُ وَأُخْتُهُ: هُوَ خَجُولٌ، بَيْنَمَا هِيَ اجْتِمَاعِيَّةٌ جِدًّا.» — مَنِ الخَجُولُ؟</a:t>
            </a:r>
            <a:endParaRPr lang="ar-SA" sz="13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لَطِيفٌ جِدًّا فِي النَّادِي.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very kind at the club.</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«المُعَلِّمُ صَارِمٌ فِي الصَّفِّ، وَلٰكِنَّهُ لَطِيفٌ جِدًّا فِي النَّادِي.» — كَيْفَ هُوَ فِي النَّادِي؟</a:t>
            </a:r>
            <a:endParaRPr lang="ar-SA" sz="13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كَرِيمَةٌ وَمُتَعَاوِنَةٌ، لِأَنَّهَا تُسَاعِدُ جَارَتَهَا.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generous and helpful, because she helps her neighbour.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«سَارَةُ تُسَاعِدُ جَارَتَهَا العَجُوزَ كُلَّ أُسْبُوعٍ.» — مَا الصِّفَةُ؟</a:t>
            </a:r>
            <a:endParaRPr lang="ar-SA" sz="145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الكَاتِبُ أَنَّ الأَصْدِقَاءَ أَهَمُّ مِنَ العَائِلَةِ لِأَنَّهُمْ يَفْهَمُونَنَا أَكْثَرَ.</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thinks friends are more important than family because they understand us better.</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«أَرَى أَنَّ الأَصْدِقَاءَ أَهَمُّ مِنَ العَائِلَةِ، لِأَنَّهُمْ يَفْهَمُونَنَا أَكْثَرَ.» — مَا رَأْيُ الكَاتِبِ؟</a:t>
            </a:r>
            <a:endParaRPr lang="ar-SA" sz="13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أُوَافِقُ جُزْئِيًّا؛ مَثَلًا، صَدِيقِي يَفْهَمُنِي، وَلٰكِنَّ أُمِّي تَدْعَمُنِي دَائِمًا.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partly agree; for example, my friend understands me, but my mother always supports me.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وَأَنْتَ: هَلْ تُوَافِقُ الكَاتِبَ؟</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يَرَى الكَاتِبُ أَنَّ الأَصْدِقَاءَ أَهَمُّ مِنَ العَائِلَةِ فِي حَيَاةِ المُرَاهِقِينَ. أُوَافِقُ جُزْئِيًّا فَقَطْ. مَثَلًا، صَدِيقِي زَيْدٌ صَبُورٌ؛ يَسْمَعُنِي عِنْدَمَا أَكُونُ حَزِينًا. بَيْنَمَا أُمِّي تَدْعَمُنِي فِي كُلِّ امْتِحَانٍ، وَتُسَاعِدُنِي كُلَّ يَوْمٍ. عَلَى الرَّغْمِ مِنْ أَنَّ الأَصْدِقَاءَ يَفْهَمُونَنَا، فَإِنَّ العَائِلَةَ مَعَنَا دَائِمًا. فِي النِّهَايَةِ أَرَى أَنَّ الاثْنَيْنِ مُهِمَّانِ، وَلٰكِنَّ العَائِلَةَ أَهَمُّ قَلِيلًا.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writer thinks that friends are more important than family in teenagers’ lives. I only partly agree. For example, my friend Zayd is patient; he listens to me when I am sad. Whereas my mother supports me in every exam and helps me every day. Although friends understand us, family is always with us. In the end I think both are important, but family is a little more important.”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يَرَى الكَاتِبُ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أُوَافِقُ جُزْئِيًّا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أُمِّي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الرَّغْمِ مِنْ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D2-W04 · Apply workshop (D2-L07 + D2-L08)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D2-L07 and D2-L08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D2-L09 · Speaking — People, Relationships and Style Topic Conversation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المُحَادَثَةُ — الأَشْخَاصُ وَالعَلَاقَاتُ وَالأُسْلُوبُ الشَّخْصِيُّ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D2-W04 · Apply Workshop — Podcast and Magazine: Friends or Family?</dc:title>
  <dc:subject>PptxGenJS Presentation</dc:subject>
  <dc:creator>Al Madina Online School · Arabic Department</dc:creator>
  <cp:lastModifiedBy>Al Madina Online School · Arabic Department</cp:lastModifiedBy>
  <cp:revision>1</cp:revision>
  <dcterms:created xsi:type="dcterms:W3CDTF">2026-10-26T15:28:48Z</dcterms:created>
  <dcterms:modified xsi:type="dcterms:W3CDTF">2026-10-26T15:28:48Z</dcterms:modified>
</cp:coreProperties>
</file>