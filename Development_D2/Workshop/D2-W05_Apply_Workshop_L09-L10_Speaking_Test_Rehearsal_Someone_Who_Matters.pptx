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D2-L09 · Learn D2-L10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one minute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D2-L09 (Speaking — People, Relationships and Style Topic Conversation) and D2-L10 (Speaking — Describing People and Personal Style).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D2-L09 and D2-L10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D2-L09? After D2-L10?” Take two answers in the chat for each lesson (one word or one sentence is enough). Then read objective 3 — today’s new situation that needs BOTH lessons. Students tick their route goals at the end of the lesson.
D2-L09 language: answer directly, then build: reason (li-anna) → example (mathalan) → comparison (baynamā / akthar min); ask a follow-up (wa-anta? · limādhā?); repair: ʿafwan, mā maʿnā …? · hal tuqṣidu …? · aʿid min faḍlik; tenses: present habits, past example, future plan
D2-L10 language: six-stage portrait: who → appearance → qualities + evidence → relationship → style → comparison + opinion; keeping he / she and his / her consistent (-hu / -hā, ya- / ta-); hair masculine, eyes dual; linking the stages (awwalan · baʿda dhālika · akhīran)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D2-L09.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D2-L10.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D2-L09 and D2-L10. Teacher reads it once with a confident student; then pairs. Ask: “Which lines are from D2-L09? Which from D2-L10?” The six-stage portrait (who → appearance → qualities → relationship → style → opinion) comes from D2-L10; building each answer with a past example, a comparison and a question back (وَأَنْتَ؟) from D2-L09. Line 6 models a repair moment (هَلْ تَقْصِدُ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the six portrait stages (D2-L10), each answer built with reason → past example → comparison and repair if needed (D2-L09). FADED SUPPORT: tasks 1–2 show the plan; students write their own plan for 3–5. To a girl Partner A says: مَنِ الشَّخْصُ الَّذِي تُرِيدِينَ أَنْ تَصِفِيهِ؟ · كَيْفَ عَلَاقَتُكِ بِهِ / بِهَا؟.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D2-L09 and D2-L10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D2-L09 and D2-L10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(50–60 words). Develop: 80–100 words, frames only if stuck. Stretch: no frames, add reasons and another time frame.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(52 words). CHECK YOURSELF (2 min). Find each bullet point in the model, and one phrase from D2-L09 and one from D2-L10.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D2  ·  D2-L09 + D2-L10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D2-W05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Speaking Test Rehearsal: Someone Who Matters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تَدْرِيبٌ عَلَى اخْتِبَارِ التَّحَدُّثِ</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200" dirty="0">
                <a:solidFill>
                  <a:srgbClr val="C6D2E6"/>
                </a:solidFill>
                <a:latin typeface="Calibri" pitchFamily="34" charset="0"/>
                <a:cs typeface="Amiri" pitchFamily="2" charset="-78"/>
              </a:rPr>
              <a:t>Students rehearse the speaking test with both lessons: a one-minute, six-stage portrait of someone who matters to them, followed by a topic conversation in which every answer is built (direct answer → reason → past example → comparison), with repair phrases and a question back — then they write the script.</a:t>
            </a:r>
            <a:endParaRPr lang="en-US" sz="12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D2-L09 + D2-L10</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D2 › D2-L10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D2-W05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D2-W05 · Apply workshop (D2-L09 + D2-L10)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D2-W05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D2-W05 · Apply workshop (D2-L09 + D2-L10)</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D2-L09 and D2-L10.</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D2-W05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D2-L09 + D2-L10</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D2-W05 · Apply workshop (D2-L09 + D2-L10)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D2-L09: Speaking — People, Relationships and Style Topic Conversation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D2-L10: Speaking — Describing People and Personal Style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Speaking card — the topic conversation · The script of my best speaking answers</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one minute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Use more than one tense; give and justify opinions.</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D2-W05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D2-W05 · Apply workshop (D2-L09 + D2-L10)</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D2-L09 and D2-L10.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D2-W05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D2-L09</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D2-L09 · Speaking — People, Relationships and Style Topic Conversation</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D2-W05 · Apply workshop (D2-L09 + D2-L10)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we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أَتَفَاهَمُ مَعَ</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get on with</a:t>
            </a:r>
            <a:endParaRPr lang="en-US" sz="1350" dirty="0"/>
          </a:p>
          <a:p>
            <a:pPr indent="0" marL="0">
              <a:buNone/>
            </a:pPr>
            <a:r>
              <a:rPr lang="en-US" sz="1100" i="1" dirty="0">
                <a:solidFill>
                  <a:srgbClr val="5A6472"/>
                </a:solidFill>
                <a:latin typeface="Calibri" pitchFamily="34" charset="0"/>
                <a:cs typeface="Amiri" pitchFamily="2" charset="-78"/>
              </a:rPr>
              <a:t>a-ta-fā-ha-mu ma-ʿa</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نَتَفَاهَمُ</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يَتَفَاهَمُ</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هَلْ تَتَفَاهَمُ …؟</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Text 3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أَحْتَرِمُ</a:t>
            </a:r>
            <a:endParaRPr lang="ar-SA" sz="3000" dirty="0"/>
          </a:p>
        </p:txBody>
      </p:sp>
      <p:sp>
        <p:nvSpPr>
          <p:cNvPr id="37" name="Text 3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respect</a:t>
            </a:r>
            <a:endParaRPr lang="en-US" sz="1350" dirty="0"/>
          </a:p>
          <a:p>
            <a:pPr indent="0" marL="0">
              <a:buNone/>
            </a:pPr>
            <a:r>
              <a:rPr lang="en-US" sz="1100" i="1" dirty="0">
                <a:solidFill>
                  <a:srgbClr val="5A6472"/>
                </a:solidFill>
                <a:latin typeface="Calibri" pitchFamily="34" charset="0"/>
                <a:cs typeface="Amiri" pitchFamily="2" charset="-78"/>
              </a:rPr>
              <a:t>aḥ-ta-ri-mu</a:t>
            </a:r>
            <a:endParaRPr lang="en-US" sz="135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1" name="Shape 38"/>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whereas/while</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8" name="Shape 4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0" name="Text 4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صَادِقٌ / صَادِقَةٌ</a:t>
            </a:r>
            <a:endParaRPr lang="ar-SA" sz="3000" dirty="0"/>
          </a:p>
        </p:txBody>
      </p:sp>
      <p:sp>
        <p:nvSpPr>
          <p:cNvPr id="51" name="Text 4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honest</a:t>
            </a:r>
            <a:endParaRPr lang="en-US" sz="1350" dirty="0"/>
          </a:p>
          <a:p>
            <a:pPr indent="0" marL="0">
              <a:buNone/>
            </a:pPr>
            <a:r>
              <a:rPr lang="en-US" sz="1100" i="1" dirty="0">
                <a:solidFill>
                  <a:srgbClr val="5A6472"/>
                </a:solidFill>
                <a:latin typeface="Calibri" pitchFamily="34" charset="0"/>
                <a:cs typeface="Amiri" pitchFamily="2" charset="-78"/>
              </a:rPr>
              <a:t>ṣā-di-qun / ṣā-di-qa-tun</a:t>
            </a:r>
            <a:endParaRPr lang="en-US" sz="1350" dirty="0"/>
          </a:p>
        </p:txBody>
      </p:sp>
      <p:sp>
        <p:nvSpPr>
          <p:cNvPr id="52" name="Shape 4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4" name="Text 5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صَادِقُونَ</a:t>
            </a:r>
            <a:endParaRPr lang="ar-SA" sz="1500" dirty="0"/>
          </a:p>
        </p:txBody>
      </p:sp>
      <p:sp>
        <p:nvSpPr>
          <p:cNvPr id="55" name="Shape 5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7" name="Text 5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صَادِقَةٌ</a:t>
            </a:r>
            <a:endParaRPr lang="ar-SA" sz="1500" dirty="0"/>
          </a:p>
        </p:txBody>
      </p:sp>
      <p:sp>
        <p:nvSpPr>
          <p:cNvPr id="58" name="Shape 5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0" name="Text 5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صَادِقٌ</a:t>
            </a:r>
            <a:endParaRPr lang="ar-SA" sz="150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4" name="Text 6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أَفْضَلُ مِنْ</a:t>
            </a:r>
            <a:endParaRPr lang="ar-SA" sz="3000" dirty="0"/>
          </a:p>
        </p:txBody>
      </p:sp>
      <p:sp>
        <p:nvSpPr>
          <p:cNvPr id="65" name="Text 6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better than</a:t>
            </a:r>
            <a:endParaRPr lang="en-US" sz="1350" dirty="0"/>
          </a:p>
          <a:p>
            <a:pPr indent="0" marL="0">
              <a:buNone/>
            </a:pPr>
            <a:r>
              <a:rPr lang="en-US" sz="1100" i="1" dirty="0">
                <a:solidFill>
                  <a:srgbClr val="5A6472"/>
                </a:solidFill>
                <a:latin typeface="Calibri" pitchFamily="34" charset="0"/>
                <a:cs typeface="Amiri" pitchFamily="2" charset="-78"/>
              </a:rPr>
              <a:t>af-ḍa-lu min</a:t>
            </a:r>
            <a:endParaRPr lang="en-US" sz="1350" dirty="0"/>
          </a:p>
        </p:txBody>
      </p:sp>
      <p:sp>
        <p:nvSpPr>
          <p:cNvPr id="66" name="Shape 6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566928"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9" name="Shape 66"/>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70" name="Text 67"/>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1" name="Text 68"/>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غَيْرُ رَسْمِيٍّ / غَيْرُ رَسْمِيَّةٍ</a:t>
            </a:r>
            <a:endParaRPr lang="ar-SA" sz="3000" dirty="0"/>
          </a:p>
        </p:txBody>
      </p:sp>
      <p:sp>
        <p:nvSpPr>
          <p:cNvPr id="72" name="Text 69"/>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casual</a:t>
            </a:r>
            <a:endParaRPr lang="en-US" sz="1350" dirty="0"/>
          </a:p>
          <a:p>
            <a:pPr indent="0" marL="0">
              <a:buNone/>
            </a:pPr>
            <a:r>
              <a:rPr lang="en-US" sz="1100" i="1" dirty="0">
                <a:solidFill>
                  <a:srgbClr val="5A6472"/>
                </a:solidFill>
                <a:latin typeface="Calibri" pitchFamily="34" charset="0"/>
                <a:cs typeface="Amiri" pitchFamily="2" charset="-78"/>
              </a:rPr>
              <a:t>ghay-ru ras-miy-yin / ghay-ru ras-miy-ya-tin</a:t>
            </a:r>
            <a:endParaRPr lang="en-US" sz="1350" dirty="0"/>
          </a:p>
        </p:txBody>
      </p:sp>
      <p:sp>
        <p:nvSpPr>
          <p:cNvPr id="73" name="Shape 70"/>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5" name="Text 72"/>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غَيْرُ رَسْمِيَّةٍ</a:t>
            </a:r>
            <a:endParaRPr lang="ar-SA" sz="1500" dirty="0"/>
          </a:p>
        </p:txBody>
      </p:sp>
      <p:sp>
        <p:nvSpPr>
          <p:cNvPr id="76" name="Shape 73"/>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8" name="Text 75"/>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غَيْرُ رَسْمِيٍّ</a:t>
            </a:r>
            <a:endParaRPr lang="ar-SA" sz="150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D2-W05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D2-L10</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D2-L10 · Speaking — Describing People and Personal Style</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D2-W05 · Apply workshop (D2-L09 + D2-L10)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2" charset="-78"/>
                <a:ea typeface="Amiri" pitchFamily="2" charset="-78"/>
                <a:cs typeface="Amiri" pitchFamily="2" charset="-78"/>
              </a:rPr>
              <a:t>طَوِيلُ القَامَةِ / طَوِيلَةُ القَامَةِ</a:t>
            </a:r>
            <a:endParaRPr lang="ar-SA" sz="255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tall</a:t>
            </a:r>
            <a:endParaRPr lang="en-US" sz="1350" dirty="0"/>
          </a:p>
          <a:p>
            <a:pPr indent="0" marL="0">
              <a:buNone/>
            </a:pPr>
            <a:r>
              <a:rPr lang="en-US" sz="1100" i="1" dirty="0">
                <a:solidFill>
                  <a:srgbClr val="5A6472"/>
                </a:solidFill>
                <a:latin typeface="Calibri" pitchFamily="34" charset="0"/>
                <a:cs typeface="Amiri" pitchFamily="2" charset="-78"/>
              </a:rPr>
              <a:t>ṭa-wī-lu al-qā-ma-ti / ṭa-wī-la-tu al-qā-ma-ti</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طَوِيلَةُ القَامَةِ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طَوِيلُ القَامَةِ</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Shape 3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شَعْرٌ طَوِيلٌ</a:t>
            </a:r>
            <a:endParaRPr lang="ar-SA" sz="3000" dirty="0"/>
          </a:p>
        </p:txBody>
      </p:sp>
      <p:sp>
        <p:nvSpPr>
          <p:cNvPr id="36" name="Text 3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long hair</a:t>
            </a:r>
            <a:endParaRPr lang="en-US" sz="1350" dirty="0"/>
          </a:p>
          <a:p>
            <a:pPr indent="0" marL="0">
              <a:buNone/>
            </a:pPr>
            <a:r>
              <a:rPr lang="en-US" sz="1100" i="1" dirty="0">
                <a:solidFill>
                  <a:srgbClr val="5A6472"/>
                </a:solidFill>
                <a:latin typeface="Calibri" pitchFamily="34" charset="0"/>
                <a:cs typeface="Amiri" pitchFamily="2" charset="-78"/>
              </a:rPr>
              <a:t>shaʿ-run ṭa-wī-lun</a:t>
            </a:r>
            <a:endParaRPr lang="en-US"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عَيْنَانِ بُنِّيَّتَانِ</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brown eyes</a:t>
            </a:r>
            <a:endParaRPr lang="en-US" sz="1350" dirty="0"/>
          </a:p>
          <a:p>
            <a:pPr indent="0" marL="0">
              <a:buNone/>
            </a:pPr>
            <a:r>
              <a:rPr lang="en-US" sz="1100" i="1" dirty="0">
                <a:solidFill>
                  <a:srgbClr val="5A6472"/>
                </a:solidFill>
                <a:latin typeface="Calibri" pitchFamily="34" charset="0"/>
                <a:cs typeface="Amiri" pitchFamily="2" charset="-78"/>
              </a:rPr>
              <a:t>ʿay-nā-ni bun-niy-ya-tā-ni</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7" name="Shape 44"/>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وَدُودٌ / وَدُودَةٌ</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friendly</a:t>
            </a:r>
            <a:endParaRPr lang="en-US" sz="1350" dirty="0"/>
          </a:p>
          <a:p>
            <a:pPr indent="0" marL="0">
              <a:buNone/>
            </a:pPr>
            <a:r>
              <a:rPr lang="en-US" sz="1100" i="1" dirty="0">
                <a:solidFill>
                  <a:srgbClr val="5A6472"/>
                </a:solidFill>
                <a:latin typeface="Calibri" pitchFamily="34" charset="0"/>
                <a:cs typeface="Amiri" pitchFamily="2" charset="-78"/>
              </a:rPr>
              <a:t>wa-dū-dun / wa-dū-da-tun</a:t>
            </a:r>
            <a:endParaRPr lang="en-US" sz="1350" dirty="0"/>
          </a:p>
        </p:txBody>
      </p:sp>
      <p:sp>
        <p:nvSpPr>
          <p:cNvPr id="53" name="Shape 50"/>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5" name="Text 52"/>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وَدُودُونَ</a:t>
            </a:r>
            <a:endParaRPr lang="ar-SA" sz="1500" dirty="0"/>
          </a:p>
        </p:txBody>
      </p:sp>
      <p:sp>
        <p:nvSpPr>
          <p:cNvPr id="56" name="Shape 53"/>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8" name="Text 55"/>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وَدُودَةٌ</a:t>
            </a:r>
            <a:endParaRPr lang="ar-SA" sz="1500" dirty="0"/>
          </a:p>
        </p:txBody>
      </p:sp>
      <p:sp>
        <p:nvSpPr>
          <p:cNvPr id="59" name="Shape 56"/>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1" name="Text 58"/>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وَدُودٌ</a:t>
            </a:r>
            <a:endParaRPr lang="ar-SA" sz="1500" dirty="0"/>
          </a:p>
        </p:txBody>
      </p:sp>
      <p:sp>
        <p:nvSpPr>
          <p:cNvPr id="62" name="Shape 5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4389120"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5" name="Shape 62"/>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67" name="Shape 64"/>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8" name="Text 65"/>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9" name="Text 66"/>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صَبُورٌ / صَبُورَةٌ</a:t>
            </a:r>
            <a:endParaRPr lang="ar-SA" sz="3000" dirty="0"/>
          </a:p>
        </p:txBody>
      </p:sp>
      <p:sp>
        <p:nvSpPr>
          <p:cNvPr id="70" name="Text 67"/>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patient</a:t>
            </a:r>
            <a:endParaRPr lang="en-US" sz="1350" dirty="0"/>
          </a:p>
          <a:p>
            <a:pPr indent="0" marL="0">
              <a:buNone/>
            </a:pPr>
            <a:r>
              <a:rPr lang="en-US" sz="1100" i="1" dirty="0">
                <a:solidFill>
                  <a:srgbClr val="5A6472"/>
                </a:solidFill>
                <a:latin typeface="Calibri" pitchFamily="34" charset="0"/>
                <a:cs typeface="Amiri" pitchFamily="2" charset="-78"/>
              </a:rPr>
              <a:t>ṣa-bū-run / ṣa-bū-ra-tun</a:t>
            </a:r>
            <a:endParaRPr lang="en-US" sz="1350" dirty="0"/>
          </a:p>
        </p:txBody>
      </p:sp>
      <p:sp>
        <p:nvSpPr>
          <p:cNvPr id="71" name="Shape 68"/>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3" name="Text 70"/>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صَبُورُونَ</a:t>
            </a:r>
            <a:endParaRPr lang="ar-SA" sz="1500" dirty="0"/>
          </a:p>
        </p:txBody>
      </p:sp>
      <p:sp>
        <p:nvSpPr>
          <p:cNvPr id="74" name="Shape 71"/>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6" name="Text 73"/>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صَبُورَةٌ</a:t>
            </a:r>
            <a:endParaRPr lang="ar-SA" sz="1500" dirty="0"/>
          </a:p>
        </p:txBody>
      </p:sp>
      <p:sp>
        <p:nvSpPr>
          <p:cNvPr id="77" name="Shape 74"/>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9" name="Text 76"/>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a:t>
            </a:r>
            <a:endParaRPr lang="ar-SA" sz="1500" dirty="0"/>
          </a:p>
        </p:txBody>
      </p:sp>
      <p:sp>
        <p:nvSpPr>
          <p:cNvPr id="80" name="Shape 7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566928" y="4261104"/>
            <a:ext cx="310896" cy="310896"/>
          </a:xfrm>
          <a:prstGeom prst="ellipse">
            <a:avLst/>
          </a:prstGeom>
          <a:solidFill>
            <a:srgbClr val="F4F1EA"/>
          </a:solidFill>
          <a:ln w="12700">
            <a:solidFill>
              <a:srgbClr val="F4F1EA"/>
            </a:solidFill>
            <a:prstDash val="solid"/>
          </a:ln>
        </p:spPr>
      </p:sp>
      <p:sp>
        <p:nvSpPr>
          <p:cNvPr id="82" name="Text 7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83" name="Text 8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شَعْرٌ مُجَعَّدٌ</a:t>
            </a:r>
            <a:endParaRPr lang="ar-SA" sz="3000" dirty="0"/>
          </a:p>
        </p:txBody>
      </p:sp>
      <p:sp>
        <p:nvSpPr>
          <p:cNvPr id="84" name="Text 8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curly hair</a:t>
            </a:r>
            <a:endParaRPr lang="en-US" sz="1350" dirty="0"/>
          </a:p>
          <a:p>
            <a:pPr indent="0" marL="0">
              <a:buNone/>
            </a:pPr>
            <a:r>
              <a:rPr lang="en-US" sz="1100" i="1" dirty="0">
                <a:solidFill>
                  <a:srgbClr val="5A6472"/>
                </a:solidFill>
                <a:latin typeface="Calibri" pitchFamily="34" charset="0"/>
                <a:cs typeface="Amiri" pitchFamily="2" charset="-78"/>
              </a:rPr>
              <a:t>shaʿ-run mu-jaʿ-ʿa-dun</a:t>
            </a:r>
            <a:endParaRPr lang="en-US" sz="13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D2-W05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2 · SORT IT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Portrait stage or conversation move?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 البِطَاقَاتِ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D2-W05 · Apply workshop (D2-L09 + D2-L10)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مَثَلًا، أَمْسِ …</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سَأَصِفُ …</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هِيَ طَوِيلَةُ القَامَةِ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وَأَنْتَ؟</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هَلْ تَقْصِدُ …؟</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أَحْتَرِمُهَا لِأَنَّ …</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أَخِيرًا، فِي رَأْيِي …</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أَكْثَرُ مِنْ …</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Building a conversation answer · D2-L09</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Portrait stages · D2-L10</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D2-W05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 البِطَاقَاتِ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D2-W05 · Apply workshop (D2-L09 + D2-L10)</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Building a conversation answer · D2-L09</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مَثَلًا، أَمْسِ …</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وَأَنْتَ؟</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هَلْ تَقْصِدُ …؟</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أَكْثَرُ مِنْ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Portrait stages · D2-L10</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سَأَصِفُ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هِيَ طَوِيلَةُ القَامَةِ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أَحْتَرِمُهَا لِأَنَّ …</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أَخِيرًا، فِي رَأْيِي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D2-W05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Examiner and candidate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المُمْتَحِنُ وَالطَّالِبُ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D2-W05 · Apply workshop (D2-L09 + D2-L10)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an important person in your life.</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صِفْ شَخْصًا مُهِمًّا فِي حَيَاتِكَ.</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will describe my grandmother, because she taught me a lot. She is short, and her eyes are black.</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850" b="1" dirty="0">
                <a:solidFill>
                  <a:srgbClr val="1B3B6F"/>
                </a:solidFill>
                <a:latin typeface="Amiri" pitchFamily="2" charset="-78"/>
                <a:ea typeface="Amiri" pitchFamily="2" charset="-78"/>
                <a:cs typeface="Amiri" pitchFamily="2" charset="-78"/>
              </a:rPr>
              <a:t>سَأَصِفُ جَدَّتِي، لِأَنَّهَا عَلَّمَتْنِي الكَثِيرَ. هِيَ قَصِيرَةُ القَامَةِ، وَعَيْنَاهَا سَوْدَاوَانِ.</a:t>
            </a:r>
            <a:endParaRPr lang="ar-SA" sz="185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relationship with her like?</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كَيْفَ عَلَاقَتُكَ بِهَا؟</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respect her a lot. For example, last summer we cooked together every day.</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أَحْتَرِمُهَا كَثِيرًا. مَثَلًا، فِي الصَّيْفِ المَاضِي طَبَخْنَا مَعًا كُلَّ يَوْمٍ.</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her style?</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مَا أُسْلُوبُهَا؟</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Sorry, do you mean her clothes? … She wears traditional clothes, and she is more elegant than everyone in my family! And you, who is your important person?</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lnSpc>
                <a:spcPct val="120000"/>
              </a:lnSpc>
              <a:buNone/>
            </a:pPr>
            <a:r>
              <a:rPr lang="ar-SA" altLang="en-US" sz="1200" b="1" dirty="0">
                <a:solidFill>
                  <a:srgbClr val="1B3B6F"/>
                </a:solidFill>
                <a:latin typeface="Amiri" pitchFamily="2" charset="-78"/>
                <a:ea typeface="Amiri" pitchFamily="2" charset="-78"/>
                <a:cs typeface="Amiri" pitchFamily="2" charset="-78"/>
              </a:rPr>
              <a:t>عَفْوًا، هَلْ تَقْصِدُ مَلَابِسَهَا؟ … تَرْتَدِي مَلَابِسَ تَقْلِيدِيَّةً، وَهِيَ أَكْثَرُ أَنَاقَةً مِنْ كُلِّ أَفْرَادِ عَائِلَتِي! وَأَنْتَ، مَنْ شَخْصُكَ المُهِمُّ؟</a:t>
            </a:r>
            <a:endParaRPr lang="ar-SA" sz="12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D2-W05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D2-W05 · Apply workshop (D2-L09 + D2-L10)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مَثَلًا … · وَأَنْتَ؟</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 هُوَ / هِيَ … لِأَنَّ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an important person in your life.</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 شَخْصًا مُهِمًّا فِي حَيَاتِكَ.</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عُمْرُهُ / عُمْرُهَا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سَأَصِفُ … ، وَهُوَ / هِيَ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Who are you describing?</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١) مَنْ تَصِفُ؟</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أَمْسِ / الأُسْبُوعَ المَاضِيَ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أَتَفَاهَمُ مَعَ … ، بَيْنَمَا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is your relationship with your siblings?</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عَلَاقَتُكَ بِإِخْوَتِكَ؟</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وَعَيْنَاهُ / عَيْنَاهَا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هُوَ / هِيَ … القَامَةِ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What does he / she look like?</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٢) كَيْفَ يَبْدُو / تَبْدُو؟</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أَكْثَرُ رَاحَةً مِنْ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أُفَضِّلُ المَلَابِسَ … لِأَنَّهَا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clothing style?</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أُسْلُوبُكَ فِي المَلَابِسِ؟</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مَثَلًا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هُوَ … / هِيَ … لِأَنَّهُ / لِأَنَّهَا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What is his / her personality like?</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٣) كَيْفَ شَخْصِيَّتُهُ / شَخْصِيَّتُهَا؟</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D2-L09, even numbers from D2-L10.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D2-W05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5 · ROLE-PLAY CARD · PLANS FOR TASKS 1–2 ARE GIVEN — PLAN 3–5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Speaking card — the topic conversation</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بِطَاقَةُ المُحَادَثَةِ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D2-W05 · Apply workshop (D2-L09 + D2-L10)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 سَأَصِفُ … لِأَنَّ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 why you chose them.</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الشَّخْصُ الَّذِي تُرِيدُ أَنْ تَصِفَهُ؟ وَلِمَاذَا؟</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 هُوَ … القَامَةِ · شَعْرُهُ … · عَيْنَاهُ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appearance details (hair masculine, eyes dual).</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يَبْدُو؟</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93608" y="3741725"/>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qualities with evidence.</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شَخْصِيَّتُهُ؟</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293608" y="4478731"/>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past example + an object suffix.</a:t>
            </a:r>
            <a:endParaRPr lang="en-US" sz="1100" dirty="0"/>
          </a:p>
        </p:txBody>
      </p:sp>
      <p:sp>
        <p:nvSpPr>
          <p:cNvPr id="42" name="Text 39"/>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عَلَاقَتُكَ بِهِ؟</a:t>
            </a:r>
            <a:endParaRPr lang="ar-SA" sz="1700" dirty="0"/>
          </a:p>
        </p:txBody>
      </p:sp>
      <p:sp>
        <p:nvSpPr>
          <p:cNvPr id="43" name="Text 40"/>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293608" y="5215738"/>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6" name="Text 43"/>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Style + comparison + a question back.</a:t>
            </a:r>
            <a:endParaRPr lang="en-US" sz="1100" dirty="0"/>
          </a:p>
        </p:txBody>
      </p:sp>
      <p:sp>
        <p:nvSpPr>
          <p:cNvPr id="47" name="Text 44"/>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أُسْلُوبُهُ فِي المَلَابِسِ؟ وَهَلْ هُوَ مِثْلُكَ؟</a:t>
            </a:r>
            <a:endParaRPr lang="ar-SA" sz="1700" dirty="0"/>
          </a:p>
        </p:txBody>
      </p:sp>
      <p:sp>
        <p:nvSpPr>
          <p:cNvPr id="48" name="Text 45"/>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the candidate · Partner A = the examiner. Write the plan for tasks 3–5 in your book first. Task ! is a surprise — Partner A reads it without warning. Then swap roles.</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D2-W05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The one-minute portrait — under test conditions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الصُّورَةُ فِي دَقِيقَةٍ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D2-W05 · Apply workshop (D2-L09 + D2-L10)</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use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Give your one-minute portrait under test conditions: all six stages in order, linked with ‏</a:t>
            </a:r>
            <a:pPr algn="l" indent="0" marL="0">
              <a:buNone/>
            </a:pPr>
            <a:r>
              <a:rPr lang="ar-SA" altLang="en-US" sz="1750" dirty="0">
                <a:solidFill>
                  <a:srgbClr val="1F2A37"/>
                </a:solidFill>
                <a:latin typeface="Amiri" pitchFamily="2" charset="-78"/>
                <a:ea typeface="Amiri" pitchFamily="2" charset="-78"/>
                <a:cs typeface="Amiri" pitchFamily="2" charset="-78"/>
              </a:rPr>
              <a:t>أَوَّلًا</a:t>
            </a:r>
            <a:pPr algn="l" indent="0" marL="0">
              <a:buNone/>
            </a:pPr>
            <a:r>
              <a:rPr lang="en-US" sz="1350" dirty="0">
                <a:solidFill>
                  <a:srgbClr val="1F2A37"/>
                </a:solidFill>
                <a:latin typeface="Calibri" pitchFamily="34" charset="0"/>
                <a:cs typeface="Amiri" pitchFamily="2" charset="-78"/>
              </a:rPr>
              <a:t> · </a:t>
            </a:r>
            <a:pPr algn="l" indent="0" marL="0">
              <a:buNone/>
            </a:pPr>
            <a:r>
              <a:rPr lang="ar-SA" altLang="en-US" sz="1750" dirty="0">
                <a:solidFill>
                  <a:srgbClr val="1F2A37"/>
                </a:solidFill>
                <a:latin typeface="Amiri" pitchFamily="2" charset="-78"/>
                <a:ea typeface="Amiri" pitchFamily="2" charset="-78"/>
                <a:cs typeface="Amiri" pitchFamily="2" charset="-78"/>
              </a:rPr>
              <a:t>بَعْدَ ذٰلِكَ</a:t>
            </a:r>
            <a:pPr algn="l" indent="0" marL="0">
              <a:buNone/>
            </a:pPr>
            <a:r>
              <a:rPr lang="en-US" sz="1350" dirty="0">
                <a:solidFill>
                  <a:srgbClr val="1F2A37"/>
                </a:solidFill>
                <a:latin typeface="Calibri" pitchFamily="34" charset="0"/>
                <a:cs typeface="Amiri" pitchFamily="2" charset="-78"/>
              </a:rPr>
              <a:t> · </a:t>
            </a:r>
            <a:pPr algn="l" indent="0" marL="0">
              <a:buNone/>
            </a:pPr>
            <a:r>
              <a:rPr lang="ar-SA" altLang="en-US" sz="1750" dirty="0">
                <a:solidFill>
                  <a:srgbClr val="1F2A37"/>
                </a:solidFill>
                <a:latin typeface="Amiri" pitchFamily="2" charset="-78"/>
                <a:ea typeface="Amiri" pitchFamily="2" charset="-78"/>
                <a:cs typeface="Amiri" pitchFamily="2" charset="-78"/>
              </a:rPr>
              <a:t>أَخِيرًا</a:t>
            </a:r>
            <a:pPr algn="l" indent="0" marL="0">
              <a:buNone/>
            </a:pPr>
            <a:r>
              <a:rPr lang="en-US" sz="1350" dirty="0">
                <a:solidFill>
                  <a:srgbClr val="1F2A37"/>
                </a:solidFill>
                <a:latin typeface="Calibri" pitchFamily="34" charset="0"/>
                <a:cs typeface="Amiri" pitchFamily="2" charset="-78"/>
              </a:rPr>
              <a:t>‏. Your partner times you, ticks the stages, and then asks ONE follow-up question that you answer with a reason and a past example.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سَأَصِفُ … · هُوَ / هِيَ … القَامَةِ · هُوَ / هِيَ … وَ…</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All six stages, with eyes as a dual and an object suffix.</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 comparison and a superlative, and answer the follow-up without notes.</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D2-W05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D2-W05 · Apply workshop (D2-L09 + D2-L10)</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For example, last week my sister supported me.</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مَثَلًا،</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لِذٰلِكَ،</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الأُسْبُوعَ المَاضِيَ</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الأُسْبُوعُ المَاضِي</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دَعَمَتْنِي أُخْتِي.</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تَدْعَمُنِي أُخْتِي.</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She is short and her eyes are green.</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هِيَ قَصِيرَةُ القَامَةِ،</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هِيَ قَصِيرُ القَامَةِ،</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وَعَيْنَاهَا</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وَعَيْنُهَا</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خَضْرَاوَانِ.</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أَخْضَرُ.</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Sorry, do you mean “honest”?</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عَفْوًا،</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شُكْرًا،</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هَلْ تَقْصِدُ</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هَلْ يَقْصِدُ</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«صَادِقٌ»؟</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«صَادِقَةٌ»؟</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D2-W05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D2-W05 · Apply workshop (D2-L09 + D2-L10)</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For example, last week my sister supported me.</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Past example → past verb (</a:t>
            </a:r>
            <a:pPr algn="l" indent="0" marL="0">
              <a:buNone/>
            </a:pPr>
            <a:r>
              <a:rPr lang="ar-SA" altLang="en-US" sz="1350" dirty="0">
                <a:solidFill>
                  <a:srgbClr val="5A6472"/>
                </a:solidFill>
                <a:latin typeface="Amiri" pitchFamily="2" charset="-78"/>
                <a:ea typeface="Amiri" pitchFamily="2" charset="-78"/>
                <a:cs typeface="Amiri" pitchFamily="2" charset="-78"/>
              </a:rPr>
              <a:t>دَعَمَتْنِي</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مَثَلًا، الأُسْبُوعَ المَاضِيَ دَعَمَتْنِي أُخْتِي.</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She is short and her eyes are green.</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 </a:t>
            </a:r>
            <a:pPr algn="l" indent="0" marL="0">
              <a:buNone/>
            </a:pPr>
            <a:r>
              <a:rPr lang="ar-SA" altLang="en-US" sz="1350" dirty="0">
                <a:solidFill>
                  <a:srgbClr val="5A6472"/>
                </a:solidFill>
                <a:latin typeface="Amiri" pitchFamily="2" charset="-78"/>
                <a:ea typeface="Amiri" pitchFamily="2" charset="-78"/>
                <a:cs typeface="Amiri" pitchFamily="2" charset="-78"/>
              </a:rPr>
              <a:t>قَصِيرَةُ</a:t>
            </a:r>
            <a:pPr algn="l" indent="0" marL="0">
              <a:buNone/>
            </a:pPr>
            <a:r>
              <a:rPr lang="en-US" sz="1050" i="1" dirty="0">
                <a:solidFill>
                  <a:srgbClr val="5A6472"/>
                </a:solidFill>
                <a:latin typeface="Calibri" pitchFamily="34" charset="0"/>
                <a:cs typeface="Amiri" pitchFamily="2" charset="-78"/>
              </a:rPr>
              <a:t>; eyes = dual → </a:t>
            </a:r>
            <a:pPr algn="l" indent="0" marL="0">
              <a:buNone/>
            </a:pPr>
            <a:r>
              <a:rPr lang="ar-SA" altLang="en-US" sz="1350" dirty="0">
                <a:solidFill>
                  <a:srgbClr val="5A6472"/>
                </a:solidFill>
                <a:latin typeface="Amiri" pitchFamily="2" charset="-78"/>
                <a:ea typeface="Amiri" pitchFamily="2" charset="-78"/>
                <a:cs typeface="Amiri" pitchFamily="2" charset="-78"/>
              </a:rPr>
              <a:t>خَضْرَاوَانِ</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هِيَ قَصِيرَةُ القَامَةِ، وَعَيْنَاهَا خَضْرَاوَانِ.</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Sorry, do you mean “honest”?</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Repair to “you” → </a:t>
            </a:r>
            <a:pPr algn="l" indent="0" marL="0">
              <a:buNone/>
            </a:pPr>
            <a:r>
              <a:rPr lang="ar-SA" altLang="en-US" sz="1350" dirty="0">
                <a:solidFill>
                  <a:srgbClr val="5A6472"/>
                </a:solidFill>
                <a:latin typeface="Amiri" pitchFamily="2" charset="-78"/>
                <a:ea typeface="Amiri" pitchFamily="2" charset="-78"/>
                <a:cs typeface="Amiri" pitchFamily="2" charset="-78"/>
              </a:rPr>
              <a:t>تَقْصِدُ</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عَفْوًا، هَلْ تَقْصِدُ «صَادِقٌ»؟</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D2-W05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D2-W05 · Apply workshop (D2-L09 + D2-L10)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صَدِيقِي صَادِقٌ.</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Too short for the exam.</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خَالَتِي طَوِيلَةٌ، وَهُوَ يَعْمَلُ فِي مُسْتَشْفًى.</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he / she slip.</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أَمْسِ نَتَصَالَحُ.</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Time word.</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D2-W05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D2-W05 · Apply workshop (D2-L09 + D2-L10)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صَدِيقِي صَادِقٌ.</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صَدِيقِي صَادِقٌ، لِأَنَّهُ يَقُولُ الحَقِيقَةَ دَائِمًا؛ مَثَلًا …</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Build: reason + example.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خَالَتِي طَوِيلَةٌ، وَهُوَ يَعْمَلُ فِي مُسْتَشْفًى.</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خَالَتِي طَوِيلَةٌ، وَهِيَ تَعْمَلُ فِي مُسْتَشْفًى.</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Keep the same person: ‏</a:t>
            </a:r>
            <a:pPr algn="l" indent="0" marL="0">
              <a:buNone/>
            </a:pPr>
            <a:r>
              <a:rPr lang="ar-SA" altLang="en-US" sz="1500" b="1" dirty="0">
                <a:solidFill>
                  <a:srgbClr val="1B3B6F"/>
                </a:solidFill>
                <a:latin typeface="Amiri" pitchFamily="2" charset="-78"/>
                <a:ea typeface="Amiri" pitchFamily="2" charset="-78"/>
                <a:cs typeface="Amiri" pitchFamily="2" charset="-78"/>
              </a:rPr>
              <a:t>هِيَ تَعْمَلُ</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أَمْسِ نَتَصَالَحُ.</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أَمْسِ تَصَالَحْنَا.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
            </a:r>
            <a:pPr algn="l" indent="0" marL="0">
              <a:buNone/>
            </a:pPr>
            <a:r>
              <a:rPr lang="ar-SA" altLang="en-US" sz="1500" b="1" dirty="0">
                <a:solidFill>
                  <a:srgbClr val="1B3B6F"/>
                </a:solidFill>
                <a:latin typeface="Amiri" pitchFamily="2" charset="-78"/>
                <a:ea typeface="Amiri" pitchFamily="2" charset="-78"/>
                <a:cs typeface="Amiri" pitchFamily="2" charset="-78"/>
              </a:rPr>
              <a:t>أَمْسِ</a:t>
            </a:r>
            <a:pPr algn="l" indent="0" marL="0">
              <a:buNone/>
            </a:pPr>
            <a:r>
              <a:rPr lang="en-US" sz="1150" b="1" dirty="0">
                <a:solidFill>
                  <a:srgbClr val="1B3B6F"/>
                </a:solidFill>
                <a:latin typeface="Calibri" pitchFamily="34" charset="0"/>
                <a:cs typeface="Amiri" pitchFamily="2" charset="-78"/>
              </a:rPr>
              <a:t>‏ → past.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D2-W05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D2-W05 · Apply workshop (D2-L09 + D2-L10)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الصَّيْفِ المَاضِي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Last summer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أَخِيرًا، فِي رَأْيِي هُوَ / هِيَ أَفْضَلُ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Finally, in my opinion he / she is the best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سَأَصِفُ ______ لِأَنَّ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describe … because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هُوَ / هِيَ ______ القَامَةِ، وَشَعْرُهُ / شَعْرُهَا ______ .</a:t>
            </a:r>
            <a:endParaRPr lang="ar-SA" sz="145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is …, and his / her hair is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هُوَ / هِيَ ______ وَ ______ ؛ مَثَلًا ______ .</a:t>
            </a:r>
            <a:endParaRPr lang="ar-SA" sz="17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is … and …; for example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أَحْتَرِمُهُ / أَحْتَرِمُهَا لِأَنَّ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respect him / her because …</a:t>
            </a:r>
            <a:endParaRPr lang="en-US" sz="1050" dirty="0"/>
          </a:p>
        </p:txBody>
      </p:sp>
      <p:sp>
        <p:nvSpPr>
          <p:cNvPr id="33" name="Text 30"/>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وَأَنْتَ / وَأَنْتِ، ______ ؟</a:t>
            </a:r>
            <a:endParaRPr lang="ar-SA" sz="1800" dirty="0"/>
          </a:p>
        </p:txBody>
      </p:sp>
      <p:sp>
        <p:nvSpPr>
          <p:cNvPr id="34" name="Text 31"/>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you, …?</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سَأَصِفُ  ·  القَامَةِ · شَعْرُهُ · عَيْنَاهُ  ·  لَهُ لِحْيَةٌ · لَهَا  ·  مَثَلًا  ·  أَحْتَرِمُهُ · يَدْعَمُنِي  ·  يَرْتَدِي · تَرْتَدِي  ·  بَيْنَمَا · أَكْثَرُ مِنْ  ·  أَفْضَلُ · أَجْمَلُ</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D2-W05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60–80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The script of my best speaking answers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أَفْضَلِ أَجْوِبَتِي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D2-W05 · Apply workshop (D2-L09 + D2-L10)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the script (about 60–80 words) of your portrait and one conversation answer. Include: • who and why • two appearance details (hair masculine, eyes dual) • two qualities with evidence • your relationship with a past example • style and a comparison • a final opinion with a superlative • one question back to the examiner.</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D2-L09 AND D2-L10.</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سَأَصِفُ … لِأَنَّ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describe … because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عَيْنَاهُ / عَيْنَاهَا … · لَهُ / لَهَا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his / her eyes … · he / she has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مَثَلًا، فِي الصَّيْفِ المَاضِي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for example, last summer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أَخِيرًا، فِي رَأْيِي هُوَ / هِيَ أَفْضَلُ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finally, in my opinion he / she is the best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D2-W05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D2-W05 · Apply workshop (D2-L09 + D2-L10)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directly, give a reason, and ask a question back?</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cover all six stages with evidence, a comparison and a superlative?</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D2-W05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D2-W05 · Apply workshop (D2-L09 + D2-L10)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سَأَصِفُ خَالِي عُمَرَ، لِأَنَّهُ قُدْوَتِي.</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will describe my uncle Omar, because he is my role model.</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الشَّخْصُ الَّذِي تُرِيدُ أَنْ تَصِفَهُ؟ وَلِمَاذَا؟</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 طَوِيلُ القَامَةِ، وَشَعْرُهُ رَمَادِيٌّ قَصِيرٌ، وَلَهُ لِحْيَةٌ.</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 is tall, his hair is short and grey, and he has a beard.</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يَبْدُو؟</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 كَرِيمٌ وَصَبُورٌ؛ مَثَلًا، يُسَاعِدُ الجِيرَانَ دَائِمًا.</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 is generous and patient; for example, he always helps the neighbours.</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شَخْصِيَّتُهُ؟</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أَحْتَرِمُهُ كَثِيرًا؛ الأُسْبُوعَ المَاضِيَ عَلَّمَنِي كَيْفَ أُصْلِحُ دَرَّاجَتِي.</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respect him a lot; last week he taught me how to fix my bike.</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عَلَاقَتُكَ بِهِ؟</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يَرْتَدِي مَلَابِسَ رَسْمِيَّةً، بَيْنَمَا أَنَا أُفَضِّلُ المَلَابِسَ الرِّيَاضِيَّةَ. وَأَنْتَ، مَا أُسْلُوبُكَ؟</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 wears formal clothes, whereas I prefer sportswear. And you, what is your style?</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أُسْلُوبُهُ فِي المَلَابِسِ؟ وَهَلْ هُوَ مِثْلُكَ؟</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D2-W05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D2-W05 · Apply workshop (D2-L09 + D2-L10)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سَأَصِفُ جَدَّتِي فَاطِمَةَ، لِأَنَّهَا عَلَّمَتْنِي الكَثِيرَ. هِيَ قَصِيرَةُ القَامَةِ، وَشَعْرُهَا أَبْيَضُ، وَعَيْنَاهَا سَوْدَاوَانِ. هِيَ كَرِيمَةٌ وَصَبُورَةٌ؛ مَثَلًا، تَطْبُخُ لِلْجِيرَانِ كُلَّ جُمُعَةٍ. أَحْتَرِمُهَا كَثِيرًا، وَفِي الصَّيْفِ المَاضِي طَبَخْنَا مَعًا كُلَّ يَوْمٍ. تَرْتَدِي مَلَابِسَ تَقْلِيدِيَّةً، بَيْنَمَا أَنَا أُفَضِّلُ المَلَابِسَ العَصْرِيَّةَ. أَخِيرًا، فِي رَأْيِي هِيَ أَطْيَبُ شَخْصٍ فِي عَائِلَتِنَا. وَأَنْتَ، مَنْ أَهَمُّ شَخْصٍ فِي حَيَاتِكَ؟</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will describe my grandmother Fatima, because she taught me a lot. She is short, her hair is white, and her eyes are black. She is generous and patient; for example, she cooks for the neighbours every Friday. I respect her a lot, and last summer we cooked together every day. She wears traditional clothes, whereas I prefer modern clothes. Finally, in my opinion she is the kindest person in our family. And you, who is the most important person in your life?”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سَأَصِفُ جَدَّتِي</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عَيْنَاهَا سَوْدَاوَانِ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فِي الصَّيْفِ المَاضِي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أَطْيَبُ شَخْصٍ</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D2-W05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D2-W05 · Apply workshop (D2-L09 + D2-L10)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D2-L09 and D2-L10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D2-W05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D2-L11 · Writing — Describing People, Relationships and Style</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الكِتَابَةُ — وَصْفُ النَّاسِ وَالعَلَاقَاتِ وَالأُسْلُوبِ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D2-W05 · Apply Workshop — Speaking Test Rehearsal: Someone Who Matters</dc:title>
  <dc:subject>PptxGenJS Presentation</dc:subject>
  <dc:creator>Al Madina Online School · Arabic Department</dc:creator>
  <cp:lastModifiedBy>Al Madina Online School · Arabic Department</cp:lastModifiedBy>
  <cp:revision>1</cp:revision>
  <dcterms:created xsi:type="dcterms:W3CDTF">2026-10-26T15:28:48Z</dcterms:created>
  <dcterms:modified xsi:type="dcterms:W3CDTF">2026-10-26T15:28:48Z</dcterms:modified>
</cp:coreProperties>
</file>