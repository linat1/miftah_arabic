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D2-L09 · Learn D2-L10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D2-L09 (Speaking — People, Relationships and Style Topic Conversation) and D2-L10 (Speaking — Describing People and Personal Style).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D2-L09 and D2-L10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D2-L09? After D2-L10?” Take two answers in the chat for each lesson (one word or one sentence is enough). Then read objective 3 — today’s new situation that needs BOTH lessons. Students tick their route goals at the end of the lesson.
D2-L09 language: answer directly, then build: reason (li-anna) → example (mathalan) → comparison (baynamā / akthar min); ask a follow-up (wa-anta? · limādhā?); repair: ʿafwan, mā maʿnā …? · hal tuqṣidu …? · aʿid min faḍlik; tenses: present habits, past example, future plan
D2-L10 language: six-stage portrait: who → appearance → qualities + evidence → relationship → style → comparison + opinion; keeping he / she and his / her consistent (-hu / -hā, ya- / ta-); hair masculine, eyes dual; linking the stages (awwalan · baʿda dhālika · akhīran)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D2-L09 and D2-L10. Teacher reads it once with a confident student; then pairs. Ask: “Which lines are from D2-L09? Which from D2-L10?” The six-stage portrait (who → appearance → qualities → relationship → style → opinion) comes from D2-L10; building each answer with a past example, a comparison and a question back (وَأَنْتَ؟) from D2-L09. Line 6 models a repair moment (هَلْ تَقْصِدُ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six portrait stages (D2-L10), each answer built with reason → past example → comparison and repair if needed (D2-L09). FADED SUPPORT: tasks 1–2 show the plan; students write their own plan for 3–5. To a girl Partner A says: مَنِ الشَّخْصُ الَّذِي تُرِيدِينَ أَنْ تَصِفِيهِ؟ · كَيْفَ عَلَاقَتُكِ بِهِ / بِهَا؟.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D2-L09 and D2-L10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D2-L09 and D2-L10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(52 words). CHECK YOURSELF (2 min). Find each bullet point in the model, and one phrase from D2-L09 and one from D2-L10.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D2-L09 + D2-L10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D2-W05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Speaking Test Rehearsal: Someone Who Matters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تَدْرِيبٌ عَلَى اخْتِبَارِ التَّحَدُّثِ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rehearse the speaking test with both lessons: a one-minute, six-stage portrait of someone who matters to them, followed by a topic conversation in which every answer is built (direct answer → reason → past example → comparison), with repair phrases and a question back — then they write the script.</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D2-L09 + D2-L10</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D2-L09 and D2-L10.</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D2-L09 + D2-L10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D2-L09: Speaking — People, Relationships and Style Topic Conversation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D2-L10: Speaking — Describing People and Personal Style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Speaking card — the topic conversation · The script of my best speaking answers</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D2-L09 and D2-L10.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D2-L09</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D2-L09 · Speaking — People, Relationships and Style Topic Conversation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تَتَفَاهَمُ …؟</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1" name="Text 6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72" name="Text 6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73" name="Shape 7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76" name="Shape 7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D2-L10 · Speaking — Describing People and Personal Style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عَيْنَانِ بُنِّيَّتَانِ</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 eyes</a:t>
            </a:r>
            <a:endParaRPr lang="en-US" sz="1350" dirty="0"/>
          </a:p>
          <a:p>
            <a:pPr indent="0" marL="0">
              <a:buNone/>
            </a:pPr>
            <a:r>
              <a:rPr lang="en-US" sz="1100" i="1" dirty="0">
                <a:solidFill>
                  <a:srgbClr val="5A6472"/>
                </a:solidFill>
                <a:latin typeface="Calibri" pitchFamily="34" charset="0"/>
                <a:cs typeface="Amiri" pitchFamily="2" charset="-78"/>
              </a:rPr>
              <a:t>ʿay-nā-ni bun-niy-ya-tā-ni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53" name="Shape 50"/>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56" name="Shape 53"/>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59" name="Shape 56"/>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62" name="Shape 5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4389120"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5" name="Shape 62"/>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7" name="Shape 6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71" name="Shape 68"/>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3" name="Text 70"/>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74" name="Shape 71"/>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6" name="Text 73"/>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77" name="Shape 74"/>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9" name="Text 76"/>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80" name="Shape 7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566928" y="4261104"/>
            <a:ext cx="310896" cy="310896"/>
          </a:xfrm>
          <a:prstGeom prst="ellipse">
            <a:avLst/>
          </a:prstGeom>
          <a:solidFill>
            <a:srgbClr val="F4F1EA"/>
          </a:solidFill>
          <a:ln w="12700">
            <a:solidFill>
              <a:srgbClr val="F4F1EA"/>
            </a:solidFill>
            <a:prstDash val="solid"/>
          </a:ln>
        </p:spPr>
      </p:sp>
      <p:sp>
        <p:nvSpPr>
          <p:cNvPr id="82" name="Text 7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3" name="Text 8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مُجَعَّدٌ</a:t>
            </a:r>
            <a:endParaRPr lang="ar-SA" sz="3000" dirty="0"/>
          </a:p>
        </p:txBody>
      </p:sp>
      <p:sp>
        <p:nvSpPr>
          <p:cNvPr id="84" name="Text 8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curly hair</a:t>
            </a:r>
            <a:endParaRPr lang="en-US" sz="1350" dirty="0"/>
          </a:p>
          <a:p>
            <a:pPr indent="0" marL="0">
              <a:buNone/>
            </a:pPr>
            <a:r>
              <a:rPr lang="en-US" sz="1100" i="1" dirty="0">
                <a:solidFill>
                  <a:srgbClr val="5A6472"/>
                </a:solidFill>
                <a:latin typeface="Calibri" pitchFamily="34" charset="0"/>
                <a:cs typeface="Amiri" pitchFamily="2" charset="-78"/>
              </a:rPr>
              <a:t>shaʿ-run mu-jaʿ-ʿa-dun</a:t>
            </a:r>
            <a:endParaRPr lang="en-US" sz="13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Portrait stage or conversation move?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مَثَلًا، أَمْسِ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سَأَصِفُ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القَامَةِ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تَقْصِدُ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أَحْتَرِمُهَا لِأَنَّ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أَخِيرًا، فِي رَأْيِي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مِنْ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Building a conversation answer · D2-L09</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Portrait stages · D2-L10</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Building a conversation answer · D2-L09</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مَثَلًا، أَمْسِ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تَقْصِدُ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مِنْ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Portrait stages · D2-L10</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سَأَصِفُ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القَامَةِ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أَحْتَرِمُهَا لِأَنَّ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أَخِيرًا، فِي رَأْيِي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Examiner and candidate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المُمْتَحِنُ وَالطَّالِبُ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important person in your life.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صِفْ شَخْصًا مُهِمًّا فِي حَيَاتِكَ.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describe my grandmother, because she taught me a lot. She is short, and her eyes are black.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سَأَصِفُ جَدَّتِي، لِأَنَّهَا عَلَّمَتْنِي الكَثِيرَ. هِيَ قَصِيرَةُ القَامَةِ، وَعَيْنَاهَا سَوْدَاوَانِ.</a:t>
            </a:r>
            <a:endParaRPr lang="ar-SA" sz="185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relationship with her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عَلَاقَتُكَ بِهَا؟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respect her a lot. For example, last summer we cooked together every day.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أَحْتَرِمُهَا كَثِيرًا. مَثَلًا، فِي الصَّيْفِ المَاضِي طَبَخْنَا مَعًا كُلَّ يَوْمٍ.</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her style?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أُسْلُوبُهَا؟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Sorry, do you mean her clothes? … She wears traditional clothes, and she is more elegant than everyone in my family! And you, who is your important person?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عَفْوًا، هَلْ تَقْصِدُ مَلَابِسَهَا؟ … تَرْتَدِي مَلَابِسَ تَقْلِيدِيَّةً، وَهِيَ أَكْثَرُ أَنَاقَةً مِنْ كُلِّ أَفْرَادِ عَائِلَتِي! وَأَنْتَ، مَنْ شَخْصُكَ المُهِمُّ؟</a:t>
            </a:r>
            <a:endParaRPr lang="ar-SA" sz="12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مَثَلًا … · وَأَنْتَ؟</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هُوَ / هِيَ … لِأَنَّ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important person in your life.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شَخْصًا مُهِمًّا فِي حَيَاتِكَ.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عُمْرُهُ / عُمْرُهَا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سَأَصِفُ … ، وَهُوَ / هِيَ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Who are you describing?</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مَنْ تَصِفُ؟</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أَمْسِ / الأُسْبُوعَ المَاضِيَ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 … ، بَيْنَمَا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your relationship with your siblings?</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عَلَاقَتُكَ بِإِخْوَتِكَ؟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وَعَيْنَاهُ / عَيْنَاهَا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هِيَ … القَامَةِ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What does he / she look like?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كَيْفَ يَبْدُو / تَبْدُو؟</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رَاحَةً مِنْ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المَلَابِسَ … لِأَنَّهَا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clothing style?</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أُسْلُوبُكَ فِي المَلَابِسِ؟</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 هِيَ … لِأَنَّهُ / لِأَنَّهَا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What is his / her personality like?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كَيْفَ شَخْصِيَّتُهُ / شَخْصِيَّتُهَا؟</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D2-L09, even numbers from D2-L10.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Speaking card — the topic conversation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سَأَصِفُ … لِأَنَّ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why you chose them.</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الشَّخْصُ الَّذِي تُرِيدُ أَنْ تَصِفَهُ؟ وَلِمَاذَا؟</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هُوَ … القَامَةِ · شَعْرُهُ … · عَيْنَاهُ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appearance details (hair masculine, eyes dual).</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يَبْدُو؟</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qualities with evidence.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شَخْصِيَّتُهُ؟</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past example + an object suffix.</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عَلَاقَتُكَ بِهِ؟</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Style + comparison + a question back.</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أُسْلُوبُهُ فِي المَلَابِسِ؟ وَهَلْ هُوَ مِثْلُكَ؟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Partner A = the examiner.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The one-minute portrait — under test conditions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الصُّورَةُ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your one-minute portrait under test conditions: all six stages in order, linked with ‏</a:t>
            </a:r>
            <a:pPr algn="l" indent="0" marL="0">
              <a:buNone/>
            </a:pPr>
            <a:r>
              <a:rPr lang="ar-SA" altLang="en-US" sz="1750" dirty="0">
                <a:solidFill>
                  <a:srgbClr val="1F2A37"/>
                </a:solidFill>
                <a:latin typeface="Amiri" pitchFamily="2" charset="-78"/>
                <a:ea typeface="Amiri" pitchFamily="2" charset="-78"/>
                <a:cs typeface="Amiri" pitchFamily="2" charset="-78"/>
              </a:rPr>
              <a:t>أَوَّلًا</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بَعْدَ ذٰلِكَ</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أَخِيرًا</a:t>
            </a:r>
            <a:pPr algn="l" indent="0" marL="0">
              <a:buNone/>
            </a:pPr>
            <a:r>
              <a:rPr lang="en-US" sz="1350" dirty="0">
                <a:solidFill>
                  <a:srgbClr val="1F2A37"/>
                </a:solidFill>
                <a:latin typeface="Calibri" pitchFamily="34" charset="0"/>
                <a:cs typeface="Amiri" pitchFamily="2" charset="-78"/>
              </a:rPr>
              <a:t>‏. Your partner times you, ticks the stages, and then asks ONE follow-up question that you answer with a reason and a past example.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سَأَصِفُ … · هُوَ / هِيَ … القَامَةِ · هُوَ / هِيَ … وَ…</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six stages, with eyes as a dual and an object suffix.</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and a superlative, and answer the follow-up without notes.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example, last week my sister supported me.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مَثَلًا،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دَعَمَتْنِي أُخْتِي.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تَدْعَمُنِي أُخْتِي.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is short and her eyes are green.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قَصِيرَةُ القَامَةِ،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قَصِيرُ القَامَةِ،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وَعَيْنَاهَا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وَعَيْنُهَا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خَضْرَاوَانِ.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أَخْضَرُ.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Sorry, do you mean “honest”?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عَفْوًا،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تَقْصِدُ</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يَقْصِدُ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«صَادِقٌ»؟</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«صَادِقَةٌ»؟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example, last week my sister supported me.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example → past verb (</a:t>
            </a:r>
            <a:pPr algn="l" indent="0" marL="0">
              <a:buNone/>
            </a:pPr>
            <a:r>
              <a:rPr lang="ar-SA" altLang="en-US" sz="1350" dirty="0">
                <a:solidFill>
                  <a:srgbClr val="5A6472"/>
                </a:solidFill>
                <a:latin typeface="Amiri" pitchFamily="2" charset="-78"/>
                <a:ea typeface="Amiri" pitchFamily="2" charset="-78"/>
                <a:cs typeface="Amiri" pitchFamily="2" charset="-78"/>
              </a:rPr>
              <a:t>دَعَمَتْنِي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مَثَلًا، الأُسْبُوعَ المَاضِيَ دَعَمَتْنِي أُخْتِي.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is short and her eyes are green.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قَصِيرَةُ</a:t>
            </a:r>
            <a:pPr algn="l" indent="0" marL="0">
              <a:buNone/>
            </a:pPr>
            <a:r>
              <a:rPr lang="en-US" sz="1050" i="1" dirty="0">
                <a:solidFill>
                  <a:srgbClr val="5A6472"/>
                </a:solidFill>
                <a:latin typeface="Calibri" pitchFamily="34" charset="0"/>
                <a:cs typeface="Amiri" pitchFamily="2" charset="-78"/>
              </a:rPr>
              <a:t>; eyes = dual → </a:t>
            </a:r>
            <a:pPr algn="l" indent="0" marL="0">
              <a:buNone/>
            </a:pPr>
            <a:r>
              <a:rPr lang="ar-SA" altLang="en-US" sz="1350" dirty="0">
                <a:solidFill>
                  <a:srgbClr val="5A6472"/>
                </a:solidFill>
                <a:latin typeface="Amiri" pitchFamily="2" charset="-78"/>
                <a:ea typeface="Amiri" pitchFamily="2" charset="-78"/>
                <a:cs typeface="Amiri" pitchFamily="2" charset="-78"/>
              </a:rPr>
              <a:t>خَضْرَاوَانِ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قَصِيرَةُ القَامَةِ، وَعَيْنَاهَا خَضْرَاوَانِ.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Sorry, do you mean “honest”?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Repair to “you” → </a:t>
            </a:r>
            <a:pPr algn="l" indent="0" marL="0">
              <a:buNone/>
            </a:pPr>
            <a:r>
              <a:rPr lang="ar-SA" altLang="en-US" sz="1350" dirty="0">
                <a:solidFill>
                  <a:srgbClr val="5A6472"/>
                </a:solidFill>
                <a:latin typeface="Amiri" pitchFamily="2" charset="-78"/>
                <a:ea typeface="Amiri" pitchFamily="2" charset="-78"/>
                <a:cs typeface="Amiri" pitchFamily="2" charset="-78"/>
              </a:rPr>
              <a:t>تَقْصِدُ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عَفْوًا، هَلْ تَقْصِدُ «صَادِقٌ»؟</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صَدِيقِي صَادِقٌ.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short for the exam.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خَالَتِي طَوِيلَةٌ، وَهُوَ يَعْمَلُ فِي مُسْتَشْفًى.</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he / she slip.</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نَتَصَالَحُ.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صَدِيقِي صَادِقٌ.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صَدِيقِي صَادِقٌ، لِأَنَّهُ يَقُولُ الحَقِيقَةَ دَائِمًا؛ مَثَلًا …</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Build: reason + example.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خَالَتِي طَوِيلَةٌ، وَهُوَ يَعْمَلُ فِي مُسْتَشْفًى.</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خَالَتِي طَوِيلَةٌ، وَهِيَ تَعْمَلُ فِي مُسْتَشْفًى.</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same person: ‏</a:t>
            </a:r>
            <a:pPr algn="l" indent="0" marL="0">
              <a:buNone/>
            </a:pPr>
            <a:r>
              <a:rPr lang="ar-SA" altLang="en-US" sz="1500" b="1" dirty="0">
                <a:solidFill>
                  <a:srgbClr val="1B3B6F"/>
                </a:solidFill>
                <a:latin typeface="Amiri" pitchFamily="2" charset="-78"/>
                <a:ea typeface="Amiri" pitchFamily="2" charset="-78"/>
                <a:cs typeface="Amiri" pitchFamily="2" charset="-78"/>
              </a:rPr>
              <a:t>هِيَ تَعْمَلُ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نَتَصَالَحُ.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تَصَالَحْنَا.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 past.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فِي رَأْيِي هُوَ / هِيَ أَفْضَلُ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in my opinion he / she is the best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سَأَصِفُ ______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describe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______ القَامَةِ، وَشَعْرُهُ / شَعْرُهَا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and his / her hair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هُوَ / هِيَ ______ وَ ______ ؛ مَثَلًا ______ .</a:t>
            </a:r>
            <a:endParaRPr lang="ar-SA" sz="17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and …; for example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أَحْتَرِمُهُ / أَحْتَرِمُهَا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respect him / her because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 وَأَنْتِ،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سَأَصِفُ  ·  القَامَةِ · شَعْرُهُ · عَيْنَاهُ  ·  لَهُ لِحْيَةٌ · لَهَا  ·  مَثَلًا  ·  أَحْتَرِمُهُ · يَدْعَمُنِي  ·  يَرْتَدِي · تَرْتَدِي  ·  بَيْنَمَا · أَكْثَرُ مِنْ  ·  أَفْضَلُ · أَجْمَلُ</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script of my best speaking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أَفْضَلِ أَجْوِبَتِي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the script (about 60–80 words) of your portrait and one conversation answer. Include: • who and why • two appearance details (hair masculine, eyes dual) • two qualities with evidence • your relationship with a past example • style and a comparison • a final opinion with a superlative • one question back to the examiner.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D2-L09 AND D2-L10.</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سَأَصِفُ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describe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 · لَهُ / لَهَا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eyes … · he / she has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فِي الصَّيْفِ المَاضِي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last summer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فِي رَأْيِي هُوَ / هِيَ أَفْضَلُ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finally, in my opinion he / she is the best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directly, give a reason, and ask a question back?</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all six stages with evidence, a comparison and a superlative?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سَأَصِفُ خَالِي عُمَرَ، لِأَنَّهُ قُدْوَتِي.</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describe my uncle Omar, because he is my role model.</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الشَّخْصُ الَّذِي تُرِيدُ أَنْ تَصِفَهُ؟ وَلِمَاذَا؟</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القَامَةِ، وَشَعْرُهُ رَمَادِيٌّ قَصِيرٌ، وَلَهُ لِحْيَةٌ.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tall, his hair is short and grey, and he has a beard.</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يَبْدُو؟</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كَرِيمٌ وَصَبُورٌ؛ مَثَلًا، يُسَاعِدُ الجِيرَانَ دَائِمًا.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generous and patient; for example, he always helps the neighbours.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شَخْصِيَّتُهُ؟</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أَحْتَرِمُهُ كَثِيرًا؛ الأُسْبُوعَ المَاضِيَ عَلَّمَنِي كَيْفَ أُصْلِحُ دَرَّاجَتِي.</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respect him a lot; last week he taught me how to fix my bike.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عَلَاقَتُكَ بِهِ؟</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رَسْمِيَّةً، بَيْنَمَا أَنَا أُفَضِّلُ المَلَابِسَ الرِّيَاضِيَّةَ. وَأَنْتَ، مَا أُسْلُوبُكَ؟</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wears formal clothes, whereas I prefer sportswear. And you, what is your style?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أُسْلُوبُهُ فِي المَلَابِسِ؟ وَهَلْ هُوَ مِثْلُكَ؟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سَأَصِفُ جَدَّتِي فَاطِمَةَ، لِأَنَّهَا عَلَّمَتْنِي الكَثِيرَ. هِيَ قَصِيرَةُ القَامَةِ، وَشَعْرُهَا أَبْيَضُ، وَعَيْنَاهَا سَوْدَاوَانِ. هِيَ كَرِيمَةٌ وَصَبُورَةٌ؛ مَثَلًا، تَطْبُخُ لِلْجِيرَانِ كُلَّ جُمُعَةٍ. أَحْتَرِمُهَا كَثِيرًا، وَفِي الصَّيْفِ المَاضِي طَبَخْنَا مَعًا كُلَّ يَوْمٍ. تَرْتَدِي مَلَابِسَ تَقْلِيدِيَّةً، بَيْنَمَا أَنَا أُفَضِّلُ المَلَابِسَ العَصْرِيَّةَ. أَخِيرًا، فِي رَأْيِي هِيَ أَطْيَبُ شَخْصٍ فِي عَائِلَتِنَا. وَأَنْتَ، مَنْ أَهَمُّ شَخْصٍ فِي حَيَاتِكَ؟</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describe my grandmother Fatima, because she taught me a lot. She is short, her hair is white, and her eyes are black. She is generous and patient; for example, she cooks for the neighbours every Friday. I respect her a lot, and last summer we cooked together every day. She wears traditional clothes, whereas I prefer modern clothes. Finally, in my opinion she is the kindest person in our family. And you, who is the most important person in your life?”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سَأَصِفُ جَدَّتِي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عَيْنَاهَا سَوْدَاوَانِ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الصَّيْفِ المَاضِي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أَطْيَبُ شَخْصٍ</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D2-W05 · Apply workshop (D2-L09 + D2-L10)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D2-L09 and D2-L10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D2-W05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D2-L11 · Writing — Describing People, Relationships and Style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وَصْفُ النَّاسِ وَالعَلَاقَاتِ وَالأُسْلُوبِ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D2-W05 · Apply Workshop — Speaking Test Rehearsal: Someone Who Matters</dc:title>
  <dc:subject>PptxGenJS Presentation</dc:subject>
  <dc:creator>Al Madina Online School · Arabic Department</dc:creator>
  <cp:lastModifiedBy>Al Madina Online School · Arabic Department</cp:lastModifiedBy>
  <cp:revision>1</cp:revision>
  <dcterms:created xsi:type="dcterms:W3CDTF">2026-10-26T15:47:58Z</dcterms:created>
  <dcterms:modified xsi:type="dcterms:W3CDTF">2026-10-26T15:47:58Z</dcterms:modified>
</cp:coreProperties>
</file>