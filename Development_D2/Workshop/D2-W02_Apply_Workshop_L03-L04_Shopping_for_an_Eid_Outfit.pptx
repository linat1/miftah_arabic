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D2-L03 · Learn D2-L04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D2-L03 (Clothes and Accessories — Vocabulary and Shopping) and D2-L04 (Fashion and Identity — Opinions on Style and Dress).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D2-L03 and D2-L04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D2-L03? After D2-L04?” Take two answers in the chat for each lesson (one word or one sentence is enough). Then read objective 3 — today’s new situation that needs BOTH lessons. Students tick their route goals at the end of the lesson.
D2-L03 language: hādhā (m.) / hādhihi (f. and non-human plural); colour agreement (azraqu / zarqāʾu; abyaḍu / bayḍāʾu); shopping phrases: urīdu an ujarriba · hal ʿindakum maqāsun akbaru? · kam thamanuhu / thamanuhā?; numbers with prices
D2-L04 language: opinion + reason: fī raʾyī … li-anna; contrast: wa-lākinna + noun / pronoun; concession: ʿalā al-raghmi min anna … fa-inna …; style adjectives with agreement (anīq / anīqa · ʿaṣrī / ʿaṣriyya · taqlīdī / taqlīdiyya); judging clothes, never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D2-L03 and D2-L04. Teacher reads it once with a confident student; then pairs. Ask: “Which lines are from D2-L03? Which from D2-L04?” Shopping phrases, هٰذَا / هٰذِهِ and colour agreement (الأَبْيَضَ · الزَّرْقَاءُ) come from D2-L03; opinion, reason and concession (عَلَى الرَّغْمِ مِنْ أَنَّ … فَإِنَّ …) from D2-L04. Remind: judge clothes, never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shopping, sizes, prices and colour agreement (D2-L03) with style opinions, contrast and concession (D2-L04). FADED SUPPORT: tasks 1–2 show the plan; students write their own plan for 3–5. To a girl Partner A says: كَيْفَ أُسَاعِدُكِ؟ · هَلْ تُفَضِّلِينَ …؟ — and she may choose: عَبَاءَةً زَرْقَاءَ · فُسْتَانًا أَخْضَرَ.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D2-L03 and D2-L04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D2-L03 and D2-L04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CHECK YOURSELF (2 min). Find each bullet point in the model, and one phrase from D2-L03 and one from D2-L04.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D2-L03 + D2-L04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Shopping for an Eid Outfit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نَشْتَرِي مَلَابِسَ العِيدِ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join clothes shopping with opinions on style: they shop for an Eid outfit (colours that agree, sizes, prices, trying on), discuss traditional versus modern style with a reason, a contrast and a concession, and write a review that includes a balanced opinion about clothes and identity.</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D2-L03 + D2-L04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D2-L03 and D2-L04.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D2-L03 + D2-L04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D2-L03: Clothes and Accessories — Vocabulary and Shopping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D2-L04: Fashion and Identity — Opinions on Style and Dress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Eid market · A review — and my view on fashion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D2-L03 and D2-L04.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D2-L03 · Clothes and Accessories — Vocabulary and Shopping</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تَنُّورَةٌ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تَنَانِيرُ</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التَّنُّورَةُ</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مِعْطَفٌ</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مَعَاطِفُ</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5" name="Text 62"/>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المِعْطَفُ</a:t>
            </a:r>
            <a:endParaRPr lang="ar-SA" sz="135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3" name="Text 80"/>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الحِذَاءُ</a:t>
            </a:r>
            <a:endParaRPr lang="ar-SA" sz="135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مَقَاسٌ</a:t>
            </a:r>
            <a:endParaRPr lang="ar-SA" sz="3000" dirty="0"/>
          </a:p>
        </p:txBody>
      </p:sp>
      <p:sp>
        <p:nvSpPr>
          <p:cNvPr id="93" name="Text 9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size</a:t>
            </a:r>
            <a:endParaRPr lang="en-US" sz="1350" dirty="0"/>
          </a:p>
          <a:p>
            <a:pPr indent="0" marL="0">
              <a:buNone/>
            </a:pPr>
            <a:r>
              <a:rPr lang="en-US" sz="1100" i="1" dirty="0">
                <a:solidFill>
                  <a:srgbClr val="5A6472"/>
                </a:solidFill>
                <a:latin typeface="Calibri" pitchFamily="34" charset="0"/>
                <a:cs typeface="Amiri" pitchFamily="2" charset="-78"/>
              </a:rPr>
              <a:t>ma-qā-sun</a:t>
            </a:r>
            <a:endParaRPr lang="en-US" sz="135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7" name="Shape 9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8" name="Text 9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9" name="Text 9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أُجَرِّبَ</a:t>
            </a:r>
            <a:endParaRPr lang="ar-SA" sz="3000" dirty="0"/>
          </a:p>
        </p:txBody>
      </p:sp>
      <p:sp>
        <p:nvSpPr>
          <p:cNvPr id="100" name="Text 9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try on</a:t>
            </a:r>
            <a:endParaRPr lang="en-US" sz="1350" dirty="0"/>
          </a:p>
          <a:p>
            <a:pPr indent="0" marL="0">
              <a:buNone/>
            </a:pPr>
            <a:r>
              <a:rPr lang="en-US" sz="1100" i="1" dirty="0">
                <a:solidFill>
                  <a:srgbClr val="5A6472"/>
                </a:solidFill>
                <a:latin typeface="Calibri" pitchFamily="34" charset="0"/>
                <a:cs typeface="Amiri" pitchFamily="2" charset="-78"/>
              </a:rPr>
              <a:t>u-rī-du an u-jar-ri-ba</a:t>
            </a:r>
            <a:endParaRPr lang="en-US" sz="13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D2-L04 · Fashion and Identity — Opinions on Style and Dress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82" name="Text 7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6" name="Shape 8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 وَ … وَ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 لِأَنَّ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جِهَةٍ … وَمِنْ جِهَةٍ أُخْرَى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ثَمَنُهُ / ثَمَنُهَا … جُنَيْهًا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المُشْكِلَةُ أَنَّ المَقَاسَ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النِّهَايَةِ أَرَى 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سَأُرْجِعُهُ / سَأُرْجِعُهَا · تَقْيِيمِي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D2-L03 · Clothes and Accessories — Vocabulary and Shopping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D2-L04 · Fashion and Identity — Opinions on Style and Dress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D2-L03 · Clothes and Accessories — Vocabulary and Shopping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 وَ … وَ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ثَمَنُهُ / ثَمَنُهَا … جُنَيْهًا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المُشْكِلَةُ أَنَّ المَقَاسَ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سَأُرْجِعُهُ / سَأُرْجِعُهَا · تَقْيِيمِي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D2-L04 · Fashion and Identity — Opinions on Style and Dress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 لِأَنَّ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جِهَةٍ … وَمِنْ جِهَةٍ أُخْرَى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النِّهَايَةِ أَرَى 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clothes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مَحَلِّ المَلَابِسِ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to try on this white shirt,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أُرِيدُ أَنْ أُجَرِّبَ هٰذَا القَمِيصَ الأَبْيَضَ،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And this blue abaya is lovely too.</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تَفَضَّلْ. وَهٰذِهِ العَبَاءَةُ الزَّرْقَاءُ أَيْضًا جَمِيلَةٌ.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bigger size? And how much is it?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عِنْدَكُمْ مَقَاسٌ أَكْبَرُ؟ وَكَمْ ثَمَنُهُ؟</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It costs twenty-five pounds.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ثَمَنُهُ خَمْسَةٌ وَعِشْرُونَ جُنَيْهًا.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traditional clothes are elegant at Eid, because they express our culture.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فِي رَأْيِي المَلَابِسُ التَّقْلِيدِيَّةُ أَنِيقَةٌ فِي العِيدِ، لِأَنَّهَا تُعَبِّرُ عَنْ ثَقَافَتِنَا.</a:t>
            </a:r>
            <a:endParaRPr lang="ar-SA" sz="185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Although modern clothes are comfortable, I agree with you.</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عَلَى الرَّغْمِ مِنْ أَنَّ المَلَابِسَ العَصْرِيَّةَ مُرِيحَةٌ، فَإِنَّنِي أُوَافِقُكَ.</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وَحِذَاءً أَسْوَدَ</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أَلْبَسُ قَمِيصًا … وَسِرْوَالًا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wear to school?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تَلْبَسُ إِلَى المَدْرَسَةِ؟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 وَلٰكِنَّ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المَوْضَةُ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of fashion?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المَوْضَةِ؟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أُحِبُّ اللَّوْنَ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colour in clothes?</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لَوْنُكَ المُفَضَّلُ فِي المَلَابِسِ؟</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الرَّغْمِ مِنْ أَنَّ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لِأَنَّهَا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 or traditional clothes?</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تُفَضِّلُ المَلَابِسَ العَصْرِيَّةَ أَمِ التَّقْلِيدِيَّةَ؟</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غَالِيَةٌ / رَخِيصَةٌ</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ثَمَنُهَا … جُنَيْهًا</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هٰذِهِ الحَقِيبَةِ؟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فِي العِيدِ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أَلْبَسُ … أَنِيقًا / أَنِيقَةً</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wear on a formal occasion?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تَلْبَسُ فِي مُنَاسَبَةٍ رَسْمِيَّةٍ؟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D2-L03, even numbers from D2-L04.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Role-play card — at the Eid market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سُوقِ 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أُرِيدُ … أَبْيَضَ / زَرْقَاءَ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want, with a colour that agrees.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كَيْفَ أُسَاعِدُكَ؟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مَقَاسٌ ← أُرِيدُ أَنْ أُجَرِّبَ … هَلْ عِنْدَكُمْ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to try it on and ask for another size.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تَفَضَّلْ، هٰذَا مَقَاسٌ مُتَوَسِّطٌ.</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React to the price and decide.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ثَمَنُ القَمِيصِ ثَلَاثُونَ جُنَيْهًا.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reason + contrast.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تُفَضِّلُ المَلَابِسَ التَّقْلِيدِيَّةَ أَمِ العَصْرِيَّةَ فِي العِيدِ؟</a:t>
            </a:r>
            <a:endParaRPr lang="ar-SA" sz="16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concession with ‏</a:t>
            </a:r>
            <a:pPr algn="l" indent="0" marL="0">
              <a:buNone/>
            </a:pPr>
            <a:r>
              <a:rPr lang="ar-SA" altLang="en-US" sz="1450" dirty="0">
                <a:solidFill>
                  <a:srgbClr val="5A6472"/>
                </a:solidFill>
                <a:latin typeface="Amiri" pitchFamily="2" charset="-78"/>
                <a:ea typeface="Amiri" pitchFamily="2" charset="-78"/>
                <a:cs typeface="Amiri" pitchFamily="2" charset="-78"/>
              </a:rPr>
              <a:t>عَلَى الرَّغْمِ مِنْ أَنَّ … فَإِنَّ</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المَلَابِسُ تُعَبِّرُ عَنِ الشَّخْصِيَّةِ؟</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customer · Partner A = the shop assistant.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My Eid outfit — and what I think about fashion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مَلَابِسُ العِيدِ وَرَأْيِي فِي المَوْضَةِ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what you will wear (or wore) for Eid — three items with colours and prices — where you bought them, and your opinion on traditional versus modern clothes, with a reason, a contrast and a concession.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سَأَلْبَسُ … أَبْيَضَ · ثَمَنُهُ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فِي رَأْيِي … لِأَنَّ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وَلٰكِنَّ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عَلَى الرَّغْمِ مِنْ أَنَّ … فَإِنَّ</a:t>
            </a:r>
            <a:pPr algn="l" indent="0" marL="0">
              <a:buNone/>
            </a:pPr>
            <a:r>
              <a:rPr lang="en-US" sz="1150" dirty="0">
                <a:solidFill>
                  <a:srgbClr val="1F2A37"/>
                </a:solidFill>
                <a:latin typeface="Calibri" pitchFamily="34" charset="0"/>
                <a:cs typeface="Amiri" pitchFamily="2" charset="-78"/>
              </a:rPr>
              <a:t> …‏ and four style adjectives that agree.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want to try on this red dress.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 أَنْ أُجَرِّبَ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 أَنْ أُجَرِّبُ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الفُسْتَانَ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الفُسْتَانَ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الأَحْمَرَ.</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الحَمْرَاءَ.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my opinion this dress is elegant.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رَأْيِي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رَأْيِيَ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الفُسْتَانُ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الفُسْتَانُ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أَنِيقٌ.</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أَنِيقَةٌ.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 much is this white skirt?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التَّنُّورَةِ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التَّنُّورَةِ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البَيْضَاءِ؟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الأَبْيَضِ؟</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want to try on this red dress.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فُسْتَانٌ</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هٰذَا</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أَحْمَرُ</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أُرِيدُ أَنْ أُجَرِّبَ هٰذَا الفُسْتَانَ الأَحْمَرَ.</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my opinion this dress is elegant.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فُسْتَانٌ</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هٰذَا</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أَنِيقٌ</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رَأْيِي هٰذَا الفُسْتَانُ أَنِيقٌ.</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 much is this white skirt?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تَنُّورَةٌ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بَيْضَاءُ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كَمْ ثَمَنُ هٰذِهِ التَّنُّورَةِ البَيْضَاءِ؟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الحَقِيبَةُ جَمِيلَةٌ.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حَقِيبَةٌ</a:t>
            </a:r>
            <a:pPr algn="l" indent="0" marL="0">
              <a:buNone/>
            </a:pPr>
            <a:r>
              <a:rPr lang="en-US" sz="1300" i="1" dirty="0">
                <a:solidFill>
                  <a:srgbClr val="5A6472"/>
                </a:solidFill>
                <a:latin typeface="Calibri" pitchFamily="34" charset="0"/>
                <a:cs typeface="Amiri" pitchFamily="2" charset="-78"/>
              </a:rPr>
              <a:t> is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المَلَابِسُ التَّقْلِيدِيَّةُ أَنِيقُونَ.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Non-human plural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السُّتْرَةَ الأَزْرَقَ.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Colour agreement.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الحَقِيبَةُ جَمِيلَةٌ.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الحَقِيبَةُ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المَلَابِسُ التَّقْلِيدِيَّةُ أَنِيقُونَ.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المَلَابِسُ التَّقْلِيدِيَّةُ أَنِيقَةٌ.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in the plural →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السُّتْرَةَ الأَزْرَقَ.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السُّتْرَةَ الزَّرْقَاءَ.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colour: ‏</a:t>
            </a:r>
            <a:pPr algn="l" indent="0" marL="0">
              <a:buNone/>
            </a:pPr>
            <a:r>
              <a:rPr lang="ar-SA" altLang="en-US" sz="1500" b="1" dirty="0">
                <a:solidFill>
                  <a:srgbClr val="1B3B6F"/>
                </a:solidFill>
                <a:latin typeface="Amiri" pitchFamily="2" charset="-78"/>
                <a:ea typeface="Amiri" pitchFamily="2" charset="-78"/>
                <a:cs typeface="Amiri" pitchFamily="2" charset="-78"/>
              </a:rPr>
              <a:t>زَرْقَاءُ</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لِلْعِيدِ ______ وَ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Eid I bought … and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 ______ ______ جُنَيْهًا.</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cost … pounds.</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المُشْكِلَةُ أَنَّ ______ ، لِذٰلِكَ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problem is that …, so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تَقْيِيمِي: ______ / ٥</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rating: … / 5</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المَلَابِسُ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clothes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قَمِيصٌ · عَبَاءَةٌ  ·  فُسْتَانٌ · حِذَاءٌ  ·  أَبْيَضُ · بَيْضَاءُ  ·  أَزْرَقُ · زَرْقَاءُ  ·  مَقَاسٌ أَكْبَرُ  ·  أَنِيقٌ · عَصْرِيٌّ · تَقْلِيدِيٌّ  ·  وَلٰكِنَّ  ·  عَلَى الرَّغْمِ مِنْ أَنَّ … فَإِنَّ …</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review — and my view on fashion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وَرَأْيٌ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review (about 60–80 words) of the shop where you bought your Eid outfit. Include: • three items with colours that agree and prices • one problem (size or colour) and what you did • your rating out of five • a balanced opinion on clothes and identity, with a reason, a contrast (‏</a:t>
            </a:r>
            <a:pPr algn="l" indent="0" marL="0">
              <a:buNone/>
            </a:pPr>
            <a:r>
              <a:rPr lang="ar-SA" altLang="en-US" sz="1450" b="1" dirty="0">
                <a:solidFill>
                  <a:srgbClr val="1F2A37"/>
                </a:solidFill>
                <a:latin typeface="Amiri" pitchFamily="2" charset="-78"/>
                <a:ea typeface="Amiri" pitchFamily="2" charset="-78"/>
                <a:cs typeface="Amiri" pitchFamily="2" charset="-78"/>
              </a:rPr>
              <a:t>وَلٰكِنَّ</a:t>
            </a:r>
            <a:pPr algn="l" indent="0" marL="0">
              <a:buNone/>
            </a:pPr>
            <a:r>
              <a:rPr lang="en-US" sz="1100" b="1" dirty="0">
                <a:solidFill>
                  <a:srgbClr val="1F2A37"/>
                </a:solidFill>
                <a:latin typeface="Calibri" pitchFamily="34" charset="0"/>
                <a:cs typeface="Amiri" pitchFamily="2" charset="-78"/>
              </a:rPr>
              <a:t>‏) and a concession.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D2-L03 AND D2-L04.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 أَبْيَضَ وَ… زَرْقَاءَ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a white … and a blue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ثَمَنُهُ / ثَمَنُهَا … جُنَيْهًا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cost …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المُشْكِلَةُ أَنَّ المَقَاسَ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problem is that the size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and make the colour agree?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 it with ‏</a:t>
            </a:r>
            <a:pPr algn="l" indent="0" marL="0">
              <a:buNone/>
            </a:pPr>
            <a:r>
              <a:rPr lang="ar-SA" altLang="en-US" sz="1450" dirty="0">
                <a:solidFill>
                  <a:srgbClr val="5A6472"/>
                </a:solidFill>
                <a:latin typeface="Amiri" pitchFamily="2" charset="-78"/>
                <a:ea typeface="Amiri" pitchFamily="2" charset="-78"/>
                <a:cs typeface="Amiri" pitchFamily="2" charset="-78"/>
              </a:rPr>
              <a:t>وَلٰكِنَّ</a:t>
            </a:r>
            <a:pPr algn="l" indent="0" marL="0">
              <a:buNone/>
            </a:pPr>
            <a:r>
              <a:rPr lang="en-US" sz="1100" dirty="0">
                <a:solidFill>
                  <a:srgbClr val="5A6472"/>
                </a:solidFill>
                <a:latin typeface="Calibri" pitchFamily="34" charset="0"/>
                <a:cs typeface="Amiri" pitchFamily="2" charset="-78"/>
              </a:rPr>
              <a:t>‏ and a concession (‏</a:t>
            </a:r>
            <a:pPr algn="l" indent="0" marL="0">
              <a:buNone/>
            </a:pPr>
            <a:r>
              <a:rPr lang="ar-SA" altLang="en-US" sz="1450" dirty="0">
                <a:solidFill>
                  <a:srgbClr val="5A6472"/>
                </a:solidFill>
                <a:latin typeface="Amiri" pitchFamily="2" charset="-78"/>
                <a:ea typeface="Amiri" pitchFamily="2" charset="-78"/>
                <a:cs typeface="Amiri" pitchFamily="2" charset="-78"/>
              </a:rPr>
              <a:t>عَلَى الرَّغْمِ مِنْ أَنَّ … فَإِنَّ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قَمِيصًا أَبْيَضَ وَسِرْوَالًا رَمَادِيًّا لِلْعِيدِ.</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a white shirt and grey trousers for Eid.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كَيْفَ أُسَاعِدُكَ؟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أُجَرِّبَهُ. هَلْ عِنْدَكُمْ مَقَاسٌ أَكْبَرُ؟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to try it on. Do you have a bigger size?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تَفَضَّلْ، هٰذَا مَقَاسٌ مُتَوَسِّطٌ.</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غَالٍ قَلِيلًا، وَلٰكِنَّهُ أَنِيقٌ جِدًّا، لِذٰلِكَ سَآخُذُهُ.</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is a little expensive, but it is very elegant, so I will take it.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 القَمِيصِ ثَلَاثُونَ جُنَيْهًا.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التَّقْلِيدِيَّةَ فِي العِيدِ لِأَنَّهَا جَمِيلَةٌ، وَلٰكِنَّ العَصْرِيَّةَ أَكْثَرُ رَاحَةً فِي المَدْرَسَةِ.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traditional clothes at Eid because they are beautiful, but modern ones are more comfortable at school.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هَلْ تُفَضِّلُ المَلَابِسَ التَّقْلِيدِيَّةَ أَمِ العَصْرِيَّةَ فِي العِيدِ؟</a:t>
            </a:r>
            <a:endParaRPr lang="ar-SA" sz="15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 المَلَابِسَ تُعَبِّرُ عَنْ ذَوْقِنَا، فَإِنَّ الشَّخْصِيَّةَ أَهَمُّ.</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Although clothes express our taste, personality is more important.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المَلَابِسُ تُعَبِّرُ عَنِ الشَّخْصِيَّةِ؟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اشْتَرَيْتُ لِلْعِيدِ مِنْ مَحَلِّ «النُّورِ» قَمِيصًا أَبْيَضَ وَسِرْوَالًا رَمَادِيًّا وَحِذَاءً أَسْوَدَ. ثَمَنُ القَمِيصِ خَمْسَةٌ وَعِشْرُونَ جُنَيْهًا، وَالحِذَاءُ أَرْبَعُونَ جُنَيْهًا. المُشْكِلَةُ أَنَّ المَقَاسَ كَانَ صَغِيرًا، لِذٰلِكَ أَرْجَعْتُهُ وَأَخَذْتُ مَقَاسًا أَكْبَرَ. تَقْيِيمِي: أَرْبَعَةٌ مِنْ خَمْسَةٍ. فِي رَأْيِي المَلَابِسُ التَّقْلِيدِيَّةُ أَنِيقَةٌ فِي العِيدِ لِأَنَّهَا تُعَبِّرُ عَنْ ثَقَافَتِنَا، وَلٰكِنَّ المَلَابِسَ العَصْرِيَّةَ أَكْثَرُ رَاحَةً. عَلَى الرَّغْمِ مِنْ أَنَّ المَلَابِسَ مُهِمَّةٌ، فَإِنَّ الأَخْلَاقَ أَهَمُّ.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“For Eid I bought a white shirt, grey trousers and black shoes from Al-Nour shop. The shirt cost twenty-five pounds, and the shoes forty pounds. The problem was that the size was small, so I returned it and took a bigger size. My rating: four out of five. In my opinion traditional clothes are elegant at Eid because they express our culture, but modern clothes are more comfortable. Although clothes are important, good character is more important.”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قَمِيصًا أَبْيَضَ</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خَمْسَةٌ وَعِشْرُونَ جُنَيْهًا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وَلٰكِنَّ المَلَابِسَ العَصْرِيَّةَ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فَإِنَّ الأَخْلَاقَ أَهَمُّ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D2-W02 · Apply workshop (D2-L03 + D2-L04)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D2-L03 and D2-L04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D2-L05 · Comparing People and Clothes — More, Less and Better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المُقَارَنَةُ بَيْنَ النَّاسِ وَالمَلَابِسِ — أَكْثَرُ وَأَقَلُّ وَأَفْضَلُ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D2-W02 · Apply Workshop — Shopping for an Eid Outfit</dc:title>
  <dc:subject>PptxGenJS Presentation</dc:subject>
  <dc:creator>Al Madina Online School · Arabic Department</dc:creator>
  <cp:lastModifiedBy>Al Madina Online School · Arabic Department</cp:lastModifiedBy>
  <cp:revision>1</cp:revision>
  <dcterms:created xsi:type="dcterms:W3CDTF">2026-10-26T15:47:55Z</dcterms:created>
  <dcterms:modified xsi:type="dcterms:W3CDTF">2026-10-26T15:47:55Z</dcterms:modified>
</cp:coreProperties>
</file>