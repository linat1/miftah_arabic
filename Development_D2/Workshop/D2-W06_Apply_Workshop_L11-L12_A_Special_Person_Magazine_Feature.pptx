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D2-L11 · Learn D2-L12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D2-L11 (Writing — Describing People, Relationships and Style) and D2-L12 (Review and Unit Assessment).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D2-L11 and D2-L12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D2-L11? After D2-L12?” Take two answers in the chat for each lesson (one word or one sentence is enough). Then read objective 3 — today’s new situation that needs BOTH lessons. Students tick their route goals at the end of the lesson.
D2-L11 language: three-paragraph plan: (1) person + appearance · (2) personality + relationship · (3) style + opinion; checking agreement (m. / f. / pl.; non-human plural → f. sg.), references (-hu / -hā), connectors (li-anna · wa-lākinna · baynamā · ʿalā al-raghmi min anna … fa-inna)
D2-L12 language: D2 review: adjective agreement (m. / f. / pl. / non-human pl.); laysa + -an; relationship verbs + prepositions and object suffixes; hādhā / hādhihi + colour agreement; comparatives and superlatives; appearance (hair m., eyes dual, lahu / lahā, alladhī / allatī); opinions with li-anna · wa-lākinna · ʿalā al-raghmi min anna … fa-inna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D2-L11 and D2-L12. Teacher reads it once with a confident student; then pairs. Ask: “Which lines are from D2-L11? Which from D2-L12?” The three-paragraph content (person + appearance · personality + relationship · style + opinion) and كَمَا أَنَّ come from D2-L11; all the D2 structures under review (agreement, evidence, concession) from D2-L12.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every D2 structure under review (D2-L12) in the order of the three-paragraph plan (D2-L11). FADED SUPPORT: tasks 1–2 show the plan; students write their own plan for 3–5. To a girl Partner A says: مَنِ الشَّخْصُ المُمَيَّزُ فِي حَيَاتِكِ؟ · كَيْفَ عَلَاقَتُكُمَا؟ · هَلِ المَظْهَرُ مُهِمٌّ فِي رَأْيِكِ؟.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D2-L11 and D2-L12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D2-L11 and D2-L12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(53 words). CHECK YOURSELF (2 min). Find each bullet point in the model, and one phrase from D2-L11 and one from D2-L12.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D2-L11 + D2-L12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Special Person: Magazine Feature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شَخْصٌ مُمَيَّزٌ</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50" dirty="0">
                <a:solidFill>
                  <a:srgbClr val="C6D2E6"/>
                </a:solidFill>
                <a:latin typeface="Calibri" pitchFamily="34" charset="0"/>
                <a:cs typeface="Amiri" pitchFamily="2" charset="-78"/>
              </a:rPr>
              <a:t>Students use all of D2 for one real purpose: the school magazine is running a “special people” feature, so they interview each other about someone important (appearance, personality with evidence, relationship, style, opinion), then plan and write a three-paragraph feature, checking agreement, references and connectors.</a:t>
            </a:r>
            <a:endParaRPr lang="en-US" sz="11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D2-L11 + D2-L12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D2-L11 and D2-L12.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D2-L11 + D2-L12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D2-L11: Writing — Describing People, Relationships and Style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D2-L12: Review and Unit Assessment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magazine interview · Magazine feature: a special person</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D2-L11 and D2-L12.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D2-L11 · Writing — Describing People, Relationships and Style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خَجُولٌ / خَجُولَةٌ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أَنَانِيٌّ / أَنَانِيَّةٌ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selfish</a:t>
            </a:r>
            <a:endParaRPr lang="en-US" sz="1350" dirty="0"/>
          </a:p>
          <a:p>
            <a:pPr indent="0" marL="0">
              <a:buNone/>
            </a:pPr>
            <a:r>
              <a:rPr lang="en-US" sz="1100" i="1" dirty="0">
                <a:solidFill>
                  <a:srgbClr val="5A6472"/>
                </a:solidFill>
                <a:latin typeface="Calibri" pitchFamily="34" charset="0"/>
                <a:cs typeface="Amiri" pitchFamily="2" charset="-78"/>
              </a:rPr>
              <a:t>a-nā-niy-yun / a-nā-niy-ya-tun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أَنَانِيُّونَ</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أَنَانِيَّةٌ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أَنَانِيٌّ</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D2-L12 · Review and Unit Assessment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 (m. · f.)</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أَتَفَاهَمُ مَعَ</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يَدْعَمُنِي · تَدْعَمُنِي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 she supports me</a:t>
            </a:r>
            <a:endParaRPr lang="en-US" sz="1350" dirty="0"/>
          </a:p>
          <a:p>
            <a:pPr indent="0" marL="0">
              <a:buNone/>
            </a:pPr>
            <a:r>
              <a:rPr lang="en-US" sz="1100" i="1" dirty="0">
                <a:solidFill>
                  <a:srgbClr val="5A6472"/>
                </a:solidFill>
                <a:latin typeface="Calibri" pitchFamily="34" charset="0"/>
                <a:cs typeface="Amiri" pitchFamily="2" charset="-78"/>
              </a:rPr>
              <a:t>yad-ʿa-mu-nī · tad-ʿa-mu-nī</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أَرْخَصُ مِنْ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than</a:t>
            </a:r>
            <a:endParaRPr lang="en-US" sz="1350" dirty="0"/>
          </a:p>
          <a:p>
            <a:pPr indent="0" marL="0">
              <a:buNone/>
            </a:pPr>
            <a:r>
              <a:rPr lang="en-US" sz="1100" i="1" dirty="0">
                <a:solidFill>
                  <a:srgbClr val="5A6472"/>
                </a:solidFill>
                <a:latin typeface="Calibri" pitchFamily="34" charset="0"/>
                <a:cs typeface="Amiri" pitchFamily="2" charset="-78"/>
              </a:rPr>
              <a:t>ar-kha-ṣu min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شَعْرُهَا طَوِيلٌ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 hair is long</a:t>
            </a:r>
            <a:endParaRPr lang="en-US" sz="1350" dirty="0"/>
          </a:p>
          <a:p>
            <a:pPr indent="0" marL="0">
              <a:buNone/>
            </a:pPr>
            <a:r>
              <a:rPr lang="en-US" sz="1100" i="1" dirty="0">
                <a:solidFill>
                  <a:srgbClr val="5A6472"/>
                </a:solidFill>
                <a:latin typeface="Calibri" pitchFamily="34" charset="0"/>
                <a:cs typeface="Amiri" pitchFamily="2" charset="-78"/>
              </a:rPr>
              <a:t>shaʿ-ru-hā ṭa-wī-lun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الَّذِي · الَّتِي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(m. · f.)</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al-َ-dhī · al-َ-tī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Agreement or connector?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صَبُورَةٌ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وَلٰكِنَّ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بَيْنَمَا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مُجْتَهِدُونَ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شَعْرُهَا طَوِيلٌ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كَمَا أَنَّ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أَنَّ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زَرْقَاوَانِ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Agreement: m. · f. · plural</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Connectors and concession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Agreement: m. · f. · plural</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صَبُورَةٌ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مُجْتَهِدُونَ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شَعْرُهَا طَوِيلٌ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زَرْقَاوَانِ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Connectors and concession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وَلٰكِنَّ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بَيْنَمَا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كَمَا أَنَّ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أَنَّ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for the magazine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لِلْمَجَلَّةِ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write about a special person in your life. Who is it?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أُرِيدُ أَنْ أَكْتُبَ عَنْ شَخْصٍ مُمَيَّزٍ فِي حَيَاتِكَ. مَنْ هُوَ؟</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aunt Maryam. She is a doctor, and she is tall and her hair is black.</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خَالَتِي مَرْيَمُ. هِيَ طَبِيبَةٌ، وَهِيَ طَوِيلَةُ القَامَةِ وَشَعْرُهَا أَسْوَدُ.</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her personality like?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شَخْصِيَّتُهَا؟</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is patient and generous, and she is also cheerful; for example, she visits patients in the holidays.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هِيَ صَبُورَةٌ وَكَرِيمَةٌ، كَمَا أَنَّهَا مَرِحَةٌ؛ مَثَلًا، تَزُورُ المَرْضَى فِي العُطْلَةِ.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do you think of her style?</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 رَأْيُكَ فِي أُسْلُوبِهَا؟</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Although her clothes are simple, she is always elegant.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عَلَى الرَّغْمِ مِنْ أَنَّ مَلَابِسَهَا بَسِيطَةٌ، فَإِنَّهَا أَنِيقَةٌ دَائِمًا.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وَعَيْنَاهُ / عَيْنَاهَا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سَأَكْتُبُ عَنْ … هُوَ / هِيَ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Paragraph 1: who, and what do they look like?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الفِقْرَةُ ١: مَنْ هُوَ / هِيَ؟ وَكَيْفَ يَبْدُو / تَبْدُو؟</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وَلَيْسَ / وَلَيْسَتْ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صَبُورٌ / صَبُورَةٌ لِأَنَّهُ / لِأَنَّهَا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family member’s personality.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شَخْصِيَّةَ أَحَدِ أَفْرَادِ عَائِلَتِكَ.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وَلٰكِنَّهُ / وَلٰكِنَّهَا أَحْيَانًا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وَ … لِأَنَّهُ / لِأَنَّهَا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Paragraph 2: personality?</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الفِقْرَةُ ٢: كَيْفَ شَخْصِيَّتُهُ / شَخْصِيَّتُهَا؟</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يَدْعَمُنِي / تَدْعَمُنِي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أَتَفَاهَمُ مَعَ … لِأَنَّ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 you get on with most? Why?</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مَعَ مَنْ تَتَفَاهَمُ أَكْثَرَ؟ لِمَاذَا؟</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أَتَفَاهَمُ مَعَهُ / مَعَهَا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Paragraph 2: your relationship?</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الفِقْرَةُ ٢: كَيْفَ عَلَاقَتُكُمَا؟</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مُرِيحٌ</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أَلْبَسُ … أَزْرَقَ / زَرْقَاءَ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wear in the holidays?</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تَلْبَسُ فِي العُطْلَةِ؟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D2-L11, even numbers from D2-L12.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Role-play card — the magazine interview</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المَجَلَّةِ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 هُوَ / هِيَ … القَامَةِ · شَعْرُهُ / شَعْرُهَا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 two appearance details.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الشَّخْصُ المُمَيَّزُ فِي حَيَاتِكَ؟ وَكَيْفَ يَبْدُو؟</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هُوَ … كَمَا أَنَّهُ … ؛ مَثَلًا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qualities with evidence.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شَخْصِيَّتُهُ؟ مَا الدَّلِيلُ؟</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Relationship + a past example.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عَلَاقَتُكُمَا؟ اذْكُرْ شَيْئًا فَعَلْتُمَاهُ مَعًا.</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Style + comparison.</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أُسْلُوبُهُ فِي المَلَابِسِ؟</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balanced opinion with a concession.</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المَظْهَرُ مُهِمٌّ فِي رَأْيِكَ؟</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interviewee · Partner A = the magazine reporter.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My special person — the spoken feature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شَخْصِي المُمَيَّزُ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in three parts, like the three paragraphs you will write: (1) who and what they look like, (2) personality with evidence and your relationship with a past example, (3) style and a balanced opinion with a concession.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هُوَ / هِيَ … · شَعْرُهُ / شَعْرُهَا … · أُحِبُّهُ / أُحِبُّهَا لِأَنَّ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كَمَا أَنَّ</a:t>
            </a:r>
            <a:pPr algn="l" indent="0" marL="0">
              <a:buNone/>
            </a:pPr>
            <a:r>
              <a:rPr lang="en-US" sz="1150" dirty="0">
                <a:solidFill>
                  <a:srgbClr val="1F2A37"/>
                </a:solidFill>
                <a:latin typeface="Calibri" pitchFamily="34" charset="0"/>
                <a:cs typeface="Amiri" pitchFamily="2" charset="-78"/>
              </a:rPr>
              <a:t> …‏ and a past example (‏</a:t>
            </a:r>
            <a:pPr algn="l" indent="0" marL="0">
              <a:buNone/>
            </a:pPr>
            <a:r>
              <a:rPr lang="ar-SA" altLang="en-US" sz="1500" dirty="0">
                <a:solidFill>
                  <a:srgbClr val="1F2A37"/>
                </a:solidFill>
                <a:latin typeface="Amiri" pitchFamily="2" charset="-78"/>
                <a:ea typeface="Amiri" pitchFamily="2" charset="-78"/>
                <a:cs typeface="Amiri" pitchFamily="2" charset="-78"/>
              </a:rPr>
              <a:t>فِي الصَّيْفِ المَاضِي</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 a superlative and ‏</a:t>
            </a:r>
            <a:pPr algn="l" indent="0" marL="0">
              <a:buNone/>
            </a:pPr>
            <a:r>
              <a:rPr lang="ar-SA" altLang="en-US" sz="1500" dirty="0">
                <a:solidFill>
                  <a:srgbClr val="1F2A37"/>
                </a:solidFill>
                <a:latin typeface="Amiri" pitchFamily="2" charset="-78"/>
                <a:ea typeface="Amiri" pitchFamily="2" charset="-78"/>
                <a:cs typeface="Amiri" pitchFamily="2" charset="-78"/>
              </a:rPr>
              <a:t>عَلَى الرَّغْمِ مِنْ أَنَّ … فَإِنَّ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His clothes are simple and practical.</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مَلَابِسُهُ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مَلَابِسُهَا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بَسِيطَةٌ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بَسِيطُونَ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وَعَمَلِيَّةٌ.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وَعَمَلِيٌّ.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cousin (f.) isn’t shy; she is confident.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ابْنَةُ عَمِّي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ابْنُ عَمِّي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لَيْسَتْ خَجُولَةً،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لَيْسَتْ خَجُولَةٌ،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وَاثِقَةٌ.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وَاثِقٌ.</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is shy, but she is confident in class.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خَجُولَةٌ،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خَجُولٌ،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وَلٰكِنَّهَا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وَلٰكِنَّهُ</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وَاثِقَةٌ فِي الصَّفِّ.</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وَاثِقٌ فِي الصَّفِّ.</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His clothes are simple and practical.</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Non-human plural → feminine singular adjectives.</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مَلَابِسُهُ بَسِيطَةٌ وَعَمَلِيَّةٌ.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cousin (f.) isn’t shy; she is confident.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لَيْسَتْ</a:t>
            </a:r>
            <a:pPr algn="l" indent="0" marL="0">
              <a:buNone/>
            </a:pPr>
            <a:r>
              <a:rPr lang="en-US" sz="1050" i="1" dirty="0">
                <a:solidFill>
                  <a:srgbClr val="5A6472"/>
                </a:solidFill>
                <a:latin typeface="Calibri" pitchFamily="34" charset="0"/>
                <a:cs typeface="Amiri" pitchFamily="2" charset="-78"/>
              </a:rPr>
              <a:t> + -an; she → </a:t>
            </a:r>
            <a:pPr algn="l" indent="0" marL="0">
              <a:buNone/>
            </a:pPr>
            <a:r>
              <a:rPr lang="ar-SA" altLang="en-US" sz="1350" dirty="0">
                <a:solidFill>
                  <a:srgbClr val="5A6472"/>
                </a:solidFill>
                <a:latin typeface="Amiri" pitchFamily="2" charset="-78"/>
                <a:ea typeface="Amiri" pitchFamily="2" charset="-78"/>
                <a:cs typeface="Amiri" pitchFamily="2" charset="-78"/>
              </a:rPr>
              <a:t>وَاثِقَةٌ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ابْنَةُ عَمِّي لَيْسَتْ خَجُولَةً، هِيَ وَاثِقَةٌ.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is shy, but she is confident in class.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feminine all the way.</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هِيَ خَجُولَةٌ، وَلٰكِنَّهَا وَاثِقَةٌ فِي الصَّفِّ.</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أَحْذِيَتُهَا جَمِيلُونَ.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Things in the plural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صَبُورٌ وَلَيْسَتْ عَصَبِيَّةٌ.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أَخِي صَبُورٌ، وَهِيَ تُسَاعِدُنِي دَائِمًا.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Reference slip.</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أَحْذِيَتُهَا جَمِيلُونَ.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أَحْذِيَتُهَا جَمِيلَةٌ.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 feminine singular.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صَبُورٌ وَلَيْسَتْ عَصَبِيَّةٌ.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صَبُورَةٌ وَلَيْسَتْ عَصَبِيَّةً.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agreement; ‏</a:t>
            </a:r>
            <a:pPr algn="l" indent="0" marL="0">
              <a:buNone/>
            </a:pPr>
            <a:r>
              <a:rPr lang="ar-SA" altLang="en-US" sz="1500" b="1" dirty="0">
                <a:solidFill>
                  <a:srgbClr val="1B3B6F"/>
                </a:solidFill>
                <a:latin typeface="Amiri" pitchFamily="2" charset="-78"/>
                <a:ea typeface="Amiri" pitchFamily="2" charset="-78"/>
                <a:cs typeface="Amiri" pitchFamily="2" charset="-78"/>
              </a:rPr>
              <a:t>لَيْسَتْ</a:t>
            </a:r>
            <a:pPr algn="l" indent="0" marL="0">
              <a:buNone/>
            </a:pPr>
            <a:r>
              <a:rPr lang="en-US" sz="1150" b="1" dirty="0">
                <a:solidFill>
                  <a:srgbClr val="1B3B6F"/>
                </a:solidFill>
                <a:latin typeface="Calibri" pitchFamily="34" charset="0"/>
                <a:cs typeface="Amiri" pitchFamily="2" charset="-78"/>
              </a:rPr>
              <a:t>‏ + -an.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أَخِي صَبُورٌ، وَهِيَ تُسَاعِدُنِي دَائِمًا.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أَخِي صَبُورٌ، وَهُوَ يُسَاعِدُنِي دَائِمًا.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same person: ‏</a:t>
            </a:r>
            <a:pPr algn="l" indent="0" marL="0">
              <a:buNone/>
            </a:pPr>
            <a:r>
              <a:rPr lang="ar-SA" altLang="en-US" sz="1500" b="1" dirty="0">
                <a:solidFill>
                  <a:srgbClr val="1B3B6F"/>
                </a:solidFill>
                <a:latin typeface="Amiri" pitchFamily="2" charset="-78"/>
                <a:ea typeface="Amiri" pitchFamily="2" charset="-78"/>
                <a:cs typeface="Amiri" pitchFamily="2" charset="-78"/>
              </a:rPr>
              <a:t>هُوَ يُسَاعِدُنِي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Although …,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فِي رَأْيِي هُوَ / هِيَ أَطْيَبُ / أَكْرَمُ شَخْصٍ أَعْرِفُهُ.</a:t>
            </a:r>
            <a:endParaRPr lang="ar-SA" sz="17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In my opinion he / she is the kindest / most generous person I know.</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سَأَكْتُبُ عَنْ ______ لِأَنَّ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 I will write about … because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هُوَ / هِيَ ______ القَامَةِ، وَشَعْرُهُ / شَعْرُهَا ______ .</a:t>
            </a:r>
            <a:endParaRPr lang="ar-SA" sz="14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 He / she is …, and his / her hair is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هُوَ / هِيَ ______ ، كَمَا أَنَّهُ / أَنَّهَا ______ .</a:t>
            </a:r>
            <a:endParaRPr lang="ar-SA" sz="165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¶2 He / she is …, and also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 ______ مَعًا.</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¶2 Last summer we … together.</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يَرْتَدِي / تَرْتَدِي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He / she wears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القَامَةِ · شَعْرُهُ · شَعْرُهَا  ·  عَيْنَاهُ · عَيْنَاهَا  ·  صَبُورٌ · كَرِيمَةٌ  ·  كَمَا أَنَّ  ·  مَثَلًا  ·  نَتَفَاهَمُ · أَحْتَرِمُهُ  ·  بَيْنَمَا · وَلٰكِنَّ  ·  عَلَى الرَّغْمِ مِنْ أَنَّ … فَإِنَّ …</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Magazine feature: a special person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شَخْصٌ مُمَيَّزٌ فِي حَيَاتِي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magazine feature (about 60–80 words) in three paragraphs. ¶1 who they are and what they look like (hair masculine, eyes dual). ¶2 personality with evidence, and your relationship with something you did together. ¶3 their style and your balanced opinion with a concession. Then check agreement, references (-hu / -hā) and connectors with your buddy.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D2-L11 AND D2-L12.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سَأَكْتُبُ عَنْ … لِأَنَّ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write about … because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 ، كَمَا أَنَّهُ / أَنَّهَا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is …, and he / she is also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مَثَلًا، فِي الصَّيْفِ المَاضِي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example, last summer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 فَإِنَّ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three clear paragraphs with correct he / she references?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 comparative, a concession and a past example?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 الكَبِيرُ حَسَنٌ. هُوَ طَوِيلُ القَامَةِ، وَعَيْنَاهُ بُنِّيَّتَانِ.</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older brother Hasan. He is tall, and his eyes are brown.</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الشَّخْصُ المُمَيَّزُ فِي حَيَاتِكَ؟ وَكَيْفَ يَبْدُو؟</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مُجْتَهِدٌ، كَمَا أَنَّهُ صَبُورٌ؛ مَثَلًا، يُسَاعِدُنِي فِي الرِّيَاضِيَّاتِ.</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is hard-working, and he is also patient; for example, he helps me with maths.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شَخْصِيَّتُهُ؟ مَا الدَّلِيلُ؟</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نَتَفَاهَمُ جَيِّدًا؛ فِي الصَّيْفِ المَاضِي سَافَرْنَا مَعًا إِلَى المَغْرِبِ.</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get on well; last summer we travelled together to Morocco.</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عَلَاقَتُكُمَا؟ اذْكُرْ شَيْئًا فَعَلْتُمَاهُ مَعًا.</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يُفَضِّلُ المَلَابِسَ الرِّيَاضِيَّةَ، بَيْنَمَا أَنَا أُحِبُّ المَلَابِسَ الرَّسْمِيَّةَ أَكْثَرَ.</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prefers sportswear, whereas I like formal clothes more.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أُسْلُوبُهُ فِي المَلَابِسِ؟</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أَنَّ المَظْهَرَ مُهِمٌّ قَلِيلًا، فَإِنَّ الشَّخْصِيَّةَ أَهَمُّ بِكَثِيرٍ.</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Although appearance is a little important, personality is much more important.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المَظْهَرُ مُهِمٌّ فِي رَأْيِكَ؟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سَأَكْتُبُ عَنْ خَالَتِي مَرْيَمَ، لِأَنَّهَا قُدْوَتِي. هِيَ طَبِيبَةٌ، وَهِيَ طَوِيلَةُ القَامَةِ، وَشَعْرُهَا أَسْوَدُ، وَعَيْنَاهَا بُنِّيَّتَانِ.</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هِيَ صَبُورَةٌ وَكَرِيمَةٌ، كَمَا أَنَّهَا مَرِحَةٌ؛ مَثَلًا، تَزُورُ المَرْضَى فِي العُطْلَةِ. نَتَفَاهَمُ جَيِّدًا، وَفِي الصَّيْفِ المَاضِي زُرْنَا المَتْحَفَ مَعًا.</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تَرْتَدِي مَلَابِسَ بَسِيطَةً. عَلَى الرَّغْمِ مِنْ أَنَّ مَلَابِسَهَا لَيْسَتْ غَالِيَةً، فَإِنَّهَا أَنِيقَةٌ دَائِمًا. فِي رَأْيِي هِيَ أَطْيَبُ شَخْصٍ أَعْرِفُهُ.</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will write about my aunt Maryam, because she is my role model. She is a doctor; she is tall, her hair is black and her eyes are brown. / She is patient and generous, and she is also cheerful; for example, she visits patients in the holidays. We get on well, and last summer we visited the museum together. / She wears simple clothes. Although her clothes are not expensive, she is always elegant. In my opinion she is the kindest person I know.”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عَيْنَاهَا بُنِّيَّتَانِ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كَمَا أَنَّهَا مَرِحَةٌ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الصَّيْفِ المَاضِي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عَلَى الرَّغْمِ مِنْ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D2-W06 · Apply workshop (D2-L11 + D2-L12)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D2-L11 and D2-L12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D2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D2-W06 · Apply Workshop — A Special Person: Magazine Feature</dc:title>
  <dc:subject>PptxGenJS Presentation</dc:subject>
  <dc:creator>Al Madina Online School · Arabic Department</dc:creator>
  <cp:lastModifiedBy>Al Madina Online School · Arabic Department</cp:lastModifiedBy>
  <cp:revision>1</cp:revision>
  <dcterms:created xsi:type="dcterms:W3CDTF">2026-10-26T15:28:49Z</dcterms:created>
  <dcterms:modified xsi:type="dcterms:W3CDTF">2026-10-26T15:28:49Z</dcterms:modified>
</cp:coreProperties>
</file>