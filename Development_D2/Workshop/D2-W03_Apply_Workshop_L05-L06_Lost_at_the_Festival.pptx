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D2-L05 · Learn D2-L06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D2-L05 (Comparing People and Clothes — More, Less and Better) and D2-L06 (Describing Appearance — A Full Physical Portrait).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D2-L05 and D2-L06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D2-L05? After D2-L06?” Take two answers in the chat for each lesson (one word or one sentence is enough). Then read objective 3 — today’s new situation that needs BOTH lessons. Students tick their route goals at the end of the lesson.
D2-L05 language: comparative afʿalu + min (aṭwalu min · arkhaṣu min · aghlā min); akthar / aqall + an accusative noun (akthar thiqatan · aqall saʿran); the same: mithla · bi-nafsi al-daraja; preference: ufaḍḍilu … ʿalā …; superlative: al-afḍal · aṭwalu ṭālibin
D2-L06 language: portrait order (height → hair → eyes → clothes); lahu / lahā (he / she has); hair is masculine (shaʿruhā ṭawīlun); eyes are dual (ʿaynāhā bunniyyatāni); yartadī / tartadī; picking people out with alladhī / allatī; respectful description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D2-L05.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D2-L06.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D2-L05 and D2-L06. Teacher reads it once with a confident student; then pairs. Ask: “Which lines are from D2-L05? Which from D2-L06?” The portrait order, hair (masculine), eyes (dual: بُنِّيَّتَانِ), يَرْتَدِي and الَّذِي come from D2-L06; comparatives (أَقْصَرُ مِنْ) from D2-L05.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a full portrait in order — height, hair, eyes, clothes, الَّذِي / الَّتِي (D2-L06) with comparatives, أَكْثَرُ + noun and مِثْلُ (D2-L05). FADED SUPPORT: tasks 1–2 show the plan; students write their own plan for 3–5. To a girl Partner A says: لَا تَقْلَقِي · كَيْفَ يَبْدُو …؟ — the questions are about the lost child, so they stay the same.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D2-L05 and D2-L06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D2-L05 and D2-L06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(52 words). CHECK YOURSELF (2 min). Find each bullet point in the model, and one phrase from D2-L05 and one from D2-L06.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D2-L05 + D2-L06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Apply Workshop — Lost at the Festival</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ضَائِعٌ فِي المِهْرَجَانِ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Students join full physical portraits with comparisons: at a busy festival a younger brother is lost, so they describe him precisely to a steward (height, hair, eyes, clothes, </a:t>
            </a:r>
            <a:pPr algn="l" indent="0" marL="0">
              <a:buNone/>
            </a:pPr>
            <a:r>
              <a:rPr lang="ar-SA" altLang="en-US" sz="1700" dirty="0">
                <a:solidFill>
                  <a:srgbClr val="C6D2E6"/>
                </a:solidFill>
                <a:latin typeface="Amiri" pitchFamily="2" charset="-78"/>
                <a:ea typeface="Amiri" pitchFamily="2" charset="-78"/>
                <a:cs typeface="Amiri" pitchFamily="2" charset="-78"/>
              </a:rPr>
              <a:t>الَّذِي / الَّتِي</a:t>
            </a:r>
            <a:pPr algn="l" indent="0" marL="0">
              <a:buNone/>
            </a:pPr>
            <a:r>
              <a:rPr lang="en-US" sz="1300" dirty="0">
                <a:solidFill>
                  <a:srgbClr val="C6D2E6"/>
                </a:solidFill>
                <a:latin typeface="Calibri" pitchFamily="34" charset="0"/>
                <a:cs typeface="Amiri" pitchFamily="2" charset="-78"/>
              </a:rPr>
              <a:t>), compare him with other children (</a:t>
            </a:r>
            <a:pPr algn="l" indent="0" marL="0">
              <a:buNone/>
            </a:pPr>
            <a:r>
              <a:rPr lang="ar-SA" altLang="en-US" sz="1700" dirty="0">
                <a:solidFill>
                  <a:srgbClr val="C6D2E6"/>
                </a:solidFill>
                <a:latin typeface="Amiri" pitchFamily="2" charset="-78"/>
                <a:ea typeface="Amiri" pitchFamily="2" charset="-78"/>
                <a:cs typeface="Amiri" pitchFamily="2" charset="-78"/>
              </a:rPr>
              <a:t>أَطْوَلُ مِنْ</a:t>
            </a:r>
            <a:pPr algn="l" indent="0" marL="0">
              <a:buNone/>
            </a:pPr>
            <a:r>
              <a:rPr lang="en-US" sz="1300" dirty="0">
                <a:solidFill>
                  <a:srgbClr val="C6D2E6"/>
                </a:solidFill>
                <a:latin typeface="Calibri" pitchFamily="34" charset="0"/>
                <a:cs typeface="Amiri" pitchFamily="2" charset="-78"/>
              </a:rPr>
              <a:t> · </a:t>
            </a:r>
            <a:pPr algn="l" indent="0" marL="0">
              <a:buNone/>
            </a:pPr>
            <a:r>
              <a:rPr lang="ar-SA" altLang="en-US" sz="1700" dirty="0">
                <a:solidFill>
                  <a:srgbClr val="C6D2E6"/>
                </a:solidFill>
                <a:latin typeface="Amiri" pitchFamily="2" charset="-78"/>
                <a:ea typeface="Amiri" pitchFamily="2" charset="-78"/>
                <a:cs typeface="Amiri" pitchFamily="2" charset="-78"/>
              </a:rPr>
              <a:t>مِثْلُ</a:t>
            </a:r>
            <a:pPr algn="l" indent="0" marL="0">
              <a:buNone/>
            </a:pPr>
            <a:r>
              <a:rPr lang="en-US" sz="1300" dirty="0">
                <a:solidFill>
                  <a:srgbClr val="C6D2E6"/>
                </a:solidFill>
                <a:latin typeface="Calibri" pitchFamily="34" charset="0"/>
                <a:cs typeface="Amiri" pitchFamily="2" charset="-78"/>
              </a:rPr>
              <a:t>), and write a lost-child notice and a message home.</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D2-L05 + D2-L06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D2-L05 and D2-L06.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D2-L05 + D2-L06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D2-L05: Comparing People and Clothes — More, Less and Better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D2-L06: Describing Appearance — A Full Physical Portrait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describing someone who is lost · A lost-child notice and a message home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D2-L05 and D2-L06.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D2-L05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D2-L05 · Comparing People and Clothes — More, Less and Better</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ak-tha-ru ...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1580083"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 مِنْ</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33" name="Text 30"/>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الأَفْضَلُ</a:t>
            </a:r>
            <a:endParaRPr lang="ar-SA" sz="135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36" name="Text 33"/>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جَيِّدٌ</a:t>
            </a:r>
            <a:endParaRPr lang="ar-SA"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أَغْلَى مِنْ</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expensive than</a:t>
            </a:r>
            <a:endParaRPr lang="en-US" sz="1350" dirty="0"/>
          </a:p>
          <a:p>
            <a:pPr indent="0" marL="0">
              <a:buNone/>
            </a:pPr>
            <a:r>
              <a:rPr lang="en-US" sz="1100" i="1" dirty="0">
                <a:solidFill>
                  <a:srgbClr val="5A6472"/>
                </a:solidFill>
                <a:latin typeface="Calibri" pitchFamily="34" charset="0"/>
                <a:cs typeface="Amiri" pitchFamily="2" charset="-78"/>
              </a:rPr>
              <a:t>agh-lā min</a:t>
            </a:r>
            <a:endParaRPr lang="en-US" sz="1350" dirty="0"/>
          </a:p>
        </p:txBody>
      </p:sp>
      <p:sp>
        <p:nvSpPr>
          <p:cNvPr id="46" name="Shape 4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48" name="Text 45"/>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الأَغْلَى</a:t>
            </a:r>
            <a:endParaRPr lang="ar-SA" sz="1350" dirty="0"/>
          </a:p>
        </p:txBody>
      </p:sp>
      <p:sp>
        <p:nvSpPr>
          <p:cNvPr id="49" name="Shape 4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51" name="Text 48"/>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غَالٍ</a:t>
            </a:r>
            <a:endParaRPr lang="ar-SA" sz="135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5" name="Shape 52"/>
          <p:cNvSpPr/>
          <p:nvPr/>
        </p:nvSpPr>
        <p:spPr>
          <a:xfrm>
            <a:off x="8604504" y="4279392"/>
            <a:ext cx="1580083"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57" name="Shape 5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أَقْصَرُ مِنْ</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shorter than</a:t>
            </a:r>
            <a:endParaRPr lang="en-US" sz="1350" dirty="0"/>
          </a:p>
          <a:p>
            <a:pPr indent="0" marL="0">
              <a:buNone/>
            </a:pPr>
            <a:r>
              <a:rPr lang="en-US" sz="1100" i="1" dirty="0">
                <a:solidFill>
                  <a:srgbClr val="5A6472"/>
                </a:solidFill>
                <a:latin typeface="Calibri" pitchFamily="34" charset="0"/>
                <a:cs typeface="Amiri" pitchFamily="2" charset="-78"/>
              </a:rPr>
              <a:t>aq-ṣa-ru min</a:t>
            </a:r>
            <a:endParaRPr lang="en-US" sz="1350" dirty="0"/>
          </a:p>
        </p:txBody>
      </p:sp>
      <p:sp>
        <p:nvSpPr>
          <p:cNvPr id="61" name="Shape 5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63" name="Text 60"/>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الأَقْصَرُ</a:t>
            </a:r>
            <a:endParaRPr lang="ar-SA" sz="1350" dirty="0"/>
          </a:p>
        </p:txBody>
      </p:sp>
      <p:sp>
        <p:nvSpPr>
          <p:cNvPr id="64" name="Shape 6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66" name="Text 63"/>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قَصِيرٌ</a:t>
            </a:r>
            <a:endParaRPr lang="ar-SA" sz="135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0" name="Shape 67"/>
          <p:cNvSpPr/>
          <p:nvPr/>
        </p:nvSpPr>
        <p:spPr>
          <a:xfrm>
            <a:off x="4782312" y="4279392"/>
            <a:ext cx="1580083"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4782312"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72" name="Text 6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أَجْمَلُ مِنْ</a:t>
            </a:r>
            <a:endParaRPr lang="ar-SA" sz="3000" dirty="0"/>
          </a:p>
        </p:txBody>
      </p:sp>
      <p:sp>
        <p:nvSpPr>
          <p:cNvPr id="73" name="Text 7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beautiful than</a:t>
            </a:r>
            <a:endParaRPr lang="en-US" sz="1350" dirty="0"/>
          </a:p>
          <a:p>
            <a:pPr indent="0" marL="0">
              <a:buNone/>
            </a:pPr>
            <a:r>
              <a:rPr lang="en-US" sz="1100" i="1" dirty="0">
                <a:solidFill>
                  <a:srgbClr val="5A6472"/>
                </a:solidFill>
                <a:latin typeface="Calibri" pitchFamily="34" charset="0"/>
                <a:cs typeface="Amiri" pitchFamily="2" charset="-78"/>
              </a:rPr>
              <a:t>aj-ma-lu min</a:t>
            </a:r>
            <a:endParaRPr lang="en-US" sz="1350" dirty="0"/>
          </a:p>
        </p:txBody>
      </p:sp>
      <p:sp>
        <p:nvSpPr>
          <p:cNvPr id="74" name="Shape 7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76" name="Text 73"/>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الأَجْمَلُ</a:t>
            </a:r>
            <a:endParaRPr lang="ar-SA" sz="1350" dirty="0"/>
          </a:p>
        </p:txBody>
      </p:sp>
      <p:sp>
        <p:nvSpPr>
          <p:cNvPr id="77" name="Shape 7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79" name="Text 7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جَمِيلٌ</a:t>
            </a:r>
            <a:endParaRPr lang="ar-SA" sz="1350" dirty="0"/>
          </a:p>
        </p:txBody>
      </p:sp>
      <p:sp>
        <p:nvSpPr>
          <p:cNvPr id="80" name="Shape 7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566928" y="4261104"/>
            <a:ext cx="310896" cy="310896"/>
          </a:xfrm>
          <a:prstGeom prst="ellipse">
            <a:avLst/>
          </a:prstGeom>
          <a:solidFill>
            <a:srgbClr val="F4F1EA"/>
          </a:solidFill>
          <a:ln w="12700">
            <a:solidFill>
              <a:srgbClr val="F4F1EA"/>
            </a:solidFill>
            <a:prstDash val="solid"/>
          </a:ln>
        </p:spPr>
      </p:sp>
      <p:sp>
        <p:nvSpPr>
          <p:cNvPr id="82" name="Text 7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3" name="Text 8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بِنَفْسِ الدَّرَجَةِ</a:t>
            </a:r>
            <a:endParaRPr lang="ar-SA" sz="3000" dirty="0"/>
          </a:p>
        </p:txBody>
      </p:sp>
      <p:sp>
        <p:nvSpPr>
          <p:cNvPr id="84" name="Text 8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the same degree</a:t>
            </a:r>
            <a:endParaRPr lang="en-US" sz="1350" dirty="0"/>
          </a:p>
          <a:p>
            <a:pPr indent="0" marL="0">
              <a:buNone/>
            </a:pPr>
            <a:r>
              <a:rPr lang="en-US" sz="1100" i="1" dirty="0">
                <a:solidFill>
                  <a:srgbClr val="5A6472"/>
                </a:solidFill>
                <a:latin typeface="Calibri" pitchFamily="34" charset="0"/>
                <a:cs typeface="Amiri" pitchFamily="2" charset="-78"/>
              </a:rPr>
              <a:t>bi-naf-si ad-da-ra-ja-ti</a:t>
            </a:r>
            <a:endParaRPr lang="en-US" sz="13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D2-L06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D2-L06 · Describing Appearance — A Full Physical Portrait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طَوِيلُ القَامَةِ / طَوِيلَةُ القَامَةِ</a:t>
            </a:r>
            <a:endParaRPr lang="ar-SA" sz="255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a:t>
            </a:r>
            <a:endParaRPr lang="en-US" sz="1350" dirty="0"/>
          </a:p>
          <a:p>
            <a:pPr indent="0" marL="0">
              <a:buNone/>
            </a:pPr>
            <a:r>
              <a:rPr lang="en-US" sz="1100" i="1" dirty="0">
                <a:solidFill>
                  <a:srgbClr val="5A6472"/>
                </a:solidFill>
                <a:latin typeface="Calibri" pitchFamily="34" charset="0"/>
                <a:cs typeface="Amiri" pitchFamily="2" charset="-78"/>
              </a:rPr>
              <a:t>ṭa-wī-lu al-qā-ma-ti / ṭa-wī-la-tu al-qā-ma-ti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طَوِيلَةُ القَامَةِ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 القَامَةِ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ea typeface="Amiri" pitchFamily="2" charset="-78"/>
                <a:cs typeface="Amiri" pitchFamily="2" charset="-78"/>
              </a:rPr>
              <a:t>مُتَوَسِّطُ القَامَةِ / مُتَوَسِّطَةُ القَامَةِ</a:t>
            </a:r>
            <a:endParaRPr lang="ar-SA" sz="24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medium height</a:t>
            </a:r>
            <a:endParaRPr lang="en-US" sz="1350" dirty="0"/>
          </a:p>
          <a:p>
            <a:pPr indent="0" marL="0">
              <a:buNone/>
            </a:pPr>
            <a:r>
              <a:rPr lang="en-US" sz="1100" i="1" dirty="0">
                <a:solidFill>
                  <a:srgbClr val="5A6472"/>
                </a:solidFill>
                <a:latin typeface="Calibri" pitchFamily="34" charset="0"/>
                <a:cs typeface="Amiri" pitchFamily="2" charset="-78"/>
              </a:rPr>
              <a:t>mu-ta-was-si-ṭu al-qā-ma-ti / mu-ta-was-si-ṭa-tu al-qā-ma-ti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مُتَوَسِّطَةُ القَامَةِ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مُتَوَسِّطُ القَامَةِ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قَصِيرٌ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 hair</a:t>
            </a:r>
            <a:endParaRPr lang="en-US" sz="1350" dirty="0"/>
          </a:p>
          <a:p>
            <a:pPr indent="0" marL="0">
              <a:buNone/>
            </a:pPr>
            <a:r>
              <a:rPr lang="en-US" sz="1100" i="1" dirty="0">
                <a:solidFill>
                  <a:srgbClr val="5A6472"/>
                </a:solidFill>
                <a:latin typeface="Calibri" pitchFamily="34" charset="0"/>
                <a:cs typeface="Amiri" pitchFamily="2" charset="-78"/>
              </a:rPr>
              <a:t>shaʿ-run qa-ṣī-run</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شَعْرُهَا قَصِيرٌ</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 قَصِيرٌ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مُسْتَقِيمٌ</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straight hair</a:t>
            </a:r>
            <a:endParaRPr lang="en-US" sz="1350" dirty="0"/>
          </a:p>
          <a:p>
            <a:pPr indent="0" marL="0">
              <a:buNone/>
            </a:pPr>
            <a:r>
              <a:rPr lang="en-US" sz="1100" i="1" dirty="0">
                <a:solidFill>
                  <a:srgbClr val="5A6472"/>
                </a:solidFill>
                <a:latin typeface="Calibri" pitchFamily="34" charset="0"/>
                <a:cs typeface="Amiri" pitchFamily="2" charset="-78"/>
              </a:rPr>
              <a:t>shaʿ-run mus-ta-qī-mun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شَعْرُهَا مُسْتَقِيمٌ</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 مُسْتَقِيمٌ</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8" name="Shape 7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يَرْتَدِي نَظَّارَةً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wears glasses</a:t>
            </a:r>
            <a:endParaRPr lang="en-US" sz="1350" dirty="0"/>
          </a:p>
          <a:p>
            <a:pPr indent="0" marL="0">
              <a:buNone/>
            </a:pPr>
            <a:r>
              <a:rPr lang="en-US" sz="1100" i="1" dirty="0">
                <a:solidFill>
                  <a:srgbClr val="5A6472"/>
                </a:solidFill>
                <a:latin typeface="Calibri" pitchFamily="34" charset="0"/>
                <a:cs typeface="Amiri" pitchFamily="2" charset="-78"/>
              </a:rPr>
              <a:t>yar-ta-dī naẓ-ẓā-ra-tan</a:t>
            </a:r>
            <a:endParaRPr lang="en-US" sz="1350" dirty="0"/>
          </a:p>
        </p:txBody>
      </p:sp>
      <p:sp>
        <p:nvSpPr>
          <p:cNvPr id="84" name="Shape 8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نَظَّارَاتٌ</a:t>
            </a:r>
            <a:endParaRPr lang="ar-SA" sz="1500" dirty="0"/>
          </a:p>
        </p:txBody>
      </p:sp>
      <p:sp>
        <p:nvSpPr>
          <p:cNvPr id="87" name="Shape 8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glasses</a:t>
            </a:r>
            <a:endParaRPr lang="en-US" sz="700" dirty="0"/>
          </a:p>
        </p:txBody>
      </p:sp>
      <p:sp>
        <p:nvSpPr>
          <p:cNvPr id="89" name="Text 86"/>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نَظَّارَةٌ</a:t>
            </a:r>
            <a:endParaRPr lang="ar-SA" sz="1350" dirty="0"/>
          </a:p>
        </p:txBody>
      </p:sp>
      <p:sp>
        <p:nvSpPr>
          <p:cNvPr id="90" name="Shape 8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92" name="Text 8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تَرْتَدِي</a:t>
            </a:r>
            <a:endParaRPr lang="ar-SA" sz="1500" dirty="0"/>
          </a:p>
        </p:txBody>
      </p:sp>
      <p:sp>
        <p:nvSpPr>
          <p:cNvPr id="93" name="Shape 9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566928" y="4261104"/>
            <a:ext cx="310896" cy="310896"/>
          </a:xfrm>
          <a:prstGeom prst="ellipse">
            <a:avLst/>
          </a:prstGeom>
          <a:solidFill>
            <a:srgbClr val="F4F1EA"/>
          </a:solidFill>
          <a:ln w="12700">
            <a:solidFill>
              <a:srgbClr val="F4F1EA"/>
            </a:solidFill>
            <a:prstDash val="solid"/>
          </a:ln>
        </p:spPr>
      </p:sp>
      <p:sp>
        <p:nvSpPr>
          <p:cNvPr id="95" name="Text 9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6" name="Text 9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لَهُ لِحْيَةٌ</a:t>
            </a:r>
            <a:endParaRPr lang="ar-SA" sz="3000" dirty="0"/>
          </a:p>
        </p:txBody>
      </p:sp>
      <p:sp>
        <p:nvSpPr>
          <p:cNvPr id="97" name="Text 9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has a beard</a:t>
            </a:r>
            <a:endParaRPr lang="en-US" sz="1350" dirty="0"/>
          </a:p>
          <a:p>
            <a:pPr indent="0" marL="0">
              <a:buNone/>
            </a:pPr>
            <a:r>
              <a:rPr lang="en-US" sz="1100" i="1" dirty="0">
                <a:solidFill>
                  <a:srgbClr val="5A6472"/>
                </a:solidFill>
                <a:latin typeface="Calibri" pitchFamily="34" charset="0"/>
                <a:cs typeface="Amiri" pitchFamily="2" charset="-78"/>
              </a:rPr>
              <a:t>la-hu liḥ-ya-tun</a:t>
            </a:r>
            <a:endParaRPr lang="en-US" sz="13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أَطْوَلُ / أَصْغَرُ مِنْ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 هِيَ … القَامَةِ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 / شَعْرُهَا … · لَهُ لِحْيَةٌ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أَكْثَرُ ثِقَةً · أَقَلُّ صَبْرًا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مِثْلُ … · بِنَفْسِ الدَّرَجَةِ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 / عَيْنَاهَا بُنِّيَّتَانِ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عَادَةً يَرْتَدِي / تَرْتَدِي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أُسْلُوبَ … عَلَى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D2-L05 · Comparing People and Clothes — More, Less and Better</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D2-L06 · Describing Appearance — A Full Physical Portrait</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D2-L05 · Comparing People and Clothes — More, Less and Better</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أَطْوَلُ / أَصْغَرُ مِنْ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أَكْثَرُ ثِقَةً · أَقَلُّ صَبْرًا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مِثْلُ … · بِنَفْسِ الدَّرَجَةِ</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أُسْلُوبَ … عَلَى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D2-L06 · Describing Appearance — A Full Physical Portrait</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 هِيَ … القَامَةِ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 / شَعْرُهَا … · لَهُ لِحْيَةٌ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 / عَيْنَاهَا بُنِّيَّتَانِ</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عَادَةً يَرْتَدِي / تَرْتَدِي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information tent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خَيْمَةِ الاسْتِعْلَامَاتِ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Excuse me, my little brother is lost!</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سَمَحْتَ، أَخِي الصَّغِيرُ ضَائِعٌ!</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Don’t worry. What does he look like?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لَا تَقْلَقْ. كَيْفَ يَبْدُو؟</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is short, his hair is short and black, and his eyes are brown.</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هُوَ قَصِيرُ القَامَةِ، وَشَعْرُهُ أَسْوَدُ قَصِيرٌ، وَعَيْنَاهُ بُنِّيَّتَانِ.</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he wearing?</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يَرْتَدِي؟</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is wearing a red shirt and a blue cap. He is a little shorter than this boy.</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يَرْتَدِي قَمِيصًا أَحْمَرَ وَقُبَّعَةً زَرْقَاءَ. هُوَ أَقْصَرُ مِنْ هٰذَا الوَلَدِ قَلِيلًا.</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he the boy who is standing next to the ice cream?</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هُوَ الوَلَدُ الَّذِي يَقِفُ بِجَانِبِ المُثَلَّجَاتِ؟</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وَلٰكِنَّنِي أَكْبَرُ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أَطْوَلُ مِنِّي / أَنَا أَطْوَلُ مِنْ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taller: you or your brother / sister?</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أَطْوَلُ: أَنْتَ أَمْ أَخُوكَ / أُخْتُكَ؟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وَعَيْنَايَ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 القَامَةِ، وَشَعْرِي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yourself.</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نَفْسَكَ.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 لِأَنَّهَا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أَكْثَرُ صَبْرًا مِنْ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the most patient in your family?</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أَكْثَرُ صَبْرًا فِي عَائِلَتِكَ؟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وَيَرْتَدِي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هُوَ … القَامَةِ، وَلَهُ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your best friend look like?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يَبْدُو صَدِيقُكَ المُقَرَّبُ؟</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أَكْثَرُ رَاحَةً</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 عَلَى … لِأَنَّهُ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Trainers or formal shoes?</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أَيُّهُمَا تُفَضِّلُ: الحِذَاءُ الرِّيَاضِيُّ أَمِ الرَّسْمِيُّ؟</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مِثْلَ عَيْنَيَّ</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عَيْنَاهَا بُنِّيَّتَانِ / سَوْدَاوَانِ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colour are your mother’s eyes?</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لَوْنُ عَيْنَيْ أُمِّكَ؟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D2-L05, even numbers from D2-L06.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Role-play card — describing someone who is lost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نَصِفُ شَخْصًا ضَائِعًا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أُخْتِي / أَخِي … عُمْرُهُ / عُمْرُهَا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and how old.</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ضَاعَ؟ وَكَمْ عُمْرُهُ؟</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هِيَ … القَامَةِ · شَعْرُهَا … · عَيْنَاهَا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Height, hair and eyes (dual).</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تَبْدُو؟</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clothes with colours that agree.</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تَرْتَدِي اليَوْمَ؟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with a comparative and ‏</a:t>
            </a:r>
            <a:pPr algn="l" indent="0" marL="0">
              <a:buNone/>
            </a:pPr>
            <a:r>
              <a:rPr lang="ar-SA" altLang="en-US" sz="1450" dirty="0">
                <a:solidFill>
                  <a:srgbClr val="5A6472"/>
                </a:solidFill>
                <a:latin typeface="Amiri" pitchFamily="2" charset="-78"/>
                <a:ea typeface="Amiri" pitchFamily="2" charset="-78"/>
                <a:cs typeface="Amiri" pitchFamily="2" charset="-78"/>
              </a:rPr>
              <a:t>مِثْلُ</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هِيَ مِثْلُ هٰذِهِ البِنْتِ؟</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Confirm with ‏</a:t>
            </a:r>
            <a:pPr algn="l" indent="0" marL="0">
              <a:buNone/>
            </a:pPr>
            <a:r>
              <a:rPr lang="ar-SA" altLang="en-US" sz="1450" dirty="0">
                <a:solidFill>
                  <a:srgbClr val="5A6472"/>
                </a:solidFill>
                <a:latin typeface="Amiri" pitchFamily="2" charset="-78"/>
                <a:ea typeface="Amiri" pitchFamily="2" charset="-78"/>
                <a:cs typeface="Amiri" pitchFamily="2" charset="-78"/>
              </a:rPr>
              <a:t>الَّتِي</a:t>
            </a:r>
            <a:pPr algn="l" indent="0" marL="0">
              <a:buNone/>
            </a:pPr>
            <a:r>
              <a:rPr lang="en-US" sz="1100" dirty="0">
                <a:solidFill>
                  <a:srgbClr val="5A6472"/>
                </a:solidFill>
                <a:latin typeface="Calibri" pitchFamily="34" charset="0"/>
                <a:cs typeface="Amiri" pitchFamily="2" charset="-78"/>
              </a:rPr>
              <a:t>‏ and a detail.</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هِيَ البِنْتُ الَّتِي تَبْكِي هُنَاكَ؟</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worried family member · Partner A = the festival steward.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full portrait — and a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صُورَةٌ كَامِلَةٌ وَمُقَارَنَةٌ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describe a family member in the portrait order (height → hair → eyes → clothes), then compare them with yourself or another person using three comparatives, one ‏</a:t>
            </a:r>
            <a:pPr algn="l" indent="0" marL="0">
              <a:buNone/>
            </a:pPr>
            <a:r>
              <a:rPr lang="ar-SA" altLang="en-US" sz="1750" dirty="0">
                <a:solidFill>
                  <a:srgbClr val="1F2A37"/>
                </a:solidFill>
                <a:latin typeface="Amiri" pitchFamily="2" charset="-78"/>
                <a:ea typeface="Amiri" pitchFamily="2" charset="-78"/>
                <a:cs typeface="Amiri" pitchFamily="2" charset="-78"/>
              </a:rPr>
              <a:t>أَكْثَرُ / أَقَلُّ</a:t>
            </a:r>
            <a:pPr algn="l" indent="0" marL="0">
              <a:buNone/>
            </a:pPr>
            <a:r>
              <a:rPr lang="en-US" sz="1350" dirty="0">
                <a:solidFill>
                  <a:srgbClr val="1F2A37"/>
                </a:solidFill>
                <a:latin typeface="Calibri" pitchFamily="34" charset="0"/>
                <a:cs typeface="Amiri" pitchFamily="2" charset="-78"/>
              </a:rPr>
              <a:t>‏ + noun and one similarity. Respectful description only.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هُوَ / هِيَ … القَامَةِ · شَعْرُهُ / شَعْرُهَا … · يَرْتَدِي / تَرْتَدِي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the eyes as a dual and three comparatives with ‏</a:t>
            </a:r>
            <a:pPr algn="l" indent="0" marL="0">
              <a:buNone/>
            </a:pPr>
            <a:r>
              <a:rPr lang="ar-SA" altLang="en-US" sz="1500" dirty="0">
                <a:solidFill>
                  <a:srgbClr val="1F2A37"/>
                </a:solidFill>
                <a:latin typeface="Amiri" pitchFamily="2" charset="-78"/>
                <a:ea typeface="Amiri" pitchFamily="2" charset="-78"/>
                <a:cs typeface="Amiri" pitchFamily="2" charset="-78"/>
              </a:rPr>
              <a:t>مِنْ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أَكْثَرُ صَبْرًا / أَقَلُّ</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مِثْلُ</a:t>
            </a:r>
            <a:pPr algn="l" indent="0" marL="0">
              <a:buNone/>
            </a:pPr>
            <a:r>
              <a:rPr lang="en-US" sz="1150" dirty="0">
                <a:solidFill>
                  <a:srgbClr val="1F2A37"/>
                </a:solidFill>
                <a:latin typeface="Calibri" pitchFamily="34" charset="0"/>
                <a:cs typeface="Amiri" pitchFamily="2" charset="-78"/>
              </a:rPr>
              <a:t>‏ and a ‏</a:t>
            </a:r>
            <a:pPr algn="l" indent="0" marL="0">
              <a:buNone/>
            </a:pPr>
            <a:r>
              <a:rPr lang="ar-SA" altLang="en-US" sz="1500" dirty="0">
                <a:solidFill>
                  <a:srgbClr val="1F2A37"/>
                </a:solidFill>
                <a:latin typeface="Amiri" pitchFamily="2" charset="-78"/>
                <a:ea typeface="Amiri" pitchFamily="2" charset="-78"/>
                <a:cs typeface="Amiri" pitchFamily="2" charset="-78"/>
              </a:rPr>
              <a:t>الَّذِي / الَّتِي</a:t>
            </a:r>
            <a:pPr algn="l" indent="0" marL="0">
              <a:buNone/>
            </a:pPr>
            <a:r>
              <a:rPr lang="en-US" sz="1150" dirty="0">
                <a:solidFill>
                  <a:srgbClr val="1F2A37"/>
                </a:solidFill>
                <a:latin typeface="Calibri" pitchFamily="34" charset="0"/>
                <a:cs typeface="Amiri" pitchFamily="2" charset="-78"/>
              </a:rPr>
              <a:t>‏ sentence.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sister is taller than me.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أَطْوَلُ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طُولَى</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أَنَا.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She is tall and her hair is curly.</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طَوِيلَةُ القَامَةِ،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هِيَ طَوِيلُ القَامَةِ،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وَشَعْرُهَا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وَشَعْرُهُ</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مُجَعَّدٌ.</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مُجَعَّدَةٌ.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father is more patient than my uncle.</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أَبِي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أَبُو</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أَكْثَرُ صَبْرًا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أَكْثَرُ صَبُورٌ</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عَمِّي.</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عَمِّيَ.</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sister is taller than me.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أَفْعَلُ</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 doesn’t change for gender; from me = </a:t>
            </a:r>
            <a:pPr algn="l" indent="0" marL="0">
              <a:buNone/>
            </a:pPr>
            <a:r>
              <a:rPr lang="ar-SA" altLang="en-US" sz="1350" dirty="0">
                <a:solidFill>
                  <a:srgbClr val="5A6472"/>
                </a:solidFill>
                <a:latin typeface="Amiri" pitchFamily="2" charset="-78"/>
                <a:ea typeface="Amiri" pitchFamily="2" charset="-78"/>
                <a:cs typeface="Amiri" pitchFamily="2" charset="-78"/>
              </a:rPr>
              <a:t>مِنِّي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أُخْتِي أَطْوَلُ مِنِّي.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She is tall and her hair is curly.</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a:t>
            </a:r>
            <a:pPr algn="l" indent="0" marL="0">
              <a:buNone/>
            </a:pPr>
            <a:r>
              <a:rPr lang="ar-SA" altLang="en-US" sz="1350" dirty="0">
                <a:solidFill>
                  <a:srgbClr val="5A6472"/>
                </a:solidFill>
                <a:latin typeface="Amiri" pitchFamily="2" charset="-78"/>
                <a:ea typeface="Amiri" pitchFamily="2" charset="-78"/>
                <a:cs typeface="Amiri" pitchFamily="2" charset="-78"/>
              </a:rPr>
              <a:t>طَوِيلَةُ</a:t>
            </a:r>
            <a:pPr algn="l" indent="0" marL="0">
              <a:buNone/>
            </a:pPr>
            <a:r>
              <a:rPr lang="en-US" sz="1050" i="1" dirty="0">
                <a:solidFill>
                  <a:srgbClr val="5A6472"/>
                </a:solidFill>
                <a:latin typeface="Calibri" pitchFamily="34" charset="0"/>
                <a:cs typeface="Amiri" pitchFamily="2" charset="-78"/>
              </a:rPr>
              <a:t>; hair is masculine → </a:t>
            </a:r>
            <a:pPr algn="l" indent="0" marL="0">
              <a:buNone/>
            </a:pPr>
            <a:r>
              <a:rPr lang="ar-SA" altLang="en-US" sz="1350" dirty="0">
                <a:solidFill>
                  <a:srgbClr val="5A6472"/>
                </a:solidFill>
                <a:latin typeface="Amiri" pitchFamily="2" charset="-78"/>
                <a:ea typeface="Amiri" pitchFamily="2" charset="-78"/>
                <a:cs typeface="Amiri" pitchFamily="2" charset="-78"/>
              </a:rPr>
              <a:t>مُجَعَّدٌ</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هِيَ طَوِيلَةُ القَامَةِ، وَشَعْرُهَا مُجَعَّدٌ.</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father is more patient than my uncle.</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أَكْثَرُ</a:t>
            </a:r>
            <a:pPr algn="l" indent="0" marL="0">
              <a:buNone/>
            </a:pPr>
            <a:r>
              <a:rPr lang="en-US" sz="1050" i="1" dirty="0">
                <a:solidFill>
                  <a:srgbClr val="5A6472"/>
                </a:solidFill>
                <a:latin typeface="Calibri" pitchFamily="34" charset="0"/>
                <a:cs typeface="Amiri" pitchFamily="2" charset="-78"/>
              </a:rPr>
              <a:t> + accusative noun: </a:t>
            </a:r>
            <a:pPr algn="l" indent="0" marL="0">
              <a:buNone/>
            </a:pPr>
            <a:r>
              <a:rPr lang="ar-SA" altLang="en-US" sz="1350" dirty="0">
                <a:solidFill>
                  <a:srgbClr val="5A6472"/>
                </a:solidFill>
                <a:latin typeface="Amiri" pitchFamily="2" charset="-78"/>
                <a:ea typeface="Amiri" pitchFamily="2" charset="-78"/>
                <a:cs typeface="Amiri" pitchFamily="2" charset="-78"/>
              </a:rPr>
              <a:t>صَبْرًا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أَبِي أَكْثَرُ صَبْرًا مِنْ عَمِّي.</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هٰذِهِ السُّتْرَةُ أَرْخَصَةٌ مِنْ تِلْكَ.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comparative never takes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شَعْرُهَا طَوِيلَةٌ.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hair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أَخِي أَكْثَرُ ذَكِيٌّ مِنِّي.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ذَكِيٌّ</a:t>
            </a:r>
            <a:pPr algn="l" indent="0" marL="0">
              <a:buNone/>
            </a:pPr>
            <a:r>
              <a:rPr lang="en-US" sz="1300" i="1" dirty="0">
                <a:solidFill>
                  <a:srgbClr val="5A6472"/>
                </a:solidFill>
                <a:latin typeface="Calibri" pitchFamily="34" charset="0"/>
                <a:cs typeface="Amiri" pitchFamily="2" charset="-78"/>
              </a:rPr>
              <a:t> has its own comparative.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هٰذِهِ السُّتْرَةُ أَرْخَصَةٌ مِنْ تِلْكَ.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السُّتْرَةُ أَرْخَصُ مِنْ تِلْكَ.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أَفْعَلُ</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 no feminine ending.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شَعْرُهَا طَوِيلَةٌ.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شَعْرُهَا طَوِيلٌ.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شَعْرٌ</a:t>
            </a:r>
            <a:pPr algn="l" indent="0" marL="0">
              <a:buNone/>
            </a:pPr>
            <a:r>
              <a:rPr lang="en-US" sz="1150" b="1" dirty="0">
                <a:solidFill>
                  <a:srgbClr val="1B3B6F"/>
                </a:solidFill>
                <a:latin typeface="Calibri" pitchFamily="34" charset="0"/>
                <a:cs typeface="Amiri" pitchFamily="2" charset="-78"/>
              </a:rPr>
              <a:t>‏ is masculine, even for a girl.</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أَخِي أَكْثَرُ ذَكِيٌّ مِنِّي.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أَخِي أَذْكَى مِنِّي.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أَفْعَلُ</a:t>
            </a:r>
            <a:pPr algn="l" indent="0" marL="0">
              <a:buNone/>
            </a:pPr>
            <a:r>
              <a:rPr lang="en-US" sz="1150" b="1" dirty="0">
                <a:solidFill>
                  <a:srgbClr val="1B3B6F"/>
                </a:solidFill>
                <a:latin typeface="Calibri" pitchFamily="34" charset="0"/>
                <a:cs typeface="Amiri" pitchFamily="2" charset="-78"/>
              </a:rPr>
              <a:t>‏ when it exists: ‏</a:t>
            </a:r>
            <a:pPr algn="l" indent="0" marL="0">
              <a:buNone/>
            </a:pPr>
            <a:r>
              <a:rPr lang="ar-SA" altLang="en-US" sz="1500" b="1" dirty="0">
                <a:solidFill>
                  <a:srgbClr val="1B3B6F"/>
                </a:solidFill>
                <a:latin typeface="Amiri" pitchFamily="2" charset="-78"/>
                <a:ea typeface="Amiri" pitchFamily="2" charset="-78"/>
                <a:cs typeface="Amiri" pitchFamily="2" charset="-78"/>
              </a:rPr>
              <a:t>أَذْكَى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هُوَ / هِيَ ______ مِنْ ______ ، وَ ______ مِثْلُ ______ .</a:t>
            </a:r>
            <a:endParaRPr lang="ar-SA" sz="13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…-er than …, and … like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كَانَ / كَانَتِ الوَلَدَ الَّذِي / البِنْتَ الَّتِي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was the boy who / the girl who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إِعْلَانٌ: ضَاعَ / ضَاعَتْ ______ ، عُمْرُهُ / عُمْرُهَا ______ .</a:t>
            </a:r>
            <a:endParaRPr lang="ar-SA" sz="135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Notice: … is lost; he / she is … years old.</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هُوَ / هِيَ ______ القَامَةِ، وَشَعْرُهُ / شَعْرُهَا ______ .</a:t>
            </a:r>
            <a:endParaRPr lang="ar-SA" sz="14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 and his / her hair is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عَيْنَاهُ / عَيْنَاهَا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eyes are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يَرْتَدِي / تَرْتَدِي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wearing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وَجَدْنَاهُ / وَجَدْنَاهَا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found him / her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قَصِيرُ القَامَةِ · طَوِيلَةُ القَامَةِ  ·  شَعْرُهُ · شَعْرُهَا  ·  عَيْنَاهُ · عَيْنَاهَا  ·  بُنِّيَّتَانِ · خَضْرَاوَانِ  ·  يَرْتَدِي · تَرْتَدِي  ·  أَطْوَلُ · أَصْغَرُ مِنْ  ·  مِثْلُ  ·  الَّذِي · الَّتِي</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A lost-child notice and a message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إِعْلَانٌ وَرِسَالَةٌ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Part 1: write the festival’s lost-child notice — a full portrait in order (who, age, height, hair, eyes as a dual, clothes). Part 2: write a message to your parents (together about 60–80 words): where you found him / her, a comparison with another child (two comparatives, one ‏</a:t>
            </a:r>
            <a:pPr algn="l" indent="0" marL="0">
              <a:buNone/>
            </a:pPr>
            <a:r>
              <a:rPr lang="ar-SA" altLang="en-US" sz="1450" b="1" dirty="0">
                <a:solidFill>
                  <a:srgbClr val="1F2A37"/>
                </a:solidFill>
                <a:latin typeface="Amiri" pitchFamily="2" charset="-78"/>
                <a:ea typeface="Amiri" pitchFamily="2" charset="-78"/>
                <a:cs typeface="Amiri" pitchFamily="2" charset="-78"/>
              </a:rPr>
              <a:t>مِثْلُ</a:t>
            </a:r>
            <a:pPr algn="l" indent="0" marL="0">
              <a:buNone/>
            </a:pPr>
            <a:r>
              <a:rPr lang="en-US" sz="1100" b="1" dirty="0">
                <a:solidFill>
                  <a:srgbClr val="1F2A37"/>
                </a:solidFill>
                <a:latin typeface="Calibri" pitchFamily="34" charset="0"/>
                <a:cs typeface="Amiri" pitchFamily="2" charset="-78"/>
              </a:rPr>
              <a:t>‏), one ‏</a:t>
            </a:r>
            <a:pPr algn="l" indent="0" marL="0">
              <a:buNone/>
            </a:pPr>
            <a:r>
              <a:rPr lang="ar-SA" altLang="en-US" sz="1450" b="1" dirty="0">
                <a:solidFill>
                  <a:srgbClr val="1F2A37"/>
                </a:solidFill>
                <a:latin typeface="Amiri" pitchFamily="2" charset="-78"/>
                <a:ea typeface="Amiri" pitchFamily="2" charset="-78"/>
                <a:cs typeface="Amiri" pitchFamily="2" charset="-78"/>
              </a:rPr>
              <a:t>الَّذِي / الَّتِي</a:t>
            </a:r>
            <a:pPr algn="l" indent="0" marL="0">
              <a:buNone/>
            </a:pPr>
            <a:r>
              <a:rPr lang="en-US" sz="1100" b="1" dirty="0">
                <a:solidFill>
                  <a:srgbClr val="1F2A37"/>
                </a:solidFill>
                <a:latin typeface="Calibri" pitchFamily="34" charset="0"/>
                <a:cs typeface="Amiri" pitchFamily="2" charset="-78"/>
              </a:rPr>
              <a:t>‏ sentence, and how you felt.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D2-L05 AND D2-L06.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قَصِيرُ / قَصِيرَةُ القَامَةِ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 she is short</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شَعْرُهُ / شَعْرُهَا … · عَيْنَاهُ / عَيْنَاهَا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his / her hair … · his / her eyes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يَرْتَدِي / تَرْتَدِي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 she is wearing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أَطْوَلُ مِنْ · مِثْلُ · الَّذِي / الَّتِي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taller than · like · who</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أَفْعَلُ</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مِنْ</a:t>
            </a:r>
            <a:pPr algn="l" indent="0" marL="0">
              <a:buNone/>
            </a:pPr>
            <a:r>
              <a:rPr lang="en-US" sz="1100" dirty="0">
                <a:solidFill>
                  <a:srgbClr val="5A6472"/>
                </a:solidFill>
                <a:latin typeface="Calibri" pitchFamily="34" charset="0"/>
                <a:cs typeface="Amiri" pitchFamily="2" charset="-78"/>
              </a:rPr>
              <a:t>‏ without a feminine ending?</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the dual for eyes, ‏</a:t>
            </a:r>
            <a:pPr algn="l" indent="0" marL="0">
              <a:buNone/>
            </a:pPr>
            <a:r>
              <a:rPr lang="ar-SA" altLang="en-US" sz="1450" dirty="0">
                <a:solidFill>
                  <a:srgbClr val="5A6472"/>
                </a:solidFill>
                <a:latin typeface="Amiri" pitchFamily="2" charset="-78"/>
                <a:ea typeface="Amiri" pitchFamily="2" charset="-78"/>
                <a:cs typeface="Amiri" pitchFamily="2" charset="-78"/>
              </a:rPr>
              <a:t>لَهُ / لَهَا</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الَّذِي / الَّتِي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أُخْتِي الصَّغِيرَةُ هُدَى، عُمْرُهَا سِتُّ سَنَوَاتٍ.</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little sister Huda; she is six.</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ضَاعَ؟ وَكَمْ عُمْرُهُ؟</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قَصِيرَةُ القَامَةِ، شَعْرُهَا بُنِّيٌّ طَوِيلٌ، وَعَيْنَاهَا خَضْرَاوَانِ.</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is short, her hair is long and brown, and her eyes are green.</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تَبْدُو؟</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تَرْتَدِي فُسْتَانًا أَصْفَرَ وَحِذَاءً أَبْيَضَ، وَلَهَا حَقِيبَةٌ صَغِيرَةٌ.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is wearing a yellow dress and white shoes, and she has a small bag.</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تَرْتَدِي اليَوْمَ؟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هِيَ أَصْغَرُ مِنْهَا، وَشَعْرُهَا أَطْوَلُ؛ وَلٰكِنَّ فُسْتَانَهَا مِثْلُ فُسْتَانِ تِلْكَ البِنْتِ.</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 she is younger than her, and her hair is longer; but her dress is like that girl’s dress.</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هِيَ مِثْلُ هٰذِهِ البِنْتِ؟</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هِيَ الَّتِي تَرْتَدِي الفُسْتَانَ الأَصْفَرَ. شُكْرًا جَزِيلًا!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She is the one wearing the yellow dress. Thank you very much!</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هِيَ البِنْتُ الَّتِي تَبْكِي هُنَاكَ؟</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إِعْلَانٌ: ضَاعَ آدَمُ، عُمْرُهُ خَمْسُ سَنَوَاتٍ. هُوَ قَصِيرُ القَامَةِ، وَشَعْرُهُ أَسْوَدُ قَصِيرٌ، وَعَيْنَاهُ بُنِّيَّتَانِ. يَرْتَدِي قَمِيصًا أَحْمَرَ وَقُبَّعَةً زَرْقَاءَ.</a:t>
            </a:r>
            <a:endParaRPr lang="ar-SA" sz="2450" dirty="0"/>
          </a:p>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أُمِّي، لَا تَقْلَقِي! وَجَدْنَا آدَمَ بِجَانِبِ خَيْمَةِ المُثَلَّجَاتِ. كَانَ الوَلَدَ الَّذِي يَبْكِي هُنَاكَ. هُوَ أَصْغَرُ مِنَ الأَطْفَالِ الآخَرِينَ وَأَقْصَرُ مِنْهُمْ، وَقُبَّعَتُهُ مِثْلُ قُبَّعَتِي تَمَامًا، لِذٰلِكَ عَرَفْتُهُ بِسُرْعَةٍ. كُنْتُ خَائِفًا جِدًّا، وَلٰكِنِّي الآنَ سَعِيدٌ.</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“Notice: Adam is lost; he is five. He is short, his hair is short and black, and his eyes are brown. He is wearing a red shirt and a blue cap. / Mum, don’t worry! We found Adam next to the ice-cream tent. He was the boy who was crying there. He is younger and shorter than the other children, and his cap is exactly like mine, so I recognised him quickly. I was very scared, but now I am happy.”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قَصِيرُ القَامَةِ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عَيْنَاهُ بُنِّيَّتَانِ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الوَلَدَ الَّذِي يَبْكِي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مِثْلُ قُبَّعَتِي</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D2-W03 · Apply workshop (D2-L05 + D2-L06)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D2-L05 and D2-L06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D2-L07 · Listening — People, Personality and Style Descriptions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وَصْفُ الأَشْخَاصِ وَالشَّخْصِيَّةِ وَالأُسْلُوبِ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D2-W03 · Apply Workshop — Lost at the Festival</dc:title>
  <dc:subject>PptxGenJS Presentation</dc:subject>
  <dc:creator>Al Madina Online School · Arabic Department</dc:creator>
  <cp:lastModifiedBy>Al Madina Online School · Arabic Department</cp:lastModifiedBy>
  <cp:revision>1</cp:revision>
  <dcterms:created xsi:type="dcterms:W3CDTF">2026-10-26T15:28:50Z</dcterms:created>
  <dcterms:modified xsi:type="dcterms:W3CDTF">2026-10-26T15:28:50Z</dcterms:modified>
</cp:coreProperties>
</file>