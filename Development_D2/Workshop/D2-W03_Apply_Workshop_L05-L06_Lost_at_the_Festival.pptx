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APPLY WORKSHOP AT A GLANCE — the third lesson of the week (Learn D2-L05 · Learn D2-L06 · Apply). 60 minutes on Teams: teacher-led in the main room for the short whole-class steps, pairs or breakout rooms of two or three for speaking, individual writing.
0–3 Welcome + plan · 3–6 What we learnt this week · PART 1 REMEMBER: word race (4) · which lesson? sort (4) · PART 2 SPEAK: new dialogue (5) · mixed question cards (6) · role-play card (7) · one minute talk (4) · PART 3 WRITE: sentence builder (3) · spot and fix (3) · connected writing (12) + buddy check (3) · CHECK YOURSELF: models + self-check (5).
PURPOSE: students APPLY the language of BOTH lessons in new contexts — the question cards, builder and common mistakes come from the two practice rooms; the dialogue, role-play, talk and writing task are new and join the lessons together.
CONTENT: D2-L05 (Comparing People and Clothes — More, Less and Better) and D2-L06 (Describing Appearance — A Full Physical Portrait).
SET-UP: share this deck or its PDF in the chat. Pairs or breakout rooms for Part 2 (same-level rooms keep the routes simple). Everyone writes in their own book or document in Part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Apply = use what you learnt in D2-L05 and D2-L06 in a NEW situation. Point out the step number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WE LEARNT (3 min, main room). Ask: “What can you say after D2-L05? After D2-L06?” Take two answers in the chat for each lesson (one word or one sentence is enough). Then read objective 3 — today’s new situation that needs BOTH lessons. Students tick their route goals at the end of the lesson.
D2-L05 language: comparative afʿalu + min (aṭwalu min · arkhaṣu min · aghlā min); akthar / aqall + an accusative noun (akthar thiqatan · aqall saʿran); the same: mithla · bi-nafsi al-daraja; preference: ufaḍḍilu … ʿalā …; superlative: al-afḍal · aṭwalu ṭālibin
D2-L06 language: portrait order (height → hair → eyes → clothes); lahu / lahā (he / she has); hair is masculine (shaʿruhā ṭawīlun); eyes are dual (ʿaynāhā bunniyyatāni); yartadī / tartadī; picking people out with alladhī / allatī; respectful description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Quick, energetic retrieval. Model one round with a student, then pairs race. Collect the best score in the chat. Listen for words students hesitate over and revisit them in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six words from D2-L06.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Students read each card ALOUD (by invitation), then type its number in the chat with 1 or 2 (for example “card 3 → 2”). Then check the answer slide. Ask: “Which card could you use in BOTH lessons?” — this links the two lessons before Part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(5 min). A NEW dialogue that joins D2-L05 and D2-L06. Teacher reads it once with a confident student; then pairs. Ask: “Which lines are from D2-L05? Which from D2-L06?” The portrait order, hair (masculine), eyes (dual: بُنِّيَّتَانِ), يَرْتَدِي and الَّذِي come from D2-L06; comparatives (أَقْصَرُ مِنْ) from D2-L05.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(6 min, pairs or rooms). The questions come from the two practice rooms, now mixed so students switch between the lessons. Teacher: visit rooms and ask one Stretch follow-up question in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5 (7 min). One NEW situation that needs both lessons: a full portrait in order — height, hair, eyes, clothes, الَّذِي / الَّتِي (D2-L06) with comparatives, أَكْثَرُ + noun and مِثْلُ (D2-L05). FADED SUPPORT: tasks 1–2 show the plan; students write their own plan for 3–5. To a girl Partner A says: لَا تَقْلَقِي · كَيْفَ يَبْدُو …؟ — the questions are about the lost child, so they stay the same.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Fluency: one talk that uses BOTH lessons. Two volunteers speak to the whole class at the end (open mic).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D2-L05 and D2-L06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Rows come from the D2-L05 and D2-L06 practice rooms. Read the English, choose the correct part from each column (start on the RIGHT). Pairs agree, then check. Students copy the correct sentences — they help in Step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(3 min). Common mistakes from both lessons. Students type the corrected version in the chat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support. Core: use the Core frames for every bullet. Develop: use the Develop frames only if stuck. Stretch: no frames — add reasons, a time phrase and an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9 (10 min writing, everyone on their own). Core: frames for every bullet (50–60 words). Develop: 80–100 words, frames only if stuck. Stretch: no frames, add reasons and another time frame. Teacher reads ONE sentence per student (in the chat or the shared document) and gives one live correction.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Pairs swap texts (or share screens).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(52 words). CHECK YOURSELF (2 min). Find each bullet point in the model, and one phrase from D2-L05 and one from D2-L06.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D2-L05 + D2-L06 · APPLY WORKSHOP</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D2-W03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cs typeface="Amiri" pitchFamily="2" charset="-78"/>
              </a:rPr>
              <a:t>Apply Workshop — Lost at the Festival</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التَّطْبِيقِ — ضَائِعٌ فِي المِهْرَجَانِ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300" dirty="0">
                <a:solidFill>
                  <a:srgbClr val="C6D2E6"/>
                </a:solidFill>
                <a:latin typeface="Calibri" pitchFamily="34" charset="0"/>
                <a:cs typeface="Amiri" pitchFamily="2" charset="-78"/>
              </a:rPr>
              <a:t>Students join full physical portraits with comparisons: at a busy festival a younger brother is lost, so they describe him precisely to a steward (height, hair, eyes, clothes, </a:t>
            </a:r>
            <a:pPr algn="l" indent="0" marL="0">
              <a:buNone/>
            </a:pPr>
            <a:r>
              <a:rPr lang="ar-SA" altLang="en-US" sz="1700" dirty="0">
                <a:solidFill>
                  <a:srgbClr val="C6D2E6"/>
                </a:solidFill>
                <a:latin typeface="Amiri" pitchFamily="2" charset="-78"/>
                <a:ea typeface="Amiri" pitchFamily="2" charset="-78"/>
                <a:cs typeface="Amiri" pitchFamily="2" charset="-78"/>
              </a:rPr>
              <a:t>الَّذِي / الَّتِي</a:t>
            </a:r>
            <a:pPr algn="l" indent="0" marL="0">
              <a:buNone/>
            </a:pPr>
            <a:r>
              <a:rPr lang="en-US" sz="1300" dirty="0">
                <a:solidFill>
                  <a:srgbClr val="C6D2E6"/>
                </a:solidFill>
                <a:latin typeface="Calibri" pitchFamily="34" charset="0"/>
                <a:cs typeface="Amiri" pitchFamily="2" charset="-78"/>
              </a:rPr>
              <a:t>), compare him with other children (</a:t>
            </a:r>
            <a:pPr algn="l" indent="0" marL="0">
              <a:buNone/>
            </a:pPr>
            <a:r>
              <a:rPr lang="ar-SA" altLang="en-US" sz="1700" dirty="0">
                <a:solidFill>
                  <a:srgbClr val="C6D2E6"/>
                </a:solidFill>
                <a:latin typeface="Amiri" pitchFamily="2" charset="-78"/>
                <a:ea typeface="Amiri" pitchFamily="2" charset="-78"/>
                <a:cs typeface="Amiri" pitchFamily="2" charset="-78"/>
              </a:rPr>
              <a:t>أَطْوَلُ مِنْ</a:t>
            </a:r>
            <a:pPr algn="l" indent="0" marL="0">
              <a:buNone/>
            </a:pPr>
            <a:r>
              <a:rPr lang="en-US" sz="1300" dirty="0">
                <a:solidFill>
                  <a:srgbClr val="C6D2E6"/>
                </a:solidFill>
                <a:latin typeface="Calibri" pitchFamily="34" charset="0"/>
                <a:cs typeface="Amiri" pitchFamily="2" charset="-78"/>
              </a:rPr>
              <a:t> · </a:t>
            </a:r>
            <a:pPr algn="l" indent="0" marL="0">
              <a:buNone/>
            </a:pPr>
            <a:r>
              <a:rPr lang="ar-SA" altLang="en-US" sz="1700" dirty="0">
                <a:solidFill>
                  <a:srgbClr val="C6D2E6"/>
                </a:solidFill>
                <a:latin typeface="Amiri" pitchFamily="2" charset="-78"/>
                <a:ea typeface="Amiri" pitchFamily="2" charset="-78"/>
                <a:cs typeface="Amiri" pitchFamily="2" charset="-78"/>
              </a:rPr>
              <a:t>مِثْلُ</a:t>
            </a:r>
            <a:pPr algn="l" indent="0" marL="0">
              <a:buNone/>
            </a:pPr>
            <a:r>
              <a:rPr lang="en-US" sz="1300" dirty="0">
                <a:solidFill>
                  <a:srgbClr val="C6D2E6"/>
                </a:solidFill>
                <a:latin typeface="Calibri" pitchFamily="34" charset="0"/>
                <a:cs typeface="Amiri" pitchFamily="2" charset="-78"/>
              </a:rPr>
              <a:t>), and write a lost-child notice and a message home.</a:t>
            </a:r>
            <a:endParaRPr lang="en-US" sz="13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Apply workshop · D2-L05 + D2-L06</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PLAN · LEARN, LEARN, APPLY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Two lessons — now use them together</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we learnt: D2-L05 and D2-L06.</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مَاذَا تَعَلَّمْنَا؟</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1 · Remember: word race and “which lesson?” sort.</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تَذَكَّرْ</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22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2 · Speak: say the model dialogue · question cards · role-play card · short talk.</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19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Part 3 · Write: sentence builder · spot and fix ·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WORKSHOP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Today there is no new language: you USE the words and structures of the last two lessons together. Everybody speaks in every step and everybody writes their own text. Choose your route — Core, Develop or Stretch — and move up when you are ready.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WHAT WE LEARNT THIS WEEK · D2-L05 + D2-L06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This week’s two lessons — and today’s goal</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نُطَبِّقُ مَا تَعَلَّمْنَا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D2-L05: Comparing People and Clothes — More, Less and Better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D2-L06: Describing Appearance — A Full Physical Portrait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Apply both: describing someone who is lost · A lost-child notice and a message home</a:t>
            </a:r>
            <a:endParaRPr lang="en-US" sz="1300" dirty="0"/>
          </a:p>
        </p:txBody>
      </p:sp>
      <p:sp>
        <p:nvSpPr>
          <p:cNvPr id="27" name="Shape 24"/>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28" name="Shape 25"/>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29" name="Text 26"/>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0" name="Text 27"/>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1" name="Text 28"/>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Answer questions from BOTH lessons in full sentences.</a:t>
            </a:r>
            <a:endParaRPr lang="en-US" sz="1300" dirty="0"/>
          </a:p>
        </p:txBody>
      </p:sp>
      <p:sp>
        <p:nvSpPr>
          <p:cNvPr id="32" name="Text 29"/>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Write the text using the frames.</a:t>
            </a:r>
            <a:endParaRPr lang="en-US" sz="1300" dirty="0"/>
          </a:p>
        </p:txBody>
      </p:sp>
      <p:sp>
        <p:nvSpPr>
          <p:cNvPr id="33" name="Shape 30"/>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4" name="Shape 31"/>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5" name="Text 32"/>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6" name="Text 33"/>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37" name="Text 34"/>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Join both lessons in one conversation and a one minute talk.</a:t>
            </a:r>
            <a:endParaRPr lang="en-US" sz="1300" dirty="0"/>
          </a:p>
        </p:txBody>
      </p:sp>
      <p:sp>
        <p:nvSpPr>
          <p:cNvPr id="38" name="Text 35"/>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Write the text, frames only if stuck.</a:t>
            </a:r>
            <a:endParaRPr lang="en-US" sz="1300" dirty="0"/>
          </a:p>
        </p:txBody>
      </p:sp>
      <p:sp>
        <p:nvSpPr>
          <p:cNvPr id="39" name="Shape 36"/>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0" name="Shape 37"/>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1" name="Text 38"/>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2" name="Text 39"/>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3" name="Text 40"/>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Speak without notes; add reasons and opinions.</a:t>
            </a:r>
            <a:endParaRPr lang="en-US" sz="1300" dirty="0"/>
          </a:p>
        </p:txBody>
      </p:sp>
      <p:sp>
        <p:nvSpPr>
          <p:cNvPr id="44" name="Text 41"/>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Use more than one tense; give and justify opinions.</a:t>
            </a:r>
            <a:endParaRPr lang="en-US" sz="13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1 · STEP 1 · WORD RACE · 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Word race: two lessons, one race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سِبَاقُ الكَلِمَاتِ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English → Arabic, from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next two slides show words from D2-L05 and D2-L06. Partner A says a word in ENGLISH; Partner B says it in ARABIC. One point for every correct answer in 90 seconds — then swap.</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first round together (3 words from each slide).</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90 seconds each, as many as you can.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Mix the lessons: one word from slide 1, one from slide 2.</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two words — one from each lesson — in ONE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with it.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Join a word from each lesson in one sentence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 or ‏</a:t>
            </a:r>
            <a:pPr algn="l" indent="0" marL="0">
              <a:buNone/>
            </a:pPr>
            <a:r>
              <a:rPr lang="ar-SA" altLang="en-US" sz="1500" dirty="0">
                <a:solidFill>
                  <a:srgbClr val="1F2A37"/>
                </a:solidFill>
                <a:latin typeface="Amiri" pitchFamily="2" charset="-78"/>
                <a:ea typeface="Amiri" pitchFamily="2" charset="-78"/>
                <a:cs typeface="Amiri" pitchFamily="2" charset="-78"/>
              </a:rPr>
              <a:t>لِأَنَّ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صَحِيحٌ!</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correct!</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حَاوِلْ مَرَّةً أُخْرَى</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try again</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نُقْطَةٌ لَكَ / 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 point for you (m. / f.)</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D2-L05</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D2-L05 · Comparing People and Clothes — More, Less and Better</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الأَوَّلِ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أَكْثَرُ ... مِنْ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 than</a:t>
            </a:r>
            <a:endParaRPr lang="en-US" sz="1350" dirty="0"/>
          </a:p>
          <a:p>
            <a:pPr indent="0" marL="0">
              <a:buNone/>
            </a:pPr>
            <a:r>
              <a:rPr lang="en-US" sz="1100" i="1" dirty="0">
                <a:solidFill>
                  <a:srgbClr val="5A6472"/>
                </a:solidFill>
                <a:latin typeface="Calibri" pitchFamily="34" charset="0"/>
                <a:cs typeface="Amiri" pitchFamily="2" charset="-78"/>
              </a:rPr>
              <a:t>ak-tha-ru ... min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4782312" y="1938528"/>
            <a:ext cx="1580083"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أَفْضَلُ مِنْ</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better than</a:t>
            </a:r>
            <a:endParaRPr lang="en-US" sz="1350" dirty="0"/>
          </a:p>
          <a:p>
            <a:pPr indent="0" marL="0">
              <a:buNone/>
            </a:pPr>
            <a:r>
              <a:rPr lang="en-US" sz="1100" i="1" dirty="0">
                <a:solidFill>
                  <a:srgbClr val="5A6472"/>
                </a:solidFill>
                <a:latin typeface="Calibri" pitchFamily="34" charset="0"/>
                <a:cs typeface="Amiri" pitchFamily="2" charset="-78"/>
              </a:rPr>
              <a:t>af-ḍa-lu min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33" name="Text 30"/>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الأَفْضَلُ</a:t>
            </a:r>
            <a:endParaRPr lang="ar-SA" sz="135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36" name="Text 33"/>
          <p:cNvSpPr txBox="1"/>
          <p:nvPr/>
        </p:nvSpPr>
        <p:spPr>
          <a:xfrm>
            <a:off x="4462272"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جَيِّدٌ</a:t>
            </a:r>
            <a:endParaRPr lang="ar-SA"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Shape 37"/>
          <p:cNvSpPr/>
          <p:nvPr/>
        </p:nvSpPr>
        <p:spPr>
          <a:xfrm>
            <a:off x="960120" y="1938528"/>
            <a:ext cx="1580083"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أَغْلَى مِنْ</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expensive than</a:t>
            </a:r>
            <a:endParaRPr lang="en-US" sz="1350" dirty="0"/>
          </a:p>
          <a:p>
            <a:pPr indent="0" marL="0">
              <a:buNone/>
            </a:pPr>
            <a:r>
              <a:rPr lang="en-US" sz="1100" i="1" dirty="0">
                <a:solidFill>
                  <a:srgbClr val="5A6472"/>
                </a:solidFill>
                <a:latin typeface="Calibri" pitchFamily="34" charset="0"/>
                <a:cs typeface="Amiri" pitchFamily="2" charset="-78"/>
              </a:rPr>
              <a:t>agh-lā min</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48" name="Text 45"/>
          <p:cNvSpPr txBox="1"/>
          <p:nvPr/>
        </p:nvSpPr>
        <p:spPr>
          <a:xfrm>
            <a:off x="2368296"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الأَغْلَى</a:t>
            </a:r>
            <a:endParaRPr lang="ar-SA" sz="135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51" name="Text 48"/>
          <p:cNvSpPr txBox="1"/>
          <p:nvPr/>
        </p:nvSpPr>
        <p:spPr>
          <a:xfrm>
            <a:off x="6400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غَالٍ</a:t>
            </a:r>
            <a:endParaRPr lang="ar-SA" sz="135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5" name="Shape 52"/>
          <p:cNvSpPr/>
          <p:nvPr/>
        </p:nvSpPr>
        <p:spPr>
          <a:xfrm>
            <a:off x="8604504" y="4279392"/>
            <a:ext cx="1580083" cy="256032"/>
          </a:xfrm>
          <a:prstGeom prst="roundRect">
            <a:avLst>
              <a:gd name="adj" fmla="val 50000"/>
            </a:avLst>
          </a:prstGeom>
          <a:solidFill>
            <a:srgbClr val="EFE7D2"/>
          </a:solidFill>
          <a:ln w="12700">
            <a:solidFill>
              <a:srgbClr val="EFE7D2"/>
            </a:solidFill>
            <a:prstDash val="solid"/>
          </a:ln>
        </p:spPr>
      </p:sp>
      <p:sp>
        <p:nvSpPr>
          <p:cNvPr id="56" name="Text 53"/>
          <p:cNvSpPr txBox="1"/>
          <p:nvPr/>
        </p:nvSpPr>
        <p:spPr>
          <a:xfrm>
            <a:off x="8604504"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57" name="Shape 5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8" name="Text 5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9" name="Text 5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أَقْصَرُ مِنْ</a:t>
            </a:r>
            <a:endParaRPr lang="ar-SA" sz="3000" dirty="0"/>
          </a:p>
        </p:txBody>
      </p:sp>
      <p:sp>
        <p:nvSpPr>
          <p:cNvPr id="60" name="Text 5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shorter than</a:t>
            </a:r>
            <a:endParaRPr lang="en-US" sz="1350" dirty="0"/>
          </a:p>
          <a:p>
            <a:pPr indent="0" marL="0">
              <a:buNone/>
            </a:pPr>
            <a:r>
              <a:rPr lang="en-US" sz="1100" i="1" dirty="0">
                <a:solidFill>
                  <a:srgbClr val="5A6472"/>
                </a:solidFill>
                <a:latin typeface="Calibri" pitchFamily="34" charset="0"/>
                <a:cs typeface="Amiri" pitchFamily="2" charset="-78"/>
              </a:rPr>
              <a:t>aq-ṣa-ru min</a:t>
            </a:r>
            <a:endParaRPr lang="en-US" sz="1350" dirty="0"/>
          </a:p>
        </p:txBody>
      </p:sp>
      <p:sp>
        <p:nvSpPr>
          <p:cNvPr id="61" name="Shape 5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2" name="Text 5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63" name="Text 60"/>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الأَقْصَرُ</a:t>
            </a:r>
            <a:endParaRPr lang="ar-SA" sz="1350" dirty="0"/>
          </a:p>
        </p:txBody>
      </p:sp>
      <p:sp>
        <p:nvSpPr>
          <p:cNvPr id="64" name="Shape 6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5" name="Text 6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66" name="Text 63"/>
          <p:cNvSpPr txBox="1"/>
          <p:nvPr/>
        </p:nvSpPr>
        <p:spPr>
          <a:xfrm>
            <a:off x="8284464"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قَصِيرٌ</a:t>
            </a:r>
            <a:endParaRPr lang="ar-SA" sz="1350" dirty="0"/>
          </a:p>
        </p:txBody>
      </p:sp>
      <p:sp>
        <p:nvSpPr>
          <p:cNvPr id="67" name="Shape 6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389120" y="4261104"/>
            <a:ext cx="310896" cy="310896"/>
          </a:xfrm>
          <a:prstGeom prst="ellipse">
            <a:avLst/>
          </a:prstGeom>
          <a:solidFill>
            <a:srgbClr val="F4F1EA"/>
          </a:solidFill>
          <a:ln w="12700">
            <a:solidFill>
              <a:srgbClr val="F4F1EA"/>
            </a:solidFill>
            <a:prstDash val="solid"/>
          </a:ln>
        </p:spPr>
      </p:sp>
      <p:sp>
        <p:nvSpPr>
          <p:cNvPr id="69" name="Text 6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0" name="Shape 67"/>
          <p:cNvSpPr/>
          <p:nvPr/>
        </p:nvSpPr>
        <p:spPr>
          <a:xfrm>
            <a:off x="4782312" y="4279392"/>
            <a:ext cx="1580083" cy="256032"/>
          </a:xfrm>
          <a:prstGeom prst="roundRect">
            <a:avLst>
              <a:gd name="adj" fmla="val 50000"/>
            </a:avLst>
          </a:prstGeom>
          <a:solidFill>
            <a:srgbClr val="EFE7D2"/>
          </a:solidFill>
          <a:ln w="12700">
            <a:solidFill>
              <a:srgbClr val="EFE7D2"/>
            </a:solidFill>
            <a:prstDash val="solid"/>
          </a:ln>
        </p:spPr>
      </p:sp>
      <p:sp>
        <p:nvSpPr>
          <p:cNvPr id="71" name="Text 68"/>
          <p:cNvSpPr txBox="1"/>
          <p:nvPr/>
        </p:nvSpPr>
        <p:spPr>
          <a:xfrm>
            <a:off x="4782312" y="4279392"/>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adj · than · the most</a:t>
            </a:r>
            <a:endParaRPr lang="en-US" sz="800" dirty="0"/>
          </a:p>
        </p:txBody>
      </p:sp>
      <p:sp>
        <p:nvSpPr>
          <p:cNvPr id="72" name="Text 6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أَجْمَلُ مِنْ</a:t>
            </a:r>
            <a:endParaRPr lang="ar-SA" sz="3000" dirty="0"/>
          </a:p>
        </p:txBody>
      </p:sp>
      <p:sp>
        <p:nvSpPr>
          <p:cNvPr id="73" name="Text 7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more beautiful than</a:t>
            </a:r>
            <a:endParaRPr lang="en-US" sz="1350" dirty="0"/>
          </a:p>
          <a:p>
            <a:pPr indent="0" marL="0">
              <a:buNone/>
            </a:pPr>
            <a:r>
              <a:rPr lang="en-US" sz="1100" i="1" dirty="0">
                <a:solidFill>
                  <a:srgbClr val="5A6472"/>
                </a:solidFill>
                <a:latin typeface="Calibri" pitchFamily="34" charset="0"/>
                <a:cs typeface="Amiri" pitchFamily="2" charset="-78"/>
              </a:rPr>
              <a:t>aj-ma-lu min</a:t>
            </a:r>
            <a:endParaRPr lang="en-US" sz="1350" dirty="0"/>
          </a:p>
        </p:txBody>
      </p:sp>
      <p:sp>
        <p:nvSpPr>
          <p:cNvPr id="74" name="Shape 7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75" name="Text 7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the …-est</a:t>
            </a:r>
            <a:endParaRPr lang="en-US" sz="700" dirty="0"/>
          </a:p>
        </p:txBody>
      </p:sp>
      <p:sp>
        <p:nvSpPr>
          <p:cNvPr id="76" name="Text 7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الأَجْمَلُ</a:t>
            </a:r>
            <a:endParaRPr lang="ar-SA" sz="1350" dirty="0"/>
          </a:p>
        </p:txBody>
      </p:sp>
      <p:sp>
        <p:nvSpPr>
          <p:cNvPr id="77" name="Shape 7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78" name="Text 7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adjective</a:t>
            </a:r>
            <a:endParaRPr lang="en-US" sz="700" dirty="0"/>
          </a:p>
        </p:txBody>
      </p:sp>
      <p:sp>
        <p:nvSpPr>
          <p:cNvPr id="79" name="Text 76"/>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جَمِيلٌ</a:t>
            </a:r>
            <a:endParaRPr lang="ar-SA" sz="1350" dirty="0"/>
          </a:p>
        </p:txBody>
      </p:sp>
      <p:sp>
        <p:nvSpPr>
          <p:cNvPr id="80" name="Shape 7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566928" y="4261104"/>
            <a:ext cx="310896" cy="310896"/>
          </a:xfrm>
          <a:prstGeom prst="ellipse">
            <a:avLst/>
          </a:prstGeom>
          <a:solidFill>
            <a:srgbClr val="F4F1EA"/>
          </a:solidFill>
          <a:ln w="12700">
            <a:solidFill>
              <a:srgbClr val="F4F1EA"/>
            </a:solidFill>
            <a:prstDash val="solid"/>
          </a:ln>
        </p:spPr>
      </p:sp>
      <p:sp>
        <p:nvSpPr>
          <p:cNvPr id="82" name="Text 7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3" name="Text 8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بِنَفْسِ الدَّرَجَةِ</a:t>
            </a:r>
            <a:endParaRPr lang="ar-SA" sz="3000" dirty="0"/>
          </a:p>
        </p:txBody>
      </p:sp>
      <p:sp>
        <p:nvSpPr>
          <p:cNvPr id="84" name="Text 8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 the same degree</a:t>
            </a:r>
            <a:endParaRPr lang="en-US" sz="1350" dirty="0"/>
          </a:p>
          <a:p>
            <a:pPr indent="0" marL="0">
              <a:buNone/>
            </a:pPr>
            <a:r>
              <a:rPr lang="en-US" sz="1100" i="1" dirty="0">
                <a:solidFill>
                  <a:srgbClr val="5A6472"/>
                </a:solidFill>
                <a:latin typeface="Calibri" pitchFamily="34" charset="0"/>
                <a:cs typeface="Amiri" pitchFamily="2" charset="-78"/>
              </a:rPr>
              <a:t>bi-naf-si ad-da-ra-ja-ti</a:t>
            </a:r>
            <a:endParaRPr lang="en-US" sz="13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WORDS FROM D2-L06</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D2-L06 · Describing Appearance — A Full Physical Portrait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 الثَّانِي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8" name="Shape 45"/>
          <p:cNvSpPr/>
          <p:nvPr/>
        </p:nvSpPr>
        <p:spPr>
          <a:xfrm>
            <a:off x="960120" y="1938528"/>
            <a:ext cx="833933"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قَصِيرٌ</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قَصِيرٌ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مُسْتَقِيمٌ</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مُسْتَقِيمٌ</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8" name="Shape 75"/>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84" name="Shape 81"/>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6" name="Text 83"/>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نَظَّارَاتٌ</a:t>
            </a:r>
            <a:endParaRPr lang="ar-SA" sz="1500" dirty="0"/>
          </a:p>
        </p:txBody>
      </p:sp>
      <p:sp>
        <p:nvSpPr>
          <p:cNvPr id="87" name="Shape 84"/>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glasses</a:t>
            </a:r>
            <a:endParaRPr lang="en-US" sz="700" dirty="0"/>
          </a:p>
        </p:txBody>
      </p:sp>
      <p:sp>
        <p:nvSpPr>
          <p:cNvPr id="89" name="Text 86"/>
          <p:cNvSpPr txBox="1"/>
          <p:nvPr/>
        </p:nvSpPr>
        <p:spPr>
          <a:xfrm>
            <a:off x="5614416" y="5916168"/>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نَظَّارَةٌ</a:t>
            </a:r>
            <a:endParaRPr lang="ar-SA" sz="1350" dirty="0"/>
          </a:p>
        </p:txBody>
      </p:sp>
      <p:sp>
        <p:nvSpPr>
          <p:cNvPr id="90" name="Shape 87"/>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92" name="Text 89"/>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تَرْتَدِي</a:t>
            </a:r>
            <a:endParaRPr lang="ar-SA" sz="1500" dirty="0"/>
          </a:p>
        </p:txBody>
      </p:sp>
      <p:sp>
        <p:nvSpPr>
          <p:cNvPr id="93" name="Shape 90"/>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566928" y="4261104"/>
            <a:ext cx="310896" cy="310896"/>
          </a:xfrm>
          <a:prstGeom prst="ellipse">
            <a:avLst/>
          </a:prstGeom>
          <a:solidFill>
            <a:srgbClr val="F4F1EA"/>
          </a:solidFill>
          <a:ln w="12700">
            <a:solidFill>
              <a:srgbClr val="F4F1EA"/>
            </a:solidFill>
            <a:prstDash val="solid"/>
          </a:ln>
        </p:spPr>
      </p:sp>
      <p:sp>
        <p:nvSpPr>
          <p:cNvPr id="95" name="Text 92"/>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96" name="Text 9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 لِحْيَةٌ</a:t>
            </a:r>
            <a:endParaRPr lang="ar-SA" sz="3000" dirty="0"/>
          </a:p>
        </p:txBody>
      </p:sp>
      <p:sp>
        <p:nvSpPr>
          <p:cNvPr id="97" name="Text 9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a beard</a:t>
            </a:r>
            <a:endParaRPr lang="en-US" sz="1350" dirty="0"/>
          </a:p>
          <a:p>
            <a:pPr indent="0" marL="0">
              <a:buNone/>
            </a:pPr>
            <a:r>
              <a:rPr lang="en-US" sz="1100" i="1" dirty="0">
                <a:solidFill>
                  <a:srgbClr val="5A6472"/>
                </a:solidFill>
                <a:latin typeface="Calibri" pitchFamily="34" charset="0"/>
                <a:cs typeface="Amiri" pitchFamily="2" charset="-78"/>
              </a:rPr>
              <a:t>la-hu liḥ-ya-tun</a:t>
            </a:r>
            <a:endParaRPr lang="en-US" sz="13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1 · STEP 2 · WHICH LESSON? · READ EACH CARD, THEN SORT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does it come from?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أَطْوَلُ / أَصْغَرُ مِنْ …</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هِيَ … القَامَةِ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 شَعْرُهَا … · لَهُ لِحْيَةٌ</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ثِقَةً · أَقَلُّ صَبْرًا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مِثْلُ … · بِنَفْسِ الدَّرَجَةِ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 عَيْنَاهَا بُنِّيَّتَانِ</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يَرْتَدِي / تَرْتَدِي …</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أُسْلُوبَ … عَلَى …</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D2-L05 · Comparing People and Clothes — More, Less and Better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D2-L06 · Describing Appearance — A Full Physical Portrait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lesson?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أَيِّ 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D2-L05 · Comparing People and Clothes — More, Less and Better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أَطْوَلُ / أَصْغَرُ مِنْ …</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أَكْثَرُ ثِقَةً · أَقَلُّ صَبْرًا</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 مِثْلُ … · بِنَفْسِ الدَّرَجَةِ</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أُفَضِّلُ أُسْلُوبَ … عَلَى …</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D2-L06 · Describing Appearance — A Full Physical Portrait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 هِيَ … القَامَةِ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 شَعْرُهَا … · لَهُ لِحْيَةٌ</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عَيْنَاهُ / عَيْنَاهَا بُنِّيَّتَانِ</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عَادَةً يَرْتَدِي / تَرْتَدِي …</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2F6FB0"/>
                </a:solidFill>
                <a:latin typeface="Calibri" pitchFamily="34" charset="0"/>
                <a:cs typeface="Amiri" pitchFamily="2" charset="-78"/>
              </a:rPr>
              <a:t>PART 2 · STEP 3 · SAY THE MODEL DIALOGUE · BOTH LESSONS IN ONE CONVERSATION</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At the information tent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خَيْمَةِ الاسْتِعْلَامَاتِ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Excuse me, my little brother is lost!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لَوْ سَمَحْتَ، أَخِي الصَّغِيرُ ضَائِعٌ!</a:t>
            </a:r>
            <a:endParaRPr lang="ar-SA" sz="19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worry. What does he look like?</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لَا تَقْلَقْ. كَيْفَ يَبْدُو؟</a:t>
            </a:r>
            <a:endParaRPr lang="ar-SA" sz="19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short, his hair is short and black, and his eyes are brown.</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هُوَ قَصِيرُ القَامَةِ، وَشَعْرُهُ أَسْوَدُ قَصِيرٌ، وَعَيْنَاهُ بُنِّيَّتَانِ.</a:t>
            </a:r>
            <a:endParaRPr lang="ar-SA" sz="19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he wearing?</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مَاذَا يَرْتَدِي؟</a:t>
            </a:r>
            <a:endParaRPr lang="ar-SA" sz="19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wearing a red shirt and a blue cap. He is a little shorter than this boy.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يَرْتَدِي قَمِيصًا أَحْمَرَ وَقُبَّعَةً زَرْقَاءَ. هُوَ أَقْصَرُ مِنْ هٰذَا الوَلَدِ قَلِيلًا.</a:t>
            </a:r>
            <a:endParaRPr lang="ar-SA" sz="19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Is he the boy who is standing next to the ice cream?</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1900" b="1" dirty="0">
                <a:solidFill>
                  <a:srgbClr val="1B3B6F"/>
                </a:solidFill>
                <a:latin typeface="Amiri" pitchFamily="2" charset="-78"/>
                <a:ea typeface="Amiri" pitchFamily="2" charset="-78"/>
                <a:cs typeface="Amiri" pitchFamily="2" charset="-78"/>
              </a:rPr>
              <a:t>هَلْ هُوَ الوَلَدُ الَّذِي يَقِفُ بِجَانِبِ المُثَلَّجَاتِ؟</a:t>
            </a:r>
            <a:endParaRPr lang="ar-SA" sz="19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Round 1: read it in pairs (A and B). Round 2: swap letters. Round 3: cover the Arabic and say it from the English. Then change TWO details — one from each lesson — and say it again.</a:t>
            </a:r>
            <a:endParaRPr lang="en-US" sz="11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QUESTION CARDS · QUESTIONS FROM BOTH LESSONS, MIXED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Mixed questions — answer, then add more</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مِنَ الدَّرْسَيْنِ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2" name="Text 19"/>
          <p:cNvSpPr txBox="1"/>
          <p:nvPr/>
        </p:nvSpPr>
        <p:spPr>
          <a:xfrm>
            <a:off x="9738360" y="226771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وَلٰكِنَّنِي أَكْبَرُ …</a:t>
            </a:r>
            <a:endParaRPr lang="ar-SA" sz="1500" dirty="0"/>
          </a:p>
        </p:txBody>
      </p:sp>
      <p:sp>
        <p:nvSpPr>
          <p:cNvPr id="23" name="Text 20"/>
          <p:cNvSpPr txBox="1"/>
          <p:nvPr/>
        </p:nvSpPr>
        <p:spPr>
          <a:xfrm>
            <a:off x="6995160" y="226771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أَطْوَلُ مِنِّي / أَنَا أَطْوَلُ مِنْ …</a:t>
            </a:r>
            <a:endParaRPr lang="ar-SA" sz="1600" dirty="0"/>
          </a:p>
        </p:txBody>
      </p:sp>
      <p:sp>
        <p:nvSpPr>
          <p:cNvPr id="24" name="Text 21"/>
          <p:cNvSpPr txBox="1"/>
          <p:nvPr/>
        </p:nvSpPr>
        <p:spPr>
          <a:xfrm>
            <a:off x="4636008" y="226771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taller: you or your brother / sister?</a:t>
            </a:r>
            <a:endParaRPr lang="en-US" sz="1100" dirty="0"/>
          </a:p>
        </p:txBody>
      </p:sp>
      <p:sp>
        <p:nvSpPr>
          <p:cNvPr id="25" name="Text 22"/>
          <p:cNvSpPr txBox="1"/>
          <p:nvPr/>
        </p:nvSpPr>
        <p:spPr>
          <a:xfrm>
            <a:off x="1051560" y="226771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أَطْوَلُ: أَنْتَ أَمْ أَخُوكَ / أُخْتُكَ؟</a:t>
            </a:r>
            <a:endParaRPr lang="ar-SA" sz="1700" dirty="0"/>
          </a:p>
        </p:txBody>
      </p:sp>
      <p:sp>
        <p:nvSpPr>
          <p:cNvPr id="26" name="Text 23"/>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30" name="Text 27"/>
          <p:cNvSpPr txBox="1"/>
          <p:nvPr/>
        </p:nvSpPr>
        <p:spPr>
          <a:xfrm>
            <a:off x="9738360" y="2881884"/>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وَعَيْنَايَ …</a:t>
            </a:r>
            <a:endParaRPr lang="ar-SA" sz="1500" dirty="0"/>
          </a:p>
        </p:txBody>
      </p:sp>
      <p:sp>
        <p:nvSpPr>
          <p:cNvPr id="31" name="Text 28"/>
          <p:cNvSpPr txBox="1"/>
          <p:nvPr/>
        </p:nvSpPr>
        <p:spPr>
          <a:xfrm>
            <a:off x="6995160" y="2881884"/>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القَامَةِ، وَشَعْرِي …</a:t>
            </a:r>
            <a:endParaRPr lang="ar-SA" sz="1600" dirty="0"/>
          </a:p>
        </p:txBody>
      </p:sp>
      <p:sp>
        <p:nvSpPr>
          <p:cNvPr id="32" name="Text 29"/>
          <p:cNvSpPr txBox="1"/>
          <p:nvPr/>
        </p:nvSpPr>
        <p:spPr>
          <a:xfrm>
            <a:off x="4636008" y="2881884"/>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yourself.</a:t>
            </a:r>
            <a:endParaRPr lang="en-US" sz="1100" dirty="0"/>
          </a:p>
        </p:txBody>
      </p:sp>
      <p:sp>
        <p:nvSpPr>
          <p:cNvPr id="33" name="Text 30"/>
          <p:cNvSpPr txBox="1"/>
          <p:nvPr/>
        </p:nvSpPr>
        <p:spPr>
          <a:xfrm>
            <a:off x="1051560" y="2881884"/>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نَفْسَكَ.</a:t>
            </a:r>
            <a:endParaRPr lang="ar-SA" sz="1700" dirty="0"/>
          </a:p>
        </p:txBody>
      </p:sp>
      <p:sp>
        <p:nvSpPr>
          <p:cNvPr id="34" name="Text 31"/>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8" name="Text 35"/>
          <p:cNvSpPr txBox="1"/>
          <p:nvPr/>
        </p:nvSpPr>
        <p:spPr>
          <a:xfrm>
            <a:off x="9738360" y="3496056"/>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39" name="Text 36"/>
          <p:cNvSpPr txBox="1"/>
          <p:nvPr/>
        </p:nvSpPr>
        <p:spPr>
          <a:xfrm>
            <a:off x="6995160" y="3496056"/>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أَكْثَرُ صَبْرًا مِنْ …</a:t>
            </a:r>
            <a:endParaRPr lang="ar-SA" sz="1600" dirty="0"/>
          </a:p>
        </p:txBody>
      </p:sp>
      <p:sp>
        <p:nvSpPr>
          <p:cNvPr id="40" name="Text 37"/>
          <p:cNvSpPr txBox="1"/>
          <p:nvPr/>
        </p:nvSpPr>
        <p:spPr>
          <a:xfrm>
            <a:off x="4636008" y="3496056"/>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most patient in your family?</a:t>
            </a:r>
            <a:endParaRPr lang="en-US" sz="1100" dirty="0"/>
          </a:p>
        </p:txBody>
      </p:sp>
      <p:sp>
        <p:nvSpPr>
          <p:cNvPr id="41" name="Text 38"/>
          <p:cNvSpPr txBox="1"/>
          <p:nvPr/>
        </p:nvSpPr>
        <p:spPr>
          <a:xfrm>
            <a:off x="1051560" y="3496056"/>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أَكْثَرُ صَبْرًا فِي عَائِلَتِكَ؟</a:t>
            </a:r>
            <a:endParaRPr lang="ar-SA" sz="1700" dirty="0"/>
          </a:p>
        </p:txBody>
      </p:sp>
      <p:sp>
        <p:nvSpPr>
          <p:cNvPr id="42" name="Text 39"/>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9738360" y="4110228"/>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وَيَرْتَدِي …</a:t>
            </a:r>
            <a:endParaRPr lang="ar-SA" sz="1500" dirty="0"/>
          </a:p>
        </p:txBody>
      </p:sp>
      <p:sp>
        <p:nvSpPr>
          <p:cNvPr id="47" name="Text 44"/>
          <p:cNvSpPr txBox="1"/>
          <p:nvPr/>
        </p:nvSpPr>
        <p:spPr>
          <a:xfrm>
            <a:off x="6995160" y="4110228"/>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القَامَةِ، وَلَهُ …</a:t>
            </a:r>
            <a:endParaRPr lang="ar-SA" sz="1600" dirty="0"/>
          </a:p>
        </p:txBody>
      </p:sp>
      <p:sp>
        <p:nvSpPr>
          <p:cNvPr id="48" name="Text 45"/>
          <p:cNvSpPr txBox="1"/>
          <p:nvPr/>
        </p:nvSpPr>
        <p:spPr>
          <a:xfrm>
            <a:off x="4636008" y="4110228"/>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best friend look like?</a:t>
            </a:r>
            <a:endParaRPr lang="en-US" sz="1100" dirty="0"/>
          </a:p>
        </p:txBody>
      </p:sp>
      <p:sp>
        <p:nvSpPr>
          <p:cNvPr id="49" name="Text 46"/>
          <p:cNvSpPr txBox="1"/>
          <p:nvPr/>
        </p:nvSpPr>
        <p:spPr>
          <a:xfrm>
            <a:off x="1051560" y="4110228"/>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 صَدِيقُكَ المُقَرَّبُ؟</a:t>
            </a:r>
            <a:endParaRPr lang="ar-SA" sz="1700" dirty="0"/>
          </a:p>
        </p:txBody>
      </p:sp>
      <p:sp>
        <p:nvSpPr>
          <p:cNvPr id="50" name="Text 47"/>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2" name="Text 4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3" name="Shape 5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54" name="Text 51"/>
          <p:cNvSpPr txBox="1"/>
          <p:nvPr/>
        </p:nvSpPr>
        <p:spPr>
          <a:xfrm>
            <a:off x="9738360" y="4724400"/>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أَكْثَرُ رَاحَةً</a:t>
            </a:r>
            <a:endParaRPr lang="ar-SA" sz="1500" dirty="0"/>
          </a:p>
        </p:txBody>
      </p:sp>
      <p:sp>
        <p:nvSpPr>
          <p:cNvPr id="55" name="Text 52"/>
          <p:cNvSpPr txBox="1"/>
          <p:nvPr/>
        </p:nvSpPr>
        <p:spPr>
          <a:xfrm>
            <a:off x="6995160" y="4724400"/>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أُفَضِّلُ … عَلَى … لِأَنَّهُ …</a:t>
            </a:r>
            <a:endParaRPr lang="ar-SA" sz="1600" dirty="0"/>
          </a:p>
        </p:txBody>
      </p:sp>
      <p:sp>
        <p:nvSpPr>
          <p:cNvPr id="56" name="Text 53"/>
          <p:cNvSpPr txBox="1"/>
          <p:nvPr/>
        </p:nvSpPr>
        <p:spPr>
          <a:xfrm>
            <a:off x="4636008" y="4724400"/>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Trainers or formal shoes?</a:t>
            </a:r>
            <a:endParaRPr lang="en-US" sz="1100" dirty="0"/>
          </a:p>
        </p:txBody>
      </p:sp>
      <p:sp>
        <p:nvSpPr>
          <p:cNvPr id="57" name="Text 54"/>
          <p:cNvSpPr txBox="1"/>
          <p:nvPr/>
        </p:nvSpPr>
        <p:spPr>
          <a:xfrm>
            <a:off x="1051560" y="4724400"/>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أَيُّهُمَا تُفَضِّلُ: الحِذَاءُ الرِّيَاضِيُّ أَمِ الرَّسْمِيُّ؟</a:t>
            </a:r>
            <a:endParaRPr lang="ar-SA" sz="1700" dirty="0"/>
          </a:p>
        </p:txBody>
      </p:sp>
      <p:sp>
        <p:nvSpPr>
          <p:cNvPr id="58" name="Text 55"/>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9" name="Shape 5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60" name="Text 57"/>
          <p:cNvSpPr txBox="1"/>
          <p:nvPr/>
        </p:nvSpPr>
        <p:spPr>
          <a:xfrm>
            <a:off x="9738360" y="5338572"/>
            <a:ext cx="1901952" cy="55930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عَيْنَيَّ</a:t>
            </a:r>
            <a:endParaRPr lang="ar-SA" sz="1500" dirty="0"/>
          </a:p>
        </p:txBody>
      </p:sp>
      <p:sp>
        <p:nvSpPr>
          <p:cNvPr id="61" name="Text 58"/>
          <p:cNvSpPr txBox="1"/>
          <p:nvPr/>
        </p:nvSpPr>
        <p:spPr>
          <a:xfrm>
            <a:off x="6995160" y="5338572"/>
            <a:ext cx="2560320" cy="559308"/>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عَيْنَاهَا بُنِّيَّتَانِ / سَوْدَاوَانِ …</a:t>
            </a:r>
            <a:endParaRPr lang="ar-SA" sz="1600" dirty="0"/>
          </a:p>
        </p:txBody>
      </p:sp>
      <p:sp>
        <p:nvSpPr>
          <p:cNvPr id="62" name="Text 59"/>
          <p:cNvSpPr txBox="1"/>
          <p:nvPr/>
        </p:nvSpPr>
        <p:spPr>
          <a:xfrm>
            <a:off x="4636008" y="5338572"/>
            <a:ext cx="219456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are your mother’s eyes?</a:t>
            </a:r>
            <a:endParaRPr lang="en-US" sz="1100" dirty="0"/>
          </a:p>
        </p:txBody>
      </p:sp>
      <p:sp>
        <p:nvSpPr>
          <p:cNvPr id="63" name="Text 60"/>
          <p:cNvSpPr txBox="1"/>
          <p:nvPr/>
        </p:nvSpPr>
        <p:spPr>
          <a:xfrm>
            <a:off x="1051560" y="5338572"/>
            <a:ext cx="338328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عَيْنَيْ أُمِّكَ؟</a:t>
            </a:r>
            <a:endParaRPr lang="ar-SA" sz="1700" dirty="0"/>
          </a:p>
        </p:txBody>
      </p:sp>
      <p:sp>
        <p:nvSpPr>
          <p:cNvPr id="64" name="Text 61"/>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5" name="Text 6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Odd numbers come from D2-L05, even numbers from D2-L06. Core: a full sentence from the starter. Develop: add the “more” part. Stretch: link two answers with ‏</a:t>
            </a:r>
            <a:pPr algn="l" indent="0" marL="0">
              <a:buNone/>
            </a:pPr>
            <a:r>
              <a:rPr lang="ar-SA" altLang="en-US" sz="1450" b="1" dirty="0">
                <a:solidFill>
                  <a:srgbClr val="1B3B6F"/>
                </a:solidFill>
                <a:latin typeface="Amiri" pitchFamily="2" charset="-78"/>
                <a:ea typeface="Amiri" pitchFamily="2" charset="-78"/>
                <a:cs typeface="Amiri" pitchFamily="2" charset="-78"/>
              </a:rPr>
              <a:t>وَ</a:t>
            </a:r>
            <a:pPr algn="l" indent="0" marL="0">
              <a:buNone/>
            </a:pPr>
            <a:r>
              <a:rPr lang="en-US" sz="1100" b="1" dirty="0">
                <a:solidFill>
                  <a:srgbClr val="1B3B6F"/>
                </a:solidFill>
                <a:latin typeface="Calibri" pitchFamily="34" charset="0"/>
                <a:cs typeface="Amiri" pitchFamily="2" charset="-78"/>
              </a:rPr>
              <a:t>‏,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t>
            </a:r>
            <a:pPr algn="l" indent="0" marL="0">
              <a:buNone/>
            </a:pPr>
            <a:r>
              <a:rPr lang="ar-SA" altLang="en-US" sz="1450" b="1" dirty="0">
                <a:solidFill>
                  <a:srgbClr val="1B3B6F"/>
                </a:solidFill>
                <a:latin typeface="Amiri" pitchFamily="2" charset="-78"/>
                <a:ea typeface="Amiri" pitchFamily="2" charset="-78"/>
                <a:cs typeface="Amiri" pitchFamily="2" charset="-78"/>
              </a:rPr>
              <a:t>لٰكِنَّ</a:t>
            </a:r>
            <a:pPr algn="l" indent="0" marL="0">
              <a:buNone/>
            </a:pPr>
            <a:r>
              <a:rPr lang="en-US" sz="1100" b="1" dirty="0">
                <a:solidFill>
                  <a:srgbClr val="1B3B6F"/>
                </a:solidFill>
                <a:latin typeface="Calibri" pitchFamily="34" charset="0"/>
                <a:cs typeface="Amiri" pitchFamily="2" charset="-78"/>
              </a:rPr>
              <a:t>‏. Swap after each question.</a:t>
            </a:r>
            <a:endParaRPr lang="en-US" sz="110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5 · ROLE-PLAY CARD · PLANS FOR TASKS 1–2 ARE GIVEN — PLAN 3–5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Role-play card — describing someone who is lost</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نَصِفُ شَخْصًا ضَائِعًا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275320" y="2267712"/>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 أُخْتِي / أَخِي … عُمْرُهُ / عُمْرُهَا …</a:t>
            </a:r>
            <a:endParaRPr lang="ar-SA" sz="1600" dirty="0"/>
          </a:p>
        </p:txBody>
      </p:sp>
      <p:sp>
        <p:nvSpPr>
          <p:cNvPr id="22" name="Text 19"/>
          <p:cNvSpPr txBox="1"/>
          <p:nvPr/>
        </p:nvSpPr>
        <p:spPr>
          <a:xfrm>
            <a:off x="5001768" y="2267712"/>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and how old.</a:t>
            </a:r>
            <a:endParaRPr lang="en-US" sz="1100" dirty="0"/>
          </a:p>
        </p:txBody>
      </p:sp>
      <p:sp>
        <p:nvSpPr>
          <p:cNvPr id="23" name="Text 20"/>
          <p:cNvSpPr txBox="1"/>
          <p:nvPr/>
        </p:nvSpPr>
        <p:spPr>
          <a:xfrm>
            <a:off x="1051560" y="2267712"/>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ضَاعَ؟ وَكَمْ عُمْرُهُ؟</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275320" y="3004718"/>
            <a:ext cx="3364992"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هِيَ … القَامَةِ · شَعْرُهَا … · عَيْنَاهَا …</a:t>
            </a:r>
            <a:endParaRPr lang="ar-SA" sz="1600" dirty="0"/>
          </a:p>
        </p:txBody>
      </p:sp>
      <p:sp>
        <p:nvSpPr>
          <p:cNvPr id="29" name="Text 26"/>
          <p:cNvSpPr txBox="1"/>
          <p:nvPr/>
        </p:nvSpPr>
        <p:spPr>
          <a:xfrm>
            <a:off x="5001768" y="300471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Height, hair and eyes (dual).</a:t>
            </a:r>
            <a:endParaRPr lang="en-US" sz="1100" dirty="0"/>
          </a:p>
        </p:txBody>
      </p:sp>
      <p:sp>
        <p:nvSpPr>
          <p:cNvPr id="30" name="Text 27"/>
          <p:cNvSpPr txBox="1"/>
          <p:nvPr/>
        </p:nvSpPr>
        <p:spPr>
          <a:xfrm>
            <a:off x="1051560" y="300471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تَبْدُو؟</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293608" y="3741725"/>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741725"/>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clothes with colours that agree.</a:t>
            </a:r>
            <a:endParaRPr lang="en-US" sz="1100" dirty="0"/>
          </a:p>
        </p:txBody>
      </p:sp>
      <p:sp>
        <p:nvSpPr>
          <p:cNvPr id="37" name="Text 34"/>
          <p:cNvSpPr txBox="1"/>
          <p:nvPr/>
        </p:nvSpPr>
        <p:spPr>
          <a:xfrm>
            <a:off x="1051560" y="3741725"/>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تَرْتَدِي اليَوْمَ؟</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293608" y="4478731"/>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478731"/>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Compare with a comparative and ‏</a:t>
            </a:r>
            <a:pPr algn="l" indent="0" marL="0">
              <a:buNone/>
            </a:pPr>
            <a:r>
              <a:rPr lang="ar-SA" altLang="en-US" sz="1450" dirty="0">
                <a:solidFill>
                  <a:srgbClr val="5A6472"/>
                </a:solidFill>
                <a:latin typeface="Amiri" pitchFamily="2" charset="-78"/>
                <a:ea typeface="Amiri" pitchFamily="2" charset="-78"/>
                <a:cs typeface="Amiri" pitchFamily="2" charset="-78"/>
              </a:rPr>
              <a:t>مِثْلُ</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2" name="Text 39"/>
          <p:cNvSpPr txBox="1"/>
          <p:nvPr/>
        </p:nvSpPr>
        <p:spPr>
          <a:xfrm>
            <a:off x="1051560" y="4478731"/>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هِيَ مِثْلُ هٰذِهِ البِنْتِ؟</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293608" y="5215738"/>
            <a:ext cx="33649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5001768" y="5215738"/>
            <a:ext cx="31089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Confirm with ‏</a:t>
            </a:r>
            <a:pPr algn="l" indent="0" marL="0">
              <a:buNone/>
            </a:pPr>
            <a:r>
              <a:rPr lang="ar-SA" altLang="en-US" sz="1450" dirty="0">
                <a:solidFill>
                  <a:srgbClr val="5A6472"/>
                </a:solidFill>
                <a:latin typeface="Amiri" pitchFamily="2" charset="-78"/>
                <a:ea typeface="Amiri" pitchFamily="2" charset="-78"/>
                <a:cs typeface="Amiri" pitchFamily="2" charset="-78"/>
              </a:rPr>
              <a:t>الَّتِي</a:t>
            </a:r>
            <a:pPr algn="l" indent="0" marL="0">
              <a:buNone/>
            </a:pPr>
            <a:r>
              <a:rPr lang="en-US" sz="1100" dirty="0">
                <a:solidFill>
                  <a:srgbClr val="5A6472"/>
                </a:solidFill>
                <a:latin typeface="Calibri" pitchFamily="34" charset="0"/>
                <a:cs typeface="Amiri" pitchFamily="2" charset="-78"/>
              </a:rPr>
              <a:t>‏ and a detail.</a:t>
            </a:r>
            <a:endParaRPr lang="en-US" sz="1100" dirty="0"/>
          </a:p>
        </p:txBody>
      </p:sp>
      <p:sp>
        <p:nvSpPr>
          <p:cNvPr id="47" name="Text 44"/>
          <p:cNvSpPr txBox="1"/>
          <p:nvPr/>
        </p:nvSpPr>
        <p:spPr>
          <a:xfrm>
            <a:off x="1051560" y="5215738"/>
            <a:ext cx="374904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هِيَ البِنْتُ الَّتِي تَبْكِي هُنَاكَ؟</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 !</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the worried family member · Partner A = the festival steward. Write the plan for tasks 3–5 in your book first. Task ! is a surprise — Partner A reads it without warning. Then swap roles.</a:t>
            </a:r>
            <a:endParaRPr lang="en-US" sz="110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6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full portrait — and a comparison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كَامِلَةٌ وَمُقَارَنَةٌ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6 · PAIRS</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use both lessons</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describe a family member in the portrait order (height → hair → eyes → clothes), then compare them with yourself or another person using three comparatives, one ‏</a:t>
            </a:r>
            <a:pPr algn="l" indent="0" marL="0">
              <a:buNone/>
            </a:pPr>
            <a:r>
              <a:rPr lang="ar-SA" altLang="en-US" sz="1750" dirty="0">
                <a:solidFill>
                  <a:srgbClr val="1F2A37"/>
                </a:solidFill>
                <a:latin typeface="Amiri" pitchFamily="2" charset="-78"/>
                <a:ea typeface="Amiri" pitchFamily="2" charset="-78"/>
                <a:cs typeface="Amiri" pitchFamily="2" charset="-78"/>
              </a:rPr>
              <a:t>أَكْثَرُ / أَقَلُّ</a:t>
            </a:r>
            <a:pPr algn="l" indent="0" marL="0">
              <a:buNone/>
            </a:pPr>
            <a:r>
              <a:rPr lang="en-US" sz="1350" dirty="0">
                <a:solidFill>
                  <a:srgbClr val="1F2A37"/>
                </a:solidFill>
                <a:latin typeface="Calibri" pitchFamily="34" charset="0"/>
                <a:cs typeface="Amiri" pitchFamily="2" charset="-78"/>
              </a:rPr>
              <a:t>‏ + noun and one similarity. Respectful description only.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2 key words from EACH lesson,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partner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Partner: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 then the teacher invites two volunteers.</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هُوَ / هِيَ … القَامَةِ · شَعْرُهُ / شَعْرُهَا … · يَرْتَدِي / تَرْتَدِي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the eyes as a dual and three comparatives with ‏</a:t>
            </a:r>
            <a:pPr algn="l" indent="0" marL="0">
              <a:buNone/>
            </a:pPr>
            <a:r>
              <a:rPr lang="ar-SA" altLang="en-US" sz="1500" dirty="0">
                <a:solidFill>
                  <a:srgbClr val="1F2A37"/>
                </a:solidFill>
                <a:latin typeface="Amiri" pitchFamily="2" charset="-78"/>
                <a:ea typeface="Amiri" pitchFamily="2" charset="-78"/>
                <a:cs typeface="Amiri" pitchFamily="2" charset="-78"/>
              </a:rPr>
              <a:t>مِنْ</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أَكْثَرُ صَبْرًا / أَقَلُّ</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مِثْلُ</a:t>
            </a:r>
            <a:pPr algn="l" indent="0" marL="0">
              <a:buNone/>
            </a:pPr>
            <a:r>
              <a:rPr lang="en-US" sz="1150" dirty="0">
                <a:solidFill>
                  <a:srgbClr val="1F2A37"/>
                </a:solidFill>
                <a:latin typeface="Calibri" pitchFamily="34" charset="0"/>
                <a:cs typeface="Amiri" pitchFamily="2" charset="-78"/>
              </a:rPr>
              <a:t>‏ and a ‏</a:t>
            </a:r>
            <a:pPr algn="l" indent="0" marL="0">
              <a:buNone/>
            </a:pPr>
            <a:r>
              <a:rPr lang="ar-SA" altLang="en-US" sz="1500" dirty="0">
                <a:solidFill>
                  <a:srgbClr val="1F2A37"/>
                </a:solidFill>
                <a:latin typeface="Amiri" pitchFamily="2" charset="-78"/>
                <a:ea typeface="Amiri" pitchFamily="2" charset="-78"/>
                <a:cs typeface="Amiri" pitchFamily="2" charset="-78"/>
              </a:rPr>
              <a:t>الَّذِي / الَّتِي</a:t>
            </a:r>
            <a:pPr algn="l" indent="0" marL="0">
              <a:buNone/>
            </a:pPr>
            <a:r>
              <a:rPr lang="en-US" sz="1150" dirty="0">
                <a:solidFill>
                  <a:srgbClr val="1F2A37"/>
                </a:solidFill>
                <a:latin typeface="Calibri" pitchFamily="34" charset="0"/>
                <a:cs typeface="Amiri" pitchFamily="2" charset="-78"/>
              </a:rPr>
              <a:t>‏ sentence.</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3 · STEP 7 · SENTENCE BUILDER ·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taller than me.</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أَطْوَلُ</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طُولَى</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مِنِّي.</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أَنَا.</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tall and her hair is curly.</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طَوِيلَةُ القَامَةِ،</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طَوِيلُ القَامَةِ،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وَشَعْرُهَا</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وَشَعْرُهُ</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مُجَعَّدٌ.</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مُجَعَّدَةٌ.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father is more patient than my uncle.</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أَبُو</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صَبْرًا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أَكْثَرُ صَبُورٌ</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عَمِّيَ.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taller than me.</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أَفْعَلُ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مِنْ</a:t>
            </a:r>
            <a:pPr algn="l" indent="0" marL="0">
              <a:buNone/>
            </a:pPr>
            <a:r>
              <a:rPr lang="en-US" sz="1050" i="1" dirty="0">
                <a:solidFill>
                  <a:srgbClr val="5A6472"/>
                </a:solidFill>
                <a:latin typeface="Calibri" pitchFamily="34" charset="0"/>
                <a:cs typeface="Amiri" pitchFamily="2" charset="-78"/>
              </a:rPr>
              <a:t> doesn’t change for gender; from me = </a:t>
            </a:r>
            <a:pPr algn="l" indent="0" marL="0">
              <a:buNone/>
            </a:pPr>
            <a:r>
              <a:rPr lang="ar-SA" altLang="en-US" sz="1350" dirty="0">
                <a:solidFill>
                  <a:srgbClr val="5A6472"/>
                </a:solidFill>
                <a:latin typeface="Amiri" pitchFamily="2" charset="-78"/>
                <a:ea typeface="Amiri" pitchFamily="2" charset="-78"/>
                <a:cs typeface="Amiri" pitchFamily="2" charset="-78"/>
              </a:rPr>
              <a:t>مِنِّي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أَطْوَلُ مِنِّي.</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tall and her hair is curly.</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طَوِيلَةُ</a:t>
            </a:r>
            <a:pPr algn="l" indent="0" marL="0">
              <a:buNone/>
            </a:pPr>
            <a:r>
              <a:rPr lang="en-US" sz="1050" i="1" dirty="0">
                <a:solidFill>
                  <a:srgbClr val="5A6472"/>
                </a:solidFill>
                <a:latin typeface="Calibri" pitchFamily="34" charset="0"/>
                <a:cs typeface="Amiri" pitchFamily="2" charset="-78"/>
              </a:rPr>
              <a:t>; hair is masculine → </a:t>
            </a:r>
            <a:pPr algn="l" indent="0" marL="0">
              <a:buNone/>
            </a:pPr>
            <a:r>
              <a:rPr lang="ar-SA" altLang="en-US" sz="1350" dirty="0">
                <a:solidFill>
                  <a:srgbClr val="5A6472"/>
                </a:solidFill>
                <a:latin typeface="Amiri" pitchFamily="2" charset="-78"/>
                <a:ea typeface="Amiri" pitchFamily="2" charset="-78"/>
                <a:cs typeface="Amiri" pitchFamily="2" charset="-78"/>
              </a:rPr>
              <a:t>مُجَعَّدٌ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طَوِيلَةُ القَامَةِ، وَشَعْرُهَا مُجَعَّدٌ.</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father is more patient than my uncle.</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أَكْثَرُ</a:t>
            </a:r>
            <a:pPr algn="l" indent="0" marL="0">
              <a:buNone/>
            </a:pPr>
            <a:r>
              <a:rPr lang="en-US" sz="1050" i="1" dirty="0">
                <a:solidFill>
                  <a:srgbClr val="5A6472"/>
                </a:solidFill>
                <a:latin typeface="Calibri" pitchFamily="34" charset="0"/>
                <a:cs typeface="Amiri" pitchFamily="2" charset="-78"/>
              </a:rPr>
              <a:t> + accusative noun: </a:t>
            </a:r>
            <a:pPr algn="l" indent="0" marL="0">
              <a:buNone/>
            </a:pPr>
            <a:r>
              <a:rPr lang="ar-SA" altLang="en-US" sz="1350" dirty="0">
                <a:solidFill>
                  <a:srgbClr val="5A6472"/>
                </a:solidFill>
                <a:latin typeface="Amiri" pitchFamily="2" charset="-78"/>
                <a:ea typeface="Amiri" pitchFamily="2" charset="-78"/>
                <a:cs typeface="Amiri" pitchFamily="2" charset="-78"/>
              </a:rPr>
              <a:t>صَبْرًا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أَبِي أَكْثَرُ صَبْرًا مِنْ عَمِّي.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8 · SPOT AND FIX · MISTAKES FROM BOTH LESSONS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هٰذِهِ السُّتْرَةُ أَرْخَصَةٌ مِنْ تِلْكَ.</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 comparative never takes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شَعْرُهَا طَوِيلَةٌ.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hair masculine or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أَخِي أَكْثَرُ ذَكِيٌّ مِنِّي.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ar-SA" altLang="en-US" sz="1700" dirty="0">
                <a:solidFill>
                  <a:srgbClr val="5A6472"/>
                </a:solidFill>
                <a:latin typeface="Amiri" pitchFamily="2" charset="-78"/>
                <a:ea typeface="Amiri" pitchFamily="2" charset="-78"/>
                <a:cs typeface="Amiri" pitchFamily="2" charset="-78"/>
              </a:rPr>
              <a:t>ذَكِيٌّ</a:t>
            </a:r>
            <a:pPr algn="l" indent="0" marL="0">
              <a:buNone/>
            </a:pPr>
            <a:r>
              <a:rPr lang="en-US" sz="1300" i="1" dirty="0">
                <a:solidFill>
                  <a:srgbClr val="5A6472"/>
                </a:solidFill>
                <a:latin typeface="Calibri" pitchFamily="34" charset="0"/>
                <a:cs typeface="Amiri" pitchFamily="2" charset="-78"/>
              </a:rPr>
              <a:t> has its own comparative.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8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هٰذِهِ السُّتْرَةُ أَرْخَصَةٌ مِنْ تِلْكَ.</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هٰذِهِ السُّتْرَةُ أَرْخَصُ مِنْ تِلْكَ.</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مِنْ</a:t>
            </a:r>
            <a:pPr algn="l" indent="0" marL="0">
              <a:buNone/>
            </a:pPr>
            <a:r>
              <a:rPr lang="en-US" sz="1150" b="1" dirty="0">
                <a:solidFill>
                  <a:srgbClr val="1B3B6F"/>
                </a:solidFill>
                <a:latin typeface="Calibri" pitchFamily="34" charset="0"/>
                <a:cs typeface="Amiri" pitchFamily="2" charset="-78"/>
              </a:rPr>
              <a:t>‏: no feminine ending.</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شَعْرُهَا طَوِيلَةٌ.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شَعْرُهَا طَوِيلٌ.</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t>
            </a:r>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 even for a girl.</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أَخِي أَكْثَرُ ذَكِيٌّ مِنِّي.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أَخِي أَذْكَى مِنِّي.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a:t>
            </a:r>
            <a:pPr algn="l" indent="0" marL="0">
              <a:buNone/>
            </a:pPr>
            <a:r>
              <a:rPr lang="ar-SA" altLang="en-US" sz="1500" b="1" dirty="0">
                <a:solidFill>
                  <a:srgbClr val="1B3B6F"/>
                </a:solidFill>
                <a:latin typeface="Amiri" pitchFamily="2" charset="-78"/>
                <a:ea typeface="Amiri" pitchFamily="2" charset="-78"/>
                <a:cs typeface="Amiri" pitchFamily="2" charset="-78"/>
              </a:rPr>
              <a:t>أَفْعَلُ</a:t>
            </a:r>
            <a:pPr algn="l" indent="0" marL="0">
              <a:buNone/>
            </a:pPr>
            <a:r>
              <a:rPr lang="en-US" sz="1150" b="1" dirty="0">
                <a:solidFill>
                  <a:srgbClr val="1B3B6F"/>
                </a:solidFill>
                <a:latin typeface="Calibri" pitchFamily="34" charset="0"/>
                <a:cs typeface="Amiri" pitchFamily="2" charset="-78"/>
              </a:rPr>
              <a:t>‏ when it exists: ‏</a:t>
            </a:r>
            <a:pPr algn="l" indent="0" marL="0">
              <a:buNone/>
            </a:pPr>
            <a:r>
              <a:rPr lang="ar-SA" altLang="en-US" sz="1500" b="1" dirty="0">
                <a:solidFill>
                  <a:srgbClr val="1B3B6F"/>
                </a:solidFill>
                <a:latin typeface="Amiri" pitchFamily="2" charset="-78"/>
                <a:ea typeface="Amiri" pitchFamily="2" charset="-78"/>
                <a:cs typeface="Amiri" pitchFamily="2" charset="-78"/>
              </a:rPr>
              <a:t>أَذْكَى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هُوَ / هِيَ ______ مِنْ ______ ، وَ ______ مِثْلُ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…-er than …, and … like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كَانَ / كَانَتِ الوَلَدَ الَّذِي / البِنْتَ الَّتِي ______ .</a:t>
            </a:r>
            <a:endParaRPr lang="ar-SA" sz="155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It was the boy who / the girl who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إِعْلَانٌ: ضَاعَ / ضَاعَتْ ______ ، عُمْرُهُ / عُمْرُهَا ______ .</a:t>
            </a:r>
            <a:endParaRPr lang="ar-SA" sz="135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Notice: … is lost; he / she is … years old.</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وَشَعْرُهُ / شَعْرُهَا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and his / her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wearing …</a:t>
            </a:r>
            <a:endParaRPr lang="en-US" sz="1050" dirty="0"/>
          </a:p>
        </p:txBody>
      </p:sp>
      <p:sp>
        <p:nvSpPr>
          <p:cNvPr id="33" name="Text 30"/>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وَجَدْنَاهُ / وَجَدْنَاهَا ______ .</a:t>
            </a:r>
            <a:endParaRPr lang="ar-SA" sz="1800" dirty="0"/>
          </a:p>
        </p:txBody>
      </p:sp>
      <p:sp>
        <p:nvSpPr>
          <p:cNvPr id="34" name="Text 31"/>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found him / her …</a:t>
            </a:r>
            <a:endParaRPr lang="en-US" sz="1050" dirty="0"/>
          </a:p>
        </p:txBody>
      </p:sp>
      <p:sp>
        <p:nvSpPr>
          <p:cNvPr id="35" name="Shape 32"/>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Text 33"/>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7" name="Text 34"/>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قَصِيرُ القَامَةِ · طَوِيلَةُ القَامَةِ  ·  شَعْرُهُ · شَعْرُهَا  ·  عَيْنَاهُ · عَيْنَاهَا  ·  بُنِّيَّتَانِ · خَضْرَاوَانِ  ·  يَرْتَدِي · تَرْتَدِي  ·  أَطْوَلُ · أَصْغَرُ مِنْ  ·  مِثْلُ  ·  الَّذِي · الَّتِي</a:t>
            </a:r>
            <a:endParaRPr lang="ar-SA" sz="160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A lost-child notice and a message home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إِعْلَانٌ وَرِسَالَةٌ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Part 1: write the festival’s lost-child notice — a full portrait in order (who, age, height, hair, eyes as a dual, clothes). Part 2: write a message to your parents (together about 60–80 words): where you found him / her, a comparison with another child (two comparatives, one ‏</a:t>
            </a:r>
            <a:pPr algn="l" indent="0" marL="0">
              <a:buNone/>
            </a:pPr>
            <a:r>
              <a:rPr lang="ar-SA" altLang="en-US" sz="1450" b="1" dirty="0">
                <a:solidFill>
                  <a:srgbClr val="1F2A37"/>
                </a:solidFill>
                <a:latin typeface="Amiri" pitchFamily="2" charset="-78"/>
                <a:ea typeface="Amiri" pitchFamily="2" charset="-78"/>
                <a:cs typeface="Amiri" pitchFamily="2" charset="-78"/>
              </a:rPr>
              <a:t>مِثْلُ</a:t>
            </a:r>
            <a:pPr algn="l" indent="0" marL="0">
              <a:buNone/>
            </a:pPr>
            <a:r>
              <a:rPr lang="en-US" sz="1100" b="1" dirty="0">
                <a:solidFill>
                  <a:srgbClr val="1F2A37"/>
                </a:solidFill>
                <a:latin typeface="Calibri" pitchFamily="34" charset="0"/>
                <a:cs typeface="Amiri" pitchFamily="2" charset="-78"/>
              </a:rPr>
              <a:t>‏), one ‏</a:t>
            </a:r>
            <a:pPr algn="l" indent="0" marL="0">
              <a:buNone/>
            </a:pPr>
            <a:r>
              <a:rPr lang="ar-SA" altLang="en-US" sz="1450" b="1" dirty="0">
                <a:solidFill>
                  <a:srgbClr val="1F2A37"/>
                </a:solidFill>
                <a:latin typeface="Amiri" pitchFamily="2" charset="-78"/>
                <a:ea typeface="Amiri" pitchFamily="2" charset="-78"/>
                <a:cs typeface="Amiri" pitchFamily="2" charset="-78"/>
              </a:rPr>
              <a:t>الَّذِي / الَّتِي</a:t>
            </a:r>
            <a:pPr algn="l" indent="0" marL="0">
              <a:buNone/>
            </a:pPr>
            <a:r>
              <a:rPr lang="en-US" sz="1100" b="1" dirty="0">
                <a:solidFill>
                  <a:srgbClr val="1F2A37"/>
                </a:solidFill>
                <a:latin typeface="Calibri" pitchFamily="34" charset="0"/>
                <a:cs typeface="Amiri" pitchFamily="2" charset="-78"/>
              </a:rPr>
              <a:t>‏ sentence, and how you felt.</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Language from D2-L05 AND D2-L06.</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قَصِيرُ / قَصِيرَةُ القَامَةِ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short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 شَعْرُهَا … · عَيْنَاهُ / عَيْنَاهَا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hair … · his / her eyes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يَرْتَدِي / تَرْتَدِي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wearing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أَطْوَلُ مِنْ · مِثْلُ · الَّذِي / الَّتِي</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taller than · like · who</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9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أَفْعَلُ</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مِنْ</a:t>
            </a:r>
            <a:pPr algn="l" indent="0" marL="0">
              <a:buNone/>
            </a:pPr>
            <a:r>
              <a:rPr lang="en-US" sz="1100" dirty="0">
                <a:solidFill>
                  <a:srgbClr val="5A6472"/>
                </a:solidFill>
                <a:latin typeface="Calibri" pitchFamily="34" charset="0"/>
                <a:cs typeface="Amiri" pitchFamily="2" charset="-78"/>
              </a:rPr>
              <a:t>‏ without a feminine ending?</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dual for eyes, ‏</a:t>
            </a:r>
            <a:pPr algn="l" indent="0" marL="0">
              <a:buNone/>
            </a:pPr>
            <a:r>
              <a:rPr lang="ar-SA" altLang="en-US" sz="1450" dirty="0">
                <a:solidFill>
                  <a:srgbClr val="5A6472"/>
                </a:solidFill>
                <a:latin typeface="Amiri" pitchFamily="2" charset="-78"/>
                <a:ea typeface="Amiri" pitchFamily="2" charset="-78"/>
                <a:cs typeface="Amiri" pitchFamily="2" charset="-78"/>
              </a:rPr>
              <a:t>لَهُ / لَهَا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Partner A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4800600" y="2286000"/>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أُخْتِي الصَّغِيرَةُ هُدَى، عُمْرُهَا سِتُّ سَنَوَاتٍ.</a:t>
            </a:r>
            <a:endParaRPr lang="ar-SA" sz="1800" dirty="0"/>
          </a:p>
        </p:txBody>
      </p:sp>
      <p:sp>
        <p:nvSpPr>
          <p:cNvPr id="21" name="Text 18"/>
          <p:cNvSpPr txBox="1"/>
          <p:nvPr/>
        </p:nvSpPr>
        <p:spPr>
          <a:xfrm>
            <a:off x="4754880" y="267699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little sister Huda; she is six.</a:t>
            </a:r>
            <a:endParaRPr lang="en-US" sz="950" dirty="0"/>
          </a:p>
        </p:txBody>
      </p:sp>
      <p:sp>
        <p:nvSpPr>
          <p:cNvPr id="22" name="Text 19"/>
          <p:cNvSpPr txBox="1"/>
          <p:nvPr/>
        </p:nvSpPr>
        <p:spPr>
          <a:xfrm>
            <a:off x="1051560" y="2267712"/>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ضَاعَ؟ وَكَمْ عُمْرُهُ؟</a:t>
            </a:r>
            <a:endParaRPr lang="ar-SA" sz="1600" dirty="0"/>
          </a:p>
        </p:txBody>
      </p:sp>
      <p:sp>
        <p:nvSpPr>
          <p:cNvPr id="23" name="Text 20"/>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5" name="Text 22"/>
          <p:cNvSpPr txBox="1"/>
          <p:nvPr/>
        </p:nvSpPr>
        <p:spPr>
          <a:xfrm>
            <a:off x="4800600" y="302300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قَصِيرَةُ القَامَةِ، شَعْرُهَا بُنِّيٌّ طَوِيلٌ، وَعَيْنَاهَا خَضْرَاوَانِ.</a:t>
            </a:r>
            <a:endParaRPr lang="ar-SA" sz="1800" dirty="0"/>
          </a:p>
        </p:txBody>
      </p:sp>
      <p:sp>
        <p:nvSpPr>
          <p:cNvPr id="26" name="Text 23"/>
          <p:cNvSpPr txBox="1"/>
          <p:nvPr/>
        </p:nvSpPr>
        <p:spPr>
          <a:xfrm>
            <a:off x="4754880" y="3414004"/>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short, her hair is long and brown, and her eyes are green.</a:t>
            </a:r>
            <a:endParaRPr lang="en-US" sz="950" dirty="0"/>
          </a:p>
        </p:txBody>
      </p:sp>
      <p:sp>
        <p:nvSpPr>
          <p:cNvPr id="27" name="Text 24"/>
          <p:cNvSpPr txBox="1"/>
          <p:nvPr/>
        </p:nvSpPr>
        <p:spPr>
          <a:xfrm>
            <a:off x="1051560" y="300471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تَبْدُو؟</a:t>
            </a:r>
            <a:endParaRPr lang="ar-SA" sz="1600" dirty="0"/>
          </a:p>
        </p:txBody>
      </p:sp>
      <p:sp>
        <p:nvSpPr>
          <p:cNvPr id="28" name="Text 25"/>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0" name="Text 27"/>
          <p:cNvSpPr txBox="1"/>
          <p:nvPr/>
        </p:nvSpPr>
        <p:spPr>
          <a:xfrm>
            <a:off x="4800600" y="3760013"/>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تَرْتَدِي فُسْتَانًا أَصْفَرَ وَحِذَاءً أَبْيَضَ، وَلَهَا حَقِيبَةٌ صَغِيرَةٌ.</a:t>
            </a:r>
            <a:endParaRPr lang="ar-SA" sz="1800" dirty="0"/>
          </a:p>
        </p:txBody>
      </p:sp>
      <p:sp>
        <p:nvSpPr>
          <p:cNvPr id="31" name="Text 28"/>
          <p:cNvSpPr txBox="1"/>
          <p:nvPr/>
        </p:nvSpPr>
        <p:spPr>
          <a:xfrm>
            <a:off x="4754880" y="4151010"/>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wearing a yellow dress and white shoes, and she has a small bag.</a:t>
            </a:r>
            <a:endParaRPr lang="en-US" sz="950" dirty="0"/>
          </a:p>
        </p:txBody>
      </p:sp>
      <p:sp>
        <p:nvSpPr>
          <p:cNvPr id="32" name="Text 29"/>
          <p:cNvSpPr txBox="1"/>
          <p:nvPr/>
        </p:nvSpPr>
        <p:spPr>
          <a:xfrm>
            <a:off x="1051560" y="3741725"/>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تَرْتَدِي اليَوْمَ؟</a:t>
            </a:r>
            <a:endParaRPr lang="ar-SA" sz="1600" dirty="0"/>
          </a:p>
        </p:txBody>
      </p:sp>
      <p:sp>
        <p:nvSpPr>
          <p:cNvPr id="33" name="Text 30"/>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5" name="Text 32"/>
          <p:cNvSpPr txBox="1"/>
          <p:nvPr/>
        </p:nvSpPr>
        <p:spPr>
          <a:xfrm>
            <a:off x="4800600" y="4497019"/>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هِيَ أَصْغَرُ مِنْهَا، وَشَعْرُهَا أَطْوَلُ؛ وَلٰكِنَّ فُسْتَانَهَا مِثْلُ فُسْتَانِ تِلْكَ البِنْتِ.</a:t>
            </a:r>
            <a:endParaRPr lang="ar-SA" sz="1800" dirty="0"/>
          </a:p>
        </p:txBody>
      </p:sp>
      <p:sp>
        <p:nvSpPr>
          <p:cNvPr id="36" name="Text 33"/>
          <p:cNvSpPr txBox="1"/>
          <p:nvPr/>
        </p:nvSpPr>
        <p:spPr>
          <a:xfrm>
            <a:off x="4754880" y="4888017"/>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she is younger than her, and her hair is longer; but her dress is like that girl’s dress.</a:t>
            </a:r>
            <a:endParaRPr lang="en-US" sz="950" dirty="0"/>
          </a:p>
        </p:txBody>
      </p:sp>
      <p:sp>
        <p:nvSpPr>
          <p:cNvPr id="37" name="Text 34"/>
          <p:cNvSpPr txBox="1"/>
          <p:nvPr/>
        </p:nvSpPr>
        <p:spPr>
          <a:xfrm>
            <a:off x="1051560" y="4478731"/>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هِيَ مِثْلُ هٰذِهِ البِنْتِ؟</a:t>
            </a:r>
            <a:endParaRPr lang="ar-SA" sz="1600" dirty="0"/>
          </a:p>
        </p:txBody>
      </p:sp>
      <p:sp>
        <p:nvSpPr>
          <p:cNvPr id="38" name="Text 35"/>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Shape 3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0" name="Text 37"/>
          <p:cNvSpPr txBox="1"/>
          <p:nvPr/>
        </p:nvSpPr>
        <p:spPr>
          <a:xfrm>
            <a:off x="4800600" y="5234026"/>
            <a:ext cx="6839712" cy="42292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هِيَ الَّتِي تَرْتَدِي الفُسْتَانَ الأَصْفَرَ. شُكْرًا جَزِيلًا!</a:t>
            </a:r>
            <a:endParaRPr lang="ar-SA" sz="1800" dirty="0"/>
          </a:p>
        </p:txBody>
      </p:sp>
      <p:sp>
        <p:nvSpPr>
          <p:cNvPr id="41" name="Text 38"/>
          <p:cNvSpPr txBox="1"/>
          <p:nvPr/>
        </p:nvSpPr>
        <p:spPr>
          <a:xfrm>
            <a:off x="4754880" y="5625023"/>
            <a:ext cx="693115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She is the one wearing the yellow dress. Thank you very much!</a:t>
            </a:r>
            <a:endParaRPr lang="en-US" sz="950" dirty="0"/>
          </a:p>
        </p:txBody>
      </p:sp>
      <p:sp>
        <p:nvSpPr>
          <p:cNvPr id="42" name="Text 39"/>
          <p:cNvSpPr txBox="1"/>
          <p:nvPr/>
        </p:nvSpPr>
        <p:spPr>
          <a:xfrm>
            <a:off x="1051560" y="5215738"/>
            <a:ext cx="356616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هِيَ البِنْتُ الَّتِي تَبْكِي هُنَاكَ؟</a:t>
            </a:r>
            <a:endParaRPr lang="ar-SA" sz="1600" dirty="0"/>
          </a:p>
        </p:txBody>
      </p:sp>
      <p:sp>
        <p:nvSpPr>
          <p:cNvPr id="43" name="Text 40"/>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Find one phrase from each lesson in the models and say it aloud.</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إِعْلَانٌ: ضَاعَ آدَمُ، عُمْرُهُ خَمْسُ سَنَوَاتٍ. هُوَ قَصِيرُ القَامَةِ، وَشَعْرُهُ أَسْوَدُ قَصِيرٌ، وَعَيْنَاهُ بُنِّيَّتَانِ. يَرْتَدِي قَمِيصًا أَحْمَرَ وَقُبَّعَةً زَرْقَاءَ.</a:t>
            </a:r>
            <a:endParaRPr lang="ar-SA" sz="2450" dirty="0"/>
          </a:p>
          <a:p>
            <a:pPr rtl="1" algn="r" indent="0" marL="0">
              <a:lnSpc>
                <a:spcPct val="120000"/>
              </a:lnSpc>
              <a:buNone/>
            </a:pPr>
            <a:r>
              <a:rPr lang="ar-SA" altLang="en-US" sz="2450" dirty="0">
                <a:solidFill>
                  <a:srgbClr val="1F2A37"/>
                </a:solidFill>
                <a:latin typeface="Amiri" pitchFamily="2" charset="-78"/>
                <a:ea typeface="Amiri" pitchFamily="2" charset="-78"/>
                <a:cs typeface="Amiri" pitchFamily="2" charset="-78"/>
              </a:rPr>
              <a:t>أُمِّي، لَا تَقْلَقِي! وَجَدْنَا آدَمَ بِجَانِبِ خَيْمَةِ المُثَلَّجَاتِ. كَانَ الوَلَدَ الَّذِي يَبْكِي هُنَاكَ. هُوَ أَصْغَرُ مِنَ الأَطْفَالِ الآخَرِينَ وَأَقْصَرُ مِنْهُمْ، وَقُبَّعَتُهُ مِثْلُ قُبَّعَتِي تَمَامًا، لِذٰلِكَ عَرَفْتُهُ بِسُرْعَةٍ. كُنْتُ خَائِفًا جِدًّا، وَلٰكِنِّي الآنَ سَعِيدٌ.</a:t>
            </a:r>
            <a:endParaRPr lang="ar-SA" sz="24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“Notice: Adam is lost; he is five. He is short, his hair is short and black, and his eyes are brown. He is wearing a red shirt and a blue cap. / Mum, don’t worry! We found Adam next to the ice-cream tent. He was the boy who was crying there. He is younger and shorter than the other children, and his cap is exactly like mine, so I recognised him quickly. I was very scared, but now I am happy.”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قَصِيرُ القَامَةِ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عَيْنَاهُ بُنِّيَّتَانِ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الوَلَدَ الَّذِي يَبْكِي</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مِثْلُ قُبَّعَتِي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D2-W03 · Apply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D2-W03 · Apply workshop (D2-L05 + D2-L06)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questions from D2-L05 and D2-L06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language from BOTH lessons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24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D2-W03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used two lessons together!</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D2-L07 · Listening — People, Personality and Style Descriptions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وَصْفُ الأَشْخَاصِ وَالشَّخْصِيَّةِ وَالأُسْلُوبِ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keep using this week’s language — say it, then write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D2-W03 · Apply Workshop — Lost at the Festival</dc:title>
  <dc:subject>PptxGenJS Presentation</dc:subject>
  <dc:creator>Al Madina Online School · Arabic Department</dc:creator>
  <cp:lastModifiedBy>Al Madina Online School · Arabic Department</cp:lastModifiedBy>
  <cp:revision>1</cp:revision>
  <dcterms:created xsi:type="dcterms:W3CDTF">2026-10-26T15:47:56Z</dcterms:created>
  <dcterms:modified xsi:type="dcterms:W3CDTF">2026-10-26T15:47:56Z</dcterms:modified>
</cp:coreProperties>
</file>