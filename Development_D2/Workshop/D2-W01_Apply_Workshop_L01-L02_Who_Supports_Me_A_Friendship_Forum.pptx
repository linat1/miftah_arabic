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WORKSHOP AT A GLANCE — the third lesson of the week (Learn D2-L01 · Learn D2-L02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one minute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D2-L01 (Personality Adjectives — What Is He / She Like?) and D2-L02 (Relationships — Family, Friends and How We Get On).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D2-L01 and D2-L02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LEARNT (3 min, main room). Ask: “What can you say after D2-L01? After D2-L02?” Take two answers in the chat for each lesson (one word or one sentence is enough). Then read objective 3 — today’s new situation that needs BOTH lessons. Students tick their route goals at the end of the lesson.
D2-L01 language: adjective agreement: masculine (ṣabūrun) · feminine with tāʾ marbūṭa (ṣabūratun) · plural (mujtahidūna / mujtahidātun); intensity: jiddan · nawʿan mā · laysa / laysat … ; evidence with li-annahu / li-annahā + a behaviour
D2-L02 language: relationship verbs with their prepositions (atafāhamu maʿa · akhtalifu maʿa · athiqu bi- · aḥtarimu); object suffixes (yadʿamunī · aḥtarimuhā · usāʿiduhu); reciprocal we-verbs (natashājaru · natasālaḥu); always give the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D2-L01.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D2-L02.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(5 min). A NEW dialogue that joins D2-L01 and D2-L02. Teacher reads it once with a confident student; then pairs. Ask: “Which lines are from D2-L01? Which from D2-L02?” Personality adjectives with agreement, intensity and لَيْسَتْ + -an (لَيْسَتْ أَنَانِيَّةً) come from D2-L01; relationship verbs with prepositions (أَتَفَاهَمُ مَعَ · أَثِقُ بِهَا) and نَتَشَاجَرُ / نَتَصَالَحُ from D2-L02.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5 (7 min). One NEW situation that needs both lessons: personality adjectives with agreement, intensity and evidence (D2-L01) with relationship verbs, object suffixes and making up (D2-L02). FADED SUPPORT: tasks 1–2 show the plan; students write their own plan for 3–5. To a girl Partner A says: كَيْفَ شَخْصِيَّتُكِ؟ · مَعَ مَنْ تَتَفَاهَمِينَ؟ · مَنْ تَثِقِينَ بِهِ؟ — and she answers: أَنَا مُجْتَهِدَةٌ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D2-L01 and D2-L02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D2-L01 and D2-L02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(50–60 words). Develop: 80–100 words, frames only if stuck. Stretch: no frames, add reasons and another time frame.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(54 words). CHECK YOURSELF (2 min). Find each bullet point in the model, and one phrase from D2-L01 and one from D2-L02.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D2  ·  D2-L01 + D2-L02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D2-W01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Apply Workshop — Who Supports Me? A Friendship Forum</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مَنْ يَدْعَمُنِي؟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join personality with relationships: on a teen forum about “the people who support me” they describe a friend and a family member (agreement, intensity, evidence), say how they get on, trust and make up, and write a forum post that uses both lessons.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D2-L01 + D2-L02</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D2 › D2-L02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D2-W01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D2-W01 · Apply workshop (D2-L01 + D2-L02)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D2-W01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D2-W01 · Apply workshop (D2-L01 + D2-L02)</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D2-L01 and D2-L02.</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model dialogue · question cards · role-play card · short talk.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sentence builder · spot and fix ·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D2-W01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D2-L01 + D2-L02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D2-W01 · Apply workshop (D2-L01 + D2-L02)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D2-L01: Personality Adjectives — What Is He / She Like?</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D2-L02: Relationships — Family, Friends and How We Get On</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the forum interview · A forum post: the people who support me</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Answer questions from BOTH lessons in full sentences.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Write the text using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Join both lessons in one conversation and a one minute talk.</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text, frames only if stuck.</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Speak without notes; add reasons and opinions.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Use more than one tense; give and justify opinions.</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D2-W01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race: two lessons, one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D2-W01 · Apply workshop (D2-L01 + D2-L02)</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English → Arabic,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words from D2-L01 and D2-L02. Partner A says a word in ENGLISH; Partner B says it in ARABIC.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with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a word from each lesson in one sentence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D2-W01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D2-L01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D2-L01 · Personality Adjectives — What Is He / She Like?</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D2-W01 · Apply workshop (D2-L01 + D2-L02)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وَدُودٌ / وَدُودَةٌ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friendly</a:t>
            </a:r>
            <a:endParaRPr lang="en-US" sz="1350" dirty="0"/>
          </a:p>
          <a:p>
            <a:pPr indent="0" marL="0">
              <a:buNone/>
            </a:pPr>
            <a:r>
              <a:rPr lang="en-US" sz="1100" i="1" dirty="0">
                <a:solidFill>
                  <a:srgbClr val="5A6472"/>
                </a:solidFill>
                <a:latin typeface="Calibri" pitchFamily="34" charset="0"/>
                <a:cs typeface="Amiri" pitchFamily="2" charset="-78"/>
              </a:rPr>
              <a:t>wa-dū-dun / wa-dū-da-tun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وَدُودُونَ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وَدُودَةٌ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وَدُودٌ</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صَبُورٌ / صَبُورَةٌ</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patient</a:t>
            </a:r>
            <a:endParaRPr lang="en-US" sz="1350" dirty="0"/>
          </a:p>
          <a:p>
            <a:pPr indent="0" marL="0">
              <a:buNone/>
            </a:pPr>
            <a:r>
              <a:rPr lang="en-US" sz="1100" i="1" dirty="0">
                <a:solidFill>
                  <a:srgbClr val="5A6472"/>
                </a:solidFill>
                <a:latin typeface="Calibri" pitchFamily="34" charset="0"/>
                <a:cs typeface="Amiri" pitchFamily="2" charset="-78"/>
              </a:rPr>
              <a:t>ṣa-bū-run / ṣa-bū-ra-tun</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صَبُورُونَ</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صَبُورَةٌ</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صَبُورٌ</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54" name="Shape 51"/>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مُجْتَهِدٌ / مُجْتَهِدَةٌ</a:t>
            </a:r>
            <a:endParaRPr lang="ar-SA" sz="3000" dirty="0"/>
          </a:p>
        </p:txBody>
      </p:sp>
      <p:sp>
        <p:nvSpPr>
          <p:cNvPr id="59" name="Text 5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hard-working</a:t>
            </a:r>
            <a:endParaRPr lang="en-US" sz="1350" dirty="0"/>
          </a:p>
          <a:p>
            <a:pPr indent="0" marL="0">
              <a:buNone/>
            </a:pPr>
            <a:r>
              <a:rPr lang="en-US" sz="1100" i="1" dirty="0">
                <a:solidFill>
                  <a:srgbClr val="5A6472"/>
                </a:solidFill>
                <a:latin typeface="Calibri" pitchFamily="34" charset="0"/>
                <a:cs typeface="Amiri" pitchFamily="2" charset="-78"/>
              </a:rPr>
              <a:t>muj-ta-hi-dun / muj-ta-hi-da-tun</a:t>
            </a:r>
            <a:endParaRPr lang="en-US" sz="1350" dirty="0"/>
          </a:p>
        </p:txBody>
      </p:sp>
      <p:sp>
        <p:nvSpPr>
          <p:cNvPr id="60" name="Shape 5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2" name="Text 59"/>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مُجْتَهِدُونَ</a:t>
            </a:r>
            <a:endParaRPr lang="ar-SA" sz="1500" dirty="0"/>
          </a:p>
        </p:txBody>
      </p:sp>
      <p:sp>
        <p:nvSpPr>
          <p:cNvPr id="63" name="Shape 6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5" name="Text 62"/>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مُجْتَهِدَةٌ</a:t>
            </a:r>
            <a:endParaRPr lang="ar-SA" sz="1500" dirty="0"/>
          </a:p>
        </p:txBody>
      </p:sp>
      <p:sp>
        <p:nvSpPr>
          <p:cNvPr id="66" name="Shape 6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8" name="Text 6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مُجْتَهِدٌ</a:t>
            </a:r>
            <a:endParaRPr lang="ar-SA" sz="1500" dirty="0"/>
          </a:p>
        </p:txBody>
      </p:sp>
      <p:sp>
        <p:nvSpPr>
          <p:cNvPr id="69" name="Shape 6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211312"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72" name="Shape 69"/>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4" name="Shape 7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5" name="Text 7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6" name="Text 7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هَادِئٌ / هَادِئَةٌ</a:t>
            </a:r>
            <a:endParaRPr lang="ar-SA" sz="3000" dirty="0"/>
          </a:p>
        </p:txBody>
      </p:sp>
      <p:sp>
        <p:nvSpPr>
          <p:cNvPr id="77" name="Text 7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calm</a:t>
            </a:r>
            <a:endParaRPr lang="en-US" sz="1350" dirty="0"/>
          </a:p>
          <a:p>
            <a:pPr indent="0" marL="0">
              <a:buNone/>
            </a:pPr>
            <a:r>
              <a:rPr lang="en-US" sz="1100" i="1" dirty="0">
                <a:solidFill>
                  <a:srgbClr val="5A6472"/>
                </a:solidFill>
                <a:latin typeface="Calibri" pitchFamily="34" charset="0"/>
                <a:cs typeface="Amiri" pitchFamily="2" charset="-78"/>
              </a:rPr>
              <a:t>hā-di-ʾun / hā-di-ʾa-tun</a:t>
            </a:r>
            <a:endParaRPr lang="en-US" sz="1350" dirty="0"/>
          </a:p>
        </p:txBody>
      </p:sp>
      <p:sp>
        <p:nvSpPr>
          <p:cNvPr id="78" name="Shape 75"/>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0" name="Text 77"/>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هَادِئُونَ</a:t>
            </a:r>
            <a:endParaRPr lang="ar-SA" sz="1500" dirty="0"/>
          </a:p>
        </p:txBody>
      </p:sp>
      <p:sp>
        <p:nvSpPr>
          <p:cNvPr id="81" name="Shape 78"/>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82" name="Text 79"/>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3" name="Text 80"/>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هَادِئَةٌ</a:t>
            </a:r>
            <a:endParaRPr lang="ar-SA" sz="1500" dirty="0"/>
          </a:p>
        </p:txBody>
      </p:sp>
      <p:sp>
        <p:nvSpPr>
          <p:cNvPr id="84" name="Shape 81"/>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6" name="Text 83"/>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هَادِئٌ</a:t>
            </a:r>
            <a:endParaRPr lang="ar-SA" sz="1500" dirty="0"/>
          </a:p>
        </p:txBody>
      </p:sp>
      <p:sp>
        <p:nvSpPr>
          <p:cNvPr id="87" name="Shape 8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8" name="Shape 85"/>
          <p:cNvSpPr/>
          <p:nvPr/>
        </p:nvSpPr>
        <p:spPr>
          <a:xfrm>
            <a:off x="4389120" y="4261104"/>
            <a:ext cx="310896" cy="310896"/>
          </a:xfrm>
          <a:prstGeom prst="ellipse">
            <a:avLst/>
          </a:prstGeom>
          <a:solidFill>
            <a:srgbClr val="F4F1EA"/>
          </a:solidFill>
          <a:ln w="12700">
            <a:solidFill>
              <a:srgbClr val="F4F1EA"/>
            </a:solidFill>
            <a:prstDash val="solid"/>
          </a:ln>
        </p:spPr>
      </p:sp>
      <p:sp>
        <p:nvSpPr>
          <p:cNvPr id="89" name="Text 8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90" name="Shape 8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91" name="Text 8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2" name="Text 8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وَلٰكِنَّ</a:t>
            </a:r>
            <a:endParaRPr lang="ar-SA" sz="3000" dirty="0"/>
          </a:p>
        </p:txBody>
      </p:sp>
      <p:sp>
        <p:nvSpPr>
          <p:cNvPr id="93" name="Text 9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but/however</a:t>
            </a:r>
            <a:endParaRPr lang="en-US" sz="1350" dirty="0"/>
          </a:p>
          <a:p>
            <a:pPr indent="0" marL="0">
              <a:buNone/>
            </a:pPr>
            <a:r>
              <a:rPr lang="en-US" sz="1100" i="1" dirty="0">
                <a:solidFill>
                  <a:srgbClr val="5A6472"/>
                </a:solidFill>
                <a:latin typeface="Calibri" pitchFamily="34" charset="0"/>
                <a:cs typeface="Amiri" pitchFamily="2" charset="-78"/>
              </a:rPr>
              <a:t>wa-lā-kin-na</a:t>
            </a:r>
            <a:endParaRPr lang="en-US" sz="1350" dirty="0"/>
          </a:p>
        </p:txBody>
      </p:sp>
      <p:sp>
        <p:nvSpPr>
          <p:cNvPr id="94" name="Shape 91"/>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5" name="Shape 92"/>
          <p:cNvSpPr/>
          <p:nvPr/>
        </p:nvSpPr>
        <p:spPr>
          <a:xfrm>
            <a:off x="566928" y="4261104"/>
            <a:ext cx="310896" cy="310896"/>
          </a:xfrm>
          <a:prstGeom prst="ellipse">
            <a:avLst/>
          </a:prstGeom>
          <a:solidFill>
            <a:srgbClr val="F4F1EA"/>
          </a:solidFill>
          <a:ln w="12700">
            <a:solidFill>
              <a:srgbClr val="F4F1EA"/>
            </a:solidFill>
            <a:prstDash val="solid"/>
          </a:ln>
        </p:spPr>
      </p:sp>
      <p:sp>
        <p:nvSpPr>
          <p:cNvPr id="96" name="Text 93"/>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97" name="Shape 94"/>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98" name="Text 95"/>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99" name="Text 96"/>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وَاثِقٌ / وَاثِقَةٌ</a:t>
            </a:r>
            <a:endParaRPr lang="ar-SA" sz="3000" dirty="0"/>
          </a:p>
        </p:txBody>
      </p:sp>
      <p:sp>
        <p:nvSpPr>
          <p:cNvPr id="100" name="Text 97"/>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confident</a:t>
            </a:r>
            <a:endParaRPr lang="en-US" sz="1350" dirty="0"/>
          </a:p>
          <a:p>
            <a:pPr indent="0" marL="0">
              <a:buNone/>
            </a:pPr>
            <a:r>
              <a:rPr lang="en-US" sz="1100" i="1" dirty="0">
                <a:solidFill>
                  <a:srgbClr val="5A6472"/>
                </a:solidFill>
                <a:latin typeface="Calibri" pitchFamily="34" charset="0"/>
                <a:cs typeface="Amiri" pitchFamily="2" charset="-78"/>
              </a:rPr>
              <a:t>wā-thi-qun / wā-thi-qa-tun</a:t>
            </a:r>
            <a:endParaRPr lang="en-US" sz="1350" dirty="0"/>
          </a:p>
        </p:txBody>
      </p:sp>
      <p:sp>
        <p:nvSpPr>
          <p:cNvPr id="101" name="Shape 98"/>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102" name="Text 99"/>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103" name="Text 100"/>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وَاثِقُونَ</a:t>
            </a:r>
            <a:endParaRPr lang="ar-SA" sz="1500" dirty="0"/>
          </a:p>
        </p:txBody>
      </p:sp>
      <p:sp>
        <p:nvSpPr>
          <p:cNvPr id="104" name="Shape 101"/>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105" name="Text 102"/>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06" name="Text 103"/>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وَاثِقَةٌ</a:t>
            </a:r>
            <a:endParaRPr lang="ar-SA" sz="1500" dirty="0"/>
          </a:p>
        </p:txBody>
      </p:sp>
      <p:sp>
        <p:nvSpPr>
          <p:cNvPr id="107" name="Shape 104"/>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108" name="Text 105"/>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09" name="Text 106"/>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وَاثِقٌ</a:t>
            </a:r>
            <a:endParaRPr lang="ar-SA" sz="150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D2-W01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D2-L02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D2-L02 · Relationships — Family, Friends and How We Get On</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D2-W01 · Apply workshop (D2-L01 + D2-L02)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108265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we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أَتَفَاهَمُ مَعَ</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get on with</a:t>
            </a:r>
            <a:endParaRPr lang="en-US" sz="1350" dirty="0"/>
          </a:p>
          <a:p>
            <a:pPr indent="0" marL="0">
              <a:buNone/>
            </a:pPr>
            <a:r>
              <a:rPr lang="en-US" sz="1100" i="1" dirty="0">
                <a:solidFill>
                  <a:srgbClr val="5A6472"/>
                </a:solidFill>
                <a:latin typeface="Calibri" pitchFamily="34" charset="0"/>
                <a:cs typeface="Amiri" pitchFamily="2" charset="-78"/>
              </a:rPr>
              <a:t>a-ta-fā-ha-mu ma-ʿa</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نَتَفَاهَمُ</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تَتَفَاهَمُ</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يَتَفَاهَمُ</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6" name="Shape 33"/>
          <p:cNvSpPr/>
          <p:nvPr/>
        </p:nvSpPr>
        <p:spPr>
          <a:xfrm>
            <a:off x="4782312" y="1938528"/>
            <a:ext cx="1269187"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him · her · them</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أَحْتَرِمُ</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respect</a:t>
            </a:r>
            <a:endParaRPr lang="en-US" sz="1350" dirty="0"/>
          </a:p>
          <a:p>
            <a:pPr indent="0" marL="0">
              <a:buNone/>
            </a:pPr>
            <a:r>
              <a:rPr lang="en-US" sz="1100" i="1" dirty="0">
                <a:solidFill>
                  <a:srgbClr val="5A6472"/>
                </a:solidFill>
                <a:latin typeface="Calibri" pitchFamily="34" charset="0"/>
                <a:cs typeface="Amiri" pitchFamily="2" charset="-78"/>
              </a:rPr>
              <a:t>aḥ-ta-ri-mu</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them</a:t>
            </a:r>
            <a:endParaRPr lang="en-US" sz="700" dirty="0"/>
          </a:p>
        </p:txBody>
      </p:sp>
      <p:sp>
        <p:nvSpPr>
          <p:cNvPr id="44" name="Text 41"/>
          <p:cNvSpPr txBox="1"/>
          <p:nvPr/>
        </p:nvSpPr>
        <p:spPr>
          <a:xfrm>
            <a:off x="6766560"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أَحْتَرِمُهُمْ</a:t>
            </a:r>
            <a:endParaRPr lang="ar-SA" sz="135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her</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أَحْتَرِمُهَا</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him</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أَحْتَرِمُهُ</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54" name="Shape 5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تَدْعَمُنِي</a:t>
            </a:r>
            <a:endParaRPr lang="ar-SA" sz="3000" dirty="0"/>
          </a:p>
        </p:txBody>
      </p:sp>
      <p:sp>
        <p:nvSpPr>
          <p:cNvPr id="57" name="Text 5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she supports me</a:t>
            </a:r>
            <a:endParaRPr lang="en-US" sz="1350" dirty="0"/>
          </a:p>
          <a:p>
            <a:pPr indent="0" marL="0">
              <a:buNone/>
            </a:pPr>
            <a:r>
              <a:rPr lang="en-US" sz="1100" i="1" dirty="0">
                <a:solidFill>
                  <a:srgbClr val="5A6472"/>
                </a:solidFill>
                <a:latin typeface="Calibri" pitchFamily="34" charset="0"/>
                <a:cs typeface="Amiri" pitchFamily="2" charset="-78"/>
              </a:rPr>
              <a:t>tad-ʿa-mu-nī</a:t>
            </a:r>
            <a:endParaRPr lang="en-US" sz="1350" dirty="0"/>
          </a:p>
        </p:txBody>
      </p:sp>
      <p:sp>
        <p:nvSpPr>
          <p:cNvPr id="58" name="Shape 5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8211312"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61" name="Shape 5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3" name="Text 6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نَتَصَالَحُ</a:t>
            </a:r>
            <a:endParaRPr lang="ar-SA" sz="3000" dirty="0"/>
          </a:p>
        </p:txBody>
      </p:sp>
      <p:sp>
        <p:nvSpPr>
          <p:cNvPr id="64" name="Text 6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 make up</a:t>
            </a:r>
            <a:endParaRPr lang="en-US" sz="1350" dirty="0"/>
          </a:p>
          <a:p>
            <a:pPr indent="0" marL="0">
              <a:buNone/>
            </a:pPr>
            <a:r>
              <a:rPr lang="en-US" sz="1100" i="1" dirty="0">
                <a:solidFill>
                  <a:srgbClr val="5A6472"/>
                </a:solidFill>
                <a:latin typeface="Calibri" pitchFamily="34" charset="0"/>
                <a:cs typeface="Amiri" pitchFamily="2" charset="-78"/>
              </a:rPr>
              <a:t>na-ta-ṣā-la-ḥu</a:t>
            </a:r>
            <a:endParaRPr lang="en-US" sz="1350" dirty="0"/>
          </a:p>
        </p:txBody>
      </p:sp>
      <p:sp>
        <p:nvSpPr>
          <p:cNvPr id="65" name="Shape 6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4389120"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8" name="Shape 65"/>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69" name="Text 66"/>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0" name="Shape 6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1" name="Text 6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2" name="Text 6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صَدِيقٌ مُقَرَّبٌ</a:t>
            </a:r>
            <a:endParaRPr lang="ar-SA" sz="3000" dirty="0"/>
          </a:p>
        </p:txBody>
      </p:sp>
      <p:sp>
        <p:nvSpPr>
          <p:cNvPr id="73" name="Text 7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close friend</a:t>
            </a:r>
            <a:endParaRPr lang="en-US" sz="1350" dirty="0"/>
          </a:p>
          <a:p>
            <a:pPr indent="0" marL="0">
              <a:buNone/>
            </a:pPr>
            <a:r>
              <a:rPr lang="en-US" sz="1100" i="1" dirty="0">
                <a:solidFill>
                  <a:srgbClr val="5A6472"/>
                </a:solidFill>
                <a:latin typeface="Calibri" pitchFamily="34" charset="0"/>
                <a:cs typeface="Amiri" pitchFamily="2" charset="-78"/>
              </a:rPr>
              <a:t>ṣa-dī-qun mu-qar-ra-bun</a:t>
            </a:r>
            <a:endParaRPr lang="en-US" sz="1350" dirty="0"/>
          </a:p>
        </p:txBody>
      </p:sp>
      <p:sp>
        <p:nvSpPr>
          <p:cNvPr id="74" name="Shape 71"/>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75" name="Text 72"/>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6" name="Text 73"/>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450" b="1" dirty="0">
                <a:solidFill>
                  <a:srgbClr val="1B3B6F"/>
                </a:solidFill>
                <a:latin typeface="Amiri" pitchFamily="2" charset="-78"/>
                <a:ea typeface="Amiri" pitchFamily="2" charset="-78"/>
                <a:cs typeface="Amiri" pitchFamily="2" charset="-78"/>
              </a:rPr>
              <a:t>أَصْدِقَاءُ مُقَرَّبُونَ</a:t>
            </a:r>
            <a:endParaRPr lang="ar-SA" sz="1450" dirty="0"/>
          </a:p>
        </p:txBody>
      </p:sp>
      <p:sp>
        <p:nvSpPr>
          <p:cNvPr id="77" name="Shape 74"/>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78" name="Text 75"/>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9" name="Text 76"/>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صَدِيقَةٌ مُقَرَّبَةٌ</a:t>
            </a:r>
            <a:endParaRPr lang="ar-SA" sz="1500" dirty="0"/>
          </a:p>
        </p:txBody>
      </p:sp>
      <p:sp>
        <p:nvSpPr>
          <p:cNvPr id="80" name="Shape 77"/>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81" name="Text 78"/>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2" name="Text 79"/>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صَدِيقٌ مُقَرَّبٌ</a:t>
            </a:r>
            <a:endParaRPr lang="ar-SA" sz="1500" dirty="0"/>
          </a:p>
        </p:txBody>
      </p:sp>
      <p:sp>
        <p:nvSpPr>
          <p:cNvPr id="83" name="Shape 8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566928" y="4261104"/>
            <a:ext cx="310896" cy="310896"/>
          </a:xfrm>
          <a:prstGeom prst="ellipse">
            <a:avLst/>
          </a:prstGeom>
          <a:solidFill>
            <a:srgbClr val="F4F1EA"/>
          </a:solidFill>
          <a:ln w="12700">
            <a:solidFill>
              <a:srgbClr val="F4F1EA"/>
            </a:solidFill>
            <a:prstDash val="solid"/>
          </a:ln>
        </p:spPr>
      </p:sp>
      <p:sp>
        <p:nvSpPr>
          <p:cNvPr id="85" name="Text 8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86" name="Text 83"/>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بَيْنَمَا</a:t>
            </a:r>
            <a:endParaRPr lang="ar-SA" sz="3000" dirty="0"/>
          </a:p>
        </p:txBody>
      </p:sp>
      <p:sp>
        <p:nvSpPr>
          <p:cNvPr id="87" name="Text 84"/>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whereas/while</a:t>
            </a:r>
            <a:endParaRPr lang="en-US" sz="1350" dirty="0"/>
          </a:p>
          <a:p>
            <a:pPr indent="0" marL="0">
              <a:buNone/>
            </a:pPr>
            <a:r>
              <a:rPr lang="en-US" sz="1100" i="1" dirty="0">
                <a:solidFill>
                  <a:srgbClr val="5A6472"/>
                </a:solidFill>
                <a:latin typeface="Calibri" pitchFamily="34" charset="0"/>
                <a:cs typeface="Amiri" pitchFamily="2" charset="-78"/>
              </a:rPr>
              <a:t>bay-na-mā</a:t>
            </a:r>
            <a:endParaRPr lang="en-US" sz="1350" dirty="0"/>
          </a:p>
        </p:txBody>
      </p:sp>
      <p:sp>
        <p:nvSpPr>
          <p:cNvPr id="88" name="Text 8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D2-W01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1 · STEP 2 · WHICH LESSON?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does it come from?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D2-W01 · Apply workshop (D2-L01 + D2-L02)</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هُوَ … جِدًّا · هِيَ … نَوْعًا مَا</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أَتَفَاهَمُ مَعَ … لِأَنَّ …</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أَثِقُ بِصَدِيقِي / بِأُمِّي …</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لَيْسَ … / لَيْسَتْ …</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لِأَنَّهُ يُسَاعِدُ … · لِأَنَّهَا تَسْمَعُ …</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نَتَشَاجَرُ أَحْيَانًا ثُمَّ نَتَصَالَحُ</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450" b="1" dirty="0">
                <a:solidFill>
                  <a:srgbClr val="1B3B6F"/>
                </a:solidFill>
                <a:latin typeface="Amiri" pitchFamily="2" charset="-78"/>
                <a:ea typeface="Amiri" pitchFamily="2" charset="-78"/>
                <a:cs typeface="Amiri" pitchFamily="2" charset="-78"/>
              </a:rPr>
              <a:t>فِي رَأْيِي العَلَاقَةُ القَوِيَّةُ تَحْتَاجُ إِلَى …</a:t>
            </a:r>
            <a:endParaRPr lang="ar-SA" sz="145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وَلٰكِنَّهُ / وَلٰكِنَّهَا أَحْيَانًا …</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D2-L01 · Personality Adjectives — What Is He / She Like?</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D2-L02 · Relationships — Family, Friends and How We Get On</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D2-W01 · Apply workshop (D2-L01 + D2-L02)</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D2-L01 · Personality Adjectives — What Is He / She Like?</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هُوَ … جِدًّا · هِيَ … نَوْعًا مَا</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لَيْسَ … / لَيْسَتْ …</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لِأَنَّهُ يُسَاعِدُ … · لِأَنَّهَا تَسْمَعُ …</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وَلٰكِنَّهُ / وَلٰكِنَّهَا أَحْيَانًا …</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D2-L02 · Relationships — Family, Friends and How We Get On</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أَتَفَاهَمُ مَعَ … لِأَنَّ …</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أَثِقُ بِصَدِيقِي / بِأُمِّي …</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نَتَشَاجَرُ أَحْيَانًا ثُمَّ نَتَصَالَحُ</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رَأْيِي العَلَاقَةُ القَوِيَّةُ تَحْتَاجُ إِلَى …</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D2-W01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PART 2 · STEP 3 · SAY THE MODEL DIALOGUE · BOTH LESSONS IN ONE CONVERSATION</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 the forum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فِي المُنْتَدَى</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D2-W01 · Apply workshop (D2-L01 + D2-L02)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supports you in your studies?</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مَنْ يَدْعَمُكِ فِي الدِّرَاسَةِ؟</a:t>
            </a:r>
            <a:endParaRPr lang="ar-SA" sz="19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older sister supports me, because she is very patient and explains everything to me.</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أُخْتِي الكُبْرَى تَدْعَمُنِي، لِأَنَّهَا صَبُورَةٌ جِدًّا وَتَشْرَحُ لِي كُلَّ شَيْءٍ.</a:t>
            </a:r>
            <a:endParaRPr lang="ar-SA" sz="19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do you always get on with her?</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وَهَلْ تَتَفَاهَمِينَ مَعَهَا دَائِمًا؟</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Usually, but we sometimes argue and then make up quickly.</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غَالِبًا، وَلٰكِنَّنَا نَتَشَاجَرُ أَحْيَانًا ثُمَّ نَتَصَالَحُ بِسُرْعَةٍ.</a:t>
            </a:r>
            <a:endParaRPr lang="ar-SA" sz="19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your close friend?</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وَصَدِيقَتُكِ المُقَرَّبَةُ؟</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trust her a lot; she is honest and cheerful, and never selfish.</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أَثِقُ بِهَا كَثِيرًا؛ هِيَ صَادِقَةٌ وَمَرِحَةٌ، وَلَيْسَتْ أَنَانِيَّةً أَبَدًا.</a:t>
            </a:r>
            <a:endParaRPr lang="ar-SA" sz="19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TWO details — one from each lesson — and say it again.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D2-W01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QUESTION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Mixed questions — answer, then add more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D2-W01 · Apply workshop (D2-L01 + D2-L02)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38360" y="226771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لِأَنَّنِي …</a:t>
            </a:r>
            <a:endParaRPr lang="ar-SA" sz="1500" dirty="0"/>
          </a:p>
        </p:txBody>
      </p:sp>
      <p:sp>
        <p:nvSpPr>
          <p:cNvPr id="23" name="Text 20"/>
          <p:cNvSpPr txBox="1"/>
          <p:nvPr/>
        </p:nvSpPr>
        <p:spPr>
          <a:xfrm>
            <a:off x="6995160" y="226771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أَنَا … وَ …</a:t>
            </a:r>
            <a:endParaRPr lang="ar-SA" sz="1600" dirty="0"/>
          </a:p>
        </p:txBody>
      </p:sp>
      <p:sp>
        <p:nvSpPr>
          <p:cNvPr id="24" name="Text 21"/>
          <p:cNvSpPr txBox="1"/>
          <p:nvPr/>
        </p:nvSpPr>
        <p:spPr>
          <a:xfrm>
            <a:off x="4636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personality like?</a:t>
            </a:r>
            <a:endParaRPr lang="en-US" sz="1100" dirty="0"/>
          </a:p>
        </p:txBody>
      </p:sp>
      <p:sp>
        <p:nvSpPr>
          <p:cNvPr id="25" name="Text 22"/>
          <p:cNvSpPr txBox="1"/>
          <p:nvPr/>
        </p:nvSpPr>
        <p:spPr>
          <a:xfrm>
            <a:off x="1051560" y="226771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شَخْصِيَّتُكَ؟</a:t>
            </a:r>
            <a:endParaRPr lang="ar-SA" sz="17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38360" y="2881884"/>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مَثَلًا …</a:t>
            </a:r>
            <a:endParaRPr lang="ar-SA" sz="150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أَتَفَاهَمُ مَعَ … لِأَنَّهُ / لِأَنَّهَا …</a:t>
            </a:r>
            <a:endParaRPr lang="ar-SA" sz="1600" dirty="0"/>
          </a:p>
        </p:txBody>
      </p:sp>
      <p:sp>
        <p:nvSpPr>
          <p:cNvPr id="32" name="Text 29"/>
          <p:cNvSpPr txBox="1"/>
          <p:nvPr/>
        </p:nvSpPr>
        <p:spPr>
          <a:xfrm>
            <a:off x="4636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do you get on with in your family? Why?</a:t>
            </a:r>
            <a:endParaRPr lang="en-US" sz="1100" dirty="0"/>
          </a:p>
        </p:txBody>
      </p:sp>
      <p:sp>
        <p:nvSpPr>
          <p:cNvPr id="33" name="Text 30"/>
          <p:cNvSpPr txBox="1"/>
          <p:nvPr/>
        </p:nvSpPr>
        <p:spPr>
          <a:xfrm>
            <a:off x="1051560" y="2881884"/>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مَعَ مَنْ تَتَفَاهَمُ فِي عَائِلَتِكَ؟ لِمَاذَا؟</a:t>
            </a:r>
            <a:endParaRPr lang="ar-SA" sz="170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38360" y="3496056"/>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لِأَنَّهَا …</a:t>
            </a:r>
            <a:endParaRPr lang="ar-SA" sz="1500" dirty="0"/>
          </a:p>
        </p:txBody>
      </p:sp>
      <p:sp>
        <p:nvSpPr>
          <p:cNvPr id="39" name="Text 36"/>
          <p:cNvSpPr txBox="1"/>
          <p:nvPr/>
        </p:nvSpPr>
        <p:spPr>
          <a:xfrm>
            <a:off x="6995160" y="3496056"/>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أُمِّي صَبُورَةٌ جِدًّا …</a:t>
            </a:r>
            <a:endParaRPr lang="ar-SA" sz="1600" dirty="0"/>
          </a:p>
        </p:txBody>
      </p:sp>
      <p:sp>
        <p:nvSpPr>
          <p:cNvPr id="40" name="Text 37"/>
          <p:cNvSpPr txBox="1"/>
          <p:nvPr/>
        </p:nvSpPr>
        <p:spPr>
          <a:xfrm>
            <a:off x="4636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is the most patient person in your family?</a:t>
            </a:r>
            <a:endParaRPr lang="en-US" sz="1100" dirty="0"/>
          </a:p>
        </p:txBody>
      </p:sp>
      <p:sp>
        <p:nvSpPr>
          <p:cNvPr id="41" name="Text 38"/>
          <p:cNvSpPr txBox="1"/>
          <p:nvPr/>
        </p:nvSpPr>
        <p:spPr>
          <a:xfrm>
            <a:off x="1051560" y="3496056"/>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أَكْثَرُ شَخْصٍ صَبُورٍ فِي عَائِلَتِكَ؟</a:t>
            </a:r>
            <a:endParaRPr lang="ar-SA" sz="17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38360" y="4110228"/>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وَلٰكِنْ نَتَصَالَحُ …</a:t>
            </a:r>
            <a:endParaRPr lang="ar-SA" sz="150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أَخْتَلِفُ مَعَ … عَلَى …</a:t>
            </a:r>
            <a:endParaRPr lang="ar-SA" sz="1600" dirty="0"/>
          </a:p>
        </p:txBody>
      </p:sp>
      <p:sp>
        <p:nvSpPr>
          <p:cNvPr id="48" name="Text 45"/>
          <p:cNvSpPr txBox="1"/>
          <p:nvPr/>
        </p:nvSpPr>
        <p:spPr>
          <a:xfrm>
            <a:off x="4636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do you sometimes disagree with?</a:t>
            </a:r>
            <a:endParaRPr lang="en-US" sz="1100" dirty="0"/>
          </a:p>
        </p:txBody>
      </p:sp>
      <p:sp>
        <p:nvSpPr>
          <p:cNvPr id="49" name="Text 46"/>
          <p:cNvSpPr txBox="1"/>
          <p:nvPr/>
        </p:nvSpPr>
        <p:spPr>
          <a:xfrm>
            <a:off x="1051560" y="4110228"/>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مَعَ مَنْ تَخْتَلِفُ أَحْيَانًا؟</a:t>
            </a:r>
            <a:endParaRPr lang="ar-SA" sz="170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38360" y="4724400"/>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وَلٰكِنَّهُ أَحْيَانًا …</a:t>
            </a:r>
            <a:endParaRPr lang="ar-SA" sz="1500" dirty="0"/>
          </a:p>
        </p:txBody>
      </p:sp>
      <p:sp>
        <p:nvSpPr>
          <p:cNvPr id="55" name="Text 52"/>
          <p:cNvSpPr txBox="1"/>
          <p:nvPr/>
        </p:nvSpPr>
        <p:spPr>
          <a:xfrm>
            <a:off x="6995160" y="4724400"/>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صَدِيقِي … وَ …</a:t>
            </a:r>
            <a:endParaRPr lang="ar-SA" sz="1600" dirty="0"/>
          </a:p>
        </p:txBody>
      </p:sp>
      <p:sp>
        <p:nvSpPr>
          <p:cNvPr id="56" name="Text 53"/>
          <p:cNvSpPr txBox="1"/>
          <p:nvPr/>
        </p:nvSpPr>
        <p:spPr>
          <a:xfrm>
            <a:off x="4636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your close friend.</a:t>
            </a:r>
            <a:endParaRPr lang="en-US" sz="1100" dirty="0"/>
          </a:p>
        </p:txBody>
      </p:sp>
      <p:sp>
        <p:nvSpPr>
          <p:cNvPr id="57" name="Text 54"/>
          <p:cNvSpPr txBox="1"/>
          <p:nvPr/>
        </p:nvSpPr>
        <p:spPr>
          <a:xfrm>
            <a:off x="1051560" y="4724400"/>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صَدِيقَكَ المُقَرَّبَ.</a:t>
            </a:r>
            <a:endParaRPr lang="ar-SA" sz="170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38360" y="533857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عِنْدَمَا …</a:t>
            </a:r>
            <a:endParaRPr lang="ar-SA" sz="15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يَدْعَمُنِي … / تَدْعَمُنِي …</a:t>
            </a:r>
            <a:endParaRPr lang="ar-SA" sz="1600" dirty="0"/>
          </a:p>
        </p:txBody>
      </p:sp>
      <p:sp>
        <p:nvSpPr>
          <p:cNvPr id="62" name="Text 59"/>
          <p:cNvSpPr txBox="1"/>
          <p:nvPr/>
        </p:nvSpPr>
        <p:spPr>
          <a:xfrm>
            <a:off x="4636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supports you in your studies?</a:t>
            </a:r>
            <a:endParaRPr lang="en-US" sz="1100" dirty="0"/>
          </a:p>
        </p:txBody>
      </p:sp>
      <p:sp>
        <p:nvSpPr>
          <p:cNvPr id="63" name="Text 60"/>
          <p:cNvSpPr txBox="1"/>
          <p:nvPr/>
        </p:nvSpPr>
        <p:spPr>
          <a:xfrm>
            <a:off x="1051560" y="533857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يَدْعَمُكَ فِي الدِّرَاسَةِ؟</a:t>
            </a:r>
            <a:endParaRPr lang="ar-SA" sz="170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D2-L01, even numbers from D2-L02. Core: a full sentence from the starter. Develop: add the “more” part. Stretch: link two answers with ‏</a:t>
            </a:r>
            <a:pPr algn="l" indent="0" marL="0">
              <a:buNone/>
            </a:pPr>
            <a:r>
              <a:rPr lang="ar-SA" altLang="en-US" sz="1450" b="1" dirty="0">
                <a:solidFill>
                  <a:srgbClr val="1B3B6F"/>
                </a:solidFill>
                <a:latin typeface="Amiri" pitchFamily="2" charset="-78"/>
                <a:ea typeface="Amiri" pitchFamily="2" charset="-78"/>
                <a:cs typeface="Amiri" pitchFamily="2" charset="-78"/>
              </a:rPr>
              <a:t>وَ</a:t>
            </a:r>
            <a:pPr algn="l" indent="0" marL="0">
              <a:buNone/>
            </a:pPr>
            <a:r>
              <a:rPr lang="en-US" sz="1100" b="1" dirty="0">
                <a:solidFill>
                  <a:srgbClr val="1B3B6F"/>
                </a:solidFill>
                <a:latin typeface="Calibri" pitchFamily="34" charset="0"/>
                <a:cs typeface="Amiri" pitchFamily="2" charset="-78"/>
              </a:rPr>
              <a:t>‏,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Swap after each question.</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D2-W01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5 · ROLE-PLAY CARD · PLANS FOR TASKS 1–2 ARE GIVEN — PLAN 3–5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Role-play card — the forum interview</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مُقَابَلَةُ المُنْتَدَى</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D2-W01 · Apply workshop (D2-L01 + D2-L02)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 أَنَا … جِدًّا وَ… نَوْعًا مَا</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qualities: one strong, one soft.</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شَخْصِيَّتُكَ؟</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مَعَ مَنْ ← أَتَفَاهَمُ مَعَ … لِأَنَّهُ / لِأَنَّهَا …</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person + a reason with evidence.</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مَعَ مَنْ تَتَفَاهَمُ فِي عَائِلَتِكَ؟ لِمَاذَا؟</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93608" y="3741725"/>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a friend and give evidence.</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تَثِقُ بِهِ خَارِجَ العَائِلَةِ؟</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293608" y="4478731"/>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disagreement and how you make up.</a:t>
            </a:r>
            <a:endParaRPr lang="en-US" sz="1100" dirty="0"/>
          </a:p>
        </p:txBody>
      </p:sp>
      <p:sp>
        <p:nvSpPr>
          <p:cNvPr id="42" name="Text 39"/>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تَخْتَلِفُ مَعَ أَحَدٍ أَحْيَانًا؟ كَيْفَ تَتَصَالَحَانِ؟</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293608" y="5215738"/>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negative quality with a reason.</a:t>
            </a:r>
            <a:endParaRPr lang="en-US" sz="1100" dirty="0"/>
          </a:p>
        </p:txBody>
      </p:sp>
      <p:sp>
        <p:nvSpPr>
          <p:cNvPr id="47" name="Text 44"/>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الصِّفَةُ الَّتِي لَا تُحِبُّهَا فِي الصَّدِيقِ؟</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the forum member · Partner A = the forum moderator. Write the plan for tasks 3–5 in your book first. Task ! is a surprise — Partner A reads it without warning. Then swap roles.</a:t>
            </a:r>
            <a:endParaRPr lang="en-US" sz="110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D2-W01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Two people who support 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شَخْصَانِ يَدْعَمَانِنِي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D2-W01 · Apply workshop (D2-L01 + D2-L02)</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use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one minute about two people who support you — one male, one female: their personalities (with evidence), how you get on with each one, one disagreement and how you made up, and what makes a strong relationship in your opinion.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2 key words from EACH lesson,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partner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then the teacher invites two volunteers.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هُوَ … · هِيَ … · أَتَفَاهَمُ مَعَ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evidence with ‏</a:t>
            </a:r>
            <a:pPr algn="l" indent="0" marL="0">
              <a:buNone/>
            </a:pPr>
            <a:r>
              <a:rPr lang="ar-SA" altLang="en-US" sz="1500" dirty="0">
                <a:solidFill>
                  <a:srgbClr val="1F2A37"/>
                </a:solidFill>
                <a:latin typeface="Amiri" pitchFamily="2" charset="-78"/>
                <a:ea typeface="Amiri" pitchFamily="2" charset="-78"/>
                <a:cs typeface="Amiri" pitchFamily="2" charset="-78"/>
              </a:rPr>
              <a:t>لِأَنَّهُ / لِأَنَّهَا</a:t>
            </a:r>
            <a:pPr algn="l" indent="0" marL="0">
              <a:buNone/>
            </a:pPr>
            <a:r>
              <a:rPr lang="en-US" sz="1150" dirty="0">
                <a:solidFill>
                  <a:srgbClr val="1F2A37"/>
                </a:solidFill>
                <a:latin typeface="Calibri" pitchFamily="34" charset="0"/>
                <a:cs typeface="Amiri" pitchFamily="2" charset="-78"/>
              </a:rPr>
              <a:t>‏ and two object suffixes (‏</a:t>
            </a:r>
            <a:pPr algn="l" indent="0" marL="0">
              <a:buNone/>
            </a:pPr>
            <a:r>
              <a:rPr lang="ar-SA" altLang="en-US" sz="1500" dirty="0">
                <a:solidFill>
                  <a:srgbClr val="1F2A37"/>
                </a:solidFill>
                <a:latin typeface="Amiri" pitchFamily="2" charset="-78"/>
                <a:ea typeface="Amiri" pitchFamily="2" charset="-78"/>
                <a:cs typeface="Amiri" pitchFamily="2" charset="-78"/>
              </a:rPr>
              <a:t>يَدْعَمُنِي</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أَحْتَرِمُهَا</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negative (‏</a:t>
            </a:r>
            <a:pPr algn="l" indent="0" marL="0">
              <a:buNone/>
            </a:pPr>
            <a:r>
              <a:rPr lang="ar-SA" altLang="en-US" sz="1500" dirty="0">
                <a:solidFill>
                  <a:srgbClr val="1F2A37"/>
                </a:solidFill>
                <a:latin typeface="Amiri" pitchFamily="2" charset="-78"/>
                <a:ea typeface="Amiri" pitchFamily="2" charset="-78"/>
                <a:cs typeface="Amiri" pitchFamily="2" charset="-78"/>
              </a:rPr>
              <a:t>لَيْسَ / لَيْسَتْ</a:t>
            </a:r>
            <a:pPr algn="l" indent="0" marL="0">
              <a:buNone/>
            </a:pPr>
            <a:r>
              <a:rPr lang="en-US" sz="1150" dirty="0">
                <a:solidFill>
                  <a:srgbClr val="1F2A37"/>
                </a:solidFill>
                <a:latin typeface="Calibri" pitchFamily="34" charset="0"/>
                <a:cs typeface="Amiri" pitchFamily="2" charset="-78"/>
              </a:rPr>
              <a:t>‏ + -an), ‏</a:t>
            </a:r>
            <a:pPr algn="l" indent="0" marL="0">
              <a:buNone/>
            </a:pPr>
            <a:r>
              <a:rPr lang="ar-SA" altLang="en-US" sz="1500" dirty="0">
                <a:solidFill>
                  <a:srgbClr val="1F2A37"/>
                </a:solidFill>
                <a:latin typeface="Amiri" pitchFamily="2" charset="-78"/>
                <a:ea typeface="Amiri" pitchFamily="2" charset="-78"/>
                <a:cs typeface="Amiri" pitchFamily="2" charset="-78"/>
              </a:rPr>
              <a:t>نَتَشَاجَرُ … ثُمَّ نَتَصَالَحُ</a:t>
            </a:r>
            <a:pPr algn="l" indent="0" marL="0">
              <a:buNone/>
            </a:pPr>
            <a:r>
              <a:rPr lang="en-US" sz="1150" dirty="0">
                <a:solidFill>
                  <a:srgbClr val="1F2A37"/>
                </a:solidFill>
                <a:latin typeface="Calibri" pitchFamily="34" charset="0"/>
                <a:cs typeface="Amiri" pitchFamily="2" charset="-78"/>
              </a:rPr>
              <a:t>‏, and a judgement.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D2-W01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SENTENCE BUILDER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D2-W01 · Apply workshop (D2-L01 + D2-L02)</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sister is very patient.</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أُخْتِي</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أَخِي</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صَبُورَةٌ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صَبُورٌ</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جِدًّا.</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جِدًّا جِدًّا.</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respect my teacher because she supports me.</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أَحْتَرِمُ مُعَلِّمَتِي</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أَحْتَرِمُ مُعَلِّمَتِيَ</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لِأَنَّهَا</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لِأَنَّهُ</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تَدْعَمُنِي.</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يَدْعَمُنِي.</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He isn’t selfish, because he shares everything.</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لَيْسَ أَنَانِيًّا،</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لَيْسَ أَنَانِيٌّ،</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لِأَنَّهُ</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لِأَنَّهَا</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يُشَارِكُ كُلَّ شَيْءٍ.</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تُشَارِكُ كُلَّ شَيْءٍ.</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D2-W01 · Apply workshop (D2-L01 + D2-L02)</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sister is very patient.</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Sister (f.) → </a:t>
            </a:r>
            <a:pPr algn="l" indent="0" marL="0">
              <a:buNone/>
            </a:pPr>
            <a:r>
              <a:rPr lang="ar-SA" altLang="en-US" sz="1350" dirty="0">
                <a:solidFill>
                  <a:srgbClr val="5A6472"/>
                </a:solidFill>
                <a:latin typeface="Amiri" pitchFamily="2" charset="-78"/>
                <a:ea typeface="Amiri" pitchFamily="2" charset="-78"/>
                <a:cs typeface="Amiri" pitchFamily="2" charset="-78"/>
              </a:rPr>
              <a:t>صَبُورَةٌ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أُخْتِي صَبُورَةٌ جِدًّا.</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respect my teacher because she supports me.</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Teacher (f.) → </a:t>
            </a:r>
            <a:pPr algn="l" indent="0" marL="0">
              <a:buNone/>
            </a:pPr>
            <a:r>
              <a:rPr lang="ar-SA" altLang="en-US" sz="1350" dirty="0">
                <a:solidFill>
                  <a:srgbClr val="5A6472"/>
                </a:solidFill>
                <a:latin typeface="Amiri" pitchFamily="2" charset="-78"/>
                <a:ea typeface="Amiri" pitchFamily="2" charset="-78"/>
                <a:cs typeface="Amiri" pitchFamily="2" charset="-78"/>
              </a:rPr>
              <a:t>لِأَنَّهَا</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تَدْعَمُنِي</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أَحْتَرِمُ مُعَلِّمَتِي لِأَنَّهَا تَدْعَمُنِي.</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He isn’t selfish, because he shares everything.</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لَيْسَ</a:t>
            </a:r>
            <a:pPr algn="l" indent="0" marL="0">
              <a:buNone/>
            </a:pPr>
            <a:r>
              <a:rPr lang="en-US" sz="1050" i="1" dirty="0">
                <a:solidFill>
                  <a:srgbClr val="5A6472"/>
                </a:solidFill>
                <a:latin typeface="Calibri" pitchFamily="34" charset="0"/>
                <a:cs typeface="Amiri" pitchFamily="2" charset="-78"/>
              </a:rPr>
              <a:t> + accusative (</a:t>
            </a:r>
            <a:pPr algn="l" indent="0" marL="0">
              <a:buNone/>
            </a:pPr>
            <a:r>
              <a:rPr lang="ar-SA" altLang="en-US" sz="1350" dirty="0">
                <a:solidFill>
                  <a:srgbClr val="5A6472"/>
                </a:solidFill>
                <a:latin typeface="Amiri" pitchFamily="2" charset="-78"/>
                <a:ea typeface="Amiri" pitchFamily="2" charset="-78"/>
                <a:cs typeface="Amiri" pitchFamily="2" charset="-78"/>
              </a:rPr>
              <a:t>أَنَانِيًّا</a:t>
            </a:r>
            <a:pPr algn="l" indent="0" marL="0">
              <a:buNone/>
            </a:pPr>
            <a:r>
              <a:rPr lang="en-US" sz="1050" i="1" dirty="0">
                <a:solidFill>
                  <a:srgbClr val="5A6472"/>
                </a:solidFill>
                <a:latin typeface="Calibri" pitchFamily="34" charset="0"/>
                <a:cs typeface="Amiri" pitchFamily="2" charset="-78"/>
              </a:rPr>
              <a:t>); he → </a:t>
            </a:r>
            <a:pPr algn="l" indent="0" marL="0">
              <a:buNone/>
            </a:pPr>
            <a:r>
              <a:rPr lang="ar-SA" altLang="en-US" sz="1350" dirty="0">
                <a:solidFill>
                  <a:srgbClr val="5A6472"/>
                </a:solidFill>
                <a:latin typeface="Amiri" pitchFamily="2" charset="-78"/>
                <a:ea typeface="Amiri" pitchFamily="2" charset="-78"/>
                <a:cs typeface="Amiri" pitchFamily="2" charset="-78"/>
              </a:rPr>
              <a:t>لِأَنَّهُ يُ</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لَيْسَ أَنَانِيًّا، لِأَنَّهُ يُشَارِكُ كُلَّ شَيْءٍ.</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D2-W01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AND FIX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D2-W01 · Apply workshop (D2-L01 + D2-L02)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أُمِّي صَبُورٌ وَكَرِيمٌ.</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Mother → ?</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أَثِقُ صَدِيقَتِي.</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preposition?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لَيْسَتْ أُخْتِي خَجُولَةٌ.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t>
            </a:r>
            <a:pPr algn="l" indent="0" marL="0">
              <a:buNone/>
            </a:pPr>
            <a:r>
              <a:rPr lang="ar-SA" altLang="en-US" sz="1700" dirty="0">
                <a:solidFill>
                  <a:srgbClr val="5A6472"/>
                </a:solidFill>
                <a:latin typeface="Amiri" pitchFamily="2" charset="-78"/>
                <a:ea typeface="Amiri" pitchFamily="2" charset="-78"/>
                <a:cs typeface="Amiri" pitchFamily="2" charset="-78"/>
              </a:rPr>
              <a:t>لَيْسَ / لَيْسَتْ</a:t>
            </a:r>
            <a:pPr algn="l" indent="0" marL="0">
              <a:buNone/>
            </a:pPr>
            <a:r>
              <a:rPr lang="en-US" sz="1300" i="1" dirty="0">
                <a:solidFill>
                  <a:srgbClr val="5A6472"/>
                </a:solidFill>
                <a:latin typeface="Calibri" pitchFamily="34" charset="0"/>
                <a:cs typeface="Amiri" pitchFamily="2" charset="-78"/>
              </a:rPr>
              <a:t> …</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D2-W01 · Apply workshop (D2-L01 + D2-L02)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أُمِّي صَبُورٌ وَكَرِيمٌ.</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أُمِّي صَبُورَةٌ وَكَرِيمَةٌ.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subject → add tāʾ marbūṭa.</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أَثِقُ صَدِيقَتِي.</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أَثِقُ بِصَدِيقَتِي.</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t>
            </a:r>
            <a:pPr algn="l" indent="0" marL="0">
              <a:buNone/>
            </a:pPr>
            <a:r>
              <a:rPr lang="ar-SA" altLang="en-US" sz="1500" b="1" dirty="0">
                <a:solidFill>
                  <a:srgbClr val="1B3B6F"/>
                </a:solidFill>
                <a:latin typeface="Amiri" pitchFamily="2" charset="-78"/>
                <a:ea typeface="Amiri" pitchFamily="2" charset="-78"/>
                <a:cs typeface="Amiri" pitchFamily="2" charset="-78"/>
              </a:rPr>
              <a:t>أَثِقُ</a:t>
            </a:r>
            <a:pPr algn="l" indent="0" marL="0">
              <a:buNone/>
            </a:pPr>
            <a:r>
              <a:rPr lang="en-US" sz="1150" b="1" dirty="0">
                <a:solidFill>
                  <a:srgbClr val="1B3B6F"/>
                </a:solidFill>
                <a:latin typeface="Calibri" pitchFamily="34" charset="0"/>
                <a:cs typeface="Amiri" pitchFamily="2" charset="-78"/>
              </a:rPr>
              <a:t>‏ + bi-.</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لَيْسَتْ أُخْتِي خَجُولَةٌ.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لَيْسَتْ أُخْتِي خَجُولَةً.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t>
            </a:r>
            <a:pPr algn="l" indent="0" marL="0">
              <a:buNone/>
            </a:pPr>
            <a:r>
              <a:rPr lang="ar-SA" altLang="en-US" sz="1500" b="1" dirty="0">
                <a:solidFill>
                  <a:srgbClr val="1B3B6F"/>
                </a:solidFill>
                <a:latin typeface="Amiri" pitchFamily="2" charset="-78"/>
                <a:ea typeface="Amiri" pitchFamily="2" charset="-78"/>
                <a:cs typeface="Amiri" pitchFamily="2" charset="-78"/>
              </a:rPr>
              <a:t>لَيْسَتْ</a:t>
            </a:r>
            <a:pPr algn="l" indent="0" marL="0">
              <a:buNone/>
            </a:pPr>
            <a:r>
              <a:rPr lang="en-US" sz="1150" b="1" dirty="0">
                <a:solidFill>
                  <a:srgbClr val="1B3B6F"/>
                </a:solidFill>
                <a:latin typeface="Calibri" pitchFamily="34" charset="0"/>
                <a:cs typeface="Amiri" pitchFamily="2" charset="-78"/>
              </a:rPr>
              <a:t>‏ makes the adjective accusative: ‏</a:t>
            </a:r>
            <a:pPr algn="l" indent="0" marL="0">
              <a:buNone/>
            </a:pPr>
            <a:r>
              <a:rPr lang="ar-SA" altLang="en-US" sz="1500" b="1" dirty="0">
                <a:solidFill>
                  <a:srgbClr val="1B3B6F"/>
                </a:solidFill>
                <a:latin typeface="Amiri" pitchFamily="2" charset="-78"/>
                <a:ea typeface="Amiri" pitchFamily="2" charset="-78"/>
                <a:cs typeface="Amiri" pitchFamily="2" charset="-78"/>
              </a:rPr>
              <a:t>خَجُولَةً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D2-W01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D2-W01 · Apply workshop (D2-L01 + D2-L02)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نَتَشَاجَرُ أَحْيَانًا، ثُمَّ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sometimes argue, then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فِي رَأْيِي العَلَاقَةُ القَوِيَّةُ تَحْتَاجُ إِلَى ______ .</a:t>
            </a:r>
            <a:endParaRPr lang="ar-SA" sz="16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opinion a strong relationship needs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أُخْتِي / أُمِّي ______ جِدًّا وَ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sister / mother is very … and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صَدِيقِي ______ ، وَلَيْسَ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friend is …, and he is not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أَتَفَاهَمُ مَعَ ______ لِأَنَّ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get on with … because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أَثِقُ بِصَدِيقِي / بِأُمِّي لِأَنَّهُ / لِأَنَّهَا ______ .</a:t>
            </a:r>
            <a:endParaRPr lang="ar-SA" sz="17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trust my friend / my mother because he / she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صَبُورٌ · صَبُورَةٌ  ·  صَادِقٌ · مَرِحَةٌ  ·  خَجُولٌ · أَنَانِيٌّ  ·  جِدًّا · نَوْعًا مَا  ·  لَيْسَ · لَيْسَتْ  ·  أَتَفَاهَمُ مَعَ  ·  أَثِقُ بِهِ · بِهَا  ·  يَدْعَمُنِي · أَحْتَرِمُهَا</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D2-W01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A forum post: the people who support me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يَدْعَمُنِي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D2-W01 · Apply workshop (D2-L01 + D2-L02)</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050" b="1" dirty="0">
                <a:solidFill>
                  <a:srgbClr val="1F2A37"/>
                </a:solidFill>
                <a:latin typeface="Calibri" pitchFamily="34" charset="0"/>
                <a:cs typeface="Amiri" pitchFamily="2" charset="-78"/>
              </a:rPr>
              <a:t>Write a forum post (about 60–80 words). Include: • a friend and a family member (one male, one female), with three qualities each and correct agreement • one quality made stronger and one softer • a negative with ‏</a:t>
            </a:r>
            <a:pPr algn="l" indent="0" marL="0">
              <a:buNone/>
            </a:pPr>
            <a:r>
              <a:rPr lang="ar-SA" altLang="en-US" sz="1350" b="1" dirty="0">
                <a:solidFill>
                  <a:srgbClr val="1F2A37"/>
                </a:solidFill>
                <a:latin typeface="Amiri" pitchFamily="2" charset="-78"/>
                <a:ea typeface="Amiri" pitchFamily="2" charset="-78"/>
                <a:cs typeface="Amiri" pitchFamily="2" charset="-78"/>
              </a:rPr>
              <a:t>لَيْسَ / لَيْسَتْ</a:t>
            </a:r>
            <a:pPr algn="l" indent="0" marL="0">
              <a:buNone/>
            </a:pPr>
            <a:r>
              <a:rPr lang="en-US" sz="1050" b="1" dirty="0">
                <a:solidFill>
                  <a:srgbClr val="1F2A37"/>
                </a:solidFill>
                <a:latin typeface="Calibri" pitchFamily="34" charset="0"/>
                <a:cs typeface="Amiri" pitchFamily="2" charset="-78"/>
              </a:rPr>
              <a:t>‏ • how you get on with them, and someone you trust, with reasons • one disagreement and how you made up • what makes a strong relationship.</a:t>
            </a:r>
            <a:endParaRPr lang="en-US" sz="10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Language from D2-L01 AND D2-L02.</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هِيَ صَبُورَةٌ جِدًّا · هُوَ خَجُولٌ نَوْعًا مَا</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she is very patient · he is rather shy</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لَيْسَ أَنَانِيًّا · لَيْسَتْ أَنَانِيَّةً</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 she is not selfish</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أَتَفَاهَمُ مَعَ … · أَثِقُ بِصَدِيقِي</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get on with … · I trust my friend</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نَتَشَاجَرُ أَحْيَانًا ثُمَّ نَتَصَالَحُ</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sometimes argue, then make up</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D2-W01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D2-W01 · Apply workshop (D2-L01 + D2-L02)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make every adjective agree (m. / f. / pl.)?</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object suffixes (‏</a:t>
            </a:r>
            <a:pPr algn="l" indent="0" marL="0">
              <a:buNone/>
            </a:pPr>
            <a:r>
              <a:rPr lang="ar-SA" altLang="en-US" sz="1450" dirty="0">
                <a:solidFill>
                  <a:srgbClr val="5A6472"/>
                </a:solidFill>
                <a:latin typeface="Amiri" pitchFamily="2" charset="-78"/>
                <a:ea typeface="Amiri" pitchFamily="2" charset="-78"/>
                <a:cs typeface="Amiri" pitchFamily="2" charset="-78"/>
              </a:rPr>
              <a:t>يَدْعَمُنِي</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أَحْتَرِمُهُ</a:t>
            </a:r>
            <a:pPr algn="l" indent="0" marL="0">
              <a:buNone/>
            </a:pPr>
            <a:r>
              <a:rPr lang="en-US" sz="1100" dirty="0">
                <a:solidFill>
                  <a:srgbClr val="5A6472"/>
                </a:solidFill>
                <a:latin typeface="Calibri" pitchFamily="34" charset="0"/>
                <a:cs typeface="Amiri" pitchFamily="2" charset="-78"/>
              </a:rPr>
              <a:t>‏) and give a reason every time?</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D2-W01 · Apply workshop (D2-L01 + D2-L02)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أَنَا مُجْتَهِدٌ جِدًّا، وَخَجُولٌ نَوْعًا مَا.</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am very hard-working, and rather shy.</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شَخْصِيَّتُكَ؟</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أَتَفَاهَمُ مَعَ أَبِي لِأَنَّهُ هَادِئٌ وَيَسْمَعُنِي دَائِمًا.</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get on with my father because he is calm and always listens to me.</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مَعَ مَنْ تَتَفَاهَمُ فِي عَائِلَتِكَ؟ لِمَاذَا؟</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أَثِقُ بِصَدِيقِي عَلِيٍّ، لِأَنَّهُ صَادِقٌ وَلَا يَكْذِبُ أَبَدًا.</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trust my friend Ali, because he is honest and never lies.</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تَثِقُ بِهِ خَارِجَ العَائِلَةِ؟</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أَخْتَلِفُ مَعَ أَخِي الصَّغِيرِ، وَلٰكِنَّنَا نَتَصَالَحُ بَعْدَ سَاعَةٍ؛ أَعْتَذِرُ لَهُ وَأَلْعَبُ مَعَهُ.</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I disagree with my little brother, but we make up after an hour; I apologise to him and play with him.</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تَخْتَلِفُ مَعَ أَحَدٍ أَحْيَانًا؟ كَيْفَ تَتَصَالَحَانِ؟</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أُحِبُّ الصَّدِيقَ الأَنَانِيَّ، لِأَنَّهُ لَا يُفَكِّرُ فِي الآخَرِينَ.</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don’t like a selfish friend, because he does not think about others.</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الصِّفَةُ الَّتِي لَا تُحِبُّهَا فِي الصَّدِيقِ؟</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D2-W01 · Apply workshop (D2-L01 + D2-L02)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أَكْثَرُ شَخْصَيْنِ يَدْعَمَانِنِي هُمَا أُخْتِي الكُبْرَى وَصَدِيقِي يُوسُفُ. أُخْتِي صَبُورَةٌ جِدًّا وَذَكِيَّةٌ، وَلَيْسَتْ عَصَبِيَّةً أَبَدًا؛ تَشْرَحُ لِي الرِّيَاضِيَّاتِ كُلَّ مَسَاءٍ. أَتَفَاهَمُ مَعَهَا لِأَنَّهَا تَسْمَعُنِي. أَمَّا يُوسُفُ فَهُوَ مَرِحٌ وَصَادِقٌ، وَخَجُولٌ نَوْعًا مَا. أَثِقُ بِهِ لِأَنَّهُ لَا يَكْذِبُ أَبَدًا. أَحْيَانًا نَتَشَاجَرُ بِسَبَبِ كُرَةِ القَدَمِ، ثُمَّ نَتَصَالَحُ بِسُرْعَةٍ. فِي رَأْيِي العَلَاقَةُ القَوِيَّةُ تَحْتَاجُ إِلَى الثِّقَةِ وَالاحْتِرَامِ.</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“The two people who support me most are my older sister and my friend Yusuf. My sister is very patient and clever, and never short-tempered; she explains maths to me every evening. I get on with her because she listens to me. As for Yusuf, he is cheerful and honest, and rather shy. I trust him because he never lies. Sometimes we argue about football, then we make up quickly. In my opinion a strong relationship needs trust and respect.”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صَبُورَةٌ جِدًّا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لَيْسَتْ عَصَبِيَّةً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أَثِقُ بِهِ</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نَتَشَاجَرُ بِسَبَبِ</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D2-W01 · Apply workshop (D2-L01 + D2-L02)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questions from D2-L01 and D2-L02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language from BOTH lessons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D2-W01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D2-L03 · Clothes and Accessories — Vocabulary and Shopping</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المَلَابِسُ وَالإِكْسِسْوَارَاتُ — المُفْرَدَاتُ وَالتَّسَوُّقُ</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week’s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D2-W01 · Apply Workshop — Who Supports Me? A Friendship Forum</dc:title>
  <dc:subject>PptxGenJS Presentation</dc:subject>
  <dc:creator>Al Madina Online School · Arabic Department</dc:creator>
  <cp:lastModifiedBy>Al Madina Online School · Arabic Department</cp:lastModifiedBy>
  <cp:revision>1</cp:revision>
  <dcterms:created xsi:type="dcterms:W3CDTF">2026-10-26T15:28:45Z</dcterms:created>
  <dcterms:modified xsi:type="dcterms:W3CDTF">2026-10-26T15:28:45Z</dcterms:modified>
</cp:coreProperties>
</file>