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D2-L01 · Learn D2-L02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D2-L01 (Personality Adjectives — What Is He / She Like?) and D2-L02 (Relationships — Family, Friends and How We Get On).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D2-L01 and D2-L02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D2-L01? After D2-L02?” Take two answers in the chat for each lesson (one word or one sentence is enough). Then read objective 3 — today’s new situation that needs BOTH lessons. Students tick their route goals at the end of the lesson.
D2-L01 language: adjective agreement: masculine (ṣabūrun) · feminine with tāʾ marbūṭa (ṣabūratun) · plural (mujtahidūna / mujtahidātun); intensity: jiddan · nawʿan mā · laysa / laysat … ; evidence with li-annahu / li-annahā + a behaviour
D2-L02 language: relationship verbs with their prepositions (atafāhamu maʿa · akhtalifu maʿa · athiqu bi- · aḥtarimu); object suffixes (yadʿamunī · aḥtarimuhā · usāʿiduhu); reciprocal we-verbs (natashājaru · natasālaḥu); always give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D2-L01.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D2-L02.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D2-L01 and D2-L02. Teacher reads it once with a confident student; then pairs. Ask: “Which lines are from D2-L01? Which from D2-L02?” Personality adjectives with agreement, intensity and لَيْسَتْ + -an (لَيْسَتْ أَنَانِيَّةً) come from D2-L01; relationship verbs with prepositions (أَتَفَاهَمُ مَعَ · أَثِقُ بِهَا) and نَتَشَاجَرُ / نَتَصَالَحُ from D2-L02.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personality adjectives with agreement, intensity and evidence (D2-L01) with relationship verbs, object suffixes and making up (D2-L02). FADED SUPPORT: tasks 1–2 show the plan; students write their own plan for 3–5. To a girl Partner A says: كَيْفَ شَخْصِيَّتُكِ؟ · مَعَ مَنْ تَتَفَاهَمِينَ؟ · مَنْ تَثِقِينَ بِهِ؟ — and she answers: أَنَا مُجْتَهِدَةٌ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D2-L01 and D2-L02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D2-L01 and D2-L02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(54 words). CHECK YOURSELF (2 min). Find each bullet point in the model, and one phrase from D2-L01 and one from D2-L02.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D2-L01 + D2-L02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D2-W01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Who Supports Me? A Friendship Forum</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مَنْ يَدْعَمُنِي؟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personality with relationships: on a teen forum about “the people who support me” they describe a friend and a family member (agreement, intensity, evidence), say how they get on, trust and make up, and write a forum post that uses both lessons.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D2-L01 + D2-L02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D2-L01 and D2-L02.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D2-L01 + D2-L02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D2-L01: Personality Adjectives — What Is He / She Like?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D2-L02: Relationships — Family, Friends and How We Get 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forum interview · A forum post: the people who support me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D2-L01 and D2-L02.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D2-L01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D2-L01 · Personality Adjectives — What Is He / She Like?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 / مُجْتَهِدَةٌ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هَادِئٌ / هَادِئَةٌ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2" name="Text 8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93" name="Text 9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94" name="Shape 9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2"/>
          <p:cNvSpPr/>
          <p:nvPr/>
        </p:nvSpPr>
        <p:spPr>
          <a:xfrm>
            <a:off x="566928" y="4261104"/>
            <a:ext cx="310896" cy="310896"/>
          </a:xfrm>
          <a:prstGeom prst="ellipse">
            <a:avLst/>
          </a:prstGeom>
          <a:solidFill>
            <a:srgbClr val="F4F1EA"/>
          </a:solidFill>
          <a:ln w="12700">
            <a:solidFill>
              <a:srgbClr val="F4F1EA"/>
            </a:solidFill>
            <a:prstDash val="solid"/>
          </a:ln>
        </p:spPr>
      </p:sp>
      <p:sp>
        <p:nvSpPr>
          <p:cNvPr id="96" name="Text 9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7" name="Shape 94"/>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98" name="Text 95"/>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9" name="Text 9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وَاثِقٌ / وَاثِقَةٌ</a:t>
            </a:r>
            <a:endParaRPr lang="ar-SA" sz="3000" dirty="0"/>
          </a:p>
        </p:txBody>
      </p:sp>
      <p:sp>
        <p:nvSpPr>
          <p:cNvPr id="100" name="Text 9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confident</a:t>
            </a:r>
            <a:endParaRPr lang="en-US" sz="1350" dirty="0"/>
          </a:p>
          <a:p>
            <a:pPr indent="0" marL="0">
              <a:buNone/>
            </a:pPr>
            <a:r>
              <a:rPr lang="en-US" sz="1100" i="1" dirty="0">
                <a:solidFill>
                  <a:srgbClr val="5A6472"/>
                </a:solidFill>
                <a:latin typeface="Calibri" pitchFamily="34" charset="0"/>
                <a:cs typeface="Amiri" pitchFamily="2" charset="-78"/>
              </a:rPr>
              <a:t>wā-thi-qun / wā-thi-qa-tun</a:t>
            </a:r>
            <a:endParaRPr lang="en-US" sz="1350" dirty="0"/>
          </a:p>
        </p:txBody>
      </p:sp>
      <p:sp>
        <p:nvSpPr>
          <p:cNvPr id="101" name="Shape 98"/>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2" name="Text 99"/>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3" name="Text 100"/>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وَاثِقُونَ</a:t>
            </a:r>
            <a:endParaRPr lang="ar-SA" sz="1500" dirty="0"/>
          </a:p>
        </p:txBody>
      </p:sp>
      <p:sp>
        <p:nvSpPr>
          <p:cNvPr id="104" name="Shape 101"/>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6" name="Text 103"/>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وَاثِقَةٌ</a:t>
            </a:r>
            <a:endParaRPr lang="ar-SA" sz="1500" dirty="0"/>
          </a:p>
        </p:txBody>
      </p:sp>
      <p:sp>
        <p:nvSpPr>
          <p:cNvPr id="107" name="Shape 104"/>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9" name="Text 106"/>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a:t>
            </a:r>
            <a:endParaRPr lang="ar-SA" sz="150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D2-L02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D2-L02 · Relationships — Family, Friends and How We Get 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أَتَفَاهَمُ مَعَ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on with</a:t>
            </a:r>
            <a:endParaRPr lang="en-US" sz="1350" dirty="0"/>
          </a:p>
          <a:p>
            <a:pPr indent="0" marL="0">
              <a:buNone/>
            </a:pPr>
            <a:r>
              <a:rPr lang="en-US" sz="1100" i="1" dirty="0">
                <a:solidFill>
                  <a:srgbClr val="5A6472"/>
                </a:solidFill>
                <a:latin typeface="Calibri" pitchFamily="34" charset="0"/>
                <a:cs typeface="Amiri" pitchFamily="2" charset="-78"/>
              </a:rPr>
              <a:t>a-ta-fā-ha-mu ma-ʿa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نَتَفَاهَمُ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تَتَفَاهَمُ</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يَتَفَاهَمُ</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him · her · them</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أَحْتَرِمُ</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respect</a:t>
            </a:r>
            <a:endParaRPr lang="en-US" sz="1350" dirty="0"/>
          </a:p>
          <a:p>
            <a:pPr indent="0" marL="0">
              <a:buNone/>
            </a:pPr>
            <a:r>
              <a:rPr lang="en-US" sz="1100" i="1" dirty="0">
                <a:solidFill>
                  <a:srgbClr val="5A6472"/>
                </a:solidFill>
                <a:latin typeface="Calibri" pitchFamily="34" charset="0"/>
                <a:cs typeface="Amiri" pitchFamily="2" charset="-78"/>
              </a:rPr>
              <a:t>aḥ-ta-ri-mu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them</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أَحْتَرِمُهُمْ</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أَحْتَرِمُهَا</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أَحْتَرِمُهُ</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تَدْعَمُنِي</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supports me</a:t>
            </a:r>
            <a:endParaRPr lang="en-US" sz="1350" dirty="0"/>
          </a:p>
          <a:p>
            <a:pPr indent="0" marL="0">
              <a:buNone/>
            </a:pPr>
            <a:r>
              <a:rPr lang="en-US" sz="1100" i="1" dirty="0">
                <a:solidFill>
                  <a:srgbClr val="5A6472"/>
                </a:solidFill>
                <a:latin typeface="Calibri" pitchFamily="34" charset="0"/>
                <a:cs typeface="Amiri" pitchFamily="2" charset="-78"/>
              </a:rPr>
              <a:t>tad-ʿa-mu-nī</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نَتَصَالَحُ</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make up</a:t>
            </a:r>
            <a:endParaRPr lang="en-US" sz="1350" dirty="0"/>
          </a:p>
          <a:p>
            <a:pPr indent="0" marL="0">
              <a:buNone/>
            </a:pPr>
            <a:r>
              <a:rPr lang="en-US" sz="1100" i="1" dirty="0">
                <a:solidFill>
                  <a:srgbClr val="5A6472"/>
                </a:solidFill>
                <a:latin typeface="Calibri" pitchFamily="34" charset="0"/>
                <a:cs typeface="Amiri" pitchFamily="2" charset="-78"/>
              </a:rPr>
              <a:t>na-ta-ṣā-la-ḥu</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8" name="Shape 6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Shape 6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2" name="Text 6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صَدِيقٌ مُقَرَّبٌ</a:t>
            </a:r>
            <a:endParaRPr lang="ar-SA" sz="3000" dirty="0"/>
          </a:p>
        </p:txBody>
      </p:sp>
      <p:sp>
        <p:nvSpPr>
          <p:cNvPr id="73" name="Text 7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close friend</a:t>
            </a:r>
            <a:endParaRPr lang="en-US" sz="1350" dirty="0"/>
          </a:p>
          <a:p>
            <a:pPr indent="0" marL="0">
              <a:buNone/>
            </a:pPr>
            <a:r>
              <a:rPr lang="en-US" sz="1100" i="1" dirty="0">
                <a:solidFill>
                  <a:srgbClr val="5A6472"/>
                </a:solidFill>
                <a:latin typeface="Calibri" pitchFamily="34" charset="0"/>
                <a:cs typeface="Amiri" pitchFamily="2" charset="-78"/>
              </a:rPr>
              <a:t>ṣa-dī-qun mu-qar-ra-bun</a:t>
            </a:r>
            <a:endParaRPr lang="en-US" sz="1350" dirty="0"/>
          </a:p>
        </p:txBody>
      </p:sp>
      <p:sp>
        <p:nvSpPr>
          <p:cNvPr id="74" name="Shape 7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أَصْدِقَاءُ مُقَرَّبُونَ</a:t>
            </a:r>
            <a:endParaRPr lang="ar-SA" sz="1450" dirty="0"/>
          </a:p>
        </p:txBody>
      </p:sp>
      <p:sp>
        <p:nvSpPr>
          <p:cNvPr id="77" name="Shape 7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9" name="Text 7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صَدِيقَةٌ مُقَرَّبَةٌ</a:t>
            </a:r>
            <a:endParaRPr lang="ar-SA" sz="1500" dirty="0"/>
          </a:p>
        </p:txBody>
      </p:sp>
      <p:sp>
        <p:nvSpPr>
          <p:cNvPr id="80" name="Shape 7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2" name="Text 7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صَدِيقٌ مُقَرَّبٌ</a:t>
            </a:r>
            <a:endParaRPr lang="ar-SA" sz="1500" dirty="0"/>
          </a:p>
        </p:txBody>
      </p:sp>
      <p:sp>
        <p:nvSpPr>
          <p:cNvPr id="83" name="Shape 8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566928"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6" name="Text 8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87" name="Text 8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 جِدًّا · هِيَ … نَوْعًا مَا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أَتَفَاهَمُ مَعَ … لِأَنَّ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أَثِقُ بِصَدِيقِي / بِأُمِّي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 / لَيْسَتْ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 يُسَاعِدُ … · لِأَنَّهَا تَسْمَعُ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نَتَشَاجَرُ أَحْيَانًا ثُمَّ نَتَصَالَحُ</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فِي رَأْيِي العَلَاقَةُ القَوِيَّةُ تَحْتَاجُ إِلَى …</a:t>
            </a:r>
            <a:endParaRPr lang="ar-SA" sz="14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وَلٰكِنَّهُ / وَلٰكِنَّهَا أَحْيَانًا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D2-L01 · Personality Adjectives — What Is He / She Like?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D2-L02 · Relationships — Family, Friends and How We Get On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D2-L01 · Personality Adjectives — What Is He / She Like?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 جِدًّا · هِيَ … نَوْعًا مَا</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 / لَيْسَتْ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 يُسَاعِدُ … · لِأَنَّهَا تَسْمَعُ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وَلٰكِنَّهُ / وَلٰكِنَّهَا أَحْيَانًا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D2-L02 · Relationships — Family, Friends and How We Get On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أَتَفَاهَمُ مَعَ … لِأَنَّ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أَثِقُ بِصَدِيقِي / بِأُمِّي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نَتَشَاجَرُ أَحْيَانًا ثُمَّ نَتَصَالَحُ</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العَلَاقَةُ القَوِيَّةُ تَحْتَاجُ إِلَى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 the forum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المُنْتَدَى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supports you in your studies?</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 يَدْعَمُكِ فِي الدِّرَاسَةِ؟</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older sister supports me, because she is very patient and explains everything to me.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أُخْتِي الكُبْرَى تَدْعَمُنِي، لِأَنَّهَا صَبُورَةٌ جِدًّا وَتَشْرَحُ لِي كُلَّ شَيْءٍ.</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do you always get on with her?</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وَهَلْ تَتَفَاهَمِينَ مَعَهَا دَائِمًا؟</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Usually, but we sometimes argue and then make up quickly.</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غَالِبًا، وَلٰكِنَّنَا نَتَشَاجَرُ أَحْيَانًا ثُمَّ نَتَصَالَحُ بِسُرْعَةٍ.</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your close friend?</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وَصَدِيقَتُكِ المُقَرَّبَةُ؟</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trust her a lot; she is honest and cheerful, and never selfish.</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أَثِقُ بِهَا كَثِيرًا؛ هِيَ صَادِقَةٌ وَمَرِحَةٌ، وَلَيْسَتْ أَنَانِيَّةً أَبَدًا.</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لِأَنَّنِي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 وَ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personality like?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شَخْصِيَّتُكَ؟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مَثَلًا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أَتَفَاهَمُ مَعَ … لِأَنَّهُ / لِأَنَّهَا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do you get on with in your family? Why?</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مَعَ مَنْ تَتَفَاهَمُ فِي عَائِلَتِكَ؟ لِمَاذَا؟</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لِأَنَّهَا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أُمِّي صَبُورَةٌ جِدًّا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the most patient person in your family?</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أَكْثَرُ شَخْصٍ صَبُورٍ فِي عَائِلَتِكَ؟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وَلٰكِنْ نَتَصَالَحُ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أَخْتَلِفُ مَعَ … عَلَى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do you sometimes disagree with?</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مَعَ مَنْ تَخْتَلِفُ أَحْيَانًا؟</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وَلٰكِنَّهُ أَحْيَانًا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صَدِيقِي … وَ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close friend.</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صَدِيقَكَ المُقَرَّبَ.</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عِنْدَمَا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يَدْعَمُنِي … / تَدْعَمُنِي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supports you in your studies?</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يَدْعَمُكَ فِي الدِّرَاسَةِ؟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D2-L01, even numbers from D2-L02.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Role-play card — the forum interview</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المُنْتَدَى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أَنَا … جِدًّا وَ… نَوْعًا مَا</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qualities: one strong, one soft.</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شَخْصِيَّتُكَ؟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مَعَ مَنْ ← أَتَفَاهَمُ مَعَ … لِأَنَّهُ / لِأَنَّهَا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person + a reason with evidence.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مَعَ مَنْ تَتَفَاهَمُ فِي عَائِلَتِكَ؟ لِمَاذَا؟</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 friend and give evidence.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تَثِقُ بِهِ خَارِجَ العَائِلَةِ؟</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disagreement and how you make up.</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تَخْتَلِفُ مَعَ أَحَدٍ أَحْيَانًا؟ كَيْفَ تَتَصَالَحَانِ؟</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negative quality with a reason.</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الصِّفَةُ الَّتِي لَا تُحِبُّهَا فِي الصَّدِيقِ؟</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forum member · Partner A = the forum moderator.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people who support 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شَخْصَانِ يَدْعَمَانِنِي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about two people who support you — one male, one female: their personalities (with evidence), how you get on with each one, one disagreement and how you made up, and what makes a strong relationship in your opinion.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هُوَ … · هِيَ … · أَتَفَاهَمُ مَعَ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evidence with ‏</a:t>
            </a:r>
            <a:pPr algn="l" indent="0" marL="0">
              <a:buNone/>
            </a:pPr>
            <a:r>
              <a:rPr lang="ar-SA" altLang="en-US" sz="1500" dirty="0">
                <a:solidFill>
                  <a:srgbClr val="1F2A37"/>
                </a:solidFill>
                <a:latin typeface="Amiri" pitchFamily="2" charset="-78"/>
                <a:ea typeface="Amiri" pitchFamily="2" charset="-78"/>
                <a:cs typeface="Amiri" pitchFamily="2" charset="-78"/>
              </a:rPr>
              <a:t>لِأَنَّهُ / لِأَنَّهَا</a:t>
            </a:r>
            <a:pPr algn="l" indent="0" marL="0">
              <a:buNone/>
            </a:pPr>
            <a:r>
              <a:rPr lang="en-US" sz="1150" dirty="0">
                <a:solidFill>
                  <a:srgbClr val="1F2A37"/>
                </a:solidFill>
                <a:latin typeface="Calibri" pitchFamily="34" charset="0"/>
                <a:cs typeface="Amiri" pitchFamily="2" charset="-78"/>
              </a:rPr>
              <a:t>‏ and two object suffixes (‏</a:t>
            </a:r>
            <a:pPr algn="l" indent="0" marL="0">
              <a:buNone/>
            </a:pPr>
            <a:r>
              <a:rPr lang="ar-SA" altLang="en-US" sz="1500" dirty="0">
                <a:solidFill>
                  <a:srgbClr val="1F2A37"/>
                </a:solidFill>
                <a:latin typeface="Amiri" pitchFamily="2" charset="-78"/>
                <a:ea typeface="Amiri" pitchFamily="2" charset="-78"/>
                <a:cs typeface="Amiri" pitchFamily="2" charset="-78"/>
              </a:rPr>
              <a:t>يَدْعَمُنِي</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أَحْتَرِمُهَا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negative (‏</a:t>
            </a:r>
            <a:pPr algn="l" indent="0" marL="0">
              <a:buNone/>
            </a:pPr>
            <a:r>
              <a:rPr lang="ar-SA" altLang="en-US" sz="1500" dirty="0">
                <a:solidFill>
                  <a:srgbClr val="1F2A37"/>
                </a:solidFill>
                <a:latin typeface="Amiri" pitchFamily="2" charset="-78"/>
                <a:ea typeface="Amiri" pitchFamily="2" charset="-78"/>
                <a:cs typeface="Amiri" pitchFamily="2" charset="-78"/>
              </a:rPr>
              <a:t>لَيْسَ / لَيْسَتْ</a:t>
            </a:r>
            <a:pPr algn="l" indent="0" marL="0">
              <a:buNone/>
            </a:pPr>
            <a:r>
              <a:rPr lang="en-US" sz="1150" dirty="0">
                <a:solidFill>
                  <a:srgbClr val="1F2A37"/>
                </a:solidFill>
                <a:latin typeface="Calibri" pitchFamily="34" charset="0"/>
                <a:cs typeface="Amiri" pitchFamily="2" charset="-78"/>
              </a:rPr>
              <a:t>‏ + -an), ‏</a:t>
            </a:r>
            <a:pPr algn="l" indent="0" marL="0">
              <a:buNone/>
            </a:pPr>
            <a:r>
              <a:rPr lang="ar-SA" altLang="en-US" sz="1500" dirty="0">
                <a:solidFill>
                  <a:srgbClr val="1F2A37"/>
                </a:solidFill>
                <a:latin typeface="Amiri" pitchFamily="2" charset="-78"/>
                <a:ea typeface="Amiri" pitchFamily="2" charset="-78"/>
                <a:cs typeface="Amiri" pitchFamily="2" charset="-78"/>
              </a:rPr>
              <a:t>نَتَشَاجَرُ … ثُمَّ نَتَصَالَحُ</a:t>
            </a:r>
            <a:pPr algn="l" indent="0" marL="0">
              <a:buNone/>
            </a:pPr>
            <a:r>
              <a:rPr lang="en-US" sz="1150" dirty="0">
                <a:solidFill>
                  <a:srgbClr val="1F2A37"/>
                </a:solidFill>
                <a:latin typeface="Calibri" pitchFamily="34" charset="0"/>
                <a:cs typeface="Amiri" pitchFamily="2" charset="-78"/>
              </a:rPr>
              <a:t>‏, and a judgement.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sister is very patient.</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صَبُورَةٌ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صَبُورٌ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جِدًّا.</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جِدًّا جِدًّا.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respect my teacher because she supports me.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أَحْتَرِمُ مُعَلِّمَتِي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أَحْتَرِمُ مُعَلِّمَتِيَ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تَدْعَمُنِي.</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يَدْعَمُنِي.</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He isn’t selfish, because he shares everything.</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لَيْسَ أَنَانِيًّا،</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لَيْسَ أَنَانِيٌّ،</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يُشَارِكُ كُلَّ شَيْءٍ.</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تُشَارِكُ كُلَّ شَيْءٍ.</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sister is very patient.</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Sister (f.) → </a:t>
            </a:r>
            <a:pPr algn="l" indent="0" marL="0">
              <a:buNone/>
            </a:pPr>
            <a:r>
              <a:rPr lang="ar-SA" altLang="en-US" sz="1350" dirty="0">
                <a:solidFill>
                  <a:srgbClr val="5A6472"/>
                </a:solidFill>
                <a:latin typeface="Amiri" pitchFamily="2" charset="-78"/>
                <a:ea typeface="Amiri" pitchFamily="2" charset="-78"/>
                <a:cs typeface="Amiri" pitchFamily="2" charset="-78"/>
              </a:rPr>
              <a:t>صَبُورَةٌ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أُخْتِي صَبُورَةٌ جِدًّا.</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respect my teacher because she supports me.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Teacher (f.) → </a:t>
            </a:r>
            <a:pPr algn="l" indent="0" marL="0">
              <a:buNone/>
            </a:pPr>
            <a:r>
              <a:rPr lang="ar-SA" altLang="en-US" sz="1350" dirty="0">
                <a:solidFill>
                  <a:srgbClr val="5A6472"/>
                </a:solidFill>
                <a:latin typeface="Amiri" pitchFamily="2" charset="-78"/>
                <a:ea typeface="Amiri" pitchFamily="2" charset="-78"/>
                <a:cs typeface="Amiri" pitchFamily="2" charset="-78"/>
              </a:rPr>
              <a:t>لِأَنَّهَا</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تَدْعَمُنِي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أَحْتَرِمُ مُعَلِّمَتِي لِأَنَّهَا تَدْعَمُنِي.</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He isn’t selfish, because he shares everything.</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لَيْسَ</a:t>
            </a:r>
            <a:pPr algn="l" indent="0" marL="0">
              <a:buNone/>
            </a:pPr>
            <a:r>
              <a:rPr lang="en-US" sz="1050" i="1" dirty="0">
                <a:solidFill>
                  <a:srgbClr val="5A6472"/>
                </a:solidFill>
                <a:latin typeface="Calibri" pitchFamily="34" charset="0"/>
                <a:cs typeface="Amiri" pitchFamily="2" charset="-78"/>
              </a:rPr>
              <a:t> + accusative (</a:t>
            </a:r>
            <a:pPr algn="l" indent="0" marL="0">
              <a:buNone/>
            </a:pPr>
            <a:r>
              <a:rPr lang="ar-SA" altLang="en-US" sz="1350" dirty="0">
                <a:solidFill>
                  <a:srgbClr val="5A6472"/>
                </a:solidFill>
                <a:latin typeface="Amiri" pitchFamily="2" charset="-78"/>
                <a:ea typeface="Amiri" pitchFamily="2" charset="-78"/>
                <a:cs typeface="Amiri" pitchFamily="2" charset="-78"/>
              </a:rPr>
              <a:t>أَنَانِيًّا</a:t>
            </a:r>
            <a:pPr algn="l" indent="0" marL="0">
              <a:buNone/>
            </a:pPr>
            <a:r>
              <a:rPr lang="en-US" sz="1050" i="1" dirty="0">
                <a:solidFill>
                  <a:srgbClr val="5A6472"/>
                </a:solidFill>
                <a:latin typeface="Calibri" pitchFamily="34" charset="0"/>
                <a:cs typeface="Amiri" pitchFamily="2" charset="-78"/>
              </a:rPr>
              <a:t>); he → </a:t>
            </a:r>
            <a:pPr algn="l" indent="0" marL="0">
              <a:buNone/>
            </a:pPr>
            <a:r>
              <a:rPr lang="ar-SA" altLang="en-US" sz="1350" dirty="0">
                <a:solidFill>
                  <a:srgbClr val="5A6472"/>
                </a:solidFill>
                <a:latin typeface="Amiri" pitchFamily="2" charset="-78"/>
                <a:ea typeface="Amiri" pitchFamily="2" charset="-78"/>
                <a:cs typeface="Amiri" pitchFamily="2" charset="-78"/>
              </a:rPr>
              <a:t>لِأَنَّهُ 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لَيْسَ أَنَانِيًّا، لِأَنَّهُ يُشَارِكُ كُلَّ شَيْءٍ.</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صَبُورٌ وَكَرِيمٌ.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Mother →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أَثِقُ صَدِيقَتِي.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لَيْسَتْ أُخْتِي خَجُولَةٌ.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لَيْسَ / لَيْسَتْ</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صَبُورٌ وَكَرِيمٌ.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صَبُورَةٌ وَكَرِيمَةٌ.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subject → add tāʾ marbūṭa.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أَثِقُ صَدِيقَتِي.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أَثِقُ بِصَدِيقَتِي.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أَثِقُ</a:t>
            </a:r>
            <a:pPr algn="l" indent="0" marL="0">
              <a:buNone/>
            </a:pPr>
            <a:r>
              <a:rPr lang="en-US" sz="1150" b="1" dirty="0">
                <a:solidFill>
                  <a:srgbClr val="1B3B6F"/>
                </a:solidFill>
                <a:latin typeface="Calibri" pitchFamily="34" charset="0"/>
                <a:cs typeface="Amiri" pitchFamily="2" charset="-78"/>
              </a:rPr>
              <a:t>‏ + bi-.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لَيْسَتْ أُخْتِي خَجُولَةٌ.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لَيْسَتْ أُخْتِي خَجُولَةً.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لَيْسَتْ</a:t>
            </a:r>
            <a:pPr algn="l" indent="0" marL="0">
              <a:buNone/>
            </a:pPr>
            <a:r>
              <a:rPr lang="en-US" sz="1150" b="1" dirty="0">
                <a:solidFill>
                  <a:srgbClr val="1B3B6F"/>
                </a:solidFill>
                <a:latin typeface="Calibri" pitchFamily="34" charset="0"/>
                <a:cs typeface="Amiri" pitchFamily="2" charset="-78"/>
              </a:rPr>
              <a:t>‏ makes the adjective accusative: ‏</a:t>
            </a:r>
            <a:pPr algn="l" indent="0" marL="0">
              <a:buNone/>
            </a:pPr>
            <a:r>
              <a:rPr lang="ar-SA" altLang="en-US" sz="1500" b="1" dirty="0">
                <a:solidFill>
                  <a:srgbClr val="1B3B6F"/>
                </a:solidFill>
                <a:latin typeface="Amiri" pitchFamily="2" charset="-78"/>
                <a:ea typeface="Amiri" pitchFamily="2" charset="-78"/>
                <a:cs typeface="Amiri" pitchFamily="2" charset="-78"/>
              </a:rPr>
              <a:t>خَجُولَةً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نَتَشَاجَرُ أَحْيَانًا، ثُمَّ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sometimes argue, then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رَأْيِي العَلَاقَةُ القَوِيَّةُ تَحْتَاجُ إِلَى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a strong relationship needs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 أُمِّي ______ جِدًّا وَ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 mother is very … and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______ ، وَلَيْسَ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is …, and he is not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أَتَفَاهَمُ مَعَ ______ لِأَنَّ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get on with … because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أَثِقُ بِصَدِيقِي / بِأُمِّي لِأَنَّهُ / لِأَنَّهَا ______ .</a:t>
            </a:r>
            <a:endParaRPr lang="ar-SA" sz="17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trust my friend / my mother because he / she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صَبُورٌ · صَبُورَةٌ  ·  صَادِقٌ · مَرِحَةٌ  ·  خَجُولٌ · أَنَانِيٌّ  ·  جِدًّا · نَوْعًا مَا  ·  لَيْسَ · لَيْسَتْ  ·  أَتَفَاهَمُ مَعَ  ·  أَثِقُ بِهِ · بِهَا  ·  يَدْعَمُنِي · أَحْتَرِمُهَا</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A forum post: the people who support me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يَدْعَمُنِي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cs typeface="Amiri" pitchFamily="2" charset="-78"/>
              </a:rPr>
              <a:t>Write a forum post (about 60–80 words). Include: • a friend and a family member (one male, one female), with three qualities each and correct agreement • one quality made stronger and one softer • a negative with ‏</a:t>
            </a:r>
            <a:pPr algn="l" indent="0" marL="0">
              <a:buNone/>
            </a:pPr>
            <a:r>
              <a:rPr lang="ar-SA" altLang="en-US" sz="1350" b="1" dirty="0">
                <a:solidFill>
                  <a:srgbClr val="1F2A37"/>
                </a:solidFill>
                <a:latin typeface="Amiri" pitchFamily="2" charset="-78"/>
                <a:ea typeface="Amiri" pitchFamily="2" charset="-78"/>
                <a:cs typeface="Amiri" pitchFamily="2" charset="-78"/>
              </a:rPr>
              <a:t>لَيْسَ / لَيْسَتْ</a:t>
            </a:r>
            <a:pPr algn="l" indent="0" marL="0">
              <a:buNone/>
            </a:pPr>
            <a:r>
              <a:rPr lang="en-US" sz="1050" b="1" dirty="0">
                <a:solidFill>
                  <a:srgbClr val="1F2A37"/>
                </a:solidFill>
                <a:latin typeface="Calibri" pitchFamily="34" charset="0"/>
                <a:cs typeface="Amiri" pitchFamily="2" charset="-78"/>
              </a:rPr>
              <a:t>‏ • how you get on with them, and someone you trust, with reasons • one disagreement and how you made up • what makes a strong relationship.</a:t>
            </a:r>
            <a:endParaRPr lang="en-US" sz="10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D2-L01 AND D2-L02.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صَبُورَةٌ جِدًّا · هُوَ خَجُولٌ نَوْعًا مَا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is very patient · he is rather shy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أَنَانِيًّا · لَيْسَتْ أَنَانِيَّةً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 she is not selfish</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أَتَفَاهَمُ مَعَ … · أَثِقُ بِصَدِيقِي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get on with … · I trust my friend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نَتَشَاجَرُ أَحْيَانًا ثُمَّ نَتَصَالَحُ</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sometimes argue, then make up</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make every adjective agree (m. / f. / pl.)?</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object suffixes (‏</a:t>
            </a:r>
            <a:pPr algn="l" indent="0" marL="0">
              <a:buNone/>
            </a:pPr>
            <a:r>
              <a:rPr lang="ar-SA" altLang="en-US" sz="1450" dirty="0">
                <a:solidFill>
                  <a:srgbClr val="5A6472"/>
                </a:solidFill>
                <a:latin typeface="Amiri" pitchFamily="2" charset="-78"/>
                <a:ea typeface="Amiri" pitchFamily="2" charset="-78"/>
                <a:cs typeface="Amiri" pitchFamily="2" charset="-78"/>
              </a:rPr>
              <a:t>يَدْعَمُنِي</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أَحْتَرِمُهُ</a:t>
            </a:r>
            <a:pPr algn="l" indent="0" marL="0">
              <a:buNone/>
            </a:pPr>
            <a:r>
              <a:rPr lang="en-US" sz="1100" dirty="0">
                <a:solidFill>
                  <a:srgbClr val="5A6472"/>
                </a:solidFill>
                <a:latin typeface="Calibri" pitchFamily="34" charset="0"/>
                <a:cs typeface="Amiri" pitchFamily="2" charset="-78"/>
              </a:rPr>
              <a:t>‏) and give a reason every time?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مُجْتَهِدٌ جِدًّا، وَخَجُولٌ نَوْعًا مَا.</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very hard-working, and rather shy.</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شَخْصِيَّتُكَ؟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أَتَفَاهَمُ مَعَ أَبِي لِأَنَّهُ هَادِئٌ وَيَسْمَعُنِي دَائِمًا.</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get on with my father because he is calm and always listens to me.</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مَعَ مَنْ تَتَفَاهَمُ فِي عَائِلَتِكَ؟ لِمَاذَا؟</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أَثِقُ بِصَدِيقِي عَلِيٍّ، لِأَنَّهُ صَادِقٌ وَلَا يَكْذِبُ أَبَدًا.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trust my friend Ali, because he is honest and never lies.</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تَثِقُ بِهِ خَارِجَ العَائِلَةِ؟</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أَخْتَلِفُ مَعَ أَخِي الصَّغِيرِ، وَلٰكِنَّنَا نَتَصَالَحُ بَعْدَ سَاعَةٍ؛ أَعْتَذِرُ لَهُ وَأَلْعَبُ مَعَهُ.</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I disagree with my little brother, but we make up after an hour; I apologise to him and play with him.</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تَخْتَلِفُ مَعَ أَحَدٍ أَحْيَانًا؟ كَيْفَ تَتَصَالَحَانِ؟</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أُحِبُّ الصَّدِيقَ الأَنَانِيَّ، لِأَنَّهُ لَا يُفَكِّرُ فِي الآخَرِينَ.</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don’t like a selfish friend, because he does not think about others.</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الصِّفَةُ الَّتِي لَا تُحِبُّهَا فِي الصَّدِيقِ؟</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أَكْثَرُ شَخْصَيْنِ يَدْعَمَانِنِي هُمَا أُخْتِي الكُبْرَى وَصَدِيقِي يُوسُفُ. أُخْتِي صَبُورَةٌ جِدًّا وَذَكِيَّةٌ، وَلَيْسَتْ عَصَبِيَّةً أَبَدًا؛ تَشْرَحُ لِي الرِّيَاضِيَّاتِ كُلَّ مَسَاءٍ. أَتَفَاهَمُ مَعَهَا لِأَنَّهَا تَسْمَعُنِي. أَمَّا يُوسُفُ فَهُوَ مَرِحٌ وَصَادِقٌ، وَخَجُولٌ نَوْعًا مَا. أَثِقُ بِهِ لِأَنَّهُ لَا يَكْذِبُ أَبَدًا. أَحْيَانًا نَتَشَاجَرُ بِسَبَبِ كُرَةِ القَدَمِ، ثُمَّ نَتَصَالَحُ بِسُرْعَةٍ. فِي رَأْيِي العَلَاقَةُ القَوِيَّةُ تَحْتَاجُ إِلَى الثِّقَةِ وَالاحْتِرَامِ.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two people who support me most are my older sister and my friend Yusuf. My sister is very patient and clever, and never short-tempered; she explains maths to me every evening. I get on with her because she listens to me. As for Yusuf, he is cheerful and honest, and rather shy. I trust him because he never lies. Sometimes we argue about football, then we make up quickly. In my opinion a strong relationship needs trust and respect.”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صَبُورَةٌ جِدًّا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لَيْسَتْ عَصَبِيَّةً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أَثِقُ بِهِ</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نَتَشَاجَرُ بِسَبَبِ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D2-W01 · Apply workshop (D2-L01 + D2-L02)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D2-L01 and D2-L02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D2-W01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D2-L03 · Clothes and Accessories — Vocabulary and Shopping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المَلَابِسُ وَالإِكْسِسْوَارَاتُ — المُفْرَدَاتُ وَالتَّسَوُّقُ</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D2-W01 · Apply Workshop — Who Supports Me? A Friendship Forum</dc:title>
  <dc:subject>PptxGenJS Presentation</dc:subject>
  <dc:creator>Al Madina Online School · Arabic Department</dc:creator>
  <cp:lastModifiedBy>Al Madina Online School · Arabic Department</cp:lastModifiedBy>
  <cp:revision>1</cp:revision>
  <dcterms:created xsi:type="dcterms:W3CDTF">2026-10-26T15:47:54Z</dcterms:created>
  <dcterms:modified xsi:type="dcterms:W3CDTF">2026-10-26T15:47:54Z</dcterms:modified>
</cp:coreProperties>
</file>