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D2 People, Relationships and Style › D2-L04. The website lesson “Fashion and Identity — Opinions on Style and Dress”: vocabulary, grammar rules and quiz, patterns, common mistakes, sorter, listening, reading, speaking prompts and model, writing task and model, differentiation, final check and the lesson mission. Picture match: website visual game “Fashion and Identity — Opinions on Style and Dress”.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describe your own style with two style adjectives + فِي رَأْيِي … لِأَنَّ … (one opinion, one reason). Develop: add a contrast (أُفَضِّلُ … وَلٰكِنَّنِي …). Stretch: a concession (عَلَى الرَّغْمِ مِنْ أَنَّ … فَإِنَّ …) and a balanced conclusion about fashion and identity.
• Website value: “Do not treat personal style as proof of personality” — every opinion must be respectful (quiz Q5). Model this explicitly: we judge CLOTHES (comfortable, practical, expensive), never PEOPLE.
• Modesty and identity are personal: invite, never require, students to share. Invented examples are fine.
• Urdu bridge: فیشن (→ مَوْضَةٌ), ذوق، ثقافت، شخصیت، احترام.
• TEACHER-WRITTEN ITEMS: on the website this lesson’s patterns, mistakes, sorter, listening, reading items are generic placeholders, so the deck uses teacher-written questions and translations built on the website’s own script and text (flagged for the website editor).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DO NOW (5 min independent + 2 min going through answers).
Questions 1–2 test two of the five style words prepared at home. Questions 3–5 retrieve D2-L03 (هٰذِهِ, ثَمَنُهَا) and D2-L01 (لِأَنَّهَا).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 balanced opinion has three parts: what I think, why, and the other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ذوق (taste) → الذَّوْقُ; ثقافت → الثَّقَافَةُ; شخصیت → الشَّخْصِيَّةُ; احترام → الاِحْتِرَامُ — all Arabic words students already use in Urdu. مَوْضَةٌ (from Italian moda) = fashion; أُسْلُوبٌ = style (Urdu اسلوب: style of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Style adjectives (website vocabulary (1 of 2)). Hear → Say → See → Use. Transliteration is printed for Core students (cover it for Develop/Stretch).
Style adjectives in m. · f. · pl. (reviewed from D2-L03). Things in the plural take the feminine singular: مَلَابِسُ مُلَوَّنَةٌ.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Style adjectives (website vocabulary (2 of 2)). Hear → Say → See → Use. Transliteration is printed for Core students (cover it for Develop/Stretch).
Style adjectives in m. · f. · pl. (reviewed from D2-L03). Things in the plural take the feminine singular: مَلَابِسُ مُلَوَّنَةٌ.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Opinion and balance (website vocabulary (1 of 2)). Hear → Say → See → Use. Transliteration is printed for Core students (cover it for Develop/Stretch).
Opinion and balance: sort them live — OPINION (فِي رَأْيِي) · REASON (لِأَنَّ، لِذٰلِكَ) · CONTRAST (وَلٰكِنَّ، بَيْنَمَا، مِنْ جِهَةٍ … مِنْ جِهَةٍ أُخْرَى) · CONCESSION (عَلَى الرَّغْمِ مِنْ أَنَّ) · SOFTENERS (أَحْيَانًا، عَادَةً).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Opinion and balance (website vocabulary (2 of 2)). Hear → Say → See → Use. Transliteration is printed for Core students (cover it for Develop/Stretch).
Opinion and balance: sort them live — OPINION (فِي رَأْيِي) · REASON (لِأَنَّ، لِذٰلِكَ) · CONTRAST (وَلٰكِنَّ، بَيْنَمَا، مِنْ جِهَةٍ … مِنْ جِهَةٍ أُخْرَى) · CONCESSION (عَلَى الرَّغْمِ مِنْ أَنَّ) · SOFTENERS (أَحْيَانًا، عَادَةً).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Clothing reference (website vocabulary (1 of 2)). Hear → Say → See → Use. Transliteration is printed for Core students (cover it for Develop/Stretch).
FLEX: teach if time allows; otherwise these are on the website vocabulary tab for homework.
Clothing reference (FLEX) — the D2-L03 clothes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Clothing reference (website vocabulary (2 of 2)). Hear → Say → See → Use. Transliteration is printed for Core students (cover it for Develop/Stretch).
FLEX: teach if time allows; otherwise these are on the website vocabulary tab for homework.
Clothing reference (FLEX) — the D2-L03 clothes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rules “Opinion plus reason” (a developed opinion explains why) and “Contrast” (contrast adds balance) with the website examples.
Note for Develop/Stretch: non-human plurals take feminine singular agreement — المَلَابِسُ … لِأَنَّهَا عَمَلِيَّةٌ (not لِأَنَّهُمْ).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rules “Concession” (acknowledge an opposing point before stating a judgement) and “Identity and expression” (explain what style communicates without judging a person unfairly). Website common error: “Do not treat personal style as proof of personality.”
Stretch grammar: after عَلَى الرَّغْمِ مِنْ أَنَّ the main clause often starts with فَإِنَّ + noun in -a (فَإِنَّ الرَّاحَةَ أَهَمُّ).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“Develop opinions about style with reasons, contrast, concession and language that avoids over-generalisation.”
• Opinion plus reason: A developed opinion explains why.
• Contrast: Contrast adds balance and complexity.
• Concession: Acknowledge an opposing point before stating a judgement.
• Identity and expression: Explain what style communicates without judging a person unfairly.
Website common error: Do not treat personal style as proof of personality; describe clothing evidence and qualify your opinion.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4, 6, 7, 8.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listening (Reem) and patterns turned into a first-person opinion, with a think-aloud. Students copy it and label the four parts: STYLE · OPINION + REASON · CONTRAST · CONCESSION.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built from the website grammar quiz (Q1, Q2, Q3, Q5) and the website value about respectful judgement. Discuss Q4 carefully: the wrong answers stereotype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each answer, a volunteer changes one word to make their own opinion.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Is each sentence a complete, balanced and respectful opinion?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Is each sentence a complete, balanced and respectful opinion?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4. Develop / Stretch: all 6. (Questions are teacher-written: the website questions for this script are generic.)
Listen 1: just listen. Listen 2: note answers. Then chat the letters.
Support: after the second listening, show the read-along slide (Arabic + English, line by line) for Core students.
SCRIPT (read aloud):
تَتَحَدَّثُ رِيمُ عَنْ أُسْلُوبِهَا. تَقُولُ إِنَّهَا تُفَضِّلُ المَلَابِسَ البَسِيطَةَ وَالمُرِيحَةَ، لِأَنَّهَا تَذْهَبُ إِلَى المَدْرَسَةِ وَتَتَحَرَّكُ كَثِيرًا. وَلٰكِنَّهَا فِي المُنَاسَبَاتِ تَرْتَدِي فُسْتَانًا أَنِيقًا وَحِجَابًا مُلَوَّنًا. فِي رَأْيِهَا، الأُسْلُوبُ الشَّخْصِيُّ يُعَبِّرُ عَنِ الذَّوْقِ، وَلٰكِنَّهُ لَا يُخْبِرُنَا بِكُلِّ شَيْءٍ عَنِ الشَّخْصِيَّةِ.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مَا الأَهَمُّ فِي رَأْيِكَ؟ (What is most important?)
B: الرَّاحَةُ وَالاِحْتِرَامُ أَهَمُّ مِنَ اتِّبَاعِ كُلِّ اتِّجَاهٍ. (Comfort and respect matter more than every trend.)
Website prompts. Website model continues: A: مَا الأَهَمُّ فِي رَأْيِكَ؟ (What is most important in your opinion?) B: الرَّاحَةُ وَالاِحْتِرَامُ أَهَمُّ مِنَ اتِّبَاعِ كُلِّ اتِّجَاهٍ. (Comfort and respect matter more than following every trend.)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Secure the main vocabulary and produce four accurate sentences using the taught frame. · Develop — Combine description, grammar and a reason in connected answers. · Stretch — Add comparison, contrast, precise evidence and an independently controlled relative clause.
Website writing task (Stretch): Write 100–120 Arabic words giving your view on fashion and identity. Explain your style, what influences it, one advantage and one disadvantage of following fashion, and a balanced conclusion.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Evidence: فِي رَأْيِي … لِأَنَّهَا · وَلٰكِنَّنِي فِي المُنَاسَبَاتِ · مِنْ مَزَايَا المَوْضَةِ / مِنْ عُيُوبِهَا · عَلَى الرَّغْمِ مِنْ ذٰلِكَ (despite that — a concession with a noun).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(D2-L05 · Comparing People and Clothes — More, Less and Better) will spend class time USING this language, so students prepare it tonight — short, simple, easy to access (school guidance: “Simple, Short, Interesting, Relevant, Easy to access”). The five words come from the website D2-L05 vocabulary (comparative language).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D2  ·  D2-L04</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D2-L04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Fashion and Identity — Opinions on Style and Dress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المَوْضَةُ وَالهُوِيَّةُ — آرَاءٌ حَوْلَ الأُسْلُوبِ وَاللِّبَاسِ</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Give a balanced opinion about style and fashion: opinion + reason (</a:t>
            </a:r>
            <a:pPr algn="l" indent="0" marL="0">
              <a:buNone/>
            </a:pPr>
            <a:r>
              <a:rPr lang="ar-SA" altLang="en-US" sz="1800" dirty="0">
                <a:solidFill>
                  <a:srgbClr val="C6D2E6"/>
                </a:solidFill>
                <a:latin typeface="Amiri" pitchFamily="2" charset="-78"/>
                <a:ea typeface="Amiri" pitchFamily="2" charset="-78"/>
                <a:cs typeface="Amiri" pitchFamily="2" charset="-78"/>
              </a:rPr>
              <a:t>فِي رَأْيِي … لِأَنَّ</a:t>
            </a:r>
            <a:pPr algn="l" indent="0" marL="0">
              <a:buNone/>
            </a:pPr>
            <a:r>
              <a:rPr lang="en-US" sz="1400" dirty="0">
                <a:solidFill>
                  <a:srgbClr val="C6D2E6"/>
                </a:solidFill>
                <a:latin typeface="Calibri" pitchFamily="34" charset="0"/>
                <a:cs typeface="Amiri" pitchFamily="2" charset="-78"/>
              </a:rPr>
              <a:t>), contrast (</a:t>
            </a:r>
            <a:pPr algn="l" indent="0" marL="0">
              <a:buNone/>
            </a:pPr>
            <a:r>
              <a:rPr lang="ar-SA" altLang="en-US" sz="1800" dirty="0">
                <a:solidFill>
                  <a:srgbClr val="C6D2E6"/>
                </a:solidFill>
                <a:latin typeface="Amiri" pitchFamily="2" charset="-78"/>
                <a:ea typeface="Amiri" pitchFamily="2" charset="-78"/>
                <a:cs typeface="Amiri" pitchFamily="2" charset="-78"/>
              </a:rPr>
              <a:t>وَلٰكِنَّ</a:t>
            </a:r>
            <a:pPr algn="l" indent="0" marL="0">
              <a:buNone/>
            </a:pPr>
            <a:r>
              <a:rPr lang="en-US" sz="1400" dirty="0">
                <a:solidFill>
                  <a:srgbClr val="C6D2E6"/>
                </a:solidFill>
                <a:latin typeface="Calibri" pitchFamily="34" charset="0"/>
                <a:cs typeface="Amiri" pitchFamily="2" charset="-78"/>
              </a:rPr>
              <a:t>), concession (</a:t>
            </a:r>
            <a:pPr algn="l" indent="0" marL="0">
              <a:buNone/>
            </a:pPr>
            <a:r>
              <a:rPr lang="ar-SA" altLang="en-US" sz="1800" dirty="0">
                <a:solidFill>
                  <a:srgbClr val="C6D2E6"/>
                </a:solidFill>
                <a:latin typeface="Amiri" pitchFamily="2" charset="-78"/>
                <a:ea typeface="Amiri" pitchFamily="2" charset="-78"/>
                <a:cs typeface="Amiri" pitchFamily="2" charset="-78"/>
              </a:rPr>
              <a:t>عَلَى الرَّغْمِ مِنْ أَنَّ … فَإِنَّ</a:t>
            </a:r>
            <a:pPr algn="l" indent="0" marL="0">
              <a:buNone/>
            </a:pPr>
            <a:r>
              <a:rPr lang="en-US" sz="1400" dirty="0">
                <a:solidFill>
                  <a:srgbClr val="C6D2E6"/>
                </a:solidFill>
                <a:latin typeface="Calibri" pitchFamily="34" charset="0"/>
                <a:cs typeface="Amiri" pitchFamily="2" charset="-78"/>
              </a:rPr>
              <a:t>) — and judge clothes, never people.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D2-L04 · Development D2 · People, Relationships and Style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D2 › D2-L04</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D2-L04 · Fashion and Identity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D2-L04 · Fashion and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D2-L04</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Opinion + reason, contrast and concession.</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Balance the opinion, sort,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D2-L05.</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D2-L04 · Fashion and Identity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مُحْتَشِمٌ / مُحْتَشِمَةٌ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modern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modest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formal</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تَقْلِيدِيٌّ / تَقْلِيدِيَّةٌ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traditional</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elegant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simple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“this jacket”.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 السُّتْرَةُ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هٰذِهِ السُّتْرَةَ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هٰذِهِ السُّتْرَةُ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the price of a bag.</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ثَمَنُهُ؟</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 مَقَاسُهُ؟</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ثَمَنُهَا؟</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هِيَ مُتَعَاوِنَةٌ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تُسَاعِدُ الآخَرِينَ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لِأَنَّهَا</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لِأَنَّهُ</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وَلٰكِنَّهُ</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D2-L04 · Fashion and Identity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مُحْتَشِمٌ / مُحْتَشِمَةٌ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modern</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modest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formal</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تَقْلِيدِيٌّ / تَقْلِيدِيَّةٌ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traditional</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elegant</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simple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“this jacket”.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هٰذَا السُّتْرَةُ</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هٰذِهِ السُّتْرَةَ</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هٰذِهِ السُّتْرَةُ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D2-L03: sutra is feminine.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the price of a bag.</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كَمْ ثَمَنُهُ؟</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مَا مَقَاسُهُ؟</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كَمْ ثَمَنُهَا؟</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D2-L03: bag (f.) → thamanuhā.</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هِيَ مُتَعَاوِنَةٌ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تُسَاعِدُ الآخَرِينَ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لِأَنَّهَا</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لِأَنَّهُ</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وَلٰكِنَّهُ</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D2-L01: because she.</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A balanced opinion has three parts: what I think, why, and the other side.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فِي رَأْيِي</a:t>
            </a:r>
            <a:pPr rtl="1" algn="ctr" indent="0" marL="0">
              <a:buNone/>
            </a:pPr>
            <a:r>
              <a:rPr lang="ar-SA" altLang="en-US" sz="2400" b="1" dirty="0">
                <a:solidFill>
                  <a:srgbClr val="1B3B6F"/>
                </a:solidFill>
                <a:latin typeface="Amiri" pitchFamily="2" charset="-78"/>
                <a:cs typeface="Amiri" pitchFamily="2" charset="-78"/>
              </a:rPr>
              <a:t> … </a:t>
            </a:r>
            <a:pPr rtl="1" algn="ctr" indent="0" marL="0">
              <a:buNone/>
            </a:pPr>
            <a:r>
              <a:rPr lang="ar-SA" altLang="en-US" sz="2400" b="1" dirty="0">
                <a:solidFill>
                  <a:srgbClr val="1D5FBF"/>
                </a:solidFill>
                <a:latin typeface="Amiri" pitchFamily="2" charset="-78"/>
                <a:ea typeface="Amiri" pitchFamily="2" charset="-78"/>
                <a:cs typeface="Amiri" pitchFamily="2" charset="-78"/>
              </a:rPr>
              <a:t>لِأَنَّ</a:t>
            </a:r>
            <a:pPr rtl="1" algn="ctr" indent="0" marL="0">
              <a:buNone/>
            </a:pPr>
            <a:r>
              <a:rPr lang="ar-SA" altLang="en-US" sz="2400" b="1" dirty="0">
                <a:solidFill>
                  <a:srgbClr val="1B3B6F"/>
                </a:solidFill>
                <a:latin typeface="Amiri" pitchFamily="2" charset="-78"/>
                <a:cs typeface="Amiri" pitchFamily="2" charset="-78"/>
              </a:rPr>
              <a:t> … </a:t>
            </a:r>
            <a:pPr rtl="1" algn="ctr" indent="0" marL="0">
              <a:buNone/>
            </a:pPr>
            <a:r>
              <a:rPr lang="ar-SA" altLang="en-US" sz="2400" b="1" dirty="0">
                <a:solidFill>
                  <a:srgbClr val="D6336C"/>
                </a:solidFill>
                <a:latin typeface="Amiri" pitchFamily="2" charset="-78"/>
                <a:ea typeface="Amiri" pitchFamily="2" charset="-78"/>
                <a:cs typeface="Amiri" pitchFamily="2" charset="-78"/>
              </a:rPr>
              <a:t>وَلٰكِنَّ</a:t>
            </a:r>
            <a:pPr rtl="1" algn="ctr" indent="0" marL="0">
              <a:buNone/>
            </a:pPr>
            <a:r>
              <a:rPr lang="ar-SA" altLang="en-US" sz="2400" b="1" dirty="0">
                <a:solidFill>
                  <a:srgbClr val="1B3B6F"/>
                </a:solidFill>
                <a:latin typeface="Amiri" pitchFamily="2" charset="-78"/>
                <a:cs typeface="Amiri" pitchFamily="2" charset="-78"/>
              </a:rPr>
              <a:t> …</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D2-L04 · Fashion and Identity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D2-L04</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Control the key D2-L04 vocabulary in complete Arabic sentences.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Understand and apply the target grammar: Expressing and qualifying opinions.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Extract precise evidence from an intermediate listening and reading text.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Produce developed spoken and written Arabic with reasons and detail.</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describe my style with two adjectives.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give an opinion with a reason.</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add a contrast with “but”.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say what clothes express.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use a concession (although …).</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a balanced conclusion about fashion.</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32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Style adjectives · 12</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Opinion and balance · 12</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Clothing reference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المَوْضَةُ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‎فیشن‎ </a:t>
            </a:r>
            <a:pPr indent="0" marL="0">
              <a:buNone/>
            </a:pPr>
            <a:r>
              <a:rPr lang="en-US" sz="950" b="1" dirty="0">
                <a:solidFill>
                  <a:srgbClr val="2E8B57"/>
                </a:solidFill>
                <a:latin typeface="Calibri" pitchFamily="34" charset="0"/>
                <a:cs typeface="Amiri" pitchFamily="2" charset="-78"/>
              </a:rPr>
              <a:t> fashion · fashion (both borrowed)</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الذَّوْقُ</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‎ذوق‎ </a:t>
            </a:r>
            <a:pPr indent="0" marL="0">
              <a:buNone/>
            </a:pPr>
            <a:r>
              <a:rPr lang="en-US" sz="950" b="1" dirty="0">
                <a:solidFill>
                  <a:srgbClr val="2E8B57"/>
                </a:solidFill>
                <a:latin typeface="Calibri" pitchFamily="34" charset="0"/>
                <a:cs typeface="Amiri" pitchFamily="2" charset="-78"/>
              </a:rPr>
              <a:t> zauq · taste</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الثَّقَافَةُ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‎ثقافت‎ </a:t>
            </a:r>
            <a:pPr indent="0" marL="0">
              <a:buNone/>
            </a:pPr>
            <a:r>
              <a:rPr lang="en-US" sz="950" b="1" dirty="0">
                <a:solidFill>
                  <a:srgbClr val="2E8B57"/>
                </a:solidFill>
                <a:latin typeface="Calibri" pitchFamily="34" charset="0"/>
                <a:cs typeface="Amiri" pitchFamily="2" charset="-78"/>
              </a:rPr>
              <a:t> saqāfat · culture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الشَّخْصِيَّةُ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‎شخصیت‎ </a:t>
            </a:r>
            <a:pPr indent="0" marL="0">
              <a:buNone/>
            </a:pPr>
            <a:r>
              <a:rPr lang="en-US" sz="950" b="1" dirty="0">
                <a:solidFill>
                  <a:srgbClr val="2E8B57"/>
                </a:solidFill>
                <a:latin typeface="Calibri" pitchFamily="34" charset="0"/>
                <a:cs typeface="Amiri" pitchFamily="2" charset="-78"/>
              </a:rPr>
              <a:t> shakhsiyat · personality</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الاِحْتِرَامُ</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‎احترام‎ </a:t>
            </a:r>
            <a:pPr indent="0" marL="0">
              <a:buNone/>
            </a:pPr>
            <a:r>
              <a:rPr lang="en-US" sz="950" b="1" dirty="0">
                <a:solidFill>
                  <a:srgbClr val="2E8B57"/>
                </a:solidFill>
                <a:latin typeface="Calibri" pitchFamily="34" charset="0"/>
                <a:cs typeface="Amiri" pitchFamily="2" charset="-78"/>
              </a:rPr>
              <a:t> ihtirām · respect</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D2-L04 · Fashion and Identity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Style adjectives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أَنِيقٌ / أَنِيقَةٌ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elegant</a:t>
            </a:r>
            <a:endParaRPr lang="en-US" sz="1350" dirty="0"/>
          </a:p>
          <a:p>
            <a:pPr indent="0" marL="0">
              <a:buNone/>
            </a:pPr>
            <a:r>
              <a:rPr lang="en-US" sz="1100" i="1" dirty="0">
                <a:solidFill>
                  <a:srgbClr val="5A6472"/>
                </a:solidFill>
                <a:latin typeface="Calibri" pitchFamily="34" charset="0"/>
                <a:cs typeface="Amiri" pitchFamily="2" charset="-78"/>
              </a:rPr>
              <a:t>a-nī-qun / a-nī-qa-tun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أَنِيقُونَ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أَنِيقَةٌ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أَنِيقٌ</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عَصْرِيٌّ / عَصْرِيَّةٌ</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modern</a:t>
            </a:r>
            <a:endParaRPr lang="en-US" sz="1350" dirty="0"/>
          </a:p>
          <a:p>
            <a:pPr indent="0" marL="0">
              <a:buNone/>
            </a:pPr>
            <a:r>
              <a:rPr lang="en-US" sz="1100" i="1" dirty="0">
                <a:solidFill>
                  <a:srgbClr val="5A6472"/>
                </a:solidFill>
                <a:latin typeface="Calibri" pitchFamily="34" charset="0"/>
                <a:cs typeface="Amiri" pitchFamily="2" charset="-78"/>
              </a:rPr>
              <a:t>ʿaṣ-riy-yun / ʿaṣ-riy-ya-tun</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عَصْرِيُّونَ</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عَصْرِيَّةٌ</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عَصْرِيٌّ</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54" name="Shape 51"/>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6" name="Shape 5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8" name="Text 5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تَقْلِيدِيٌّ / تَقْلِيدِيَّةٌ</a:t>
            </a:r>
            <a:endParaRPr lang="ar-SA" sz="3000" dirty="0"/>
          </a:p>
        </p:txBody>
      </p:sp>
      <p:sp>
        <p:nvSpPr>
          <p:cNvPr id="59" name="Text 5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traditional</a:t>
            </a:r>
            <a:endParaRPr lang="en-US" sz="1350" dirty="0"/>
          </a:p>
          <a:p>
            <a:pPr indent="0" marL="0">
              <a:buNone/>
            </a:pPr>
            <a:r>
              <a:rPr lang="en-US" sz="1100" i="1" dirty="0">
                <a:solidFill>
                  <a:srgbClr val="5A6472"/>
                </a:solidFill>
                <a:latin typeface="Calibri" pitchFamily="34" charset="0"/>
                <a:cs typeface="Amiri" pitchFamily="2" charset="-78"/>
              </a:rPr>
              <a:t>taq-lī-diy-yun / taq-lī-diy-ya-tun</a:t>
            </a:r>
            <a:endParaRPr lang="en-US" sz="1350" dirty="0"/>
          </a:p>
        </p:txBody>
      </p:sp>
      <p:sp>
        <p:nvSpPr>
          <p:cNvPr id="60" name="Shape 57"/>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2" name="Text 59"/>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تَقْلِيدِيُّونَ</a:t>
            </a:r>
            <a:endParaRPr lang="ar-SA" sz="1500" dirty="0"/>
          </a:p>
        </p:txBody>
      </p:sp>
      <p:sp>
        <p:nvSpPr>
          <p:cNvPr id="63" name="Shape 60"/>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5" name="Text 62"/>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تَقْلِيدِيَّةٌ</a:t>
            </a:r>
            <a:endParaRPr lang="ar-SA" sz="1500" dirty="0"/>
          </a:p>
        </p:txBody>
      </p:sp>
      <p:sp>
        <p:nvSpPr>
          <p:cNvPr id="66" name="Shape 63"/>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8" name="Text 65"/>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تَقْلِيدِيٌّ</a:t>
            </a:r>
            <a:endParaRPr lang="ar-SA" sz="1500" dirty="0"/>
          </a:p>
        </p:txBody>
      </p:sp>
      <p:sp>
        <p:nvSpPr>
          <p:cNvPr id="69" name="Shape 6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8211312"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72" name="Shape 69"/>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73" name="Text 70"/>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74" name="Shape 7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75" name="Text 7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6" name="Text 7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رَسْمِيٌّ / رَسْمِيَّةٌ</a:t>
            </a:r>
            <a:endParaRPr lang="ar-SA" sz="3000" dirty="0"/>
          </a:p>
        </p:txBody>
      </p:sp>
      <p:sp>
        <p:nvSpPr>
          <p:cNvPr id="77" name="Text 7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formal</a:t>
            </a:r>
            <a:endParaRPr lang="en-US" sz="1350" dirty="0"/>
          </a:p>
          <a:p>
            <a:pPr indent="0" marL="0">
              <a:buNone/>
            </a:pPr>
            <a:r>
              <a:rPr lang="en-US" sz="1100" i="1" dirty="0">
                <a:solidFill>
                  <a:srgbClr val="5A6472"/>
                </a:solidFill>
                <a:latin typeface="Calibri" pitchFamily="34" charset="0"/>
                <a:cs typeface="Amiri" pitchFamily="2" charset="-78"/>
              </a:rPr>
              <a:t>ras-miy-yun / ras-miy-ya-tun</a:t>
            </a:r>
            <a:endParaRPr lang="en-US" sz="1350" dirty="0"/>
          </a:p>
        </p:txBody>
      </p:sp>
      <p:sp>
        <p:nvSpPr>
          <p:cNvPr id="78" name="Shape 75"/>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80" name="Text 77"/>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رَسْمِيُّونَ</a:t>
            </a:r>
            <a:endParaRPr lang="ar-SA" sz="1500" dirty="0"/>
          </a:p>
        </p:txBody>
      </p:sp>
      <p:sp>
        <p:nvSpPr>
          <p:cNvPr id="81" name="Shape 78"/>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82" name="Text 79"/>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83" name="Text 80"/>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رَسْمِيَّةٌ</a:t>
            </a:r>
            <a:endParaRPr lang="ar-SA" sz="1500" dirty="0"/>
          </a:p>
        </p:txBody>
      </p:sp>
      <p:sp>
        <p:nvSpPr>
          <p:cNvPr id="84" name="Shape 81"/>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6" name="Text 83"/>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رَسْمِيٌّ</a:t>
            </a:r>
            <a:endParaRPr lang="ar-SA" sz="1500" dirty="0"/>
          </a:p>
        </p:txBody>
      </p:sp>
      <p:sp>
        <p:nvSpPr>
          <p:cNvPr id="87" name="Shape 8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8" name="Shape 85"/>
          <p:cNvSpPr/>
          <p:nvPr/>
        </p:nvSpPr>
        <p:spPr>
          <a:xfrm>
            <a:off x="4389120" y="4261104"/>
            <a:ext cx="310896" cy="310896"/>
          </a:xfrm>
          <a:prstGeom prst="ellipse">
            <a:avLst/>
          </a:prstGeom>
          <a:solidFill>
            <a:srgbClr val="F4F1EA"/>
          </a:solidFill>
          <a:ln w="12700">
            <a:solidFill>
              <a:srgbClr val="F4F1EA"/>
            </a:solidFill>
            <a:prstDash val="solid"/>
          </a:ln>
        </p:spPr>
      </p:sp>
      <p:sp>
        <p:nvSpPr>
          <p:cNvPr id="89" name="Text 8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90" name="Shape 87"/>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91" name="Text 88"/>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92" name="Text 8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غَيْرُ رَسْمِيٍّ / غَيْرُ رَسْمِيَّةٍ</a:t>
            </a:r>
            <a:endParaRPr lang="ar-SA" sz="3000" dirty="0"/>
          </a:p>
        </p:txBody>
      </p:sp>
      <p:sp>
        <p:nvSpPr>
          <p:cNvPr id="93" name="Text 9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casual</a:t>
            </a:r>
            <a:endParaRPr lang="en-US" sz="1350" dirty="0"/>
          </a:p>
          <a:p>
            <a:pPr indent="0" marL="0">
              <a:buNone/>
            </a:pPr>
            <a:r>
              <a:rPr lang="en-US" sz="1100" i="1" dirty="0">
                <a:solidFill>
                  <a:srgbClr val="5A6472"/>
                </a:solidFill>
                <a:latin typeface="Calibri" pitchFamily="34" charset="0"/>
                <a:cs typeface="Amiri" pitchFamily="2" charset="-78"/>
              </a:rPr>
              <a:t>ghay-ru ras-miy-yin / ghay-ru ras-miy-ya-tin</a:t>
            </a:r>
            <a:endParaRPr lang="en-US" sz="1350" dirty="0"/>
          </a:p>
        </p:txBody>
      </p:sp>
      <p:sp>
        <p:nvSpPr>
          <p:cNvPr id="94" name="Shape 91"/>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95" name="Text 92"/>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96" name="Text 93"/>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غَيْرُ رَسْمِيَّةٍ</a:t>
            </a:r>
            <a:endParaRPr lang="ar-SA" sz="1500" dirty="0"/>
          </a:p>
        </p:txBody>
      </p:sp>
      <p:sp>
        <p:nvSpPr>
          <p:cNvPr id="97" name="Shape 94"/>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98" name="Text 95"/>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99" name="Text 96"/>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غَيْرُ رَسْمِيٍّ</a:t>
            </a:r>
            <a:endParaRPr lang="ar-SA" sz="1500" dirty="0"/>
          </a:p>
        </p:txBody>
      </p:sp>
      <p:sp>
        <p:nvSpPr>
          <p:cNvPr id="100" name="Shape 9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1" name="Shape 98"/>
          <p:cNvSpPr/>
          <p:nvPr/>
        </p:nvSpPr>
        <p:spPr>
          <a:xfrm>
            <a:off x="566928" y="4261104"/>
            <a:ext cx="310896" cy="310896"/>
          </a:xfrm>
          <a:prstGeom prst="ellipse">
            <a:avLst/>
          </a:prstGeom>
          <a:solidFill>
            <a:srgbClr val="F4F1EA"/>
          </a:solidFill>
          <a:ln w="12700">
            <a:solidFill>
              <a:srgbClr val="F4F1EA"/>
            </a:solidFill>
            <a:prstDash val="solid"/>
          </a:ln>
        </p:spPr>
      </p:sp>
      <p:sp>
        <p:nvSpPr>
          <p:cNvPr id="102" name="Text 9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03" name="Shape 100"/>
          <p:cNvSpPr/>
          <p:nvPr/>
        </p:nvSpPr>
        <p:spPr>
          <a:xfrm>
            <a:off x="960120" y="4279392"/>
            <a:ext cx="896112" cy="256032"/>
          </a:xfrm>
          <a:prstGeom prst="roundRect">
            <a:avLst>
              <a:gd name="adj" fmla="val 50000"/>
            </a:avLst>
          </a:prstGeom>
          <a:solidFill>
            <a:srgbClr val="EFE7D2"/>
          </a:solidFill>
          <a:ln w="12700">
            <a:solidFill>
              <a:srgbClr val="EFE7D2"/>
            </a:solidFill>
            <a:prstDash val="solid"/>
          </a:ln>
        </p:spPr>
      </p:sp>
      <p:sp>
        <p:nvSpPr>
          <p:cNvPr id="104" name="Text 101"/>
          <p:cNvSpPr txBox="1"/>
          <p:nvPr/>
        </p:nvSpPr>
        <p:spPr>
          <a:xfrm>
            <a:off x="960120"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105" name="Shape 102"/>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106" name="Text 103"/>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107" name="Text 104"/>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مُحْتَشِمٌ / مُحْتَشِمَةٌ</a:t>
            </a:r>
            <a:endParaRPr lang="ar-SA" sz="3000" dirty="0"/>
          </a:p>
        </p:txBody>
      </p:sp>
      <p:sp>
        <p:nvSpPr>
          <p:cNvPr id="108" name="Text 105"/>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modest</a:t>
            </a:r>
            <a:endParaRPr lang="en-US" sz="1350" dirty="0"/>
          </a:p>
          <a:p>
            <a:pPr indent="0" marL="0">
              <a:buNone/>
            </a:pPr>
            <a:r>
              <a:rPr lang="en-US" sz="1100" i="1" dirty="0">
                <a:solidFill>
                  <a:srgbClr val="5A6472"/>
                </a:solidFill>
                <a:latin typeface="Calibri" pitchFamily="34" charset="0"/>
                <a:cs typeface="Amiri" pitchFamily="2" charset="-78"/>
              </a:rPr>
              <a:t>muḥ-ta-shi-mun / muḥ-ta-shi-ma-tun</a:t>
            </a:r>
            <a:endParaRPr lang="en-US" sz="1350" dirty="0"/>
          </a:p>
        </p:txBody>
      </p:sp>
      <p:sp>
        <p:nvSpPr>
          <p:cNvPr id="109" name="Shape 106"/>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110" name="Text 107"/>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111" name="Text 108"/>
          <p:cNvSpPr txBox="1"/>
          <p:nvPr/>
        </p:nvSpPr>
        <p:spPr>
          <a:xfrm>
            <a:off x="294436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مُحْتَشِمُونَ</a:t>
            </a:r>
            <a:endParaRPr lang="ar-SA" sz="1500" dirty="0"/>
          </a:p>
        </p:txBody>
      </p:sp>
      <p:sp>
        <p:nvSpPr>
          <p:cNvPr id="112" name="Shape 109"/>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113" name="Text 110"/>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114" name="Text 111"/>
          <p:cNvSpPr txBox="1"/>
          <p:nvPr/>
        </p:nvSpPr>
        <p:spPr>
          <a:xfrm>
            <a:off x="179222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مُحْتَشِمَةٌ</a:t>
            </a:r>
            <a:endParaRPr lang="ar-SA" sz="1500" dirty="0"/>
          </a:p>
        </p:txBody>
      </p:sp>
      <p:sp>
        <p:nvSpPr>
          <p:cNvPr id="115" name="Shape 112"/>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116" name="Text 113"/>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117" name="Text 114"/>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مُحْتَشِمٌ</a:t>
            </a:r>
            <a:endParaRPr lang="ar-SA" sz="1500" dirty="0"/>
          </a:p>
        </p:txBody>
      </p:sp>
      <p:sp>
        <p:nvSpPr>
          <p:cNvPr id="118" name="Text 11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D2-L04 · Fashion and Identity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Style adjectives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مُلَوَّنٌ / مُلَوَّنَةٌ</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colourful</a:t>
            </a:r>
            <a:endParaRPr lang="en-US" sz="1350" dirty="0"/>
          </a:p>
          <a:p>
            <a:pPr indent="0" marL="0">
              <a:buNone/>
            </a:pPr>
            <a:r>
              <a:rPr lang="en-US" sz="1100" i="1" dirty="0">
                <a:solidFill>
                  <a:srgbClr val="5A6472"/>
                </a:solidFill>
                <a:latin typeface="Calibri" pitchFamily="34" charset="0"/>
                <a:cs typeface="Amiri" pitchFamily="2" charset="-78"/>
              </a:rPr>
              <a:t>mu-law-wa-nun / mu-law-wa-na-tun</a:t>
            </a:r>
            <a:endParaRPr lang="en-US" sz="1350" dirty="0"/>
          </a:p>
        </p:txBody>
      </p:sp>
      <p:sp>
        <p:nvSpPr>
          <p:cNvPr id="22" name="Shape 19"/>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4" name="Text 21"/>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مَلَابِسُ مُلَوَّنَةٌ</a:t>
            </a:r>
            <a:endParaRPr lang="ar-SA" sz="1500" dirty="0"/>
          </a:p>
        </p:txBody>
      </p:sp>
      <p:sp>
        <p:nvSpPr>
          <p:cNvPr id="25" name="Shape 22"/>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7" name="Text 24"/>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مُلَوَّنَةٌ</a:t>
            </a:r>
            <a:endParaRPr lang="ar-SA" sz="1500" dirty="0"/>
          </a:p>
        </p:txBody>
      </p:sp>
      <p:sp>
        <p:nvSpPr>
          <p:cNvPr id="28" name="Shape 25"/>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29" name="Text 26"/>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0" name="Text 27"/>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مُلَوَّنٌ</a:t>
            </a:r>
            <a:endParaRPr lang="ar-SA" sz="1500" dirty="0"/>
          </a:p>
        </p:txBody>
      </p:sp>
      <p:sp>
        <p:nvSpPr>
          <p:cNvPr id="31" name="Shape 28"/>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389120"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4" name="Shape 31"/>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6" name="Shape 3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بَسِيطٌ / بَسِيطَةٌ</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simple</a:t>
            </a:r>
            <a:endParaRPr lang="en-US" sz="1350" dirty="0"/>
          </a:p>
          <a:p>
            <a:pPr indent="0" marL="0">
              <a:buNone/>
            </a:pPr>
            <a:r>
              <a:rPr lang="en-US" sz="1100" i="1" dirty="0">
                <a:solidFill>
                  <a:srgbClr val="5A6472"/>
                </a:solidFill>
                <a:latin typeface="Calibri" pitchFamily="34" charset="0"/>
                <a:cs typeface="Amiri" pitchFamily="2" charset="-78"/>
              </a:rPr>
              <a:t>ba-sī-ṭun / ba-sī-ṭa-tun</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بُسَطَاءُ</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5" name="Text 42"/>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بَسِيطَةٌ</a:t>
            </a:r>
            <a:endParaRPr lang="ar-SA" sz="150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بَسِيطٌ</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52" name="Shape 49"/>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مُرِيحٌ / مُرِيحَةٌ</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comfortable</a:t>
            </a:r>
            <a:endParaRPr lang="en-US" sz="1350" dirty="0"/>
          </a:p>
          <a:p>
            <a:pPr indent="0" marL="0">
              <a:buNone/>
            </a:pPr>
            <a:r>
              <a:rPr lang="en-US" sz="1100" i="1" dirty="0">
                <a:solidFill>
                  <a:srgbClr val="5A6472"/>
                </a:solidFill>
                <a:latin typeface="Calibri" pitchFamily="34" charset="0"/>
                <a:cs typeface="Amiri" pitchFamily="2" charset="-78"/>
              </a:rPr>
              <a:t>mu-rī-ḥun / mu-rī-ḥa-tun</a:t>
            </a:r>
            <a:endParaRPr lang="en-US" sz="1350" dirty="0"/>
          </a:p>
        </p:txBody>
      </p:sp>
      <p:sp>
        <p:nvSpPr>
          <p:cNvPr id="56" name="Shape 5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8" name="Text 5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مَلَابِسُ مُرِيحَةٌ</a:t>
            </a:r>
            <a:endParaRPr lang="ar-SA" sz="1500" dirty="0"/>
          </a:p>
        </p:txBody>
      </p:sp>
      <p:sp>
        <p:nvSpPr>
          <p:cNvPr id="59" name="Shape 5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1" name="Text 5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مُرِيحَةٌ</a:t>
            </a:r>
            <a:endParaRPr lang="ar-SA" sz="1500" dirty="0"/>
          </a:p>
        </p:txBody>
      </p:sp>
      <p:sp>
        <p:nvSpPr>
          <p:cNvPr id="62" name="Shape 5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4" name="Text 6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مُرِيحٌ</a:t>
            </a:r>
            <a:endParaRPr lang="ar-SA" sz="1500" dirty="0"/>
          </a:p>
        </p:txBody>
      </p:sp>
      <p:sp>
        <p:nvSpPr>
          <p:cNvPr id="65" name="Shape 6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8211312"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68" name="Shape 65"/>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70" name="Text 6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عَمَلِيٌّ / عَمَلِيَّةٌ</a:t>
            </a:r>
            <a:endParaRPr lang="ar-SA" sz="3000" dirty="0"/>
          </a:p>
        </p:txBody>
      </p:sp>
      <p:sp>
        <p:nvSpPr>
          <p:cNvPr id="71" name="Text 6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practical</a:t>
            </a:r>
            <a:endParaRPr lang="en-US" sz="1350" dirty="0"/>
          </a:p>
          <a:p>
            <a:pPr indent="0" marL="0">
              <a:buNone/>
            </a:pPr>
            <a:r>
              <a:rPr lang="en-US" sz="1100" i="1" dirty="0">
                <a:solidFill>
                  <a:srgbClr val="5A6472"/>
                </a:solidFill>
                <a:latin typeface="Calibri" pitchFamily="34" charset="0"/>
                <a:cs typeface="Amiri" pitchFamily="2" charset="-78"/>
              </a:rPr>
              <a:t>ʿa-ma-liy-yun / ʿa-ma-liy-ya-tun</a:t>
            </a:r>
            <a:endParaRPr lang="en-US" sz="1350" dirty="0"/>
          </a:p>
        </p:txBody>
      </p:sp>
      <p:sp>
        <p:nvSpPr>
          <p:cNvPr id="72" name="Shape 6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4" name="Text 71"/>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مَلَابِسُ عَمَلِيَّةٌ</a:t>
            </a:r>
            <a:endParaRPr lang="ar-SA" sz="1500" dirty="0"/>
          </a:p>
        </p:txBody>
      </p:sp>
      <p:sp>
        <p:nvSpPr>
          <p:cNvPr id="75" name="Shape 7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77" name="Text 74"/>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عَمَلِيَّةٌ</a:t>
            </a:r>
            <a:endParaRPr lang="ar-SA" sz="1500" dirty="0"/>
          </a:p>
        </p:txBody>
      </p:sp>
      <p:sp>
        <p:nvSpPr>
          <p:cNvPr id="78" name="Shape 7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0" name="Text 77"/>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عَمَلِيٌّ</a:t>
            </a:r>
            <a:endParaRPr lang="ar-SA" sz="1500" dirty="0"/>
          </a:p>
        </p:txBody>
      </p:sp>
      <p:sp>
        <p:nvSpPr>
          <p:cNvPr id="81" name="Shape 7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4389120" y="4261104"/>
            <a:ext cx="310896" cy="310896"/>
          </a:xfrm>
          <a:prstGeom prst="ellipse">
            <a:avLst/>
          </a:prstGeom>
          <a:solidFill>
            <a:srgbClr val="F4F1EA"/>
          </a:solidFill>
          <a:ln w="12700">
            <a:solidFill>
              <a:srgbClr val="F4F1EA"/>
            </a:solidFill>
            <a:prstDash val="solid"/>
          </a:ln>
        </p:spPr>
      </p:sp>
      <p:sp>
        <p:nvSpPr>
          <p:cNvPr id="83" name="Text 8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84" name="Text 8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يُعَبِّرُ عَنْ</a:t>
            </a:r>
            <a:endParaRPr lang="ar-SA" sz="3000" dirty="0"/>
          </a:p>
        </p:txBody>
      </p:sp>
      <p:sp>
        <p:nvSpPr>
          <p:cNvPr id="85" name="Text 8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expresses</a:t>
            </a:r>
            <a:endParaRPr lang="en-US" sz="1350" dirty="0"/>
          </a:p>
          <a:p>
            <a:pPr indent="0" marL="0">
              <a:buNone/>
            </a:pPr>
            <a:r>
              <a:rPr lang="en-US" sz="1100" i="1" dirty="0">
                <a:solidFill>
                  <a:srgbClr val="5A6472"/>
                </a:solidFill>
                <a:latin typeface="Calibri" pitchFamily="34" charset="0"/>
                <a:cs typeface="Amiri" pitchFamily="2" charset="-78"/>
              </a:rPr>
              <a:t>yu-ʿab-bi-ru ʿan</a:t>
            </a:r>
            <a:endParaRPr lang="en-US" sz="1350" dirty="0"/>
          </a:p>
        </p:txBody>
      </p:sp>
      <p:sp>
        <p:nvSpPr>
          <p:cNvPr id="86" name="Shape 8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7" name="Shape 84"/>
          <p:cNvSpPr/>
          <p:nvPr/>
        </p:nvSpPr>
        <p:spPr>
          <a:xfrm>
            <a:off x="566928" y="4261104"/>
            <a:ext cx="310896" cy="310896"/>
          </a:xfrm>
          <a:prstGeom prst="ellipse">
            <a:avLst/>
          </a:prstGeom>
          <a:solidFill>
            <a:srgbClr val="F4F1EA"/>
          </a:solidFill>
          <a:ln w="12700">
            <a:solidFill>
              <a:srgbClr val="F4F1EA"/>
            </a:solidFill>
            <a:prstDash val="solid"/>
          </a:ln>
        </p:spPr>
      </p:sp>
      <p:sp>
        <p:nvSpPr>
          <p:cNvPr id="88" name="Text 8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89" name="Text 86"/>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يُنَاسِبُ</a:t>
            </a:r>
            <a:endParaRPr lang="ar-SA" sz="3000" dirty="0"/>
          </a:p>
        </p:txBody>
      </p:sp>
      <p:sp>
        <p:nvSpPr>
          <p:cNvPr id="90" name="Text 87"/>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suits</a:t>
            </a:r>
            <a:endParaRPr lang="en-US" sz="1350" dirty="0"/>
          </a:p>
          <a:p>
            <a:pPr indent="0" marL="0">
              <a:buNone/>
            </a:pPr>
            <a:r>
              <a:rPr lang="en-US" sz="1100" i="1" dirty="0">
                <a:solidFill>
                  <a:srgbClr val="5A6472"/>
                </a:solidFill>
                <a:latin typeface="Calibri" pitchFamily="34" charset="0"/>
                <a:cs typeface="Amiri" pitchFamily="2" charset="-78"/>
              </a:rPr>
              <a:t>yu-nā-si-bu</a:t>
            </a:r>
            <a:endParaRPr lang="en-US" sz="1350" dirty="0"/>
          </a:p>
        </p:txBody>
      </p:sp>
      <p:sp>
        <p:nvSpPr>
          <p:cNvPr id="91" name="Text 8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D2-L04 · Fashion and Identity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Opinion and balance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لِأَنَّ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because</a:t>
            </a:r>
            <a:endParaRPr lang="en-US" sz="1350" dirty="0"/>
          </a:p>
          <a:p>
            <a:pPr indent="0" marL="0">
              <a:buNone/>
            </a:pPr>
            <a:r>
              <a:rPr lang="en-US" sz="1100" i="1" dirty="0">
                <a:solidFill>
                  <a:srgbClr val="5A6472"/>
                </a:solidFill>
                <a:latin typeface="Calibri" pitchFamily="34" charset="0"/>
                <a:cs typeface="Amiri" pitchFamily="2" charset="-78"/>
              </a:rPr>
              <a:t>li-ʾan-na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لِذٰلِكَ</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therefore</a:t>
            </a:r>
            <a:endParaRPr lang="en-US" sz="1350" dirty="0"/>
          </a:p>
          <a:p>
            <a:pPr indent="0" marL="0">
              <a:buNone/>
            </a:pPr>
            <a:r>
              <a:rPr lang="en-US" sz="1100" i="1" dirty="0">
                <a:solidFill>
                  <a:srgbClr val="5A6472"/>
                </a:solidFill>
                <a:latin typeface="Calibri" pitchFamily="34" charset="0"/>
                <a:cs typeface="Amiri" pitchFamily="2" charset="-78"/>
              </a:rPr>
              <a:t>li-dhā-li-ka</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وَلٰكِنَّ</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but/however</a:t>
            </a:r>
            <a:endParaRPr lang="en-US" sz="1350" dirty="0"/>
          </a:p>
          <a:p>
            <a:pPr indent="0" marL="0">
              <a:buNone/>
            </a:pPr>
            <a:r>
              <a:rPr lang="en-US" sz="1100" i="1" dirty="0">
                <a:solidFill>
                  <a:srgbClr val="5A6472"/>
                </a:solidFill>
                <a:latin typeface="Calibri" pitchFamily="34" charset="0"/>
                <a:cs typeface="Amiri" pitchFamily="2" charset="-78"/>
              </a:rPr>
              <a:t>wa-lā-kin-na</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بَيْنَمَا</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whereas/while</a:t>
            </a:r>
            <a:endParaRPr lang="en-US" sz="1350" dirty="0"/>
          </a:p>
          <a:p>
            <a:pPr indent="0" marL="0">
              <a:buNone/>
            </a:pPr>
            <a:r>
              <a:rPr lang="en-US" sz="1100" i="1" dirty="0">
                <a:solidFill>
                  <a:srgbClr val="5A6472"/>
                </a:solidFill>
                <a:latin typeface="Calibri" pitchFamily="34" charset="0"/>
                <a:cs typeface="Amiri" pitchFamily="2" charset="-78"/>
              </a:rPr>
              <a:t>bay-na-mā</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42" name="Shape 39"/>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عَلَى الرَّغْمِ مِنْ أَنَّ</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although</a:t>
            </a:r>
            <a:endParaRPr lang="en-US" sz="1350" dirty="0"/>
          </a:p>
          <a:p>
            <a:pPr indent="0" marL="0">
              <a:buNone/>
            </a:pPr>
            <a:r>
              <a:rPr lang="en-US" sz="1100" i="1" dirty="0">
                <a:solidFill>
                  <a:srgbClr val="5A6472"/>
                </a:solidFill>
                <a:latin typeface="Calibri" pitchFamily="34" charset="0"/>
                <a:cs typeface="Amiri" pitchFamily="2" charset="-78"/>
              </a:rPr>
              <a:t>ʿa-lā ar-ragh-mi min an-na</a:t>
            </a:r>
            <a:endParaRPr lang="en-US" sz="1350" dirty="0"/>
          </a:p>
        </p:txBody>
      </p:sp>
      <p:sp>
        <p:nvSpPr>
          <p:cNvPr id="46" name="Shape 4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66928"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49" name="Shape 46"/>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1" name="Text 48"/>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رَأْيِي</a:t>
            </a:r>
            <a:endParaRPr lang="ar-SA" sz="3000" dirty="0"/>
          </a:p>
        </p:txBody>
      </p:sp>
      <p:sp>
        <p:nvSpPr>
          <p:cNvPr id="52" name="Text 49"/>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my opinion</a:t>
            </a:r>
            <a:endParaRPr lang="en-US" sz="1350" dirty="0"/>
          </a:p>
          <a:p>
            <a:pPr indent="0" marL="0">
              <a:buNone/>
            </a:pPr>
            <a:r>
              <a:rPr lang="en-US" sz="1100" i="1" dirty="0">
                <a:solidFill>
                  <a:srgbClr val="5A6472"/>
                </a:solidFill>
                <a:latin typeface="Calibri" pitchFamily="34" charset="0"/>
                <a:cs typeface="Amiri" pitchFamily="2" charset="-78"/>
              </a:rPr>
              <a:t>fī raʾ-yī</a:t>
            </a:r>
            <a:endParaRPr lang="en-US" sz="135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D2-L04 · Fashion and Identity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Opinion and balance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جِهَةٍ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 one hand</a:t>
            </a:r>
            <a:endParaRPr lang="en-US" sz="1350" dirty="0"/>
          </a:p>
          <a:p>
            <a:pPr indent="0" marL="0">
              <a:buNone/>
            </a:pPr>
            <a:r>
              <a:rPr lang="en-US" sz="1100" i="1" dirty="0">
                <a:solidFill>
                  <a:srgbClr val="5A6472"/>
                </a:solidFill>
                <a:latin typeface="Calibri" pitchFamily="34" charset="0"/>
                <a:cs typeface="Amiri" pitchFamily="2" charset="-78"/>
              </a:rPr>
              <a:t>min ji-ha-tin</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جِهَةٍ أُخْرَى</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 the other hand</a:t>
            </a:r>
            <a:endParaRPr lang="en-US" sz="1350" dirty="0"/>
          </a:p>
          <a:p>
            <a:pPr indent="0" marL="0">
              <a:buNone/>
            </a:pPr>
            <a:r>
              <a:rPr lang="en-US" sz="1100" i="1" dirty="0">
                <a:solidFill>
                  <a:srgbClr val="5A6472"/>
                </a:solidFill>
                <a:latin typeface="Calibri" pitchFamily="34" charset="0"/>
                <a:cs typeface="Amiri" pitchFamily="2" charset="-78"/>
              </a:rPr>
              <a:t>min ji-ha-tin ukh-rā</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28" name="Text 2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خُصُوصًا</a:t>
            </a:r>
            <a:endParaRPr lang="ar-SA" sz="3000" dirty="0"/>
          </a:p>
        </p:txBody>
      </p:sp>
      <p:sp>
        <p:nvSpPr>
          <p:cNvPr id="29" name="Text 2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especially</a:t>
            </a:r>
            <a:endParaRPr lang="en-US" sz="1350" dirty="0"/>
          </a:p>
          <a:p>
            <a:pPr indent="0" marL="0">
              <a:buNone/>
            </a:pPr>
            <a:r>
              <a:rPr lang="en-US" sz="1100" i="1" dirty="0">
                <a:solidFill>
                  <a:srgbClr val="5A6472"/>
                </a:solidFill>
                <a:latin typeface="Calibri" pitchFamily="34" charset="0"/>
                <a:cs typeface="Amiri" pitchFamily="2" charset="-78"/>
              </a:rPr>
              <a:t>khu-ṣū-ṣan</a:t>
            </a:r>
            <a:endParaRPr lang="en-US" sz="1350" dirty="0"/>
          </a:p>
        </p:txBody>
      </p:sp>
      <p:sp>
        <p:nvSpPr>
          <p:cNvPr id="30" name="Shape 2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8211312" y="4261104"/>
            <a:ext cx="310896" cy="310896"/>
          </a:xfrm>
          <a:prstGeom prst="ellipse">
            <a:avLst/>
          </a:prstGeom>
          <a:solidFill>
            <a:srgbClr val="F4F1EA"/>
          </a:solidFill>
          <a:ln w="12700">
            <a:solidFill>
              <a:srgbClr val="F4F1EA"/>
            </a:solidFill>
            <a:prstDash val="solid"/>
          </a:ln>
        </p:spPr>
      </p:sp>
      <p:sp>
        <p:nvSpPr>
          <p:cNvPr id="32" name="Text 2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33" name="Text 3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عَادَةً</a:t>
            </a:r>
            <a:endParaRPr lang="ar-SA" sz="3000" dirty="0"/>
          </a:p>
        </p:txBody>
      </p:sp>
      <p:sp>
        <p:nvSpPr>
          <p:cNvPr id="34" name="Text 3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usually</a:t>
            </a:r>
            <a:endParaRPr lang="en-US" sz="1350" dirty="0"/>
          </a:p>
          <a:p>
            <a:pPr indent="0" marL="0">
              <a:buNone/>
            </a:pPr>
            <a:r>
              <a:rPr lang="en-US" sz="1100" i="1" dirty="0">
                <a:solidFill>
                  <a:srgbClr val="5A6472"/>
                </a:solidFill>
                <a:latin typeface="Calibri" pitchFamily="34" charset="0"/>
                <a:cs typeface="Amiri" pitchFamily="2" charset="-78"/>
              </a:rPr>
              <a:t>ʿā-da-tan</a:t>
            </a:r>
            <a:endParaRPr lang="en-US" sz="1350" dirty="0"/>
          </a:p>
        </p:txBody>
      </p:sp>
      <p:sp>
        <p:nvSpPr>
          <p:cNvPr id="35" name="Shape 3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4389120" y="4261104"/>
            <a:ext cx="310896" cy="310896"/>
          </a:xfrm>
          <a:prstGeom prst="ellipse">
            <a:avLst/>
          </a:prstGeom>
          <a:solidFill>
            <a:srgbClr val="F4F1EA"/>
          </a:solidFill>
          <a:ln w="12700">
            <a:solidFill>
              <a:srgbClr val="F4F1EA"/>
            </a:solidFill>
            <a:prstDash val="solid"/>
          </a:ln>
        </p:spPr>
      </p:sp>
      <p:sp>
        <p:nvSpPr>
          <p:cNvPr id="37" name="Text 3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38" name="Text 3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أَحْيَانًا</a:t>
            </a:r>
            <a:endParaRPr lang="ar-SA" sz="3000" dirty="0"/>
          </a:p>
        </p:txBody>
      </p:sp>
      <p:sp>
        <p:nvSpPr>
          <p:cNvPr id="39" name="Text 3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sometimes</a:t>
            </a:r>
            <a:endParaRPr lang="en-US" sz="1350" dirty="0"/>
          </a:p>
          <a:p>
            <a:pPr indent="0" marL="0">
              <a:buNone/>
            </a:pPr>
            <a:r>
              <a:rPr lang="en-US" sz="1100" i="1" dirty="0">
                <a:solidFill>
                  <a:srgbClr val="5A6472"/>
                </a:solidFill>
                <a:latin typeface="Calibri" pitchFamily="34" charset="0"/>
                <a:cs typeface="Amiri" pitchFamily="2" charset="-78"/>
              </a:rPr>
              <a:t>aḥ-yā-nan</a:t>
            </a:r>
            <a:endParaRPr lang="en-US" sz="1350" dirty="0"/>
          </a:p>
        </p:txBody>
      </p:sp>
      <p:sp>
        <p:nvSpPr>
          <p:cNvPr id="40" name="Shape 3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4261104"/>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43" name="Text 40"/>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دَائِمًا</a:t>
            </a:r>
            <a:endParaRPr lang="ar-SA" sz="3000" dirty="0"/>
          </a:p>
        </p:txBody>
      </p:sp>
      <p:sp>
        <p:nvSpPr>
          <p:cNvPr id="44" name="Text 41"/>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always</a:t>
            </a:r>
            <a:endParaRPr lang="en-US" sz="1350" dirty="0"/>
          </a:p>
          <a:p>
            <a:pPr indent="0" marL="0">
              <a:buNone/>
            </a:pPr>
            <a:r>
              <a:rPr lang="en-US" sz="1100" i="1" dirty="0">
                <a:solidFill>
                  <a:srgbClr val="5A6472"/>
                </a:solidFill>
                <a:latin typeface="Calibri" pitchFamily="34" charset="0"/>
                <a:cs typeface="Amiri" pitchFamily="2" charset="-78"/>
              </a:rPr>
              <a:t>dā-ʾi-man</a:t>
            </a:r>
            <a:endParaRPr lang="en-US" sz="13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D2-L04 · Fashion and Identity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Clothing reference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D2-L04</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20" name="Shape 17"/>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قَمِيصٌ</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shirt</a:t>
            </a:r>
            <a:endParaRPr lang="en-US" sz="1350" dirty="0"/>
          </a:p>
          <a:p>
            <a:pPr indent="0" marL="0">
              <a:buNone/>
            </a:pPr>
            <a:r>
              <a:rPr lang="en-US" sz="1100" i="1" dirty="0">
                <a:solidFill>
                  <a:srgbClr val="5A6472"/>
                </a:solidFill>
                <a:latin typeface="Calibri" pitchFamily="34" charset="0"/>
                <a:cs typeface="Amiri" pitchFamily="2" charset="-78"/>
              </a:rPr>
              <a:t>qa-mī-ṣun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قُمْصَانٌ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29" name="Text 26"/>
          <p:cNvSpPr txBox="1"/>
          <p:nvPr/>
        </p:nvSpPr>
        <p:spPr>
          <a:xfrm>
            <a:off x="943660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هٰذَا القَمِيصُ</a:t>
            </a:r>
            <a:endParaRPr lang="ar-SA" sz="135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مُذَكَّرٌ</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36" name="Shape 33"/>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 · pl</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قَمِيصَةٌ</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blouse</a:t>
            </a:r>
            <a:endParaRPr lang="en-US" sz="1350" dirty="0"/>
          </a:p>
          <a:p>
            <a:pPr indent="0" marL="0">
              <a:buNone/>
            </a:pPr>
            <a:r>
              <a:rPr lang="en-US" sz="1100" i="1" dirty="0">
                <a:solidFill>
                  <a:srgbClr val="5A6472"/>
                </a:solidFill>
                <a:latin typeface="Calibri" pitchFamily="34" charset="0"/>
                <a:cs typeface="Amiri" pitchFamily="2" charset="-78"/>
              </a:rPr>
              <a:t>qa-mī-ṣa-tun</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قَمِيصَاتٌ</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45" name="Text 42"/>
          <p:cNvSpPr txBox="1"/>
          <p:nvPr/>
        </p:nvSpPr>
        <p:spPr>
          <a:xfrm>
            <a:off x="5614416"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هٰذِهِ القَمِيصَةُ</a:t>
            </a:r>
            <a:endParaRPr lang="ar-SA" sz="135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مُؤَنَّثٌ</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52" name="Shape 49"/>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pl</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سِرْوَالٌ</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trousers</a:t>
            </a:r>
            <a:endParaRPr lang="en-US" sz="1350" dirty="0"/>
          </a:p>
          <a:p>
            <a:pPr indent="0" marL="0">
              <a:buNone/>
            </a:pPr>
            <a:r>
              <a:rPr lang="en-US" sz="1100" i="1" dirty="0">
                <a:solidFill>
                  <a:srgbClr val="5A6472"/>
                </a:solidFill>
                <a:latin typeface="Calibri" pitchFamily="34" charset="0"/>
                <a:cs typeface="Amiri" pitchFamily="2" charset="-78"/>
              </a:rPr>
              <a:t>sir-wā-lun</a:t>
            </a:r>
            <a:endParaRPr lang="en-US" sz="1350" dirty="0"/>
          </a:p>
        </p:txBody>
      </p:sp>
      <p:sp>
        <p:nvSpPr>
          <p:cNvPr id="56" name="Shape 5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8" name="Text 5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سَرَاوِيلُ</a:t>
            </a:r>
            <a:endParaRPr lang="ar-SA" sz="1500" dirty="0"/>
          </a:p>
        </p:txBody>
      </p:sp>
      <p:sp>
        <p:nvSpPr>
          <p:cNvPr id="59" name="Shape 5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61" name="Text 58"/>
          <p:cNvSpPr txBox="1"/>
          <p:nvPr/>
        </p:nvSpPr>
        <p:spPr>
          <a:xfrm>
            <a:off x="179222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هٰذَا السِّرْوَالُ</a:t>
            </a:r>
            <a:endParaRPr lang="ar-SA" sz="1350" dirty="0"/>
          </a:p>
        </p:txBody>
      </p:sp>
      <p:sp>
        <p:nvSpPr>
          <p:cNvPr id="62" name="Shape 5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4" name="Text 6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مُذَكَّرٌ</a:t>
            </a:r>
            <a:endParaRPr lang="ar-SA" sz="1500" dirty="0"/>
          </a:p>
        </p:txBody>
      </p:sp>
      <p:sp>
        <p:nvSpPr>
          <p:cNvPr id="65" name="Shape 6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8211312"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28</a:t>
            </a:r>
            <a:endParaRPr lang="en-US" sz="1000" dirty="0"/>
          </a:p>
        </p:txBody>
      </p:sp>
      <p:sp>
        <p:nvSpPr>
          <p:cNvPr id="68" name="Shape 65"/>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 · pl</a:t>
            </a:r>
            <a:endParaRPr lang="en-US" sz="800" dirty="0"/>
          </a:p>
        </p:txBody>
      </p:sp>
      <p:sp>
        <p:nvSpPr>
          <p:cNvPr id="70" name="Text 6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تَنُّورَةٌ</a:t>
            </a:r>
            <a:endParaRPr lang="ar-SA" sz="3000" dirty="0"/>
          </a:p>
        </p:txBody>
      </p:sp>
      <p:sp>
        <p:nvSpPr>
          <p:cNvPr id="71" name="Text 6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skirt</a:t>
            </a:r>
            <a:endParaRPr lang="en-US" sz="1350" dirty="0"/>
          </a:p>
          <a:p>
            <a:pPr indent="0" marL="0">
              <a:buNone/>
            </a:pPr>
            <a:r>
              <a:rPr lang="en-US" sz="1100" i="1" dirty="0">
                <a:solidFill>
                  <a:srgbClr val="5A6472"/>
                </a:solidFill>
                <a:latin typeface="Calibri" pitchFamily="34" charset="0"/>
                <a:cs typeface="Amiri" pitchFamily="2" charset="-78"/>
              </a:rPr>
              <a:t>tan-nū-ra-tun</a:t>
            </a:r>
            <a:endParaRPr lang="en-US" sz="1350" dirty="0"/>
          </a:p>
        </p:txBody>
      </p:sp>
      <p:sp>
        <p:nvSpPr>
          <p:cNvPr id="72" name="Shape 6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4" name="Text 71"/>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تَنَانِيرُ</a:t>
            </a:r>
            <a:endParaRPr lang="ar-SA" sz="1500" dirty="0"/>
          </a:p>
        </p:txBody>
      </p:sp>
      <p:sp>
        <p:nvSpPr>
          <p:cNvPr id="75" name="Shape 7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77" name="Text 74"/>
          <p:cNvSpPr txBox="1"/>
          <p:nvPr/>
        </p:nvSpPr>
        <p:spPr>
          <a:xfrm>
            <a:off x="9436608"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هٰذِهِ التَّنُّورَةُ</a:t>
            </a:r>
            <a:endParaRPr lang="ar-SA" sz="1350" dirty="0"/>
          </a:p>
        </p:txBody>
      </p:sp>
      <p:sp>
        <p:nvSpPr>
          <p:cNvPr id="78" name="Shape 7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80" name="Text 77"/>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مُؤَنَّثٌ</a:t>
            </a:r>
            <a:endParaRPr lang="ar-SA" sz="1500" dirty="0"/>
          </a:p>
        </p:txBody>
      </p:sp>
      <p:sp>
        <p:nvSpPr>
          <p:cNvPr id="81" name="Text 7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D2-L04 · Fashion and Identity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Clothing reference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D2-L04</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29</a:t>
            </a:r>
            <a:endParaRPr lang="en-US" sz="1000" dirty="0"/>
          </a:p>
        </p:txBody>
      </p:sp>
      <p:sp>
        <p:nvSpPr>
          <p:cNvPr id="20" name="Shape 17"/>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فُسْتَانٌ</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dress</a:t>
            </a:r>
            <a:endParaRPr lang="en-US" sz="1350" dirty="0"/>
          </a:p>
          <a:p>
            <a:pPr indent="0" marL="0">
              <a:buNone/>
            </a:pPr>
            <a:r>
              <a:rPr lang="en-US" sz="1100" i="1" dirty="0">
                <a:solidFill>
                  <a:srgbClr val="5A6472"/>
                </a:solidFill>
                <a:latin typeface="Calibri" pitchFamily="34" charset="0"/>
                <a:cs typeface="Amiri" pitchFamily="2" charset="-78"/>
              </a:rPr>
              <a:t>fus-tā-nun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فَسَاتِينُ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29" name="Text 26"/>
          <p:cNvSpPr txBox="1"/>
          <p:nvPr/>
        </p:nvSpPr>
        <p:spPr>
          <a:xfrm>
            <a:off x="943660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هٰذَا الفُسْتَانُ</a:t>
            </a:r>
            <a:endParaRPr lang="ar-SA" sz="135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مُذَكَّرٌ</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30</a:t>
            </a:r>
            <a:endParaRPr lang="en-US" sz="1000" dirty="0"/>
          </a:p>
        </p:txBody>
      </p:sp>
      <p:sp>
        <p:nvSpPr>
          <p:cNvPr id="36" name="Shape 33"/>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pl</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مِعْطَفٌ</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coat</a:t>
            </a:r>
            <a:endParaRPr lang="en-US" sz="1350" dirty="0"/>
          </a:p>
          <a:p>
            <a:pPr indent="0" marL="0">
              <a:buNone/>
            </a:pPr>
            <a:r>
              <a:rPr lang="en-US" sz="1100" i="1" dirty="0">
                <a:solidFill>
                  <a:srgbClr val="5A6472"/>
                </a:solidFill>
                <a:latin typeface="Calibri" pitchFamily="34" charset="0"/>
                <a:cs typeface="Amiri" pitchFamily="2" charset="-78"/>
              </a:rPr>
              <a:t>miʿ-ṭa-fun</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مَعَاطِفُ</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45" name="Text 42"/>
          <p:cNvSpPr txBox="1"/>
          <p:nvPr/>
        </p:nvSpPr>
        <p:spPr>
          <a:xfrm>
            <a:off x="5614416"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هٰذَا المِعْطَفُ</a:t>
            </a:r>
            <a:endParaRPr lang="ar-SA" sz="135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مُذَكَّرٌ</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31</a:t>
            </a:r>
            <a:endParaRPr lang="en-US" sz="1000" dirty="0"/>
          </a:p>
        </p:txBody>
      </p:sp>
      <p:sp>
        <p:nvSpPr>
          <p:cNvPr id="52" name="Shape 49"/>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 · pl</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سُتْرَةٌ</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jacket</a:t>
            </a:r>
            <a:endParaRPr lang="en-US" sz="1350" dirty="0"/>
          </a:p>
          <a:p>
            <a:pPr indent="0" marL="0">
              <a:buNone/>
            </a:pPr>
            <a:r>
              <a:rPr lang="en-US" sz="1100" i="1" dirty="0">
                <a:solidFill>
                  <a:srgbClr val="5A6472"/>
                </a:solidFill>
                <a:latin typeface="Calibri" pitchFamily="34" charset="0"/>
                <a:cs typeface="Amiri" pitchFamily="2" charset="-78"/>
              </a:rPr>
              <a:t>sut-ra-tun</a:t>
            </a:r>
            <a:endParaRPr lang="en-US" sz="1350" dirty="0"/>
          </a:p>
        </p:txBody>
      </p:sp>
      <p:sp>
        <p:nvSpPr>
          <p:cNvPr id="56" name="Shape 5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8" name="Text 5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سُتَرٌ</a:t>
            </a:r>
            <a:endParaRPr lang="ar-SA" sz="1500" dirty="0"/>
          </a:p>
        </p:txBody>
      </p:sp>
      <p:sp>
        <p:nvSpPr>
          <p:cNvPr id="59" name="Shape 5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61" name="Text 58"/>
          <p:cNvSpPr txBox="1"/>
          <p:nvPr/>
        </p:nvSpPr>
        <p:spPr>
          <a:xfrm>
            <a:off x="179222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هٰذِهِ السُّتْرَةُ</a:t>
            </a:r>
            <a:endParaRPr lang="ar-SA" sz="1350" dirty="0"/>
          </a:p>
        </p:txBody>
      </p:sp>
      <p:sp>
        <p:nvSpPr>
          <p:cNvPr id="62" name="Shape 5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4" name="Text 6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مُؤَنَّثٌ</a:t>
            </a:r>
            <a:endParaRPr lang="ar-SA" sz="1500" dirty="0"/>
          </a:p>
        </p:txBody>
      </p:sp>
      <p:sp>
        <p:nvSpPr>
          <p:cNvPr id="65" name="Shape 6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8211312"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32</a:t>
            </a:r>
            <a:endParaRPr lang="en-US" sz="1000" dirty="0"/>
          </a:p>
        </p:txBody>
      </p:sp>
      <p:sp>
        <p:nvSpPr>
          <p:cNvPr id="68" name="Shape 65"/>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pl</a:t>
            </a:r>
            <a:endParaRPr lang="en-US" sz="800" dirty="0"/>
          </a:p>
        </p:txBody>
      </p:sp>
      <p:sp>
        <p:nvSpPr>
          <p:cNvPr id="70" name="Text 6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حِذَاءٌ</a:t>
            </a:r>
            <a:endParaRPr lang="ar-SA" sz="3000" dirty="0"/>
          </a:p>
        </p:txBody>
      </p:sp>
      <p:sp>
        <p:nvSpPr>
          <p:cNvPr id="71" name="Text 6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shoes</a:t>
            </a:r>
            <a:endParaRPr lang="en-US" sz="1350" dirty="0"/>
          </a:p>
          <a:p>
            <a:pPr indent="0" marL="0">
              <a:buNone/>
            </a:pPr>
            <a:r>
              <a:rPr lang="en-US" sz="1100" i="1" dirty="0">
                <a:solidFill>
                  <a:srgbClr val="5A6472"/>
                </a:solidFill>
                <a:latin typeface="Calibri" pitchFamily="34" charset="0"/>
                <a:cs typeface="Amiri" pitchFamily="2" charset="-78"/>
              </a:rPr>
              <a:t>ḥi-dhā-ʾun</a:t>
            </a:r>
            <a:endParaRPr lang="en-US" sz="1350" dirty="0"/>
          </a:p>
        </p:txBody>
      </p:sp>
      <p:sp>
        <p:nvSpPr>
          <p:cNvPr id="72" name="Shape 6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4" name="Text 71"/>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أَحْذِيَةٌ</a:t>
            </a:r>
            <a:endParaRPr lang="ar-SA" sz="1500" dirty="0"/>
          </a:p>
        </p:txBody>
      </p:sp>
      <p:sp>
        <p:nvSpPr>
          <p:cNvPr id="75" name="Shape 7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77" name="Text 74"/>
          <p:cNvSpPr txBox="1"/>
          <p:nvPr/>
        </p:nvSpPr>
        <p:spPr>
          <a:xfrm>
            <a:off x="9436608"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هٰذَا الحِذَاءُ</a:t>
            </a:r>
            <a:endParaRPr lang="ar-SA" sz="1350" dirty="0"/>
          </a:p>
        </p:txBody>
      </p:sp>
      <p:sp>
        <p:nvSpPr>
          <p:cNvPr id="78" name="Shape 7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0" name="Text 77"/>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مُذَكَّرٌ</a:t>
            </a:r>
            <a:endParaRPr lang="ar-SA" sz="1500" dirty="0"/>
          </a:p>
        </p:txBody>
      </p:sp>
      <p:sp>
        <p:nvSpPr>
          <p:cNvPr id="81" name="Text 7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D2-L04 · Fashion and Identity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1 · BUILD A BALANCED OPINION (WEBSITE RULES)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Opinion → reason → but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رَأْيٌ + سَبَبٌ + مُقَابَلَةٌ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D2-L04</a:t>
            </a:r>
            <a:endParaRPr lang="en-US" sz="850" dirty="0"/>
          </a:p>
        </p:txBody>
      </p:sp>
      <p:sp>
        <p:nvSpPr>
          <p:cNvPr id="15" name="Text 12"/>
          <p:cNvSpPr txBox="1"/>
          <p:nvPr/>
        </p:nvSpPr>
        <p:spPr>
          <a:xfrm>
            <a:off x="457200" y="1828800"/>
            <a:ext cx="3017520" cy="566928"/>
          </a:xfrm>
          <a:prstGeom prst="rect">
            <a:avLst/>
          </a:prstGeom>
          <a:noFill/>
          <a:ln/>
        </p:spPr>
        <p:txBody>
          <a:bodyPr wrap="square" lIns="0" tIns="0" rIns="0" bIns="0" rtlCol="0" anchor="ctr"/>
          <a:lstStyle/>
          <a:p>
            <a:pPr algn="l" indent="0" marL="0">
              <a:buNone/>
            </a:pPr>
            <a:r>
              <a:rPr lang="en-US" sz="1100" b="1" dirty="0">
                <a:solidFill>
                  <a:srgbClr val="5A6472"/>
                </a:solidFill>
                <a:latin typeface="Calibri" pitchFamily="34" charset="0"/>
                <a:cs typeface="Amiri" pitchFamily="2" charset="-78"/>
              </a:rPr>
              <a:t>English meaning</a:t>
            </a:r>
            <a:endParaRPr lang="en-US" sz="1100" dirty="0"/>
          </a:p>
        </p:txBody>
      </p:sp>
      <p:sp>
        <p:nvSpPr>
          <p:cNvPr id="16" name="Shape 13"/>
          <p:cNvSpPr/>
          <p:nvPr/>
        </p:nvSpPr>
        <p:spPr>
          <a:xfrm>
            <a:off x="9089136" y="1810512"/>
            <a:ext cx="2642616" cy="566928"/>
          </a:xfrm>
          <a:prstGeom prst="roundRect">
            <a:avLst>
              <a:gd name="adj" fmla="val 9677"/>
            </a:avLst>
          </a:prstGeom>
          <a:solidFill>
            <a:srgbClr val="1D5FBF"/>
          </a:solidFill>
          <a:ln w="12700">
            <a:solidFill>
              <a:srgbClr val="1D5FBF"/>
            </a:solidFill>
            <a:prstDash val="solid"/>
          </a:ln>
        </p:spPr>
      </p:sp>
      <p:sp>
        <p:nvSpPr>
          <p:cNvPr id="17" name="Text 14"/>
          <p:cNvSpPr txBox="1"/>
          <p:nvPr/>
        </p:nvSpPr>
        <p:spPr>
          <a:xfrm>
            <a:off x="9089136"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2" charset="-78"/>
                <a:ea typeface="Amiri" pitchFamily="2" charset="-78"/>
                <a:cs typeface="Amiri" pitchFamily="2" charset="-78"/>
              </a:rPr>
              <a:t>الرَّأْيُ</a:t>
            </a:r>
            <a:endParaRPr lang="ar-SA" sz="1850" dirty="0"/>
          </a:p>
        </p:txBody>
      </p:sp>
      <p:sp>
        <p:nvSpPr>
          <p:cNvPr id="18" name="Text 15"/>
          <p:cNvSpPr txBox="1"/>
          <p:nvPr/>
        </p:nvSpPr>
        <p:spPr>
          <a:xfrm>
            <a:off x="9089136"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cs typeface="Amiri" pitchFamily="2" charset="-78"/>
              </a:rPr>
              <a:t>opinion</a:t>
            </a:r>
            <a:endParaRPr lang="en-US" sz="900" dirty="0"/>
          </a:p>
        </p:txBody>
      </p:sp>
      <p:sp>
        <p:nvSpPr>
          <p:cNvPr id="19" name="Shape 16"/>
          <p:cNvSpPr/>
          <p:nvPr/>
        </p:nvSpPr>
        <p:spPr>
          <a:xfrm>
            <a:off x="6336792" y="1810512"/>
            <a:ext cx="2642616" cy="566928"/>
          </a:xfrm>
          <a:prstGeom prst="roundRect">
            <a:avLst>
              <a:gd name="adj" fmla="val 9677"/>
            </a:avLst>
          </a:prstGeom>
          <a:solidFill>
            <a:srgbClr val="1E7B4F"/>
          </a:solidFill>
          <a:ln w="12700">
            <a:solidFill>
              <a:srgbClr val="1E7B4F"/>
            </a:solidFill>
            <a:prstDash val="solid"/>
          </a:ln>
        </p:spPr>
      </p:sp>
      <p:sp>
        <p:nvSpPr>
          <p:cNvPr id="20" name="Text 17"/>
          <p:cNvSpPr txBox="1"/>
          <p:nvPr/>
        </p:nvSpPr>
        <p:spPr>
          <a:xfrm>
            <a:off x="6336792"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2" charset="-78"/>
                <a:ea typeface="Amiri" pitchFamily="2" charset="-78"/>
                <a:cs typeface="Amiri" pitchFamily="2" charset="-78"/>
              </a:rPr>
              <a:t>السَّبَبُ</a:t>
            </a:r>
            <a:endParaRPr lang="ar-SA" sz="1850" dirty="0"/>
          </a:p>
        </p:txBody>
      </p:sp>
      <p:sp>
        <p:nvSpPr>
          <p:cNvPr id="21" name="Text 18"/>
          <p:cNvSpPr txBox="1"/>
          <p:nvPr/>
        </p:nvSpPr>
        <p:spPr>
          <a:xfrm>
            <a:off x="6336792"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cs typeface="Amiri" pitchFamily="2" charset="-78"/>
              </a:rPr>
              <a:t>reason</a:t>
            </a:r>
            <a:endParaRPr lang="en-US" sz="900" dirty="0"/>
          </a:p>
        </p:txBody>
      </p:sp>
      <p:sp>
        <p:nvSpPr>
          <p:cNvPr id="22" name="Shape 19"/>
          <p:cNvSpPr/>
          <p:nvPr/>
        </p:nvSpPr>
        <p:spPr>
          <a:xfrm>
            <a:off x="3584448" y="1810512"/>
            <a:ext cx="2642616" cy="566928"/>
          </a:xfrm>
          <a:prstGeom prst="roundRect">
            <a:avLst>
              <a:gd name="adj" fmla="val 9677"/>
            </a:avLst>
          </a:prstGeom>
          <a:solidFill>
            <a:srgbClr val="6B4C9A"/>
          </a:solidFill>
          <a:ln w="12700">
            <a:solidFill>
              <a:srgbClr val="6B4C9A"/>
            </a:solidFill>
            <a:prstDash val="solid"/>
          </a:ln>
        </p:spPr>
      </p:sp>
      <p:sp>
        <p:nvSpPr>
          <p:cNvPr id="23" name="Text 20"/>
          <p:cNvSpPr txBox="1"/>
          <p:nvPr/>
        </p:nvSpPr>
        <p:spPr>
          <a:xfrm>
            <a:off x="3584448"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2" charset="-78"/>
                <a:ea typeface="Amiri" pitchFamily="2" charset="-78"/>
                <a:cs typeface="Amiri" pitchFamily="2" charset="-78"/>
              </a:rPr>
              <a:t>المُقَابَلَةُ</a:t>
            </a:r>
            <a:endParaRPr lang="ar-SA" sz="1850" dirty="0"/>
          </a:p>
        </p:txBody>
      </p:sp>
      <p:sp>
        <p:nvSpPr>
          <p:cNvPr id="24" name="Text 21"/>
          <p:cNvSpPr txBox="1"/>
          <p:nvPr/>
        </p:nvSpPr>
        <p:spPr>
          <a:xfrm>
            <a:off x="3584448"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cs typeface="Amiri" pitchFamily="2" charset="-78"/>
              </a:rPr>
              <a:t>contrast</a:t>
            </a:r>
            <a:endParaRPr lang="en-US" sz="900" dirty="0"/>
          </a:p>
        </p:txBody>
      </p:sp>
      <p:sp>
        <p:nvSpPr>
          <p:cNvPr id="25" name="Text 22"/>
          <p:cNvSpPr txBox="1"/>
          <p:nvPr/>
        </p:nvSpPr>
        <p:spPr>
          <a:xfrm>
            <a:off x="457200" y="2487168"/>
            <a:ext cx="2926080" cy="82296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In my opinion, simple clothes are better because they are practical, but I like elegant clothes on special occasions.</a:t>
            </a:r>
            <a:endParaRPr lang="en-US" sz="1200" dirty="0"/>
          </a:p>
        </p:txBody>
      </p:sp>
      <p:sp>
        <p:nvSpPr>
          <p:cNvPr id="26" name="Shape 23"/>
          <p:cNvSpPr/>
          <p:nvPr/>
        </p:nvSpPr>
        <p:spPr>
          <a:xfrm>
            <a:off x="9089136" y="2487168"/>
            <a:ext cx="2642616" cy="822960"/>
          </a:xfrm>
          <a:prstGeom prst="roundRect">
            <a:avLst>
              <a:gd name="adj" fmla="val 6667"/>
            </a:avLst>
          </a:prstGeom>
          <a:solidFill>
            <a:srgbClr val="EEF3FA"/>
          </a:solidFill>
          <a:ln w="9525">
            <a:solidFill>
              <a:srgbClr val="EEF3FA"/>
            </a:solidFill>
            <a:prstDash val="solid"/>
          </a:ln>
        </p:spPr>
      </p:sp>
      <p:sp>
        <p:nvSpPr>
          <p:cNvPr id="27" name="Text 24"/>
          <p:cNvSpPr txBox="1"/>
          <p:nvPr/>
        </p:nvSpPr>
        <p:spPr>
          <a:xfrm>
            <a:off x="9162288" y="2487168"/>
            <a:ext cx="2496312" cy="822960"/>
          </a:xfrm>
          <a:prstGeom prst="rect">
            <a:avLst/>
          </a:prstGeom>
          <a:noFill/>
          <a:ln/>
        </p:spPr>
        <p:txBody>
          <a:bodyPr wrap="square" lIns="0" tIns="0" rIns="0" bIns="0" rtlCol="0" anchor="ctr"/>
          <a:lstStyle/>
          <a:p>
            <a:pPr rtl="1" algn="ctr" indent="0" marL="0">
              <a:lnSpc>
                <a:spcPct val="120000"/>
              </a:lnSpc>
              <a:buNone/>
            </a:pPr>
            <a:r>
              <a:rPr lang="ar-SA" altLang="en-US" sz="1700" b="1" dirty="0">
                <a:solidFill>
                  <a:srgbClr val="0E7C86"/>
                </a:solidFill>
                <a:latin typeface="Amiri" pitchFamily="2" charset="-78"/>
                <a:ea typeface="Amiri" pitchFamily="2" charset="-78"/>
                <a:cs typeface="Amiri" pitchFamily="2" charset="-78"/>
              </a:rPr>
              <a:t>فِي رَأْيِي</a:t>
            </a:r>
            <a:pPr rtl="1" algn="ct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 المَلَابِسُ البَسِيطَةُ أَفْضَلُ</a:t>
            </a:r>
            <a:endParaRPr lang="ar-SA" sz="1700" dirty="0"/>
          </a:p>
        </p:txBody>
      </p:sp>
      <p:sp>
        <p:nvSpPr>
          <p:cNvPr id="28" name="Shape 25"/>
          <p:cNvSpPr/>
          <p:nvPr/>
        </p:nvSpPr>
        <p:spPr>
          <a:xfrm>
            <a:off x="6336792" y="2487168"/>
            <a:ext cx="2642616" cy="822960"/>
          </a:xfrm>
          <a:prstGeom prst="roundRect">
            <a:avLst>
              <a:gd name="adj" fmla="val 6667"/>
            </a:avLst>
          </a:prstGeom>
          <a:solidFill>
            <a:srgbClr val="E8F4EC"/>
          </a:solidFill>
          <a:ln w="9525">
            <a:solidFill>
              <a:srgbClr val="E8F4EC"/>
            </a:solidFill>
            <a:prstDash val="solid"/>
          </a:ln>
        </p:spPr>
      </p:sp>
      <p:sp>
        <p:nvSpPr>
          <p:cNvPr id="29" name="Text 26"/>
          <p:cNvSpPr txBox="1"/>
          <p:nvPr/>
        </p:nvSpPr>
        <p:spPr>
          <a:xfrm>
            <a:off x="6409944" y="2487168"/>
            <a:ext cx="2496312" cy="82296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لِأَنَّهَا</a:t>
            </a:r>
            <a:pPr rtl="1" algn="ctr" indent="0" marL="0">
              <a:buNone/>
            </a:pPr>
            <a:r>
              <a:rPr lang="ar-SA" altLang="en-US" sz="2400" b="1" dirty="0">
                <a:solidFill>
                  <a:srgbClr val="1B3B6F"/>
                </a:solidFill>
                <a:latin typeface="Amiri" pitchFamily="2" charset="-78"/>
                <a:ea typeface="Amiri" pitchFamily="2" charset="-78"/>
                <a:cs typeface="Amiri" pitchFamily="2" charset="-78"/>
              </a:rPr>
              <a:t> عَمَلِيَّةٌ،</a:t>
            </a:r>
            <a:endParaRPr lang="ar-SA" sz="2400" dirty="0"/>
          </a:p>
        </p:txBody>
      </p:sp>
      <p:sp>
        <p:nvSpPr>
          <p:cNvPr id="30" name="Shape 27"/>
          <p:cNvSpPr/>
          <p:nvPr/>
        </p:nvSpPr>
        <p:spPr>
          <a:xfrm>
            <a:off x="3584448" y="2487168"/>
            <a:ext cx="2642616" cy="822960"/>
          </a:xfrm>
          <a:prstGeom prst="roundRect">
            <a:avLst>
              <a:gd name="adj" fmla="val 6667"/>
            </a:avLst>
          </a:prstGeom>
          <a:solidFill>
            <a:srgbClr val="F1ECF7"/>
          </a:solidFill>
          <a:ln w="9525">
            <a:solidFill>
              <a:srgbClr val="F1ECF7"/>
            </a:solidFill>
            <a:prstDash val="solid"/>
          </a:ln>
        </p:spPr>
      </p:sp>
      <p:sp>
        <p:nvSpPr>
          <p:cNvPr id="31" name="Text 28"/>
          <p:cNvSpPr txBox="1"/>
          <p:nvPr/>
        </p:nvSpPr>
        <p:spPr>
          <a:xfrm>
            <a:off x="3657600" y="2487168"/>
            <a:ext cx="2496312" cy="822960"/>
          </a:xfrm>
          <a:prstGeom prst="rect">
            <a:avLst/>
          </a:prstGeom>
          <a:noFill/>
          <a:ln/>
        </p:spPr>
        <p:txBody>
          <a:bodyPr wrap="square" lIns="0" tIns="0" rIns="0" bIns="0" rtlCol="0" anchor="ctr"/>
          <a:lstStyle/>
          <a:p>
            <a:pPr rtl="1" algn="ctr" indent="0" marL="0">
              <a:lnSpc>
                <a:spcPct val="120000"/>
              </a:lnSpc>
              <a:buNone/>
            </a:pPr>
            <a:r>
              <a:rPr lang="ar-SA" altLang="en-US" sz="1550" b="1" dirty="0">
                <a:solidFill>
                  <a:srgbClr val="0E7C86"/>
                </a:solidFill>
                <a:latin typeface="Amiri" pitchFamily="2" charset="-78"/>
                <a:ea typeface="Amiri" pitchFamily="2" charset="-78"/>
                <a:cs typeface="Amiri" pitchFamily="2" charset="-78"/>
              </a:rPr>
              <a:t>وَلٰكِنَّنِي</a:t>
            </a:r>
            <a:pPr rtl="1" algn="ct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 أُحِبُّ المَلَابِسَ الأَنِيقَةَ فِي المُنَاسَبَاتِ.</a:t>
            </a:r>
            <a:endParaRPr lang="ar-SA" sz="1550" dirty="0"/>
          </a:p>
        </p:txBody>
      </p:sp>
      <p:sp>
        <p:nvSpPr>
          <p:cNvPr id="32" name="Text 29"/>
          <p:cNvSpPr txBox="1"/>
          <p:nvPr/>
        </p:nvSpPr>
        <p:spPr>
          <a:xfrm>
            <a:off x="457200" y="3419856"/>
            <a:ext cx="2926080" cy="82296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I prefer calm colours because they suit school, but I wear bright colours at weddings.</a:t>
            </a:r>
            <a:endParaRPr lang="en-US" sz="1200" dirty="0"/>
          </a:p>
        </p:txBody>
      </p:sp>
      <p:sp>
        <p:nvSpPr>
          <p:cNvPr id="33" name="Shape 30"/>
          <p:cNvSpPr/>
          <p:nvPr/>
        </p:nvSpPr>
        <p:spPr>
          <a:xfrm>
            <a:off x="9089136" y="3419856"/>
            <a:ext cx="2642616" cy="822960"/>
          </a:xfrm>
          <a:prstGeom prst="roundRect">
            <a:avLst>
              <a:gd name="adj" fmla="val 6667"/>
            </a:avLst>
          </a:prstGeom>
          <a:solidFill>
            <a:srgbClr val="EEF3FA"/>
          </a:solidFill>
          <a:ln w="9525">
            <a:solidFill>
              <a:srgbClr val="EEF3FA"/>
            </a:solidFill>
            <a:prstDash val="solid"/>
          </a:ln>
        </p:spPr>
      </p:sp>
      <p:sp>
        <p:nvSpPr>
          <p:cNvPr id="34" name="Text 31"/>
          <p:cNvSpPr txBox="1"/>
          <p:nvPr/>
        </p:nvSpPr>
        <p:spPr>
          <a:xfrm>
            <a:off x="9162288" y="3419856"/>
            <a:ext cx="2496312" cy="82296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أُفَضِّلُ الأَلْوَانَ الهَادِئَةَ</a:t>
            </a:r>
            <a:endParaRPr lang="ar-SA" sz="2400" dirty="0"/>
          </a:p>
        </p:txBody>
      </p:sp>
      <p:sp>
        <p:nvSpPr>
          <p:cNvPr id="35" name="Shape 32"/>
          <p:cNvSpPr/>
          <p:nvPr/>
        </p:nvSpPr>
        <p:spPr>
          <a:xfrm>
            <a:off x="6336792" y="3419856"/>
            <a:ext cx="2642616" cy="822960"/>
          </a:xfrm>
          <a:prstGeom prst="roundRect">
            <a:avLst>
              <a:gd name="adj" fmla="val 6667"/>
            </a:avLst>
          </a:prstGeom>
          <a:solidFill>
            <a:srgbClr val="E8F4EC"/>
          </a:solidFill>
          <a:ln w="9525">
            <a:solidFill>
              <a:srgbClr val="E8F4EC"/>
            </a:solidFill>
            <a:prstDash val="solid"/>
          </a:ln>
        </p:spPr>
      </p:sp>
      <p:sp>
        <p:nvSpPr>
          <p:cNvPr id="36" name="Text 33"/>
          <p:cNvSpPr txBox="1"/>
          <p:nvPr/>
        </p:nvSpPr>
        <p:spPr>
          <a:xfrm>
            <a:off x="6409944" y="3419856"/>
            <a:ext cx="2496312" cy="82296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لِأَنَّهَا</a:t>
            </a:r>
            <a:pPr rtl="1" algn="ctr" indent="0" marL="0">
              <a:buNone/>
            </a:pPr>
            <a:r>
              <a:rPr lang="ar-SA" altLang="en-US" sz="2400" b="1" dirty="0">
                <a:solidFill>
                  <a:srgbClr val="1B3B6F"/>
                </a:solidFill>
                <a:latin typeface="Amiri" pitchFamily="2" charset="-78"/>
                <a:ea typeface="Amiri" pitchFamily="2" charset="-78"/>
                <a:cs typeface="Amiri" pitchFamily="2" charset="-78"/>
              </a:rPr>
              <a:t> تُنَاسِبُ المَدْرَسَةَ،</a:t>
            </a:r>
            <a:endParaRPr lang="ar-SA" sz="2400" dirty="0"/>
          </a:p>
        </p:txBody>
      </p:sp>
      <p:sp>
        <p:nvSpPr>
          <p:cNvPr id="37" name="Shape 34"/>
          <p:cNvSpPr/>
          <p:nvPr/>
        </p:nvSpPr>
        <p:spPr>
          <a:xfrm>
            <a:off x="3584448" y="3419856"/>
            <a:ext cx="2642616" cy="822960"/>
          </a:xfrm>
          <a:prstGeom prst="roundRect">
            <a:avLst>
              <a:gd name="adj" fmla="val 6667"/>
            </a:avLst>
          </a:prstGeom>
          <a:solidFill>
            <a:srgbClr val="F1ECF7"/>
          </a:solidFill>
          <a:ln w="9525">
            <a:solidFill>
              <a:srgbClr val="F1ECF7"/>
            </a:solidFill>
            <a:prstDash val="solid"/>
          </a:ln>
        </p:spPr>
      </p:sp>
      <p:sp>
        <p:nvSpPr>
          <p:cNvPr id="38" name="Text 35"/>
          <p:cNvSpPr txBox="1"/>
          <p:nvPr/>
        </p:nvSpPr>
        <p:spPr>
          <a:xfrm>
            <a:off x="3657600" y="3419856"/>
            <a:ext cx="2496312" cy="822960"/>
          </a:xfrm>
          <a:prstGeom prst="rect">
            <a:avLst/>
          </a:prstGeom>
          <a:noFill/>
          <a:ln/>
        </p:spPr>
        <p:txBody>
          <a:bodyPr wrap="square" lIns="0" tIns="0" rIns="0" bIns="0" rtlCol="0" anchor="ctr"/>
          <a:lstStyle/>
          <a:p>
            <a:pPr rtl="1" algn="ctr" indent="0" marL="0">
              <a:lnSpc>
                <a:spcPct val="120000"/>
              </a:lnSpc>
              <a:buNone/>
            </a:pPr>
            <a:r>
              <a:rPr lang="ar-SA" altLang="en-US" sz="1550" b="1" dirty="0">
                <a:solidFill>
                  <a:srgbClr val="0E7C86"/>
                </a:solidFill>
                <a:latin typeface="Amiri" pitchFamily="2" charset="-78"/>
                <a:ea typeface="Amiri" pitchFamily="2" charset="-78"/>
                <a:cs typeface="Amiri" pitchFamily="2" charset="-78"/>
              </a:rPr>
              <a:t>وَلٰكِنَّنِي</a:t>
            </a:r>
            <a:pPr rtl="1" algn="ct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 أَلْبَسُ أَلْوَانًا زَاهِيَةً فِي الأَعْرَاسِ.</a:t>
            </a:r>
            <a:endParaRPr lang="ar-SA" sz="1550" dirty="0"/>
          </a:p>
        </p:txBody>
      </p:sp>
      <p:sp>
        <p:nvSpPr>
          <p:cNvPr id="39" name="Text 36"/>
          <p:cNvSpPr txBox="1"/>
          <p:nvPr/>
        </p:nvSpPr>
        <p:spPr>
          <a:xfrm>
            <a:off x="457200" y="5989320"/>
            <a:ext cx="11274552" cy="320040"/>
          </a:xfrm>
          <a:prstGeom prst="rect">
            <a:avLst/>
          </a:prstGeom>
          <a:noFill/>
          <a:ln/>
        </p:spPr>
        <p:txBody>
          <a:bodyPr wrap="square" lIns="0" tIns="0" rIns="0" bIns="0" rtlCol="0" anchor="ctr"/>
          <a:lstStyle/>
          <a:p>
            <a:pPr algn="l" indent="0" marL="0">
              <a:buNone/>
            </a:pPr>
            <a:r>
              <a:rPr lang="en-US" sz="1200" b="1" dirty="0">
                <a:solidFill>
                  <a:srgbClr val="8A6D1E"/>
                </a:solidFill>
                <a:latin typeface="Calibri" pitchFamily="34" charset="0"/>
                <a:cs typeface="Amiri" pitchFamily="2" charset="-78"/>
              </a:rPr>
              <a:t>Clothes and colours are plural THINGS → “because they” = li-annahā (feminine singular).</a:t>
            </a:r>
            <a:endParaRPr lang="en-US" sz="12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D2-L04 · Fashion and Identity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CONCESSION, EXPRESSION AND RESPECT (WEBSITE RULES)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Although … · it expresses … · respectfully</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عَلَى الرَّغْمِ مِنْ أَنَّ · يُعَبِّرُ عَنْ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D2-L04</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645920" cy="274320"/>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8232648"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CONCESSION · STRETCH</a:t>
            </a:r>
            <a:endParaRPr lang="en-US" sz="850" dirty="0"/>
          </a:p>
        </p:txBody>
      </p:sp>
      <p:sp>
        <p:nvSpPr>
          <p:cNvPr id="18" name="Text 15"/>
          <p:cNvSpPr txBox="1"/>
          <p:nvPr/>
        </p:nvSpPr>
        <p:spPr>
          <a:xfrm>
            <a:off x="9924288" y="1874520"/>
            <a:ext cx="1670304" cy="365760"/>
          </a:xfrm>
          <a:prstGeom prst="rect">
            <a:avLst/>
          </a:prstGeom>
          <a:noFill/>
          <a:ln/>
        </p:spPr>
        <p:txBody>
          <a:bodyPr wrap="square" lIns="0" tIns="0" rIns="0" bIns="0" rtlCol="0" anchor="ctr"/>
          <a:lstStyle/>
          <a:p>
            <a:pPr rtl="1" algn="r" indent="0" marL="0">
              <a:buNone/>
            </a:pPr>
            <a:r>
              <a:rPr lang="ar-SA" altLang="en-US" sz="1550" b="1" dirty="0">
                <a:solidFill>
                  <a:srgbClr val="8A6D1E"/>
                </a:solidFill>
                <a:latin typeface="Amiri" pitchFamily="2" charset="-78"/>
                <a:ea typeface="Amiri" pitchFamily="2" charset="-78"/>
                <a:cs typeface="Amiri" pitchFamily="2" charset="-78"/>
              </a:rPr>
              <a:t>عَلَى الرَّغْمِ مِنْ أَنَّ … فَإِنَّ</a:t>
            </a:r>
            <a:endParaRPr lang="ar-SA" sz="155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عَلَى الرَّغْمِ مِنْ أَنَّ المَوْضَةَ مُهِمَّةٌ، فَإِنَّ الرَّاحَةَ أَهَمُّ.</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Although fashion is important, comfort is more important.</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The other side first, then yours.</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64592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EXPRESSION · DEVELOP</a:t>
            </a:r>
            <a:endParaRPr lang="en-US" sz="850" dirty="0"/>
          </a:p>
        </p:txBody>
      </p:sp>
      <p:sp>
        <p:nvSpPr>
          <p:cNvPr id="26" name="Text 23"/>
          <p:cNvSpPr txBox="1"/>
          <p:nvPr/>
        </p:nvSpPr>
        <p:spPr>
          <a:xfrm>
            <a:off x="6105144"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يُعَبِّرُ عَنْ</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2" charset="-78"/>
                <a:ea typeface="Amiri" pitchFamily="2" charset="-78"/>
                <a:cs typeface="Amiri" pitchFamily="2" charset="-78"/>
              </a:rPr>
              <a:t>أُسْلُوبُهَا يُعَبِّرُ عَنْ ذَوْقِهَا.</a:t>
            </a:r>
            <a:endParaRPr lang="ar-SA" sz="30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Her style expresses her taste.</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Her style / her taste: both -hā.</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234440" cy="274320"/>
          </a:xfrm>
          <a:prstGeom prst="roundRect">
            <a:avLst>
              <a:gd name="adj" fmla="val 50000"/>
            </a:avLst>
          </a:prstGeom>
          <a:solidFill>
            <a:srgbClr val="1E7B4F"/>
          </a:solidFill>
          <a:ln w="12700">
            <a:solidFill>
              <a:srgbClr val="1E7B4F"/>
            </a:solidFill>
            <a:prstDash val="solid"/>
          </a:ln>
        </p:spPr>
      </p:sp>
      <p:sp>
        <p:nvSpPr>
          <p:cNvPr id="33" name="Text 30"/>
          <p:cNvSpPr txBox="1"/>
          <p:nvPr/>
        </p:nvSpPr>
        <p:spPr>
          <a:xfrm>
            <a:off x="594360"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RESPECT · CORE</a:t>
            </a:r>
            <a:endParaRPr lang="en-US" sz="850" dirty="0"/>
          </a:p>
        </p:txBody>
      </p:sp>
      <p:sp>
        <p:nvSpPr>
          <p:cNvPr id="34" name="Text 31"/>
          <p:cNvSpPr txBox="1"/>
          <p:nvPr/>
        </p:nvSpPr>
        <p:spPr>
          <a:xfrm>
            <a:off x="1874520" y="1874520"/>
            <a:ext cx="20817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عَنِ المَلَابِسِ لَا عَنِ النَّاسِ</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350" b="1" dirty="0">
                <a:solidFill>
                  <a:srgbClr val="1B3B6F"/>
                </a:solidFill>
                <a:latin typeface="Amiri" pitchFamily="2" charset="-78"/>
                <a:ea typeface="Amiri" pitchFamily="2" charset="-78"/>
                <a:cs typeface="Amiri" pitchFamily="2" charset="-78"/>
              </a:rPr>
              <a:t>أُسْلُوبُهُ مُخْتَلِفٌ، وَيُعَبِّرُ عَنْ ذَوْقِهِ.</a:t>
            </a:r>
            <a:endParaRPr lang="ar-SA" sz="23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His style is different, and it expresses his taste.</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Judge the clothes, not the person.</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value: do not treat style as proof of personality.</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أُسْلُوبُهَا مُخْتَلِفٌ وَيُعَبِّرُ عَنْ ذَوْقِهَا.</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ea typeface="Amiri" pitchFamily="2" charset="-78"/>
                <a:cs typeface="Amiri" pitchFamily="2" charset="-78"/>
              </a:rPr>
              <a:t>هِيَ سَيِّئَةٌ لِأَنَّ فُسْتَانَهَا أَحْمَرُ.</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D2-L04 · Fashion and Identity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Expressing and qualifying opinions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التَّعْبِيرُ عَنِ الرَّأْيِ وَتَقْيِيدُهُ</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D2-L04</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Opinion plus reason</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فِي رَأْيِي ... لِأَنَّ ...</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فِي رَأْيِي، المَلَابِسُ البَسِيطَةُ أَفْضَلُ لِأَنَّهَا عَمَلِيَّةٌ.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Contrast</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أُفَضِّلُ ... وَلٰكِنَّ ...</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أُفَضِّلُ الأَلْوَانَ الهَادِئَةَ، وَلٰكِنَّنِي أَلْبَسُ أَلْوَانًا زَاهِيَةً فِي المُنَاسَبَاتِ.</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Concession</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عَلَى الرَّغْمِ مِنْ أَنَّ ... فَإِنَّ ...</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عَلَى الرَّغْمِ مِنْ أَنَّ المَوْضَةَ مُهِمَّةٌ، فَإِنَّ الرَّاحَةَ أَهَمُّ.</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Identity and expression</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الأُسْلُوبُ يُعَبِّرُ عَنْ ...</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أُسْلُوبُهَا يُعَبِّرُ عَنْ شَخْصِيَّتِهَا.</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D2-L04 · Fashion and Identity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يُعَبِّرُ عَنْ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buys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compares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expresses</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2" name="Text 29"/>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الرَّاحَةُ ___ مِنَ اتِّبَاعِ المَوْضَةِ.</a:t>
            </a:r>
            <a:endParaRPr lang="ar-SA" sz="150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أَهَمُّ</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مُهِمَّةٌ</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أَكْثَرٌ</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softens an opinion?</a:t>
            </a:r>
            <a:endParaRPr lang="en-US" sz="125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دَائِمًا وَبِدُونِ اسْتِثْنَاءٍ</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بَعْضِ الأَحْيَانِ</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شَكَّ أَبَدًا</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accurate reference.</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أُسْلُوبُهَا يُعَبِّرُ عَنْ شَخْصِيَّتِهَا.</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أُسْلُوبُهُ يُعَبِّرُ عَنْ شَخْصِيَّتِهَا.</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أُسْلُوبُهَا تُعَبِّرُ عَنْ شَخْصِيَّتِهِ.</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D2-L04 · Fashion and Identity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يُعَبِّرُ عَنْ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buys</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compares</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expresses</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means expresses.</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الرَّاحَةُ ___ مِنَ اتِّبَاعِ المَوْضَةِ.</a:t>
            </a:r>
            <a:endParaRPr lang="ar-SA" sz="150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أَهَمُّ</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مُهِمَّةٌ</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أَكْثَرٌ</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comparative pattern is </a:t>
            </a:r>
            <a:pPr algn="l" indent="0" marL="0">
              <a:buNone/>
            </a:pPr>
            <a:r>
              <a:rPr lang="ar-SA" altLang="en-US" sz="1350" dirty="0">
                <a:solidFill>
                  <a:srgbClr val="8A6D1E"/>
                </a:solidFill>
                <a:latin typeface="Amiri" pitchFamily="2" charset="-78"/>
                <a:ea typeface="Amiri" pitchFamily="2" charset="-78"/>
                <a:cs typeface="Amiri" pitchFamily="2" charset="-78"/>
              </a:rPr>
              <a:t>أَهَمُّ مِنْ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softens an opinion?</a:t>
            </a:r>
            <a:endParaRPr lang="en-US" sz="125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دَائِمًا وَبِدُونِ اسْتِثْنَاءٍ</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فِي بَعْضِ الأَحْيَانِ</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لَا شَكَّ أَبَدًا</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avoids over-generalisation.</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accurate reference.</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أُسْلُوبُهَا يُعَبِّرُ عَنْ شَخْصِيَّتِهَا.</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أُسْلُوبُهُ يُعَبِّرُ عَنْ شَخْصِيَّتِهَا.</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أُسْلُوبُهَا تُعَبِّرُ عَنْ شَخْصِيَّتِهِ.</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All references are feminine.</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D2-L04 · Fashion and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give a balanced opinion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D2-L04</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My style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2" charset="-78"/>
                <a:ea typeface="Amiri" pitchFamily="2" charset="-78"/>
                <a:cs typeface="Amiri" pitchFamily="2" charset="-78"/>
              </a:rPr>
              <a:t>أُسْلُوبِي بَسِيطٌ وَمُحْتَشِمٌ.</a:t>
            </a:r>
            <a:endParaRPr lang="ar-SA" sz="25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Two style adjectives.</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Opinion + reason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فِي رَأْيِي</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الرَّاحَةُ مُهِمَّةٌ </a:t>
            </a:r>
            <a:pPr rtl="1" algn="ctr" indent="0" marL="0">
              <a:lnSpc>
                <a:spcPct val="120000"/>
              </a:lnSpc>
              <a:buNone/>
            </a:pPr>
            <a:r>
              <a:rPr lang="ar-SA" altLang="en-US" sz="1750" b="1" dirty="0">
                <a:solidFill>
                  <a:srgbClr val="1D5FBF"/>
                </a:solidFill>
                <a:latin typeface="Amiri" pitchFamily="2" charset="-78"/>
                <a:ea typeface="Amiri" pitchFamily="2" charset="-78"/>
                <a:cs typeface="Amiri" pitchFamily="2" charset="-78"/>
              </a:rPr>
              <a:t>لِأَنَّنِي</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أَتَحَرَّكُ كَثِيرًا.</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Why? Because I …</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Contrast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D6336C"/>
                </a:solidFill>
                <a:latin typeface="Amiri" pitchFamily="2" charset="-78"/>
                <a:ea typeface="Amiri" pitchFamily="2" charset="-78"/>
                <a:cs typeface="Amiri" pitchFamily="2" charset="-78"/>
              </a:rPr>
              <a:t>وَلٰكِنَّنِي</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أَلْبَسُ مَلَابِسَ أَنِيقَةً فِي المُنَاسَبَاتِ.</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The other side.</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Concession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D6336C"/>
                </a:solidFill>
                <a:latin typeface="Amiri" pitchFamily="2" charset="-78"/>
                <a:ea typeface="Amiri" pitchFamily="2" charset="-78"/>
                <a:cs typeface="Amiri" pitchFamily="2" charset="-78"/>
              </a:rPr>
              <a:t>عَلَى الرَّغْمِ مِنْ أَنَّ</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المَوْضَةَ مُمْتِعَةٌ، </a:t>
            </a:r>
            <a:pPr rtl="1" algn="ctr" indent="0" marL="0">
              <a:lnSpc>
                <a:spcPct val="120000"/>
              </a:lnSpc>
              <a:buNone/>
            </a:pPr>
            <a:r>
              <a:rPr lang="ar-SA" altLang="en-US" sz="1750" b="1" dirty="0">
                <a:solidFill>
                  <a:srgbClr val="D6336C"/>
                </a:solidFill>
                <a:latin typeface="Amiri" pitchFamily="2" charset="-78"/>
                <a:ea typeface="Amiri" pitchFamily="2" charset="-78"/>
                <a:cs typeface="Amiri" pitchFamily="2" charset="-78"/>
              </a:rPr>
              <a:t>فَإِنَّ</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الرَّاحَةَ أَهَمُّ.</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Balanced conclusion.</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OPINION</a:t>
            </a:r>
            <a:endParaRPr lang="en-US" sz="800" dirty="0"/>
          </a:p>
        </p:txBody>
      </p:sp>
      <p:sp>
        <p:nvSpPr>
          <p:cNvPr id="47" name="Shape 43"/>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REASON</a:t>
            </a:r>
            <a:endParaRPr lang="en-US" sz="800" dirty="0"/>
          </a:p>
        </p:txBody>
      </p:sp>
      <p:sp>
        <p:nvSpPr>
          <p:cNvPr id="49" name="Shape 45"/>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CONTRAST / CONCESSION</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أُسْلُوبِي بَسِيطٌ وَمُحْتَشِمٌ.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فِي رَأْيِي</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الرَّاحَةُ مُهِمَّةٌ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لِأَنَّنِي</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أَتَحَرَّكُ كَثِيرًا فِي المَدْرَسَةِ،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وَلٰكِنَّنِي</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أَلْبَسُ مَلَابِسَ أَنِيقَةً فِي المُنَاسَبَاتِ.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عَلَى الرَّغْمِ مِنْ أَنَّ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المَوْضَةَ مُمْتِعَةٌ،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فَإِنَّ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الرَّاحَةَ أَهَمُّ.</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My style is simple and modest. In my opinion, comfort is important because I move around a lot at school, but I wear elegant clothes on special occasions. Although fashion is fun, comfort is more important.</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D2-L04 · Fashion and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D2-L04</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فِي رَأْيِي، المَلَابِسُ البَسِيطَةُ أَفْضَلُ لِأَنَّهَا عَمَلِيَّةٌ.</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In my opinion, simple clothes are better because they are practical.</a:t>
            </a:r>
            <a:endParaRPr lang="en-US" sz="1250" dirty="0"/>
          </a:p>
          <a:p>
            <a:pPr indent="0" marL="0">
              <a:buNone/>
            </a:pPr>
            <a:r>
              <a:rPr lang="en-US" sz="1050" i="1" dirty="0">
                <a:solidFill>
                  <a:srgbClr val="8A6D1E"/>
                </a:solidFill>
                <a:latin typeface="Calibri" pitchFamily="34" charset="0"/>
                <a:cs typeface="Amiri" pitchFamily="2" charset="-78"/>
              </a:rPr>
              <a:t>Opinion + reason.</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أُفَضِّلُ الأَلْوَانَ الهَادِئَةَ، وَلٰكِنَّنِي أَلْبَسُ أَلْوَانًا زَاهِيَةً فِي المُنَاسَبَاتِ.</a:t>
            </a:r>
            <a:endParaRPr lang="ar-SA" sz="21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prefer calm colours, but I wear bright colours on special occasions.</a:t>
            </a:r>
            <a:endParaRPr lang="en-US" sz="1250" dirty="0"/>
          </a:p>
          <a:p>
            <a:pPr indent="0" marL="0">
              <a:buNone/>
            </a:pPr>
            <a:r>
              <a:rPr lang="en-US" sz="1050" i="1" dirty="0">
                <a:solidFill>
                  <a:srgbClr val="8A6D1E"/>
                </a:solidFill>
                <a:latin typeface="Calibri" pitchFamily="34" charset="0"/>
                <a:cs typeface="Amiri" pitchFamily="2" charset="-78"/>
              </a:rPr>
              <a:t>Contrast.</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عَلَى الرَّغْمِ مِنْ أَنَّ المَوْضَةَ مُهِمَّةٌ، فَإِنَّ الرَّاحَةَ أَهَمُّ.</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Although fashion is important, comfort is more important.</a:t>
            </a:r>
            <a:endParaRPr lang="en-US" sz="1250" dirty="0"/>
          </a:p>
          <a:p>
            <a:pPr indent="0" marL="0">
              <a:buNone/>
            </a:pPr>
            <a:r>
              <a:rPr lang="en-US" sz="1050" i="1" dirty="0">
                <a:solidFill>
                  <a:srgbClr val="8A6D1E"/>
                </a:solidFill>
                <a:latin typeface="Calibri" pitchFamily="34" charset="0"/>
                <a:cs typeface="Amiri" pitchFamily="2" charset="-78"/>
              </a:rPr>
              <a:t>Concession.</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أُسْلُوبُهَا يُعَبِّرُ عَنْ شَخْصِيَّتِهَا.</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Her style expresses her personality.</a:t>
            </a:r>
            <a:endParaRPr lang="en-US" sz="1250" dirty="0"/>
          </a:p>
          <a:p>
            <a:pPr indent="0" marL="0">
              <a:buNone/>
            </a:pPr>
            <a:r>
              <a:rPr lang="en-US" sz="1050" i="1" dirty="0">
                <a:solidFill>
                  <a:srgbClr val="8A6D1E"/>
                </a:solidFill>
                <a:latin typeface="Calibri" pitchFamily="34" charset="0"/>
                <a:cs typeface="Amiri" pitchFamily="2" charset="-78"/>
              </a:rPr>
              <a:t>Identity and expression.</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D2-L04 · Fashion and Identity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WHICH OPINION IS BALANCED AND RESPECTFUL?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Upgrade the opinion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رَأْيٌ مُتَوَازِنٌ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developed opinion?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400" dirty="0">
                <a:solidFill>
                  <a:srgbClr val="1F2A37"/>
                </a:solidFill>
                <a:latin typeface="Amiri" pitchFamily="2" charset="-78"/>
                <a:ea typeface="Amiri" pitchFamily="2" charset="-78"/>
                <a:cs typeface="Amiri" pitchFamily="2" charset="-78"/>
              </a:rPr>
              <a:t>فِي رَأْيِي، المَلَابِسُ البَسِيطَةُ أَفْضَلُ لِأَنَّهَا عَمَلِيَّةٌ.</a:t>
            </a:r>
            <a:endParaRPr lang="ar-SA" sz="140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400" dirty="0">
                <a:solidFill>
                  <a:srgbClr val="1F2A37"/>
                </a:solidFill>
                <a:latin typeface="Amiri" pitchFamily="2" charset="-78"/>
                <a:ea typeface="Amiri" pitchFamily="2" charset="-78"/>
                <a:cs typeface="Amiri" pitchFamily="2" charset="-78"/>
              </a:rPr>
              <a:t>المَلَابِسُ البَسِيطَةُ.</a:t>
            </a:r>
            <a:endParaRPr lang="ar-SA" sz="140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400" dirty="0">
                <a:solidFill>
                  <a:srgbClr val="1F2A37"/>
                </a:solidFill>
                <a:latin typeface="Amiri" pitchFamily="2" charset="-78"/>
                <a:ea typeface="Amiri" pitchFamily="2" charset="-78"/>
                <a:cs typeface="Amiri" pitchFamily="2" charset="-78"/>
              </a:rPr>
              <a:t>لِأَنَّهَا عَمَلِيَّةٌ.</a:t>
            </a:r>
            <a:endParaRPr lang="ar-SA" sz="140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adds a contrast?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2" charset="-78"/>
                <a:ea typeface="Amiri" pitchFamily="2" charset="-78"/>
                <a:cs typeface="Amiri" pitchFamily="2" charset="-78"/>
              </a:rPr>
              <a:t>أُحِبُّ المَوْضَةَ، لِأَنَّنِي لَا أَتْبَعُ كُلَّ اتِّجَاهٍ.</a:t>
            </a:r>
            <a:endParaRPr lang="ar-SA" sz="160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2" charset="-78"/>
                <a:ea typeface="Amiri" pitchFamily="2" charset="-78"/>
                <a:cs typeface="Amiri" pitchFamily="2" charset="-78"/>
              </a:rPr>
              <a:t>أُحِبُّ المَوْضَةَ، وَلٰكِنَّنِي لَا أَتْبَعُ كُلَّ اتِّجَاهٍ.</a:t>
            </a:r>
            <a:endParaRPr lang="ar-SA" sz="160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2" charset="-78"/>
                <a:ea typeface="Amiri" pitchFamily="2" charset="-78"/>
                <a:cs typeface="Amiri" pitchFamily="2" charset="-78"/>
              </a:rPr>
              <a:t>أُحِبُّ المَوْضَةَ ثُمَّ.</a:t>
            </a:r>
            <a:endParaRPr lang="ar-SA" sz="160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complete concession?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2" charset="-78"/>
                <a:ea typeface="Amiri" pitchFamily="2" charset="-78"/>
                <a:cs typeface="Amiri" pitchFamily="2" charset="-78"/>
              </a:rPr>
              <a:t>عَلَى الرَّغْمِ مِنْ أَنَّهُ غَالٍ، فَإِنَّهُ جَيِّدُ الجَوْدَةِ.</a:t>
            </a:r>
            <a:endParaRPr lang="ar-SA" sz="150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2" charset="-78"/>
                <a:ea typeface="Amiri" pitchFamily="2" charset="-78"/>
                <a:cs typeface="Amiri" pitchFamily="2" charset="-78"/>
              </a:rPr>
              <a:t>لِأَنَّهُ غَالٍ فَإِنَّهُ.</a:t>
            </a:r>
            <a:endParaRPr lang="ar-SA" sz="150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2" charset="-78"/>
                <a:ea typeface="Amiri" pitchFamily="2" charset="-78"/>
                <a:cs typeface="Amiri" pitchFamily="2" charset="-78"/>
              </a:rPr>
              <a:t>عَلَى الرَّغْمِ غَالٍ.</a:t>
            </a:r>
            <a:endParaRPr lang="ar-SA" sz="150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judgement is respectful?</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هِيَ سَيِّئَةٌ لِأَنَّ فُسْتَانَهَا أَحْمَرُ.</a:t>
            </a:r>
            <a:endParaRPr lang="ar-SA" sz="200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كُلُّ مَنْ يَلْبَسُ الأَسْوَدَ حَزِينٌ.</a:t>
            </a:r>
            <a:endParaRPr lang="ar-SA" sz="200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أُسْلُوبُهَا مُخْتَلِفٌ وَيُعَبِّرُ عَنْ ذَوْقِهَا.</a:t>
            </a:r>
            <a:endParaRPr lang="ar-SA" sz="200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70" name="Text 67"/>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A strong opinion:</a:t>
            </a:r>
            <a:endParaRPr lang="en-US" sz="1250" dirty="0"/>
          </a:p>
          <a:p>
            <a:pPr algn="l" indent="0" marL="0">
              <a:buNone/>
            </a:pPr>
            <a:r>
              <a:rPr lang="en-US" sz="1250" dirty="0">
                <a:solidFill>
                  <a:srgbClr val="1E6B52"/>
                </a:solidFill>
                <a:latin typeface="Calibri" pitchFamily="34" charset="0"/>
                <a:cs typeface="Amiri" pitchFamily="2" charset="-78"/>
              </a:rPr>
              <a:t>what I think + because …</a:t>
            </a:r>
            <a:endParaRPr lang="en-US" sz="1250" dirty="0"/>
          </a:p>
          <a:p>
            <a:pPr algn="l" indent="0" marL="0">
              <a:buNone/>
            </a:pPr>
            <a:r>
              <a:rPr lang="en-US" sz="1250" dirty="0">
                <a:solidFill>
                  <a:srgbClr val="1E6B52"/>
                </a:solidFill>
                <a:latin typeface="Calibri" pitchFamily="34" charset="0"/>
                <a:cs typeface="Amiri" pitchFamily="2" charset="-78"/>
              </a:rPr>
              <a:t>Stretch: + but … / although …</a:t>
            </a:r>
            <a:endParaRPr lang="en-US" sz="12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D2-L04 · Fashion and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UPGRADE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Upgrade the opinion: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developed opinion?</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ea typeface="Amiri" pitchFamily="2" charset="-78"/>
                <a:cs typeface="Amiri" pitchFamily="2" charset="-78"/>
              </a:rPr>
              <a:t>فِي رَأْيِي، المَلَابِسُ البَسِيطَةُ أَفْضَلُ لِأَنَّهَا عَمَلِيَّةٌ.</a:t>
            </a:r>
            <a:endParaRPr lang="ar-SA" sz="14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400" dirty="0">
                <a:solidFill>
                  <a:srgbClr val="9AA1AB"/>
                </a:solidFill>
                <a:latin typeface="Amiri" pitchFamily="2" charset="-78"/>
                <a:ea typeface="Amiri" pitchFamily="2" charset="-78"/>
                <a:cs typeface="Amiri" pitchFamily="2" charset="-78"/>
              </a:rPr>
              <a:t>المَلَابِسُ البَسِيطَةُ.</a:t>
            </a:r>
            <a:endParaRPr lang="ar-SA" sz="14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400" dirty="0">
                <a:solidFill>
                  <a:srgbClr val="9AA1AB"/>
                </a:solidFill>
                <a:latin typeface="Amiri" pitchFamily="2" charset="-78"/>
                <a:ea typeface="Amiri" pitchFamily="2" charset="-78"/>
                <a:cs typeface="Amiri" pitchFamily="2" charset="-78"/>
              </a:rPr>
              <a:t>لِأَنَّهَا عَمَلِيَّةٌ.</a:t>
            </a:r>
            <a:endParaRPr lang="ar-SA" sz="14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Opinion + reason.</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adds a contrast?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600" dirty="0">
                <a:solidFill>
                  <a:srgbClr val="9AA1AB"/>
                </a:solidFill>
                <a:latin typeface="Amiri" pitchFamily="2" charset="-78"/>
                <a:ea typeface="Amiri" pitchFamily="2" charset="-78"/>
                <a:cs typeface="Amiri" pitchFamily="2" charset="-78"/>
              </a:rPr>
              <a:t>أُحِبُّ المَوْضَةَ، لِأَنَّنِي لَا أَتْبَعُ كُلَّ اتِّجَاهٍ.</a:t>
            </a:r>
            <a:endParaRPr lang="ar-SA" sz="160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أُحِبُّ المَوْضَةَ، وَلٰكِنَّنِي لَا أَتْبَعُ كُلَّ اتِّجَاهٍ.</a:t>
            </a:r>
            <a:endParaRPr lang="ar-SA" sz="16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600" dirty="0">
                <a:solidFill>
                  <a:srgbClr val="9AA1AB"/>
                </a:solidFill>
                <a:latin typeface="Amiri" pitchFamily="2" charset="-78"/>
                <a:ea typeface="Amiri" pitchFamily="2" charset="-78"/>
                <a:cs typeface="Amiri" pitchFamily="2" charset="-78"/>
              </a:rPr>
              <a:t>أُحِبُّ المَوْضَةَ ثُمَّ.</a:t>
            </a:r>
            <a:endParaRPr lang="ar-SA" sz="16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“but” = wa-lākinna.</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complete concession?</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عَلَى الرَّغْمِ مِنْ أَنَّهُ غَالٍ، فَإِنَّهُ جَيِّدُ الجَوْدَةِ.</a:t>
            </a:r>
            <a:endParaRPr lang="ar-SA" sz="15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500" dirty="0">
                <a:solidFill>
                  <a:srgbClr val="9AA1AB"/>
                </a:solidFill>
                <a:latin typeface="Amiri" pitchFamily="2" charset="-78"/>
                <a:ea typeface="Amiri" pitchFamily="2" charset="-78"/>
                <a:cs typeface="Amiri" pitchFamily="2" charset="-78"/>
              </a:rPr>
              <a:t>لِأَنَّهُ غَالٍ فَإِنَّهُ.</a:t>
            </a:r>
            <a:endParaRPr lang="ar-SA" sz="15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500" dirty="0">
                <a:solidFill>
                  <a:srgbClr val="9AA1AB"/>
                </a:solidFill>
                <a:latin typeface="Amiri" pitchFamily="2" charset="-78"/>
                <a:ea typeface="Amiri" pitchFamily="2" charset="-78"/>
                <a:cs typeface="Amiri" pitchFamily="2" charset="-78"/>
              </a:rPr>
              <a:t>عَلَى الرَّغْمِ غَالٍ.</a:t>
            </a:r>
            <a:endParaRPr lang="ar-SA" sz="15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Although … , (fa-inna) …</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judgement is respectful?</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هِيَ سَيِّئَةٌ لِأَنَّ فُسْتَانَهَا أَحْمَرُ.</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كُلُّ مَنْ يَلْبَسُ الأَسْوَدَ حَزِينٌ.</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أُسْلُوبُهَا مُخْتَلِفٌ وَيُعَبِّرُ عَنْ ذَوْقِهَا.</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Judge the style, not the person.</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77" name="Text 74"/>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78" name="Text 75"/>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A strong opinion:</a:t>
            </a:r>
            <a:endParaRPr lang="en-US" sz="1250" dirty="0"/>
          </a:p>
          <a:p>
            <a:pPr algn="l" indent="0" marL="0">
              <a:buNone/>
            </a:pPr>
            <a:r>
              <a:rPr lang="en-US" sz="1250" dirty="0">
                <a:solidFill>
                  <a:srgbClr val="1E6B52"/>
                </a:solidFill>
                <a:latin typeface="Calibri" pitchFamily="34" charset="0"/>
                <a:cs typeface="Amiri" pitchFamily="2" charset="-78"/>
              </a:rPr>
              <a:t>what I think + because …</a:t>
            </a:r>
            <a:endParaRPr lang="en-US" sz="1250" dirty="0"/>
          </a:p>
          <a:p>
            <a:pPr algn="l" indent="0" marL="0">
              <a:buNone/>
            </a:pPr>
            <a:r>
              <a:rPr lang="en-US" sz="1250" dirty="0">
                <a:solidFill>
                  <a:srgbClr val="1E6B52"/>
                </a:solidFill>
                <a:latin typeface="Calibri" pitchFamily="34" charset="0"/>
                <a:cs typeface="Amiri" pitchFamily="2" charset="-78"/>
              </a:rPr>
              <a:t>Stretch: + but … / although …</a:t>
            </a:r>
            <a:endParaRPr lang="en-US" sz="12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D2-L04 · Fashion and Identity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Balanced and respectful?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D2-L04</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فِي رَأْيِي، هٰذَا الأُسْلُوبُ مُنَاسِبٌ لِأَنَّهُ مُرِيحٌ.</a:t>
            </a:r>
            <a:endParaRPr lang="ar-SA" sz="135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أُحِبُّ المَوْضَةَ، وَلٰكِنَّنِي لَا أَتْبَعُ كُلَّ اتِّجَاهٍ.</a:t>
            </a:r>
            <a:endParaRPr lang="ar-SA" sz="135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2" charset="-78"/>
                <a:ea typeface="Amiri" pitchFamily="2" charset="-78"/>
                <a:cs typeface="Amiri" pitchFamily="2" charset="-78"/>
              </a:rPr>
              <a:t>عَلَى الرَّغْمِ مِنْ أَنَّهُ غَالٍ، فَإِنَّهُ جَيِّدُ الجَوْدَةِ.</a:t>
            </a:r>
            <a:endParaRPr lang="ar-SA" sz="13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أُسْلُوبُهَا يُعَبِّرُ عَنْ ذَوْقِهَا.</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هٰذَا الأُسْلُوبُ.</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لِأَنَّهُ غَالٍ فَإِنَّهُ.</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هِيَ سَيِّئَةٌ لِأَنَّ فُسْتَانَهَا أَحْمَرُ.</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كُلُّ مَنْ يَلْبَسُ الأَسْوَدَ حَزِينٌ.</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Complete and respectful</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Incomplete or unfair</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D2-L04 · Fashion and Identity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D2-L04</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Complete and respectful</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رَأْيِي، هٰذَا الأُسْلُوبُ مُنَاسِبٌ لِأَنَّهُ مُرِيحٌ.</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أُحِبُّ المَوْضَةَ، وَلٰكِنَّنِي لَا أَتْبَعُ كُلَّ اتِّجَاهٍ.</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عَلَى الرَّغْمِ مِنْ أَنَّهُ غَالٍ، فَإِنَّهُ جَيِّدُ الجَوْدَةِ.</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أُسْلُوبُهَا يُعَبِّرُ عَنْ ذَوْقِهَا.</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Incomplete or unfair</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هٰذَا الأُسْلُوبُ.</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لِأَنَّهُ غَالٍ فَإِنَّهُ.</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هِيَ سَيِّئَةٌ لِأَنَّ فُسْتَانَهَا أَحْمَرُ.</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كُلُّ مَنْ يَلْبَسُ الأَسْوَدَ حَزِينٌ.</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D2-L04 · Fashion and Identity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هٰذَا الأُسْلُوبُ.</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Is there an opinion AND a reason?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أُحِبُّ المَوْضَةَ، لِأَنَّنِي لَا أَتْبَعُ كُلَّ اتِّجَاهٍ.</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Contrast: because or but?</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لِأَنَّهُ غَالٍ فَإِنَّهُ.</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Although … then what?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D2-L04 · Fashion and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هٰذَا الأُسْلُوبُ.</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فِي رَأْيِي، هٰذَا الأُسْلُوبُ مُنَاسِبٌ لِأَنَّهُ مُرِيحٌ.</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Give an opinion AND a reason.</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أُحِبُّ المَوْضَةَ، لِأَنَّنِي لَا أَتْبَعُ كُلَّ اتِّجَاهٍ.</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أُحِبُّ المَوْضَةَ، وَلٰكِنَّنِي لَا أَتْبَعُ كُلَّ اتِّجَاهٍ.</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contrast needs “but”, not “because”.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لِأَنَّهُ غَالٍ فَإِنَّهُ.</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lnSpc>
                <a:spcPct val="120000"/>
              </a:lnSpc>
              <a:buNone/>
            </a:pPr>
            <a:r>
              <a:rPr lang="ar-SA" altLang="en-US" sz="2350" b="1" dirty="0">
                <a:solidFill>
                  <a:srgbClr val="1E6B52"/>
                </a:solidFill>
                <a:latin typeface="Amiri" pitchFamily="2" charset="-78"/>
                <a:ea typeface="Amiri" pitchFamily="2" charset="-78"/>
                <a:cs typeface="Amiri" pitchFamily="2" charset="-78"/>
              </a:rPr>
              <a:t>عَلَى الرَّغْمِ مِنْ أَنَّهُ غَالٍ، فَإِنَّهُ جَيِّدُ الجَوْدَةِ.</a:t>
            </a:r>
            <a:endParaRPr lang="ar-SA" sz="235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Complete the concession pattern.</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D2-L04 · Fashion and Identity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Listening focus: fashion and identity</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D2-L04</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Whose style is described?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Reem’s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sister’s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teacher’s</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clothes does she prefer?</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elegant and formal</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colourful and modern</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simple and comfortable</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are cheap</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mother chooses them</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goes to school and moves around a lot</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she wear on special occasions?</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elegant dress and a colourful headscarf</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school uniform</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jeans and a T-shirt</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her opinion, personal style expresses …</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wealth</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taste</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age</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style NOT tell us?</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everything about personality</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anything at all</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person’s taste</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4.</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البَسِيطَةَ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المُنَاسَبَاتِ</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الذَّوْقِ</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D2-L04 · Fashion and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D2-L04</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تَتَحَدَّثُ رِيمُ عَنْ أُسْلُوبِهَا.</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Reem is talking about her style.</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تَقُولُ إِنَّهَا تُفَضِّلُ المَلَابِسَ البَسِيطَةَ وَالمُرِيحَةَ،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says that she prefers simple, comfortable clothes,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لِأَنَّهَا تَذْهَبُ إِلَى المَدْرَسَةِ وَتَتَحَرَّكُ كَثِيرًا.</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because she goes to school and moves around a lot.</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وَلٰكِنَّهَا فِي المُنَاسَبَاتِ تَرْتَدِي فُسْتَانًا أَنِيقًا وَحِجَابًا مُلَوَّنًا.</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But on special occasions she wears an elegant dress and a colourful headscarf.</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فِي رَأْيِهَا، الأُسْلُوبُ الشَّخْصِيُّ يُعَبِّرُ عَنِ الذَّوْقِ، وَلٰكِنَّهُ لَا يُخْبِرُنَا بِكُلِّ شَيْءٍ عَنِ الشَّخْصِيَّةِ.</a:t>
            </a:r>
            <a:endParaRPr lang="ar-SA" sz="17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her opinion, personal style expresses taste, but it does not tell us everything about personality.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D2-L04 · Fashion and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D2-L04</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Whose style is described?</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Reem’s</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her sister’s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her teacher’s</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تَتَحَدَّثُ رِيمُ عَنْ أُسْلُوبِهَا.</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clothes does she prefer?</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elegant and formal</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colourful and modern</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simple and comfortable</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المَلَابِسَ البَسِيطَةَ وَالمُرِيحَةَ.</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are cheap</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her mother chooses them</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she goes to school and moves around a lot</a:t>
            </a:r>
            <a:endParaRPr lang="en-US" sz="11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لِأَنَّهَا تَذْهَبُ إِلَى المَدْرَسَةِ وَتَتَحَرَّكُ كَثِيرًا.</a:t>
            </a:r>
            <a:endParaRPr lang="ar-SA" sz="130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she wear on special occasions?</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an elegant dress and a colourful headscarf</a:t>
            </a:r>
            <a:endParaRPr lang="en-US" sz="11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her school uniform</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jeans and a T-shirt</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فُسْتَانًا أَنِيقًا وَحِجَابًا مُلَوَّنًا.</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her opinion, personal style expresses …</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wealth</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taste</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age</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يُعَبِّرُ عَنِ الذَّوْقِ.</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style NOT tell us?</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everything about personality</a:t>
            </a:r>
            <a:endParaRPr lang="en-US" sz="11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anything at all</a:t>
            </a:r>
            <a:endParaRPr lang="en-US" sz="12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person’s taste</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لَا يُخْبِرُنَا بِكُلِّ شَيْءٍ عَنِ الشَّخْصِيَّةِ.</a:t>
            </a:r>
            <a:endParaRPr lang="ar-SA" sz="13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4.</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البَسِيطَةَ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المُنَاسَبَاتِ</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الذَّوْقِ</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D2-L04 · Fashion and Identity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Developed speaking: fashion and identity</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D2-L04</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أُسْلُوبُكَ الشَّخْصِيُّ؟</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المَوْضَةُ مُهِمَّةٌ لِلشَّبَابِ؟</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أَهَمُّ: الرَّاحَةُ أَمِ الأَنَاقَةُ؟</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كَيْفَ تُعَبِّرُ المَلَابِسُ عَنِ الهُوِيَّةِ؟</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أُسْلُوبِي ___ وَ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فِي رَأْيِي ، المَوْضَةُ ___ لِأَنَّ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___ أَهَمُّ مِنْ ___ ، وَلٰكِنَّ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عَلَى الرَّغْمِ مِنْ أَنَّ ___ ، فَإِنَّ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هَلْ تَتْبَعُ المَوْضَةَ؟</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Do you follow fashion?</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أَتَابِعُ بَعْضَ الأَفْكَارِ، وَلٰكِنَّنِي أَخْتَارُ مَا يُنَاسِبُنِي.</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 follow some ideas, but I choose what suits me.</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D2-L04 · Fashion and Identity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D2-L04</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Secure the main vocabulary and produce four accurate sentences using the taught frame.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Your style: two style adjectives, what you wear to school and on special occasions, one opinion + reason.</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Combine description, grammar and a reason in connected answers.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Your style and what influences it, one advantage of fashion and a contrast (but …).</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comparison, contrast, precise evidence and an independently controlled relative clause.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your style, influences, one advantage and one disadvantage of fashion, a concession and a balanced conclusion.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D2-L04 · Fashion and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D2-L04</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أُفَضِّلُ ______ ، وَلٰكِنَّنِي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prefer …, but I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أُسْلُوبِي يُعَبِّرُ عَنْ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style expresses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 مَزَايَا المَوْضَةِ أَنَّهَا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One advantage of fashion is that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وَمِنْ عُيُوبِهَا أَنَّهَا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One disadvantage is that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عَلَى الرَّغْمِ مِنْ أَنَّ ______ ، فَإِنَّ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Although …,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أُسْلُوبِي ______ وَ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style is … and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المَدْرَسَةِ أَلْبَسُ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At school I wear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المُنَاسَبَاتِ أَلْبَسُ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On special occasions I wear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رَأْيِي، ______ لِأَنَّ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my opinion, … because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أُفَضِّلُ المَلَابِسَ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prefer … clothes.</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أَنِيقٌ  ·  عَصْرِيٌّ  ·  تَقْلِيدِيٌّ  ·  بَسِيطٌ  ·  مُحْتَشِمٌ  ·  مُرِيحٌ  ·  فِي رَأْيِي  ·  لِأَنَّ  ·  وَلٰكِنَّنِي  ·  عَلَى الرَّغْمِ مِنْ أَنَّ  ·  يُعَبِّرُ عَنْ  ·  الذَّوْقُ</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D2-L04 · Fashion and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D2-L04</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100–120 Arabic words giving your view on fashion and identity. Explain your style, what influences it, one advantage and one disadvantage of following fashion, and a balanced conclusion.</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Cover every requested content point.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the target grammar accurately.</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Include precise vocabulary from this lesson.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Add a reason, comparison or contrast.</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Review agreement, pronoun reference and connectors.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المَلَابِسُ جُزْءٌ مِنَ الهُوِيَّةِ</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clothes are part of identity</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تُعَبِّرُ عَنْ ذَوْقِنَا وَثَقَافَتِنَا</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they express our taste and culture</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 مَزَايَا المَوْضَةِ … وَمِنْ عُيُوبِهَا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one advantage of fashion … one disadvantage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سَرِيعَةُ التَّغَيُّرِ</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quick to change</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الأَهَمُّ هُوَ اخْتِيَارُ مَا يُنَاسِبُنَا</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most important thing is choosing what suits us</a:t>
            </a:r>
            <a:endParaRPr lang="en-US" sz="10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D2-L04 · Fashion and Identity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فِي رَأْيِي، المَلَابِسُ جُزْءٌ مِنَ الهُوِيَّةِ، لِأَنَّهَا قَدْ تُعَبِّرُ عَنْ ذَوْقِنَا وَثَقَافَتِنَا. أَنَا أُفَضِّلُ الأُسْلُوبَ البَسِيطَ وَالمُحْتَشِمَ، وَأَخْتَارُ عَادَةً مَلَابِسَ مُرِيحَةً وَعَمَلِيَّةً. وَلٰكِنَّنِي فِي المُنَاسَبَاتِ أُحِبُّ أَنْ أَرْتَدِيَ مَلَابِسَ أَكْثَرَ أَنَاقَةً. مِنْ مَزَايَا المَوْضَةِ أَنَّهَا تُقَدِّمُ أَفْكَارًا جَدِيدَةً، وَلٰكِنَّ مِنْ عُيُوبِهَا أَنَّهَا قَدْ تَكُونُ غَالِيَةً وَسَرِيعَةَ التَّغَيُّرِ. عَلَى الرَّغْمِ مِنْ ذٰلِكَ، أَرَى أَنَّ الأَهَمَّ هُوَ اخْتِيَارُ مَا يُنَاسِبُنَا.</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In my opinion, clothes are part of identity, because they can express our taste and culture. I prefer a simple, modest style, and I usually choose comfortable, practical clothes. But on special occasions I like to wear more elegant clothes. One advantage of fashion is that it offers new ideas, but one of its disadvantages is that it can be expensive and quick to change. Despite that, I think the most important thing is choosing what suits us.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an opinion with a reason</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contrast</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an advantage and a disadvantage</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concession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44</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D2-L04 · Fashion and Identity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described my style with two adjectives.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opinion has a reason (because).</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added a contrast with “but”.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judged clothes, not people.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“although …” and wrote a balanced conclusion.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44</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D2-L04 · Fashion and Identity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developed opinion.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فِي رَأْيِي، هٰذَا الأُسْلُوبُ مُنَاسِبٌ لِأَنَّهُ مُرِيحٌ.</a:t>
            </a:r>
            <a:endParaRPr lang="ar-SA" sz="15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هٰذَا الأُسْلُوبُ.</a:t>
            </a:r>
            <a:endParaRPr lang="ar-SA" sz="15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لِأَنَّهُ مُرِيحٌ.</a:t>
            </a:r>
            <a:endParaRPr lang="ar-SA" sz="15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أُحِبُّ المَوْضَةَ،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لَا أَتْبَعُ كُلَّ اتِّجَاهٍ</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لِأَنَّنِي</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وَلٰكِنَّنِي</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ثُمَّ</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concession.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2" charset="-78"/>
                <a:ea typeface="Amiri" pitchFamily="2" charset="-78"/>
                <a:cs typeface="Amiri" pitchFamily="2" charset="-78"/>
              </a:rPr>
              <a:t>عَلَى الرَّغْمِ مِنْ أَنَّهُ غَالٍ، فَإِنَّهُ جَيِّدُ الجَوْدَةِ.</a:t>
            </a:r>
            <a:endParaRPr lang="ar-SA" sz="150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2" charset="-78"/>
                <a:ea typeface="Amiri" pitchFamily="2" charset="-78"/>
                <a:cs typeface="Amiri" pitchFamily="2" charset="-78"/>
              </a:rPr>
              <a:t>لِأَنَّهُ غَالٍ فَإِنَّهُ.</a:t>
            </a:r>
            <a:endParaRPr lang="ar-SA" sz="150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2" charset="-78"/>
                <a:ea typeface="Amiri" pitchFamily="2" charset="-78"/>
                <a:cs typeface="Amiri" pitchFamily="2" charset="-78"/>
              </a:rPr>
              <a:t>هُوَ غَالٍ ثُمَّ.</a:t>
            </a:r>
            <a:endParaRPr lang="ar-SA" sz="150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44</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D2-L04 · Fashion and Identity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developed opinion.</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2" charset="-78"/>
                <a:ea typeface="Amiri" pitchFamily="2" charset="-78"/>
                <a:cs typeface="Amiri" pitchFamily="2" charset="-78"/>
              </a:rPr>
              <a:t>فِي رَأْيِي، هٰذَا الأُسْلُوبُ مُنَاسِبٌ لِأَنَّهُ مُرِيحٌ.</a:t>
            </a:r>
            <a:endParaRPr lang="ar-SA" sz="15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550" dirty="0">
                <a:solidFill>
                  <a:srgbClr val="9AA1AB"/>
                </a:solidFill>
                <a:latin typeface="Amiri" pitchFamily="2" charset="-78"/>
                <a:ea typeface="Amiri" pitchFamily="2" charset="-78"/>
                <a:cs typeface="Amiri" pitchFamily="2" charset="-78"/>
              </a:rPr>
              <a:t>هٰذَا الأُسْلُوبُ.</a:t>
            </a:r>
            <a:endParaRPr lang="ar-SA" sz="15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550" dirty="0">
                <a:solidFill>
                  <a:srgbClr val="9AA1AB"/>
                </a:solidFill>
                <a:latin typeface="Amiri" pitchFamily="2" charset="-78"/>
                <a:ea typeface="Amiri" pitchFamily="2" charset="-78"/>
                <a:cs typeface="Amiri" pitchFamily="2" charset="-78"/>
              </a:rPr>
              <a:t>لِأَنَّهُ مُرِيحٌ.</a:t>
            </a:r>
            <a:endParaRPr lang="ar-SA" sz="15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gives opinion and reason.</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أُحِبُّ المَوْضَةَ،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لَا أَتْبَعُ كُلَّ اتِّجَاهٍ</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لِأَنَّنِي</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وَلٰكِنَّنِي</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ثُمَّ</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contrast is required.</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concession.</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عَلَى الرَّغْمِ مِنْ أَنَّهُ غَالٍ، فَإِنَّهُ جَيِّدُ الجَوْدَةِ.</a:t>
            </a:r>
            <a:endParaRPr lang="ar-SA" sz="150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500" dirty="0">
                <a:solidFill>
                  <a:srgbClr val="9AA1AB"/>
                </a:solidFill>
                <a:latin typeface="Amiri" pitchFamily="2" charset="-78"/>
                <a:ea typeface="Amiri" pitchFamily="2" charset="-78"/>
                <a:cs typeface="Amiri" pitchFamily="2" charset="-78"/>
              </a:rPr>
              <a:t>لِأَنَّهُ غَالٍ فَإِنَّهُ.</a:t>
            </a:r>
            <a:endParaRPr lang="ar-SA" sz="150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500" dirty="0">
                <a:solidFill>
                  <a:srgbClr val="9AA1AB"/>
                </a:solidFill>
                <a:latin typeface="Amiri" pitchFamily="2" charset="-78"/>
                <a:ea typeface="Amiri" pitchFamily="2" charset="-78"/>
                <a:cs typeface="Amiri" pitchFamily="2" charset="-78"/>
              </a:rPr>
              <a:t>هُوَ غَالٍ ثُمَّ.</a:t>
            </a:r>
            <a:endParaRPr lang="ar-SA" sz="150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This is a complete concession pattern.</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44</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D2-L04 · Fashion and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Reading focus: fashion and identity</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D2-L04</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مَقَالٌ قَصِيرٌ: يَظُنُّ بَعْضُ الشَّبَابِ أَنَّ اتِّبَاعَ المَوْضَةِ ضَرُورِيٌّ، بَيْنَمَا يُفَضِّلُ آخَرُونَ أَنْ يَخْتَارُوا مَا هُوَ مُرِيحٌ وَمُنَاسِبٌ لَهُمْ. عَلَى الرَّغْمِ مِنْ أَنَّ المَلَابِسَ قَدْ تُعَبِّرُ عَنْ جُزْءٍ مِنَ الهُوِيَّةِ، فَإِنَّهَا لَا تَكْفِي لِلْحُكْمِ عَلَى شَخْصِيَّةِ أَحَدٍ. الأُسْلُوبُ الجَيِّدُ فِي رَأْيِي يَجْمَعُ بَيْنَ الرَّاحَةِ وَالاِحْتِرَامِ وَالذَّوْقِ الشَّخْصِيِّ.</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مَقَالٌ قَصِيرٌ</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short article</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يَظُنُّ</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think(s)</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اتِّبَاعَ المَوْضَةِ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following fashion</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ضَرُورِيٌّ</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necessary</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آخَرُونَ</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others</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يَخْتَارُوا</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they choose</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جُزْءٍ مِنَ الهُوِيَّةِ</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part of identity</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لَا تَكْفِي</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are not enough</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لِلْحُكْمِ عَلَى</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to judge</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يَجْمَعُ بَيْنَ</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combines</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44</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D2-L04 · Fashion and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D2-L04</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kind of text is this?</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advert</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short article</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letter</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some young people think?</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fashion is boring</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clothes should be cheap</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following fashion is necessary</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others prefer?</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choosing what is comfortable and suitable for them</a:t>
            </a:r>
            <a:endParaRPr lang="en-US" sz="110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buying designer clothes</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wearing a uniform</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According to the text, clothes can …</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show someone’s whole personality</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express part of identity</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make people rich</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Are clothes enough to judge someone’s character?</a:t>
            </a:r>
            <a:endParaRPr lang="en-US" sz="120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yes</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formal clothes</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Good style, in the writer’s opinion, combines …</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fashion and price</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colour and size</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comfort, respect and personal taste</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44</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D2-L04 · Fashion and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D2-L04</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kind of text is this?</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advert</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short article</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letter</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مَقَالٌ قَصِيرٌ.</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some young people think?</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fashion is boring</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clothes should be cheap</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following fashion is necessary</a:t>
            </a:r>
            <a:endParaRPr lang="en-US" sz="11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اتِّبَاعَ المَوْضَةِ ضَرُورِيٌّ.</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others prefer?</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choosing what is comfortable and suitable for them</a:t>
            </a:r>
            <a:endParaRPr lang="en-US" sz="110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buying designer clothes</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wearing a uniform</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مَا هُوَ مُرِيحٌ وَمُنَاسِبٌ لَهُمْ.</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According to the text, clothes can …</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show someone’s whole personality</a:t>
            </a:r>
            <a:endParaRPr lang="en-US" sz="11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express part of identity</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make people rich</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قَدْ تُعَبِّرُ عَنْ جُزْءٍ مِنَ الهُوِيَّةِ.</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Are clothes enough to judge someone’s character?</a:t>
            </a:r>
            <a:endParaRPr lang="en-US" sz="120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no</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yes</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formal clothes</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لَا تَكْفِي لِلْحُكْمِ عَلَى شَخْصِيَّةِ أَحَدٍ.</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Good style, in the writer’s opinion, combines …</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fashion and price</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colour and size</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comfort, respect and personal taste</a:t>
            </a:r>
            <a:endParaRPr lang="en-US" sz="11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2" charset="-78"/>
                <a:ea typeface="Amiri" pitchFamily="2" charset="-78"/>
                <a:cs typeface="Amiri" pitchFamily="2" charset="-78"/>
              </a:rPr>
              <a:t>يَجْمَعُ بَيْنَ الرَّاحَةِ وَالاِحْتِرَامِ وَالذَّوْقِ الشَّخْصِيِّ.</a:t>
            </a:r>
            <a:endParaRPr lang="ar-SA" sz="11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44</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D2-L04 · Fashion and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fashion and identity Arabic challenge</a:t>
            </a:r>
            <a:endParaRPr lang="en-US" sz="26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D2-L04</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developed opinion.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هٰذَا الأُسْلُوبُ.</a:t>
            </a:r>
            <a:endParaRPr lang="ar-SA" sz="15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فِي رَأْيِي، هٰذَا الأُسْلُوبُ مُنَاسِبٌ لِأَنَّهُ مُرِيحٌ.</a:t>
            </a:r>
            <a:endParaRPr lang="ar-SA" sz="15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لِأَنَّهُ مُرِيحٌ.</a:t>
            </a:r>
            <a:endParaRPr lang="ar-SA" sz="15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6225845" y="1883664"/>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2" charset="-78"/>
                <a:ea typeface="Amiri" pitchFamily="2" charset="-78"/>
                <a:cs typeface="Amiri" pitchFamily="2" charset="-78"/>
              </a:rPr>
              <a:t>أُحِبُّ المَوْضَةَ، ___ لَا أَتْبَعُ كُلَّ اتِّجَاهٍ.</a:t>
            </a:r>
            <a:endParaRPr lang="ar-SA" sz="1000" dirty="0"/>
          </a:p>
        </p:txBody>
      </p:sp>
      <p:sp>
        <p:nvSpPr>
          <p:cNvPr id="35" name="Shape 32"/>
          <p:cNvSpPr/>
          <p:nvPr/>
        </p:nvSpPr>
        <p:spPr>
          <a:xfrm>
            <a:off x="4459224"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وَلٰكِنَّنِي</a:t>
            </a:r>
            <a:endParaRPr lang="ar-SA" sz="2050" dirty="0"/>
          </a:p>
        </p:txBody>
      </p:sp>
      <p:sp>
        <p:nvSpPr>
          <p:cNvPr id="38" name="Shape 35"/>
          <p:cNvSpPr/>
          <p:nvPr/>
        </p:nvSpPr>
        <p:spPr>
          <a:xfrm>
            <a:off x="4459224"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لِأَنَّنِي</a:t>
            </a:r>
            <a:endParaRPr lang="ar-SA" sz="2050" dirty="0"/>
          </a:p>
        </p:txBody>
      </p:sp>
      <p:sp>
        <p:nvSpPr>
          <p:cNvPr id="41" name="Shape 38"/>
          <p:cNvSpPr/>
          <p:nvPr/>
        </p:nvSpPr>
        <p:spPr>
          <a:xfrm>
            <a:off x="4459224"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ثُمَّ</a:t>
            </a:r>
            <a:endParaRPr lang="ar-SA" sz="2050" dirty="0"/>
          </a:p>
        </p:txBody>
      </p:sp>
      <p:sp>
        <p:nvSpPr>
          <p:cNvPr id="44" name="Shape 41"/>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23504" y="1947672"/>
            <a:ext cx="310896" cy="310896"/>
          </a:xfrm>
          <a:prstGeom prst="ellipse">
            <a:avLst/>
          </a:prstGeom>
          <a:solidFill>
            <a:srgbClr val="1B3B6F"/>
          </a:solidFill>
          <a:ln w="12700">
            <a:solidFill>
              <a:srgbClr val="1B3B6F"/>
            </a:solidFill>
            <a:prstDash val="solid"/>
          </a:ln>
        </p:spPr>
      </p:sp>
      <p:sp>
        <p:nvSpPr>
          <p:cNvPr id="46" name="Text 43"/>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7" name="Text 44"/>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concession.</a:t>
            </a:r>
            <a:endParaRPr lang="en-US" sz="125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2" charset="-78"/>
                <a:ea typeface="Amiri" pitchFamily="2" charset="-78"/>
                <a:cs typeface="Amiri" pitchFamily="2" charset="-78"/>
              </a:rPr>
              <a:t>لِأَنَّهُ غَالٍ فَإِنَّهُ.</a:t>
            </a:r>
            <a:endParaRPr lang="ar-SA" sz="150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2" charset="-78"/>
                <a:ea typeface="Amiri" pitchFamily="2" charset="-78"/>
                <a:cs typeface="Amiri" pitchFamily="2" charset="-78"/>
              </a:rPr>
              <a:t>هُوَ غَالٍ ثُمَّ.</a:t>
            </a:r>
            <a:endParaRPr lang="ar-SA" sz="150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2" charset="-78"/>
                <a:ea typeface="Amiri" pitchFamily="2" charset="-78"/>
                <a:cs typeface="Amiri" pitchFamily="2" charset="-78"/>
              </a:rPr>
              <a:t>عَلَى الرَّغْمِ مِنْ أَنَّهُ غَالٍ، فَإِنَّهُ جَيِّدُ الجَوْدَةِ.</a:t>
            </a:r>
            <a:endParaRPr lang="ar-SA" sz="150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يُعَبِّرُ عَنْ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61" name="Shape 58"/>
          <p:cNvSpPr/>
          <p:nvPr/>
        </p:nvSpPr>
        <p:spPr>
          <a:xfrm>
            <a:off x="640080"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buys</a:t>
            </a:r>
            <a:endParaRPr lang="en-US" sz="1250" dirty="0"/>
          </a:p>
        </p:txBody>
      </p:sp>
      <p:sp>
        <p:nvSpPr>
          <p:cNvPr id="64" name="Shape 61"/>
          <p:cNvSpPr/>
          <p:nvPr/>
        </p:nvSpPr>
        <p:spPr>
          <a:xfrm>
            <a:off x="640080"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compares</a:t>
            </a:r>
            <a:endParaRPr lang="en-US" sz="1250" dirty="0"/>
          </a:p>
        </p:txBody>
      </p:sp>
      <p:sp>
        <p:nvSpPr>
          <p:cNvPr id="67" name="Shape 64"/>
          <p:cNvSpPr/>
          <p:nvPr/>
        </p:nvSpPr>
        <p:spPr>
          <a:xfrm>
            <a:off x="640080"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expresses</a:t>
            </a:r>
            <a:endParaRPr lang="en-US" sz="1250" dirty="0"/>
          </a:p>
        </p:txBody>
      </p:sp>
      <p:sp>
        <p:nvSpPr>
          <p:cNvPr id="70" name="Shape 67"/>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404360" y="4288536"/>
            <a:ext cx="310896" cy="310896"/>
          </a:xfrm>
          <a:prstGeom prst="ellipse">
            <a:avLst/>
          </a:prstGeom>
          <a:solidFill>
            <a:srgbClr val="1B3B6F"/>
          </a:solidFill>
          <a:ln w="12700">
            <a:solidFill>
              <a:srgbClr val="1B3B6F"/>
            </a:solidFill>
            <a:prstDash val="solid"/>
          </a:ln>
        </p:spPr>
      </p:sp>
      <p:sp>
        <p:nvSpPr>
          <p:cNvPr id="72" name="Text 69"/>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3" name="Text 70"/>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respectful judgement.</a:t>
            </a:r>
            <a:endParaRPr lang="en-US" sz="1250" dirty="0"/>
          </a:p>
        </p:txBody>
      </p:sp>
      <p:sp>
        <p:nvSpPr>
          <p:cNvPr id="74" name="Shape 71"/>
          <p:cNvSpPr/>
          <p:nvPr/>
        </p:nvSpPr>
        <p:spPr>
          <a:xfrm>
            <a:off x="4459224" y="48737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6" name="Text 73"/>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أُسْلُوبُهَا مُخْتَلِفٌ وَيُعَبِّرُ عَنْ ذَوْقِهَا.</a:t>
            </a:r>
            <a:endParaRPr lang="ar-SA" sz="2000" dirty="0"/>
          </a:p>
        </p:txBody>
      </p:sp>
      <p:sp>
        <p:nvSpPr>
          <p:cNvPr id="77" name="Shape 74"/>
          <p:cNvSpPr/>
          <p:nvPr/>
        </p:nvSpPr>
        <p:spPr>
          <a:xfrm>
            <a:off x="4459224" y="53309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9" name="Text 76"/>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هِيَ سَيِّئَةٌ لِأَنَّ فُسْتَانَهَا أَحْمَرُ.</a:t>
            </a:r>
            <a:endParaRPr lang="ar-SA" sz="2000" dirty="0"/>
          </a:p>
        </p:txBody>
      </p:sp>
      <p:sp>
        <p:nvSpPr>
          <p:cNvPr id="80" name="Shape 77"/>
          <p:cNvSpPr/>
          <p:nvPr/>
        </p:nvSpPr>
        <p:spPr>
          <a:xfrm>
            <a:off x="4459224" y="5788152"/>
            <a:ext cx="256032" cy="256032"/>
          </a:xfrm>
          <a:prstGeom prst="ellipse">
            <a:avLst/>
          </a:prstGeom>
          <a:solidFill>
            <a:srgbClr val="F4F1EA"/>
          </a:solidFill>
          <a:ln w="12700">
            <a:solidFill>
              <a:srgbClr val="F4F1EA"/>
            </a:solidFill>
            <a:prstDash val="solid"/>
          </a:ln>
        </p:spPr>
      </p:sp>
      <p:sp>
        <p:nvSpPr>
          <p:cNvPr id="81" name="Text 78"/>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2" name="Text 79"/>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كُلُّ مَنْ يَلْبَسُ الأَسْوَدَ حَزِينٌ.</a:t>
            </a:r>
            <a:endParaRPr lang="ar-SA" sz="2000" dirty="0"/>
          </a:p>
        </p:txBody>
      </p:sp>
      <p:sp>
        <p:nvSpPr>
          <p:cNvPr id="83" name="Shape 8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8223504" y="4288536"/>
            <a:ext cx="310896" cy="310896"/>
          </a:xfrm>
          <a:prstGeom prst="ellipse">
            <a:avLst/>
          </a:prstGeom>
          <a:solidFill>
            <a:srgbClr val="1B3B6F"/>
          </a:solidFill>
          <a:ln w="12700">
            <a:solidFill>
              <a:srgbClr val="1B3B6F"/>
            </a:solidFill>
            <a:prstDash val="solid"/>
          </a:ln>
        </p:spPr>
      </p:sp>
      <p:sp>
        <p:nvSpPr>
          <p:cNvPr id="85" name="Text 8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6" name="Text 83"/>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87" name="Text 84"/>
          <p:cNvSpPr txBox="1"/>
          <p:nvPr/>
        </p:nvSpPr>
        <p:spPr>
          <a:xfrm>
            <a:off x="10044989" y="4224528"/>
            <a:ext cx="1577035" cy="475488"/>
          </a:xfrm>
          <a:prstGeom prst="rect">
            <a:avLst/>
          </a:prstGeom>
          <a:noFill/>
          <a:ln/>
        </p:spPr>
        <p:txBody>
          <a:bodyPr wrap="square" lIns="0" tIns="0" rIns="0" bIns="0" rtlCol="0" anchor="ctr"/>
          <a:lstStyle/>
          <a:p>
            <a:pPr rtl="1" algn="r" indent="0" marL="0">
              <a:buNone/>
            </a:pPr>
            <a:r>
              <a:rPr lang="ar-SA" altLang="en-US" sz="1150" b="1" dirty="0">
                <a:solidFill>
                  <a:srgbClr val="1F2A37"/>
                </a:solidFill>
                <a:latin typeface="Amiri" pitchFamily="2" charset="-78"/>
                <a:ea typeface="Amiri" pitchFamily="2" charset="-78"/>
                <a:cs typeface="Amiri" pitchFamily="2" charset="-78"/>
              </a:rPr>
              <a:t>الرَّاحَةُ ___ مِنَ اتِّبَاعِ المَوْضَةِ.</a:t>
            </a:r>
            <a:endParaRPr lang="ar-SA" sz="1150" dirty="0"/>
          </a:p>
        </p:txBody>
      </p:sp>
      <p:sp>
        <p:nvSpPr>
          <p:cNvPr id="88" name="Shape 85"/>
          <p:cNvSpPr/>
          <p:nvPr/>
        </p:nvSpPr>
        <p:spPr>
          <a:xfrm>
            <a:off x="8278368" y="4873752"/>
            <a:ext cx="256032" cy="256032"/>
          </a:xfrm>
          <a:prstGeom prst="ellipse">
            <a:avLst/>
          </a:prstGeom>
          <a:solidFill>
            <a:srgbClr val="F4F1EA"/>
          </a:solidFill>
          <a:ln w="12700">
            <a:solidFill>
              <a:srgbClr val="F4F1EA"/>
            </a:solidFill>
            <a:prstDash val="solid"/>
          </a:ln>
        </p:spPr>
      </p:sp>
      <p:sp>
        <p:nvSpPr>
          <p:cNvPr id="89" name="Text 86"/>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0" name="Text 87"/>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مُهِمَّةٌ</a:t>
            </a:r>
            <a:endParaRPr lang="ar-SA" sz="2050" dirty="0"/>
          </a:p>
        </p:txBody>
      </p:sp>
      <p:sp>
        <p:nvSpPr>
          <p:cNvPr id="91" name="Shape 88"/>
          <p:cNvSpPr/>
          <p:nvPr/>
        </p:nvSpPr>
        <p:spPr>
          <a:xfrm>
            <a:off x="8278368" y="5330952"/>
            <a:ext cx="256032" cy="256032"/>
          </a:xfrm>
          <a:prstGeom prst="ellipse">
            <a:avLst/>
          </a:prstGeom>
          <a:solidFill>
            <a:srgbClr val="F4F1EA"/>
          </a:solidFill>
          <a:ln w="12700">
            <a:solidFill>
              <a:srgbClr val="F4F1EA"/>
            </a:solidFill>
            <a:prstDash val="solid"/>
          </a:ln>
        </p:spPr>
      </p:sp>
      <p:sp>
        <p:nvSpPr>
          <p:cNvPr id="92" name="Text 89"/>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3" name="Text 90"/>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أَهَمُّ</a:t>
            </a:r>
            <a:endParaRPr lang="ar-SA" sz="2050" dirty="0"/>
          </a:p>
        </p:txBody>
      </p:sp>
      <p:sp>
        <p:nvSpPr>
          <p:cNvPr id="94" name="Shape 91"/>
          <p:cNvSpPr/>
          <p:nvPr/>
        </p:nvSpPr>
        <p:spPr>
          <a:xfrm>
            <a:off x="8278368" y="5788152"/>
            <a:ext cx="256032" cy="256032"/>
          </a:xfrm>
          <a:prstGeom prst="ellipse">
            <a:avLst/>
          </a:prstGeom>
          <a:solidFill>
            <a:srgbClr val="F4F1EA"/>
          </a:solidFill>
          <a:ln w="12700">
            <a:solidFill>
              <a:srgbClr val="F4F1EA"/>
            </a:solidFill>
            <a:prstDash val="solid"/>
          </a:ln>
        </p:spPr>
      </p:sp>
      <p:sp>
        <p:nvSpPr>
          <p:cNvPr id="95" name="Text 92"/>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6" name="Text 93"/>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أَكْثَرٌ</a:t>
            </a:r>
            <a:endParaRPr lang="ar-SA" sz="20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44</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D2-L04 · Fashion and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D2-L04</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developed opinion.</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550" dirty="0">
                <a:solidFill>
                  <a:srgbClr val="9AA1AB"/>
                </a:solidFill>
                <a:latin typeface="Amiri" pitchFamily="2" charset="-78"/>
                <a:ea typeface="Amiri" pitchFamily="2" charset="-78"/>
                <a:cs typeface="Amiri" pitchFamily="2" charset="-78"/>
              </a:rPr>
              <a:t>هٰذَا الأُسْلُوبُ.</a:t>
            </a:r>
            <a:endParaRPr lang="ar-SA" sz="155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2" charset="-78"/>
                <a:ea typeface="Amiri" pitchFamily="2" charset="-78"/>
                <a:cs typeface="Amiri" pitchFamily="2" charset="-78"/>
              </a:rPr>
              <a:t>فِي رَأْيِي، هٰذَا الأُسْلُوبُ مُنَاسِبٌ لِأَنَّهُ مُرِيحٌ.</a:t>
            </a:r>
            <a:endParaRPr lang="ar-SA" sz="155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550" dirty="0">
                <a:solidFill>
                  <a:srgbClr val="9AA1AB"/>
                </a:solidFill>
                <a:latin typeface="Amiri" pitchFamily="2" charset="-78"/>
                <a:ea typeface="Amiri" pitchFamily="2" charset="-78"/>
                <a:cs typeface="Amiri" pitchFamily="2" charset="-78"/>
              </a:rPr>
              <a:t>لِأَنَّهُ مُرِيحٌ.</a:t>
            </a:r>
            <a:endParaRPr lang="ar-SA" sz="155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gives opinion and reason.</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5" name="Text 33"/>
          <p:cNvSpPr txBox="1"/>
          <p:nvPr/>
        </p:nvSpPr>
        <p:spPr>
          <a:xfrm>
            <a:off x="6225845" y="1883664"/>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2" charset="-78"/>
                <a:ea typeface="Amiri" pitchFamily="2" charset="-78"/>
                <a:cs typeface="Amiri" pitchFamily="2" charset="-78"/>
              </a:rPr>
              <a:t>أُحِبُّ المَوْضَةَ، ___ لَا أَتْبَعُ كُلَّ اتِّجَاهٍ.</a:t>
            </a:r>
            <a:endParaRPr lang="ar-SA" sz="1000" dirty="0"/>
          </a:p>
        </p:txBody>
      </p:sp>
      <p:sp>
        <p:nvSpPr>
          <p:cNvPr id="36" name="Shape 34"/>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7" name="Shape 35"/>
          <p:cNvSpPr/>
          <p:nvPr/>
        </p:nvSpPr>
        <p:spPr>
          <a:xfrm>
            <a:off x="4459224" y="2490216"/>
            <a:ext cx="256032" cy="256032"/>
          </a:xfrm>
          <a:prstGeom prst="ellipse">
            <a:avLst/>
          </a:prstGeom>
          <a:solidFill>
            <a:srgbClr val="2E8B57"/>
          </a:solidFill>
          <a:ln w="12700">
            <a:solidFill>
              <a:srgbClr val="2E8B57"/>
            </a:solidFill>
            <a:prstDash val="solid"/>
          </a:ln>
        </p:spPr>
      </p:sp>
      <p:sp>
        <p:nvSpPr>
          <p:cNvPr id="38" name="Text 36"/>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9" name="Text 37"/>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وَلٰكِنَّنِي</a:t>
            </a:r>
            <a:endParaRPr lang="ar-SA" sz="1700" dirty="0"/>
          </a:p>
        </p:txBody>
      </p:sp>
      <p:sp>
        <p:nvSpPr>
          <p:cNvPr id="40" name="Shape 38"/>
          <p:cNvSpPr/>
          <p:nvPr/>
        </p:nvSpPr>
        <p:spPr>
          <a:xfrm>
            <a:off x="4459224" y="2862072"/>
            <a:ext cx="256032" cy="256032"/>
          </a:xfrm>
          <a:prstGeom prst="ellipse">
            <a:avLst/>
          </a:prstGeom>
          <a:solidFill>
            <a:srgbClr val="C9CED6"/>
          </a:solidFill>
          <a:ln w="12700">
            <a:solidFill>
              <a:srgbClr val="C9CED6"/>
            </a:solidFill>
            <a:prstDash val="solid"/>
          </a:ln>
        </p:spPr>
      </p:sp>
      <p:sp>
        <p:nvSpPr>
          <p:cNvPr id="41" name="Text 39"/>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2" name="Text 40"/>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لِأَنَّنِي</a:t>
            </a:r>
            <a:endParaRPr lang="ar-SA" sz="1700" dirty="0"/>
          </a:p>
        </p:txBody>
      </p:sp>
      <p:sp>
        <p:nvSpPr>
          <p:cNvPr id="43" name="Shape 41"/>
          <p:cNvSpPr/>
          <p:nvPr/>
        </p:nvSpPr>
        <p:spPr>
          <a:xfrm>
            <a:off x="4459224" y="3233928"/>
            <a:ext cx="256032" cy="256032"/>
          </a:xfrm>
          <a:prstGeom prst="ellipse">
            <a:avLst/>
          </a:prstGeom>
          <a:solidFill>
            <a:srgbClr val="C9CED6"/>
          </a:solidFill>
          <a:ln w="12700">
            <a:solidFill>
              <a:srgbClr val="C9CED6"/>
            </a:solidFill>
            <a:prstDash val="solid"/>
          </a:ln>
        </p:spPr>
      </p:sp>
      <p:sp>
        <p:nvSpPr>
          <p:cNvPr id="44" name="Text 42"/>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3"/>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ثُمَّ</a:t>
            </a:r>
            <a:endParaRPr lang="ar-SA" sz="1700" dirty="0"/>
          </a:p>
        </p:txBody>
      </p:sp>
      <p:sp>
        <p:nvSpPr>
          <p:cNvPr id="46" name="Text 44"/>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contrast is required.</a:t>
            </a:r>
            <a:endParaRPr lang="en-US" sz="1050" dirty="0"/>
          </a:p>
        </p:txBody>
      </p:sp>
      <p:sp>
        <p:nvSpPr>
          <p:cNvPr id="47" name="Shape 45"/>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6"/>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7"/>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8"/>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concession.</a:t>
            </a:r>
            <a:endParaRPr lang="en-US" sz="1250" dirty="0"/>
          </a:p>
        </p:txBody>
      </p:sp>
      <p:sp>
        <p:nvSpPr>
          <p:cNvPr id="51" name="Shape 49"/>
          <p:cNvSpPr/>
          <p:nvPr/>
        </p:nvSpPr>
        <p:spPr>
          <a:xfrm>
            <a:off x="8278368" y="2490216"/>
            <a:ext cx="256032" cy="256032"/>
          </a:xfrm>
          <a:prstGeom prst="ellipse">
            <a:avLst/>
          </a:prstGeom>
          <a:solidFill>
            <a:srgbClr val="C9CED6"/>
          </a:solidFill>
          <a:ln w="12700">
            <a:solidFill>
              <a:srgbClr val="C9CED6"/>
            </a:solidFill>
            <a:prstDash val="solid"/>
          </a:ln>
        </p:spPr>
      </p:sp>
      <p:sp>
        <p:nvSpPr>
          <p:cNvPr id="52"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1"/>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500" dirty="0">
                <a:solidFill>
                  <a:srgbClr val="9AA1AB"/>
                </a:solidFill>
                <a:latin typeface="Amiri" pitchFamily="2" charset="-78"/>
                <a:ea typeface="Amiri" pitchFamily="2" charset="-78"/>
                <a:cs typeface="Amiri" pitchFamily="2" charset="-78"/>
              </a:rPr>
              <a:t>لِأَنَّهُ غَالٍ فَإِنَّهُ.</a:t>
            </a:r>
            <a:endParaRPr lang="ar-SA" sz="1500" dirty="0"/>
          </a:p>
        </p:txBody>
      </p:sp>
      <p:sp>
        <p:nvSpPr>
          <p:cNvPr id="54"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5"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6" name="Text 54"/>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500" dirty="0">
                <a:solidFill>
                  <a:srgbClr val="9AA1AB"/>
                </a:solidFill>
                <a:latin typeface="Amiri" pitchFamily="2" charset="-78"/>
                <a:ea typeface="Amiri" pitchFamily="2" charset="-78"/>
                <a:cs typeface="Amiri" pitchFamily="2" charset="-78"/>
              </a:rPr>
              <a:t>هُوَ غَالٍ ثُمَّ.</a:t>
            </a:r>
            <a:endParaRPr lang="ar-SA" sz="1500" dirty="0"/>
          </a:p>
        </p:txBody>
      </p:sp>
      <p:sp>
        <p:nvSpPr>
          <p:cNvPr id="57" name="Shape 55"/>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8" name="Shape 56"/>
          <p:cNvSpPr/>
          <p:nvPr/>
        </p:nvSpPr>
        <p:spPr>
          <a:xfrm>
            <a:off x="8278368" y="3233928"/>
            <a:ext cx="256032" cy="256032"/>
          </a:xfrm>
          <a:prstGeom prst="ellipse">
            <a:avLst/>
          </a:prstGeom>
          <a:solidFill>
            <a:srgbClr val="2E8B57"/>
          </a:solidFill>
          <a:ln w="12700">
            <a:solidFill>
              <a:srgbClr val="2E8B57"/>
            </a:solidFill>
            <a:prstDash val="solid"/>
          </a:ln>
        </p:spPr>
      </p:sp>
      <p:sp>
        <p:nvSpPr>
          <p:cNvPr id="59"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60"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عَلَى الرَّغْمِ مِنْ أَنَّهُ غَالٍ، فَإِنَّهُ جَيِّدُ الجَوْدَةِ.</a:t>
            </a:r>
            <a:endParaRPr lang="ar-SA" sz="1500" dirty="0"/>
          </a:p>
        </p:txBody>
      </p:sp>
      <p:sp>
        <p:nvSpPr>
          <p:cNvPr id="61"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This is a complete concession pattern.</a:t>
            </a:r>
            <a:endParaRPr lang="en-US" sz="1050" dirty="0"/>
          </a:p>
        </p:txBody>
      </p:sp>
      <p:sp>
        <p:nvSpPr>
          <p:cNvPr id="62"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3"/>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يُعَبِّرُ عَنْ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66" name="Shape 64"/>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5"/>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6"/>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buys</a:t>
            </a:r>
            <a:endParaRPr lang="en-US" sz="1250" dirty="0"/>
          </a:p>
        </p:txBody>
      </p:sp>
      <p:sp>
        <p:nvSpPr>
          <p:cNvPr id="69" name="Shape 67"/>
          <p:cNvSpPr/>
          <p:nvPr/>
        </p:nvSpPr>
        <p:spPr>
          <a:xfrm>
            <a:off x="640080" y="5202936"/>
            <a:ext cx="256032" cy="256032"/>
          </a:xfrm>
          <a:prstGeom prst="ellipse">
            <a:avLst/>
          </a:prstGeom>
          <a:solidFill>
            <a:srgbClr val="C9CED6"/>
          </a:solidFill>
          <a:ln w="12700">
            <a:solidFill>
              <a:srgbClr val="C9CED6"/>
            </a:solidFill>
            <a:prstDash val="solid"/>
          </a:ln>
        </p:spPr>
      </p:sp>
      <p:sp>
        <p:nvSpPr>
          <p:cNvPr id="70"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compares</a:t>
            </a:r>
            <a:endParaRPr lang="en-US" sz="1250" dirty="0"/>
          </a:p>
        </p:txBody>
      </p:sp>
      <p:sp>
        <p:nvSpPr>
          <p:cNvPr id="72" name="Shape 70"/>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3" name="Shape 71"/>
          <p:cNvSpPr/>
          <p:nvPr/>
        </p:nvSpPr>
        <p:spPr>
          <a:xfrm>
            <a:off x="640080" y="5574792"/>
            <a:ext cx="256032" cy="256032"/>
          </a:xfrm>
          <a:prstGeom prst="ellipse">
            <a:avLst/>
          </a:prstGeom>
          <a:solidFill>
            <a:srgbClr val="2E8B57"/>
          </a:solidFill>
          <a:ln w="12700">
            <a:solidFill>
              <a:srgbClr val="2E8B57"/>
            </a:solidFill>
            <a:prstDash val="solid"/>
          </a:ln>
        </p:spPr>
      </p:sp>
      <p:sp>
        <p:nvSpPr>
          <p:cNvPr id="74" name="Text 72"/>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3"/>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expresses</a:t>
            </a:r>
            <a:endParaRPr lang="en-US" sz="1250" dirty="0"/>
          </a:p>
        </p:txBody>
      </p:sp>
      <p:sp>
        <p:nvSpPr>
          <p:cNvPr id="76" name="Text 74"/>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means expresses.</a:t>
            </a:r>
            <a:endParaRPr lang="en-US" sz="1050" dirty="0"/>
          </a:p>
        </p:txBody>
      </p:sp>
      <p:sp>
        <p:nvSpPr>
          <p:cNvPr id="77" name="Shape 7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6"/>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respectful judgement.</a:t>
            </a:r>
            <a:endParaRPr lang="en-US" sz="1250" dirty="0"/>
          </a:p>
        </p:txBody>
      </p:sp>
      <p:sp>
        <p:nvSpPr>
          <p:cNvPr id="81" name="Shape 79"/>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80"/>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1"/>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2"/>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أُسْلُوبُهَا مُخْتَلِفٌ وَيُعَبِّرُ عَنْ ذَوْقِهَا.</a:t>
            </a:r>
            <a:endParaRPr lang="ar-SA" sz="1700" dirty="0"/>
          </a:p>
        </p:txBody>
      </p:sp>
      <p:sp>
        <p:nvSpPr>
          <p:cNvPr id="85" name="Shape 83"/>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4"/>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5"/>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هِيَ سَيِّئَةٌ لِأَنَّ فُسْتَانَهَا أَحْمَرُ.</a:t>
            </a:r>
            <a:endParaRPr lang="ar-SA" sz="1700" dirty="0"/>
          </a:p>
        </p:txBody>
      </p:sp>
      <p:sp>
        <p:nvSpPr>
          <p:cNvPr id="88" name="Shape 86"/>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7"/>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8"/>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كُلُّ مَنْ يَلْبَسُ الأَسْوَدَ حَزِينٌ.</a:t>
            </a:r>
            <a:endParaRPr lang="ar-SA" sz="1700" dirty="0"/>
          </a:p>
        </p:txBody>
      </p:sp>
      <p:sp>
        <p:nvSpPr>
          <p:cNvPr id="91" name="Text 89"/>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evaluates style without stereotyping.</a:t>
            </a:r>
            <a:endParaRPr lang="en-US" sz="1050" dirty="0"/>
          </a:p>
        </p:txBody>
      </p:sp>
      <p:sp>
        <p:nvSpPr>
          <p:cNvPr id="92" name="Shape 9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1"/>
          <p:cNvSpPr/>
          <p:nvPr/>
        </p:nvSpPr>
        <p:spPr>
          <a:xfrm>
            <a:off x="8223504" y="4288536"/>
            <a:ext cx="310896" cy="310896"/>
          </a:xfrm>
          <a:prstGeom prst="ellipse">
            <a:avLst/>
          </a:prstGeom>
          <a:solidFill>
            <a:srgbClr val="1B3B6F"/>
          </a:solidFill>
          <a:ln w="12700">
            <a:solidFill>
              <a:srgbClr val="1B3B6F"/>
            </a:solidFill>
            <a:prstDash val="solid"/>
          </a:ln>
        </p:spPr>
      </p:sp>
      <p:sp>
        <p:nvSpPr>
          <p:cNvPr id="94" name="Text 9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3"/>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96" name="Text 94"/>
          <p:cNvSpPr txBox="1"/>
          <p:nvPr/>
        </p:nvSpPr>
        <p:spPr>
          <a:xfrm>
            <a:off x="10044989" y="4224528"/>
            <a:ext cx="1577035" cy="475488"/>
          </a:xfrm>
          <a:prstGeom prst="rect">
            <a:avLst/>
          </a:prstGeom>
          <a:noFill/>
          <a:ln/>
        </p:spPr>
        <p:txBody>
          <a:bodyPr wrap="square" lIns="0" tIns="0" rIns="0" bIns="0" rtlCol="0" anchor="ctr"/>
          <a:lstStyle/>
          <a:p>
            <a:pPr rtl="1" algn="r" indent="0" marL="0">
              <a:buNone/>
            </a:pPr>
            <a:r>
              <a:rPr lang="ar-SA" altLang="en-US" sz="1150" b="1" dirty="0">
                <a:solidFill>
                  <a:srgbClr val="1F2A37"/>
                </a:solidFill>
                <a:latin typeface="Amiri" pitchFamily="2" charset="-78"/>
                <a:ea typeface="Amiri" pitchFamily="2" charset="-78"/>
                <a:cs typeface="Amiri" pitchFamily="2" charset="-78"/>
              </a:rPr>
              <a:t>الرَّاحَةُ ___ مِنَ اتِّبَاعِ المَوْضَةِ.</a:t>
            </a:r>
            <a:endParaRPr lang="ar-SA" sz="1150" dirty="0"/>
          </a:p>
        </p:txBody>
      </p:sp>
      <p:sp>
        <p:nvSpPr>
          <p:cNvPr id="97" name="Shape 95"/>
          <p:cNvSpPr/>
          <p:nvPr/>
        </p:nvSpPr>
        <p:spPr>
          <a:xfrm>
            <a:off x="8278368" y="4831080"/>
            <a:ext cx="256032" cy="256032"/>
          </a:xfrm>
          <a:prstGeom prst="ellipse">
            <a:avLst/>
          </a:prstGeom>
          <a:solidFill>
            <a:srgbClr val="C9CED6"/>
          </a:solidFill>
          <a:ln w="12700">
            <a:solidFill>
              <a:srgbClr val="C9CED6"/>
            </a:solidFill>
            <a:prstDash val="solid"/>
          </a:ln>
        </p:spPr>
      </p:sp>
      <p:sp>
        <p:nvSpPr>
          <p:cNvPr id="98" name="Text 96"/>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9" name="Text 97"/>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مُهِمَّةٌ</a:t>
            </a:r>
            <a:endParaRPr lang="ar-SA" sz="1700" dirty="0"/>
          </a:p>
        </p:txBody>
      </p:sp>
      <p:sp>
        <p:nvSpPr>
          <p:cNvPr id="100" name="Shape 98"/>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1" name="Shape 99"/>
          <p:cNvSpPr/>
          <p:nvPr/>
        </p:nvSpPr>
        <p:spPr>
          <a:xfrm>
            <a:off x="8278368" y="5202936"/>
            <a:ext cx="256032" cy="256032"/>
          </a:xfrm>
          <a:prstGeom prst="ellipse">
            <a:avLst/>
          </a:prstGeom>
          <a:solidFill>
            <a:srgbClr val="2E8B57"/>
          </a:solidFill>
          <a:ln w="12700">
            <a:solidFill>
              <a:srgbClr val="2E8B57"/>
            </a:solidFill>
            <a:prstDash val="solid"/>
          </a:ln>
        </p:spPr>
      </p:sp>
      <p:sp>
        <p:nvSpPr>
          <p:cNvPr id="102" name="Text 100"/>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3" name="Text 101"/>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أَهَمُّ</a:t>
            </a:r>
            <a:endParaRPr lang="ar-SA" sz="1700" dirty="0"/>
          </a:p>
        </p:txBody>
      </p:sp>
      <p:sp>
        <p:nvSpPr>
          <p:cNvPr id="104" name="Shape 102"/>
          <p:cNvSpPr/>
          <p:nvPr/>
        </p:nvSpPr>
        <p:spPr>
          <a:xfrm>
            <a:off x="8278368" y="5574792"/>
            <a:ext cx="256032" cy="256032"/>
          </a:xfrm>
          <a:prstGeom prst="ellipse">
            <a:avLst/>
          </a:prstGeom>
          <a:solidFill>
            <a:srgbClr val="C9CED6"/>
          </a:solidFill>
          <a:ln w="12700">
            <a:solidFill>
              <a:srgbClr val="C9CED6"/>
            </a:solidFill>
            <a:prstDash val="solid"/>
          </a:ln>
        </p:spPr>
      </p:sp>
      <p:sp>
        <p:nvSpPr>
          <p:cNvPr id="105" name="Text 103"/>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6" name="Text 104"/>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أَكْثَرٌ</a:t>
            </a:r>
            <a:endParaRPr lang="ar-SA" sz="1700" dirty="0"/>
          </a:p>
        </p:txBody>
      </p:sp>
      <p:sp>
        <p:nvSpPr>
          <p:cNvPr id="107" name="Text 105"/>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comparative pattern is </a:t>
            </a:r>
            <a:pPr algn="l" indent="0" marL="0">
              <a:buNone/>
            </a:pPr>
            <a:r>
              <a:rPr lang="ar-SA" altLang="en-US" sz="1350" dirty="0">
                <a:solidFill>
                  <a:srgbClr val="8A6D1E"/>
                </a:solidFill>
                <a:latin typeface="Amiri" pitchFamily="2" charset="-78"/>
                <a:ea typeface="Amiri" pitchFamily="2" charset="-78"/>
                <a:cs typeface="Amiri" pitchFamily="2" charset="-78"/>
              </a:rPr>
              <a:t>أَهَمُّ مِنْ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108"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44</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D2-L04 · Fashion and Identity</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D2-L05: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D2-L04</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D2-L05 · Comparing People and Clothes — More, Less and Better</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أَكْثَرُ … مِنْ</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more … than</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أَقَلُّ … مِنْ</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less … than</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أَفْضَلُ مِنْ</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better than</a:t>
            </a:r>
            <a:pPr indent="0" marL="0">
              <a:buNone/>
            </a:pPr>
            <a:r>
              <a:rPr lang="ar-SA" sz="1000" i="1" dirty="0">
                <a:solidFill>
                  <a:srgbClr val="5A6472"/>
                </a:solidFill>
                <a:latin typeface="Calibri" pitchFamily="34" charset="0"/>
                <a:ea typeface="Amiri" pitchFamily="2" charset="-78"/>
                <a:cs typeface="Amiri" pitchFamily="2" charset="-78"/>
              </a:rPr>
              <a:t>  the best: الأَفْضَلُ</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أَرْخَصُ مِنْ</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cheaper than</a:t>
            </a:r>
            <a:pPr indent="0" marL="0">
              <a:buNone/>
            </a:pPr>
            <a:r>
              <a:rPr lang="ar-SA" sz="1000" i="1" dirty="0">
                <a:solidFill>
                  <a:srgbClr val="5A6472"/>
                </a:solidFill>
                <a:latin typeface="Calibri" pitchFamily="34" charset="0"/>
                <a:ea typeface="Amiri" pitchFamily="2" charset="-78"/>
                <a:cs typeface="Amiri" pitchFamily="2" charset="-78"/>
              </a:rPr>
              <a:t>  cheap: رَخِيصٌ</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أَغْلَى مِنْ</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more expensive than</a:t>
            </a:r>
            <a:pPr indent="0" marL="0">
              <a:buNone/>
            </a:pPr>
            <a:r>
              <a:rPr lang="ar-SA" sz="1000" i="1" dirty="0">
                <a:solidFill>
                  <a:srgbClr val="5A6472"/>
                </a:solidFill>
                <a:latin typeface="Calibri" pitchFamily="34" charset="0"/>
                <a:ea typeface="Amiri" pitchFamily="2" charset="-78"/>
                <a:cs typeface="Amiri" pitchFamily="2" charset="-78"/>
              </a:rPr>
              <a:t>  expensive: غَالٍ</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Compare two people you know or two items of clothing. Who / which is taller, cheaper, more elegant?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مَنْ أَطْوَلُ فِي أُسْرَتِكَ؟</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D2-L04: the vocabulary tab (style adjectives, opinion and balance).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8 sentences about your style with an opinion, a reason and a contrast.</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100–120 words on fashion and identity.</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44</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D2-L04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D2-L05 · Comparing People and Clothes — More, Less and Better</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المُقَارَنَةُ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opinion + because + but — and judge clothes, not people.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D2-L04 · Fashion and Identity — Opinions on Style and Dress</dc:title>
  <dc:subject>PptxGenJS Presentation</dc:subject>
  <dc:creator>Al Madina Online School · Arabic Department</dc:creator>
  <cp:lastModifiedBy>Al Madina Online School · Arabic Department</cp:lastModifiedBy>
  <cp:revision>1</cp:revision>
  <dcterms:created xsi:type="dcterms:W3CDTF">2026-10-11T06:40:35Z</dcterms:created>
  <dcterms:modified xsi:type="dcterms:W3CDTF">2026-10-11T06:40:35Z</dcterms:modified>
</cp:coreProperties>
</file>