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D2 People, Relationships and Style › D2-L04. The website lesson “Fashion and Identity — Opinions on Style and Dress”: vocabulary, grammar rules and quiz, patterns, common mistakes, sorter, listening, reading, speaking prompts and model, writing task and model, differentiation, final check and the lesson mission. Picture match: website visual game “Fashion and Identity — Opinions on Style and Dress”.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describe your own style with two style adjectives + فِي رَأْيِي … لِأَنَّ … (one opinion, one reason). Develop: add a contrast (أُفَضِّلُ … وَلٰكِنَّنِي …). Stretch: a concession (عَلَى الرَّغْمِ مِنْ أَنَّ … فَإِنَّ …) and a balanced conclusion about fashion and identity.
• Website value: “Do not treat personal style as proof of personality” — every opinion must be respectful (quiz Q5). Model this explicitly: we judge CLOTHES (comfortable, practical, expensive), never PEOPLE.
• Modesty and identity are personal: invite, never require, students to share. Invented examples are fine.
• Urdu bridge: فیشن (→ مَوْضَةٌ), ذوق، ثقافت، شخصیت، احترام.
• TEACHER-WRITTEN ITEMS: on the website this lesson’s patterns, mistakes, sorter, listening, reading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1–2 test two of the five style words prepared at home. Questions 3–5 retrieve D2-L03 (هٰذِهِ, ثَمَنُهَا) and D2-L01 (لِأَنَّهَا).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balanced opinion has three parts: what I think, why, and the other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ذوق (taste) → الذَّوْقُ; ثقافت → الثَّقَافَةُ; شخصیت → الشَّخْصِيَّةُ; احترام → الاِحْتِرَامُ — all Arabic words students already use in Urdu. مَوْضَةٌ (from Italian moda) = fashion; أُسْلُوبٌ = style (Urdu اسلوب: style of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Style adjectives (website vocabulary (1 of 2)). Hear → Say → See → Use. Transliteration is printed for Core students (cover it for Develop/Stretch).
Style adjectives in m. · f. · pl. (reviewed from D2-L03). Things in the plural take the feminine singular: مَلَابِسُ مُلَوَّنَةٌ.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Style adjectives (website vocabulary (2 of 2)). Hear → Say → See → Use. Transliteration is printed for Core students (cover it for Develop/Stretch).
Style adjectives in m. · f. · pl. (reviewed from D2-L03). Things in the plural take the feminine singular: مَلَابِسُ مُلَوَّنَةٌ.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Opinion and balance (website vocabulary (1 of 2)). Hear → Say → See → Use. Transliteration is printed for Core students (cover it for Develop/Stretch).
Opinion and balance: sort them live — OPINION (فِي رَأْيِي) · REASON (لِأَنَّ، لِذٰلِكَ) · CONTRAST (وَلٰكِنَّ، بَيْنَمَا، مِنْ جِهَةٍ … مِنْ جِهَةٍ أُخْرَى) · CONCESSION (عَلَى الرَّغْمِ مِنْ أَنَّ) · SOFTENERS (أَحْيَانًا، عَادَةً).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Opinion and balance (website vocabulary (2 of 2)). Hear → Say → See → Use. Transliteration is printed for Core students (cover it for Develop/Stretch).
Opinion and balance: sort them live — OPINION (فِي رَأْيِي) · REASON (لِأَنَّ، لِذٰلِكَ) · CONTRAST (وَلٰكِنَّ، بَيْنَمَا، مِنْ جِهَةٍ … مِنْ جِهَةٍ أُخْرَى) · CONCESSION (عَلَى الرَّغْمِ مِنْ أَنَّ) · SOFTENERS (أَحْيَانًا، عَادَةً).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Clothing reference (website vocabulary (1 of 2)). Hear → Say → See → Use. Transliteration is printed for Core students (cover it for Develop/Stretch).
FLEX: teach if time allows; otherwise these are on the website vocabulary tab for homework.
Clothing reference (FLEX) — the D2-L03 clothes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Clothing reference (website vocabulary (2 of 2)). Hear → Say → See → Use. Transliteration is printed for Core students (cover it for Develop/Stretch).
FLEX: teach if time allows; otherwise these are on the website vocabulary tab for homework.
Clothing reference (FLEX) — the D2-L03 clothes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“Opinion plus reason” (a developed opinion explains why) and “Contrast” (contrast adds balance) with the website examples.
Note for Develop/Stretch: non-human plurals take feminine singular agreement — المَلَابِسُ … لِأَنَّهَا عَمَلِيَّةٌ (not لِأَنَّهُمْ).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“Concession” (acknowledge an opposing point before stating a judgement) and “Identity and expression” (explain what style communicates without judging a person unfairly). Website common error: “Do not treat personal style as proof of personality.”
Stretch grammar: after عَلَى الرَّغْمِ مِنْ أَنَّ the main clause often starts with فَإِنَّ + noun in -a (فَإِنَّ الرَّاحَةَ أَهَمُّ).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“Develop opinions about style with reasons, contrast, concession and language that avoids over-generalisation.”
• Opinion plus reason: A developed opinion explains why.
• Contrast: Contrast adds balance and complexity.
• Concession: Acknowledge an opposing point before stating a judgement.
• Identity and expression: Explain what style communicates without judging a person unfairly.
Website common error: Do not treat personal style as proof of personality; describe clothing evidence and qualify your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4, 6, 7,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(Reem) and patterns turned into a first-person opinion, with a think-aloud. Students copy it and label the four parts: STYLE · OPINION + REASON · CONTRAST · CONCESSION.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built from the website grammar quiz (Q1, Q2, Q3, Q5) and the website value about respectful judgement. Discuss Q4 carefully: the wrong answers stereotype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 volunteer changes one word to make their own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Is each sentence a complete, balanced and respectful opinion?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Is each sentence a complete, balanced and respectful opinion?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6. (Questions are teacher-written: the website questions for this script are generic.)
Listen 1: just listen. Listen 2: note answers. Then chat the letters.
Support: after the second listening, show the read-along slide (Arabic + English, line by line) for Core students.
SCRIPT (read aloud):
تَتَحَدَّثُ رِيمُ عَنْ أُسْلُوبِهَا. تَقُولُ إِنَّهَا تُفَضِّلُ المَلَابِسَ البَسِيطَةَ وَالمُرِيحَةَ، لِأَنَّهَا تَذْهَبُ إِلَى المَدْرَسَةِ وَتَتَحَرَّكُ كَثِيرًا. وَلٰكِنَّهَا فِي المُنَاسَبَاتِ تَرْتَدِي فُسْتَانًا أَنِيقًا وَحِجَابًا مُلَوَّنًا. فِي رَأْيِهَا، الأُسْلُوبُ الشَّخْصِيُّ يُعَبِّرُ عَنِ الذَّوْقِ، وَلٰكِنَّهُ لَا يُخْبِرُنَا بِكُلِّ شَيْءٍ عَنِ الشَّخْصِيَّةِ.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مَا الأَهَمُّ فِي رَأْيِكَ؟ (What is most important?)
B: الرَّاحَةُ وَالاِحْتِرَامُ أَهَمُّ مِنَ اتِّبَاعِ كُلِّ اتِّجَاهٍ. (Comfort and respect matter more than every trend.)
Website prompts. Website model continues: A: مَا الأَهَمُّ فِي رَأْيِكَ؟ (What is most important in your opinion?) B: الرَّاحَةُ وَالاِحْتِرَامُ أَهَمُّ مِنَ اتِّبَاعِ كُلِّ اتِّجَاهٍ. (Comfort and respect matter more than following every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an independently controlled relative clause.
Website writing task (Stretch): Write 100–120 Arabic words giving your view on fashion and identity. Explain your style, what influences it, one advantage and one disadvantage of following fashion, and a balanced conclusion.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فِي رَأْيِي … لِأَنَّهَا · وَلٰكِنَّنِي فِي المُنَاسَبَاتِ · مِنْ مَزَايَا المَوْضَةِ / مِنْ عُيُوبِهَا · عَلَى الرَّغْمِ مِنْ ذٰلِكَ (despite that — a concession with a noun).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(D2-L05 · Comparing People and Clothes — More, Less and Better) will spend class time USING this language, so students prepare it tonight — short, simple, easy to access (school guidance: “Simple, Short, Interesting, Relevant, Easy to access”). The five words come from the website D2-L05 vocabulary (comparative language).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Fashion and Identity — Opinions on Style and Dress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المَوْضَةُ وَالهُوِيَّةُ — آرَاءٌ حَوْلَ الأُسْلُوبِ وَاللِّبَاسِ</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Give a balanced opinion about style and fashion: opinion + reason (</a:t>
            </a:r>
            <a:pPr algn="l" indent="0" marL="0">
              <a:buNone/>
            </a:pPr>
            <a:r>
              <a:rPr lang="ar-SA" altLang="en-US" sz="1800" dirty="0">
                <a:solidFill>
                  <a:srgbClr val="C6D2E6"/>
                </a:solidFill>
                <a:latin typeface="Amiri" pitchFamily="2" charset="-78"/>
                <a:ea typeface="Amiri" pitchFamily="2" charset="-78"/>
                <a:cs typeface="Amiri" pitchFamily="2" charset="-78"/>
              </a:rPr>
              <a:t>فِي رَأْيِي … لِأَنَّ</a:t>
            </a:r>
            <a:pPr algn="l" indent="0" marL="0">
              <a:buNone/>
            </a:pPr>
            <a:r>
              <a:rPr lang="en-US" sz="1400" dirty="0">
                <a:solidFill>
                  <a:srgbClr val="C6D2E6"/>
                </a:solidFill>
                <a:latin typeface="Calibri" pitchFamily="34" charset="0"/>
                <a:cs typeface="Amiri" pitchFamily="2" charset="-78"/>
              </a:rPr>
              <a:t>), contrast (</a:t>
            </a:r>
            <a:pPr algn="l" indent="0" marL="0">
              <a:buNone/>
            </a:pPr>
            <a:r>
              <a:rPr lang="ar-SA" altLang="en-US" sz="1800" dirty="0">
                <a:solidFill>
                  <a:srgbClr val="C6D2E6"/>
                </a:solidFill>
                <a:latin typeface="Amiri" pitchFamily="2" charset="-78"/>
                <a:ea typeface="Amiri" pitchFamily="2" charset="-78"/>
                <a:cs typeface="Amiri" pitchFamily="2" charset="-78"/>
              </a:rPr>
              <a:t>وَلٰكِنَّ</a:t>
            </a:r>
            <a:pPr algn="l" indent="0" marL="0">
              <a:buNone/>
            </a:pPr>
            <a:r>
              <a:rPr lang="en-US" sz="1400" dirty="0">
                <a:solidFill>
                  <a:srgbClr val="C6D2E6"/>
                </a:solidFill>
                <a:latin typeface="Calibri" pitchFamily="34" charset="0"/>
                <a:cs typeface="Amiri" pitchFamily="2" charset="-78"/>
              </a:rPr>
              <a:t>), concession (</a:t>
            </a:r>
            <a:pPr algn="l" indent="0" marL="0">
              <a:buNone/>
            </a:pPr>
            <a:r>
              <a:rPr lang="ar-SA" altLang="en-US" sz="1800" dirty="0">
                <a:solidFill>
                  <a:srgbClr val="C6D2E6"/>
                </a:solidFill>
                <a:latin typeface="Amiri" pitchFamily="2" charset="-78"/>
                <a:ea typeface="Amiri" pitchFamily="2" charset="-78"/>
                <a:cs typeface="Amiri" pitchFamily="2" charset="-78"/>
              </a:rPr>
              <a:t>عَلَى الرَّغْمِ مِنْ أَنَّ … فَإِنَّ</a:t>
            </a:r>
            <a:pPr algn="l" indent="0" marL="0">
              <a:buNone/>
            </a:pPr>
            <a:r>
              <a:rPr lang="en-US" sz="1400" dirty="0">
                <a:solidFill>
                  <a:srgbClr val="C6D2E6"/>
                </a:solidFill>
                <a:latin typeface="Calibri" pitchFamily="34" charset="0"/>
                <a:cs typeface="Amiri" pitchFamily="2" charset="-78"/>
              </a:rPr>
              <a:t>) — and judge clothes, never people.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D2-L04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Opinion + reason, contrast and concession.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Balance the opinion, sort,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D2-L05.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مُحْتَشِمٌ / مُحْتَشِمَةٌ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modern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modest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تَقْلِيدِيٌّ / تَقْلِيدِيَّةٌ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traditional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elegant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simple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السُّتْرَةُ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السُّتْرَةَ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السُّتْرَةُ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مَقَاسُهُ؟</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هِيَ مُتَعَاوِنَةٌ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تُسَاعِدُ الآخَرِينَ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وَلٰكِنَّهُ</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مُحْتَشِمٌ / مُحْتَشِمَةٌ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modern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modest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تَقْلِيدِيٌّ / تَقْلِيدِيَّةٌ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traditional</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elegant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simple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السُّتْرَةُ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السُّتْرَةَ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السُّتْرَةُ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D2-L03: sutra is feminine.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ثَمَنُهُ؟</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مَقَاسُهُ؟</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كَمْ ثَمَنُهَا؟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D2-L03: bag (f.) → thamanuhā.</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هِيَ مُتَعَاوِنَةٌ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تُسَاعِدُ الآخَرِينَ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وَلٰكِنَّهُ</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D2-L01: because she.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balanced opinion has three parts: what I think, why, and the other side.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فِي رَأْيِي</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1D5FBF"/>
                </a:solidFill>
                <a:latin typeface="Amiri" pitchFamily="2" charset="-78"/>
                <a:ea typeface="Amiri" pitchFamily="2" charset="-78"/>
                <a:cs typeface="Amiri" pitchFamily="2" charset="-78"/>
              </a:rPr>
              <a:t>لِأَنَّ</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وَلٰكِنَّ</a:t>
            </a:r>
            <a:pPr rtl="1" algn="ctr" indent="0" marL="0">
              <a:buNone/>
            </a:pPr>
            <a:r>
              <a:rPr lang="ar-SA" altLang="en-US" sz="2400" b="1" dirty="0">
                <a:solidFill>
                  <a:srgbClr val="1B3B6F"/>
                </a:solidFill>
                <a:latin typeface="Amiri" pitchFamily="2" charset="-78"/>
                <a:cs typeface="Amiri" pitchFamily="2" charset="-78"/>
              </a:rPr>
              <a:t> …</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the key D2-L04 vocabulary in complete Arabic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apply the target grammar: Expressing and qualifying opinions.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precise evidence from an intermediate listening and reading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developed spoken and written Arabic with reasons and detail.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my style with two adjectives.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give an opinion with a reason.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contrast with “but”.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clothes express.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a concession (although …).</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balanced conclusion about fashion.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32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Style adjectives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Opinion and balance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Clothing reference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المَوْضَةُ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‎فیشن‎ </a:t>
            </a:r>
            <a:pPr indent="0" marL="0">
              <a:buNone/>
            </a:pPr>
            <a:r>
              <a:rPr lang="en-US" sz="950" b="1" dirty="0">
                <a:solidFill>
                  <a:srgbClr val="2E8B57"/>
                </a:solidFill>
                <a:latin typeface="Calibri" pitchFamily="34" charset="0"/>
                <a:cs typeface="Amiri" pitchFamily="2" charset="-78"/>
              </a:rPr>
              <a:t> fashion · fashion (both borrowed)</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الذَّوْقُ</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‎ذوق‎ </a:t>
            </a:r>
            <a:pPr indent="0" marL="0">
              <a:buNone/>
            </a:pPr>
            <a:r>
              <a:rPr lang="en-US" sz="950" b="1" dirty="0">
                <a:solidFill>
                  <a:srgbClr val="2E8B57"/>
                </a:solidFill>
                <a:latin typeface="Calibri" pitchFamily="34" charset="0"/>
                <a:cs typeface="Amiri" pitchFamily="2" charset="-78"/>
              </a:rPr>
              <a:t> zauq · taste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الثَّقَافَةُ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‎ثقافت‎ </a:t>
            </a:r>
            <a:pPr indent="0" marL="0">
              <a:buNone/>
            </a:pPr>
            <a:r>
              <a:rPr lang="en-US" sz="950" b="1" dirty="0">
                <a:solidFill>
                  <a:srgbClr val="2E8B57"/>
                </a:solidFill>
                <a:latin typeface="Calibri" pitchFamily="34" charset="0"/>
                <a:cs typeface="Amiri" pitchFamily="2" charset="-78"/>
              </a:rPr>
              <a:t> saqāfat · culture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الشَّخْصِيَّةُ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‎شخصیت‎ </a:t>
            </a:r>
            <a:pPr indent="0" marL="0">
              <a:buNone/>
            </a:pPr>
            <a:r>
              <a:rPr lang="en-US" sz="950" b="1" dirty="0">
                <a:solidFill>
                  <a:srgbClr val="2E8B57"/>
                </a:solidFill>
                <a:latin typeface="Calibri" pitchFamily="34" charset="0"/>
                <a:cs typeface="Amiri" pitchFamily="2" charset="-78"/>
              </a:rPr>
              <a:t> shakhsiyat · personality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الاِحْتِرَامُ</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‎احترام‎ </a:t>
            </a:r>
            <a:pPr indent="0" marL="0">
              <a:buNone/>
            </a:pPr>
            <a:r>
              <a:rPr lang="en-US" sz="950" b="1" dirty="0">
                <a:solidFill>
                  <a:srgbClr val="2E8B57"/>
                </a:solidFill>
                <a:latin typeface="Calibri" pitchFamily="34" charset="0"/>
                <a:cs typeface="Amiri" pitchFamily="2" charset="-78"/>
              </a:rPr>
              <a:t> ihtirām · respect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Style adjectives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أَنِيقٌ / أَنِيقَةٌ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عَصْرِيٌّ / عَصْرِيَّةٌ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ʿaṣ-riy-yun / ʿaṣ-riy-ya-tun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تَقْلِيدِيٌّ / تَقْلِيدِيَّةٌ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a:t>
            </a:r>
            <a:endParaRPr lang="en-US" sz="1350" dirty="0"/>
          </a:p>
          <a:p>
            <a:pPr indent="0" marL="0">
              <a:buNone/>
            </a:pPr>
            <a:r>
              <a:rPr lang="en-US" sz="1100" i="1" dirty="0">
                <a:solidFill>
                  <a:srgbClr val="5A6472"/>
                </a:solidFill>
                <a:latin typeface="Calibri" pitchFamily="34" charset="0"/>
                <a:cs typeface="Amiri" pitchFamily="2" charset="-78"/>
              </a:rPr>
              <a:t>taq-lī-diy-yun / taq-lī-diy-ya-tun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رَسْمِيٌّ / رَسْمِيَّةٌ</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formal</a:t>
            </a:r>
            <a:endParaRPr lang="en-US" sz="1350" dirty="0"/>
          </a:p>
          <a:p>
            <a:pPr indent="0" marL="0">
              <a:buNone/>
            </a:pPr>
            <a:r>
              <a:rPr lang="en-US" sz="1100" i="1" dirty="0">
                <a:solidFill>
                  <a:srgbClr val="5A6472"/>
                </a:solidFill>
                <a:latin typeface="Calibri" pitchFamily="34" charset="0"/>
                <a:cs typeface="Amiri" pitchFamily="2" charset="-78"/>
              </a:rPr>
              <a:t>ras-miy-yun / ras-miy-ya-tun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رَسْمِيُّونَ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رَسْمِيَّةٌ</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2" name="Text 8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رَسْمِيٍّ / غَيْرُ رَسْمِيَّةٍ</a:t>
            </a:r>
            <a:endParaRPr lang="ar-SA" sz="3000" dirty="0"/>
          </a:p>
        </p:txBody>
      </p:sp>
      <p:sp>
        <p:nvSpPr>
          <p:cNvPr id="93" name="Text 9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casual</a:t>
            </a:r>
            <a:endParaRPr lang="en-US" sz="1350" dirty="0"/>
          </a:p>
          <a:p>
            <a:pPr indent="0" marL="0">
              <a:buNone/>
            </a:pPr>
            <a:r>
              <a:rPr lang="en-US" sz="1100" i="1" dirty="0">
                <a:solidFill>
                  <a:srgbClr val="5A6472"/>
                </a:solidFill>
                <a:latin typeface="Calibri" pitchFamily="34" charset="0"/>
                <a:cs typeface="Amiri" pitchFamily="2" charset="-78"/>
              </a:rPr>
              <a:t>ghay-ru ras-miy-yin / ghay-ru ras-miy-ya-tin</a:t>
            </a:r>
            <a:endParaRPr lang="en-US" sz="1350" dirty="0"/>
          </a:p>
        </p:txBody>
      </p:sp>
      <p:sp>
        <p:nvSpPr>
          <p:cNvPr id="94" name="Shape 9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6" name="Text 9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رَسْمِيَّةٍ</a:t>
            </a:r>
            <a:endParaRPr lang="ar-SA" sz="1500" dirty="0"/>
          </a:p>
        </p:txBody>
      </p:sp>
      <p:sp>
        <p:nvSpPr>
          <p:cNvPr id="97" name="Shape 9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9" name="Text 9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a:t>
            </a:r>
            <a:endParaRPr lang="ar-SA" sz="1500" dirty="0"/>
          </a:p>
        </p:txBody>
      </p:sp>
      <p:sp>
        <p:nvSpPr>
          <p:cNvPr id="100" name="Shape 9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1" name="Shape 98"/>
          <p:cNvSpPr/>
          <p:nvPr/>
        </p:nvSpPr>
        <p:spPr>
          <a:xfrm>
            <a:off x="566928" y="4261104"/>
            <a:ext cx="310896" cy="310896"/>
          </a:xfrm>
          <a:prstGeom prst="ellipse">
            <a:avLst/>
          </a:prstGeom>
          <a:solidFill>
            <a:srgbClr val="F4F1EA"/>
          </a:solidFill>
          <a:ln w="12700">
            <a:solidFill>
              <a:srgbClr val="F4F1EA"/>
            </a:solidFill>
            <a:prstDash val="solid"/>
          </a:ln>
        </p:spPr>
      </p:sp>
      <p:sp>
        <p:nvSpPr>
          <p:cNvPr id="102" name="Text 9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3" name="Shape 100"/>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4" name="Text 101"/>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5" name="Shape 10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06" name="Text 10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07" name="Text 10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مُحْتَشِمٌ / مُحْتَشِمَةٌ</a:t>
            </a:r>
            <a:endParaRPr lang="ar-SA" sz="3000" dirty="0"/>
          </a:p>
        </p:txBody>
      </p:sp>
      <p:sp>
        <p:nvSpPr>
          <p:cNvPr id="108" name="Text 10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modest</a:t>
            </a:r>
            <a:endParaRPr lang="en-US" sz="1350" dirty="0"/>
          </a:p>
          <a:p>
            <a:pPr indent="0" marL="0">
              <a:buNone/>
            </a:pPr>
            <a:r>
              <a:rPr lang="en-US" sz="1100" i="1" dirty="0">
                <a:solidFill>
                  <a:srgbClr val="5A6472"/>
                </a:solidFill>
                <a:latin typeface="Calibri" pitchFamily="34" charset="0"/>
                <a:cs typeface="Amiri" pitchFamily="2" charset="-78"/>
              </a:rPr>
              <a:t>muḥ-ta-shi-mun / muḥ-ta-shi-ma-tun</a:t>
            </a:r>
            <a:endParaRPr lang="en-US" sz="1350" dirty="0"/>
          </a:p>
        </p:txBody>
      </p:sp>
      <p:sp>
        <p:nvSpPr>
          <p:cNvPr id="109" name="Shape 106"/>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0" name="Text 107"/>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1" name="Text 108"/>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مُحْتَشِمُونَ</a:t>
            </a:r>
            <a:endParaRPr lang="ar-SA" sz="1500" dirty="0"/>
          </a:p>
        </p:txBody>
      </p:sp>
      <p:sp>
        <p:nvSpPr>
          <p:cNvPr id="112" name="Shape 109"/>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3" name="Text 110"/>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4" name="Text 111"/>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مُحْتَشِمَةٌ</a:t>
            </a:r>
            <a:endParaRPr lang="ar-SA" sz="1500" dirty="0"/>
          </a:p>
        </p:txBody>
      </p:sp>
      <p:sp>
        <p:nvSpPr>
          <p:cNvPr id="115" name="Shape 112"/>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6" name="Text 113"/>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7" name="Text 114"/>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a:t>
            </a:r>
            <a:endParaRPr lang="ar-SA" sz="1500" dirty="0"/>
          </a:p>
        </p:txBody>
      </p:sp>
      <p:sp>
        <p:nvSpPr>
          <p:cNvPr id="118" name="Text 11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Style adjectives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مُلَوَّنٌ / مُلَوَّنَةٌ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colourful</a:t>
            </a:r>
            <a:endParaRPr lang="en-US" sz="1350" dirty="0"/>
          </a:p>
          <a:p>
            <a:pPr indent="0" marL="0">
              <a:buNone/>
            </a:pPr>
            <a:r>
              <a:rPr lang="en-US" sz="1100" i="1" dirty="0">
                <a:solidFill>
                  <a:srgbClr val="5A6472"/>
                </a:solidFill>
                <a:latin typeface="Calibri" pitchFamily="34" charset="0"/>
                <a:cs typeface="Amiri" pitchFamily="2" charset="-78"/>
              </a:rPr>
              <a:t>mu-law-wa-nun / mu-law-wa-na-tun</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مُلَوَّنَةٌ</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4" name="Shape 31"/>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بَسِيطٌ / بَسِيطَةٌ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simple</a:t>
            </a:r>
            <a:endParaRPr lang="en-US" sz="1350" dirty="0"/>
          </a:p>
          <a:p>
            <a:pPr indent="0" marL="0">
              <a:buNone/>
            </a:pPr>
            <a:r>
              <a:rPr lang="en-US" sz="1100" i="1" dirty="0">
                <a:solidFill>
                  <a:srgbClr val="5A6472"/>
                </a:solidFill>
                <a:latin typeface="Calibri" pitchFamily="34" charset="0"/>
                <a:cs typeface="Amiri" pitchFamily="2" charset="-78"/>
              </a:rPr>
              <a:t>ba-sī-ṭun / ba-sī-ṭa-tun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بُسَطَاءُ</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مُرِيحٌ / مُرِيحَةٌ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comfortable</a:t>
            </a:r>
            <a:endParaRPr lang="en-US" sz="1350" dirty="0"/>
          </a:p>
          <a:p>
            <a:pPr indent="0" marL="0">
              <a:buNone/>
            </a:pPr>
            <a:r>
              <a:rPr lang="en-US" sz="1100" i="1" dirty="0">
                <a:solidFill>
                  <a:srgbClr val="5A6472"/>
                </a:solidFill>
                <a:latin typeface="Calibri" pitchFamily="34" charset="0"/>
                <a:cs typeface="Amiri" pitchFamily="2" charset="-78"/>
              </a:rPr>
              <a:t>mu-rī-ḥun / mu-rī-ḥa-tun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مُرِيحَةٌ</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عَمَلِيٌّ / عَمَلِيَّةٌ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practical</a:t>
            </a:r>
            <a:endParaRPr lang="en-US" sz="1350" dirty="0"/>
          </a:p>
          <a:p>
            <a:pPr indent="0" marL="0">
              <a:buNone/>
            </a:pPr>
            <a:r>
              <a:rPr lang="en-US" sz="1100" i="1" dirty="0">
                <a:solidFill>
                  <a:srgbClr val="5A6472"/>
                </a:solidFill>
                <a:latin typeface="Calibri" pitchFamily="34" charset="0"/>
                <a:cs typeface="Amiri" pitchFamily="2" charset="-78"/>
              </a:rPr>
              <a:t>ʿa-ma-liy-yun / ʿa-ma-liy-ya-tun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عَمَلِيَّةٌ</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4" name="Text 8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يُعَبِّرُ عَنْ</a:t>
            </a:r>
            <a:endParaRPr lang="ar-SA" sz="3000" dirty="0"/>
          </a:p>
        </p:txBody>
      </p:sp>
      <p:sp>
        <p:nvSpPr>
          <p:cNvPr id="85" name="Text 8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expresses</a:t>
            </a:r>
            <a:endParaRPr lang="en-US" sz="1350" dirty="0"/>
          </a:p>
          <a:p>
            <a:pPr indent="0" marL="0">
              <a:buNone/>
            </a:pPr>
            <a:r>
              <a:rPr lang="en-US" sz="1100" i="1" dirty="0">
                <a:solidFill>
                  <a:srgbClr val="5A6472"/>
                </a:solidFill>
                <a:latin typeface="Calibri" pitchFamily="34" charset="0"/>
                <a:cs typeface="Amiri" pitchFamily="2" charset="-78"/>
              </a:rPr>
              <a:t>yu-ʿab-bi-ru ʿan</a:t>
            </a:r>
            <a:endParaRPr lang="en-US" sz="1350" dirty="0"/>
          </a:p>
        </p:txBody>
      </p:sp>
      <p:sp>
        <p:nvSpPr>
          <p:cNvPr id="86" name="Shape 8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7" name="Shape 84"/>
          <p:cNvSpPr/>
          <p:nvPr/>
        </p:nvSpPr>
        <p:spPr>
          <a:xfrm>
            <a:off x="566928" y="4261104"/>
            <a:ext cx="310896" cy="310896"/>
          </a:xfrm>
          <a:prstGeom prst="ellipse">
            <a:avLst/>
          </a:prstGeom>
          <a:solidFill>
            <a:srgbClr val="F4F1EA"/>
          </a:solidFill>
          <a:ln w="12700">
            <a:solidFill>
              <a:srgbClr val="F4F1EA"/>
            </a:solidFill>
            <a:prstDash val="solid"/>
          </a:ln>
        </p:spPr>
      </p:sp>
      <p:sp>
        <p:nvSpPr>
          <p:cNvPr id="88" name="Text 8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9" name="Text 8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يُنَاسِبُ</a:t>
            </a:r>
            <a:endParaRPr lang="ar-SA" sz="3000" dirty="0"/>
          </a:p>
        </p:txBody>
      </p:sp>
      <p:sp>
        <p:nvSpPr>
          <p:cNvPr id="90" name="Text 8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suits</a:t>
            </a:r>
            <a:endParaRPr lang="en-US" sz="1350" dirty="0"/>
          </a:p>
          <a:p>
            <a:pPr indent="0" marL="0">
              <a:buNone/>
            </a:pPr>
            <a:r>
              <a:rPr lang="en-US" sz="1100" i="1" dirty="0">
                <a:solidFill>
                  <a:srgbClr val="5A6472"/>
                </a:solidFill>
                <a:latin typeface="Calibri" pitchFamily="34" charset="0"/>
                <a:cs typeface="Amiri" pitchFamily="2" charset="-78"/>
              </a:rPr>
              <a:t>yu-nā-si-bu</a:t>
            </a:r>
            <a:endParaRPr lang="en-US" sz="135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Opinion and balance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2" name="Shape 3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9" name="Shape 4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Opinion and balance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 أُخْرَى</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خُصُوصًا</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especially</a:t>
            </a:r>
            <a:endParaRPr lang="en-US" sz="1350" dirty="0"/>
          </a:p>
          <a:p>
            <a:pPr indent="0" marL="0">
              <a:buNone/>
            </a:pPr>
            <a:r>
              <a:rPr lang="en-US" sz="1100" i="1" dirty="0">
                <a:solidFill>
                  <a:srgbClr val="5A6472"/>
                </a:solidFill>
                <a:latin typeface="Calibri" pitchFamily="34" charset="0"/>
                <a:cs typeface="Amiri" pitchFamily="2" charset="-78"/>
              </a:rPr>
              <a:t>khu-ṣū-ṣan</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عَادَةً</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usually</a:t>
            </a:r>
            <a:endParaRPr lang="en-US" sz="1350" dirty="0"/>
          </a:p>
          <a:p>
            <a:pPr indent="0" marL="0">
              <a:buNone/>
            </a:pPr>
            <a:r>
              <a:rPr lang="en-US" sz="1100" i="1" dirty="0">
                <a:solidFill>
                  <a:srgbClr val="5A6472"/>
                </a:solidFill>
                <a:latin typeface="Calibri" pitchFamily="34" charset="0"/>
                <a:cs typeface="Amiri" pitchFamily="2" charset="-78"/>
              </a:rPr>
              <a:t>ʿā-da-tan</a:t>
            </a:r>
            <a:endParaRPr lang="en-US" sz="1350" dirty="0"/>
          </a:p>
        </p:txBody>
      </p:sp>
      <p:sp>
        <p:nvSpPr>
          <p:cNvPr id="35" name="Shape 3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8" name="Text 3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أَحْيَانًا</a:t>
            </a:r>
            <a:endParaRPr lang="ar-SA" sz="3000" dirty="0"/>
          </a:p>
        </p:txBody>
      </p:sp>
      <p:sp>
        <p:nvSpPr>
          <p:cNvPr id="39" name="Text 3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40" name="Shape 3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3" name="Text 4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دَائِمًا</a:t>
            </a:r>
            <a:endParaRPr lang="ar-SA" sz="3000" dirty="0"/>
          </a:p>
        </p:txBody>
      </p:sp>
      <p:sp>
        <p:nvSpPr>
          <p:cNvPr id="44" name="Text 4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always</a:t>
            </a:r>
            <a:endParaRPr lang="en-US" sz="1350" dirty="0"/>
          </a:p>
          <a:p>
            <a:pPr indent="0" marL="0">
              <a:buNone/>
            </a:pPr>
            <a:r>
              <a:rPr lang="en-US" sz="1100" i="1" dirty="0">
                <a:solidFill>
                  <a:srgbClr val="5A6472"/>
                </a:solidFill>
                <a:latin typeface="Calibri" pitchFamily="34" charset="0"/>
                <a:cs typeface="Amiri" pitchFamily="2" charset="-78"/>
              </a:rPr>
              <a:t>dā-ʾi-man</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Clothing reference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قَمِيصٌ</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shirt</a:t>
            </a:r>
            <a:endParaRPr lang="en-US" sz="1350" dirty="0"/>
          </a:p>
          <a:p>
            <a:pPr indent="0" marL="0">
              <a:buNone/>
            </a:pPr>
            <a:r>
              <a:rPr lang="en-US" sz="1100" i="1" dirty="0">
                <a:solidFill>
                  <a:srgbClr val="5A6472"/>
                </a:solidFill>
                <a:latin typeface="Calibri" pitchFamily="34" charset="0"/>
                <a:cs typeface="Amiri" pitchFamily="2" charset="-78"/>
              </a:rPr>
              <a:t>qa-mī-ṣun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قُمْصَانٌ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القَمِيصُ</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قَمِيصَةٌ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blouse</a:t>
            </a:r>
            <a:endParaRPr lang="en-US" sz="1350" dirty="0"/>
          </a:p>
          <a:p>
            <a:pPr indent="0" marL="0">
              <a:buNone/>
            </a:pPr>
            <a:r>
              <a:rPr lang="en-US" sz="1100" i="1" dirty="0">
                <a:solidFill>
                  <a:srgbClr val="5A6472"/>
                </a:solidFill>
                <a:latin typeface="Calibri" pitchFamily="34" charset="0"/>
                <a:cs typeface="Amiri" pitchFamily="2" charset="-78"/>
              </a:rPr>
              <a:t>qa-mī-ṣa-tun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قَمِيصَاتٌ</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5" name="Text 42"/>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القَمِيصَةُ</a:t>
            </a:r>
            <a:endParaRPr lang="ar-SA" sz="135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52" name="Shape 4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سِرْوَالٌ</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trousers</a:t>
            </a:r>
            <a:endParaRPr lang="en-US" sz="1350" dirty="0"/>
          </a:p>
          <a:p>
            <a:pPr indent="0" marL="0">
              <a:buNone/>
            </a:pPr>
            <a:r>
              <a:rPr lang="en-US" sz="1100" i="1" dirty="0">
                <a:solidFill>
                  <a:srgbClr val="5A6472"/>
                </a:solidFill>
                <a:latin typeface="Calibri" pitchFamily="34" charset="0"/>
                <a:cs typeface="Amiri" pitchFamily="2" charset="-78"/>
              </a:rPr>
              <a:t>sir-wā-lun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سَرَاوِيلُ</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61" name="Text 58"/>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السِّرْوَالُ</a:t>
            </a:r>
            <a:endParaRPr lang="ar-SA" sz="135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68" name="Shape 6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تَنُّورَةٌ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skirt</a:t>
            </a:r>
            <a:endParaRPr lang="en-US" sz="1350" dirty="0"/>
          </a:p>
          <a:p>
            <a:pPr indent="0" marL="0">
              <a:buNone/>
            </a:pPr>
            <a:r>
              <a:rPr lang="en-US" sz="1100" i="1" dirty="0">
                <a:solidFill>
                  <a:srgbClr val="5A6472"/>
                </a:solidFill>
                <a:latin typeface="Calibri" pitchFamily="34" charset="0"/>
                <a:cs typeface="Amiri" pitchFamily="2" charset="-78"/>
              </a:rPr>
              <a:t>tan-nū-ra-tun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تَنَانِيرُ</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77" name="Text 74"/>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التَّنُّورَةُ</a:t>
            </a:r>
            <a:endParaRPr lang="ar-SA" sz="135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Clothing reference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فُسْتَانٌ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dress</a:t>
            </a:r>
            <a:endParaRPr lang="en-US" sz="1350" dirty="0"/>
          </a:p>
          <a:p>
            <a:pPr indent="0" marL="0">
              <a:buNone/>
            </a:pPr>
            <a:r>
              <a:rPr lang="en-US" sz="1100" i="1" dirty="0">
                <a:solidFill>
                  <a:srgbClr val="5A6472"/>
                </a:solidFill>
                <a:latin typeface="Calibri" pitchFamily="34" charset="0"/>
                <a:cs typeface="Amiri" pitchFamily="2" charset="-78"/>
              </a:rPr>
              <a:t>fus-tā-nun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فَسَاتِينُ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الفُسْتَانُ</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مِعْطَفٌ</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coat</a:t>
            </a:r>
            <a:endParaRPr lang="en-US" sz="1350" dirty="0"/>
          </a:p>
          <a:p>
            <a:pPr indent="0" marL="0">
              <a:buNone/>
            </a:pPr>
            <a:r>
              <a:rPr lang="en-US" sz="1100" i="1" dirty="0">
                <a:solidFill>
                  <a:srgbClr val="5A6472"/>
                </a:solidFill>
                <a:latin typeface="Calibri" pitchFamily="34" charset="0"/>
                <a:cs typeface="Amiri" pitchFamily="2" charset="-78"/>
              </a:rPr>
              <a:t>miʿ-ṭa-fun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مَعَاطِفُ</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5" name="Text 42"/>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المِعْطَفُ</a:t>
            </a:r>
            <a:endParaRPr lang="ar-SA" sz="135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52" name="Shape 4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سُتْرَةٌ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jacket</a:t>
            </a:r>
            <a:endParaRPr lang="en-US" sz="1350" dirty="0"/>
          </a:p>
          <a:p>
            <a:pPr indent="0" marL="0">
              <a:buNone/>
            </a:pPr>
            <a:r>
              <a:rPr lang="en-US" sz="1100" i="1" dirty="0">
                <a:solidFill>
                  <a:srgbClr val="5A6472"/>
                </a:solidFill>
                <a:latin typeface="Calibri" pitchFamily="34" charset="0"/>
                <a:cs typeface="Amiri" pitchFamily="2" charset="-78"/>
              </a:rPr>
              <a:t>sut-ra-tun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سُتَرٌ</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61" name="Text 58"/>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السُّتْرَةُ</a:t>
            </a:r>
            <a:endParaRPr lang="ar-SA" sz="135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68" name="Shape 6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حِذَاءٌ</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shoes</a:t>
            </a:r>
            <a:endParaRPr lang="en-US" sz="1350" dirty="0"/>
          </a:p>
          <a:p>
            <a:pPr indent="0" marL="0">
              <a:buNone/>
            </a:pPr>
            <a:r>
              <a:rPr lang="en-US" sz="1100" i="1" dirty="0">
                <a:solidFill>
                  <a:srgbClr val="5A6472"/>
                </a:solidFill>
                <a:latin typeface="Calibri" pitchFamily="34" charset="0"/>
                <a:cs typeface="Amiri" pitchFamily="2" charset="-78"/>
              </a:rPr>
              <a:t>ḥi-dhā-ʾun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أَحْذِيَةٌ</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77" name="Text 74"/>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الحِذَاءُ</a:t>
            </a:r>
            <a:endParaRPr lang="ar-SA" sz="135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BUILD A BALANCED OPINION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Opinion → reason → but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رَأْيٌ + سَبَبٌ + مُقَابَلَةٌ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D5FBF"/>
          </a:solidFill>
          <a:ln w="12700">
            <a:solidFill>
              <a:srgbClr val="1D5FB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الرَّأْيُ</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opinion</a:t>
            </a:r>
            <a:endParaRPr lang="en-US" sz="900" dirty="0"/>
          </a:p>
        </p:txBody>
      </p:sp>
      <p:sp>
        <p:nvSpPr>
          <p:cNvPr id="19" name="Shape 16"/>
          <p:cNvSpPr/>
          <p:nvPr/>
        </p:nvSpPr>
        <p:spPr>
          <a:xfrm>
            <a:off x="6336792" y="1810512"/>
            <a:ext cx="2642616" cy="566928"/>
          </a:xfrm>
          <a:prstGeom prst="roundRect">
            <a:avLst>
              <a:gd name="adj" fmla="val 9677"/>
            </a:avLst>
          </a:prstGeom>
          <a:solidFill>
            <a:srgbClr val="1E7B4F"/>
          </a:solidFill>
          <a:ln w="12700">
            <a:solidFill>
              <a:srgbClr val="1E7B4F"/>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السَّبَبُ</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reason</a:t>
            </a:r>
            <a:endParaRPr lang="en-US" sz="900" dirty="0"/>
          </a:p>
        </p:txBody>
      </p:sp>
      <p:sp>
        <p:nvSpPr>
          <p:cNvPr id="22" name="Shape 19"/>
          <p:cNvSpPr/>
          <p:nvPr/>
        </p:nvSpPr>
        <p:spPr>
          <a:xfrm>
            <a:off x="3584448" y="1810512"/>
            <a:ext cx="2642616" cy="566928"/>
          </a:xfrm>
          <a:prstGeom prst="roundRect">
            <a:avLst>
              <a:gd name="adj" fmla="val 9677"/>
            </a:avLst>
          </a:prstGeom>
          <a:solidFill>
            <a:srgbClr val="6B4C9A"/>
          </a:solidFill>
          <a:ln w="12700">
            <a:solidFill>
              <a:srgbClr val="6B4C9A"/>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المُقَابَلَةُ</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contrast</a:t>
            </a:r>
            <a:endParaRPr lang="en-US" sz="900" dirty="0"/>
          </a:p>
        </p:txBody>
      </p:sp>
      <p:sp>
        <p:nvSpPr>
          <p:cNvPr id="25" name="Text 22"/>
          <p:cNvSpPr txBox="1"/>
          <p:nvPr/>
        </p:nvSpPr>
        <p:spPr>
          <a:xfrm>
            <a:off x="457200" y="2487168"/>
            <a:ext cx="2926080" cy="82296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In my opinion, simple clothes are better because they are practical, but I like elegant clothes on special occasions.</a:t>
            </a:r>
            <a:endParaRPr lang="en-US" sz="1200" dirty="0"/>
          </a:p>
        </p:txBody>
      </p:sp>
      <p:sp>
        <p:nvSpPr>
          <p:cNvPr id="26" name="Shape 23"/>
          <p:cNvSpPr/>
          <p:nvPr/>
        </p:nvSpPr>
        <p:spPr>
          <a:xfrm>
            <a:off x="9089136" y="2487168"/>
            <a:ext cx="2642616" cy="822960"/>
          </a:xfrm>
          <a:prstGeom prst="roundRect">
            <a:avLst>
              <a:gd name="adj" fmla="val 6667"/>
            </a:avLst>
          </a:prstGeom>
          <a:solidFill>
            <a:srgbClr val="EEF3FA"/>
          </a:solidFill>
          <a:ln w="9525">
            <a:solidFill>
              <a:srgbClr val="EEF3FA"/>
            </a:solidFill>
            <a:prstDash val="solid"/>
          </a:ln>
        </p:spPr>
      </p:sp>
      <p:sp>
        <p:nvSpPr>
          <p:cNvPr id="27" name="Text 24"/>
          <p:cNvSpPr txBox="1"/>
          <p:nvPr/>
        </p:nvSpPr>
        <p:spPr>
          <a:xfrm>
            <a:off x="9162288" y="2487168"/>
            <a:ext cx="2496312" cy="82296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0E7C86"/>
                </a:solidFill>
                <a:latin typeface="Amiri" pitchFamily="2" charset="-78"/>
                <a:ea typeface="Amiri" pitchFamily="2" charset="-78"/>
                <a:cs typeface="Amiri" pitchFamily="2" charset="-78"/>
              </a:rPr>
              <a:t>فِي رَأْيِي</a:t>
            </a:r>
            <a:pPr rtl="1" algn="ct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 المَلَابِسُ البَسِيطَةُ أَفْضَلُ</a:t>
            </a:r>
            <a:endParaRPr lang="ar-SA" sz="1700" dirty="0"/>
          </a:p>
        </p:txBody>
      </p:sp>
      <p:sp>
        <p:nvSpPr>
          <p:cNvPr id="28" name="Shape 25"/>
          <p:cNvSpPr/>
          <p:nvPr/>
        </p:nvSpPr>
        <p:spPr>
          <a:xfrm>
            <a:off x="6336792" y="2487168"/>
            <a:ext cx="2642616" cy="822960"/>
          </a:xfrm>
          <a:prstGeom prst="roundRect">
            <a:avLst>
              <a:gd name="adj" fmla="val 6667"/>
            </a:avLst>
          </a:prstGeom>
          <a:solidFill>
            <a:srgbClr val="E8F4EC"/>
          </a:solidFill>
          <a:ln w="9525">
            <a:solidFill>
              <a:srgbClr val="E8F4EC"/>
            </a:solidFill>
            <a:prstDash val="solid"/>
          </a:ln>
        </p:spPr>
      </p:sp>
      <p:sp>
        <p:nvSpPr>
          <p:cNvPr id="29" name="Text 26"/>
          <p:cNvSpPr txBox="1"/>
          <p:nvPr/>
        </p:nvSpPr>
        <p:spPr>
          <a:xfrm>
            <a:off x="6409944" y="2487168"/>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لِأَنَّهَا</a:t>
            </a:r>
            <a:pPr rtl="1" algn="ctr" indent="0" marL="0">
              <a:buNone/>
            </a:pPr>
            <a:r>
              <a:rPr lang="ar-SA" altLang="en-US" sz="2400" b="1" dirty="0">
                <a:solidFill>
                  <a:srgbClr val="1B3B6F"/>
                </a:solidFill>
                <a:latin typeface="Amiri" pitchFamily="2" charset="-78"/>
                <a:ea typeface="Amiri" pitchFamily="2" charset="-78"/>
                <a:cs typeface="Amiri" pitchFamily="2" charset="-78"/>
              </a:rPr>
              <a:t> عَمَلِيَّةٌ،</a:t>
            </a:r>
            <a:endParaRPr lang="ar-SA" sz="2400" dirty="0"/>
          </a:p>
        </p:txBody>
      </p:sp>
      <p:sp>
        <p:nvSpPr>
          <p:cNvPr id="30" name="Shape 27"/>
          <p:cNvSpPr/>
          <p:nvPr/>
        </p:nvSpPr>
        <p:spPr>
          <a:xfrm>
            <a:off x="3584448" y="2487168"/>
            <a:ext cx="2642616" cy="822960"/>
          </a:xfrm>
          <a:prstGeom prst="roundRect">
            <a:avLst>
              <a:gd name="adj" fmla="val 6667"/>
            </a:avLst>
          </a:prstGeom>
          <a:solidFill>
            <a:srgbClr val="F1ECF7"/>
          </a:solidFill>
          <a:ln w="9525">
            <a:solidFill>
              <a:srgbClr val="F1ECF7"/>
            </a:solidFill>
            <a:prstDash val="solid"/>
          </a:ln>
        </p:spPr>
      </p:sp>
      <p:sp>
        <p:nvSpPr>
          <p:cNvPr id="31" name="Text 28"/>
          <p:cNvSpPr txBox="1"/>
          <p:nvPr/>
        </p:nvSpPr>
        <p:spPr>
          <a:xfrm>
            <a:off x="3657600" y="2487168"/>
            <a:ext cx="2496312" cy="82296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وَلٰكِنَّنِي</a:t>
            </a:r>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أُحِبُّ المَلَابِسَ الأَنِيقَةَ فِي المُنَاسَبَاتِ.</a:t>
            </a:r>
            <a:endParaRPr lang="ar-SA" sz="1550" dirty="0"/>
          </a:p>
        </p:txBody>
      </p:sp>
      <p:sp>
        <p:nvSpPr>
          <p:cNvPr id="32" name="Text 29"/>
          <p:cNvSpPr txBox="1"/>
          <p:nvPr/>
        </p:nvSpPr>
        <p:spPr>
          <a:xfrm>
            <a:off x="457200" y="3419856"/>
            <a:ext cx="2926080" cy="82296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 prefer calm colours because they suit school, but I wear bright colours at weddings.</a:t>
            </a:r>
            <a:endParaRPr lang="en-US" sz="1200" dirty="0"/>
          </a:p>
        </p:txBody>
      </p:sp>
      <p:sp>
        <p:nvSpPr>
          <p:cNvPr id="33" name="Shape 30"/>
          <p:cNvSpPr/>
          <p:nvPr/>
        </p:nvSpPr>
        <p:spPr>
          <a:xfrm>
            <a:off x="9089136" y="3419856"/>
            <a:ext cx="2642616" cy="822960"/>
          </a:xfrm>
          <a:prstGeom prst="roundRect">
            <a:avLst>
              <a:gd name="adj" fmla="val 6667"/>
            </a:avLst>
          </a:prstGeom>
          <a:solidFill>
            <a:srgbClr val="EEF3FA"/>
          </a:solidFill>
          <a:ln w="9525">
            <a:solidFill>
              <a:srgbClr val="EEF3FA"/>
            </a:solidFill>
            <a:prstDash val="solid"/>
          </a:ln>
        </p:spPr>
      </p:sp>
      <p:sp>
        <p:nvSpPr>
          <p:cNvPr id="34" name="Text 31"/>
          <p:cNvSpPr txBox="1"/>
          <p:nvPr/>
        </p:nvSpPr>
        <p:spPr>
          <a:xfrm>
            <a:off x="9162288" y="3419856"/>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أُفَضِّلُ الأَلْوَانَ الهَادِئَةَ</a:t>
            </a:r>
            <a:endParaRPr lang="ar-SA" sz="2400" dirty="0"/>
          </a:p>
        </p:txBody>
      </p:sp>
      <p:sp>
        <p:nvSpPr>
          <p:cNvPr id="35" name="Shape 32"/>
          <p:cNvSpPr/>
          <p:nvPr/>
        </p:nvSpPr>
        <p:spPr>
          <a:xfrm>
            <a:off x="6336792" y="3419856"/>
            <a:ext cx="2642616" cy="822960"/>
          </a:xfrm>
          <a:prstGeom prst="roundRect">
            <a:avLst>
              <a:gd name="adj" fmla="val 6667"/>
            </a:avLst>
          </a:prstGeom>
          <a:solidFill>
            <a:srgbClr val="E8F4EC"/>
          </a:solidFill>
          <a:ln w="9525">
            <a:solidFill>
              <a:srgbClr val="E8F4EC"/>
            </a:solidFill>
            <a:prstDash val="solid"/>
          </a:ln>
        </p:spPr>
      </p:sp>
      <p:sp>
        <p:nvSpPr>
          <p:cNvPr id="36" name="Text 33"/>
          <p:cNvSpPr txBox="1"/>
          <p:nvPr/>
        </p:nvSpPr>
        <p:spPr>
          <a:xfrm>
            <a:off x="6409944" y="3419856"/>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لِأَنَّهَا</a:t>
            </a:r>
            <a:pPr rtl="1" algn="ctr" indent="0" marL="0">
              <a:buNone/>
            </a:pPr>
            <a:r>
              <a:rPr lang="ar-SA" altLang="en-US" sz="2400" b="1" dirty="0">
                <a:solidFill>
                  <a:srgbClr val="1B3B6F"/>
                </a:solidFill>
                <a:latin typeface="Amiri" pitchFamily="2" charset="-78"/>
                <a:ea typeface="Amiri" pitchFamily="2" charset="-78"/>
                <a:cs typeface="Amiri" pitchFamily="2" charset="-78"/>
              </a:rPr>
              <a:t> تُنَاسِبُ المَدْرَسَةَ،</a:t>
            </a:r>
            <a:endParaRPr lang="ar-SA" sz="2400" dirty="0"/>
          </a:p>
        </p:txBody>
      </p:sp>
      <p:sp>
        <p:nvSpPr>
          <p:cNvPr id="37" name="Shape 34"/>
          <p:cNvSpPr/>
          <p:nvPr/>
        </p:nvSpPr>
        <p:spPr>
          <a:xfrm>
            <a:off x="3584448" y="3419856"/>
            <a:ext cx="2642616" cy="822960"/>
          </a:xfrm>
          <a:prstGeom prst="roundRect">
            <a:avLst>
              <a:gd name="adj" fmla="val 6667"/>
            </a:avLst>
          </a:prstGeom>
          <a:solidFill>
            <a:srgbClr val="F1ECF7"/>
          </a:solidFill>
          <a:ln w="9525">
            <a:solidFill>
              <a:srgbClr val="F1ECF7"/>
            </a:solidFill>
            <a:prstDash val="solid"/>
          </a:ln>
        </p:spPr>
      </p:sp>
      <p:sp>
        <p:nvSpPr>
          <p:cNvPr id="38" name="Text 35"/>
          <p:cNvSpPr txBox="1"/>
          <p:nvPr/>
        </p:nvSpPr>
        <p:spPr>
          <a:xfrm>
            <a:off x="3657600" y="3419856"/>
            <a:ext cx="2496312" cy="82296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وَلٰكِنَّنِي</a:t>
            </a:r>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أَلْبَسُ أَلْوَانًا زَاهِيَةً فِي الأَعْرَاسِ.</a:t>
            </a:r>
            <a:endParaRPr lang="ar-SA" sz="1550" dirty="0"/>
          </a:p>
        </p:txBody>
      </p:sp>
      <p:sp>
        <p:nvSpPr>
          <p:cNvPr id="39" name="Text 36"/>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Clothes and colours are plural THINGS → “because they” = li-annahā (feminine singular).</a:t>
            </a:r>
            <a:endParaRPr lang="en-US" sz="12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CONCESSION, EXPRESSION AND RESPECT (WEBSITE RULES)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Although … · it expresses … · respectfully</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عَلَى الرَّغْمِ مِنْ أَنَّ · يُعَبِّرُ عَنْ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CONCESSION · STRETCH</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550" b="1" dirty="0">
                <a:solidFill>
                  <a:srgbClr val="8A6D1E"/>
                </a:solidFill>
                <a:latin typeface="Amiri" pitchFamily="2" charset="-78"/>
                <a:ea typeface="Amiri" pitchFamily="2" charset="-78"/>
                <a:cs typeface="Amiri" pitchFamily="2" charset="-78"/>
              </a:rPr>
              <a:t>عَلَى الرَّغْمِ مِنْ أَنَّ … فَإِنَّ</a:t>
            </a:r>
            <a:endParaRPr lang="ar-SA" sz="155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عَلَى الرَّغْمِ مِنْ أَنَّ المَوْضَةَ مُهِمَّةٌ، فَإِنَّ الرَّاحَةَ أَهَمُّ.</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Although fashion is important, comfort is more important.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other side first, then yours.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EXPRESSION · DEVELOP</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يُعَبِّرُ عَنْ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أُسْلُوبُهَا يُعَبِّرُ عَنْ ذَوْقِهَا.</a:t>
            </a:r>
            <a:endParaRPr lang="ar-SA" sz="30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Her style expresses her taste.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Her style / her taste: both -hā.</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23444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RESPECT · CORE</a:t>
            </a:r>
            <a:endParaRPr lang="en-US" sz="850" dirty="0"/>
          </a:p>
        </p:txBody>
      </p:sp>
      <p:sp>
        <p:nvSpPr>
          <p:cNvPr id="34" name="Text 31"/>
          <p:cNvSpPr txBox="1"/>
          <p:nvPr/>
        </p:nvSpPr>
        <p:spPr>
          <a:xfrm>
            <a:off x="1874520"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عَنِ المَلَابِسِ لَا عَنِ النَّاسِ</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ea typeface="Amiri" pitchFamily="2" charset="-78"/>
                <a:cs typeface="Amiri" pitchFamily="2" charset="-78"/>
              </a:rPr>
              <a:t>أُسْلُوبُهُ مُخْتَلِفٌ، وَيُعَبِّرُ عَنْ ذَوْقِهِ.</a:t>
            </a:r>
            <a:endParaRPr lang="ar-SA" sz="23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His style is different, and it expresses his taste.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Judge the clothes, not the person.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value: do not treat style as proof of personality.</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أُسْلُوبُهَا مُخْتَلِفٌ وَيُعَبِّرُ عَنْ ذَوْقِهَا.</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هِيَ سَيِّئَةٌ لِأَنَّ فُسْتَانَهَا أَحْمَرُ.</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Expressing and qualifying opinions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التَّعْبِيرُ عَنِ الرَّأْيِ وَتَقْيِيدُهُ</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Opinion plus reason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فِي رَأْيِي ... لِأَنَّ ...</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فِي رَأْيِي، المَلَابِسُ البَسِيطَةُ أَفْضَلُ لِأَنَّهَا عَمَلِيَّةٌ.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Contrast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أُفَضِّلُ ... وَلٰكِنَّ ...</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أُفَضِّلُ الأَلْوَانَ الهَادِئَةَ، وَلٰكِنَّنِي أَلْبَسُ أَلْوَانًا زَاهِيَةً فِي المُنَاسَبَاتِ.</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Concession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عَلَى الرَّغْمِ مِنْ أَنَّ ... فَإِنَّ ...</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عَلَى الرَّغْمِ مِنْ أَنَّ المَوْضَةَ مُهِمَّةٌ، فَإِنَّ الرَّاحَةَ أَهَمُّ.</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Identity and expression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الأُسْلُوبُ يُعَبِّرُ عَنْ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أُسْلُوبُهَا يُعَبِّرُ عَنْ شَخْصِيَّتِهَا.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يُعَبِّرُ عَنْ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buys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compares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expresses</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الرَّاحَةُ ___ مِنَ اتِّبَاعِ المَوْضَةِ.</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أَهَمُّ</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مُهِمَّةٌ</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softens an opinion?</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دَائِمًا وَبِدُونِ اسْتِثْنَاءٍ</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بَعْضِ الأَحْيَانِ</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شَكَّ أَبَدًا</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reference.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أُسْلُوبُهَا يُعَبِّرُ عَنْ شَخْصِيَّتِهَا.</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أُسْلُوبُهُ يُعَبِّرُ عَنْ شَخْصِيَّتِهَا.</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أُسْلُوبُهَا تُعَبِّرُ عَنْ شَخْصِيَّتِهِ.</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يُعَبِّرُ عَنْ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buys</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compares</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expresses</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means expresses.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الرَّاحَةُ ___ مِنَ اتِّبَاعِ المَوْضَةِ.</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أَهَمُّ</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مُهِمَّةٌ</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comparative pattern is </a:t>
            </a:r>
            <a:pPr algn="l" indent="0" marL="0">
              <a:buNone/>
            </a:pPr>
            <a:r>
              <a:rPr lang="ar-SA" altLang="en-US" sz="1350" dirty="0">
                <a:solidFill>
                  <a:srgbClr val="8A6D1E"/>
                </a:solidFill>
                <a:latin typeface="Amiri" pitchFamily="2" charset="-78"/>
                <a:ea typeface="Amiri" pitchFamily="2" charset="-78"/>
                <a:cs typeface="Amiri" pitchFamily="2" charset="-78"/>
              </a:rPr>
              <a:t>أَهَمُّ 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softens an opinion?</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دَائِمًا وَبِدُونِ اسْتِثْنَاءٍ</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بَعْضِ الأَحْيَانِ</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شَكَّ أَبَدًا</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avoids over-generalisation.</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reference.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أُسْلُوبُهَا يُعَبِّرُ عَنْ شَخْصِيَّتِهَا.</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أُسْلُوبُهُ يُعَبِّرُ عَنْ شَخْصِيَّتِهَا.</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أُسْلُوبُهَا تُعَبِّرُ عَنْ شَخْصِيَّتِهِ.</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All references are feminine.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give a balanced opinion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My style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أُسْلُوبِي بَسِيطٌ وَمُحْتَشِمٌ.</a:t>
            </a:r>
            <a:endParaRPr lang="ar-SA" sz="25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style adjectives.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Opinion + reason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فِي رَأْيِي</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الرَّاحَةُ مُهِمَّةٌ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لِأَنَّنِي</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أَتَحَرَّكُ كَثِيرًا.</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Why? Because I …</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Contrast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وَلٰكِنَّنِي</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أَلْبَسُ مَلَابِسَ أَنِيقَةً فِي المُنَاسَبَاتِ.</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other side.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Concession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عَلَى الرَّغْمِ مِنْ أَنَّ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المَوْضَةَ مُمْتِعَةٌ،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فَإِنَّ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الرَّاحَةَ أَهَمُّ.</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Balanced conclusion.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OPINION</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REASON</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CONTRAST / CONCESSION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أُسْلُوبِي بَسِيطٌ وَمُحْتَشِمٌ.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فِي رَأْيِي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الرَّاحَةُ مُهِمَّةٌ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لِأَنَّنِي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أَتَحَرَّكُ كَثِيرًا فِي المَدْرَسَةِ،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وَلٰكِنَّنِي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أَلْبَسُ مَلَابِسَ أَنِيقَةً فِي المُنَاسَبَاتِ.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عَلَى الرَّغْمِ مِنْ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المَوْضَةَ مُمْتِعَةٌ،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فَإِنَّ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الرَّاحَةَ أَهَمُّ.</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My style is simple and modest. In my opinion, comfort is important because I move around a lot at school, but I wear elegant clothes on special occasions. Although fashion is fun, comfort is more important.</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رَأْيِي، المَلَابِسُ البَسِيطَةُ أَفْضَلُ لِأَنَّهَا عَمَلِيَّةٌ.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my opinion, simple clothes are better because they are practical.</a:t>
            </a:r>
            <a:endParaRPr lang="en-US" sz="1250" dirty="0"/>
          </a:p>
          <a:p>
            <a:pPr indent="0" marL="0">
              <a:buNone/>
            </a:pPr>
            <a:r>
              <a:rPr lang="en-US" sz="1050" i="1" dirty="0">
                <a:solidFill>
                  <a:srgbClr val="8A6D1E"/>
                </a:solidFill>
                <a:latin typeface="Calibri" pitchFamily="34" charset="0"/>
                <a:cs typeface="Amiri" pitchFamily="2" charset="-78"/>
              </a:rPr>
              <a:t>Opinion + reason.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أُفَضِّلُ الأَلْوَانَ الهَادِئَةَ، وَلٰكِنَّنِي أَلْبَسُ أَلْوَانًا زَاهِيَةً فِي المُنَاسَبَاتِ.</a:t>
            </a:r>
            <a:endParaRPr lang="ar-SA" sz="21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prefer calm colours, but I wear bright colours on special occasions.</a:t>
            </a:r>
            <a:endParaRPr lang="en-US" sz="1250" dirty="0"/>
          </a:p>
          <a:p>
            <a:pPr indent="0" marL="0">
              <a:buNone/>
            </a:pPr>
            <a:r>
              <a:rPr lang="en-US" sz="1050" i="1" dirty="0">
                <a:solidFill>
                  <a:srgbClr val="8A6D1E"/>
                </a:solidFill>
                <a:latin typeface="Calibri" pitchFamily="34" charset="0"/>
                <a:cs typeface="Amiri" pitchFamily="2" charset="-78"/>
              </a:rPr>
              <a:t>Contrast.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عَلَى الرَّغْمِ مِنْ أَنَّ المَوْضَةَ مُهِمَّةٌ، فَإِنَّ الرَّاحَةَ أَهَمُّ.</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Although fashion is important, comfort is more important.</a:t>
            </a:r>
            <a:endParaRPr lang="en-US" sz="1250" dirty="0"/>
          </a:p>
          <a:p>
            <a:pPr indent="0" marL="0">
              <a:buNone/>
            </a:pPr>
            <a:r>
              <a:rPr lang="en-US" sz="1050" i="1" dirty="0">
                <a:solidFill>
                  <a:srgbClr val="8A6D1E"/>
                </a:solidFill>
                <a:latin typeface="Calibri" pitchFamily="34" charset="0"/>
                <a:cs typeface="Amiri" pitchFamily="2" charset="-78"/>
              </a:rPr>
              <a:t>Concession.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أُسْلُوبُهَا يُعَبِّرُ عَنْ شَخْصِيَّتِهَا.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Her style expresses her personality.</a:t>
            </a:r>
            <a:endParaRPr lang="en-US" sz="1250" dirty="0"/>
          </a:p>
          <a:p>
            <a:pPr indent="0" marL="0">
              <a:buNone/>
            </a:pPr>
            <a:r>
              <a:rPr lang="en-US" sz="1050" i="1" dirty="0">
                <a:solidFill>
                  <a:srgbClr val="8A6D1E"/>
                </a:solidFill>
                <a:latin typeface="Calibri" pitchFamily="34" charset="0"/>
                <a:cs typeface="Amiri" pitchFamily="2" charset="-78"/>
              </a:rPr>
              <a:t>Identity and expression.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WHICH OPINION IS BALANCED AND RESPECTFUL?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Upgrade the opinion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رَأْيٌ مُتَوَازِنٌ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developed opinion?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فِي رَأْيِي، المَلَابِسُ البَسِيطَةُ أَفْضَلُ لِأَنَّهَا عَمَلِيَّةٌ.</a:t>
            </a:r>
            <a:endParaRPr lang="ar-SA" sz="140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المَلَابِسُ البَسِيطَةُ.</a:t>
            </a:r>
            <a:endParaRPr lang="ar-SA" sz="140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لِأَنَّهَا عَمَلِيَّةٌ.</a:t>
            </a:r>
            <a:endParaRPr lang="ar-SA" sz="140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adds a contrast?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أُحِبُّ المَوْضَةَ، لِأَنَّنِي لَا أَتْبَعُ كُلَّ اتِّجَاهٍ.</a:t>
            </a:r>
            <a:endParaRPr lang="ar-SA" sz="160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أُحِبُّ المَوْضَةَ، وَلٰكِنَّنِي لَا أَتْبَعُ كُلَّ اتِّجَاهٍ.</a:t>
            </a:r>
            <a:endParaRPr lang="ar-SA" sz="160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أُحِبُّ المَوْضَةَ ثُمَّ.</a:t>
            </a:r>
            <a:endParaRPr lang="ar-SA" sz="160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complete concession?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عَلَى الرَّغْمِ مِنْ أَنَّهُ غَالٍ، فَإِنَّهُ جَيِّدُ الجَوْدَةِ.</a:t>
            </a:r>
            <a:endParaRPr lang="ar-SA" sz="15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لِأَنَّهُ غَالٍ فَإِنَّهُ.</a:t>
            </a:r>
            <a:endParaRPr lang="ar-SA" sz="15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عَلَى الرَّغْمِ غَالٍ.</a:t>
            </a:r>
            <a:endParaRPr lang="ar-SA" sz="150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judgement is respectful?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هِيَ سَيِّئَةٌ لِأَنَّ فُسْتَانَهَا أَحْمَرُ.</a:t>
            </a:r>
            <a:endParaRPr lang="ar-SA" sz="200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كُلُّ مَنْ يَلْبَسُ الأَسْوَدَ حَزِينٌ.</a:t>
            </a:r>
            <a:endParaRPr lang="ar-SA" sz="200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أُسْلُوبُهَا مُخْتَلِفٌ وَيُعَبِّرُ عَنْ ذَوْقِهَا.</a:t>
            </a:r>
            <a:endParaRPr lang="ar-SA" sz="200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A strong opinion:</a:t>
            </a:r>
            <a:endParaRPr lang="en-US" sz="1250" dirty="0"/>
          </a:p>
          <a:p>
            <a:pPr algn="l" indent="0" marL="0">
              <a:buNone/>
            </a:pPr>
            <a:r>
              <a:rPr lang="en-US" sz="1250" dirty="0">
                <a:solidFill>
                  <a:srgbClr val="1E6B52"/>
                </a:solidFill>
                <a:latin typeface="Calibri" pitchFamily="34" charset="0"/>
                <a:cs typeface="Amiri" pitchFamily="2" charset="-78"/>
              </a:rPr>
              <a:t>what I think + because …</a:t>
            </a:r>
            <a:endParaRPr lang="en-US" sz="1250" dirty="0"/>
          </a:p>
          <a:p>
            <a:pPr algn="l" indent="0" marL="0">
              <a:buNone/>
            </a:pPr>
            <a:r>
              <a:rPr lang="en-US" sz="1250" dirty="0">
                <a:solidFill>
                  <a:srgbClr val="1E6B52"/>
                </a:solidFill>
                <a:latin typeface="Calibri" pitchFamily="34" charset="0"/>
                <a:cs typeface="Amiri" pitchFamily="2" charset="-78"/>
              </a:rPr>
              <a:t>Stretch: + but … / although …</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UPGRADE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Upgrade the opinion: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developed opinion?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فِي رَأْيِي، المَلَابِسُ البَسِيطَةُ أَفْضَلُ لِأَنَّهَا عَمَلِيَّةٌ.</a:t>
            </a:r>
            <a:endParaRPr lang="ar-SA" sz="14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ea typeface="Amiri" pitchFamily="2" charset="-78"/>
                <a:cs typeface="Amiri" pitchFamily="2" charset="-78"/>
              </a:rPr>
              <a:t>المَلَابِسُ البَسِيطَةُ.</a:t>
            </a:r>
            <a:endParaRPr lang="ar-SA" sz="14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ea typeface="Amiri" pitchFamily="2" charset="-78"/>
                <a:cs typeface="Amiri" pitchFamily="2" charset="-78"/>
              </a:rPr>
              <a:t>لِأَنَّهَا عَمَلِيَّةٌ.</a:t>
            </a:r>
            <a:endParaRPr lang="ar-SA" sz="14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Opinion + reason.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adds a contrast?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أُحِبُّ المَوْضَةَ، لِأَنَّنِي لَا أَتْبَعُ كُلَّ اتِّجَاهٍ.</a:t>
            </a:r>
            <a:endParaRPr lang="ar-SA" sz="16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أُحِبُّ المَوْضَةَ، وَلٰكِنَّنِي لَا أَتْبَعُ كُلَّ اتِّجَاهٍ.</a:t>
            </a:r>
            <a:endParaRPr lang="ar-SA" sz="16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أُحِبُّ المَوْضَةَ ثُمَّ.</a:t>
            </a:r>
            <a:endParaRPr lang="ar-SA" sz="16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“but” = wa-lākinna.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complete concession?</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عَلَى الرَّغْمِ مِنْ أَنَّهُ غَالٍ، فَإِنَّهُ جَيِّدُ الجَوْدَةِ.</a:t>
            </a:r>
            <a:endParaRPr lang="ar-SA" sz="15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لِأَنَّهُ غَالٍ فَإِنَّهُ.</a:t>
            </a:r>
            <a:endParaRPr lang="ar-SA" sz="15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عَلَى الرَّغْمِ غَالٍ.</a:t>
            </a:r>
            <a:endParaRPr lang="ar-SA" sz="15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Although … , (fa-inna) …</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judgement is respectful?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سَيِّئَةٌ لِأَنَّ فُسْتَانَهَا أَحْمَرُ.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كُلُّ مَنْ يَلْبَسُ الأَسْوَدَ حَزِينٌ.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أُسْلُوبُهَا مُخْتَلِفٌ وَيُعَبِّرُ عَنْ ذَوْقِهَا.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Judge the style, not the person.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A strong opinion:</a:t>
            </a:r>
            <a:endParaRPr lang="en-US" sz="1250" dirty="0"/>
          </a:p>
          <a:p>
            <a:pPr algn="l" indent="0" marL="0">
              <a:buNone/>
            </a:pPr>
            <a:r>
              <a:rPr lang="en-US" sz="1250" dirty="0">
                <a:solidFill>
                  <a:srgbClr val="1E6B52"/>
                </a:solidFill>
                <a:latin typeface="Calibri" pitchFamily="34" charset="0"/>
                <a:cs typeface="Amiri" pitchFamily="2" charset="-78"/>
              </a:rPr>
              <a:t>what I think + because …</a:t>
            </a:r>
            <a:endParaRPr lang="en-US" sz="1250" dirty="0"/>
          </a:p>
          <a:p>
            <a:pPr algn="l" indent="0" marL="0">
              <a:buNone/>
            </a:pPr>
            <a:r>
              <a:rPr lang="en-US" sz="1250" dirty="0">
                <a:solidFill>
                  <a:srgbClr val="1E6B52"/>
                </a:solidFill>
                <a:latin typeface="Calibri" pitchFamily="34" charset="0"/>
                <a:cs typeface="Amiri" pitchFamily="2" charset="-78"/>
              </a:rPr>
              <a:t>Stretch: + but … / although …</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Balanced and respectful?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فِي رَأْيِي، هٰذَا الأُسْلُوبُ مُنَاسِبٌ لِأَنَّهُ مُرِيحٌ.</a:t>
            </a:r>
            <a:endParaRPr lang="ar-SA" sz="135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أُحِبُّ المَوْضَةَ، وَلٰكِنَّنِي لَا أَتْبَعُ كُلَّ اتِّجَاهٍ.</a:t>
            </a:r>
            <a:endParaRPr lang="ar-SA" sz="135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عَلَى الرَّغْمِ مِنْ أَنَّهُ غَالٍ، فَإِنَّهُ جَيِّدُ الجَوْدَةِ.</a:t>
            </a:r>
            <a:endParaRPr lang="ar-SA" sz="13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أُسْلُوبُهَا يُعَبِّرُ عَنْ ذَوْقِهَا.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الأُسْلُوبُ.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 غَالٍ فَإِنَّهُ.</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سَيِّئَةٌ لِأَنَّ فُسْتَانَهَا أَحْمَرُ.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كُلُّ مَنْ يَلْبَسُ الأَسْوَدَ حَزِينٌ.</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Complete and respectful</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Incomplete or unfair</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Complete and respectful</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هٰذَا الأُسْلُوبُ مُنَاسِبٌ لِأَنَّهُ مُرِيحٌ.</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المَوْضَةَ، وَلٰكِنَّنِي لَا أَتْبَعُ كُلَّ اتِّجَاهٍ.</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الرَّغْمِ مِنْ أَنَّهُ غَالٍ، فَإِنَّهُ جَيِّدُ الجَوْدَةِ.</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أُسْلُوبُهَا يُعَبِّرُ عَنْ ذَوْقِهَا.</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Incomplete or unfair</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الأُسْلُوبُ.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 غَالٍ فَإِنَّهُ.</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سَيِّئَةٌ لِأَنَّ فُسْتَانَهَا أَحْمَرُ.</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كُلُّ مَنْ يَلْبَسُ الأَسْوَدَ حَزِينٌ.</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الأُسْلُوبُ.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there an opinion AND a reason?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المَوْضَةَ، لِأَنَّنِي لَا أَتْبَعُ كُلَّ اتِّجَاهٍ.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Contrast: because or but?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لِأَنَّهُ غَالٍ فَإِنَّهُ.</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Although … then what?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الأُسْلُوبُ.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رَأْيِي، هٰذَا الأُسْلُوبُ مُنَاسِبٌ لِأَنَّهُ مُرِيحٌ.</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an opinion AND a reason.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أُحِبُّ المَوْضَةَ، لِأَنَّنِي لَا أَتْبَعُ كُلَّ اتِّجَاهٍ.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المَوْضَةَ، وَلٰكِنَّنِي لَا أَتْبَعُ كُلَّ اتِّجَاهٍ.</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contrast needs “but”, not “because”.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لِأَنَّهُ غَالٍ فَإِنَّهُ.</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350" b="1" dirty="0">
                <a:solidFill>
                  <a:srgbClr val="1E6B52"/>
                </a:solidFill>
                <a:latin typeface="Amiri" pitchFamily="2" charset="-78"/>
                <a:ea typeface="Amiri" pitchFamily="2" charset="-78"/>
                <a:cs typeface="Amiri" pitchFamily="2" charset="-78"/>
              </a:rPr>
              <a:t>عَلَى الرَّغْمِ مِنْ أَنَّهُ غَالٍ، فَإِنَّهُ جَيِّدُ الجَوْدَةِ.</a:t>
            </a:r>
            <a:endParaRPr lang="ar-SA" sz="235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Complete the concession pattern.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Listening focus: fashion and identity</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style is described?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Reem’s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sister’s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teacher’s</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clothes does she prefer?</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elegant and formal</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colourful and modern</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simple and comfortable</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cheap</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mother chooses them</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goes to school and moves around a lot</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wear on special occasions?</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elegant dress and a colourful headscarf</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school uniform</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jeans and a T-shirt</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her opinion, personal style expresses …</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wealth</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taste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age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style NOT tell us?</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everything about personality</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anything at all</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person’s taste</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البَسِيطَةَ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المُنَاسَبَاتِ</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الذَّوْقِ</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تَتَحَدَّثُ رِيمُ عَنْ أُسْلُوبِهَا.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Reem is talking about her style.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تَقُولُ إِنَّهَا تُفَضِّلُ المَلَابِسَ البَسِيطَةَ وَالمُرِيحَةَ،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says that she prefers simple, comfortable clothes,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لِأَنَّهَا تَذْهَبُ إِلَى المَدْرَسَةِ وَتَتَحَرَّكُ كَثِيرًا.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she goes to school and moves around a lot.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وَلٰكِنَّهَا فِي المُنَاسَبَاتِ تَرْتَدِي فُسْتَانًا أَنِيقًا وَحِجَابًا مُلَوَّنًا.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on special occasions she wears an elegant dress and a colourful headscarf.</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فِي رَأْيِهَا، الأُسْلُوبُ الشَّخْصِيُّ يُعَبِّرُ عَنِ الذَّوْقِ، وَلٰكِنَّهُ لَا يُخْبِرُنَا بِكُلِّ شَيْءٍ عَنِ الشَّخْصِيَّةِ.</a:t>
            </a:r>
            <a:endParaRPr lang="ar-SA" sz="17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her opinion, personal style expresses taste, but it does not tell us everything about personality.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style is described?</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Reem’s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sister’s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teacher’s</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تَتَحَدَّثُ رِيمُ عَنْ أُسْلُوبِهَا.</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clothes does she prefer?</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elegant and formal</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colourful and modern</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simple and comfortable</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المَلَابِسَ البَسِيطَةَ وَالمُرِيحَةَ.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cheap</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mother chooses them</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goes to school and moves around a lot</a:t>
            </a:r>
            <a:endParaRPr lang="en-US" sz="11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لِأَنَّهَا تَذْهَبُ إِلَى المَدْرَسَةِ وَتَتَحَرَّكُ كَثِيرًا.</a:t>
            </a:r>
            <a:endParaRPr lang="ar-SA" sz="130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wear on special occasions?</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an elegant dress and a colourful headscarf</a:t>
            </a:r>
            <a:endParaRPr lang="en-US" sz="11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school uniform</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jeans and a T-shirt</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فُسْتَانًا أَنِيقًا وَحِجَابًا مُلَوَّنًا.</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her opinion, personal style expresses …</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wealth</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taste</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age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يُعَبِّرُ عَنِ الذَّوْقِ.</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style NOT tell us?</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everything about personality</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anything at all</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person’s taste</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يُخْبِرُنَا بِكُلِّ شَيْءٍ عَنِ الشَّخْصِيَّةِ.</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البَسِيطَةَ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المُنَاسَبَاتِ</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الذَّوْقِ</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Developed speaking: fashion and identity</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أُسْلُوبُكَ الشَّخْصِيُّ؟</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المَوْضَةُ مُهِمَّةٌ لِلشَّبَابِ؟</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أَهَمُّ: الرَّاحَةُ أَمِ الأَنَاقَةُ؟</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تُعَبِّرُ المَلَابِسُ عَنِ الهُوِيَّةِ؟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أُسْلُوبِي ___ وَ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رَأْيِي ، المَوْضَةُ ___ لِأَنَّ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أَهَمُّ مِنْ ___ ، وَلٰكِنَّ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عَلَى الرَّغْمِ مِنْ أَنَّ ___ ، فَإِنَّ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تَتْبَعُ المَوْضَةَ؟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Do you follow fashion?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أَتَابِعُ بَعْضَ الأَفْكَارِ، وَلٰكِنَّنِي أَخْتَارُ مَا يُنَاسِبُنِي.</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follow some ideas, but I choose what suits me.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Your style: two style adjectives, what you wear to school and on special occasions, one opinion + reason.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Your style and what influences it, one advantage of fashion and a contrast (but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an independently controlled relative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your style, influences, one advantage and one disadvantage of fashion, a concession and a balanced conclusion.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 وَلٰكِنَّنِي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but I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أُسْلُوبِي يُعَبِّرُ عَنْ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style expresses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 المَوْضَةِ أَنَّهَا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advantage of fashion is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وَمِنْ عُيُوبِهَا أَنَّهَا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disadvantage is that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______ ، فَإِنَّ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أُسْلُوبِي ______ وَ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style is … and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المَدْرَسَةِ أَلْبَسُ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school I wear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المُنَاسَبَاتِ أَلْبَسُ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special occasions I wear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______ لِأَنَّ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 because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المَلَابِسَ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clothes.</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أَنِيقٌ  ·  عَصْرِيٌّ  ·  تَقْلِيدِيٌّ  ·  بَسِيطٌ  ·  مُحْتَشِمٌ  ·  مُرِيحٌ  ·  فِي رَأْيِي  ·  لِأَنَّ  ·  وَلٰكِنَّنِي  ·  عَلَى الرَّغْمِ مِنْ أَنَّ  ·  يُعَبِّرُ عَنْ  ·  الذَّوْقُ</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giving your view on fashion and identity. Explain your style, what influences it, one advantage and one disadvantage of following fashion, and a balanced conclusion.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Cover every requested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target grammar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precise vocabulary from this lesson.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reason, comparison or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Review agreement, pronoun reference and connectors.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المَلَابِسُ جُزْءٌ مِنَ الهُوِيَّةِ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clothes are part of identity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تُعَبِّرُ عَنْ ذَوْقِنَا وَثَقَافَتِنَا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express our taste and culture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 المَوْضَةِ … وَمِنْ عُيُوبِهَا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advantage of fashion … one disadvantage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سَرِيعَةُ التَّغَيُّرِ</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quick to change</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الأَهَمُّ هُوَ اخْتِيَارُ مَا يُنَاسِبُنَا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most important thing is choosing what suits us</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رَأْيِي، المَلَابِسُ جُزْءٌ مِنَ الهُوِيَّةِ، لِأَنَّهَا قَدْ تُعَبِّرُ عَنْ ذَوْقِنَا وَثَقَافَتِنَا. أَنَا أُفَضِّلُ الأُسْلُوبَ البَسِيطَ وَالمُحْتَشِمَ، وَأَخْتَارُ عَادَةً مَلَابِسَ مُرِيحَةً وَعَمَلِيَّةً. وَلٰكِنَّنِي فِي المُنَاسَبَاتِ أُحِبُّ أَنْ أَرْتَدِيَ مَلَابِسَ أَكْثَرَ أَنَاقَةً. مِنْ مَزَايَا المَوْضَةِ أَنَّهَا تُقَدِّمُ أَفْكَارًا جَدِيدَةً، وَلٰكِنَّ مِنْ عُيُوبِهَا أَنَّهَا قَدْ تَكُونُ غَالِيَةً وَسَرِيعَةَ التَّغَيُّرِ. عَلَى الرَّغْمِ مِنْ ذٰلِكَ، أَرَى أَنَّ الأَهَمَّ هُوَ اخْتِيَارُ مَا يُنَاسِبُنَا.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opinion, clothes are part of identity, because they can express our taste and culture. I prefer a simple, modest style, and I usually choose comfortable, practical clothes. But on special occasions I like to wear more elegant clothes. One advantage of fashion is that it offers new ideas, but one of its disadvantages is that it can be expensive and quick to change. Despite that, I think the most important thing is choosing what suits us.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opinion with a reason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contrast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advantage and a disadvantage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concession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described my style with two adjectives.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opinion has a reason (because).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 contrast with “but”.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judged clothes, not people.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“although …” and wrote a balanced conclusion.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developed opinion.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فِي رَأْيِي، هٰذَا الأُسْلُوبُ مُنَاسِبٌ لِأَنَّهُ مُرِيحٌ.</a:t>
            </a:r>
            <a:endParaRPr lang="ar-SA" sz="15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هٰذَا الأُسْلُوبُ.</a:t>
            </a:r>
            <a:endParaRPr lang="ar-SA" sz="15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لِأَنَّهُ مُرِيحٌ.</a:t>
            </a:r>
            <a:endParaRPr lang="ar-SA" sz="15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أُحِبُّ المَوْضَةَ،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لَا أَتْبَعُ كُلَّ اتِّجَاهٍ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وَلٰكِنَّنِي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concession.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عَلَى الرَّغْمِ مِنْ أَنَّهُ غَالٍ، فَإِنَّهُ جَيِّدُ الجَوْدَةِ.</a:t>
            </a:r>
            <a:endParaRPr lang="ar-SA" sz="15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لِأَنَّهُ غَالٍ فَإِنَّهُ.</a:t>
            </a:r>
            <a:endParaRPr lang="ar-SA" sz="15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هُوَ غَالٍ ثُمَّ.</a:t>
            </a:r>
            <a:endParaRPr lang="ar-SA" sz="15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developed opinion.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فِي رَأْيِي، هٰذَا الأُسْلُوبُ مُنَاسِبٌ لِأَنَّهُ مُرِيحٌ.</a:t>
            </a:r>
            <a:endParaRPr lang="ar-SA" sz="15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هٰذَا الأُسْلُوبُ.</a:t>
            </a:r>
            <a:endParaRPr lang="ar-SA" sz="15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لِأَنَّهُ مُرِيحٌ.</a:t>
            </a:r>
            <a:endParaRPr lang="ar-SA" sz="15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gives opinion and reason.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أُحِبُّ المَوْضَةَ،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لَا أَتْبَعُ كُلَّ اتِّجَاهٍ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لِأَنَّنِي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وَلٰكِنَّنِي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ثُمَّ</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contrast is required.</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concession.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عَلَى الرَّغْمِ مِنْ أَنَّهُ غَالٍ، فَإِنَّهُ جَيِّدُ الجَوْدَةِ.</a:t>
            </a:r>
            <a:endParaRPr lang="ar-SA" sz="15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لِأَنَّهُ غَالٍ فَإِنَّهُ.</a:t>
            </a:r>
            <a:endParaRPr lang="ar-SA" sz="15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هُوَ غَالٍ ثُمَّ.</a:t>
            </a:r>
            <a:endParaRPr lang="ar-SA" sz="15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is a complete concession pattern.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Reading focus: fashion and identity</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مَقَالٌ قَصِيرٌ: يَظُنُّ بَعْضُ الشَّبَابِ أَنَّ اتِّبَاعَ المَوْضَةِ ضَرُورِيٌّ، بَيْنَمَا يُفَضِّلُ آخَرُونَ أَنْ يَخْتَارُوا مَا هُوَ مُرِيحٌ وَمُنَاسِبٌ لَهُمْ. عَلَى الرَّغْمِ مِنْ أَنَّ المَلَابِسَ قَدْ تُعَبِّرُ عَنْ جُزْءٍ مِنَ الهُوِيَّةِ، فَإِنَّهَا لَا تَكْفِي لِلْحُكْمِ عَلَى شَخْصِيَّةِ أَحَدٍ. الأُسْلُوبُ الجَيِّدُ فِي رَأْيِي يَجْمَعُ بَيْنَ الرَّاحَةِ وَالاِحْتِرَامِ وَالذَّوْقِ الشَّخْصِيِّ.</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مَقَالٌ قَصِيرٌ</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short article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يَظُنُّ</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think(s)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اتِّبَاعَ المَوْضَةِ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following fashion</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ضَرُورِيٌّ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necessary</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آخَرُونَ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others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يَخْتَارُوا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choose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جُزْءٍ مِنَ الهُوِيَّةِ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part of identity</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تَكْفِي</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are not enough</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لِلْحُكْمِ عَلَى</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judge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يَجْمَعُ بَيْنَ</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combines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text is this?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advert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article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letter</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some young people think?</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fashion is boring</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clothes should be cheap</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following fashion is necessary</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others prefer?</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choosing what is comfortable and suitable for them</a:t>
            </a:r>
            <a:endParaRPr lang="en-US" sz="110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buying designer clothes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wearing a uniform</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According to the text, clothes can …</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show someone’s whole personality</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express part of identity</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make people rich</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Are clothes enough to judge someone’s character?</a:t>
            </a:r>
            <a:endParaRPr lang="en-US" sz="120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formal clothes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Good style, in the writer’s opinion, combines …</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fashion and price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colour and size</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comfort, respect and personal taste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text is this?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advert</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short article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letter</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مَقَالٌ قَصِيرٌ.</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some young people think?</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fashion is boring</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clothes should be cheap</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following fashion is necessary</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اتِّبَاعَ المَوْضَةِ ضَرُورِيٌّ.</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others prefer?</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choosing what is comfortable and suitable for them</a:t>
            </a:r>
            <a:endParaRPr lang="en-US" sz="110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buying designer clothes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wearing a uniform</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مَا هُوَ مُرِيحٌ وَمُنَاسِبٌ لَهُمْ.</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According to the text, clothes can …</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show someone’s whole personality</a:t>
            </a:r>
            <a:endParaRPr lang="en-US" sz="11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express part of identity</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make people rich</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قَدْ تُعَبِّرُ عَنْ جُزْءٍ مِنَ الهُوِيَّةِ.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Are clothes enough to judge someone’s character?</a:t>
            </a:r>
            <a:endParaRPr lang="en-US" sz="120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formal clothes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تَكْفِي لِلْحُكْمِ عَلَى شَخْصِيَّةِ أَحَدٍ.</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Good style, in the writer’s opinion, combines …</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fashion and price</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colour and size</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comfort, respect and personal taste</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يَجْمَعُ بَيْنَ الرَّاحَةِ وَالاِحْتِرَامِ وَالذَّوْقِ الشَّخْصِيِّ.</a:t>
            </a:r>
            <a:endParaRPr lang="ar-SA" sz="11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fashion and identity Arabic challenge</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developed opinion.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هٰذَا الأُسْلُوبُ.</a:t>
            </a:r>
            <a:endParaRPr lang="ar-SA" sz="15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فِي رَأْيِي، هٰذَا الأُسْلُوبُ مُنَاسِبٌ لِأَنَّهُ مُرِيحٌ.</a:t>
            </a:r>
            <a:endParaRPr lang="ar-SA" sz="15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لِأَنَّهُ مُرِيحٌ.</a:t>
            </a:r>
            <a:endParaRPr lang="ar-SA" sz="15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أُحِبُّ المَوْضَةَ، ___ لَا أَتْبَعُ كُلَّ اتِّجَاهٍ.</a:t>
            </a:r>
            <a:endParaRPr lang="ar-SA" sz="100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وَلٰكِنَّنِي</a:t>
            </a:r>
            <a:endParaRPr lang="ar-SA" sz="20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a:t>
            </a:r>
            <a:endParaRPr lang="ar-SA" sz="20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concession.</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لِأَنَّهُ غَالٍ فَإِنَّهُ.</a:t>
            </a:r>
            <a:endParaRPr lang="ar-SA" sz="150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هُوَ غَالٍ ثُمَّ.</a:t>
            </a:r>
            <a:endParaRPr lang="ar-SA" sz="150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عَلَى الرَّغْمِ مِنْ أَنَّهُ غَالٍ، فَإِنَّهُ جَيِّدُ الجَوْدَةِ.</a:t>
            </a:r>
            <a:endParaRPr lang="ar-SA" sz="150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يُعَبِّرُ عَنْ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buys</a:t>
            </a:r>
            <a:endParaRPr lang="en-US" sz="12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compares</a:t>
            </a:r>
            <a:endParaRPr lang="en-US" sz="12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expresses</a:t>
            </a:r>
            <a:endParaRPr lang="en-US" sz="12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respectful judgement.</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أُسْلُوبُهَا مُخْتَلِفٌ وَيُعَبِّرُ عَنْ ذَوْقِهَا.</a:t>
            </a:r>
            <a:endParaRPr lang="ar-SA" sz="200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هِيَ سَيِّئَةٌ لِأَنَّ فُسْتَانَهَا أَحْمَرُ.</a:t>
            </a:r>
            <a:endParaRPr lang="ar-SA" sz="200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كُلُّ مَنْ يَلْبَسُ الأَسْوَدَ حَزِينٌ.</a:t>
            </a:r>
            <a:endParaRPr lang="ar-SA" sz="200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87" name="Text 84"/>
          <p:cNvSpPr txBox="1"/>
          <p:nvPr/>
        </p:nvSpPr>
        <p:spPr>
          <a:xfrm>
            <a:off x="10044989" y="4224528"/>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الرَّاحَةُ ___ مِنَ اتِّبَاعِ المَوْضَةِ.</a:t>
            </a:r>
            <a:endParaRPr lang="ar-SA" sz="115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مُهِمَّةٌ</a:t>
            </a:r>
            <a:endParaRPr lang="ar-SA" sz="20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أَهَمُّ</a:t>
            </a:r>
            <a:endParaRPr lang="ar-SA" sz="20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a:t>
            </a:r>
            <a:endParaRPr lang="ar-SA" sz="20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developed opinion.</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هٰذَا الأُسْلُوبُ.</a:t>
            </a:r>
            <a:endParaRPr lang="ar-SA" sz="15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فِي رَأْيِي، هٰذَا الأُسْلُوبُ مُنَاسِبٌ لِأَنَّهُ مُرِيحٌ.</a:t>
            </a:r>
            <a:endParaRPr lang="ar-SA" sz="15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لِأَنَّهُ مُرِيحٌ.</a:t>
            </a:r>
            <a:endParaRPr lang="ar-SA" sz="15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gives opinion and reason.</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3"/>
          <p:cNvSpPr txBox="1"/>
          <p:nvPr/>
        </p:nvSpPr>
        <p:spPr>
          <a:xfrm>
            <a:off x="6225845"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أُحِبُّ المَوْضَةَ، ___ لَا أَتْبَعُ كُلَّ اتِّجَاهٍ.</a:t>
            </a:r>
            <a:endParaRPr lang="ar-SA" sz="100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وَلٰكِنَّنِي</a:t>
            </a:r>
            <a:endParaRPr lang="ar-SA" sz="170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لِأَنَّنِي</a:t>
            </a:r>
            <a:endParaRPr lang="ar-SA" sz="170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contrast is required.</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concession.</a:t>
            </a:r>
            <a:endParaRPr lang="en-US" sz="125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لِأَنَّهُ غَالٍ فَإِنَّهُ.</a:t>
            </a:r>
            <a:endParaRPr lang="ar-SA" sz="15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هُوَ غَالٍ ثُمَّ.</a:t>
            </a:r>
            <a:endParaRPr lang="ar-SA" sz="15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عَلَى الرَّغْمِ مِنْ أَنَّهُ غَالٍ، فَإِنَّهُ جَيِّدُ الجَوْدَةِ.</a:t>
            </a:r>
            <a:endParaRPr lang="ar-SA" sz="15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is a complete concession pattern.</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يُعَبِّرُ عَنْ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buys</a:t>
            </a:r>
            <a:endParaRPr lang="en-US" sz="125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compares</a:t>
            </a:r>
            <a:endParaRPr lang="en-US" sz="125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expresses</a:t>
            </a:r>
            <a:endParaRPr lang="en-US" sz="125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means expresses.</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respectful judgement.</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أُسْلُوبُهَا مُخْتَلِفٌ وَيُعَبِّرُ عَنْ ذَوْقِهَا.</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سَيِّئَةٌ لِأَنَّ فُسْتَانَهَا أَحْمَرُ.</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كُلُّ مَنْ يَلْبَسُ الأَسْوَدَ حَزِينٌ.</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evaluates style without stereotyping.</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96" name="Text 94"/>
          <p:cNvSpPr txBox="1"/>
          <p:nvPr/>
        </p:nvSpPr>
        <p:spPr>
          <a:xfrm>
            <a:off x="10044989" y="4224528"/>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الرَّاحَةُ ___ مِنَ اتِّبَاعِ المَوْضَةِ.</a:t>
            </a:r>
            <a:endParaRPr lang="ar-SA" sz="115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مُهِمَّةٌ</a:t>
            </a:r>
            <a:endParaRPr lang="ar-SA" sz="170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أَهَمُّ</a:t>
            </a:r>
            <a:endParaRPr lang="ar-SA" sz="170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a:t>
            </a:r>
            <a:endParaRPr lang="ar-SA" sz="170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comparative pattern is </a:t>
            </a:r>
            <a:pPr algn="l" indent="0" marL="0">
              <a:buNone/>
            </a:pPr>
            <a:r>
              <a:rPr lang="ar-SA" altLang="en-US" sz="1350" dirty="0">
                <a:solidFill>
                  <a:srgbClr val="8A6D1E"/>
                </a:solidFill>
                <a:latin typeface="Amiri" pitchFamily="2" charset="-78"/>
                <a:ea typeface="Amiri" pitchFamily="2" charset="-78"/>
                <a:cs typeface="Amiri" pitchFamily="2" charset="-78"/>
              </a:rPr>
              <a:t>أَهَمُّ 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D2-L04 · Fashion and Identity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D2-L05: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D2-L05 · Comparing People and Clothes — More, Less and Better</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أَكْثَرُ … مِنْ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more … than</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أَقَلُّ … مِنْ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less … than</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أَفْضَلُ مِنْ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better than</a:t>
            </a:r>
            <a:pPr indent="0" marL="0">
              <a:buNone/>
            </a:pPr>
            <a:r>
              <a:rPr lang="ar-SA" sz="1000" i="1" dirty="0">
                <a:solidFill>
                  <a:srgbClr val="5A6472"/>
                </a:solidFill>
                <a:latin typeface="Calibri" pitchFamily="34" charset="0"/>
                <a:ea typeface="Amiri" pitchFamily="2" charset="-78"/>
                <a:cs typeface="Amiri" pitchFamily="2" charset="-78"/>
              </a:rPr>
              <a:t>  the best: الأَفْضَلُ</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أَرْخَصُ مِنْ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cheaper than</a:t>
            </a:r>
            <a:pPr indent="0" marL="0">
              <a:buNone/>
            </a:pPr>
            <a:r>
              <a:rPr lang="ar-SA" sz="1000" i="1" dirty="0">
                <a:solidFill>
                  <a:srgbClr val="5A6472"/>
                </a:solidFill>
                <a:latin typeface="Calibri" pitchFamily="34" charset="0"/>
                <a:ea typeface="Amiri" pitchFamily="2" charset="-78"/>
                <a:cs typeface="Amiri" pitchFamily="2" charset="-78"/>
              </a:rPr>
              <a:t>  cheap: رَخِيصٌ</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أَغْلَى مِنْ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more expensive than</a:t>
            </a:r>
            <a:pPr indent="0" marL="0">
              <a:buNone/>
            </a:pPr>
            <a:r>
              <a:rPr lang="ar-SA" sz="1000" i="1" dirty="0">
                <a:solidFill>
                  <a:srgbClr val="5A6472"/>
                </a:solidFill>
                <a:latin typeface="Calibri" pitchFamily="34" charset="0"/>
                <a:ea typeface="Amiri" pitchFamily="2" charset="-78"/>
                <a:cs typeface="Amiri" pitchFamily="2" charset="-78"/>
              </a:rPr>
              <a:t>  expensive: غَالٍ</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Compare two people you know or two items of clothing. Who / which is taller, cheaper, more elegant?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مَنْ أَطْوَلُ فِي أُسْرَتِكَ؟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D2-L04: the vocabulary tab (style adjectives, opinion and balance).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8 sentences about your style with an opinion, a reason and a contrast.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on fashion and identity.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D2-L05 · Comparing People and Clothes — More, Less and Better</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المُقَارَنَةُ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opinion + because + but — and judge clothes, not people.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D2-L04 · Fashion and Identity — Opinions on Style and Dress</dc:title>
  <dc:subject>PptxGenJS Presentation</dc:subject>
  <dc:creator>Al Madina Online School · Arabic Department</dc:creator>
  <cp:lastModifiedBy>Al Madina Online School · Arabic Department</cp:lastModifiedBy>
  <cp:revision>1</cp:revision>
  <dcterms:created xsi:type="dcterms:W3CDTF">2026-10-11T06:40:35Z</dcterms:created>
  <dcterms:modified xsi:type="dcterms:W3CDTF">2026-10-11T06:40:35Z</dcterms:modified>
</cp:coreProperties>
</file>