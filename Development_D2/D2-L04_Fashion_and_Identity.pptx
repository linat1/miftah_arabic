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D2-L04. The website lesson “Fashion and Identity — Opinions on Style and Dress”: vocabulary, grammar rules and quiz, patterns, common mistakes, sorter, listening, reading, speaking prompts and model, writing task and model, differentiation, final check and the lesson mission. Picture match: website visual game “Fashion and Identity — Opinions on Style and Dress”.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describe your own style with two style adjectives + فِي رَأْيِي … لِأَنَّ … (one opinion, one reason). Develop: add a contrast (أُفَضِّلُ … وَلٰكِنَّنِي …). Stretch: a concession (عَلَى الرَّغْمِ مِنْ أَنَّ … فَإِنَّ …) and a balanced conclusion about fashion and identity.
• Website value: “Do not treat personal style as proof of personality” — every opinion must be respectful (quiz Q5). Model this explicitly: we judge CLOTHES (comfortable, practical, expensive), never PEOPLE.
• Modesty and identity are personal: invite, never require, students to share. Invented examples are fine.
• Urdu bridge: فیشن (→ مَوْضَةٌ), ذوق، ثقافت، شخصیت، احترام.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style words prepared at home. Questions 3–5 retrieve D2-L03 (هٰذِهِ, ثَمَنُهَا) and D2-L01 (لِأَنَّهَا).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balanced opinion has three parts: what I think, why, and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ذوق (taste) → الذَّوْقُ; ثقافت → الثَّقَافَةُ; شخصیت → الشَّخْصِيَّةُ; احترام → الاِحْتِرَامُ — all Arabic words students already use in Urdu. مَوْضَةٌ (from Italian moda) = fashion; أُسْلُوبٌ = style (Urdu اسلوب: style of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adjectives (website vocabulary (1 of 2)). Hear → Say → See → Use. Transliteration is printed for Core students (cover it for Develop/Stretch).
Style adjectives in m. · f. · pl. (reviewed from D2-L03). Things in the plural take the feminine singular: مَلَابِسُ مُلَوَّنَةٌ.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adjectives (website vocabulary (2 of 2)). Hear → Say → See → Use. Transliteration is printed for Core students (cover it for Develop/Stretch).
Style adjectives in m. · f. · pl. (reviewed from D2-L03). Things in the plural take the feminine singular: مَلَابِسُ مُلَوَّنَةٌ.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and balance (website vocabulary (1 of 2)). Hear → Say → See → Use. Transliteration is printed for Core students (cover it for Develop/Stretch).
Opinion and balance: sort them live — OPINION (فِي رَأْيِي) · REASON (لِأَنَّ، لِذٰلِكَ) · CONTRAST (وَلٰكِنَّ، بَيْنَمَا، مِنْ جِهَةٍ … مِنْ جِهَةٍ أُخْرَى) · CONCESSION (عَلَى الرَّغْمِ مِنْ أَنَّ) · SOFTENERS (أَحْيَانًا، عَادَةً).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and balance (website vocabulary (2 of 2)). Hear → Say → See → Use. Transliteration is printed for Core students (cover it for Develop/Stretch).
Opinion and balance: sort them live — OPINION (فِي رَأْيِي) · REASON (لِأَنَّ، لِذٰلِكَ) · CONTRAST (وَلٰكِنَّ، بَيْنَمَا، مِنْ جِهَةٍ … مِنْ جِهَةٍ أُخْرَى) · CONCESSION (عَلَى الرَّغْمِ مِنْ أَنَّ) · SOFTENERS (أَحْيَانًا، عَادَةً).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Clothing reference (website vocabulary (1 of 2)). Hear → Say → See → Use. Transliteration is printed for Core students (cover it for Develop/Stretch).
FLEX: teach if time allows; otherwise these are on the website vocabulary tab for homework.
Clothing reference (FLEX) — the D2-L03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Clothing reference (website vocabulary (2 of 2)). Hear → Say → See → Use. Transliteration is printed for Core students (cover it for Develop/Stretch).
FLEX: teach if time allows; otherwise these are on the website vocabulary tab for homework.
Clothing reference (FLEX) — the D2-L03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“Opinion plus reason” (a developed opinion explains why) and “Contrast” (contrast adds balance) with the website examples.
Note for Develop/Stretch: non-human plurals take feminine singular agreement — المَلَابِسُ … لِأَنَّهَا عَمَلِيَّةٌ (not لِأَنَّهُمْ).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“Concession” (acknowledge an opposing point before stating a judgement) and “Identity and expression” (explain what style communicates without judging a person unfairly). Website common error: “Do not treat personal style as proof of personality.”
Stretch grammar: after عَلَى الرَّغْمِ مِنْ أَنَّ the main clause often starts with فَإِنَّ + noun in -a (فَإِنَّ الرَّاحَةَ أَهَمُّ).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“Develop opinions about style with reasons, contrast, concession and language that avoids over-generalisation.”
• Opinion plus reason: A developed opinion explains why.
• Contrast: Contrast adds balance and complexity.
• Concession: Acknowledge an opposing point before stating a judgement.
• Identity and expression: Explain what style communicates without judging a person unfairly.
Website common error: Do not treat personal style as proof of personality; describe clothing evidence and qualify your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4, 6, 7,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(Reem) and patterns turned into a first-person opinion, with a think-aloud. Students copy it and label the four parts: STYLE · OPINION + REASON · CONTRAST · CONCESSION.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built from the website grammar quiz (Q1, Q2, Q3, Q5) and the website value about respectful judgement. Discuss Q4 carefully: the wrong answers stereotype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 volunteer changes one word to make their own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each sentence a complete, balanced and respectful opinion?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each sentence a complete, balanced and respectful opinion?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تَتَحَدَّثُ رِيمُ عَنْ أُسْلُوبِهَا. تَقُولُ إِنَّهَا تُفَضِّلُ المَلَابِسَ البَسِيطَةَ وَالمُرِيحَةَ، لِأَنَّهَا تَذْهَبُ إِلَى المَدْرَسَةِ وَتَتَحَرَّكُ كَثِيرًا. وَلٰكِنَّهَا فِي المُنَاسَبَاتِ تَرْتَدِي فُسْتَانًا أَنِيقًا وَحِجَابًا مُلَوَّنًا. فِي رَأْيِهَا، الأُسْلُوبُ الشَّخْصِيُّ يُعَبِّرُ عَنِ الذَّوْقِ، وَلٰكِنَّهُ لَا يُخْبِرُنَا بِكُلِّ شَيْءٍ عَنِ الشَّخْصِيَّةِ.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الأَهَمُّ فِي رَأْيِكَ؟ (What is most important?)
B: الرَّاحَةُ وَالاِحْتِرَامُ أَهَمُّ مِنَ اتِّبَاعِ كُلِّ اتِّجَاهٍ. (Comfort and respect matter more than every trend.)
Website prompts. Website model continues: A: مَا الأَهَمُّ فِي رَأْيِكَ؟ (What is most important in your opinion?) B: الرَّاحَةُ وَالاِحْتِرَامُ أَهَمُّ مِنَ اتِّبَاعِ كُلِّ اتِّجَاهٍ. (Comfort and respect matter more than following every trend.)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giving your view on fashion and identity. Explain your style, what influences it, one advantage and one disadvantage of following fashion, and a balanced conclusion.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فِي رَأْيِي … لِأَنَّهَا · وَلٰكِنَّنِي فِي المُنَاسَبَاتِ · مِنْ مَزَايَا المَوْضَةِ / مِنْ عُيُوبِهَا · عَلَى الرَّغْمِ مِنْ ذٰلِكَ (despite that — a concession with a noun).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(D2-L05 · Comparing People and Clothes — More, Less and Better) will spend class time USING this language, so students prepare it tonight — short, simple, easy to access (school guidance: “Simple, Short, Interesting, Relevant, Easy to access”). The five words come from the website D2-L05 vocabulary (comparative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D2  ·  D2-L04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Fashion and Identity — Opinions on Style and Dress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المَوْضَةُ وَالهُوِيَّةُ — آرَاءٌ حَوْلَ الأُسْلُوبِ وَاللِّبَاسِ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Give a balanced opinion about style and fashion: opinion + reason (</a:t>
            </a:r>
            <a:pPr algn="l" indent="0" marL="0">
              <a:buNone/>
            </a:pPr>
            <a:r>
              <a:rPr lang="ar-SA" altLang="en-US" sz="1800" dirty="0">
                <a:solidFill>
                  <a:srgbClr val="C6D2E6"/>
                </a:solidFill>
                <a:latin typeface="Amiri" pitchFamily="34" charset="0"/>
                <a:ea typeface="Amiri" pitchFamily="34" charset="-122"/>
                <a:cs typeface="Amiri" pitchFamily="34" charset="-120"/>
              </a:rPr>
              <a:t>فِي رَأْيِي … لِأَنَّ</a:t>
            </a:r>
            <a:pPr algn="l" indent="0" marL="0">
              <a:buNone/>
            </a:pPr>
            <a:r>
              <a:rPr lang="en-US" sz="1400" dirty="0">
                <a:solidFill>
                  <a:srgbClr val="C6D2E6"/>
                </a:solidFill>
                <a:latin typeface="Calibri" pitchFamily="34" charset="0"/>
                <a:ea typeface="Calibri" pitchFamily="34" charset="-122"/>
                <a:cs typeface="Calibri" pitchFamily="34" charset="-120"/>
              </a:rPr>
              <a:t>), contrast (</a:t>
            </a:r>
            <a:pPr algn="l" indent="0" marL="0">
              <a:buNone/>
            </a:pPr>
            <a:r>
              <a:rPr lang="ar-SA" altLang="en-US" sz="1800" dirty="0">
                <a:solidFill>
                  <a:srgbClr val="C6D2E6"/>
                </a:solidFill>
                <a:latin typeface="Amiri" pitchFamily="34" charset="0"/>
                <a:ea typeface="Amiri" pitchFamily="34" charset="-122"/>
                <a:cs typeface="Amiri" pitchFamily="34" charset="-120"/>
              </a:rPr>
              <a:t>وَلٰكِنَّ</a:t>
            </a:r>
            <a:pPr algn="l" indent="0" marL="0">
              <a:buNone/>
            </a:pPr>
            <a:r>
              <a:rPr lang="en-US" sz="1400" dirty="0">
                <a:solidFill>
                  <a:srgbClr val="C6D2E6"/>
                </a:solidFill>
                <a:latin typeface="Calibri" pitchFamily="34" charset="0"/>
                <a:ea typeface="Calibri" pitchFamily="34" charset="-122"/>
                <a:cs typeface="Calibri" pitchFamily="34" charset="-120"/>
              </a:rPr>
              <a:t>), concession (</a:t>
            </a:r>
            <a:pPr algn="l" indent="0" marL="0">
              <a:buNone/>
            </a:pPr>
            <a:r>
              <a:rPr lang="ar-SA" altLang="en-US" sz="1800" dirty="0">
                <a:solidFill>
                  <a:srgbClr val="C6D2E6"/>
                </a:solidFill>
                <a:latin typeface="Amiri" pitchFamily="34" charset="0"/>
                <a:ea typeface="Amiri" pitchFamily="34" charset="-122"/>
                <a:cs typeface="Amiri" pitchFamily="34" charset="-120"/>
              </a:rPr>
              <a:t>عَلَى الرَّغْمِ مِنْ أَنَّ … فَإِنَّ</a:t>
            </a:r>
            <a:pPr algn="l" indent="0" marL="0">
              <a:buNone/>
            </a:pPr>
            <a:r>
              <a:rPr lang="en-US" sz="1400" dirty="0">
                <a:solidFill>
                  <a:srgbClr val="C6D2E6"/>
                </a:solidFill>
                <a:latin typeface="Calibri" pitchFamily="34" charset="0"/>
                <a:ea typeface="Calibri" pitchFamily="34" charset="-122"/>
                <a:cs typeface="Calibri" pitchFamily="34" charset="-120"/>
              </a:rPr>
              <a:t>) — and judge clothes, never people.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D2-L04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D2 › D2-L04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Opinion + reason, contrast and concession.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Balance the opinion,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D2-L05.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مُحْتَشِمٌ / مُحْتَشِمَةٌ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modern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modest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تَقْلِيدِيٌّ / تَقْلِيدِيَّةٌ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traditional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elegant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simple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السُّتْرَةُ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مَقَاسُهُ؟</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ثَمَنُهَا؟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هِيَ مُتَعَاوِنَةٌ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تُسَاعِدُ الآخَرِينَ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وَلٰكِنَّهُ</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مُحْتَشِمٌ / مُحْتَشِمَةٌ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modern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modest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تَقْلِيدِيٌّ / تَقْلِيدِيَّةٌ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traditional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elegant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simple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السُّتْرَةُ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السُّتْرَةَ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السُّتْرَةُ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D2-L03: sutra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the price of a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ثَمَنُهُ؟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مَقَاسُهُ؟</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ثَمَنُهَا؟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D2-L03: bag (f.) → thamanuhā.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هِيَ مُتَعَاوِنَةٌ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تُسَاعِدُ الآخَرِينَ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وَلٰكِنَّهُ</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because she.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balanced opinion has three parts: what I think, why, and the other side.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فِي رَأْيِي</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لِأَنَّ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وَلٰكِنَّ</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D2-L04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Expressing and qualifying opinions.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my style with two adjectives.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an opinion with a reason.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contrast with “but”.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clothes express.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 concession (although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balanced conclusion about fashion.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Style adjectives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Opinion and balance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Clothing reference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المَوْضَةُ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‎فیشن‎ </a:t>
            </a:r>
            <a:pPr indent="0" marL="0">
              <a:buNone/>
            </a:pPr>
            <a:r>
              <a:rPr lang="en-US" sz="950" b="1" dirty="0">
                <a:solidFill>
                  <a:srgbClr val="2E8B57"/>
                </a:solidFill>
                <a:latin typeface="Calibri" pitchFamily="34" charset="0"/>
                <a:ea typeface="Calibri" pitchFamily="34" charset="-122"/>
                <a:cs typeface="Calibri" pitchFamily="34" charset="-120"/>
              </a:rPr>
              <a:t> fashion · fashion (both borrowed)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الذَّوْقُ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‎ذوق‎ </a:t>
            </a:r>
            <a:pPr indent="0" marL="0">
              <a:buNone/>
            </a:pPr>
            <a:r>
              <a:rPr lang="en-US" sz="950" b="1" dirty="0">
                <a:solidFill>
                  <a:srgbClr val="2E8B57"/>
                </a:solidFill>
                <a:latin typeface="Calibri" pitchFamily="34" charset="0"/>
                <a:ea typeface="Calibri" pitchFamily="34" charset="-122"/>
                <a:cs typeface="Calibri" pitchFamily="34" charset="-120"/>
              </a:rPr>
              <a:t> zauq · taste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الثَّقَافَةُ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‎ثقافت‎ </a:t>
            </a:r>
            <a:pPr indent="0" marL="0">
              <a:buNone/>
            </a:pPr>
            <a:r>
              <a:rPr lang="en-US" sz="950" b="1" dirty="0">
                <a:solidFill>
                  <a:srgbClr val="2E8B57"/>
                </a:solidFill>
                <a:latin typeface="Calibri" pitchFamily="34" charset="0"/>
                <a:ea typeface="Calibri" pitchFamily="34" charset="-122"/>
                <a:cs typeface="Calibri" pitchFamily="34" charset="-120"/>
              </a:rPr>
              <a:t> saqāfat · culture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الشَّخْصِيَّةُ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‎شخصیت‎ </a:t>
            </a:r>
            <a:pPr indent="0" marL="0">
              <a:buNone/>
            </a:pPr>
            <a:r>
              <a:rPr lang="en-US" sz="950" b="1" dirty="0">
                <a:solidFill>
                  <a:srgbClr val="2E8B57"/>
                </a:solidFill>
                <a:latin typeface="Calibri" pitchFamily="34" charset="0"/>
                <a:ea typeface="Calibri" pitchFamily="34" charset="-122"/>
                <a:cs typeface="Calibri" pitchFamily="34" charset="-120"/>
              </a:rPr>
              <a:t> shakhsiyat · personality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الاِحْتِرَامُ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‎احترام‎ </a:t>
            </a:r>
            <a:pPr indent="0" marL="0">
              <a:buNone/>
            </a:pPr>
            <a:r>
              <a:rPr lang="en-US" sz="950" b="1" dirty="0">
                <a:solidFill>
                  <a:srgbClr val="2E8B57"/>
                </a:solidFill>
                <a:latin typeface="Calibri" pitchFamily="34" charset="0"/>
                <a:ea typeface="Calibri" pitchFamily="34" charset="-122"/>
                <a:cs typeface="Calibri" pitchFamily="34" charset="-120"/>
              </a:rPr>
              <a:t> ihtirām · respect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Style adjectives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elegant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عَصْرِيٌّ / عَصْرِيَّةٌ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ʿaṣ-riy-yun / ʿaṣ-riy-ya-tun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تَقْلِيدِيٌّ / تَقْلِيدِيَّةٌ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taq-lī-diy-yun / taq-lī-diy-ya-tun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رَسْمِيٌّ / رَسْمِيَّةٌ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ras-miy-yun / ras-miy-ya-tun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رَسْمِيٍّ / غَيْرُ رَسْمِيَّةٍ</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ras-miy-yin / ghay-ru ras-miy-ya-tin</a:t>
            </a:r>
            <a:endParaRPr lang="en-US" sz="1350" dirty="0"/>
          </a:p>
        </p:txBody>
      </p:sp>
      <p:sp>
        <p:nvSpPr>
          <p:cNvPr id="94" name="Shape 9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6" name="Text 9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رَسْمِيَّةٍ</a:t>
            </a:r>
            <a:endParaRPr lang="ar-SA" sz="1500" dirty="0"/>
          </a:p>
        </p:txBody>
      </p:sp>
      <p:sp>
        <p:nvSpPr>
          <p:cNvPr id="97" name="Shape 9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9" name="Text 9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a:t>
            </a:r>
            <a:endParaRPr lang="ar-SA" sz="1500" dirty="0"/>
          </a:p>
        </p:txBody>
      </p:sp>
      <p:sp>
        <p:nvSpPr>
          <p:cNvPr id="100" name="Shape 9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1" name="Shape 98"/>
          <p:cNvSpPr/>
          <p:nvPr/>
        </p:nvSpPr>
        <p:spPr>
          <a:xfrm>
            <a:off x="566928" y="4261104"/>
            <a:ext cx="310896" cy="310896"/>
          </a:xfrm>
          <a:prstGeom prst="ellipse">
            <a:avLst/>
          </a:prstGeom>
          <a:solidFill>
            <a:srgbClr val="F4F1EA"/>
          </a:solidFill>
          <a:ln w="12700">
            <a:solidFill>
              <a:srgbClr val="F4F1EA"/>
            </a:solidFill>
            <a:prstDash val="solid"/>
          </a:ln>
        </p:spPr>
      </p:sp>
      <p:sp>
        <p:nvSpPr>
          <p:cNvPr id="102" name="Text 9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3" name="Shape 100"/>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4" name="Text 101"/>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5" name="Shape 10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6" name="Text 10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07" name="Text 10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مُحْتَشِمٌ / مُحْتَشِمَةٌ</a:t>
            </a:r>
            <a:endParaRPr lang="ar-SA" sz="3000" dirty="0"/>
          </a:p>
        </p:txBody>
      </p:sp>
      <p:sp>
        <p:nvSpPr>
          <p:cNvPr id="108" name="Text 10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muḥ-ta-shi-mun / muḥ-ta-shi-ma-tun</a:t>
            </a:r>
            <a:endParaRPr lang="en-US" sz="1350" dirty="0"/>
          </a:p>
        </p:txBody>
      </p:sp>
      <p:sp>
        <p:nvSpPr>
          <p:cNvPr id="109" name="Shape 106"/>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0" name="Text 107"/>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1" name="Text 108"/>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مُحْتَشِمُونَ</a:t>
            </a:r>
            <a:endParaRPr lang="ar-SA" sz="1500" dirty="0"/>
          </a:p>
        </p:txBody>
      </p:sp>
      <p:sp>
        <p:nvSpPr>
          <p:cNvPr id="112" name="Shape 109"/>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4" name="Text 111"/>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مُحْتَشِمَةٌ</a:t>
            </a:r>
            <a:endParaRPr lang="ar-SA" sz="1500" dirty="0"/>
          </a:p>
        </p:txBody>
      </p:sp>
      <p:sp>
        <p:nvSpPr>
          <p:cNvPr id="115" name="Shape 112"/>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7" name="Text 114"/>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a:t>
            </a:r>
            <a:endParaRPr lang="ar-SA" sz="1500" dirty="0"/>
          </a:p>
        </p:txBody>
      </p:sp>
      <p:sp>
        <p:nvSpPr>
          <p:cNvPr id="118" name="Text 11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Style adjectives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 / مُلَوَّنَةٌ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mu-law-wa-nun / mu-law-wa-na-tun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مُلَوَّنَةٌ</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بَسِيطٌ / بَسِيطَةٌ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ba-sī-ṭun / ba-sī-ṭa-tun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بُسَطَاءُ</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مُرِيحٌ / مُرِيحَةٌ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comfortable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mu-rī-ḥun / mu-rī-ḥa-tun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مُرِيحَةٌ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عَمَلِيٌّ / عَمَلِيَّةٌ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ʿa-ma-liy-yun / ʿa-ma-liy-ya-tun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عَمَلِيَّةٌ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4" name="Text 8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يُعَبِّرُ عَنْ</a:t>
            </a:r>
            <a:endParaRPr lang="ar-SA" sz="3000" dirty="0"/>
          </a:p>
        </p:txBody>
      </p:sp>
      <p:sp>
        <p:nvSpPr>
          <p:cNvPr id="85" name="Text 8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expresses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yu-ʿab-bi-ru ʿan</a:t>
            </a:r>
            <a:endParaRPr lang="en-US"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9" name="Text 8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يُنَاسِبُ</a:t>
            </a:r>
            <a:endParaRPr lang="ar-SA" sz="3000" dirty="0"/>
          </a:p>
        </p:txBody>
      </p:sp>
      <p:sp>
        <p:nvSpPr>
          <p:cNvPr id="90" name="Text 8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yu-nā-si-bu</a:t>
            </a:r>
            <a:endParaRPr lang="en-US" sz="13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and balance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and balance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خُصُوصًا</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especially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khu-ṣū-ṣan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دَائِمًا</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Clothing reference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shirt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سِرْوَالٌ</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trousers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sir-wā-lun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سَرَاوِيلُ</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السِّرْوَالُ</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skirt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tan-nū-ra-tun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تَنَانِيرُ</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التَّنُّورَةُ</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Clothing reference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فُسْتَانٌ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fus-tā-nun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فَسَاتِينُ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الفُسْتَانُ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مِعْطَفٌ</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miʿ-ṭa-fun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مَعَاطِفُ</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المِعْطَفُ</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سُتْرَةٌ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jacket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sut-ra-tun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سُتَرٌ</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السُّتْرَةُ</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حِذَاءٌ</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ḥi-dhā-ʾun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أَحْذِيَةٌ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الحِذَاءُ</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BUILD A BALANCED OPINION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 reason → but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رَأْيٌ + سَبَبٌ + مُقَابَلَةٌ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الرَّأْيُ</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opinion</a:t>
            </a:r>
            <a:endParaRPr lang="en-US" sz="900" dirty="0"/>
          </a:p>
        </p:txBody>
      </p:sp>
      <p:sp>
        <p:nvSpPr>
          <p:cNvPr id="19" name="Shape 16"/>
          <p:cNvSpPr/>
          <p:nvPr/>
        </p:nvSpPr>
        <p:spPr>
          <a:xfrm>
            <a:off x="6336792" y="1810512"/>
            <a:ext cx="2642616"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السَّبَبُ</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reason</a:t>
            </a:r>
            <a:endParaRPr lang="en-US" sz="900" dirty="0"/>
          </a:p>
        </p:txBody>
      </p:sp>
      <p:sp>
        <p:nvSpPr>
          <p:cNvPr id="22" name="Shape 19"/>
          <p:cNvSpPr/>
          <p:nvPr/>
        </p:nvSpPr>
        <p:spPr>
          <a:xfrm>
            <a:off x="3584448" y="1810512"/>
            <a:ext cx="2642616" cy="566928"/>
          </a:xfrm>
          <a:prstGeom prst="roundRect">
            <a:avLst>
              <a:gd name="adj" fmla="val 9677"/>
            </a:avLst>
          </a:prstGeom>
          <a:solidFill>
            <a:srgbClr val="6B4C9A"/>
          </a:solidFill>
          <a:ln w="12700">
            <a:solidFill>
              <a:srgbClr val="6B4C9A"/>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المُقَابَلَةُ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contrast</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In my opinion, simple clothes are better because they are practical, but I like elegant clothes on special occasions.</a:t>
            </a:r>
            <a:endParaRPr lang="en-US" sz="120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34" charset="0"/>
                <a:ea typeface="Amiri" pitchFamily="34" charset="-122"/>
                <a:cs typeface="Amiri" pitchFamily="34" charset="-120"/>
              </a:rPr>
              <a:t>فِي رَأْيِي</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المَلَابِسُ البَسِيطَةُ أَفْضَلُ</a:t>
            </a:r>
            <a:endParaRPr lang="ar-SA" sz="1700" dirty="0"/>
          </a:p>
        </p:txBody>
      </p:sp>
      <p:sp>
        <p:nvSpPr>
          <p:cNvPr id="28" name="Shape 25"/>
          <p:cNvSpPr/>
          <p:nvPr/>
        </p:nvSpPr>
        <p:spPr>
          <a:xfrm>
            <a:off x="6336792" y="2487168"/>
            <a:ext cx="2642616" cy="822960"/>
          </a:xfrm>
          <a:prstGeom prst="roundRect">
            <a:avLst>
              <a:gd name="adj" fmla="val 6667"/>
            </a:avLst>
          </a:prstGeom>
          <a:solidFill>
            <a:srgbClr val="E8F4EC"/>
          </a:solidFill>
          <a:ln w="9525">
            <a:solidFill>
              <a:srgbClr val="E8F4EC"/>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لِأَنَّهَا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عَمَلِيَّةٌ،</a:t>
            </a:r>
            <a:endParaRPr lang="ar-SA" sz="2400" dirty="0"/>
          </a:p>
        </p:txBody>
      </p:sp>
      <p:sp>
        <p:nvSpPr>
          <p:cNvPr id="30" name="Shape 27"/>
          <p:cNvSpPr/>
          <p:nvPr/>
        </p:nvSpPr>
        <p:spPr>
          <a:xfrm>
            <a:off x="3584448" y="2487168"/>
            <a:ext cx="2642616" cy="822960"/>
          </a:xfrm>
          <a:prstGeom prst="roundRect">
            <a:avLst>
              <a:gd name="adj" fmla="val 6667"/>
            </a:avLst>
          </a:prstGeom>
          <a:solidFill>
            <a:srgbClr val="F1ECF7"/>
          </a:solidFill>
          <a:ln w="9525">
            <a:solidFill>
              <a:srgbClr val="F1ECF7"/>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وَلٰكِنَّنِي</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أُحِبُّ المَلَابِسَ الأَنِيقَةَ فِي المُنَاسَبَاتِ.</a:t>
            </a:r>
            <a:endParaRPr lang="ar-SA" sz="1550" dirty="0"/>
          </a:p>
        </p:txBody>
      </p:sp>
      <p:sp>
        <p:nvSpPr>
          <p:cNvPr id="32" name="Text 29"/>
          <p:cNvSpPr txBox="1"/>
          <p:nvPr/>
        </p:nvSpPr>
        <p:spPr>
          <a:xfrm>
            <a:off x="457200" y="3419856"/>
            <a:ext cx="2926080" cy="82296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 prefer calm colours because they suit school, but I wear bright colours at weddings.</a:t>
            </a:r>
            <a:endParaRPr lang="en-US" sz="1200" dirty="0"/>
          </a:p>
        </p:txBody>
      </p:sp>
      <p:sp>
        <p:nvSpPr>
          <p:cNvPr id="33" name="Shape 30"/>
          <p:cNvSpPr/>
          <p:nvPr/>
        </p:nvSpPr>
        <p:spPr>
          <a:xfrm>
            <a:off x="9089136" y="3419856"/>
            <a:ext cx="2642616" cy="822960"/>
          </a:xfrm>
          <a:prstGeom prst="roundRect">
            <a:avLst>
              <a:gd name="adj" fmla="val 6667"/>
            </a:avLst>
          </a:prstGeom>
          <a:solidFill>
            <a:srgbClr val="EEF3FA"/>
          </a:solidFill>
          <a:ln w="9525">
            <a:solidFill>
              <a:srgbClr val="EEF3FA"/>
            </a:solidFill>
            <a:prstDash val="solid"/>
          </a:ln>
        </p:spPr>
      </p:sp>
      <p:sp>
        <p:nvSpPr>
          <p:cNvPr id="34" name="Text 31"/>
          <p:cNvSpPr txBox="1"/>
          <p:nvPr/>
        </p:nvSpPr>
        <p:spPr>
          <a:xfrm>
            <a:off x="9162288"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أُفَضِّلُ الأَلْوَانَ الهَادِئَةَ</a:t>
            </a:r>
            <a:endParaRPr lang="ar-SA" sz="2400" dirty="0"/>
          </a:p>
        </p:txBody>
      </p:sp>
      <p:sp>
        <p:nvSpPr>
          <p:cNvPr id="35" name="Shape 32"/>
          <p:cNvSpPr/>
          <p:nvPr/>
        </p:nvSpPr>
        <p:spPr>
          <a:xfrm>
            <a:off x="6336792" y="3419856"/>
            <a:ext cx="2642616" cy="822960"/>
          </a:xfrm>
          <a:prstGeom prst="roundRect">
            <a:avLst>
              <a:gd name="adj" fmla="val 6667"/>
            </a:avLst>
          </a:prstGeom>
          <a:solidFill>
            <a:srgbClr val="E8F4EC"/>
          </a:solidFill>
          <a:ln w="9525">
            <a:solidFill>
              <a:srgbClr val="E8F4EC"/>
            </a:solidFill>
            <a:prstDash val="solid"/>
          </a:ln>
        </p:spPr>
      </p:sp>
      <p:sp>
        <p:nvSpPr>
          <p:cNvPr id="36" name="Text 33"/>
          <p:cNvSpPr txBox="1"/>
          <p:nvPr/>
        </p:nvSpPr>
        <p:spPr>
          <a:xfrm>
            <a:off x="6409944" y="3419856"/>
            <a:ext cx="2496312" cy="82296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لِأَنَّهَا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تُنَاسِبُ المَدْرَسَةَ،</a:t>
            </a:r>
            <a:endParaRPr lang="ar-SA" sz="2400" dirty="0"/>
          </a:p>
        </p:txBody>
      </p:sp>
      <p:sp>
        <p:nvSpPr>
          <p:cNvPr id="37" name="Shape 34"/>
          <p:cNvSpPr/>
          <p:nvPr/>
        </p:nvSpPr>
        <p:spPr>
          <a:xfrm>
            <a:off x="3584448" y="3419856"/>
            <a:ext cx="2642616" cy="822960"/>
          </a:xfrm>
          <a:prstGeom prst="roundRect">
            <a:avLst>
              <a:gd name="adj" fmla="val 6667"/>
            </a:avLst>
          </a:prstGeom>
          <a:solidFill>
            <a:srgbClr val="F1ECF7"/>
          </a:solidFill>
          <a:ln w="9525">
            <a:solidFill>
              <a:srgbClr val="F1ECF7"/>
            </a:solidFill>
            <a:prstDash val="solid"/>
          </a:ln>
        </p:spPr>
      </p:sp>
      <p:sp>
        <p:nvSpPr>
          <p:cNvPr id="38" name="Text 35"/>
          <p:cNvSpPr txBox="1"/>
          <p:nvPr/>
        </p:nvSpPr>
        <p:spPr>
          <a:xfrm>
            <a:off x="3657600" y="3419856"/>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وَلٰكِنَّنِي</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أَلْبَسُ أَلْوَانًا زَاهِيَةً فِي الأَعْرَاسِ.</a:t>
            </a:r>
            <a:endParaRPr lang="ar-SA" sz="1550" dirty="0"/>
          </a:p>
        </p:txBody>
      </p:sp>
      <p:sp>
        <p:nvSpPr>
          <p:cNvPr id="39" name="Text 36"/>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Clothes and colours are plural THINGS → “because they” = li-annahā (feminine singular).</a:t>
            </a:r>
            <a:endParaRPr lang="en-US"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CONCESSION, EXPRESSION AND RESPECT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Although … · it expresses … · respectfully</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عَلَى الرَّغْمِ مِنْ أَنَّ · يُعَبِّرُ عَنْ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CONCESSION · STRETCH</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550" b="1" dirty="0">
                <a:solidFill>
                  <a:srgbClr val="8A6D1E"/>
                </a:solidFill>
                <a:latin typeface="Amiri" pitchFamily="34" charset="0"/>
                <a:ea typeface="Amiri" pitchFamily="34" charset="-122"/>
                <a:cs typeface="Amiri" pitchFamily="34" charset="-120"/>
              </a:rPr>
              <a:t>عَلَى الرَّغْمِ مِنْ أَنَّ … فَإِنَّ</a:t>
            </a:r>
            <a:endParaRPr lang="ar-SA" sz="155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عَلَى الرَّغْمِ مِنْ أَنَّ المَوْضَةَ مُهِمَّةٌ، فَإِنَّ الرَّاحَةَ أَهَمُّ.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Although fashion is important, comfort is more important.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other side first, then yours.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EXPRESSION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يُعَبِّرُ عَنْ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أُسْلُوبُهَا يُعَبِّرُ عَنْ ذَوْقِهَا.</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Her style expresses her taste.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Her style / her taste: both -hā.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RESPECT · CORE</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عَنِ المَلَابِسِ لَا عَنِ النَّاسِ</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أُسْلُوبُهُ مُخْتَلِفٌ، وَيُعَبِّرُ عَنْ ذَوْقِهِ.</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His style is different, and it expresses his taste.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Judge the clothes, not the person.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value: do not treat style as proof of personality.</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أُسْلُوبُهَا مُخْتَلِفٌ وَيُعَبِّرُ عَنْ ذَوْقِهَا.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هِيَ سَيِّئَةٌ لِأَنَّ فُسْتَانَهَا أَحْمَرُ.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Expressing and qualifying opinions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التَّعْبِيرُ عَنِ الرَّأْيِ وَتَقْيِيدُهُ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Opinion plus reason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رَأْيِي ... لِأَنَّ ...</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رَأْيِي، المَلَابِسُ البَسِيطَةُ أَفْضَلُ لِأَنَّهَا عَمَلِيَّةٌ.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Contrast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أُفَضِّلُ ... وَلٰكِنَّ ...</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أُفَضِّلُ الأَلْوَانَ الهَادِئَةَ، وَلٰكِنَّنِي أَلْبَسُ أَلْوَانًا زَاهِيَةً فِي المُنَاسَبَاتِ.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Concession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عَلَى الرَّغْمِ مِنْ أَنَّ ... فَإِنَّ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عَلَى الرَّغْمِ مِنْ أَنَّ المَوْضَةَ مُهِمَّةٌ، فَإِنَّ الرَّاحَةَ أَهَمُّ.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Identity and expression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الأُسْلُوبُ يُعَبِّرُ عَنْ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أُسْلُوبُهَا يُعَبِّرُ عَنْ شَخْصِيَّتِهَا.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يُعَبِّرُ عَنْ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compares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expresses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الرَّاحَةُ ___ مِنَ اتِّبَاعِ المَوْضَةِ.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أَهَمُّ</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softens an opinion?</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دَائِمًا وَبِدُونِ اسْتِثْنَاءٍ</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الأَحْيَانِ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شَكَّ أَبَدًا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reference.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أُسْلُوبُهَا يُعَبِّرُ عَنْ شَخْصِيَّتِهَا.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أُسْلُوبُهُ يُعَبِّرُ عَنْ شَخْصِيَّتِهَا.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أُسْلُوبُهَا تُعَبِّرُ عَنْ شَخْصِيَّتِهِ.</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يُعَبِّرُ عَنْ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compares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expresses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means expresses.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الرَّاحَةُ ___ مِنَ اتِّبَاعِ المَوْضَةِ.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أَهَمُّ</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comparative pattern is </a:t>
            </a:r>
            <a:pPr algn="l" indent="0" marL="0">
              <a:buNone/>
            </a:pPr>
            <a:r>
              <a:rPr lang="ar-SA" altLang="en-US" sz="1350" dirty="0">
                <a:solidFill>
                  <a:srgbClr val="8A6D1E"/>
                </a:solidFill>
                <a:latin typeface="Amiri" pitchFamily="34" charset="0"/>
                <a:ea typeface="Amiri" pitchFamily="34" charset="-122"/>
                <a:cs typeface="Amiri" pitchFamily="34" charset="-120"/>
              </a:rPr>
              <a:t>أَهَمُّ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softens an opinion?</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دَائِمًا وَبِدُونِ اسْتِثْنَاءٍ</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الأَحْيَانِ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شَكَّ أَبَدًا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avoids over-generalisation.</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reference.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أُسْلُوبُهَا يُعَبِّرُ عَنْ شَخْصِيَّتِهَا.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أُسْلُوبُهُ يُعَبِّرُ عَنْ شَخْصِيَّتِهَا.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أُسْلُوبُهَا تُعَبِّرُ عَنْ شَخْصِيَّتِهِ.</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 references are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give a balanced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My style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أُسْلُوبِي بَسِيطٌ وَمُحْتَشِمٌ.</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style adjectives.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Opinion + 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فِي رَأْيِي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الرَّاحَةُ مُهِمَّةٌ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لِأَنَّنِي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أَتَحَرَّكُ كَثِيرًا.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Why? Because I …</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وَلٰكِنَّنِي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أَلْبَسُ مَلَابِسَ أَنِيقَةً فِي المُنَاسَبَاتِ.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other side.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Concession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عَلَى الرَّغْمِ مِنْ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المَوْضَةَ مُمْتِعَةٌ،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فَإِنَّ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الرَّاحَةَ أَهَمُّ.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Balanced conclusion.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OPINION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REASON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 / CONCESSION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أُسْلُوبِي بَسِيطٌ وَمُحْتَشِمٌ.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رَأْيِي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الرَّاحَةُ مُهِمَّةٌ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لِأَنَّنِي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أَتَحَرَّكُ كَثِيرًا فِي المَدْرَسَةِ،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وَلٰكِنَّنِي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أَلْبَسُ مَلَابِسَ أَنِيقَةً فِي المُنَاسَبَاتِ.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عَلَى الرَّغْمِ مِنْ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المَوْضَةَ مُمْتِعَةٌ،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فَإِنَّ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الرَّاحَةَ أَهَمُّ.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style is simple and modest. In my opinion, comfort is important because I move around a lot at school, but I wear elegant clothes on special occasions. Although fashion is fun, comfort is more important.</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رَأْيِي، المَلَابِسُ البَسِيطَةُ أَفْضَلُ لِأَنَّهَا عَمَلِيَّةٌ.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my opinion, simple clothes are better because they are practical.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Opinion + reason.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أُفَضِّلُ الأَلْوَانَ الهَادِئَةَ، وَلٰكِنَّنِي أَلْبَسُ أَلْوَانًا زَاهِيَةً فِي المُنَاسَبَاتِ.</a:t>
            </a:r>
            <a:endParaRPr lang="ar-SA" sz="21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calm colours, but I wear bright colours on special occasions.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Contrast.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عَلَى الرَّغْمِ مِنْ أَنَّ المَوْضَةَ مُهِمَّةٌ، فَإِنَّ الرَّاحَةَ أَهَمُّ.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Although fashion is important, comfort is more important.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Concession.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أُسْلُوبُهَا يُعَبِّرُ عَنْ شَخْصِيَّتِهَا.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Her style expresses her personality.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Identity and expression.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WHICH OPINION IS BALANCED AND RESPECTFUL?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Upgrade the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رَأْيٌ مُتَوَازِنٌ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developed opinion?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فِي رَأْيِي، المَلَابِسُ البَسِيطَةُ أَفْضَلُ لِأَنَّهَا عَمَلِيَّةٌ.</a:t>
            </a:r>
            <a:endParaRPr lang="ar-SA" sz="14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المَلَابِسُ البَسِيطَةُ.</a:t>
            </a:r>
            <a:endParaRPr lang="ar-SA" sz="14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لِأَنَّهَا عَمَلِيَّةٌ.</a:t>
            </a:r>
            <a:endParaRPr lang="ar-SA" sz="140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adds a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أُحِبُّ المَوْضَةَ، لِأَنَّنِي لَا أَتْبَعُ كُلَّ اتِّجَاهٍ.</a:t>
            </a:r>
            <a:endParaRPr lang="ar-SA" sz="16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أُحِبُّ المَوْضَةَ، وَلٰكِنَّنِي لَا أَتْبَعُ كُلَّ اتِّجَاهٍ.</a:t>
            </a:r>
            <a:endParaRPr lang="ar-SA" sz="16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أُحِبُّ المَوْضَةَ ثُمَّ.</a:t>
            </a:r>
            <a:endParaRPr lang="ar-SA" sz="16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complete concession?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عَلَى الرَّغْمِ مِنْ أَنَّهُ غَالٍ، فَإِنَّهُ جَيِّدُ الجَوْدَةِ.</a:t>
            </a:r>
            <a:endParaRPr lang="ar-SA" sz="15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لِأَنَّهُ غَالٍ فَإِنَّهُ.</a:t>
            </a:r>
            <a:endParaRPr lang="ar-SA" sz="15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عَلَى الرَّغْمِ غَالٍ.</a:t>
            </a:r>
            <a:endParaRPr lang="ar-SA" sz="15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judgement is respectful?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هِيَ سَيِّئَةٌ لِأَنَّ فُسْتَانَهَا أَحْمَرُ.</a:t>
            </a:r>
            <a:endParaRPr lang="ar-SA" sz="20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كُلُّ مَنْ يَلْبَسُ الأَسْوَدَ حَزِينٌ.</a:t>
            </a:r>
            <a:endParaRPr lang="ar-SA" sz="20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أُسْلُوبُهَا مُخْتَلِفٌ وَيُعَبِّرُ عَنْ ذَوْقِهَا.</a:t>
            </a:r>
            <a:endParaRPr lang="ar-SA" sz="200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A strong opinion: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what I think + because …</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Stretch: + but … / although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Upgrade the opinion: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developed opinion?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فِي رَأْيِي، المَلَابِسُ البَسِيطَةُ أَفْضَلُ لِأَنَّهَا عَمَلِيَّةٌ.</a:t>
            </a:r>
            <a:endParaRPr lang="ar-SA" sz="14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المَلَابِسُ البَسِيطَةُ.</a:t>
            </a:r>
            <a:endParaRPr lang="ar-SA" sz="14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لِأَنَّهَا عَمَلِيَّةٌ.</a:t>
            </a:r>
            <a:endParaRPr lang="ar-SA" sz="14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Opinion + reason.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adds a contrast?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أُحِبُّ المَوْضَةَ، لِأَنَّنِي لَا أَتْبَعُ كُلَّ اتِّجَاهٍ.</a:t>
            </a:r>
            <a:endParaRPr lang="ar-SA" sz="16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أُحِبُّ المَوْضَةَ، وَلٰكِنَّنِي لَا أَتْبَعُ كُلَّ اتِّجَاهٍ.</a:t>
            </a:r>
            <a:endParaRPr lang="ar-SA" sz="16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أُحِبُّ المَوْضَةَ ثُمَّ.</a:t>
            </a:r>
            <a:endParaRPr lang="ar-SA" sz="16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“but” = wa-lākinna.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complete concession?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عَلَى الرَّغْمِ مِنْ أَنَّهُ غَالٍ، فَإِنَّهُ جَيِّدُ الجَوْدَةِ.</a:t>
            </a:r>
            <a:endParaRPr lang="ar-SA" sz="15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لِأَنَّهُ غَالٍ فَإِنَّهُ.</a:t>
            </a:r>
            <a:endParaRPr lang="ar-SA" sz="15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عَلَى الرَّغْمِ غَالٍ.</a:t>
            </a:r>
            <a:endParaRPr lang="ar-SA" sz="15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Although … , (fa-inna) …</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judgement is respectful?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سَيِّئَةٌ لِأَنَّ فُسْتَانَهَا أَحْمَرُ.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مَنْ يَلْبَسُ الأَسْوَدَ حَزِينٌ.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أُسْلُوبُهَا مُخْتَلِفٌ وَيُعَبِّرُ عَنْ ذَوْقِهَا.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Judge the style, not the person.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A strong opinion: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what I think + because …</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Stretch: + but … / although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Balanced and respectful?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فِي رَأْيِي، هٰذَا الأُسْلُوبُ مُنَاسِبٌ لِأَنَّهُ مُرِيحٌ.</a:t>
            </a:r>
            <a:endParaRPr lang="ar-SA" sz="13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أُحِبُّ المَوْضَةَ، وَلٰكِنَّنِي لَا أَتْبَعُ كُلَّ اتِّجَاهٍ.</a:t>
            </a:r>
            <a:endParaRPr lang="ar-SA" sz="13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عَلَى الرَّغْمِ مِنْ أَنَّهُ غَالٍ، فَإِنَّهُ جَيِّدُ الجَوْدَةِ.</a:t>
            </a:r>
            <a:endParaRPr lang="ar-SA" sz="13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أُسْلُوبُهَا يُعَبِّرُ عَنْ ذَوْقِهَا.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الأُسْلُوبُ.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 غَالٍ فَإِنَّهُ.</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سَيِّئَةٌ لِأَنَّ فُسْتَانَهَا أَحْمَرُ.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 مَنْ يَلْبَسُ الأَسْوَدَ حَزِينٌ.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Complete and respectful</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Incomplete or unfair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Complete and respectful</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رَأْيِي، هٰذَا الأُسْلُوبُ مُنَاسِبٌ لِأَنَّهُ مُرِيحٌ.</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أُحِبُّ المَوْضَةَ، وَلٰكِنَّنِي لَا أَتْبَعُ كُلَّ اتِّجَاهٍ.</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أَنَّهُ غَالٍ، فَإِنَّهُ جَيِّدُ الجَوْدَةِ.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أُسْلُوبُهَا يُعَبِّرُ عَنْ ذَوْقِهَا.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Incomplete or unfair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الأُسْلُوبُ.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 غَالٍ فَإِنَّهُ.</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سَيِّئَةٌ لِأَنَّ فُسْتَانَهَا أَحْمَرُ.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كُلُّ مَنْ يَلْبَسُ الأَسْوَدَ حَزِينٌ.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الأُسْلُوبُ.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there an opinion AND a reason?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المَوْضَةَ، لِأَنَّنِي لَا أَتْبَعُ كُلَّ اتِّجَاهٍ.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Contrast: because or but?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لِأَنَّهُ غَالٍ فَإِنَّهُ.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Although … then what?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الأُسْلُوبُ.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رَأْيِي، هٰذَا الأُسْلُوبُ مُنَاسِبٌ لِأَنَّهُ مُرِيحٌ.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Give an opinion AND a reason.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أُحِبُّ المَوْضَةَ، لِأَنَّنِي لَا أَتْبَعُ كُلَّ اتِّجَاهٍ.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المَوْضَةَ، وَلٰكِنَّنِي لَا أَتْبَعُ كُلَّ اتِّجَاهٍ.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contrast needs “but”, not “because”.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لِأَنَّهُ غَالٍ فَإِنَّهُ.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34" charset="0"/>
                <a:ea typeface="Amiri" pitchFamily="34" charset="-122"/>
                <a:cs typeface="Amiri" pitchFamily="34" charset="-120"/>
              </a:rPr>
              <a:t>عَلَى الرَّغْمِ مِنْ أَنَّهُ غَالٍ، فَإِنَّهُ جَيِّدُ الجَوْدَةِ.</a:t>
            </a:r>
            <a:endParaRPr lang="ar-SA" sz="23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Complete the concession pattern.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Listening focus: fashion and identity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style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Reem’s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sister’s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teacher’s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clothes does she prefer?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elegant and formal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colourful and modern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simple and comfortable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cheap</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mother chooses them</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goes to school and moves around a lot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wear on special occasions?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elegant dress and a colourful headscarf</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school uniform</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jeans and a T-shirt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her opinion, personal style expresses …</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wealth</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taste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style NOT tell us?</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everything about personality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anything at all</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person’s taste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البَسِيطَةَ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المُنَاسَبَاتِ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الذَّوْقِ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تَتَحَدَّثُ رِيمُ عَنْ أُسْلُوبِهَا.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Reem is talking about her style.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تَقُولُ إِنَّهَا تُفَضِّلُ المَلَابِسَ البَسِيطَةَ وَالمُرِيحَةَ،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says that she prefers simple, comfortable clothes,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لِأَنَّهَا تَذْهَبُ إِلَى المَدْرَسَةِ وَتَتَحَرَّكُ كَثِيرًا.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she goes to school and moves around a 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وَلٰكِنَّهَا فِي المُنَاسَبَاتِ تَرْتَدِي فُسْتَانًا أَنِيقًا وَحِجَابًا مُلَوَّنًا.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on special occasions she wears an elegant dress and a colourful headscarf.</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رَأْيِهَا، الأُسْلُوبُ الشَّخْصِيُّ يُعَبِّرُ عَنِ الذَّوْقِ، وَلٰكِنَّهُ لَا يُخْبِرُنَا بِكُلِّ شَيْءٍ عَنِ الشَّخْصِيَّةِ.</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her opinion, personal style expresses taste, but it does not tell us everything about personality.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style is described?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Reem’s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sister’s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teacher’s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تَتَحَدَّثُ رِيمُ عَنْ أُسْلُوبِهَا.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clothes does she prefer?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elegant and formal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colourful and modern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simple and comfortable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المَلَابِسَ البَسِيطَةَ وَالمُرِيحَةَ.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cheap</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mother chooses them</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goes to school and moves around a lot</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لِأَنَّهَا تَذْهَبُ إِلَى المَدْرَسَةِ وَتَتَحَرَّكُ كَثِيرًا.</a:t>
            </a:r>
            <a:endParaRPr lang="ar-SA" sz="130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wear on special occasions?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an elegant dress and a colourful headscarf</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school uniform</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jeans and a T-shirt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فُسْتَانًا أَنِيقًا وَحِجَابًا مُلَوَّنًا.</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her opinion, personal style expresses …</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wealth</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taste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age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يُعَبِّرُ عَنِ الذَّوْقِ.</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style NOT tell us?</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everything about personality</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anything at all</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person’s taste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يُخْبِرُنَا بِكُلِّ شَيْءٍ عَنِ الشَّخْصِيَّةِ.</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البَسِيطَةَ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المُنَاسَبَاتِ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الذَّوْقِ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Developed speaking: fashion and identity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أُسْلُوبُكَ الشَّخْصِيُّ؟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المَوْضَةُ مُهِمَّةٌ لِلشَّبَابِ؟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الرَّاحَةُ أَمِ الأَنَاقَةُ؟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تُعَبِّرُ المَلَابِسُ عَنِ الهُوِيَّةِ؟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أُسْلُوبِي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رَأْيِي ، المَوْضَةُ ___ لِأَنَّ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أَهَمُّ مِنْ ___ ، وَلٰكِنَّ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الرَّغْمِ مِنْ أَنَّ ___ ، فَإِنَّ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تَتْبَعُ المَوْضَةَ؟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follow fashion?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أَتَابِعُ بَعْضَ الأَفْكَارِ، وَلٰكِنَّنِي أَخْتَارُ مَا يُنَاسِبُنِي.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follow some ideas, but I choose what suits me.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style: two style adjectives, what you wear to school and on special occasions, one opinion + reason.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style and what influences it, one advantage of fashion and a contrast (but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style, influences, one advantage and one disadvantage of fashion, a concession and a balanced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 وَلٰكِنَّنِي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but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أُسْلُوبِي يُعَبِّرُ عَنْ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style expresses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مَزَايَا المَوْضَةِ أَنَّهَا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advantage of fashion is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وَمِنْ عُيُوبِهَا أَنَّهَا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disadvantage is that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______ ، فَإِنَّ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أُسْلُوبِي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style is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المَدْرَسَةِ أَلْبَسُ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school I wear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المُنَاسَبَاتِ أَلْبَسُ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special occasions I wear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______ لِأَنَّ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المَلَابِسَ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clothes.</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أَنِيقٌ  ·  عَصْرِيٌّ  ·  تَقْلِيدِيٌّ  ·  بَسِيطٌ  ·  مُحْتَشِمٌ  ·  مُرِيحٌ  ·  فِي رَأْيِي  ·  لِأَنَّ  ·  وَلٰكِنَّنِي  ·  عَلَى الرَّغْمِ مِنْ أَنَّ  ·  يُعَبِّرُ عَنْ  ·  الذَّوْقُ</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giving your view on fashion and identity. Explain your style, what influences it, one advantage and one disadvantage of following fashion, and a balanced conclusion.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المَلَابِسُ جُزْءٌ مِنَ الهُوِيَّةِ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clothes are part of identity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تُعَبِّرُ عَنْ ذَوْقِنَا وَثَقَافَتِنَا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express our taste and culture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مَزَايَا المَوْضَةِ … وَمِنْ عُيُوبِهَا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advantage of fashion … one disadvantage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سَرِيعَةُ التَّغَيُّرِ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quick to change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الأَهَمُّ هُوَ اخْتِيَارُ مَا يُنَاسِبُنَا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most important thing is choosing what suits us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رَأْيِي، المَلَابِسُ جُزْءٌ مِنَ الهُوِيَّةِ، لِأَنَّهَا قَدْ تُعَبِّرُ عَنْ ذَوْقِنَا وَثَقَافَتِنَا. أَنَا أُفَضِّلُ الأُسْلُوبَ البَسِيطَ وَالمُحْتَشِمَ، وَأَخْتَارُ عَادَةً مَلَابِسَ مُرِيحَةً وَعَمَلِيَّةً. وَلٰكِنَّنِي فِي المُنَاسَبَاتِ أُحِبُّ أَنْ أَرْتَدِيَ مَلَابِسَ أَكْثَرَ أَنَاقَةً. مِنْ مَزَايَا المَوْضَةِ أَنَّهَا تُقَدِّمُ أَفْكَارًا جَدِيدَةً، وَلٰكِنَّ مِنْ عُيُوبِهَا أَنَّهَا قَدْ تَكُونُ غَالِيَةً وَسَرِيعَةَ التَّغَيُّرِ. عَلَى الرَّغْمِ مِنْ ذٰلِكَ، أَرَى أَنَّ الأَهَمَّ هُوَ اخْتِيَارُ مَا يُنَاسِبُنَا.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my opinion, clothes are part of identity, because they can express our taste and culture. I prefer a simple, modest style, and I usually choose comfortable, practical clothes. But on special occasions I like to wear more elegant clothes. One advantage of fashion is that it offers new ideas, but one of its disadvantages is that it can be expensive and quick to change. Despite that, I think the most important thing is choosing what suits us.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with a reason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concession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my style with two adjectives.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opinion has a reason (because).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contrast with “but”.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judged clothes, not people.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“although …” and wrote a balanced conclusion.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developed opinion.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رَأْيِي، هٰذَا الأُسْلُوبُ مُنَاسِبٌ لِأَنَّهُ مُرِيحٌ.</a:t>
            </a:r>
            <a:endParaRPr lang="ar-SA" sz="15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هٰذَا الأُسْلُوبُ.</a:t>
            </a:r>
            <a:endParaRPr lang="ar-SA" sz="15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لِأَنَّهُ مُرِيحٌ.</a:t>
            </a:r>
            <a:endParaRPr lang="ar-SA" sz="15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المَوْضَةَ،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لَا أَتْبَعُ كُلَّ اتِّجَاهٍ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وَلٰكِنَّنِي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concession.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عَلَى الرَّغْمِ مِنْ أَنَّهُ غَالٍ، فَإِنَّهُ جَيِّدُ الجَوْدَةِ.</a:t>
            </a:r>
            <a:endParaRPr lang="ar-SA" sz="15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لِأَنَّهُ غَالٍ فَإِنَّهُ.</a:t>
            </a:r>
            <a:endParaRPr lang="ar-SA" sz="15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هُوَ غَالٍ ثُمَّ.</a:t>
            </a:r>
            <a:endParaRPr lang="ar-SA" sz="15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developed opinion.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فِي رَأْيِي، هٰذَا الأُسْلُوبُ مُنَاسِبٌ لِأَنَّهُ مُرِيحٌ.</a:t>
            </a:r>
            <a:endParaRPr lang="ar-SA" sz="15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هٰذَا الأُسْلُوبُ.</a:t>
            </a:r>
            <a:endParaRPr lang="ar-SA" sz="15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لِأَنَّهُ مُرِيحٌ.</a:t>
            </a:r>
            <a:endParaRPr lang="ar-SA" sz="15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gives opinion and reason.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المَوْضَةَ،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لَا أَتْبَعُ كُلَّ اتِّجَاهٍ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لِأَنَّنِي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وَلٰكِنَّنِي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contrast is required.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concession.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عَلَى الرَّغْمِ مِنْ أَنَّهُ غَالٍ، فَإِنَّهُ جَيِّدُ الجَوْدَةِ.</a:t>
            </a:r>
            <a:endParaRPr lang="ar-SA" sz="15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لِأَنَّهُ غَالٍ فَإِنَّهُ.</a:t>
            </a:r>
            <a:endParaRPr lang="ar-SA" sz="15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هُوَ غَالٍ ثُمَّ.</a:t>
            </a:r>
            <a:endParaRPr lang="ar-SA" sz="15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a complete concession pattern.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focus: fashion and identity</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مَقَالٌ قَصِيرٌ: يَظُنُّ بَعْضُ الشَّبَابِ أَنَّ اتِّبَاعَ المَوْضَةِ ضَرُورِيٌّ، بَيْنَمَا يُفَضِّلُ آخَرُونَ أَنْ يَخْتَارُوا مَا هُوَ مُرِيحٌ وَمُنَاسِبٌ لَهُمْ. عَلَى الرَّغْمِ مِنْ أَنَّ المَلَابِسَ قَدْ تُعَبِّرُ عَنْ جُزْءٍ مِنَ الهُوِيَّةِ، فَإِنَّهَا لَا تَكْفِي لِلْحُكْمِ عَلَى شَخْصِيَّةِ أَحَدٍ. الأُسْلُوبُ الجَيِّدُ فِي رَأْيِي يَجْمَعُ بَيْنَ الرَّاحَةِ وَالاِحْتِرَامِ وَالذَّوْقِ الشَّخْصِيِّ.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مَقَالٌ قَصِيرٌ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short article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يَظُنُّ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think(s)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اتِّبَاعَ المَوْضَةِ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following fashion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ضَرُورِيٌّ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necessary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آخَرُونَ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others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يَخْتَارُوا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choose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جُزْءٍ مِنَ الهُوِيَّةِ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part of identity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تَكْفِي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are not enough</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لِلْحُكْمِ عَلَى</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judge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يَجْمَعُ بَيْنَ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combines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text is this?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advert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article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letter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young people think?</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fashion is boring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clothes should be cheap</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following fashion is necessary</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others prefer?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choosing what is comfortable and suitable for them</a:t>
            </a:r>
            <a:endParaRPr lang="en-US" sz="110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buying designer clothes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wearing a uniform</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According to the text, clothes can …</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 someone’s whole personality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express part of identity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make people rich</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Are clothes enough to judge someone’s character?</a:t>
            </a:r>
            <a:endParaRPr lang="en-US" sz="120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formal clothes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Good style, in the writer’s opinion, combines …</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fashion and price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colour and size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comfort, respect and personal taste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text is this?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advert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short article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letter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مَقَالٌ قَصِيرٌ.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some young people think?</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fashion is boring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clothes should be cheap</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following fashion is necessary</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اتِّبَاعَ المَوْضَةِ ضَرُورِيٌّ.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others prefer?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choosing what is comfortable and suitable for them</a:t>
            </a:r>
            <a:endParaRPr lang="en-US" sz="110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buying designer clothes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wearing a uniform</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مَا هُوَ مُرِيحٌ وَمُنَاسِبٌ لَهُمْ.</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According to the text, clothes can …</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show someone’s whole personality</a:t>
            </a:r>
            <a:endParaRPr lang="en-US" sz="11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express part of identity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make people rich</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 تُعَبِّرُ عَنْ جُزْءٍ مِنَ الهُوِيَّةِ.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Are clothes enough to judge someone’s character?</a:t>
            </a:r>
            <a:endParaRPr lang="en-US" sz="120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formal clothes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تَكْفِي لِلْحُكْمِ عَلَى شَخْصِيَّةِ أَحَدٍ.</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Good style, in the writer’s opinion, combines …</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fashion and price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colour and size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comfort, respect and personal taste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يَجْمَعُ بَيْنَ الرَّاحَةِ وَالاِحْتِرَامِ وَالذَّوْقِ الشَّخْصِيِّ.</a:t>
            </a:r>
            <a:endParaRPr lang="ar-SA" sz="11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fashion and identity Arabic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developed opinion.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هٰذَا الأُسْلُوبُ.</a:t>
            </a:r>
            <a:endParaRPr lang="ar-SA" sz="15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رَأْيِي، هٰذَا الأُسْلُوبُ مُنَاسِبٌ لِأَنَّهُ مُرِيحٌ.</a:t>
            </a:r>
            <a:endParaRPr lang="ar-SA" sz="15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لِأَنَّهُ مُرِيحٌ.</a:t>
            </a:r>
            <a:endParaRPr lang="ar-SA" sz="15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أُحِبُّ المَوْضَةَ، ___ لَا أَتْبَعُ كُلَّ اتِّجَاهٍ.</a:t>
            </a:r>
            <a:endParaRPr lang="ar-SA" sz="10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وَلٰكِنَّنِي</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concession.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لِأَنَّهُ غَالٍ فَإِنَّهُ.</a:t>
            </a:r>
            <a:endParaRPr lang="ar-SA" sz="15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هُوَ غَالٍ ثُمَّ.</a:t>
            </a:r>
            <a:endParaRPr lang="ar-SA" sz="15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عَلَى الرَّغْمِ مِنْ أَنَّهُ غَالٍ، فَإِنَّهُ جَيِّدُ الجَوْدَةِ.</a:t>
            </a:r>
            <a:endParaRPr lang="ar-SA" sz="15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يُعَبِّرُ عَنْ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buys</a:t>
            </a:r>
            <a:endParaRPr lang="en-US"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compares</a:t>
            </a:r>
            <a:endParaRPr lang="en-US"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expresses</a:t>
            </a:r>
            <a:endParaRPr lang="en-US"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respectful judgement.</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أُسْلُوبُهَا مُخْتَلِفٌ وَيُعَبِّرُ عَنْ ذَوْقِهَا.</a:t>
            </a:r>
            <a:endParaRPr lang="ar-SA" sz="200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هِيَ سَيِّئَةٌ لِأَنَّ فُسْتَانَهَا أَحْمَرُ.</a:t>
            </a:r>
            <a:endParaRPr lang="ar-SA" sz="200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كُلُّ مَنْ يَلْبَسُ الأَسْوَدَ حَزِينٌ.</a:t>
            </a:r>
            <a:endParaRPr lang="ar-SA" sz="200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الرَّاحَةُ ___ مِنَ اتِّبَاعِ المَوْضَةِ.</a:t>
            </a:r>
            <a:endParaRPr lang="ar-SA" sz="11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مُهِمَّةٌ</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أَهَمُّ</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developed opinion.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هٰذَا الأُسْلُوبُ.</a:t>
            </a:r>
            <a:endParaRPr lang="ar-SA" sz="15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فِي رَأْيِي، هٰذَا الأُسْلُوبُ مُنَاسِبٌ لِأَنَّهُ مُرِيحٌ.</a:t>
            </a:r>
            <a:endParaRPr lang="ar-SA" sz="15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لِأَنَّهُ مُرِيحٌ.</a:t>
            </a:r>
            <a:endParaRPr lang="ar-SA" sz="15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gives opinion and reason.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أُحِبُّ المَوْضَةَ، ___ لَا أَتْبَعُ كُلَّ اتِّجَاهٍ.</a:t>
            </a:r>
            <a:endParaRPr lang="ar-SA" sz="10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وَلٰكِنَّنِي</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contrast is required.</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concession.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لِأَنَّهُ غَالٍ فَإِنَّهُ.</a:t>
            </a:r>
            <a:endParaRPr lang="ar-SA" sz="15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هُوَ غَالٍ ثُمَّ.</a:t>
            </a:r>
            <a:endParaRPr lang="ar-SA" sz="15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عَلَى الرَّغْمِ مِنْ أَنَّهُ غَالٍ، فَإِنَّهُ جَيِّدُ الجَوْدَةِ.</a:t>
            </a:r>
            <a:endParaRPr lang="ar-SA" sz="15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a complete concession pattern.</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يُعَبِّرُ عَنْ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buys</a:t>
            </a:r>
            <a:endParaRPr lang="en-US"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compares</a:t>
            </a:r>
            <a:endParaRPr lang="en-US"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expresses</a:t>
            </a:r>
            <a:endParaRPr lang="en-US"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means expresses.</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respectful judgement.</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أُسْلُوبُهَا مُخْتَلِفٌ وَيُعَبِّرُ عَنْ ذَوْقِهَا.</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سَيِّئَةٌ لِأَنَّ فُسْتَانَهَا أَحْمَرُ.</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مَنْ يَلْبَسُ الأَسْوَدَ حَزِينٌ.</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evaluates style without stereotyping.</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الرَّاحَةُ ___ مِنَ اتِّبَاعِ المَوْضَةِ.</a:t>
            </a:r>
            <a:endParaRPr lang="ar-SA" sz="11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مُهِمَّةٌ</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أَهَمُّ</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comparative pattern is </a:t>
            </a:r>
            <a:pPr algn="l" indent="0" marL="0">
              <a:buNone/>
            </a:pPr>
            <a:r>
              <a:rPr lang="ar-SA" altLang="en-US" sz="1350" dirty="0">
                <a:solidFill>
                  <a:srgbClr val="8A6D1E"/>
                </a:solidFill>
                <a:latin typeface="Amiri" pitchFamily="34" charset="0"/>
                <a:ea typeface="Amiri" pitchFamily="34" charset="-122"/>
                <a:cs typeface="Amiri" pitchFamily="34" charset="-120"/>
              </a:rPr>
              <a:t>أَهَمُّ 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D2-L04 · Fashion and Identity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D2-L05 · Comparing People and Clothes — More, Less and Better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أَكْثَرُ … مِنْ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more … than</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أَقَلُّ … مِنْ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less … than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مِنْ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better than</a:t>
            </a:r>
            <a:pPr indent="0" marL="0">
              <a:buNone/>
            </a:pPr>
            <a:r>
              <a:rPr lang="en-US" sz="1000" i="1" dirty="0">
                <a:solidFill>
                  <a:srgbClr val="5A6472"/>
                </a:solidFill>
                <a:latin typeface="Calibri" pitchFamily="34" charset="0"/>
                <a:ea typeface="Calibri" pitchFamily="34" charset="-122"/>
                <a:cs typeface="Calibri" pitchFamily="34" charset="-120"/>
              </a:rPr>
              <a:t>  the best: الأَفْضَلُ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أَرْخَصُ 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cheaper than</a:t>
            </a:r>
            <a:pPr indent="0" marL="0">
              <a:buNone/>
            </a:pPr>
            <a:r>
              <a:rPr lang="en-US" sz="1000" i="1" dirty="0">
                <a:solidFill>
                  <a:srgbClr val="5A6472"/>
                </a:solidFill>
                <a:latin typeface="Calibri" pitchFamily="34" charset="0"/>
                <a:ea typeface="Calibri" pitchFamily="34" charset="-122"/>
                <a:cs typeface="Calibri" pitchFamily="34" charset="-120"/>
              </a:rPr>
              <a:t>  cheap: رَخِيصٌ</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أَغْلَى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more expensive than</a:t>
            </a:r>
            <a:pPr indent="0" marL="0">
              <a:buNone/>
            </a:pPr>
            <a:r>
              <a:rPr lang="en-US" sz="1000" i="1" dirty="0">
                <a:solidFill>
                  <a:srgbClr val="5A6472"/>
                </a:solidFill>
                <a:latin typeface="Calibri" pitchFamily="34" charset="0"/>
                <a:ea typeface="Calibri" pitchFamily="34" charset="-122"/>
                <a:cs typeface="Calibri" pitchFamily="34" charset="-120"/>
              </a:rPr>
              <a:t>  expensive: غَالٍ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Compare two people you know or two items of clothing. Who / which is taller, cheaper, more elegant?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مَنْ أَطْوَلُ فِي أُسْرَتِكَ؟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D2-L04: the vocabulary tab (style adjectives, opinion and balance).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style with an opinion, a reason and a contrast.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on fashion and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D2-L05 · Comparing People and Clothes — More, Less and Better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المُقَارَنَةُ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opinion + because + but — and judge clothes, not people.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D2-L04 · Fashion and Identity — Opinions on Style and Dress</dc:title>
  <dc:subject>PptxGenJS Presentation</dc:subject>
  <dc:creator>Al Madina Online School · Arabic Department</dc:creator>
  <cp:lastModifiedBy>Al Madina Online School · Arabic Department</cp:lastModifiedBy>
  <cp:revision>1</cp:revision>
  <dcterms:created xsi:type="dcterms:W3CDTF">2026-09-27T11:43:10Z</dcterms:created>
  <dcterms:modified xsi:type="dcterms:W3CDTF">2026-09-27T11:43:10Z</dcterms:modified>
</cp:coreProperties>
</file>