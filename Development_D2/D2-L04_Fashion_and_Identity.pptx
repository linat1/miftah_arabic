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notesMasterIdLst>
    <p:notesMasterId r:id="rId4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D2 People, Relationships and Style › D2-L04. The website lesson “Fashion and Identity — Opinions on Style and Dress”: vocabulary, grammar rules and quiz, patterns, common mistakes, sorter, listening, reading, speaking prompts and model, writing task and model, differentiation, final check and the lesson mission. Picture match: website visual game “Fashion and Identity — Opinions on Style and Dress”.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describe your own style with two style adjectives + فِي رَأْيِي … لِأَنَّ … (one opinion, one reason). Develop: add a contrast (أُفَضِّلُ … وَلٰكِنَّنِي …). Stretch: a concession (عَلَى الرَّغْمِ مِنْ أَنَّ … فَإِنَّ …) and a balanced conclusion about fashion and identity.
• Website value: “Do not treat personal style as proof of personality” — every opinion must be respectful (quiz Q5). Model this explicitly: we judge CLOTHES (comfortable, practical, expensive), never PEOPLE.
• Modesty and identity are personal: invite, never require, students to share. Invented examples are fine.
• Urdu bridge: فیشن (→ مَوْضَةٌ), ذوق، ثقافت، شخصیت، احترام.
• TEACHER-WRITTEN ITEMS: on the website this lesson’s patterns, mistakes, sorter, listening, reading items are generic placeholders, so the deck uses teacher-written questions and translations built on the website’s own script and text (flagged for the website editor).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style words prepared at home. Questions 3–5 retrieve D2-L03 (هٰذِهِ, ثَمَنُهَا) and D2-L01 (لِأَنَّهَا).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A balanced opinion has three parts: what I think, why, and the other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ذوق (taste) → الذَّوْقُ; ثقافت → الثَّقَافَةُ; شخصیت → الشَّخْصِيَّةُ; احترام → الاِحْتِرَامُ — all Arabic words students already use in Urdu. مَوْضَةٌ (from Italian moda) = fashion; أُسْلُوبٌ = style (Urdu اسلوب: style of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Style adjectives (website vocabulary (1 of 2)). Hear → Say → See → Use. Transliteration is printed for Core students (cover it for Develop/Stretch).
Style adjectives in m. · f. · pl. (reviewed from D2-L03). Things in the plural take the feminine singular: مَلَابِسُ مُلَوَّنَةٌ.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Style adjectives (website vocabulary (2 of 2)). Hear → Say → See → Use. Transliteration is printed for Core students (cover it for Develop/Stretch).
Style adjectives in m. · f. · pl. (reviewed from D2-L03). Things in the plural take the feminine singular: مَلَابِسُ مُلَوَّنَةٌ.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Opinion and balance (website vocabulary (1 of 2)). Hear → Say → See → Use. Transliteration is printed for Core students (cover it for Develop/Stretch).
Opinion and balance: sort them live — OPINION (فِي رَأْيِي) · REASON (لِأَنَّ، لِذٰلِكَ) · CONTRAST (وَلٰكِنَّ، بَيْنَمَا، مِنْ جِهَةٍ … مِنْ جِهَةٍ أُخْرَى) · CONCESSION (عَلَى الرَّغْمِ مِنْ أَنَّ) · SOFTENERS (أَحْيَانًا، عَادَةً).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Opinion and balance (website vocabulary (2 of 2)). Hear → Say → See → Use. Transliteration is printed for Core students (cover it for Develop/Stretch).
Opinion and balance: sort them live — OPINION (فِي رَأْيِي) · REASON (لِأَنَّ، لِذٰلِكَ) · CONTRAST (وَلٰكِنَّ، بَيْنَمَا، مِنْ جِهَةٍ … مِنْ جِهَةٍ أُخْرَى) · CONCESSION (عَلَى الرَّغْمِ مِنْ أَنَّ) · SOFTENERS (أَحْيَانًا، عَادَةً).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Clothing reference (website vocabulary (1 of 2)). Hear → Say → See → Use. Transliteration is printed for Core students (cover it for Develop/Stretch).
FLEX: teach if time allows; otherwise these are on the website vocabulary tab for homework.
Clothing reference (FLEX) — the D2-L03 clothes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Clothing reference (website vocabulary (2 of 2)). Hear → Say → See → Use. Transliteration is printed for Core students (cover it for Develop/Stretch).
FLEX: teach if time allows; otherwise these are on the website vocabulary tab for homework.
Clothing reference (FLEX) — the D2-L03 clothes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rules “Opinion plus reason” (a developed opinion explains why) and “Contrast” (contrast adds balance) with the website examples.
Note for Develop/Stretch: non-human plurals take feminine singular agreement — المَلَابِسُ … لِأَنَّهَا عَمَلِيَّةٌ (not لِأَنَّهُمْ).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rules “Concession” (acknowledge an opposing point before stating a judgement) and “Identity and expression” (explain what style communicates without judging a person unfairly). Website common error: “Do not treat personal style as proof of personality.”
Stretch grammar: after عَلَى الرَّغْمِ مِنْ أَنَّ the main clause often starts with فَإِنَّ + noun in -a (فَإِنَّ الرَّاحَةَ أَهَمُّ).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“Develop opinions about style with reasons, contrast, concession and language that avoids over-generalisation.”
• Opinion plus reason: A developed opinion explains why.
• Contrast: Contrast adds balance and complexity.
• Concession: Acknowledge an opposing point before stating a judgement.
• Identity and expression: Explain what style communicates without judging a person unfairly.
Website common error: Do not treat personal style as proof of personality; describe clothing evidence and qualify your opinion.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4, 6, 7, 8.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website listening (Reem) and patterns turned into a first-person opinion, with a think-aloud. Students copy it and label the four parts: STYLE · OPINION + REASON · CONTRAST · CONCESSION.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built from the website grammar quiz (Q1, Q2, Q3, Q5) and the website value about respectful judgement. Discuss Q4 carefully: the wrong answers stereotype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each answer, a volunteer changes one word to make their own opinion.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Is each sentence a complete, balanced and respectful opinion?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Is each sentence a complete, balanced and respectful opinion?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4. Develop / Stretch: all 6. (Questions are teacher-written: the website questions for this script are generic.)
Listen 1: just listen. Listen 2: note answers. Then chat the letters.
Support: after the second listening, show the read-along slide (Arabic + English, line by line) for Core students.
SCRIPT (read aloud):
تَتَحَدَّثُ رِيمُ عَنْ أُسْلُوبِهَا. تَقُولُ إِنَّهَا تُفَضِّلُ المَلَابِسَ البَسِيطَةَ وَالمُرِيحَةَ، لِأَنَّهَا تَذْهَبُ إِلَى المَدْرَسَةِ وَتَتَحَرَّكُ كَثِيرًا. وَلٰكِنَّهَا فِي المُنَاسَبَاتِ تَرْتَدِي فُسْتَانًا أَنِيقًا وَحِجَابًا مُلَوَّنًا. فِي رَأْيِهَا، الأُسْلُوبُ الشَّخْصِيُّ يُعَبِّرُ عَنِ الذَّوْقِ، وَلٰكِنَّهُ لَا يُخْبِرُنَا بِكُلِّ شَيْءٍ عَنِ الشَّخْصِيَّةِ.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مَا الأَهَمُّ فِي رَأْيِكَ؟ (What is most important?)
B: الرَّاحَةُ وَالاِحْتِرَامُ أَهَمُّ مِنَ اتِّبَاعِ كُلِّ اتِّجَاهٍ. (Comfort and respect matter more than every trend.)
Website prompts. Website model continues: A: مَا الأَهَمُّ فِي رَأْيِكَ؟ (What is most important in your opinion?) B: الرَّاحَةُ وَالاِحْتِرَامُ أَهَمُّ مِنَ اتِّبَاعِ كُلِّ اتِّجَاهٍ. (Comfort and respect matter more than following every trend.)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Secure the main vocabulary and produce four accurate sentences using the taught frame. · Develop — Combine description, grammar and a reason in connected answers. · Stretch — Add comparison, contrast, precise evidence and an independently controlled relative clause.
Website writing task (Stretch): Write 100–120 Arabic words giving your view on fashion and identity. Explain your style, what influences it, one advantage and one disadvantage of following fashion, and a balanced conclusion.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Evidence: فِي رَأْيِي … لِأَنَّهَا · وَلٰكِنَّنِي فِي المُنَاسَبَاتِ · مِنْ مَزَايَا المَوْضَةِ / مِنْ عُيُوبِهَا · عَلَى الرَّغْمِ مِنْ ذٰلِكَ (despite that — a concession with a noun).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(D2-L05 · Comparing People and Clothes — More, Less and Better) will spend class time USING this language, so students prepare it tonight — short, simple, easy to access (school guidance: “Simple, Short, Interesting, Relevant, Easy to access”). The five words come from the website D2-L05 vocabulary (comparative language).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8  ·  DEVELOPMENT D2  ·  D2-L04</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D2-L04</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Fashion and Identity — Opinions on Style and Dress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المَوْضَةُ وَالهُوِيَّةُ — آرَاءٌ حَوْلَ الأُسْلُوبِ وَاللِّبَاسِ</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Give a balanced opinion about style and fashion: opinion + reason (</a:t>
            </a:r>
            <a:pPr algn="l" indent="0" marL="0">
              <a:buNone/>
            </a:pPr>
            <a:r>
              <a:rPr lang="ar-SA" altLang="en-US" sz="1800" dirty="0">
                <a:solidFill>
                  <a:srgbClr val="C6D2E6"/>
                </a:solidFill>
                <a:latin typeface="Amiri" pitchFamily="2" charset="-78"/>
                <a:cs typeface="Amiri" pitchFamily="2" charset="-78"/>
              </a:rPr>
              <a:t>فِي رَأْيِي … لِأَنَّ</a:t>
            </a:r>
            <a:pPr algn="l" indent="0" marL="0">
              <a:buNone/>
            </a:pPr>
            <a:r>
              <a:rPr lang="en-US" sz="1400" dirty="0">
                <a:solidFill>
                  <a:srgbClr val="C6D2E6"/>
                </a:solidFill>
                <a:latin typeface="Calibri" pitchFamily="34" charset="0"/>
                <a:cs typeface="Amiri" pitchFamily="2" charset="-78"/>
              </a:rPr>
              <a:t>), contrast (</a:t>
            </a:r>
            <a:pPr algn="l" indent="0" marL="0">
              <a:buNone/>
            </a:pPr>
            <a:r>
              <a:rPr lang="ar-SA" altLang="en-US" sz="1800" dirty="0">
                <a:solidFill>
                  <a:srgbClr val="C6D2E6"/>
                </a:solidFill>
                <a:latin typeface="Amiri" pitchFamily="2" charset="-78"/>
                <a:cs typeface="Amiri" pitchFamily="2" charset="-78"/>
              </a:rPr>
              <a:t>وَلٰكِنَّ</a:t>
            </a:r>
            <a:pPr algn="l" indent="0" marL="0">
              <a:buNone/>
            </a:pPr>
            <a:r>
              <a:rPr lang="en-US" sz="1400" dirty="0">
                <a:solidFill>
                  <a:srgbClr val="C6D2E6"/>
                </a:solidFill>
                <a:latin typeface="Calibri" pitchFamily="34" charset="0"/>
                <a:cs typeface="Amiri" pitchFamily="2" charset="-78"/>
              </a:rPr>
              <a:t>), concession (</a:t>
            </a:r>
            <a:pPr algn="l" indent="0" marL="0">
              <a:buNone/>
            </a:pPr>
            <a:r>
              <a:rPr lang="ar-SA" altLang="en-US" sz="1800" dirty="0">
                <a:solidFill>
                  <a:srgbClr val="C6D2E6"/>
                </a:solidFill>
                <a:latin typeface="Amiri" pitchFamily="2" charset="-78"/>
                <a:cs typeface="Amiri" pitchFamily="2" charset="-78"/>
              </a:rPr>
              <a:t>عَلَى الرَّغْمِ مِنْ أَنَّ … فَإِنَّ</a:t>
            </a:r>
            <a:pPr algn="l" indent="0" marL="0">
              <a:buNone/>
            </a:pPr>
            <a:r>
              <a:rPr lang="en-US" sz="1400" dirty="0">
                <a:solidFill>
                  <a:srgbClr val="C6D2E6"/>
                </a:solidFill>
                <a:latin typeface="Calibri" pitchFamily="34" charset="0"/>
                <a:cs typeface="Amiri" pitchFamily="2" charset="-78"/>
              </a:rPr>
              <a:t>) — and judge clothes, never people.</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D2-L04 · Development D2 · People, Relationships and Style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Development › D2 › D2-L04</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D2-L04 · Fashion and Identity</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D2-L04</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D2-L04 · Fashion and Identity</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D2-L04</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Opinion + reason, contrast and concession.</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Balance the opinion, sort, fix and listen.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D2-L05.</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D2-L04 · Fashion and Identity</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مُحْتَشِمٌ / مُحْتَشِمَةٌ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modern</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modest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formal</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تَقْلِيدِيٌّ / تَقْلِيدِيَّةٌ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traditional</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elegant</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simple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“this jacket”.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هٰذَا السُّتْرَةُ</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هٰذِهِ السُّتْرَةَ</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هٰذِهِ السُّتْرَةُ</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the price of a bag.</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كَمْ ثَمَنُهُ؟</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مَا مَقَاسُهُ؟</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كَمْ ثَمَنُهَا؟</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هِيَ مُتَعَاوِنَةٌ</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تُسَاعِدُ الآخَرِينَ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لِأَنَّهَا</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لِأَنَّهُ</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وَلٰكِنَّهُ</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D2-L04 · Fashion and Identity</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مُحْتَشِمٌ / مُحْتَشِمَةٌ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modern</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modest</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formal</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تَقْلِيدِيٌّ / تَقْلِيدِيَّةٌ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traditional</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elegant</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simple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“this jacket”.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هٰذَا السُّتْرَةُ</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هٰذِهِ السُّتْرَةَ</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هٰذِهِ السُّتْرَةُ</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D2-L03: sutra is feminine.</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the price of a bag.</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كَمْ ثَمَنُهُ؟</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مَا مَقَاسُهُ؟</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كَمْ ثَمَنُهَا؟</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D2-L03: bag (f.) → thamanuhā.</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هِيَ مُتَعَاوِنَةٌ</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تُسَاعِدُ الآخَرِينَ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لِأَنَّهَا</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لِأَنَّهُ</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وَلٰكِنَّهُ</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D2-L01: because she.</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A balanced opinion has three parts: what I think, why, and the other side.</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cs typeface="Amiri" pitchFamily="2" charset="-78"/>
              </a:rPr>
              <a:t>فِي رَأْيِي</a:t>
            </a:r>
            <a:pPr rtl="1" algn="ctr" indent="0" marL="0">
              <a:buNone/>
            </a:pPr>
            <a:r>
              <a:rPr lang="ar-SA" altLang="en-US" sz="2400" b="1" dirty="0">
                <a:solidFill>
                  <a:srgbClr val="1B3B6F"/>
                </a:solidFill>
                <a:latin typeface="Amiri" pitchFamily="2" charset="-78"/>
                <a:cs typeface="Amiri" pitchFamily="2" charset="-78"/>
              </a:rPr>
              <a:t> … </a:t>
            </a:r>
            <a:pPr rtl="1" algn="ctr" indent="0" marL="0">
              <a:buNone/>
            </a:pPr>
            <a:r>
              <a:rPr lang="ar-SA" altLang="en-US" sz="2400" b="1" dirty="0">
                <a:solidFill>
                  <a:srgbClr val="1D5FBF"/>
                </a:solidFill>
                <a:latin typeface="Amiri" pitchFamily="2" charset="-78"/>
                <a:cs typeface="Amiri" pitchFamily="2" charset="-78"/>
              </a:rPr>
              <a:t>لِأَنَّ</a:t>
            </a:r>
            <a:pPr rtl="1" algn="ctr" indent="0" marL="0">
              <a:buNone/>
            </a:pPr>
            <a:r>
              <a:rPr lang="ar-SA" altLang="en-US" sz="2400" b="1" dirty="0">
                <a:solidFill>
                  <a:srgbClr val="1B3B6F"/>
                </a:solidFill>
                <a:latin typeface="Amiri" pitchFamily="2" charset="-78"/>
                <a:cs typeface="Amiri" pitchFamily="2" charset="-78"/>
              </a:rPr>
              <a:t> … </a:t>
            </a:r>
            <a:pPr rtl="1" algn="ctr" indent="0" marL="0">
              <a:buNone/>
            </a:pPr>
            <a:r>
              <a:rPr lang="ar-SA" altLang="en-US" sz="2400" b="1" dirty="0">
                <a:solidFill>
                  <a:srgbClr val="D6336C"/>
                </a:solidFill>
                <a:latin typeface="Amiri" pitchFamily="2" charset="-78"/>
                <a:cs typeface="Amiri" pitchFamily="2" charset="-78"/>
              </a:rPr>
              <a:t>وَلٰكِنَّ</a:t>
            </a:r>
            <a:pPr rtl="1" algn="ctr" indent="0" marL="0">
              <a:buNone/>
            </a:pPr>
            <a:r>
              <a:rPr lang="ar-SA" altLang="en-US" sz="2400" b="1" dirty="0">
                <a:solidFill>
                  <a:srgbClr val="1B3B6F"/>
                </a:solidFill>
                <a:latin typeface="Amiri" pitchFamily="2" charset="-78"/>
                <a:cs typeface="Amiri" pitchFamily="2" charset="-78"/>
              </a:rPr>
              <a:t> …</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D2-L04 · Fashion and Identity</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D2-L04</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Control the key D2-L04 vocabulary in complete Arabic sentences.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Understand and apply the target grammar: Expressing and qualifying opinions.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Extract precise evidence from an intermediate listening and reading text.</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Produce developed spoken and written Arabic with reasons and detail.</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describe my style with two adjectives.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give an opinion with a reason.</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add a contrast with “but”.</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say what clothes express.</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use a concession (although …).</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write a balanced conclusion about fashion.</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32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Style adjectives · 12</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Opinion and balance · 12</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Clothing reference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المَوْضَةُ</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‎فیشن‎ </a:t>
            </a:r>
            <a:pPr indent="0" marL="0">
              <a:buNone/>
            </a:pPr>
            <a:r>
              <a:rPr lang="en-US" sz="950" b="1" dirty="0">
                <a:solidFill>
                  <a:srgbClr val="2E8B57"/>
                </a:solidFill>
                <a:latin typeface="Calibri" pitchFamily="34" charset="0"/>
                <a:cs typeface="Amiri" pitchFamily="2" charset="-78"/>
              </a:rPr>
              <a:t> fashion · fashion (both borrowed)</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الذَّوْقُ</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‎ذوق‎ </a:t>
            </a:r>
            <a:pPr indent="0" marL="0">
              <a:buNone/>
            </a:pPr>
            <a:r>
              <a:rPr lang="en-US" sz="950" b="1" dirty="0">
                <a:solidFill>
                  <a:srgbClr val="2E8B57"/>
                </a:solidFill>
                <a:latin typeface="Calibri" pitchFamily="34" charset="0"/>
                <a:cs typeface="Amiri" pitchFamily="2" charset="-78"/>
              </a:rPr>
              <a:t> zauq · taste</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الثَّقَافَةُ</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‎ثقافت‎ </a:t>
            </a:r>
            <a:pPr indent="0" marL="0">
              <a:buNone/>
            </a:pPr>
            <a:r>
              <a:rPr lang="en-US" sz="950" b="1" dirty="0">
                <a:solidFill>
                  <a:srgbClr val="2E8B57"/>
                </a:solidFill>
                <a:latin typeface="Calibri" pitchFamily="34" charset="0"/>
                <a:cs typeface="Amiri" pitchFamily="2" charset="-78"/>
              </a:rPr>
              <a:t> saqāfat · culture</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الشَّخْصِيَّةُ</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‎شخصیت‎ </a:t>
            </a:r>
            <a:pPr indent="0" marL="0">
              <a:buNone/>
            </a:pPr>
            <a:r>
              <a:rPr lang="en-US" sz="950" b="1" dirty="0">
                <a:solidFill>
                  <a:srgbClr val="2E8B57"/>
                </a:solidFill>
                <a:latin typeface="Calibri" pitchFamily="34" charset="0"/>
                <a:cs typeface="Amiri" pitchFamily="2" charset="-78"/>
              </a:rPr>
              <a:t> shakhsiyat · personality</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الاِحْتِرَامُ</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‎احترام‎ </a:t>
            </a:r>
            <a:pPr indent="0" marL="0">
              <a:buNone/>
            </a:pPr>
            <a:r>
              <a:rPr lang="en-US" sz="950" b="1" dirty="0">
                <a:solidFill>
                  <a:srgbClr val="2E8B57"/>
                </a:solidFill>
                <a:latin typeface="Calibri" pitchFamily="34" charset="0"/>
                <a:cs typeface="Amiri" pitchFamily="2" charset="-78"/>
              </a:rPr>
              <a:t> ihtirām · respect</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D2-L04 · Fashion and Identity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Style adjectives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أَنِيقٌ / أَنِيقَةٌ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elegant</a:t>
            </a:r>
            <a:endParaRPr lang="en-US" sz="1350" dirty="0"/>
          </a:p>
          <a:p>
            <a:pPr indent="0" marL="0">
              <a:buNone/>
            </a:pPr>
            <a:r>
              <a:rPr lang="en-US" sz="1100" i="1" dirty="0">
                <a:solidFill>
                  <a:srgbClr val="5A6472"/>
                </a:solidFill>
                <a:latin typeface="Calibri" pitchFamily="34" charset="0"/>
                <a:cs typeface="Amiri" pitchFamily="2" charset="-78"/>
              </a:rPr>
              <a:t>a-nī-qun / a-nī-qa-tun</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أَنِيقُونَ</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أَنِيقَةٌ</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أَنِيقٌ</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6" name="Shape 33"/>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38" name="Shape 3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0" name="Text 3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عَصْرِيٌّ / عَصْرِيَّةٌ</a:t>
            </a:r>
            <a:endParaRPr lang="ar-SA" sz="3000" dirty="0"/>
          </a:p>
        </p:txBody>
      </p:sp>
      <p:sp>
        <p:nvSpPr>
          <p:cNvPr id="41" name="Text 3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modern</a:t>
            </a:r>
            <a:endParaRPr lang="en-US" sz="1350" dirty="0"/>
          </a:p>
          <a:p>
            <a:pPr indent="0" marL="0">
              <a:buNone/>
            </a:pPr>
            <a:r>
              <a:rPr lang="en-US" sz="1100" i="1" dirty="0">
                <a:solidFill>
                  <a:srgbClr val="5A6472"/>
                </a:solidFill>
                <a:latin typeface="Calibri" pitchFamily="34" charset="0"/>
                <a:cs typeface="Amiri" pitchFamily="2" charset="-78"/>
              </a:rPr>
              <a:t>ʿaṣ-riy-yun / ʿaṣ-riy-ya-tun</a:t>
            </a:r>
            <a:endParaRPr lang="en-US" sz="1350" dirty="0"/>
          </a:p>
        </p:txBody>
      </p:sp>
      <p:sp>
        <p:nvSpPr>
          <p:cNvPr id="42" name="Shape 39"/>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4" name="Text 41"/>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عَصْرِيُّونَ</a:t>
            </a:r>
            <a:endParaRPr lang="ar-SA" sz="1500" dirty="0"/>
          </a:p>
        </p:txBody>
      </p:sp>
      <p:sp>
        <p:nvSpPr>
          <p:cNvPr id="45" name="Shape 42"/>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7" name="Text 44"/>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عَصْرِيَّةٌ</a:t>
            </a:r>
            <a:endParaRPr lang="ar-SA" sz="1500" dirty="0"/>
          </a:p>
        </p:txBody>
      </p:sp>
      <p:sp>
        <p:nvSpPr>
          <p:cNvPr id="48" name="Shape 45"/>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50" name="Text 47"/>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عَصْرِيٌّ</a:t>
            </a:r>
            <a:endParaRPr lang="ar-SA" sz="1500" dirty="0"/>
          </a:p>
        </p:txBody>
      </p:sp>
      <p:sp>
        <p:nvSpPr>
          <p:cNvPr id="51" name="Shape 4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566928" y="1920240"/>
            <a:ext cx="310896" cy="310896"/>
          </a:xfrm>
          <a:prstGeom prst="ellipse">
            <a:avLst/>
          </a:prstGeom>
          <a:solidFill>
            <a:srgbClr val="F4F1EA"/>
          </a:solidFill>
          <a:ln w="12700">
            <a:solidFill>
              <a:srgbClr val="F4F1EA"/>
            </a:solidFill>
            <a:prstDash val="solid"/>
          </a:ln>
        </p:spPr>
      </p:sp>
      <p:sp>
        <p:nvSpPr>
          <p:cNvPr id="53" name="Text 5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54" name="Shape 51"/>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56" name="Shape 53"/>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7" name="Text 54"/>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8" name="Text 55"/>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تَقْلِيدِيٌّ / تَقْلِيدِيَّةٌ</a:t>
            </a:r>
            <a:endParaRPr lang="ar-SA" sz="3000" dirty="0"/>
          </a:p>
        </p:txBody>
      </p:sp>
      <p:sp>
        <p:nvSpPr>
          <p:cNvPr id="59" name="Text 56"/>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traditional</a:t>
            </a:r>
            <a:endParaRPr lang="en-US" sz="1350" dirty="0"/>
          </a:p>
          <a:p>
            <a:pPr indent="0" marL="0">
              <a:buNone/>
            </a:pPr>
            <a:r>
              <a:rPr lang="en-US" sz="1100" i="1" dirty="0">
                <a:solidFill>
                  <a:srgbClr val="5A6472"/>
                </a:solidFill>
                <a:latin typeface="Calibri" pitchFamily="34" charset="0"/>
                <a:cs typeface="Amiri" pitchFamily="2" charset="-78"/>
              </a:rPr>
              <a:t>taq-lī-diy-yun / taq-lī-diy-ya-tun</a:t>
            </a:r>
            <a:endParaRPr lang="en-US" sz="1350" dirty="0"/>
          </a:p>
        </p:txBody>
      </p:sp>
      <p:sp>
        <p:nvSpPr>
          <p:cNvPr id="60" name="Shape 57"/>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62" name="Text 59"/>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تَقْلِيدِيُّونَ</a:t>
            </a:r>
            <a:endParaRPr lang="ar-SA" sz="1500" dirty="0"/>
          </a:p>
        </p:txBody>
      </p:sp>
      <p:sp>
        <p:nvSpPr>
          <p:cNvPr id="63" name="Shape 60"/>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4" name="Text 61"/>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65" name="Text 62"/>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تَقْلِيدِيَّةٌ</a:t>
            </a:r>
            <a:endParaRPr lang="ar-SA" sz="1500" dirty="0"/>
          </a:p>
        </p:txBody>
      </p:sp>
      <p:sp>
        <p:nvSpPr>
          <p:cNvPr id="66" name="Shape 63"/>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7" name="Text 64"/>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68" name="Text 65"/>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تَقْلِيدِيٌّ</a:t>
            </a:r>
            <a:endParaRPr lang="ar-SA" sz="1500" dirty="0"/>
          </a:p>
        </p:txBody>
      </p:sp>
      <p:sp>
        <p:nvSpPr>
          <p:cNvPr id="69" name="Shape 6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8211312" y="4261104"/>
            <a:ext cx="310896" cy="310896"/>
          </a:xfrm>
          <a:prstGeom prst="ellipse">
            <a:avLst/>
          </a:prstGeom>
          <a:solidFill>
            <a:srgbClr val="F4F1EA"/>
          </a:solidFill>
          <a:ln w="12700">
            <a:solidFill>
              <a:srgbClr val="F4F1EA"/>
            </a:solidFill>
            <a:prstDash val="solid"/>
          </a:ln>
        </p:spPr>
      </p:sp>
      <p:sp>
        <p:nvSpPr>
          <p:cNvPr id="71" name="Text 6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72" name="Shape 69"/>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73" name="Text 70"/>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74" name="Shape 71"/>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75" name="Text 72"/>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76" name="Text 73"/>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رَسْمِيٌّ / رَسْمِيَّةٌ</a:t>
            </a:r>
            <a:endParaRPr lang="ar-SA" sz="3000" dirty="0"/>
          </a:p>
        </p:txBody>
      </p:sp>
      <p:sp>
        <p:nvSpPr>
          <p:cNvPr id="77" name="Text 74"/>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formal</a:t>
            </a:r>
            <a:endParaRPr lang="en-US" sz="1350" dirty="0"/>
          </a:p>
          <a:p>
            <a:pPr indent="0" marL="0">
              <a:buNone/>
            </a:pPr>
            <a:r>
              <a:rPr lang="en-US" sz="1100" i="1" dirty="0">
                <a:solidFill>
                  <a:srgbClr val="5A6472"/>
                </a:solidFill>
                <a:latin typeface="Calibri" pitchFamily="34" charset="0"/>
                <a:cs typeface="Amiri" pitchFamily="2" charset="-78"/>
              </a:rPr>
              <a:t>ras-miy-yun / ras-miy-ya-tun</a:t>
            </a:r>
            <a:endParaRPr lang="en-US" sz="1350" dirty="0"/>
          </a:p>
        </p:txBody>
      </p:sp>
      <p:sp>
        <p:nvSpPr>
          <p:cNvPr id="78" name="Shape 75"/>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9" name="Text 76"/>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80" name="Text 77"/>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رَسْمِيُّونَ</a:t>
            </a:r>
            <a:endParaRPr lang="ar-SA" sz="1500" dirty="0"/>
          </a:p>
        </p:txBody>
      </p:sp>
      <p:sp>
        <p:nvSpPr>
          <p:cNvPr id="81" name="Shape 78"/>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82" name="Text 79"/>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83" name="Text 80"/>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رَسْمِيَّةٌ</a:t>
            </a:r>
            <a:endParaRPr lang="ar-SA" sz="1500" dirty="0"/>
          </a:p>
        </p:txBody>
      </p:sp>
      <p:sp>
        <p:nvSpPr>
          <p:cNvPr id="84" name="Shape 81"/>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85" name="Text 82"/>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86" name="Text 83"/>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رَسْمِيٌّ</a:t>
            </a:r>
            <a:endParaRPr lang="ar-SA" sz="1500" dirty="0"/>
          </a:p>
        </p:txBody>
      </p:sp>
      <p:sp>
        <p:nvSpPr>
          <p:cNvPr id="87" name="Shape 8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8" name="Shape 85"/>
          <p:cNvSpPr/>
          <p:nvPr/>
        </p:nvSpPr>
        <p:spPr>
          <a:xfrm>
            <a:off x="4389120" y="4261104"/>
            <a:ext cx="310896" cy="310896"/>
          </a:xfrm>
          <a:prstGeom prst="ellipse">
            <a:avLst/>
          </a:prstGeom>
          <a:solidFill>
            <a:srgbClr val="F4F1EA"/>
          </a:solidFill>
          <a:ln w="12700">
            <a:solidFill>
              <a:srgbClr val="F4F1EA"/>
            </a:solidFill>
            <a:prstDash val="solid"/>
          </a:ln>
        </p:spPr>
      </p:sp>
      <p:sp>
        <p:nvSpPr>
          <p:cNvPr id="89" name="Text 8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90" name="Shape 87"/>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91" name="Text 88"/>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92" name="Text 89"/>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غَيْرُ رَسْمِيٍّ / غَيْرُ رَسْمِيَّةٍ</a:t>
            </a:r>
            <a:endParaRPr lang="ar-SA" sz="3000" dirty="0"/>
          </a:p>
        </p:txBody>
      </p:sp>
      <p:sp>
        <p:nvSpPr>
          <p:cNvPr id="93" name="Text 90"/>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casual</a:t>
            </a:r>
            <a:endParaRPr lang="en-US" sz="1350" dirty="0"/>
          </a:p>
          <a:p>
            <a:pPr indent="0" marL="0">
              <a:buNone/>
            </a:pPr>
            <a:r>
              <a:rPr lang="en-US" sz="1100" i="1" dirty="0">
                <a:solidFill>
                  <a:srgbClr val="5A6472"/>
                </a:solidFill>
                <a:latin typeface="Calibri" pitchFamily="34" charset="0"/>
                <a:cs typeface="Amiri" pitchFamily="2" charset="-78"/>
              </a:rPr>
              <a:t>ghay-ru ras-miy-yin / ghay-ru ras-miy-ya-tin</a:t>
            </a:r>
            <a:endParaRPr lang="en-US" sz="1350" dirty="0"/>
          </a:p>
        </p:txBody>
      </p:sp>
      <p:sp>
        <p:nvSpPr>
          <p:cNvPr id="94" name="Shape 91"/>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95" name="Text 92"/>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96" name="Text 93"/>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غَيْرُ رَسْمِيَّةٍ</a:t>
            </a:r>
            <a:endParaRPr lang="ar-SA" sz="1500" dirty="0"/>
          </a:p>
        </p:txBody>
      </p:sp>
      <p:sp>
        <p:nvSpPr>
          <p:cNvPr id="97" name="Shape 94"/>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98" name="Text 95"/>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99" name="Text 96"/>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غَيْرُ رَسْمِيٍّ</a:t>
            </a:r>
            <a:endParaRPr lang="ar-SA" sz="1500" dirty="0"/>
          </a:p>
        </p:txBody>
      </p:sp>
      <p:sp>
        <p:nvSpPr>
          <p:cNvPr id="100" name="Shape 9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01" name="Shape 98"/>
          <p:cNvSpPr/>
          <p:nvPr/>
        </p:nvSpPr>
        <p:spPr>
          <a:xfrm>
            <a:off x="566928" y="4261104"/>
            <a:ext cx="310896" cy="310896"/>
          </a:xfrm>
          <a:prstGeom prst="ellipse">
            <a:avLst/>
          </a:prstGeom>
          <a:solidFill>
            <a:srgbClr val="F4F1EA"/>
          </a:solidFill>
          <a:ln w="12700">
            <a:solidFill>
              <a:srgbClr val="F4F1EA"/>
            </a:solidFill>
            <a:prstDash val="solid"/>
          </a:ln>
        </p:spPr>
      </p:sp>
      <p:sp>
        <p:nvSpPr>
          <p:cNvPr id="102" name="Text 9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103" name="Shape 100"/>
          <p:cNvSpPr/>
          <p:nvPr/>
        </p:nvSpPr>
        <p:spPr>
          <a:xfrm>
            <a:off x="960120" y="4279392"/>
            <a:ext cx="896112" cy="256032"/>
          </a:xfrm>
          <a:prstGeom prst="roundRect">
            <a:avLst>
              <a:gd name="adj" fmla="val 50000"/>
            </a:avLst>
          </a:prstGeom>
          <a:solidFill>
            <a:srgbClr val="EFE7D2"/>
          </a:solidFill>
          <a:ln w="12700">
            <a:solidFill>
              <a:srgbClr val="EFE7D2"/>
            </a:solidFill>
            <a:prstDash val="solid"/>
          </a:ln>
        </p:spPr>
      </p:sp>
      <p:sp>
        <p:nvSpPr>
          <p:cNvPr id="104" name="Text 101"/>
          <p:cNvSpPr txBox="1"/>
          <p:nvPr/>
        </p:nvSpPr>
        <p:spPr>
          <a:xfrm>
            <a:off x="960120"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105" name="Shape 102"/>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106" name="Text 103"/>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107" name="Text 104"/>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مُحْتَشِمٌ / مُحْتَشِمَةٌ</a:t>
            </a:r>
            <a:endParaRPr lang="ar-SA" sz="3000" dirty="0"/>
          </a:p>
        </p:txBody>
      </p:sp>
      <p:sp>
        <p:nvSpPr>
          <p:cNvPr id="108" name="Text 105"/>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modest</a:t>
            </a:r>
            <a:endParaRPr lang="en-US" sz="1350" dirty="0"/>
          </a:p>
          <a:p>
            <a:pPr indent="0" marL="0">
              <a:buNone/>
            </a:pPr>
            <a:r>
              <a:rPr lang="en-US" sz="1100" i="1" dirty="0">
                <a:solidFill>
                  <a:srgbClr val="5A6472"/>
                </a:solidFill>
                <a:latin typeface="Calibri" pitchFamily="34" charset="0"/>
                <a:cs typeface="Amiri" pitchFamily="2" charset="-78"/>
              </a:rPr>
              <a:t>muḥ-ta-shi-mun / muḥ-ta-shi-ma-tun</a:t>
            </a:r>
            <a:endParaRPr lang="en-US" sz="1350" dirty="0"/>
          </a:p>
        </p:txBody>
      </p:sp>
      <p:sp>
        <p:nvSpPr>
          <p:cNvPr id="109" name="Shape 106"/>
          <p:cNvSpPr/>
          <p:nvPr/>
        </p:nvSpPr>
        <p:spPr>
          <a:xfrm>
            <a:off x="2898648" y="5779008"/>
            <a:ext cx="1060704" cy="438912"/>
          </a:xfrm>
          <a:prstGeom prst="roundRect">
            <a:avLst>
              <a:gd name="adj" fmla="val 10417"/>
            </a:avLst>
          </a:prstGeom>
          <a:solidFill>
            <a:srgbClr val="F4F1EA"/>
          </a:solidFill>
          <a:ln w="9525">
            <a:solidFill>
              <a:srgbClr val="F4F1EA"/>
            </a:solidFill>
            <a:prstDash val="solid"/>
          </a:ln>
        </p:spPr>
      </p:sp>
      <p:sp>
        <p:nvSpPr>
          <p:cNvPr id="110" name="Text 107"/>
          <p:cNvSpPr txBox="1"/>
          <p:nvPr/>
        </p:nvSpPr>
        <p:spPr>
          <a:xfrm>
            <a:off x="295351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111" name="Text 108"/>
          <p:cNvSpPr txBox="1"/>
          <p:nvPr/>
        </p:nvSpPr>
        <p:spPr>
          <a:xfrm>
            <a:off x="294436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مُحْتَشِمُونَ</a:t>
            </a:r>
            <a:endParaRPr lang="ar-SA" sz="1500" dirty="0"/>
          </a:p>
        </p:txBody>
      </p:sp>
      <p:sp>
        <p:nvSpPr>
          <p:cNvPr id="112" name="Shape 109"/>
          <p:cNvSpPr/>
          <p:nvPr/>
        </p:nvSpPr>
        <p:spPr>
          <a:xfrm>
            <a:off x="1746504" y="5779008"/>
            <a:ext cx="1060704" cy="438912"/>
          </a:xfrm>
          <a:prstGeom prst="roundRect">
            <a:avLst>
              <a:gd name="adj" fmla="val 10417"/>
            </a:avLst>
          </a:prstGeom>
          <a:solidFill>
            <a:srgbClr val="F4F1EA"/>
          </a:solidFill>
          <a:ln w="9525">
            <a:solidFill>
              <a:srgbClr val="F4F1EA"/>
            </a:solidFill>
            <a:prstDash val="solid"/>
          </a:ln>
        </p:spPr>
      </p:sp>
      <p:sp>
        <p:nvSpPr>
          <p:cNvPr id="113" name="Text 110"/>
          <p:cNvSpPr txBox="1"/>
          <p:nvPr/>
        </p:nvSpPr>
        <p:spPr>
          <a:xfrm>
            <a:off x="180136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114" name="Text 111"/>
          <p:cNvSpPr txBox="1"/>
          <p:nvPr/>
        </p:nvSpPr>
        <p:spPr>
          <a:xfrm>
            <a:off x="179222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مُحْتَشِمَةٌ</a:t>
            </a:r>
            <a:endParaRPr lang="ar-SA" sz="1500" dirty="0"/>
          </a:p>
        </p:txBody>
      </p:sp>
      <p:sp>
        <p:nvSpPr>
          <p:cNvPr id="115" name="Shape 112"/>
          <p:cNvSpPr/>
          <p:nvPr/>
        </p:nvSpPr>
        <p:spPr>
          <a:xfrm>
            <a:off x="594360" y="5779008"/>
            <a:ext cx="1060704" cy="438912"/>
          </a:xfrm>
          <a:prstGeom prst="roundRect">
            <a:avLst>
              <a:gd name="adj" fmla="val 10417"/>
            </a:avLst>
          </a:prstGeom>
          <a:solidFill>
            <a:srgbClr val="F4F1EA"/>
          </a:solidFill>
          <a:ln w="9525">
            <a:solidFill>
              <a:srgbClr val="F4F1EA"/>
            </a:solidFill>
            <a:prstDash val="solid"/>
          </a:ln>
        </p:spPr>
      </p:sp>
      <p:sp>
        <p:nvSpPr>
          <p:cNvPr id="116" name="Text 113"/>
          <p:cNvSpPr txBox="1"/>
          <p:nvPr/>
        </p:nvSpPr>
        <p:spPr>
          <a:xfrm>
            <a:off x="64922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117" name="Text 114"/>
          <p:cNvSpPr txBox="1"/>
          <p:nvPr/>
        </p:nvSpPr>
        <p:spPr>
          <a:xfrm>
            <a:off x="64008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مُحْتَشِمٌ</a:t>
            </a:r>
            <a:endParaRPr lang="ar-SA" sz="1500" dirty="0"/>
          </a:p>
        </p:txBody>
      </p:sp>
      <p:sp>
        <p:nvSpPr>
          <p:cNvPr id="118" name="Text 11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D2-L04 · Fashion and Identity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Style adjectives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20" name="Text 17"/>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مُلَوَّنٌ / مُلَوَّنَةٌ</a:t>
            </a:r>
            <a:endParaRPr lang="ar-SA" sz="3000" dirty="0"/>
          </a:p>
        </p:txBody>
      </p:sp>
      <p:sp>
        <p:nvSpPr>
          <p:cNvPr id="21" name="Text 18"/>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colourful</a:t>
            </a:r>
            <a:endParaRPr lang="en-US" sz="1350" dirty="0"/>
          </a:p>
          <a:p>
            <a:pPr indent="0" marL="0">
              <a:buNone/>
            </a:pPr>
            <a:r>
              <a:rPr lang="en-US" sz="1100" i="1" dirty="0">
                <a:solidFill>
                  <a:srgbClr val="5A6472"/>
                </a:solidFill>
                <a:latin typeface="Calibri" pitchFamily="34" charset="0"/>
                <a:cs typeface="Amiri" pitchFamily="2" charset="-78"/>
              </a:rPr>
              <a:t>mu-law-wa-nun / mu-law-wa-na-tun</a:t>
            </a:r>
            <a:endParaRPr lang="en-US" sz="1350" dirty="0"/>
          </a:p>
        </p:txBody>
      </p:sp>
      <p:sp>
        <p:nvSpPr>
          <p:cNvPr id="22" name="Shape 19"/>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3" name="Text 20"/>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4" name="Text 21"/>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مَلَابِسُ مُلَوَّنَةٌ</a:t>
            </a:r>
            <a:endParaRPr lang="ar-SA" sz="1500" dirty="0"/>
          </a:p>
        </p:txBody>
      </p:sp>
      <p:sp>
        <p:nvSpPr>
          <p:cNvPr id="25" name="Shape 22"/>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6" name="Text 23"/>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27" name="Text 24"/>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مُلَوَّنَةٌ</a:t>
            </a:r>
            <a:endParaRPr lang="ar-SA" sz="1500" dirty="0"/>
          </a:p>
        </p:txBody>
      </p:sp>
      <p:sp>
        <p:nvSpPr>
          <p:cNvPr id="28" name="Shape 25"/>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29" name="Text 26"/>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30" name="Text 27"/>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مُلَوَّنٌ</a:t>
            </a:r>
            <a:endParaRPr lang="ar-SA" sz="1500" dirty="0"/>
          </a:p>
        </p:txBody>
      </p:sp>
      <p:sp>
        <p:nvSpPr>
          <p:cNvPr id="31" name="Shape 28"/>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389120"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4" name="Shape 31"/>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5" name="Text 32"/>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36" name="Shape 3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8" name="Text 35"/>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بَسِيطٌ / بَسِيطَةٌ</a:t>
            </a:r>
            <a:endParaRPr lang="ar-SA" sz="3000" dirty="0"/>
          </a:p>
        </p:txBody>
      </p:sp>
      <p:sp>
        <p:nvSpPr>
          <p:cNvPr id="39" name="Text 36"/>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simple</a:t>
            </a:r>
            <a:endParaRPr lang="en-US" sz="1350" dirty="0"/>
          </a:p>
          <a:p>
            <a:pPr indent="0" marL="0">
              <a:buNone/>
            </a:pPr>
            <a:r>
              <a:rPr lang="en-US" sz="1100" i="1" dirty="0">
                <a:solidFill>
                  <a:srgbClr val="5A6472"/>
                </a:solidFill>
                <a:latin typeface="Calibri" pitchFamily="34" charset="0"/>
                <a:cs typeface="Amiri" pitchFamily="2" charset="-78"/>
              </a:rPr>
              <a:t>ba-sī-ṭun / ba-sī-ṭa-tun</a:t>
            </a:r>
            <a:endParaRPr lang="en-US" sz="1350" dirty="0"/>
          </a:p>
        </p:txBody>
      </p:sp>
      <p:sp>
        <p:nvSpPr>
          <p:cNvPr id="40" name="Shape 37"/>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2" name="Text 39"/>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بُسَطَاءُ</a:t>
            </a:r>
            <a:endParaRPr lang="ar-SA" sz="1500" dirty="0"/>
          </a:p>
        </p:txBody>
      </p:sp>
      <p:sp>
        <p:nvSpPr>
          <p:cNvPr id="43" name="Shape 40"/>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5" name="Text 42"/>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بَسِيطَةٌ</a:t>
            </a:r>
            <a:endParaRPr lang="ar-SA" sz="1500" dirty="0"/>
          </a:p>
        </p:txBody>
      </p:sp>
      <p:sp>
        <p:nvSpPr>
          <p:cNvPr id="46" name="Shape 43"/>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48" name="Text 45"/>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بَسِيطٌ</a:t>
            </a:r>
            <a:endParaRPr lang="ar-SA" sz="1500" dirty="0"/>
          </a:p>
        </p:txBody>
      </p:sp>
      <p:sp>
        <p:nvSpPr>
          <p:cNvPr id="49" name="Shape 4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566928" y="1920240"/>
            <a:ext cx="310896" cy="310896"/>
          </a:xfrm>
          <a:prstGeom prst="ellipse">
            <a:avLst/>
          </a:prstGeom>
          <a:solidFill>
            <a:srgbClr val="F4F1EA"/>
          </a:solidFill>
          <a:ln w="12700">
            <a:solidFill>
              <a:srgbClr val="F4F1EA"/>
            </a:solidFill>
            <a:prstDash val="solid"/>
          </a:ln>
        </p:spPr>
      </p:sp>
      <p:sp>
        <p:nvSpPr>
          <p:cNvPr id="51" name="Text 4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52" name="Shape 49"/>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53" name="Text 50"/>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54" name="Text 5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مُرِيحٌ / مُرِيحَةٌ</a:t>
            </a:r>
            <a:endParaRPr lang="ar-SA" sz="3000" dirty="0"/>
          </a:p>
        </p:txBody>
      </p:sp>
      <p:sp>
        <p:nvSpPr>
          <p:cNvPr id="55" name="Text 5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comfortable</a:t>
            </a:r>
            <a:endParaRPr lang="en-US" sz="1350" dirty="0"/>
          </a:p>
          <a:p>
            <a:pPr indent="0" marL="0">
              <a:buNone/>
            </a:pPr>
            <a:r>
              <a:rPr lang="en-US" sz="1100" i="1" dirty="0">
                <a:solidFill>
                  <a:srgbClr val="5A6472"/>
                </a:solidFill>
                <a:latin typeface="Calibri" pitchFamily="34" charset="0"/>
                <a:cs typeface="Amiri" pitchFamily="2" charset="-78"/>
              </a:rPr>
              <a:t>mu-rī-ḥun / mu-rī-ḥa-tun</a:t>
            </a:r>
            <a:endParaRPr lang="en-US" sz="1350" dirty="0"/>
          </a:p>
        </p:txBody>
      </p:sp>
      <p:sp>
        <p:nvSpPr>
          <p:cNvPr id="56" name="Shape 53"/>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8" name="Text 55"/>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مَلَابِسُ مُرِيحَةٌ</a:t>
            </a:r>
            <a:endParaRPr lang="ar-SA" sz="1500" dirty="0"/>
          </a:p>
        </p:txBody>
      </p:sp>
      <p:sp>
        <p:nvSpPr>
          <p:cNvPr id="59" name="Shape 56"/>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61" name="Text 58"/>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مُرِيحَةٌ</a:t>
            </a:r>
            <a:endParaRPr lang="ar-SA" sz="1500" dirty="0"/>
          </a:p>
        </p:txBody>
      </p:sp>
      <p:sp>
        <p:nvSpPr>
          <p:cNvPr id="62" name="Shape 59"/>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3" name="Text 60"/>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64" name="Text 61"/>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مُرِيحٌ</a:t>
            </a:r>
            <a:endParaRPr lang="ar-SA" sz="1500" dirty="0"/>
          </a:p>
        </p:txBody>
      </p:sp>
      <p:sp>
        <p:nvSpPr>
          <p:cNvPr id="65" name="Shape 6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Shape 63"/>
          <p:cNvSpPr/>
          <p:nvPr/>
        </p:nvSpPr>
        <p:spPr>
          <a:xfrm>
            <a:off x="8211312" y="4261104"/>
            <a:ext cx="310896" cy="310896"/>
          </a:xfrm>
          <a:prstGeom prst="ellipse">
            <a:avLst/>
          </a:prstGeom>
          <a:solidFill>
            <a:srgbClr val="F4F1EA"/>
          </a:solidFill>
          <a:ln w="12700">
            <a:solidFill>
              <a:srgbClr val="F4F1EA"/>
            </a:solidFill>
            <a:prstDash val="solid"/>
          </a:ln>
        </p:spPr>
      </p:sp>
      <p:sp>
        <p:nvSpPr>
          <p:cNvPr id="67" name="Text 6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68" name="Shape 65"/>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69" name="Text 66"/>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70" name="Text 67"/>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عَمَلِيٌّ / عَمَلِيَّةٌ</a:t>
            </a:r>
            <a:endParaRPr lang="ar-SA" sz="3000" dirty="0"/>
          </a:p>
        </p:txBody>
      </p:sp>
      <p:sp>
        <p:nvSpPr>
          <p:cNvPr id="71" name="Text 68"/>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practical</a:t>
            </a:r>
            <a:endParaRPr lang="en-US" sz="1350" dirty="0"/>
          </a:p>
          <a:p>
            <a:pPr indent="0" marL="0">
              <a:buNone/>
            </a:pPr>
            <a:r>
              <a:rPr lang="en-US" sz="1100" i="1" dirty="0">
                <a:solidFill>
                  <a:srgbClr val="5A6472"/>
                </a:solidFill>
                <a:latin typeface="Calibri" pitchFamily="34" charset="0"/>
                <a:cs typeface="Amiri" pitchFamily="2" charset="-78"/>
              </a:rPr>
              <a:t>ʿa-ma-liy-yun / ʿa-ma-liy-ya-tun</a:t>
            </a:r>
            <a:endParaRPr lang="en-US" sz="1350" dirty="0"/>
          </a:p>
        </p:txBody>
      </p:sp>
      <p:sp>
        <p:nvSpPr>
          <p:cNvPr id="72" name="Shape 69"/>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74" name="Text 71"/>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مَلَابِسُ عَمَلِيَّةٌ</a:t>
            </a:r>
            <a:endParaRPr lang="ar-SA" sz="1500" dirty="0"/>
          </a:p>
        </p:txBody>
      </p:sp>
      <p:sp>
        <p:nvSpPr>
          <p:cNvPr id="75" name="Shape 72"/>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76" name="Text 73"/>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77" name="Text 74"/>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عَمَلِيَّةٌ</a:t>
            </a:r>
            <a:endParaRPr lang="ar-SA" sz="1500" dirty="0"/>
          </a:p>
        </p:txBody>
      </p:sp>
      <p:sp>
        <p:nvSpPr>
          <p:cNvPr id="78" name="Shape 75"/>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79" name="Text 76"/>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80" name="Text 77"/>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عَمَلِيٌّ</a:t>
            </a:r>
            <a:endParaRPr lang="ar-SA" sz="1500" dirty="0"/>
          </a:p>
        </p:txBody>
      </p:sp>
      <p:sp>
        <p:nvSpPr>
          <p:cNvPr id="81" name="Shape 7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2" name="Shape 79"/>
          <p:cNvSpPr/>
          <p:nvPr/>
        </p:nvSpPr>
        <p:spPr>
          <a:xfrm>
            <a:off x="4389120" y="4261104"/>
            <a:ext cx="310896" cy="310896"/>
          </a:xfrm>
          <a:prstGeom prst="ellipse">
            <a:avLst/>
          </a:prstGeom>
          <a:solidFill>
            <a:srgbClr val="F4F1EA"/>
          </a:solidFill>
          <a:ln w="12700">
            <a:solidFill>
              <a:srgbClr val="F4F1EA"/>
            </a:solidFill>
            <a:prstDash val="solid"/>
          </a:ln>
        </p:spPr>
      </p:sp>
      <p:sp>
        <p:nvSpPr>
          <p:cNvPr id="83" name="Text 8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84" name="Text 8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يُعَبِّرُ عَنْ</a:t>
            </a:r>
            <a:endParaRPr lang="ar-SA" sz="3000" dirty="0"/>
          </a:p>
        </p:txBody>
      </p:sp>
      <p:sp>
        <p:nvSpPr>
          <p:cNvPr id="85" name="Text 8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expresses</a:t>
            </a:r>
            <a:endParaRPr lang="en-US" sz="1350" dirty="0"/>
          </a:p>
          <a:p>
            <a:pPr indent="0" marL="0">
              <a:buNone/>
            </a:pPr>
            <a:r>
              <a:rPr lang="en-US" sz="1100" i="1" dirty="0">
                <a:solidFill>
                  <a:srgbClr val="5A6472"/>
                </a:solidFill>
                <a:latin typeface="Calibri" pitchFamily="34" charset="0"/>
                <a:cs typeface="Amiri" pitchFamily="2" charset="-78"/>
              </a:rPr>
              <a:t>yu-ʿab-bi-ru ʿan</a:t>
            </a:r>
            <a:endParaRPr lang="en-US" sz="1350" dirty="0"/>
          </a:p>
        </p:txBody>
      </p:sp>
      <p:sp>
        <p:nvSpPr>
          <p:cNvPr id="86" name="Shape 83"/>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7" name="Shape 84"/>
          <p:cNvSpPr/>
          <p:nvPr/>
        </p:nvSpPr>
        <p:spPr>
          <a:xfrm>
            <a:off x="566928" y="4261104"/>
            <a:ext cx="310896" cy="310896"/>
          </a:xfrm>
          <a:prstGeom prst="ellipse">
            <a:avLst/>
          </a:prstGeom>
          <a:solidFill>
            <a:srgbClr val="F4F1EA"/>
          </a:solidFill>
          <a:ln w="12700">
            <a:solidFill>
              <a:srgbClr val="F4F1EA"/>
            </a:solidFill>
            <a:prstDash val="solid"/>
          </a:ln>
        </p:spPr>
      </p:sp>
      <p:sp>
        <p:nvSpPr>
          <p:cNvPr id="88" name="Text 85"/>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89" name="Text 86"/>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يُنَاسِبُ</a:t>
            </a:r>
            <a:endParaRPr lang="ar-SA" sz="3000" dirty="0"/>
          </a:p>
        </p:txBody>
      </p:sp>
      <p:sp>
        <p:nvSpPr>
          <p:cNvPr id="90" name="Text 87"/>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suits</a:t>
            </a:r>
            <a:endParaRPr lang="en-US" sz="1350" dirty="0"/>
          </a:p>
          <a:p>
            <a:pPr indent="0" marL="0">
              <a:buNone/>
            </a:pPr>
            <a:r>
              <a:rPr lang="en-US" sz="1100" i="1" dirty="0">
                <a:solidFill>
                  <a:srgbClr val="5A6472"/>
                </a:solidFill>
                <a:latin typeface="Calibri" pitchFamily="34" charset="0"/>
                <a:cs typeface="Amiri" pitchFamily="2" charset="-78"/>
              </a:rPr>
              <a:t>yu-nā-si-bu</a:t>
            </a:r>
            <a:endParaRPr lang="en-US" sz="1350" dirty="0"/>
          </a:p>
        </p:txBody>
      </p:sp>
      <p:sp>
        <p:nvSpPr>
          <p:cNvPr id="91" name="Text 8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D2-L04 · Fashion and Identity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Opinion and balance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لِأَنَّ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because</a:t>
            </a:r>
            <a:endParaRPr lang="en-US" sz="1350" dirty="0"/>
          </a:p>
          <a:p>
            <a:pPr indent="0" marL="0">
              <a:buNone/>
            </a:pPr>
            <a:r>
              <a:rPr lang="en-US" sz="1100" i="1" dirty="0">
                <a:solidFill>
                  <a:srgbClr val="5A6472"/>
                </a:solidFill>
                <a:latin typeface="Calibri" pitchFamily="34" charset="0"/>
                <a:cs typeface="Amiri" pitchFamily="2" charset="-78"/>
              </a:rPr>
              <a:t>li-ʾan-na</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لِذٰلِكَ</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therefore</a:t>
            </a:r>
            <a:endParaRPr lang="en-US" sz="1350" dirty="0"/>
          </a:p>
          <a:p>
            <a:pPr indent="0" marL="0">
              <a:buNone/>
            </a:pPr>
            <a:r>
              <a:rPr lang="en-US" sz="1100" i="1" dirty="0">
                <a:solidFill>
                  <a:srgbClr val="5A6472"/>
                </a:solidFill>
                <a:latin typeface="Calibri" pitchFamily="34" charset="0"/>
                <a:cs typeface="Amiri" pitchFamily="2" charset="-78"/>
              </a:rPr>
              <a:t>li-dhā-li-ka</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30" name="Shape 2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وَلٰكِنَّ</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but/however</a:t>
            </a:r>
            <a:endParaRPr lang="en-US" sz="1350" dirty="0"/>
          </a:p>
          <a:p>
            <a:pPr indent="0" marL="0">
              <a:buNone/>
            </a:pPr>
            <a:r>
              <a:rPr lang="en-US" sz="1100" i="1" dirty="0">
                <a:solidFill>
                  <a:srgbClr val="5A6472"/>
                </a:solidFill>
                <a:latin typeface="Calibri" pitchFamily="34" charset="0"/>
                <a:cs typeface="Amiri" pitchFamily="2" charset="-78"/>
              </a:rPr>
              <a:t>wa-lā-kin-na</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بَيْنَمَا</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whereas/while</a:t>
            </a:r>
            <a:endParaRPr lang="en-US" sz="1350" dirty="0"/>
          </a:p>
          <a:p>
            <a:pPr indent="0" marL="0">
              <a:buNone/>
            </a:pPr>
            <a:r>
              <a:rPr lang="en-US" sz="1100" i="1" dirty="0">
                <a:solidFill>
                  <a:srgbClr val="5A6472"/>
                </a:solidFill>
                <a:latin typeface="Calibri" pitchFamily="34" charset="0"/>
                <a:cs typeface="Amiri" pitchFamily="2" charset="-78"/>
              </a:rPr>
              <a:t>bay-na-mā</a:t>
            </a:r>
            <a:endParaRPr lang="en-US" sz="1350" dirty="0"/>
          </a:p>
        </p:txBody>
      </p:sp>
      <p:sp>
        <p:nvSpPr>
          <p:cNvPr id="39" name="Shape 3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4389120"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42" name="Shape 39"/>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عَلَى الرَّغْمِ مِنْ أَنَّ</a:t>
            </a:r>
            <a:endParaRPr lang="ar-SA" sz="3000" dirty="0"/>
          </a:p>
        </p:txBody>
      </p:sp>
      <p:sp>
        <p:nvSpPr>
          <p:cNvPr id="45" name="Text 4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although</a:t>
            </a:r>
            <a:endParaRPr lang="en-US" sz="1350" dirty="0"/>
          </a:p>
          <a:p>
            <a:pPr indent="0" marL="0">
              <a:buNone/>
            </a:pPr>
            <a:r>
              <a:rPr lang="en-US" sz="1100" i="1" dirty="0">
                <a:solidFill>
                  <a:srgbClr val="5A6472"/>
                </a:solidFill>
                <a:latin typeface="Calibri" pitchFamily="34" charset="0"/>
                <a:cs typeface="Amiri" pitchFamily="2" charset="-78"/>
              </a:rPr>
              <a:t>ʿa-lā ar-ragh-mi min an-na</a:t>
            </a:r>
            <a:endParaRPr lang="en-US" sz="1350" dirty="0"/>
          </a:p>
        </p:txBody>
      </p:sp>
      <p:sp>
        <p:nvSpPr>
          <p:cNvPr id="46" name="Shape 43"/>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66928" y="4261104"/>
            <a:ext cx="310896" cy="310896"/>
          </a:xfrm>
          <a:prstGeom prst="ellipse">
            <a:avLst/>
          </a:prstGeom>
          <a:solidFill>
            <a:srgbClr val="F4F1EA"/>
          </a:solidFill>
          <a:ln w="12700">
            <a:solidFill>
              <a:srgbClr val="F4F1EA"/>
            </a:solidFill>
            <a:prstDash val="solid"/>
          </a:ln>
        </p:spPr>
      </p:sp>
      <p:sp>
        <p:nvSpPr>
          <p:cNvPr id="48" name="Text 45"/>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49" name="Shape 46"/>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0" name="Text 47"/>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1" name="Text 48"/>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فِي رَأْيِي</a:t>
            </a:r>
            <a:endParaRPr lang="ar-SA" sz="3000" dirty="0"/>
          </a:p>
        </p:txBody>
      </p:sp>
      <p:sp>
        <p:nvSpPr>
          <p:cNvPr id="52" name="Text 49"/>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my opinion</a:t>
            </a:r>
            <a:endParaRPr lang="en-US" sz="1350" dirty="0"/>
          </a:p>
          <a:p>
            <a:pPr indent="0" marL="0">
              <a:buNone/>
            </a:pPr>
            <a:r>
              <a:rPr lang="en-US" sz="1100" i="1" dirty="0">
                <a:solidFill>
                  <a:srgbClr val="5A6472"/>
                </a:solidFill>
                <a:latin typeface="Calibri" pitchFamily="34" charset="0"/>
                <a:cs typeface="Amiri" pitchFamily="2" charset="-78"/>
              </a:rPr>
              <a:t>fī raʾ-yī</a:t>
            </a:r>
            <a:endParaRPr lang="en-US" sz="1350" dirty="0"/>
          </a:p>
        </p:txBody>
      </p:sp>
      <p:sp>
        <p:nvSpPr>
          <p:cNvPr id="53" name="Text 5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D2-L04 · Fashion and Identity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Opinion and balance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مِنْ جِهَةٍ</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on one hand</a:t>
            </a:r>
            <a:endParaRPr lang="en-US" sz="1350" dirty="0"/>
          </a:p>
          <a:p>
            <a:pPr indent="0" marL="0">
              <a:buNone/>
            </a:pPr>
            <a:r>
              <a:rPr lang="en-US" sz="1100" i="1" dirty="0">
                <a:solidFill>
                  <a:srgbClr val="5A6472"/>
                </a:solidFill>
                <a:latin typeface="Calibri" pitchFamily="34" charset="0"/>
                <a:cs typeface="Amiri" pitchFamily="2" charset="-78"/>
              </a:rPr>
              <a:t>min ji-ha-tin</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23" name="Text 2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مِنْ جِهَةٍ أُخْرَى</a:t>
            </a:r>
            <a:endParaRPr lang="ar-SA" sz="3000" dirty="0"/>
          </a:p>
        </p:txBody>
      </p:sp>
      <p:sp>
        <p:nvSpPr>
          <p:cNvPr id="24" name="Text 2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on the other hand</a:t>
            </a:r>
            <a:endParaRPr lang="en-US" sz="1350" dirty="0"/>
          </a:p>
          <a:p>
            <a:pPr indent="0" marL="0">
              <a:buNone/>
            </a:pPr>
            <a:r>
              <a:rPr lang="en-US" sz="1100" i="1" dirty="0">
                <a:solidFill>
                  <a:srgbClr val="5A6472"/>
                </a:solidFill>
                <a:latin typeface="Calibri" pitchFamily="34" charset="0"/>
                <a:cs typeface="Amiri" pitchFamily="2" charset="-78"/>
              </a:rPr>
              <a:t>min ji-ha-tin ukh-rā</a:t>
            </a:r>
            <a:endParaRPr lang="en-US" sz="1350" dirty="0"/>
          </a:p>
        </p:txBody>
      </p:sp>
      <p:sp>
        <p:nvSpPr>
          <p:cNvPr id="25" name="Shape 2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566928"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28" name="Text 25"/>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خُصُوصًا</a:t>
            </a:r>
            <a:endParaRPr lang="ar-SA" sz="3000" dirty="0"/>
          </a:p>
        </p:txBody>
      </p:sp>
      <p:sp>
        <p:nvSpPr>
          <p:cNvPr id="29" name="Text 26"/>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especially</a:t>
            </a:r>
            <a:endParaRPr lang="en-US" sz="1350" dirty="0"/>
          </a:p>
          <a:p>
            <a:pPr indent="0" marL="0">
              <a:buNone/>
            </a:pPr>
            <a:r>
              <a:rPr lang="en-US" sz="1100" i="1" dirty="0">
                <a:solidFill>
                  <a:srgbClr val="5A6472"/>
                </a:solidFill>
                <a:latin typeface="Calibri" pitchFamily="34" charset="0"/>
                <a:cs typeface="Amiri" pitchFamily="2" charset="-78"/>
              </a:rPr>
              <a:t>khu-ṣū-ṣan</a:t>
            </a:r>
            <a:endParaRPr lang="en-US" sz="1350" dirty="0"/>
          </a:p>
        </p:txBody>
      </p:sp>
      <p:sp>
        <p:nvSpPr>
          <p:cNvPr id="30" name="Shape 2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8211312" y="4261104"/>
            <a:ext cx="310896" cy="310896"/>
          </a:xfrm>
          <a:prstGeom prst="ellipse">
            <a:avLst/>
          </a:prstGeom>
          <a:solidFill>
            <a:srgbClr val="F4F1EA"/>
          </a:solidFill>
          <a:ln w="12700">
            <a:solidFill>
              <a:srgbClr val="F4F1EA"/>
            </a:solidFill>
            <a:prstDash val="solid"/>
          </a:ln>
        </p:spPr>
      </p:sp>
      <p:sp>
        <p:nvSpPr>
          <p:cNvPr id="32" name="Text 2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33" name="Text 30"/>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عَادَةً</a:t>
            </a:r>
            <a:endParaRPr lang="ar-SA" sz="3000" dirty="0"/>
          </a:p>
        </p:txBody>
      </p:sp>
      <p:sp>
        <p:nvSpPr>
          <p:cNvPr id="34" name="Text 31"/>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usually</a:t>
            </a:r>
            <a:endParaRPr lang="en-US" sz="1350" dirty="0"/>
          </a:p>
          <a:p>
            <a:pPr indent="0" marL="0">
              <a:buNone/>
            </a:pPr>
            <a:r>
              <a:rPr lang="en-US" sz="1100" i="1" dirty="0">
                <a:solidFill>
                  <a:srgbClr val="5A6472"/>
                </a:solidFill>
                <a:latin typeface="Calibri" pitchFamily="34" charset="0"/>
                <a:cs typeface="Amiri" pitchFamily="2" charset="-78"/>
              </a:rPr>
              <a:t>ʿā-da-tan</a:t>
            </a:r>
            <a:endParaRPr lang="en-US" sz="1350" dirty="0"/>
          </a:p>
        </p:txBody>
      </p:sp>
      <p:sp>
        <p:nvSpPr>
          <p:cNvPr id="35" name="Shape 3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4389120" y="4261104"/>
            <a:ext cx="310896" cy="310896"/>
          </a:xfrm>
          <a:prstGeom prst="ellipse">
            <a:avLst/>
          </a:prstGeom>
          <a:solidFill>
            <a:srgbClr val="F4F1EA"/>
          </a:solidFill>
          <a:ln w="12700">
            <a:solidFill>
              <a:srgbClr val="F4F1EA"/>
            </a:solidFill>
            <a:prstDash val="solid"/>
          </a:ln>
        </p:spPr>
      </p:sp>
      <p:sp>
        <p:nvSpPr>
          <p:cNvPr id="37" name="Text 3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38" name="Text 35"/>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أَحْيَانًا</a:t>
            </a:r>
            <a:endParaRPr lang="ar-SA" sz="3000" dirty="0"/>
          </a:p>
        </p:txBody>
      </p:sp>
      <p:sp>
        <p:nvSpPr>
          <p:cNvPr id="39" name="Text 36"/>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sometimes</a:t>
            </a:r>
            <a:endParaRPr lang="en-US" sz="1350" dirty="0"/>
          </a:p>
          <a:p>
            <a:pPr indent="0" marL="0">
              <a:buNone/>
            </a:pPr>
            <a:r>
              <a:rPr lang="en-US" sz="1100" i="1" dirty="0">
                <a:solidFill>
                  <a:srgbClr val="5A6472"/>
                </a:solidFill>
                <a:latin typeface="Calibri" pitchFamily="34" charset="0"/>
                <a:cs typeface="Amiri" pitchFamily="2" charset="-78"/>
              </a:rPr>
              <a:t>aḥ-yā-nan</a:t>
            </a:r>
            <a:endParaRPr lang="en-US" sz="1350" dirty="0"/>
          </a:p>
        </p:txBody>
      </p:sp>
      <p:sp>
        <p:nvSpPr>
          <p:cNvPr id="40" name="Shape 3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66928" y="4261104"/>
            <a:ext cx="310896" cy="310896"/>
          </a:xfrm>
          <a:prstGeom prst="ellipse">
            <a:avLst/>
          </a:prstGeom>
          <a:solidFill>
            <a:srgbClr val="F4F1EA"/>
          </a:solidFill>
          <a:ln w="12700">
            <a:solidFill>
              <a:srgbClr val="F4F1EA"/>
            </a:solidFill>
            <a:prstDash val="solid"/>
          </a:ln>
        </p:spPr>
      </p:sp>
      <p:sp>
        <p:nvSpPr>
          <p:cNvPr id="42" name="Text 3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43" name="Text 40"/>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دَائِمًا</a:t>
            </a:r>
            <a:endParaRPr lang="ar-SA" sz="3000" dirty="0"/>
          </a:p>
        </p:txBody>
      </p:sp>
      <p:sp>
        <p:nvSpPr>
          <p:cNvPr id="44" name="Text 41"/>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always</a:t>
            </a:r>
            <a:endParaRPr lang="en-US" sz="1350" dirty="0"/>
          </a:p>
          <a:p>
            <a:pPr indent="0" marL="0">
              <a:buNone/>
            </a:pPr>
            <a:r>
              <a:rPr lang="en-US" sz="1100" i="1" dirty="0">
                <a:solidFill>
                  <a:srgbClr val="5A6472"/>
                </a:solidFill>
                <a:latin typeface="Calibri" pitchFamily="34" charset="0"/>
                <a:cs typeface="Amiri" pitchFamily="2" charset="-78"/>
              </a:rPr>
              <a:t>dā-ʾi-man</a:t>
            </a:r>
            <a:endParaRPr lang="en-US" sz="13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D2-L04 · Fashion and Identity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Clothing reference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D2-L04</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25</a:t>
            </a:r>
            <a:endParaRPr lang="en-US" sz="1000" dirty="0"/>
          </a:p>
        </p:txBody>
      </p:sp>
      <p:sp>
        <p:nvSpPr>
          <p:cNvPr id="20" name="Shape 17"/>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pl</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قَمِيصٌ</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shirt</a:t>
            </a:r>
            <a:endParaRPr lang="en-US" sz="1350" dirty="0"/>
          </a:p>
          <a:p>
            <a:pPr indent="0" marL="0">
              <a:buNone/>
            </a:pPr>
            <a:r>
              <a:rPr lang="en-US" sz="1100" i="1" dirty="0">
                <a:solidFill>
                  <a:srgbClr val="5A6472"/>
                </a:solidFill>
                <a:latin typeface="Calibri" pitchFamily="34" charset="0"/>
                <a:cs typeface="Amiri" pitchFamily="2" charset="-78"/>
              </a:rPr>
              <a:t>qa-mī-ṣun</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قُمْصَانٌ</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this</a:t>
            </a:r>
            <a:endParaRPr lang="en-US" sz="700" dirty="0"/>
          </a:p>
        </p:txBody>
      </p:sp>
      <p:sp>
        <p:nvSpPr>
          <p:cNvPr id="29" name="Text 26"/>
          <p:cNvSpPr txBox="1"/>
          <p:nvPr/>
        </p:nvSpPr>
        <p:spPr>
          <a:xfrm>
            <a:off x="9436608"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هٰذَا القَمِيصُ</a:t>
            </a:r>
            <a:endParaRPr lang="ar-SA" sz="135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مُذَكَّرٌ</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26</a:t>
            </a:r>
            <a:endParaRPr lang="en-US" sz="1000" dirty="0"/>
          </a:p>
        </p:txBody>
      </p:sp>
      <p:sp>
        <p:nvSpPr>
          <p:cNvPr id="36" name="Shape 33"/>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 · pl</a:t>
            </a:r>
            <a:endParaRPr lang="en-US" sz="800" dirty="0"/>
          </a:p>
        </p:txBody>
      </p:sp>
      <p:sp>
        <p:nvSpPr>
          <p:cNvPr id="38" name="Text 35"/>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قَمِيصَةٌ</a:t>
            </a:r>
            <a:endParaRPr lang="ar-SA" sz="3000" dirty="0"/>
          </a:p>
        </p:txBody>
      </p:sp>
      <p:sp>
        <p:nvSpPr>
          <p:cNvPr id="39" name="Text 36"/>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blouse</a:t>
            </a:r>
            <a:endParaRPr lang="en-US" sz="1350" dirty="0"/>
          </a:p>
          <a:p>
            <a:pPr indent="0" marL="0">
              <a:buNone/>
            </a:pPr>
            <a:r>
              <a:rPr lang="en-US" sz="1100" i="1" dirty="0">
                <a:solidFill>
                  <a:srgbClr val="5A6472"/>
                </a:solidFill>
                <a:latin typeface="Calibri" pitchFamily="34" charset="0"/>
                <a:cs typeface="Amiri" pitchFamily="2" charset="-78"/>
              </a:rPr>
              <a:t>qa-mī-ṣa-tun</a:t>
            </a:r>
            <a:endParaRPr lang="en-US" sz="1350" dirty="0"/>
          </a:p>
        </p:txBody>
      </p:sp>
      <p:sp>
        <p:nvSpPr>
          <p:cNvPr id="40" name="Shape 37"/>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2" name="Text 39"/>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قَمِيصَاتٌ</a:t>
            </a:r>
            <a:endParaRPr lang="ar-SA" sz="1500" dirty="0"/>
          </a:p>
        </p:txBody>
      </p:sp>
      <p:sp>
        <p:nvSpPr>
          <p:cNvPr id="43" name="Shape 40"/>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this</a:t>
            </a:r>
            <a:endParaRPr lang="en-US" sz="700" dirty="0"/>
          </a:p>
        </p:txBody>
      </p:sp>
      <p:sp>
        <p:nvSpPr>
          <p:cNvPr id="45" name="Text 42"/>
          <p:cNvSpPr txBox="1"/>
          <p:nvPr/>
        </p:nvSpPr>
        <p:spPr>
          <a:xfrm>
            <a:off x="5614416"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هٰذِهِ القَمِيصَةُ</a:t>
            </a:r>
            <a:endParaRPr lang="ar-SA" sz="1350" dirty="0"/>
          </a:p>
        </p:txBody>
      </p:sp>
      <p:sp>
        <p:nvSpPr>
          <p:cNvPr id="46" name="Shape 43"/>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8" name="Text 45"/>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مُؤَنَّثٌ</a:t>
            </a:r>
            <a:endParaRPr lang="ar-SA" sz="1500" dirty="0"/>
          </a:p>
        </p:txBody>
      </p:sp>
      <p:sp>
        <p:nvSpPr>
          <p:cNvPr id="49" name="Shape 4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566928" y="1920240"/>
            <a:ext cx="310896" cy="310896"/>
          </a:xfrm>
          <a:prstGeom prst="ellipse">
            <a:avLst/>
          </a:prstGeom>
          <a:solidFill>
            <a:srgbClr val="F4F1EA"/>
          </a:solidFill>
          <a:ln w="12700">
            <a:solidFill>
              <a:srgbClr val="F4F1EA"/>
            </a:solidFill>
            <a:prstDash val="solid"/>
          </a:ln>
        </p:spPr>
      </p:sp>
      <p:sp>
        <p:nvSpPr>
          <p:cNvPr id="51" name="Text 4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27</a:t>
            </a:r>
            <a:endParaRPr lang="en-US" sz="1000" dirty="0"/>
          </a:p>
        </p:txBody>
      </p:sp>
      <p:sp>
        <p:nvSpPr>
          <p:cNvPr id="52" name="Shape 49"/>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53" name="Text 50"/>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pl</a:t>
            </a:r>
            <a:endParaRPr lang="en-US" sz="800" dirty="0"/>
          </a:p>
        </p:txBody>
      </p:sp>
      <p:sp>
        <p:nvSpPr>
          <p:cNvPr id="54" name="Text 5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سِرْوَالٌ</a:t>
            </a:r>
            <a:endParaRPr lang="ar-SA" sz="3000" dirty="0"/>
          </a:p>
        </p:txBody>
      </p:sp>
      <p:sp>
        <p:nvSpPr>
          <p:cNvPr id="55" name="Text 5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trousers</a:t>
            </a:r>
            <a:endParaRPr lang="en-US" sz="1350" dirty="0"/>
          </a:p>
          <a:p>
            <a:pPr indent="0" marL="0">
              <a:buNone/>
            </a:pPr>
            <a:r>
              <a:rPr lang="en-US" sz="1100" i="1" dirty="0">
                <a:solidFill>
                  <a:srgbClr val="5A6472"/>
                </a:solidFill>
                <a:latin typeface="Calibri" pitchFamily="34" charset="0"/>
                <a:cs typeface="Amiri" pitchFamily="2" charset="-78"/>
              </a:rPr>
              <a:t>sir-wā-lun</a:t>
            </a:r>
            <a:endParaRPr lang="en-US" sz="1350" dirty="0"/>
          </a:p>
        </p:txBody>
      </p:sp>
      <p:sp>
        <p:nvSpPr>
          <p:cNvPr id="56" name="Shape 53"/>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8" name="Text 55"/>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سَرَاوِيلُ</a:t>
            </a:r>
            <a:endParaRPr lang="ar-SA" sz="1500" dirty="0"/>
          </a:p>
        </p:txBody>
      </p:sp>
      <p:sp>
        <p:nvSpPr>
          <p:cNvPr id="59" name="Shape 56"/>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this</a:t>
            </a:r>
            <a:endParaRPr lang="en-US" sz="700" dirty="0"/>
          </a:p>
        </p:txBody>
      </p:sp>
      <p:sp>
        <p:nvSpPr>
          <p:cNvPr id="61" name="Text 58"/>
          <p:cNvSpPr txBox="1"/>
          <p:nvPr/>
        </p:nvSpPr>
        <p:spPr>
          <a:xfrm>
            <a:off x="1792224"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هٰذَا السِّرْوَالُ</a:t>
            </a:r>
            <a:endParaRPr lang="ar-SA" sz="1350" dirty="0"/>
          </a:p>
        </p:txBody>
      </p:sp>
      <p:sp>
        <p:nvSpPr>
          <p:cNvPr id="62" name="Shape 59"/>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3" name="Text 60"/>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64" name="Text 61"/>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مُذَكَّرٌ</a:t>
            </a:r>
            <a:endParaRPr lang="ar-SA" sz="1500" dirty="0"/>
          </a:p>
        </p:txBody>
      </p:sp>
      <p:sp>
        <p:nvSpPr>
          <p:cNvPr id="65" name="Shape 6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Shape 63"/>
          <p:cNvSpPr/>
          <p:nvPr/>
        </p:nvSpPr>
        <p:spPr>
          <a:xfrm>
            <a:off x="8211312" y="4261104"/>
            <a:ext cx="310896" cy="310896"/>
          </a:xfrm>
          <a:prstGeom prst="ellipse">
            <a:avLst/>
          </a:prstGeom>
          <a:solidFill>
            <a:srgbClr val="F4F1EA"/>
          </a:solidFill>
          <a:ln w="12700">
            <a:solidFill>
              <a:srgbClr val="F4F1EA"/>
            </a:solidFill>
            <a:prstDash val="solid"/>
          </a:ln>
        </p:spPr>
      </p:sp>
      <p:sp>
        <p:nvSpPr>
          <p:cNvPr id="67" name="Text 6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28</a:t>
            </a:r>
            <a:endParaRPr lang="en-US" sz="1000" dirty="0"/>
          </a:p>
        </p:txBody>
      </p:sp>
      <p:sp>
        <p:nvSpPr>
          <p:cNvPr id="68" name="Shape 65"/>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69" name="Text 66"/>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 · pl</a:t>
            </a:r>
            <a:endParaRPr lang="en-US" sz="800" dirty="0"/>
          </a:p>
        </p:txBody>
      </p:sp>
      <p:sp>
        <p:nvSpPr>
          <p:cNvPr id="70" name="Text 67"/>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تَنُّورَةٌ</a:t>
            </a:r>
            <a:endParaRPr lang="ar-SA" sz="3000" dirty="0"/>
          </a:p>
        </p:txBody>
      </p:sp>
      <p:sp>
        <p:nvSpPr>
          <p:cNvPr id="71" name="Text 68"/>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skirt</a:t>
            </a:r>
            <a:endParaRPr lang="en-US" sz="1350" dirty="0"/>
          </a:p>
          <a:p>
            <a:pPr indent="0" marL="0">
              <a:buNone/>
            </a:pPr>
            <a:r>
              <a:rPr lang="en-US" sz="1100" i="1" dirty="0">
                <a:solidFill>
                  <a:srgbClr val="5A6472"/>
                </a:solidFill>
                <a:latin typeface="Calibri" pitchFamily="34" charset="0"/>
                <a:cs typeface="Amiri" pitchFamily="2" charset="-78"/>
              </a:rPr>
              <a:t>tan-nū-ra-tun</a:t>
            </a:r>
            <a:endParaRPr lang="en-US" sz="1350" dirty="0"/>
          </a:p>
        </p:txBody>
      </p:sp>
      <p:sp>
        <p:nvSpPr>
          <p:cNvPr id="72" name="Shape 69"/>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74" name="Text 71"/>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تَنَانِيرُ</a:t>
            </a:r>
            <a:endParaRPr lang="ar-SA" sz="1500" dirty="0"/>
          </a:p>
        </p:txBody>
      </p:sp>
      <p:sp>
        <p:nvSpPr>
          <p:cNvPr id="75" name="Shape 72"/>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76" name="Text 73"/>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this</a:t>
            </a:r>
            <a:endParaRPr lang="en-US" sz="700" dirty="0"/>
          </a:p>
        </p:txBody>
      </p:sp>
      <p:sp>
        <p:nvSpPr>
          <p:cNvPr id="77" name="Text 74"/>
          <p:cNvSpPr txBox="1"/>
          <p:nvPr/>
        </p:nvSpPr>
        <p:spPr>
          <a:xfrm>
            <a:off x="9436608"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هٰذِهِ التَّنُّورَةُ</a:t>
            </a:r>
            <a:endParaRPr lang="ar-SA" sz="1350" dirty="0"/>
          </a:p>
        </p:txBody>
      </p:sp>
      <p:sp>
        <p:nvSpPr>
          <p:cNvPr id="78" name="Shape 75"/>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79" name="Text 76"/>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80" name="Text 77"/>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مُؤَنَّثٌ</a:t>
            </a:r>
            <a:endParaRPr lang="ar-SA" sz="1500" dirty="0"/>
          </a:p>
        </p:txBody>
      </p:sp>
      <p:sp>
        <p:nvSpPr>
          <p:cNvPr id="81" name="Text 7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D2-L04 · Fashion and Identity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Clothing reference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D2-L04</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29</a:t>
            </a:r>
            <a:endParaRPr lang="en-US" sz="1000" dirty="0"/>
          </a:p>
        </p:txBody>
      </p:sp>
      <p:sp>
        <p:nvSpPr>
          <p:cNvPr id="20" name="Shape 17"/>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pl</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فُسْتَانٌ</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dress</a:t>
            </a:r>
            <a:endParaRPr lang="en-US" sz="1350" dirty="0"/>
          </a:p>
          <a:p>
            <a:pPr indent="0" marL="0">
              <a:buNone/>
            </a:pPr>
            <a:r>
              <a:rPr lang="en-US" sz="1100" i="1" dirty="0">
                <a:solidFill>
                  <a:srgbClr val="5A6472"/>
                </a:solidFill>
                <a:latin typeface="Calibri" pitchFamily="34" charset="0"/>
                <a:cs typeface="Amiri" pitchFamily="2" charset="-78"/>
              </a:rPr>
              <a:t>fus-tā-nun</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فَسَاتِينُ</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this</a:t>
            </a:r>
            <a:endParaRPr lang="en-US" sz="700" dirty="0"/>
          </a:p>
        </p:txBody>
      </p:sp>
      <p:sp>
        <p:nvSpPr>
          <p:cNvPr id="29" name="Text 26"/>
          <p:cNvSpPr txBox="1"/>
          <p:nvPr/>
        </p:nvSpPr>
        <p:spPr>
          <a:xfrm>
            <a:off x="9436608"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هٰذَا الفُسْتَانُ</a:t>
            </a:r>
            <a:endParaRPr lang="ar-SA" sz="135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مُذَكَّرٌ</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30</a:t>
            </a:r>
            <a:endParaRPr lang="en-US" sz="1000" dirty="0"/>
          </a:p>
        </p:txBody>
      </p:sp>
      <p:sp>
        <p:nvSpPr>
          <p:cNvPr id="36" name="Shape 33"/>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pl</a:t>
            </a:r>
            <a:endParaRPr lang="en-US" sz="800" dirty="0"/>
          </a:p>
        </p:txBody>
      </p:sp>
      <p:sp>
        <p:nvSpPr>
          <p:cNvPr id="38" name="Text 35"/>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مِعْطَفٌ</a:t>
            </a:r>
            <a:endParaRPr lang="ar-SA" sz="3000" dirty="0"/>
          </a:p>
        </p:txBody>
      </p:sp>
      <p:sp>
        <p:nvSpPr>
          <p:cNvPr id="39" name="Text 36"/>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coat</a:t>
            </a:r>
            <a:endParaRPr lang="en-US" sz="1350" dirty="0"/>
          </a:p>
          <a:p>
            <a:pPr indent="0" marL="0">
              <a:buNone/>
            </a:pPr>
            <a:r>
              <a:rPr lang="en-US" sz="1100" i="1" dirty="0">
                <a:solidFill>
                  <a:srgbClr val="5A6472"/>
                </a:solidFill>
                <a:latin typeface="Calibri" pitchFamily="34" charset="0"/>
                <a:cs typeface="Amiri" pitchFamily="2" charset="-78"/>
              </a:rPr>
              <a:t>miʿ-ṭa-fun</a:t>
            </a:r>
            <a:endParaRPr lang="en-US" sz="1350" dirty="0"/>
          </a:p>
        </p:txBody>
      </p:sp>
      <p:sp>
        <p:nvSpPr>
          <p:cNvPr id="40" name="Shape 37"/>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2" name="Text 39"/>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مَعَاطِفُ</a:t>
            </a:r>
            <a:endParaRPr lang="ar-SA" sz="1500" dirty="0"/>
          </a:p>
        </p:txBody>
      </p:sp>
      <p:sp>
        <p:nvSpPr>
          <p:cNvPr id="43" name="Shape 40"/>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this</a:t>
            </a:r>
            <a:endParaRPr lang="en-US" sz="700" dirty="0"/>
          </a:p>
        </p:txBody>
      </p:sp>
      <p:sp>
        <p:nvSpPr>
          <p:cNvPr id="45" name="Text 42"/>
          <p:cNvSpPr txBox="1"/>
          <p:nvPr/>
        </p:nvSpPr>
        <p:spPr>
          <a:xfrm>
            <a:off x="5614416"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هٰذَا المِعْطَفُ</a:t>
            </a:r>
            <a:endParaRPr lang="ar-SA" sz="1350" dirty="0"/>
          </a:p>
        </p:txBody>
      </p:sp>
      <p:sp>
        <p:nvSpPr>
          <p:cNvPr id="46" name="Shape 43"/>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48" name="Text 45"/>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مُذَكَّرٌ</a:t>
            </a:r>
            <a:endParaRPr lang="ar-SA" sz="1500" dirty="0"/>
          </a:p>
        </p:txBody>
      </p:sp>
      <p:sp>
        <p:nvSpPr>
          <p:cNvPr id="49" name="Shape 4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566928" y="1920240"/>
            <a:ext cx="310896" cy="310896"/>
          </a:xfrm>
          <a:prstGeom prst="ellipse">
            <a:avLst/>
          </a:prstGeom>
          <a:solidFill>
            <a:srgbClr val="F4F1EA"/>
          </a:solidFill>
          <a:ln w="12700">
            <a:solidFill>
              <a:srgbClr val="F4F1EA"/>
            </a:solidFill>
            <a:prstDash val="solid"/>
          </a:ln>
        </p:spPr>
      </p:sp>
      <p:sp>
        <p:nvSpPr>
          <p:cNvPr id="51" name="Text 4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31</a:t>
            </a:r>
            <a:endParaRPr lang="en-US" sz="1000" dirty="0"/>
          </a:p>
        </p:txBody>
      </p:sp>
      <p:sp>
        <p:nvSpPr>
          <p:cNvPr id="52" name="Shape 49"/>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53" name="Text 50"/>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 · pl</a:t>
            </a:r>
            <a:endParaRPr lang="en-US" sz="800" dirty="0"/>
          </a:p>
        </p:txBody>
      </p:sp>
      <p:sp>
        <p:nvSpPr>
          <p:cNvPr id="54" name="Text 5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سُتْرَةٌ</a:t>
            </a:r>
            <a:endParaRPr lang="ar-SA" sz="3000" dirty="0"/>
          </a:p>
        </p:txBody>
      </p:sp>
      <p:sp>
        <p:nvSpPr>
          <p:cNvPr id="55" name="Text 5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jacket</a:t>
            </a:r>
            <a:endParaRPr lang="en-US" sz="1350" dirty="0"/>
          </a:p>
          <a:p>
            <a:pPr indent="0" marL="0">
              <a:buNone/>
            </a:pPr>
            <a:r>
              <a:rPr lang="en-US" sz="1100" i="1" dirty="0">
                <a:solidFill>
                  <a:srgbClr val="5A6472"/>
                </a:solidFill>
                <a:latin typeface="Calibri" pitchFamily="34" charset="0"/>
                <a:cs typeface="Amiri" pitchFamily="2" charset="-78"/>
              </a:rPr>
              <a:t>sut-ra-tun</a:t>
            </a:r>
            <a:endParaRPr lang="en-US" sz="1350" dirty="0"/>
          </a:p>
        </p:txBody>
      </p:sp>
      <p:sp>
        <p:nvSpPr>
          <p:cNvPr id="56" name="Shape 53"/>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8" name="Text 55"/>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سُتَرٌ</a:t>
            </a:r>
            <a:endParaRPr lang="ar-SA" sz="1500" dirty="0"/>
          </a:p>
        </p:txBody>
      </p:sp>
      <p:sp>
        <p:nvSpPr>
          <p:cNvPr id="59" name="Shape 56"/>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this</a:t>
            </a:r>
            <a:endParaRPr lang="en-US" sz="700" dirty="0"/>
          </a:p>
        </p:txBody>
      </p:sp>
      <p:sp>
        <p:nvSpPr>
          <p:cNvPr id="61" name="Text 58"/>
          <p:cNvSpPr txBox="1"/>
          <p:nvPr/>
        </p:nvSpPr>
        <p:spPr>
          <a:xfrm>
            <a:off x="1792224"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هٰذِهِ السُّتْرَةُ</a:t>
            </a:r>
            <a:endParaRPr lang="ar-SA" sz="1350" dirty="0"/>
          </a:p>
        </p:txBody>
      </p:sp>
      <p:sp>
        <p:nvSpPr>
          <p:cNvPr id="62" name="Shape 59"/>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3" name="Text 60"/>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64" name="Text 61"/>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مُؤَنَّثٌ</a:t>
            </a:r>
            <a:endParaRPr lang="ar-SA" sz="1500" dirty="0"/>
          </a:p>
        </p:txBody>
      </p:sp>
      <p:sp>
        <p:nvSpPr>
          <p:cNvPr id="65" name="Shape 6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Shape 63"/>
          <p:cNvSpPr/>
          <p:nvPr/>
        </p:nvSpPr>
        <p:spPr>
          <a:xfrm>
            <a:off x="8211312" y="4261104"/>
            <a:ext cx="310896" cy="310896"/>
          </a:xfrm>
          <a:prstGeom prst="ellipse">
            <a:avLst/>
          </a:prstGeom>
          <a:solidFill>
            <a:srgbClr val="F4F1EA"/>
          </a:solidFill>
          <a:ln w="12700">
            <a:solidFill>
              <a:srgbClr val="F4F1EA"/>
            </a:solidFill>
            <a:prstDash val="solid"/>
          </a:ln>
        </p:spPr>
      </p:sp>
      <p:sp>
        <p:nvSpPr>
          <p:cNvPr id="67" name="Text 6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32</a:t>
            </a:r>
            <a:endParaRPr lang="en-US" sz="1000" dirty="0"/>
          </a:p>
        </p:txBody>
      </p:sp>
      <p:sp>
        <p:nvSpPr>
          <p:cNvPr id="68" name="Shape 65"/>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69" name="Text 66"/>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pl</a:t>
            </a:r>
            <a:endParaRPr lang="en-US" sz="800" dirty="0"/>
          </a:p>
        </p:txBody>
      </p:sp>
      <p:sp>
        <p:nvSpPr>
          <p:cNvPr id="70" name="Text 67"/>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حِذَاءٌ</a:t>
            </a:r>
            <a:endParaRPr lang="ar-SA" sz="3000" dirty="0"/>
          </a:p>
        </p:txBody>
      </p:sp>
      <p:sp>
        <p:nvSpPr>
          <p:cNvPr id="71" name="Text 68"/>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shoes</a:t>
            </a:r>
            <a:endParaRPr lang="en-US" sz="1350" dirty="0"/>
          </a:p>
          <a:p>
            <a:pPr indent="0" marL="0">
              <a:buNone/>
            </a:pPr>
            <a:r>
              <a:rPr lang="en-US" sz="1100" i="1" dirty="0">
                <a:solidFill>
                  <a:srgbClr val="5A6472"/>
                </a:solidFill>
                <a:latin typeface="Calibri" pitchFamily="34" charset="0"/>
                <a:cs typeface="Amiri" pitchFamily="2" charset="-78"/>
              </a:rPr>
              <a:t>ḥi-dhā-ʾun</a:t>
            </a:r>
            <a:endParaRPr lang="en-US" sz="1350" dirty="0"/>
          </a:p>
        </p:txBody>
      </p:sp>
      <p:sp>
        <p:nvSpPr>
          <p:cNvPr id="72" name="Shape 69"/>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74" name="Text 71"/>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أَحْذِيَةٌ</a:t>
            </a:r>
            <a:endParaRPr lang="ar-SA" sz="1500" dirty="0"/>
          </a:p>
        </p:txBody>
      </p:sp>
      <p:sp>
        <p:nvSpPr>
          <p:cNvPr id="75" name="Shape 72"/>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76" name="Text 73"/>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this</a:t>
            </a:r>
            <a:endParaRPr lang="en-US" sz="700" dirty="0"/>
          </a:p>
        </p:txBody>
      </p:sp>
      <p:sp>
        <p:nvSpPr>
          <p:cNvPr id="77" name="Text 74"/>
          <p:cNvSpPr txBox="1"/>
          <p:nvPr/>
        </p:nvSpPr>
        <p:spPr>
          <a:xfrm>
            <a:off x="9436608"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هٰذَا الحِذَاءُ</a:t>
            </a:r>
            <a:endParaRPr lang="ar-SA" sz="1350" dirty="0"/>
          </a:p>
        </p:txBody>
      </p:sp>
      <p:sp>
        <p:nvSpPr>
          <p:cNvPr id="78" name="Shape 75"/>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79" name="Text 76"/>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80" name="Text 77"/>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مُذَكَّرٌ</a:t>
            </a:r>
            <a:endParaRPr lang="ar-SA" sz="1500" dirty="0"/>
          </a:p>
        </p:txBody>
      </p:sp>
      <p:sp>
        <p:nvSpPr>
          <p:cNvPr id="81" name="Text 7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D2-L04 · Fashion and Identity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FOCUS · PART 1 · BUILD A BALANCED OPINION (WEBSITE RULES)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Opinion → reason → but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رَأْيٌ + سَبَبٌ + مُقَابَلَةٌ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D2-L04</a:t>
            </a:r>
            <a:endParaRPr lang="en-US" sz="850" dirty="0"/>
          </a:p>
        </p:txBody>
      </p:sp>
      <p:sp>
        <p:nvSpPr>
          <p:cNvPr id="15" name="Text 12"/>
          <p:cNvSpPr txBox="1"/>
          <p:nvPr/>
        </p:nvSpPr>
        <p:spPr>
          <a:xfrm>
            <a:off x="457200" y="1828800"/>
            <a:ext cx="3017520" cy="566928"/>
          </a:xfrm>
          <a:prstGeom prst="rect">
            <a:avLst/>
          </a:prstGeom>
          <a:noFill/>
          <a:ln/>
        </p:spPr>
        <p:txBody>
          <a:bodyPr wrap="square" lIns="0" tIns="0" rIns="0" bIns="0" rtlCol="0" anchor="ctr"/>
          <a:lstStyle/>
          <a:p>
            <a:pPr algn="l" indent="0" marL="0">
              <a:buNone/>
            </a:pPr>
            <a:r>
              <a:rPr lang="en-US" sz="1100" b="1" dirty="0">
                <a:solidFill>
                  <a:srgbClr val="5A6472"/>
                </a:solidFill>
                <a:latin typeface="Calibri" pitchFamily="34" charset="0"/>
                <a:cs typeface="Amiri" pitchFamily="2" charset="-78"/>
              </a:rPr>
              <a:t>English meaning</a:t>
            </a:r>
            <a:endParaRPr lang="en-US" sz="1100" dirty="0"/>
          </a:p>
        </p:txBody>
      </p:sp>
      <p:sp>
        <p:nvSpPr>
          <p:cNvPr id="16" name="Shape 13"/>
          <p:cNvSpPr/>
          <p:nvPr/>
        </p:nvSpPr>
        <p:spPr>
          <a:xfrm>
            <a:off x="9089136" y="1810512"/>
            <a:ext cx="2642616" cy="566928"/>
          </a:xfrm>
          <a:prstGeom prst="roundRect">
            <a:avLst>
              <a:gd name="adj" fmla="val 9677"/>
            </a:avLst>
          </a:prstGeom>
          <a:solidFill>
            <a:srgbClr val="1D5FBF"/>
          </a:solidFill>
          <a:ln w="12700">
            <a:solidFill>
              <a:srgbClr val="1D5FBF"/>
            </a:solidFill>
            <a:prstDash val="solid"/>
          </a:ln>
        </p:spPr>
      </p:sp>
      <p:sp>
        <p:nvSpPr>
          <p:cNvPr id="17" name="Text 14"/>
          <p:cNvSpPr txBox="1"/>
          <p:nvPr/>
        </p:nvSpPr>
        <p:spPr>
          <a:xfrm>
            <a:off x="9089136" y="1792224"/>
            <a:ext cx="2642616" cy="402336"/>
          </a:xfrm>
          <a:prstGeom prst="rect">
            <a:avLst/>
          </a:prstGeom>
          <a:noFill/>
          <a:ln/>
        </p:spPr>
        <p:txBody>
          <a:bodyPr wrap="square" lIns="0" tIns="0" rIns="0" bIns="0" rtlCol="0" anchor="ctr"/>
          <a:lstStyle/>
          <a:p>
            <a:pPr rtl="1" algn="ctr" indent="0" marL="0">
              <a:buNone/>
            </a:pPr>
            <a:r>
              <a:rPr lang="ar-SA" altLang="en-US" sz="1850" b="1" dirty="0">
                <a:solidFill>
                  <a:srgbClr val="FFFFFF"/>
                </a:solidFill>
                <a:latin typeface="Amiri" pitchFamily="2" charset="-78"/>
                <a:cs typeface="Amiri" pitchFamily="2" charset="-78"/>
              </a:rPr>
              <a:t>الرَّأْيُ</a:t>
            </a:r>
            <a:endParaRPr lang="ar-SA" sz="1850" dirty="0"/>
          </a:p>
        </p:txBody>
      </p:sp>
      <p:sp>
        <p:nvSpPr>
          <p:cNvPr id="18" name="Text 15"/>
          <p:cNvSpPr txBox="1"/>
          <p:nvPr/>
        </p:nvSpPr>
        <p:spPr>
          <a:xfrm>
            <a:off x="9089136" y="2157984"/>
            <a:ext cx="2642616" cy="201168"/>
          </a:xfrm>
          <a:prstGeom prst="rect">
            <a:avLst/>
          </a:prstGeom>
          <a:noFill/>
          <a:ln/>
        </p:spPr>
        <p:txBody>
          <a:bodyPr wrap="square" lIns="0" tIns="0" rIns="0" bIns="0" rtlCol="0" anchor="ctr"/>
          <a:lstStyle/>
          <a:p>
            <a:pPr algn="ctr" indent="0" marL="0">
              <a:buNone/>
            </a:pPr>
            <a:r>
              <a:rPr lang="en-US" sz="900" i="1" dirty="0">
                <a:solidFill>
                  <a:srgbClr val="EEF1F6"/>
                </a:solidFill>
                <a:latin typeface="Calibri" pitchFamily="34" charset="0"/>
                <a:cs typeface="Amiri" pitchFamily="2" charset="-78"/>
              </a:rPr>
              <a:t>opinion</a:t>
            </a:r>
            <a:endParaRPr lang="en-US" sz="900" dirty="0"/>
          </a:p>
        </p:txBody>
      </p:sp>
      <p:sp>
        <p:nvSpPr>
          <p:cNvPr id="19" name="Shape 16"/>
          <p:cNvSpPr/>
          <p:nvPr/>
        </p:nvSpPr>
        <p:spPr>
          <a:xfrm>
            <a:off x="6336792" y="1810512"/>
            <a:ext cx="2642616" cy="566928"/>
          </a:xfrm>
          <a:prstGeom prst="roundRect">
            <a:avLst>
              <a:gd name="adj" fmla="val 9677"/>
            </a:avLst>
          </a:prstGeom>
          <a:solidFill>
            <a:srgbClr val="1E7B4F"/>
          </a:solidFill>
          <a:ln w="12700">
            <a:solidFill>
              <a:srgbClr val="1E7B4F"/>
            </a:solidFill>
            <a:prstDash val="solid"/>
          </a:ln>
        </p:spPr>
      </p:sp>
      <p:sp>
        <p:nvSpPr>
          <p:cNvPr id="20" name="Text 17"/>
          <p:cNvSpPr txBox="1"/>
          <p:nvPr/>
        </p:nvSpPr>
        <p:spPr>
          <a:xfrm>
            <a:off x="6336792" y="1792224"/>
            <a:ext cx="2642616" cy="402336"/>
          </a:xfrm>
          <a:prstGeom prst="rect">
            <a:avLst/>
          </a:prstGeom>
          <a:noFill/>
          <a:ln/>
        </p:spPr>
        <p:txBody>
          <a:bodyPr wrap="square" lIns="0" tIns="0" rIns="0" bIns="0" rtlCol="0" anchor="ctr"/>
          <a:lstStyle/>
          <a:p>
            <a:pPr rtl="1" algn="ctr" indent="0" marL="0">
              <a:buNone/>
            </a:pPr>
            <a:r>
              <a:rPr lang="ar-SA" altLang="en-US" sz="1850" b="1" dirty="0">
                <a:solidFill>
                  <a:srgbClr val="FFFFFF"/>
                </a:solidFill>
                <a:latin typeface="Amiri" pitchFamily="2" charset="-78"/>
                <a:cs typeface="Amiri" pitchFamily="2" charset="-78"/>
              </a:rPr>
              <a:t>السَّبَبُ</a:t>
            </a:r>
            <a:endParaRPr lang="ar-SA" sz="1850" dirty="0"/>
          </a:p>
        </p:txBody>
      </p:sp>
      <p:sp>
        <p:nvSpPr>
          <p:cNvPr id="21" name="Text 18"/>
          <p:cNvSpPr txBox="1"/>
          <p:nvPr/>
        </p:nvSpPr>
        <p:spPr>
          <a:xfrm>
            <a:off x="6336792" y="2157984"/>
            <a:ext cx="2642616" cy="201168"/>
          </a:xfrm>
          <a:prstGeom prst="rect">
            <a:avLst/>
          </a:prstGeom>
          <a:noFill/>
          <a:ln/>
        </p:spPr>
        <p:txBody>
          <a:bodyPr wrap="square" lIns="0" tIns="0" rIns="0" bIns="0" rtlCol="0" anchor="ctr"/>
          <a:lstStyle/>
          <a:p>
            <a:pPr algn="ctr" indent="0" marL="0">
              <a:buNone/>
            </a:pPr>
            <a:r>
              <a:rPr lang="en-US" sz="900" i="1" dirty="0">
                <a:solidFill>
                  <a:srgbClr val="EEF1F6"/>
                </a:solidFill>
                <a:latin typeface="Calibri" pitchFamily="34" charset="0"/>
                <a:cs typeface="Amiri" pitchFamily="2" charset="-78"/>
              </a:rPr>
              <a:t>reason</a:t>
            </a:r>
            <a:endParaRPr lang="en-US" sz="900" dirty="0"/>
          </a:p>
        </p:txBody>
      </p:sp>
      <p:sp>
        <p:nvSpPr>
          <p:cNvPr id="22" name="Shape 19"/>
          <p:cNvSpPr/>
          <p:nvPr/>
        </p:nvSpPr>
        <p:spPr>
          <a:xfrm>
            <a:off x="3584448" y="1810512"/>
            <a:ext cx="2642616" cy="566928"/>
          </a:xfrm>
          <a:prstGeom prst="roundRect">
            <a:avLst>
              <a:gd name="adj" fmla="val 9677"/>
            </a:avLst>
          </a:prstGeom>
          <a:solidFill>
            <a:srgbClr val="6B4C9A"/>
          </a:solidFill>
          <a:ln w="12700">
            <a:solidFill>
              <a:srgbClr val="6B4C9A"/>
            </a:solidFill>
            <a:prstDash val="solid"/>
          </a:ln>
        </p:spPr>
      </p:sp>
      <p:sp>
        <p:nvSpPr>
          <p:cNvPr id="23" name="Text 20"/>
          <p:cNvSpPr txBox="1"/>
          <p:nvPr/>
        </p:nvSpPr>
        <p:spPr>
          <a:xfrm>
            <a:off x="3584448" y="1792224"/>
            <a:ext cx="2642616" cy="402336"/>
          </a:xfrm>
          <a:prstGeom prst="rect">
            <a:avLst/>
          </a:prstGeom>
          <a:noFill/>
          <a:ln/>
        </p:spPr>
        <p:txBody>
          <a:bodyPr wrap="square" lIns="0" tIns="0" rIns="0" bIns="0" rtlCol="0" anchor="ctr"/>
          <a:lstStyle/>
          <a:p>
            <a:pPr rtl="1" algn="ctr" indent="0" marL="0">
              <a:buNone/>
            </a:pPr>
            <a:r>
              <a:rPr lang="ar-SA" altLang="en-US" sz="1850" b="1" dirty="0">
                <a:solidFill>
                  <a:srgbClr val="FFFFFF"/>
                </a:solidFill>
                <a:latin typeface="Amiri" pitchFamily="2" charset="-78"/>
                <a:cs typeface="Amiri" pitchFamily="2" charset="-78"/>
              </a:rPr>
              <a:t>المُقَابَلَةُ</a:t>
            </a:r>
            <a:endParaRPr lang="ar-SA" sz="1850" dirty="0"/>
          </a:p>
        </p:txBody>
      </p:sp>
      <p:sp>
        <p:nvSpPr>
          <p:cNvPr id="24" name="Text 21"/>
          <p:cNvSpPr txBox="1"/>
          <p:nvPr/>
        </p:nvSpPr>
        <p:spPr>
          <a:xfrm>
            <a:off x="3584448" y="2157984"/>
            <a:ext cx="2642616" cy="201168"/>
          </a:xfrm>
          <a:prstGeom prst="rect">
            <a:avLst/>
          </a:prstGeom>
          <a:noFill/>
          <a:ln/>
        </p:spPr>
        <p:txBody>
          <a:bodyPr wrap="square" lIns="0" tIns="0" rIns="0" bIns="0" rtlCol="0" anchor="ctr"/>
          <a:lstStyle/>
          <a:p>
            <a:pPr algn="ctr" indent="0" marL="0">
              <a:buNone/>
            </a:pPr>
            <a:r>
              <a:rPr lang="en-US" sz="900" i="1" dirty="0">
                <a:solidFill>
                  <a:srgbClr val="EEF1F6"/>
                </a:solidFill>
                <a:latin typeface="Calibri" pitchFamily="34" charset="0"/>
                <a:cs typeface="Amiri" pitchFamily="2" charset="-78"/>
              </a:rPr>
              <a:t>contrast</a:t>
            </a:r>
            <a:endParaRPr lang="en-US" sz="900" dirty="0"/>
          </a:p>
        </p:txBody>
      </p:sp>
      <p:sp>
        <p:nvSpPr>
          <p:cNvPr id="25" name="Text 22"/>
          <p:cNvSpPr txBox="1"/>
          <p:nvPr/>
        </p:nvSpPr>
        <p:spPr>
          <a:xfrm>
            <a:off x="457200" y="2487168"/>
            <a:ext cx="2926080" cy="82296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In my opinion, simple clothes are better because they are practical, but I like elegant clothes on special occasions.</a:t>
            </a:r>
            <a:endParaRPr lang="en-US" sz="1200" dirty="0"/>
          </a:p>
        </p:txBody>
      </p:sp>
      <p:sp>
        <p:nvSpPr>
          <p:cNvPr id="26" name="Shape 23"/>
          <p:cNvSpPr/>
          <p:nvPr/>
        </p:nvSpPr>
        <p:spPr>
          <a:xfrm>
            <a:off x="9089136" y="2487168"/>
            <a:ext cx="2642616" cy="822960"/>
          </a:xfrm>
          <a:prstGeom prst="roundRect">
            <a:avLst>
              <a:gd name="adj" fmla="val 6667"/>
            </a:avLst>
          </a:prstGeom>
          <a:solidFill>
            <a:srgbClr val="EEF3FA"/>
          </a:solidFill>
          <a:ln w="9525">
            <a:solidFill>
              <a:srgbClr val="EEF3FA"/>
            </a:solidFill>
            <a:prstDash val="solid"/>
          </a:ln>
        </p:spPr>
      </p:sp>
      <p:sp>
        <p:nvSpPr>
          <p:cNvPr id="27" name="Text 24"/>
          <p:cNvSpPr txBox="1"/>
          <p:nvPr/>
        </p:nvSpPr>
        <p:spPr>
          <a:xfrm>
            <a:off x="9162288" y="2487168"/>
            <a:ext cx="2496312" cy="822960"/>
          </a:xfrm>
          <a:prstGeom prst="rect">
            <a:avLst/>
          </a:prstGeom>
          <a:noFill/>
          <a:ln/>
        </p:spPr>
        <p:txBody>
          <a:bodyPr wrap="square" lIns="0" tIns="0" rIns="0" bIns="0" rtlCol="0" anchor="ctr"/>
          <a:lstStyle/>
          <a:p>
            <a:pPr rtl="1" algn="ctr" indent="0" marL="0">
              <a:lnSpc>
                <a:spcPct val="120000"/>
              </a:lnSpc>
              <a:buNone/>
            </a:pPr>
            <a:r>
              <a:rPr lang="ar-SA" altLang="en-US" sz="1700" b="1" dirty="0">
                <a:solidFill>
                  <a:srgbClr val="0E7C86"/>
                </a:solidFill>
                <a:latin typeface="Amiri" pitchFamily="2" charset="-78"/>
                <a:cs typeface="Amiri" pitchFamily="2" charset="-78"/>
              </a:rPr>
              <a:t>فِي رَأْيِي</a:t>
            </a:r>
            <a:pPr rtl="1" algn="ctr" indent="0" marL="0">
              <a:lnSpc>
                <a:spcPct val="120000"/>
              </a:lnSpc>
              <a:buNone/>
            </a:pPr>
            <a:r>
              <a:rPr lang="ar-SA" altLang="en-US" sz="1700" b="1" dirty="0">
                <a:solidFill>
                  <a:srgbClr val="1B3B6F"/>
                </a:solidFill>
                <a:latin typeface="Amiri" pitchFamily="2" charset="-78"/>
                <a:cs typeface="Amiri" pitchFamily="2" charset="-78"/>
              </a:rPr>
              <a:t>، المَلَابِسُ البَسِيطَةُ أَفْضَلُ</a:t>
            </a:r>
            <a:endParaRPr lang="ar-SA" sz="1700" dirty="0"/>
          </a:p>
        </p:txBody>
      </p:sp>
      <p:sp>
        <p:nvSpPr>
          <p:cNvPr id="28" name="Shape 25"/>
          <p:cNvSpPr/>
          <p:nvPr/>
        </p:nvSpPr>
        <p:spPr>
          <a:xfrm>
            <a:off x="6336792" y="2487168"/>
            <a:ext cx="2642616" cy="822960"/>
          </a:xfrm>
          <a:prstGeom prst="roundRect">
            <a:avLst>
              <a:gd name="adj" fmla="val 6667"/>
            </a:avLst>
          </a:prstGeom>
          <a:solidFill>
            <a:srgbClr val="E8F4EC"/>
          </a:solidFill>
          <a:ln w="9525">
            <a:solidFill>
              <a:srgbClr val="E8F4EC"/>
            </a:solidFill>
            <a:prstDash val="solid"/>
          </a:ln>
        </p:spPr>
      </p:sp>
      <p:sp>
        <p:nvSpPr>
          <p:cNvPr id="29" name="Text 26"/>
          <p:cNvSpPr txBox="1"/>
          <p:nvPr/>
        </p:nvSpPr>
        <p:spPr>
          <a:xfrm>
            <a:off x="6409944" y="2487168"/>
            <a:ext cx="2496312" cy="822960"/>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cs typeface="Amiri" pitchFamily="2" charset="-78"/>
              </a:rPr>
              <a:t>لِأَنَّهَا</a:t>
            </a:r>
            <a:pPr rtl="1" algn="ctr" indent="0" marL="0">
              <a:buNone/>
            </a:pPr>
            <a:r>
              <a:rPr lang="ar-SA" altLang="en-US" sz="2400" b="1" dirty="0">
                <a:solidFill>
                  <a:srgbClr val="1B3B6F"/>
                </a:solidFill>
                <a:latin typeface="Amiri" pitchFamily="2" charset="-78"/>
                <a:cs typeface="Amiri" pitchFamily="2" charset="-78"/>
              </a:rPr>
              <a:t> عَمَلِيَّةٌ،</a:t>
            </a:r>
            <a:endParaRPr lang="ar-SA" sz="2400" dirty="0"/>
          </a:p>
        </p:txBody>
      </p:sp>
      <p:sp>
        <p:nvSpPr>
          <p:cNvPr id="30" name="Shape 27"/>
          <p:cNvSpPr/>
          <p:nvPr/>
        </p:nvSpPr>
        <p:spPr>
          <a:xfrm>
            <a:off x="3584448" y="2487168"/>
            <a:ext cx="2642616" cy="822960"/>
          </a:xfrm>
          <a:prstGeom prst="roundRect">
            <a:avLst>
              <a:gd name="adj" fmla="val 6667"/>
            </a:avLst>
          </a:prstGeom>
          <a:solidFill>
            <a:srgbClr val="F1ECF7"/>
          </a:solidFill>
          <a:ln w="9525">
            <a:solidFill>
              <a:srgbClr val="F1ECF7"/>
            </a:solidFill>
            <a:prstDash val="solid"/>
          </a:ln>
        </p:spPr>
      </p:sp>
      <p:sp>
        <p:nvSpPr>
          <p:cNvPr id="31" name="Text 28"/>
          <p:cNvSpPr txBox="1"/>
          <p:nvPr/>
        </p:nvSpPr>
        <p:spPr>
          <a:xfrm>
            <a:off x="3657600" y="2487168"/>
            <a:ext cx="2496312" cy="822960"/>
          </a:xfrm>
          <a:prstGeom prst="rect">
            <a:avLst/>
          </a:prstGeom>
          <a:noFill/>
          <a:ln/>
        </p:spPr>
        <p:txBody>
          <a:bodyPr wrap="square" lIns="0" tIns="0" rIns="0" bIns="0" rtlCol="0" anchor="ctr"/>
          <a:lstStyle/>
          <a:p>
            <a:pPr rtl="1" algn="ctr" indent="0" marL="0">
              <a:lnSpc>
                <a:spcPct val="120000"/>
              </a:lnSpc>
              <a:buNone/>
            </a:pPr>
            <a:r>
              <a:rPr lang="ar-SA" altLang="en-US" sz="1550" b="1" dirty="0">
                <a:solidFill>
                  <a:srgbClr val="0E7C86"/>
                </a:solidFill>
                <a:latin typeface="Amiri" pitchFamily="2" charset="-78"/>
                <a:cs typeface="Amiri" pitchFamily="2" charset="-78"/>
              </a:rPr>
              <a:t>وَلٰكِنَّنِي</a:t>
            </a:r>
            <a:pPr rtl="1" algn="ctr" indent="0" marL="0">
              <a:lnSpc>
                <a:spcPct val="120000"/>
              </a:lnSpc>
              <a:buNone/>
            </a:pPr>
            <a:r>
              <a:rPr lang="ar-SA" altLang="en-US" sz="1550" b="1" dirty="0">
                <a:solidFill>
                  <a:srgbClr val="1B3B6F"/>
                </a:solidFill>
                <a:latin typeface="Amiri" pitchFamily="2" charset="-78"/>
                <a:cs typeface="Amiri" pitchFamily="2" charset="-78"/>
              </a:rPr>
              <a:t> أُحِبُّ المَلَابِسَ الأَنِيقَةَ فِي المُنَاسَبَاتِ.</a:t>
            </a:r>
            <a:endParaRPr lang="ar-SA" sz="1550" dirty="0"/>
          </a:p>
        </p:txBody>
      </p:sp>
      <p:sp>
        <p:nvSpPr>
          <p:cNvPr id="32" name="Text 29"/>
          <p:cNvSpPr txBox="1"/>
          <p:nvPr/>
        </p:nvSpPr>
        <p:spPr>
          <a:xfrm>
            <a:off x="457200" y="3419856"/>
            <a:ext cx="2926080" cy="82296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I prefer calm colours because they suit school, but I wear bright colours at weddings.</a:t>
            </a:r>
            <a:endParaRPr lang="en-US" sz="1200" dirty="0"/>
          </a:p>
        </p:txBody>
      </p:sp>
      <p:sp>
        <p:nvSpPr>
          <p:cNvPr id="33" name="Shape 30"/>
          <p:cNvSpPr/>
          <p:nvPr/>
        </p:nvSpPr>
        <p:spPr>
          <a:xfrm>
            <a:off x="9089136" y="3419856"/>
            <a:ext cx="2642616" cy="822960"/>
          </a:xfrm>
          <a:prstGeom prst="roundRect">
            <a:avLst>
              <a:gd name="adj" fmla="val 6667"/>
            </a:avLst>
          </a:prstGeom>
          <a:solidFill>
            <a:srgbClr val="EEF3FA"/>
          </a:solidFill>
          <a:ln w="9525">
            <a:solidFill>
              <a:srgbClr val="EEF3FA"/>
            </a:solidFill>
            <a:prstDash val="solid"/>
          </a:ln>
        </p:spPr>
      </p:sp>
      <p:sp>
        <p:nvSpPr>
          <p:cNvPr id="34" name="Text 31"/>
          <p:cNvSpPr txBox="1"/>
          <p:nvPr/>
        </p:nvSpPr>
        <p:spPr>
          <a:xfrm>
            <a:off x="9162288" y="3419856"/>
            <a:ext cx="2496312" cy="82296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أُفَضِّلُ الأَلْوَانَ الهَادِئَةَ</a:t>
            </a:r>
            <a:endParaRPr lang="ar-SA" sz="2400" dirty="0"/>
          </a:p>
        </p:txBody>
      </p:sp>
      <p:sp>
        <p:nvSpPr>
          <p:cNvPr id="35" name="Shape 32"/>
          <p:cNvSpPr/>
          <p:nvPr/>
        </p:nvSpPr>
        <p:spPr>
          <a:xfrm>
            <a:off x="6336792" y="3419856"/>
            <a:ext cx="2642616" cy="822960"/>
          </a:xfrm>
          <a:prstGeom prst="roundRect">
            <a:avLst>
              <a:gd name="adj" fmla="val 6667"/>
            </a:avLst>
          </a:prstGeom>
          <a:solidFill>
            <a:srgbClr val="E8F4EC"/>
          </a:solidFill>
          <a:ln w="9525">
            <a:solidFill>
              <a:srgbClr val="E8F4EC"/>
            </a:solidFill>
            <a:prstDash val="solid"/>
          </a:ln>
        </p:spPr>
      </p:sp>
      <p:sp>
        <p:nvSpPr>
          <p:cNvPr id="36" name="Text 33"/>
          <p:cNvSpPr txBox="1"/>
          <p:nvPr/>
        </p:nvSpPr>
        <p:spPr>
          <a:xfrm>
            <a:off x="6409944" y="3419856"/>
            <a:ext cx="2496312" cy="822960"/>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cs typeface="Amiri" pitchFamily="2" charset="-78"/>
              </a:rPr>
              <a:t>لِأَنَّهَا</a:t>
            </a:r>
            <a:pPr rtl="1" algn="ctr" indent="0" marL="0">
              <a:buNone/>
            </a:pPr>
            <a:r>
              <a:rPr lang="ar-SA" altLang="en-US" sz="2400" b="1" dirty="0">
                <a:solidFill>
                  <a:srgbClr val="1B3B6F"/>
                </a:solidFill>
                <a:latin typeface="Amiri" pitchFamily="2" charset="-78"/>
                <a:cs typeface="Amiri" pitchFamily="2" charset="-78"/>
              </a:rPr>
              <a:t> تُنَاسِبُ المَدْرَسَةَ،</a:t>
            </a:r>
            <a:endParaRPr lang="ar-SA" sz="2400" dirty="0"/>
          </a:p>
        </p:txBody>
      </p:sp>
      <p:sp>
        <p:nvSpPr>
          <p:cNvPr id="37" name="Shape 34"/>
          <p:cNvSpPr/>
          <p:nvPr/>
        </p:nvSpPr>
        <p:spPr>
          <a:xfrm>
            <a:off x="3584448" y="3419856"/>
            <a:ext cx="2642616" cy="822960"/>
          </a:xfrm>
          <a:prstGeom prst="roundRect">
            <a:avLst>
              <a:gd name="adj" fmla="val 6667"/>
            </a:avLst>
          </a:prstGeom>
          <a:solidFill>
            <a:srgbClr val="F1ECF7"/>
          </a:solidFill>
          <a:ln w="9525">
            <a:solidFill>
              <a:srgbClr val="F1ECF7"/>
            </a:solidFill>
            <a:prstDash val="solid"/>
          </a:ln>
        </p:spPr>
      </p:sp>
      <p:sp>
        <p:nvSpPr>
          <p:cNvPr id="38" name="Text 35"/>
          <p:cNvSpPr txBox="1"/>
          <p:nvPr/>
        </p:nvSpPr>
        <p:spPr>
          <a:xfrm>
            <a:off x="3657600" y="3419856"/>
            <a:ext cx="2496312" cy="822960"/>
          </a:xfrm>
          <a:prstGeom prst="rect">
            <a:avLst/>
          </a:prstGeom>
          <a:noFill/>
          <a:ln/>
        </p:spPr>
        <p:txBody>
          <a:bodyPr wrap="square" lIns="0" tIns="0" rIns="0" bIns="0" rtlCol="0" anchor="ctr"/>
          <a:lstStyle/>
          <a:p>
            <a:pPr rtl="1" algn="ctr" indent="0" marL="0">
              <a:lnSpc>
                <a:spcPct val="120000"/>
              </a:lnSpc>
              <a:buNone/>
            </a:pPr>
            <a:r>
              <a:rPr lang="ar-SA" altLang="en-US" sz="1550" b="1" dirty="0">
                <a:solidFill>
                  <a:srgbClr val="0E7C86"/>
                </a:solidFill>
                <a:latin typeface="Amiri" pitchFamily="2" charset="-78"/>
                <a:cs typeface="Amiri" pitchFamily="2" charset="-78"/>
              </a:rPr>
              <a:t>وَلٰكِنَّنِي</a:t>
            </a:r>
            <a:pPr rtl="1" algn="ctr" indent="0" marL="0">
              <a:lnSpc>
                <a:spcPct val="120000"/>
              </a:lnSpc>
              <a:buNone/>
            </a:pPr>
            <a:r>
              <a:rPr lang="ar-SA" altLang="en-US" sz="1550" b="1" dirty="0">
                <a:solidFill>
                  <a:srgbClr val="1B3B6F"/>
                </a:solidFill>
                <a:latin typeface="Amiri" pitchFamily="2" charset="-78"/>
                <a:cs typeface="Amiri" pitchFamily="2" charset="-78"/>
              </a:rPr>
              <a:t> أَلْبَسُ أَلْوَانًا زَاهِيَةً فِي الأَعْرَاسِ.</a:t>
            </a:r>
            <a:endParaRPr lang="ar-SA" sz="1550" dirty="0"/>
          </a:p>
        </p:txBody>
      </p:sp>
      <p:sp>
        <p:nvSpPr>
          <p:cNvPr id="39" name="Text 36"/>
          <p:cNvSpPr txBox="1"/>
          <p:nvPr/>
        </p:nvSpPr>
        <p:spPr>
          <a:xfrm>
            <a:off x="457200" y="5989320"/>
            <a:ext cx="11274552" cy="320040"/>
          </a:xfrm>
          <a:prstGeom prst="rect">
            <a:avLst/>
          </a:prstGeom>
          <a:noFill/>
          <a:ln/>
        </p:spPr>
        <p:txBody>
          <a:bodyPr wrap="square" lIns="0" tIns="0" rIns="0" bIns="0" rtlCol="0" anchor="ctr"/>
          <a:lstStyle/>
          <a:p>
            <a:pPr algn="l" indent="0" marL="0">
              <a:buNone/>
            </a:pPr>
            <a:r>
              <a:rPr lang="en-US" sz="1200" b="1" dirty="0">
                <a:solidFill>
                  <a:srgbClr val="8A6D1E"/>
                </a:solidFill>
                <a:latin typeface="Calibri" pitchFamily="34" charset="0"/>
                <a:cs typeface="Amiri" pitchFamily="2" charset="-78"/>
              </a:rPr>
              <a:t>Clothes and colours are plural THINGS → “because they” = li-annahā (feminine singular).</a:t>
            </a:r>
            <a:endParaRPr lang="en-US" sz="12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D2-L04 · Fashion and Identity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2 · CONCESSION, EXPRESSION AND RESPECT (WEBSITE RULES)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Although … · it expresses … · respectfully</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عَلَى الرَّغْمِ مِنْ أَنَّ · يُعَبِّرُ عَنْ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D2-L04</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645920" cy="274320"/>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8232648" y="1920240"/>
            <a:ext cx="16459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CONCESSION · STRETCH</a:t>
            </a:r>
            <a:endParaRPr lang="en-US" sz="850" dirty="0"/>
          </a:p>
        </p:txBody>
      </p:sp>
      <p:sp>
        <p:nvSpPr>
          <p:cNvPr id="18" name="Text 15"/>
          <p:cNvSpPr txBox="1"/>
          <p:nvPr/>
        </p:nvSpPr>
        <p:spPr>
          <a:xfrm>
            <a:off x="9924288" y="1874520"/>
            <a:ext cx="1670304" cy="365760"/>
          </a:xfrm>
          <a:prstGeom prst="rect">
            <a:avLst/>
          </a:prstGeom>
          <a:noFill/>
          <a:ln/>
        </p:spPr>
        <p:txBody>
          <a:bodyPr wrap="square" lIns="0" tIns="0" rIns="0" bIns="0" rtlCol="0" anchor="ctr"/>
          <a:lstStyle/>
          <a:p>
            <a:pPr rtl="1" algn="r" indent="0" marL="0">
              <a:buNone/>
            </a:pPr>
            <a:r>
              <a:rPr lang="ar-SA" altLang="en-US" sz="1550" b="1" dirty="0">
                <a:solidFill>
                  <a:srgbClr val="8A6D1E"/>
                </a:solidFill>
                <a:latin typeface="Amiri" pitchFamily="2" charset="-78"/>
                <a:cs typeface="Amiri" pitchFamily="2" charset="-78"/>
              </a:rPr>
              <a:t>عَلَى الرَّغْمِ مِنْ أَنَّ … فَإِنَّ</a:t>
            </a:r>
            <a:endParaRPr lang="ar-SA" sz="155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cs typeface="Amiri" pitchFamily="2" charset="-78"/>
              </a:rPr>
              <a:t>عَلَى الرَّغْمِ مِنْ أَنَّ المَوْضَةَ مُهِمَّةٌ، فَإِنَّ الرَّاحَةَ أَهَمُّ.</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Although fashion is important, comfort is more important.</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The other side first, then yours.</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645920" cy="274320"/>
          </a:xfrm>
          <a:prstGeom prst="roundRect">
            <a:avLst>
              <a:gd name="adj" fmla="val 50000"/>
            </a:avLst>
          </a:prstGeom>
          <a:solidFill>
            <a:srgbClr val="6B4C9A"/>
          </a:solidFill>
          <a:ln w="12700">
            <a:solidFill>
              <a:srgbClr val="6B4C9A"/>
            </a:solidFill>
            <a:prstDash val="solid"/>
          </a:ln>
        </p:spPr>
      </p:sp>
      <p:sp>
        <p:nvSpPr>
          <p:cNvPr id="25" name="Text 22"/>
          <p:cNvSpPr txBox="1"/>
          <p:nvPr/>
        </p:nvSpPr>
        <p:spPr>
          <a:xfrm>
            <a:off x="4413504" y="1920240"/>
            <a:ext cx="16459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EXPRESSION · DEVELOP</a:t>
            </a:r>
            <a:endParaRPr lang="en-US" sz="850" dirty="0"/>
          </a:p>
        </p:txBody>
      </p:sp>
      <p:sp>
        <p:nvSpPr>
          <p:cNvPr id="26" name="Text 23"/>
          <p:cNvSpPr txBox="1"/>
          <p:nvPr/>
        </p:nvSpPr>
        <p:spPr>
          <a:xfrm>
            <a:off x="6105144" y="1874520"/>
            <a:ext cx="16703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يُعَبِّرُ عَنْ</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000" b="1" dirty="0">
                <a:solidFill>
                  <a:srgbClr val="1B3B6F"/>
                </a:solidFill>
                <a:latin typeface="Amiri" pitchFamily="2" charset="-78"/>
                <a:cs typeface="Amiri" pitchFamily="2" charset="-78"/>
              </a:rPr>
              <a:t>أُسْلُوبُهَا يُعَبِّرُ عَنْ ذَوْقِهَا.</a:t>
            </a:r>
            <a:endParaRPr lang="ar-SA" sz="30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Her style expresses her taste.</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Her style / her taste: both -hā.</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234440" cy="274320"/>
          </a:xfrm>
          <a:prstGeom prst="roundRect">
            <a:avLst>
              <a:gd name="adj" fmla="val 50000"/>
            </a:avLst>
          </a:prstGeom>
          <a:solidFill>
            <a:srgbClr val="1E7B4F"/>
          </a:solidFill>
          <a:ln w="12700">
            <a:solidFill>
              <a:srgbClr val="1E7B4F"/>
            </a:solidFill>
            <a:prstDash val="solid"/>
          </a:ln>
        </p:spPr>
      </p:sp>
      <p:sp>
        <p:nvSpPr>
          <p:cNvPr id="33" name="Text 30"/>
          <p:cNvSpPr txBox="1"/>
          <p:nvPr/>
        </p:nvSpPr>
        <p:spPr>
          <a:xfrm>
            <a:off x="594360" y="1920240"/>
            <a:ext cx="12344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RESPECT · CORE</a:t>
            </a:r>
            <a:endParaRPr lang="en-US" sz="850" dirty="0"/>
          </a:p>
        </p:txBody>
      </p:sp>
      <p:sp>
        <p:nvSpPr>
          <p:cNvPr id="34" name="Text 31"/>
          <p:cNvSpPr txBox="1"/>
          <p:nvPr/>
        </p:nvSpPr>
        <p:spPr>
          <a:xfrm>
            <a:off x="1874520" y="1874520"/>
            <a:ext cx="20817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عَنِ المَلَابِسِ لَا عَنِ النَّاسِ</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350" b="1" dirty="0">
                <a:solidFill>
                  <a:srgbClr val="1B3B6F"/>
                </a:solidFill>
                <a:latin typeface="Amiri" pitchFamily="2" charset="-78"/>
                <a:cs typeface="Amiri" pitchFamily="2" charset="-78"/>
              </a:rPr>
              <a:t>أُسْلُوبُهُ مُخْتَلِفٌ، وَيُعَبِّرُ عَنْ ذَوْقِهِ.</a:t>
            </a:r>
            <a:endParaRPr lang="ar-SA" sz="235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His style is different, and it expresses his taste.</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Judge the clothes, not the person.</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value: do not treat style as proof of personality.</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2" charset="-78"/>
                <a:cs typeface="Amiri" pitchFamily="2" charset="-78"/>
              </a:rPr>
              <a:t>أُسْلُوبُهَا مُخْتَلِفٌ وَيُعَبِّرُ عَنْ ذَوْقِهَا.</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2" charset="-78"/>
                <a:cs typeface="Amiri" pitchFamily="2" charset="-78"/>
              </a:rPr>
              <a:t>هِيَ سَيِّئَةٌ لِأَنَّ فُسْتَانَهَا أَحْمَرُ.</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D2-L04 · Fashion and Identity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Expressing and qualifying opinions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التَّعْبِيرُ عَنِ الرَّأْيِ وَتَقْيِيدُهُ</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D2-L04</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Opinion plus reason</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فِي رَأْيِي ... لِأَنَّ ...</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فِي رَأْيِي، المَلَابِسُ البَسِيطَةُ أَفْضَلُ لِأَنَّهَا عَمَلِيَّةٌ.</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Contrast</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أُفَضِّلُ ... وَلٰكِنَّ ...</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أُفَضِّلُ الأَلْوَانَ الهَادِئَةَ، وَلٰكِنَّنِي أَلْبَسُ أَلْوَانًا زَاهِيَةً فِي المُنَاسَبَاتِ.</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Concession</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عَلَى الرَّغْمِ مِنْ أَنَّ ... فَإِنَّ ...</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عَلَى الرَّغْمِ مِنْ أَنَّ المَوْضَةَ مُهِمَّةٌ، فَإِنَّ الرَّاحَةَ أَهَمُّ.</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Identity and expression</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الأُسْلُوبُ يُعَبِّرُ عَنْ ...</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أُسْلُوبُهَا يُعَبِّرُ عَنْ شَخْصِيَّتِهَا.</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D2-L04 · Fashion and Identity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D2-L04</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يُعَبِّرُ عَنْ</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buys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compares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expresses</a:t>
            </a:r>
            <a:endParaRPr lang="en-US" sz="12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2" name="Text 29"/>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الرَّاحَةُ ___ مِنَ اتِّبَاعِ المَوْضَةِ.</a:t>
            </a:r>
            <a:endParaRPr lang="ar-SA" sz="1500" dirty="0"/>
          </a:p>
        </p:txBody>
      </p:sp>
      <p:sp>
        <p:nvSpPr>
          <p:cNvPr id="33" name="Shape 30"/>
          <p:cNvSpPr/>
          <p:nvPr/>
        </p:nvSpPr>
        <p:spPr>
          <a:xfrm>
            <a:off x="6368796"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5" name="Text 32"/>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أَهَمُّ</a:t>
            </a:r>
            <a:endParaRPr lang="ar-SA" sz="2050" dirty="0"/>
          </a:p>
        </p:txBody>
      </p:sp>
      <p:sp>
        <p:nvSpPr>
          <p:cNvPr id="36" name="Shape 33"/>
          <p:cNvSpPr/>
          <p:nvPr/>
        </p:nvSpPr>
        <p:spPr>
          <a:xfrm>
            <a:off x="6368796"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8" name="Text 35"/>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مُهِمَّةٌ</a:t>
            </a:r>
            <a:endParaRPr lang="ar-SA" sz="2050" dirty="0"/>
          </a:p>
        </p:txBody>
      </p:sp>
      <p:sp>
        <p:nvSpPr>
          <p:cNvPr id="39" name="Shape 36"/>
          <p:cNvSpPr/>
          <p:nvPr/>
        </p:nvSpPr>
        <p:spPr>
          <a:xfrm>
            <a:off x="6368796"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1" name="Text 38"/>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أَكْثَرٌ</a:t>
            </a:r>
            <a:endParaRPr lang="ar-SA" sz="2050" dirty="0"/>
          </a:p>
        </p:txBody>
      </p:sp>
      <p:sp>
        <p:nvSpPr>
          <p:cNvPr id="42" name="Shape 39"/>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85216" y="4288536"/>
            <a:ext cx="310896" cy="310896"/>
          </a:xfrm>
          <a:prstGeom prst="ellipse">
            <a:avLst/>
          </a:prstGeom>
          <a:solidFill>
            <a:srgbClr val="1B3B6F"/>
          </a:solidFill>
          <a:ln w="12700">
            <a:solidFill>
              <a:srgbClr val="1B3B6F"/>
            </a:solidFill>
            <a:prstDash val="solid"/>
          </a:ln>
        </p:spPr>
      </p:sp>
      <p:sp>
        <p:nvSpPr>
          <p:cNvPr id="44" name="Text 4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5" name="Text 42"/>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softens an opinion?</a:t>
            </a:r>
            <a:endParaRPr lang="en-US" sz="1250" dirty="0"/>
          </a:p>
        </p:txBody>
      </p:sp>
      <p:sp>
        <p:nvSpPr>
          <p:cNvPr id="46" name="Shape 43"/>
          <p:cNvSpPr/>
          <p:nvPr/>
        </p:nvSpPr>
        <p:spPr>
          <a:xfrm>
            <a:off x="640080" y="4873752"/>
            <a:ext cx="256032" cy="256032"/>
          </a:xfrm>
          <a:prstGeom prst="ellipse">
            <a:avLst/>
          </a:prstGeom>
          <a:solidFill>
            <a:srgbClr val="F4F1EA"/>
          </a:solidFill>
          <a:ln w="12700">
            <a:solidFill>
              <a:srgbClr val="F4F1EA"/>
            </a:solidFill>
            <a:prstDash val="solid"/>
          </a:ln>
        </p:spPr>
      </p:sp>
      <p:sp>
        <p:nvSpPr>
          <p:cNvPr id="47" name="Text 44"/>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8" name="Text 45"/>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دَائِمًا وَبِدُونِ اسْتِثْنَاءٍ</a:t>
            </a:r>
            <a:endParaRPr lang="ar-SA" sz="2050" dirty="0"/>
          </a:p>
        </p:txBody>
      </p:sp>
      <p:sp>
        <p:nvSpPr>
          <p:cNvPr id="49" name="Shape 46"/>
          <p:cNvSpPr/>
          <p:nvPr/>
        </p:nvSpPr>
        <p:spPr>
          <a:xfrm>
            <a:off x="640080" y="53309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1" name="Text 48"/>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 بَعْضِ الأَحْيَانِ</a:t>
            </a:r>
            <a:endParaRPr lang="ar-SA" sz="2050" dirty="0"/>
          </a:p>
        </p:txBody>
      </p:sp>
      <p:sp>
        <p:nvSpPr>
          <p:cNvPr id="52" name="Shape 49"/>
          <p:cNvSpPr/>
          <p:nvPr/>
        </p:nvSpPr>
        <p:spPr>
          <a:xfrm>
            <a:off x="640080" y="57881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4" name="Text 51"/>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لَا شَكَّ أَبَدًا</a:t>
            </a:r>
            <a:endParaRPr lang="ar-SA" sz="2050" dirty="0"/>
          </a:p>
        </p:txBody>
      </p:sp>
      <p:sp>
        <p:nvSpPr>
          <p:cNvPr id="55" name="Shape 52"/>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6313932"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8" name="Text 55"/>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accurate reference.</a:t>
            </a:r>
            <a:endParaRPr lang="en-US" sz="125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أُسْلُوبُهَا يُعَبِّرُ عَنْ شَخْصِيَّتِهَا.</a:t>
            </a:r>
            <a:endParaRPr lang="ar-SA" sz="20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أُسْلُوبُهُ يُعَبِّرُ عَنْ شَخْصِيَّتِهَا.</a:t>
            </a:r>
            <a:endParaRPr lang="ar-SA" sz="20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أُسْلُوبُهَا تُعَبِّرُ عَنْ شَخْصِيَّتِهِ.</a:t>
            </a:r>
            <a:endParaRPr lang="ar-SA" sz="20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D2-L04 · Fashion and Identity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D2-L04</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يُعَبِّرُ عَنْ</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buys</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compares</a:t>
            </a:r>
            <a:endParaRPr lang="en-US" sz="125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expresses</a:t>
            </a:r>
            <a:endParaRPr lang="en-US" sz="125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means expresses.</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الرَّاحَةُ ___ مِنَ اتِّبَاعِ المَوْضَةِ.</a:t>
            </a:r>
            <a:endParaRPr lang="ar-SA" sz="1500" dirty="0"/>
          </a:p>
        </p:txBody>
      </p:sp>
      <p:sp>
        <p:nvSpPr>
          <p:cNvPr id="35" name="Shape 32"/>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6" name="Shape 33"/>
          <p:cNvSpPr/>
          <p:nvPr/>
        </p:nvSpPr>
        <p:spPr>
          <a:xfrm>
            <a:off x="6368796" y="2490216"/>
            <a:ext cx="256032" cy="256032"/>
          </a:xfrm>
          <a:prstGeom prst="ellipse">
            <a:avLst/>
          </a:prstGeom>
          <a:solidFill>
            <a:srgbClr val="2E8B57"/>
          </a:solidFill>
          <a:ln w="12700">
            <a:solidFill>
              <a:srgbClr val="2E8B57"/>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أَهَمُّ</a:t>
            </a:r>
            <a:endParaRPr lang="ar-SA" sz="1700" dirty="0"/>
          </a:p>
        </p:txBody>
      </p:sp>
      <p:sp>
        <p:nvSpPr>
          <p:cNvPr id="39" name="Shape 36"/>
          <p:cNvSpPr/>
          <p:nvPr/>
        </p:nvSpPr>
        <p:spPr>
          <a:xfrm>
            <a:off x="6368796"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مُهِمَّةٌ</a:t>
            </a:r>
            <a:endParaRPr lang="ar-SA" sz="1700" dirty="0"/>
          </a:p>
        </p:txBody>
      </p:sp>
      <p:sp>
        <p:nvSpPr>
          <p:cNvPr id="42" name="Shape 39"/>
          <p:cNvSpPr/>
          <p:nvPr/>
        </p:nvSpPr>
        <p:spPr>
          <a:xfrm>
            <a:off x="6368796" y="323392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1"/>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أَكْثَرٌ</a:t>
            </a:r>
            <a:endParaRPr lang="ar-SA" sz="1700" dirty="0"/>
          </a:p>
        </p:txBody>
      </p:sp>
      <p:sp>
        <p:nvSpPr>
          <p:cNvPr id="45" name="Text 42"/>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comparative pattern is </a:t>
            </a:r>
            <a:pPr algn="l" indent="0" marL="0">
              <a:buNone/>
            </a:pPr>
            <a:r>
              <a:rPr lang="ar-SA" altLang="en-US" sz="1350" dirty="0">
                <a:solidFill>
                  <a:srgbClr val="8A6D1E"/>
                </a:solidFill>
                <a:latin typeface="Amiri" pitchFamily="2" charset="-78"/>
                <a:cs typeface="Amiri" pitchFamily="2" charset="-78"/>
              </a:rPr>
              <a:t>أَهَمُّ مِنْ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6" name="Shape 43"/>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85216" y="4288536"/>
            <a:ext cx="310896" cy="310896"/>
          </a:xfrm>
          <a:prstGeom prst="ellipse">
            <a:avLst/>
          </a:prstGeom>
          <a:solidFill>
            <a:srgbClr val="1B3B6F"/>
          </a:solidFill>
          <a:ln w="12700">
            <a:solidFill>
              <a:srgbClr val="1B3B6F"/>
            </a:solidFill>
            <a:prstDash val="solid"/>
          </a:ln>
        </p:spPr>
      </p:sp>
      <p:sp>
        <p:nvSpPr>
          <p:cNvPr id="48" name="Text 4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6"/>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softens an opinion?</a:t>
            </a:r>
            <a:endParaRPr lang="en-US" sz="1250" dirty="0"/>
          </a:p>
        </p:txBody>
      </p:sp>
      <p:sp>
        <p:nvSpPr>
          <p:cNvPr id="50" name="Shape 47"/>
          <p:cNvSpPr/>
          <p:nvPr/>
        </p:nvSpPr>
        <p:spPr>
          <a:xfrm>
            <a:off x="640080" y="4831080"/>
            <a:ext cx="256032" cy="256032"/>
          </a:xfrm>
          <a:prstGeom prst="ellipse">
            <a:avLst/>
          </a:prstGeom>
          <a:solidFill>
            <a:srgbClr val="C9CED6"/>
          </a:solidFill>
          <a:ln w="12700">
            <a:solidFill>
              <a:srgbClr val="C9CED6"/>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دَائِمًا وَبِدُونِ اسْتِثْنَاءٍ</a:t>
            </a:r>
            <a:endParaRPr lang="ar-SA" sz="1700" dirty="0"/>
          </a:p>
        </p:txBody>
      </p:sp>
      <p:sp>
        <p:nvSpPr>
          <p:cNvPr id="53" name="Shape 50"/>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4" name="Shape 51"/>
          <p:cNvSpPr/>
          <p:nvPr/>
        </p:nvSpPr>
        <p:spPr>
          <a:xfrm>
            <a:off x="640080" y="5202936"/>
            <a:ext cx="256032" cy="256032"/>
          </a:xfrm>
          <a:prstGeom prst="ellipse">
            <a:avLst/>
          </a:prstGeom>
          <a:solidFill>
            <a:srgbClr val="2E8B57"/>
          </a:solidFill>
          <a:ln w="12700">
            <a:solidFill>
              <a:srgbClr val="2E8B57"/>
            </a:solidFill>
            <a:prstDash val="solid"/>
          </a:ln>
        </p:spPr>
      </p:sp>
      <p:sp>
        <p:nvSpPr>
          <p:cNvPr id="55" name="Text 52"/>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6" name="Text 53"/>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فِي بَعْضِ الأَحْيَانِ</a:t>
            </a:r>
            <a:endParaRPr lang="ar-SA" sz="1700" dirty="0"/>
          </a:p>
        </p:txBody>
      </p:sp>
      <p:sp>
        <p:nvSpPr>
          <p:cNvPr id="57" name="Shape 54"/>
          <p:cNvSpPr/>
          <p:nvPr/>
        </p:nvSpPr>
        <p:spPr>
          <a:xfrm>
            <a:off x="640080" y="5574792"/>
            <a:ext cx="256032" cy="256032"/>
          </a:xfrm>
          <a:prstGeom prst="ellipse">
            <a:avLst/>
          </a:prstGeom>
          <a:solidFill>
            <a:srgbClr val="C9CED6"/>
          </a:solidFill>
          <a:ln w="12700">
            <a:solidFill>
              <a:srgbClr val="C9CED6"/>
            </a:solidFill>
            <a:prstDash val="solid"/>
          </a:ln>
        </p:spPr>
      </p:sp>
      <p:sp>
        <p:nvSpPr>
          <p:cNvPr id="58" name="Text 5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9" name="Text 56"/>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لَا شَكَّ أَبَدًا</a:t>
            </a:r>
            <a:endParaRPr lang="ar-SA" sz="1700" dirty="0"/>
          </a:p>
        </p:txBody>
      </p:sp>
      <p:sp>
        <p:nvSpPr>
          <p:cNvPr id="60" name="Text 57"/>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avoids over-generalisation.</a:t>
            </a:r>
            <a:endParaRPr lang="en-US" sz="1050" dirty="0"/>
          </a:p>
        </p:txBody>
      </p:sp>
      <p:sp>
        <p:nvSpPr>
          <p:cNvPr id="61" name="Shape 58"/>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6313932"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1"/>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accurate reference.</a:t>
            </a:r>
            <a:endParaRPr lang="en-US" sz="125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أُسْلُوبُهَا يُعَبِّرُ عَنْ شَخْصِيَّتِهَا.</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أُسْلُوبُهُ يُعَبِّرُ عَنْ شَخْصِيَّتِهَا.</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أُسْلُوبُهَا تُعَبِّرُ عَنْ شَخْصِيَّتِهِ.</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All references are feminine.</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D2-L04 · Fashion and Identity</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give a balanced opinion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D2-L04</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My style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550" b="1" dirty="0">
                <a:solidFill>
                  <a:srgbClr val="1B3B6F"/>
                </a:solidFill>
                <a:latin typeface="Amiri" pitchFamily="2" charset="-78"/>
                <a:cs typeface="Amiri" pitchFamily="2" charset="-78"/>
              </a:rPr>
              <a:t>أُسْلُوبِي بَسِيطٌ وَمُحْتَشِمٌ.</a:t>
            </a:r>
            <a:endParaRPr lang="ar-SA" sz="255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Two style adjectives.</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Opinion + reason</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0E7C86"/>
                </a:solidFill>
                <a:latin typeface="Amiri" pitchFamily="2" charset="-78"/>
                <a:cs typeface="Amiri" pitchFamily="2" charset="-78"/>
              </a:rPr>
              <a:t>فِي رَأْيِي</a:t>
            </a:r>
            <a:pPr rtl="1" algn="ctr" indent="0" marL="0">
              <a:lnSpc>
                <a:spcPct val="120000"/>
              </a:lnSpc>
              <a:buNone/>
            </a:pPr>
            <a:r>
              <a:rPr lang="ar-SA" altLang="en-US" sz="1750" b="1" dirty="0">
                <a:solidFill>
                  <a:srgbClr val="1B3B6F"/>
                </a:solidFill>
                <a:latin typeface="Amiri" pitchFamily="2" charset="-78"/>
                <a:cs typeface="Amiri" pitchFamily="2" charset="-78"/>
              </a:rPr>
              <a:t>، الرَّاحَةُ مُهِمَّةٌ </a:t>
            </a:r>
            <a:pPr rtl="1" algn="ctr" indent="0" marL="0">
              <a:lnSpc>
                <a:spcPct val="120000"/>
              </a:lnSpc>
              <a:buNone/>
            </a:pPr>
            <a:r>
              <a:rPr lang="ar-SA" altLang="en-US" sz="1750" b="1" dirty="0">
                <a:solidFill>
                  <a:srgbClr val="1D5FBF"/>
                </a:solidFill>
                <a:latin typeface="Amiri" pitchFamily="2" charset="-78"/>
                <a:cs typeface="Amiri" pitchFamily="2" charset="-78"/>
              </a:rPr>
              <a:t>لِأَنَّنِي</a:t>
            </a:r>
            <a:pPr rtl="1" algn="ctr" indent="0" marL="0">
              <a:lnSpc>
                <a:spcPct val="120000"/>
              </a:lnSpc>
              <a:buNone/>
            </a:pPr>
            <a:r>
              <a:rPr lang="ar-SA" altLang="en-US" sz="1750" b="1" dirty="0">
                <a:solidFill>
                  <a:srgbClr val="1B3B6F"/>
                </a:solidFill>
                <a:latin typeface="Amiri" pitchFamily="2" charset="-78"/>
                <a:cs typeface="Amiri" pitchFamily="2" charset="-78"/>
              </a:rPr>
              <a:t> أَتَحَرَّكُ كَثِيرًا.</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Why? Because I …</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Contrast</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D6336C"/>
                </a:solidFill>
                <a:latin typeface="Amiri" pitchFamily="2" charset="-78"/>
                <a:cs typeface="Amiri" pitchFamily="2" charset="-78"/>
              </a:rPr>
              <a:t>وَلٰكِنَّنِي</a:t>
            </a:r>
            <a:pPr rtl="1" algn="ctr" indent="0" marL="0">
              <a:lnSpc>
                <a:spcPct val="120000"/>
              </a:lnSpc>
              <a:buNone/>
            </a:pPr>
            <a:r>
              <a:rPr lang="ar-SA" altLang="en-US" sz="1750" b="1" dirty="0">
                <a:solidFill>
                  <a:srgbClr val="1B3B6F"/>
                </a:solidFill>
                <a:latin typeface="Amiri" pitchFamily="2" charset="-78"/>
                <a:cs typeface="Amiri" pitchFamily="2" charset="-78"/>
              </a:rPr>
              <a:t> أَلْبَسُ مَلَابِسَ أَنِيقَةً فِي المُنَاسَبَاتِ.</a:t>
            </a:r>
            <a:endParaRPr lang="ar-SA" sz="17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The other side.</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Concession</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D6336C"/>
                </a:solidFill>
                <a:latin typeface="Amiri" pitchFamily="2" charset="-78"/>
                <a:cs typeface="Amiri" pitchFamily="2" charset="-78"/>
              </a:rPr>
              <a:t>عَلَى الرَّغْمِ مِنْ أَنَّ</a:t>
            </a:r>
            <a:pPr rtl="1" algn="ctr" indent="0" marL="0">
              <a:lnSpc>
                <a:spcPct val="120000"/>
              </a:lnSpc>
              <a:buNone/>
            </a:pPr>
            <a:r>
              <a:rPr lang="ar-SA" altLang="en-US" sz="1750" b="1" dirty="0">
                <a:solidFill>
                  <a:srgbClr val="1B3B6F"/>
                </a:solidFill>
                <a:latin typeface="Amiri" pitchFamily="2" charset="-78"/>
                <a:cs typeface="Amiri" pitchFamily="2" charset="-78"/>
              </a:rPr>
              <a:t> المَوْضَةَ مُمْتِعَةٌ، </a:t>
            </a:r>
            <a:pPr rtl="1" algn="ctr" indent="0" marL="0">
              <a:lnSpc>
                <a:spcPct val="120000"/>
              </a:lnSpc>
              <a:buNone/>
            </a:pPr>
            <a:r>
              <a:rPr lang="ar-SA" altLang="en-US" sz="1750" b="1" dirty="0">
                <a:solidFill>
                  <a:srgbClr val="D6336C"/>
                </a:solidFill>
                <a:latin typeface="Amiri" pitchFamily="2" charset="-78"/>
                <a:cs typeface="Amiri" pitchFamily="2" charset="-78"/>
              </a:rPr>
              <a:t>فَإِنَّ</a:t>
            </a:r>
            <a:pPr rtl="1" algn="ctr" indent="0" marL="0">
              <a:lnSpc>
                <a:spcPct val="120000"/>
              </a:lnSpc>
              <a:buNone/>
            </a:pPr>
            <a:r>
              <a:rPr lang="ar-SA" altLang="en-US" sz="1750" b="1" dirty="0">
                <a:solidFill>
                  <a:srgbClr val="1B3B6F"/>
                </a:solidFill>
                <a:latin typeface="Amiri" pitchFamily="2" charset="-78"/>
                <a:cs typeface="Amiri" pitchFamily="2" charset="-78"/>
              </a:rPr>
              <a:t> الرَّاحَةَ أَهَمُّ.</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Balanced conclusion.</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OPINION</a:t>
            </a:r>
            <a:endParaRPr lang="en-US" sz="800" dirty="0"/>
          </a:p>
        </p:txBody>
      </p:sp>
      <p:sp>
        <p:nvSpPr>
          <p:cNvPr id="47" name="Shape 43"/>
          <p:cNvSpPr/>
          <p:nvPr/>
        </p:nvSpPr>
        <p:spPr>
          <a:xfrm>
            <a:off x="9528048" y="4736592"/>
            <a:ext cx="914400" cy="237744"/>
          </a:xfrm>
          <a:prstGeom prst="roundRect">
            <a:avLst>
              <a:gd name="adj" fmla="val 50000"/>
            </a:avLst>
          </a:prstGeom>
          <a:solidFill>
            <a:srgbClr val="1D5FBF"/>
          </a:solidFill>
          <a:ln w="12700">
            <a:solidFill>
              <a:srgbClr val="1D5FBF"/>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REASON</a:t>
            </a:r>
            <a:endParaRPr lang="en-US" sz="800" dirty="0"/>
          </a:p>
        </p:txBody>
      </p:sp>
      <p:sp>
        <p:nvSpPr>
          <p:cNvPr id="49" name="Shape 45"/>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CONTRAST / CONCESSION</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2" charset="-78"/>
                <a:cs typeface="Amiri" pitchFamily="2" charset="-78"/>
              </a:rPr>
              <a:t>أُسْلُوبِي بَسِيطٌ وَمُحْتَشِمٌ. </a:t>
            </a:r>
            <a:pPr rtl="1" algn="r" indent="0" marL="0">
              <a:lnSpc>
                <a:spcPct val="120000"/>
              </a:lnSpc>
              <a:buNone/>
            </a:pPr>
            <a:r>
              <a:rPr lang="ar-SA" altLang="en-US" sz="1400" b="1" dirty="0">
                <a:solidFill>
                  <a:srgbClr val="0E7C86"/>
                </a:solidFill>
                <a:latin typeface="Amiri" pitchFamily="2" charset="-78"/>
                <a:cs typeface="Amiri" pitchFamily="2" charset="-78"/>
              </a:rPr>
              <a:t>فِي رَأْيِي</a:t>
            </a:r>
            <a:pPr rtl="1" algn="r" indent="0" marL="0">
              <a:lnSpc>
                <a:spcPct val="120000"/>
              </a:lnSpc>
              <a:buNone/>
            </a:pPr>
            <a:r>
              <a:rPr lang="ar-SA" altLang="en-US" sz="1400" b="1" dirty="0">
                <a:solidFill>
                  <a:srgbClr val="1B3B6F"/>
                </a:solidFill>
                <a:latin typeface="Amiri" pitchFamily="2" charset="-78"/>
                <a:cs typeface="Amiri" pitchFamily="2" charset="-78"/>
              </a:rPr>
              <a:t>، الرَّاحَةُ مُهِمَّةٌ </a:t>
            </a:r>
            <a:pPr rtl="1" algn="r" indent="0" marL="0">
              <a:lnSpc>
                <a:spcPct val="120000"/>
              </a:lnSpc>
              <a:buNone/>
            </a:pPr>
            <a:r>
              <a:rPr lang="ar-SA" altLang="en-US" sz="1400" b="1" dirty="0">
                <a:solidFill>
                  <a:srgbClr val="1D5FBF"/>
                </a:solidFill>
                <a:latin typeface="Amiri" pitchFamily="2" charset="-78"/>
                <a:cs typeface="Amiri" pitchFamily="2" charset="-78"/>
              </a:rPr>
              <a:t>لِأَنَّنِي</a:t>
            </a:r>
            <a:pPr rtl="1" algn="r" indent="0" marL="0">
              <a:lnSpc>
                <a:spcPct val="120000"/>
              </a:lnSpc>
              <a:buNone/>
            </a:pPr>
            <a:r>
              <a:rPr lang="ar-SA" altLang="en-US" sz="1400" b="1" dirty="0">
                <a:solidFill>
                  <a:srgbClr val="1B3B6F"/>
                </a:solidFill>
                <a:latin typeface="Amiri" pitchFamily="2" charset="-78"/>
                <a:cs typeface="Amiri" pitchFamily="2" charset="-78"/>
              </a:rPr>
              <a:t> أَتَحَرَّكُ كَثِيرًا فِي المَدْرَسَةِ، </a:t>
            </a:r>
            <a:pPr rtl="1" algn="r" indent="0" marL="0">
              <a:lnSpc>
                <a:spcPct val="120000"/>
              </a:lnSpc>
              <a:buNone/>
            </a:pPr>
            <a:r>
              <a:rPr lang="ar-SA" altLang="en-US" sz="1400" b="1" dirty="0">
                <a:solidFill>
                  <a:srgbClr val="D6336C"/>
                </a:solidFill>
                <a:latin typeface="Amiri" pitchFamily="2" charset="-78"/>
                <a:cs typeface="Amiri" pitchFamily="2" charset="-78"/>
              </a:rPr>
              <a:t>وَلٰكِنَّنِي</a:t>
            </a:r>
            <a:pPr rtl="1" algn="r" indent="0" marL="0">
              <a:lnSpc>
                <a:spcPct val="120000"/>
              </a:lnSpc>
              <a:buNone/>
            </a:pPr>
            <a:r>
              <a:rPr lang="ar-SA" altLang="en-US" sz="1400" b="1" dirty="0">
                <a:solidFill>
                  <a:srgbClr val="1B3B6F"/>
                </a:solidFill>
                <a:latin typeface="Amiri" pitchFamily="2" charset="-78"/>
                <a:cs typeface="Amiri" pitchFamily="2" charset="-78"/>
              </a:rPr>
              <a:t> أَلْبَسُ مَلَابِسَ أَنِيقَةً فِي المُنَاسَبَاتِ. </a:t>
            </a:r>
            <a:pPr rtl="1" algn="r" indent="0" marL="0">
              <a:lnSpc>
                <a:spcPct val="120000"/>
              </a:lnSpc>
              <a:buNone/>
            </a:pPr>
            <a:r>
              <a:rPr lang="ar-SA" altLang="en-US" sz="1400" b="1" dirty="0">
                <a:solidFill>
                  <a:srgbClr val="D6336C"/>
                </a:solidFill>
                <a:latin typeface="Amiri" pitchFamily="2" charset="-78"/>
                <a:cs typeface="Amiri" pitchFamily="2" charset="-78"/>
              </a:rPr>
              <a:t>عَلَى الرَّغْمِ مِنْ أَنَّ</a:t>
            </a:r>
            <a:pPr rtl="1" algn="r" indent="0" marL="0">
              <a:lnSpc>
                <a:spcPct val="120000"/>
              </a:lnSpc>
              <a:buNone/>
            </a:pPr>
            <a:r>
              <a:rPr lang="ar-SA" altLang="en-US" sz="1400" b="1" dirty="0">
                <a:solidFill>
                  <a:srgbClr val="1B3B6F"/>
                </a:solidFill>
                <a:latin typeface="Amiri" pitchFamily="2" charset="-78"/>
                <a:cs typeface="Amiri" pitchFamily="2" charset="-78"/>
              </a:rPr>
              <a:t> المَوْضَةَ مُمْتِعَةٌ، </a:t>
            </a:r>
            <a:pPr rtl="1" algn="r" indent="0" marL="0">
              <a:lnSpc>
                <a:spcPct val="120000"/>
              </a:lnSpc>
              <a:buNone/>
            </a:pPr>
            <a:r>
              <a:rPr lang="ar-SA" altLang="en-US" sz="1400" b="1" dirty="0">
                <a:solidFill>
                  <a:srgbClr val="D6336C"/>
                </a:solidFill>
                <a:latin typeface="Amiri" pitchFamily="2" charset="-78"/>
                <a:cs typeface="Amiri" pitchFamily="2" charset="-78"/>
              </a:rPr>
              <a:t>فَإِنَّ</a:t>
            </a:r>
            <a:pPr rtl="1" algn="r" indent="0" marL="0">
              <a:lnSpc>
                <a:spcPct val="120000"/>
              </a:lnSpc>
              <a:buNone/>
            </a:pPr>
            <a:r>
              <a:rPr lang="ar-SA" altLang="en-US" sz="1400" b="1" dirty="0">
                <a:solidFill>
                  <a:srgbClr val="1B3B6F"/>
                </a:solidFill>
                <a:latin typeface="Amiri" pitchFamily="2" charset="-78"/>
                <a:cs typeface="Amiri" pitchFamily="2" charset="-78"/>
              </a:rPr>
              <a:t> الرَّاحَةَ أَهَمُّ.</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My style is simple and modest. In my opinion, comfort is important because I move around a lot at school, but I wear elegant clothes on special occasions. Although fashion is fun, comfort is more important.</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D2-L04 · Fashion and Identity</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D2-L04</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فِي رَأْيِي، المَلَابِسُ البَسِيطَةُ أَفْضَلُ لِأَنَّهَا عَمَلِيَّةٌ.</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In my opinion, simple clothes are better because they are practical.</a:t>
            </a:r>
            <a:endParaRPr lang="en-US" sz="1250" dirty="0"/>
          </a:p>
          <a:p>
            <a:pPr indent="0" marL="0">
              <a:buNone/>
            </a:pPr>
            <a:r>
              <a:rPr lang="en-US" sz="1050" i="1" dirty="0">
                <a:solidFill>
                  <a:srgbClr val="8A6D1E"/>
                </a:solidFill>
                <a:latin typeface="Calibri" pitchFamily="34" charset="0"/>
                <a:cs typeface="Amiri" pitchFamily="2" charset="-78"/>
              </a:rPr>
              <a:t>Opinion + reason.</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lnSpc>
                <a:spcPct val="120000"/>
              </a:lnSpc>
              <a:buNone/>
            </a:pPr>
            <a:r>
              <a:rPr lang="ar-SA" altLang="en-US" sz="2100" b="1" dirty="0">
                <a:solidFill>
                  <a:srgbClr val="1B3B6F"/>
                </a:solidFill>
                <a:latin typeface="Amiri" pitchFamily="2" charset="-78"/>
                <a:cs typeface="Amiri" pitchFamily="2" charset="-78"/>
              </a:rPr>
              <a:t>أُفَضِّلُ الأَلْوَانَ الهَادِئَةَ، وَلٰكِنَّنِي أَلْبَسُ أَلْوَانًا زَاهِيَةً فِي المُنَاسَبَاتِ.</a:t>
            </a:r>
            <a:endParaRPr lang="ar-SA" sz="21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prefer calm colours, but I wear bright colours on special occasions.</a:t>
            </a:r>
            <a:endParaRPr lang="en-US" sz="1250" dirty="0"/>
          </a:p>
          <a:p>
            <a:pPr indent="0" marL="0">
              <a:buNone/>
            </a:pPr>
            <a:r>
              <a:rPr lang="en-US" sz="1050" i="1" dirty="0">
                <a:solidFill>
                  <a:srgbClr val="8A6D1E"/>
                </a:solidFill>
                <a:latin typeface="Calibri" pitchFamily="34" charset="0"/>
                <a:cs typeface="Amiri" pitchFamily="2" charset="-78"/>
              </a:rPr>
              <a:t>Contrast.</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عَلَى الرَّغْمِ مِنْ أَنَّ المَوْضَةَ مُهِمَّةٌ، فَإِنَّ الرَّاحَةَ أَهَمُّ.</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Although fashion is important, comfort is more important.</a:t>
            </a:r>
            <a:endParaRPr lang="en-US" sz="1250" dirty="0"/>
          </a:p>
          <a:p>
            <a:pPr indent="0" marL="0">
              <a:buNone/>
            </a:pPr>
            <a:r>
              <a:rPr lang="en-US" sz="1050" i="1" dirty="0">
                <a:solidFill>
                  <a:srgbClr val="8A6D1E"/>
                </a:solidFill>
                <a:latin typeface="Calibri" pitchFamily="34" charset="0"/>
                <a:cs typeface="Amiri" pitchFamily="2" charset="-78"/>
              </a:rPr>
              <a:t>Concession.</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أُسْلُوبُهَا يُعَبِّرُ عَنْ شَخْصِيَّتِهَا.</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Her style expresses her personality.</a:t>
            </a:r>
            <a:endParaRPr lang="en-US" sz="1250" dirty="0"/>
          </a:p>
          <a:p>
            <a:pPr indent="0" marL="0">
              <a:buNone/>
            </a:pPr>
            <a:r>
              <a:rPr lang="en-US" sz="1050" i="1" dirty="0">
                <a:solidFill>
                  <a:srgbClr val="8A6D1E"/>
                </a:solidFill>
                <a:latin typeface="Calibri" pitchFamily="34" charset="0"/>
                <a:cs typeface="Amiri" pitchFamily="2" charset="-78"/>
              </a:rPr>
              <a:t>Identity and expression.</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D2-L04 · Fashion and Identity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WHICH OPINION IS BALANCED AND RESPECTFUL?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Upgrade the opinion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رَأْيٌ مُتَوَازِنٌ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developed opinion?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1400" dirty="0">
                <a:solidFill>
                  <a:srgbClr val="1F2A37"/>
                </a:solidFill>
                <a:latin typeface="Amiri" pitchFamily="2" charset="-78"/>
                <a:cs typeface="Amiri" pitchFamily="2" charset="-78"/>
              </a:rPr>
              <a:t>فِي رَأْيِي، المَلَابِسُ البَسِيطَةُ أَفْضَلُ لِأَنَّهَا عَمَلِيَّةٌ.</a:t>
            </a:r>
            <a:endParaRPr lang="ar-SA" sz="140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1400" dirty="0">
                <a:solidFill>
                  <a:srgbClr val="1F2A37"/>
                </a:solidFill>
                <a:latin typeface="Amiri" pitchFamily="2" charset="-78"/>
                <a:cs typeface="Amiri" pitchFamily="2" charset="-78"/>
              </a:rPr>
              <a:t>المَلَابِسُ البَسِيطَةُ.</a:t>
            </a:r>
            <a:endParaRPr lang="ar-SA" sz="140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1400" dirty="0">
                <a:solidFill>
                  <a:srgbClr val="1F2A37"/>
                </a:solidFill>
                <a:latin typeface="Amiri" pitchFamily="2" charset="-78"/>
                <a:cs typeface="Amiri" pitchFamily="2" charset="-78"/>
              </a:rPr>
              <a:t>لِأَنَّهَا عَمَلِيَّةٌ.</a:t>
            </a:r>
            <a:endParaRPr lang="ar-SA" sz="140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adds a contrast?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1600" dirty="0">
                <a:solidFill>
                  <a:srgbClr val="1F2A37"/>
                </a:solidFill>
                <a:latin typeface="Amiri" pitchFamily="2" charset="-78"/>
                <a:cs typeface="Amiri" pitchFamily="2" charset="-78"/>
              </a:rPr>
              <a:t>أُحِبُّ المَوْضَةَ، لِأَنَّنِي لَا أَتْبَعُ كُلَّ اتِّجَاهٍ.</a:t>
            </a:r>
            <a:endParaRPr lang="ar-SA" sz="160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1600" dirty="0">
                <a:solidFill>
                  <a:srgbClr val="1F2A37"/>
                </a:solidFill>
                <a:latin typeface="Amiri" pitchFamily="2" charset="-78"/>
                <a:cs typeface="Amiri" pitchFamily="2" charset="-78"/>
              </a:rPr>
              <a:t>أُحِبُّ المَوْضَةَ، وَلٰكِنَّنِي لَا أَتْبَعُ كُلَّ اتِّجَاهٍ.</a:t>
            </a:r>
            <a:endParaRPr lang="ar-SA" sz="160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1600" dirty="0">
                <a:solidFill>
                  <a:srgbClr val="1F2A37"/>
                </a:solidFill>
                <a:latin typeface="Amiri" pitchFamily="2" charset="-78"/>
                <a:cs typeface="Amiri" pitchFamily="2" charset="-78"/>
              </a:rPr>
              <a:t>أُحِبُّ المَوْضَةَ ثُمَّ.</a:t>
            </a:r>
            <a:endParaRPr lang="ar-SA" sz="160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complete concession?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500" dirty="0">
                <a:solidFill>
                  <a:srgbClr val="1F2A37"/>
                </a:solidFill>
                <a:latin typeface="Amiri" pitchFamily="2" charset="-78"/>
                <a:cs typeface="Amiri" pitchFamily="2" charset="-78"/>
              </a:rPr>
              <a:t>عَلَى الرَّغْمِ مِنْ أَنَّهُ غَالٍ، فَإِنَّهُ جَيِّدُ الجَوْدَةِ.</a:t>
            </a:r>
            <a:endParaRPr lang="ar-SA" sz="150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500" dirty="0">
                <a:solidFill>
                  <a:srgbClr val="1F2A37"/>
                </a:solidFill>
                <a:latin typeface="Amiri" pitchFamily="2" charset="-78"/>
                <a:cs typeface="Amiri" pitchFamily="2" charset="-78"/>
              </a:rPr>
              <a:t>لِأَنَّهُ غَالٍ فَإِنَّهُ.</a:t>
            </a:r>
            <a:endParaRPr lang="ar-SA" sz="150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500" dirty="0">
                <a:solidFill>
                  <a:srgbClr val="1F2A37"/>
                </a:solidFill>
                <a:latin typeface="Amiri" pitchFamily="2" charset="-78"/>
                <a:cs typeface="Amiri" pitchFamily="2" charset="-78"/>
              </a:rPr>
              <a:t>عَلَى الرَّغْمِ غَالٍ.</a:t>
            </a:r>
            <a:endParaRPr lang="ar-SA" sz="150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judgement is respectful?</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cs typeface="Amiri" pitchFamily="2" charset="-78"/>
              </a:rPr>
              <a:t>هِيَ سَيِّئَةٌ لِأَنَّ فُسْتَانَهَا أَحْمَرُ.</a:t>
            </a:r>
            <a:endParaRPr lang="ar-SA" sz="200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cs typeface="Amiri" pitchFamily="2" charset="-78"/>
              </a:rPr>
              <a:t>كُلُّ مَنْ يَلْبَسُ الأَسْوَدَ حَزِينٌ.</a:t>
            </a:r>
            <a:endParaRPr lang="ar-SA" sz="200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cs typeface="Amiri" pitchFamily="2" charset="-78"/>
              </a:rPr>
              <a:t>أُسْلُوبُهَا مُخْتَلِفٌ وَيُعَبِّرُ عَنْ ذَوْقِهَا.</a:t>
            </a:r>
            <a:endParaRPr lang="ar-SA" sz="200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898136" y="4361688"/>
            <a:ext cx="914400" cy="274320"/>
          </a:xfrm>
          <a:prstGeom prst="roundRect">
            <a:avLst>
              <a:gd name="adj" fmla="val 50000"/>
            </a:avLst>
          </a:prstGeom>
          <a:solidFill>
            <a:srgbClr val="2E8B57"/>
          </a:solidFill>
          <a:ln w="12700">
            <a:solidFill>
              <a:srgbClr val="2E8B57"/>
            </a:solidFill>
            <a:prstDash val="solid"/>
          </a:ln>
        </p:spPr>
      </p:sp>
      <p:sp>
        <p:nvSpPr>
          <p:cNvPr id="69" name="Text 66"/>
          <p:cNvSpPr txBox="1"/>
          <p:nvPr/>
        </p:nvSpPr>
        <p:spPr>
          <a:xfrm>
            <a:off x="4898136"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70" name="Text 67"/>
          <p:cNvSpPr txBox="1"/>
          <p:nvPr/>
        </p:nvSpPr>
        <p:spPr>
          <a:xfrm>
            <a:off x="4477512"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A strong opinion:</a:t>
            </a:r>
            <a:endParaRPr lang="en-US" sz="1250" dirty="0"/>
          </a:p>
          <a:p>
            <a:pPr algn="l" indent="0" marL="0">
              <a:buNone/>
            </a:pPr>
            <a:r>
              <a:rPr lang="en-US" sz="1250" dirty="0">
                <a:solidFill>
                  <a:srgbClr val="1E6B52"/>
                </a:solidFill>
                <a:latin typeface="Calibri" pitchFamily="34" charset="0"/>
                <a:cs typeface="Amiri" pitchFamily="2" charset="-78"/>
              </a:rPr>
              <a:t>what I think + because …</a:t>
            </a:r>
            <a:endParaRPr lang="en-US" sz="1250" dirty="0"/>
          </a:p>
          <a:p>
            <a:pPr algn="l" indent="0" marL="0">
              <a:buNone/>
            </a:pPr>
            <a:r>
              <a:rPr lang="en-US" sz="1250" dirty="0">
                <a:solidFill>
                  <a:srgbClr val="1E6B52"/>
                </a:solidFill>
                <a:latin typeface="Calibri" pitchFamily="34" charset="0"/>
                <a:cs typeface="Amiri" pitchFamily="2" charset="-78"/>
              </a:rPr>
              <a:t>Stretch: + but … / although …</a:t>
            </a:r>
            <a:endParaRPr lang="en-US" sz="125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D2-L04 · Fashion and Identity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UPGRADE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Upgrade the opinion: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developed opinion?</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2" charset="-78"/>
                <a:cs typeface="Amiri" pitchFamily="2" charset="-78"/>
              </a:rPr>
              <a:t>فِي رَأْيِي، المَلَابِسُ البَسِيطَةُ أَفْضَلُ لِأَنَّهَا عَمَلِيَّةٌ.</a:t>
            </a:r>
            <a:endParaRPr lang="ar-SA" sz="14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400" dirty="0">
                <a:solidFill>
                  <a:srgbClr val="9AA1AB"/>
                </a:solidFill>
                <a:latin typeface="Amiri" pitchFamily="2" charset="-78"/>
                <a:cs typeface="Amiri" pitchFamily="2" charset="-78"/>
              </a:rPr>
              <a:t>المَلَابِسُ البَسِيطَةُ.</a:t>
            </a:r>
            <a:endParaRPr lang="ar-SA" sz="14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400" dirty="0">
                <a:solidFill>
                  <a:srgbClr val="9AA1AB"/>
                </a:solidFill>
                <a:latin typeface="Amiri" pitchFamily="2" charset="-78"/>
                <a:cs typeface="Amiri" pitchFamily="2" charset="-78"/>
              </a:rPr>
              <a:t>لِأَنَّهَا عَمَلِيَّةٌ.</a:t>
            </a:r>
            <a:endParaRPr lang="ar-SA" sz="14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Opinion + reason.</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adds a contrast?</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600" dirty="0">
                <a:solidFill>
                  <a:srgbClr val="9AA1AB"/>
                </a:solidFill>
                <a:latin typeface="Amiri" pitchFamily="2" charset="-78"/>
                <a:cs typeface="Amiri" pitchFamily="2" charset="-78"/>
              </a:rPr>
              <a:t>أُحِبُّ المَوْضَةَ، لِأَنَّنِي لَا أَتْبَعُ كُلَّ اتِّجَاهٍ.</a:t>
            </a:r>
            <a:endParaRPr lang="ar-SA" sz="1600" dirty="0"/>
          </a:p>
        </p:txBody>
      </p:sp>
      <p:sp>
        <p:nvSpPr>
          <p:cNvPr id="37" name="Shape 34"/>
          <p:cNvSpPr/>
          <p:nvPr/>
        </p:nvSpPr>
        <p:spPr>
          <a:xfrm>
            <a:off x="4367784" y="2825496"/>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862072"/>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أُحِبُّ المَوْضَةَ، وَلٰكِنَّنِي لَا أَتْبَعُ كُلَّ اتِّجَاهٍ.</a:t>
            </a:r>
            <a:endParaRPr lang="ar-SA" sz="16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600" dirty="0">
                <a:solidFill>
                  <a:srgbClr val="9AA1AB"/>
                </a:solidFill>
                <a:latin typeface="Amiri" pitchFamily="2" charset="-78"/>
                <a:cs typeface="Amiri" pitchFamily="2" charset="-78"/>
              </a:rPr>
              <a:t>أُحِبُّ المَوْضَةَ ثُمَّ.</a:t>
            </a:r>
            <a:endParaRPr lang="ar-SA" sz="16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“but” = wa-lākinna.</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complete concession?</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عَلَى الرَّغْمِ مِنْ أَنَّهُ غَالٍ، فَإِنَّهُ جَيِّدُ الجَوْدَةِ.</a:t>
            </a:r>
            <a:endParaRPr lang="ar-SA" sz="150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500" dirty="0">
                <a:solidFill>
                  <a:srgbClr val="9AA1AB"/>
                </a:solidFill>
                <a:latin typeface="Amiri" pitchFamily="2" charset="-78"/>
                <a:cs typeface="Amiri" pitchFamily="2" charset="-78"/>
              </a:rPr>
              <a:t>لِأَنَّهُ غَالٍ فَإِنَّهُ.</a:t>
            </a:r>
            <a:endParaRPr lang="ar-SA" sz="150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500" dirty="0">
                <a:solidFill>
                  <a:srgbClr val="9AA1AB"/>
                </a:solidFill>
                <a:latin typeface="Amiri" pitchFamily="2" charset="-78"/>
                <a:cs typeface="Amiri" pitchFamily="2" charset="-78"/>
              </a:rPr>
              <a:t>عَلَى الرَّغْمِ غَالٍ.</a:t>
            </a:r>
            <a:endParaRPr lang="ar-SA" sz="15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Although … , (fa-inna) …</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judgement is respectful?</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هِيَ سَيِّئَةٌ لِأَنَّ فُسْتَانَهَا أَحْمَرُ.</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كُلُّ مَنْ يَلْبَسُ الأَسْوَدَ حَزِينٌ.</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أُسْلُوبُهَا مُخْتَلِفٌ وَيُعَبِّرُ عَنْ ذَوْقِهَا.</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Judge the style, not the person.</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898136" y="4361688"/>
            <a:ext cx="914400" cy="274320"/>
          </a:xfrm>
          <a:prstGeom prst="roundRect">
            <a:avLst>
              <a:gd name="adj" fmla="val 50000"/>
            </a:avLst>
          </a:prstGeom>
          <a:solidFill>
            <a:srgbClr val="2E8B57"/>
          </a:solidFill>
          <a:ln w="12700">
            <a:solidFill>
              <a:srgbClr val="2E8B57"/>
            </a:solidFill>
            <a:prstDash val="solid"/>
          </a:ln>
        </p:spPr>
      </p:sp>
      <p:sp>
        <p:nvSpPr>
          <p:cNvPr id="77" name="Text 74"/>
          <p:cNvSpPr txBox="1"/>
          <p:nvPr/>
        </p:nvSpPr>
        <p:spPr>
          <a:xfrm>
            <a:off x="4898136"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78" name="Text 75"/>
          <p:cNvSpPr txBox="1"/>
          <p:nvPr/>
        </p:nvSpPr>
        <p:spPr>
          <a:xfrm>
            <a:off x="4477512"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A strong opinion:</a:t>
            </a:r>
            <a:endParaRPr lang="en-US" sz="1250" dirty="0"/>
          </a:p>
          <a:p>
            <a:pPr algn="l" indent="0" marL="0">
              <a:buNone/>
            </a:pPr>
            <a:r>
              <a:rPr lang="en-US" sz="1250" dirty="0">
                <a:solidFill>
                  <a:srgbClr val="1E6B52"/>
                </a:solidFill>
                <a:latin typeface="Calibri" pitchFamily="34" charset="0"/>
                <a:cs typeface="Amiri" pitchFamily="2" charset="-78"/>
              </a:rPr>
              <a:t>what I think + because …</a:t>
            </a:r>
            <a:endParaRPr lang="en-US" sz="1250" dirty="0"/>
          </a:p>
          <a:p>
            <a:pPr algn="l" indent="0" marL="0">
              <a:buNone/>
            </a:pPr>
            <a:r>
              <a:rPr lang="en-US" sz="1250" dirty="0">
                <a:solidFill>
                  <a:srgbClr val="1E6B52"/>
                </a:solidFill>
                <a:latin typeface="Calibri" pitchFamily="34" charset="0"/>
                <a:cs typeface="Amiri" pitchFamily="2" charset="-78"/>
              </a:rPr>
              <a:t>Stretch: + but … / although …</a:t>
            </a:r>
            <a:endParaRPr lang="en-US" sz="125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D2-L04 · Fashion and Identity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Balanced and respectful?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D2-L04</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فِي رَأْيِي، هٰذَا الأُسْلُوبُ مُنَاسِبٌ لِأَنَّهُ مُرِيحٌ.</a:t>
            </a:r>
            <a:endParaRPr lang="ar-SA" sz="135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أُحِبُّ المَوْضَةَ، وَلٰكِنَّنِي لَا أَتْبَعُ كُلَّ اتِّجَاهٍ.</a:t>
            </a:r>
            <a:endParaRPr lang="ar-SA" sz="135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300" b="1" dirty="0">
                <a:solidFill>
                  <a:srgbClr val="1B3B6F"/>
                </a:solidFill>
                <a:latin typeface="Amiri" pitchFamily="2" charset="-78"/>
                <a:cs typeface="Amiri" pitchFamily="2" charset="-78"/>
              </a:rPr>
              <a:t>عَلَى الرَّغْمِ مِنْ أَنَّهُ غَالٍ، فَإِنَّهُ جَيِّدُ الجَوْدَةِ.</a:t>
            </a:r>
            <a:endParaRPr lang="ar-SA" sz="13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أُسْلُوبُهَا يُعَبِّرُ عَنْ ذَوْقِهَا.</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هٰذَا الأُسْلُوبُ.</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لِأَنَّهُ غَالٍ فَإِنَّهُ.</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هِيَ سَيِّئَةٌ لِأَنَّ فُسْتَانَهَا أَحْمَرُ.</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كُلُّ مَنْ يَلْبَسُ الأَسْوَدَ حَزِينٌ.</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Complete and respectful</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Incomplete or unfair</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D2-L04 · Fashion and Identity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D2-L04</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Complete and respectful</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فِي رَأْيِي، هٰذَا الأُسْلُوبُ مُنَاسِبٌ لِأَنَّهُ مُرِيحٌ.</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أُحِبُّ المَوْضَةَ، وَلٰكِنَّنِي لَا أَتْبَعُ كُلَّ اتِّجَاهٍ.</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عَلَى الرَّغْمِ مِنْ أَنَّهُ غَالٍ، فَإِنَّهُ جَيِّدُ الجَوْدَةِ.</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أُسْلُوبُهَا يُعَبِّرُ عَنْ ذَوْقِهَا.</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Incomplete or unfair</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هٰذَا الأُسْلُوبُ.</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لِأَنَّهُ غَالٍ فَإِنَّهُ.</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هِيَ سَيِّئَةٌ لِأَنَّ فُسْتَانَهَا أَحْمَرُ.</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كُلُّ مَنْ يَلْبَسُ الأَسْوَدَ حَزِينٌ.</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D2-L04 · Fashion and Identity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D2-L04</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هٰذَا الأُسْلُوبُ.</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Is there an opinion AND a reason?</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أُحِبُّ المَوْضَةَ، لِأَنَّنِي لَا أَتْبَعُ كُلَّ اتِّجَاهٍ.</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Contrast: because or but?</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لِأَنَّهُ غَالٍ فَإِنَّهُ.</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Although … then what?</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D2-L04 · Fashion and Identity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D2-L04</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هٰذَا الأُسْلُوبُ.</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فِي رَأْيِي، هٰذَا الأُسْلُوبُ مُنَاسِبٌ لِأَنَّهُ مُرِيحٌ.</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Give an opinion AND a reason.</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2" charset="-78"/>
                <a:cs typeface="Amiri" pitchFamily="2" charset="-78"/>
              </a:rPr>
              <a:t>أُحِبُّ المَوْضَةَ، لِأَنَّنِي لَا أَتْبَعُ كُلَّ اتِّجَاهٍ.</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أُحِبُّ المَوْضَةَ، وَلٰكِنَّنِي لَا أَتْبَعُ كُلَّ اتِّجَاهٍ.</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contrast needs “but”, not “because”.</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لِأَنَّهُ غَالٍ فَإِنَّهُ.</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lnSpc>
                <a:spcPct val="120000"/>
              </a:lnSpc>
              <a:buNone/>
            </a:pPr>
            <a:r>
              <a:rPr lang="ar-SA" altLang="en-US" sz="2350" b="1" dirty="0">
                <a:solidFill>
                  <a:srgbClr val="1E6B52"/>
                </a:solidFill>
                <a:latin typeface="Amiri" pitchFamily="2" charset="-78"/>
                <a:cs typeface="Amiri" pitchFamily="2" charset="-78"/>
              </a:rPr>
              <a:t>عَلَى الرَّغْمِ مِنْ أَنَّهُ غَالٍ، فَإِنَّهُ جَيِّدُ الجَوْدَةِ.</a:t>
            </a:r>
            <a:endParaRPr lang="ar-SA" sz="235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Complete the concession pattern.</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D2-L04 · Fashion and Identity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Listening focus: fashion and identity</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D2-L04</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Whose style is described?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Reem’s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her sister’s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her teacher’s</a:t>
            </a:r>
            <a:endParaRPr lang="en-US" sz="1250" dirty="0"/>
          </a:p>
        </p:txBody>
      </p:sp>
      <p:sp>
        <p:nvSpPr>
          <p:cNvPr id="28" name="Shape 25"/>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3449574"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clothes does she prefer?</a:t>
            </a:r>
            <a:endParaRPr lang="en-US" sz="1250" dirty="0"/>
          </a:p>
        </p:txBody>
      </p:sp>
      <p:sp>
        <p:nvSpPr>
          <p:cNvPr id="32" name="Shape 29"/>
          <p:cNvSpPr/>
          <p:nvPr/>
        </p:nvSpPr>
        <p:spPr>
          <a:xfrm>
            <a:off x="3504438"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elegant and formal</a:t>
            </a:r>
            <a:endParaRPr lang="en-US" sz="1250" dirty="0"/>
          </a:p>
        </p:txBody>
      </p:sp>
      <p:sp>
        <p:nvSpPr>
          <p:cNvPr id="35" name="Shape 32"/>
          <p:cNvSpPr/>
          <p:nvPr/>
        </p:nvSpPr>
        <p:spPr>
          <a:xfrm>
            <a:off x="3504438"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colourful and modern</a:t>
            </a:r>
            <a:endParaRPr lang="en-US" sz="1250" dirty="0"/>
          </a:p>
        </p:txBody>
      </p:sp>
      <p:sp>
        <p:nvSpPr>
          <p:cNvPr id="38" name="Shape 35"/>
          <p:cNvSpPr/>
          <p:nvPr/>
        </p:nvSpPr>
        <p:spPr>
          <a:xfrm>
            <a:off x="3504438"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simple and comfortable</a:t>
            </a:r>
            <a:endParaRPr lang="en-US" sz="1250" dirty="0"/>
          </a:p>
        </p:txBody>
      </p:sp>
      <p:sp>
        <p:nvSpPr>
          <p:cNvPr id="41" name="Shape 38"/>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313932"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a:t>
            </a:r>
            <a:endParaRPr lang="en-US" sz="1250" dirty="0"/>
          </a:p>
        </p:txBody>
      </p:sp>
      <p:sp>
        <p:nvSpPr>
          <p:cNvPr id="45" name="Shape 42"/>
          <p:cNvSpPr/>
          <p:nvPr/>
        </p:nvSpPr>
        <p:spPr>
          <a:xfrm>
            <a:off x="6368796"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are cheap</a:t>
            </a:r>
            <a:endParaRPr lang="en-US" sz="1250" dirty="0"/>
          </a:p>
        </p:txBody>
      </p:sp>
      <p:sp>
        <p:nvSpPr>
          <p:cNvPr id="48" name="Shape 45"/>
          <p:cNvSpPr/>
          <p:nvPr/>
        </p:nvSpPr>
        <p:spPr>
          <a:xfrm>
            <a:off x="6368796"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her mother chooses them</a:t>
            </a:r>
            <a:endParaRPr lang="en-US" sz="1250" dirty="0"/>
          </a:p>
        </p:txBody>
      </p:sp>
      <p:sp>
        <p:nvSpPr>
          <p:cNvPr id="51" name="Shape 48"/>
          <p:cNvSpPr/>
          <p:nvPr/>
        </p:nvSpPr>
        <p:spPr>
          <a:xfrm>
            <a:off x="6368796"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goes to school and moves around a lot</a:t>
            </a:r>
            <a:endParaRPr lang="en-US" sz="1250" dirty="0"/>
          </a:p>
        </p:txBody>
      </p:sp>
      <p:sp>
        <p:nvSpPr>
          <p:cNvPr id="54" name="Shape 51"/>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9178290" y="1947672"/>
            <a:ext cx="310896" cy="310896"/>
          </a:xfrm>
          <a:prstGeom prst="ellipse">
            <a:avLst/>
          </a:prstGeom>
          <a:solidFill>
            <a:srgbClr val="1B3B6F"/>
          </a:solidFill>
          <a:ln w="12700">
            <a:solidFill>
              <a:srgbClr val="1B3B6F"/>
            </a:solidFill>
            <a:prstDash val="solid"/>
          </a:ln>
        </p:spPr>
      </p:sp>
      <p:sp>
        <p:nvSpPr>
          <p:cNvPr id="56" name="Text 53"/>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she wear on special occasions?</a:t>
            </a:r>
            <a:endParaRPr lang="en-US" sz="1250" dirty="0"/>
          </a:p>
        </p:txBody>
      </p:sp>
      <p:sp>
        <p:nvSpPr>
          <p:cNvPr id="58" name="Shape 55"/>
          <p:cNvSpPr/>
          <p:nvPr/>
        </p:nvSpPr>
        <p:spPr>
          <a:xfrm>
            <a:off x="9233154" y="2532888"/>
            <a:ext cx="256032" cy="256032"/>
          </a:xfrm>
          <a:prstGeom prst="ellipse">
            <a:avLst/>
          </a:prstGeom>
          <a:solidFill>
            <a:srgbClr val="F4F1EA"/>
          </a:solidFill>
          <a:ln w="12700">
            <a:solidFill>
              <a:srgbClr val="F4F1EA"/>
            </a:solidFill>
            <a:prstDash val="solid"/>
          </a:ln>
        </p:spPr>
      </p:sp>
      <p:sp>
        <p:nvSpPr>
          <p:cNvPr id="59" name="Text 56"/>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elegant dress and a colourful headscarf</a:t>
            </a:r>
            <a:endParaRPr lang="en-US" sz="1250" dirty="0"/>
          </a:p>
        </p:txBody>
      </p:sp>
      <p:sp>
        <p:nvSpPr>
          <p:cNvPr id="61" name="Shape 58"/>
          <p:cNvSpPr/>
          <p:nvPr/>
        </p:nvSpPr>
        <p:spPr>
          <a:xfrm>
            <a:off x="9233154" y="2990088"/>
            <a:ext cx="256032" cy="256032"/>
          </a:xfrm>
          <a:prstGeom prst="ellipse">
            <a:avLst/>
          </a:prstGeom>
          <a:solidFill>
            <a:srgbClr val="F4F1EA"/>
          </a:solidFill>
          <a:ln w="12700">
            <a:solidFill>
              <a:srgbClr val="F4F1EA"/>
            </a:solidFill>
            <a:prstDash val="solid"/>
          </a:ln>
        </p:spPr>
      </p:sp>
      <p:sp>
        <p:nvSpPr>
          <p:cNvPr id="62" name="Text 59"/>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her school uniform</a:t>
            </a:r>
            <a:endParaRPr lang="en-US" sz="1250" dirty="0"/>
          </a:p>
        </p:txBody>
      </p:sp>
      <p:sp>
        <p:nvSpPr>
          <p:cNvPr id="64" name="Shape 61"/>
          <p:cNvSpPr/>
          <p:nvPr/>
        </p:nvSpPr>
        <p:spPr>
          <a:xfrm>
            <a:off x="9233154" y="3447288"/>
            <a:ext cx="256032" cy="256032"/>
          </a:xfrm>
          <a:prstGeom prst="ellipse">
            <a:avLst/>
          </a:prstGeom>
          <a:solidFill>
            <a:srgbClr val="F4F1EA"/>
          </a:solidFill>
          <a:ln w="12700">
            <a:solidFill>
              <a:srgbClr val="F4F1EA"/>
            </a:solidFill>
            <a:prstDash val="solid"/>
          </a:ln>
        </p:spPr>
      </p:sp>
      <p:sp>
        <p:nvSpPr>
          <p:cNvPr id="65" name="Text 62"/>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jeans and a T-shirt</a:t>
            </a:r>
            <a:endParaRPr lang="en-US" sz="1250" dirty="0"/>
          </a:p>
        </p:txBody>
      </p:sp>
      <p:sp>
        <p:nvSpPr>
          <p:cNvPr id="67" name="Shape 6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585216"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In her opinion, personal style expresses …</a:t>
            </a:r>
            <a:endParaRPr lang="en-US" sz="1250" dirty="0"/>
          </a:p>
        </p:txBody>
      </p:sp>
      <p:sp>
        <p:nvSpPr>
          <p:cNvPr id="71" name="Shape 68"/>
          <p:cNvSpPr/>
          <p:nvPr/>
        </p:nvSpPr>
        <p:spPr>
          <a:xfrm>
            <a:off x="640080"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wealth</a:t>
            </a:r>
            <a:endParaRPr lang="en-US" sz="1250" dirty="0"/>
          </a:p>
        </p:txBody>
      </p:sp>
      <p:sp>
        <p:nvSpPr>
          <p:cNvPr id="74" name="Shape 71"/>
          <p:cNvSpPr/>
          <p:nvPr/>
        </p:nvSpPr>
        <p:spPr>
          <a:xfrm>
            <a:off x="640080"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taste</a:t>
            </a:r>
            <a:endParaRPr lang="en-US" sz="1250" dirty="0"/>
          </a:p>
        </p:txBody>
      </p:sp>
      <p:sp>
        <p:nvSpPr>
          <p:cNvPr id="77" name="Shape 74"/>
          <p:cNvSpPr/>
          <p:nvPr/>
        </p:nvSpPr>
        <p:spPr>
          <a:xfrm>
            <a:off x="640080"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age</a:t>
            </a:r>
            <a:endParaRPr lang="en-US" sz="1250" dirty="0"/>
          </a:p>
        </p:txBody>
      </p:sp>
      <p:sp>
        <p:nvSpPr>
          <p:cNvPr id="80" name="Shape 7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344957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3" name="Text 8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style NOT tell us?</a:t>
            </a:r>
            <a:endParaRPr lang="en-US" sz="1250" dirty="0"/>
          </a:p>
        </p:txBody>
      </p:sp>
      <p:sp>
        <p:nvSpPr>
          <p:cNvPr id="84" name="Shape 81"/>
          <p:cNvSpPr/>
          <p:nvPr/>
        </p:nvSpPr>
        <p:spPr>
          <a:xfrm>
            <a:off x="350443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6" name="Text 83"/>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everything about personality</a:t>
            </a:r>
            <a:endParaRPr lang="en-US" sz="1250" dirty="0"/>
          </a:p>
        </p:txBody>
      </p:sp>
      <p:sp>
        <p:nvSpPr>
          <p:cNvPr id="87" name="Shape 84"/>
          <p:cNvSpPr/>
          <p:nvPr/>
        </p:nvSpPr>
        <p:spPr>
          <a:xfrm>
            <a:off x="350443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9" name="Text 86"/>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anything at all</a:t>
            </a:r>
            <a:endParaRPr lang="en-US" sz="1250" dirty="0"/>
          </a:p>
        </p:txBody>
      </p:sp>
      <p:sp>
        <p:nvSpPr>
          <p:cNvPr id="90" name="Shape 87"/>
          <p:cNvSpPr/>
          <p:nvPr/>
        </p:nvSpPr>
        <p:spPr>
          <a:xfrm>
            <a:off x="350443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2" name="Text 89"/>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person’s taste</a:t>
            </a:r>
            <a:endParaRPr lang="en-US" sz="1250" dirty="0"/>
          </a:p>
        </p:txBody>
      </p:sp>
      <p:sp>
        <p:nvSpPr>
          <p:cNvPr id="93" name="Shape 90"/>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4" name="Shape 91"/>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95" name="Text 92"/>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6" name="Text 93"/>
          <p:cNvSpPr txBox="1"/>
          <p:nvPr/>
        </p:nvSpPr>
        <p:spPr>
          <a:xfrm>
            <a:off x="6387084" y="4791456"/>
            <a:ext cx="2315718"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2 and 4.</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cs typeface="Amiri" pitchFamily="2" charset="-78"/>
              </a:rPr>
              <a:t>البَسِيطَةَ</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cs typeface="Amiri" pitchFamily="2" charset="-78"/>
              </a:rPr>
              <a:t>المُنَاسَبَاتِ</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cs typeface="Amiri" pitchFamily="2" charset="-78"/>
              </a:rPr>
              <a:t>الذَّوْقِ</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D2-L04 · Fashion and Identity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D2-L04</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تَتَحَدَّثُ رِيمُ عَنْ أُسْلُوبِهَا.</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Reem is talking about her style.</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تَقُولُ إِنَّهَا تُفَضِّلُ المَلَابِسَ البَسِيطَةَ وَالمُرِيحَةَ،</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says that she prefers simple, comfortable clothes,</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لِأَنَّهَا تَذْهَبُ إِلَى المَدْرَسَةِ وَتَتَحَرَّكُ كَثِيرًا.</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because she goes to school and moves around a lot.</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وَلٰكِنَّهَا فِي المُنَاسَبَاتِ تَرْتَدِي فُسْتَانًا أَنِيقًا وَحِجَابًا مُلَوَّنًا.</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But on special occasions she wears an elegant dress and a colourful headscarf.</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lnSpc>
                <a:spcPct val="120000"/>
              </a:lnSpc>
              <a:buNone/>
            </a:pPr>
            <a:r>
              <a:rPr lang="ar-SA" altLang="en-US" sz="1750" b="1" dirty="0">
                <a:solidFill>
                  <a:srgbClr val="1B3B6F"/>
                </a:solidFill>
                <a:latin typeface="Amiri" pitchFamily="2" charset="-78"/>
                <a:cs typeface="Amiri" pitchFamily="2" charset="-78"/>
              </a:rPr>
              <a:t>فِي رَأْيِهَا، الأُسْلُوبُ الشَّخْصِيُّ يُعَبِّرُ عَنِ الذَّوْقِ، وَلٰكِنَّهُ لَا يُخْبِرُنَا بِكُلِّ شَيْءٍ عَنِ الشَّخْصِيَّةِ.</a:t>
            </a:r>
            <a:endParaRPr lang="ar-SA" sz="175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her opinion, personal style expresses taste, but it does not tell us everything about personality.</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D2-L04 · Fashion and Identity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D2-L04</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Whose style is described?</a:t>
            </a:r>
            <a:endParaRPr lang="en-US" sz="1250" dirty="0"/>
          </a:p>
        </p:txBody>
      </p:sp>
      <p:sp>
        <p:nvSpPr>
          <p:cNvPr id="19" name="Shape 16"/>
          <p:cNvSpPr/>
          <p:nvPr/>
        </p:nvSpPr>
        <p:spPr>
          <a:xfrm>
            <a:off x="548640" y="2453640"/>
            <a:ext cx="2498598"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Reem’s</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her sister’s</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her teacher’s</a:t>
            </a:r>
            <a:endParaRPr lang="en-US" sz="1250" dirty="0"/>
          </a:p>
        </p:txBody>
      </p:sp>
      <p:sp>
        <p:nvSpPr>
          <p:cNvPr id="29" name="Text 26"/>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تَتَحَدَّثُ رِيمُ عَنْ أُسْلُوبِهَا.</a:t>
            </a:r>
            <a:endParaRPr lang="ar-SA" sz="13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clothes does she prefer?</a:t>
            </a:r>
            <a:endParaRPr lang="en-US" sz="1250" dirty="0"/>
          </a:p>
        </p:txBody>
      </p:sp>
      <p:sp>
        <p:nvSpPr>
          <p:cNvPr id="34" name="Shape 31"/>
          <p:cNvSpPr/>
          <p:nvPr/>
        </p:nvSpPr>
        <p:spPr>
          <a:xfrm>
            <a:off x="3504438"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elegant and formal</a:t>
            </a:r>
            <a:endParaRPr lang="en-US" sz="1250" dirty="0"/>
          </a:p>
        </p:txBody>
      </p:sp>
      <p:sp>
        <p:nvSpPr>
          <p:cNvPr id="37" name="Shape 34"/>
          <p:cNvSpPr/>
          <p:nvPr/>
        </p:nvSpPr>
        <p:spPr>
          <a:xfrm>
            <a:off x="3504438"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colourful and modern</a:t>
            </a:r>
            <a:endParaRPr lang="en-US" sz="1250" dirty="0"/>
          </a:p>
        </p:txBody>
      </p:sp>
      <p:sp>
        <p:nvSpPr>
          <p:cNvPr id="40" name="Shape 37"/>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3504438"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simple and comfortable</a:t>
            </a:r>
            <a:endParaRPr lang="en-US" sz="1250" dirty="0"/>
          </a:p>
        </p:txBody>
      </p:sp>
      <p:sp>
        <p:nvSpPr>
          <p:cNvPr id="44" name="Text 41"/>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المَلَابِسَ البَسِيطَةَ وَالمُرِيحَةَ.</a:t>
            </a:r>
            <a:endParaRPr lang="ar-SA" sz="1350" dirty="0"/>
          </a:p>
        </p:txBody>
      </p:sp>
      <p:sp>
        <p:nvSpPr>
          <p:cNvPr id="45" name="Shape 42"/>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6313932"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a:t>
            </a:r>
            <a:endParaRPr lang="en-US" sz="1250" dirty="0"/>
          </a:p>
        </p:txBody>
      </p:sp>
      <p:sp>
        <p:nvSpPr>
          <p:cNvPr id="49" name="Shape 46"/>
          <p:cNvSpPr/>
          <p:nvPr/>
        </p:nvSpPr>
        <p:spPr>
          <a:xfrm>
            <a:off x="6368796"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are cheap</a:t>
            </a:r>
            <a:endParaRPr lang="en-US" sz="1250" dirty="0"/>
          </a:p>
        </p:txBody>
      </p:sp>
      <p:sp>
        <p:nvSpPr>
          <p:cNvPr id="52" name="Shape 49"/>
          <p:cNvSpPr/>
          <p:nvPr/>
        </p:nvSpPr>
        <p:spPr>
          <a:xfrm>
            <a:off x="6368796"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her mother chooses them</a:t>
            </a:r>
            <a:endParaRPr lang="en-US" sz="1250" dirty="0"/>
          </a:p>
        </p:txBody>
      </p:sp>
      <p:sp>
        <p:nvSpPr>
          <p:cNvPr id="55" name="Shape 52"/>
          <p:cNvSpPr/>
          <p:nvPr/>
        </p:nvSpPr>
        <p:spPr>
          <a:xfrm>
            <a:off x="6277356" y="3197352"/>
            <a:ext cx="2498598"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368796"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she goes to school and moves around a lot</a:t>
            </a:r>
            <a:endParaRPr lang="en-US" sz="1150" dirty="0"/>
          </a:p>
        </p:txBody>
      </p:sp>
      <p:sp>
        <p:nvSpPr>
          <p:cNvPr id="59" name="Text 56"/>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لِأَنَّهَا تَذْهَبُ إِلَى المَدْرَسَةِ وَتَتَحَرَّكُ كَثِيرًا.</a:t>
            </a:r>
            <a:endParaRPr lang="ar-SA" sz="1300" dirty="0"/>
          </a:p>
        </p:txBody>
      </p:sp>
      <p:sp>
        <p:nvSpPr>
          <p:cNvPr id="60" name="Shape 57"/>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9178290" y="1947672"/>
            <a:ext cx="310896" cy="310896"/>
          </a:xfrm>
          <a:prstGeom prst="ellipse">
            <a:avLst/>
          </a:prstGeom>
          <a:solidFill>
            <a:srgbClr val="1B3B6F"/>
          </a:solidFill>
          <a:ln w="12700">
            <a:solidFill>
              <a:srgbClr val="1B3B6F"/>
            </a:solidFill>
            <a:prstDash val="solid"/>
          </a:ln>
        </p:spPr>
      </p:sp>
      <p:sp>
        <p:nvSpPr>
          <p:cNvPr id="62" name="Text 59"/>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she wear on special occasions?</a:t>
            </a:r>
            <a:endParaRPr lang="en-US" sz="1250" dirty="0"/>
          </a:p>
        </p:txBody>
      </p:sp>
      <p:sp>
        <p:nvSpPr>
          <p:cNvPr id="64" name="Shape 61"/>
          <p:cNvSpPr/>
          <p:nvPr/>
        </p:nvSpPr>
        <p:spPr>
          <a:xfrm>
            <a:off x="9141714" y="2453640"/>
            <a:ext cx="2498598"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9233154" y="2490216"/>
            <a:ext cx="256032" cy="256032"/>
          </a:xfrm>
          <a:prstGeom prst="ellipse">
            <a:avLst/>
          </a:prstGeom>
          <a:solidFill>
            <a:srgbClr val="2E8B57"/>
          </a:solidFill>
          <a:ln w="12700">
            <a:solidFill>
              <a:srgbClr val="2E8B57"/>
            </a:solidFill>
            <a:prstDash val="solid"/>
          </a:ln>
        </p:spPr>
      </p:sp>
      <p:sp>
        <p:nvSpPr>
          <p:cNvPr id="66" name="Text 63"/>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an elegant dress and a colourful headscarf</a:t>
            </a:r>
            <a:endParaRPr lang="en-US" sz="1150" dirty="0"/>
          </a:p>
        </p:txBody>
      </p:sp>
      <p:sp>
        <p:nvSpPr>
          <p:cNvPr id="68" name="Shape 65"/>
          <p:cNvSpPr/>
          <p:nvPr/>
        </p:nvSpPr>
        <p:spPr>
          <a:xfrm>
            <a:off x="9233154" y="2862072"/>
            <a:ext cx="256032" cy="256032"/>
          </a:xfrm>
          <a:prstGeom prst="ellipse">
            <a:avLst/>
          </a:prstGeom>
          <a:solidFill>
            <a:srgbClr val="C9CED6"/>
          </a:solidFill>
          <a:ln w="12700">
            <a:solidFill>
              <a:srgbClr val="C9CED6"/>
            </a:solidFill>
            <a:prstDash val="solid"/>
          </a:ln>
        </p:spPr>
      </p:sp>
      <p:sp>
        <p:nvSpPr>
          <p:cNvPr id="69" name="Text 66"/>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her school uniform</a:t>
            </a:r>
            <a:endParaRPr lang="en-US" sz="1250" dirty="0"/>
          </a:p>
        </p:txBody>
      </p:sp>
      <p:sp>
        <p:nvSpPr>
          <p:cNvPr id="71" name="Shape 68"/>
          <p:cNvSpPr/>
          <p:nvPr/>
        </p:nvSpPr>
        <p:spPr>
          <a:xfrm>
            <a:off x="9233154" y="3233928"/>
            <a:ext cx="256032" cy="256032"/>
          </a:xfrm>
          <a:prstGeom prst="ellipse">
            <a:avLst/>
          </a:prstGeom>
          <a:solidFill>
            <a:srgbClr val="C9CED6"/>
          </a:solidFill>
          <a:ln w="12700">
            <a:solidFill>
              <a:srgbClr val="C9CED6"/>
            </a:solidFill>
            <a:prstDash val="solid"/>
          </a:ln>
        </p:spPr>
      </p:sp>
      <p:sp>
        <p:nvSpPr>
          <p:cNvPr id="72" name="Text 69"/>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jeans and a T-shirt</a:t>
            </a:r>
            <a:endParaRPr lang="en-US" sz="1250" dirty="0"/>
          </a:p>
        </p:txBody>
      </p:sp>
      <p:sp>
        <p:nvSpPr>
          <p:cNvPr id="74" name="Text 71"/>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فُسْتَانًا أَنِيقًا وَحِجَابًا مُلَوَّنًا.</a:t>
            </a:r>
            <a:endParaRPr lang="ar-SA" sz="1350" dirty="0"/>
          </a:p>
        </p:txBody>
      </p:sp>
      <p:sp>
        <p:nvSpPr>
          <p:cNvPr id="75" name="Shape 72"/>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85216"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In her opinion, personal style expresses …</a:t>
            </a:r>
            <a:endParaRPr lang="en-US" sz="1250" dirty="0"/>
          </a:p>
        </p:txBody>
      </p:sp>
      <p:sp>
        <p:nvSpPr>
          <p:cNvPr id="79" name="Shape 76"/>
          <p:cNvSpPr/>
          <p:nvPr/>
        </p:nvSpPr>
        <p:spPr>
          <a:xfrm>
            <a:off x="640080"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wealth</a:t>
            </a:r>
            <a:endParaRPr lang="en-US" sz="1250" dirty="0"/>
          </a:p>
        </p:txBody>
      </p:sp>
      <p:sp>
        <p:nvSpPr>
          <p:cNvPr id="82" name="Shape 79"/>
          <p:cNvSpPr/>
          <p:nvPr/>
        </p:nvSpPr>
        <p:spPr>
          <a:xfrm>
            <a:off x="548640" y="5166360"/>
            <a:ext cx="2498598"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640080"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taste</a:t>
            </a:r>
            <a:endParaRPr lang="en-US" sz="1250" dirty="0"/>
          </a:p>
        </p:txBody>
      </p:sp>
      <p:sp>
        <p:nvSpPr>
          <p:cNvPr id="86" name="Shape 83"/>
          <p:cNvSpPr/>
          <p:nvPr/>
        </p:nvSpPr>
        <p:spPr>
          <a:xfrm>
            <a:off x="640080"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age</a:t>
            </a:r>
            <a:endParaRPr lang="en-US" sz="1250" dirty="0"/>
          </a:p>
        </p:txBody>
      </p:sp>
      <p:sp>
        <p:nvSpPr>
          <p:cNvPr id="89" name="Text 86"/>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يُعَبِّرُ عَنِ الذَّوْقِ.</a:t>
            </a:r>
            <a:endParaRPr lang="ar-SA" sz="1350" dirty="0"/>
          </a:p>
        </p:txBody>
      </p:sp>
      <p:sp>
        <p:nvSpPr>
          <p:cNvPr id="90" name="Shape 8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344957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3" name="Text 9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style NOT tell us?</a:t>
            </a:r>
            <a:endParaRPr lang="en-US" sz="1250" dirty="0"/>
          </a:p>
        </p:txBody>
      </p:sp>
      <p:sp>
        <p:nvSpPr>
          <p:cNvPr id="94" name="Shape 91"/>
          <p:cNvSpPr/>
          <p:nvPr/>
        </p:nvSpPr>
        <p:spPr>
          <a:xfrm>
            <a:off x="3412998" y="4794504"/>
            <a:ext cx="2498598" cy="347472"/>
          </a:xfrm>
          <a:prstGeom prst="roundRect">
            <a:avLst>
              <a:gd name="adj" fmla="val 15789"/>
            </a:avLst>
          </a:prstGeom>
          <a:solidFill>
            <a:srgbClr val="E6F4EC"/>
          </a:solidFill>
          <a:ln w="9525">
            <a:solidFill>
              <a:srgbClr val="2E8B57"/>
            </a:solidFill>
            <a:prstDash val="solid"/>
          </a:ln>
        </p:spPr>
      </p:sp>
      <p:sp>
        <p:nvSpPr>
          <p:cNvPr id="95" name="Shape 92"/>
          <p:cNvSpPr/>
          <p:nvPr/>
        </p:nvSpPr>
        <p:spPr>
          <a:xfrm>
            <a:off x="3504438" y="4831080"/>
            <a:ext cx="256032" cy="256032"/>
          </a:xfrm>
          <a:prstGeom prst="ellipse">
            <a:avLst/>
          </a:prstGeom>
          <a:solidFill>
            <a:srgbClr val="2E8B57"/>
          </a:solidFill>
          <a:ln w="12700">
            <a:solidFill>
              <a:srgbClr val="2E8B57"/>
            </a:solidFill>
            <a:prstDash val="solid"/>
          </a:ln>
        </p:spPr>
      </p:sp>
      <p:sp>
        <p:nvSpPr>
          <p:cNvPr id="96" name="Text 93"/>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97" name="Text 94"/>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everything about personality</a:t>
            </a:r>
            <a:endParaRPr lang="en-US" sz="1150" dirty="0"/>
          </a:p>
        </p:txBody>
      </p:sp>
      <p:sp>
        <p:nvSpPr>
          <p:cNvPr id="98" name="Shape 95"/>
          <p:cNvSpPr/>
          <p:nvPr/>
        </p:nvSpPr>
        <p:spPr>
          <a:xfrm>
            <a:off x="3504438" y="5202936"/>
            <a:ext cx="256032" cy="256032"/>
          </a:xfrm>
          <a:prstGeom prst="ellipse">
            <a:avLst/>
          </a:prstGeom>
          <a:solidFill>
            <a:srgbClr val="C9CED6"/>
          </a:solidFill>
          <a:ln w="12700">
            <a:solidFill>
              <a:srgbClr val="C9CED6"/>
            </a:solidFill>
            <a:prstDash val="solid"/>
          </a:ln>
        </p:spPr>
      </p:sp>
      <p:sp>
        <p:nvSpPr>
          <p:cNvPr id="99" name="Text 96"/>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0" name="Text 97"/>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anything at all</a:t>
            </a:r>
            <a:endParaRPr lang="en-US" sz="1250" dirty="0"/>
          </a:p>
        </p:txBody>
      </p:sp>
      <p:sp>
        <p:nvSpPr>
          <p:cNvPr id="101" name="Shape 98"/>
          <p:cNvSpPr/>
          <p:nvPr/>
        </p:nvSpPr>
        <p:spPr>
          <a:xfrm>
            <a:off x="350443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3" name="Text 100"/>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person’s taste</a:t>
            </a:r>
            <a:endParaRPr lang="en-US" sz="1250" dirty="0"/>
          </a:p>
        </p:txBody>
      </p:sp>
      <p:sp>
        <p:nvSpPr>
          <p:cNvPr id="104" name="Text 101"/>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لَا يُخْبِرُنَا بِكُلِّ شَيْءٍ عَنِ الشَّخْصِيَّةِ.</a:t>
            </a:r>
            <a:endParaRPr lang="ar-SA" sz="1350" dirty="0"/>
          </a:p>
        </p:txBody>
      </p:sp>
      <p:sp>
        <p:nvSpPr>
          <p:cNvPr id="105" name="Shape 10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6" name="Shape 103"/>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107" name="Text 104"/>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108" name="Text 105"/>
          <p:cNvSpPr txBox="1"/>
          <p:nvPr/>
        </p:nvSpPr>
        <p:spPr>
          <a:xfrm>
            <a:off x="6387084" y="4791456"/>
            <a:ext cx="2315718"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2 and 4.</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cs typeface="Amiri" pitchFamily="2" charset="-78"/>
              </a:rPr>
              <a:t>البَسِيطَةَ</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cs typeface="Amiri" pitchFamily="2" charset="-78"/>
              </a:rPr>
              <a:t>المُنَاسَبَاتِ</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cs typeface="Amiri" pitchFamily="2" charset="-78"/>
              </a:rPr>
              <a:t>الذَّوْقِ</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109" name="Text 10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D2-L04 · Fashion and Identity</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cs typeface="Amiri" pitchFamily="2" charset="-78"/>
              </a:rPr>
              <a:t>Developed speaking: fashion and identity</a:t>
            </a:r>
            <a:endParaRPr lang="en-US" sz="23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D2-L04</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 أُسْلُوبُكَ الشَّخْصِيُّ؟</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هَلِ المَوْضَةُ مُهِمَّةٌ لِلشَّبَابِ؟</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 أَهَمُّ: الرَّاحَةُ أَمِ الأَنَاقَةُ؟</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كَيْفَ تُعَبِّرُ المَلَابِسُ عَنِ الهُوِيَّةِ؟</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cs typeface="Amiri" pitchFamily="2" charset="-78"/>
              </a:rPr>
              <a:t>أُسْلُوبِي ___ وَ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فِي رَأْيِي ، المَوْضَةُ ___ لِأَنَّ ___ .</a:t>
            </a:r>
            <a:endParaRPr lang="ar-SA" sz="1600" dirty="0"/>
          </a:p>
        </p:txBody>
      </p:sp>
      <p:sp>
        <p:nvSpPr>
          <p:cNvPr id="54" name="Shape 51"/>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___ أَهَمُّ مِنْ ___ ، وَلٰكِنَّ ___ .</a:t>
            </a:r>
            <a:endParaRPr lang="ar-SA" sz="1600" dirty="0"/>
          </a:p>
        </p:txBody>
      </p:sp>
      <p:sp>
        <p:nvSpPr>
          <p:cNvPr id="57" name="Shape 54"/>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عَلَى الرَّغْمِ مِنْ أَنَّ ___ ، فَإِنَّ ___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هَلْ تَتْبَعُ المَوْضَةَ؟</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Do you follow fashion?</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أَتَابِعُ بَعْضَ الأَفْكَارِ، وَلٰكِنَّنِي أَخْتَارُ مَا يُنَاسِبُنِي.</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I follow some ideas, but I choose what suits me.</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D2-L04 · Fashion and Identity</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D2-L04</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Secure the main vocabulary and produce four accurate sentences using the taught frame.</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Your style: two style adjectives, what you wear to school and on special occasions, one opinion + reason.</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Combine description, grammar and a reason in connected answers.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Your style and what influences it, one advantage of fashion and a contrast (but …).</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100–120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comparison, contrast, precise evidence and an independently controlled relative clause.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your style, influences, one advantage and one disadvantage of fashion, a concession and a balanced conclusion.</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D2-L04 · Fashion and Identity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D2-L04</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أُفَضِّلُ ______ ، وَلٰكِنَّنِي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prefer …, but I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أُسْلُوبِي يُعَبِّرُ عَنْ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style expresses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مِنْ مَزَايَا المَوْضَةِ أَنَّهَا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One advantage of fashion is that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وَمِنْ عُيُوبِهَا أَنَّهَا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One disadvantage is that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عَلَى الرَّغْمِ مِنْ أَنَّ ______ ، فَإِنَّ ______ .</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Although …, …</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أُسْلُوبِي ______ وَ ______ .</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style is … and …</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فِي المَدْرَسَةِ أَلْبَسُ ______ .</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At school I wear …</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فِي المُنَاسَبَاتِ أَلْبَسُ ______ .</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On special occasions I wear …</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فِي رَأْيِي، ______ لِأَنَّ ______ .</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my opinion, … because …</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أُفَضِّلُ المَلَابِسَ ______ .</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prefer … clothes.</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أَنِيقٌ  ·  عَصْرِيٌّ  ·  تَقْلِيدِيٌّ  ·  بَسِيطٌ  ·  مُحْتَشِمٌ  ·  مُرِيحٌ  ·  فِي رَأْيِي  ·  لِأَنَّ  ·  وَلٰكِنَّنِي  ·  عَلَى الرَّغْمِ مِنْ أَنَّ  ·  يُعَبِّرُ عَنْ  ·  الذَّوْقُ</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D2-L04 · Fashion and Identity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D2-L04</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100–120 Arabic words giving your view on fashion and identity. Explain your style, what influences it, one advantage and one disadvantage of following fashion, and a balanced conclusion.</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Cover every requested content point.</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Use the target grammar accurately.</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Include precise vocabulary from this lesson.</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Add a reason, comparison or contrast.</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Review agreement, pronoun reference and connectors.</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المَلَابِسُ جُزْءٌ مِنَ الهُوِيَّةِ</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clothes are part of identity</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تُعَبِّرُ عَنْ ذَوْقِنَا وَثَقَافَتِنَا</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they express our taste and culture</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مِنْ مَزَايَا المَوْضَةِ … وَمِنْ عُيُوبِهَا …</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one advantage of fashion … one disadvantage …</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سَرِيعَةُ التَّغَيُّرِ</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quick to change</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الأَهَمُّ هُوَ اخْتِيَارُ مَا يُنَاسِبُنَا</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most important thing is choosing what suits us</a:t>
            </a:r>
            <a:endParaRPr lang="en-US" sz="10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D2-L04 · Fashion and Identity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D2-L04</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cs typeface="Amiri" pitchFamily="2" charset="-78"/>
              </a:rPr>
              <a:t>فِي رَأْيِي، المَلَابِسُ جُزْءٌ مِنَ الهُوِيَّةِ، لِأَنَّهَا قَدْ تُعَبِّرُ عَنْ ذَوْقِنَا وَثَقَافَتِنَا. أَنَا أُفَضِّلُ الأُسْلُوبَ البَسِيطَ وَالمُحْتَشِمَ، وَأَخْتَارُ عَادَةً مَلَابِسَ مُرِيحَةً وَعَمَلِيَّةً. وَلٰكِنَّنِي فِي المُنَاسَبَاتِ أُحِبُّ أَنْ أَرْتَدِيَ مَلَابِسَ أَكْثَرَ أَنَاقَةً. مِنْ مَزَايَا المَوْضَةِ أَنَّهَا تُقَدِّمُ أَفْكَارًا جَدِيدَةً، وَلٰكِنَّ مِنْ عُيُوبِهَا أَنَّهَا قَدْ تَكُونُ غَالِيَةً وَسَرِيعَةَ التَّغَيُّرِ. عَلَى الرَّغْمِ مِنْ ذٰلِكَ، أَرَى أَنَّ الأَهَمَّ هُوَ اخْتِيَارُ مَا يُنَاسِبُنَا.</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In my opinion, clothes are part of identity, because they can express our taste and culture. I prefer a simple, modest style, and I usually choose comfortable, practical clothes. But on special occasions I like to wear more elegant clothes. One advantage of fashion is that it offers new ideas, but one of its disadvantages is that it can be expensive and quick to change. Despite that, I think the most important thing is choosing what suits us.</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an opinion with a reason</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contrast</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an advantage and a disadvantage</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concession</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44</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D2-L04 · Fashion and Identity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D2-L04</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described my style with two adjectives.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opinion has a reason (because).</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added a contrast with “but”.</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judged clothes, not people.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“although …” and wrote a balanced conclusion.</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44</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D2-L04 · Fashion and Identity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D2-L04</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 developed opinion.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فِي رَأْيِي، هٰذَا الأُسْلُوبُ مُنَاسِبٌ لِأَنَّهُ مُرِيحٌ.</a:t>
            </a:r>
            <a:endParaRPr lang="ar-SA" sz="15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هٰذَا الأُسْلُوبُ.</a:t>
            </a:r>
            <a:endParaRPr lang="ar-SA" sz="15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لِأَنَّهُ مُرِيحٌ.</a:t>
            </a:r>
            <a:endParaRPr lang="ar-SA" sz="15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أُحِبُّ المَوْضَةَ،</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لَا أَتْبَعُ كُلَّ اتِّجَاهٍ</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لِأَنَّنِي</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وَلٰكِنَّنِي</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ثُمَّ</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concession.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500" dirty="0">
                <a:solidFill>
                  <a:srgbClr val="1F2A37"/>
                </a:solidFill>
                <a:latin typeface="Amiri" pitchFamily="2" charset="-78"/>
                <a:cs typeface="Amiri" pitchFamily="2" charset="-78"/>
              </a:rPr>
              <a:t>عَلَى الرَّغْمِ مِنْ أَنَّهُ غَالٍ، فَإِنَّهُ جَيِّدُ الجَوْدَةِ.</a:t>
            </a:r>
            <a:endParaRPr lang="ar-SA" sz="150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500" dirty="0">
                <a:solidFill>
                  <a:srgbClr val="1F2A37"/>
                </a:solidFill>
                <a:latin typeface="Amiri" pitchFamily="2" charset="-78"/>
                <a:cs typeface="Amiri" pitchFamily="2" charset="-78"/>
              </a:rPr>
              <a:t>لِأَنَّهُ غَالٍ فَإِنَّهُ.</a:t>
            </a:r>
            <a:endParaRPr lang="ar-SA" sz="150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500" dirty="0">
                <a:solidFill>
                  <a:srgbClr val="1F2A37"/>
                </a:solidFill>
                <a:latin typeface="Amiri" pitchFamily="2" charset="-78"/>
                <a:cs typeface="Amiri" pitchFamily="2" charset="-78"/>
              </a:rPr>
              <a:t>هُوَ غَالٍ ثُمَّ.</a:t>
            </a:r>
            <a:endParaRPr lang="ar-SA" sz="150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44</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D2-L04 · Fashion and Identity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D2-L04</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 developed opinion.</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1550" b="1" dirty="0">
                <a:solidFill>
                  <a:srgbClr val="1F2A37"/>
                </a:solidFill>
                <a:latin typeface="Amiri" pitchFamily="2" charset="-78"/>
                <a:cs typeface="Amiri" pitchFamily="2" charset="-78"/>
              </a:rPr>
              <a:t>فِي رَأْيِي، هٰذَا الأُسْلُوبُ مُنَاسِبٌ لِأَنَّهُ مُرِيحٌ.</a:t>
            </a:r>
            <a:endParaRPr lang="ar-SA" sz="15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1550" dirty="0">
                <a:solidFill>
                  <a:srgbClr val="9AA1AB"/>
                </a:solidFill>
                <a:latin typeface="Amiri" pitchFamily="2" charset="-78"/>
                <a:cs typeface="Amiri" pitchFamily="2" charset="-78"/>
              </a:rPr>
              <a:t>هٰذَا الأُسْلُوبُ.</a:t>
            </a:r>
            <a:endParaRPr lang="ar-SA" sz="15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1550" dirty="0">
                <a:solidFill>
                  <a:srgbClr val="9AA1AB"/>
                </a:solidFill>
                <a:latin typeface="Amiri" pitchFamily="2" charset="-78"/>
                <a:cs typeface="Amiri" pitchFamily="2" charset="-78"/>
              </a:rPr>
              <a:t>لِأَنَّهُ مُرِيحٌ.</a:t>
            </a:r>
            <a:endParaRPr lang="ar-SA" sz="15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gives opinion and reason.</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أُحِبُّ المَوْضَةَ،</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لَا أَتْبَعُ كُلَّ اتِّجَاهٍ</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لِأَنَّنِي</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وَلٰكِنَّنِي</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ثُمَّ</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contrast is required.</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concession.</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عَلَى الرَّغْمِ مِنْ أَنَّهُ غَالٍ، فَإِنَّهُ جَيِّدُ الجَوْدَةِ.</a:t>
            </a:r>
            <a:endParaRPr lang="ar-SA" sz="150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500" dirty="0">
                <a:solidFill>
                  <a:srgbClr val="9AA1AB"/>
                </a:solidFill>
                <a:latin typeface="Amiri" pitchFamily="2" charset="-78"/>
                <a:cs typeface="Amiri" pitchFamily="2" charset="-78"/>
              </a:rPr>
              <a:t>لِأَنَّهُ غَالٍ فَإِنَّهُ.</a:t>
            </a:r>
            <a:endParaRPr lang="ar-SA" sz="150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500" dirty="0">
                <a:solidFill>
                  <a:srgbClr val="9AA1AB"/>
                </a:solidFill>
                <a:latin typeface="Amiri" pitchFamily="2" charset="-78"/>
                <a:cs typeface="Amiri" pitchFamily="2" charset="-78"/>
              </a:rPr>
              <a:t>هُوَ غَالٍ ثُمَّ.</a:t>
            </a:r>
            <a:endParaRPr lang="ar-SA" sz="150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This is a complete concession pattern.</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44</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D2-L04 · Fashion and Identity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Reading focus: fashion and identity</a:t>
            </a:r>
            <a:endParaRPr lang="en-US" sz="27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D2-L04</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cs typeface="Amiri" pitchFamily="2" charset="-78"/>
              </a:rPr>
              <a:t>مَقَالٌ قَصِيرٌ: يَظُنُّ بَعْضُ الشَّبَابِ أَنَّ اتِّبَاعَ المَوْضَةِ ضَرُورِيٌّ، بَيْنَمَا يُفَضِّلُ آخَرُونَ أَنْ يَخْتَارُوا مَا هُوَ مُرِيحٌ وَمُنَاسِبٌ لَهُمْ. عَلَى الرَّغْمِ مِنْ أَنَّ المَلَابِسَ قَدْ تُعَبِّرُ عَنْ جُزْءٍ مِنَ الهُوِيَّةِ، فَإِنَّهَا لَا تَكْفِي لِلْحُكْمِ عَلَى شَخْصِيَّةِ أَحَدٍ. الأُسْلُوبُ الجَيِّدُ فِي رَأْيِي يَجْمَعُ بَيْنَ الرَّاحَةِ وَالاِحْتِرَامِ وَالذَّوْقِ الشَّخْصِيِّ.</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مَقَالٌ قَصِيرٌ</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short article</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يَظُنُّ</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think(s)</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اتِّبَاعَ المَوْضَةِ</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following fashion</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ضَرُورِيٌّ</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necessary</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آخَرُونَ</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others</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يَخْتَارُوا</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they choose</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جُزْءٍ مِنَ الهُوِيَّةِ</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part of identity</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لَا تَكْفِي</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are not enough</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لِلْحُكْمِ عَلَى</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to judge</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يَجْمَعُ بَيْنَ</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combines</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44</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D2-L04 · Fashion and Identity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D2-L04</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kind of text is this?</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advert</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short article</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letter</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some young people think?</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fashion is boring</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clothes should be cheap</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following fashion is necessary</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others prefer?</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choosing what is comfortable and suitable for them</a:t>
            </a:r>
            <a:endParaRPr lang="en-US" sz="110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buying designer clothes</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wearing a uniform</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According to the text, clothes can …</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show someone’s whole personality</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express part of identity</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make people rich</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Are clothes enough to judge someone’s character?</a:t>
            </a:r>
            <a:endParaRPr lang="en-US" sz="120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yes</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formal clothes</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Good style, in the writer’s opinion, combines …</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fashion and price</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colour and size</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comfort, respect and personal taste</a:t>
            </a:r>
            <a:endParaRPr lang="en-US" sz="12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44</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D2-L04 · Fashion and Identity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D2-L04</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kind of text is this?</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an advert</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short article</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letter</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مَقَالٌ قَصِيرٌ.</a:t>
            </a:r>
            <a:endParaRPr lang="ar-SA" sz="13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some young people think?</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fashion is boring</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clothes should be cheap</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following fashion is necessary</a:t>
            </a:r>
            <a:endParaRPr lang="en-US" sz="11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اتِّبَاعَ المَوْضَةِ ضَرُورِيٌّ.</a:t>
            </a:r>
            <a:endParaRPr lang="ar-SA" sz="13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others prefer?</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100" b="1" dirty="0">
                <a:solidFill>
                  <a:srgbClr val="1F2A37"/>
                </a:solidFill>
                <a:latin typeface="Calibri" pitchFamily="34" charset="0"/>
                <a:cs typeface="Amiri" pitchFamily="2" charset="-78"/>
              </a:rPr>
              <a:t>choosing what is comfortable and suitable for them</a:t>
            </a:r>
            <a:endParaRPr lang="en-US" sz="110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buying designer clothes</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wearing a uniform</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مَا هُوَ مُرِيحٌ وَمُنَاسِبٌ لَهُمْ.</a:t>
            </a:r>
            <a:endParaRPr lang="ar-SA" sz="13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According to the text, clothes can …</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cs typeface="Amiri" pitchFamily="2" charset="-78"/>
              </a:rPr>
              <a:t>show someone’s whole personality</a:t>
            </a:r>
            <a:endParaRPr lang="en-US" sz="11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express part of identity</a:t>
            </a:r>
            <a:endParaRPr lang="en-US" sz="12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make people rich</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قَدْ تُعَبِّرُ عَنْ جُزْءٍ مِنَ الهُوِيَّةِ.</a:t>
            </a:r>
            <a:endParaRPr lang="ar-SA" sz="13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Are clothes enough to judge someone’s character?</a:t>
            </a:r>
            <a:endParaRPr lang="en-US" sz="120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no</a:t>
            </a:r>
            <a:endParaRPr lang="en-US" sz="12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yes</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formal clothes</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لَا تَكْفِي لِلْحُكْمِ عَلَى شَخْصِيَّةِ أَحَدٍ.</a:t>
            </a:r>
            <a:endParaRPr lang="ar-SA" sz="13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Good style, in the writer’s opinion, combines …</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fashion and price</a:t>
            </a:r>
            <a:endParaRPr lang="en-US" sz="12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colour and size</a:t>
            </a:r>
            <a:endParaRPr lang="en-US" sz="125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comfort, respect and personal taste</a:t>
            </a:r>
            <a:endParaRPr lang="en-US" sz="115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150" dirty="0">
                <a:solidFill>
                  <a:srgbClr val="8A6D1E"/>
                </a:solidFill>
                <a:latin typeface="Amiri" pitchFamily="2" charset="-78"/>
                <a:cs typeface="Amiri" pitchFamily="2" charset="-78"/>
              </a:rPr>
              <a:t>يَجْمَعُ بَيْنَ الرَّاحَةِ وَالاِحْتِرَامِ وَالذَّوْقِ الشَّخْصِيِّ.</a:t>
            </a:r>
            <a:endParaRPr lang="ar-SA" sz="11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44</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D2-L04 · Fashion and Identity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fashion and identity Arabic challenge</a:t>
            </a:r>
            <a:endParaRPr lang="en-US" sz="26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D2-L04</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 developed opinion.</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هٰذَا الأُسْلُوبُ.</a:t>
            </a:r>
            <a:endParaRPr lang="ar-SA" sz="15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فِي رَأْيِي، هٰذَا الأُسْلُوبُ مُنَاسِبٌ لِأَنَّهُ مُرِيحٌ.</a:t>
            </a:r>
            <a:endParaRPr lang="ar-SA" sz="15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لِأَنَّهُ مُرِيحٌ.</a:t>
            </a:r>
            <a:endParaRPr lang="ar-SA" sz="15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4" name="Text 31"/>
          <p:cNvSpPr txBox="1"/>
          <p:nvPr/>
        </p:nvSpPr>
        <p:spPr>
          <a:xfrm>
            <a:off x="6225845" y="1883664"/>
            <a:ext cx="1577035" cy="475488"/>
          </a:xfrm>
          <a:prstGeom prst="rect">
            <a:avLst/>
          </a:prstGeom>
          <a:noFill/>
          <a:ln/>
        </p:spPr>
        <p:txBody>
          <a:bodyPr wrap="square" lIns="0" tIns="0" rIns="0" bIns="0" rtlCol="0" anchor="ctr"/>
          <a:lstStyle/>
          <a:p>
            <a:pPr rtl="1" algn="r" indent="0" marL="0">
              <a:lnSpc>
                <a:spcPct val="120000"/>
              </a:lnSpc>
              <a:buNone/>
            </a:pPr>
            <a:r>
              <a:rPr lang="ar-SA" altLang="en-US" sz="1000" b="1" dirty="0">
                <a:solidFill>
                  <a:srgbClr val="1F2A37"/>
                </a:solidFill>
                <a:latin typeface="Amiri" pitchFamily="2" charset="-78"/>
                <a:cs typeface="Amiri" pitchFamily="2" charset="-78"/>
              </a:rPr>
              <a:t>أُحِبُّ المَوْضَةَ، ___ لَا أَتْبَعُ كُلَّ اتِّجَاهٍ.</a:t>
            </a:r>
            <a:endParaRPr lang="ar-SA" sz="1000" dirty="0"/>
          </a:p>
        </p:txBody>
      </p:sp>
      <p:sp>
        <p:nvSpPr>
          <p:cNvPr id="35" name="Shape 32"/>
          <p:cNvSpPr/>
          <p:nvPr/>
        </p:nvSpPr>
        <p:spPr>
          <a:xfrm>
            <a:off x="4459224"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وَلٰكِنَّنِي</a:t>
            </a:r>
            <a:endParaRPr lang="ar-SA" sz="2050" dirty="0"/>
          </a:p>
        </p:txBody>
      </p:sp>
      <p:sp>
        <p:nvSpPr>
          <p:cNvPr id="38" name="Shape 35"/>
          <p:cNvSpPr/>
          <p:nvPr/>
        </p:nvSpPr>
        <p:spPr>
          <a:xfrm>
            <a:off x="4459224"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لِأَنَّنِي</a:t>
            </a:r>
            <a:endParaRPr lang="ar-SA" sz="2050" dirty="0"/>
          </a:p>
        </p:txBody>
      </p:sp>
      <p:sp>
        <p:nvSpPr>
          <p:cNvPr id="41" name="Shape 38"/>
          <p:cNvSpPr/>
          <p:nvPr/>
        </p:nvSpPr>
        <p:spPr>
          <a:xfrm>
            <a:off x="4459224"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ثُمَّ</a:t>
            </a:r>
            <a:endParaRPr lang="ar-SA" sz="2050" dirty="0"/>
          </a:p>
        </p:txBody>
      </p:sp>
      <p:sp>
        <p:nvSpPr>
          <p:cNvPr id="44" name="Shape 41"/>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8223504" y="1947672"/>
            <a:ext cx="310896" cy="310896"/>
          </a:xfrm>
          <a:prstGeom prst="ellipse">
            <a:avLst/>
          </a:prstGeom>
          <a:solidFill>
            <a:srgbClr val="1B3B6F"/>
          </a:solidFill>
          <a:ln w="12700">
            <a:solidFill>
              <a:srgbClr val="1B3B6F"/>
            </a:solidFill>
            <a:prstDash val="solid"/>
          </a:ln>
        </p:spPr>
      </p:sp>
      <p:sp>
        <p:nvSpPr>
          <p:cNvPr id="46" name="Text 43"/>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7" name="Text 44"/>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concession.</a:t>
            </a:r>
            <a:endParaRPr lang="en-US" sz="1250" dirty="0"/>
          </a:p>
        </p:txBody>
      </p:sp>
      <p:sp>
        <p:nvSpPr>
          <p:cNvPr id="48" name="Shape 45"/>
          <p:cNvSpPr/>
          <p:nvPr/>
        </p:nvSpPr>
        <p:spPr>
          <a:xfrm>
            <a:off x="8278368" y="25328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500" dirty="0">
                <a:solidFill>
                  <a:srgbClr val="1F2A37"/>
                </a:solidFill>
                <a:latin typeface="Amiri" pitchFamily="2" charset="-78"/>
                <a:cs typeface="Amiri" pitchFamily="2" charset="-78"/>
              </a:rPr>
              <a:t>لِأَنَّهُ غَالٍ فَإِنَّهُ.</a:t>
            </a:r>
            <a:endParaRPr lang="ar-SA" sz="1500" dirty="0"/>
          </a:p>
        </p:txBody>
      </p:sp>
      <p:sp>
        <p:nvSpPr>
          <p:cNvPr id="51" name="Shape 48"/>
          <p:cNvSpPr/>
          <p:nvPr/>
        </p:nvSpPr>
        <p:spPr>
          <a:xfrm>
            <a:off x="8278368" y="29900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500" dirty="0">
                <a:solidFill>
                  <a:srgbClr val="1F2A37"/>
                </a:solidFill>
                <a:latin typeface="Amiri" pitchFamily="2" charset="-78"/>
                <a:cs typeface="Amiri" pitchFamily="2" charset="-78"/>
              </a:rPr>
              <a:t>هُوَ غَالٍ ثُمَّ.</a:t>
            </a:r>
            <a:endParaRPr lang="ar-SA" sz="1500" dirty="0"/>
          </a:p>
        </p:txBody>
      </p:sp>
      <p:sp>
        <p:nvSpPr>
          <p:cNvPr id="54" name="Shape 51"/>
          <p:cNvSpPr/>
          <p:nvPr/>
        </p:nvSpPr>
        <p:spPr>
          <a:xfrm>
            <a:off x="8278368" y="3447288"/>
            <a:ext cx="256032" cy="256032"/>
          </a:xfrm>
          <a:prstGeom prst="ellipse">
            <a:avLst/>
          </a:prstGeom>
          <a:solidFill>
            <a:srgbClr val="F4F1EA"/>
          </a:solidFill>
          <a:ln w="12700">
            <a:solidFill>
              <a:srgbClr val="F4F1EA"/>
            </a:solidFill>
            <a:prstDash val="solid"/>
          </a:ln>
        </p:spPr>
      </p:sp>
      <p:sp>
        <p:nvSpPr>
          <p:cNvPr id="55" name="Text 52"/>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500" dirty="0">
                <a:solidFill>
                  <a:srgbClr val="1F2A37"/>
                </a:solidFill>
                <a:latin typeface="Amiri" pitchFamily="2" charset="-78"/>
                <a:cs typeface="Amiri" pitchFamily="2" charset="-78"/>
              </a:rPr>
              <a:t>عَلَى الرَّغْمِ مِنْ أَنَّهُ غَالٍ، فَإِنَّهُ جَيِّدُ الجَوْدَةِ.</a:t>
            </a:r>
            <a:endParaRPr lang="ar-SA" sz="1500" dirty="0"/>
          </a:p>
        </p:txBody>
      </p:sp>
      <p:sp>
        <p:nvSpPr>
          <p:cNvPr id="57" name="Shape 54"/>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585216"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0" name="Text 57"/>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يُعَبِّرُ عَنْ</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61" name="Shape 58"/>
          <p:cNvSpPr/>
          <p:nvPr/>
        </p:nvSpPr>
        <p:spPr>
          <a:xfrm>
            <a:off x="640080"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buys</a:t>
            </a:r>
            <a:endParaRPr lang="en-US" sz="1250" dirty="0"/>
          </a:p>
        </p:txBody>
      </p:sp>
      <p:sp>
        <p:nvSpPr>
          <p:cNvPr id="64" name="Shape 61"/>
          <p:cNvSpPr/>
          <p:nvPr/>
        </p:nvSpPr>
        <p:spPr>
          <a:xfrm>
            <a:off x="640080"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compares</a:t>
            </a:r>
            <a:endParaRPr lang="en-US" sz="1250" dirty="0"/>
          </a:p>
        </p:txBody>
      </p:sp>
      <p:sp>
        <p:nvSpPr>
          <p:cNvPr id="67" name="Shape 64"/>
          <p:cNvSpPr/>
          <p:nvPr/>
        </p:nvSpPr>
        <p:spPr>
          <a:xfrm>
            <a:off x="640080"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expresses</a:t>
            </a:r>
            <a:endParaRPr lang="en-US" sz="1250" dirty="0"/>
          </a:p>
        </p:txBody>
      </p:sp>
      <p:sp>
        <p:nvSpPr>
          <p:cNvPr id="70" name="Shape 67"/>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1" name="Shape 68"/>
          <p:cNvSpPr/>
          <p:nvPr/>
        </p:nvSpPr>
        <p:spPr>
          <a:xfrm>
            <a:off x="4404360" y="4288536"/>
            <a:ext cx="310896" cy="310896"/>
          </a:xfrm>
          <a:prstGeom prst="ellipse">
            <a:avLst/>
          </a:prstGeom>
          <a:solidFill>
            <a:srgbClr val="1B3B6F"/>
          </a:solidFill>
          <a:ln w="12700">
            <a:solidFill>
              <a:srgbClr val="1B3B6F"/>
            </a:solidFill>
            <a:prstDash val="solid"/>
          </a:ln>
        </p:spPr>
      </p:sp>
      <p:sp>
        <p:nvSpPr>
          <p:cNvPr id="72" name="Text 69"/>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3" name="Text 70"/>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respectful judgement.</a:t>
            </a:r>
            <a:endParaRPr lang="en-US" sz="1250" dirty="0"/>
          </a:p>
        </p:txBody>
      </p:sp>
      <p:sp>
        <p:nvSpPr>
          <p:cNvPr id="74" name="Shape 71"/>
          <p:cNvSpPr/>
          <p:nvPr/>
        </p:nvSpPr>
        <p:spPr>
          <a:xfrm>
            <a:off x="4459224" y="48737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6" name="Text 73"/>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cs typeface="Amiri" pitchFamily="2" charset="-78"/>
              </a:rPr>
              <a:t>أُسْلُوبُهَا مُخْتَلِفٌ وَيُعَبِّرُ عَنْ ذَوْقِهَا.</a:t>
            </a:r>
            <a:endParaRPr lang="ar-SA" sz="2000" dirty="0"/>
          </a:p>
        </p:txBody>
      </p:sp>
      <p:sp>
        <p:nvSpPr>
          <p:cNvPr id="77" name="Shape 74"/>
          <p:cNvSpPr/>
          <p:nvPr/>
        </p:nvSpPr>
        <p:spPr>
          <a:xfrm>
            <a:off x="4459224" y="53309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9" name="Text 76"/>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cs typeface="Amiri" pitchFamily="2" charset="-78"/>
              </a:rPr>
              <a:t>هِيَ سَيِّئَةٌ لِأَنَّ فُسْتَانَهَا أَحْمَرُ.</a:t>
            </a:r>
            <a:endParaRPr lang="ar-SA" sz="2000" dirty="0"/>
          </a:p>
        </p:txBody>
      </p:sp>
      <p:sp>
        <p:nvSpPr>
          <p:cNvPr id="80" name="Shape 77"/>
          <p:cNvSpPr/>
          <p:nvPr/>
        </p:nvSpPr>
        <p:spPr>
          <a:xfrm>
            <a:off x="4459224" y="5788152"/>
            <a:ext cx="256032" cy="256032"/>
          </a:xfrm>
          <a:prstGeom prst="ellipse">
            <a:avLst/>
          </a:prstGeom>
          <a:solidFill>
            <a:srgbClr val="F4F1EA"/>
          </a:solidFill>
          <a:ln w="12700">
            <a:solidFill>
              <a:srgbClr val="F4F1EA"/>
            </a:solidFill>
            <a:prstDash val="solid"/>
          </a:ln>
        </p:spPr>
      </p:sp>
      <p:sp>
        <p:nvSpPr>
          <p:cNvPr id="81" name="Text 78"/>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2" name="Text 79"/>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cs typeface="Amiri" pitchFamily="2" charset="-78"/>
              </a:rPr>
              <a:t>كُلُّ مَنْ يَلْبَسُ الأَسْوَدَ حَزِينٌ.</a:t>
            </a:r>
            <a:endParaRPr lang="ar-SA" sz="2000" dirty="0"/>
          </a:p>
        </p:txBody>
      </p:sp>
      <p:sp>
        <p:nvSpPr>
          <p:cNvPr id="83" name="Shape 80"/>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4" name="Shape 81"/>
          <p:cNvSpPr/>
          <p:nvPr/>
        </p:nvSpPr>
        <p:spPr>
          <a:xfrm>
            <a:off x="8223504" y="4288536"/>
            <a:ext cx="310896" cy="310896"/>
          </a:xfrm>
          <a:prstGeom prst="ellipse">
            <a:avLst/>
          </a:prstGeom>
          <a:solidFill>
            <a:srgbClr val="1B3B6F"/>
          </a:solidFill>
          <a:ln w="12700">
            <a:solidFill>
              <a:srgbClr val="1B3B6F"/>
            </a:solidFill>
            <a:prstDash val="solid"/>
          </a:ln>
        </p:spPr>
      </p:sp>
      <p:sp>
        <p:nvSpPr>
          <p:cNvPr id="85" name="Text 82"/>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6" name="Text 83"/>
          <p:cNvSpPr txBox="1"/>
          <p:nvPr/>
        </p:nvSpPr>
        <p:spPr>
          <a:xfrm>
            <a:off x="8589264"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87" name="Text 84"/>
          <p:cNvSpPr txBox="1"/>
          <p:nvPr/>
        </p:nvSpPr>
        <p:spPr>
          <a:xfrm>
            <a:off x="10044989" y="4224528"/>
            <a:ext cx="1577035" cy="475488"/>
          </a:xfrm>
          <a:prstGeom prst="rect">
            <a:avLst/>
          </a:prstGeom>
          <a:noFill/>
          <a:ln/>
        </p:spPr>
        <p:txBody>
          <a:bodyPr wrap="square" lIns="0" tIns="0" rIns="0" bIns="0" rtlCol="0" anchor="ctr"/>
          <a:lstStyle/>
          <a:p>
            <a:pPr rtl="1" algn="r" indent="0" marL="0">
              <a:buNone/>
            </a:pPr>
            <a:r>
              <a:rPr lang="ar-SA" altLang="en-US" sz="1150" b="1" dirty="0">
                <a:solidFill>
                  <a:srgbClr val="1F2A37"/>
                </a:solidFill>
                <a:latin typeface="Amiri" pitchFamily="2" charset="-78"/>
                <a:cs typeface="Amiri" pitchFamily="2" charset="-78"/>
              </a:rPr>
              <a:t>الرَّاحَةُ ___ مِنَ اتِّبَاعِ المَوْضَةِ.</a:t>
            </a:r>
            <a:endParaRPr lang="ar-SA" sz="1150" dirty="0"/>
          </a:p>
        </p:txBody>
      </p:sp>
      <p:sp>
        <p:nvSpPr>
          <p:cNvPr id="88" name="Shape 85"/>
          <p:cNvSpPr/>
          <p:nvPr/>
        </p:nvSpPr>
        <p:spPr>
          <a:xfrm>
            <a:off x="8278368" y="4873752"/>
            <a:ext cx="256032" cy="256032"/>
          </a:xfrm>
          <a:prstGeom prst="ellipse">
            <a:avLst/>
          </a:prstGeom>
          <a:solidFill>
            <a:srgbClr val="F4F1EA"/>
          </a:solidFill>
          <a:ln w="12700">
            <a:solidFill>
              <a:srgbClr val="F4F1EA"/>
            </a:solidFill>
            <a:prstDash val="solid"/>
          </a:ln>
        </p:spPr>
      </p:sp>
      <p:sp>
        <p:nvSpPr>
          <p:cNvPr id="89" name="Text 86"/>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0" name="Text 87"/>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مُهِمَّةٌ</a:t>
            </a:r>
            <a:endParaRPr lang="ar-SA" sz="2050" dirty="0"/>
          </a:p>
        </p:txBody>
      </p:sp>
      <p:sp>
        <p:nvSpPr>
          <p:cNvPr id="91" name="Shape 88"/>
          <p:cNvSpPr/>
          <p:nvPr/>
        </p:nvSpPr>
        <p:spPr>
          <a:xfrm>
            <a:off x="8278368" y="5330952"/>
            <a:ext cx="256032" cy="256032"/>
          </a:xfrm>
          <a:prstGeom prst="ellipse">
            <a:avLst/>
          </a:prstGeom>
          <a:solidFill>
            <a:srgbClr val="F4F1EA"/>
          </a:solidFill>
          <a:ln w="12700">
            <a:solidFill>
              <a:srgbClr val="F4F1EA"/>
            </a:solidFill>
            <a:prstDash val="solid"/>
          </a:ln>
        </p:spPr>
      </p:sp>
      <p:sp>
        <p:nvSpPr>
          <p:cNvPr id="92" name="Text 89"/>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3" name="Text 90"/>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أَهَمُّ</a:t>
            </a:r>
            <a:endParaRPr lang="ar-SA" sz="2050" dirty="0"/>
          </a:p>
        </p:txBody>
      </p:sp>
      <p:sp>
        <p:nvSpPr>
          <p:cNvPr id="94" name="Shape 91"/>
          <p:cNvSpPr/>
          <p:nvPr/>
        </p:nvSpPr>
        <p:spPr>
          <a:xfrm>
            <a:off x="8278368" y="5788152"/>
            <a:ext cx="256032" cy="256032"/>
          </a:xfrm>
          <a:prstGeom prst="ellipse">
            <a:avLst/>
          </a:prstGeom>
          <a:solidFill>
            <a:srgbClr val="F4F1EA"/>
          </a:solidFill>
          <a:ln w="12700">
            <a:solidFill>
              <a:srgbClr val="F4F1EA"/>
            </a:solidFill>
            <a:prstDash val="solid"/>
          </a:ln>
        </p:spPr>
      </p:sp>
      <p:sp>
        <p:nvSpPr>
          <p:cNvPr id="95" name="Text 92"/>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6" name="Text 93"/>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أَكْثَرٌ</a:t>
            </a:r>
            <a:endParaRPr lang="ar-SA" sz="20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44</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D2-L04 · Fashion and Identity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D2-L04</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 developed opinion.</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550" dirty="0">
                <a:solidFill>
                  <a:srgbClr val="9AA1AB"/>
                </a:solidFill>
                <a:latin typeface="Amiri" pitchFamily="2" charset="-78"/>
                <a:cs typeface="Amiri" pitchFamily="2" charset="-78"/>
              </a:rPr>
              <a:t>هٰذَا الأُسْلُوبُ.</a:t>
            </a:r>
            <a:endParaRPr lang="ar-SA" sz="155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550" b="1" dirty="0">
                <a:solidFill>
                  <a:srgbClr val="1F2A37"/>
                </a:solidFill>
                <a:latin typeface="Amiri" pitchFamily="2" charset="-78"/>
                <a:cs typeface="Amiri" pitchFamily="2" charset="-78"/>
              </a:rPr>
              <a:t>فِي رَأْيِي، هٰذَا الأُسْلُوبُ مُنَاسِبٌ لِأَنَّهُ مُرِيحٌ.</a:t>
            </a:r>
            <a:endParaRPr lang="ar-SA" sz="155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550" dirty="0">
                <a:solidFill>
                  <a:srgbClr val="9AA1AB"/>
                </a:solidFill>
                <a:latin typeface="Amiri" pitchFamily="2" charset="-78"/>
                <a:cs typeface="Amiri" pitchFamily="2" charset="-78"/>
              </a:rPr>
              <a:t>لِأَنَّهُ مُرِيحٌ.</a:t>
            </a:r>
            <a:endParaRPr lang="ar-SA" sz="155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gives opinion and reason.</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2"/>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5" name="Text 33"/>
          <p:cNvSpPr txBox="1"/>
          <p:nvPr/>
        </p:nvSpPr>
        <p:spPr>
          <a:xfrm>
            <a:off x="6225845" y="1883664"/>
            <a:ext cx="1577035" cy="475488"/>
          </a:xfrm>
          <a:prstGeom prst="rect">
            <a:avLst/>
          </a:prstGeom>
          <a:noFill/>
          <a:ln/>
        </p:spPr>
        <p:txBody>
          <a:bodyPr wrap="square" lIns="0" tIns="0" rIns="0" bIns="0" rtlCol="0" anchor="ctr"/>
          <a:lstStyle/>
          <a:p>
            <a:pPr rtl="1" algn="r" indent="0" marL="0">
              <a:lnSpc>
                <a:spcPct val="120000"/>
              </a:lnSpc>
              <a:buNone/>
            </a:pPr>
            <a:r>
              <a:rPr lang="ar-SA" altLang="en-US" sz="1000" b="1" dirty="0">
                <a:solidFill>
                  <a:srgbClr val="1F2A37"/>
                </a:solidFill>
                <a:latin typeface="Amiri" pitchFamily="2" charset="-78"/>
                <a:cs typeface="Amiri" pitchFamily="2" charset="-78"/>
              </a:rPr>
              <a:t>أُحِبُّ المَوْضَةَ، ___ لَا أَتْبَعُ كُلَّ اتِّجَاهٍ.</a:t>
            </a:r>
            <a:endParaRPr lang="ar-SA" sz="1000" dirty="0"/>
          </a:p>
        </p:txBody>
      </p:sp>
      <p:sp>
        <p:nvSpPr>
          <p:cNvPr id="36" name="Shape 34"/>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7" name="Shape 35"/>
          <p:cNvSpPr/>
          <p:nvPr/>
        </p:nvSpPr>
        <p:spPr>
          <a:xfrm>
            <a:off x="4459224" y="2490216"/>
            <a:ext cx="256032" cy="256032"/>
          </a:xfrm>
          <a:prstGeom prst="ellipse">
            <a:avLst/>
          </a:prstGeom>
          <a:solidFill>
            <a:srgbClr val="2E8B57"/>
          </a:solidFill>
          <a:ln w="12700">
            <a:solidFill>
              <a:srgbClr val="2E8B57"/>
            </a:solidFill>
            <a:prstDash val="solid"/>
          </a:ln>
        </p:spPr>
      </p:sp>
      <p:sp>
        <p:nvSpPr>
          <p:cNvPr id="38" name="Text 36"/>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9" name="Text 37"/>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وَلٰكِنَّنِي</a:t>
            </a:r>
            <a:endParaRPr lang="ar-SA" sz="1700" dirty="0"/>
          </a:p>
        </p:txBody>
      </p:sp>
      <p:sp>
        <p:nvSpPr>
          <p:cNvPr id="40" name="Shape 38"/>
          <p:cNvSpPr/>
          <p:nvPr/>
        </p:nvSpPr>
        <p:spPr>
          <a:xfrm>
            <a:off x="4459224" y="2862072"/>
            <a:ext cx="256032" cy="256032"/>
          </a:xfrm>
          <a:prstGeom prst="ellipse">
            <a:avLst/>
          </a:prstGeom>
          <a:solidFill>
            <a:srgbClr val="C9CED6"/>
          </a:solidFill>
          <a:ln w="12700">
            <a:solidFill>
              <a:srgbClr val="C9CED6"/>
            </a:solidFill>
            <a:prstDash val="solid"/>
          </a:ln>
        </p:spPr>
      </p:sp>
      <p:sp>
        <p:nvSpPr>
          <p:cNvPr id="41" name="Text 39"/>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2" name="Text 40"/>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لِأَنَّنِي</a:t>
            </a:r>
            <a:endParaRPr lang="ar-SA" sz="1700" dirty="0"/>
          </a:p>
        </p:txBody>
      </p:sp>
      <p:sp>
        <p:nvSpPr>
          <p:cNvPr id="43" name="Shape 41"/>
          <p:cNvSpPr/>
          <p:nvPr/>
        </p:nvSpPr>
        <p:spPr>
          <a:xfrm>
            <a:off x="4459224" y="3233928"/>
            <a:ext cx="256032" cy="256032"/>
          </a:xfrm>
          <a:prstGeom prst="ellipse">
            <a:avLst/>
          </a:prstGeom>
          <a:solidFill>
            <a:srgbClr val="C9CED6"/>
          </a:solidFill>
          <a:ln w="12700">
            <a:solidFill>
              <a:srgbClr val="C9CED6"/>
            </a:solidFill>
            <a:prstDash val="solid"/>
          </a:ln>
        </p:spPr>
      </p:sp>
      <p:sp>
        <p:nvSpPr>
          <p:cNvPr id="44" name="Text 42"/>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3"/>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ثُمَّ</a:t>
            </a:r>
            <a:endParaRPr lang="ar-SA" sz="1700" dirty="0"/>
          </a:p>
        </p:txBody>
      </p:sp>
      <p:sp>
        <p:nvSpPr>
          <p:cNvPr id="46" name="Text 44"/>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contrast is required.</a:t>
            </a:r>
            <a:endParaRPr lang="en-US" sz="1050" dirty="0"/>
          </a:p>
        </p:txBody>
      </p:sp>
      <p:sp>
        <p:nvSpPr>
          <p:cNvPr id="47" name="Shape 45"/>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6"/>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7"/>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8"/>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concession.</a:t>
            </a:r>
            <a:endParaRPr lang="en-US" sz="1250" dirty="0"/>
          </a:p>
        </p:txBody>
      </p:sp>
      <p:sp>
        <p:nvSpPr>
          <p:cNvPr id="51" name="Shape 49"/>
          <p:cNvSpPr/>
          <p:nvPr/>
        </p:nvSpPr>
        <p:spPr>
          <a:xfrm>
            <a:off x="8278368" y="2490216"/>
            <a:ext cx="256032" cy="256032"/>
          </a:xfrm>
          <a:prstGeom prst="ellipse">
            <a:avLst/>
          </a:prstGeom>
          <a:solidFill>
            <a:srgbClr val="C9CED6"/>
          </a:solidFill>
          <a:ln w="12700">
            <a:solidFill>
              <a:srgbClr val="C9CED6"/>
            </a:solidFill>
            <a:prstDash val="solid"/>
          </a:ln>
        </p:spPr>
      </p:sp>
      <p:sp>
        <p:nvSpPr>
          <p:cNvPr id="52"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1"/>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500" dirty="0">
                <a:solidFill>
                  <a:srgbClr val="9AA1AB"/>
                </a:solidFill>
                <a:latin typeface="Amiri" pitchFamily="2" charset="-78"/>
                <a:cs typeface="Amiri" pitchFamily="2" charset="-78"/>
              </a:rPr>
              <a:t>لِأَنَّهُ غَالٍ فَإِنَّهُ.</a:t>
            </a:r>
            <a:endParaRPr lang="ar-SA" sz="1500" dirty="0"/>
          </a:p>
        </p:txBody>
      </p:sp>
      <p:sp>
        <p:nvSpPr>
          <p:cNvPr id="54"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5"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6" name="Text 54"/>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500" dirty="0">
                <a:solidFill>
                  <a:srgbClr val="9AA1AB"/>
                </a:solidFill>
                <a:latin typeface="Amiri" pitchFamily="2" charset="-78"/>
                <a:cs typeface="Amiri" pitchFamily="2" charset="-78"/>
              </a:rPr>
              <a:t>هُوَ غَالٍ ثُمَّ.</a:t>
            </a:r>
            <a:endParaRPr lang="ar-SA" sz="1500" dirty="0"/>
          </a:p>
        </p:txBody>
      </p:sp>
      <p:sp>
        <p:nvSpPr>
          <p:cNvPr id="57" name="Shape 55"/>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8" name="Shape 56"/>
          <p:cNvSpPr/>
          <p:nvPr/>
        </p:nvSpPr>
        <p:spPr>
          <a:xfrm>
            <a:off x="8278368" y="3233928"/>
            <a:ext cx="256032" cy="256032"/>
          </a:xfrm>
          <a:prstGeom prst="ellipse">
            <a:avLst/>
          </a:prstGeom>
          <a:solidFill>
            <a:srgbClr val="2E8B57"/>
          </a:solidFill>
          <a:ln w="12700">
            <a:solidFill>
              <a:srgbClr val="2E8B57"/>
            </a:solidFill>
            <a:prstDash val="solid"/>
          </a:ln>
        </p:spPr>
      </p:sp>
      <p:sp>
        <p:nvSpPr>
          <p:cNvPr id="59" name="Text 57"/>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60" name="Text 58"/>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عَلَى الرَّغْمِ مِنْ أَنَّهُ غَالٍ، فَإِنَّهُ جَيِّدُ الجَوْدَةِ.</a:t>
            </a:r>
            <a:endParaRPr lang="ar-SA" sz="1500" dirty="0"/>
          </a:p>
        </p:txBody>
      </p:sp>
      <p:sp>
        <p:nvSpPr>
          <p:cNvPr id="61" name="Text 59"/>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This is a complete concession pattern.</a:t>
            </a:r>
            <a:endParaRPr lang="en-US" sz="1050" dirty="0"/>
          </a:p>
        </p:txBody>
      </p:sp>
      <p:sp>
        <p:nvSpPr>
          <p:cNvPr id="62" name="Shape 60"/>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1"/>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3"/>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يُعَبِّرُ عَنْ</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66" name="Shape 64"/>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5"/>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6"/>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buys</a:t>
            </a:r>
            <a:endParaRPr lang="en-US" sz="1250" dirty="0"/>
          </a:p>
        </p:txBody>
      </p:sp>
      <p:sp>
        <p:nvSpPr>
          <p:cNvPr id="69" name="Shape 67"/>
          <p:cNvSpPr/>
          <p:nvPr/>
        </p:nvSpPr>
        <p:spPr>
          <a:xfrm>
            <a:off x="640080" y="5202936"/>
            <a:ext cx="256032" cy="256032"/>
          </a:xfrm>
          <a:prstGeom prst="ellipse">
            <a:avLst/>
          </a:prstGeom>
          <a:solidFill>
            <a:srgbClr val="C9CED6"/>
          </a:solidFill>
          <a:ln w="12700">
            <a:solidFill>
              <a:srgbClr val="C9CED6"/>
            </a:solidFill>
            <a:prstDash val="solid"/>
          </a:ln>
        </p:spPr>
      </p:sp>
      <p:sp>
        <p:nvSpPr>
          <p:cNvPr id="70"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compares</a:t>
            </a:r>
            <a:endParaRPr lang="en-US" sz="1250" dirty="0"/>
          </a:p>
        </p:txBody>
      </p:sp>
      <p:sp>
        <p:nvSpPr>
          <p:cNvPr id="72" name="Shape 70"/>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3" name="Shape 71"/>
          <p:cNvSpPr/>
          <p:nvPr/>
        </p:nvSpPr>
        <p:spPr>
          <a:xfrm>
            <a:off x="640080" y="5574792"/>
            <a:ext cx="256032" cy="256032"/>
          </a:xfrm>
          <a:prstGeom prst="ellipse">
            <a:avLst/>
          </a:prstGeom>
          <a:solidFill>
            <a:srgbClr val="2E8B57"/>
          </a:solidFill>
          <a:ln w="12700">
            <a:solidFill>
              <a:srgbClr val="2E8B57"/>
            </a:solidFill>
            <a:prstDash val="solid"/>
          </a:ln>
        </p:spPr>
      </p:sp>
      <p:sp>
        <p:nvSpPr>
          <p:cNvPr id="74" name="Text 72"/>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3"/>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expresses</a:t>
            </a:r>
            <a:endParaRPr lang="en-US" sz="1250" dirty="0"/>
          </a:p>
        </p:txBody>
      </p:sp>
      <p:sp>
        <p:nvSpPr>
          <p:cNvPr id="76" name="Text 74"/>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means expresses.</a:t>
            </a:r>
            <a:endParaRPr lang="en-US" sz="1050" dirty="0"/>
          </a:p>
        </p:txBody>
      </p:sp>
      <p:sp>
        <p:nvSpPr>
          <p:cNvPr id="77" name="Shape 7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6"/>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8"/>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respectful judgement.</a:t>
            </a:r>
            <a:endParaRPr lang="en-US" sz="1250" dirty="0"/>
          </a:p>
        </p:txBody>
      </p:sp>
      <p:sp>
        <p:nvSpPr>
          <p:cNvPr id="81" name="Shape 79"/>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80"/>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1"/>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2"/>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أُسْلُوبُهَا مُخْتَلِفٌ وَيُعَبِّرُ عَنْ ذَوْقِهَا.</a:t>
            </a:r>
            <a:endParaRPr lang="ar-SA" sz="1700" dirty="0"/>
          </a:p>
        </p:txBody>
      </p:sp>
      <p:sp>
        <p:nvSpPr>
          <p:cNvPr id="85" name="Shape 83"/>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4"/>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5"/>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هِيَ سَيِّئَةٌ لِأَنَّ فُسْتَانَهَا أَحْمَرُ.</a:t>
            </a:r>
            <a:endParaRPr lang="ar-SA" sz="1700" dirty="0"/>
          </a:p>
        </p:txBody>
      </p:sp>
      <p:sp>
        <p:nvSpPr>
          <p:cNvPr id="88" name="Shape 86"/>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7"/>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8"/>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كُلُّ مَنْ يَلْبَسُ الأَسْوَدَ حَزِينٌ.</a:t>
            </a:r>
            <a:endParaRPr lang="ar-SA" sz="1700" dirty="0"/>
          </a:p>
        </p:txBody>
      </p:sp>
      <p:sp>
        <p:nvSpPr>
          <p:cNvPr id="91" name="Text 89"/>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evaluates style without stereotyping.</a:t>
            </a:r>
            <a:endParaRPr lang="en-US" sz="1050" dirty="0"/>
          </a:p>
        </p:txBody>
      </p:sp>
      <p:sp>
        <p:nvSpPr>
          <p:cNvPr id="92" name="Shape 90"/>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1"/>
          <p:cNvSpPr/>
          <p:nvPr/>
        </p:nvSpPr>
        <p:spPr>
          <a:xfrm>
            <a:off x="8223504" y="4288536"/>
            <a:ext cx="310896" cy="310896"/>
          </a:xfrm>
          <a:prstGeom prst="ellipse">
            <a:avLst/>
          </a:prstGeom>
          <a:solidFill>
            <a:srgbClr val="1B3B6F"/>
          </a:solidFill>
          <a:ln w="12700">
            <a:solidFill>
              <a:srgbClr val="1B3B6F"/>
            </a:solidFill>
            <a:prstDash val="solid"/>
          </a:ln>
        </p:spPr>
      </p:sp>
      <p:sp>
        <p:nvSpPr>
          <p:cNvPr id="94" name="Text 92"/>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5" name="Text 93"/>
          <p:cNvSpPr txBox="1"/>
          <p:nvPr/>
        </p:nvSpPr>
        <p:spPr>
          <a:xfrm>
            <a:off x="8589264"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96" name="Text 94"/>
          <p:cNvSpPr txBox="1"/>
          <p:nvPr/>
        </p:nvSpPr>
        <p:spPr>
          <a:xfrm>
            <a:off x="10044989" y="4224528"/>
            <a:ext cx="1577035" cy="475488"/>
          </a:xfrm>
          <a:prstGeom prst="rect">
            <a:avLst/>
          </a:prstGeom>
          <a:noFill/>
          <a:ln/>
        </p:spPr>
        <p:txBody>
          <a:bodyPr wrap="square" lIns="0" tIns="0" rIns="0" bIns="0" rtlCol="0" anchor="ctr"/>
          <a:lstStyle/>
          <a:p>
            <a:pPr rtl="1" algn="r" indent="0" marL="0">
              <a:buNone/>
            </a:pPr>
            <a:r>
              <a:rPr lang="ar-SA" altLang="en-US" sz="1150" b="1" dirty="0">
                <a:solidFill>
                  <a:srgbClr val="1F2A37"/>
                </a:solidFill>
                <a:latin typeface="Amiri" pitchFamily="2" charset="-78"/>
                <a:cs typeface="Amiri" pitchFamily="2" charset="-78"/>
              </a:rPr>
              <a:t>الرَّاحَةُ ___ مِنَ اتِّبَاعِ المَوْضَةِ.</a:t>
            </a:r>
            <a:endParaRPr lang="ar-SA" sz="1150" dirty="0"/>
          </a:p>
        </p:txBody>
      </p:sp>
      <p:sp>
        <p:nvSpPr>
          <p:cNvPr id="97" name="Shape 95"/>
          <p:cNvSpPr/>
          <p:nvPr/>
        </p:nvSpPr>
        <p:spPr>
          <a:xfrm>
            <a:off x="8278368" y="4831080"/>
            <a:ext cx="256032" cy="256032"/>
          </a:xfrm>
          <a:prstGeom prst="ellipse">
            <a:avLst/>
          </a:prstGeom>
          <a:solidFill>
            <a:srgbClr val="C9CED6"/>
          </a:solidFill>
          <a:ln w="12700">
            <a:solidFill>
              <a:srgbClr val="C9CED6"/>
            </a:solidFill>
            <a:prstDash val="solid"/>
          </a:ln>
        </p:spPr>
      </p:sp>
      <p:sp>
        <p:nvSpPr>
          <p:cNvPr id="98" name="Text 96"/>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9" name="Text 97"/>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مُهِمَّةٌ</a:t>
            </a:r>
            <a:endParaRPr lang="ar-SA" sz="1700" dirty="0"/>
          </a:p>
        </p:txBody>
      </p:sp>
      <p:sp>
        <p:nvSpPr>
          <p:cNvPr id="100" name="Shape 98"/>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101" name="Shape 99"/>
          <p:cNvSpPr/>
          <p:nvPr/>
        </p:nvSpPr>
        <p:spPr>
          <a:xfrm>
            <a:off x="8278368" y="5202936"/>
            <a:ext cx="256032" cy="256032"/>
          </a:xfrm>
          <a:prstGeom prst="ellipse">
            <a:avLst/>
          </a:prstGeom>
          <a:solidFill>
            <a:srgbClr val="2E8B57"/>
          </a:solidFill>
          <a:ln w="12700">
            <a:solidFill>
              <a:srgbClr val="2E8B57"/>
            </a:solidFill>
            <a:prstDash val="solid"/>
          </a:ln>
        </p:spPr>
      </p:sp>
      <p:sp>
        <p:nvSpPr>
          <p:cNvPr id="102" name="Text 100"/>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3" name="Text 101"/>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أَهَمُّ</a:t>
            </a:r>
            <a:endParaRPr lang="ar-SA" sz="1700" dirty="0"/>
          </a:p>
        </p:txBody>
      </p:sp>
      <p:sp>
        <p:nvSpPr>
          <p:cNvPr id="104" name="Shape 102"/>
          <p:cNvSpPr/>
          <p:nvPr/>
        </p:nvSpPr>
        <p:spPr>
          <a:xfrm>
            <a:off x="8278368" y="5574792"/>
            <a:ext cx="256032" cy="256032"/>
          </a:xfrm>
          <a:prstGeom prst="ellipse">
            <a:avLst/>
          </a:prstGeom>
          <a:solidFill>
            <a:srgbClr val="C9CED6"/>
          </a:solidFill>
          <a:ln w="12700">
            <a:solidFill>
              <a:srgbClr val="C9CED6"/>
            </a:solidFill>
            <a:prstDash val="solid"/>
          </a:ln>
        </p:spPr>
      </p:sp>
      <p:sp>
        <p:nvSpPr>
          <p:cNvPr id="105" name="Text 103"/>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6" name="Text 104"/>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أَكْثَرٌ</a:t>
            </a:r>
            <a:endParaRPr lang="ar-SA" sz="1700" dirty="0"/>
          </a:p>
        </p:txBody>
      </p:sp>
      <p:sp>
        <p:nvSpPr>
          <p:cNvPr id="107" name="Text 105"/>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comparative pattern is </a:t>
            </a:r>
            <a:pPr algn="l" indent="0" marL="0">
              <a:buNone/>
            </a:pPr>
            <a:r>
              <a:rPr lang="ar-SA" altLang="en-US" sz="1350" dirty="0">
                <a:solidFill>
                  <a:srgbClr val="8A6D1E"/>
                </a:solidFill>
                <a:latin typeface="Amiri" pitchFamily="2" charset="-78"/>
                <a:cs typeface="Amiri" pitchFamily="2" charset="-78"/>
              </a:rPr>
              <a:t>أَهَمُّ مِنْ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108" name="Text 10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44</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D2-L04 · Fashion and Identity</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D2-L05: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D2-L04</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D2-L05 · Comparing People and Clothes — More, Less and Better</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أَكْثَرُ … مِنْ</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more … than</a:t>
            </a:r>
            <a:pPr indent="0" marL="0">
              <a:buNone/>
            </a:pP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أَقَلُّ … مِنْ</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less … than</a:t>
            </a:r>
            <a:pPr indent="0" marL="0">
              <a:buNone/>
            </a:pP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أَفْضَلُ مِنْ</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better than</a:t>
            </a:r>
            <a:pPr indent="0" marL="0">
              <a:buNone/>
            </a:pPr>
            <a:r>
              <a:rPr lang="en-US" sz="1000" i="1" dirty="0">
                <a:solidFill>
                  <a:srgbClr val="5A6472"/>
                </a:solidFill>
                <a:latin typeface="Calibri" pitchFamily="34" charset="0"/>
                <a:cs typeface="Amiri" pitchFamily="2" charset="-78"/>
              </a:rPr>
              <a:t>  the best: الأَفْضَلُ</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أَرْخَصُ مِنْ</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cheaper than</a:t>
            </a:r>
            <a:pPr indent="0" marL="0">
              <a:buNone/>
            </a:pPr>
            <a:r>
              <a:rPr lang="en-US" sz="1000" i="1" dirty="0">
                <a:solidFill>
                  <a:srgbClr val="5A6472"/>
                </a:solidFill>
                <a:latin typeface="Calibri" pitchFamily="34" charset="0"/>
                <a:cs typeface="Amiri" pitchFamily="2" charset="-78"/>
              </a:rPr>
              <a:t>  cheap: رَخِيصٌ</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أَغْلَى مِنْ</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more expensive than</a:t>
            </a:r>
            <a:pPr indent="0" marL="0">
              <a:buNone/>
            </a:pPr>
            <a:r>
              <a:rPr lang="en-US" sz="1000" i="1" dirty="0">
                <a:solidFill>
                  <a:srgbClr val="5A6472"/>
                </a:solidFill>
                <a:latin typeface="Calibri" pitchFamily="34" charset="0"/>
                <a:cs typeface="Amiri" pitchFamily="2" charset="-78"/>
              </a:rPr>
              <a:t>  expensive: غَالٍ</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Compare two people you know or two items of clothing. Who / which is taller, cheaper, more elegant?</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cs typeface="Amiri" pitchFamily="2" charset="-78"/>
              </a:rPr>
              <a:t>مَنْ أَطْوَلُ فِي أُسْرَتِكَ؟</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D2-L04: the vocabulary tab (style adjectives, opinion and balance).</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8 sentences about your style with an opinion, a reason and a contrast.</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100–120 words on fashion and identity.</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44</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D2-L04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D2-L05 · Comparing People and Clothes — More, Less and Better</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المُقَارَنَةُ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opinion + because + but — and judge clothes, not people.</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44</Slides>
  <Notes>44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vt:i4>
      </vt:variant>
    </vt:vector>
  </HeadingPairs>
  <TitlesOfParts>
    <vt:vector size="4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D2-L04 · Fashion and Identity — Opinions on Style and Dress</dc:title>
  <dc:subject>PptxGenJS Presentation</dc:subject>
  <dc:creator>Al Madina Online School · Arabic Department</dc:creator>
  <cp:lastModifiedBy>Al Madina Online School · Arabic Department</cp:lastModifiedBy>
  <cp:revision>1</cp:revision>
  <dcterms:created xsi:type="dcterms:W3CDTF">2026-10-11T06:40:35Z</dcterms:created>
  <dcterms:modified xsi:type="dcterms:W3CDTF">2026-10-11T06:40:35Z</dcterms:modified>
</cp:coreProperties>
</file>