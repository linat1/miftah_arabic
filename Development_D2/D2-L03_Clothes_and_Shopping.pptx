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D2 People, Relationships and Style › D2-L03. The website lesson “Clothes and Accessories — Vocabulary and Shopping”: vocabulary, grammar rules and quiz, patterns, common mistakes, sorter, listening, reading, speaking prompts and model, writing task and model, differentiation, final check and the lesson mission. Picture match: website visual game “Clothes and Accessories — Vocabulary and Shopping”.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clothes words with هٰذَا / هٰذِهِ + three colours + two shop phrases (كَمْ ثَمَنُهُ؟ · أُرِيدُ أَنْ أُجَرِّبَ …). Develop: colour agreement with feminine items and size problems (ضَيِّقٌ / وَاسِعٌ). Stretch: a full shop role-play and a written shopping trip in the past.
• Decision routine for every item: masculine or feminine? (ـةٌ → feminine) → هٰذَا / هٰذِهِ → colour form → ثَمَنُهُ / ثَمَنُهَا.
• حِجَابٌ, مُحْتَشِمٌ: modest dress is a normal topic here — keep the focus on vocabulary and personal preference, never on judging others.
• Urdu bridge: قمیص، جراب / حجاب، کوٹ (→ coat is مِعْطَفٌ), قیمت (≠ ثَمَنٌ), رنگ (colour is لَوْنٌ).
• TEACHER-WRITTEN ITEMS: on the website this lesson’s patterns, mistakes, sorter,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clothes words prepared at home. Questions 3–5 retrieve D2-L02 (object endings, مَعَ) and D2-L01 (agreement).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Masculine item → هٰذَا + masculine colour. Feminine item (ـةٌ) → هٰذِهِ + feminine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قمیص (as in shalwar qamīz) → قَمِيصٌ (shirt). حجاب → حِجَابٌ. مناسب → مُنَاسِبٌ (suitable / fits). قیمت is Arabic قِيمَةٌ (value); for “price” Arabic prefers ثَمَنٌ → كَمْ ثَمَنُهُ؟ Colours: Urdu رنگ is Persian — the Arabic is لَوْنٌ.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Clothes and accessories (website vocabulary (1 of 2)). Hear → Say → See → Use. Transliteration is printed for Core students (cover it for Develop/Stretch).
Each card shows the plural and the demonstrative (this). Words ending in ـةٌ are feminine → هٰذِهِ. Note: فُسْتَانٌ (dress) is MASCULINE → هٰذَا الفُسْتَانُ.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Clothes and accessories (website vocabulary (2 of 2)). Hear → Say → See → Use. Transliteration is printed for Core students (cover it for Develop/Stretch).
Each card shows the plural and the demonstrative (this). Words ending in ـةٌ are feminine → هٰذِهِ. Note: فُسْتَانٌ (dress) is MASCULINE → هٰذَا الفُسْتَانُ.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Shopping language (website vocabulary (1 of 2)). Hear → Say → See → Use. Transliteration is printed for Core students (cover it for Develop/Stretch).
Shop language: learn كَمْ ثَمَنُهُ؟ (masc. item) and كَمْ ثَمَنُهَا؟ (fem. item) as a pair. Plurals of THINGS take a feminine singular adjective: أَحْذِيَةٌ وَاسِعَةٌ.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Shopping language (website vocabulary (2 of 2)). Hear → Say → See → Use. Transliteration is printed for Core students (cover it for Develop/Stretch).
FLEX: teach if time allows; otherwise these are on the website vocabulary tab for homework.
Shop language: learn كَمْ ثَمَنُهُ؟ (masc. item) and كَمْ ثَمَنُهَا؟ (fem. item) as a pair. Plurals of THINGS take a feminine singular adjective: أَحْذِيَةٌ وَاسِعَةٌ.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and suitability (website vocabulary (1 of 2)). Hear → Say → See → Use. Transliteration is printed for Core students (cover it for Develop/Stretch).
FLEX: teach if time allows; otherwise these are on the website vocabulary tab for homework.
Style adjectives (FLEX here — taught fully in D2-L04).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and suitability (website vocabulary (2 of 2)). Hear → Say → See → Use. Transliteration is printed for Core students (cover it for Develop/Stretch).
FLEX: teach if time allows; otherwise these are on the website vocabulary tab for homework.
Style adjectives (FLEX here — taught fully in D2-L04).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“This item” (the demonstrative agrees with the noun) and “Colour and size agreement” (adjectives follow the noun and agree in gender and definiteness). Colours from the website quiz and picture game.
Website common error: هٰذَا السُّتْرَةُ ✗ → هٰذِهِ السُّتْرَةُ ✓.
Colour pattern (Stretch): أَفْعَلُ → فَعْلَاءُ (أَزْرَقُ / زَرْقَاءُ, أَخْضَرُ / خَضْرَاءُ, أَصْفَرُ / صَفْرَاءُ).
Quick-fire: show an item on camera; students say هٰذَا / هٰذِهِ + the item + its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“Ask price with pronoun” (the suffix refers back to the item) and “Polite request” (أُرِيدُ أَنْ أُجَرِّبَ / هَلْ لَدَيْكُمْ …؟). أَنْ + subjunctive recycles D1-L04.
Prices: the website uses جُنَيْهًا (pound) — students may use جُنَيْهًا إِسْتَرْلِينِيًّا or just the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“Select the correct demonstrative, make colour and size agree, ask about price and request an item politely.”
• This item: The demonstrative agrees with the noun.
• Colour and size agreement: Adjectives follow the noun and agree in gender and definiteness.
• Ask price with pronoun: The suffix refers back to the item.
• Polite request: Use a complete polite request in a shop.
Website common error: Do not use هٰذَا with a feminine item or leave the adjective in the wrong gender.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teacher plays the customer (website listening scene: Sara buys a jacket), thinking aloud about gender at every step. Then repeat with a masculine item (مِعْطَفٌ أَسْوَدُ) and students call out the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Clothes and Accessories — Vocabulary and Shopping”)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After يَلْبَسُ the item takes -an (accusative): قَمِيصًا أَزْرَقَ, فُسْتَانًا أَحْمَرَ — recognition only. Other cards for homework: سِرْوَالًا أَسْوَدَ, مِعْطَفًا أَخْضَرَ, حِذَاءً رِيَاضِيًّا أَبْيَضَ.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Clothes and Accessories — Vocabulary and Shopping”)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After يَلْبَسُ the item takes -an (accusative): قَمِيصًا أَزْرَقَ, فُسْتَانًا أَحْمَرَ — recognition only. Other cards for homework: سِرْوَالًا أَسْوَدَ, مِعْطَفًا أَخْضَرَ, حِذَاءً رِيَاضِيًّا أَبْيَضَ.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Check the demonstrative, the colour and the price question against the item.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Check the demonstrative, the colour and the price question against the item.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6.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دَخَلَتْ سَارَةُ مَتْجَرَ المَلَابِسِ وَقَالَتْ: أُرِيدُ أَنْ أُجَرِّبَ هٰذِهِ السُّتْرَةَ الزَّرْقَاءَ. سَأَلَتْ عَنِ المَقَاسِ لِأَنَّهَا كَانَتْ ضَيِّقَةً نَوْعًا مَا. أَحْضَرَتِ البَائِعَةُ مَقَاسًا أَكْبَرَ، وَكَانَتِ السُّتْرَةُ مُنَاسِبَةً وَمُرِيحَةً. سَأَلَتْ سَارَةُ: كَمْ ثَمَنُهَا؟ فَقَالَتِ البَائِعَةُ إِنَّ عَلَيْهَا تَخْفِيضًا وَثَمَنَهَا خَمْسَةٌ وَثَلَاثُونَ جُنَيْهًا.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هَلْ تُرِيدُ أَنْ تُجَرِّبَهُ؟ (Do you want to try it on?)
B: نَعَمْ، وَأُرِيدُ مَقَاسًا أَكْبَرَ. (Yes, and I want a larger size.)
Website prompts (order changed for routes). Website model continues: A: هَلْ تُرِيدُ أَنْ تُجَرِّبَهُ؟ (Do you want to try it on?) B: نَعَمْ، وَأُرِيدُ مَقَاسًا أَكْبَرَ. (Yes, and I want a bigger size.) — pairs can extend it into a full shop role-play (customer + assistant).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100–120 Arabic words about a shopping trip for clothes. Describe what you need, colours, sizes, prices, what you try on, what you buy and why.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هَلْ لَدَيْكُمْ هٰذَا المِعْطَفُ بِمَقَاسٍ أَكْبَرَ؟ · أَسْوَدَ، بُنِّيًّا · كَمْ ثَمَنُهُ؟ · اشْتَرَيْتُ … لِأَنَّهُمَا عَمَلِيَّانِ. Stretch: the model is in the PAST (ذَهَبْتُ، رَأَيْتُ، جَرَّبْتُ، اشْتَرَيْتُ) — a good challenge for confident writers.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(D2-L04 · Fashion and Identity — Opinions on Style and Dress) will spend class time USING this language, so students prepare it tonight — short, simple, easy to access (school guidance: “Simple, Short, Interesting, Relevant, Easy to access”). The five words come from the website D2-L04 vocabulary (style adjectives).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D2  ·  D2-L03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D2-L03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Clothes and Accessories — Vocabulary and Shopping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المَلَابِسُ وَالإِكْسِسْوَارَاتُ — المُفْرَدَاتُ وَالتَّسَوُّقُ</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Name clothes and accessories, choose </a:t>
            </a:r>
            <a:pPr algn="l" indent="0" marL="0">
              <a:buNone/>
            </a:pPr>
            <a:r>
              <a:rPr lang="ar-SA" altLang="en-US" sz="1800" dirty="0">
                <a:solidFill>
                  <a:srgbClr val="C6D2E6"/>
                </a:solidFill>
                <a:latin typeface="Amiri" pitchFamily="2" charset="-78"/>
                <a:cs typeface="Amiri" pitchFamily="2" charset="-78"/>
              </a:rPr>
              <a:t>هٰذَا</a:t>
            </a:r>
            <a:pPr algn="l" indent="0" marL="0">
              <a:buNone/>
            </a:pPr>
            <a:r>
              <a:rPr lang="en-US" sz="1400" dirty="0">
                <a:solidFill>
                  <a:srgbClr val="C6D2E6"/>
                </a:solidFill>
                <a:latin typeface="Calibri" pitchFamily="34" charset="0"/>
                <a:cs typeface="Amiri" pitchFamily="2" charset="-78"/>
              </a:rPr>
              <a:t> or </a:t>
            </a:r>
            <a:pPr algn="l" indent="0" marL="0">
              <a:buNone/>
            </a:pPr>
            <a:r>
              <a:rPr lang="ar-SA" altLang="en-US" sz="1800" dirty="0">
                <a:solidFill>
                  <a:srgbClr val="C6D2E6"/>
                </a:solidFill>
                <a:latin typeface="Amiri" pitchFamily="2" charset="-78"/>
                <a:cs typeface="Amiri" pitchFamily="2" charset="-78"/>
              </a:rPr>
              <a:t>هٰذِهِ</a:t>
            </a:r>
            <a:pPr algn="l" indent="0" marL="0">
              <a:buNone/>
            </a:pPr>
            <a:r>
              <a:rPr lang="en-US" sz="1400" dirty="0">
                <a:solidFill>
                  <a:srgbClr val="C6D2E6"/>
                </a:solidFill>
                <a:latin typeface="Calibri" pitchFamily="34" charset="0"/>
                <a:cs typeface="Amiri" pitchFamily="2" charset="-78"/>
              </a:rPr>
              <a:t>, make the colour agree (</a:t>
            </a:r>
            <a:pPr algn="l" indent="0" marL="0">
              <a:buNone/>
            </a:pPr>
            <a:r>
              <a:rPr lang="ar-SA" altLang="en-US" sz="1800" dirty="0">
                <a:solidFill>
                  <a:srgbClr val="C6D2E6"/>
                </a:solidFill>
                <a:latin typeface="Amiri" pitchFamily="2" charset="-78"/>
                <a:cs typeface="Amiri" pitchFamily="2" charset="-78"/>
              </a:rPr>
              <a:t>أَزْرَقُ / زَرْقَاءُ</a:t>
            </a:r>
            <a:pPr algn="l" indent="0" marL="0">
              <a:buNone/>
            </a:pPr>
            <a:r>
              <a:rPr lang="en-US" sz="1400" dirty="0">
                <a:solidFill>
                  <a:srgbClr val="C6D2E6"/>
                </a:solidFill>
                <a:latin typeface="Calibri" pitchFamily="34" charset="0"/>
                <a:cs typeface="Amiri" pitchFamily="2" charset="-78"/>
              </a:rPr>
              <a:t>), and shop politely: ask for a size, try something on and ask the price.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D2-L03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D2 › D2-L03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This / this (f.) + colour agreement, then shop phrases.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accurate or not,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D2-L04.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فُسْتَانٌ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coat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dress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shirt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حِذَاءٌ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trousers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belt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يَدْعَمُنِي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support him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supports us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supports me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is elegant and calm.”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أَنِيقٌ وَهَادِئٌ.</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أَنِيقَةٌ وَهَادِئَةٌ.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أَنِيقَةٌ وَهَادِئَةٌ.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get on with my brother.”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أَتَفَاهَمُ مَعَ أَخِي.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أَتَفَاهَمُ أَخِي.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يَتَفَاهَمُ مَعَ أَخِي.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فُسْتَانٌ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coat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dress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shirt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حِذَاءٌ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shoes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trousers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belt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يَدْعَمُنِي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support him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supports us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supports me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D2-L02: -nī = me.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is elegant and calm.”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أَنِيقٌ وَهَادِئٌ.</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أَنِيقَةٌ وَهَادِئَةٌ.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هِيَ أَنِيقَةٌ وَهَادِئَةٌ.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D2-L01: she → -a(tun).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get on with my brother.”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أَتَفَاهَمُ مَعَ أَخِي.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أَتَفَاهَمُ أَخِي.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يَتَفَاهَمُ مَعَ أَخِي.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D2-L02: with = maʿa.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Masculine item → </a:t>
            </a:r>
            <a:pPr algn="l" indent="0" marL="0">
              <a:buNone/>
            </a:pPr>
            <a:r>
              <a:rPr lang="ar-SA" altLang="en-US" sz="1700" b="1" dirty="0">
                <a:solidFill>
                  <a:srgbClr val="1F2A37"/>
                </a:solidFill>
                <a:latin typeface="Amiri" pitchFamily="2" charset="-78"/>
                <a:cs typeface="Amiri" pitchFamily="2" charset="-78"/>
              </a:rPr>
              <a:t>هٰذَا</a:t>
            </a:r>
            <a:pPr algn="l" indent="0" marL="0">
              <a:buNone/>
            </a:pPr>
            <a:r>
              <a:rPr lang="en-US" sz="1300" b="1" dirty="0">
                <a:solidFill>
                  <a:srgbClr val="1F2A37"/>
                </a:solidFill>
                <a:latin typeface="Calibri" pitchFamily="34" charset="0"/>
                <a:cs typeface="Amiri" pitchFamily="2" charset="-78"/>
              </a:rPr>
              <a:t> + masculine colour. Feminine item (</a:t>
            </a:r>
            <a:pPr algn="l" indent="0" marL="0">
              <a:buNone/>
            </a:pPr>
            <a:r>
              <a:rPr lang="ar-SA" altLang="en-US" sz="1700" b="1" dirty="0">
                <a:solidFill>
                  <a:srgbClr val="1F2A37"/>
                </a:solidFill>
                <a:latin typeface="Amiri" pitchFamily="2" charset="-78"/>
                <a:cs typeface="Amiri" pitchFamily="2" charset="-78"/>
              </a:rPr>
              <a:t>ـةٌ</a:t>
            </a:r>
            <a:pPr algn="l" indent="0" marL="0">
              <a:buNone/>
            </a:pPr>
            <a:r>
              <a:rPr lang="en-US" sz="1300" b="1" dirty="0">
                <a:solidFill>
                  <a:srgbClr val="1F2A37"/>
                </a:solidFill>
                <a:latin typeface="Calibri" pitchFamily="34" charset="0"/>
                <a:cs typeface="Amiri" pitchFamily="2" charset="-78"/>
              </a:rPr>
              <a:t>) → </a:t>
            </a:r>
            <a:pPr algn="l" indent="0" marL="0">
              <a:buNone/>
            </a:pPr>
            <a:r>
              <a:rPr lang="ar-SA" altLang="en-US" sz="1700" b="1" dirty="0">
                <a:solidFill>
                  <a:srgbClr val="1F2A37"/>
                </a:solidFill>
                <a:latin typeface="Amiri" pitchFamily="2" charset="-78"/>
                <a:cs typeface="Amiri" pitchFamily="2" charset="-78"/>
              </a:rPr>
              <a:t>هٰذِهِ</a:t>
            </a:r>
            <a:pPr algn="l" indent="0" marL="0">
              <a:buNone/>
            </a:pPr>
            <a:r>
              <a:rPr lang="en-US" sz="1300" b="1" dirty="0">
                <a:solidFill>
                  <a:srgbClr val="1F2A37"/>
                </a:solidFill>
                <a:latin typeface="Calibri" pitchFamily="34" charset="0"/>
                <a:cs typeface="Amiri" pitchFamily="2" charset="-78"/>
              </a:rPr>
              <a:t> + feminine colour.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cs typeface="Amiri" pitchFamily="2" charset="-78"/>
              </a:rPr>
              <a:t>هٰذَا</a:t>
            </a:r>
            <a:pPr rtl="1" algn="ctr" indent="0" marL="0">
              <a:lnSpc>
                <a:spcPct val="120000"/>
              </a:lnSpc>
              <a:buNone/>
            </a:pPr>
            <a:r>
              <a:rPr lang="ar-SA" altLang="en-US" sz="1950" b="1" dirty="0">
                <a:solidFill>
                  <a:srgbClr val="1B3B6F"/>
                </a:solidFill>
                <a:latin typeface="Amiri" pitchFamily="2" charset="-78"/>
                <a:cs typeface="Amiri" pitchFamily="2" charset="-78"/>
              </a:rPr>
              <a:t> القَمِيصُ </a:t>
            </a:r>
            <a:pPr rtl="1" algn="ctr" indent="0" marL="0">
              <a:lnSpc>
                <a:spcPct val="120000"/>
              </a:lnSpc>
              <a:buNone/>
            </a:pPr>
            <a:r>
              <a:rPr lang="ar-SA" altLang="en-US" sz="1950" b="1" dirty="0">
                <a:solidFill>
                  <a:srgbClr val="1D5FBF"/>
                </a:solidFill>
                <a:latin typeface="Amiri" pitchFamily="2" charset="-78"/>
                <a:cs typeface="Amiri" pitchFamily="2" charset="-78"/>
              </a:rPr>
              <a:t>الأَزْرَقُ</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cs typeface="Amiri" pitchFamily="2" charset="-78"/>
              </a:rPr>
              <a:t>هٰذِهِ</a:t>
            </a:r>
            <a:pPr rtl="1" algn="ctr" indent="0" marL="0">
              <a:lnSpc>
                <a:spcPct val="120000"/>
              </a:lnSpc>
              <a:buNone/>
            </a:pPr>
            <a:r>
              <a:rPr lang="ar-SA" altLang="en-US" sz="1950" b="1" dirty="0">
                <a:solidFill>
                  <a:srgbClr val="1B3B6F"/>
                </a:solidFill>
                <a:latin typeface="Amiri" pitchFamily="2" charset="-78"/>
                <a:cs typeface="Amiri" pitchFamily="2" charset="-78"/>
              </a:rPr>
              <a:t> السُّتْرَةُ </a:t>
            </a:r>
            <a:pPr rtl="1" algn="ctr" indent="0" marL="0">
              <a:lnSpc>
                <a:spcPct val="120000"/>
              </a:lnSpc>
              <a:buNone/>
            </a:pPr>
            <a:r>
              <a:rPr lang="ar-SA" altLang="en-US" sz="1950" b="1" dirty="0">
                <a:solidFill>
                  <a:srgbClr val="D6336C"/>
                </a:solidFill>
                <a:latin typeface="Amiri" pitchFamily="2" charset="-78"/>
                <a:cs typeface="Amiri" pitchFamily="2" charset="-78"/>
              </a:rPr>
              <a:t>الزَّرْقَاءُ</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Control the key D2-L03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apply the target grammar: Demonstratives, adjective agreement and polite shopping.</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eight clothes and accessories.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ask “How much is it?” and “Can I try it 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cs typeface="Amiri" pitchFamily="2" charset="-78"/>
              </a:rPr>
              <a:t>هٰذَا / هٰذِهِ</a:t>
            </a:r>
            <a:pPr algn="l" indent="0" marL="0">
              <a:buNone/>
            </a:pPr>
            <a:r>
              <a:rPr lang="en-US" sz="1300" b="1" dirty="0">
                <a:solidFill>
                  <a:srgbClr val="C9780A"/>
                </a:solidFill>
                <a:latin typeface="Calibri" pitchFamily="34" charset="0"/>
                <a:cs typeface="Amiri" pitchFamily="2" charset="-78"/>
              </a:rPr>
              <a:t> and make colours agree.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something is too tight or too loose.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run a complete shop conversation.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describe a shopping trip in the past and explain my choice.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Clothes and accessories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Shopping language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Style and suitability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قَمِيصٌ</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‎قمیص‎ </a:t>
            </a:r>
            <a:pPr indent="0" marL="0">
              <a:buNone/>
            </a:pPr>
            <a:r>
              <a:rPr lang="en-US" sz="950" b="1" dirty="0">
                <a:solidFill>
                  <a:srgbClr val="2E8B57"/>
                </a:solidFill>
                <a:latin typeface="Calibri" pitchFamily="34" charset="0"/>
                <a:cs typeface="Amiri" pitchFamily="2" charset="-78"/>
              </a:rPr>
              <a:t> qamīz · shirt, tunic</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حِجَابٌ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‎حجاب‎ </a:t>
            </a:r>
            <a:pPr indent="0" marL="0">
              <a:buNone/>
            </a:pPr>
            <a:r>
              <a:rPr lang="en-US" sz="950" b="1" dirty="0">
                <a:solidFill>
                  <a:srgbClr val="2E8B57"/>
                </a:solidFill>
                <a:latin typeface="Calibri" pitchFamily="34" charset="0"/>
                <a:cs typeface="Amiri" pitchFamily="2" charset="-78"/>
              </a:rPr>
              <a:t> hijāb · headscarf</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ثَمَنٌ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‎قیمت‎ </a:t>
            </a:r>
            <a:pPr indent="0" marL="0">
              <a:buNone/>
            </a:pPr>
            <a:r>
              <a:rPr lang="en-US" sz="950" b="1" dirty="0">
                <a:solidFill>
                  <a:srgbClr val="2E8B57"/>
                </a:solidFill>
                <a:latin typeface="Calibri" pitchFamily="34" charset="0"/>
                <a:cs typeface="Amiri" pitchFamily="2" charset="-78"/>
              </a:rPr>
              <a:t> qīmat · price (Arabic qīma = value)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لَوْنٌ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‎رنگ‎ </a:t>
            </a:r>
            <a:pPr indent="0" marL="0">
              <a:buNone/>
            </a:pPr>
            <a:r>
              <a:rPr lang="en-US" sz="950" b="1" dirty="0">
                <a:solidFill>
                  <a:srgbClr val="2E8B57"/>
                </a:solidFill>
                <a:latin typeface="Calibri" pitchFamily="34" charset="0"/>
                <a:cs typeface="Amiri" pitchFamily="2" charset="-78"/>
              </a:rPr>
              <a:t> rang · colour (meaning only)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مُنَاسِبٌ</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‎مناسب‎ </a:t>
            </a:r>
            <a:pPr indent="0" marL="0">
              <a:buNone/>
            </a:pPr>
            <a:r>
              <a:rPr lang="en-US" sz="950" b="1" dirty="0">
                <a:solidFill>
                  <a:srgbClr val="2E8B57"/>
                </a:solidFill>
                <a:latin typeface="Calibri" pitchFamily="34" charset="0"/>
                <a:cs typeface="Amiri" pitchFamily="2" charset="-78"/>
              </a:rPr>
              <a:t> munāsib · suitable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Clothes and accessories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قَمِيصٌ</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shirt</a:t>
            </a:r>
            <a:endParaRPr lang="en-US" sz="1350" dirty="0"/>
          </a:p>
          <a:p>
            <a:pPr indent="0" marL="0">
              <a:buNone/>
            </a:pPr>
            <a:r>
              <a:rPr lang="en-US" sz="1100" i="1" dirty="0">
                <a:solidFill>
                  <a:srgbClr val="5A6472"/>
                </a:solidFill>
                <a:latin typeface="Calibri" pitchFamily="34" charset="0"/>
                <a:cs typeface="Amiri" pitchFamily="2" charset="-78"/>
              </a:rPr>
              <a:t>qa-mī-ṣun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قُمْصَانٌ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 القَمِيصُ</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مُذَكَّرٌ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قَمِيصَةٌ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blouse</a:t>
            </a:r>
            <a:endParaRPr lang="en-US" sz="1350" dirty="0"/>
          </a:p>
          <a:p>
            <a:pPr indent="0" marL="0">
              <a:buNone/>
            </a:pPr>
            <a:r>
              <a:rPr lang="en-US" sz="1100" i="1" dirty="0">
                <a:solidFill>
                  <a:srgbClr val="5A6472"/>
                </a:solidFill>
                <a:latin typeface="Calibri" pitchFamily="34" charset="0"/>
                <a:cs typeface="Amiri" pitchFamily="2" charset="-78"/>
              </a:rPr>
              <a:t>qa-mī-ṣa-tun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قَمِيصَاتٌ</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45" name="Text 42"/>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هٰذِهِ القَمِيصَةُ</a:t>
            </a:r>
            <a:endParaRPr lang="ar-SA" sz="135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مُؤَنَّثٌ</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2" name="Shape 4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54" name="Shape 5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سِرْوَالٌ</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trousers</a:t>
            </a:r>
            <a:endParaRPr lang="en-US" sz="1350" dirty="0"/>
          </a:p>
          <a:p>
            <a:pPr indent="0" marL="0">
              <a:buNone/>
            </a:pPr>
            <a:r>
              <a:rPr lang="en-US" sz="1100" i="1" dirty="0">
                <a:solidFill>
                  <a:srgbClr val="5A6472"/>
                </a:solidFill>
                <a:latin typeface="Calibri" pitchFamily="34" charset="0"/>
                <a:cs typeface="Amiri" pitchFamily="2" charset="-78"/>
              </a:rPr>
              <a:t>sir-wā-lun</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سَرَاوِيلُ</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63" name="Text 60"/>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 السِّرْوَالُ</a:t>
            </a:r>
            <a:endParaRPr lang="ar-SA" sz="135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مُذَكَّرٌ</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0" name="Shape 6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72" name="Shape 6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تَنُّورَةٌ</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skirt</a:t>
            </a:r>
            <a:endParaRPr lang="en-US" sz="1350" dirty="0"/>
          </a:p>
          <a:p>
            <a:pPr indent="0" marL="0">
              <a:buNone/>
            </a:pPr>
            <a:r>
              <a:rPr lang="en-US" sz="1100" i="1" dirty="0">
                <a:solidFill>
                  <a:srgbClr val="5A6472"/>
                </a:solidFill>
                <a:latin typeface="Calibri" pitchFamily="34" charset="0"/>
                <a:cs typeface="Amiri" pitchFamily="2" charset="-78"/>
              </a:rPr>
              <a:t>tan-nū-ra-tun</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تَنَانِيرُ</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81" name="Text 78"/>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هٰذِهِ التَّنُّورَةُ</a:t>
            </a:r>
            <a:endParaRPr lang="ar-SA" sz="135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مُؤَنَّثٌ</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88" name="Shape 85"/>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90" name="Shape 8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1" name="Text 8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2" name="Text 8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فُسْتَانٌ</a:t>
            </a:r>
            <a:endParaRPr lang="ar-SA" sz="3000" dirty="0"/>
          </a:p>
        </p:txBody>
      </p:sp>
      <p:sp>
        <p:nvSpPr>
          <p:cNvPr id="93" name="Text 9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dress</a:t>
            </a:r>
            <a:endParaRPr lang="en-US" sz="1350" dirty="0"/>
          </a:p>
          <a:p>
            <a:pPr indent="0" marL="0">
              <a:buNone/>
            </a:pPr>
            <a:r>
              <a:rPr lang="en-US" sz="1100" i="1" dirty="0">
                <a:solidFill>
                  <a:srgbClr val="5A6472"/>
                </a:solidFill>
                <a:latin typeface="Calibri" pitchFamily="34" charset="0"/>
                <a:cs typeface="Amiri" pitchFamily="2" charset="-78"/>
              </a:rPr>
              <a:t>fus-tā-nun</a:t>
            </a:r>
            <a:endParaRPr lang="en-US" sz="1350" dirty="0"/>
          </a:p>
        </p:txBody>
      </p:sp>
      <p:sp>
        <p:nvSpPr>
          <p:cNvPr id="94" name="Shape 9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6" name="Text 93"/>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فَسَاتِينُ</a:t>
            </a:r>
            <a:endParaRPr lang="ar-SA" sz="1500" dirty="0"/>
          </a:p>
        </p:txBody>
      </p:sp>
      <p:sp>
        <p:nvSpPr>
          <p:cNvPr id="97" name="Shape 9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99" name="Text 96"/>
          <p:cNvSpPr txBox="1"/>
          <p:nvPr/>
        </p:nvSpPr>
        <p:spPr>
          <a:xfrm>
            <a:off x="5614416"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 الفُسْتَانُ</a:t>
            </a:r>
            <a:endParaRPr lang="ar-SA" sz="1350" dirty="0"/>
          </a:p>
        </p:txBody>
      </p:sp>
      <p:sp>
        <p:nvSpPr>
          <p:cNvPr id="100" name="Shape 9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2" name="Text 99"/>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مُذَكَّرٌ</a:t>
            </a:r>
            <a:endParaRPr lang="ar-SA" sz="1500" dirty="0"/>
          </a:p>
        </p:txBody>
      </p:sp>
      <p:sp>
        <p:nvSpPr>
          <p:cNvPr id="103" name="Shape 10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4" name="Shape 101"/>
          <p:cNvSpPr/>
          <p:nvPr/>
        </p:nvSpPr>
        <p:spPr>
          <a:xfrm>
            <a:off x="566928" y="4261104"/>
            <a:ext cx="310896" cy="310896"/>
          </a:xfrm>
          <a:prstGeom prst="ellipse">
            <a:avLst/>
          </a:prstGeom>
          <a:solidFill>
            <a:srgbClr val="F4F1EA"/>
          </a:solidFill>
          <a:ln w="12700">
            <a:solidFill>
              <a:srgbClr val="F4F1EA"/>
            </a:solidFill>
            <a:prstDash val="solid"/>
          </a:ln>
        </p:spPr>
      </p:sp>
      <p:sp>
        <p:nvSpPr>
          <p:cNvPr id="105" name="Text 10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06" name="Shape 103"/>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107" name="Text 104"/>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108" name="Shape 10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09" name="Text 10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10" name="Text 10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مِعْطَفٌ</a:t>
            </a:r>
            <a:endParaRPr lang="ar-SA" sz="3000" dirty="0"/>
          </a:p>
        </p:txBody>
      </p:sp>
      <p:sp>
        <p:nvSpPr>
          <p:cNvPr id="111" name="Text 10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coat</a:t>
            </a:r>
            <a:endParaRPr lang="en-US" sz="1350" dirty="0"/>
          </a:p>
          <a:p>
            <a:pPr indent="0" marL="0">
              <a:buNone/>
            </a:pPr>
            <a:r>
              <a:rPr lang="en-US" sz="1100" i="1" dirty="0">
                <a:solidFill>
                  <a:srgbClr val="5A6472"/>
                </a:solidFill>
                <a:latin typeface="Calibri" pitchFamily="34" charset="0"/>
                <a:cs typeface="Amiri" pitchFamily="2" charset="-78"/>
              </a:rPr>
              <a:t>miʿ-ṭa-fun</a:t>
            </a:r>
            <a:endParaRPr lang="en-US" sz="1350" dirty="0"/>
          </a:p>
        </p:txBody>
      </p:sp>
      <p:sp>
        <p:nvSpPr>
          <p:cNvPr id="112" name="Shape 109"/>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3" name="Text 110"/>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4" name="Text 111"/>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مَعَاطِفُ</a:t>
            </a:r>
            <a:endParaRPr lang="ar-SA" sz="1500" dirty="0"/>
          </a:p>
        </p:txBody>
      </p:sp>
      <p:sp>
        <p:nvSpPr>
          <p:cNvPr id="115" name="Shape 112"/>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6" name="Text 113"/>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117" name="Text 114"/>
          <p:cNvSpPr txBox="1"/>
          <p:nvPr/>
        </p:nvSpPr>
        <p:spPr>
          <a:xfrm>
            <a:off x="179222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 المِعْطَفُ</a:t>
            </a:r>
            <a:endParaRPr lang="ar-SA" sz="1350" dirty="0"/>
          </a:p>
        </p:txBody>
      </p:sp>
      <p:sp>
        <p:nvSpPr>
          <p:cNvPr id="118" name="Shape 115"/>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9" name="Text 116"/>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20" name="Text 117"/>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مُذَكَّرٌ</a:t>
            </a:r>
            <a:endParaRPr lang="ar-SA" sz="1500" dirty="0"/>
          </a:p>
        </p:txBody>
      </p:sp>
      <p:sp>
        <p:nvSpPr>
          <p:cNvPr id="121" name="Text 1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Clothes and accessories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سُتْرَةٌ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jacket</a:t>
            </a:r>
            <a:endParaRPr lang="en-US" sz="1350" dirty="0"/>
          </a:p>
          <a:p>
            <a:pPr indent="0" marL="0">
              <a:buNone/>
            </a:pPr>
            <a:r>
              <a:rPr lang="en-US" sz="1100" i="1" dirty="0">
                <a:solidFill>
                  <a:srgbClr val="5A6472"/>
                </a:solidFill>
                <a:latin typeface="Calibri" pitchFamily="34" charset="0"/>
                <a:cs typeface="Amiri" pitchFamily="2" charset="-78"/>
              </a:rPr>
              <a:t>sut-ra-tun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سُتَرٌ</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هٰذِهِ السُّتْرَةُ</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مُؤَنَّثٌ</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حِذَاءٌ</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shoes</a:t>
            </a:r>
            <a:endParaRPr lang="en-US" sz="1350" dirty="0"/>
          </a:p>
          <a:p>
            <a:pPr indent="0" marL="0">
              <a:buNone/>
            </a:pPr>
            <a:r>
              <a:rPr lang="en-US" sz="1100" i="1" dirty="0">
                <a:solidFill>
                  <a:srgbClr val="5A6472"/>
                </a:solidFill>
                <a:latin typeface="Calibri" pitchFamily="34" charset="0"/>
                <a:cs typeface="Amiri" pitchFamily="2" charset="-78"/>
              </a:rPr>
              <a:t>ḥi-dhā-ʾun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أَحْذِيَةٌ</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47" name="Text 44"/>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 الحِذَاءُ</a:t>
            </a:r>
            <a:endParaRPr lang="ar-SA" sz="135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مُذَكَّرٌ</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4" name="Shape 51"/>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حِجَابٌ</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headscarf</a:t>
            </a:r>
            <a:endParaRPr lang="en-US" sz="1350" dirty="0"/>
          </a:p>
          <a:p>
            <a:pPr indent="0" marL="0">
              <a:buNone/>
            </a:pPr>
            <a:r>
              <a:rPr lang="en-US" sz="1100" i="1" dirty="0">
                <a:solidFill>
                  <a:srgbClr val="5A6472"/>
                </a:solidFill>
                <a:latin typeface="Calibri" pitchFamily="34" charset="0"/>
                <a:cs typeface="Amiri" pitchFamily="2" charset="-78"/>
              </a:rPr>
              <a:t>ḥi-jā-bun</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أَحْجِبَةٌ</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63" name="Text 60"/>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 الحِجَابُ</a:t>
            </a:r>
            <a:endParaRPr lang="ar-SA" sz="135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مُذَكَّرٌ</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70" name="Shape 6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قُبَّعَةٌ</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hat</a:t>
            </a:r>
            <a:endParaRPr lang="en-US" sz="1350" dirty="0"/>
          </a:p>
          <a:p>
            <a:pPr indent="0" marL="0">
              <a:buNone/>
            </a:pPr>
            <a:r>
              <a:rPr lang="en-US" sz="1100" i="1" dirty="0">
                <a:solidFill>
                  <a:srgbClr val="5A6472"/>
                </a:solidFill>
                <a:latin typeface="Calibri" pitchFamily="34" charset="0"/>
                <a:cs typeface="Amiri" pitchFamily="2" charset="-78"/>
              </a:rPr>
              <a:t>qub-ba-ʿa-tun</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6" name="Text 7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قُبَّعَاتٌ</a:t>
            </a:r>
            <a:endParaRPr lang="ar-SA" sz="150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79" name="Text 76"/>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هٰذِهِ القُبَّعَةُ</a:t>
            </a:r>
            <a:endParaRPr lang="ar-SA" sz="135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مُؤَنَّثٌ</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86" name="Shape 83"/>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حِزَامٌ</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belt</a:t>
            </a:r>
            <a:endParaRPr lang="en-US" sz="1350" dirty="0"/>
          </a:p>
          <a:p>
            <a:pPr indent="0" marL="0">
              <a:buNone/>
            </a:pPr>
            <a:r>
              <a:rPr lang="en-US" sz="1100" i="1" dirty="0">
                <a:solidFill>
                  <a:srgbClr val="5A6472"/>
                </a:solidFill>
                <a:latin typeface="Calibri" pitchFamily="34" charset="0"/>
                <a:cs typeface="Amiri" pitchFamily="2" charset="-78"/>
              </a:rPr>
              <a:t>ḥi-zā-mun</a:t>
            </a:r>
            <a:endParaRPr lang="en-US" sz="1350" dirty="0"/>
          </a:p>
        </p:txBody>
      </p:sp>
      <p:sp>
        <p:nvSpPr>
          <p:cNvPr id="90" name="Shape 8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2" name="Text 89"/>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أَحْزِمَةٌ</a:t>
            </a:r>
            <a:endParaRPr lang="ar-SA" sz="1500" dirty="0"/>
          </a:p>
        </p:txBody>
      </p:sp>
      <p:sp>
        <p:nvSpPr>
          <p:cNvPr id="93" name="Shape 9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95" name="Text 92"/>
          <p:cNvSpPr txBox="1"/>
          <p:nvPr/>
        </p:nvSpPr>
        <p:spPr>
          <a:xfrm>
            <a:off x="5614416"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 الحِزَامُ</a:t>
            </a:r>
            <a:endParaRPr lang="ar-SA" sz="1350" dirty="0"/>
          </a:p>
        </p:txBody>
      </p:sp>
      <p:sp>
        <p:nvSpPr>
          <p:cNvPr id="96" name="Shape 9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8" name="Text 9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مُذَكَّرٌ</a:t>
            </a:r>
            <a:endParaRPr lang="ar-SA" sz="1500" dirty="0"/>
          </a:p>
        </p:txBody>
      </p:sp>
      <p:sp>
        <p:nvSpPr>
          <p:cNvPr id="99" name="Shape 9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Shape 97"/>
          <p:cNvSpPr/>
          <p:nvPr/>
        </p:nvSpPr>
        <p:spPr>
          <a:xfrm>
            <a:off x="566928" y="4261104"/>
            <a:ext cx="310896" cy="310896"/>
          </a:xfrm>
          <a:prstGeom prst="ellipse">
            <a:avLst/>
          </a:prstGeom>
          <a:solidFill>
            <a:srgbClr val="F4F1EA"/>
          </a:solidFill>
          <a:ln w="12700">
            <a:solidFill>
              <a:srgbClr val="F4F1EA"/>
            </a:solidFill>
            <a:prstDash val="solid"/>
          </a:ln>
        </p:spPr>
      </p:sp>
      <p:sp>
        <p:nvSpPr>
          <p:cNvPr id="101" name="Text 9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02" name="Shape 99"/>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103" name="Text 100"/>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104" name="Shape 10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05" name="Text 10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06" name="Text 10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حَقِيبَةٌ</a:t>
            </a:r>
            <a:endParaRPr lang="ar-SA" sz="3000" dirty="0"/>
          </a:p>
        </p:txBody>
      </p:sp>
      <p:sp>
        <p:nvSpPr>
          <p:cNvPr id="107" name="Text 10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bag</a:t>
            </a:r>
            <a:endParaRPr lang="en-US" sz="1350" dirty="0"/>
          </a:p>
          <a:p>
            <a:pPr indent="0" marL="0">
              <a:buNone/>
            </a:pPr>
            <a:r>
              <a:rPr lang="en-US" sz="1100" i="1" dirty="0">
                <a:solidFill>
                  <a:srgbClr val="5A6472"/>
                </a:solidFill>
                <a:latin typeface="Calibri" pitchFamily="34" charset="0"/>
                <a:cs typeface="Amiri" pitchFamily="2" charset="-78"/>
              </a:rPr>
              <a:t>ḥa-qī-ba-tun</a:t>
            </a:r>
            <a:endParaRPr lang="en-US" sz="1350" dirty="0"/>
          </a:p>
        </p:txBody>
      </p:sp>
      <p:sp>
        <p:nvSpPr>
          <p:cNvPr id="108" name="Shape 105"/>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9" name="Text 106"/>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0" name="Text 107"/>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حَقَائِبُ</a:t>
            </a:r>
            <a:endParaRPr lang="ar-SA" sz="1500" dirty="0"/>
          </a:p>
        </p:txBody>
      </p:sp>
      <p:sp>
        <p:nvSpPr>
          <p:cNvPr id="111" name="Shape 108"/>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2" name="Text 109"/>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113" name="Text 110"/>
          <p:cNvSpPr txBox="1"/>
          <p:nvPr/>
        </p:nvSpPr>
        <p:spPr>
          <a:xfrm>
            <a:off x="179222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هٰذِهِ الحَقِيبَةُ</a:t>
            </a:r>
            <a:endParaRPr lang="ar-SA" sz="1350" dirty="0"/>
          </a:p>
        </p:txBody>
      </p:sp>
      <p:sp>
        <p:nvSpPr>
          <p:cNvPr id="114" name="Shape 111"/>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6" name="Text 113"/>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مُؤَنَّثٌ</a:t>
            </a:r>
            <a:endParaRPr lang="ar-SA" sz="1500" dirty="0"/>
          </a:p>
        </p:txBody>
      </p:sp>
      <p:sp>
        <p:nvSpPr>
          <p:cNvPr id="117" name="Text 1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Shopping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مَقَاسٌ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size</a:t>
            </a:r>
            <a:endParaRPr lang="en-US" sz="1350" dirty="0"/>
          </a:p>
          <a:p>
            <a:pPr indent="0" marL="0">
              <a:buNone/>
            </a:pPr>
            <a:r>
              <a:rPr lang="en-US" sz="1100" i="1" dirty="0">
                <a:solidFill>
                  <a:srgbClr val="5A6472"/>
                </a:solidFill>
                <a:latin typeface="Calibri" pitchFamily="34" charset="0"/>
                <a:cs typeface="Amiri" pitchFamily="2" charset="-78"/>
              </a:rPr>
              <a:t>ma-qā-sun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غُرْفَةُ القِيَاسِ</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changing room</a:t>
            </a:r>
            <a:endParaRPr lang="en-US" sz="1350" dirty="0"/>
          </a:p>
          <a:p>
            <a:pPr indent="0" marL="0">
              <a:buNone/>
            </a:pPr>
            <a:r>
              <a:rPr lang="en-US" sz="1100" i="1" dirty="0">
                <a:solidFill>
                  <a:srgbClr val="5A6472"/>
                </a:solidFill>
                <a:latin typeface="Calibri" pitchFamily="34" charset="0"/>
                <a:cs typeface="Amiri" pitchFamily="2" charset="-78"/>
              </a:rPr>
              <a:t>ghur-fa-tu al-qi-yā-si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ثَمَنٌ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price</a:t>
            </a:r>
            <a:endParaRPr lang="en-US" sz="1350" dirty="0"/>
          </a:p>
          <a:p>
            <a:pPr indent="0" marL="0">
              <a:buNone/>
            </a:pPr>
            <a:r>
              <a:rPr lang="en-US" sz="1100" i="1" dirty="0">
                <a:solidFill>
                  <a:srgbClr val="5A6472"/>
                </a:solidFill>
                <a:latin typeface="Calibri" pitchFamily="34" charset="0"/>
                <a:cs typeface="Amiri" pitchFamily="2" charset="-78"/>
              </a:rPr>
              <a:t>tha-ma-nun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تَخْفِيضٌ</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discount</a:t>
            </a:r>
            <a:endParaRPr lang="en-US" sz="1350" dirty="0"/>
          </a:p>
          <a:p>
            <a:pPr indent="0" marL="0">
              <a:buNone/>
            </a:pPr>
            <a:r>
              <a:rPr lang="en-US" sz="1100" i="1" dirty="0">
                <a:solidFill>
                  <a:srgbClr val="5A6472"/>
                </a:solidFill>
                <a:latin typeface="Calibri" pitchFamily="34" charset="0"/>
                <a:cs typeface="Amiri" pitchFamily="2" charset="-78"/>
              </a:rPr>
              <a:t>takh-fī-ḍun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2" name="Shape 39"/>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4" name="Text 4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مُنَاسِبٌ / مُنَاسِبَةٌ</a:t>
            </a:r>
            <a:endParaRPr lang="ar-SA" sz="3000" dirty="0"/>
          </a:p>
        </p:txBody>
      </p:sp>
      <p:sp>
        <p:nvSpPr>
          <p:cNvPr id="45" name="Text 4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suitable/fits</a:t>
            </a:r>
            <a:endParaRPr lang="en-US" sz="1350" dirty="0"/>
          </a:p>
          <a:p>
            <a:pPr indent="0" marL="0">
              <a:buNone/>
            </a:pPr>
            <a:r>
              <a:rPr lang="en-US" sz="1100" i="1" dirty="0">
                <a:solidFill>
                  <a:srgbClr val="5A6472"/>
                </a:solidFill>
                <a:latin typeface="Calibri" pitchFamily="34" charset="0"/>
                <a:cs typeface="Amiri" pitchFamily="2" charset="-78"/>
              </a:rPr>
              <a:t>mu-nā-si-bun / mu-nā-si-ba-tun</a:t>
            </a:r>
            <a:endParaRPr lang="en-US" sz="1350" dirty="0"/>
          </a:p>
        </p:txBody>
      </p:sp>
      <p:sp>
        <p:nvSpPr>
          <p:cNvPr id="46" name="Shape 4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8" name="Text 45"/>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مُنَاسِبُونَ</a:t>
            </a:r>
            <a:endParaRPr lang="ar-SA" sz="1500" dirty="0"/>
          </a:p>
        </p:txBody>
      </p:sp>
      <p:sp>
        <p:nvSpPr>
          <p:cNvPr id="49" name="Shape 4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1" name="Text 4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مُنَاسِبَةٌ</a:t>
            </a:r>
            <a:endParaRPr lang="ar-SA" sz="1500" dirty="0"/>
          </a:p>
        </p:txBody>
      </p:sp>
      <p:sp>
        <p:nvSpPr>
          <p:cNvPr id="52" name="Shape 4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4" name="Text 5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مُنَاسِبٌ</a:t>
            </a:r>
            <a:endParaRPr lang="ar-SA" sz="15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58" name="Shape 55"/>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60" name="Text 5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وَاسِعٌ / وَاسِعَةٌ</a:t>
            </a:r>
            <a:endParaRPr lang="ar-SA" sz="3000" dirty="0"/>
          </a:p>
        </p:txBody>
      </p:sp>
      <p:sp>
        <p:nvSpPr>
          <p:cNvPr id="61" name="Text 5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loose/wide</a:t>
            </a:r>
            <a:endParaRPr lang="en-US" sz="1350" dirty="0"/>
          </a:p>
          <a:p>
            <a:pPr indent="0" marL="0">
              <a:buNone/>
            </a:pPr>
            <a:r>
              <a:rPr lang="en-US" sz="1100" i="1" dirty="0">
                <a:solidFill>
                  <a:srgbClr val="5A6472"/>
                </a:solidFill>
                <a:latin typeface="Calibri" pitchFamily="34" charset="0"/>
                <a:cs typeface="Amiri" pitchFamily="2" charset="-78"/>
              </a:rPr>
              <a:t>wā-si-ʿun / wā-si-ʿa-tun</a:t>
            </a:r>
            <a:endParaRPr lang="en-US" sz="1350" dirty="0"/>
          </a:p>
        </p:txBody>
      </p:sp>
      <p:sp>
        <p:nvSpPr>
          <p:cNvPr id="62" name="Shape 59"/>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4" name="Text 61"/>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مَلَابِسُ وَاسِعَةٌ</a:t>
            </a:r>
            <a:endParaRPr lang="ar-SA" sz="1500" dirty="0"/>
          </a:p>
        </p:txBody>
      </p:sp>
      <p:sp>
        <p:nvSpPr>
          <p:cNvPr id="65" name="Shape 62"/>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7" name="Text 64"/>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وَاسِعَةٌ</a:t>
            </a:r>
            <a:endParaRPr lang="ar-SA" sz="1500" dirty="0"/>
          </a:p>
        </p:txBody>
      </p:sp>
      <p:sp>
        <p:nvSpPr>
          <p:cNvPr id="68" name="Shape 65"/>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0" name="Text 67"/>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وَاسِعٌ</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Shopping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ضَيِّقٌ / ضَيِّقَةٌ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tight/narrow</a:t>
            </a:r>
            <a:endParaRPr lang="en-US" sz="1350" dirty="0"/>
          </a:p>
          <a:p>
            <a:pPr indent="0" marL="0">
              <a:buNone/>
            </a:pPr>
            <a:r>
              <a:rPr lang="en-US" sz="1100" i="1" dirty="0">
                <a:solidFill>
                  <a:srgbClr val="5A6472"/>
                </a:solidFill>
                <a:latin typeface="Calibri" pitchFamily="34" charset="0"/>
                <a:cs typeface="Amiri" pitchFamily="2" charset="-78"/>
              </a:rPr>
              <a:t>ḍay-yi-qun / ḍay-yi-qa-tun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مَلَابِسُ ضَيِّقَةٌ</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ضَيِّقَةٌ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ضَيِّقٌ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أُرِيدُ أَنْ أُجَرِّبَ</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want to try on</a:t>
            </a:r>
            <a:endParaRPr lang="en-US" sz="1350" dirty="0"/>
          </a:p>
          <a:p>
            <a:pPr indent="0" marL="0">
              <a:buNone/>
            </a:pPr>
            <a:r>
              <a:rPr lang="en-US" sz="1100" i="1" dirty="0">
                <a:solidFill>
                  <a:srgbClr val="5A6472"/>
                </a:solidFill>
                <a:latin typeface="Calibri" pitchFamily="34" charset="0"/>
                <a:cs typeface="Amiri" pitchFamily="2" charset="-78"/>
              </a:rPr>
              <a:t>u-rī-du an u-jar-ri-ba</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هَلْ لَدَيْكُمْ...؟</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 you have…?</a:t>
            </a:r>
            <a:endParaRPr lang="en-US" sz="1350" dirty="0"/>
          </a:p>
          <a:p>
            <a:pPr indent="0" marL="0">
              <a:buNone/>
            </a:pPr>
            <a:r>
              <a:rPr lang="en-US" sz="1100" i="1" dirty="0">
                <a:solidFill>
                  <a:srgbClr val="5A6472"/>
                </a:solidFill>
                <a:latin typeface="Calibri" pitchFamily="34" charset="0"/>
                <a:cs typeface="Amiri" pitchFamily="2" charset="-78"/>
              </a:rPr>
              <a:t>hal la-day-kum...?</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48" name="Shape 4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كَمْ ثَمَنُهُ / ثَمَنُهَا؟</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much is it?</a:t>
            </a:r>
            <a:endParaRPr lang="en-US" sz="1350" dirty="0"/>
          </a:p>
          <a:p>
            <a:pPr indent="0" marL="0">
              <a:buNone/>
            </a:pPr>
            <a:r>
              <a:rPr lang="en-US" sz="1100" i="1" dirty="0">
                <a:solidFill>
                  <a:srgbClr val="5A6472"/>
                </a:solidFill>
                <a:latin typeface="Calibri" pitchFamily="34" charset="0"/>
                <a:cs typeface="Amiri" pitchFamily="2" charset="-78"/>
              </a:rPr>
              <a:t>kam tha-ma-nu-hu / tha-ma-nu-hā?</a:t>
            </a:r>
            <a:endParaRPr lang="en-US" sz="135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55" name="Text 5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أَبْحَثُ عَنْ</a:t>
            </a:r>
            <a:endParaRPr lang="ar-SA" sz="3000" dirty="0"/>
          </a:p>
        </p:txBody>
      </p:sp>
      <p:sp>
        <p:nvSpPr>
          <p:cNvPr id="56" name="Text 5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looking for</a:t>
            </a:r>
            <a:endParaRPr lang="en-US" sz="1350" dirty="0"/>
          </a:p>
          <a:p>
            <a:pPr indent="0" marL="0">
              <a:buNone/>
            </a:pPr>
            <a:r>
              <a:rPr lang="en-US" sz="1100" i="1" dirty="0">
                <a:solidFill>
                  <a:srgbClr val="5A6472"/>
                </a:solidFill>
                <a:latin typeface="Calibri" pitchFamily="34" charset="0"/>
                <a:cs typeface="Amiri" pitchFamily="2" charset="-78"/>
              </a:rPr>
              <a:t>ab-ḥa-thu ʿan</a:t>
            </a:r>
            <a:endParaRPr lang="en-US" sz="1350" dirty="0"/>
          </a:p>
        </p:txBody>
      </p:sp>
      <p:sp>
        <p:nvSpPr>
          <p:cNvPr id="57" name="Shape 5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66928"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سَأَشْتَرِي</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buy</a:t>
            </a:r>
            <a:endParaRPr lang="en-US" sz="1350" dirty="0"/>
          </a:p>
          <a:p>
            <a:pPr indent="0" marL="0">
              <a:buNone/>
            </a:pPr>
            <a:r>
              <a:rPr lang="en-US" sz="1100" i="1" dirty="0">
                <a:solidFill>
                  <a:srgbClr val="5A6472"/>
                </a:solidFill>
                <a:latin typeface="Calibri" pitchFamily="34" charset="0"/>
                <a:cs typeface="Amiri" pitchFamily="2" charset="-78"/>
              </a:rPr>
              <a:t>sa-ʾash-ta-rī</a:t>
            </a:r>
            <a:endParaRPr lang="en-US" sz="13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Style and suitability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أَنِيقٌ / أَنِيقَةٌ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elegant</a:t>
            </a:r>
            <a:endParaRPr lang="en-US" sz="1350" dirty="0"/>
          </a:p>
          <a:p>
            <a:pPr indent="0" marL="0">
              <a:buNone/>
            </a:pPr>
            <a:r>
              <a:rPr lang="en-US" sz="1100" i="1" dirty="0">
                <a:solidFill>
                  <a:srgbClr val="5A6472"/>
                </a:solidFill>
                <a:latin typeface="Calibri" pitchFamily="34" charset="0"/>
                <a:cs typeface="Amiri" pitchFamily="2" charset="-78"/>
              </a:rPr>
              <a:t>a-nī-qun / a-nī-qa-tun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أَنِيقُونَ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عَصْرِيٌّ / عَصْرِيَّةٌ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modern</a:t>
            </a:r>
            <a:endParaRPr lang="en-US" sz="1350" dirty="0"/>
          </a:p>
          <a:p>
            <a:pPr indent="0" marL="0">
              <a:buNone/>
            </a:pPr>
            <a:r>
              <a:rPr lang="en-US" sz="1100" i="1" dirty="0">
                <a:solidFill>
                  <a:srgbClr val="5A6472"/>
                </a:solidFill>
                <a:latin typeface="Calibri" pitchFamily="34" charset="0"/>
                <a:cs typeface="Amiri" pitchFamily="2" charset="-78"/>
              </a:rPr>
              <a:t>ʿaṣ-riy-yun / ʿaṣ-riy-ya-tun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عَصْرِيُّونَ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عَصْرِيَّةٌ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عَصْرِيٌّ</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تَقْلِيدِيٌّ / تَقْلِيدِيَّةٌ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traditional</a:t>
            </a:r>
            <a:endParaRPr lang="en-US" sz="1350" dirty="0"/>
          </a:p>
          <a:p>
            <a:pPr indent="0" marL="0">
              <a:buNone/>
            </a:pPr>
            <a:r>
              <a:rPr lang="en-US" sz="1100" i="1" dirty="0">
                <a:solidFill>
                  <a:srgbClr val="5A6472"/>
                </a:solidFill>
                <a:latin typeface="Calibri" pitchFamily="34" charset="0"/>
                <a:cs typeface="Amiri" pitchFamily="2" charset="-78"/>
              </a:rPr>
              <a:t>taq-lī-diy-yun / taq-lī-diy-ya-tun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تَقْلِيدِيُّونَ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تَقْلِيدِيَّةٌ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تَقْلِيدِيٌّ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رَسْمِيٌّ / رَسْمِيَّةٌ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formal</a:t>
            </a:r>
            <a:endParaRPr lang="en-US" sz="1350" dirty="0"/>
          </a:p>
          <a:p>
            <a:pPr indent="0" marL="0">
              <a:buNone/>
            </a:pPr>
            <a:r>
              <a:rPr lang="en-US" sz="1100" i="1" dirty="0">
                <a:solidFill>
                  <a:srgbClr val="5A6472"/>
                </a:solidFill>
                <a:latin typeface="Calibri" pitchFamily="34" charset="0"/>
                <a:cs typeface="Amiri" pitchFamily="2" charset="-78"/>
              </a:rPr>
              <a:t>ras-miy-yun / ras-miy-ya-tun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رَسْمِيُّونَ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رَسْمِيَّةٌ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رَسْمِيٌّ</a:t>
            </a:r>
            <a:endParaRPr lang="ar-SA" sz="15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Style and suitability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غَيْرُ رَسْمِيٍّ / غَيْرُ رَسْمِيَّةٍ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casual</a:t>
            </a:r>
            <a:endParaRPr lang="en-US" sz="1350" dirty="0"/>
          </a:p>
          <a:p>
            <a:pPr indent="0" marL="0">
              <a:buNone/>
            </a:pPr>
            <a:r>
              <a:rPr lang="en-US" sz="1100" i="1" dirty="0">
                <a:solidFill>
                  <a:srgbClr val="5A6472"/>
                </a:solidFill>
                <a:latin typeface="Calibri" pitchFamily="34" charset="0"/>
                <a:cs typeface="Amiri" pitchFamily="2" charset="-78"/>
              </a:rPr>
              <a:t>ghay-ru ras-miy-yin / ghay-ru ras-miy-ya-tin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25" name="Shape 22"/>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مُحْتَشِمٌ / مُحْتَشِمَةٌ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modest</a:t>
            </a:r>
            <a:endParaRPr lang="en-US" sz="1350" dirty="0"/>
          </a:p>
          <a:p>
            <a:pPr indent="0" marL="0">
              <a:buNone/>
            </a:pPr>
            <a:r>
              <a:rPr lang="en-US" sz="1100" i="1" dirty="0">
                <a:solidFill>
                  <a:srgbClr val="5A6472"/>
                </a:solidFill>
                <a:latin typeface="Calibri" pitchFamily="34" charset="0"/>
                <a:cs typeface="Amiri" pitchFamily="2" charset="-78"/>
              </a:rPr>
              <a:t>muḥ-ta-shi-mun / muḥ-ta-shi-ma-tun</a:t>
            </a:r>
            <a:endParaRPr lang="en-US" sz="1350" dirty="0"/>
          </a:p>
        </p:txBody>
      </p:sp>
      <p:sp>
        <p:nvSpPr>
          <p:cNvPr id="29" name="Shape 2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1" name="Text 28"/>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مُحْتَشِمُونَ</a:t>
            </a:r>
            <a:endParaRPr lang="ar-SA" sz="1500" dirty="0"/>
          </a:p>
        </p:txBody>
      </p:sp>
      <p:sp>
        <p:nvSpPr>
          <p:cNvPr id="32" name="Shape 2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4" name="Text 31"/>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مُحْتَشِمَةٌ</a:t>
            </a:r>
            <a:endParaRPr lang="ar-SA" sz="1500" dirty="0"/>
          </a:p>
        </p:txBody>
      </p:sp>
      <p:sp>
        <p:nvSpPr>
          <p:cNvPr id="35" name="Shape 3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7" name="Text 34"/>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مُحْتَشِمٌ</a:t>
            </a:r>
            <a:endParaRPr lang="ar-SA" sz="150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41" name="Shape 38"/>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3" name="Text 40"/>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مُلَوَّنٌ / مُلَوَّنَةٌ</a:t>
            </a:r>
            <a:endParaRPr lang="ar-SA" sz="3000" dirty="0"/>
          </a:p>
        </p:txBody>
      </p:sp>
      <p:sp>
        <p:nvSpPr>
          <p:cNvPr id="44" name="Text 41"/>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colourful</a:t>
            </a:r>
            <a:endParaRPr lang="en-US" sz="1350" dirty="0"/>
          </a:p>
          <a:p>
            <a:pPr indent="0" marL="0">
              <a:buNone/>
            </a:pPr>
            <a:r>
              <a:rPr lang="en-US" sz="1100" i="1" dirty="0">
                <a:solidFill>
                  <a:srgbClr val="5A6472"/>
                </a:solidFill>
                <a:latin typeface="Calibri" pitchFamily="34" charset="0"/>
                <a:cs typeface="Amiri" pitchFamily="2" charset="-78"/>
              </a:rPr>
              <a:t>mu-law-wa-nun / mu-law-wa-na-tun</a:t>
            </a:r>
            <a:endParaRPr lang="en-US" sz="1350" dirty="0"/>
          </a:p>
        </p:txBody>
      </p:sp>
      <p:sp>
        <p:nvSpPr>
          <p:cNvPr id="45" name="Shape 42"/>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7" name="Text 44"/>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مَلَابِسُ مُلَوَّنَةٌ</a:t>
            </a:r>
            <a:endParaRPr lang="ar-SA" sz="1500" dirty="0"/>
          </a:p>
        </p:txBody>
      </p:sp>
      <p:sp>
        <p:nvSpPr>
          <p:cNvPr id="48" name="Shape 45"/>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0" name="Text 47"/>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مُلَوَّنَةٌ</a:t>
            </a:r>
            <a:endParaRPr lang="ar-SA" sz="1500" dirty="0"/>
          </a:p>
        </p:txBody>
      </p:sp>
      <p:sp>
        <p:nvSpPr>
          <p:cNvPr id="51" name="Shape 48"/>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3" name="Text 50"/>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مُلَوَّنٌ</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57" name="Shape 5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بَسِيطٌ / بَسِيطَةٌ</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simple</a:t>
            </a:r>
            <a:endParaRPr lang="en-US" sz="1350" dirty="0"/>
          </a:p>
          <a:p>
            <a:pPr indent="0" marL="0">
              <a:buNone/>
            </a:pPr>
            <a:r>
              <a:rPr lang="en-US" sz="1100" i="1" dirty="0">
                <a:solidFill>
                  <a:srgbClr val="5A6472"/>
                </a:solidFill>
                <a:latin typeface="Calibri" pitchFamily="34" charset="0"/>
                <a:cs typeface="Amiri" pitchFamily="2" charset="-78"/>
              </a:rPr>
              <a:t>ba-sī-ṭun / ba-sī-ṭa-tun</a:t>
            </a:r>
            <a:endParaRPr lang="en-US" sz="1350" dirty="0"/>
          </a:p>
        </p:txBody>
      </p:sp>
      <p:sp>
        <p:nvSpPr>
          <p:cNvPr id="61" name="Shape 58"/>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3" name="Text 60"/>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بُسَطَاءُ</a:t>
            </a:r>
            <a:endParaRPr lang="ar-SA" sz="1500" dirty="0"/>
          </a:p>
        </p:txBody>
      </p:sp>
      <p:sp>
        <p:nvSpPr>
          <p:cNvPr id="64" name="Shape 61"/>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6" name="Text 63"/>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بَسِيطَةٌ</a:t>
            </a:r>
            <a:endParaRPr lang="ar-SA" sz="1500" dirty="0"/>
          </a:p>
        </p:txBody>
      </p:sp>
      <p:sp>
        <p:nvSpPr>
          <p:cNvPr id="67" name="Shape 64"/>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9" name="Text 66"/>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بَسِيطٌ</a:t>
            </a:r>
            <a:endParaRPr lang="ar-SA" sz="15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THIS + COLOUR AGREEMENT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This blue shirt · this blue jacket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هٰذَا · هٰذِهِ · 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7298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 item</a:t>
            </a:r>
            <a:endParaRPr lang="en-US" sz="1100" dirty="0"/>
          </a:p>
        </p:txBody>
      </p:sp>
      <p:sp>
        <p:nvSpPr>
          <p:cNvPr id="17" name="Text 14"/>
          <p:cNvSpPr txBox="1"/>
          <p:nvPr/>
        </p:nvSpPr>
        <p:spPr>
          <a:xfrm>
            <a:off x="366674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 item</a:t>
            </a:r>
            <a:endParaRPr lang="en-US" sz="1100" dirty="0"/>
          </a:p>
        </p:txBody>
      </p:sp>
      <p:sp>
        <p:nvSpPr>
          <p:cNvPr id="18" name="Text 15"/>
          <p:cNvSpPr txBox="1"/>
          <p:nvPr/>
        </p:nvSpPr>
        <p:spPr>
          <a:xfrm>
            <a:off x="53035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Colour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91272" y="2267712"/>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هٰذَا</a:t>
            </a:r>
            <a:pPr rtl="1" algn="ctr" indent="0" marL="0">
              <a:buNone/>
            </a:pPr>
            <a:r>
              <a:rPr lang="ar-SA" altLang="en-US" sz="2400" b="1" dirty="0">
                <a:solidFill>
                  <a:srgbClr val="1B3B6F"/>
                </a:solidFill>
                <a:latin typeface="Amiri" pitchFamily="2" charset="-78"/>
                <a:cs typeface="Amiri" pitchFamily="2" charset="-78"/>
              </a:rPr>
              <a:t> القَمِيصُ </a:t>
            </a:r>
            <a:pPr rtl="1" algn="ctr" indent="0" marL="0">
              <a:buNone/>
            </a:pPr>
            <a:r>
              <a:rPr lang="ar-SA" altLang="en-US" sz="2400" b="1" dirty="0">
                <a:solidFill>
                  <a:srgbClr val="1D5FBF"/>
                </a:solidFill>
                <a:latin typeface="Amiri" pitchFamily="2" charset="-78"/>
                <a:cs typeface="Amiri" pitchFamily="2" charset="-78"/>
              </a:rPr>
              <a:t>الأَزْرَقُ</a:t>
            </a:r>
            <a:endParaRPr lang="ar-SA" sz="2400" dirty="0"/>
          </a:p>
        </p:txBody>
      </p:sp>
      <p:sp>
        <p:nvSpPr>
          <p:cNvPr id="21" name="Text 18"/>
          <p:cNvSpPr txBox="1"/>
          <p:nvPr/>
        </p:nvSpPr>
        <p:spPr>
          <a:xfrm>
            <a:off x="3685032"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هٰذِهِ</a:t>
            </a:r>
            <a:pPr rtl="1" algn="ctr" indent="0" marL="0">
              <a:buNone/>
            </a:pPr>
            <a:r>
              <a:rPr lang="ar-SA" altLang="en-US" sz="2400" b="1" dirty="0">
                <a:solidFill>
                  <a:srgbClr val="1B3B6F"/>
                </a:solidFill>
                <a:latin typeface="Amiri" pitchFamily="2" charset="-78"/>
                <a:cs typeface="Amiri" pitchFamily="2" charset="-78"/>
              </a:rPr>
              <a:t> السُّتْرَةُ </a:t>
            </a:r>
            <a:pPr rtl="1" algn="ctr" indent="0" marL="0">
              <a:buNone/>
            </a:pPr>
            <a:r>
              <a:rPr lang="ar-SA" altLang="en-US" sz="2400" b="1" dirty="0">
                <a:solidFill>
                  <a:srgbClr val="D6336C"/>
                </a:solidFill>
                <a:latin typeface="Amiri" pitchFamily="2" charset="-78"/>
                <a:cs typeface="Amiri" pitchFamily="2" charset="-78"/>
              </a:rPr>
              <a:t>الزَّرْقَاءُ</a:t>
            </a:r>
            <a:endParaRPr lang="ar-SA" sz="2400" dirty="0"/>
          </a:p>
        </p:txBody>
      </p:sp>
      <p:sp>
        <p:nvSpPr>
          <p:cNvPr id="22" name="Text 19"/>
          <p:cNvSpPr txBox="1"/>
          <p:nvPr/>
        </p:nvSpPr>
        <p:spPr>
          <a:xfrm>
            <a:off x="566928" y="2267712"/>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blue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91272" y="3004718"/>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هٰذَا</a:t>
            </a:r>
            <a:pPr rtl="1" algn="ctr" indent="0" marL="0">
              <a:buNone/>
            </a:pPr>
            <a:r>
              <a:rPr lang="ar-SA" altLang="en-US" sz="2400" b="1" dirty="0">
                <a:solidFill>
                  <a:srgbClr val="1B3B6F"/>
                </a:solidFill>
                <a:latin typeface="Amiri" pitchFamily="2" charset="-78"/>
                <a:cs typeface="Amiri" pitchFamily="2" charset="-78"/>
              </a:rPr>
              <a:t> المِعْطَفُ </a:t>
            </a:r>
            <a:pPr rtl="1" algn="ctr" indent="0" marL="0">
              <a:buNone/>
            </a:pPr>
            <a:r>
              <a:rPr lang="ar-SA" altLang="en-US" sz="2400" b="1" dirty="0">
                <a:solidFill>
                  <a:srgbClr val="1D5FBF"/>
                </a:solidFill>
                <a:latin typeface="Amiri" pitchFamily="2" charset="-78"/>
                <a:cs typeface="Amiri" pitchFamily="2" charset="-78"/>
              </a:rPr>
              <a:t>الأَسْوَدُ</a:t>
            </a:r>
            <a:endParaRPr lang="ar-SA" sz="2400" dirty="0"/>
          </a:p>
        </p:txBody>
      </p:sp>
      <p:sp>
        <p:nvSpPr>
          <p:cNvPr id="27" name="Text 24"/>
          <p:cNvSpPr txBox="1"/>
          <p:nvPr/>
        </p:nvSpPr>
        <p:spPr>
          <a:xfrm>
            <a:off x="3685032"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هٰذِهِ</a:t>
            </a:r>
            <a:pPr rtl="1" algn="ctr" indent="0" marL="0">
              <a:buNone/>
            </a:pPr>
            <a:r>
              <a:rPr lang="ar-SA" altLang="en-US" sz="2400" b="1" dirty="0">
                <a:solidFill>
                  <a:srgbClr val="1B3B6F"/>
                </a:solidFill>
                <a:latin typeface="Amiri" pitchFamily="2" charset="-78"/>
                <a:cs typeface="Amiri" pitchFamily="2" charset="-78"/>
              </a:rPr>
              <a:t> الحَقِيبَةُ </a:t>
            </a:r>
            <a:pPr rtl="1" algn="ctr" indent="0" marL="0">
              <a:buNone/>
            </a:pPr>
            <a:r>
              <a:rPr lang="ar-SA" altLang="en-US" sz="2400" b="1" dirty="0">
                <a:solidFill>
                  <a:srgbClr val="D6336C"/>
                </a:solidFill>
                <a:latin typeface="Amiri" pitchFamily="2" charset="-78"/>
                <a:cs typeface="Amiri" pitchFamily="2" charset="-78"/>
              </a:rPr>
              <a:t>السَّوْدَاءُ</a:t>
            </a:r>
            <a:endParaRPr lang="ar-SA" sz="2400" dirty="0"/>
          </a:p>
        </p:txBody>
      </p:sp>
      <p:sp>
        <p:nvSpPr>
          <p:cNvPr id="28" name="Text 25"/>
          <p:cNvSpPr txBox="1"/>
          <p:nvPr/>
        </p:nvSpPr>
        <p:spPr>
          <a:xfrm>
            <a:off x="566928" y="3004718"/>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black</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891272" y="3741725"/>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هٰذَا</a:t>
            </a:r>
            <a:pPr rtl="1" algn="ctr" indent="0" marL="0">
              <a:buNone/>
            </a:pPr>
            <a:r>
              <a:rPr lang="ar-SA" altLang="en-US" sz="2400" b="1" dirty="0">
                <a:solidFill>
                  <a:srgbClr val="1B3B6F"/>
                </a:solidFill>
                <a:latin typeface="Amiri" pitchFamily="2" charset="-78"/>
                <a:cs typeface="Amiri" pitchFamily="2" charset="-78"/>
              </a:rPr>
              <a:t> الحِذَاءُ </a:t>
            </a:r>
            <a:pPr rtl="1" algn="ctr" indent="0" marL="0">
              <a:buNone/>
            </a:pPr>
            <a:r>
              <a:rPr lang="ar-SA" altLang="en-US" sz="2400" b="1" dirty="0">
                <a:solidFill>
                  <a:srgbClr val="1D5FBF"/>
                </a:solidFill>
                <a:latin typeface="Amiri" pitchFamily="2" charset="-78"/>
                <a:cs typeface="Amiri" pitchFamily="2" charset="-78"/>
              </a:rPr>
              <a:t>الأَبْيَضُ</a:t>
            </a:r>
            <a:endParaRPr lang="ar-SA" sz="2400" dirty="0"/>
          </a:p>
        </p:txBody>
      </p:sp>
      <p:sp>
        <p:nvSpPr>
          <p:cNvPr id="33" name="Text 30"/>
          <p:cNvSpPr txBox="1"/>
          <p:nvPr/>
        </p:nvSpPr>
        <p:spPr>
          <a:xfrm>
            <a:off x="3685032"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هٰذِهِ</a:t>
            </a:r>
            <a:pPr rtl="1" algn="ctr" indent="0" marL="0">
              <a:buNone/>
            </a:pPr>
            <a:r>
              <a:rPr lang="ar-SA" altLang="en-US" sz="2400" b="1" dirty="0">
                <a:solidFill>
                  <a:srgbClr val="1B3B6F"/>
                </a:solidFill>
                <a:latin typeface="Amiri" pitchFamily="2" charset="-78"/>
                <a:cs typeface="Amiri" pitchFamily="2" charset="-78"/>
              </a:rPr>
              <a:t> التَّنُّورَةُ </a:t>
            </a:r>
            <a:pPr rtl="1" algn="ctr" indent="0" marL="0">
              <a:buNone/>
            </a:pPr>
            <a:r>
              <a:rPr lang="ar-SA" altLang="en-US" sz="2400" b="1" dirty="0">
                <a:solidFill>
                  <a:srgbClr val="D6336C"/>
                </a:solidFill>
                <a:latin typeface="Amiri" pitchFamily="2" charset="-78"/>
                <a:cs typeface="Amiri" pitchFamily="2" charset="-78"/>
              </a:rPr>
              <a:t>البَيْضَاءُ</a:t>
            </a:r>
            <a:endParaRPr lang="ar-SA" sz="2400" dirty="0"/>
          </a:p>
        </p:txBody>
      </p:sp>
      <p:sp>
        <p:nvSpPr>
          <p:cNvPr id="34" name="Text 31"/>
          <p:cNvSpPr txBox="1"/>
          <p:nvPr/>
        </p:nvSpPr>
        <p:spPr>
          <a:xfrm>
            <a:off x="566928" y="3741725"/>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white</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891272" y="4478731"/>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هٰذَا</a:t>
            </a:r>
            <a:pPr rtl="1" algn="ctr" indent="0" marL="0">
              <a:buNone/>
            </a:pPr>
            <a:r>
              <a:rPr lang="ar-SA" altLang="en-US" sz="2400" b="1" dirty="0">
                <a:solidFill>
                  <a:srgbClr val="1B3B6F"/>
                </a:solidFill>
                <a:latin typeface="Amiri" pitchFamily="2" charset="-78"/>
                <a:cs typeface="Amiri" pitchFamily="2" charset="-78"/>
              </a:rPr>
              <a:t> الفُسْتَانُ </a:t>
            </a:r>
            <a:pPr rtl="1" algn="ctr" indent="0" marL="0">
              <a:buNone/>
            </a:pPr>
            <a:r>
              <a:rPr lang="ar-SA" altLang="en-US" sz="2400" b="1" dirty="0">
                <a:solidFill>
                  <a:srgbClr val="1D5FBF"/>
                </a:solidFill>
                <a:latin typeface="Amiri" pitchFamily="2" charset="-78"/>
                <a:cs typeface="Amiri" pitchFamily="2" charset="-78"/>
              </a:rPr>
              <a:t>الأَحْمَرُ</a:t>
            </a:r>
            <a:endParaRPr lang="ar-SA" sz="2400" dirty="0"/>
          </a:p>
        </p:txBody>
      </p:sp>
      <p:sp>
        <p:nvSpPr>
          <p:cNvPr id="39" name="Text 36"/>
          <p:cNvSpPr txBox="1"/>
          <p:nvPr/>
        </p:nvSpPr>
        <p:spPr>
          <a:xfrm>
            <a:off x="3685032"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هٰذِهِ</a:t>
            </a:r>
            <a:pPr rtl="1" algn="ctr" indent="0" marL="0">
              <a:buNone/>
            </a:pPr>
            <a:r>
              <a:rPr lang="ar-SA" altLang="en-US" sz="2400" b="1" dirty="0">
                <a:solidFill>
                  <a:srgbClr val="1B3B6F"/>
                </a:solidFill>
                <a:latin typeface="Amiri" pitchFamily="2" charset="-78"/>
                <a:cs typeface="Amiri" pitchFamily="2" charset="-78"/>
              </a:rPr>
              <a:t> القُبَّعَةُ </a:t>
            </a:r>
            <a:pPr rtl="1" algn="ctr" indent="0" marL="0">
              <a:buNone/>
            </a:pPr>
            <a:r>
              <a:rPr lang="ar-SA" altLang="en-US" sz="2400" b="1" dirty="0">
                <a:solidFill>
                  <a:srgbClr val="D6336C"/>
                </a:solidFill>
                <a:latin typeface="Amiri" pitchFamily="2" charset="-78"/>
                <a:cs typeface="Amiri" pitchFamily="2" charset="-78"/>
              </a:rPr>
              <a:t>الحَمْرَاءُ</a:t>
            </a:r>
            <a:endParaRPr lang="ar-SA" sz="2400" dirty="0"/>
          </a:p>
        </p:txBody>
      </p:sp>
      <p:sp>
        <p:nvSpPr>
          <p:cNvPr id="40" name="Text 37"/>
          <p:cNvSpPr txBox="1"/>
          <p:nvPr/>
        </p:nvSpPr>
        <p:spPr>
          <a:xfrm>
            <a:off x="566928" y="4478731"/>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red</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891272" y="5215738"/>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هٰذَا</a:t>
            </a:r>
            <a:pPr rtl="1" algn="ctr" indent="0" marL="0">
              <a:buNone/>
            </a:pPr>
            <a:r>
              <a:rPr lang="ar-SA" altLang="en-US" sz="2400" b="1" dirty="0">
                <a:solidFill>
                  <a:srgbClr val="1B3B6F"/>
                </a:solidFill>
                <a:latin typeface="Amiri" pitchFamily="2" charset="-78"/>
                <a:cs typeface="Amiri" pitchFamily="2" charset="-78"/>
              </a:rPr>
              <a:t> الحِزَامُ </a:t>
            </a:r>
            <a:pPr rtl="1" algn="ctr" indent="0" marL="0">
              <a:buNone/>
            </a:pPr>
            <a:r>
              <a:rPr lang="ar-SA" altLang="en-US" sz="2400" b="1" dirty="0">
                <a:solidFill>
                  <a:srgbClr val="1D5FBF"/>
                </a:solidFill>
                <a:latin typeface="Amiri" pitchFamily="2" charset="-78"/>
                <a:cs typeface="Amiri" pitchFamily="2" charset="-78"/>
              </a:rPr>
              <a:t>البُنِّيُّ</a:t>
            </a:r>
            <a:endParaRPr lang="ar-SA" sz="2400" dirty="0"/>
          </a:p>
        </p:txBody>
      </p:sp>
      <p:sp>
        <p:nvSpPr>
          <p:cNvPr id="43" name="Text 40"/>
          <p:cNvSpPr txBox="1"/>
          <p:nvPr/>
        </p:nvSpPr>
        <p:spPr>
          <a:xfrm>
            <a:off x="3685032"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هٰذِهِ</a:t>
            </a:r>
            <a:pPr rtl="1" algn="ctr" indent="0" marL="0">
              <a:buNone/>
            </a:pPr>
            <a:r>
              <a:rPr lang="ar-SA" altLang="en-US" sz="2400" b="1" dirty="0">
                <a:solidFill>
                  <a:srgbClr val="1B3B6F"/>
                </a:solidFill>
                <a:latin typeface="Amiri" pitchFamily="2" charset="-78"/>
                <a:cs typeface="Amiri" pitchFamily="2" charset="-78"/>
              </a:rPr>
              <a:t> الحَقِيبَةُ </a:t>
            </a:r>
            <a:pPr rtl="1" algn="ctr" indent="0" marL="0">
              <a:buNone/>
            </a:pPr>
            <a:r>
              <a:rPr lang="ar-SA" altLang="en-US" sz="2400" b="1" dirty="0">
                <a:solidFill>
                  <a:srgbClr val="D6336C"/>
                </a:solidFill>
                <a:latin typeface="Amiri" pitchFamily="2" charset="-78"/>
                <a:cs typeface="Amiri" pitchFamily="2" charset="-78"/>
              </a:rPr>
              <a:t>البُنِّيَّةُ</a:t>
            </a:r>
            <a:endParaRPr lang="ar-SA" sz="2400" dirty="0"/>
          </a:p>
        </p:txBody>
      </p:sp>
      <p:sp>
        <p:nvSpPr>
          <p:cNvPr id="44" name="Text 41"/>
          <p:cNvSpPr txBox="1"/>
          <p:nvPr/>
        </p:nvSpPr>
        <p:spPr>
          <a:xfrm>
            <a:off x="566928" y="5215738"/>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brown (+ -a)</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Main colours change shape for feminine: aḥmar → ḥamrāʾ. Other colours just add -a: bunnī → bunniyya.</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POLITE SHOPPING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 the shop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فِي المَتْجَرِ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TRY ON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أُرِيدُ أَنْ أُجَرِّبَ</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cs typeface="Amiri" pitchFamily="2" charset="-78"/>
              </a:rPr>
              <a:t>أُرِيدُ أَنْ أُجَرِّبَ هٰذَا المِعْطَفَ.</a:t>
            </a:r>
            <a:endParaRPr lang="ar-SA" sz="27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would like to try on this coat.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 + fatḥa (D1-L04).</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SIZE · DEVELOP</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هَلْ لَدَيْكُمْ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هَلْ لَدَيْكُمْ مَقَاسٌ أَكْبَرُ؟ هٰذِهِ السُّتْرَةُ ضَيِّقَةٌ.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Do you have a bigger size? This jacket is tight.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Tight / loose agree too.</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972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PRICE · CORE</a:t>
            </a:r>
            <a:endParaRPr lang="en-US" sz="850" dirty="0"/>
          </a:p>
        </p:txBody>
      </p:sp>
      <p:sp>
        <p:nvSpPr>
          <p:cNvPr id="34" name="Text 31"/>
          <p:cNvSpPr txBox="1"/>
          <p:nvPr/>
        </p:nvSpPr>
        <p:spPr>
          <a:xfrm>
            <a:off x="1737360"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كَمْ ثَمَنُهُ / ثَمَنُهَا؟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كَمْ ثَمَنُهَا؟ — الحَقِيبَةُ بِأَرْبَعِينَ جُنَيْهًا.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How much is it? — The bag is forty pounds.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-hu for m., -hā for f.</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ask the price with the right ending.</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cs typeface="Amiri" pitchFamily="2" charset="-78"/>
              </a:rPr>
              <a:t>الحَقِيبَةُ: كَمْ ثَمَنُهَا؟</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2" charset="-78"/>
                <a:cs typeface="Amiri" pitchFamily="2" charset="-78"/>
              </a:rPr>
              <a:t>الحَقِيبَةُ: كَمْ ثَمَنُهُ؟</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Demonstratives, adjective agreement and polite shopping</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100" b="1" dirty="0">
                <a:solidFill>
                  <a:srgbClr val="8A6D1E"/>
                </a:solidFill>
                <a:latin typeface="Amiri" pitchFamily="2" charset="-78"/>
                <a:cs typeface="Amiri" pitchFamily="2" charset="-78"/>
              </a:rPr>
              <a:t>أَسْمَاءُ الإِشَارَةِ وَمُطَابَقَةُ الصِّفَةِ وَلُغَةُ التَّسَوُّقِ</a:t>
            </a:r>
            <a:endParaRPr lang="ar-SA" sz="21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This item</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هٰذَا + مُذَكَّرٌ / هٰذِهِ + مُؤَنَّثٌ</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هٰذَا القَمِيصُ جَمِيلٌ.   ·   هٰذِهِ السُّتْرَةُ جَمِيلَةٌ.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Colour and size agreement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اِسْمٌ + صِفَةٌ مُطَابِقَةٌ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القَمِيصُ الأَبْيَضُ   ·   الحَقِيبَةُ السَّوْدَاءُ</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Ask price with pronoun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كَمْ ثَمَنُهُ؟ / كَمْ ثَمَنُهَا؟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كَمْ ثَمَنُهُ؟ القَمِيصُ بِثَلَاثِينَ جُنَيْهًا.   ·   كَمْ ثَمَنُهَا؟ الحَقِيبَةُ بِأَرْبَعِينَ جُنَيْهًا.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Polite request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أُرِيدُ أَنْ أُجَرِّبَ / هَلْ لَدَيْكُمْ...؟</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أُرِيدُ أَنْ أُجَرِّبَ هٰذَا المِعْطَفَ.   ·   هَلْ لَدَيْكُمْ هٰذِهِ السُّتْرَةُ بِمَقَاسٍ أَكْبَرَ؟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السُّتْرَةُ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السُّتْرَةَ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السُّتْرَةُ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القَمِيصُ ___.</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الأَزْرَقُ</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الزَّرْقَاءُ</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أَزْرَقَ</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bag.</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ثَمَنُهُ؟</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ثَمَنُهَا؟</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مَقَاسُهُ؟</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polite request.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 أَنْ أُجَرِّبَ هٰذَا الحِذَاءَ.</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 أُجَرِّبُ هٰذَا.</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جَرِّبْ أَنَا الحِذَاءَ.</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السُّتْرَةُ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هٰذِهِ السُّتْرَةَ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هٰذِهِ السُّتْرَةُ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سُتْرَةٌ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القَمِيصُ ___.</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الأَزْرَقُ</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الزَّرْقَاءُ</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أَزْرَقَ</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definite noun takes masculine definite adjective.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bag.</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كَمْ ثَمَنُهُ؟</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كَمْ ثَمَنُهَا؟</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 مَقَاسُهُ؟</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حَقِيبَةٌ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polite request.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أُرِيدُ أَنْ أُجَرِّبَ هٰذَا الحِذَاءَ.</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أُرِيدُ أُجَرِّبُ هٰذَا.</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جَرِّبْ أَنَا الحِذَاءَ.</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أُرِيدُ أَنْ</a:t>
            </a:r>
            <a:pPr algn="l" indent="0" marL="0">
              <a:buNone/>
            </a:pPr>
            <a:r>
              <a:rPr lang="en-US" sz="1050" i="1" dirty="0">
                <a:solidFill>
                  <a:srgbClr val="8A6D1E"/>
                </a:solidFill>
                <a:latin typeface="Calibri" pitchFamily="34" charset="0"/>
                <a:cs typeface="Amiri" pitchFamily="2" charset="-78"/>
              </a:rPr>
              <a:t> + subjunctive verb.</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buy a jacket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Ask</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هَلْ لَدَيْكُمْ </a:t>
            </a:r>
            <a:pPr rtl="1" algn="ctr" indent="0" marL="0">
              <a:lnSpc>
                <a:spcPct val="120000"/>
              </a:lnSpc>
              <a:buNone/>
            </a:pPr>
            <a:r>
              <a:rPr lang="ar-SA" altLang="en-US" sz="1750" b="1" dirty="0">
                <a:solidFill>
                  <a:srgbClr val="D6336C"/>
                </a:solidFill>
                <a:latin typeface="Amiri" pitchFamily="2" charset="-78"/>
                <a:cs typeface="Amiri" pitchFamily="2" charset="-78"/>
              </a:rPr>
              <a:t>هٰذِهِ</a:t>
            </a:r>
            <a:pPr rtl="1" algn="ctr" indent="0" marL="0">
              <a:lnSpc>
                <a:spcPct val="120000"/>
              </a:lnSpc>
              <a:buNone/>
            </a:pPr>
            <a:r>
              <a:rPr lang="ar-SA" altLang="en-US" sz="1750" b="1" dirty="0">
                <a:solidFill>
                  <a:srgbClr val="1B3B6F"/>
                </a:solidFill>
                <a:latin typeface="Amiri" pitchFamily="2" charset="-78"/>
                <a:cs typeface="Amiri" pitchFamily="2" charset="-78"/>
              </a:rPr>
              <a:t> السُّتْرَةُ </a:t>
            </a:r>
            <a:pPr rtl="1" algn="ctr" indent="0" marL="0">
              <a:lnSpc>
                <a:spcPct val="120000"/>
              </a:lnSpc>
              <a:buNone/>
            </a:pPr>
            <a:r>
              <a:rPr lang="ar-SA" altLang="en-US" sz="1750" b="1" dirty="0">
                <a:solidFill>
                  <a:srgbClr val="D6336C"/>
                </a:solidFill>
                <a:latin typeface="Amiri" pitchFamily="2" charset="-78"/>
                <a:cs typeface="Amiri" pitchFamily="2" charset="-78"/>
              </a:rPr>
              <a:t>الزَّرْقَاءُ</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Sutra ends in -a → hādhihi.</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Try 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أُرِيدُ أَنْ أُجَرِّبَ</a:t>
            </a:r>
            <a:pPr rtl="1" algn="ctr" indent="0" marL="0">
              <a:buNone/>
            </a:pPr>
            <a:r>
              <a:rPr lang="ar-SA" altLang="en-US" sz="2800" b="1" dirty="0">
                <a:solidFill>
                  <a:srgbClr val="1D5FBF"/>
                </a:solidFill>
                <a:latin typeface="Amiri" pitchFamily="2" charset="-78"/>
                <a:cs typeface="Amiri" pitchFamily="2" charset="-78"/>
              </a:rPr>
              <a:t>هَا</a:t>
            </a:r>
            <a:pPr rtl="1" algn="ctr" indent="0" marL="0">
              <a:buNone/>
            </a:pPr>
            <a:r>
              <a:rPr lang="ar-SA" altLang="en-US" sz="2800" b="1" dirty="0">
                <a:solidFill>
                  <a:srgbClr val="1B3B6F"/>
                </a:solidFill>
                <a:latin typeface="Amiri" pitchFamily="2" charset="-78"/>
                <a:cs typeface="Amiri" pitchFamily="2" charset="-78"/>
              </a:rPr>
              <a:t>.</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 + fatḥa; -hā = it (f.).</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Problem</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cs typeface="Amiri" pitchFamily="2" charset="-78"/>
              </a:rPr>
              <a:t>هِيَ</a:t>
            </a:r>
            <a:pPr rtl="1" algn="ctr" indent="0" marL="0">
              <a:lnSpc>
                <a:spcPct val="120000"/>
              </a:lnSpc>
              <a:buNone/>
            </a:pPr>
            <a:r>
              <a:rPr lang="ar-SA" altLang="en-US" sz="1750" b="1" dirty="0">
                <a:solidFill>
                  <a:srgbClr val="1B3B6F"/>
                </a:solidFill>
                <a:latin typeface="Amiri" pitchFamily="2" charset="-78"/>
                <a:cs typeface="Amiri" pitchFamily="2" charset="-78"/>
              </a:rPr>
              <a:t> ضَيِّقَ</a:t>
            </a:r>
            <a:pPr rtl="1" algn="ctr" indent="0" marL="0">
              <a:lnSpc>
                <a:spcPct val="120000"/>
              </a:lnSpc>
              <a:buNone/>
            </a:pPr>
            <a:r>
              <a:rPr lang="ar-SA" altLang="en-US" sz="1750" b="1" dirty="0">
                <a:solidFill>
                  <a:srgbClr val="D6336C"/>
                </a:solidFill>
                <a:latin typeface="Amiri" pitchFamily="2" charset="-78"/>
                <a:cs typeface="Amiri" pitchFamily="2" charset="-78"/>
              </a:rPr>
              <a:t>ةٌ</a:t>
            </a:r>
            <a:pPr rtl="1" algn="ctr" indent="0" marL="0">
              <a:lnSpc>
                <a:spcPct val="120000"/>
              </a:lnSpc>
              <a:buNone/>
            </a:pPr>
            <a:r>
              <a:rPr lang="ar-SA" altLang="en-US" sz="1750" b="1" dirty="0">
                <a:solidFill>
                  <a:srgbClr val="1B3B6F"/>
                </a:solidFill>
                <a:latin typeface="Amiri" pitchFamily="2" charset="-78"/>
                <a:cs typeface="Amiri" pitchFamily="2" charset="-78"/>
              </a:rPr>
              <a:t> نَوْعًا مَا؛ هَلْ لَدَيْكُمْ مَقَاسٌ أَكْبَرُ؟</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Tight agrees too.</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Price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كَمْ ثَمَنُ</a:t>
            </a:r>
            <a:pPr rtl="1" algn="ctr" indent="0" marL="0">
              <a:lnSpc>
                <a:spcPct val="120000"/>
              </a:lnSpc>
              <a:buNone/>
            </a:pPr>
            <a:r>
              <a:rPr lang="ar-SA" altLang="en-US" sz="1750" b="1" dirty="0">
                <a:solidFill>
                  <a:srgbClr val="D6336C"/>
                </a:solidFill>
                <a:latin typeface="Amiri" pitchFamily="2" charset="-78"/>
                <a:cs typeface="Amiri" pitchFamily="2" charset="-78"/>
              </a:rPr>
              <a:t>هَا</a:t>
            </a:r>
            <a:pPr rtl="1" algn="ctr" indent="0" marL="0">
              <a:lnSpc>
                <a:spcPct val="120000"/>
              </a:lnSpc>
              <a:buNone/>
            </a:pPr>
            <a:r>
              <a:rPr lang="ar-SA" altLang="en-US" sz="1750" b="1" dirty="0">
                <a:solidFill>
                  <a:srgbClr val="1B3B6F"/>
                </a:solidFill>
                <a:latin typeface="Amiri" pitchFamily="2" charset="-78"/>
                <a:cs typeface="Amiri" pitchFamily="2" charset="-78"/>
              </a:rPr>
              <a:t>؟ — خَمْسَةٌ وَثَلَاثُونَ جُنَيْهًا.</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Feminine item → thamanuhā.</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 ITEM</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OBJECT (-HĀ = IT)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لَدَيْكُمْ </a:t>
            </a:r>
            <a:pPr rtl="1" algn="r" indent="0" marL="0">
              <a:buNone/>
            </a:pPr>
            <a:r>
              <a:rPr lang="ar-SA" altLang="en-US" sz="1800" b="1" dirty="0">
                <a:solidFill>
                  <a:srgbClr val="D6336C"/>
                </a:solidFill>
                <a:latin typeface="Amiri" pitchFamily="2" charset="-78"/>
                <a:cs typeface="Amiri" pitchFamily="2" charset="-78"/>
              </a:rPr>
              <a:t>هٰذِهِ</a:t>
            </a:r>
            <a:pPr rtl="1" algn="r" indent="0" marL="0">
              <a:buNone/>
            </a:pPr>
            <a:r>
              <a:rPr lang="ar-SA" altLang="en-US" sz="1800" b="1" dirty="0">
                <a:solidFill>
                  <a:srgbClr val="1B3B6F"/>
                </a:solidFill>
                <a:latin typeface="Amiri" pitchFamily="2" charset="-78"/>
                <a:cs typeface="Amiri" pitchFamily="2" charset="-78"/>
              </a:rPr>
              <a:t> السُّتْرَةُ </a:t>
            </a:r>
            <a:pPr rtl="1" algn="r" indent="0" marL="0">
              <a:buNone/>
            </a:pPr>
            <a:r>
              <a:rPr lang="ar-SA" altLang="en-US" sz="1800" b="1" dirty="0">
                <a:solidFill>
                  <a:srgbClr val="D6336C"/>
                </a:solidFill>
                <a:latin typeface="Amiri" pitchFamily="2" charset="-78"/>
                <a:cs typeface="Amiri" pitchFamily="2" charset="-78"/>
              </a:rPr>
              <a:t>الزَّرْقَاءُ</a:t>
            </a:r>
            <a:pPr rtl="1" algn="r" indent="0" marL="0">
              <a:buNone/>
            </a:pPr>
            <a:r>
              <a:rPr lang="ar-SA" altLang="en-US" sz="1800" b="1" dirty="0">
                <a:solidFill>
                  <a:srgbClr val="1B3B6F"/>
                </a:solidFill>
                <a:latin typeface="Amiri" pitchFamily="2" charset="-78"/>
                <a:cs typeface="Amiri" pitchFamily="2" charset="-78"/>
              </a:rPr>
              <a:t>؟ أُرِيدُ أَنْ أُجَرِّبَ</a:t>
            </a:r>
            <a:pPr rtl="1" algn="r" indent="0" marL="0">
              <a:buNone/>
            </a:pPr>
            <a:r>
              <a:rPr lang="ar-SA" altLang="en-US" sz="1800" b="1" dirty="0">
                <a:solidFill>
                  <a:srgbClr val="1D5FBF"/>
                </a:solidFill>
                <a:latin typeface="Amiri" pitchFamily="2" charset="-78"/>
                <a:cs typeface="Amiri" pitchFamily="2" charset="-78"/>
              </a:rPr>
              <a:t>هَا</a:t>
            </a:r>
            <a:pPr rtl="1" algn="r" indent="0" marL="0">
              <a:buNone/>
            </a:pPr>
            <a:r>
              <a:rPr lang="ar-SA" altLang="en-US" sz="1800" b="1" dirty="0">
                <a:solidFill>
                  <a:srgbClr val="1B3B6F"/>
                </a:solidFill>
                <a:latin typeface="Amiri" pitchFamily="2" charset="-78"/>
                <a:cs typeface="Amiri" pitchFamily="2" charset="-78"/>
              </a:rPr>
              <a:t>. … </a:t>
            </a:r>
            <a:pPr rtl="1" algn="r" indent="0" marL="0">
              <a:buNone/>
            </a:pPr>
            <a:r>
              <a:rPr lang="ar-SA" altLang="en-US" sz="1800" b="1" dirty="0">
                <a:solidFill>
                  <a:srgbClr val="D6336C"/>
                </a:solidFill>
                <a:latin typeface="Amiri" pitchFamily="2" charset="-78"/>
                <a:cs typeface="Amiri" pitchFamily="2" charset="-78"/>
              </a:rPr>
              <a:t>هِيَ</a:t>
            </a:r>
            <a:pPr rtl="1" algn="r" indent="0" marL="0">
              <a:buNone/>
            </a:pPr>
            <a:r>
              <a:rPr lang="ar-SA" altLang="en-US" sz="1800" b="1" dirty="0">
                <a:solidFill>
                  <a:srgbClr val="1B3B6F"/>
                </a:solidFill>
                <a:latin typeface="Amiri" pitchFamily="2" charset="-78"/>
                <a:cs typeface="Amiri" pitchFamily="2" charset="-78"/>
              </a:rPr>
              <a:t> ضَيِّقَ</a:t>
            </a:r>
            <a:pPr rtl="1" algn="r" indent="0" marL="0">
              <a:buNone/>
            </a:pPr>
            <a:r>
              <a:rPr lang="ar-SA" altLang="en-US" sz="1800" b="1" dirty="0">
                <a:solidFill>
                  <a:srgbClr val="D6336C"/>
                </a:solidFill>
                <a:latin typeface="Amiri" pitchFamily="2" charset="-78"/>
                <a:cs typeface="Amiri" pitchFamily="2" charset="-78"/>
              </a:rPr>
              <a:t>ةٌ</a:t>
            </a:r>
            <a:pPr rtl="1" algn="r" indent="0" marL="0">
              <a:buNone/>
            </a:pPr>
            <a:r>
              <a:rPr lang="ar-SA" altLang="en-US" sz="1800" b="1" dirty="0">
                <a:solidFill>
                  <a:srgbClr val="1B3B6F"/>
                </a:solidFill>
                <a:latin typeface="Amiri" pitchFamily="2" charset="-78"/>
                <a:cs typeface="Amiri" pitchFamily="2" charset="-78"/>
              </a:rPr>
              <a:t> نَوْعًا مَا؛ هَلْ لَدَيْكُمْ مَقَاسٌ أَكْبَرُ؟ … الآنَ هِيَ مُنَاسِبَ</a:t>
            </a:r>
            <a:pPr rtl="1" algn="r" indent="0" marL="0">
              <a:buNone/>
            </a:pPr>
            <a:r>
              <a:rPr lang="ar-SA" altLang="en-US" sz="1800" b="1" dirty="0">
                <a:solidFill>
                  <a:srgbClr val="D6336C"/>
                </a:solidFill>
                <a:latin typeface="Amiri" pitchFamily="2" charset="-78"/>
                <a:cs typeface="Amiri" pitchFamily="2" charset="-78"/>
              </a:rPr>
              <a:t>ةٌ</a:t>
            </a:r>
            <a:pPr rtl="1" algn="r" indent="0" marL="0">
              <a:buNone/>
            </a:pPr>
            <a:r>
              <a:rPr lang="ar-SA" altLang="en-US" sz="1800" b="1" dirty="0">
                <a:solidFill>
                  <a:srgbClr val="1B3B6F"/>
                </a:solidFill>
                <a:latin typeface="Amiri" pitchFamily="2" charset="-78"/>
                <a:cs typeface="Amiri" pitchFamily="2" charset="-78"/>
              </a:rPr>
              <a:t> وَمُرِيحَ</a:t>
            </a:r>
            <a:pPr rtl="1" algn="r" indent="0" marL="0">
              <a:buNone/>
            </a:pPr>
            <a:r>
              <a:rPr lang="ar-SA" altLang="en-US" sz="1800" b="1" dirty="0">
                <a:solidFill>
                  <a:srgbClr val="D6336C"/>
                </a:solidFill>
                <a:latin typeface="Amiri" pitchFamily="2" charset="-78"/>
                <a:cs typeface="Amiri" pitchFamily="2" charset="-78"/>
              </a:rPr>
              <a:t>ةٌ</a:t>
            </a:r>
            <a:pPr rtl="1" algn="r" indent="0" marL="0">
              <a:buNone/>
            </a:pPr>
            <a:r>
              <a:rPr lang="ar-SA" altLang="en-US" sz="1800" b="1" dirty="0">
                <a:solidFill>
                  <a:srgbClr val="1B3B6F"/>
                </a:solidFill>
                <a:latin typeface="Amiri" pitchFamily="2" charset="-78"/>
                <a:cs typeface="Amiri" pitchFamily="2" charset="-78"/>
              </a:rPr>
              <a:t>. كَمْ ثَمَنُ</a:t>
            </a:r>
            <a:pPr rtl="1" algn="r" indent="0" marL="0">
              <a:buNone/>
            </a:pPr>
            <a:r>
              <a:rPr lang="ar-SA" altLang="en-US" sz="1800" b="1" dirty="0">
                <a:solidFill>
                  <a:srgbClr val="D6336C"/>
                </a:solidFill>
                <a:latin typeface="Amiri" pitchFamily="2" charset="-78"/>
                <a:cs typeface="Amiri" pitchFamily="2" charset="-78"/>
              </a:rPr>
              <a:t>هَا</a:t>
            </a:r>
            <a:pPr rtl="1" algn="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cs typeface="Amiri" pitchFamily="2" charset="-78"/>
              </a:rPr>
              <a:t>Do you have this blue jacket? I would like to try it on. … It is somewhat tight; do you have a bigger size? … Now it fits and is comfortable. How much is it?</a:t>
            </a:r>
            <a:endParaRPr lang="en-US" sz="11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هٰذَا القَمِيصُ جَمِيلٌ.</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shirt is beautiful.</a:t>
            </a:r>
            <a:endParaRPr lang="en-US" sz="1250" dirty="0"/>
          </a:p>
          <a:p>
            <a:pPr indent="0" marL="0">
              <a:buNone/>
            </a:pPr>
            <a:r>
              <a:rPr lang="en-US" sz="1050" i="1" dirty="0">
                <a:solidFill>
                  <a:srgbClr val="8A6D1E"/>
                </a:solidFill>
                <a:latin typeface="Calibri" pitchFamily="34" charset="0"/>
                <a:cs typeface="Amiri" pitchFamily="2" charset="-78"/>
              </a:rPr>
              <a:t>hādhā + masculine item.</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القَمِيصُ الأَبْيَضُ</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white shirt</a:t>
            </a:r>
            <a:endParaRPr lang="en-US" sz="1250" dirty="0"/>
          </a:p>
          <a:p>
            <a:pPr indent="0" marL="0">
              <a:buNone/>
            </a:pPr>
            <a:r>
              <a:rPr lang="en-US" sz="1050" i="1" dirty="0">
                <a:solidFill>
                  <a:srgbClr val="8A6D1E"/>
                </a:solidFill>
                <a:latin typeface="Calibri" pitchFamily="34" charset="0"/>
                <a:cs typeface="Amiri" pitchFamily="2" charset="-78"/>
              </a:rPr>
              <a:t>Colour after the noun, with al-.</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كَمْ ثَمَنُهُ؟ القَمِيصُ بِثَلَاثِينَ جُنَيْهًا.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How much is it? The shirt is thirty pounds.</a:t>
            </a:r>
            <a:endParaRPr lang="en-US" sz="1250" dirty="0"/>
          </a:p>
          <a:p>
            <a:pPr indent="0" marL="0">
              <a:buNone/>
            </a:pPr>
            <a:r>
              <a:rPr lang="en-US" sz="1050" i="1" dirty="0">
                <a:solidFill>
                  <a:srgbClr val="8A6D1E"/>
                </a:solidFill>
                <a:latin typeface="Calibri" pitchFamily="34" charset="0"/>
                <a:cs typeface="Amiri" pitchFamily="2" charset="-78"/>
              </a:rPr>
              <a:t>thamanuhu for a masculine item.</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أُرِيدُ أَنْ أُجَرِّبَ هٰذَا المِعْطَفَ.</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would like to try on this coat.</a:t>
            </a:r>
            <a:endParaRPr lang="en-US" sz="1250" dirty="0"/>
          </a:p>
          <a:p>
            <a:pPr indent="0" marL="0">
              <a:buNone/>
            </a:pPr>
            <a:r>
              <a:rPr lang="en-US" sz="1050" i="1" dirty="0">
                <a:solidFill>
                  <a:srgbClr val="8A6D1E"/>
                </a:solidFill>
                <a:latin typeface="Calibri" pitchFamily="34" charset="0"/>
                <a:cs typeface="Amiri" pitchFamily="2" charset="-78"/>
              </a:rPr>
              <a:t>Polite request: an + fatḥa.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CLOTHES AND ACCESSORIES — VOCABULARY AND SHOPPING”</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What are they wearing? Match the picture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المَلَابِسُ وَالأَلْوَانُ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blue shirt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red dress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brown bag</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هِيَ تَلْبَسُ فُسْتَانًا أَحْمَرَ.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هٰذِهِ حَقِيبَةٌ بُنِّيَّةٌ.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هُوَ يَلْبَسُ قَمِيصًا أَزْرَقَ.</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المَلَابِسُ وَالأَلْوَانُ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blue shirt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هُوَ يَلْبَسُ قَمِيصًا أَزْرَقَ.</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He is wearing a blue shirt.</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red dress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هِيَ تَلْبَسُ فُسْتَانًا أَحْمَرَ.</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She is wearing a red dress.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brown bag</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هٰذِهِ حَقِيبَةٌ بُنِّيَّةٌ.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brown bag.</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Accurate or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هٰذِهِ السُّتْرَةُ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القَمِيصُ الأَزْرَقُ</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الحَقِيبَةُ: كَمْ ثَمَنُهَا؟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أُرِيدُ أَنْ أُجَرِّبَ هٰذَا الحِذَاءَ.</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هٰذَا السُّتْرَةُ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القَمِيصُ الزَّرْقَاءُ</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الحَقِيبَةُ: كَمْ ثَمَنُهُ؟</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أُرِيدُ أُجَرِّبُ هٰذَا.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Accurate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Inaccurate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Accurate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هٰذِهِ السُّتْرَةُ</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القَمِيصُ الأَزْرَقُ</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الحَقِيبَةُ: كَمْ ثَمَنُهَا؟</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أُرِيدُ أَنْ أُجَرِّبَ هٰذَا الحِذَاءَ.</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Inaccurate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هٰذَا السُّتْرَةُ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القَمِيصُ الزَّرْقَاءُ</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الحَقِيبَةُ: كَمْ ثَمَنُهُ؟</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أُرِيدُ أُجَرِّبُ هٰذَا.</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“Do you have a larger size?”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ثَمَنُهُ؟</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 الحِذَاءُ؟</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لَدَيْكُمْ مَقَاسٌ أَكْبَرُ؟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agreement.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الحَقِيبَةُ البُنِّيُّ</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الحَقِيبَةُ البُنِّيَّةُ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الحَقِيبَةُ بُنِّيًّا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هٰذَا السِّرْوَالُ ___ جِدًّا.</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وَاسِعَةٌ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وَاسِعٌ</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وَاسِعًا</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shop response.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القَمِيصُ صَادِقٌ.</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أَذْهَبُ إِلَى المَدْرَسَةِ.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نَعَمْ، غُرْفَةُ القِيَاسِ عَلَى اليَسَارِ.</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“Do you have a larger size?”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كَمْ ثَمَنُهُ؟</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أَيْنَ الحِذَاءُ؟</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هَلْ لَدَيْكُمْ مَقَاسٌ أَكْبَرُ؟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asks about size.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agreement.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الحَقِيبَةُ البُنِّيُّ</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الحَقِيبَةُ البُنِّيَّةُ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الحَقِيبَةُ بُنِّيًّا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noun and adjective.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هٰذَا السِّرْوَالُ ___ جِدًّا.</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وَاسِعَةٌ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وَاسِعٌ</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وَاسِعًا</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سِرْوَالٌ</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shop response.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القَمِيصُ صَادِقٌ.</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أَذْهَبُ إِلَى المَدْرَسَةِ.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نَعَمْ، غُرْفَةُ القِيَاسِ عَلَى اليَسَارِ.</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answers a shopping context.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هٰذَا السُّتْرَةُ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Sutra ends in -a: this (m.) or this (f.)?</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القَمِيصُ الزَّرْقَاءُ</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Shirt is masculine: which colour form?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الحَقِيبَةُ: كَمْ ثَمَنُهُ؟</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Bag is feminine: which price question?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هٰذَا السُّتْرَةُ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هٰذِهِ السُّتْرَةُ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سُتْرَةٌ</a:t>
            </a:r>
            <a:pPr algn="l" indent="0" marL="0">
              <a:buNone/>
            </a:pPr>
            <a:r>
              <a:rPr lang="en-US" sz="1150" b="1" dirty="0">
                <a:solidFill>
                  <a:srgbClr val="1B3B6F"/>
                </a:solidFill>
                <a:latin typeface="Calibri" pitchFamily="34" charset="0"/>
                <a:cs typeface="Amiri" pitchFamily="2" charset="-78"/>
              </a:rPr>
              <a:t> is feminine.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القَمِيصُ الزَّرْقَاءُ</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القَمِيصُ الأَزْرَقُ</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masculine item takes the masculine colour.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الحَقِيبَةُ: كَمْ ثَمَنُهُ؟</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الحَقِيبَةُ: كَمْ ثَمَنُهَا؟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حَقِيبَةٌ</a:t>
            </a:r>
            <a:pPr algn="l" indent="0" marL="0">
              <a:buNone/>
            </a:pPr>
            <a:r>
              <a:rPr lang="en-US" sz="1150" b="1" dirty="0">
                <a:solidFill>
                  <a:srgbClr val="1B3B6F"/>
                </a:solidFill>
                <a:latin typeface="Calibri" pitchFamily="34" charset="0"/>
                <a:cs typeface="Amiri" pitchFamily="2" charset="-78"/>
              </a:rPr>
              <a:t> is feminine → </a:t>
            </a:r>
            <a:pPr algn="l" indent="0" marL="0">
              <a:buNone/>
            </a:pPr>
            <a:r>
              <a:rPr lang="ar-SA" altLang="en-US" sz="1500" b="1" dirty="0">
                <a:solidFill>
                  <a:srgbClr val="1B3B6F"/>
                </a:solidFill>
                <a:latin typeface="Amiri" pitchFamily="2" charset="-78"/>
                <a:cs typeface="Amiri" pitchFamily="2" charset="-78"/>
              </a:rPr>
              <a:t>ثَمَنُهَا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focus: clothes shopping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Sara want to try 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blue jacket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black coat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red dress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problem?</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too long</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the wrong colour</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somewhat tight</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shop assistant bring?</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different colour</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cheaper jacket</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bigger size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was the new jacket?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suitable and comfortable</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still tight</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too big</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was it cheaper?</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second-hand</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had a discount</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a small size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did it cost?</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35 pounds</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53 pounds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30 pounds</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الزَّرْقَاءَ</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ضَيِّقَةً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خَمْسَةٌ وَثَلَاثُونَ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دَخَلَتْ سَارَةُ مَتْجَرَ المَلَابِسِ وَقَالَتْ: أُرِيدُ أَنْ أُجَرِّبَ هٰذِهِ السُّتْرَةَ الزَّرْقَاءَ.</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Sara went into the clothes shop and said: I would like to try on this blue jacket.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سَأَلَتْ عَنِ المَقَاسِ لِأَنَّهَا كَانَتْ ضَيِّقَةً نَوْعًا مَا.</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asked about the size because it was somewhat tight.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أَحْضَرَتِ البَائِعَةُ مَقَاسًا أَكْبَرَ، وَكَانَتِ السُّتْرَةُ مُنَاسِبَةً وَمُرِيحَةً.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shop assistant brought a bigger size, and the jacket fitted and was comfortable.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سَأَلَتْ سَارَةُ: كَمْ ثَمَنُهَا؟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Sara asked: How much is it?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فَقَالَتِ البَائِعَةُ إِنَّ عَلَيْهَا تَخْفِيضًا وَثَمَنَهَا خَمْسَةٌ وَثَلَاثُونَ جُنَيْهًا.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assistant said it was reduced and its price was thirty-five pounds.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Sara want to try on?</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blue jacket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black coat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red dress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أُرِيدُ أَنْ أُجَرِّبَ هٰذِهِ السُّتْرَةَ الزَّرْقَاءَ.</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problem?</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too long</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the wrong colour</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was somewhat tight</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كَانَتْ ضَيِّقَةً نَوْعًا مَا.</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shop assistant bring?</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different colour</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cheaper jacket</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bigger size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أَحْضَرَتِ البَائِعَةُ مَقَاسًا أَكْبَرَ.</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was the new jacket?</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suitable and comfortable</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still tight</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too big</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مُنَاسِبَةً وَمُرِيحَةً.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was it cheaper?</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second-hand</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had a discount</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a small size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عَلَيْهَا تَخْفِيضًا.</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did it cost?</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35 pounds</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53 pounds</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30 pounds</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خَمْسَةٌ وَثَلَاثُونَ جُنَيْهًا.</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الزَّرْقَاءَ</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ضَيِّقَةً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خَمْسَةٌ وَثَلَاثُونَ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Developed speaking: clothes shopping</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لَوْنُكَ وَمَقَاسُكَ المُفَضَّلَانِ؟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تَلْبَسُ فِي مُنَاسَبَةٍ خَاصَّةٍ؟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آخِرَ رِحْلَةٍ إِلَى مَتْجَرِ المَلَابِسِ.</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تُفَضِّلُ الشِّرَاءَ مِنَ المَتْجَرِ أَمْ عَبْرَ الإِنْتَرْنِتِ؟</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لَوْنِي المُفَضَّلُ ___ ، وَمَقَاسِي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فِي مُنَاسَبَةٍ خَاصَّةٍ أَلْبَسُ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ذَهَبْتُ إِلَى المَتْجَرِ وَجَرَّبْتُ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أُفَضِّلُ الشِّرَاءَ ___ لِأَنَّ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مَاذَا تَبْحَثُ عَنْهُ؟</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are you looking for?</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أَبْحَثُ عَنْ مِعْطَفٍ أَسْوَدَ.</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am looking for a black coat.</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Describe an outfit: five items with this / this (f.) and a colour each.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shop conversation: what you are looking for, size, trying on, price.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an independently controlled relative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shopping trip — what you needed, colours, sizes, prices, what you tried, what you bought and why.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لَدَيْكُمْ ______ بِمَقَاسٍ أَكْبَرَ؟</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Do you have … in a bigger size?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هُوَ / هِيَ ضَيِّقٌ / وَاسِعٌ نَوْعًا مَا.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somewhat tight / loose.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أَيْنَ غُرْفَةُ القِيَاسِ؟</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Where is the changing room?</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سَأَشْتَرِي ______ لِأَنَّ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buy … because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هُوَ مُنَاسِبٌ وَمُرِيحٌ. / هِيَ مُنَاسِبَةٌ وَمُرِيحَةٌ.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suitable and comfortable.</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القَمِيصُ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shirt is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هٰذِهِ السُّتْرَةُ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jacket is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أَبْحَثُ عَنْ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looking for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أُرِيدُ أَنْ أُجَرِّبَ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would like to try on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كَمْ ثَمَنُهُ؟ / كَمْ ثَمَنُهَا؟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much is it? (m. / f.)</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هٰذَا  ·  هٰذِهِ  ·  قَمِيصٌ  ·  سُتْرَةٌ  ·  فُسْتَانٌ  ·  حِذَاءٌ  ·  حَقِيبَةٌ  ·  مَقَاسٌ  ·  ضَيِّقٌ / ضَيِّقَةٌ  ·  وَاسِعٌ / وَاسِعَةٌ  ·  كَمْ ثَمَنُهُ؟  ·  تَخْفِيضٌ</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Arabic words about a shopping trip for clothes. Describe what you need, colours, sizes, prices, what you try on, what you buy and why.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كُنْتُ أَبْحَثُ عَنْ مِعْطَفٍ جَدِيدٍ لِلشِّتَاءِ</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was looking for a new winter coat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وَلٰكِنَّهُ كَانَ ضَيِّقًا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it was tight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أَحْضَرَ لِي مِعْطَفًا آخَرَ</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brought me another coat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كَانَ عَلَيْهِ تَخْفِيضٌ</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was reduced</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اشْتَرَيْتُهُمَا لِأَنَّهُمَا عَمَلِيَّانِ</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bought them (two) because they are practical</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ذَهَبْتُ إِلَى المَتْجَرِ لِأَنَّنِي كُنْتُ أَبْحَثُ عَنْ مِعْطَفٍ جَدِيدٍ لِلشِّتَاءِ. رَأَيْتُ مِعْطَفًا أَسْوَدَ أَنِيقًا، وَلٰكِنَّهُ كَانَ ضَيِّقًا. قُلْتُ لِلْبَائِعِ: هَلْ لَدَيْكُمْ هٰذَا المِعْطَفُ بِمَقَاسٍ أَكْبَرَ؟ أَحْضَرَ لِي مِعْطَفًا آخَرَ وَكَانَ مُرِيحًا وَمُنَاسِبًا. سَأَلْتُ: كَمْ ثَمَنُهُ؟ كَانَ ثَمَنُهُ سِتِّينَ جُنَيْهًا، وَلٰكِنَّ عَلَيْهِ تَخْفِيضًا. جَرَّبْتُ أَيْضًا حِذَاءً بُنِّيًّا وَحَقِيبَةً صَغِيرَةً. فِي النِّهَايَةِ اشْتَرَيْتُ المِعْطَفَ وَالحِذَاءَ لِأَنَّهُمَا عَمَلِيَّانِ.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went to the shop because I was looking for a new winter coat. I saw an elegant black coat, but it was tight. I said to the shop assistant: Do you have this coat in a bigger size? He brought me another coat and it was comfortable and fitted. I asked: How much is it? Its price was sixty pounds, but it was reduced. I also tried on brown shoes and a small bag. In the end I bought the coat and the shoes because they are practical.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polite question in the shop</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colour adjectives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price question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reason for the choice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this (hādhā) and this (hādhihi) correctly.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asked the price and asked to try something 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colours agree with the item.</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described the size (tight / loose / fits).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explained what I bought and why.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السُّتْرَةُ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السُّتْرَةُ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السُّتْرَةَ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القَمِيصُ</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الزَّرْقَاءُ</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الأَزْرَقُ</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أَزْرَقَ</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bag.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ثَمَنُهَا؟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ثَمَنُهُ؟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مَقَاسُهُ؟</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هٰذِهِ السُّتْرَةُ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هٰذَا السُّتْرَةُ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هٰذِهِ السُّتْرَةَ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سُتْرَةٌ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القَمِيصُ</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الزَّرْقَاءُ</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الأَزْرَقُ</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أَزْرَقَ</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definite noun takes masculine definite adjective.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bag.</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كَمْ ثَمَنُهَا؟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كَمْ ثَمَنُهُ؟</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مَا مَقَاسُهُ؟</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حَقِيبَةٌ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focus: clothes shopping</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إِعْلَانٌ مِنْ مَتْجَرٍ جَدِيدٍ: لَدَيْنَا مَلَابِسُ عَصْرِيَّةٌ وَمُحْتَشِمَةٌ لِلشَّبَابِ. القُمُصُ القُطْنِيَّةُ مُتَوَفِّرَةٌ بِأَلْوَانٍ مُخْتَلِفَةٍ، وَالسَّرَاوِيلُ مُرِيحَةٌ وَعَمَلِيَّةٌ. هُنَاكَ تَخْفِيضٌ خَاصٌّ عَلَى المَعَاطِفِ وَالحَقَائِبِ حَتَّى نِهَايَةِ الأُسْبُوعِ. يُمْكِنُكُمْ تَجْرِبَةُ المَلَابِسِ فِي غُرْفَةِ القِيَاسِ، وَيُمْكِنُ اسْتِبْدَالُ المَقَاسِ خِلَالَ أُسْبُوعٍ.</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إِعْلَانٌ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advert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مَتْجَرٍ جَدِيدٍ</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new shop</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لِلشَّبَابِ</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young people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القُمُصُ القُطْنِيَّةُ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cotton shirts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مُتَوَفِّرَةٌ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available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السَّرَاوِيلُ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trousers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مُرِيحَةٌ وَعَمَلِيَّةٌ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comfortable and practical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تَخْفِيضٌ خَاصٌّ</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special discount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تَجْرِبَةُ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trying on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اسْتِبْدَالُ المَقَاسِ</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exchanging the size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text is this?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letter from a friend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advert from a new shop</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 timetable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clothes does the shop sell?</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formal suits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sports clothes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modern, modest clothes for young people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the cotton shirts?</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come in different colours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all white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very expensive</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trousers described?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tight and formal</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comfortable and practical</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colourful and cheap</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a special discount until the end of the week?</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coats and bags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shirts and trousers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shoes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can customers do within a week?</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return everything for free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order online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exchange the size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text is this?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letter from a friend</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an advert from a new shop</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 timetable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إِعْلَانٌ مِنْ مَتْجَرٍ جَدِيدٍ.</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clothes does the shop sell?</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formal suits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sports clothes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modern, modest clothes for young people</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مَلَابِسُ عَصْرِيَّةٌ وَمُحْتَشِمَةٌ لِلشَّبَابِ.</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the cotton shirts?</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come in different colours</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all white</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very expensive</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مُتَوَفِّرَةٌ بِأَلْوَانٍ مُخْتَلِفَةٍ.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trousers described?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tight and formal</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comfortable and practical</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colourful and cheap</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مُرِيحَةٌ وَعَمَلِيَّةٌ.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a special discount until the end of the week?</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coats and bags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shirts and trousers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shoes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تَخْفِيضٌ خَاصٌّ عَلَى المَعَاطِفِ وَالحَقَائِبِ.</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can customers do within a week?</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return everything for free</a:t>
            </a:r>
            <a:endParaRPr lang="en-US" sz="12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order online</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exchange the size</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يُمْكِنُ اسْتِبْدَالُ المَقَاسِ خِلَالَ أُسْبُوعٍ.</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clothes shopping Arabic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السُّتْرَةُ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السُّتْرَةُ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السُّتْرَةَ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القَمِيصُ ___.</a:t>
            </a:r>
            <a:endParaRPr lang="ar-SA" sz="15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الأَزْرَقُ</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الزَّرْقَاءُ</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أَزْرَقَ</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bag.</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ثَمَنُهُ؟</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مَقَاسُهُ؟</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ثَمَنُهَا؟</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polite request.</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 أُجَرِّبُ هٰذَا.</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جَرِّبْ أَنَا الحِذَاءَ.</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 أَنْ أُجَرِّبَ هٰذَا الحِذَاءَ.</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“Do you have a larger size?”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لَدَيْكُمْ مَقَاسٌ أَكْبَرُ؟</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ثَمَنُهُ؟</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 الحِذَاءُ؟</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agreement.</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الحَقِيبَةُ البُنِّيُّ</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الحَقِيبَةُ البُنِّيَّةُ</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الحَقِيبَةُ بُنِّيًّا</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السُّتْرَةُ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هٰذِهِ السُّتْرَةُ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هٰذِهِ السُّتْرَةَ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سُتْرَةٌ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القَمِيصُ ___.</a:t>
            </a:r>
            <a:endParaRPr lang="ar-SA" sz="15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الأَزْرَقُ</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الزَّرْقَاءُ</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أَزْرَقَ</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definite noun takes masculine definite adjective.</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bag.</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كَمْ ثَمَنُهُ؟</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 مَقَاسُهُ؟</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كَمْ ثَمَنُهَا؟</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حَقِيبَةٌ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polite request.</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أُرِيدُ أُجَرِّبُ هٰذَا.</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جَرِّبْ أَنَا الحِذَاءَ.</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أُرِيدُ أَنْ أُجَرِّبَ هٰذَا الحِذَاءَ.</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أُرِيدُ أَنْ</a:t>
            </a:r>
            <a:pPr algn="l" indent="0" marL="0">
              <a:buNone/>
            </a:pPr>
            <a:r>
              <a:rPr lang="en-US" sz="1050" i="1" dirty="0">
                <a:solidFill>
                  <a:srgbClr val="8A6D1E"/>
                </a:solidFill>
                <a:latin typeface="Calibri" pitchFamily="34" charset="0"/>
                <a:cs typeface="Amiri" pitchFamily="2" charset="-78"/>
              </a:rPr>
              <a:t> + subjunctive verb.</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“Do you have a larger size?”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هَلْ لَدَيْكُمْ مَقَاسٌ أَكْبَرُ؟</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كَمْ ثَمَنُهُ؟</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أَيْنَ الحِذَاءُ؟</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asks about size.</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agreement.</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الحَقِيبَةُ البُنِّيُّ</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الحَقِيبَةُ البُنِّيَّةُ</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الحَقِيبَةُ بُنِّيًّا</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noun and adjective.</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D2-L04: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D2-L04 · Fashion and Identity — Opinions on Style and Dress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أَنِيقٌ / أَنِيقَةٌ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elegant</a:t>
            </a:r>
            <a:pPr indent="0" marL="0">
              <a:buNone/>
            </a:pPr>
            <a:r>
              <a:rPr lang="en-US" sz="1000" i="1" dirty="0">
                <a:solidFill>
                  <a:srgbClr val="5A6472"/>
                </a:solidFill>
                <a:latin typeface="Calibri" pitchFamily="34" charset="0"/>
                <a:cs typeface="Amiri" pitchFamily="2" charset="-78"/>
              </a:rPr>
              <a:t>  m. / f.</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عَصْرِيٌّ / عَصْرِيَّةٌ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modern</a:t>
            </a:r>
            <a:pPr indent="0" marL="0">
              <a:buNone/>
            </a:pPr>
            <a:r>
              <a:rPr lang="en-US" sz="1000" i="1" dirty="0">
                <a:solidFill>
                  <a:srgbClr val="5A6472"/>
                </a:solidFill>
                <a:latin typeface="Calibri" pitchFamily="34" charset="0"/>
                <a:cs typeface="Amiri" pitchFamily="2" charset="-78"/>
              </a:rPr>
              <a:t>  m. / f.</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تَقْلِيدِيٌّ / تَقْلِيدِيَّةٌ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traditional</a:t>
            </a:r>
            <a:pPr indent="0" marL="0">
              <a:buNone/>
            </a:pPr>
            <a:r>
              <a:rPr lang="en-US" sz="1000" i="1" dirty="0">
                <a:solidFill>
                  <a:srgbClr val="5A6472"/>
                </a:solidFill>
                <a:latin typeface="Calibri" pitchFamily="34" charset="0"/>
                <a:cs typeface="Amiri" pitchFamily="2" charset="-78"/>
              </a:rPr>
              <a:t>  m. / f.</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رَسْمِيٌّ / رَسْمِيَّةٌ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formal</a:t>
            </a:r>
            <a:pPr indent="0" marL="0">
              <a:buNone/>
            </a:pPr>
            <a:r>
              <a:rPr lang="en-US" sz="1000" i="1" dirty="0">
                <a:solidFill>
                  <a:srgbClr val="5A6472"/>
                </a:solidFill>
                <a:latin typeface="Calibri" pitchFamily="34" charset="0"/>
                <a:cs typeface="Amiri" pitchFamily="2" charset="-78"/>
              </a:rPr>
              <a:t>  m. / f.</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مُحْتَشِمٌ / مُحْتَشِمَةٌ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modest</a:t>
            </a:r>
            <a:pPr indent="0" marL="0">
              <a:buNone/>
            </a:pPr>
            <a:r>
              <a:rPr lang="en-US" sz="1000" i="1" dirty="0">
                <a:solidFill>
                  <a:srgbClr val="5A6472"/>
                </a:solidFill>
                <a:latin typeface="Calibri" pitchFamily="34" charset="0"/>
                <a:cs typeface="Amiri" pitchFamily="2" charset="-78"/>
              </a:rPr>
              <a:t>  m. / f.</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do your clothes say about you? Think of one outfit and two words to describe its style.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مَا أُسْلُوبُكَ فِي اللِّبَاسِ؟</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D2-L03: the picture game and the vocabulary tab (clothes and accessories).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shop conversation of 8 lines (customer + assistant).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100–120 words about a shopping trip.</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D2-L03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D2-L04 · Fashion and Identity — Opinions on Style and Dress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المَوْضَةُ وَالهُوِيَّةُ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feminine item → hādhihi + feminine colour + thamanuhā.</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D2-L03 · Clothes and Accessories — Vocabulary and Shopping</dc:title>
  <dc:subject>PptxGenJS Presentation</dc:subject>
  <dc:creator>Al Madina Online School · Arabic Department</dc:creator>
  <cp:lastModifiedBy>Al Madina Online School · Arabic Department</cp:lastModifiedBy>
  <cp:revision>1</cp:revision>
  <dcterms:created xsi:type="dcterms:W3CDTF">2026-10-11T06:40:34Z</dcterms:created>
  <dcterms:modified xsi:type="dcterms:W3CDTF">2026-10-11T06:40:34Z</dcterms:modified>
</cp:coreProperties>
</file>