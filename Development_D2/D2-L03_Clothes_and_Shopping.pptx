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D2-L03. The website lesson “Clothes and Accessories — Vocabulary and Shopping”: vocabulary, grammar rules and quiz, patterns, common mistakes, sorter, listening, reading, speaking prompts and model, writing task and model, differentiation, final check and the lesson mission. Picture match: website visual game “Clothes and Accessories — Vocabulary and Shopping”.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clothes words with هٰذَا / هٰذِهِ + three colours + two shop phrases (كَمْ ثَمَنُهُ؟ · أُرِيدُ أَنْ أُجَرِّبَ …). Develop: colour agreement with feminine items and size problems (ضَيِّقٌ / وَاسِعٌ). Stretch: a full shop role-play and a written shopping trip in the past.
• Decision routine for every item: masculine or feminine? (ـةٌ → feminine) → هٰذَا / هٰذِهِ → colour form → ثَمَنُهُ / ثَمَنُهَا.
• حِجَابٌ, مُحْتَشِمٌ: modest dress is a normal topic here — keep the focus on vocabulary and personal preference, never on judging others.
• Urdu bridge: قمیص، جراب / حجاب، کوٹ (→ coat is مِعْطَفٌ), قیمت (≠ ثَمَنٌ), رنگ (colour is لَوْنٌ).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clothes words prepared at home. Questions 3–5 retrieve D2-L02 (object endings, مَعَ) and D2-L01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Masculine item → هٰذَا + masculine colour. Feminine item (ـةٌ) → هٰذِهِ + feminine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قمیص (as in shalwar qamīz) → قَمِيصٌ (shirt). حجاب → حِجَابٌ. مناسب → مُنَاسِبٌ (suitable / fits). قیمت is Arabic قِيمَةٌ (value); for “price” Arabic prefers ثَمَنٌ → كَمْ ثَمَنُهُ؟ Colours: Urdu رنگ is Persian — the Arabic is 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accessories (website vocabulary (1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accessories (website vocabulary (2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language (website vocabulary (1 of 2)). Hear → Say → See → Use. Transliteration is printed for Core students (cover it for Develop/Stretch).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language (website vocabulary (2 of 2)). Hear → Say → See → Use. Transliteration is printed for Core students (cover it for Develop/Stretch).
FLEX: teach if time allows; otherwise these are on the website vocabulary tab for homework.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(1 of 2)). Hear → Say → See → Use. Transliteration is printed for Core students (cover it for Develop/Stretch).
FLEX: teach if time allows; otherwise these are on the website vocabulary tab for homework.
Style adjectives (FLEX here — taught fully in D2-L04).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(2 of 2)). Hear → Say → See → Use. Transliteration is printed for Core students (cover it for Develop/Stretch).
FLEX: teach if time allows; otherwise these are on the website vocabulary tab for homework.
Style adjectives (FLEX here — taught fully in D2-L04).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“This item” (the demonstrative agrees with the noun) and “Colour and size agreement” (adjectives follow the noun and agree in gender and definiteness). Colours from the website quiz and picture game.
Website common error: هٰذَا السُّتْرَةُ ✗ → هٰذِهِ السُّتْرَةُ ✓.
Colour pattern (Stretch): أَفْعَلُ → فَعْلَاءُ (أَزْرَقُ / زَرْقَاءُ, أَخْضَرُ / خَضْرَاءُ, أَصْفَرُ / صَفْرَاءُ).
Quick-fire: show an item on camera; students say هٰذَا / هٰذِهِ + the item + its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price with pronoun” (the suffix refers back to the item) and “Polite request” (أُرِيدُ أَنْ أُجَرِّبَ / هَلْ لَدَيْكُمْ …؟). أَنْ + subjunctive recycles D1-L04.
Prices: the website uses جُنَيْهًا (pound) — students may use جُنَيْهًا إِسْتَرْلِينِيًّا or just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“Select the correct demonstrative, make colour and size agree, ask about price and request an item politely.”
• This item: The demonstrative agrees with the noun.
• Colour and size agreement: Adjectives follow the noun and agree in gender and definiteness.
• Ask price with pronoun: The suffix refers back to the item.
• Polite request: Use a complete polite request in a shop.
Website common error: Do not use هٰذَا with a feminine item or leave the adjective in the wrong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plays the customer (website listening scene: Sara buys a jacket), thinking aloud about gender at every step. Then repeat with a masculine item (مِعْطَفٌ أَسْوَدُ) and students call out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دَخَلَتْ سَارَةُ مَتْجَرَ المَلَابِسِ وَقَالَتْ: أُرِيدُ أَنْ أُجَرِّبَ هٰذِهِ السُّتْرَةَ الزَّرْقَاءَ. سَأَلَتْ عَنِ المَقَاسِ لِأَنَّهَا كَانَتْ ضَيِّقَةً نَوْعًا مَا. أَحْضَرَتِ البَائِعَةُ مَقَاسًا أَكْبَرَ، وَكَانَتِ السُّتْرَةُ مُنَاسِبَةً وَمُرِيحَةً. سَأَلَتْ سَارَةُ: كَمْ ثَمَنُهَا؟ فَقَالَتِ البَائِعَةُ إِنَّ عَلَيْهَا تَخْفِيضًا وَثَمَنَهَا خَمْسَةٌ وَثَلَاثُونَ جُنَيْهًا.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تُرِيدُ أَنْ تُجَرِّبَهُ؟ (Do you want to try it on?)
B: نَعَمْ، وَأُرِيدُ مَقَاسًا أَكْبَرَ. (Yes, and I want a larger size.)
Website prompts (order changed for routes). Website model continues: A: هَلْ تُرِيدُ أَنْ تُجَرِّبَهُ؟ (Do you want to try it on?) B: نَعَمْ، وَأُرِيدُ مَقَاسًا أَكْبَرَ. (Yes, and I want a bigger size.) — pairs can extend it into a full shop role-play (customer +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about a shopping trip for clothes. Describe what you need, colours, sizes, prices, what you try on, what you buy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هَلْ لَدَيْكُمْ هٰذَا المِعْطَفُ بِمَقَاسٍ أَكْبَرَ؟ · أَسْوَدَ، بُنِّيًّا · كَمْ ثَمَنُهُ؟ · اشْتَرَيْتُ … لِأَنَّهُمَا عَمَلِيَّانِ. Stretch: the model is in the PAST (ذَهَبْتُ، رَأَيْتُ، جَرَّبْتُ، اشْتَرَيْتُ) — a good challenge for confident writers.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(D2-L04 · Fashion and Identity — Opinions on Style and Dress) will spend class time USING this language, so students prepare it tonight — short, simple, easy to access (school guidance: “Simple, Short, Interesting, Relevant, Easy to access”). The five words come from the website D2-L04 vocabulary (style adjectives).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Clothes and Accessories — Vocabulary and Shopping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المَلَابِسُ وَالإِكْسِسْوَارَاتُ — المُفْرَدَاتُ وَالتَّسَوُّقُ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clothes and accessories, choose </a:t>
            </a:r>
            <a:pPr algn="l" indent="0" marL="0">
              <a:buNone/>
            </a:pPr>
            <a:r>
              <a:rPr lang="ar-SA" altLang="en-US" sz="1800" dirty="0">
                <a:solidFill>
                  <a:srgbClr val="C6D2E6"/>
                </a:solidFill>
                <a:latin typeface="Amiri" pitchFamily="34" charset="0"/>
                <a:ea typeface="Amiri" pitchFamily="34" charset="-122"/>
                <a:cs typeface="Amiri" pitchFamily="34" charset="-120"/>
              </a:rPr>
              <a:t>هٰذَا</a:t>
            </a:r>
            <a:pPr algn="l" indent="0" marL="0">
              <a:buNone/>
            </a:pPr>
            <a:r>
              <a:rPr lang="en-US" sz="1400" dirty="0">
                <a:solidFill>
                  <a:srgbClr val="C6D2E6"/>
                </a:solidFill>
                <a:latin typeface="Calibri" pitchFamily="34" charset="0"/>
                <a:ea typeface="Calibri" pitchFamily="34" charset="-122"/>
                <a:cs typeface="Calibri" pitchFamily="34" charset="-120"/>
              </a:rPr>
              <a:t> or </a:t>
            </a:r>
            <a:pPr algn="l" indent="0" marL="0">
              <a:buNone/>
            </a:pPr>
            <a:r>
              <a:rPr lang="ar-SA" altLang="en-US" sz="1800" dirty="0">
                <a:solidFill>
                  <a:srgbClr val="C6D2E6"/>
                </a:solidFill>
                <a:latin typeface="Amiri" pitchFamily="34" charset="0"/>
                <a:ea typeface="Amiri" pitchFamily="34" charset="-122"/>
                <a:cs typeface="Amiri" pitchFamily="34" charset="-120"/>
              </a:rPr>
              <a:t>هٰذِهِ</a:t>
            </a:r>
            <a:pPr algn="l" indent="0" marL="0">
              <a:buNone/>
            </a:pPr>
            <a:r>
              <a:rPr lang="en-US" sz="1400" dirty="0">
                <a:solidFill>
                  <a:srgbClr val="C6D2E6"/>
                </a:solidFill>
                <a:latin typeface="Calibri" pitchFamily="34" charset="0"/>
                <a:ea typeface="Calibri" pitchFamily="34" charset="-122"/>
                <a:cs typeface="Calibri" pitchFamily="34" charset="-120"/>
              </a:rPr>
              <a:t>, make the colour agree (</a:t>
            </a:r>
            <a:pPr algn="l" indent="0" marL="0">
              <a:buNone/>
            </a:pPr>
            <a:r>
              <a:rPr lang="ar-SA" altLang="en-US" sz="1800" dirty="0">
                <a:solidFill>
                  <a:srgbClr val="C6D2E6"/>
                </a:solidFill>
                <a:latin typeface="Amiri" pitchFamily="34" charset="0"/>
                <a:ea typeface="Amiri" pitchFamily="34" charset="-122"/>
                <a:cs typeface="Amiri" pitchFamily="34" charset="-120"/>
              </a:rPr>
              <a:t>أَزْرَقُ / زَرْقَاءُ</a:t>
            </a:r>
            <a:pPr algn="l" indent="0" marL="0">
              <a:buNone/>
            </a:pPr>
            <a:r>
              <a:rPr lang="en-US" sz="1400" dirty="0">
                <a:solidFill>
                  <a:srgbClr val="C6D2E6"/>
                </a:solidFill>
                <a:latin typeface="Calibri" pitchFamily="34" charset="0"/>
                <a:ea typeface="Calibri" pitchFamily="34" charset="-122"/>
                <a:cs typeface="Calibri" pitchFamily="34" charset="-120"/>
              </a:rPr>
              <a:t>), and shop politely: ask for a size, try something on and ask the price.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D2-L03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This / this (f.) + colour agreement, then shop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فُسْتَانٌ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shirt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حِذَاءٌ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trousers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belt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support him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supports 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elegant and calm.”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أَنِيقٌ وَهَادِئٌ.</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أَنِيقَةٌ وَهَادِئَةٌ.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أَنِيقَةٌ وَهَادِئَةٌ.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brother.”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فُسْتَانٌ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dress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shirt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حِذَاءٌ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trousers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belt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support him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supports 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supports 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D2-L02: -nī = 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elegant and calm.”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أَنِيقٌ وَهَادِئٌ.</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أَنِيقَةٌ وَهَادِئَةٌ.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أَنِيقَةٌ وَهَادِئَةٌ.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she → -a(tun).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brother.”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 أَخِي.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 أَخِي.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يَتَفَاهَمُ مَعَ أَخِي.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D2-L02: with = maʿa.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Masculine item → </a:t>
            </a:r>
            <a:pPr algn="l" indent="0" marL="0">
              <a:buNone/>
            </a:pPr>
            <a:r>
              <a:rPr lang="ar-SA" altLang="en-US" sz="1700" b="1" dirty="0">
                <a:solidFill>
                  <a:srgbClr val="1F2A37"/>
                </a:solidFill>
                <a:latin typeface="Amiri" pitchFamily="34" charset="0"/>
                <a:ea typeface="Amiri" pitchFamily="34" charset="-122"/>
                <a:cs typeface="Amiri" pitchFamily="34" charset="-120"/>
              </a:rPr>
              <a:t>هٰذَا</a:t>
            </a:r>
            <a:pPr algn="l" indent="0" marL="0">
              <a:buNone/>
            </a:pPr>
            <a:r>
              <a:rPr lang="en-US" sz="1300" b="1" dirty="0">
                <a:solidFill>
                  <a:srgbClr val="1F2A37"/>
                </a:solidFill>
                <a:latin typeface="Calibri" pitchFamily="34" charset="0"/>
                <a:ea typeface="Calibri" pitchFamily="34" charset="-122"/>
                <a:cs typeface="Calibri" pitchFamily="34" charset="-120"/>
              </a:rPr>
              <a:t> + masculine colour. Feminine item (</a:t>
            </a:r>
            <a:pPr algn="l" indent="0" marL="0">
              <a:buNone/>
            </a:pPr>
            <a:r>
              <a:rPr lang="ar-SA" altLang="en-US" sz="1700" b="1" dirty="0">
                <a:solidFill>
                  <a:srgbClr val="1F2A37"/>
                </a:solidFill>
                <a:latin typeface="Amiri" pitchFamily="34" charset="0"/>
                <a:ea typeface="Amiri" pitchFamily="34" charset="-122"/>
                <a:cs typeface="Amiri" pitchFamily="34" charset="-120"/>
              </a:rPr>
              <a:t>ـةٌ</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هٰذِهِ</a:t>
            </a:r>
            <a:pPr algn="l" indent="0" marL="0">
              <a:buNone/>
            </a:pPr>
            <a:r>
              <a:rPr lang="en-US" sz="1300" b="1" dirty="0">
                <a:solidFill>
                  <a:srgbClr val="1F2A37"/>
                </a:solidFill>
                <a:latin typeface="Calibri" pitchFamily="34" charset="0"/>
                <a:ea typeface="Calibri" pitchFamily="34" charset="-122"/>
                <a:cs typeface="Calibri" pitchFamily="34" charset="-120"/>
              </a:rPr>
              <a:t> + feminine colour.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هٰذَا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القَمِيصُ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الأَزْرَقُ</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هٰذِهِ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السُّتْرَةُ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الزَّرْقَاءُ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D2-L03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Demonstratives, adjective agreement and polite shopping.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clothes and accessories.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“How much is it?” and “Can I try it 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هٰذَا / هٰذِهِ</a:t>
            </a:r>
            <a:pPr algn="l" indent="0" marL="0">
              <a:buNone/>
            </a:pPr>
            <a:r>
              <a:rPr lang="en-US" sz="1300" b="1" dirty="0">
                <a:solidFill>
                  <a:srgbClr val="C9780A"/>
                </a:solidFill>
                <a:latin typeface="Calibri" pitchFamily="34" charset="0"/>
                <a:ea typeface="Calibri" pitchFamily="34" charset="-122"/>
                <a:cs typeface="Calibri" pitchFamily="34" charset="-120"/>
              </a:rPr>
              <a:t> and make colours agree.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something is too tight or too loose.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run a complete shop conversation.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 shopping trip in the past and explain my choice.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Clothes and accessories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Shopping language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Style and suitability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قَمِيصٌ</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‎قمیص‎ </a:t>
            </a:r>
            <a:pPr indent="0" marL="0">
              <a:buNone/>
            </a:pPr>
            <a:r>
              <a:rPr lang="en-US" sz="950" b="1" dirty="0">
                <a:solidFill>
                  <a:srgbClr val="2E8B57"/>
                </a:solidFill>
                <a:latin typeface="Calibri" pitchFamily="34" charset="0"/>
                <a:ea typeface="Calibri" pitchFamily="34" charset="-122"/>
                <a:cs typeface="Calibri" pitchFamily="34" charset="-120"/>
              </a:rPr>
              <a:t> qamīz · shirt, tunic</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حِجَابٌ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‎حجاب‎ </a:t>
            </a:r>
            <a:pPr indent="0" marL="0">
              <a:buNone/>
            </a:pPr>
            <a:r>
              <a:rPr lang="en-US" sz="950" b="1" dirty="0">
                <a:solidFill>
                  <a:srgbClr val="2E8B57"/>
                </a:solidFill>
                <a:latin typeface="Calibri" pitchFamily="34" charset="0"/>
                <a:ea typeface="Calibri" pitchFamily="34" charset="-122"/>
                <a:cs typeface="Calibri" pitchFamily="34" charset="-120"/>
              </a:rPr>
              <a:t> hijāb · headscarf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‎قیمت‎ </a:t>
            </a:r>
            <a:pPr indent="0" marL="0">
              <a:buNone/>
            </a:pPr>
            <a:r>
              <a:rPr lang="en-US" sz="950" b="1" dirty="0">
                <a:solidFill>
                  <a:srgbClr val="2E8B57"/>
                </a:solidFill>
                <a:latin typeface="Calibri" pitchFamily="34" charset="0"/>
                <a:ea typeface="Calibri" pitchFamily="34" charset="-122"/>
                <a:cs typeface="Calibri" pitchFamily="34" charset="-120"/>
              </a:rPr>
              <a:t> qīmat · price (Arabic qīma = value)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‎رنگ‎ </a:t>
            </a:r>
            <a:pPr indent="0" marL="0">
              <a:buNone/>
            </a:pPr>
            <a:r>
              <a:rPr lang="en-US" sz="950" b="1" dirty="0">
                <a:solidFill>
                  <a:srgbClr val="2E8B57"/>
                </a:solidFill>
                <a:latin typeface="Calibri" pitchFamily="34" charset="0"/>
                <a:ea typeface="Calibri" pitchFamily="34" charset="-122"/>
                <a:cs typeface="Calibri" pitchFamily="34" charset="-120"/>
              </a:rPr>
              <a:t> rang · colour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مُنَاسِبٌ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‎مناسب‎ </a:t>
            </a:r>
            <a:pPr indent="0" marL="0">
              <a:buNone/>
            </a:pPr>
            <a:r>
              <a:rPr lang="en-US" sz="950" b="1" dirty="0">
                <a:solidFill>
                  <a:srgbClr val="2E8B57"/>
                </a:solidFill>
                <a:latin typeface="Calibri" pitchFamily="34" charset="0"/>
                <a:ea typeface="Calibri" pitchFamily="34" charset="-122"/>
                <a:cs typeface="Calibri" pitchFamily="34" charset="-120"/>
              </a:rPr>
              <a:t> munāsib · suitable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and accessories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سِرْوَالٌ</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trousers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sir-wā-lun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سَرَاوِيلُ</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السِّرْوَالُ</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تَنُّورَةٌ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skirt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tan-nū-ra-tun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تَنَانِيرُ</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1" name="Text 7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التَّنُّورَةُ</a:t>
            </a:r>
            <a:endParaRPr lang="ar-SA" sz="135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8" name="Shape 8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فُسْتَانٌ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fus-tā-nun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فَسَاتِينُ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9" name="Text 96"/>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الفُسْتَانُ</a:t>
            </a:r>
            <a:endParaRPr lang="ar-SA" sz="135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6" name="Shape 103"/>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مِعْطَفٌ</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miʿ-ṭa-fun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مَعَاطِفُ</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117" name="Text 114"/>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المِعْطَفُ</a:t>
            </a:r>
            <a:endParaRPr lang="ar-SA" sz="135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and accessories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سُتْرَةٌ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jacket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sut-ra-tun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سُتَرٌ</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السُّتْرَةُ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حِذَاءٌ</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ḥi-dhā-ʾun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أَحْذِيَةٌ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الحِذَاءُ</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حِجَابٌ</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headscarf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ḥi-jā-bun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أَحْجِبَةٌ</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الحِجَابُ</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قُبَّعَةٌ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qub-ba-ʿa-tun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قُبَّعَاتٌ</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القُبَّعَةُ</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6" name="Shape 8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حِزَامٌ</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ḥi-zā-mun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أَحْزِمَةٌ</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5" name="Text 92"/>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الحِزَامُ</a:t>
            </a:r>
            <a:endParaRPr lang="ar-SA" sz="135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2" name="Shape 9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حَقَائِبُ</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113" name="Text 110"/>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الحَقِيبَةُ</a:t>
            </a:r>
            <a:endParaRPr lang="ar-SA" sz="135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Shopping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size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القِيَاسِ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changing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ghur-fa-tu al-qi-yā-si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tha-ma-nun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تَخْفِيضٌ</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takh-fī-ḍun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مُنَاسِبٌ / مُنَاسِبَةٌ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suitable/fits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mu-nā-si-bun / mu-nā-si-ba-tun</a:t>
            </a:r>
            <a:endParaRPr lang="en-US" sz="1350" dirty="0"/>
          </a:p>
        </p:txBody>
      </p:sp>
      <p:sp>
        <p:nvSpPr>
          <p:cNvPr id="46" name="Shape 4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مُنَاسِبُونَ</a:t>
            </a:r>
            <a:endParaRPr lang="ar-SA" sz="1500" dirty="0"/>
          </a:p>
        </p:txBody>
      </p:sp>
      <p:sp>
        <p:nvSpPr>
          <p:cNvPr id="49" name="Shape 4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1" name="Text 4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مُنَاسِبَةٌ</a:t>
            </a:r>
            <a:endParaRPr lang="ar-SA" sz="1500" dirty="0"/>
          </a:p>
        </p:txBody>
      </p:sp>
      <p:sp>
        <p:nvSpPr>
          <p:cNvPr id="52" name="Shape 4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4" name="Text 5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مُنَاسِبٌ</a:t>
            </a:r>
            <a:endParaRPr lang="ar-SA" sz="15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8" name="Shape 5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0" name="Text 5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وَاسِعٌ / وَاسِعَةٌ</a:t>
            </a:r>
            <a:endParaRPr lang="ar-SA" sz="3000" dirty="0"/>
          </a:p>
        </p:txBody>
      </p:sp>
      <p:sp>
        <p:nvSpPr>
          <p:cNvPr id="61" name="Text 5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loose/wide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wā-si-ʿun / wā-si-ʿa-tun</a:t>
            </a:r>
            <a:endParaRPr lang="en-US" sz="1350" dirty="0"/>
          </a:p>
        </p:txBody>
      </p:sp>
      <p:sp>
        <p:nvSpPr>
          <p:cNvPr id="62" name="Shape 5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4" name="Text 6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وَاسِعَةٌ</a:t>
            </a:r>
            <a:endParaRPr lang="ar-SA" sz="1500" dirty="0"/>
          </a:p>
        </p:txBody>
      </p:sp>
      <p:sp>
        <p:nvSpPr>
          <p:cNvPr id="65" name="Shape 6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7" name="Text 6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وَاسِعَةٌ</a:t>
            </a:r>
            <a:endParaRPr lang="ar-SA" sz="1500" dirty="0"/>
          </a:p>
        </p:txBody>
      </p:sp>
      <p:sp>
        <p:nvSpPr>
          <p:cNvPr id="68" name="Shape 6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وَاسِعٌ</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Shopping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ضَيِّقٌ / ضَيِّقَةٌ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tight/narrow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ḍay-yi-qun / ḍay-yi-qa-tun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ضَيِّقَةٌ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أُجَرِّبَ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try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u-jar-ri-ba</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لَدَيْكُمْ...؟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la-day-kum...?</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ثَمَنُهُ / ثَمَنُهَا؟</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is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tha-ma-nu-hu / tha-ma-nu-hā?</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أَبْحَثُ عَنْ</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looking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ab-ḥa-thu ʿan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سَأَشْتَرِي</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buy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sa-ʾash-ta-rī</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and suitability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and suitability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1" name="Shape 3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57" name="Shape 5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61" name="Shape 5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3" name="Text 6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64" name="Shape 6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6" name="Text 6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67" name="Shape 6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9" name="Text 6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THIS + COLOUR AGREEMENT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blue shirt · this blue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 هٰذِهِ ·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item</a:t>
            </a:r>
            <a:endParaRPr lang="en-US" sz="1100" dirty="0"/>
          </a:p>
        </p:txBody>
      </p:sp>
      <p:sp>
        <p:nvSpPr>
          <p:cNvPr id="17" name="Text 14"/>
          <p:cNvSpPr txBox="1"/>
          <p:nvPr/>
        </p:nvSpPr>
        <p:spPr>
          <a:xfrm>
            <a:off x="36667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item</a:t>
            </a:r>
            <a:endParaRPr lang="en-US" sz="1100" dirty="0"/>
          </a:p>
        </p:txBody>
      </p:sp>
      <p:sp>
        <p:nvSpPr>
          <p:cNvPr id="18" name="Text 15"/>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Colour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القَمِيصُ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الأَزْرَقُ</a:t>
            </a:r>
            <a:endParaRPr lang="ar-SA" sz="2400" dirty="0"/>
          </a:p>
        </p:txBody>
      </p:sp>
      <p:sp>
        <p:nvSpPr>
          <p:cNvPr id="21" name="Text 18"/>
          <p:cNvSpPr txBox="1"/>
          <p:nvPr/>
        </p:nvSpPr>
        <p:spPr>
          <a:xfrm>
            <a:off x="368503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السُّتْرَةُ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الزَّرْقَاءُ</a:t>
            </a:r>
            <a:endParaRPr lang="ar-SA" sz="2400" dirty="0"/>
          </a:p>
        </p:txBody>
      </p:sp>
      <p:sp>
        <p:nvSpPr>
          <p:cNvPr id="22" name="Text 19"/>
          <p:cNvSpPr txBox="1"/>
          <p:nvPr/>
        </p:nvSpPr>
        <p:spPr>
          <a:xfrm>
            <a:off x="56692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blue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المِعْطَفُ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الأَسْوَدُ</a:t>
            </a:r>
            <a:endParaRPr lang="ar-SA" sz="2400" dirty="0"/>
          </a:p>
        </p:txBody>
      </p:sp>
      <p:sp>
        <p:nvSpPr>
          <p:cNvPr id="27" name="Text 24"/>
          <p:cNvSpPr txBox="1"/>
          <p:nvPr/>
        </p:nvSpPr>
        <p:spPr>
          <a:xfrm>
            <a:off x="368503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الحَقِيبَةُ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السَّوْدَاءُ</a:t>
            </a:r>
            <a:endParaRPr lang="ar-SA" sz="2400" dirty="0"/>
          </a:p>
        </p:txBody>
      </p:sp>
      <p:sp>
        <p:nvSpPr>
          <p:cNvPr id="28" name="Text 25"/>
          <p:cNvSpPr txBox="1"/>
          <p:nvPr/>
        </p:nvSpPr>
        <p:spPr>
          <a:xfrm>
            <a:off x="56692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black</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الحِذَاءُ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الأَبْيَضُ</a:t>
            </a:r>
            <a:endParaRPr lang="ar-SA" sz="2400" dirty="0"/>
          </a:p>
        </p:txBody>
      </p:sp>
      <p:sp>
        <p:nvSpPr>
          <p:cNvPr id="33" name="Text 30"/>
          <p:cNvSpPr txBox="1"/>
          <p:nvPr/>
        </p:nvSpPr>
        <p:spPr>
          <a:xfrm>
            <a:off x="368503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التَّنُّورَةُ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البَيْضَاءُ</a:t>
            </a:r>
            <a:endParaRPr lang="ar-SA" sz="2400" dirty="0"/>
          </a:p>
        </p:txBody>
      </p:sp>
      <p:sp>
        <p:nvSpPr>
          <p:cNvPr id="34" name="Text 31"/>
          <p:cNvSpPr txBox="1"/>
          <p:nvPr/>
        </p:nvSpPr>
        <p:spPr>
          <a:xfrm>
            <a:off x="56692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white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الفُسْتَانُ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الأَحْمَرُ</a:t>
            </a:r>
            <a:endParaRPr lang="ar-SA" sz="2400" dirty="0"/>
          </a:p>
        </p:txBody>
      </p:sp>
      <p:sp>
        <p:nvSpPr>
          <p:cNvPr id="39" name="Text 36"/>
          <p:cNvSpPr txBox="1"/>
          <p:nvPr/>
        </p:nvSpPr>
        <p:spPr>
          <a:xfrm>
            <a:off x="368503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القُبَّعَةُ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الحَمْرَاءُ</a:t>
            </a:r>
            <a:endParaRPr lang="ar-SA" sz="2400" dirty="0"/>
          </a:p>
        </p:txBody>
      </p:sp>
      <p:sp>
        <p:nvSpPr>
          <p:cNvPr id="40" name="Text 37"/>
          <p:cNvSpPr txBox="1"/>
          <p:nvPr/>
        </p:nvSpPr>
        <p:spPr>
          <a:xfrm>
            <a:off x="56692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الحِزَامُ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البُنِّيُّ</a:t>
            </a:r>
            <a:endParaRPr lang="ar-SA" sz="2400" dirty="0"/>
          </a:p>
        </p:txBody>
      </p:sp>
      <p:sp>
        <p:nvSpPr>
          <p:cNvPr id="43" name="Text 40"/>
          <p:cNvSpPr txBox="1"/>
          <p:nvPr/>
        </p:nvSpPr>
        <p:spPr>
          <a:xfrm>
            <a:off x="368503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الحَقِيبَةُ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البُنِّيَّةُ</a:t>
            </a:r>
            <a:endParaRPr lang="ar-SA" sz="2400" dirty="0"/>
          </a:p>
        </p:txBody>
      </p:sp>
      <p:sp>
        <p:nvSpPr>
          <p:cNvPr id="44" name="Text 41"/>
          <p:cNvSpPr txBox="1"/>
          <p:nvPr/>
        </p:nvSpPr>
        <p:spPr>
          <a:xfrm>
            <a:off x="56692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brown (+ -a)</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Main colours change shape for feminine: aḥmar → ḥamrāʾ. Other colours just add -a: bunnī → bunniyya.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POLITE SHOPPING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 the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المَتْجَرِ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TRY 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أُرِيدُ أَنْ أُجَرِّبَ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أُرِيدُ أَنْ أُجَرِّبَ هٰذَا المِعْطَفَ.</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to try on this coat.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fatḥa (D1-L04).</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SIZE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لَدَيْكُمْ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هَلْ لَدَيْكُمْ مَقَاسٌ أَكْبَرُ؟ هٰذِهِ السُّتْرَةُ ضَيِّقَةٌ.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 you have a bigger size? This jacket is tight.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Tight / loose agree too.</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PRICE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كَمْ ثَمَنُهُ / ثَمَنُهَا؟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كَمْ ثَمَنُهَا؟ — الحَقِيبَةُ بِأَرْبَعِينَ جُنَيْهًا.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much is it? — The bag is forty pounds.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-hu for m., -hā for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ask the price with the right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الحَقِيبَةُ: كَمْ ثَمَنُهَا؟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الحَقِيبَةُ: كَمْ ثَمَنُهُ؟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Demonstratives, adjective agreement and polite shopping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100" b="1" dirty="0">
                <a:solidFill>
                  <a:srgbClr val="8A6D1E"/>
                </a:solidFill>
                <a:latin typeface="Amiri" pitchFamily="34" charset="0"/>
                <a:ea typeface="Amiri" pitchFamily="34" charset="-122"/>
                <a:cs typeface="Amiri" pitchFamily="34" charset="-120"/>
              </a:rPr>
              <a:t>أَسْمَاءُ الإِشَارَةِ وَمُطَابَقَةُ الصِّفَةِ وَلُغَةُ التَّسَوُّقِ</a:t>
            </a:r>
            <a:endParaRPr lang="ar-SA" sz="21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This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هٰذَا + مُذَكَّرٌ / هٰذِهِ + مُؤَنَّثٌ</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القَمِيصُ جَمِيلٌ.   ·   هٰذِهِ السُّتْرَةُ جَمِيلَةٌ.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Colour and size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القَمِيصُ الأَبْيَضُ   ·   الحَقِيبَةُ السَّوْدَاءُ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Ask price with pronoun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ثَمَنُهُ؟ / كَمْ ثَمَنُهَا؟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كَمْ ثَمَنُهُ؟ القَمِيصُ بِثَلَاثِينَ جُنَيْهًا.   ·   كَمْ ثَمَنُهَا؟ الحَقِيبَةُ بِأَرْبَعِينَ جُنَيْهًا.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Polite request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أَنْ أُجَرِّبَ / هَلْ لَدَيْكُمْ...؟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أَنْ أُجَرِّبَ هٰذَا المِعْطَفَ.   ·   هَلْ لَدَيْكُمْ هٰذِهِ السُّتْرَةُ بِمَقَاسٍ أَكْبَرَ؟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القَمِيصُ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الأَزْرَقُ</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الزَّرْقَاءُ</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مَقَاسُهُ؟</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polite request.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أُجَرِّبَ هٰذَا الحِذَاءَ.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أُجَرِّبُ هٰذَا.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جَرِّبْ أَنَا الحِذَاءَ.</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السُّتْرَةُ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السُّتْرَةَ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السُّتْرَةُ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القَمِيصُ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الأَزْرَقُ</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الزَّرْقَاءُ</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definite noun takes masculine definite adjective.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مَقَاسُهُ؟</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polite request.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أُجَرِّبَ هٰذَا الحِذَاءَ.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أُجَرِّبُ هٰذَا.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جَرِّبْ أَنَا الحِذَاءَ.</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subjunctive verb.</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buy a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هَلْ لَدَيْكُمْ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هٰذِهِ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السُّتْرَةُ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الزَّرْقَاءُ</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Sutra ends in -a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Try 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أُرِيدُ أَنْ أُجَرِّبَ</a:t>
            </a:r>
            <a:pPr rtl="1" algn="ctr" indent="0" marL="0">
              <a:buNone/>
            </a:pPr>
            <a:r>
              <a:rPr lang="ar-SA" altLang="en-US" sz="2800" b="1" dirty="0">
                <a:solidFill>
                  <a:srgbClr val="1D5FBF"/>
                </a:solidFill>
                <a:latin typeface="Amiri" pitchFamily="34" charset="0"/>
                <a:ea typeface="Amiri" pitchFamily="34" charset="-122"/>
                <a:cs typeface="Amiri" pitchFamily="34" charset="-120"/>
              </a:rPr>
              <a:t>هَا</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fatḥa; -hā = it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Problem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ضَيِّقَ</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نَوْعًا مَا؛ هَلْ لَدَيْكُمْ مَقَاسٌ أَكْبَرُ؟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Tight agrees too.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كَمْ ثَمَنُ</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خَمْسَةٌ وَثَلَاثُونَ جُنَيْهًا.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item → thamanuhā.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OBJECT (-HĀ = IT)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لَدَيْكُمْ </a:t>
            </a:r>
            <a:pPr rtl="1" algn="r" indent="0" marL="0">
              <a:buNone/>
            </a:pPr>
            <a:r>
              <a:rPr lang="ar-SA" altLang="en-US" sz="1800" b="1" dirty="0">
                <a:solidFill>
                  <a:srgbClr val="D6336C"/>
                </a:solidFill>
                <a:latin typeface="Amiri" pitchFamily="34" charset="0"/>
                <a:ea typeface="Amiri" pitchFamily="34" charset="-122"/>
                <a:cs typeface="Amiri" pitchFamily="34" charset="-120"/>
              </a:rPr>
              <a:t>هٰذِهِ</a:t>
            </a:r>
            <a:pPr rtl="1" algn="r" indent="0" marL="0">
              <a:buNone/>
            </a:pPr>
            <a:r>
              <a:rPr lang="ar-SA" altLang="en-US" sz="1800" b="1" dirty="0">
                <a:solidFill>
                  <a:srgbClr val="1B3B6F"/>
                </a:solidFill>
                <a:latin typeface="Amiri" pitchFamily="34" charset="0"/>
                <a:ea typeface="Amiri" pitchFamily="34" charset="-122"/>
                <a:cs typeface="Amiri" pitchFamily="34" charset="-120"/>
              </a:rPr>
              <a:t> السُّتْرَةُ </a:t>
            </a:r>
            <a:pPr rtl="1" algn="r" indent="0" marL="0">
              <a:buNone/>
            </a:pPr>
            <a:r>
              <a:rPr lang="ar-SA" altLang="en-US" sz="1800" b="1" dirty="0">
                <a:solidFill>
                  <a:srgbClr val="D6336C"/>
                </a:solidFill>
                <a:latin typeface="Amiri" pitchFamily="34" charset="0"/>
                <a:ea typeface="Amiri" pitchFamily="34" charset="-122"/>
                <a:cs typeface="Amiri" pitchFamily="34" charset="-120"/>
              </a:rPr>
              <a:t>الزَّرْقَاءُ</a:t>
            </a:r>
            <a:pPr rtl="1" algn="r" indent="0" marL="0">
              <a:buNone/>
            </a:pPr>
            <a:r>
              <a:rPr lang="ar-SA" altLang="en-US" sz="1800" b="1" dirty="0">
                <a:solidFill>
                  <a:srgbClr val="1B3B6F"/>
                </a:solidFill>
                <a:latin typeface="Amiri" pitchFamily="34" charset="0"/>
                <a:ea typeface="Amiri" pitchFamily="34" charset="-122"/>
                <a:cs typeface="Amiri" pitchFamily="34" charset="-120"/>
              </a:rPr>
              <a:t>؟ أُرِيدُ أَنْ أُجَرِّبَ</a:t>
            </a:r>
            <a:pPr rtl="1" algn="r" indent="0" marL="0">
              <a:buNone/>
            </a:pPr>
            <a:r>
              <a:rPr lang="ar-SA" altLang="en-US" sz="1800" b="1" dirty="0">
                <a:solidFill>
                  <a:srgbClr val="1D5FBF"/>
                </a:solidFill>
                <a:latin typeface="Amiri" pitchFamily="34" charset="0"/>
                <a:ea typeface="Amiri" pitchFamily="34" charset="-122"/>
                <a:cs typeface="Amiri" pitchFamily="34" charset="-120"/>
              </a:rPr>
              <a:t>هَا</a:t>
            </a:r>
            <a:pPr rtl="1" algn="r" indent="0" marL="0">
              <a:buNone/>
            </a:pPr>
            <a:r>
              <a:rPr lang="ar-SA" altLang="en-US" sz="1800" b="1" dirty="0">
                <a:solidFill>
                  <a:srgbClr val="1B3B6F"/>
                </a:solidFill>
                <a:latin typeface="Amiri" pitchFamily="34" charset="0"/>
                <a:ea typeface="Amiri" pitchFamily="34" charset="-122"/>
                <a:cs typeface="Amiri" pitchFamily="34" charset="-120"/>
              </a:rPr>
              <a:t>. … </a:t>
            </a:r>
            <a:pPr rtl="1" algn="r" indent="0" marL="0">
              <a:buNone/>
            </a:pPr>
            <a:r>
              <a:rPr lang="ar-SA" altLang="en-US" sz="1800" b="1" dirty="0">
                <a:solidFill>
                  <a:srgbClr val="D6336C"/>
                </a:solidFill>
                <a:latin typeface="Amiri" pitchFamily="34" charset="0"/>
                <a:ea typeface="Amiri" pitchFamily="34" charset="-122"/>
                <a:cs typeface="Amiri" pitchFamily="34" charset="-120"/>
              </a:rPr>
              <a:t>هِيَ</a:t>
            </a:r>
            <a:pPr rtl="1" algn="r" indent="0" marL="0">
              <a:buNone/>
            </a:pPr>
            <a:r>
              <a:rPr lang="ar-SA" altLang="en-US" sz="1800" b="1" dirty="0">
                <a:solidFill>
                  <a:srgbClr val="1B3B6F"/>
                </a:solidFill>
                <a:latin typeface="Amiri" pitchFamily="34" charset="0"/>
                <a:ea typeface="Amiri" pitchFamily="34" charset="-122"/>
                <a:cs typeface="Amiri" pitchFamily="34" charset="-120"/>
              </a:rPr>
              <a:t> ضَيِّقَ</a:t>
            </a:r>
            <a:pPr rtl="1" algn="r" indent="0" marL="0">
              <a:buNone/>
            </a:pPr>
            <a:r>
              <a:rPr lang="ar-SA" altLang="en-US" sz="1800" b="1" dirty="0">
                <a:solidFill>
                  <a:srgbClr val="D6336C"/>
                </a:solidFill>
                <a:latin typeface="Amiri" pitchFamily="34" charset="0"/>
                <a:ea typeface="Amiri" pitchFamily="34" charset="-122"/>
                <a:cs typeface="Amiri" pitchFamily="34" charset="-120"/>
              </a:rPr>
              <a:t>ةٌ</a:t>
            </a:r>
            <a:pPr rtl="1" algn="r" indent="0" marL="0">
              <a:buNone/>
            </a:pPr>
            <a:r>
              <a:rPr lang="ar-SA" altLang="en-US" sz="1800" b="1" dirty="0">
                <a:solidFill>
                  <a:srgbClr val="1B3B6F"/>
                </a:solidFill>
                <a:latin typeface="Amiri" pitchFamily="34" charset="0"/>
                <a:ea typeface="Amiri" pitchFamily="34" charset="-122"/>
                <a:cs typeface="Amiri" pitchFamily="34" charset="-120"/>
              </a:rPr>
              <a:t> نَوْعًا مَا؛ هَلْ لَدَيْكُمْ مَقَاسٌ أَكْبَرُ؟ … الآنَ هِيَ مُنَاسِبَ</a:t>
            </a:r>
            <a:pPr rtl="1" algn="r" indent="0" marL="0">
              <a:buNone/>
            </a:pPr>
            <a:r>
              <a:rPr lang="ar-SA" altLang="en-US" sz="1800" b="1" dirty="0">
                <a:solidFill>
                  <a:srgbClr val="D6336C"/>
                </a:solidFill>
                <a:latin typeface="Amiri" pitchFamily="34" charset="0"/>
                <a:ea typeface="Amiri" pitchFamily="34" charset="-122"/>
                <a:cs typeface="Amiri" pitchFamily="34" charset="-120"/>
              </a:rPr>
              <a:t>ةٌ</a:t>
            </a:r>
            <a:pPr rtl="1" algn="r" indent="0" marL="0">
              <a:buNone/>
            </a:pPr>
            <a:r>
              <a:rPr lang="ar-SA" altLang="en-US" sz="1800" b="1" dirty="0">
                <a:solidFill>
                  <a:srgbClr val="1B3B6F"/>
                </a:solidFill>
                <a:latin typeface="Amiri" pitchFamily="34" charset="0"/>
                <a:ea typeface="Amiri" pitchFamily="34" charset="-122"/>
                <a:cs typeface="Amiri" pitchFamily="34" charset="-120"/>
              </a:rPr>
              <a:t> وَمُرِيحَ</a:t>
            </a:r>
            <a:pPr rtl="1" algn="r" indent="0" marL="0">
              <a:buNone/>
            </a:pPr>
            <a:r>
              <a:rPr lang="ar-SA" altLang="en-US" sz="1800" b="1" dirty="0">
                <a:solidFill>
                  <a:srgbClr val="D6336C"/>
                </a:solidFill>
                <a:latin typeface="Amiri" pitchFamily="34" charset="0"/>
                <a:ea typeface="Amiri" pitchFamily="34" charset="-122"/>
                <a:cs typeface="Amiri" pitchFamily="34" charset="-120"/>
              </a:rPr>
              <a:t>ةٌ</a:t>
            </a:r>
            <a:pPr rtl="1" algn="r" indent="0" marL="0">
              <a:buNone/>
            </a:pPr>
            <a:r>
              <a:rPr lang="ar-SA" altLang="en-US" sz="1800" b="1" dirty="0">
                <a:solidFill>
                  <a:srgbClr val="1B3B6F"/>
                </a:solidFill>
                <a:latin typeface="Amiri" pitchFamily="34" charset="0"/>
                <a:ea typeface="Amiri" pitchFamily="34" charset="-122"/>
                <a:cs typeface="Amiri" pitchFamily="34" charset="-120"/>
              </a:rPr>
              <a:t>. كَمْ ثَمَنُ</a:t>
            </a:r>
            <a:pPr rtl="1" algn="r" indent="0" marL="0">
              <a:buNone/>
            </a:pPr>
            <a:r>
              <a:rPr lang="ar-SA" altLang="en-US" sz="1800" b="1" dirty="0">
                <a:solidFill>
                  <a:srgbClr val="D6336C"/>
                </a:solidFill>
                <a:latin typeface="Amiri" pitchFamily="34" charset="0"/>
                <a:ea typeface="Amiri" pitchFamily="34" charset="-122"/>
                <a:cs typeface="Amiri" pitchFamily="34" charset="-120"/>
              </a:rPr>
              <a:t>هَا</a:t>
            </a:r>
            <a:pPr rtl="1" algn="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Do you have this blue jacket? I would like to try it on. … It is somewhat tight; do you have a bigger size? … Now it fits and is comfortable. How much is it?</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القَمِيصُ جَمِيلٌ.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shirt is beautiful.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hādhā + masculine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القَمِيصُ الأَبْيَضُ</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white shirt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Colour after the noun, with 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ثَمَنُهُ؟ القَمِيصُ بِثَلَاثِينَ جُنَيْهًا.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much is it? The shirt is thirty pounds.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thamanuhu for a masculine item.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أَنْ أُجَرِّبَ هٰذَا المِعْطَفَ.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to try on this coat.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Polite request: an +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CLOTHES AND ACCESSORIES — VOCABULARY AND SHOPPING”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What are they wearing? Match the picture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blue shirt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red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brown bag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تَلْبَسُ فُسْتَانًا أَحْمَرَ.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حَقِيبَةٌ بُنِّيَّةٌ.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يَلْبَسُ قَمِيصًا أَزْرَقَ.</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blue shirt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يَلْبَسُ قَمِيصًا أَزْرَقَ.</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wearing a blue shirt.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red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تَلْبَسُ فُسْتَانًا أَحْمَرَ.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wearing a red dress.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brown bag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حَقِيبَةٌ بُنِّيَّةٌ.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brown bag.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Accurate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هٰذِهِ السُّتْرَةُ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القَمِيصُ الأَزْرَقُ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الحَقِيبَةُ: كَمْ ثَمَنُهَا؟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أَنْ أُجَرِّبَ هٰذَا الحِذَاءَ.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السُّتْرَةُ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القَمِيصُ الزَّرْقَاءُ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الحَقِيبَةُ: كَمْ ثَمَنُهُ؟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أُجَرِّبُ هٰذَا.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هٰذِهِ السُّتْرَةُ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القَمِيصُ الأَزْرَقُ</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الحَقِيبَةُ: كَمْ ثَمَنُهَا؟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أَنْ أُجَرِّبَ هٰذَا الحِذَاءَ.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السُّتْرَةُ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القَمِيصُ الزَّرْقَاءُ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الحَقِيبَةُ: كَمْ ثَمَنُهُ؟</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أُجَرِّبُ هٰذَا.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“Do you have a larger size?”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الحِذَاءُ؟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لَدَيْكُمْ مَقَاسٌ أَكْبَرُ؟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البُنِّيُّ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البُنِّيَّةُ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بُنِّيًّا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هٰذَا السِّرْوَالُ ___ جِدًّا.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shop response.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القَمِيصُ صَادِقٌ.</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المَدْرَسَةِ.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غُرْفَةُ القِيَاسِ عَلَى اليَسَارِ.</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“Do you have a larger size?”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الحِذَاءُ؟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لَدَيْكُمْ مَقَاسٌ أَكْبَرُ؟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asks about size.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البُنِّيُّ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الحَقِيبَةُ البُنِّيَّةُ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بُنِّيًّا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noun and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هٰذَا السِّرْوَالُ ___ جِدًّا.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وَاسِعَةٌ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وَاسِعٌ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وَاسِعًا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سِرْوَالٌ</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shop response.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القَمِيصُ صَادِقٌ.</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المَدْرَسَةِ.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نَعَمْ، غُرْفَةُ القِيَاسِ عَلَى اليَسَارِ.</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answers a shopping context.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السُّتْرَةُ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Sutra ends in -a: this (m.) or this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القَمِيصُ الزَّرْقَاءُ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Shirt is masculine: which colour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الحَقِيبَةُ: كَمْ ثَمَنُهُ؟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Bag is feminine: which price question?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السُّتْرَةُ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السُّتْرَةُ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سُتْرَةٌ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القَمِيصُ الزَّرْقَاءُ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القَمِيصُ الأَزْرَقُ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masculine item takes the masculine colour.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الحَقِيبَةُ: كَمْ ثَمَنُهُ؟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الحَقِيبَةُ: كَمْ ثَمَنُهَا؟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حَقِيبَةٌ</a:t>
            </a:r>
            <a:pPr algn="l" indent="0" marL="0">
              <a:buNone/>
            </a:pPr>
            <a:r>
              <a:rPr lang="en-US" sz="1150" b="1" dirty="0">
                <a:solidFill>
                  <a:srgbClr val="1B3B6F"/>
                </a:solidFill>
                <a:latin typeface="Calibri" pitchFamily="34" charset="0"/>
                <a:ea typeface="Calibri" pitchFamily="34" charset="-122"/>
                <a:cs typeface="Calibri" pitchFamily="34" charset="-120"/>
              </a:rPr>
              <a:t> is feminine → </a:t>
            </a:r>
            <a:pPr algn="l" indent="0" marL="0">
              <a:buNone/>
            </a:pPr>
            <a:r>
              <a:rPr lang="ar-SA" altLang="en-US" sz="1500" b="1" dirty="0">
                <a:solidFill>
                  <a:srgbClr val="1B3B6F"/>
                </a:solidFill>
                <a:latin typeface="Amiri" pitchFamily="34" charset="0"/>
                <a:ea typeface="Amiri" pitchFamily="34" charset="-122"/>
                <a:cs typeface="Amiri" pitchFamily="34" charset="-120"/>
              </a:rPr>
              <a:t>ثَمَنُهَا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focus: clothes shopping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Sara want to try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jacket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black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red 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problem?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too long</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the wrong colour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somewhat tight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shop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different colour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cheaper jacket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the new jacket?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suitable and comfortable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still tight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 big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it cheaper?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second-hand</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had a discount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a small size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it cost?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 pounds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 pounds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 pounds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الزَّرْقَاءَ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ضَيِّقَةً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خَمْسَةٌ وَثَلَاثُونَ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دَخَلَتْ سَارَةُ مَتْجَرَ المَلَابِسِ وَقَالَتْ: أُرِيدُ أَنْ أُجَرِّبَ هٰذِهِ السُّتْرَةَ الزَّرْقَاءَ.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 went into the clothes shop and said: I would like to try on this blue jacket.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سَأَلَتْ عَنِ المَقَاسِ لِأَنَّهَا كَانَتْ ضَيِّقَةً نَوْعًا مَا.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asked about the size because it was somewhat tight.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أَحْضَرَتِ البَائِعَةُ مَقَاسًا أَكْبَرَ، وَكَانَتِ السُّتْرَةُ مُنَاسِبَةً وَمُرِيحَةً.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shop assistant brought a bigger size, and the jacket fitted and was comfortable.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سَأَلَتْ سَارَةُ: كَمْ ثَمَنُهَا؟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 asked: How much is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فَقَالَتِ البَائِعَةُ إِنَّ عَلَيْهَا تَخْفِيضًا وَثَمَنَهَا خَمْسَةٌ وَثَلَاثُونَ جُنَيْهًا.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assistant said it was reduced and its price was thirty-five pounds.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Sara want to try on?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blue jacket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black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red 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أُرِيدُ أَنْ أُجَرِّبَ هٰذِهِ السُّتْرَةَ الزَّرْقَاءَ.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problem?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too long</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the wrong colour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was somewhat tight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ضَيِّقَةً نَوْعًا مَا.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shop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different colour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cheaper jacket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bigger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أَحْضَرَتِ البَائِعَةُ مَقَاسًا أَكْبَرَ.</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the new jacket?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suitable and comfortable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still tight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 big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مُنَاسِبَةً وَمُرِيحَةً.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it cheaper?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second-hand</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had a discount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a small size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عَلَيْهَا تَخْفِيضًا.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it cost?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 pounds</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 pounds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 pounds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خَمْسَةٌ وَثَلَاثُونَ جُنَيْهًا.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الزَّرْقَاءَ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ضَيِّقَةً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خَمْسَةٌ وَثَلَاثُونَ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Developed speaking: clothes shopping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لَوْنُكَ وَمَقَاسُكَ المُفَضَّلَانِ؟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تَلْبَسُ فِي مُنَاسَبَةٍ خَاصَّةٍ؟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آخِرَ رِحْلَةٍ إِلَى مَتْجَرِ المَلَابِسِ.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الشِّرَاءَ مِنَ المَتْجَرِ أَمْ عَبْرَ الإِنْتَرْنِتِ؟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لَوْنِي المُفَضَّلُ ___ ، وَمَقَاسِي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مُنَاسَبَةٍ خَاصَّةٍ أَلْبَسُ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ذَهَبْتُ إِلَى المَتْجَرِ وَجَرَّبْتُ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الشِّرَاءَ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تَبْحَثُ عَنْهُ؟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you looking for?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أَبْحَثُ عَنْ مِعْطَفٍ أَسْوَدَ.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am looking for a black coat.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Describe an outfit: five items with this / this (f.) and a colour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shop conversation: what you are looking for, size, trying on, price.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shopping trip — what you needed, colours, sizes, prices, what you tried, what you bought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لَدَيْكُمْ ______ بِمَقَاسٍ أَكْبَرَ؟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have … in a bigger size?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ضَيِّقٌ / وَاسِعٌ نَوْعًا مَا.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somewhat tight / loose.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غُرْفَةُ القِيَاسِ؟</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is the changing room?</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سَأَشْتَرِي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buy …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مُنَاسِبٌ وَمُرِيحٌ. / هِيَ مُنَاسِبَةٌ وَمُرِيحَةٌ.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suitable and comfortable.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القَمِيصُ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shirt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السُّتْرَةُ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jacket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looking for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أُجَرِّبَ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to try on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ثَمَنُهُ؟ / كَمْ ثَمَنُهَا؟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is it? (m. / f.)</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هٰذَا  ·  هٰذِهِ  ·  قَمِيصٌ  ·  سُتْرَةٌ  ·  فُسْتَانٌ  ·  حِذَاءٌ  ·  حَقِيبَةٌ  ·  مَقَاسٌ  ·  ضَيِّقٌ / ضَيِّقَةٌ  ·  وَاسِعٌ / وَاسِعَةٌ  ·  كَمْ ثَمَنُهُ؟  ·  تَخْفِيضٌ</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about a shopping trip for clothes. Describe what you need, colours, sizes, prices, what you try on, what you buy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أَبْحَثُ عَنْ مِعْطَفٍ جَدِيدٍ لِلشِّتَاءِ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was looking for a new winter coat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 كَانَ ضَيِّقًا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it was tight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لِي مِعْطَفًا آخَرَ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brought me another coat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عَلَيْهِ تَخْفِيضٌ</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was reduced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اشْتَرَيْتُهُمَا لِأَنَّهُمَا عَمَلِيَّانِ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bought them (two) because they are practical</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ذَهَبْتُ إِلَى المَتْجَرِ لِأَنَّنِي كُنْتُ أَبْحَثُ عَنْ مِعْطَفٍ جَدِيدٍ لِلشِّتَاءِ. رَأَيْتُ مِعْطَفًا أَسْوَدَ أَنِيقًا، وَلٰكِنَّهُ كَانَ ضَيِّقًا. قُلْتُ لِلْبَائِعِ: هَلْ لَدَيْكُمْ هٰذَا المِعْطَفُ بِمَقَاسٍ أَكْبَرَ؟ أَحْضَرَ لِي مِعْطَفًا آخَرَ وَكَانَ مُرِيحًا وَمُنَاسِبًا. سَأَلْتُ: كَمْ ثَمَنُهُ؟ كَانَ ثَمَنُهُ سِتِّينَ جُنَيْهًا، وَلٰكِنَّ عَلَيْهِ تَخْفِيضًا. جَرَّبْتُ أَيْضًا حِذَاءً بُنِّيًّا وَحَقِيبَةً صَغِيرَةً. فِي النِّهَايَةِ اشْتَرَيْتُ المِعْطَفَ وَالحِذَاءَ لِأَنَّهُمَا عَمَلِيَّانِ.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went to the shop because I was looking for a new winter coat. I saw an elegant black coat, but it was tight. I said to the shop assistant: Do you have this coat in a bigger size? He brought me another coat and it was comfortable and fitted. I asked: How much is it? Its price was sixty pounds, but it was reduced. I also tried on brown shoes and a small bag. In the end I bought the coat and the shoes because they are practical.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polite question in the shop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colour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price question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reason for the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this (hādhā) and this (hādhihi)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the price and asked to try something 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colours agree with the item.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the size (tight / loose / fits).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what I bought and why.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القَمِيصُ</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الزَّرْقَاءُ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الأَزْرَقُ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مَقَاسُهُ؟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السُّتْرَةُ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السُّتْرَةَ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القَمِيصُ</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الزَّرْقَاءُ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الأَزْرَقُ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أَزْرَقَ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definite noun takes masculine definite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ثَمَنُهَا؟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ثَمَنُهُ؟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مَقَاسُهُ؟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focus: clothes shopping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مِنْ مَتْجَرٍ جَدِيدٍ: لَدَيْنَا مَلَابِسُ عَصْرِيَّةٌ وَمُحْتَشِمَةٌ لِلشَّبَابِ. القُمُصُ القُطْنِيَّةُ مُتَوَفِّرَةٌ بِأَلْوَانٍ مُخْتَلِفَةٍ، وَالسَّرَاوِيلُ مُرِيحَةٌ وَعَمَلِيَّةٌ. هُنَاكَ تَخْفِيضٌ خَاصٌّ عَلَى المَعَاطِفِ وَالحَقَائِبِ حَتَّى نِهَايَةِ الأُسْبُوعِ. يُمْكِنُكُمْ تَجْرِبَةُ المَلَابِسِ فِي غُرْفَةِ القِيَاسِ، وَيُمْكِنُ اسْتِبْدَالُ المَقَاسِ خِلَالَ أُسْبُوعٍ.</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إِعْلَانٌ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advert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مَتْجَرٍ جَدِيدٍ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new shop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لِلشَّبَابِ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young people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القُمُصُ القُطْنِيَّةُ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cotton shirts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مُتَوَفِّرَةٌ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available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السَّرَاوِيلُ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trousers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مُرِيحَةٌ وَعَمَلِيَّةٌ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comfortable and practical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تَخْفِيضٌ خَاصٌّ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special discount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تَجْرِبَةُ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trying 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اسْتِبْدَالُ المَقَاسِ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exchanging the size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letter from a friend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advert from a new shop</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timetable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clothes does the shop sell?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formal suits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sports clothes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modern, modest clothes for young people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cotton shirts?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come in different colours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all white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very expensive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trousers described?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tight and formal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comfortable and practical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colourful and cheap</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special discount until the end of the week?</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coats and bags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shirts and trousers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customers do within a week?</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 everything for free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order online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exchange the size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letter from a friend</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an advert from a new shop</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timetable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إِعْلَانٌ مِنْ مَتْجَرٍ جَدِيدٍ.</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clothes does the shop sell?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formal suits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sports clothes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modern, modest clothes for young people</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مَلَابِسُ عَصْرِيَّةٌ وَمُحْتَشِمَةٌ لِلشَّبَابِ.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cotton shirts?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come in different colours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all white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very expensive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مُتَوَفِّرَةٌ بِأَلْوَانٍ مُخْتَلِفَةٍ.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trousers described?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tight and formal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comfortable and practical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colourful and cheap</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مُرِيحَةٌ وَعَمَلِيَّةٌ.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special discount until the end of the week?</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coats and bags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shirts and trousers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تَخْفِيضٌ خَاصٌّ عَلَى المَعَاطِفِ وَالحَقَائِبِ.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customers do within a week?</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return everything for free</a:t>
            </a:r>
            <a:endParaRPr lang="en-US" sz="12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order online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exchange the size</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يُمْكِنُ اسْتِبْدَالُ المَقَاسِ خِلَالَ أُسْبُوعٍ.</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shopping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القَمِيصُ ___.</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الأَزْرَقُ</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الزَّرْقَاءُ</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مَقَاسُهُ؟</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polite request.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أُجَرِّبُ هٰذَا.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جَرِّبْ أَنَا الحِذَاءَ.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أُجَرِّبَ هٰذَا الحِذَاءَ.</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“Do you have a larger size?”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لَدَيْكُمْ مَقَاسٌ أَكْبَرُ؟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الحِذَاءُ؟</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البُنِّيُّ</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البُنِّيَّةُ</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بُنِّيًّا</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السُّتْرَةُ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السُّتْرَةُ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السُّتْرَةَ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القَمِيصُ ___.</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الأَزْرَقُ</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الزَّرْقَاءُ</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definite noun takes masculine definite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مَقَاسُهُ؟</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polite request.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أُجَرِّبُ هٰذَا.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جَرِّبْ أَنَا الحِذَاءَ.</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أُجَرِّبَ هٰذَا الحِذَاءَ.</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subjunctive verb.</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“Do you have a larger size?”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لَدَيْكُمْ مَقَاسٌ أَكْبَرُ؟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الحِذَاءُ؟</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asks about size.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agreement.</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البُنِّيُّ</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الحَقِيبَةُ البُنِّيَّةُ</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بُنِّيًّا</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noun and adjective.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D2-L03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D2-L04 · Fashion and Identity — Opinions on Style and Dress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أَنِيقٌ / أَنِيقَةٌ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elegant</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عَصْرِيٌّ / عَصْرِيَّةٌ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modern</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تَقْلِيدِيٌّ / تَقْلِيدِيَّةٌ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traditional</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رَسْمِيٌّ / رَسْمِيَّةٌ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formal</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مُحْتَشِمٌ / مُحْتَشِمَةٌ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modest</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your clothes say about you? Think of one outfit and two words to describe its style.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أُسْلُوبُكَ فِي اللِّبَاسِ؟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D2-L03: the picture game and the vocabulary tab (clothes and accessories).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shop conversation of 8 lines (customer + assistant).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about a shopping trip.</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D2-L04 · Fashion and Identity — Opinions on Style and Dress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المَوْضَةُ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feminine item → hādhihi + feminine colour + thamanuhā.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D2-L03 · Clothes and Accessories — Vocabulary and Shopping</dc:title>
  <dc:subject>PptxGenJS Presentation</dc:subject>
  <dc:creator>Al Madina Online School · Arabic Department</dc:creator>
  <cp:lastModifiedBy>Al Madina Online School · Arabic Department</cp:lastModifiedBy>
  <cp:revision>1</cp:revision>
  <dcterms:created xsi:type="dcterms:W3CDTF">2026-09-27T11:40:16Z</dcterms:created>
  <dcterms:modified xsi:type="dcterms:W3CDTF">2026-09-27T11:40:16Z</dcterms:modified>
</cp:coreProperties>
</file>