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D2 People, Relationships and Style › D2-L10. The website lesson “Speaking — Describing People and Personal Style”: vocabulary, grammar rules and quiz, patterns, common mistakes, sorter, listening, reading, speaking prompts and model, writing task and model, differentiation, final check and the lesson mission. Picture match: website visual game “Speaking — Describing People and Personal Style”.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SPEAKING lesson: the main You Do is a one-minute spoken portrait (website six-stage plan). The whole unit is revised through it; only the portrait vocabulary is shown (groups 2–3 are on the website vocabulary tab).
• Core: stages 1, 2 and 5 (who, appearance, clothes) from a cue card — 20–30 seconds. Develop: add stage 3 (a quality + evidence) and stage 6. Stretch: all six stages, 60 seconds, no script, a relative clause and a comparison.
• The website grammar and quiz are copies of D2-L07; the deck teaches the rule named in the website title (“Organising an extended spoken portrait”) — flagged for the website editor.
• Respect: describe family, a famous person or an invented person — never a classmate.
• TEACHER-WRITTEN ITEMS: on the website this lesson’s grammar, patterns, mistakes, sorter, final, mission, listening, reading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structures prepared at home. Questions 3–5 retrieve D2-L09, D2-L06 and D2-L05.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strong portrait has an order. Once you say “my aunt”, every verb and ending stays SHE: ta- / -hā.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مظہر → مَظْهَرٌ (appearance); صفات → صِفَاتٌ (qualities, pl. of صِفَةٌ); تعلق → عَلَاقَةٌ; خالہ (maternal aunt) → خَالَةٌ — the person in the website model! Also خالو (uncle by marriage) is not Arabic: Arabic uses زَوْجُ خَالَتِي.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Portrait language (website vocabulary (1 of 3)). Hear → Say → See → Use. Transliteration is printed for Core students (cover it for Develop/Stretch).
Portrait language — the whole group is revision (D2-L01, D2-L06). Use it as a game: teacher says a stage number (2 = appearance, 3 = qualities) and students call out three words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Portrait language (website vocabulary (2 of 3)). Hear → Say → See → Use. Transliteration is printed for Core students (cover it for Develop/Stretch).
Portrait language — the whole group is revision (D2-L01, D2-L06). Use it as a game: teacher says a stage number (2 = appearance, 3 = qualities) and students call out three words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Portrait language (website vocabulary (3 of 3)). Hear → Say → See → Use. Transliteration is printed for Core students (cover it for Develop/Stretch).
Portrait language — the whole group is revision (D2-L01, D2-L06). Use it as a game: teacher says a stage number (2 = appearance, 3 = qualities) and students call out three words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the website reading text IS the plan (six questions), filled with the website model portrait of the aunt. Core students prepare stages 1, 2 and 5 only.
Cue-card task: students write ONE key word per stage on a card (e.g. خَالَتِي · قَصِيرٌ · كَرِيمَةٌ + تُسَاعِدُ · أَتَفَاهَمُ · أَنِيقَةٌ · رَسْمِيَّةً).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overview: “Organise a spoken portrait … while maintaining reference.” Recycles D1-L06 (he/she) and D2-L06 (lahu/lahā).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“Organise a spoken portrait from identity to appearance, personality, relationship, style and evaluation, while maintaining reference.”
• Follow the six stages: A clear order makes a long answer easy to follow.
• Keep reference consistent: Once you choose the person, every verb, pronoun and ending must match.
• Prove each quality: Give behaviour as evidence for every personality adjective.
• End with comparison and opinion: A short comparison and a judgement close the portrait.
Website common error: Do not choose an answer from one familiar word; verify the complete clause and its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teacher SPEAKS the website model from a cue card (not reading), timing it (~45 s), then shows the text. Point to each stage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build a portrait of an uncle together, stage by stage. After each answer, a student adds their own sentence for that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 now has a complete model portrait of the uncle — read it aloud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sentence into its stage.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sentence into its stage.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6. Develop / Stretch: all 6. (Questions are teacher-written: the website questions for this script are generic.)
Listen 1: just listen. Listen 2: note answers. Then chat the letters.
Support: after the second listening, show the read-along slide (Arabic + English, line by line) for Core students.
SCRIPT (read aloud):
تُقَدِّمُ طَالِبَةٌ وَصْفًا شَفَهِيًّا لِخَالَتِهَا. تَبْدَأُ بِالعَلَاقَةِ، ثُمَّ تَصِفُ القَامَةَ وَالشَّعْرَ وَالمَلَابِسَ، وَبَعْدَ ذٰلِكَ تَشْرَحُ أَنَّ خَالَتَهَا كَرِيمَةٌ وَوَاثِقَةٌ مَعَ دَلِيلَيْنِ. فِي النِّهَايَةِ تُقَارِنُ أُسْلُوبَهَا بِأُسْلُوبِهَا الشَّخْصِيِّ.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مَا أَفْضَلُ صِفَةٍ فِيهَا؟ (What is her best quality?)
B: كَرَمُهَا، لِأَنَّهَا تُسَاعِدُ كُلَّ مَنْ يَحْتَاجُ إِلَيْهَا. (Her generosity, because she helps anyone who needs her.)
MAIN TASK (8–10 min). Each student prepares a cue card (one word per stage), then gives the portrait on the mic: Core 20–30 s, Develop 40 s, Stretch 60 s. Listeners tick the stages they heard. Website model continues: A: مَا أَفْضَلُ صِفَةٍ فِيهَا؟ B: كَرَمُهَا، لِأَنَّهَا تُسَاعِدُ كُلَّ مَنْ يَحْتَاجُ إِلَيْهَا.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an independently controlled relative clause.
Website writing task (Stretch): Write the full 100–120-word version of a spoken portrait. It must be easy to deliver aloud, with clear stages, evidence, comparison and a concise conclusion.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Stages: خَالَتِي مَرْيَمَ ← مُتَوَسِّطَةُ القَامَةِ … ← تَرْتَدِي … ← كَرِيمَةٌ لِأَنَّهَا … / وَاثِقَةٌ عِنْدَمَا … ← أَتَفَاهَمُ مَعَهَا ← أَكْثَرُ رَسْمِيَّةً مِنْ أُسْلُوبِي ← فِي رَأْيِي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(D2-L11 · Writing — Describing People, Relationships and Style) will spend class time USING this language, so students prepare it tonight — short, simple, easy to access (school guidance: “Simple, Short, Interesting, Relevant, Easy to access”). Writing-organisation words for D2-L11 (paragraphs, introduction, conclusion, connectors).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Speaking — Describing People and Personal Style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التَّحَدُّثُ — وَصْفُ النَّاسِ وَالأُسْلُوبِ الشَّخْصِيِّ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Give a one-minute spoken portrait in six stages — who, appearance, qualities with evidence, relationship, style, comparison and opinion — keeping every he / she and his / her consistent.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D2-L10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six stages and keeping he / she consistent.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Order the stages, fix references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D2-L11.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يَبْدُو</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wears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seems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has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أُسْلُوبُهَا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style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style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style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follow-up question?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شُكْرًا.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طَالِبٌ.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وَأَنْتَ، مَا أُسْلُوبُكَ؟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girl who has long hair”.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الفَتَاةُ الَّذِي لَهُ شَعْرٌ طَوِيلٌ</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الفَتَاةُ الَّتِي لَهَا شَعْرٌ طَوِيلَةٌ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الفَتَاةُ الَّتِي لَهَا شَعْرٌ طَوِيلٌ</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comparison.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أُسْلُوبُهَا أَكْثَرُ رَسْمِيَّةً مِنْ أُسْلُوبِي.</a:t>
            </a:r>
            <a:endParaRPr lang="ar-SA" sz="20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أُسْلُوبُهَا رَسْمِيَّةٌ مِنْ أُسْلُوبِي.</a:t>
            </a:r>
            <a:endParaRPr lang="ar-SA" sz="20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أُسْلُوبُهَا أَكْثَرُ رَسْمِيٌّ.</a:t>
            </a:r>
            <a:endParaRPr lang="ar-SA" sz="200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يَبْدُو</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wears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seems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has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أُسْلُوبُهَا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style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style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my style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follow-up question?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شُكْرًا.</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طَالِبٌ.</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وَأَنْتَ، مَا أُسْلُوبُكَ؟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D2-L09.</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girl who has long hair”.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الفَتَاةُ الَّذِي لَهُ شَعْرٌ طَوِيلٌ</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الفَتَاةُ الَّتِي لَهَا شَعْرٌ طَوِيلَةٌ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الفَتَاةُ الَّتِي لَهَا شَعْرٌ طَوِيلٌ</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D2-L06.</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comparison.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أُسْلُوبُهَا أَكْثَرُ رَسْمِيَّةً مِنْ أُسْلُوبِي.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أُسْلُوبُهَا رَسْمِيَّةٌ مِنْ أُسْلُوبِي.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أُسْلُوبُهَا أَكْثَرُ رَسْمِيٌّ.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D2-L05.</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strong portrait has an order. Once you say “my aunt”, every verb and ending stays SHE: ta- / -hā.</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خَالَتِي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هِيَ</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لَهَا</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تَ</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رْتَدِي … أُسْلُوبُ</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هَا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41</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the key D2-L10 vocabulary in complete Arabic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apply the target grammar: Organising an extended spoken portrait.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precise evidence from an intermediate listening and reading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developed spoken and written Arabic with reasons and detail.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someone’s appearance and clothes in order.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speak for 20–30 seconds from a cue card.</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quality with evidence.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keep he / she and his / her consistent.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a one-minute portrait in six stages without a script.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end with a comparison and an opinion.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This lesson revises the D2 vocabulary. Only the portrait group is shown; style and evaluation words are on the website vocabulary tab.</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Portrait language · 18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Style and clothing · 18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Evaluation and comparison · 18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خُطَّةٌ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‎خط / منصوبہ‎ </a:t>
            </a:r>
            <a:pPr indent="0" marL="0">
              <a:buNone/>
            </a:pPr>
            <a:r>
              <a:rPr lang="en-US" sz="950" b="1" dirty="0">
                <a:solidFill>
                  <a:srgbClr val="2E8B57"/>
                </a:solidFill>
                <a:latin typeface="Calibri" pitchFamily="34" charset="0"/>
                <a:cs typeface="Amiri" pitchFamily="2" charset="-78"/>
              </a:rPr>
              <a:t> khat · plan (meaning bridge)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مَظْهَرٌ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‎مظہر‎ </a:t>
            </a:r>
            <a:pPr indent="0" marL="0">
              <a:buNone/>
            </a:pPr>
            <a:r>
              <a:rPr lang="en-US" sz="950" b="1" dirty="0">
                <a:solidFill>
                  <a:srgbClr val="2E8B57"/>
                </a:solidFill>
                <a:latin typeface="Calibri" pitchFamily="34" charset="0"/>
                <a:cs typeface="Amiri" pitchFamily="2" charset="-78"/>
              </a:rPr>
              <a:t> mazhar · appearance, manifestation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صِفَاتٌ</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‎صفات‎ </a:t>
            </a:r>
            <a:pPr indent="0" marL="0">
              <a:buNone/>
            </a:pPr>
            <a:r>
              <a:rPr lang="en-US" sz="950" b="1" dirty="0">
                <a:solidFill>
                  <a:srgbClr val="2E8B57"/>
                </a:solidFill>
                <a:latin typeface="Calibri" pitchFamily="34" charset="0"/>
                <a:cs typeface="Amiri" pitchFamily="2" charset="-78"/>
              </a:rPr>
              <a:t> sifāt · qualities</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عَلَاقَةٌ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‎تعلق‎ </a:t>
            </a:r>
            <a:pPr indent="0" marL="0">
              <a:buNone/>
            </a:pPr>
            <a:r>
              <a:rPr lang="en-US" sz="950" b="1" dirty="0">
                <a:solidFill>
                  <a:srgbClr val="2E8B57"/>
                </a:solidFill>
                <a:latin typeface="Calibri" pitchFamily="34" charset="0"/>
                <a:cs typeface="Amiri" pitchFamily="2" charset="-78"/>
              </a:rPr>
              <a:t> taʿalluq · relationship</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خَالَةٌ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‎خالہ‎ </a:t>
            </a:r>
            <a:pPr indent="0" marL="0">
              <a:buNone/>
            </a:pPr>
            <a:r>
              <a:rPr lang="en-US" sz="950" b="1" dirty="0">
                <a:solidFill>
                  <a:srgbClr val="2E8B57"/>
                </a:solidFill>
                <a:latin typeface="Calibri" pitchFamily="34" charset="0"/>
                <a:cs typeface="Amiri" pitchFamily="2" charset="-78"/>
              </a:rPr>
              <a:t> khāla · maternal aunt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41</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Portrait language (1 of 3)</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طَوِيلُ القَامَةِ / طَوِيلَةُ القَامَةِ</a:t>
            </a:r>
            <a:endParaRPr lang="ar-SA" sz="255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a:t>
            </a:r>
            <a:endParaRPr lang="en-US" sz="1350" dirty="0"/>
          </a:p>
          <a:p>
            <a:pPr indent="0" marL="0">
              <a:buNone/>
            </a:pPr>
            <a:r>
              <a:rPr lang="en-US" sz="1100" i="1" dirty="0">
                <a:solidFill>
                  <a:srgbClr val="5A6472"/>
                </a:solidFill>
                <a:latin typeface="Calibri" pitchFamily="34" charset="0"/>
                <a:cs typeface="Amiri" pitchFamily="2" charset="-78"/>
              </a:rPr>
              <a:t>ṭa-wī-lu al-qā-ma-ti / ṭa-wī-la-tu al-qā-ma-ti</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طَوِيلَةُ القَامَةِ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 القَامَةِ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قَصِيرُ القَامَةِ / قَصِيرَةُ القَامَةِ</a:t>
            </a:r>
            <a:endParaRPr lang="ar-SA" sz="255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a:t>
            </a:r>
            <a:endParaRPr lang="en-US" sz="1350" dirty="0"/>
          </a:p>
          <a:p>
            <a:pPr indent="0" marL="0">
              <a:buNone/>
            </a:pPr>
            <a:r>
              <a:rPr lang="en-US" sz="1100" i="1" dirty="0">
                <a:solidFill>
                  <a:srgbClr val="5A6472"/>
                </a:solidFill>
                <a:latin typeface="Calibri" pitchFamily="34" charset="0"/>
                <a:cs typeface="Amiri" pitchFamily="2" charset="-78"/>
              </a:rPr>
              <a:t>qa-ṣī-ru al-qā-ma-ti / qa-ṣī-ra-tu al-qā-ma-ti</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قَصِيرَةُ القَامَةِ</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 القَامَةِ</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6" name="Shape 43"/>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2" charset="-78"/>
                <a:ea typeface="Amiri" pitchFamily="2" charset="-78"/>
                <a:cs typeface="Amiri" pitchFamily="2" charset="-78"/>
              </a:rPr>
              <a:t>مُتَوَسِّطُ القَامَةِ / مُتَوَسِّطَةُ القَامَةِ</a:t>
            </a:r>
            <a:endParaRPr lang="ar-SA" sz="24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medium height</a:t>
            </a:r>
            <a:endParaRPr lang="en-US" sz="1350" dirty="0"/>
          </a:p>
          <a:p>
            <a:pPr indent="0" marL="0">
              <a:buNone/>
            </a:pPr>
            <a:r>
              <a:rPr lang="en-US" sz="1100" i="1" dirty="0">
                <a:solidFill>
                  <a:srgbClr val="5A6472"/>
                </a:solidFill>
                <a:latin typeface="Calibri" pitchFamily="34" charset="0"/>
                <a:cs typeface="Amiri" pitchFamily="2" charset="-78"/>
              </a:rPr>
              <a:t>mu-ta-was-si-ṭu al-qā-ma-ti / mu-ta-was-si-ṭa-tu al-qā-ma-ti</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4" name="Text 5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مُتَوَسِّطَةُ القَامَةِ</a:t>
            </a:r>
            <a:endParaRPr lang="ar-SA" sz="150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7" name="Text 5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مُتَوَسِّطُ القَامَةِ</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طَوِيلٌ</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long hair</a:t>
            </a:r>
            <a:endParaRPr lang="en-US" sz="1350" dirty="0"/>
          </a:p>
          <a:p>
            <a:pPr indent="0" marL="0">
              <a:buNone/>
            </a:pPr>
            <a:r>
              <a:rPr lang="en-US" sz="1100" i="1" dirty="0">
                <a:solidFill>
                  <a:srgbClr val="5A6472"/>
                </a:solidFill>
                <a:latin typeface="Calibri" pitchFamily="34" charset="0"/>
                <a:cs typeface="Amiri" pitchFamily="2" charset="-78"/>
              </a:rPr>
              <a:t>shaʿ-run ṭa-wī-lun</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قَصِيرٌ</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 hair</a:t>
            </a:r>
            <a:endParaRPr lang="en-US" sz="1350" dirty="0"/>
          </a:p>
          <a:p>
            <a:pPr indent="0" marL="0">
              <a:buNone/>
            </a:pPr>
            <a:r>
              <a:rPr lang="en-US" sz="1100" i="1" dirty="0">
                <a:solidFill>
                  <a:srgbClr val="5A6472"/>
                </a:solidFill>
                <a:latin typeface="Calibri" pitchFamily="34" charset="0"/>
                <a:cs typeface="Amiri" pitchFamily="2" charset="-78"/>
              </a:rPr>
              <a:t>shaʿ-run qa-ṣī-run</a:t>
            </a:r>
            <a:endParaRPr lang="en-US" sz="135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5" name="Text 7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مُجَعَّدٌ</a:t>
            </a:r>
            <a:endParaRPr lang="ar-SA" sz="3000" dirty="0"/>
          </a:p>
        </p:txBody>
      </p:sp>
      <p:sp>
        <p:nvSpPr>
          <p:cNvPr id="76" name="Text 7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curly hair</a:t>
            </a:r>
            <a:endParaRPr lang="en-US" sz="1350" dirty="0"/>
          </a:p>
          <a:p>
            <a:pPr indent="0" marL="0">
              <a:buNone/>
            </a:pPr>
            <a:r>
              <a:rPr lang="en-US" sz="1100" i="1" dirty="0">
                <a:solidFill>
                  <a:srgbClr val="5A6472"/>
                </a:solidFill>
                <a:latin typeface="Calibri" pitchFamily="34" charset="0"/>
                <a:cs typeface="Amiri" pitchFamily="2" charset="-78"/>
              </a:rPr>
              <a:t>shaʿ-run mu-jaʿ-ʿa-dun</a:t>
            </a:r>
            <a:endParaRPr lang="en-US" sz="13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Portrait language (2 of 3)</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مُسْتَقِيمٌ</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straight hair</a:t>
            </a:r>
            <a:endParaRPr lang="en-US" sz="1350" dirty="0"/>
          </a:p>
          <a:p>
            <a:pPr indent="0" marL="0">
              <a:buNone/>
            </a:pPr>
            <a:r>
              <a:rPr lang="en-US" sz="1100" i="1" dirty="0">
                <a:solidFill>
                  <a:srgbClr val="5A6472"/>
                </a:solidFill>
                <a:latin typeface="Calibri" pitchFamily="34" charset="0"/>
                <a:cs typeface="Amiri" pitchFamily="2" charset="-78"/>
              </a:rPr>
              <a:t>shaʿ-run mus-ta-qī-mun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عَيْنَانِ بُنِّيَّتَانِ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brown eyes</a:t>
            </a:r>
            <a:endParaRPr lang="en-US" sz="1350" dirty="0"/>
          </a:p>
          <a:p>
            <a:pPr indent="0" marL="0">
              <a:buNone/>
            </a:pPr>
            <a:r>
              <a:rPr lang="en-US" sz="1100" i="1" dirty="0">
                <a:solidFill>
                  <a:srgbClr val="5A6472"/>
                </a:solidFill>
                <a:latin typeface="Calibri" pitchFamily="34" charset="0"/>
                <a:cs typeface="Amiri" pitchFamily="2" charset="-78"/>
              </a:rPr>
              <a:t>ʿay-nā-ni bun-niy-ya-tā-ni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يَرْتَدِي نَظَّارَةً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wears glasses</a:t>
            </a:r>
            <a:endParaRPr lang="en-US" sz="1350" dirty="0"/>
          </a:p>
          <a:p>
            <a:pPr indent="0" marL="0">
              <a:buNone/>
            </a:pPr>
            <a:r>
              <a:rPr lang="en-US" sz="1100" i="1" dirty="0">
                <a:solidFill>
                  <a:srgbClr val="5A6472"/>
                </a:solidFill>
                <a:latin typeface="Calibri" pitchFamily="34" charset="0"/>
                <a:cs typeface="Amiri" pitchFamily="2" charset="-78"/>
              </a:rPr>
              <a:t>yar-ta-dī naẓ-ẓā-ra-tan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تَرْتَدِي نَظَّارَةً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wears glasses</a:t>
            </a:r>
            <a:endParaRPr lang="en-US" sz="1350" dirty="0"/>
          </a:p>
          <a:p>
            <a:pPr indent="0" marL="0">
              <a:buNone/>
            </a:pPr>
            <a:r>
              <a:rPr lang="en-US" sz="1100" i="1" dirty="0">
                <a:solidFill>
                  <a:srgbClr val="5A6472"/>
                </a:solidFill>
                <a:latin typeface="Calibri" pitchFamily="34" charset="0"/>
                <a:cs typeface="Amiri" pitchFamily="2" charset="-78"/>
              </a:rPr>
              <a:t>tar-ta-dī naẓ-ẓā-ra-tan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لَهُ لِحْيَةٌ</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has a beard</a:t>
            </a:r>
            <a:endParaRPr lang="en-US" sz="1350" dirty="0"/>
          </a:p>
          <a:p>
            <a:pPr indent="0" marL="0">
              <a:buNone/>
            </a:pPr>
            <a:r>
              <a:rPr lang="en-US" sz="1100" i="1" dirty="0">
                <a:solidFill>
                  <a:srgbClr val="5A6472"/>
                </a:solidFill>
                <a:latin typeface="Calibri" pitchFamily="34" charset="0"/>
                <a:cs typeface="Amiri" pitchFamily="2" charset="-78"/>
              </a:rPr>
              <a:t>la-hu liḥ-ya-tun</a:t>
            </a:r>
            <a:endParaRPr lang="en-US" sz="1350" dirty="0"/>
          </a:p>
        </p:txBody>
      </p:sp>
      <p:sp>
        <p:nvSpPr>
          <p:cNvPr id="44" name="Shape 4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66928"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7" name="Text 4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مَلَامِحُهُ هَادِئَةٌ</a:t>
            </a:r>
            <a:endParaRPr lang="ar-SA" sz="3000" dirty="0"/>
          </a:p>
        </p:txBody>
      </p:sp>
      <p:sp>
        <p:nvSpPr>
          <p:cNvPr id="48" name="Text 4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features are calm</a:t>
            </a:r>
            <a:endParaRPr lang="en-US" sz="1350" dirty="0"/>
          </a:p>
          <a:p>
            <a:pPr indent="0" marL="0">
              <a:buNone/>
            </a:pPr>
            <a:r>
              <a:rPr lang="en-US" sz="1100" i="1" dirty="0">
                <a:solidFill>
                  <a:srgbClr val="5A6472"/>
                </a:solidFill>
                <a:latin typeface="Calibri" pitchFamily="34" charset="0"/>
                <a:cs typeface="Amiri" pitchFamily="2" charset="-78"/>
              </a:rPr>
              <a:t>ma-lā-mi-ḥu-hu hā-di-ʾa-tun</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Portrait language (3 of 3)</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وَدُودٌ / وَدُودَةٌ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صَادِقٌ / صَادِقَةٌ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ṣā-di-qun / ṣā-di-qa-tun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Text 7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مُتَعَاوِنٌ / مُتَعَاوِنَةٌ</a:t>
            </a:r>
            <a:endParaRPr lang="ar-SA" sz="3000" dirty="0"/>
          </a:p>
        </p:txBody>
      </p:sp>
      <p:sp>
        <p:nvSpPr>
          <p:cNvPr id="75" name="Text 7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helpful/cooperative</a:t>
            </a:r>
            <a:endParaRPr lang="en-US" sz="1350" dirty="0"/>
          </a:p>
          <a:p>
            <a:pPr indent="0" marL="0">
              <a:buNone/>
            </a:pPr>
            <a:r>
              <a:rPr lang="en-US" sz="1100" i="1" dirty="0">
                <a:solidFill>
                  <a:srgbClr val="5A6472"/>
                </a:solidFill>
                <a:latin typeface="Calibri" pitchFamily="34" charset="0"/>
                <a:cs typeface="Amiri" pitchFamily="2" charset="-78"/>
              </a:rPr>
              <a:t>mu-ta-ʿā-wi-nun / mu-ta-ʿā-wi-na-tun</a:t>
            </a:r>
            <a:endParaRPr lang="en-US" sz="1350" dirty="0"/>
          </a:p>
        </p:txBody>
      </p:sp>
      <p:sp>
        <p:nvSpPr>
          <p:cNvPr id="76" name="Shape 7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8" name="Text 7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مُتَعَاوِنُونَ</a:t>
            </a:r>
            <a:endParaRPr lang="ar-SA" sz="1500" dirty="0"/>
          </a:p>
        </p:txBody>
      </p:sp>
      <p:sp>
        <p:nvSpPr>
          <p:cNvPr id="79" name="Shape 7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1" name="Text 7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مُتَعَاوِنَةٌ</a:t>
            </a:r>
            <a:endParaRPr lang="ar-SA" sz="1500" dirty="0"/>
          </a:p>
        </p:txBody>
      </p:sp>
      <p:sp>
        <p:nvSpPr>
          <p:cNvPr id="82" name="Shape 7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4" name="Text 8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a:t>
            </a:r>
            <a:endParaRPr lang="ar-SA" sz="1500" dirty="0"/>
          </a:p>
        </p:txBody>
      </p:sp>
      <p:sp>
        <p:nvSpPr>
          <p:cNvPr id="85" name="Shape 8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4389120"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88" name="Shape 8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0" name="Text 8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 / مُجْتَهِدَةٌ</a:t>
            </a:r>
            <a:endParaRPr lang="ar-SA" sz="3000" dirty="0"/>
          </a:p>
        </p:txBody>
      </p:sp>
      <p:sp>
        <p:nvSpPr>
          <p:cNvPr id="91" name="Text 8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muj-ta-hi-dun / muj-ta-hi-da-tun</a:t>
            </a:r>
            <a:endParaRPr lang="en-US" sz="1350" dirty="0"/>
          </a:p>
        </p:txBody>
      </p:sp>
      <p:sp>
        <p:nvSpPr>
          <p:cNvPr id="92" name="Shape 8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4" name="Text 9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مُجْتَهِدُونَ</a:t>
            </a:r>
            <a:endParaRPr lang="ar-SA" sz="1500" dirty="0"/>
          </a:p>
        </p:txBody>
      </p:sp>
      <p:sp>
        <p:nvSpPr>
          <p:cNvPr id="95" name="Shape 9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7" name="Text 9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98" name="Shape 9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0" name="Text 97"/>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101" name="Shape 9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2" name="Shape 99"/>
          <p:cNvSpPr/>
          <p:nvPr/>
        </p:nvSpPr>
        <p:spPr>
          <a:xfrm>
            <a:off x="566928" y="4261104"/>
            <a:ext cx="310896" cy="310896"/>
          </a:xfrm>
          <a:prstGeom prst="ellipse">
            <a:avLst/>
          </a:prstGeom>
          <a:solidFill>
            <a:srgbClr val="F4F1EA"/>
          </a:solidFill>
          <a:ln w="12700">
            <a:solidFill>
              <a:srgbClr val="F4F1EA"/>
            </a:solidFill>
            <a:prstDash val="solid"/>
          </a:ln>
        </p:spPr>
      </p:sp>
      <p:sp>
        <p:nvSpPr>
          <p:cNvPr id="103" name="Text 10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104" name="Shape 101"/>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5" name="Text 102"/>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6" name="Text 10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 / مَرِحَةٌ</a:t>
            </a:r>
            <a:endParaRPr lang="ar-SA" sz="3000" dirty="0"/>
          </a:p>
        </p:txBody>
      </p:sp>
      <p:sp>
        <p:nvSpPr>
          <p:cNvPr id="107" name="Text 10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cheerful</a:t>
            </a:r>
            <a:endParaRPr lang="en-US" sz="1350" dirty="0"/>
          </a:p>
          <a:p>
            <a:pPr indent="0" marL="0">
              <a:buNone/>
            </a:pPr>
            <a:r>
              <a:rPr lang="en-US" sz="1100" i="1" dirty="0">
                <a:solidFill>
                  <a:srgbClr val="5A6472"/>
                </a:solidFill>
                <a:latin typeface="Calibri" pitchFamily="34" charset="0"/>
                <a:cs typeface="Amiri" pitchFamily="2" charset="-78"/>
              </a:rPr>
              <a:t>ma-ri-ḥun / ma-ri-ḥa-tun</a:t>
            </a:r>
            <a:endParaRPr lang="en-US" sz="1350" dirty="0"/>
          </a:p>
        </p:txBody>
      </p:sp>
      <p:sp>
        <p:nvSpPr>
          <p:cNvPr id="108" name="Shape 105"/>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9" name="Text 106"/>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0" name="Text 107"/>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مَرِحُونَ</a:t>
            </a:r>
            <a:endParaRPr lang="ar-SA" sz="1500" dirty="0"/>
          </a:p>
        </p:txBody>
      </p:sp>
      <p:sp>
        <p:nvSpPr>
          <p:cNvPr id="111" name="Shape 108"/>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2" name="Text 109"/>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3" name="Text 110"/>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مَرِحَةٌ</a:t>
            </a:r>
            <a:endParaRPr lang="ar-SA" sz="1500" dirty="0"/>
          </a:p>
        </p:txBody>
      </p:sp>
      <p:sp>
        <p:nvSpPr>
          <p:cNvPr id="114" name="Shape 111"/>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6" name="Text 113"/>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a:t>
            </a:r>
            <a:endParaRPr lang="ar-SA" sz="1500" dirty="0"/>
          </a:p>
        </p:txBody>
      </p:sp>
      <p:sp>
        <p:nvSpPr>
          <p:cNvPr id="117" name="Text 1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41</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B3B6F"/>
                </a:solidFill>
                <a:latin typeface="Calibri" pitchFamily="34" charset="0"/>
                <a:cs typeface="Amiri" pitchFamily="2" charset="-78"/>
              </a:rPr>
              <a:t>GRAMMAR FOCUS · PART 1 · THE SIX-STAGE PORTRAIT (WEBSITE READING TEXT + MODEL)</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stages, one person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الوَصْفِ الشَّفَهِيِّ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53144"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Stage</a:t>
            </a:r>
            <a:endParaRPr lang="en-US" sz="1100" dirty="0"/>
          </a:p>
        </p:txBody>
      </p:sp>
      <p:sp>
        <p:nvSpPr>
          <p:cNvPr id="17" name="Text 14"/>
          <p:cNvSpPr txBox="1"/>
          <p:nvPr/>
        </p:nvSpPr>
        <p:spPr>
          <a:xfrm>
            <a:off x="3209544" y="1810512"/>
            <a:ext cx="5797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 my aunt Maryam)</a:t>
            </a:r>
            <a:endParaRPr lang="en-US" sz="1100" dirty="0"/>
          </a:p>
        </p:txBody>
      </p:sp>
      <p:sp>
        <p:nvSpPr>
          <p:cNvPr id="18" name="Text 15"/>
          <p:cNvSpPr txBox="1"/>
          <p:nvPr/>
        </p:nvSpPr>
        <p:spPr>
          <a:xfrm>
            <a:off x="53035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9171432" y="2286000"/>
            <a:ext cx="246888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١ مَنْ؟</a:t>
            </a:r>
            <a:endParaRPr lang="ar-SA" sz="1600" dirty="0"/>
          </a:p>
        </p:txBody>
      </p:sp>
      <p:sp>
        <p:nvSpPr>
          <p:cNvPr id="21" name="Text 18"/>
          <p:cNvSpPr txBox="1"/>
          <p:nvPr/>
        </p:nvSpPr>
        <p:spPr>
          <a:xfrm>
            <a:off x="9125712" y="2603297"/>
            <a:ext cx="256032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who</a:t>
            </a:r>
            <a:endParaRPr lang="en-US" sz="950" dirty="0"/>
          </a:p>
        </p:txBody>
      </p:sp>
      <p:sp>
        <p:nvSpPr>
          <p:cNvPr id="22" name="Text 19"/>
          <p:cNvSpPr txBox="1"/>
          <p:nvPr/>
        </p:nvSpPr>
        <p:spPr>
          <a:xfrm>
            <a:off x="3227832" y="2286000"/>
            <a:ext cx="576072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سَأَتَحَدَّثُ عَنْ خَالَتِي مَرْيَمَ.</a:t>
            </a:r>
            <a:endParaRPr lang="ar-SA" sz="1600" dirty="0"/>
          </a:p>
        </p:txBody>
      </p:sp>
      <p:sp>
        <p:nvSpPr>
          <p:cNvPr id="23" name="Text 20"/>
          <p:cNvSpPr txBox="1"/>
          <p:nvPr/>
        </p:nvSpPr>
        <p:spPr>
          <a:xfrm>
            <a:off x="3182112" y="2603297"/>
            <a:ext cx="585216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talk about my aunt Maryam.</a:t>
            </a:r>
            <a:endParaRPr lang="en-US" sz="950" dirty="0"/>
          </a:p>
        </p:txBody>
      </p:sp>
      <p:sp>
        <p:nvSpPr>
          <p:cNvPr id="24" name="Text 21"/>
          <p:cNvSpPr txBox="1"/>
          <p:nvPr/>
        </p:nvSpPr>
        <p:spPr>
          <a:xfrm>
            <a:off x="566928" y="2267712"/>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171432" y="2900172"/>
            <a:ext cx="246888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٢ المَظْهَرُ</a:t>
            </a:r>
            <a:endParaRPr lang="ar-SA" sz="1600" dirty="0"/>
          </a:p>
        </p:txBody>
      </p:sp>
      <p:sp>
        <p:nvSpPr>
          <p:cNvPr id="29" name="Text 26"/>
          <p:cNvSpPr txBox="1"/>
          <p:nvPr/>
        </p:nvSpPr>
        <p:spPr>
          <a:xfrm>
            <a:off x="9125712" y="3217469"/>
            <a:ext cx="256032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appearance</a:t>
            </a:r>
            <a:endParaRPr lang="en-US" sz="950" dirty="0"/>
          </a:p>
        </p:txBody>
      </p:sp>
      <p:sp>
        <p:nvSpPr>
          <p:cNvPr id="30" name="Text 27"/>
          <p:cNvSpPr txBox="1"/>
          <p:nvPr/>
        </p:nvSpPr>
        <p:spPr>
          <a:xfrm>
            <a:off x="3227832" y="2900172"/>
            <a:ext cx="576072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هِيَ مُتَوَسِّطَةُ القَامَةِ، وَ</a:t>
            </a:r>
            <a:pPr rtl="1" algn="ctr" indent="0" marL="0">
              <a:buNone/>
            </a:pPr>
            <a:r>
              <a:rPr lang="ar-SA" altLang="en-US" sz="1600" b="1" dirty="0">
                <a:solidFill>
                  <a:srgbClr val="D6336C"/>
                </a:solidFill>
                <a:latin typeface="Amiri" pitchFamily="2" charset="-78"/>
                <a:ea typeface="Amiri" pitchFamily="2" charset="-78"/>
                <a:cs typeface="Amiri" pitchFamily="2" charset="-78"/>
              </a:rPr>
              <a:t>لَهَا</a:t>
            </a:r>
            <a:pPr rtl="1" algn="ctr" indent="0" marL="0">
              <a:buNone/>
            </a:pPr>
            <a:r>
              <a:rPr lang="ar-SA" altLang="en-US" sz="1600" b="1" dirty="0">
                <a:solidFill>
                  <a:srgbClr val="1B3B6F"/>
                </a:solidFill>
                <a:latin typeface="Amiri" pitchFamily="2" charset="-78"/>
                <a:ea typeface="Amiri" pitchFamily="2" charset="-78"/>
                <a:cs typeface="Amiri" pitchFamily="2" charset="-78"/>
              </a:rPr>
              <a:t> شَعْرٌ قَصِيرٌ.</a:t>
            </a:r>
            <a:endParaRPr lang="ar-SA" sz="1600" dirty="0"/>
          </a:p>
        </p:txBody>
      </p:sp>
      <p:sp>
        <p:nvSpPr>
          <p:cNvPr id="31" name="Text 28"/>
          <p:cNvSpPr txBox="1"/>
          <p:nvPr/>
        </p:nvSpPr>
        <p:spPr>
          <a:xfrm>
            <a:off x="3182112" y="3217469"/>
            <a:ext cx="585216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medium height, short hair</a:t>
            </a:r>
            <a:endParaRPr lang="en-US" sz="950" dirty="0"/>
          </a:p>
        </p:txBody>
      </p:sp>
      <p:sp>
        <p:nvSpPr>
          <p:cNvPr id="32" name="Text 29"/>
          <p:cNvSpPr txBox="1"/>
          <p:nvPr/>
        </p:nvSpPr>
        <p:spPr>
          <a:xfrm>
            <a:off x="566928" y="2881884"/>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3" name="Shape 30"/>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9171432" y="3514344"/>
            <a:ext cx="246888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٣ الصِّفَاتُ + الدَّلِيلُ</a:t>
            </a:r>
            <a:endParaRPr lang="ar-SA" sz="1600" dirty="0"/>
          </a:p>
        </p:txBody>
      </p:sp>
      <p:sp>
        <p:nvSpPr>
          <p:cNvPr id="37" name="Text 34"/>
          <p:cNvSpPr txBox="1"/>
          <p:nvPr/>
        </p:nvSpPr>
        <p:spPr>
          <a:xfrm>
            <a:off x="9125712" y="3831641"/>
            <a:ext cx="256032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qualities + evidence</a:t>
            </a:r>
            <a:endParaRPr lang="en-US" sz="950" dirty="0"/>
          </a:p>
        </p:txBody>
      </p:sp>
      <p:sp>
        <p:nvSpPr>
          <p:cNvPr id="38" name="Text 35"/>
          <p:cNvSpPr txBox="1"/>
          <p:nvPr/>
        </p:nvSpPr>
        <p:spPr>
          <a:xfrm>
            <a:off x="3227832" y="3514344"/>
            <a:ext cx="576072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هِيَ كَرِيمَةٌ </a:t>
            </a:r>
            <a:pPr rtl="1" algn="ctr" indent="0" marL="0">
              <a:buNone/>
            </a:pPr>
            <a:r>
              <a:rPr lang="ar-SA" altLang="en-US" sz="1600" b="1" dirty="0">
                <a:solidFill>
                  <a:srgbClr val="0E7C86"/>
                </a:solidFill>
                <a:latin typeface="Amiri" pitchFamily="2" charset="-78"/>
                <a:ea typeface="Amiri" pitchFamily="2" charset="-78"/>
                <a:cs typeface="Amiri" pitchFamily="2" charset="-78"/>
              </a:rPr>
              <a:t>لِأَنَّهَا</a:t>
            </a:r>
            <a:pPr rtl="1" algn="ctr" indent="0" marL="0">
              <a:buNone/>
            </a:pPr>
            <a:r>
              <a:rPr lang="ar-SA" altLang="en-US" sz="1600" b="1" dirty="0">
                <a:solidFill>
                  <a:srgbClr val="1B3B6F"/>
                </a:solidFill>
                <a:latin typeface="Amiri" pitchFamily="2" charset="-78"/>
                <a:ea typeface="Amiri" pitchFamily="2" charset="-78"/>
                <a:cs typeface="Amiri" pitchFamily="2" charset="-78"/>
              </a:rPr>
              <a:t> تُسَاعِدُ كُلَّ مَنْ يَحْتَاجُ إِلَيْهَا.</a:t>
            </a:r>
            <a:endParaRPr lang="ar-SA" sz="1600" dirty="0"/>
          </a:p>
        </p:txBody>
      </p:sp>
      <p:sp>
        <p:nvSpPr>
          <p:cNvPr id="39" name="Text 36"/>
          <p:cNvSpPr txBox="1"/>
          <p:nvPr/>
        </p:nvSpPr>
        <p:spPr>
          <a:xfrm>
            <a:off x="3182112" y="3831641"/>
            <a:ext cx="585216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generous because she helps anyone in need</a:t>
            </a:r>
            <a:endParaRPr lang="en-US" sz="950" dirty="0"/>
          </a:p>
        </p:txBody>
      </p:sp>
      <p:sp>
        <p:nvSpPr>
          <p:cNvPr id="40" name="Text 37"/>
          <p:cNvSpPr txBox="1"/>
          <p:nvPr/>
        </p:nvSpPr>
        <p:spPr>
          <a:xfrm>
            <a:off x="566928" y="3496056"/>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9171432" y="4128516"/>
            <a:ext cx="246888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٤ العَلَاقَةُ</a:t>
            </a:r>
            <a:endParaRPr lang="ar-SA" sz="1600" dirty="0"/>
          </a:p>
        </p:txBody>
      </p:sp>
      <p:sp>
        <p:nvSpPr>
          <p:cNvPr id="43" name="Text 40"/>
          <p:cNvSpPr txBox="1"/>
          <p:nvPr/>
        </p:nvSpPr>
        <p:spPr>
          <a:xfrm>
            <a:off x="9125712" y="4445813"/>
            <a:ext cx="256032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relationship</a:t>
            </a:r>
            <a:endParaRPr lang="en-US" sz="950" dirty="0"/>
          </a:p>
        </p:txBody>
      </p:sp>
      <p:sp>
        <p:nvSpPr>
          <p:cNvPr id="44" name="Text 41"/>
          <p:cNvSpPr txBox="1"/>
          <p:nvPr/>
        </p:nvSpPr>
        <p:spPr>
          <a:xfrm>
            <a:off x="3227832" y="4128516"/>
            <a:ext cx="576072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أَتَفَاهَمُ مَعَ</a:t>
            </a:r>
            <a:pPr rtl="1" algn="ctr" indent="0" marL="0">
              <a:buNone/>
            </a:pPr>
            <a:r>
              <a:rPr lang="ar-SA" altLang="en-US" sz="1600" b="1" dirty="0">
                <a:solidFill>
                  <a:srgbClr val="D6336C"/>
                </a:solidFill>
                <a:latin typeface="Amiri" pitchFamily="2" charset="-78"/>
                <a:ea typeface="Amiri" pitchFamily="2" charset="-78"/>
                <a:cs typeface="Amiri" pitchFamily="2" charset="-78"/>
              </a:rPr>
              <a:t>هَا</a:t>
            </a:r>
            <a:pPr rtl="1" algn="ctr" indent="0" marL="0">
              <a:buNone/>
            </a:pPr>
            <a:r>
              <a:rPr lang="ar-SA" altLang="en-US" sz="1600" b="1" dirty="0">
                <a:solidFill>
                  <a:srgbClr val="1B3B6F"/>
                </a:solidFill>
                <a:latin typeface="Amiri" pitchFamily="2" charset="-78"/>
                <a:ea typeface="Amiri" pitchFamily="2" charset="-78"/>
                <a:cs typeface="Amiri" pitchFamily="2" charset="-78"/>
              </a:rPr>
              <a:t> جَيِّدًا لِأَنَّهَا تَسْتَمِعُ إِلَيَّ.</a:t>
            </a:r>
            <a:endParaRPr lang="ar-SA" sz="1600" dirty="0"/>
          </a:p>
        </p:txBody>
      </p:sp>
      <p:sp>
        <p:nvSpPr>
          <p:cNvPr id="45" name="Text 42"/>
          <p:cNvSpPr txBox="1"/>
          <p:nvPr/>
        </p:nvSpPr>
        <p:spPr>
          <a:xfrm>
            <a:off x="3182112" y="4445813"/>
            <a:ext cx="585216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get on well with her</a:t>
            </a:r>
            <a:endParaRPr lang="en-US" sz="950" dirty="0"/>
          </a:p>
        </p:txBody>
      </p:sp>
      <p:sp>
        <p:nvSpPr>
          <p:cNvPr id="46" name="Text 43"/>
          <p:cNvSpPr txBox="1"/>
          <p:nvPr/>
        </p:nvSpPr>
        <p:spPr>
          <a:xfrm>
            <a:off x="566928" y="4110228"/>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7" name="Shape 44"/>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8" name="Text 45"/>
          <p:cNvSpPr txBox="1"/>
          <p:nvPr/>
        </p:nvSpPr>
        <p:spPr>
          <a:xfrm>
            <a:off x="9171432" y="4742688"/>
            <a:ext cx="246888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٥ الأُسْلُوبُ</a:t>
            </a:r>
            <a:endParaRPr lang="ar-SA" sz="1600" dirty="0"/>
          </a:p>
        </p:txBody>
      </p:sp>
      <p:sp>
        <p:nvSpPr>
          <p:cNvPr id="49" name="Text 46"/>
          <p:cNvSpPr txBox="1"/>
          <p:nvPr/>
        </p:nvSpPr>
        <p:spPr>
          <a:xfrm>
            <a:off x="9125712" y="5059985"/>
            <a:ext cx="256032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style</a:t>
            </a:r>
            <a:endParaRPr lang="en-US" sz="950" dirty="0"/>
          </a:p>
        </p:txBody>
      </p:sp>
      <p:sp>
        <p:nvSpPr>
          <p:cNvPr id="50" name="Text 47"/>
          <p:cNvSpPr txBox="1"/>
          <p:nvPr/>
        </p:nvSpPr>
        <p:spPr>
          <a:xfrm>
            <a:off x="3227832" y="4742688"/>
            <a:ext cx="5760720" cy="346771"/>
          </a:xfrm>
          <a:prstGeom prst="rect">
            <a:avLst/>
          </a:prstGeom>
          <a:noFill/>
          <a:ln/>
        </p:spPr>
        <p:txBody>
          <a:bodyPr wrap="square" lIns="0" tIns="0" rIns="0" bIns="0" rtlCol="0" anchor="ctr"/>
          <a:lstStyle/>
          <a:p>
            <a:pPr rtl="1" algn="ctr" indent="0" marL="0">
              <a:buNone/>
            </a:pPr>
            <a:r>
              <a:rPr lang="ar-SA" altLang="en-US" sz="1600" b="1" dirty="0">
                <a:solidFill>
                  <a:srgbClr val="D6336C"/>
                </a:solidFill>
                <a:latin typeface="Amiri" pitchFamily="2" charset="-78"/>
                <a:ea typeface="Amiri" pitchFamily="2" charset="-78"/>
                <a:cs typeface="Amiri" pitchFamily="2" charset="-78"/>
              </a:rPr>
              <a:t>تَ</a:t>
            </a:r>
            <a:pPr rtl="1" algn="ctr" indent="0" marL="0">
              <a:buNone/>
            </a:pPr>
            <a:r>
              <a:rPr lang="ar-SA" altLang="en-US" sz="1600" b="1" dirty="0">
                <a:solidFill>
                  <a:srgbClr val="1B3B6F"/>
                </a:solidFill>
                <a:latin typeface="Amiri" pitchFamily="2" charset="-78"/>
                <a:ea typeface="Amiri" pitchFamily="2" charset="-78"/>
                <a:cs typeface="Amiri" pitchFamily="2" charset="-78"/>
              </a:rPr>
              <a:t>رْتَدِي عَادَةً مَلَابِسَ أَنِيقَةً وَمُحْتَشِمَةً.</a:t>
            </a:r>
            <a:endParaRPr lang="ar-SA" sz="1600" dirty="0"/>
          </a:p>
        </p:txBody>
      </p:sp>
      <p:sp>
        <p:nvSpPr>
          <p:cNvPr id="51" name="Text 48"/>
          <p:cNvSpPr txBox="1"/>
          <p:nvPr/>
        </p:nvSpPr>
        <p:spPr>
          <a:xfrm>
            <a:off x="3182112" y="5059985"/>
            <a:ext cx="585216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usually wears elegant, modest clothes</a:t>
            </a:r>
            <a:endParaRPr lang="en-US" sz="950" dirty="0"/>
          </a:p>
        </p:txBody>
      </p:sp>
      <p:sp>
        <p:nvSpPr>
          <p:cNvPr id="52" name="Text 49"/>
          <p:cNvSpPr txBox="1"/>
          <p:nvPr/>
        </p:nvSpPr>
        <p:spPr>
          <a:xfrm>
            <a:off x="566928" y="4724400"/>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9171432" y="5356860"/>
            <a:ext cx="246888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٦ المُقَارَنَةُ + الرَّأْيُ</a:t>
            </a:r>
            <a:endParaRPr lang="ar-SA" sz="1600" dirty="0"/>
          </a:p>
        </p:txBody>
      </p:sp>
      <p:sp>
        <p:nvSpPr>
          <p:cNvPr id="57" name="Text 54"/>
          <p:cNvSpPr txBox="1"/>
          <p:nvPr/>
        </p:nvSpPr>
        <p:spPr>
          <a:xfrm>
            <a:off x="9125712" y="5674157"/>
            <a:ext cx="256032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comparison + opinion</a:t>
            </a:r>
            <a:endParaRPr lang="en-US" sz="950" dirty="0"/>
          </a:p>
        </p:txBody>
      </p:sp>
      <p:sp>
        <p:nvSpPr>
          <p:cNvPr id="58" name="Text 55"/>
          <p:cNvSpPr txBox="1"/>
          <p:nvPr/>
        </p:nvSpPr>
        <p:spPr>
          <a:xfrm>
            <a:off x="3227832" y="5356860"/>
            <a:ext cx="576072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أُسْلُوبُهَا أَكْثَرُ رَسْمِيَّةً مِنْ أُسْلُوبِي. فِي رَأْيِي، أَفْضَلُ صِفَةٍ فِيهَا كَرَمُهَا.</a:t>
            </a:r>
            <a:endParaRPr lang="ar-SA" sz="1600" dirty="0"/>
          </a:p>
        </p:txBody>
      </p:sp>
      <p:sp>
        <p:nvSpPr>
          <p:cNvPr id="59" name="Text 56"/>
          <p:cNvSpPr txBox="1"/>
          <p:nvPr/>
        </p:nvSpPr>
        <p:spPr>
          <a:xfrm>
            <a:off x="3182112" y="5674157"/>
            <a:ext cx="585216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her style is more formal than mine; her best quality is generosity</a:t>
            </a:r>
            <a:endParaRPr lang="en-US" sz="950" dirty="0"/>
          </a:p>
        </p:txBody>
      </p:sp>
      <p:sp>
        <p:nvSpPr>
          <p:cNvPr id="60" name="Text 57"/>
          <p:cNvSpPr txBox="1"/>
          <p:nvPr/>
        </p:nvSpPr>
        <p:spPr>
          <a:xfrm>
            <a:off x="566928" y="5338572"/>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61" name="Text 5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line is about HER: ta- verbs, -hā endings, li-annahā. Check them before you speak.</a:t>
            </a:r>
            <a:endParaRPr lang="en-US" sz="11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KEEP THE PERSON CONSISTENT (WEBSITE OVERVIEW)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 all the way, or she all the way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المَرْجِعُ الوَاضِحُ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9601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HIM · CORE</a:t>
            </a:r>
            <a:endParaRPr lang="en-US" sz="850" dirty="0"/>
          </a:p>
        </p:txBody>
      </p:sp>
      <p:sp>
        <p:nvSpPr>
          <p:cNvPr id="18" name="Text 15"/>
          <p:cNvSpPr txBox="1"/>
          <p:nvPr/>
        </p:nvSpPr>
        <p:spPr>
          <a:xfrm>
            <a:off x="9238488"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هُوَ · يَـ · ـهُ</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خَالِي طَوِيلُ القَامَةِ، يَرْتَدِي نَظَّارَةً، وَأُسْلُوبُهُ بَسِيطٌ.</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uncle is tall, wears glasses, and his style is simple.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ya- … -hu</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960120" cy="274320"/>
          </a:xfrm>
          <a:prstGeom prst="roundRect">
            <a:avLst>
              <a:gd name="adj" fmla="val 50000"/>
            </a:avLst>
          </a:prstGeom>
          <a:solidFill>
            <a:srgbClr val="B83227"/>
          </a:solidFill>
          <a:ln w="12700">
            <a:solidFill>
              <a:srgbClr val="B83227"/>
            </a:solidFill>
            <a:prstDash val="solid"/>
          </a:ln>
        </p:spPr>
      </p:sp>
      <p:sp>
        <p:nvSpPr>
          <p:cNvPr id="25" name="Text 22"/>
          <p:cNvSpPr txBox="1"/>
          <p:nvPr/>
        </p:nvSpPr>
        <p:spPr>
          <a:xfrm>
            <a:off x="4413504"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HER · CORE</a:t>
            </a:r>
            <a:endParaRPr lang="en-US" sz="850" dirty="0"/>
          </a:p>
        </p:txBody>
      </p:sp>
      <p:sp>
        <p:nvSpPr>
          <p:cNvPr id="26" name="Text 23"/>
          <p:cNvSpPr txBox="1"/>
          <p:nvPr/>
        </p:nvSpPr>
        <p:spPr>
          <a:xfrm>
            <a:off x="5419344"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هِيَ · تَـ · ـهَا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خَالَتِي مُتَوَسِّطَةُ القَامَةِ، تَرْتَدِي حِجَابًا، وَأُسْلُوبُهَا أَنِيقٌ.</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aunt is of medium height, wears a headscarf, and her style is elegant.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ta- … -hā</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ME vs HER · STRETCH</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أُسْلُوبِي / أُسْلُوبُهَا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أُسْلُوبُهَا أَكْثَرُ رَسْمِيَّةً مِنْ أُسْلُوبِي.</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Her style is more formal than mine.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Switch person only on purpose.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overview: maintain reference throughout.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خَالَتِي … تَرْتَدِي … أُسْلُوبُهَا</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خَالَتِي … يَرْتَدِي … أُسْلُوبُهُ</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Organising an extended spoken portrait</a:t>
            </a:r>
            <a:endParaRPr lang="en-US" sz="24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تَنْظِيمُ وَصْفٍ شَفَهِيٍّ مُوَسَّعٍ</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Follow the six stages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مَنْ ← المَظْهَرُ ← الصِّفَاتُ ← العَلَاقَةُ ← الأُسْلُوبُ ← الرَّأْيُ</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سَأَتَحَدَّثُ عَنْ خَالَتِي مَرْيَمَ. هِيَ مُتَوَسِّطَةُ القَامَةِ …</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Keep reference consistent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هِيَ / تَـ / ـهَا … هُوَ / يَـ / ـهُ</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تَرْتَدِي … أُسْلُوبُهَا … لِأَنَّهَا تُسَاعِدُ …</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Prove each quality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صِفَةٌ + لِأَنَّهُ / لِأَنَّهَا + سُلُوكٌ</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هِيَ كَرِيمَةٌ لِأَنَّهَا تُسَاعِدُ كُلَّ مَنْ يَحْتَاجُ إِلَيْهَا.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End with comparison and opinion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أَكْثَرُ … مِنْ · بَيْنَمَا · فِي رَأْيِي</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أُسْلُوبُهَا أَكْثَرُ رَسْمِيَّةً مِنْ أُسْلُوبِي. فِي رَأْيِي، أَفْضَلُ صِفَةٍ فِيهَا كَرَمُهَا.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41</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stage comes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your opinion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comparison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 the person is</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describing your aunt. Choose the accurate sentence.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تَرْتَدِي مَلَابِسَ أَنِيقَةً.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مَلَابِسَ أَنِيقَةً.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أَرْتَدِي مَلَابِسَ أَنِيقَةً.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proves “generous”?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كَرِيمَةٌ لِأَنَّ شَعْرَهَا قَصِيرٌ.</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كَرِيمَةٌ لِأَنَّهَا تُسَاعِدُ الجَمِيعَ.</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كَرِيمَةٌ.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good closing?</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رَأْيِي، أَفْضَلُ صِفَةٍ فِيهَا كَرَمُهَا.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شَعْرُهَا قَصِيرٌ.</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سَأَتَحَدَّثُ عَنْ خَالَتِي.</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41</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stage comes first?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your opinion</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comparison</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who the person is</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Start with identity.</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describing your aunt. Choose the accurate sentence.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تَرْتَدِي مَلَابِسَ أَنِيقَةً.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يَرْتَدِي مَلَابِسَ أَنِيقَةً.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أَرْتَدِي مَلَابِسَ أَنِيقَةً.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Aunt = she → ta-.</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proves “generous”?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كَرِيمَةٌ لِأَنَّ شَعْرَهَا قَصِيرٌ.</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كَرِيمَةٌ لِأَنَّهَا تُسَاعِدُ الجَمِيعَ.</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كَرِيمَةٌ.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Behaviour as evidence.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good closing?</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رَأْيِي، أَفْضَلُ صِفَةٍ فِيهَا كَرَمُهَا.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شَعْرُهَا قَصِيرٌ.</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سَأَتَحَدَّثُ عَنْ خَالَتِي.</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Opinion to finish.</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41</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Watch me give a one-minute portrait</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Who + appearance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سَأَتَحَدَّثُ عَنْ خَالَتِي. هِيَ مُتَوَسِّطَةُ القَامَةِ وَ</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لَهَا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شَعْرٌ قَصِيرٌ.</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Stages 1–2.</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Quality + proof</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هِيَ كَرِيمَةٌ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لِأَنَّهَا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تُسَاعِدُ الجَمِيعَ.</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Stage 3.</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Relationship + style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أَتَفَاهَمُ مَعَ</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هَا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وَ</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تَ</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رْتَدِي مَلَابِسَ أَنِيقَةً.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Stages 4–5.</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 + opinion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أُسْلُوبُهَا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أَكْثَرُ</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رَسْمِيَّةً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مِنْ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أُسْلُوبِي. فِي رَأْيِي …</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Stage 6.</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SHE / HER</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EVIDENCE</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COMPARISON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سَأَتَحَدَّثُ عَنْ خَالَتِي مَرْيَمَ. هِيَ مُتَوَسِّطَةُ القَامَةِ، وَ</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لَهَا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شَعْرٌ قَصِيرٌ وَعَيْنَانِ بُنِّيَّتَانِ. هِيَ كَرِيمَةٌ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لِأَنَّهَا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تُسَاعِدُ كُلَّ مَنْ يَحْتَاجُ إِلَيْهَا. أَتَفَاهَمُ مَعَ</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هَا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جَيِّدًا.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رْتَدِي عَادَةً مَلَابِسَ أَنِيقَةً، وَأُسْلُوبُ</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هَا</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أَكْثَرُ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رَسْمِيَّةً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أُسْلُوبِي. فِي رَأْيِي، أَفْضَلُ صِفَةٍ فِيهَا كَرَمُهَا.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will talk about my aunt Maryam. She is of medium height, and she has short hair and brown eyes. She is generous because she helps anyone who needs her. I get on well with her. She usually wears elegant clothes, and her style is more formal than mine. In my opinion, her best quality is her generosity.</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41</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سَأَتَحَدَّثُ عَنْ خَالَتِي مَرْيَمَ.</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talk about my aunt Maryam.</a:t>
            </a:r>
            <a:endParaRPr lang="en-US" sz="1250" dirty="0"/>
          </a:p>
          <a:p>
            <a:pPr indent="0" marL="0">
              <a:buNone/>
            </a:pPr>
            <a:r>
              <a:rPr lang="en-US" sz="1050" i="1" dirty="0">
                <a:solidFill>
                  <a:srgbClr val="8A6D1E"/>
                </a:solidFill>
                <a:latin typeface="Calibri" pitchFamily="34" charset="0"/>
                <a:cs typeface="Amiri" pitchFamily="2" charset="-78"/>
              </a:rPr>
              <a:t>Stage 1: who.</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هِيَ مُتَوَسِّطَةُ القَامَةِ، وَلَهَا شَعْرٌ قَصِيرٌ.</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is of medium height and has short hair.</a:t>
            </a:r>
            <a:endParaRPr lang="en-US" sz="1250" dirty="0"/>
          </a:p>
          <a:p>
            <a:pPr indent="0" marL="0">
              <a:buNone/>
            </a:pPr>
            <a:r>
              <a:rPr lang="en-US" sz="1050" i="1" dirty="0">
                <a:solidFill>
                  <a:srgbClr val="8A6D1E"/>
                </a:solidFill>
                <a:latin typeface="Calibri" pitchFamily="34" charset="0"/>
                <a:cs typeface="Amiri" pitchFamily="2" charset="-78"/>
              </a:rPr>
              <a:t>Stage 2: appearance.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هِيَ كَرِيمَةٌ لِأَنَّهَا تُسَاعِدُ كُلَّ مَنْ يَحْتَاجُ إِلَيْهَا.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is generous because she helps anyone who needs her.</a:t>
            </a:r>
            <a:endParaRPr lang="en-US" sz="1250" dirty="0"/>
          </a:p>
          <a:p>
            <a:pPr indent="0" marL="0">
              <a:buNone/>
            </a:pPr>
            <a:r>
              <a:rPr lang="en-US" sz="1050" i="1" dirty="0">
                <a:solidFill>
                  <a:srgbClr val="8A6D1E"/>
                </a:solidFill>
                <a:latin typeface="Calibri" pitchFamily="34" charset="0"/>
                <a:cs typeface="Amiri" pitchFamily="2" charset="-78"/>
              </a:rPr>
              <a:t>Stage 3: quality + evidence.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أُسْلُوبُهَا أَكْثَرُ رَسْمِيَّةً مِنْ أُسْلُوبِي.</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Her style is more formal than mine.</a:t>
            </a:r>
            <a:endParaRPr lang="en-US" sz="1250" dirty="0"/>
          </a:p>
          <a:p>
            <a:pPr indent="0" marL="0">
              <a:buNone/>
            </a:pPr>
            <a:r>
              <a:rPr lang="en-US" sz="1050" i="1" dirty="0">
                <a:solidFill>
                  <a:srgbClr val="8A6D1E"/>
                </a:solidFill>
                <a:latin typeface="Calibri" pitchFamily="34" charset="0"/>
                <a:cs typeface="Amiri" pitchFamily="2" charset="-78"/>
              </a:rPr>
              <a:t>Stage 6: comparison.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41</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WHAT COMES NEXT IN THE PORTRAIT?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Next stage, same person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المَرْحَلَةُ التَّالِيَةُ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ea typeface="Amiri" pitchFamily="2" charset="-78"/>
                <a:cs typeface="Amiri" pitchFamily="2" charset="-78"/>
              </a:rPr>
              <a:t>سَأَتَحَدَّثُ عَنْ خَالِي</a:t>
            </a:r>
            <a:pPr algn="l" indent="0" marL="0">
              <a:buNone/>
            </a:pPr>
            <a:r>
              <a:rPr lang="en-US" sz="1250" b="1" dirty="0">
                <a:solidFill>
                  <a:srgbClr val="1B3B6F"/>
                </a:solidFill>
                <a:latin typeface="Calibri" pitchFamily="34" charset="0"/>
                <a:cs typeface="Amiri" pitchFamily="2" charset="-78"/>
              </a:rPr>
              <a:t>. What next?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رَأْيِي، هُوَ أَفْضَلُ خَالٍ.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طَوِيلَةُ القَامَةِ.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طَوِيلُ القَامَةِ وَلَهُ لِحْيَةٌ.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the appearance. What next?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صَبُورٌ لِأَنَّهُ يَسْتَمِعُ إِلَيَّ.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صَبُورٌ.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صَبُورَةٌ لِأَنَّهَا تَسْمَعُ.</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Describing your aunt: her style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مَلَابِسَ بَسِيطَةً.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تَرْتَدِي مَلَابِسَ بَسِيطَةً.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أَرْتَدِي مَلَابِسَ بَسِيطَةً.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best final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150" dirty="0">
                <a:solidFill>
                  <a:srgbClr val="1F2A37"/>
                </a:solidFill>
                <a:latin typeface="Amiri" pitchFamily="2" charset="-78"/>
                <a:ea typeface="Amiri" pitchFamily="2" charset="-78"/>
                <a:cs typeface="Amiri" pitchFamily="2" charset="-78"/>
              </a:rPr>
              <a:t>أُسْلُوبُهُ أَبْسَطُ مِنْ أُسْلُوبِي، وَفِي رَأْيِي أَفْضَلُ صِفَةٍ فِيهِ صَبْرُهُ.</a:t>
            </a:r>
            <a:endParaRPr lang="ar-SA" sz="11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150" dirty="0">
                <a:solidFill>
                  <a:srgbClr val="1F2A37"/>
                </a:solidFill>
                <a:latin typeface="Amiri" pitchFamily="2" charset="-78"/>
                <a:ea typeface="Amiri" pitchFamily="2" charset="-78"/>
                <a:cs typeface="Amiri" pitchFamily="2" charset="-78"/>
              </a:rPr>
              <a:t>لَهُ لِحْيَةٌ.</a:t>
            </a:r>
            <a:endParaRPr lang="ar-SA" sz="11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150" dirty="0">
                <a:solidFill>
                  <a:srgbClr val="1F2A37"/>
                </a:solidFill>
                <a:latin typeface="Amiri" pitchFamily="2" charset="-78"/>
                <a:ea typeface="Amiri" pitchFamily="2" charset="-78"/>
                <a:cs typeface="Amiri" pitchFamily="2" charset="-78"/>
              </a:rPr>
              <a:t>شُكْرًا.</a:t>
            </a:r>
            <a:endParaRPr lang="ar-SA" sz="11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Stages: who → looks → qualities</a:t>
            </a:r>
            <a:endParaRPr lang="en-US" sz="1250" dirty="0"/>
          </a:p>
          <a:p>
            <a:pPr algn="l" indent="0" marL="0">
              <a:buNone/>
            </a:pPr>
            <a:r>
              <a:rPr lang="en-US" sz="1250" dirty="0">
                <a:solidFill>
                  <a:srgbClr val="1E6B52"/>
                </a:solidFill>
                <a:latin typeface="Calibri" pitchFamily="34" charset="0"/>
                <a:cs typeface="Amiri" pitchFamily="2" charset="-78"/>
              </a:rPr>
              <a:t>→ relationship → style → opinion.</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41</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NEXT STAGE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Next stage: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ea typeface="Amiri" pitchFamily="2" charset="-78"/>
                <a:cs typeface="Amiri" pitchFamily="2" charset="-78"/>
              </a:rPr>
              <a:t>سَأَتَحَدَّثُ عَنْ خَالِي</a:t>
            </a:r>
            <a:pPr algn="l" indent="0" marL="0">
              <a:buNone/>
            </a:pPr>
            <a:r>
              <a:rPr lang="en-US" sz="1250" b="1" dirty="0">
                <a:solidFill>
                  <a:srgbClr val="1B3B6F"/>
                </a:solidFill>
                <a:latin typeface="Calibri" pitchFamily="34" charset="0"/>
                <a:cs typeface="Amiri" pitchFamily="2" charset="-78"/>
              </a:rPr>
              <a:t>. What next?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رَأْيِي، هُوَ أَفْضَلُ خَالٍ.</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طَوِيلَةُ القَامَةِ.</a:t>
            </a:r>
            <a:endParaRPr lang="ar-SA" sz="170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 طَوِيلُ القَامَةِ وَلَهُ لِحْيَةٌ.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Appearance, and uncle = he.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the appearance. What next?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 صَبُورٌ لِأَنَّهُ يَسْتَمِعُ إِلَيَّ.</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صَبُورٌ.</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صَبُورَةٌ لِأَنَّهَا تَسْمَعُ.</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Quality + evidence.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Describing your aunt: her style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يَرْتَدِي مَلَابِسَ بَسِيطَةً.</a:t>
            </a:r>
            <a:endParaRPr lang="ar-SA" sz="170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تَرْتَدِي مَلَابِسَ بَسِيطَةً.</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أَرْتَدِي مَلَابِسَ بَسِيطَةً.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Aunt = she.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best final sentence: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أُسْلُوبُهُ أَبْسَطُ مِنْ أُسْلُوبِي، وَفِي رَأْيِي أَفْضَلُ صِفَةٍ فِيهِ صَبْرُهُ.</a:t>
            </a:r>
            <a:endParaRPr lang="ar-SA"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150" dirty="0">
                <a:solidFill>
                  <a:srgbClr val="9AA1AB"/>
                </a:solidFill>
                <a:latin typeface="Amiri" pitchFamily="2" charset="-78"/>
                <a:ea typeface="Amiri" pitchFamily="2" charset="-78"/>
                <a:cs typeface="Amiri" pitchFamily="2" charset="-78"/>
              </a:rPr>
              <a:t>لَهُ لِحْيَةٌ.</a:t>
            </a:r>
            <a:endParaRPr lang="ar-SA" sz="11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150" dirty="0">
                <a:solidFill>
                  <a:srgbClr val="9AA1AB"/>
                </a:solidFill>
                <a:latin typeface="Amiri" pitchFamily="2" charset="-78"/>
                <a:ea typeface="Amiri" pitchFamily="2" charset="-78"/>
                <a:cs typeface="Amiri" pitchFamily="2" charset="-78"/>
              </a:rPr>
              <a:t>شُكْرًا.</a:t>
            </a:r>
            <a:endParaRPr lang="ar-SA" sz="11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Comparison + opinion.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Stages: who → looks → qualities</a:t>
            </a:r>
            <a:endParaRPr lang="en-US" sz="1250" dirty="0"/>
          </a:p>
          <a:p>
            <a:pPr algn="l" indent="0" marL="0">
              <a:buNone/>
            </a:pPr>
            <a:r>
              <a:rPr lang="en-US" sz="1250" dirty="0">
                <a:solidFill>
                  <a:srgbClr val="1E6B52"/>
                </a:solidFill>
                <a:latin typeface="Calibri" pitchFamily="34" charset="0"/>
                <a:cs typeface="Amiri" pitchFamily="2" charset="-78"/>
              </a:rPr>
              <a:t>→ relationship → style → opinion.</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41</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stage of the portrait?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سَأَتَحَدَّثُ عَنْ خَالِي.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 شَعْرٌ قَصِيرٌ.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طَوِيلُ القَامَةِ.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صَبُورٌ لِأَنَّهُ يَسْتَمِعُ.</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أَتَفَاهَمُ مَعَهُ جَيِّدًا.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يَرْتَدِي مَلَابِسَ عَمَلِيَّةً.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أَفْضَلُ صِفَةٍ فِيهِ صَبْرُهُ.</a:t>
            </a:r>
            <a:endParaRPr lang="ar-SA" sz="1800" dirty="0"/>
          </a:p>
        </p:txBody>
      </p:sp>
      <p:sp>
        <p:nvSpPr>
          <p:cNvPr id="29" name="Shape 26"/>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0" name="Shape 27"/>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Who / appearance</a:t>
            </a:r>
            <a:endParaRPr lang="en-US" sz="950" dirty="0"/>
          </a:p>
        </p:txBody>
      </p:sp>
      <p:sp>
        <p:nvSpPr>
          <p:cNvPr id="32" name="Shape 29"/>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3" name="Shape 30"/>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4" name="Text 31"/>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Qualities / relationship</a:t>
            </a:r>
            <a:endParaRPr lang="en-US" sz="950" dirty="0"/>
          </a:p>
        </p:txBody>
      </p:sp>
      <p:sp>
        <p:nvSpPr>
          <p:cNvPr id="35" name="Shape 32"/>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6" name="Shape 33"/>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Style / opinion</a:t>
            </a:r>
            <a:endParaRPr lang="en-US" sz="9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41</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Who / appearance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سَأَتَحَدَّثُ عَنْ خَالِي.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 شَعْرٌ قَصِيرٌ.</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طَوِيلُ القَامَةِ.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Qualities / relationship</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صَبُورٌ لِأَنَّهُ يَسْتَمِعُ.</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أَتَفَاهَمُ مَعَهُ جَيِّدًا.</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Style / opinion</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يَرْتَدِي مَلَابِسَ عَمَلِيَّةً.</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أَفْضَلُ صِفَةٍ فِيهِ صَبْرُهُ.</a:t>
            </a:r>
            <a:endParaRPr lang="ar-SA" sz="18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أُسْلُوبُهُ ___ رَسْمِيَّةً مِنْ أُسْلُوبِي.</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مِنْ</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رَسْمِيٌّ</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relative clause for a man.</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الرَّجُلُ الَّتِي تَرْتَدِي نَظَّارَةً.</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الرَّجُلُ الَّذِي يَرْتَدِي نَظَّارَةً.</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الرَّجُلُ يَرْتَدِي الَّذِي.</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stage does </a:t>
            </a:r>
            <a:pPr algn="l" indent="0" marL="0">
              <a:buNone/>
            </a:pPr>
            <a:r>
              <a:rPr lang="ar-SA" altLang="en-US" sz="1650" b="1" dirty="0">
                <a:solidFill>
                  <a:srgbClr val="1B3B6F"/>
                </a:solidFill>
                <a:latin typeface="Amiri" pitchFamily="2" charset="-78"/>
                <a:ea typeface="Amiri" pitchFamily="2" charset="-78"/>
                <a:cs typeface="Amiri" pitchFamily="2" charset="-78"/>
              </a:rPr>
              <a:t>أَتَفَاهَمُ مَعَهَا جَيِّدًا</a:t>
            </a:r>
            <a:pPr algn="l" indent="0" marL="0">
              <a:buNone/>
            </a:pPr>
            <a:r>
              <a:rPr lang="en-US" sz="1250" b="1" dirty="0">
                <a:solidFill>
                  <a:srgbClr val="1B3B6F"/>
                </a:solidFill>
                <a:latin typeface="Calibri" pitchFamily="34" charset="0"/>
                <a:cs typeface="Amiri" pitchFamily="2" charset="-78"/>
              </a:rPr>
              <a:t> belong to?</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appearance</a:t>
            </a:r>
            <a:endParaRPr lang="en-US" sz="12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relationship</a:t>
            </a:r>
            <a:endParaRPr lang="en-US" sz="12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clothes</a:t>
            </a:r>
            <a:endParaRPr lang="en-US" sz="12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starts a portrait?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النِّهَايَةِ …</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 …</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سَأَتَحَدَّثُ عَنْ …</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41</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أُسْلُوبُهُ ___ رَسْمِيَّةً مِنْ أُسْلُوبِي.</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أَفْضَلُ مِنْ</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رَسْمِيٌّ</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أَكْثَرُ</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More + noun.</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relative clause for a man.</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الرَّجُلُ الَّتِي تَرْتَدِي نَظَّارَةً.</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 الرَّجُلُ الَّذِي يَرْتَدِي نَظَّارَةً.</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الرَّجُلُ يَرْتَدِي الَّذِي.</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Man → alladhī.</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stage does </a:t>
            </a:r>
            <a:pPr algn="l" indent="0" marL="0">
              <a:buNone/>
            </a:pPr>
            <a:r>
              <a:rPr lang="ar-SA" altLang="en-US" sz="1650" b="1" dirty="0">
                <a:solidFill>
                  <a:srgbClr val="1B3B6F"/>
                </a:solidFill>
                <a:latin typeface="Amiri" pitchFamily="2" charset="-78"/>
                <a:ea typeface="Amiri" pitchFamily="2" charset="-78"/>
                <a:cs typeface="Amiri" pitchFamily="2" charset="-78"/>
              </a:rPr>
              <a:t>أَتَفَاهَمُ مَعَهَا جَيِّدًا</a:t>
            </a:r>
            <a:pPr algn="l" indent="0" marL="0">
              <a:buNone/>
            </a:pPr>
            <a:r>
              <a:rPr lang="en-US" sz="1250" b="1" dirty="0">
                <a:solidFill>
                  <a:srgbClr val="1B3B6F"/>
                </a:solidFill>
                <a:latin typeface="Calibri" pitchFamily="34" charset="0"/>
                <a:cs typeface="Amiri" pitchFamily="2" charset="-78"/>
              </a:rPr>
              <a:t> belong to?</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appearance</a:t>
            </a:r>
            <a:endParaRPr lang="en-US" sz="125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relationship</a:t>
            </a:r>
            <a:endParaRPr lang="en-US" sz="125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clothes</a:t>
            </a:r>
            <a:endParaRPr lang="en-US" sz="125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Getting on = relationship.</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starts a portrait?</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النِّهَايَةِ …</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 …</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سَأَتَحَدَّثُ عَنْ …</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 will talk about …</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41</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خَالَتِي … يَرْتَدِي مَلَابِسَ أَنِيقَةً.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Aunt = he or she?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كَرِيمَةٌ لِأَنَّهُ يُسَاعِدُ النَّاسَ.</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Because HE or because SHE?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أُسْلُوبُهَا رَسْمِيَّةٌ مِنْ أُسْلُوبِي.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Comparison: more + noun + min.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41</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خَالَتِي … يَرْتَدِي مَلَابِسَ أَنِيقَةً.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خَالَتِي … تَرْتَدِي مَلَابِسَ أَنِيقَةً.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Keep the reference: aunt = she.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كَرِيمَةٌ لِأَنَّهُ يُسَاعِدُ النَّاسَ.</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كَرِيمَةٌ لِأَنَّهَا تُسَاعِدُ النَّاسَ.</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Reason pronoun and verb must match her.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أُسْلُوبُهَا رَسْمِيَّةٌ مِنْ أُسْلُوبِي.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أُسْلُوبُهَا أَكْثَرُ رَسْمِيَّةً مِنْ أُسْلُوبِي.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Comparison: more + noun + min.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41</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Listening focus: describing people and personal style</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Whom does the student describe?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aunt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mother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teacher</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start with?</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clothes</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opinion</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relationship</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describe next?</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aunt’s job</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aunt’s house</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height, hair and clothes</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qualities does she explain?</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generous and confident</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shy and calm</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cheerful and patient</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pieces of evidence does she give?</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none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at the end?</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compares her aunt’s style with her own</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asks a question</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describes her own family</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خَالَتِهَا</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القَامَةَ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تُقَارِنُ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41</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تُقَدِّمُ طَالِبَةٌ وَصْفًا شَفَهِيًّا لِخَالَتِهَا.</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student gives a spoken description of her aunt.</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تَبْدَأُ بِالعَلَاقَةِ، ثُمَّ تَصِفُ القَامَةَ وَالشَّعْرَ وَالمَلَابِسَ،</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starts with the relationship, then describes height, hair and clothes,</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وَبَعْدَ ذٰلِكَ تَشْرَحُ أَنَّ خَالَتَهَا كَرِيمَةٌ وَوَاثِقَةٌ مَعَ دَلِيلَيْنِ.</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after that explains that her aunt is generous and confident, with two pieces of evidence.</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النِّهَايَةِ تُقَارِنُ أُسْلُوبَهَا بِأُسْلُوبِهَا الشَّخْصِيِّ.</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end she compares her aunt’s style with her own.</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41</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Whom does the student describe?</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aunt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mother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teacher</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وَصْفًا شَفَهِيًّا لِخَالَتِهَا.</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start with?</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clothes</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opinion</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relationship</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تَبْدَأُ بِالعَلَاقَةِ.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describe next?</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aunt’s job</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aunt’s house</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height, hair and clothes</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ثُمَّ تَصِفُ القَامَةَ وَالشَّعْرَ وَالمَلَابِسَ.</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qualities does she explain?</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generous and confident</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shy and calm</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cheerful and patient</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كَرِيمَةٌ وَوَاثِقَةٌ.</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pieces of evidence does she give?</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none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مَعَ دَلِيلَيْنِ.</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at the end?</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compares her aunt’s style with her own</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asks a question</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describes her own family</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تُقَارِنُ أُسْلُوبَهَا بِأُسْلُوبِهَا الشَّخْصِيِّ.</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خَالَتِهَا</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القَامَةَ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تُقَارِنُ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41</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Developed speaking: describing people and personal style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قَدِّمْ وَصْفًا مُنَظَّمًا لِشَخْصٍ.</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أَضِفْ دَلِيلًا عَلَى صِفَةٍ شَخْصِيَّةٍ.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اِسْتَعْمِلْ جُمْلَةً مَوْصُولَةً فِي الوَصْفِ.</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اخْتِمْ بِمُقَارَنَةٍ وَرَأْيٍ.</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سَأَتَحَدَّثُ عَنْ ___ . هُوَ / هِيَ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هُوَ / هِيَ ___ لِأَنَّهُ / لِأَنَّهَا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هُوَ الشَّخْصُ الَّذِي … / هِيَ الَّتِي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أُسْلُوبُهُ / أُسْلُوبُهَا أَكْثَرُ ___ مِنْ أُسْلُوبِي. فِي رَأْيِي ___ .</a:t>
            </a:r>
            <a:endParaRPr lang="ar-SA" sz="105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مَنْ سَتَصِفُ؟</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Whom will you describe?</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سَأَصِفُ خَالَتِي مَرْيَمَ.</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will describe my aunt Maryam.</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41</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1950" b="1" dirty="0">
                <a:solidFill>
                  <a:srgbClr val="2E8B57"/>
                </a:solidFill>
                <a:latin typeface="Cambria" pitchFamily="34" charset="0"/>
                <a:cs typeface="Amiri" pitchFamily="2" charset="-78"/>
              </a:rPr>
              <a:t>cue card + 5 sentences</a:t>
            </a:r>
            <a:endParaRPr lang="en-US" sz="195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Prepare a cue card and five sentences for a short portrait.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Stages 1, 2 and 5: who, appearance, clothes.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developed portrait with evidence.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quality with evidence and your relationship; keep he / she consistent.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the full spoken portrait.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the full six-stage portrait, easy to say aloud, with evidence, comparison and a short conclusion.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41</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______ لِأَنَّهُ / لِأَنَّهَا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أَتَفَاهَمُ مَعَهُ / مَعَهَا جَيِّدًا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get on well with him / her because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أُسْلُوبُهُ / أُسْلُوبُهَا أَكْثَرُ ______ مِنْ أُسْلُوبِي.</a:t>
            </a:r>
            <a:endParaRPr lang="ar-SA" sz="17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style is more … than mine.</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أُفَضِّلُ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I prefer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أَفْضَلُ صِفَةٍ فِيهِ / فِيهَا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his / her best quality is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سَأَتَحَدَّثُ عَنْ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talk about my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______ القَامَةِ.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 height.</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لَهُ / لَهَا شَعْرٌ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has … hair.</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يَرْتَدِي / تَرْتَدِي عَادَةً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usually wears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أُسْلُوبُهُ / أُسْلُوبُهَا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style is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سَأَتَحَدَّثُ عَنْ  ·  خَالَتِي / خَالِي  ·  القَامَةِ  ·  لَهُ / لَهَا  ·  يَرْتَدِي / تَرْتَدِي  ·  كَرِيمٌ / كَرِيمَةٌ  ·  لِأَنَّهُ / لِأَنَّهَا  ·  أَتَفَاهَمُ مَعَ  ·  أُسْلُوبُهُ / أُسْلُوبُهَا  ·  أَكْثَرُ … مِنْ  ·  بَيْنَمَا  ·  فِي رَأْيِي</a:t>
            </a:r>
            <a:endParaRPr lang="ar-SA" sz="14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the full 100–120-word version of a spoken portrait. It must be easy to deliver aloud, with clear stages, evidence, comparison and a concise conclusion.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Cover every requested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target grammar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precise vocabulary from this lesson.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reason, comparison or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Review agreement, pronoun reference and connectors.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 مَنْ يَحْتَاجُ إِلَيْهَا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anyone who needs her</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تَتَحَدَّثُ أَمَامَ النَّاسِ</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she speaks in front of people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تُفَضِّلُ الأَلْوَانَ الهَادِئَةَ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prefers calm colours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صِفَةٍ فِيهَا كَرَمُهَا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her best quality is her generosity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مَا يُعْجِبُنِي فِيهَا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is what I like about her</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41</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سَأَتَحَدَّثُ عَنْ خَالَتِي مَرْيَمَ. هِيَ مُتَوَسِّطَةُ القَامَةِ، وَلَهَا شَعْرٌ قَصِيرٌ وَعَيْنَانِ بُنِّيَّتَانِ. تَرْتَدِي عَادَةً مَلَابِسَ أَنِيقَةً وَمُحْتَشِمَةً، وَتُفَضِّلُ الأَلْوَانَ الهَادِئَةَ. هِيَ كَرِيمَةٌ لِأَنَّهَا تُسَاعِدُ كُلَّ مَنْ يَحْتَاجُ إِلَيْهَا، وَهِيَ أَيْضًا وَاثِقَةٌ عِنْدَمَا تَتَحَدَّثُ أَمَامَ النَّاسِ. أَتَفَاهَمُ مَعَهَا جَيِّدًا لِأَنَّهَا تَسْتَمِعُ إِلَيَّ. أُسْلُوبُهَا أَكْثَرُ رَسْمِيَّةً مِنْ أُسْلُوبِي، بَيْنَمَا أُفَضِّلُ المَلَابِسَ العَمَلِيَّةَ. فِي رَأْيِي، أَفْضَلُ صِفَةٍ فِيهَا هِيَ كَرَمُهَا.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will talk about my aunt Maryam. She is of medium height, and she has short hair and brown eyes. She usually wears elegant, modest clothes, and she prefers calm colours. She is generous because she helps anyone who needs her, and she is also confident when she speaks in front of people. I get on well with her because she listens to me. Her style is more formal than mine, whereas I prefer practical clothes. In my opinion, her best quality is her generosity.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six stages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qualities with evidence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comparison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every “she” verb</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41</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who, appearance and clothes in order.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spoke from a cue card, not a script.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verb and ending matches the person.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proved a quality with behaviour.</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finished with a comparison and an opinion.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41</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stage comes after appearance?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qualities with evidence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opinion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 the person is</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Describing your uncle, choose: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تَرْتَدِي قَمِيصًا أَبْيَضَ.</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قَمِيصًا أَبْيَضَ.</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أَرْتَدِي قَمِيصًا أَبْيَضَ.</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proves “patient”?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صَبُورٌ لِأَنَّهُ يَسْتَمِعُ بِهُدُوءٍ.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صَبُورٌ لِأَنَّهُ طَوِيلٌ.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صَبُورٌ.</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41</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stage comes after appearance?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qualities with evidence</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opinion</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who the person is</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Stage 3.</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Describing your uncle, choose: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تَرْتَدِي قَمِيصًا أَبْيَضَ.</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يَرْتَدِي قَمِيصًا أَبْيَضَ.</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أَرْتَدِي قَمِيصًا أَبْيَضَ.</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Uncle = he.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proves “patient”?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هُوَ صَبُورٌ لِأَنَّهُ يَسْتَمِعُ بِهُدُوءٍ.</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هُوَ صَبُورٌ لِأَنَّهُ طَوِيلٌ.</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هُوَ صَبُورٌ.</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Behaviour.</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41</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Reading focus: describing people and personal style</a:t>
            </a:r>
            <a:endParaRPr lang="en-US" sz="18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خُطَّةُ وَصْفٍ شَفَهِيٍّ: ١) مَنْ هُوَ الشَّخْصُ؟ ٢) كَيْفَ مَظْهَرُهُ؟ ٣) مَا صِفَاتُهُ وَمَا الدَّلِيلُ؟ ٤) كَيْفَ هِيَ عَلَاقَتُكَ بِهِ؟ ٥) مَا أُسْلُوبُهُ فِي المَلَابِسِ؟ ٦) مَا رَأْيُكَ وَالمُقَارَنَةُ؟ تَسْتَعْمِلُ الإِجَابَةُ القَوِيَّةُ رَوَابِطَ وَمَرَاجِعَ وَاضِحَةً.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خُطَّةُ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plan</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وَصْفٍ شَفَهِيٍّ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spoken description</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هُوَ الشَّخْصُ؟</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who is the person?</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كَيْفَ مَظْهَرُهُ؟</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what does he look like?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مَا صِفَاتُهُ؟</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what are his qualities?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الدَّلِيلُ</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evidence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عَلَاقَتُكَ بِهِ</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your relationship with him</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المُقَارَنَةُ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comparison</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رَوَابِطَ</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connectors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مَرَاجِعَ وَاضِحَةً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clear references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41</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this text?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story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plan for a spoken description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letter</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stage 1?</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appearance</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opinion</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 the person is</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Stage 3 asks for qualities and …</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evidence</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prices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colours</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Stage 4 is about …</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weather</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your relationship with the person</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shopping</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Stage 6 includes …</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your opinion and a comparison</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goodbye</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question</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strong answer use?</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 lists</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English words</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connectors and clear references</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41</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this text?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story</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plan for a spoken description</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letter</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خُطَّةُ وَصْفٍ شَفَهِيٍّ.</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stage 1?</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appearance</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opinion</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who the person is</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١) مَنْ هُوَ الشَّخْصُ؟</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Stage 3 asks for qualities and …</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evidence</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prices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colours</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مَا صِفَاتُهُ وَمَا الدَّلِيلُ؟</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Stage 4 is about …</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weather</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your relationship with the person</a:t>
            </a:r>
            <a:endParaRPr lang="en-US" sz="11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shopping</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كَيْفَ هِيَ عَلَاقَتُكَ بِهِ؟</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Stage 6 includes …</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your opinion and a comparison</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goodbye</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question</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مَا رَأْيُكَ وَالمُقَارَنَةُ؟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strong answer use?</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long lists</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English words</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connectors and clear references</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رَوَابِطَ وَمَرَاجِعَ وَاضِحَةً.</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41</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D2-L10 · Spoken Portrait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D2-L11: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D2-L11 · Writing — Describing People, Relationships and Style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فِقْرَةٌ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paragraph</a:t>
            </a:r>
            <a:pPr indent="0" marL="0">
              <a:buNone/>
            </a:pPr>
            <a:r>
              <a:rPr lang="ar-SA" sz="1000" i="1" dirty="0">
                <a:solidFill>
                  <a:srgbClr val="5A6472"/>
                </a:solidFill>
                <a:latin typeface="Calibri" pitchFamily="34" charset="0"/>
                <a:ea typeface="Amiri" pitchFamily="2" charset="-78"/>
                <a:cs typeface="Amiri" pitchFamily="2" charset="-78"/>
              </a:rPr>
              <a:t>  pl. فِقْرَاتٌ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مُقَدِّمَةٌ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introduction</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خَاتِمَةٌ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conclusion</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رَابِطٌ</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connector</a:t>
            </a:r>
            <a:pPr indent="0" marL="0">
              <a:buNone/>
            </a:pPr>
            <a:r>
              <a:rPr lang="ar-SA" sz="1000" i="1" dirty="0">
                <a:solidFill>
                  <a:srgbClr val="5A6472"/>
                </a:solidFill>
                <a:latin typeface="Calibri" pitchFamily="34" charset="0"/>
                <a:ea typeface="Amiri" pitchFamily="2" charset="-78"/>
                <a:cs typeface="Amiri" pitchFamily="2" charset="-78"/>
              </a:rPr>
              <a:t>  pl. رَوَابِطُ</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أُرَاجِعُ</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check, revise</a:t>
            </a:r>
            <a:pPr indent="0" marL="0">
              <a:buNone/>
            </a:pPr>
            <a:r>
              <a:rPr lang="en-US" sz="1000" i="1" dirty="0">
                <a:solidFill>
                  <a:srgbClr val="5A6472"/>
                </a:solidFill>
                <a:latin typeface="Calibri" pitchFamily="34" charset="0"/>
                <a:cs typeface="Amiri" pitchFamily="2" charset="-78"/>
              </a:rPr>
              <a:t>  D1-L05</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D2-L11 is the writing lesson. Choose the person you will write about, and note one fact for each of the six stages.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عَنْ مَنْ سَتَكْتُبُ؟</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Record your 20–30-second portrait from your cue card.</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your developed portrait (8 sentences).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the full 100–120-word spoken portrait.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41</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D2-L11 · Writing — Describing People, Relationships and Style</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six stages, one person — ta- and -hā all the way (or ya- and -hu).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D2-L10 · Speaking — Describing People and Personal Style</dc:title>
  <dc:subject>PptxGenJS Presentation</dc:subject>
  <dc:creator>Al Madina Online School · Arabic Department</dc:creator>
  <cp:lastModifiedBy>Al Madina Online School · Arabic Department</cp:lastModifiedBy>
  <cp:revision>1</cp:revision>
  <dcterms:created xsi:type="dcterms:W3CDTF">2026-10-11T06:40:39Z</dcterms:created>
  <dcterms:modified xsi:type="dcterms:W3CDTF">2026-10-11T06:40:39Z</dcterms:modified>
</cp:coreProperties>
</file>