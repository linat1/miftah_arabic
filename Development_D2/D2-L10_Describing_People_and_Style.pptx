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D2-L10. The website lesson “Speaking — Describing People and Personal Style”: vocabulary, grammar rules and quiz, patterns, common mistakes, sorter, listening, reading, speaking prompts and model, writing task and model, differentiation, final check and the lesson mission. Picture match: website visual game “Speaking — Describing People and Personal Style”.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a one-minute spoken portrait (website six-stage plan). The whole unit is revised through it; only the portrait vocabulary is shown (groups 2–3 are on the website vocabulary tab).
• Core: stages 1, 2 and 5 (who, appearance, clothes) from a cue card — 20–30 seconds. Develop: add stage 3 (a quality + evidence) and stage 6. Stretch: all six stages, 60 seconds, no script, a relative clause and a comparison.
• The website grammar and quiz are copies of D2-L07; the deck teaches the rule named in the website title (“Organising an extended spoken portrait”) — flagged for the website editor.
• Respect: describe family, a famous person or an invented person — never a classmate.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structures prepared at home. Questions 3–5 retrieve D2-L09, D2-L06 and D2-L05.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portrait has an order. Once you say “my aunt”, every verb and ending stays SHE: ta- / -hā.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مظہر → مَظْهَرٌ (appearance); صفات → صِفَاتٌ (qualities, pl. of صِفَةٌ); تعلق → عَلَاقَةٌ; خالہ (maternal aunt) → خَالَةٌ — the person in the website model! Also خالو (uncle by marriage) is not Arabic: Arabic uses زَوْجُ خَالَتِي.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(1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(2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(3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reading text IS the plan (six questions), filled with the website model portrait of the aunt. Core students prepare stages 1, 2 and 5 only.
Cue-card task: students write ONE key word per stage on a card (e.g. خَالَتِي · قَصِيرٌ · كَرِيمَةٌ + تُسَاعِدُ · أَتَفَاهَمُ · أَنِيقَةٌ ·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overview: “Organise a spoken portrait … while maintaining reference.” Recycles D1-L06 (he/she) and D2-L06 (lahu/lahā).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“Organise a spoken portrait from identity to appearance, personality, relationship, style and evaluation, while maintaining reference.”
• Follow the six stages: A clear order makes a long answer easy to follow.
• Keep reference consistent: Once you choose the person, every verb, pronoun and ending must match.
• Prove each quality: Give behaviour as evidence for every personality adjective.
• End with comparison and opinion: A short comparison and a judgement close the portrait.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SPEAKS the website model from a cue card (not reading), timing it (~45 s), then shows the text. Point to each stage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build a portrait of an uncle together, stage by stage. After each answer, a student adds their own sentence for that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now has a complete model portrait of the uncle — read it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its stage.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its stage.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تُقَدِّمُ طَالِبَةٌ وَصْفًا شَفَهِيًّا لِخَالَتِهَا. تَبْدَأُ بِالعَلَاقَةِ، ثُمَّ تَصِفُ القَامَةَ وَالشَّعْرَ وَالمَلَابِسَ، وَبَعْدَ ذٰلِكَ تَشْرَحُ أَنَّ خَالَتَهَا كَرِيمَةٌ وَوَاثِقَةٌ مَعَ دَلِيلَيْنِ. فِي النِّهَايَةِ تُقَارِنُ أُسْلُوبَهَا بِأُسْلُوبِهَا الشَّخْصِيِّ.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أَفْضَلُ صِفَةٍ فِيهَا؟ (What is her best quality?)
B: كَرَمُهَا، لِأَنَّهَا تُسَاعِدُ كُلَّ مَنْ يَحْتَاجُ إِلَيْهَا. (Her generosity, because she helps anyone who needs her.)
MAIN TASK (8–10 min). Each student prepares a cue card (one word per stage), then gives the portrait on the mic: Core 20–30 s, Develop 40 s, Stretch 60 s. Listeners tick the stages they heard. Website model continues: A: مَا أَفْضَلُ صِفَةٍ فِيهَا؟ B: كَرَمُهَا، لِأَنَّهَا تُسَاعِدُ كُلَّ مَنْ يَحْتَاجُ إِلَيْهَا.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the full 100–120-word version of a spoken portrait. It must be easy to deliver aloud, with clear stages, evidence, comparison and a concise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Stages: خَالَتِي مَرْيَمَ ← مُتَوَسِّطَةُ القَامَةِ … ← تَرْتَدِي … ← كَرِيمَةٌ لِأَنَّهَا … / وَاثِقَةٌ عِنْدَمَا … ← أَتَفَاهَمُ مَعَهَا ← أَكْثَرُ رَسْمِيَّةً مِنْ أُسْلُوبِي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(D2-L11 · Writing — Describing People, Relationships and Style) will spend class time USING this language, so students prepare it tonight — short, simple, easy to access (school guidance: “Simple, Short, Interesting, Relevant, Easy to access”). Writing-organisation words for D2-L11 (paragraphs, introduction, conclusion, connectors).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 Describing People and Personal 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التَّحَدُّثُ — وَصْفُ النَّاسِ وَالأُسْلُوبِ الشَّخْصِيِّ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Give a one-minute spoken portrait in six stages — who, appearance, qualities with evidence, relationship, style, comparison and opinion — keeping every he / she and his / her consistent.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D2-L10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six stages and keeping he / she consistent.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Order the stages, fix references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يَبْدُو</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wears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seems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أُسْلُوبُهَا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style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style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style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وَأَنْتَ، مَا أُسْلُوبُكَ؟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has long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الَّذِي لَهُ شَعْرٌ طَوِيلٌ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لَهَا شَعْرٌ طَوِيلَةٌ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لَهَا شَعْرٌ طَوِيلٌ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أُسْلُوبُهَا أَكْثَرُ رَسْمِيَّةً مِنْ أُسْلُوبِي.</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أُسْلُوبُهَا رَسْمِيَّةٌ مِنْ أُسْلُوبِي.</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أُسْلُوبُهَا أَكْثَرُ رَسْمِيٌّ.</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يَبْدُو</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wears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seems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has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أُسْلُوبُهَا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style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style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style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طَالِبٌ.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وَأَنْتَ، مَا أُسْلُوبُكَ؟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has long 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الَّذِي لَهُ شَعْرٌ طَوِيلٌ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الَّتِي لَهَا شَعْرٌ طَوِيلَةٌ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الفَتَاةُ الَّتِي لَهَا شَعْرٌ طَوِيلٌ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أُسْلُوبُهَا أَكْثَرُ رَسْمِيَّةً مِنْ أُسْلُوبِي.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أُسْلُوبُهَا رَسْمِيَّةٌ مِنْ أُسْلُوبِي.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أُسْلُوبُهَا أَكْثَرُ رَسْمِيٌّ.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portrait has an order. Once you say “my aunt”, every verb and ending stays SHE: ta- / -hā.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خَالَتِي … </a:t>
            </a:r>
            <a:pPr rtl="1" algn="ctr" indent="0" marL="0">
              <a:lnSpc>
                <a:spcPct val="120000"/>
              </a:lnSpc>
              <a:buNone/>
            </a:pPr>
            <a:r>
              <a:rPr lang="ar-SA" altLang="en-US" sz="1950" b="1" dirty="0">
                <a:solidFill>
                  <a:srgbClr val="D6336C"/>
                </a:solidFill>
                <a:latin typeface="Amiri" pitchFamily="2" charset="-78"/>
                <a:cs typeface="Amiri" pitchFamily="2" charset="-78"/>
              </a:rPr>
              <a:t>هِيَ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لَهَا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cs typeface="Amiri" pitchFamily="2" charset="-78"/>
              </a:rPr>
              <a:t>رْتَدِي … أُسْلُوبُ</a:t>
            </a:r>
            <a:pPr rtl="1" algn="ctr" indent="0" marL="0">
              <a:lnSpc>
                <a:spcPct val="120000"/>
              </a:lnSpc>
              <a:buNone/>
            </a:pPr>
            <a:r>
              <a:rPr lang="ar-SA" altLang="en-US" sz="1950" b="1" dirty="0">
                <a:solidFill>
                  <a:srgbClr val="D6336C"/>
                </a:solidFill>
                <a:latin typeface="Amiri" pitchFamily="2" charset="-78"/>
                <a:cs typeface="Amiri" pitchFamily="2" charset="-78"/>
              </a:rPr>
              <a:t>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D2-L10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Organising an extended spoken portrait.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someone’s appearance and clothes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speak for 20–30 seconds from a cue card.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quality with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he / she and his / her consistent.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one-minute portrait in six stages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end with a comparison and an opinion.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This lesson revises the D2 vocabulary. Only the portrait group is shown; style and evaluation words are on the website vocabulary tab.</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Portrait language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Style and clothing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and comparison · 18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 / منصوبہ‎ </a:t>
            </a:r>
            <a:pPr indent="0" marL="0">
              <a:buNone/>
            </a:pPr>
            <a:r>
              <a:rPr lang="en-US" sz="950" b="1" dirty="0">
                <a:solidFill>
                  <a:srgbClr val="2E8B57"/>
                </a:solidFill>
                <a:latin typeface="Calibri" pitchFamily="34" charset="0"/>
                <a:cs typeface="Amiri" pitchFamily="2" charset="-78"/>
              </a:rPr>
              <a:t> khat · plan (meaning bridge)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مَظْهَرٌ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‎مظہر‎ </a:t>
            </a:r>
            <a:pPr indent="0" marL="0">
              <a:buNone/>
            </a:pPr>
            <a:r>
              <a:rPr lang="en-US" sz="950" b="1" dirty="0">
                <a:solidFill>
                  <a:srgbClr val="2E8B57"/>
                </a:solidFill>
                <a:latin typeface="Calibri" pitchFamily="34" charset="0"/>
                <a:cs typeface="Amiri" pitchFamily="2" charset="-78"/>
              </a:rPr>
              <a:t> mazhar · appearance, manifestation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صِفَاتٌ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‎صفات‎ </a:t>
            </a:r>
            <a:pPr indent="0" marL="0">
              <a:buNone/>
            </a:pPr>
            <a:r>
              <a:rPr lang="en-US" sz="950" b="1" dirty="0">
                <a:solidFill>
                  <a:srgbClr val="2E8B57"/>
                </a:solidFill>
                <a:latin typeface="Calibri" pitchFamily="34" charset="0"/>
                <a:cs typeface="Amiri" pitchFamily="2" charset="-78"/>
              </a:rPr>
              <a:t> sifāt · qualities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عَلَاقَةٌ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‎تعلق‎ </a:t>
            </a:r>
            <a:pPr indent="0" marL="0">
              <a:buNone/>
            </a:pPr>
            <a:r>
              <a:rPr lang="en-US" sz="950" b="1" dirty="0">
                <a:solidFill>
                  <a:srgbClr val="2E8B57"/>
                </a:solidFill>
                <a:latin typeface="Calibri" pitchFamily="34" charset="0"/>
                <a:cs typeface="Amiri" pitchFamily="2" charset="-78"/>
              </a:rPr>
              <a:t> taʿalluq · relationship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خَالَةٌ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‎خالہ‎ </a:t>
            </a:r>
            <a:pPr indent="0" marL="0">
              <a:buNone/>
            </a:pPr>
            <a:r>
              <a:rPr lang="en-US" sz="950" b="1" dirty="0">
                <a:solidFill>
                  <a:srgbClr val="2E8B57"/>
                </a:solidFill>
                <a:latin typeface="Calibri" pitchFamily="34" charset="0"/>
                <a:cs typeface="Amiri" pitchFamily="2" charset="-78"/>
              </a:rPr>
              <a:t> khāla · maternal aunt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Portrait language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قَصِيرُ القَامَةِ / قَصِيرَةُ القَامَةِ</a:t>
            </a:r>
            <a:endParaRPr lang="ar-SA" sz="255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قَصِيرَةُ القَامَةِ</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 القَامَةِ</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مُتَوَسِّطُ القَامَةِ / مُتَوَسِّطَةُ القَامَةِ</a:t>
            </a:r>
            <a:endParaRPr lang="ar-SA" sz="24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مُتَوَسِّطَةُ القَامَةِ</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 القَامَةِ</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طَوِيلٌ</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قَصِيرٌ</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مُجَعَّدٌ</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Portrait language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مُسْتَقِيمٌ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عَيْنَانِ بُنِّيَّتَانِ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يَرْتَدِي نَظَّارَةً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تَرْتَدِي نَظَّارَةً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wears glasses</a:t>
            </a:r>
            <a:endParaRPr lang="en-US" sz="1350" dirty="0"/>
          </a:p>
          <a:p>
            <a:pPr indent="0" marL="0">
              <a:buNone/>
            </a:pPr>
            <a:r>
              <a:rPr lang="en-US" sz="1100" i="1" dirty="0">
                <a:solidFill>
                  <a:srgbClr val="5A6472"/>
                </a:solidFill>
                <a:latin typeface="Calibri" pitchFamily="34" charset="0"/>
                <a:cs typeface="Amiri" pitchFamily="2" charset="-78"/>
              </a:rPr>
              <a:t>tar-ta-dī naẓ-ẓā-ra-tan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لَهُ لِحْيَةٌ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a beard</a:t>
            </a:r>
            <a:endParaRPr lang="en-US" sz="1350" dirty="0"/>
          </a:p>
          <a:p>
            <a:pPr indent="0" marL="0">
              <a:buNone/>
            </a:pPr>
            <a:r>
              <a:rPr lang="en-US" sz="1100" i="1" dirty="0">
                <a:solidFill>
                  <a:srgbClr val="5A6472"/>
                </a:solidFill>
                <a:latin typeface="Calibri" pitchFamily="34" charset="0"/>
                <a:cs typeface="Amiri" pitchFamily="2" charset="-78"/>
              </a:rPr>
              <a:t>la-hu liḥ-ya-tun</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مَلَامِحُهُ هَادِئَةٌ</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features are calm</a:t>
            </a:r>
            <a:endParaRPr lang="en-US" sz="1350" dirty="0"/>
          </a:p>
          <a:p>
            <a:pPr indent="0" marL="0">
              <a:buNone/>
            </a:pPr>
            <a:r>
              <a:rPr lang="en-US" sz="1100" i="1" dirty="0">
                <a:solidFill>
                  <a:srgbClr val="5A6472"/>
                </a:solidFill>
                <a:latin typeface="Calibri" pitchFamily="34" charset="0"/>
                <a:cs typeface="Amiri" pitchFamily="2" charset="-78"/>
              </a:rPr>
              <a:t>ma-lā-mi-ḥu-hu hā-di-ʾa-tun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Portrait language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1 · THE SIX-STAGE PORTRAIT (WEBSITE READING TEXT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stages, one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الوَصْفِ الشَّفَهِيِّ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a:t>
            </a:r>
            <a:endParaRPr lang="en-US" sz="1100" dirty="0"/>
          </a:p>
        </p:txBody>
      </p:sp>
      <p:sp>
        <p:nvSpPr>
          <p:cNvPr id="17" name="Text 14"/>
          <p:cNvSpPr txBox="1"/>
          <p:nvPr/>
        </p:nvSpPr>
        <p:spPr>
          <a:xfrm>
            <a:off x="3209544" y="1810512"/>
            <a:ext cx="5797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 my aunt Maryam)</a:t>
            </a:r>
            <a:endParaRPr lang="en-US" sz="1100" dirty="0"/>
          </a:p>
        </p:txBody>
      </p:sp>
      <p:sp>
        <p:nvSpPr>
          <p:cNvPr id="18" name="Text 15"/>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171432" y="2286000"/>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١ مَنْ؟</a:t>
            </a:r>
            <a:endParaRPr lang="ar-SA" sz="1600" dirty="0"/>
          </a:p>
        </p:txBody>
      </p:sp>
      <p:sp>
        <p:nvSpPr>
          <p:cNvPr id="21" name="Text 18"/>
          <p:cNvSpPr txBox="1"/>
          <p:nvPr/>
        </p:nvSpPr>
        <p:spPr>
          <a:xfrm>
            <a:off x="9125712" y="2603297"/>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who</a:t>
            </a:r>
            <a:endParaRPr lang="en-US" sz="950" dirty="0"/>
          </a:p>
        </p:txBody>
      </p:sp>
      <p:sp>
        <p:nvSpPr>
          <p:cNvPr id="22" name="Text 19"/>
          <p:cNvSpPr txBox="1"/>
          <p:nvPr/>
        </p:nvSpPr>
        <p:spPr>
          <a:xfrm>
            <a:off x="3227832" y="2286000"/>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سَأَتَحَدَّثُ عَنْ خَالَتِي مَرْيَمَ.</a:t>
            </a:r>
            <a:endParaRPr lang="ar-SA" sz="1600" dirty="0"/>
          </a:p>
        </p:txBody>
      </p:sp>
      <p:sp>
        <p:nvSpPr>
          <p:cNvPr id="23" name="Text 20"/>
          <p:cNvSpPr txBox="1"/>
          <p:nvPr/>
        </p:nvSpPr>
        <p:spPr>
          <a:xfrm>
            <a:off x="3182112" y="2603297"/>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talk about my aunt Maryam.</a:t>
            </a:r>
            <a:endParaRPr lang="en-US" sz="950" dirty="0"/>
          </a:p>
        </p:txBody>
      </p:sp>
      <p:sp>
        <p:nvSpPr>
          <p:cNvPr id="24" name="Text 21"/>
          <p:cNvSpPr txBox="1"/>
          <p:nvPr/>
        </p:nvSpPr>
        <p:spPr>
          <a:xfrm>
            <a:off x="56692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71432" y="2900172"/>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٢ المَظْهَرُ</a:t>
            </a:r>
            <a:endParaRPr lang="ar-SA" sz="1600" dirty="0"/>
          </a:p>
        </p:txBody>
      </p:sp>
      <p:sp>
        <p:nvSpPr>
          <p:cNvPr id="29" name="Text 26"/>
          <p:cNvSpPr txBox="1"/>
          <p:nvPr/>
        </p:nvSpPr>
        <p:spPr>
          <a:xfrm>
            <a:off x="9125712" y="3217469"/>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appearance</a:t>
            </a:r>
            <a:endParaRPr lang="en-US" sz="950" dirty="0"/>
          </a:p>
        </p:txBody>
      </p:sp>
      <p:sp>
        <p:nvSpPr>
          <p:cNvPr id="30" name="Text 27"/>
          <p:cNvSpPr txBox="1"/>
          <p:nvPr/>
        </p:nvSpPr>
        <p:spPr>
          <a:xfrm>
            <a:off x="3227832" y="2900172"/>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هِيَ مُتَوَسِّطَةُ القَامَةِ، وَ</a:t>
            </a:r>
            <a:pPr rtl="1" algn="ctr" indent="0" marL="0">
              <a:buNone/>
            </a:pPr>
            <a:r>
              <a:rPr lang="ar-SA" altLang="en-US" sz="1600" b="1" dirty="0">
                <a:solidFill>
                  <a:srgbClr val="D6336C"/>
                </a:solidFill>
                <a:latin typeface="Amiri" pitchFamily="2" charset="-78"/>
                <a:cs typeface="Amiri" pitchFamily="2" charset="-78"/>
              </a:rPr>
              <a:t>لَهَا</a:t>
            </a:r>
            <a:pPr rtl="1" algn="ctr" indent="0" marL="0">
              <a:buNone/>
            </a:pPr>
            <a:r>
              <a:rPr lang="ar-SA" altLang="en-US" sz="1600" b="1" dirty="0">
                <a:solidFill>
                  <a:srgbClr val="1B3B6F"/>
                </a:solidFill>
                <a:latin typeface="Amiri" pitchFamily="2" charset="-78"/>
                <a:cs typeface="Amiri" pitchFamily="2" charset="-78"/>
              </a:rPr>
              <a:t> شَعْرٌ قَصِيرٌ.</a:t>
            </a:r>
            <a:endParaRPr lang="ar-SA" sz="1600" dirty="0"/>
          </a:p>
        </p:txBody>
      </p:sp>
      <p:sp>
        <p:nvSpPr>
          <p:cNvPr id="31" name="Text 28"/>
          <p:cNvSpPr txBox="1"/>
          <p:nvPr/>
        </p:nvSpPr>
        <p:spPr>
          <a:xfrm>
            <a:off x="3182112" y="3217469"/>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medium height, short hair</a:t>
            </a:r>
            <a:endParaRPr lang="en-US" sz="950" dirty="0"/>
          </a:p>
        </p:txBody>
      </p:sp>
      <p:sp>
        <p:nvSpPr>
          <p:cNvPr id="32" name="Text 29"/>
          <p:cNvSpPr txBox="1"/>
          <p:nvPr/>
        </p:nvSpPr>
        <p:spPr>
          <a:xfrm>
            <a:off x="56692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3" name="Shape 30"/>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9171432" y="3514344"/>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٣ الصِّفَاتُ + الدَّلِيلُ</a:t>
            </a:r>
            <a:endParaRPr lang="ar-SA" sz="1600" dirty="0"/>
          </a:p>
        </p:txBody>
      </p:sp>
      <p:sp>
        <p:nvSpPr>
          <p:cNvPr id="37" name="Text 34"/>
          <p:cNvSpPr txBox="1"/>
          <p:nvPr/>
        </p:nvSpPr>
        <p:spPr>
          <a:xfrm>
            <a:off x="9125712" y="3831641"/>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qualities + evidence</a:t>
            </a:r>
            <a:endParaRPr lang="en-US" sz="950" dirty="0"/>
          </a:p>
        </p:txBody>
      </p:sp>
      <p:sp>
        <p:nvSpPr>
          <p:cNvPr id="38" name="Text 35"/>
          <p:cNvSpPr txBox="1"/>
          <p:nvPr/>
        </p:nvSpPr>
        <p:spPr>
          <a:xfrm>
            <a:off x="3227832" y="3514344"/>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هِيَ كَرِيمَةٌ </a:t>
            </a:r>
            <a:pPr rtl="1" algn="ctr" indent="0" marL="0">
              <a:buNone/>
            </a:pPr>
            <a:r>
              <a:rPr lang="ar-SA" altLang="en-US" sz="1600" b="1" dirty="0">
                <a:solidFill>
                  <a:srgbClr val="0E7C86"/>
                </a:solidFill>
                <a:latin typeface="Amiri" pitchFamily="2" charset="-78"/>
                <a:cs typeface="Amiri" pitchFamily="2" charset="-78"/>
              </a:rPr>
              <a:t>لِأَنَّهَا</a:t>
            </a:r>
            <a:pPr rtl="1" algn="ctr" indent="0" marL="0">
              <a:buNone/>
            </a:pPr>
            <a:r>
              <a:rPr lang="ar-SA" altLang="en-US" sz="1600" b="1" dirty="0">
                <a:solidFill>
                  <a:srgbClr val="1B3B6F"/>
                </a:solidFill>
                <a:latin typeface="Amiri" pitchFamily="2" charset="-78"/>
                <a:cs typeface="Amiri" pitchFamily="2" charset="-78"/>
              </a:rPr>
              <a:t> تُسَاعِدُ كُلَّ مَنْ يَحْتَاجُ إِلَيْهَا.</a:t>
            </a:r>
            <a:endParaRPr lang="ar-SA" sz="1600" dirty="0"/>
          </a:p>
        </p:txBody>
      </p:sp>
      <p:sp>
        <p:nvSpPr>
          <p:cNvPr id="39" name="Text 36"/>
          <p:cNvSpPr txBox="1"/>
          <p:nvPr/>
        </p:nvSpPr>
        <p:spPr>
          <a:xfrm>
            <a:off x="3182112" y="3831641"/>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generous because she helps anyone in need</a:t>
            </a:r>
            <a:endParaRPr lang="en-US" sz="950" dirty="0"/>
          </a:p>
        </p:txBody>
      </p:sp>
      <p:sp>
        <p:nvSpPr>
          <p:cNvPr id="40" name="Text 37"/>
          <p:cNvSpPr txBox="1"/>
          <p:nvPr/>
        </p:nvSpPr>
        <p:spPr>
          <a:xfrm>
            <a:off x="56692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171432" y="4128516"/>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٤ العَلَاقَةُ</a:t>
            </a:r>
            <a:endParaRPr lang="ar-SA" sz="1600" dirty="0"/>
          </a:p>
        </p:txBody>
      </p:sp>
      <p:sp>
        <p:nvSpPr>
          <p:cNvPr id="43" name="Text 40"/>
          <p:cNvSpPr txBox="1"/>
          <p:nvPr/>
        </p:nvSpPr>
        <p:spPr>
          <a:xfrm>
            <a:off x="9125712" y="4445813"/>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relationship</a:t>
            </a:r>
            <a:endParaRPr lang="en-US" sz="950" dirty="0"/>
          </a:p>
        </p:txBody>
      </p:sp>
      <p:sp>
        <p:nvSpPr>
          <p:cNvPr id="44" name="Text 41"/>
          <p:cNvSpPr txBox="1"/>
          <p:nvPr/>
        </p:nvSpPr>
        <p:spPr>
          <a:xfrm>
            <a:off x="3227832" y="4128516"/>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أَتَفَاهَمُ مَعَ</a:t>
            </a:r>
            <a:pPr rtl="1" algn="ctr" indent="0" marL="0">
              <a:buNone/>
            </a:pPr>
            <a:r>
              <a:rPr lang="ar-SA" altLang="en-US" sz="1600" b="1" dirty="0">
                <a:solidFill>
                  <a:srgbClr val="D6336C"/>
                </a:solidFill>
                <a:latin typeface="Amiri" pitchFamily="2" charset="-78"/>
                <a:cs typeface="Amiri" pitchFamily="2" charset="-78"/>
              </a:rPr>
              <a:t>هَا</a:t>
            </a:r>
            <a:pPr rtl="1" algn="ctr" indent="0" marL="0">
              <a:buNone/>
            </a:pPr>
            <a:r>
              <a:rPr lang="ar-SA" altLang="en-US" sz="1600" b="1" dirty="0">
                <a:solidFill>
                  <a:srgbClr val="1B3B6F"/>
                </a:solidFill>
                <a:latin typeface="Amiri" pitchFamily="2" charset="-78"/>
                <a:cs typeface="Amiri" pitchFamily="2" charset="-78"/>
              </a:rPr>
              <a:t> جَيِّدًا لِأَنَّهَا تَسْتَمِعُ إِلَيَّ.</a:t>
            </a:r>
            <a:endParaRPr lang="ar-SA" sz="1600" dirty="0"/>
          </a:p>
        </p:txBody>
      </p:sp>
      <p:sp>
        <p:nvSpPr>
          <p:cNvPr id="45" name="Text 42"/>
          <p:cNvSpPr txBox="1"/>
          <p:nvPr/>
        </p:nvSpPr>
        <p:spPr>
          <a:xfrm>
            <a:off x="3182112" y="4445813"/>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get on well with her</a:t>
            </a:r>
            <a:endParaRPr lang="en-US" sz="950" dirty="0"/>
          </a:p>
        </p:txBody>
      </p:sp>
      <p:sp>
        <p:nvSpPr>
          <p:cNvPr id="46" name="Text 43"/>
          <p:cNvSpPr txBox="1"/>
          <p:nvPr/>
        </p:nvSpPr>
        <p:spPr>
          <a:xfrm>
            <a:off x="56692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7" name="Shape 44"/>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8" name="Text 45"/>
          <p:cNvSpPr txBox="1"/>
          <p:nvPr/>
        </p:nvSpPr>
        <p:spPr>
          <a:xfrm>
            <a:off x="9171432" y="4742688"/>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٥ الأُسْلُوبُ</a:t>
            </a:r>
            <a:endParaRPr lang="ar-SA" sz="1600" dirty="0"/>
          </a:p>
        </p:txBody>
      </p:sp>
      <p:sp>
        <p:nvSpPr>
          <p:cNvPr id="49" name="Text 46"/>
          <p:cNvSpPr txBox="1"/>
          <p:nvPr/>
        </p:nvSpPr>
        <p:spPr>
          <a:xfrm>
            <a:off x="9125712" y="5059985"/>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style</a:t>
            </a:r>
            <a:endParaRPr lang="en-US" sz="950" dirty="0"/>
          </a:p>
        </p:txBody>
      </p:sp>
      <p:sp>
        <p:nvSpPr>
          <p:cNvPr id="50" name="Text 47"/>
          <p:cNvSpPr txBox="1"/>
          <p:nvPr/>
        </p:nvSpPr>
        <p:spPr>
          <a:xfrm>
            <a:off x="3227832" y="4742688"/>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cs typeface="Amiri" pitchFamily="2" charset="-78"/>
              </a:rPr>
              <a:t>تَ</a:t>
            </a:r>
            <a:pPr rtl="1" algn="ctr" indent="0" marL="0">
              <a:buNone/>
            </a:pPr>
            <a:r>
              <a:rPr lang="ar-SA" altLang="en-US" sz="1600" b="1" dirty="0">
                <a:solidFill>
                  <a:srgbClr val="1B3B6F"/>
                </a:solidFill>
                <a:latin typeface="Amiri" pitchFamily="2" charset="-78"/>
                <a:cs typeface="Amiri" pitchFamily="2" charset="-78"/>
              </a:rPr>
              <a:t>رْتَدِي عَادَةً مَلَابِسَ أَنِيقَةً وَمُحْتَشِمَةً.</a:t>
            </a:r>
            <a:endParaRPr lang="ar-SA" sz="1600" dirty="0"/>
          </a:p>
        </p:txBody>
      </p:sp>
      <p:sp>
        <p:nvSpPr>
          <p:cNvPr id="51" name="Text 48"/>
          <p:cNvSpPr txBox="1"/>
          <p:nvPr/>
        </p:nvSpPr>
        <p:spPr>
          <a:xfrm>
            <a:off x="3182112" y="5059985"/>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usually wears elegant, modest clothes</a:t>
            </a:r>
            <a:endParaRPr lang="en-US" sz="950" dirty="0"/>
          </a:p>
        </p:txBody>
      </p:sp>
      <p:sp>
        <p:nvSpPr>
          <p:cNvPr id="52" name="Text 49"/>
          <p:cNvSpPr txBox="1"/>
          <p:nvPr/>
        </p:nvSpPr>
        <p:spPr>
          <a:xfrm>
            <a:off x="56692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9171432" y="5356860"/>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٦ المُقَارَنَةُ + الرَّأْيُ</a:t>
            </a:r>
            <a:endParaRPr lang="ar-SA" sz="1600" dirty="0"/>
          </a:p>
        </p:txBody>
      </p:sp>
      <p:sp>
        <p:nvSpPr>
          <p:cNvPr id="57" name="Text 54"/>
          <p:cNvSpPr txBox="1"/>
          <p:nvPr/>
        </p:nvSpPr>
        <p:spPr>
          <a:xfrm>
            <a:off x="9125712" y="5674157"/>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comparison + opinion</a:t>
            </a:r>
            <a:endParaRPr lang="en-US" sz="950" dirty="0"/>
          </a:p>
        </p:txBody>
      </p:sp>
      <p:sp>
        <p:nvSpPr>
          <p:cNvPr id="58" name="Text 55"/>
          <p:cNvSpPr txBox="1"/>
          <p:nvPr/>
        </p:nvSpPr>
        <p:spPr>
          <a:xfrm>
            <a:off x="3227832" y="5356860"/>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أُسْلُوبُهَا أَكْثَرُ رَسْمِيَّةً مِنْ أُسْلُوبِي. فِي رَأْيِي، أَفْضَلُ صِفَةٍ فِيهَا كَرَمُهَا.</a:t>
            </a:r>
            <a:endParaRPr lang="ar-SA" sz="1600" dirty="0"/>
          </a:p>
        </p:txBody>
      </p:sp>
      <p:sp>
        <p:nvSpPr>
          <p:cNvPr id="59" name="Text 56"/>
          <p:cNvSpPr txBox="1"/>
          <p:nvPr/>
        </p:nvSpPr>
        <p:spPr>
          <a:xfrm>
            <a:off x="3182112" y="5674157"/>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style is more formal than mine; her best quality is generosity</a:t>
            </a:r>
            <a:endParaRPr lang="en-US" sz="950" dirty="0"/>
          </a:p>
        </p:txBody>
      </p:sp>
      <p:sp>
        <p:nvSpPr>
          <p:cNvPr id="60" name="Text 57"/>
          <p:cNvSpPr txBox="1"/>
          <p:nvPr/>
        </p:nvSpPr>
        <p:spPr>
          <a:xfrm>
            <a:off x="56692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line is about HER: ta- verbs, -hā endings, li-annahā. Check them before you speak.</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KEEP THE PERSON CONSISTENT (WEBSITE OVERVIEW)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all the way, or she all the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المَرْجِعُ الوَاضِحُ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HIM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هُوَ · يَـ · ـهُ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خَالِي طَوِيلُ القَامَةِ، يَرْتَدِي نَظَّارَةً، وَأُسْلُوبُهُ بَسِيطٌ.</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uncle is tall, wears glasses, and his style is simple.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ya- … -hu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HER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هِيَ · تَـ · ـهَا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خَالَتِي مُتَوَسِّطَةُ القَامَةِ، تَرْتَدِي حِجَابًا، وَأُسْلُوبُهَا أَنِيقٌ.</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aunt is of medium height, wears a headscarf, and her style is elegant.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ME vs HER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أُسْلُوبِي / أُسْلُوبُهَا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أُسْلُوبُهَا أَكْثَرُ رَسْمِيَّةً مِنْ أُسْلُوبِي.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Her style is more formal than mine.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Switch person only on purpose.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overview: maintain reference throughout.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خَالَتِي … تَرْتَدِي … أُسْلُوبُهَا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خَالَتِي … يَرْتَدِي … أُسْلُوبُهُ</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Organising an extended spoken portrait</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تَنْظِيمُ وَصْفٍ شَفَهِيٍّ مُوَسَّعٍ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Follow the six stages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 المَظْهَرُ ← الصِّفَاتُ ← العَلَاقَةُ ← الأُسْلُوبُ ← الرَّأْيُ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سَأَتَحَدَّثُ عَنْ خَالَتِي مَرْيَمَ. هِيَ مُتَوَسِّطَةُ القَامَةِ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Keep reference consistent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هِيَ / تَـ / ـهَا … هُوَ / يَـ / ـهُ</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تَرْتَدِي … أُسْلُوبُهَا … لِأَنَّهَا تُسَاعِدُ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Prove each quality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صِفَةٌ + لِأَنَّهُ / لِأَنَّهَا + سُلُوكٌ</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كَرِيمَةٌ لِأَنَّهَا تُسَاعِدُ كُلَّ مَنْ يَحْتَاجُ إِلَيْهَا.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End with comparison and opinion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أَكْثَرُ … مِنْ · بَيْنَمَا · فِي رَأْيِي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أُسْلُوبُهَا أَكْثَرُ رَسْمِيَّةً مِنْ أُسْلُوبِي. فِي رَأْيِي، أَفْضَلُ صِفَةٍ فِيهَا كَرَمُهَا.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opinion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comparison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describing your aunt. 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تَرْتَدِي مَلَابِسَ أَنِيقَةً.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مَلَابِسَ أَنِيقَةً.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أَرْتَدِي مَلَابِسَ أَنِيقَةً.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“generous”?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كَرِيمَةٌ لِأَنَّ شَعْرَهَا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كَرِيمَةٌ لِأَنَّهَا تُسَاعِدُ الجَمِيعَ.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كَرِيمَةٌ.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closing?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أَفْضَلُ صِفَةٍ فِيهَا كَرَمُهَا.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شَعْرُهَا قَصِيرٌ.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سَأَتَحَدَّثُ عَنْ خَالَتِي.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opinion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comparison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 the person is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Start with identity.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describing your aunt. 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تَرْتَدِي مَلَابِسَ أَنِيقَةً.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مَلَابِسَ أَنِيقَةً.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أَرْتَدِي مَلَابِسَ أَنِيقَةً.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Aunt = she → 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“generous”?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كَرِيمَةٌ لِأَنَّ شَعْرَهَا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كَرِيمَةٌ لِأَنَّهَا تُسَاعِدُ الجَمِيعَ.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كَرِيمَةٌ.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Behaviour as evidence.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closing?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رَأْيِي، أَفْضَلُ صِفَةٍ فِيهَا كَرَمُهَا.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شَعْرُهَا قَصِيرٌ.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سَأَتَحَدَّثُ عَنْ خَالَتِي.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Opinion to finish.</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give a one-minute portrait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 appearance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سَأَتَحَدَّثُ عَنْ خَالَتِي. هِيَ مُتَوَسِّطَةُ القَامَةِ وَ</a:t>
            </a:r>
            <a:pPr rtl="1" algn="ctr" indent="0" marL="0">
              <a:lnSpc>
                <a:spcPct val="120000"/>
              </a:lnSpc>
              <a:buNone/>
            </a:pPr>
            <a:r>
              <a:rPr lang="ar-SA" altLang="en-US" sz="1750" b="1" dirty="0">
                <a:solidFill>
                  <a:srgbClr val="D6336C"/>
                </a:solidFill>
                <a:latin typeface="Amiri" pitchFamily="2" charset="-78"/>
                <a:cs typeface="Amiri" pitchFamily="2" charset="-78"/>
              </a:rPr>
              <a:t>لَهَا</a:t>
            </a:r>
            <a:pPr rtl="1" algn="ctr" indent="0" marL="0">
              <a:lnSpc>
                <a:spcPct val="120000"/>
              </a:lnSpc>
              <a:buNone/>
            </a:pPr>
            <a:r>
              <a:rPr lang="ar-SA" altLang="en-US" sz="1750" b="1" dirty="0">
                <a:solidFill>
                  <a:srgbClr val="1B3B6F"/>
                </a:solidFill>
                <a:latin typeface="Amiri" pitchFamily="2" charset="-78"/>
                <a:cs typeface="Amiri" pitchFamily="2" charset="-78"/>
              </a:rPr>
              <a:t> شَعْرٌ قَصِيرٌ.</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Stages 1–2.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Quality + 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هِيَ كَرِيمَةٌ </a:t>
            </a:r>
            <a:pPr rtl="1" algn="ctr" indent="0" marL="0">
              <a:lnSpc>
                <a:spcPct val="120000"/>
              </a:lnSpc>
              <a:buNone/>
            </a:pPr>
            <a:r>
              <a:rPr lang="ar-SA" altLang="en-US" sz="1750" b="1" dirty="0">
                <a:solidFill>
                  <a:srgbClr val="0E7C86"/>
                </a:solidFill>
                <a:latin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cs typeface="Amiri" pitchFamily="2" charset="-78"/>
              </a:rPr>
              <a:t> تُسَاعِدُ الجَمِيعَ.</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 3.</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Relationship + style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أَتَفَاهَمُ مَعَ</a:t>
            </a:r>
            <a:pPr rtl="1" algn="ctr" indent="0" marL="0">
              <a:lnSpc>
                <a:spcPct val="120000"/>
              </a:lnSpc>
              <a:buNone/>
            </a:pPr>
            <a:r>
              <a:rPr lang="ar-SA" altLang="en-US" sz="1750" b="1" dirty="0">
                <a:solidFill>
                  <a:srgbClr val="D6336C"/>
                </a:solidFill>
                <a:latin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cs typeface="Amiri" pitchFamily="2" charset="-78"/>
              </a:rPr>
              <a:t>، وَ</a:t>
            </a:r>
            <a:pPr rtl="1" algn="ctr" indent="0" marL="0">
              <a:lnSpc>
                <a:spcPct val="120000"/>
              </a:lnSpc>
              <a:buNone/>
            </a:pPr>
            <a:r>
              <a:rPr lang="ar-SA" altLang="en-US" sz="1750" b="1" dirty="0">
                <a:solidFill>
                  <a:srgbClr val="D6336C"/>
                </a:solidFill>
                <a:latin typeface="Amiri" pitchFamily="2" charset="-78"/>
                <a:cs typeface="Amiri" pitchFamily="2" charset="-78"/>
              </a:rPr>
              <a:t>تَ</a:t>
            </a:r>
            <a:pPr rtl="1" algn="ctr" indent="0" marL="0">
              <a:lnSpc>
                <a:spcPct val="120000"/>
              </a:lnSpc>
              <a:buNone/>
            </a:pPr>
            <a:r>
              <a:rPr lang="ar-SA" altLang="en-US" sz="1750" b="1" dirty="0">
                <a:solidFill>
                  <a:srgbClr val="1B3B6F"/>
                </a:solidFill>
                <a:latin typeface="Amiri" pitchFamily="2" charset="-78"/>
                <a:cs typeface="Amiri" pitchFamily="2" charset="-78"/>
              </a:rPr>
              <a:t>رْتَدِي مَلَابِسَ أَنِيقَةً.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Stages 4–5.</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أُسْلُوبُهَا </a:t>
            </a:r>
            <a:pPr rtl="1" algn="ctr" indent="0" marL="0">
              <a:lnSpc>
                <a:spcPct val="120000"/>
              </a:lnSpc>
              <a:buNone/>
            </a:pPr>
            <a:r>
              <a:rPr lang="ar-SA" altLang="en-US" sz="1750" b="1" dirty="0">
                <a:solidFill>
                  <a:srgbClr val="1D5FBF"/>
                </a:solidFill>
                <a:latin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cs typeface="Amiri" pitchFamily="2" charset="-78"/>
              </a:rPr>
              <a:t> رَسْمِيَّةً </a:t>
            </a:r>
            <a:pPr rtl="1" algn="ctr" indent="0" marL="0">
              <a:lnSpc>
                <a:spcPct val="120000"/>
              </a:lnSpc>
              <a:buNone/>
            </a:pPr>
            <a:r>
              <a:rPr lang="ar-SA" altLang="en-US" sz="1750" b="1" dirty="0">
                <a:solidFill>
                  <a:srgbClr val="1D5FBF"/>
                </a:solidFill>
                <a:latin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cs typeface="Amiri" pitchFamily="2" charset="-78"/>
              </a:rPr>
              <a:t> أُسْلُوبِي. فِي رَأْيِي …</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 6.</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سَأَتَحَدَّثُ عَنْ خَالَتِي مَرْيَمَ. هِيَ مُتَوَسِّطَةُ القَامَةِ، وَ</a:t>
            </a:r>
            <a:pPr rtl="1" algn="r" indent="0" marL="0">
              <a:lnSpc>
                <a:spcPct val="120000"/>
              </a:lnSpc>
              <a:buNone/>
            </a:pPr>
            <a:r>
              <a:rPr lang="ar-SA" altLang="en-US" sz="1400" b="1" dirty="0">
                <a:solidFill>
                  <a:srgbClr val="D6336C"/>
                </a:solidFill>
                <a:latin typeface="Amiri" pitchFamily="2" charset="-78"/>
                <a:cs typeface="Amiri" pitchFamily="2" charset="-78"/>
              </a:rPr>
              <a:t>لَهَا</a:t>
            </a:r>
            <a:pPr rtl="1" algn="r" indent="0" marL="0">
              <a:lnSpc>
                <a:spcPct val="120000"/>
              </a:lnSpc>
              <a:buNone/>
            </a:pPr>
            <a:r>
              <a:rPr lang="ar-SA" altLang="en-US" sz="1400" b="1" dirty="0">
                <a:solidFill>
                  <a:srgbClr val="1B3B6F"/>
                </a:solidFill>
                <a:latin typeface="Amiri" pitchFamily="2" charset="-78"/>
                <a:cs typeface="Amiri" pitchFamily="2" charset="-78"/>
              </a:rPr>
              <a:t> شَعْرٌ قَصِيرٌ وَعَيْنَانِ بُنِّيَّتَانِ. هِيَ كَرِيمَةٌ </a:t>
            </a:r>
            <a:pPr rtl="1" algn="r" indent="0" marL="0">
              <a:lnSpc>
                <a:spcPct val="120000"/>
              </a:lnSpc>
              <a:buNone/>
            </a:pPr>
            <a:r>
              <a:rPr lang="ar-SA" altLang="en-US" sz="1400" b="1" dirty="0">
                <a:solidFill>
                  <a:srgbClr val="0E7C86"/>
                </a:solidFill>
                <a:latin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cs typeface="Amiri" pitchFamily="2" charset="-78"/>
              </a:rPr>
              <a:t> تُسَاعِدُ كُلَّ مَنْ يَحْتَاجُ إِلَيْهَا. أَتَفَاهَمُ مَعَ</a:t>
            </a:r>
            <a:pPr rtl="1" algn="r" indent="0" marL="0">
              <a:lnSpc>
                <a:spcPct val="120000"/>
              </a:lnSpc>
              <a:buNone/>
            </a:pPr>
            <a:r>
              <a:rPr lang="ar-SA" altLang="en-US" sz="1400" b="1" dirty="0">
                <a:solidFill>
                  <a:srgbClr val="D6336C"/>
                </a:solidFill>
                <a:latin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cs typeface="Amiri" pitchFamily="2" charset="-78"/>
              </a:rPr>
              <a:t> جَيِّدًا. </a:t>
            </a:r>
            <a:pPr rtl="1" algn="r" indent="0" marL="0">
              <a:lnSpc>
                <a:spcPct val="120000"/>
              </a:lnSpc>
              <a:buNone/>
            </a:pPr>
            <a:r>
              <a:rPr lang="ar-SA" altLang="en-US" sz="1400" b="1" dirty="0">
                <a:solidFill>
                  <a:srgbClr val="D6336C"/>
                </a:solidFill>
                <a:latin typeface="Amiri" pitchFamily="2" charset="-78"/>
                <a:cs typeface="Amiri" pitchFamily="2" charset="-78"/>
              </a:rPr>
              <a:t>تَ</a:t>
            </a:r>
            <a:pPr rtl="1" algn="r" indent="0" marL="0">
              <a:lnSpc>
                <a:spcPct val="120000"/>
              </a:lnSpc>
              <a:buNone/>
            </a:pPr>
            <a:r>
              <a:rPr lang="ar-SA" altLang="en-US" sz="1400" b="1" dirty="0">
                <a:solidFill>
                  <a:srgbClr val="1B3B6F"/>
                </a:solidFill>
                <a:latin typeface="Amiri" pitchFamily="2" charset="-78"/>
                <a:cs typeface="Amiri" pitchFamily="2" charset="-78"/>
              </a:rPr>
              <a:t>رْتَدِي عَادَةً مَلَابِسَ أَنِيقَةً، وَأُسْلُوبُ</a:t>
            </a:r>
            <a:pPr rtl="1" algn="r" indent="0" marL="0">
              <a:lnSpc>
                <a:spcPct val="120000"/>
              </a:lnSpc>
              <a:buNone/>
            </a:pPr>
            <a:r>
              <a:rPr lang="ar-SA" altLang="en-US" sz="1400" b="1" dirty="0">
                <a:solidFill>
                  <a:srgbClr val="D6336C"/>
                </a:solidFill>
                <a:latin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أَكْثَرُ</a:t>
            </a:r>
            <a:pPr rtl="1" algn="r" indent="0" marL="0">
              <a:lnSpc>
                <a:spcPct val="120000"/>
              </a:lnSpc>
              <a:buNone/>
            </a:pPr>
            <a:r>
              <a:rPr lang="ar-SA" altLang="en-US" sz="1400" b="1" dirty="0">
                <a:solidFill>
                  <a:srgbClr val="1B3B6F"/>
                </a:solidFill>
                <a:latin typeface="Amiri" pitchFamily="2" charset="-78"/>
                <a:cs typeface="Amiri" pitchFamily="2" charset="-78"/>
              </a:rPr>
              <a:t> رَسْمِيَّةً </a:t>
            </a:r>
            <a:pPr rtl="1" algn="r" indent="0" marL="0">
              <a:lnSpc>
                <a:spcPct val="120000"/>
              </a:lnSpc>
              <a:buNone/>
            </a:pPr>
            <a:r>
              <a:rPr lang="ar-SA" altLang="en-US" sz="1400" b="1" dirty="0">
                <a:solidFill>
                  <a:srgbClr val="1D5FBF"/>
                </a:solidFill>
                <a:latin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cs typeface="Amiri" pitchFamily="2" charset="-78"/>
              </a:rPr>
              <a:t> أُسْلُوبِي. فِي رَأْيِي، أَفْضَلُ صِفَةٍ فِيهَا كَرَمُهَا.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will talk about my aunt Maryam. She is of medium height, and she has short hair and brown eyes. She is generous because she helps anyone who needs her. I get on well with her. She usually wears elegant clothes, and her style is more formal than mine. In my opinion, her best quality is her generosity.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سَأَتَحَدَّثُ عَنْ خَالَتِي مَرْيَمَ.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talk about my aunt Maryam.</a:t>
            </a:r>
            <a:endParaRPr lang="en-US" sz="1250" dirty="0"/>
          </a:p>
          <a:p>
            <a:pPr indent="0" marL="0">
              <a:buNone/>
            </a:pPr>
            <a:r>
              <a:rPr lang="en-US" sz="1050" i="1" dirty="0">
                <a:solidFill>
                  <a:srgbClr val="8A6D1E"/>
                </a:solidFill>
                <a:latin typeface="Calibri" pitchFamily="34" charset="0"/>
                <a:cs typeface="Amiri" pitchFamily="2" charset="-78"/>
              </a:rPr>
              <a:t>Stage 1: who.</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مُتَوَسِّطَةُ القَامَةِ، وَلَهَا شَعْرٌ قَصِيرٌ.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of medium height and has short hair.</a:t>
            </a:r>
            <a:endParaRPr lang="en-US" sz="1250" dirty="0"/>
          </a:p>
          <a:p>
            <a:pPr indent="0" marL="0">
              <a:buNone/>
            </a:pPr>
            <a:r>
              <a:rPr lang="en-US" sz="1050" i="1" dirty="0">
                <a:solidFill>
                  <a:srgbClr val="8A6D1E"/>
                </a:solidFill>
                <a:latin typeface="Calibri" pitchFamily="34" charset="0"/>
                <a:cs typeface="Amiri" pitchFamily="2" charset="-78"/>
              </a:rPr>
              <a:t>Stage 2: appearance.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كَرِيمَةٌ لِأَنَّهَا تُسَاعِدُ كُلَّ مَنْ يَحْتَاجُ إِلَيْهَا.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generous because she helps anyone who needs her.</a:t>
            </a:r>
            <a:endParaRPr lang="en-US" sz="1250" dirty="0"/>
          </a:p>
          <a:p>
            <a:pPr indent="0" marL="0">
              <a:buNone/>
            </a:pPr>
            <a:r>
              <a:rPr lang="en-US" sz="1050" i="1" dirty="0">
                <a:solidFill>
                  <a:srgbClr val="8A6D1E"/>
                </a:solidFill>
                <a:latin typeface="Calibri" pitchFamily="34" charset="0"/>
                <a:cs typeface="Amiri" pitchFamily="2" charset="-78"/>
              </a:rPr>
              <a:t>Stage 3: quality + evidence.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أُسْلُوبُهَا أَكْثَرُ رَسْمِيَّةً مِنْ أُسْلُوبِي.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style is more formal than mine.</a:t>
            </a:r>
            <a:endParaRPr lang="en-US" sz="1250" dirty="0"/>
          </a:p>
          <a:p>
            <a:pPr indent="0" marL="0">
              <a:buNone/>
            </a:pPr>
            <a:r>
              <a:rPr lang="en-US" sz="1050" i="1" dirty="0">
                <a:solidFill>
                  <a:srgbClr val="8A6D1E"/>
                </a:solidFill>
                <a:latin typeface="Calibri" pitchFamily="34" charset="0"/>
                <a:cs typeface="Amiri" pitchFamily="2" charset="-78"/>
              </a:rPr>
              <a:t>Stage 6: comparison.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WHAT COMES NEXT IN THE PORTRAIT?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Next stage, same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المَرْحَلَةُ التَّالِيَةُ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سَأَتَحَدَّثُ عَنْ خَالِي</a:t>
            </a:r>
            <a:pPr algn="l" indent="0" marL="0">
              <a:buNone/>
            </a:pPr>
            <a:r>
              <a:rPr lang="en-US" sz="1250" b="1" dirty="0">
                <a:solidFill>
                  <a:srgbClr val="1B3B6F"/>
                </a:solidFill>
                <a:latin typeface="Calibri" pitchFamily="34" charset="0"/>
                <a:cs typeface="Amiri" pitchFamily="2" charset="-78"/>
              </a:rPr>
              <a:t>. What next?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أَفْضَلُ خَالٍ.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طَوِيلَةُ القَامَةِ.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طَوِيلُ القَامَةِ وَلَهُ لِحْيَةٌ.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the appearance. What next?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صَبُورٌ لِأَنَّهُ يَسْتَمِعُ إِلَيَّ.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صَبُورٌ.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صَبُورَةٌ لِأَنَّهَا تَسْمَعُ.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her style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مَلَابِسَ بَسِيطَةً.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تَرْتَدِي مَلَابِسَ بَسِيطَةً.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أَرْتَدِي مَلَابِسَ بَسِيطَةً.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best final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أُسْلُوبُهُ أَبْسَطُ مِنْ أُسْلُوبِي، وَفِي رَأْيِي أَفْضَلُ صِفَةٍ فِيهِ صَبْرُهُ.</a:t>
            </a:r>
            <a:endParaRPr lang="ar-SA" sz="11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لَهُ لِحْيَةٌ.</a:t>
            </a:r>
            <a:endParaRPr lang="ar-SA" sz="11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شُكْرًا.</a:t>
            </a:r>
            <a:endParaRPr lang="ar-SA" sz="11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Stages: who → looks → qualities</a:t>
            </a:r>
            <a:endParaRPr lang="en-US" sz="1250" dirty="0"/>
          </a:p>
          <a:p>
            <a:pPr algn="l" indent="0" marL="0">
              <a:buNone/>
            </a:pPr>
            <a:r>
              <a:rPr lang="en-US" sz="1250" dirty="0">
                <a:solidFill>
                  <a:srgbClr val="1E6B52"/>
                </a:solidFill>
                <a:latin typeface="Calibri" pitchFamily="34" charset="0"/>
                <a:cs typeface="Amiri" pitchFamily="2" charset="-78"/>
              </a:rPr>
              <a:t>→ relationship → style → opinion.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NEXT STAGE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Next stage: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سَأَتَحَدَّثُ عَنْ خَالِي</a:t>
            </a:r>
            <a:pPr algn="l" indent="0" marL="0">
              <a:buNone/>
            </a:pPr>
            <a:r>
              <a:rPr lang="en-US" sz="1250" b="1" dirty="0">
                <a:solidFill>
                  <a:srgbClr val="1B3B6F"/>
                </a:solidFill>
                <a:latin typeface="Calibri" pitchFamily="34" charset="0"/>
                <a:cs typeface="Amiri" pitchFamily="2" charset="-78"/>
              </a:rPr>
              <a:t>. What next?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 هُوَ أَفْضَلُ خَالٍ.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طَوِيلَةُ القَامَةِ.</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طَوِيلُ القَامَةِ وَلَهُ لِحْيَةٌ.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Appearance, and uncle = 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the appearance. What next?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صَبُورٌ لِأَنَّهُ يَسْتَمِعُ إِلَيَّ.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صَبُورٌ.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صَبُورَةٌ لِأَنَّهَا تَسْمَعُ.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Quality + evidence.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her style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مَلَابِسَ بَسِيطَةً.</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تَرْتَدِي مَلَابِسَ بَسِيطَةً.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أَرْتَدِي مَلَابِسَ بَسِيطَةً.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Aunt = she.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best final sentence: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أُسْلُوبُهُ أَبْسَطُ مِنْ أُسْلُوبِي، وَفِي رَأْيِي أَفْضَلُ صِفَةٍ فِيهِ صَبْرُهُ.</a:t>
            </a:r>
            <a:endParaRPr lang="ar-SA"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cs typeface="Amiri" pitchFamily="2" charset="-78"/>
              </a:rPr>
              <a:t>لَهُ لِحْيَةٌ.</a:t>
            </a:r>
            <a:endParaRPr lang="ar-SA"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cs typeface="Amiri" pitchFamily="2" charset="-78"/>
              </a:rPr>
              <a:t>شُكْرًا.</a:t>
            </a:r>
            <a:endParaRPr lang="ar-SA"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Comparison + opinion.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Stages: who → looks → qualities</a:t>
            </a:r>
            <a:endParaRPr lang="en-US" sz="1250" dirty="0"/>
          </a:p>
          <a:p>
            <a:pPr algn="l" indent="0" marL="0">
              <a:buNone/>
            </a:pPr>
            <a:r>
              <a:rPr lang="en-US" sz="1250" dirty="0">
                <a:solidFill>
                  <a:srgbClr val="1E6B52"/>
                </a:solidFill>
                <a:latin typeface="Calibri" pitchFamily="34" charset="0"/>
                <a:cs typeface="Amiri" pitchFamily="2" charset="-78"/>
              </a:rPr>
              <a:t>→ relationship → style → opinion.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stage of the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سَأَتَحَدَّثُ عَنْ خَالِي.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قَصِيرٌ.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 القَامَةِ.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صَبُورٌ لِأَنَّهُ يَسْتَمِعُ.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أَتَفَاهَمُ مَعَهُ جَيِّدًا.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مَلَابِسَ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أَفْضَلُ صِفَةٍ فِيهِ صَبْرُهُ.</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 / appearance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Qualities / relationship</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Style / opinion</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 / appearance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سَأَتَحَدَّثُ عَنْ خَالِي.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قَصِيرٌ.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 القَامَةِ.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Qualities / relationship</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صَبُورٌ لِأَنَّهُ يَسْتَمِعُ.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أَتَفَاهَمُ مَعَهُ جَيِّدًا.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Style /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مَلَابِسَ عَمَلِيَّةً.</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أَفْضَلُ صِفَةٍ فِيهِ صَبْرُهُ.</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أُسْلُوبُهُ ___ رَسْمِيَّةً مِنْ أُسْلُوبِي.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رَسْمِيٌّ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relative clause for a man.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الرَّجُلُ الَّتِي تَرْتَدِي نَظَّارَةً.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الرَّجُلُ الَّذِي يَرْتَدِي نَظَّارَةً.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الرَّجُلُ يَرْتَدِي الَّذِي.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does </a:t>
            </a:r>
            <a:pPr algn="l" indent="0" marL="0">
              <a:buNone/>
            </a:pPr>
            <a:r>
              <a:rPr lang="ar-SA" altLang="en-US" sz="1650" b="1" dirty="0">
                <a:solidFill>
                  <a:srgbClr val="1B3B6F"/>
                </a:solidFill>
                <a:latin typeface="Amiri" pitchFamily="2" charset="-78"/>
                <a:cs typeface="Amiri" pitchFamily="2" charset="-78"/>
              </a:rPr>
              <a:t>أَتَفَاهَمُ مَعَهَا جَيِّدًا</a:t>
            </a:r>
            <a:pPr algn="l" indent="0" marL="0">
              <a:buNone/>
            </a:pPr>
            <a:r>
              <a:rPr lang="en-US" sz="1250" b="1" dirty="0">
                <a:solidFill>
                  <a:srgbClr val="1B3B6F"/>
                </a:solidFill>
                <a:latin typeface="Calibri" pitchFamily="34" charset="0"/>
                <a:cs typeface="Amiri" pitchFamily="2" charset="-78"/>
              </a:rPr>
              <a:t> belong to?</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relationship</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starts a portrait?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النِّهَايَةِ …</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 …</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سَأَتَحَدَّثُ عَنْ …</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أُسْلُوبُهُ ___ رَسْمِيَّةً مِنْ أُسْلُوبِي.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رَسْمِيٌّ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More + noun.</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relative clause for a man.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الرَّجُلُ الَّتِي تَرْتَدِي نَظَّارَةً.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الرَّجُلُ الَّذِي يَرْتَدِي نَظَّارَةً.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الرَّجُلُ يَرْتَدِي الَّذِي.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Man → alladhī.</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does </a:t>
            </a:r>
            <a:pPr algn="l" indent="0" marL="0">
              <a:buNone/>
            </a:pPr>
            <a:r>
              <a:rPr lang="ar-SA" altLang="en-US" sz="1650" b="1" dirty="0">
                <a:solidFill>
                  <a:srgbClr val="1B3B6F"/>
                </a:solidFill>
                <a:latin typeface="Amiri" pitchFamily="2" charset="-78"/>
                <a:cs typeface="Amiri" pitchFamily="2" charset="-78"/>
              </a:rPr>
              <a:t>أَتَفَاهَمُ مَعَهَا جَيِّدًا</a:t>
            </a:r>
            <a:pPr algn="l" indent="0" marL="0">
              <a:buNone/>
            </a:pPr>
            <a:r>
              <a:rPr lang="en-US" sz="1250" b="1" dirty="0">
                <a:solidFill>
                  <a:srgbClr val="1B3B6F"/>
                </a:solidFill>
                <a:latin typeface="Calibri" pitchFamily="34" charset="0"/>
                <a:cs typeface="Amiri" pitchFamily="2" charset="-78"/>
              </a:rPr>
              <a:t> belong to?</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relationship</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Getting on = relationship.</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starts a portrait?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النِّهَايَةِ …</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 …</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سَأَتَحَدَّثُ عَنْ …</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will talk about …</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خَالَتِي … يَرْتَدِي مَلَابِسَ أَنِيقَةً.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Aunt = he 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كَرِيمَةٌ لِأَنَّهُ يُسَاعِدُ النَّاسَ.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HE or because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أُسْلُوبُهَا رَسْمِيَّةٌ مِنْ أُسْلُوبِي.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Comparison: more + noun +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خَالَتِي … يَرْتَدِي مَلَابِسَ أَنِيقَةً.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خَالَتِي … تَرْتَدِي مَلَابِسَ أَنِيقَةً.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reference: aunt = she.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كَرِيمَةٌ لِأَنَّهُ يُسَاعِدُ النَّاسَ.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كَرِيمَةٌ لِأَنَّهَا تُسَاعِدُ النَّاسَ.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Reason pronoun and verb must match her.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أُسْلُوبُهَا رَسْمِيَّةٌ مِنْ أُسْلُوبِي.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أُسْلُوبُهَا أَكْثَرُ رَسْمِيَّةً مِنْ أُسْلُوبِي.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Comparison: more + noun +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Listening focus: describing people and personal style</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student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aunt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start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clothes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opinion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relationship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describe next?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aunt’s job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aunt’s house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height, hair and clothes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qualities does she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generous and confident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 and calm</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 and patient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pieces of evidence does she give?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 her aunt’s style with her own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a question</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describes her own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خَالَتِهَا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تُقَارِنُ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تُقَدِّمُ طَالِبَةٌ وَصْفًا شَفَهِيًّا لِخَالَتِهَا.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student gives a spoken description of her aunt.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تَبْدَأُ بِالعَلَاقَةِ، ثُمَّ تَصِفُ القَامَةَ وَالشَّعْرَ وَالمَلَابِسَ،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starts with the relationship, then describes height, hair and clothes,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وَبَعْدَ ذٰلِكَ تَشْرَحُ أَنَّ خَالَتَهَا كَرِيمَةٌ وَوَاثِقَةٌ مَعَ دَلِيلَيْنِ.</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after that explains that her aunt is generous and confident, with two pieces of evidence.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النِّهَايَةِ تُقَارِنُ أُسْلُوبَهَا بِأُسْلُوبِهَا الشَّخْصِيِّ.</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end she compares her aunt’s style with her own.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student describe?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aunt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وَصْفًا شَفَهِيًّا لِخَالَتِهَا.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start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clothes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opinion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relationship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تَبْدَأُ بِالعَلَاقَةِ.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describe next?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aunt’s job</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aunt’s house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height, hair and clothes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تَصِفُ القَامَةَ وَالشَّعْرَ وَالمَلَابِسَ.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qualities does she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generous and confident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 and calm</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cheerful and patient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كَرِيمَةٌ وَوَاثِقَةٌ.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pieces of evidence does she give?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 دَلِيلَيْنِ.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compares her aunt’s style with her own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asks a question</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describes her own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تُقَارِنُ أُسْلُوبَهَا بِأُسْلُوبِهَا الشَّخْصِيِّ.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خَالَتِهَا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تُقَارِنُ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Developed speaking: describing people and personal style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قَدِّمْ وَصْفًا مُنَظَّمًا لِشَخْصٍ.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أَضِفْ دَلِيلًا عَلَى صِفَةٍ شَخْصِيَّةٍ.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اِسْتَعْمِلْ جُمْلَةً مَوْصُولَةً فِي الوَصْفِ.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اخْتِمْ بِمُقَارَنَةٍ وَرَأْيٍ.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سَأَتَحَدَّثُ عَنْ ___ . هُوَ / هِيَ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هُوَ / هِيَ ___ لِأَنَّهُ / لِأَنَّهَا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هُوَ الشَّخْصُ الَّذِي … / هِيَ الَّتِي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أُسْلُوبُهُ / أُسْلُوبُهَا أَكْثَرُ ___ مِنْ أُسْلُوبِي. فِي رَأْيِي ___ .</a:t>
            </a:r>
            <a:endParaRPr lang="ar-SA" sz="10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سَتَصِفُ؟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Whom will you describe?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سَأَصِفُ خَالَتِي مَرْيَمَ.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will describe my aunt Maryam.</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cs typeface="Amiri" pitchFamily="2" charset="-78"/>
              </a:rPr>
              <a:t>cue card + 5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Prepare a cue card and five sentences for a short portrait.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Stages 1, 2 and 5: who, appearance, clothes.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developed portrait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quality with evidence and your relationship; keep he / she consistent.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full spoken portrait.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the full six-stage portrait, easy to say aloud, with evidence, comparison and a short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______ لِأَنَّهُ / لِأَنَّهَا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أَتَفَاهَمُ مَعَهُ / مَعَهَا جَيِّدًا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well with him / her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أُسْلُوبُهُ / أُسْلُوبُهَا أَكْثَرُ ______ مِنْ أُسْلُوبِي.</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style is more … than mine.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prefer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أَفْضَلُ صِفَةٍ فِيهِ / فِيهَا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his / her best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سَأَتَحَدَّثُ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talk about my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______ القَامَةِ.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height.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 / 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يَرْتَدِي / تَرْتَدِي عَادَةً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usually wears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أُسْلُوبُهُ / أُسْلُوبُهَا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style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سَأَتَحَدَّثُ عَنْ  ·  خَالَتِي / خَالِي  ·  القَامَةِ  ·  لَهُ / لَهَا  ·  يَرْتَدِي / تَرْتَدِي  ·  كَرِيمٌ / كَرِيمَةٌ  ·  لِأَنَّهُ / لِأَنَّهَا  ·  أَتَفَاهَمُ مَعَ  ·  أُسْلُوبُهُ / أُسْلُوبُهَا  ·  أَكْثَرُ … مِنْ  ·  بَيْنَمَا  ·  فِي رَأْيِي</a:t>
            </a:r>
            <a:endParaRPr lang="ar-SA" sz="14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the full 100–120-word version of a spoken portrait. It must be easy to deliver aloud, with clear stages, evidence, comparison and a concise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مَنْ يَحْتَاجُ إِلَيْهَا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anyone who needs her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تَتَحَدَّثُ أَمَامَ النَّاسِ</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she speaks in front of people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تُفَضِّلُ الأَلْوَانَ الهَادِئَةَ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prefers calm colours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صِفَةٍ فِيهَا كَرَمُهَا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 best quality is her generosity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مَا يُعْجِبُنِي فِيهَا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what I like about her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سَأَتَحَدَّثُ عَنْ خَالَتِي مَرْيَمَ. هِيَ مُتَوَسِّطَةُ القَامَةِ، وَلَهَا شَعْرٌ قَصِيرٌ وَعَيْنَانِ بُنِّيَّتَانِ. تَرْتَدِي عَادَةً مَلَابِسَ أَنِيقَةً وَمُحْتَشِمَةً، وَتُفَضِّلُ الأَلْوَانَ الهَادِئَةَ. هِيَ كَرِيمَةٌ لِأَنَّهَا تُسَاعِدُ كُلَّ مَنْ يَحْتَاجُ إِلَيْهَا، وَهِيَ أَيْضًا وَاثِقَةٌ عِنْدَمَا تَتَحَدَّثُ أَمَامَ النَّاسِ. أَتَفَاهَمُ مَعَهَا جَيِّدًا لِأَنَّهَا تَسْتَمِعُ إِلَيَّ. أُسْلُوبُهَا أَكْثَرُ رَسْمِيَّةً مِنْ أُسْلُوبِي، بَيْنَمَا أُفَضِّلُ المَلَابِسَ العَمَلِيَّةَ. فِي رَأْيِي، أَفْضَلُ صِفَةٍ فِيهَا هِيَ كَرَمُهَا.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talk about my aunt Maryam. She is of medium height, and she has short hair and brown eyes. She usually wears elegant, modest clothes, and she prefers calm colours. She is generous because she helps anyone who needs her, and she is also confident when she speaks in front of people. I get on well with her because she listens to me. Her style is more formal than mine, whereas I prefer practical clothes. In my opinion, her best quality is her generosity.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six stages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qualities with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every “she”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who, appearance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spoke from a cue card, not a script.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and ending matches the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proved a quality with behaviour.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finished with a comparison and an opinion.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qualities with 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opinion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uncle,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تَرْتَدِي قَمِيصًا أَبْيَضَ.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أَبْيَضَ.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أَرْتَدِي قَمِيصًا أَبْيَضَ.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“patient”?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صَبُورٌ لِأَنَّهُ يَسْتَمِعُ بِهُدُوءٍ.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صَبُورٌ لِأَنَّهُ طَوِيلٌ.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صَبُورٌ.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qualities with evidence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opinion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the person is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Stage 3.</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uncle, choose: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تَرْتَدِي قَمِيصًا أَبْيَضَ.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يَرْتَدِي قَمِيصًا أَبْيَضَ.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أَرْتَدِي قَمِيصًا أَبْيَضَ.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Uncle = he.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“patient”?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هُوَ صَبُورٌ لِأَنَّهُ يَسْتَمِعُ بِهُدُوءٍ.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هُوَ صَبُورٌ لِأَنَّهُ طَوِيلٌ.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هُوَ صَبُورٌ.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Behaviour.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Reading focus: describing people and personal style</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خُطَّةُ وَصْفٍ شَفَهِيٍّ: ١) مَنْ هُوَ الشَّخْصُ؟ ٢) كَيْفَ مَظْهَرُهُ؟ ٣) مَا صِفَاتُهُ وَمَا الدَّلِيلُ؟ ٤) كَيْفَ هِيَ عَلَاقَتُكَ بِهِ؟ ٥) مَا أُسْلُوبُهُ فِي المَلَابِسِ؟ ٦) مَا رَأْيُكَ وَالمُقَارَنَةُ؟ تَسْتَعْمِلُ الإِجَابَةُ القَوِيَّةُ رَوَابِطَ وَمَرَاجِعَ وَاضِحَةً.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plan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وَصْفٍ شَفَهِيٍّ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spoken description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هُوَ الشَّخْصُ؟</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who is the person?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كَيْفَ مَظْهَرُهُ؟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does he look like?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 صِفَاتُهُ؟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are his qualities?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الدَّلِيلُ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evidence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عَلَاقَتُكَ بِهِ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relationship with him</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المُقَارَنَةُ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comparison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رَوَابِطَ</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connectors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مَرَاجِعَ وَاضِحَةً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clear references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 for a spoken description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stage 1?</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3 asks for qualities and …</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prices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4 is about …</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relationship with the person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6 includes …</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opinion and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goodbye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strong answer use?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lists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words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connectors and clear references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plan for a spoken description</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خُطَّةُ وَصْفٍ شَفَهِيٍّ.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stage 1?</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opinion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 the person is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١) مَنْ هُوَ الشَّخْصُ؟</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3 asks for qualities and …</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prices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مَا صِفَاتُهُ وَمَا الدَّلِيلُ؟</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4 is about …</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relationship with the person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shopping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كَيْفَ هِيَ عَلَاقَتُكَ بِهِ؟</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6 includes …</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opinion and a comparison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goodbye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مَا رَأْيُكَ وَالمُقَارَنَةُ؟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strong answer use?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lists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words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connectors and clear references</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رَوَابِطَ وَمَرَاجِعَ وَاضِحَةً.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D2-L11 · Writing — Describing People, Relationships and Style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en-US" sz="1000" i="1" dirty="0">
                <a:solidFill>
                  <a:srgbClr val="5A6472"/>
                </a:solidFill>
                <a:latin typeface="Calibri" pitchFamily="34" charset="0"/>
                <a:cs typeface="Amiri" pitchFamily="2" charset="-78"/>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مُقَدِّمَةٌ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رَابِطٌ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connector</a:t>
            </a:r>
            <a:pPr indent="0" marL="0">
              <a:buNone/>
            </a:pPr>
            <a:r>
              <a:rPr lang="en-US" sz="1000" i="1" dirty="0">
                <a:solidFill>
                  <a:srgbClr val="5A6472"/>
                </a:solidFill>
                <a:latin typeface="Calibri" pitchFamily="34" charset="0"/>
                <a:cs typeface="Amiri" pitchFamily="2" charset="-78"/>
              </a:rPr>
              <a:t>  pl. رَوَابِطُ</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revise</a:t>
            </a:r>
            <a:pPr indent="0" marL="0">
              <a:buNone/>
            </a:pPr>
            <a:r>
              <a:rPr lang="en-US" sz="1000" i="1" dirty="0">
                <a:solidFill>
                  <a:srgbClr val="5A6472"/>
                </a:solidFill>
                <a:latin typeface="Calibri" pitchFamily="34" charset="0"/>
                <a:cs typeface="Amiri" pitchFamily="2" charset="-78"/>
              </a:rPr>
              <a:t>  D1-L05</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D2-L11 is the writing lesson. Choose the person you will write about, and note one fact for each of the six stages.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عَنْ مَنْ سَتَكْتُبُ؟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 20–30-second portrait from your cue card.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developed portrait (8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the full 100–120-word spoken portrait.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D2-L11 · Writing — Describing People, Relationships and Style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six stages, one person — ta- and -hā all the way (or ya- and -hu).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D2-L10 · Speaking — Describing People and Personal Style</dc:title>
  <dc:subject>PptxGenJS Presentation</dc:subject>
  <dc:creator>Al Madina Online School · Arabic Department</dc:creator>
  <cp:lastModifiedBy>Al Madina Online School · Arabic Department</cp:lastModifiedBy>
  <cp:revision>1</cp:revision>
  <dcterms:created xsi:type="dcterms:W3CDTF">2026-10-11T06:40:39Z</dcterms:created>
  <dcterms:modified xsi:type="dcterms:W3CDTF">2026-10-11T06:40:39Z</dcterms:modified>
</cp:coreProperties>
</file>