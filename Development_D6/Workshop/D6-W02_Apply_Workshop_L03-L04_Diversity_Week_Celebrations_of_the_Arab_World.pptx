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D6-L03 · Learn D6-L04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D6-L03 (Islamic Celebrations — Eid, Ramadan and Religious Occasions) and D6-L04 (Cultural Celebrations Beyond Islam in the Arab World).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D6-L03 and D6-L04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D6-L03? After D6-L04?” Take two answers in the chat for each lesson (one word or one sentence is enough). Then read objective 3 — today’s new situation that needs BOTH lessons. Students tick their route goals at the end of the lesson.
D6-L03 language: the general custom in the present (yaṣūmu al-muslimūna · yatanāwalūna al-suḥūra); what is done with the passive (tuzayyanu al-shawāriʿ · tuwazzaʿu al-ḥalwā · tutabādalu al-tahānī); your own memory in the past (ṣumtu li-awwali marratin · zurnā); a hedge for variety (fī baʿḍi al-buldān · tukhtalifu al-ʿādāt …)
D6-L04 language: precise vocabulary for a multi-faith region (kanīsa · kanīs yahūdī · quddās · ṭāʾifa · aqalliyya); festivals (mihrajān · ʿurūḍ · zayy taqlīdī); a festival you attended (ḥaḍartu · shāhadtu); a balanced paragraph: min nāḥiyatin … wa-min nāḥiyatin ukhrā … · ʿalā al-raghmi min anna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D6-L03.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D6-L04.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D6-L03 and D6-L04. Teacher reads it once with a confident student; then pairs. Ask: “Which lines are from D6-L03? Which from D6-L04?” General customs in the present (يَصُومُونَ) and passives for what is done (تُزَيَّنُ · تُوَزَّعُ · تُتَبَادَلُ) come from D6-L03; naming faith communities precisely (المَسِيحِيُّونَ الأَقْبَاطُ) from D6-L04. Keep every claim specific and hedged; customs vary between families and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Ramadan and Eid in the present, the passive and a past memory (D6-L03) with precise, balanced language about other communities and festivals (D6-L04). FADED SUPPORT: tasks 1–2 show the plan; students write their own plan for 3–5. To a girl Partner A says: احْكِي عَنْ ذِكْرَى · هَلْ حَضَرْتِ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D6-L03 and D6-L04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D6-L03 and D6-L04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(64 words). CHECK YOURSELF (2 min). Find each bullet point in the model, and one phrase from D6-L03 and one from D6-L04.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D6-L03 + D6-L04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Diversity Week: Celebrations of the Arab World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أُسْبُوعُ التَّنَوُّعِ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join Islamic celebrations with the wider picture of a multi-faith region: for the school’s Diversity Week they present Ramadan and Eid (general customs in the present, passives, a personal memory), name other faith communities and festivals precisely, and write a balanced display text with accurate, hedged claims.</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D6-L03 + D6-L04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D6-L03 and D6-L04.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D6-L03 + D6-L04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D6-L03: Islamic Celebrations — Eid, Ramadan and Religious Occasions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D6-L04: Cultural Celebrations Beyond Islam in the Arab World</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Diversity Week guide · Our Diversity Week display text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D6-L03 and D6-L04.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D6-L03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D6-L03 · Islamic Celebrations — Eid, Ramadan and Religious Occasions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رَمَضَانُ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Ramadan</a:t>
            </a:r>
            <a:endParaRPr lang="en-US" sz="1350" dirty="0"/>
          </a:p>
          <a:p>
            <a:pPr indent="0" marL="0">
              <a:buNone/>
            </a:pPr>
            <a:r>
              <a:rPr lang="en-US" sz="1100" i="1" dirty="0">
                <a:solidFill>
                  <a:srgbClr val="5A6472"/>
                </a:solidFill>
                <a:latin typeface="Calibri" pitchFamily="34" charset="0"/>
                <a:cs typeface="Amiri" pitchFamily="2" charset="-78"/>
              </a:rPr>
              <a:t>ra-ma-ḍā-nu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diptote: ‏</a:t>
            </a:r>
            <a:pPr algn="l" indent="0" marL="0">
              <a:buNone/>
            </a:pPr>
            <a:r>
              <a:rPr lang="ar-SA" altLang="en-US" sz="1300" dirty="0">
                <a:solidFill>
                  <a:srgbClr val="8A6D1E"/>
                </a:solidFill>
                <a:latin typeface="Amiri" pitchFamily="2" charset="-78"/>
                <a:ea typeface="Amiri" pitchFamily="2" charset="-78"/>
                <a:cs typeface="Amiri" pitchFamily="2" charset="-78"/>
              </a:rPr>
              <a:t>فِي رَمَضَانَ</a:t>
            </a:r>
            <a:pPr algn="l" indent="0" marL="0">
              <a:buNone/>
            </a:pPr>
            <a:r>
              <a:rPr lang="en-US" sz="1000" i="1" dirty="0">
                <a:solidFill>
                  <a:srgbClr val="8A6D1E"/>
                </a:solidFill>
                <a:latin typeface="Calibri" pitchFamily="34" charset="0"/>
                <a:cs typeface="Amiri" pitchFamily="2" charset="-78"/>
              </a:rPr>
              <a:t>‏, never ‏</a:t>
            </a:r>
            <a:pPr algn="l" indent="0" marL="0">
              <a:buNone/>
            </a:pPr>
            <a:r>
              <a:rPr lang="ar-SA" altLang="en-US" sz="1300" dirty="0">
                <a:solidFill>
                  <a:srgbClr val="8A6D1E"/>
                </a:solidFill>
                <a:latin typeface="Amiri" pitchFamily="2" charset="-78"/>
                <a:ea typeface="Amiri" pitchFamily="2" charset="-78"/>
                <a:cs typeface="Amiri" pitchFamily="2" charset="-78"/>
              </a:rPr>
              <a:t>رَمَضَانٍ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we · she</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يَصُومُ / صَامَ</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fasts / fasted</a:t>
            </a:r>
            <a:endParaRPr lang="en-US" sz="1350" dirty="0"/>
          </a:p>
          <a:p>
            <a:pPr indent="0" marL="0">
              <a:buNone/>
            </a:pPr>
            <a:r>
              <a:rPr lang="en-US" sz="1100" i="1" dirty="0">
                <a:solidFill>
                  <a:srgbClr val="5A6472"/>
                </a:solidFill>
                <a:latin typeface="Calibri" pitchFamily="34" charset="0"/>
                <a:cs typeface="Amiri" pitchFamily="2" charset="-78"/>
              </a:rPr>
              <a:t>ya-ṣū-mu / ṣā-ma</a:t>
            </a:r>
            <a:endParaRPr lang="en-US" sz="1350" dirty="0"/>
          </a:p>
        </p:txBody>
      </p:sp>
      <p:sp>
        <p:nvSpPr>
          <p:cNvPr id="32" name="Shape 2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4" name="Text 3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صَامَتْ</a:t>
            </a:r>
            <a:endParaRPr lang="ar-SA" sz="1500" dirty="0"/>
          </a:p>
        </p:txBody>
      </p:sp>
      <p:sp>
        <p:nvSpPr>
          <p:cNvPr id="35" name="Shape 3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7" name="Text 3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صُمْنَا</a:t>
            </a:r>
            <a:endParaRPr lang="ar-SA" sz="1500" dirty="0"/>
          </a:p>
        </p:txBody>
      </p:sp>
      <p:sp>
        <p:nvSpPr>
          <p:cNvPr id="38" name="Shape 3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0" name="Text 3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صُمْتُ</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السَّحُورُ</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suhoor, the pre-dawn meal</a:t>
            </a:r>
            <a:endParaRPr lang="en-US" sz="1350" dirty="0"/>
          </a:p>
          <a:p>
            <a:pPr indent="0" marL="0">
              <a:buNone/>
            </a:pPr>
            <a:r>
              <a:rPr lang="en-US" sz="1100" i="1" dirty="0">
                <a:solidFill>
                  <a:srgbClr val="5A6472"/>
                </a:solidFill>
                <a:latin typeface="Calibri" pitchFamily="34" charset="0"/>
                <a:cs typeface="Amiri" pitchFamily="2" charset="-78"/>
              </a:rPr>
              <a:t>as-sa-ḥū-ru</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الفِطْرِ</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al-Fitr</a:t>
            </a:r>
            <a:endParaRPr lang="en-US" sz="1350" dirty="0"/>
          </a:p>
          <a:p>
            <a:pPr indent="0" marL="0">
              <a:buNone/>
            </a:pPr>
            <a:r>
              <a:rPr lang="en-US" sz="1100" i="1" dirty="0">
                <a:solidFill>
                  <a:srgbClr val="5A6472"/>
                </a:solidFill>
                <a:latin typeface="Calibri" pitchFamily="34" charset="0"/>
                <a:cs typeface="Amiri" pitchFamily="2" charset="-78"/>
              </a:rPr>
              <a:t>ʿī-du al-fiṭ-ri</a:t>
            </a:r>
            <a:endParaRPr lang="en-US" sz="1350" dirty="0"/>
          </a:p>
        </p:txBody>
      </p:sp>
      <p:sp>
        <p:nvSpPr>
          <p:cNvPr id="55" name="Text 52"/>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Marks the end of Ramadan.</a:t>
            </a:r>
            <a:endParaRPr lang="en-US" sz="1000" dirty="0"/>
          </a:p>
        </p:txBody>
      </p:sp>
      <p:sp>
        <p:nvSpPr>
          <p:cNvPr id="56" name="Shape 5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4389120"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صَلَاةُ العِيدِ</a:t>
            </a:r>
            <a:endParaRPr lang="ar-SA" sz="3000" dirty="0"/>
          </a:p>
        </p:txBody>
      </p:sp>
      <p:sp>
        <p:nvSpPr>
          <p:cNvPr id="62" name="Text 5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Eid prayer</a:t>
            </a:r>
            <a:endParaRPr lang="en-US" sz="1350" dirty="0"/>
          </a:p>
          <a:p>
            <a:pPr indent="0" marL="0">
              <a:buNone/>
            </a:pPr>
            <a:r>
              <a:rPr lang="en-US" sz="1100" i="1" dirty="0">
                <a:solidFill>
                  <a:srgbClr val="5A6472"/>
                </a:solidFill>
                <a:latin typeface="Calibri" pitchFamily="34" charset="0"/>
                <a:cs typeface="Amiri" pitchFamily="2" charset="-78"/>
              </a:rPr>
              <a:t>ṣa-lā-tu al-ʿī-di</a:t>
            </a:r>
            <a:endParaRPr lang="en-US" sz="1350" dirty="0"/>
          </a:p>
        </p:txBody>
      </p:sp>
      <p:sp>
        <p:nvSpPr>
          <p:cNvPr id="63" name="Shape 6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66928"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6" name="Shape 6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عِيدِيَّةٌ</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money given to children</a:t>
            </a:r>
            <a:endParaRPr lang="en-US" sz="1350" dirty="0"/>
          </a:p>
          <a:p>
            <a:pPr indent="0" marL="0">
              <a:buNone/>
            </a:pPr>
            <a:r>
              <a:rPr lang="en-US" sz="1100" i="1" dirty="0">
                <a:solidFill>
                  <a:srgbClr val="5A6472"/>
                </a:solidFill>
                <a:latin typeface="Calibri" pitchFamily="34" charset="0"/>
                <a:cs typeface="Amiri" pitchFamily="2" charset="-78"/>
              </a:rPr>
              <a:t>ʿī-diy-ya-tun</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D6-L04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D6-L04 · Cultural Celebrations Beyond Islam in the Arab World</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المِيلَادِ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Christmas</a:t>
            </a:r>
            <a:endParaRPr lang="en-US" sz="1350" dirty="0"/>
          </a:p>
          <a:p>
            <a:pPr indent="0" marL="0">
              <a:buNone/>
            </a:pPr>
            <a:r>
              <a:rPr lang="en-US" sz="1100" i="1" dirty="0">
                <a:solidFill>
                  <a:srgbClr val="5A6472"/>
                </a:solidFill>
                <a:latin typeface="Calibri" pitchFamily="34" charset="0"/>
                <a:cs typeface="Amiri" pitchFamily="2" charset="-78"/>
              </a:rPr>
              <a:t>ʿī-du al-mī-lā-di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Celebrated by Arab Christian communities.</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كَنِيسٌ يَهُودِيٌّ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synagogue</a:t>
            </a:r>
            <a:endParaRPr lang="en-US" sz="1350" dirty="0"/>
          </a:p>
          <a:p>
            <a:pPr indent="0" marL="0">
              <a:buNone/>
            </a:pPr>
            <a:r>
              <a:rPr lang="en-US" sz="1100" i="1" dirty="0">
                <a:solidFill>
                  <a:srgbClr val="5A6472"/>
                </a:solidFill>
                <a:latin typeface="Calibri" pitchFamily="34" charset="0"/>
                <a:cs typeface="Amiri" pitchFamily="2" charset="-78"/>
              </a:rPr>
              <a:t>ka-nī-sun ya-hū-diy-yun</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3" name="Shape 30"/>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أَقَلِّيَّةٌ</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minority</a:t>
            </a:r>
            <a:endParaRPr lang="en-US" sz="1350" dirty="0"/>
          </a:p>
          <a:p>
            <a:pPr indent="0" marL="0">
              <a:buNone/>
            </a:pPr>
            <a:r>
              <a:rPr lang="en-US" sz="1100" i="1" dirty="0">
                <a:solidFill>
                  <a:srgbClr val="5A6472"/>
                </a:solidFill>
                <a:latin typeface="Calibri" pitchFamily="34" charset="0"/>
                <a:cs typeface="Amiri" pitchFamily="2" charset="-78"/>
              </a:rPr>
              <a:t>a-qal-liy-ya-tun</a:t>
            </a:r>
            <a:endParaRPr lang="en-US" sz="1350" dirty="0"/>
          </a:p>
        </p:txBody>
      </p:sp>
      <p:sp>
        <p:nvSpPr>
          <p:cNvPr id="39" name="Shape 3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أَقَلِّيَّاتٌ</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مِهْرَجَانٌ / مَهْرَجَانَاتٌ</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festival / festivals</a:t>
            </a:r>
            <a:endParaRPr lang="en-US" sz="1350" dirty="0"/>
          </a:p>
          <a:p>
            <a:pPr indent="0" marL="0">
              <a:buNone/>
            </a:pPr>
            <a:r>
              <a:rPr lang="en-US" sz="1100" i="1" dirty="0">
                <a:solidFill>
                  <a:srgbClr val="5A6472"/>
                </a:solidFill>
                <a:latin typeface="Calibri" pitchFamily="34" charset="0"/>
                <a:cs typeface="Amiri" pitchFamily="2" charset="-78"/>
              </a:rPr>
              <a:t>mih-ra-jā-nun / mah-ra-jā-nā-tun</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2" name="Shape 49"/>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زِيٌّ تَقْلِيدِيٌّ</a:t>
            </a:r>
            <a:endParaRPr lang="ar-SA" sz="3000" dirty="0"/>
          </a:p>
        </p:txBody>
      </p:sp>
      <p:sp>
        <p:nvSpPr>
          <p:cNvPr id="57" name="Text 5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 dress</a:t>
            </a:r>
            <a:endParaRPr lang="en-US" sz="1350" dirty="0"/>
          </a:p>
          <a:p>
            <a:pPr indent="0" marL="0">
              <a:buNone/>
            </a:pPr>
            <a:r>
              <a:rPr lang="en-US" sz="1100" i="1" dirty="0">
                <a:solidFill>
                  <a:srgbClr val="5A6472"/>
                </a:solidFill>
                <a:latin typeface="Calibri" pitchFamily="34" charset="0"/>
                <a:cs typeface="Amiri" pitchFamily="2" charset="-78"/>
              </a:rPr>
              <a:t>ziy-yun taq-lī-diy-yun</a:t>
            </a:r>
            <a:endParaRPr lang="en-US" sz="1350" dirty="0"/>
          </a:p>
        </p:txBody>
      </p:sp>
      <p:sp>
        <p:nvSpPr>
          <p:cNvPr id="58" name="Shape 5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أَزْيَاءٌ تَقْلِيدِيَّةٌ</a:t>
            </a:r>
            <a:endParaRPr lang="ar-SA" sz="150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العَيْشُ المُشْتَرَكُ</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coexistence</a:t>
            </a:r>
            <a:endParaRPr lang="en-US" sz="1350" dirty="0"/>
          </a:p>
          <a:p>
            <a:pPr indent="0" marL="0">
              <a:buNone/>
            </a:pPr>
            <a:r>
              <a:rPr lang="en-US" sz="1100" i="1" dirty="0">
                <a:solidFill>
                  <a:srgbClr val="5A6472"/>
                </a:solidFill>
                <a:latin typeface="Calibri" pitchFamily="34" charset="0"/>
                <a:cs typeface="Amiri" pitchFamily="2" charset="-78"/>
              </a:rPr>
              <a:t>al-ʿay-shu al-mush-ta-ra-ku</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يَصُومُ المُسْلِمُونَ … · يَتَنَاوَلُونَ …</a:t>
            </a:r>
            <a:endParaRPr lang="ar-SA" sz="175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فِي العَالَمِ العَرَبِيِّ طَوَائِفُ مُخْتَلِفَةٌ، مِثْلُ …</a:t>
            </a:r>
            <a:endParaRPr lang="ar-SA" sz="13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يَحْتَفِلُ … بِ… فِي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تُزَيَّنُ … · تُوَزَّعُ … · تُتَبَادَلُ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صُمْتُ لِأَوَّلِ مَرَّةٍ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حَضَرْتُ / قَرَأْتُ عَنْ مِهْرَجَانِ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العِيدِ القَادِمِ سَوْفَ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D6-L03 · Islamic Celebrations — Eid, Ramadan and Religious Occasions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D6-L04 · Cultural Celebrations Beyond Islam in the Arab World</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D6-L03 · Islamic Celebrations — Eid, Ramadan and Religious Occasions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يَصُومُ المُسْلِمُونَ … · يَتَنَاوَلُونَ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تُزَيَّنُ … · تُوَزَّعُ … · تُتَبَادَلُ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صُمْتُ لِأَوَّلِ مَرَّةٍ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العِيدِ القَادِمِ سَوْفَ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D6-L04 · Cultural Celebrations Beyond Islam in the Arab World</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العَالَمِ العَرَبِيِّ طَوَائِفُ مُخْتَلِفَةٌ، مِثْلُ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يَحْتَفِلُ … بِ… فِي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حَضَرْتُ / قَرَأْتُ عَنْ مِهْرَجَانِ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Preparing the Diversity Week display</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نُحَضِّرُ مَعْرِضَ التَّنَوُّعِ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Muslims do in Ramadan?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يَفْعَلُ المُسْلِمُونَ فِي رَمَضَانَ؟</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fast from dawn to sunset, and they have iftar with the family.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يَصُومُونَ مِنَ الفَجْرِ إِلَى المَغْرِبِ، وَيَتَنَاوَلُونَ الإِفْطَارَ مَعَ العَائِلَةِ.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at Eid?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وَفِي العِيدِ؟</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Houses are decorated, sweets are given to children, and greetings are exchanged.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تُزَيَّنُ البُيُوتُ، وَتُوَزَّعُ الحَلْوَى عَلَى الأَطْفَالِ، وَتُتَبَادَلُ التَّهَانِي.</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are there other communities in the Arab world?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فِي العَالَمِ العَرَبِيِّ طَوَائِفُ أُخْرَى؟</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for example, Coptic Christians in Egypt celebrate Christmas on the seventh of January.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مَثَلًا، يَحْتَفِلُ المَسِيحِيُّونَ الأَقْبَاطُ فِي مِصْرَ بِعِيدِ المِيلَادِ فِي السَّابِعِ مِنْ يَنَايِرَ.</a:t>
            </a:r>
            <a:endParaRPr lang="ar-SA" sz="16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وَيَتَنَاوَلُونَ السَّحُورَ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يَصُومُ المُسْلِمُونَ مِنَ الفَجْرِ إِلَى المَغْرِبِ …</a:t>
            </a:r>
            <a:endParaRPr lang="ar-SA" sz="14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Muslims do in Ramadan?</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يَفْعَلُ المُسْلِمُونَ فِي رَمَضَانَ؟</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وَأَقَلِّيَّاتٌ أُخْرَى</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هُنَاكَ مُسْلِمُونَ وَمَسِيحِيُّونَ وَ…</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faith communities are in the Arab world?</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الطَّوَائِفُ الدِّينِيَّةُ فِي العَالَمِ العَرَبِيِّ؟</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نُفْطِرُ عَلَى التَّمْرِ وَ…</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eat for iftar?</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تَأْكُلُونَ عَلَى الإِفْطَارِ؟</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وَاليَهُودُ فِي الكَنِيسِ</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يُصَلِّي المَسِيحِيُّونَ فِي الكَنِيسَةِ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Christians pray? And Jews?</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يُصَلِّي المَسِيحِيُّونَ؟ وَاليَهُودُ؟</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تُزَيَّنُ البُيُوتُ / الشَّوَارِعُ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decorated at Eid?</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يُزَيَّنُ فِي العِيدِ؟</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وَشَاهَدْتُ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حَضَرْتُ … / لَا، وَلٰكِنْ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attended a cultural festival?</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حَضَرْتَ مِهْرَجَانًا ثَقَافِيًّا؟</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D6-L03, even numbers from D6-L04.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Role-play card — the Diversity Week guide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مُرْشِدُ أُسْبُوعِ التَّنَوُّعِ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يَتَنَاوَلُونَ … · فِي كَثِيرٍ مِنَ البُيُوتِ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general custom in the present + a hedge.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يَأْكُلُ النَّاسُ عَلَى الإِفْطَارِ عَادَةً؟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تُزَيَّنُ … · تُوَزَّعُ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passives.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يُفْعَلُ فِي العِيدِ؟</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personal memory in the past.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احْكِ عَنْ ذِكْرَى مِنْ رَمَضَانَ.</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communities and their places of worship, named precisely.</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الطَّوَائِفُ الأُخْرَى فِي العَالَمِ العَرَبِيِّ؟ أَيْنَ يُصَلُّونَ؟</a:t>
            </a:r>
            <a:endParaRPr lang="ar-SA" sz="16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festival (attended or read about) + a balanced view.</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حَضَرْتَ مِهْرَجَانًا ثَقَافِيًّا؟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guide · Partner A = a visitor to the display.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Celebrations of the Arab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احْتِفَالَاتُ العَالَمِ العَرَبِيِّ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Present to Diversity Week visitors for one minute: what Muslims usually do in Ramadan, two things that are done at Eid (passive), one memory of your own, one celebration of another faith community named precisely, and a balanced view of festivals — with at least two hedges.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يَصُومُ المُسْلِمُونَ … · فِي العِيدِ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two passives (‏</a:t>
            </a:r>
            <a:pPr algn="l" indent="0" marL="0">
              <a:buNone/>
            </a:pPr>
            <a:r>
              <a:rPr lang="ar-SA" altLang="en-US" sz="1500" dirty="0">
                <a:solidFill>
                  <a:srgbClr val="1F2A37"/>
                </a:solidFill>
                <a:latin typeface="Amiri" pitchFamily="2" charset="-78"/>
                <a:ea typeface="Amiri" pitchFamily="2" charset="-78"/>
                <a:cs typeface="Amiri" pitchFamily="2" charset="-78"/>
              </a:rPr>
              <a:t>تُزَيَّنُ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تُوَزَّعُ</a:t>
            </a:r>
            <a:pPr algn="l" indent="0" marL="0">
              <a:buNone/>
            </a:pPr>
            <a:r>
              <a:rPr lang="en-US" sz="1150" dirty="0">
                <a:solidFill>
                  <a:srgbClr val="1F2A37"/>
                </a:solidFill>
                <a:latin typeface="Calibri" pitchFamily="34" charset="0"/>
                <a:cs typeface="Amiri" pitchFamily="2" charset="-78"/>
              </a:rPr>
              <a:t>‏) and a past memory.</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precise second community, ‏</a:t>
            </a:r>
            <a:pPr algn="l" indent="0" marL="0">
              <a:buNone/>
            </a:pPr>
            <a:r>
              <a:rPr lang="ar-SA" altLang="en-US" sz="1500"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150" dirty="0">
                <a:solidFill>
                  <a:srgbClr val="1F2A37"/>
                </a:solidFill>
                <a:latin typeface="Calibri" pitchFamily="34" charset="0"/>
                <a:cs typeface="Amiri" pitchFamily="2" charset="-78"/>
              </a:rPr>
              <a:t> …‏ and hedges.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Muslims fast from dawn to sunset.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يَصُومُ المُسْلِمُونَ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يَصُومُونَ المُسْلِمُونَ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الفَجْرِ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الفَجْرِ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المَغْرِبِ.</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المَغْرِبُ.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Christians in Egypt celebrate Christmas in January.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يَحْتَفِلُ المَسِيحِيُّونَ فِي مِصْرَ</a:t>
            </a:r>
            <a:endParaRPr lang="ar-SA" sz="175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يَحْتَفِلُونَ المَسِيحِيُّونَ فِي مِصْرَ</a:t>
            </a:r>
            <a:endParaRPr lang="ar-SA" sz="16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بِعِيدِ المِيلَادِ</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عِيدَ المِيلَادِ</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شَهْرِ يَنَايِرَ.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شَهْرُ يَنَايِرَ.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streets are decorated with lights.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تُزَيَّنُ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تُزَيِّنُ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الشَّوَارِعُ</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الشَّوَارِعَ</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بِالأَنْوَارِ.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بِالأَنْوَارُ.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Muslims fast from dawn to sunset.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Verb before a plural subject stays singular;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before al-.</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يَصُومُ المُسْلِمُونَ مِنَ الفَجْرِ إِلَى المَغْرِبِ.</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Christians in Egypt celebrate Christmas in January.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يَحْتَفِلُ بِ</a:t>
            </a:r>
            <a:pPr algn="l" indent="0" marL="0">
              <a:buNone/>
            </a:pPr>
            <a:r>
              <a:rPr lang="en-US" sz="1050" i="1" dirty="0">
                <a:solidFill>
                  <a:srgbClr val="5A6472"/>
                </a:solidFill>
                <a:latin typeface="Calibri" pitchFamily="34" charset="0"/>
                <a:cs typeface="Amiri" pitchFamily="2" charset="-78"/>
              </a:rPr>
              <a:t>…; verb first stays singular.</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يَحْتَفِلُ المَسِيحِيُّونَ فِي مِصْرَ بِعِيدِ المِيلَادِ فِي شَهْرِ يَنَايِرَ.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streets are decorated with lights.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a:t>
            </a:r>
            <a:pPr algn="l" indent="0" marL="0">
              <a:buNone/>
            </a:pPr>
            <a:r>
              <a:rPr lang="ar-SA" altLang="en-US" sz="1350" dirty="0">
                <a:solidFill>
                  <a:srgbClr val="5A6472"/>
                </a:solidFill>
                <a:latin typeface="Amiri" pitchFamily="2" charset="-78"/>
                <a:ea typeface="Amiri" pitchFamily="2" charset="-78"/>
                <a:cs typeface="Amiri" pitchFamily="2" charset="-78"/>
              </a:rPr>
              <a:t>تُزَيَّنُ</a:t>
            </a:r>
            <a:pPr algn="l" indent="0" marL="0">
              <a:buNone/>
            </a:pPr>
            <a:r>
              <a:rPr lang="en-US" sz="1050" i="1" dirty="0">
                <a:solidFill>
                  <a:srgbClr val="5A6472"/>
                </a:solidFill>
                <a:latin typeface="Calibri" pitchFamily="34" charset="0"/>
                <a:cs typeface="Amiri" pitchFamily="2" charset="-78"/>
              </a:rPr>
              <a:t> (-ya-) + subject in -u.</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تُزَيَّنُ الشَّوَارِعُ بِالأَنْوَارِ.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تُوَزِّعُ الحَلْوَى عَلَى الأَطْفَالِ.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distributes? (passive)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يُصَلِّي اليَهُودُ فِي الكَنِيسَةِ.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Precise vocabulary.</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صَامْتُ رَمَضَانَ كُلَّهُ.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Hollow verb stem.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تُوَزِّعُ الحَلْوَى عَلَى الأَطْفَالِ.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تُوَزَّعُ الحَلْوَى عَلَى الأَطْفَالِ.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Passive vowel: ‏</a:t>
            </a:r>
            <a:pPr algn="l" indent="0" marL="0">
              <a:buNone/>
            </a:pPr>
            <a:r>
              <a:rPr lang="ar-SA" altLang="en-US" sz="1500" b="1" dirty="0">
                <a:solidFill>
                  <a:srgbClr val="1B3B6F"/>
                </a:solidFill>
                <a:latin typeface="Amiri" pitchFamily="2" charset="-78"/>
                <a:ea typeface="Amiri" pitchFamily="2" charset="-78"/>
                <a:cs typeface="Amiri" pitchFamily="2" charset="-78"/>
              </a:rPr>
              <a:t>تُوَزَّعُ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يُصَلِّي اليَهُودُ فِي الكَنِيسَةِ.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يُصَلِّي اليَهُودُ فِي الكَنِيسِ.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كَنِيسٌ</a:t>
            </a:r>
            <a:pPr algn="l" indent="0" marL="0">
              <a:buNone/>
            </a:pPr>
            <a:r>
              <a:rPr lang="en-US" sz="1150" b="1" dirty="0">
                <a:solidFill>
                  <a:srgbClr val="1B3B6F"/>
                </a:solidFill>
                <a:latin typeface="Calibri" pitchFamily="34" charset="0"/>
                <a:cs typeface="Amiri" pitchFamily="2" charset="-78"/>
              </a:rPr>
              <a:t>‏ = synagogue; ‏</a:t>
            </a:r>
            <a:pPr algn="l" indent="0" marL="0">
              <a:buNone/>
            </a:pPr>
            <a:r>
              <a:rPr lang="ar-SA" altLang="en-US" sz="1500" b="1" dirty="0">
                <a:solidFill>
                  <a:srgbClr val="1B3B6F"/>
                </a:solidFill>
                <a:latin typeface="Amiri" pitchFamily="2" charset="-78"/>
                <a:ea typeface="Amiri" pitchFamily="2" charset="-78"/>
                <a:cs typeface="Amiri" pitchFamily="2" charset="-78"/>
              </a:rPr>
              <a:t>كَنِيسَةٌ</a:t>
            </a:r>
            <a:pPr algn="l" indent="0" marL="0">
              <a:buNone/>
            </a:pPr>
            <a:r>
              <a:rPr lang="en-US" sz="1150" b="1" dirty="0">
                <a:solidFill>
                  <a:srgbClr val="1B3B6F"/>
                </a:solidFill>
                <a:latin typeface="Calibri" pitchFamily="34" charset="0"/>
                <a:cs typeface="Amiri" pitchFamily="2" charset="-78"/>
              </a:rPr>
              <a:t>‏ = church.</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صَامْتُ رَمَضَانَ كُلَّهُ.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صُمْتُ رَمَضَانَ كُلَّهُ.</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صَامَ → صُمْتُ.</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نَاحِيَةٍ ______ ، وَمِنْ نَاحِيَةٍ أُخْرَى ______ .</a:t>
            </a:r>
            <a:endParaRPr lang="ar-SA" sz="16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one hand …, on the other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كَثِيرٍ مِنَ البُيُوتِ ______ ، وَلٰكِنْ لَيْسَ دَائِمًا.</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many homes …, but not always.</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رَمَضَانَ يَصُومُ المُسْلِمُونَ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Ramadan Muslims fast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العِيدِ تُزَيَّنُ ______ ، وَتُوَزَّعُ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Eid … are decorated, and … are given out.</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صُمْتُ لِأَوَّلِ مَرَّةٍ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fasted for the first time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يَحْتَفِلُ ______ بِ ______ فِي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celebrate … in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العِيدِ القَادِمِ سَوْفَ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Eid I will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يَصُومُ · يُفْطِرُ  ·  السُّحُورُ · الإِفْطَارُ  ·  تُزَيَّنُ · تُوَزَّعُ  ·  تُتَبَادَلُ التَّهَانِي  ·  كَنِيسَةٌ · كَنِيسٌ  ·  طَائِفَةٌ · مِهْرَجَانٌ  ·  فِي كَثِيرٍ مِنَ البُيُوتِ  ·  مِنْ نَاحِيَةٍ … وَمِنْ نَاحِيَةٍ أُخْرَى</a:t>
            </a:r>
            <a:endParaRPr lang="ar-SA" sz="15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Diversity Week display 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مَعْرِضِ التَّنَوُّعِ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display text (about 60–80 words) for Diversity Week. Include: • what Muslims usually do in Ramadan (present) • two things that are done at Eid (passive) • one memory (past) and one plan for next Eid (future) • one other faith community and its celebration, named precisely • a balanced sentence • at least two hedges.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D6-L03 AND D6-L04.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يَصُومُ المُسْلِمُونَ … · يَتَنَاوَلُونَ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Muslims fast … · they eat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تُزَيَّنُ … · تُوَزَّعُ … · تُتَبَادَلُ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are decorated · given out · exchanged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يَحْتَفِلُ المَسِيحِيُّونَ بِ…</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Christians celebrate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كَثِيرٍ مِنَ البُيُوتِ · لَيْسَ دَائِمًا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many homes · not always</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Ramadan and Eid in the present with two passives?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narrate a festival in the past and give a balanced view?</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كَثِيرٍ مِنَ البُيُوتِ يَتَنَاوَلُونَ التَّمْرَ أَوَّلًا، ثُمَّ الشُّورْبَةَ.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many homes they eat dates first, then soup.</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يَأْكُلُ النَّاسُ عَلَى الإِفْطَارِ عَادَةً؟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تُزَيَّنُ الشَّوَارِعُ بِالأَضْوَاءِ، وَتُوَزَّعُ الهَدَايَا عَلَى الأَطْفَالِ.</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streets are decorated with lights, and presents are given to the children.</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يُفْعَلُ فِي العِيدِ؟</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صُمْتُ لِأَوَّلِ مَرَّةٍ عِنْدَمَا كَانَ عُمْرِي تِسْعَ سَنَوَاتٍ، وَشَعَرْتُ بِالفَخْرِ.</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fasted for the first time when I was nine, and I felt proud.</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احْكِ عَنْ ذِكْرَى مِنْ رَمَضَانَ.</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هُنَاكَ مَسِيحِيُّونَ يُصَلُّونَ فِي الكَنَائِسِ، وَفِي بَعْضِ البُلْدَانِ يَهُودٌ يُصَلُّونَ فِي الكُنُسِ.</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Christians who pray in churches, and in some countries Jews who pray in synagogues.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مَا الطَّوَائِفُ الأُخْرَى فِي العَالَمِ العَرَبِيِّ؟ أَيْنَ يُصَلُّونَ؟</a:t>
            </a:r>
            <a:endParaRPr lang="ar-SA" sz="15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قَرَأْتُ عَنْ مِهْرَجَانِ جَرَشَ فِي الأُرْدُنِّ؛ مِنْ نَاحِيَةٍ يَجْمَعُ النَّاسَ، وَمِنْ نَاحِيَةٍ أُخْرَى يَكُونُ مُزْدَحِمًا جِدًّا.</a:t>
            </a:r>
            <a:endParaRPr lang="ar-SA" sz="16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read about the Jerash Festival in Jordan; on the one hand it brings people together, on the other it gets very crowded.</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حَضَرْتَ مِهْرَجَانًا ثَقَافِيًّا؟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فِي رَمَضَانَ يَصُومُ المُسْلِمُونَ مِنَ الفَجْرِ إِلَى المَغْرِبِ، وَفِي كَثِيرٍ مِنَ البُيُوتِ يَتَنَاوَلُونَ التَّمْرَ أَوَّلًا. فِي العِيدِ تُزَيَّنُ البُيُوتُ، وَتُوَزَّعُ الحَلْوَى عَلَى الأَطْفَالِ. صُمْتُ لِأَوَّلِ مَرَّةٍ عِنْدَمَا كَانَ عُمْرِي تِسْعَ سَنَوَاتٍ، وَفِي العِيدِ القَادِمِ سَوْفَ أُسَاعِدُ فِي تَزْيِينِ المَسْجِدِ. فِي العَالَمِ العَرَبِيِّ طَوَائِفُ مُخْتَلِفَةٌ؛ مَثَلًا، يَحْتَفِلُ المَسِيحِيُّونَ الأَقْبَاطُ فِي مِصْرَ بِعِيدِ المِيلَادِ فِي يَنَايِرَ. مِنْ نَاحِيَةٍ تَخْتَلِفُ الاحْتِفَالَاتُ، وَمِنْ نَاحِيَةٍ أُخْرَى تَجْمَعُ كُلُّهَا العَائِلَاتِ.</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Ramadan Muslims fast from dawn to sunset, and in many homes they eat dates first. At Eid houses are decorated, and sweets are given to the children. I fasted for the first time when I was nine, and next Eid I will help decorate the mosque. In the Arab world there are different communities; for example, Coptic Christians in Egypt celebrate Christmas in January. On the one hand the celebrations differ; on the other hand they all bring families together.”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يَصُومُ المُسْلِمُونَ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تُزَيَّنُ البُيُوتُ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صُمْتُ لِأَوَّلِ مَرَّةٍ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نَاحِيَةٍ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D6-W02 · Apply workshop (D6-L03 + D6-L04)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D6-L03 and D6-L04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D6-L05 · Comparing Countries — Global Connections and the Arab Diaspora</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مُقَارَنَةُ الدُّوَلِ — الرَّوَابِطُ العَالَمِيَّةُ وَالجَالِيَةُ العَرَبِيَّةُ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D6-W02 · Apply Workshop — Diversity Week: Celebrations of the Arab World</dc:title>
  <dc:subject>PptxGenJS Presentation</dc:subject>
  <dc:creator>Al Madina Online School · Arabic Department</dc:creator>
  <cp:lastModifiedBy>Al Madina Online School · Arabic Department</cp:lastModifiedBy>
  <cp:revision>1</cp:revision>
  <dcterms:created xsi:type="dcterms:W3CDTF">2026-10-26T15:48:17Z</dcterms:created>
  <dcterms:modified xsi:type="dcterms:W3CDTF">2026-10-26T15:48:17Z</dcterms:modified>
</cp:coreProperties>
</file>