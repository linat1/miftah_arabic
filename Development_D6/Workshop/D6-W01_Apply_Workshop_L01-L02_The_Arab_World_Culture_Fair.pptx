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D6-L01 · Learn D6-L02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D6-L01 (Countries, Nationalities and Languages of the Arab World) and D6-L02 (Cultural Customs — Traditions, Greetings and Social Norms).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D6-L01 and D6-L02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D6-L01? After D6-L02?” Take two answers in the chat for each lesson (one word or one sentence is enough). Then read objective 3 — today’s new situation that needs BOTH lessons. Students tick their route goals at the end of the lesson.
D6-L01 language: nationality (nisba): miṣr → miṣriyyun · miṣriyyatun · miṣriyyūna; diptote country names after min / fī (min lubnāna · fī filasṭīna — no tanwīn, -a in the genitive); gender of countries (most f., but al-ʿirāq · al-urdunn · al-maghrib · lubnān m.); languages described accurately (al-fuṣḥā · al-lahajāt · al-amāzīghiyya · al-kurdiyya)
D6-L02 language: custom verbs with their prepositions: yaʿtādu ʿalā · yatamassaku bi- · yaḥtafilu bi- · yaḥrisu ʿalā; values (al-ḍiyāfa · al-karam · iḥtirām al-kibār · ṣilat al-raḥim); comparing with baynamā; accurate claims (fī baʿḍi al-ʿāʾilāt · ghāliban · laysa kullu …) — never “all Arabs”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D6-L02.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D6-L01 and D6-L02. Teacher reads it once with a confident student; then pairs. Ask: “Which lines are from D6-L01? Which from D6-L02?” Country, capital and nisba (أُرْدُنِّيٌّ · أُرْدُنِّيَّةٌ) come from D6-L01 — note الأُرْدُنُّ is masculine (يَقَعُ · عَاصِمَتُهُ). Custom verbs with prepositions (يَحْرِصُونَ عَلَى) and the hedge (فِي كَثِيرٍ مِنَ العَائِلَاتِ) from D6-L02.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location, capital, nationality and languages described accurately (D6-L01) with customs, values, comparisons and hedges (D6-L02). FADED SUPPORT: tasks 1–2 show the plan; students write their own plan for 3–5. To a girl Partner A says: when the presenter is a girl, the visitor says: هَلْ يُمْكِنُكِ أَنْ تُخْبِرِينِي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D6-L01 and D6-L02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D6-L01 and D6-L02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and one phrase from D6-L01 and one from D6-L02.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D6  ·  D6-L01 + D6-L02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D6-W01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The Arab World Culture Fair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مَعْرِضُ ثَقَافَاتِ العَالَمِ العَرَبِيِّ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join countries and nationalities with customs: at a school culture fair each pair runs a country stand — location, capital, nationality in three forms, languages described accurately — and presents two customs fairly (custom verbs + prepositions, hedges, </a:t>
            </a:r>
            <a:pPr algn="l" indent="0" marL="0">
              <a:buNone/>
            </a:pPr>
            <a:r>
              <a:rPr lang="ar-SA" altLang="en-US" sz="1550" dirty="0">
                <a:solidFill>
                  <a:srgbClr val="C6D2E6"/>
                </a:solidFill>
                <a:latin typeface="Amiri" pitchFamily="2" charset="-78"/>
                <a:ea typeface="Amiri" pitchFamily="2" charset="-78"/>
                <a:cs typeface="Amiri" pitchFamily="2" charset="-78"/>
              </a:rPr>
              <a:t>بَيْنَمَا</a:t>
            </a:r>
            <a:pPr algn="l" indent="0" marL="0">
              <a:buNone/>
            </a:pPr>
            <a:r>
              <a:rPr lang="en-US" sz="1200" dirty="0">
                <a:solidFill>
                  <a:srgbClr val="C6D2E6"/>
                </a:solidFill>
                <a:latin typeface="Calibri" pitchFamily="34" charset="0"/>
                <a:cs typeface="Amiri" pitchFamily="2" charset="-78"/>
              </a:rPr>
              <a:t>), then writes the stand’s information card.</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D6-L01 + D6-L02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D6 › D6-L02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D6-L01 and D6-L02.</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D6-L01 + D6-L02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D6-L01: Countries, Nationalities and Languages of the Arab World</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D6-L02: Cultural Customs — Traditions, Greetings and Social Norms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visitors at your country stand · Our stand’s information card</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D6-L01 and D6-L02.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D6-L01 · Countries, Nationalities and Languages of the Arab World</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المَمْلَكَةُ العَرَبِيَّةُ السُّعُودِيَّةُ</a:t>
            </a:r>
            <a:endParaRPr lang="ar-SA" sz="28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Saudi Arabia</a:t>
            </a:r>
            <a:endParaRPr lang="en-US" sz="1350" dirty="0"/>
          </a:p>
          <a:p>
            <a:pPr indent="0" marL="0">
              <a:buNone/>
            </a:pPr>
            <a:r>
              <a:rPr lang="en-US" sz="1100" i="1" dirty="0">
                <a:solidFill>
                  <a:srgbClr val="5A6472"/>
                </a:solidFill>
                <a:latin typeface="Calibri" pitchFamily="34" charset="0"/>
                <a:cs typeface="Amiri" pitchFamily="2" charset="-78"/>
              </a:rPr>
              <a:t>al-mam-la-ka-tu al-ʿa-ra-biy-ya-tu as-su-ʿū-diy-ya-tu</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سُعُودِيُّونَ</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سُعُودِيٌّ</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العِرَاقُ</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Iraq</a:t>
            </a:r>
            <a:endParaRPr lang="en-US" sz="1350" dirty="0"/>
          </a:p>
          <a:p>
            <a:pPr indent="0" marL="0">
              <a:buNone/>
            </a:pPr>
            <a:r>
              <a:rPr lang="en-US" sz="1100" i="1" dirty="0">
                <a:solidFill>
                  <a:srgbClr val="5A6472"/>
                </a:solidFill>
                <a:latin typeface="Calibri" pitchFamily="34" charset="0"/>
                <a:cs typeface="Amiri" pitchFamily="2" charset="-78"/>
              </a:rPr>
              <a:t>al-ʿi-rā-qu</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عِرَاقِيٌّ</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لُبْنَانُ</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Lebanon</a:t>
            </a:r>
            <a:endParaRPr lang="en-US" sz="1350" dirty="0"/>
          </a:p>
          <a:p>
            <a:pPr indent="0" marL="0">
              <a:buNone/>
            </a:pPr>
            <a:r>
              <a:rPr lang="en-US" sz="1100" i="1" dirty="0">
                <a:solidFill>
                  <a:srgbClr val="5A6472"/>
                </a:solidFill>
                <a:latin typeface="Calibri" pitchFamily="34" charset="0"/>
                <a:cs typeface="Amiri" pitchFamily="2" charset="-78"/>
              </a:rPr>
              <a:t>lub-nā-nu</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لُبْنَانِيٌّ</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الإِمَارَاتُ</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UAE</a:t>
            </a:r>
            <a:endParaRPr lang="en-US" sz="1350" dirty="0"/>
          </a:p>
          <a:p>
            <a:pPr indent="0" marL="0">
              <a:buNone/>
            </a:pPr>
            <a:r>
              <a:rPr lang="en-US" sz="1100" i="1" dirty="0">
                <a:solidFill>
                  <a:srgbClr val="5A6472"/>
                </a:solidFill>
                <a:latin typeface="Calibri" pitchFamily="34" charset="0"/>
                <a:cs typeface="Amiri" pitchFamily="2" charset="-78"/>
              </a:rPr>
              <a:t>al-i-mā-rā-tu</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إِمَارَاتِيٌّ</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المَغْرِبُ</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Morocco</a:t>
            </a:r>
            <a:endParaRPr lang="en-US" sz="1350" dirty="0"/>
          </a:p>
          <a:p>
            <a:pPr indent="0" marL="0">
              <a:buNone/>
            </a:pPr>
            <a:r>
              <a:rPr lang="en-US" sz="1100" i="1" dirty="0">
                <a:solidFill>
                  <a:srgbClr val="5A6472"/>
                </a:solidFill>
                <a:latin typeface="Calibri" pitchFamily="34" charset="0"/>
                <a:cs typeface="Amiri" pitchFamily="2" charset="-78"/>
              </a:rPr>
              <a:t>al-magh-ri-bu</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مَغَارِبَةٌ</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مَغْرِبِيٌّ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09" name="Text 10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0" name="Text 10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اللَّهَجَاتُ</a:t>
            </a:r>
            <a:endParaRPr lang="ar-SA" sz="3000" dirty="0"/>
          </a:p>
        </p:txBody>
      </p:sp>
      <p:sp>
        <p:nvSpPr>
          <p:cNvPr id="111" name="Text 10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dialects</a:t>
            </a:r>
            <a:endParaRPr lang="en-US" sz="1350" dirty="0"/>
          </a:p>
          <a:p>
            <a:pPr indent="0" marL="0">
              <a:buNone/>
            </a:pPr>
            <a:r>
              <a:rPr lang="en-US" sz="1100" i="1" dirty="0">
                <a:solidFill>
                  <a:srgbClr val="5A6472"/>
                </a:solidFill>
                <a:latin typeface="Calibri" pitchFamily="34" charset="0"/>
                <a:cs typeface="Amiri" pitchFamily="2" charset="-78"/>
              </a:rPr>
              <a:t>all-la-ha-jā-tu</a:t>
            </a:r>
            <a:endParaRPr lang="en-US" sz="1350" dirty="0"/>
          </a:p>
        </p:txBody>
      </p:sp>
      <p:sp>
        <p:nvSpPr>
          <p:cNvPr id="112" name="Text 10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Spoken varieties, which differ by region.</a:t>
            </a:r>
            <a:endParaRPr lang="en-US" sz="1000" dirty="0"/>
          </a:p>
        </p:txBody>
      </p:sp>
      <p:sp>
        <p:nvSpPr>
          <p:cNvPr id="113" name="Text 11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D6-L02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D6-L02 · Cultural Customs — Traditions, Greetings and Social Norms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عَادَاتٌ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 / customs</a:t>
            </a:r>
            <a:endParaRPr lang="en-US" sz="1350" dirty="0"/>
          </a:p>
          <a:p>
            <a:pPr indent="0" marL="0">
              <a:buNone/>
            </a:pPr>
            <a:r>
              <a:rPr lang="en-US" sz="1100" i="1" dirty="0">
                <a:solidFill>
                  <a:srgbClr val="5A6472"/>
                </a:solidFill>
                <a:latin typeface="Calibri" pitchFamily="34" charset="0"/>
                <a:cs typeface="Amiri" pitchFamily="2" charset="-78"/>
              </a:rPr>
              <a:t>ʿā-da-tun / ʿā-dā-tun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7" name="Shape 24"/>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ḍi-yā-fa-tun</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 الكِبَارِ</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for elders</a:t>
            </a:r>
            <a:endParaRPr lang="en-US" sz="1350" dirty="0"/>
          </a:p>
          <a:p>
            <a:pPr indent="0" marL="0">
              <a:buNone/>
            </a:pPr>
            <a:r>
              <a:rPr lang="en-US" sz="1100" i="1" dirty="0">
                <a:solidFill>
                  <a:srgbClr val="5A6472"/>
                </a:solidFill>
                <a:latin typeface="Calibri" pitchFamily="34" charset="0"/>
                <a:cs typeface="Amiri" pitchFamily="2" charset="-78"/>
              </a:rPr>
              <a:t>aḥ-ti-rā-mu al-ki-bā-ri</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5" name="Shape 42"/>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يَعْتَادُ عَلَى</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accustomed to</a:t>
            </a:r>
            <a:endParaRPr lang="en-US" sz="1350" dirty="0"/>
          </a:p>
          <a:p>
            <a:pPr indent="0" marL="0">
              <a:buNone/>
            </a:pPr>
            <a:r>
              <a:rPr lang="en-US" sz="1100" i="1" dirty="0">
                <a:solidFill>
                  <a:srgbClr val="5A6472"/>
                </a:solidFill>
                <a:latin typeface="Calibri" pitchFamily="34" charset="0"/>
                <a:cs typeface="Amiri" pitchFamily="2" charset="-78"/>
              </a:rPr>
              <a:t>yaʿ-tā-du ʿa-lā</a:t>
            </a:r>
            <a:endParaRPr lang="en-US" sz="1350" dirty="0"/>
          </a:p>
        </p:txBody>
      </p:sp>
      <p:sp>
        <p:nvSpPr>
          <p:cNvPr id="51" name="Shape 4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3" name="Text 50"/>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اِعْتَادَ</a:t>
            </a:r>
            <a:endParaRPr lang="ar-SA" sz="1350" dirty="0"/>
          </a:p>
        </p:txBody>
      </p:sp>
      <p:sp>
        <p:nvSpPr>
          <p:cNvPr id="54" name="Shape 5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6" name="Text 5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تَعْتَادُ</a:t>
            </a:r>
            <a:endParaRPr lang="ar-SA" sz="150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0" name="Shape 5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2" name="Shape 5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65" name="Text 6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66" name="Shape 63"/>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68" name="Text 65"/>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69" name="Shape 66"/>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1" name="Text 68"/>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تَحْتَفِلُ</a:t>
            </a:r>
            <a:endParaRPr lang="ar-SA" sz="1500" dirty="0"/>
          </a:p>
        </p:txBody>
      </p:sp>
      <p:sp>
        <p:nvSpPr>
          <p:cNvPr id="72" name="Shape 6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3" name="Shape 70"/>
          <p:cNvSpPr/>
          <p:nvPr/>
        </p:nvSpPr>
        <p:spPr>
          <a:xfrm>
            <a:off x="566928" y="4261104"/>
            <a:ext cx="310896" cy="310896"/>
          </a:xfrm>
          <a:prstGeom prst="ellipse">
            <a:avLst/>
          </a:prstGeom>
          <a:solidFill>
            <a:srgbClr val="F4F1EA"/>
          </a:solidFill>
          <a:ln w="12700">
            <a:solidFill>
              <a:srgbClr val="F4F1EA"/>
            </a:solidFill>
            <a:prstDash val="solid"/>
          </a:ln>
        </p:spPr>
      </p:sp>
      <p:sp>
        <p:nvSpPr>
          <p:cNvPr id="74" name="Text 7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5" name="Shape 7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7" name="Text 7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78" name="Text 7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79" name="Text 76"/>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80" name="Text 7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تَقَعُ … فِي … ، وَعَاصِمَتُهَا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نَتَمَسَّكُ 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نَعْتَادُ عَلَى … · نَحْرِصُ عَلَى …</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250" b="1" dirty="0">
                <a:solidFill>
                  <a:srgbClr val="1B3B6F"/>
                </a:solidFill>
                <a:latin typeface="Amiri" pitchFamily="2" charset="-78"/>
                <a:ea typeface="Amiri" pitchFamily="2" charset="-78"/>
                <a:cs typeface="Amiri" pitchFamily="2" charset="-78"/>
              </a:rPr>
              <a:t>الرَّجُلُ مِصْرِيٌّ · المَرْأَةُ مِصْرِيَّةٌ · النَّاسُ مِصْرِيُّونَ</a:t>
            </a:r>
            <a:endParaRPr lang="ar-SA" sz="125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اللُّغَةُ الرَّسْمِيَّةُ … ، وَيَتَكَلَّمُ بَعْضُ النَّاسِ …</a:t>
            </a:r>
            <a:endParaRPr lang="ar-SA" sz="135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فِي … غَالِبًا …</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أُقَدِّرُ … كَثِيرًا لِأَنَّ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أَزُورَهَا لِأَنَّ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D6-L01 · Countries, Nationalities and Languages of the Arab World</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D6-L02 · Cultural Customs — Traditions, Greetings and Social Norms</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D6-L01 · Countries, Nationalities and Languages of the Arab World</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تَقَعُ … فِي … ، وَعَاصِمَتُهَا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الرَّجُلُ مِصْرِيٌّ · المَرْأَةُ مِصْرِيَّةٌ · النَّاسُ مِصْرِيُّونَ</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اللُّغَةُ الرَّسْمِيَّةُ … ، وَيَتَكَلَّمُ بَعْضُ النَّاسِ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أَزُورَهَا لِأَنَّ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D6-L02 · Cultural Customs — Traditions, Greetings and Social Norms</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عَائِلَتِي نَتَمَسَّكُ 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نَعْتَادُ عَلَى … · نَحْرِصُ عَلَى …</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بَيْنَمَا فِي … غَالِبًا …</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أُقَدِّرُ … كَثِيرًا لِأَنَّ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Jordan stand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جَنَاحِ الأُرْدُنِّ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Jordan?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أَيْنَ يَقَعُ الأُرْدُنُّ؟</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is in western Asia, and its capital is Amman. A man is Jordanian (m.), and a woman is Jordanian (f.).</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يَقَعُ فِي غَرْبِ آسْيَا، وَعَاصِمَتُهُ عَمَّانُ. الرَّجُلُ أُرْدُنِّيٌّ، وَالمَرْأَةُ أُرْدُنِّيَّةٌ.</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the language there?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 اللُّغَةُ هُنَاكَ؟</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official language is Arabic, and many people speak English too.</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اللُّغَةُ الرَّسْمِيَّةُ العَرَبِيَّةُ، وَيَتَكَلَّمُ كَثِيرٌ مِنَ النَّاسِ الإِنْجِلِيزِيَّةَ أَيْضًا.</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 important customs?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العَادَاتُ المُهِمَّةُ؟</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many families they take care to be hospitable, and they serve coffee to guests.</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فِي كَثِيرٍ مِنَ العَائِلَاتِ يَحْرِصُونَ عَلَى الضِّيَافَةِ، وَيُقَدِّمُونَ القَهْوَةَ لِلضُّيُوفِ.</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أَبِي مِصْرِيٌّ وَأُمِّي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عَائِلَتِي مِنْ … ؛ نَحْنُ مِصْرِيُّونَ /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your family from?</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عَائِلَتُكَ؟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تَتَمَسَّكُ عَائِلَتِي بِ…</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custom does your family hold on to?</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العَادَةُ الَّتِي تَتَمَسَّكُ بِهَا عَائِلَتُكَ؟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وَهُمْ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عِرَاقِيٌّ، وَهِيَ مِصْرِيَّةٌ</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Nationality of a man from Iraq? A woman from Egypt?</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جِنْسِيَّةُ شَخْصٍ مِنَ العِرَاقِ؟ وَامْرَأَةٍ مِنْ مِصْرَ؟</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هٰذَا مِنَ الضِّيَافَةِ</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نُقَدِّمُ لَهُمْ … / نُرَحِّبُ بِهِمْ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welcome guests?</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تَسْتَقْبِلُونَ الضُّيُوفَ؟</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الأَمَازِيغِيَّةِ وَالكُرْدِيَّةِ</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العَرَبِيَّةُ الفُصْحَى، وَاللَّهَجَاتُ، وَ…</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languages are in the Arab world?</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اللُّغَاتُ فِي العَالَمِ العَرَبِيِّ؟</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أَقِفُ عِنْدَمَا … / أُقَبِّلُ يَدَ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show respect for elders?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تُظْهِرُ احْتِرَامَ الكِبَارِ؟</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D6-L01, even numbers from D6-L02.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visitors at your country stand</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زُوَّارُ الجَنَاحِ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 تَقَعُ … فِي … ، وَعَاصِمَتُهَا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Location + capital (watch the gender of the country).</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تَقَعُ هٰذِهِ الدَّوْلَةُ؟ وَمَا عَاصِمَتُهَا؟</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الرَّجُلُ … · المَرْأَةُ … · النَّاسُ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nationality in three forms.</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جِنْسِيَّةُ النَّاسِ هُنَاكَ؟</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languages accurately.</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اللُّغَاتُ فِيهَا؟</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custom with a verb + preposition and a hedge.</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عَادَةٌ مُهِمَّةٌ هُنَاكَ؟</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fair comparison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هٰذَا مِثْلُ بِرِيطَانِيَا؟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stand presenter · Partner A = a visitor to the fair.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country stand in one minute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جَنَاحِي فِي دَقِيقَةٍ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Present your country stand for one minute: where the country is and its capital, the nationality in three forms, its languages (accurately), one famous place, two customs with custom verbs and hedges, and a fair comparison with Britain.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تَقَعُ … فِي … · عَاصِمَتُهَا … · الرَّجُلُ … وَالمَرْأَةُ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languages accurately and ‏</a:t>
            </a:r>
            <a:pPr algn="l" indent="0" marL="0">
              <a:buNone/>
            </a:pPr>
            <a:r>
              <a:rPr lang="ar-SA" altLang="en-US" sz="1500" dirty="0">
                <a:solidFill>
                  <a:srgbClr val="1F2A37"/>
                </a:solidFill>
                <a:latin typeface="Amiri" pitchFamily="2" charset="-78"/>
                <a:ea typeface="Amiri" pitchFamily="2" charset="-78"/>
                <a:cs typeface="Amiri" pitchFamily="2" charset="-78"/>
              </a:rPr>
              <a:t>نَحْرِصُ عَلَى … / يَتَمَسَّكُونَ بِ</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hedges (‏</a:t>
            </a:r>
            <a:pPr algn="l" indent="0" marL="0">
              <a:buNone/>
            </a:pPr>
            <a:r>
              <a:rPr lang="ar-SA" altLang="en-US" sz="1500" dirty="0">
                <a:solidFill>
                  <a:srgbClr val="1F2A37"/>
                </a:solidFill>
                <a:latin typeface="Amiri" pitchFamily="2" charset="-78"/>
                <a:ea typeface="Amiri" pitchFamily="2" charset="-78"/>
                <a:cs typeface="Amiri" pitchFamily="2" charset="-78"/>
              </a:rPr>
              <a:t>فِي بَعْضِ العَائِلَاتِ</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لَيْسَ دَائِمًا</a:t>
            </a:r>
            <a:pPr algn="l" indent="0" marL="0">
              <a:buNone/>
            </a:pPr>
            <a:r>
              <a:rPr lang="en-US" sz="1150" dirty="0">
                <a:solidFill>
                  <a:srgbClr val="1F2A37"/>
                </a:solidFill>
                <a:latin typeface="Calibri" pitchFamily="34" charset="0"/>
                <a:cs typeface="Amiri" pitchFamily="2" charset="-78"/>
              </a:rPr>
              <a:t>‏) and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mother is Moroccan.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مَغْرِبِيٌّ</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الرِّبَاطِ.</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الرِّبَاطِ.</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family holds on to its traditions.</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تَتَمَسَّكُ عَائِلَتِي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يَتَمَسَّكُ عَائِلَتِي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تَقَالِيدِهَا.</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تَقَالِيدُهَا.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are Iraqis from Baghdad.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نَحْنُ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عِرَاقِيُّونَ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عِرَاقِيٌّ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بَغْدَادَ.</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بَغْدَادٍ.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mother is Moroccan.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-iyyatun; min + al-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أُمِّي مَغْرِبِيَّةٌ مِنَ الرِّبَاطِ.</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family holds on to its traditions.</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تَتَمَسَّكُ بِ</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تَتَمَسَّكُ عَائِلَتِي بِ تَقَالِيدِهَا.</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are Iraqis from Baghdad.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Plural -iyyūna; </a:t>
            </a:r>
            <a:pPr algn="l" indent="0" marL="0">
              <a:buNone/>
            </a:pPr>
            <a:r>
              <a:rPr lang="ar-SA" altLang="en-US" sz="1350" dirty="0">
                <a:solidFill>
                  <a:srgbClr val="5A6472"/>
                </a:solidFill>
                <a:latin typeface="Amiri" pitchFamily="2" charset="-78"/>
                <a:ea typeface="Amiri" pitchFamily="2" charset="-78"/>
                <a:cs typeface="Amiri" pitchFamily="2" charset="-78"/>
              </a:rPr>
              <a:t>بَغْدَادُ</a:t>
            </a:r>
            <a:pPr algn="l" indent="0" marL="0">
              <a:buNone/>
            </a:pPr>
            <a:r>
              <a:rPr lang="en-US" sz="1050" i="1" dirty="0">
                <a:solidFill>
                  <a:srgbClr val="5A6472"/>
                </a:solidFill>
                <a:latin typeface="Calibri" pitchFamily="34" charset="0"/>
                <a:cs typeface="Amiri" pitchFamily="2" charset="-78"/>
              </a:rPr>
              <a:t> is diptote → </a:t>
            </a:r>
            <a:pPr algn="l" indent="0" marL="0">
              <a:buNone/>
            </a:pPr>
            <a:r>
              <a:rPr lang="ar-SA" altLang="en-US" sz="1350" dirty="0">
                <a:solidFill>
                  <a:srgbClr val="5A6472"/>
                </a:solidFill>
                <a:latin typeface="Amiri" pitchFamily="2" charset="-78"/>
                <a:ea typeface="Amiri" pitchFamily="2" charset="-78"/>
                <a:cs typeface="Amiri" pitchFamily="2" charset="-78"/>
              </a:rPr>
              <a:t>بَغْدَادَ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نَحْنُ عِرَاقِيُّونَ مِنْ بَغْدَادَ.</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مِنْ لُبْنَانٍ.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Diptote name.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يَشْرَبُونَ القَهْوَةَ العَرَبِيَّةَ.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Too general.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أُخْتِي سُورِيٌّ.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Sister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مِنْ لُبْنَانٍ.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مِنْ لُبْنَانَ.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لُبْنَانُ</a:t>
            </a:r>
            <a:pPr algn="l" indent="0" marL="0">
              <a:buNone/>
            </a:pPr>
            <a:r>
              <a:rPr lang="en-US" sz="1150" b="1" dirty="0">
                <a:solidFill>
                  <a:srgbClr val="1B3B6F"/>
                </a:solidFill>
                <a:latin typeface="Calibri" pitchFamily="34" charset="0"/>
                <a:cs typeface="Amiri" pitchFamily="2" charset="-78"/>
              </a:rPr>
              <a:t>‏ takes no tanwīn; genitive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يَشْرَبُونَ القَهْوَةَ العَرَبِيَّةَ.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كَثِيرٌ مِنَ العَائِلَاتِ تُقَدِّمُ القَهْوَةَ العَرَبِيَّةَ لِلضُّيُوفِ.</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Keep claims accurate — ‏</a:t>
            </a:r>
            <a:pPr algn="l" indent="0" marL="0">
              <a:buNone/>
            </a:pPr>
            <a:r>
              <a:rPr lang="ar-SA" altLang="en-US" sz="1500" b="1" dirty="0">
                <a:solidFill>
                  <a:srgbClr val="1B3B6F"/>
                </a:solidFill>
                <a:latin typeface="Amiri" pitchFamily="2" charset="-78"/>
                <a:ea typeface="Amiri" pitchFamily="2" charset="-78"/>
                <a:cs typeface="Amiri" pitchFamily="2" charset="-78"/>
              </a:rPr>
              <a:t>كَثِيرٌ مِنْ / بَعْضُ</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أُخْتِي سُورِيٌّ.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أُخْتِي سُورِيَّةٌ.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nisba: -iyyatun.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أَشْهَرِ الأَمَاكِنِ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the most famous places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فِي بِرِيطَانِيَا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in Britain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تَقَعُ ______ فِي ______ ، وَعَاصِمَتُهَا ______ .</a:t>
            </a:r>
            <a:endParaRPr lang="ar-SA" sz="16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in …, and its capital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الرَّجُلُ ______ ، وَالمَرْأَةُ ______ ، وَالنَّاسُ ______ .</a:t>
            </a:r>
            <a:endParaRPr lang="ar-SA" sz="14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man is …, a woman is …, and the people are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اللُّغَةُ الرَّسْمِيَّةُ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official language is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العَائِلَاتِ يَحْرِصُونَ عَلَى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they make a point of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00" b="1" dirty="0">
                <a:solidFill>
                  <a:srgbClr val="1B3B6F"/>
                </a:solidFill>
                <a:latin typeface="Amiri" pitchFamily="2" charset="-78"/>
                <a:ea typeface="Amiri" pitchFamily="2" charset="-78"/>
                <a:cs typeface="Amiri" pitchFamily="2" charset="-78"/>
              </a:rPr>
              <a:t>تَقَعُ · عَاصِمَتُهَا  ·  مِصْرِيٌّ · مِصْرِيَّةٌ · مِصْرِيُّونَ  ·  اللُّغَةُ الرَّسْمِيَّةُ  ·  لَهْجَةٌ  ·  نَتَمَسَّكُ بِ… · نَحْرِصُ عَلَى  ·  نَعْتَادُ عَلَى · نَحْتَفِلُ بِ…  ·  فِي بَعْضِ العَائِلَاتِ  ·  بَيْنَمَا · لَيْسَ دَائِمًا</a:t>
            </a:r>
            <a:endParaRPr lang="ar-SA" sz="15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stand’s information card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الجَنَاحِ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the information card (about 60–80 words) for your country stand. Include: • where it is and its capital • the nationality in three forms • its languages, described accurately • one famous place • two customs with custom verbs and prepositions • a fair comparison with ‏</a:t>
            </a:r>
            <a:pPr algn="l" indent="0" marL="0">
              <a:buNone/>
            </a:pPr>
            <a:r>
              <a:rPr lang="ar-SA" altLang="en-US" sz="1450" b="1" dirty="0">
                <a:solidFill>
                  <a:srgbClr val="1F2A37"/>
                </a:solidFill>
                <a:latin typeface="Amiri" pitchFamily="2" charset="-78"/>
                <a:ea typeface="Amiri" pitchFamily="2" charset="-78"/>
                <a:cs typeface="Amiri" pitchFamily="2" charset="-78"/>
              </a:rPr>
              <a:t>بَيْنَمَا</a:t>
            </a:r>
            <a:pPr algn="l" indent="0" marL="0">
              <a:buNone/>
            </a:pPr>
            <a:r>
              <a:rPr lang="en-US" sz="1100" b="1" dirty="0">
                <a:solidFill>
                  <a:srgbClr val="1F2A37"/>
                </a:solidFill>
                <a:latin typeface="Calibri" pitchFamily="34" charset="0"/>
                <a:cs typeface="Amiri" pitchFamily="2" charset="-78"/>
              </a:rPr>
              <a:t>‏ • at least two hedges.</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D6-L01 AND D6-L02.</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تَقَعُ … فِي … ، وَعَاصِمَتُهَا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in …, and its capital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الرَّجُلُ مِصْرِيٌّ · المَرْأَةُ مِصْرِيَّةٌ · النَّاسُ مِصْرِيُّونَ</a:t>
            </a:r>
            <a:endParaRPr lang="ar-SA" sz="15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nationality: m. · f. · plural</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اللُّغَةُ الرَّسْمِيَّةُ … ، وَيَتَكَلَّمُ بَعْضُ النَّاسِ …</a:t>
            </a:r>
            <a:endParaRPr lang="ar-SA" sz="17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official language is …, and some people speak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العَائِلَاتِ … · بَيْنَمَا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some families … · whereas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nationalities in m. / f. / pl. correctly?</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fairly with ‏</a:t>
            </a:r>
            <a:pPr algn="l" indent="0" marL="0">
              <a:buNone/>
            </a:pPr>
            <a:r>
              <a:rPr lang="ar-SA" altLang="en-US" sz="1450" dirty="0">
                <a:solidFill>
                  <a:srgbClr val="5A6472"/>
                </a:solidFill>
                <a:latin typeface="Amiri" pitchFamily="2" charset="-78"/>
                <a:ea typeface="Amiri" pitchFamily="2" charset="-78"/>
                <a:cs typeface="Amiri" pitchFamily="2" charset="-78"/>
              </a:rPr>
              <a:t>بَيْنَمَا</a:t>
            </a:r>
            <a:pPr algn="l" indent="0" marL="0">
              <a:buNone/>
            </a:pPr>
            <a:r>
              <a:rPr lang="en-US" sz="1100" dirty="0">
                <a:solidFill>
                  <a:srgbClr val="5A6472"/>
                </a:solidFill>
                <a:latin typeface="Calibri" pitchFamily="34" charset="0"/>
                <a:cs typeface="Amiri" pitchFamily="2" charset="-78"/>
              </a:rPr>
              <a:t>‏ and at least two hedges?</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تَقَعُ تُونِسُ فِي شَمَالِ إِفْرِيقْيَا، وَعَاصِمَتُهَا مَدِينَةُ تُونِسَ.</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Tunisia is in North Africa, and its capital is the city of Tunis.</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أَيْنَ تَقَعُ هٰذِهِ الدَّوْلَةُ؟ وَمَا عَاصِمَتُهَا؟</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الرَّجُلُ تُونِسِيٌّ، وَالمَرْأَةُ تُونِسِيَّةٌ، وَالنَّاسُ تُونِسِيُّونَ.</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 man is Tunisian, a woman is Tunisian, and the people are Tunisians.</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جِنْسِيَّةُ النَّاسِ هُنَاكَ؟</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اللُّغَةُ الرَّسْمِيَّةُ العَرَبِيَّةُ، وَلِلنَّاسِ لَهْجَةٌ تُونِسِيَّةٌ، وَيَتَكَلَّمُ كَثِيرٌ مِنْهُمُ الفَرَنْسِيَّةَ.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official language is Arabic, people have a Tunisian dialect, and many of them speak French.</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اللُّغَاتُ فِيهَا؟</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بَعْضِ العَائِلَاتِ يَحْرِصُونَ عَلَى زِيَارَةِ الأَقَارِبِ يَوْمَ الجُمُعَةِ.</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In some families they make a point of visiting relatives on Friday.</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عَادَةٌ مُهِمَّةٌ هُنَاكَ؟</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لَيْسَ دَائِمًا؛ هُنَاكَ يَزُورُونَ الأَقَارِبَ كَثِيرًا، بَيْنَمَا فِي بِرِيطَانِيَا يَلْتَقِي النَّاسُ فِي العُطَلِ غَالِبًا.</a:t>
            </a:r>
            <a:endParaRPr lang="ar-SA" sz="16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Not always; there they visit relatives often, whereas in Britain people often meet in the holidays.</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هٰذَا مِثْلُ بِرِيطَانِيَا؟</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2" charset="-78"/>
                <a:ea typeface="Amiri" pitchFamily="2" charset="-78"/>
                <a:cs typeface="Amiri" pitchFamily="2" charset="-78"/>
              </a:rPr>
              <a:t>تَقَعُ تُونِسُ فِي شَمَالِ إِفْرِيقْيَا، وَعَاصِمَتُهَا مَدِينَةُ تُونِسَ. الرَّجُلُ تُونِسِيٌّ، وَالمَرْأَةُ تُونِسِيَّةٌ، وَالنَّاسُ تُونِسِيُّونَ. اللُّغَةُ الرَّسْمِيَّةُ العَرَبِيَّةُ، وَلِلنَّاسِ لَهْجَةٌ خَاصَّةٌ، وَيَتَكَلَّمُ كَثِيرٌ مِنْهُمُ الفَرَنْسِيَّةَ. مِنْ أَشْهَرِ الأَمَاكِنِ مَدِينَةُ قَرْطَاجَ القَدِيمَةُ. فِي كَثِيرٍ مِنَ العَائِلَاتِ يَحْرِصُونَ عَلَى الضِّيَافَةِ، وَيَتَمَسَّكُونَ بِزِيَارَةِ الأَقَارِبِ فِي العِيدِ. هُنَاكَ يَتَنَاوَلُ النَّاسُ العَشَاءَ مُتَأَخِّرًا غَالِبًا، بَيْنَمَا فِي بِرِيطَانِيَا يَتَنَاوَلُونَهُ مُبَكِّرًا، وَلٰكِنْ لَيْسَ دَائِمًا.</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“Tunisia is in North Africa, and its capital is the city of Tunis. A man is Tunisian, a woman is Tunisian, and the people are Tunisians. The official language is Arabic, people have their own dialect, and many of them speak French. One of the most famous places is the ancient city of Carthage. In many families they make a point of hospitality, and they hold on to visiting relatives at Eid. There people often have dinner late, whereas in Britain they have it early — but not always.”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تَقَعُ تُونِسُ</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وَالنَّاسُ تُونِسِيُّونَ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يَحْرِصُونَ عَلَى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فِي بِرِيطَانِيَا</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D6-W01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D6 · Countries, Cultures and Celebrations · D6-W01 · Apply workshop (D6-L01 + D6-L02)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D6-L01 and D6-L02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D6-W01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D6-L03 · Islamic Celebrations — Eid, Ramadan and Religious Occasions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المُنَاسَبَاتُ الإِسْلَامِيَّةُ — العِيدَانِ وَرَمَضَانُ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D6-W01 · Apply Workshop — The Arab World Culture Fair</dc:title>
  <dc:subject>PptxGenJS Presentation</dc:subject>
  <dc:creator>Al Madina Online School · Arabic Department</dc:creator>
  <cp:lastModifiedBy>Al Madina Online School · Arabic Department</cp:lastModifiedBy>
  <cp:revision>1</cp:revision>
  <dcterms:created xsi:type="dcterms:W3CDTF">2026-10-26T15:48:16Z</dcterms:created>
  <dcterms:modified xsi:type="dcterms:W3CDTF">2026-10-26T15:48:16Z</dcterms:modified>
</cp:coreProperties>
</file>