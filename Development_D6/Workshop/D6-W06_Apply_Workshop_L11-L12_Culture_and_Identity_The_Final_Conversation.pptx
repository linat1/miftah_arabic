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D6-L11 · Learn D6-L12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one minute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D6-L11 (D6 Consolidation — Complete Review and Speaking Preparation) and D6-L12 (Review and Unit Assessment: Countries, Cultures and Celebrations).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D6-L11 and D6-L12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D6-L11? After D6-L12?” Take two answers in the chat for each lesson (one word or one sentence is enough). Then read objective 3 — today’s new situation that needs BOTH lessons. Students tick their route goals at the end of the lesson.
D6-L11 language: a fluent topic conversation under pressure: mirror the tense of the question (ḥaḍarta? → ḥaḍartu …); say verb + preposition as one unit (naḥtafilu bi- · antamī ilā · aʿtazzu bi-); add a reason (li-anna …); qualify as you speak (fī baʿḍi al-buldān · ʿalā ḥaddi ʿilmī); buy time and repair (daʿnī ufakkiru · ʿafwan, aqṣidu)
D6-L12 language: D6 review: nisba nationalities (m. / f. / pl.) and diptote country names; cultural verbs + prepositions (naḥtafilu bi- · natamassaku bi- · antamī ilā · aʿtazzu bi- · aḥtafiẓu bi-); passives for customs (tuzayyanu · tuwazzaʿu); all tenses incl. kunnā + present and lan; tuʿaddu min akthari … + -an; hedges (fī baʿḍi … · ʿalā ḥaddi ʿilmī)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D6-L11.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D6-L12.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D6-L11 and D6-L12. Teacher reads it once with a confident student; then pairs. Ask: “Which lines are from D6-L11? Which from D6-L12?” Mirroring the tense (زُرْتَ؟ → زُرْتُ · تَحْتَفِلُ؟ → نَحْتَفِلُ · سَتَفْعَلُ؟ → سَأَقْرَأُ), verb + preposition as one unit, a reason and a hedge come from D6-L11; the content is the D6-L12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answering in the tense of the question with verb + preposition units, reasons and hedges (D6-L11) across all of D6 (D6-L12). FADED SUPPORT: tasks 1–2 show the plan; students write their own plan for 3–5. To a girl Partner A says: مِنْ أَيْنَ عَائِلَتُكِ؟ · إِلَى أَيِّ ثَقَافَةٍ تَنْتَمِينَ؟ · مَاذَا تَعْنِي لَكِ العَرَبِيَّةُ؟.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D6-L11 and D6-L12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D6-L11 and D6-L12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(50–60 words). Develop: 80–100 words, frames only if stuck. Stretch: no frames, add reasons and another time frame.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(59 words). CHECK YOURSELF (2 min). Find each bullet point in the model, and one phrase from D6-L11 and one from D6-L12.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D6  ·  D6-L11 + D6-L12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D6-W06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Culture and Identity: The Final Conversation</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الثَّقَافَةُ وَالهُوِيَّةُ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00" dirty="0">
                <a:solidFill>
                  <a:srgbClr val="C6D2E6"/>
                </a:solidFill>
                <a:latin typeface="Calibri" pitchFamily="34" charset="0"/>
                <a:cs typeface="Amiri" pitchFamily="2" charset="-78"/>
              </a:rPr>
              <a:t>Students use all of D6 — and the whole Development stage — for one real purpose: a fluent topic conversation under pressure (mirroring the tense of each question, verb + preposition as one unit, a reason and a hedge every time), then the exam-style article for an online youth magazine about family origins, celebrations, customs and identity.</a:t>
            </a:r>
            <a:endParaRPr lang="en-US" sz="11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D6-L11 + D6-L12</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end of unit D6</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D6 › D6-L12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D6-W06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D6-W06 · Apply workshop (D6-L11 + D6-L12)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D6-W06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D6-W06 · Apply workshop (D6-L11 + D6-L12)</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D6-L11 and D6-L12.</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D6-W06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D6-L11 + D6-L12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D6-W06 · Apply workshop (D6-L11 + D6-L12)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D6-L11: D6 Consolidation — Complete Review and Speaking Preparation</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D6-L12: Review and Unit Assessment: Countries, Cultures and Celebrations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Speaking card — the final topic conversation · Exam-style article: culture and identity</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one minute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Use more than one tense; give and justify opinions.</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D6-W06 · Apply workshop (D6-L11 + D6-L12)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D6-L11 and D6-L12.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D6-W06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D6-L11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D6-L11 · D6 Consolidation — Complete Review and Speaking Preparation</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D6-W06 · Apply workshop (D6-L11 + D6-L12)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مُرَاجَعَةٌ نِهَائِيَّةٌ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final review</a:t>
            </a:r>
            <a:endParaRPr lang="en-US" sz="1350" dirty="0"/>
          </a:p>
          <a:p>
            <a:pPr indent="0" marL="0">
              <a:buNone/>
            </a:pPr>
            <a:r>
              <a:rPr lang="en-US" sz="1100" i="1" dirty="0">
                <a:solidFill>
                  <a:srgbClr val="5A6472"/>
                </a:solidFill>
                <a:latin typeface="Calibri" pitchFamily="34" charset="0"/>
                <a:cs typeface="Amiri" pitchFamily="2" charset="-78"/>
              </a:rPr>
              <a:t>mu-rā-ja-ʿa-tun ni-hā-ʾiy-ya-tun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الطَّلَاقَةُ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fluency</a:t>
            </a:r>
            <a:endParaRPr lang="en-US" sz="1350" dirty="0"/>
          </a:p>
          <a:p>
            <a:pPr indent="0" marL="0">
              <a:buNone/>
            </a:pPr>
            <a:r>
              <a:rPr lang="en-US" sz="1100" i="1" dirty="0">
                <a:solidFill>
                  <a:srgbClr val="5A6472"/>
                </a:solidFill>
                <a:latin typeface="Calibri" pitchFamily="34" charset="0"/>
                <a:cs typeface="Amiri" pitchFamily="2" charset="-78"/>
              </a:rPr>
              <a:t>aṭ-ṭa-lā-qa-tu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سَبِيلِ المِثَالِ</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 example</a:t>
            </a:r>
            <a:endParaRPr lang="en-US" sz="1350" dirty="0"/>
          </a:p>
          <a:p>
            <a:pPr indent="0" marL="0">
              <a:buNone/>
            </a:pPr>
            <a:r>
              <a:rPr lang="en-US" sz="1100" i="1" dirty="0">
                <a:solidFill>
                  <a:srgbClr val="5A6472"/>
                </a:solidFill>
                <a:latin typeface="Calibri" pitchFamily="34" charset="0"/>
                <a:cs typeface="Amiri" pitchFamily="2" charset="-78"/>
              </a:rPr>
              <a:t>ʿa-lā sa-bī-li al-mi-thā-li</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 · sg</a:t>
            </a:r>
            <a:endParaRPr lang="en-US" sz="800" dirty="0"/>
          </a:p>
        </p:txBody>
      </p:sp>
      <p:sp>
        <p:nvSpPr>
          <p:cNvPr id="41" name="Shape 3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بَعْضِ البُلْدَانِ</a:t>
            </a:r>
            <a:endParaRPr lang="ar-SA" sz="3000" dirty="0"/>
          </a:p>
        </p:txBody>
      </p:sp>
      <p:sp>
        <p:nvSpPr>
          <p:cNvPr id="44" name="Text 4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some countries</a:t>
            </a:r>
            <a:endParaRPr lang="en-US" sz="1350" dirty="0"/>
          </a:p>
          <a:p>
            <a:pPr indent="0" marL="0">
              <a:buNone/>
            </a:pPr>
            <a:r>
              <a:rPr lang="en-US" sz="1100" i="1" dirty="0">
                <a:solidFill>
                  <a:srgbClr val="5A6472"/>
                </a:solidFill>
                <a:latin typeface="Calibri" pitchFamily="34" charset="0"/>
                <a:cs typeface="Amiri" pitchFamily="2" charset="-78"/>
              </a:rPr>
              <a:t>fī baʿ-ḍi al-bul-dā-ni</a:t>
            </a:r>
            <a:endParaRPr lang="en-US" sz="1350" dirty="0"/>
          </a:p>
        </p:txBody>
      </p:sp>
      <p:sp>
        <p:nvSpPr>
          <p:cNvPr id="45" name="Shape 42"/>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47" name="Text 44"/>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بَلَدٌ</a:t>
            </a:r>
            <a:endParaRPr lang="ar-SA" sz="1500" dirty="0"/>
          </a:p>
        </p:txBody>
      </p:sp>
      <p:sp>
        <p:nvSpPr>
          <p:cNvPr id="48" name="Shape 4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4389120"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1" name="Shape 48"/>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لَيْسَ دَائِمًا</a:t>
            </a:r>
            <a:endParaRPr lang="ar-SA" sz="3000" dirty="0"/>
          </a:p>
        </p:txBody>
      </p:sp>
      <p:sp>
        <p:nvSpPr>
          <p:cNvPr id="54" name="Text 51"/>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not always</a:t>
            </a:r>
            <a:endParaRPr lang="en-US" sz="1350" dirty="0"/>
          </a:p>
          <a:p>
            <a:pPr indent="0" marL="0">
              <a:buNone/>
            </a:pPr>
            <a:r>
              <a:rPr lang="en-US" sz="1100" i="1" dirty="0">
                <a:solidFill>
                  <a:srgbClr val="5A6472"/>
                </a:solidFill>
                <a:latin typeface="Calibri" pitchFamily="34" charset="0"/>
                <a:cs typeface="Amiri" pitchFamily="2" charset="-78"/>
              </a:rPr>
              <a:t>lay-sa dā-ʾi-man</a:t>
            </a:r>
            <a:endParaRPr lang="en-US" sz="135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يَخْتَلِفُ الأَمْرُ</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varies</a:t>
            </a:r>
            <a:endParaRPr lang="en-US" sz="1350" dirty="0"/>
          </a:p>
          <a:p>
            <a:pPr indent="0" marL="0">
              <a:buNone/>
            </a:pPr>
            <a:r>
              <a:rPr lang="en-US" sz="1100" i="1" dirty="0">
                <a:solidFill>
                  <a:srgbClr val="5A6472"/>
                </a:solidFill>
                <a:latin typeface="Calibri" pitchFamily="34" charset="0"/>
                <a:cs typeface="Amiri" pitchFamily="2" charset="-78"/>
              </a:rPr>
              <a:t>yakh-ta-li-fu al-am-ru</a:t>
            </a:r>
            <a:endParaRPr lang="en-US" sz="135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D6-W06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D6-L12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D6-L12 · Review and Unit Assessment: Countries, Cultures and Celebrations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D6-W06 · Apply workshop (D6-L11 + D6-L12)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لُبْنَانِيٌّ · لُبْنَانِيَّةٌ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Lebanese (m. · f.)</a:t>
            </a:r>
            <a:endParaRPr lang="en-US" sz="1350" dirty="0"/>
          </a:p>
          <a:p>
            <a:pPr indent="0" marL="0">
              <a:buNone/>
            </a:pPr>
            <a:r>
              <a:rPr lang="en-US" sz="1100" i="1" dirty="0">
                <a:solidFill>
                  <a:srgbClr val="5A6472"/>
                </a:solidFill>
                <a:latin typeface="Calibri" pitchFamily="34" charset="0"/>
                <a:cs typeface="Amiri" pitchFamily="2" charset="-78"/>
              </a:rPr>
              <a:t>lub-nā-niy-yun · lub-nā-niy-ya-tun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نَتَمَسَّكُ بِعَادَاتِنَا</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hold on to our customs</a:t>
            </a:r>
            <a:endParaRPr lang="en-US" sz="1350" dirty="0"/>
          </a:p>
          <a:p>
            <a:pPr indent="0" marL="0">
              <a:buNone/>
            </a:pPr>
            <a:r>
              <a:rPr lang="en-US" sz="1100" i="1" dirty="0">
                <a:solidFill>
                  <a:srgbClr val="5A6472"/>
                </a:solidFill>
                <a:latin typeface="Calibri" pitchFamily="34" charset="0"/>
                <a:cs typeface="Amiri" pitchFamily="2" charset="-78"/>
              </a:rPr>
              <a:t>na-ta-mas-sa-ku bi-ʿā-dā-ti-nā</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تُزَيَّنُ البُيُوتُ</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homes are decorated</a:t>
            </a:r>
            <a:endParaRPr lang="en-US" sz="1350" dirty="0"/>
          </a:p>
          <a:p>
            <a:pPr indent="0" marL="0">
              <a:buNone/>
            </a:pPr>
            <a:r>
              <a:rPr lang="en-US" sz="1100" i="1" dirty="0">
                <a:solidFill>
                  <a:srgbClr val="5A6472"/>
                </a:solidFill>
                <a:latin typeface="Calibri" pitchFamily="34" charset="0"/>
                <a:cs typeface="Amiri" pitchFamily="2" charset="-78"/>
              </a:rPr>
              <a:t>tu-zay-ya-nu al-bu-yū-tu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كَنِيسَةٌ · كَنِيسٌ</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church · synagogue</a:t>
            </a:r>
            <a:endParaRPr lang="en-US" sz="1350" dirty="0"/>
          </a:p>
          <a:p>
            <a:pPr indent="0" marL="0">
              <a:buNone/>
            </a:pPr>
            <a:r>
              <a:rPr lang="en-US" sz="1100" i="1" dirty="0">
                <a:solidFill>
                  <a:srgbClr val="5A6472"/>
                </a:solidFill>
                <a:latin typeface="Calibri" pitchFamily="34" charset="0"/>
                <a:cs typeface="Amiri" pitchFamily="2" charset="-78"/>
              </a:rPr>
              <a:t>ka-nī-sa-tun · ka-nī-sun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أَعْتَزُّ بِ…</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am proud of</a:t>
            </a:r>
            <a:endParaRPr lang="en-US" sz="1350" dirty="0"/>
          </a:p>
          <a:p>
            <a:pPr indent="0" marL="0">
              <a:buNone/>
            </a:pPr>
            <a:r>
              <a:rPr lang="en-US" sz="1100" i="1" dirty="0">
                <a:solidFill>
                  <a:srgbClr val="5A6472"/>
                </a:solidFill>
                <a:latin typeface="Calibri" pitchFamily="34" charset="0"/>
                <a:cs typeface="Amiri" pitchFamily="2" charset="-78"/>
              </a:rPr>
              <a:t>aʿ-taz-zu bi…</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كُنَّا نَحْتَفِلُ</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used to celebrate</a:t>
            </a:r>
            <a:endParaRPr lang="en-US" sz="1350" dirty="0"/>
          </a:p>
          <a:p>
            <a:pPr indent="0" marL="0">
              <a:buNone/>
            </a:pPr>
            <a:r>
              <a:rPr lang="en-US" sz="1100" i="1" dirty="0">
                <a:solidFill>
                  <a:srgbClr val="5A6472"/>
                </a:solidFill>
                <a:latin typeface="Calibri" pitchFamily="34" charset="0"/>
                <a:cs typeface="Amiri" pitchFamily="2" charset="-78"/>
              </a:rPr>
              <a:t>kun-nā naḥ-ta-fi-lu</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2 · SORT IT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Verb + preposition or hedge?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 البِطَاقَاتِ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D6-W06 · Apply workshop (D6-L11 + D6-L12)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نَحْتَفِلُ بِالعِيدِ</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بَعْضِ البُلْدَانِ</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لَيْسَ دَائِمًا</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أَنْتَمِي إِلَى</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أَعْتَزُّ بِلُغَتِي</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غَالِبًا</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عَلَى حَدِّ عِلْمِي</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نَتَمَسَّكُ بِعَادَاتِنَا</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Verb + preposition (one unit)</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Hedges that narrow a claim</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 البِطَاقَاتِ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D6-W06 · Apply workshop (D6-L11 + D6-L12)</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Verb + preposition (one unit)</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نَحْتَفِلُ بِالعِيدِ</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أَنْتَمِي إِلَى</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أَعْتَزُّ بِلُغَتِي</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نَتَمَسَّكُ بِعَادَاتِنَا</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Hedges that narrow a claim</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بَعْضِ البُلْدَانِ</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لَيْسَ دَائِمًا</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غَالِبًا</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عَلَى حَدِّ عِلْمِي</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Mirror the tense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اتْبَعْ زَمَنَ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D6-W06 · Apply workshop (D6-L11 + D6-L12)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Have you visited an Arab country?</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هَلْ زُرْتَ بَلَدًا عَرَبِيًّا؟</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I visited Morocco last summer, and I saw the old markets.</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نَعَمْ، زُرْتُ المَغْرِبَ الصَّيْفَ المَاضِيَ، وَرَأَيْتُ الأَسْوَاقَ القَدِيمَةَ.</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does your family celebrate occasions?</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كَيْفَ تَحْتَفِلُ عَائِلَتُكَ بِالمُنَاسَبَاتِ؟</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celebrate Eid with relatives, and in some families they exchange presents, but not always.</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نَحْتَفِلُ بِالعِيدِ مَعَ الأَقَارِبِ، وَفِي بَعْضِ العَائِلَاتِ يَتَبَادَلُونَ الهَدَايَا، وَلٰكِنْ لَيْسَ دَائِمًا.</a:t>
            </a:r>
            <a:endParaRPr lang="ar-SA" sz="16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will you do to keep your language?</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وَمَاذَا سَتَفْعَلُ لِتَحْتَفِظَ بِلُغَتِكَ؟</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will read every day, and I will never give up Arabic, because I am proud of it.</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سَأَقْرَأُ كُلَّ يَوْمٍ، وَلَنْ أَتَخَلَّى عَنِ العَرَبِيَّةِ أَبَدًا، لِأَنِّي أَعْتَزُّ بِهَا.</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D6-W06 · Apply workshop (D6-L11 + D6-L12)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زُرْتُ … وَرَأَيْتُ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Have you visited an Arab country? What did you see?</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زُرْتَ بَلَدًا عَرَبِيًّا؟ مَاذَا رَأَيْتَ؟</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وَنَحْنُ …</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أَبِي مِصْرِيٌّ وَأُمِّي سُورِيَّةٌ …</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is your family from? Their nationalities?</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أَيْنَ عَائِلَتُكَ؟ وَمَا جِنْسِيَّاتُهُمْ؟</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فِي بَعْضِ السَّنَوَاتِ …</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نَحْتَفِلُ بِ… عَادَةً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does your family celebrate occasions?</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تَحْتَفِلُ عَائِلَتُكَ بِالمُنَاسَبَاتِ؟</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فِي بَعْضِ العَائِلَاتِ …</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نَتَمَسَّكُ بِ… وَ…</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customs does your family keep?</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العَادَاتُ الَّتِي تَتَمَسَّكُ بِهَا عَائِلَتُكَ؟</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وَأَعْتَزُّ بِ…</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أَنْتَمِي إِلَى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culture do you belong to?</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إِلَى أَيِّ ثَقَافَةٍ تَنْتَمِي؟</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وَأَتَذَكَّرُ …</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تُزَيَّنُ … وَتُوَزَّعُ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Eid at your home.</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العِيدَ فِي بَيْتِكُمْ.</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D6-L11, even numbers from D6-L12.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5 · ROLE-PLAY CARD · PLANS FOR TASKS 1–2 ARE GIVEN — PLAN 3–5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Speaking card — the final topic conversation</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المُحَادَثَةُ النِّهَائِيَّةُ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D6-W06 · Apply workshop (D6-L11 + D6-L12)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أَيْنَ ← أَبِي … وَأُمِّي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Origins with nationality agreement.</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أَيْنَ عَائِلَتُكَ؟ وَمَا جِنْسِيَّاتُهُمْ؟</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 كُنَّا نَحْتَفِلُ … أَمَّا الآنَ فَ…</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Used to + now.</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كَانَ العِيدُ فِي طُفُولَتِكَ؟ وَكَيْفَ هُوَ الآنَ؟</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93608" y="3741725"/>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custom described fairly, with a hedge.</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العَادَةُ الَّتِي تَتَمَسَّكُ بِهَا عَائِلَتُكَ؟</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293608" y="4478731"/>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Belonging + a reason.</a:t>
            </a:r>
            <a:endParaRPr lang="en-US" sz="1100" dirty="0"/>
          </a:p>
        </p:txBody>
      </p:sp>
      <p:sp>
        <p:nvSpPr>
          <p:cNvPr id="42" name="Text 39"/>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إِلَى أَيِّ ثَقَافَةٍ تَنْتَمِي؟ لِمَاذَا؟</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293608" y="5215738"/>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supported opinion + a future promise.</a:t>
            </a:r>
            <a:endParaRPr lang="en-US" sz="1100" dirty="0"/>
          </a:p>
        </p:txBody>
      </p:sp>
      <p:sp>
        <p:nvSpPr>
          <p:cNvPr id="47" name="Text 44"/>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تَعْنِي لَكَ العَرَبِيَّةُ؟</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candidate · Partner A = the examiner. Write the plan for tasks 3–5 in your book first. Task ! is a surprise — Partner A reads it without warning. Then swap roles.</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My culture, my identity — no notes</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ثَقَافَتِي وَهُوِيَّتِي بِلَا أَوْرَاقٍ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D6-W06 · Apply workshop (D6-L11 + D6-L12)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use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Speak for one minute without notes: where your family is from (nationalities), how a celebration used to be and how it is now, a custom you hold on to (described fairly, with a hedge), what Arabic and your culture mean to you, and one future promise.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أَبِي … وَأُمِّي … · نَحْتَفِلُ بِ… · أَعْتَزُّ بِ…</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كُنَّا نَحْتَفِلُ … أَمَّا الآنَ فَ</a:t>
            </a:r>
            <a:pPr algn="l" indent="0" marL="0">
              <a:buNone/>
            </a:pPr>
            <a:r>
              <a:rPr lang="en-US" sz="1150" dirty="0">
                <a:solidFill>
                  <a:srgbClr val="1F2A37"/>
                </a:solidFill>
                <a:latin typeface="Calibri" pitchFamily="34" charset="0"/>
                <a:cs typeface="Amiri" pitchFamily="2" charset="-78"/>
              </a:rPr>
              <a:t>…‏ and a hedge.</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أَنْتَمِي إِلَى</a:t>
            </a:r>
            <a:pPr algn="l" indent="0" marL="0">
              <a:buNone/>
            </a:pPr>
            <a:r>
              <a:rPr lang="en-US" sz="1150" dirty="0">
                <a:solidFill>
                  <a:srgbClr val="1F2A37"/>
                </a:solidFill>
                <a:latin typeface="Calibri" pitchFamily="34" charset="0"/>
                <a:cs typeface="Amiri" pitchFamily="2" charset="-78"/>
              </a:rPr>
              <a:t> … · </a:t>
            </a:r>
            <a:pPr algn="l" indent="0" marL="0">
              <a:buNone/>
            </a:pPr>
            <a:r>
              <a:rPr lang="ar-SA" altLang="en-US" sz="1500" dirty="0">
                <a:solidFill>
                  <a:srgbClr val="1F2A37"/>
                </a:solidFill>
                <a:latin typeface="Amiri" pitchFamily="2" charset="-78"/>
                <a:ea typeface="Amiri" pitchFamily="2" charset="-78"/>
                <a:cs typeface="Amiri" pitchFamily="2" charset="-78"/>
              </a:rPr>
              <a:t>لَا يُمْكِنُ إِنْكَارُ أَنَّ</a:t>
            </a:r>
            <a:pPr algn="l" indent="0" marL="0">
              <a:buNone/>
            </a:pPr>
            <a:r>
              <a:rPr lang="en-US" sz="1150" dirty="0">
                <a:solidFill>
                  <a:srgbClr val="1F2A37"/>
                </a:solidFill>
                <a:latin typeface="Calibri" pitchFamily="34" charset="0"/>
                <a:cs typeface="Amiri" pitchFamily="2" charset="-78"/>
              </a:rPr>
              <a:t> … · </a:t>
            </a:r>
            <a:pPr algn="l" indent="0" marL="0">
              <a:buNone/>
            </a:pPr>
            <a:r>
              <a:rPr lang="ar-SA" altLang="en-US" sz="1500" dirty="0">
                <a:solidFill>
                  <a:srgbClr val="1F2A37"/>
                </a:solidFill>
                <a:latin typeface="Amiri" pitchFamily="2" charset="-78"/>
                <a:ea typeface="Amiri" pitchFamily="2" charset="-78"/>
                <a:cs typeface="Amiri" pitchFamily="2" charset="-78"/>
              </a:rPr>
              <a:t>لَنْ أَتَخَلَّى عَنْ</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D6-W06 · Apply workshop (D6-L11 + D6-L12)</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As far as I know, this custom is popular in the Gulf.</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 حَدِّ عِلْمِي،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 حَدُّ عِلْمِي،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هٰذِهِ العَادَةُ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هٰذَا العَادَةُ</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مَشْهُورَةٌ فِي الخَلِيجِ.</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مَشْهُورٌ فِي الخَلِيجِ.</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mother is Syrian, from Aleppo.</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أُمِّي سُورِيَّةٌ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أُمِّي سُورِيٌّ</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حَلَبَ.</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حَلَبٍ.</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Did you attend? — Yes, I attended.</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هَلْ حَضَرْتَ؟</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هَلْ تَحْضُرُ؟</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 نَعَمْ،</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 لَا،</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حَضَرْتُ.</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أَحْضُرُ.</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D6-W06 · Apply workshop (D6-L11 + D6-L12)</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As far as I know, this custom is popular in the Gulf.</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عَادَةٌ</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هٰذِهِ</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مَشْهُورَةٌ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عَلَى حَدِّ عِلْمِي، هٰذِهِ العَادَةُ مَشْهُورَةٌ فِي الخَلِيجِ.</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mother is Syrian, from Aleppo.</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 nisba; </a:t>
            </a:r>
            <a:pPr algn="l" indent="0" marL="0">
              <a:buNone/>
            </a:pPr>
            <a:r>
              <a:rPr lang="ar-SA" altLang="en-US" sz="1350" dirty="0">
                <a:solidFill>
                  <a:srgbClr val="5A6472"/>
                </a:solidFill>
                <a:latin typeface="Amiri" pitchFamily="2" charset="-78"/>
                <a:ea typeface="Amiri" pitchFamily="2" charset="-78"/>
                <a:cs typeface="Amiri" pitchFamily="2" charset="-78"/>
              </a:rPr>
              <a:t>حَلَبُ</a:t>
            </a:r>
            <a:pPr algn="l" indent="0" marL="0">
              <a:buNone/>
            </a:pPr>
            <a:r>
              <a:rPr lang="en-US" sz="1050" i="1" dirty="0">
                <a:solidFill>
                  <a:srgbClr val="5A6472"/>
                </a:solidFill>
                <a:latin typeface="Calibri" pitchFamily="34" charset="0"/>
                <a:cs typeface="Amiri" pitchFamily="2" charset="-78"/>
              </a:rPr>
              <a:t> is diptote → </a:t>
            </a:r>
            <a:pPr algn="l" indent="0" marL="0">
              <a:buNone/>
            </a:pPr>
            <a:r>
              <a:rPr lang="ar-SA" altLang="en-US" sz="1350" dirty="0">
                <a:solidFill>
                  <a:srgbClr val="5A6472"/>
                </a:solidFill>
                <a:latin typeface="Amiri" pitchFamily="2" charset="-78"/>
                <a:ea typeface="Amiri" pitchFamily="2" charset="-78"/>
                <a:cs typeface="Amiri" pitchFamily="2" charset="-78"/>
              </a:rPr>
              <a:t>حَلَبَ</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أُمِّي سُورِيَّةٌ مِنْ حَلَبَ.</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Did you attend? — Yes, I attended.</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Mirror the tense: </a:t>
            </a:r>
            <a:pPr algn="l" indent="0" marL="0">
              <a:buNone/>
            </a:pPr>
            <a:r>
              <a:rPr lang="ar-SA" altLang="en-US" sz="1350" dirty="0">
                <a:solidFill>
                  <a:srgbClr val="5A6472"/>
                </a:solidFill>
                <a:latin typeface="Amiri" pitchFamily="2" charset="-78"/>
                <a:ea typeface="Amiri" pitchFamily="2" charset="-78"/>
                <a:cs typeface="Amiri" pitchFamily="2" charset="-78"/>
              </a:rPr>
              <a:t>حَضَرْتَ</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حَضَرْتُ</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هَلْ حَضَرْتَ؟ — نَعَمْ، حَضَرْتُ.</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D6-W06 · Apply workshop (D6-L11 + D6-L12)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هَلْ زُرْتَ مِصْرَ؟ — نَعَمْ، أَزُورُ مِصْرَ.</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Mirror the tense.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أُخْتِي مَغْرِبِيٌّ، وَهِيَ مِنْ مَرَّاكُشٍ.</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errors.</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أَعْتَزُّ لُغَتِي.</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Verb + preposition.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D6-W06 · Apply workshop (D6-L11 + D6-L12)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هَلْ زُرْتَ مِصْرَ؟ — نَعَمْ، أَزُورُ مِصْرَ.</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نَعَمْ، زُرْتُ مِصْرَ.</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Past question → past answer.</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أُخْتِي مَغْرِبِيٌّ، وَهِيَ مِنْ مَرَّاكُشٍ.</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أُخْتِي مَغْرِبِيَّةٌ، وَهِيَ مِنْ مَرَّاكُشَ.</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 nisba; diptote city → ‏</a:t>
            </a:r>
            <a:pPr algn="l" indent="0" marL="0">
              <a:buNone/>
            </a:pPr>
            <a:r>
              <a:rPr lang="ar-SA" altLang="en-US" sz="1500" b="1" dirty="0">
                <a:solidFill>
                  <a:srgbClr val="1B3B6F"/>
                </a:solidFill>
                <a:latin typeface="Amiri" pitchFamily="2" charset="-78"/>
                <a:ea typeface="Amiri" pitchFamily="2" charset="-78"/>
                <a:cs typeface="Amiri" pitchFamily="2" charset="-78"/>
              </a:rPr>
              <a:t>مَرَّاكُشَ</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أَعْتَزُّ لُغَتِي.</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أَعْتَزُّ بِلُغَتِي.</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rtl="1" algn="r" indent="0" marL="0">
              <a:buNone/>
            </a:pPr>
            <a:r>
              <a:rPr lang="ar-SA" altLang="en-US" sz="1450" dirty="0">
                <a:solidFill>
                  <a:srgbClr val="1B3B6F"/>
                </a:solidFill>
                <a:latin typeface="Amiri" pitchFamily="2" charset="-78"/>
                <a:ea typeface="Amiri" pitchFamily="2" charset="-78"/>
                <a:cs typeface="Amiri" pitchFamily="2" charset="-78"/>
              </a:rPr>
              <a:t>أَعْتَزُّ بِ…</a:t>
            </a:r>
            <a:endParaRPr lang="ar-SA" sz="14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D6-W06 · Apply workshop (D6-L11 + D6-L12)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فِي بَعْضِ العَائِلَاتِ ______ ، وَلٰكِنْ لَيْسَ دَائِمًا.</a:t>
            </a:r>
            <a:endParaRPr lang="ar-SA" sz="16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some families …, but not always.</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يُمْكِنُ إِنْكَارُ 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cannot be denied that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أَبِي ______ ، وَأُمِّي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My father is …, and my mother is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كُنَّا نَحْتَفِلُ بِ ______ فِي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We used to celebrate … in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 الآنَ فَ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But now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نَتَمَسَّكُ بِ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We hold on to …</a:t>
            </a:r>
            <a:endParaRPr lang="en-US" sz="1050" dirty="0"/>
          </a:p>
        </p:txBody>
      </p:sp>
      <p:sp>
        <p:nvSpPr>
          <p:cNvPr id="33" name="Text 30"/>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أَعْتَزُّ بِ ______ ، وَلَنْ أَتَخَلَّى عَنْ ______ .</a:t>
            </a:r>
            <a:endParaRPr lang="ar-SA" sz="1800" dirty="0"/>
          </a:p>
        </p:txBody>
      </p:sp>
      <p:sp>
        <p:nvSpPr>
          <p:cNvPr id="34" name="Text 31"/>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 am proud of …, and I will not give up …</a:t>
            </a:r>
            <a:endParaRPr lang="en-US" sz="1050" dirty="0"/>
          </a:p>
        </p:txBody>
      </p:sp>
      <p:sp>
        <p:nvSpPr>
          <p:cNvPr id="35" name="Shape 32"/>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7" name="Text 34"/>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مِصْرِيٌّ · سُورِيَّةٌ  ·  كُنَّا نَحْتَفِلُ  ·  أَمَّا الآنَ فَ…  ·  نَتَمَسَّكُ بِ… · نَحْتَفِلُ بِ…  ·  أَنْتَمِي إِلَى · أَعْتَزُّ بِ…  ·  فِي بَعْضِ العَائِلَاتِ  ·  لَيْسَ دَائِمًا · غَالِبًا  ·  لَنْ أَتَخَلَّى عَنْ</a:t>
            </a:r>
            <a:endParaRPr lang="ar-SA" sz="16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D6-W06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60–85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Exam-style article: culture and identity</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الثَّقَافَةُ وَالهُوِيَّةُ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D6-W06 · Apply workshop (D6-L11 + D6-L12)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an article (about 60–85 words) for an online youth magazine. Answer ALL four bullets: • where your family is from (nationalities) • a celebration — how it used to be and how it is now • a custom you hold on to, described fairly • what Arabic and your culture mean to you, and one future promise. Use at least two verb + preposition units and two hedges.</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D6-L11 AND D6-L12.</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أَبِي مِصْرِيٌّ وَأُمِّي سُورِيَّةٌ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father is Egyptian and my mother Syrian</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كُنَّا نَحْتَفِلُ … أَمَّا الآنَ فَ…</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used to celebrate … but now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نَتَمَسَّكُ بِ… · فِي بَعْضِ العَائِلَاتِ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hold on to … · in some families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أَعْتَزُّ بِ… · لَنْ أَتَخَلَّى عَنْ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proud of … · I will not give up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D6-W06 · Apply workshop (D6-L11 + D6-L12)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mirror the tense of every question and give a reason?</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verb + preposition units, a passive and a fair hedge?</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D6-W06 · Apply workshop (D6-L11 + D6-L12)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أَبِي عِرَاقِيٌّ، وَأُمِّي فِلَسْطِينِيَّةٌ، وَأَنَا بِرِيطَانِيٌّ أَيْضًا.</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father is Iraqi, my mother is Palestinian, and I am British too.</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أَيْنَ عَائِلَتُكَ؟ وَمَا جِنْسِيَّاتُهُمْ؟</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كُنَّا نَحْتَفِلُ فِي بَغْدَادَ مَعَ جَدَّتِي، أَمَّا الآنَ فَنَحْتَفِلُ فِي لَنْدَنَ مَعَ الجَالِيَةِ.</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used to celebrate in Baghdad with my grandmother, but now we celebrate in London with the community.</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كَانَ العِيدُ فِي طُفُولَتِكَ؟ وَكَيْفَ هُوَ الآنَ؟</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نَتَمَسَّكُ بِزِيَارَةِ الكِبَارِ فِي العِيدِ؛ هٰذِهِ عَادَةٌ مُهِمَّةٌ فِي كَثِيرٍ مِنَ العَائِلَاتِ، وَلَيْسَتْ فِي كُلِّهَا.</a:t>
            </a:r>
            <a:endParaRPr lang="ar-SA" sz="17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hold on to visiting the elderly at Eid; this is an important custom in many families, though not in all.</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العَادَةُ الَّتِي تَتَمَسَّكُ بِهَا عَائِلَتُكَ؟</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أَنْتَمِي إِلَى الثَّقَافَتَيْنِ، لِأَنِّي وُلِدْتُ هُنَا، وَعَائِلَتِي تَحْتَفِظُ بِلُغَتِهَا وَعَادَاتِهَا.</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belong to both cultures, because I was born here, and my family keeps its language and customs.</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إِلَى أَيِّ ثَقَافَةٍ تَنْتَمِي؟ لِمَاذَا؟</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أَعْتَزُّ بِهَا؛ لَا يُمْكِنُ إِنْكَارُ أَنَّهَا جُزْءٌ مِنْ هُوِيَّتِي، وَلَنْ أَتَخَلَّى عَنْهَا.</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proud of it; it cannot be denied that it is part of my identity, and I will not give it up.</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تَعْنِي لَكَ العَرَبِيَّةُ؟</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D6-W06 · Apply workshop (D6-L11 + D6-L12)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أَبِي عِرَاقِيٌّ، وَأُمِّي فِلَسْطِينِيَّةٌ، وَأَنَا وُلِدْتُ فِي لَنْدَنَ. فِي طُفُولَتِي كُنَّا نَحْتَفِلُ بِالعِيدِ فِي بَيْتِ جَدَّتِي، أَمَّا الآنَ فَنَحْتَفِلُ بِهِ فِي المَسْجِدِ مَعَ الجَالِيَةِ. نَتَمَسَّكُ بِزِيَارَةِ الكِبَارِ فِي العِيدِ؛ هٰذِهِ عَادَةٌ مُهِمَّةٌ فِي كَثِيرٍ مِنَ العَائِلَاتِ، وَلٰكِنْ لَيْسَ فِي كُلِّهَا. أَنْتَمِي إِلَى ثَقَافَتَيْنِ، وَأَعْتَزُّ بِاللُّغَةِ العَرَبِيَّةِ؛ لَا يُمْكِنُ إِنْكَارُ أَنَّهَا جُزْءٌ مِنْ هُوِيَّتِي. لَنْ أَتَخَلَّى عَنْهَا أَبَدًا، وَسَأُعَلِّمُهَا لِأَوْلَادِي.</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father is Iraqi, my mother is Palestinian, and I was born in London. In my childhood we used to celebrate Eid at my grandmother’s house, but now we celebrate it at the mosque with the community. We hold on to visiting the elderly at Eid; this is an important custom in many families, but not in all of them. I belong to two cultures, and I am proud of the Arabic language; it cannot be denied that it is part of my identity. I will never give it up, and I will teach it to my children.”</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كُنَّا نَحْتَفِلُ</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أَمَّا الآنَ فَنَحْتَفِلُ</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نَتَمَسَّكُ بِزِيَارَةِ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لَنْ أَتَخَلَّى عَنْهَا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D6-W06 · Apply workshop (D6-L11 + D6-L12)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D6-L11 and D6-L12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D6-W06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50" b="1" dirty="0">
                <a:solidFill>
                  <a:srgbClr val="FFFFFF"/>
                </a:solidFill>
                <a:latin typeface="Cambria" pitchFamily="34" charset="0"/>
                <a:cs typeface="Amiri" pitchFamily="2" charset="-78"/>
              </a:rPr>
              <a:t>D6 complete · Well done — the unit is complete</a:t>
            </a:r>
            <a:endParaRPr lang="en-US" sz="21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أَحْسَنْتُمْ</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unit’s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D6-W06 · Apply Workshop — Culture and Identity: The Final Conversation</dc:title>
  <dc:subject>PptxGenJS Presentation</dc:subject>
  <dc:creator>Al Madina Online School · Arabic Department</dc:creator>
  <cp:lastModifiedBy>Al Madina Online School · Arabic Department</cp:lastModifiedBy>
  <cp:revision>1</cp:revision>
  <dcterms:created xsi:type="dcterms:W3CDTF">2026-10-26T15:48:20Z</dcterms:created>
  <dcterms:modified xsi:type="dcterms:W3CDTF">2026-10-26T15:48:20Z</dcterms:modified>
</cp:coreProperties>
</file>