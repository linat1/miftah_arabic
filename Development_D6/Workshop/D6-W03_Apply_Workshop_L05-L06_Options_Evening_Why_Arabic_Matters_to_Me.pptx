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D6-L05 · Learn D6-L06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D6-L05 (Comparing Countries — Global Connections and the Arab Diaspora) and D6-L06 (Arabic Around the World — The Language’s Global Reach).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D6-L05 and D6-L06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D6-L05? After D6-L06?” Take two answers in the chat for each lesson (one word or one sentence is enough). Then read objective 3 — today’s new situation that needs BOTH lessons. Students tick their route goals at the end of the lesson.
D6-L05 language: belonging verbs with their prepositions: antamī ilā · atakayyafu maʿa · aḥtafiẓu bi- · uwāzinu bayna … wa- …; comparing two cities with ONE comparative at a time (akbaru min · akthar hudūʾan min); feelings (ḥanīn · iʿtizāz); identity words (huwiyya muzdawaja · al-jīl al-thānī · jāliya)
D6-L06 language: status: tuʿaddu min akthari al-lughāti intishāran · iḥdā lughāti al-umami al-muttaḥida; numbers: yablughu ʿadadu al-mutaḥaddithīna … · malāyīn; words Arabic gave the world (al-jabr · sukkar · ṣifr · qahwa); what it does for me (taftaḥu lī abwāban · tarbuṭunī bi- …); a supported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D6-L05.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D6-L06.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D6-L05 and D6-L06. Teacher reads it once with a confident student; then pairs. Ask: “Which lines are from D6-L05? Which from D6-L06?” Belonging verbs with prepositions (أَنْتَمِي إِلَى · أَحْتَفِظُ بِ…) come from D6-L05; status language (تُعَدُّ مِنْ … · إِحْدَى …) and loanwords from D6-L06.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belonging, keeping, adapting and balancing two cultures (D6-L05) with the status, reach and gifts of Arabic (D6-L06). FADED SUPPORT: tasks 1–2 show the plan; students write their own plan for 3–5. To a girl Partner A says: لِمَاذَا اخْتَرْتِ العَرَبِيَّةَ؟ · هَلْ مِنَ الصَّعْبِ أَنْ تُوَازِنِي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D6-L05 and D6-L06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D6-L05 and D6-L06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and one phrase from D6-L05 and one from D6-L06.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D6-L05 + D6-L06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D6-W03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Options Evening: Why Arabic Matters to Me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لِمَاذَا العَرَبِيَّةُ مُهِمَّةٌ لِي؟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join belonging with the global reach of Arabic: at the options evening they speak personally about belonging to two places (</a:t>
            </a:r>
            <a:pPr algn="l" indent="0" marL="0">
              <a:buNone/>
            </a:pPr>
            <a:r>
              <a:rPr lang="ar-SA" altLang="en-US" sz="1500" dirty="0">
                <a:solidFill>
                  <a:srgbClr val="C6D2E6"/>
                </a:solidFill>
                <a:latin typeface="Amiri" pitchFamily="2" charset="-78"/>
                <a:ea typeface="Amiri" pitchFamily="2" charset="-78"/>
                <a:cs typeface="Amiri" pitchFamily="2" charset="-78"/>
              </a:rPr>
              <a:t>أَنْتَمِي إِلَى</a:t>
            </a:r>
            <a:pPr algn="l" indent="0" marL="0">
              <a:buNone/>
            </a:pPr>
            <a:r>
              <a:rPr lang="en-US" sz="1150" dirty="0">
                <a:solidFill>
                  <a:srgbClr val="C6D2E6"/>
                </a:solidFill>
                <a:latin typeface="Calibri" pitchFamily="34" charset="0"/>
                <a:cs typeface="Amiri" pitchFamily="2" charset="-78"/>
              </a:rPr>
              <a:t> · </a:t>
            </a:r>
            <a:pPr algn="l" indent="0" marL="0">
              <a:buNone/>
            </a:pPr>
            <a:r>
              <a:rPr lang="ar-SA" altLang="en-US" sz="1500" dirty="0">
                <a:solidFill>
                  <a:srgbClr val="C6D2E6"/>
                </a:solidFill>
                <a:latin typeface="Amiri" pitchFamily="2" charset="-78"/>
                <a:ea typeface="Amiri" pitchFamily="2" charset="-78"/>
                <a:cs typeface="Amiri" pitchFamily="2" charset="-78"/>
              </a:rPr>
              <a:t>أَحْتَفِظُ بِ</a:t>
            </a:r>
            <a:pPr algn="l" indent="0" marL="0">
              <a:buNone/>
            </a:pPr>
            <a:r>
              <a:rPr lang="en-US" sz="1150" dirty="0">
                <a:solidFill>
                  <a:srgbClr val="C6D2E6"/>
                </a:solidFill>
                <a:latin typeface="Calibri" pitchFamily="34" charset="0"/>
                <a:cs typeface="Amiri" pitchFamily="2" charset="-78"/>
              </a:rPr>
              <a:t>… · </a:t>
            </a:r>
            <a:pPr algn="l" indent="0" marL="0">
              <a:buNone/>
            </a:pPr>
            <a:r>
              <a:rPr lang="ar-SA" altLang="en-US" sz="1500" dirty="0">
                <a:solidFill>
                  <a:srgbClr val="C6D2E6"/>
                </a:solidFill>
                <a:latin typeface="Amiri" pitchFamily="2" charset="-78"/>
                <a:ea typeface="Amiri" pitchFamily="2" charset="-78"/>
                <a:cs typeface="Amiri" pitchFamily="2" charset="-78"/>
              </a:rPr>
              <a:t>أُوَازِنُ بَيْنَ</a:t>
            </a:r>
            <a:pPr algn="l" indent="0" marL="0">
              <a:buNone/>
            </a:pPr>
            <a:r>
              <a:rPr lang="en-US" sz="1150" dirty="0">
                <a:solidFill>
                  <a:srgbClr val="C6D2E6"/>
                </a:solidFill>
                <a:latin typeface="Calibri" pitchFamily="34" charset="0"/>
                <a:cs typeface="Amiri" pitchFamily="2" charset="-78"/>
              </a:rPr>
              <a:t> …), then make the case for Arabic with its status, a figure and words English took from it, and write a persuasive leaflet paragraph that joins both.</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D6-L05 + D6-L06</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D6-L05 and D6-L06.</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D6-L05 + D6-L06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D6-L05: Comparing Countries — Global Connections and the Arab Diaspora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D6-L06: Arabic Around the World — The Language’s Global Reach</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a parent at options evening · A leaflet paragraph: Choose Arabic!</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D6-L05 and D6-L06.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D6-L05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D6-L05 · Comparing Countries — Global Connections and the Arab Diaspora</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جَالِيَةٌ عَرَبِيَّةٌ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Arab community abroad</a:t>
            </a:r>
            <a:endParaRPr lang="en-US" sz="1350" dirty="0"/>
          </a:p>
          <a:p>
            <a:pPr indent="0" marL="0">
              <a:buNone/>
            </a:pPr>
            <a:r>
              <a:rPr lang="en-US" sz="1100" i="1" dirty="0">
                <a:solidFill>
                  <a:srgbClr val="5A6472"/>
                </a:solidFill>
                <a:latin typeface="Calibri" pitchFamily="34" charset="0"/>
                <a:cs typeface="Amiri" pitchFamily="2" charset="-78"/>
              </a:rPr>
              <a:t>jā-li-ya-tun ʿa-ra-biy-ya-tun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جَالِيَاتٌ عَرَبِيَّةٌ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لَاجِئٌ / لَاجِئَةٌ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refugee (m. / f.)</a:t>
            </a:r>
            <a:endParaRPr lang="en-US" sz="1350" dirty="0"/>
          </a:p>
          <a:p>
            <a:pPr indent="0" marL="0">
              <a:buNone/>
            </a:pPr>
            <a:r>
              <a:rPr lang="en-US" sz="1100" i="1" dirty="0">
                <a:solidFill>
                  <a:srgbClr val="5A6472"/>
                </a:solidFill>
                <a:latin typeface="Calibri" pitchFamily="34" charset="0"/>
                <a:cs typeface="Amiri" pitchFamily="2" charset="-78"/>
              </a:rPr>
              <a:t>lā-ji-ʾun / lā-ji-ʾa-tun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لَاجِئُونَ</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الانْتِمَاءُ</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belonging</a:t>
            </a:r>
            <a:endParaRPr lang="en-US" sz="1350" dirty="0"/>
          </a:p>
          <a:p>
            <a:pPr indent="0" marL="0">
              <a:buNone/>
            </a:pPr>
            <a:r>
              <a:rPr lang="en-US" sz="1100" i="1" dirty="0">
                <a:solidFill>
                  <a:srgbClr val="5A6472"/>
                </a:solidFill>
                <a:latin typeface="Calibri" pitchFamily="34" charset="0"/>
                <a:cs typeface="Amiri" pitchFamily="2" charset="-78"/>
              </a:rPr>
              <a:t>aln-ti-mā-ʾu</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حَنِينٌ</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nostalgia, longing</a:t>
            </a:r>
            <a:endParaRPr lang="en-US" sz="1350" dirty="0"/>
          </a:p>
          <a:p>
            <a:pPr indent="0" marL="0">
              <a:buNone/>
            </a:pPr>
            <a:r>
              <a:rPr lang="en-US" sz="1100" i="1" dirty="0">
                <a:solidFill>
                  <a:srgbClr val="5A6472"/>
                </a:solidFill>
                <a:latin typeface="Calibri" pitchFamily="34" charset="0"/>
                <a:cs typeface="Amiri" pitchFamily="2" charset="-78"/>
              </a:rPr>
              <a:t>ḥa-nī-nun</a:t>
            </a:r>
            <a:endParaRPr lang="en-US" sz="1350" dirty="0"/>
          </a:p>
        </p:txBody>
      </p:sp>
      <p:sp>
        <p:nvSpPr>
          <p:cNvPr id="55" name="Text 52"/>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Masculine; ‏</a:t>
            </a:r>
            <a:pPr algn="l" indent="0" marL="0">
              <a:buNone/>
            </a:pPr>
            <a:r>
              <a:rPr lang="ar-SA" altLang="en-US" sz="1300" dirty="0">
                <a:solidFill>
                  <a:srgbClr val="8A6D1E"/>
                </a:solidFill>
                <a:latin typeface="Amiri" pitchFamily="2" charset="-78"/>
                <a:ea typeface="Amiri" pitchFamily="2" charset="-78"/>
                <a:cs typeface="Amiri" pitchFamily="2" charset="-78"/>
              </a:rPr>
              <a:t>حَنِينٌ إِلَى الوَطَنِ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56" name="Shape 5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4389120"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9" name="Shape 56"/>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يَتَكَيَّفُ مَعَ</a:t>
            </a:r>
            <a:endParaRPr lang="ar-SA" sz="3000" dirty="0"/>
          </a:p>
        </p:txBody>
      </p:sp>
      <p:sp>
        <p:nvSpPr>
          <p:cNvPr id="64" name="Text 6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adapts to</a:t>
            </a:r>
            <a:endParaRPr lang="en-US" sz="1350" dirty="0"/>
          </a:p>
          <a:p>
            <a:pPr indent="0" marL="0">
              <a:buNone/>
            </a:pPr>
            <a:r>
              <a:rPr lang="en-US" sz="1100" i="1" dirty="0">
                <a:solidFill>
                  <a:srgbClr val="5A6472"/>
                </a:solidFill>
                <a:latin typeface="Calibri" pitchFamily="34" charset="0"/>
                <a:cs typeface="Amiri" pitchFamily="2" charset="-78"/>
              </a:rPr>
              <a:t>ya-ta-kay-ya-fu ma-ʿa</a:t>
            </a:r>
            <a:endParaRPr lang="en-US" sz="1350" dirty="0"/>
          </a:p>
        </p:txBody>
      </p:sp>
      <p:sp>
        <p:nvSpPr>
          <p:cNvPr id="65" name="Shape 62"/>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67" name="Text 64"/>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تَكَيَّفَ</a:t>
            </a:r>
            <a:endParaRPr lang="ar-SA" sz="1350" dirty="0"/>
          </a:p>
        </p:txBody>
      </p:sp>
      <p:sp>
        <p:nvSpPr>
          <p:cNvPr id="68" name="Shape 65"/>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0" name="Text 67"/>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أَتَكَيَّفُ</a:t>
            </a:r>
            <a:endParaRPr lang="ar-SA" sz="1500" dirty="0"/>
          </a:p>
        </p:txBody>
      </p:sp>
      <p:sp>
        <p:nvSpPr>
          <p:cNvPr id="71" name="Shape 6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566928"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4" name="Shape 71"/>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76" name="Shape 7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يُوَازِنُ بَيْنَ</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balances between</a:t>
            </a:r>
            <a:endParaRPr lang="en-US" sz="1350" dirty="0"/>
          </a:p>
          <a:p>
            <a:pPr indent="0" marL="0">
              <a:buNone/>
            </a:pPr>
            <a:r>
              <a:rPr lang="en-US" sz="1100" i="1" dirty="0">
                <a:solidFill>
                  <a:srgbClr val="5A6472"/>
                </a:solidFill>
                <a:latin typeface="Calibri" pitchFamily="34" charset="0"/>
                <a:cs typeface="Amiri" pitchFamily="2" charset="-78"/>
              </a:rPr>
              <a:t>yu-wā-zi-nu bay-na</a:t>
            </a:r>
            <a:endParaRPr lang="en-US" sz="1350" dirty="0"/>
          </a:p>
        </p:txBody>
      </p:sp>
      <p:sp>
        <p:nvSpPr>
          <p:cNvPr id="80" name="Shape 77"/>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82" name="Text 79"/>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وَازَنَ</a:t>
            </a:r>
            <a:endParaRPr lang="ar-SA" sz="1350" dirty="0"/>
          </a:p>
        </p:txBody>
      </p:sp>
      <p:sp>
        <p:nvSpPr>
          <p:cNvPr id="83" name="Shape 80"/>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5" name="Text 82"/>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أُوَازِنُ</a:t>
            </a:r>
            <a:endParaRPr lang="ar-SA" sz="15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D6-L06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D6-L06 · Arabic Around the World — The Language’s Global Reach</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 رَسْمِيَّةٌ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official language</a:t>
            </a:r>
            <a:endParaRPr lang="en-US" sz="1350" dirty="0"/>
          </a:p>
          <a:p>
            <a:pPr indent="0" marL="0">
              <a:buNone/>
            </a:pPr>
            <a:r>
              <a:rPr lang="en-US" sz="1100" i="1" dirty="0">
                <a:solidFill>
                  <a:srgbClr val="5A6472"/>
                </a:solidFill>
                <a:latin typeface="Calibri" pitchFamily="34" charset="0"/>
                <a:cs typeface="Amiri" pitchFamily="2" charset="-78"/>
              </a:rPr>
              <a:t>lu-gha-tun ras-miy-ya-tun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مُتَحَدِّثٌ / مُتَحَدِّثُونَ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speaker / speakers</a:t>
            </a:r>
            <a:endParaRPr lang="en-US" sz="1350" dirty="0"/>
          </a:p>
          <a:p>
            <a:pPr indent="0" marL="0">
              <a:buNone/>
            </a:pPr>
            <a:r>
              <a:rPr lang="en-US" sz="1100" i="1" dirty="0">
                <a:solidFill>
                  <a:srgbClr val="5A6472"/>
                </a:solidFill>
                <a:latin typeface="Calibri" pitchFamily="34" charset="0"/>
                <a:cs typeface="Amiri" pitchFamily="2" charset="-78"/>
              </a:rPr>
              <a:t>mu-ta-ḥad-di-thun / mu-ta-ḥad-di-thū-na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يَبْلُغُ</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reaches (a figure)</a:t>
            </a:r>
            <a:endParaRPr lang="en-US" sz="1350" dirty="0"/>
          </a:p>
          <a:p>
            <a:pPr indent="0" marL="0">
              <a:buNone/>
            </a:pPr>
            <a:r>
              <a:rPr lang="en-US" sz="1100" i="1" dirty="0">
                <a:solidFill>
                  <a:srgbClr val="5A6472"/>
                </a:solidFill>
                <a:latin typeface="Calibri" pitchFamily="34" charset="0"/>
                <a:cs typeface="Amiri" pitchFamily="2" charset="-78"/>
              </a:rPr>
              <a:t>yab-lu-ghu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 القُرْآنِ الكَرِيمِ</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language of the Qur'an</a:t>
            </a:r>
            <a:endParaRPr lang="en-US" sz="1350" dirty="0"/>
          </a:p>
          <a:p>
            <a:pPr indent="0" marL="0">
              <a:buNone/>
            </a:pPr>
            <a:r>
              <a:rPr lang="en-US" sz="1100" i="1" dirty="0">
                <a:solidFill>
                  <a:srgbClr val="5A6472"/>
                </a:solidFill>
                <a:latin typeface="Calibri" pitchFamily="34" charset="0"/>
                <a:cs typeface="Amiri" pitchFamily="2" charset="-78"/>
              </a:rPr>
              <a:t>lu-gha-tu al-qur-ʾā-ni al-ka-rī-mi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سُكَّرٌ</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sugar</a:t>
            </a:r>
            <a:endParaRPr lang="en-US" sz="1350" dirty="0"/>
          </a:p>
          <a:p>
            <a:pPr indent="0" marL="0">
              <a:buNone/>
            </a:pPr>
            <a:r>
              <a:rPr lang="en-US" sz="1100" i="1" dirty="0">
                <a:solidFill>
                  <a:srgbClr val="5A6472"/>
                </a:solidFill>
                <a:latin typeface="Calibri" pitchFamily="34" charset="0"/>
                <a:cs typeface="Amiri" pitchFamily="2" charset="-78"/>
              </a:rPr>
              <a:t>suk-ka-run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يُثْرِي</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enriches</a:t>
            </a:r>
            <a:endParaRPr lang="en-US" sz="1350" dirty="0"/>
          </a:p>
          <a:p>
            <a:pPr indent="0" marL="0">
              <a:buNone/>
            </a:pPr>
            <a:r>
              <a:rPr lang="en-US" sz="1100" i="1" dirty="0">
                <a:solidFill>
                  <a:srgbClr val="5A6472"/>
                </a:solidFill>
                <a:latin typeface="Calibri" pitchFamily="34" charset="0"/>
                <a:cs typeface="Amiri" pitchFamily="2" charset="-78"/>
              </a:rPr>
              <a:t>yuth-rī</a:t>
            </a:r>
            <a:endParaRPr lang="en-US" sz="1350" dirty="0"/>
          </a:p>
        </p:txBody>
      </p:sp>
      <p:sp>
        <p:nvSpPr>
          <p:cNvPr id="57" name="Text 54"/>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IV; takes a direct object.</a:t>
            </a:r>
            <a:endParaRPr lang="en-US" sz="10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أَنْتَمِي إِلَى … وَ…</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تُعَدُّ العَرَبِيَّةُ مِنْ أَكْثَرِ اللُّغَاتِ انْتِشَارًا</a:t>
            </a:r>
            <a:endParaRPr lang="ar-SA" sz="145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يَبْلُغُ عَدَدُ المُتَحَدِّثِينَ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أَحْتَفِظُ 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تَكَيَّفَ / تَكَيَّفَتْ عَائِلَتِي مَعَ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أَخَذَتِ الإِنْجِلِيزِيَّةُ كَلِمَاتٍ مِثْلَ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تَفْتَحُ لَكَ أَبْوَابًا فِي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أُوَازِنُ بَيْنَ … وَ…</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D6-L05 · Comparing Countries — Global Connections and the Arab Diaspora</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D6-L06 · Arabic Around the World — The Language’s Global Reach</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D6-L05 · Comparing Countries — Global Connections and the Arab Diaspora</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أَنْتَمِي إِلَى … وَ…</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أَحْتَفِظُ بِ…</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تَكَيَّفَ / تَكَيَّفَتْ عَائِلَتِي مَعَ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أُوَازِنُ بَيْنَ … وَ…</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D6-L06 · Arabic Around the World — The Language’s Global Reach</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تُعَدُّ العَرَبِيَّةُ مِنْ أَكْثَرِ اللُّغَاتِ انْتِشَارًا</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يَبْلُغُ عَدَدُ المُتَحَدِّثِينَ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أَخَذَتِ الإِنْجِلِيزِيَّةُ كَلِمَاتٍ مِثْلَ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تَفْتَحُ لَكَ أَبْوَابًا فِي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Arabic 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عِنْدَ طَاوِلَةِ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study Arabic?</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لِمَاذَا تَدْرُسُ العَرَبِيَّةَ؟</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 belong to two cultures, British and Yemeni, and I want to keep my grandfather’s language.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لِأَنِّي أَنْتَمِي إِلَى ثَقَافَتَيْنِ: البِرِيطَانِيَّةِ وَاليَمَنِيَّةِ، وَأُرِيدُ أَنْ أَحْتَفِظَ بِلُغَةِ جَدِّي.</a:t>
            </a:r>
            <a:endParaRPr lang="ar-SA" sz="175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is Arabic useful in the world?</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وَهَلِ العَرَبِيَّةُ مُفِيدَةٌ فِي العَالَمِ؟</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Of course! It is one of the most widespread languages, and it is one of the languages of the United Nations.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طَبْعًا! تُعَدُّ مِنْ أَكْثَرِ اللُّغَاتِ انْتِشَارًا، وَهِيَ إِحْدَى لُغَاتِ الأُمَمِ المُتَّحِدَةِ.</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did English take words from it?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وَهَلْ أَخَذَتِ الإِنْجِلِيزِيَّةُ كَلِمَاتٍ مِنْهَا؟</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like “sugar”, “coffee” and “algebra”. Arabic opens many doors for you.</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نَعَمْ، مِثْلَ «سُكَّر» وَ«قَهْوَة» وَ«الجَبْر». تَفْتَحُ العَرَبِيَّةُ لَكَ أَبْوَابًا كَثِيرَةً.</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أَنْتَمِي إِلَى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belong?</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إِلَى أَيِّ مَكَانٍ تَنْتَمِي؟</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إِحْدَى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لِأَنَّهَا تُعَدُّ مِنْ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is Arabic considered important?</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تُعَدُّ العَرَبِيَّةُ لُغَةً مُهِمَّةً؟</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أَحْتَفِظُ بِ…</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keep from your family’s culture?</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تَحْتَفِظُ مِنْ ثَقَافَةِ عَائِلَتِكَ؟</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56648" y="4110228"/>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هِيَ لُغَةٌ رَسْمِيَّةٌ فِي أَكْثَرَ مِنْ عِشْرِينَ بَلَدًا</a:t>
            </a:r>
            <a:endParaRPr lang="ar-SA" sz="145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how many countries is Arabic official?</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بَلَدًا تَكُونُ العَرَبِيَّةُ فِيهِ لُغَةً رَسْمِيَّةً؟</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56648" y="4724400"/>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أُوَازِنُ بَيْنَ … وَ … عِنْدَمَا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balance two cultures?</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تُوَازِنُ بَيْنَ ثَقَافَتَيْنِ؟</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وَهٰذَا يَدُلُّ عَلَى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«الجَبْرُ» وَ… وَ…</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three English words of Arabic origin.</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اذْكُرْ ثَلَاثَ كَلِمَاتٍ إِنْجِلِيزِيَّةٍ عَرَبِيَّةِ الأَصْلِ.</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D6-L05, even numbers from D6-L06.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Role-play card — a parent at options evening</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وَلِيُّ أَمْرٍ فِي أُمْسِيَةِ الخِيَارَاتِ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أَنْتَمِي إِلَى … · أَحْتَفِظُ بِ…</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personal reason with a belonging verb.</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اخْتَرْتَ العَرَبِيَّةَ؟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تُعَدُّ مِنْ … · إِحْدَى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Status with ‏</a:t>
            </a:r>
            <a:pPr algn="l" indent="0" marL="0">
              <a:buNone/>
            </a:pPr>
            <a:r>
              <a:rPr lang="ar-SA" altLang="en-US" sz="1450" dirty="0">
                <a:solidFill>
                  <a:srgbClr val="5A6472"/>
                </a:solidFill>
                <a:latin typeface="Amiri" pitchFamily="2" charset="-78"/>
                <a:ea typeface="Amiri" pitchFamily="2" charset="-78"/>
                <a:cs typeface="Amiri" pitchFamily="2" charset="-78"/>
              </a:rPr>
              <a:t>تُعَدُّ / إِحْدَى</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هِيَ لُغَةٌ مُهِمَّةٌ فِعْلًا؟</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figure with ‏</a:t>
            </a:r>
            <a:pPr algn="l" indent="0" marL="0">
              <a:buNone/>
            </a:pPr>
            <a:r>
              <a:rPr lang="ar-SA" altLang="en-US" sz="1450" dirty="0">
                <a:solidFill>
                  <a:srgbClr val="5A6472"/>
                </a:solidFill>
                <a:latin typeface="Amiri" pitchFamily="2" charset="-78"/>
                <a:ea typeface="Amiri" pitchFamily="2" charset="-78"/>
                <a:cs typeface="Amiri" pitchFamily="2" charset="-78"/>
              </a:rPr>
              <a:t>يَبْلُغُ</a:t>
            </a:r>
            <a:pPr algn="l" indent="0" marL="0">
              <a:buNone/>
            </a:pPr>
            <a:r>
              <a:rPr lang="en-US" sz="1100" dirty="0">
                <a:solidFill>
                  <a:srgbClr val="5A6472"/>
                </a:solidFill>
                <a:latin typeface="Calibri" pitchFamily="34" charset="0"/>
                <a:cs typeface="Amiri" pitchFamily="2" charset="-78"/>
              </a:rPr>
              <a:t>‏ + a hedge.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شَخْصًا يَتَكَلَّمُهَا؟</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Balancing two cultures + adapting.</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مِنَ الصَّعْبِ أَنْ تُوَازِنَ بَيْنَ ثَقَافَتَيْنِ؟</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loanwords as evidence.</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اذْكُرْ كَلِمَتَيْنِ إِنْجِلِيزِيَّتَيْنِ مِنْ أَصْلٍ عَرَبِيٍّ.</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student ambassador for Arabic · Partner A = a parent at the Arabic table.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Choose Arabic! My one-minute pitch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a one-minute pitch at options evening: your personal connection (belonging, what you keep, how you balance two cultures), then the case for Arabic — its status, one figure, two words English took from it, and what it opens for you.</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أَنْتَمِي إِلَى … · تُعَدُّ العَرَبِيَّةُ مِنْ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أَحْتَفِظُ بِ</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يَبْلُغُ عَدَدُ</a:t>
            </a:r>
            <a:pPr algn="l" indent="0" marL="0">
              <a:buNone/>
            </a:pPr>
            <a:r>
              <a:rPr lang="en-US" sz="1150" dirty="0">
                <a:solidFill>
                  <a:srgbClr val="1F2A37"/>
                </a:solidFill>
                <a:latin typeface="Calibri" pitchFamily="34" charset="0"/>
                <a:cs typeface="Amiri" pitchFamily="2" charset="-78"/>
              </a:rPr>
              <a:t> …‏ and two loanwords.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أُوَازِنُ بَيْنَ … وَ</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تَكَيَّفْنَا مَعَ</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تَفْتَحُ لَكَ أَبْوَابًا فِي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belong to two cultures.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أَنْتَمِي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أَنْتَمِيَ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ثَقَافَتَيْنِ.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ثَقَافَتَانِ.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Arabic is counted among the most widespread languages.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تُعَدُّ العَرَبِيَّةُ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يُعَدُّ العَرَبِيَّةُ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أَكْثَرِ اللُّغَاتِ</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أَكْثَرُ اللُّغَاتِ</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انْتِشَارًا.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انْتِشَارٌ.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Cairo is more crowded than Leeds.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القَاهِرَةُ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القَاهِرَةَ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 ازْدِحَامًا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 مُزْدَحِمَةٌ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لِيدْزَ.</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لِيدْزُ.</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belong to two cultures.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أَنْتَمِي إِلَى</a:t>
            </a:r>
            <a:pPr algn="l" indent="0" marL="0">
              <a:buNone/>
            </a:pPr>
            <a:r>
              <a:rPr lang="en-US" sz="1050" i="1" dirty="0">
                <a:solidFill>
                  <a:srgbClr val="5A6472"/>
                </a:solidFill>
                <a:latin typeface="Calibri" pitchFamily="34" charset="0"/>
                <a:cs typeface="Amiri" pitchFamily="2" charset="-78"/>
              </a:rPr>
              <a:t> + genitive dual (-ayni).</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أَنْتَمِي إِلَى ثَقَافَتَيْنِ.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Arabic is counted among the most widespread languages.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 → </a:t>
            </a:r>
            <a:pPr algn="l" indent="0" marL="0">
              <a:buNone/>
            </a:pPr>
            <a:r>
              <a:rPr lang="ar-SA" altLang="en-US" sz="1350" dirty="0">
                <a:solidFill>
                  <a:srgbClr val="5A6472"/>
                </a:solidFill>
                <a:latin typeface="Amiri" pitchFamily="2" charset="-78"/>
                <a:ea typeface="Amiri" pitchFamily="2" charset="-78"/>
                <a:cs typeface="Amiri" pitchFamily="2" charset="-78"/>
              </a:rPr>
              <a:t>تُعَدُّ</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 genitive; tamyīz in -an.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تُعَدُّ العَرَبِيَّةُ مِنْ أَكْثَرِ اللُّغَاتِ انْتِشَارًا.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Cairo is more crowded than Leeds.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أَكْثَرُ</a:t>
            </a:r>
            <a:pPr algn="l" indent="0" marL="0">
              <a:buNone/>
            </a:pPr>
            <a:r>
              <a:rPr lang="en-US" sz="1050" i="1" dirty="0">
                <a:solidFill>
                  <a:srgbClr val="5A6472"/>
                </a:solidFill>
                <a:latin typeface="Calibri" pitchFamily="34" charset="0"/>
                <a:cs typeface="Amiri" pitchFamily="2" charset="-78"/>
              </a:rPr>
              <a:t> + maṣdar in -an (one comparative).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القَاهِرَةُ أَكْثَرُ ازْدِحَامًا مِنْ لِيدْزَ.</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أَنْتَمِي بِرِيطَانْيَا.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العَرَبِيَّةُ أَحَدُ لُغَاتِ الأُمَمِ المُتَّحِدَةِ.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لُغَةٌ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لَنْدَنُ أَكْبَرُ وَأَكْثَرُ أَغْلَى مِنْ دُبَيٍّ.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One comparative at a time.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أَنْتَمِي بِرِيطَانْيَا.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أَنْتَمِي إِلَى بِرِيطَانْيَا.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أَنْتَمِي إِلَى …</a:t>
            </a:r>
            <a:endParaRPr lang="ar-SA" sz="14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العَرَبِيَّةُ أَحَدُ لُغَاتِ الأُمَمِ المُتَّحِدَةِ.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العَرَبِيَّةُ إِحْدَى لُغَاتِ الأُمَمِ المُتَّحِدَةِ.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إِحْدَى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لَنْدَنُ أَكْبَرُ وَأَكْثَرُ أَغْلَى مِنْ دُبَيٍّ.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لَنْدَنُ أَكْبَرُ مِنْ دُبَيٍّ، وَهِيَ أَغْلَى أَيْضًا.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Never ‏</a:t>
            </a:r>
            <a:pPr algn="l" indent="0" marL="0">
              <a:buNone/>
            </a:pPr>
            <a:r>
              <a:rPr lang="ar-SA" altLang="en-US" sz="1500" b="1" dirty="0">
                <a:solidFill>
                  <a:srgbClr val="1B3B6F"/>
                </a:solidFill>
                <a:latin typeface="Amiri" pitchFamily="2" charset="-78"/>
                <a:ea typeface="Amiri" pitchFamily="2" charset="-78"/>
                <a:cs typeface="Amiri" pitchFamily="2" charset="-78"/>
              </a:rPr>
              <a:t>أَكْثَرُ</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أَفْعَلُ</a:t>
            </a:r>
            <a:pPr algn="l" indent="0" marL="0">
              <a:buNone/>
            </a:pPr>
            <a:r>
              <a:rPr lang="en-US" sz="1150" b="1" dirty="0">
                <a:solidFill>
                  <a:srgbClr val="1B3B6F"/>
                </a:solidFill>
                <a:latin typeface="Calibri" pitchFamily="34" charset="0"/>
                <a:cs typeface="Amiri" pitchFamily="2" charset="-78"/>
              </a:rPr>
              <a:t>‏ together.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أُوَازِنُ بَيْنَ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balance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تَفْتَحُ لَكَ أَبْوَابًا فِي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opens doors for you in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أَنْتَمِي إِلَى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belong to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أَحْتَفِظُ بِ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keep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تُعَدُّ العَرَبِيَّةُ مِنْ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Arabic is one of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يَبْلُغُ عَدَدُ المُتَحَدِّثِينَ بِهَا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number of its speakers reaches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أَخَذَتِ الإِنْجِلِيزِيَّةُ كَلِمَاتٍ مِثْلَ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English took words like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أَنْتَمِي إِلَى  ·  أَحْتَفِظُ بِ…  ·  أُوَازِنُ بَيْنَ … وَ…  ·  تَكَيَّفَ مَعَ  ·  تُعَدُّ مِنْ · إِحْدَى  ·  يَبْلُغُ عَدَدُ  ·  سُكَّرٌ · قَهْوَةٌ · صِفْرٌ  ·  تَفْتَحُ أَبْوَابًا</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A leaflet paragraph: Choose Arabic!</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persuasive paragraph (about 60–80 words) for the options-evening leaflet. Include: • your personal connection (‏</a:t>
            </a:r>
            <a:pPr algn="l" indent="0" marL="0">
              <a:buNone/>
            </a:pPr>
            <a:r>
              <a:rPr lang="ar-SA" altLang="en-US" sz="1450" b="1" dirty="0">
                <a:solidFill>
                  <a:srgbClr val="1F2A37"/>
                </a:solidFill>
                <a:latin typeface="Amiri" pitchFamily="2" charset="-78"/>
                <a:ea typeface="Amiri" pitchFamily="2" charset="-78"/>
                <a:cs typeface="Amiri" pitchFamily="2" charset="-78"/>
              </a:rPr>
              <a:t>أَنْتَمِي إِلَى</a:t>
            </a:r>
            <a:pPr algn="l" indent="0" marL="0">
              <a:buNone/>
            </a:pPr>
            <a:r>
              <a:rPr lang="en-US" sz="1100" b="1" dirty="0">
                <a:solidFill>
                  <a:srgbClr val="1F2A37"/>
                </a:solidFill>
                <a:latin typeface="Calibri" pitchFamily="34" charset="0"/>
                <a:cs typeface="Amiri" pitchFamily="2" charset="-78"/>
              </a:rPr>
              <a:t> … · </a:t>
            </a:r>
            <a:pPr algn="l" indent="0" marL="0">
              <a:buNone/>
            </a:pPr>
            <a:r>
              <a:rPr lang="ar-SA" altLang="en-US" sz="1450" b="1" dirty="0">
                <a:solidFill>
                  <a:srgbClr val="1F2A37"/>
                </a:solidFill>
                <a:latin typeface="Amiri" pitchFamily="2" charset="-78"/>
                <a:ea typeface="Amiri" pitchFamily="2" charset="-78"/>
                <a:cs typeface="Amiri" pitchFamily="2" charset="-78"/>
              </a:rPr>
              <a:t>أَحْتَفِظُ بِ</a:t>
            </a:r>
            <a:pPr algn="l" indent="0" marL="0">
              <a:buNone/>
            </a:pPr>
            <a:r>
              <a:rPr lang="en-US" sz="1100" b="1" dirty="0">
                <a:solidFill>
                  <a:srgbClr val="1F2A37"/>
                </a:solidFill>
                <a:latin typeface="Calibri" pitchFamily="34" charset="0"/>
                <a:cs typeface="Amiri" pitchFamily="2" charset="-78"/>
              </a:rPr>
              <a:t>…‏) • how you balance or adapt • the status of Arabic (‏</a:t>
            </a:r>
            <a:pPr algn="l" indent="0" marL="0">
              <a:buNone/>
            </a:pPr>
            <a:r>
              <a:rPr lang="ar-SA" altLang="en-US" sz="1450" b="1" dirty="0">
                <a:solidFill>
                  <a:srgbClr val="1F2A37"/>
                </a:solidFill>
                <a:latin typeface="Amiri" pitchFamily="2" charset="-78"/>
                <a:ea typeface="Amiri" pitchFamily="2" charset="-78"/>
                <a:cs typeface="Amiri" pitchFamily="2" charset="-78"/>
              </a:rPr>
              <a:t>تُعَدُّ مِنْ … / إِحْدَى</a:t>
            </a:r>
            <a:pPr algn="l" indent="0" marL="0">
              <a:buNone/>
            </a:pPr>
            <a:r>
              <a:rPr lang="en-US" sz="1100" b="1" dirty="0">
                <a:solidFill>
                  <a:srgbClr val="1F2A37"/>
                </a:solidFill>
                <a:latin typeface="Calibri" pitchFamily="34" charset="0"/>
                <a:cs typeface="Amiri" pitchFamily="2" charset="-78"/>
              </a:rPr>
              <a:t> …‏) • one figure (‏</a:t>
            </a:r>
            <a:pPr algn="l" indent="0" marL="0">
              <a:buNone/>
            </a:pPr>
            <a:r>
              <a:rPr lang="ar-SA" altLang="en-US" sz="1450" b="1" dirty="0">
                <a:solidFill>
                  <a:srgbClr val="1F2A37"/>
                </a:solidFill>
                <a:latin typeface="Amiri" pitchFamily="2" charset="-78"/>
                <a:ea typeface="Amiri" pitchFamily="2" charset="-78"/>
                <a:cs typeface="Amiri" pitchFamily="2" charset="-78"/>
              </a:rPr>
              <a:t>يَبْلُغُ</a:t>
            </a:r>
            <a:pPr algn="l" indent="0" marL="0">
              <a:buNone/>
            </a:pPr>
            <a:r>
              <a:rPr lang="en-US" sz="1100" b="1" dirty="0">
                <a:solidFill>
                  <a:srgbClr val="1F2A37"/>
                </a:solidFill>
                <a:latin typeface="Calibri" pitchFamily="34" charset="0"/>
                <a:cs typeface="Amiri" pitchFamily="2" charset="-78"/>
              </a:rPr>
              <a:t> …‏) • two words English took from Arabic • what Arabic opens for students.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D6-L05 AND D6-L06.</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أَنْتَمِي إِلَى … وَ…</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belong to … and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تُعَدُّ العَرَبِيَّةُ مِنْ أَكْثَرِ اللُّغَاتِ انْتِشَارًا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Arabic is one of the most widespread languages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يَبْلُغُ عَدَدُ المُتَحَدِّثِينَ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number of speakers reaches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تَفْتَحُ لَكَ أَبْوَابًا 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opens doors for you in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belonging verbs with the right prepositions?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تُعَدُّ مِنْ أَكْثَرِ</a:t>
            </a:r>
            <a:pPr algn="l" indent="0" marL="0">
              <a:buNone/>
            </a:pPr>
            <a:r>
              <a:rPr lang="en-US" sz="1100" dirty="0">
                <a:solidFill>
                  <a:srgbClr val="5A6472"/>
                </a:solidFill>
                <a:latin typeface="Calibri" pitchFamily="34" charset="0"/>
                <a:cs typeface="Amiri" pitchFamily="2" charset="-78"/>
              </a:rPr>
              <a:t> …‏ + -an, ‏</a:t>
            </a:r>
            <a:pPr algn="l" indent="0" marL="0">
              <a:buNone/>
            </a:pPr>
            <a:r>
              <a:rPr lang="ar-SA" altLang="en-US" sz="1450" dirty="0">
                <a:solidFill>
                  <a:srgbClr val="5A6472"/>
                </a:solidFill>
                <a:latin typeface="Amiri" pitchFamily="2" charset="-78"/>
                <a:ea typeface="Amiri" pitchFamily="2" charset="-78"/>
                <a:cs typeface="Amiri" pitchFamily="2" charset="-78"/>
              </a:rPr>
              <a:t>إِحْدَى</a:t>
            </a:r>
            <a:pPr algn="l" indent="0" marL="0">
              <a:buNone/>
            </a:pPr>
            <a:r>
              <a:rPr lang="en-US" sz="1100" dirty="0">
                <a:solidFill>
                  <a:srgbClr val="5A6472"/>
                </a:solidFill>
                <a:latin typeface="Calibri" pitchFamily="34" charset="0"/>
                <a:cs typeface="Amiri" pitchFamily="2" charset="-78"/>
              </a:rPr>
              <a:t>‏ and evidence words?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لِأَنِّي أَنْتَمِي إِلَى عَائِلَةٍ سُودَانِيَّةٍ، وَأُرِيدُ أَنْ أَحْتَفِظَ بِلُغَتِهَا.</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 belong to a Sudanese family, and I want to keep its language.</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اخْتَرْتَ العَرَبِيَّةَ؟</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تُعَدُّ مِنْ أَكْثَرِ اللُّغَاتِ انْتِشَارًا، وَهِيَ إِحْدَى لُغَاتِ الأُمَمِ المُتَّحِدَةِ السِّتِّ.</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it is one of the most widespread languages, and one of the six UN languages.</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هِيَ لُغَةٌ مُهِمَّةٌ فِعْلًا؟</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يَبْلُغُ عَدَدُ المُتَحَدِّثِينَ بِهَا أَكْثَرَ مِنْ ثَلَاثِمِئَةِ مِلْيُونِ شَخْصٍ تَقْرِيبًا.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number of its speakers is more than three hundred million people, approximately.</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شَخْصًا يَتَكَلَّمُهَا؟</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أَحْيَانًا، وَلٰكِنِّي أُوَازِنُ بَيْنَهُمَا؛ تَكَيَّفَتْ عَائِلَتِي مَعَ الحَيَاةِ هُنَا، وَنَحْتَفِظُ بِعَادَاتِنَا أَيْضًا.</a:t>
            </a:r>
            <a:endParaRPr lang="ar-SA" sz="175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Sometimes, but I balance them; my family adapted to life here, and we keep our customs too.</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مِنَ الصَّعْبِ أَنْ تُوَازِنَ بَيْنَ ثَقَافَتَيْنِ؟</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«صِفْر» وَ«قَهْوَة» — أَصْبَحَتَا كَلِمَتَيْنِ فِي الإِنْجِلِيزِيَّةِ.</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“ṣifr” became “zero”, and “qahwa” became “coffee”.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اذْكُرْ كَلِمَتَيْنِ إِنْجِلِيزِيَّتَيْنِ مِنْ أَصْلٍ عَرَبِيٍّ.</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أَنْتَمِي إِلَى ثَقَافَتَيْنِ: البِرِيطَانِيَّةِ وَاليَمَنِيَّةِ، وَأَحْتَفِظُ بِلُغَةِ جَدِّي وَبِعَادَاتِ عَائِلَتِي. أُوَازِنُ بَيْنَ الثَّقَافَتَيْنِ كُلَّ يَوْمٍ، وَالعَرَبِيَّةُ تُسَاعِدُنِي عَلَى ذٰلِكَ. تُعَدُّ العَرَبِيَّةُ مِنْ أَكْثَرِ اللُّغَاتِ انْتِشَارًا، وَهِيَ إِحْدَى لُغَاتِ الأُمَمِ المُتَّحِدَةِ، وَيَبْلُغُ عَدَدُ المُتَحَدِّثِينَ بِهَا أَكْثَرَ مِنْ ثَلَاثِمِئَةِ مِلْيُونٍ تَقْرِيبًا. أَخَذَتِ الإِنْجِلِيزِيَّةُ مِنْهَا كَلِمَاتٍ مِثْلَ «سُكَّر» وَ«قَهْوَة». اخْتَرِ العَرَبِيَّةَ، لِأَنَّهَا تَفْتَحُ لَكَ أَبْوَابًا فِي العَمَلِ وَالسَّفَرِ وَالصَّدَاقَةِ!</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belong to two cultures, British and Yemeni, and I keep my grandfather’s language and my family’s customs. I balance the two cultures every day, and Arabic helps me do that. Arabic is one of the most widespread languages, it is one of the languages of the United Nations, and it has more than three hundred million speakers, approximately. English took words from it like “sugar” and “coffee”. Choose Arabic, because it opens doors for you in work, travel and friendship!”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أَنْتَمِي إِلَى ثَقَافَتَيْنِ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أُوَازِنُ بَيْنَ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تُعَدُّ العَرَبِيَّةُ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تَفْتَحُ لَكَ أَبْوَابًا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D6-W03 · Apply workshop (D6-L05 + D6-L06)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D6-L05 and D6-L06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D6-W03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D6-L07 · D6 Grammar Consolidation — All Tenses Together</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قَوَاعِدِ الوَحْدَةِ — جَمِيعُ الأَزْمِنَةِ مَعًا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D6-W03 · Apply Workshop — Options Evening: Why Arabic Matters to Me</dc:title>
  <dc:subject>PptxGenJS Presentation</dc:subject>
  <dc:creator>Al Madina Online School · Arabic Department</dc:creator>
  <cp:lastModifiedBy>Al Madina Online School · Arabic Department</cp:lastModifiedBy>
  <cp:revision>1</cp:revision>
  <dcterms:created xsi:type="dcterms:W3CDTF">2026-10-26T15:48:18Z</dcterms:created>
  <dcterms:modified xsi:type="dcterms:W3CDTF">2026-10-26T15:48:18Z</dcterms:modified>
</cp:coreProperties>
</file>