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WORKSHOP AT A GLANCE — the third lesson of the week (Learn D6-L09 · Learn D6-L10 · Apply). 60 minutes on Teams: teacher-led in the main room for the short whole-class steps, pairs or breakout rooms of two or three for speaking, individual writing.
0–3 Welcome + plan · 3–6 What we learnt this week · PART 1 REMEMBER: word race (4) · which lesson? sort (4) · PART 2 SPEAK: new dialogue (5) · mixed question cards (6) · role-play card (7) · one minute talk (4) · PART 3 WRITE: sentence builder (3) · spot and fix (3) · connected writing (12) + buddy check (3) · CHECK YOURSELF: models + self-check (5).
PURPOSE: students APPLY the language of BOTH lessons in new contexts — the question cards, builder and common mistakes come from the two practice rooms; the dialogue, role-play, talk and writing task are new and join the lessons together.
CONTENT: D6-L09 (Writing — Countries, Culture and Identity (Paper 4)) and D6-L10 (Listening — Culture, Celebration and Identity Texts).
SET-UP: share this deck or its PDF in the chat. Pairs or breakout rooms for Part 2 (same-level rooms keep the routes simple). Everyone writes in their own book or document in Part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min). Apply = use what you learnt in D6-L09 and D6-L10 in a NEW situation. Point out the step number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LEARNT (3 min, main room). Ask: “What can you say after D6-L09? After D6-L10?” Take two answers in the chat for each lesson (one word or one sentence is enough). Then read objective 3 — today’s new situation that needs BOTH lessons. Students tick their route goals at the end of the lesson.
D6-L09 language: the full D6 range in one text: a past celebration (iḥtafalnā bi-l-ʿīd) · the present with a passive (tuzayyanu al-buyūt) · a supported opinion (lā yumkinu inkāru anna … · min wijhati naẓarī) · a future aspiration (aṭmaḥu ilā an …); identity verbs (aʿtazzu bi- · antamī ilā); self-marking against the bullets
D6-L10 language: catch three things at speed: the TENSE in the verb shape (iḥtafalnā · naḥtafilu · sa-naḥtafilu · kunnā naḥtafilu); the HEDGE that narrows a claim (fī baʿḍi al-ʿāʾilāt · laysa dāʾiman · ghāliban · ʿalā ḥaddi ʿilmī); WHO said it in a dialogue (anā / hiya / hum)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(4 min). Quick, energetic retrieval. Model one round with a student, then pairs race. Collect the best score in the chat. Listen for words students hesitate over and revisit them in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D6-L09.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D6-L10.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STEP 3 (5 min). A NEW dialogue that joins D6-L09 and D6-L10. Teacher reads it once with a confident student; then pairs. Ask: “Which lines are from D6-L09? Which from D6-L10?” Tense from the verb shape (كُنَّا نَحْتَفِلُ · نَحْتَفِلُ) and hedges (لَيْسَ دَائِمًا · فِي بَعْضِ العَائِلَاتِ · عَلَى حَدِّ عِلْمِي) come from D6-L10; a supported opinion (لَا يُمْكِنُ إِنْكَارُ أَنَّ …) and a future aspiration from D6-L09.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min, pairs or rooms). The questions come from the two practice rooms, now mixed so students switch between the lessons. Teacher: visit rooms and ask one Stretch follow-up question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STEP 5 (7 min). One NEW situation that needs both lessons: catching tense, hedges and the speaker at speed (D6-L10), then turning what you hear into exam-text moves (D6-L09). FADED SUPPORT: tasks 1–2 show the plan; students write their own plan for 3–5. To a girl Partner A says: وَأَنْتِ: بِمَاذَا تَعْتَزِّينَ؟.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(4 min). Fluency: one talk that uses BOTH lessons. Two volunteers speak to the whole class at the end (open mic).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D6-L09 and D6-L10 practice rooms. Read the English, choose the correct part from each column (start on the RIGHT). Pairs agree, then check. Students copy the correct sentences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D6-L09 and D6-L10 practice rooms. Read the English, choose the correct part from each column (start on the RIGHT). Pairs agree, then check. Students copy the correct sentences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support. Core: use the Core frames for every bullet. Develop: use the Develop frames only if stuck. Stretch: no frames — add reasons, a time phrase and an extra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(10 min writing, everyone on their own). Core: frames for every bullet (50–60 words). Develop: 80–100 words, frames only if stuck. Stretch: no frames, add reasons and another time frame. Teacher reads ONE sentence per student (in the chat or the shared document) and gives one live correction.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BUDDY CHECK (3 min). Pairs swap texts (or share screens). Then everyone returns to the main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Each student finds one task they answered less fully and says it again using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 (56 words). CHECK YOURSELF (2 min). Find each bullet point in the model, and one phrase from D6-L09 and one from D6-L10. Then each student copies ONE phrase from the model into their own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YEAR 8  ·  DEVELOPMENT D6  ·  D6-L09 + D6-L10 · APPLY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D6-W05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Apply Workshop — Identity Podcast, Then the Exam Text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التَّطْبِيقِ — بُودْكَاسْتُ الهُوِيَّةِ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join listening at speed with exam writing: they listen to young people talking about celebrations and identity (the tense in the verb shape, the hedge that narrows a claim, who said it), then write a four-paragraph exam text «</a:t>
            </a:r>
            <a:pPr algn="l" indent="0" marL="0">
              <a:buNone/>
            </a:pPr>
            <a:r>
              <a:rPr lang="ar-SA" altLang="en-US" sz="145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ثَقَافَتِي وَهُوِيَّتِي</a:t>
            </a:r>
            <a:pPr algn="l" indent="0" marL="0">
              <a:buNone/>
            </a:pPr>
            <a:r>
              <a:rPr lang="en-US" sz="11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» with a past celebration, the present with a passive, a supported opinion and a future aspiration.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Apply workshop · D6-L09 + D6-L10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Development · A2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Pathways › Development › D6 › D6-L10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D6 · Countries, Cultures and Celebrations · D6-W05 · Apply workshop (D6-L09 + D6-L10)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PLAN · LEARN, LEARN, APPLY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Two lessons — now use them together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D6 · Countries, Cultures and Celebrations · D6-W05 · Apply workshop (D6-L09 + D6-L10)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 learnt: D6-L09 and D6-L10.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تَعَلَّمْنَا؟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1 · Remember: word race and “which lesson?” sort.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تَذَكَّرْ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22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2 · Speak: say the model dialogue · question cards · role-play card · short talk.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19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3 · Write: sentence builder · spot and fix · write your text · buddy check.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اكْتُبْ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WORKSHOP RUNS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Today there is no new language: you USE the words and structures of the last two lessons together. Everybody speaks in every step and everybody writes their own text. Choose your route — Core, Develop or Stretch — and move up when you are ready.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WHAT WE LEARNT THIS WEEK · D6-L09 + D6-L10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This week’s two lessons — and today’s goal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نُطَبِّقُ مَا تَعَلَّمْنَا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D6 · Countries, Cultures and Celebrations · D6-W05 · Apply workshop (D6-L09 + D6-L10)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4663440" cy="4315968"/>
          </a:xfrm>
          <a:prstGeom prst="roundRect">
            <a:avLst>
              <a:gd name="adj" fmla="val 1695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20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TODAY YOU WILL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83464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سَتَتَعَلَّمُ اليَوْمَ</a:t>
            </a:r>
            <a:endParaRPr lang="ar-SA" sz="1600" dirty="0"/>
          </a:p>
        </p:txBody>
      </p:sp>
      <p:sp>
        <p:nvSpPr>
          <p:cNvPr id="18" name="Shape 15"/>
          <p:cNvSpPr/>
          <p:nvPr/>
        </p:nvSpPr>
        <p:spPr>
          <a:xfrm>
            <a:off x="685800" y="2395728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22860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D6-L09: Writing — Countries, Culture and Identity (Paper 4)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85800" y="3291840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3182112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D6-L10: Listening — Culture, Celebration and Identity Texts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85800" y="4187952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4078224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Apply both: Listening card — the identity podcast · Exam text: my culture and identity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349240" y="181051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32120" y="194767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532120" y="19476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6766560" y="1947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Everyone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532120" y="228600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Answer questions from BOTH lessons in full sentences.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532120" y="26974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Write the text using the frames.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349240" y="327355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532120" y="341071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532120" y="34107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6766560" y="3410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Most of us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5532120" y="374904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Join both lessons in one conversation and a one minute talk.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532120" y="416052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Write the text, frames only if stuck.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5349240" y="473659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532120" y="48737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532120" y="48737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6766560" y="4873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Aim high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5532120" y="52120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Speak without notes; add reasons and opinions.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5532120" y="562356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Use more than one tense; give and justify opinions.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1 · WORD RACE · 4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Word race: two lessons, one race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سِبَاقُ الكَلِمَاتِ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D6 · Countries, Cultures and Celebrations · D6-W05 · Apply workshop (D6-L09 + D6-L10)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🏁  English → Arabic, from both lessons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next two slides show words from D6-L09 and D6-L10. Partner A says a word in ENGLISH; Partner B says it in ARABIC. One point for every correct answer in 90 seconds — then swap.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Teacher: first round together (3 words from each slide).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Pairs: 90 seconds each, as many as you can.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Mix the lessons: one word from slide 1, one from slide 2.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use two words — one from each lesson — in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 clearly.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word, then a short sentence with it.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Join a word from each lesson in one sentence with 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 or 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correct!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حَاوِلْ مَرَّةً أُخْرَى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try again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نُقْطَةٌ لَكَ / لَكِ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point for you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D6-L09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D6-L09 · Writing — Countries, Culture and Identity (Paper 4)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كَلِمَاتُ الدَّرْسِ الأَوَّلِ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D6 · Countries, Cultures and Celebrations · D6-W05 · Apply workshop (D6-L09 + D6-L10)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11312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الهُوِيَّةُ</a:t>
            </a:r>
            <a:endParaRPr lang="ar-SA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8238744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identity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al-hu-wiy-ya-tu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782312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82312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VIII · past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أَعْتَزُّ بِـ</a:t>
            </a:r>
            <a:endParaRPr lang="ar-SA" sz="3000" dirty="0"/>
          </a:p>
        </p:txBody>
      </p:sp>
      <p:sp>
        <p:nvSpPr>
          <p:cNvPr id="30" name="Text 27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take pride in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aʿ-taz-zu bi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33" name="Text 30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اِعْتَزَّ</a:t>
            </a:r>
            <a:endParaRPr lang="ar-SA" sz="1350" dirty="0"/>
          </a:p>
        </p:txBody>
      </p:sp>
      <p:sp>
        <p:nvSpPr>
          <p:cNvPr id="34" name="Shape 31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36" name="Text 33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يَعْتَزُّ</a:t>
            </a:r>
            <a:endParaRPr lang="ar-SA" sz="1500" dirty="0"/>
          </a:p>
        </p:txBody>
      </p:sp>
      <p:sp>
        <p:nvSpPr>
          <p:cNvPr id="37" name="Shape 34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يُمْكِنُ إِنْكَارُ أَنَّ</a:t>
            </a:r>
            <a:endParaRPr lang="ar-SA" sz="3000" dirty="0"/>
          </a:p>
        </p:txBody>
      </p:sp>
      <p:sp>
        <p:nvSpPr>
          <p:cNvPr id="43" name="Text 40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it cannot be denied that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lā yum-ki-nu in-kā-ru an-na</a:t>
            </a:r>
            <a:endParaRPr lang="en-US" sz="1350" dirty="0"/>
          </a:p>
        </p:txBody>
      </p:sp>
      <p:sp>
        <p:nvSpPr>
          <p:cNvPr id="44" name="Text 41"/>
          <p:cNvSpPr txBox="1"/>
          <p:nvPr/>
        </p:nvSpPr>
        <p:spPr>
          <a:xfrm>
            <a:off x="594360" y="3621024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‏</a:t>
            </a:r>
            <a:pPr algn="l" indent="0" marL="0">
              <a:buNone/>
            </a:pPr>
            <a:r>
              <a:rPr lang="ar-SA" altLang="en-US" sz="1300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أَنَّ</a:t>
            </a:r>
            <a:pPr algn="l" indent="0" marL="0">
              <a:buNone/>
            </a:pPr>
            <a:r>
              <a:rPr lang="en-US" sz="100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‏ takes an accusative noun.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8604504" y="4279392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04504" y="4279392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VIII · past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believe that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aʿ-ta-qi-du an-na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اِعْتَقَدَ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يَعْتَقِدُ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4782312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4782312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· past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أَطْمَحُ إِلَى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aspire to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aṭ-ma-ḥu i-lā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طَمَحَ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يَطْمَحُ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0" name="Text 77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التَّنَوُّعُ اللُّغَوِيُّ</a:t>
            </a:r>
            <a:endParaRPr lang="ar-SA" sz="3000" dirty="0"/>
          </a:p>
        </p:txBody>
      </p:sp>
      <p:sp>
        <p:nvSpPr>
          <p:cNvPr id="81" name="Text 78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Range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at-ta-naw-wu-ʿu all-lu-gha-wiy-yu</a:t>
            </a:r>
            <a:endParaRPr lang="en-US" sz="1350" dirty="0"/>
          </a:p>
        </p:txBody>
      </p:sp>
      <p:sp>
        <p:nvSpPr>
          <p:cNvPr id="82" name="Text 7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D6-L10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D6-L10 · Listening — Culture, Celebration and Identity Texts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كَلِمَاتُ الدَّرْسِ الثَّانِي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D6 · Countries, Cultures and Celebrations · D6-W05 · Apply workshop (D6-L09 + D6-L10)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 · sg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المُعْتَقَدَاتُ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beliefs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al-muʿ-ta-qa-dā-tu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238744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93608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8284464" y="34838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مُعْتَقَدٌ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82312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782312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 · sg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التَّقَالِيدُ</a:t>
            </a:r>
            <a:endParaRPr lang="ar-SA" sz="3000" dirty="0"/>
          </a:p>
        </p:txBody>
      </p:sp>
      <p:sp>
        <p:nvSpPr>
          <p:cNvPr id="35" name="Text 32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traditions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at-ta-qā-lī-du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4416552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471416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38" name="Text 35"/>
          <p:cNvSpPr txBox="1"/>
          <p:nvPr/>
        </p:nvSpPr>
        <p:spPr>
          <a:xfrm>
            <a:off x="4462272" y="34838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تَقْلِيدٌ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الاِنْتِمَاءُ</a:t>
            </a:r>
            <a:endParaRPr lang="ar-SA" sz="3000" dirty="0"/>
          </a:p>
        </p:txBody>
      </p:sp>
      <p:sp>
        <p:nvSpPr>
          <p:cNvPr id="45" name="Text 42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belonging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aln-ti-mā-ʾu</a:t>
            </a:r>
            <a:endParaRPr lang="en-US" sz="1350" dirty="0"/>
          </a:p>
        </p:txBody>
      </p:sp>
      <p:sp>
        <p:nvSpPr>
          <p:cNvPr id="46" name="Shape 4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8604504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604504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Signals past.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3" name="Text 50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الطُّفُولَةِ</a:t>
            </a:r>
            <a:endParaRPr lang="ar-SA" sz="3000" dirty="0"/>
          </a:p>
        </p:txBody>
      </p:sp>
      <p:sp>
        <p:nvSpPr>
          <p:cNvPr id="54" name="Text 51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childhood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fī aṭ-ṭu-fū-la-ti</a:t>
            </a:r>
            <a:endParaRPr lang="en-US" sz="1350" dirty="0"/>
          </a:p>
        </p:txBody>
      </p:sp>
      <p:sp>
        <p:nvSpPr>
          <p:cNvPr id="55" name="Shape 5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4782312" y="427939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4782312" y="42793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Signals future.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2" name="Text 59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العَامَ القَادِمَ</a:t>
            </a:r>
            <a:endParaRPr lang="ar-SA" sz="3000" dirty="0"/>
          </a:p>
        </p:txBody>
      </p:sp>
      <p:sp>
        <p:nvSpPr>
          <p:cNvPr id="63" name="Text 60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next year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al-ʿā-ma al-qā-di-ma</a:t>
            </a:r>
            <a:endParaRPr lang="en-US" sz="1350" dirty="0"/>
          </a:p>
        </p:txBody>
      </p:sp>
      <p:sp>
        <p:nvSpPr>
          <p:cNvPr id="64" name="Shape 61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5" name="Shape 62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9" name="Text 66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 دَائِمًا</a:t>
            </a:r>
            <a:endParaRPr lang="ar-SA" sz="3000" dirty="0"/>
          </a:p>
        </p:txBody>
      </p:sp>
      <p:sp>
        <p:nvSpPr>
          <p:cNvPr id="70" name="Text 67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not always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lay-sa dā-ʾi-man</a:t>
            </a:r>
            <a:endParaRPr lang="en-US" sz="1350" dirty="0"/>
          </a:p>
        </p:txBody>
      </p:sp>
      <p:sp>
        <p:nvSpPr>
          <p:cNvPr id="71" name="Text 68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2 · SORT IT · READ EACH CARD, THEN SORT IT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Listening clue or writing move?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صَنِّفِ البِطَاقَاتِ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D6 · Countries, Cultures and Celebrations · D6-W05 · Apply workshop (D6-L09 + D6-L10)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9015984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9107424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يُمْكِنُ إِنْكَارُ أَنَّ …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6163056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254496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كُنَّا نَحْتَفِلُ</a:t>
            </a:r>
            <a:endParaRPr lang="ar-SA" sz="1800" dirty="0"/>
          </a:p>
        </p:txBody>
      </p:sp>
      <p:sp>
        <p:nvSpPr>
          <p:cNvPr id="19" name="Shape 16"/>
          <p:cNvSpPr/>
          <p:nvPr/>
        </p:nvSpPr>
        <p:spPr>
          <a:xfrm>
            <a:off x="3310128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3401568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بَعْضِ العَائِلَاتِ</a:t>
            </a:r>
            <a:endParaRPr lang="ar-SA" sz="1800" dirty="0"/>
          </a:p>
        </p:txBody>
      </p:sp>
      <p:sp>
        <p:nvSpPr>
          <p:cNvPr id="21" name="Shape 18"/>
          <p:cNvSpPr/>
          <p:nvPr/>
        </p:nvSpPr>
        <p:spPr>
          <a:xfrm>
            <a:off x="457200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548640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وِجْهَةِ نَظَرِي</a:t>
            </a:r>
            <a:endParaRPr lang="ar-SA" sz="1800" dirty="0"/>
          </a:p>
        </p:txBody>
      </p:sp>
      <p:sp>
        <p:nvSpPr>
          <p:cNvPr id="23" name="Shape 20"/>
          <p:cNvSpPr/>
          <p:nvPr/>
        </p:nvSpPr>
        <p:spPr>
          <a:xfrm>
            <a:off x="9015984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9107424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أَعْتَزُّ بِ…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6163056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254496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عَلَى حَدِّ عِلْمِي</a:t>
            </a:r>
            <a:endParaRPr lang="ar-SA" sz="1800" dirty="0"/>
          </a:p>
        </p:txBody>
      </p:sp>
      <p:sp>
        <p:nvSpPr>
          <p:cNvPr id="27" name="Shape 24"/>
          <p:cNvSpPr/>
          <p:nvPr/>
        </p:nvSpPr>
        <p:spPr>
          <a:xfrm>
            <a:off x="3310128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3401568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قَالَتْ إِنَّ …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457200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548640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أَطْمَحُ إِلَى أَنْ …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185916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23076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23076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Writing moves · D6-L09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7200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94360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Listening clues · D6-L10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2 · ANSWERS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Sort: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صَنِّفِ البِطَاقَاتِ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D6 · Countries, Cultures and Celebrations · D6-W05 · Apply workshop (D6-L09 + D6-L10)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185916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23076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3076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Writing moves · D6-L09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323076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14516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يُمْكِنُ إِنْكَارُ أَنَّ …</a:t>
            </a:r>
            <a:endParaRPr lang="ar-SA" sz="1800" dirty="0"/>
          </a:p>
        </p:txBody>
      </p:sp>
      <p:sp>
        <p:nvSpPr>
          <p:cNvPr id="20" name="Shape 17"/>
          <p:cNvSpPr/>
          <p:nvPr/>
        </p:nvSpPr>
        <p:spPr>
          <a:xfrm>
            <a:off x="6323076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4516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وِجْهَةِ نَظَرِي</a:t>
            </a:r>
            <a:endParaRPr lang="ar-SA" sz="1800" dirty="0"/>
          </a:p>
        </p:txBody>
      </p:sp>
      <p:sp>
        <p:nvSpPr>
          <p:cNvPr id="22" name="Shape 19"/>
          <p:cNvSpPr/>
          <p:nvPr/>
        </p:nvSpPr>
        <p:spPr>
          <a:xfrm>
            <a:off x="6323076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14516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أَعْتَزُّ بِ…</a:t>
            </a:r>
            <a:endParaRPr lang="ar-SA" sz="1800" dirty="0"/>
          </a:p>
        </p:txBody>
      </p:sp>
      <p:sp>
        <p:nvSpPr>
          <p:cNvPr id="24" name="Shape 21"/>
          <p:cNvSpPr/>
          <p:nvPr/>
        </p:nvSpPr>
        <p:spPr>
          <a:xfrm>
            <a:off x="6323076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14516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أَطْمَحُ إِلَى أَنْ …</a:t>
            </a:r>
            <a:endParaRPr lang="ar-SA" sz="1800" dirty="0"/>
          </a:p>
        </p:txBody>
      </p:sp>
      <p:sp>
        <p:nvSpPr>
          <p:cNvPr id="26" name="Shape 23"/>
          <p:cNvSpPr/>
          <p:nvPr/>
        </p:nvSpPr>
        <p:spPr>
          <a:xfrm>
            <a:off x="457200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4360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Listening clues · D6-L10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94360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85800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كُنَّا نَحْتَفِلُ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594360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5800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بَعْضِ العَائِلَاتِ</a:t>
            </a:r>
            <a:endParaRPr lang="ar-SA" sz="1800" dirty="0"/>
          </a:p>
        </p:txBody>
      </p:sp>
      <p:sp>
        <p:nvSpPr>
          <p:cNvPr id="33" name="Shape 30"/>
          <p:cNvSpPr/>
          <p:nvPr/>
        </p:nvSpPr>
        <p:spPr>
          <a:xfrm>
            <a:off x="594360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85800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عَلَى حَدِّ عِلْمِي</a:t>
            </a:r>
            <a:endParaRPr lang="ar-SA" sz="1800" dirty="0"/>
          </a:p>
        </p:txBody>
      </p:sp>
      <p:sp>
        <p:nvSpPr>
          <p:cNvPr id="35" name="Shape 32"/>
          <p:cNvSpPr/>
          <p:nvPr/>
        </p:nvSpPr>
        <p:spPr>
          <a:xfrm>
            <a:off x="594360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5800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قَالَتْ إِنَّ …</a:t>
            </a:r>
            <a:endParaRPr lang="ar-SA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4" b="1" spc="15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2 · STEP 3 · SAY THE MODEL DIALOGUE · BOTH LESSONS IN ONE CONVERSATION</a:t>
            </a:r>
            <a:endParaRPr lang="en-US" sz="934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Two voices on the podcast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صَوْتَانِ فِي البُودْكَاسْتِ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D6 · Countries, Cultures and Celebrations · D6-W05 · Apply workshop (D6-L09 + D6-L10)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54112" y="1810512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444752" y="1810512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Say it in Arabic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Who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90688" y="226771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did you use to celebrate Eid as children?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226771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كُنْتُمْ تَحْتَفِلُونَ بِالعِيدِ فِي الطُّفُولَةِ؟</a:t>
            </a:r>
            <a:endParaRPr lang="ar-SA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226771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90688" y="2881884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used to celebrate at my grandfather’s house, but now we celebrate at the mosque with the community.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463040" y="2881884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كُنَّا نَحْتَفِلُ فِي بَيْتِ جَدِّي، أَمَّا الآنَ فَنَحْتَفِلُ فِي المَسْجِدِ مَعَ الجَالِيَةِ.</a:t>
            </a:r>
            <a:endParaRPr lang="ar-SA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881884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90688" y="3496056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does everyone wear traditional clothes?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463040" y="3496056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وَهَلْ يَلْبَسُ الجَمِيعُ مَلَابِسَ تَقْلِيدِيَّةً؟</a:t>
            </a:r>
            <a:endParaRPr lang="ar-SA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3496056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90688" y="4110228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Not always; only in some families, as far as I know.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463040" y="4110228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 دَائِمًا؛ فِي بَعْضِ العَائِلَاتِ فَقَطْ، عَلَى حَدِّ عِلْمِي.</a:t>
            </a:r>
            <a:endParaRPr lang="ar-SA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4110228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90688" y="4724400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what does identity mean to you?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463040" y="4724400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مَعْنَى الهُوِيَّةِ لَكِ؟</a:t>
            </a:r>
            <a:endParaRPr lang="ar-SA" sz="19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724400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790688" y="533857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proud of my language; it cannot be denied that language is part of identity. And I aspire to visit my grandparents’ country.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463040" y="533857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أَعْتَزُّ بِلُغَتِي؛ لَا يُمْكِنُ إِنْكَارُ أَنَّ اللُّغَةَ جُزْءٌ مِنَ الهُوِيَّةِ. وَأَطْمَحُ إِلَى أَنْ أَزُورَ بَلَدَ أَجْدَادِي.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533857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Round 1: read it in pairs (A and B). Round 2: swap letters. Round 3: cover the Arabic and say it from the English. Then change TWO details — one from each lesson — and say it again.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QUESTION CARDS · QUESTIONS FROM BOTH LESSONS, MIXED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Mixed questions — answer, then add more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أَسْئِلَةٌ مِنَ الدَّرْسَيْنِ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D6 · Countries, Cultures and Celebrations · D6-W05 · Apply workshop (D6-L09 + D6-L10)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720072" y="181051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Add more (Develop · Stretch)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976872" y="181051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your answer (Core)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738360" y="226771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وَكَانَ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995160" y="226771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احْتَفَلْنَا بِ… فِي …</a:t>
            </a:r>
            <a:endParaRPr lang="ar-SA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636008" y="2267712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¶1 Tell about a past celebration.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¶١ احْكِ عَنِ احْتِفَالٍ مَاضٍ.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738360" y="2881884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الدَّلِيلُ: «سَنَحْتَفِلُ»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6995160" y="2881884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البَيْتِ …</a:t>
            </a:r>
            <a:endParaRPr lang="ar-SA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4636008" y="2881884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“We celebrated the Islamic New Year at the mosque; this year we’ll celebrate at home.” — Where next?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احْتَفَلْنَا بِرَأْسِ السَّنَةِ الهِجْرِيَّةِ فِي المَسْجِدِ، وَسَنَحْتَفِلُ هٰذِهِ السَّنَةَ فِي البَيْتِ. — أَيْنَ الاحْتِفَالُ القَادِمُ؟</a:t>
            </a:r>
            <a:endParaRPr lang="ar-SA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756648" y="3496056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6995160" y="3496056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الآنَ نَتَمَسَّكُ بِ… وَتُزَيَّنُ …</a:t>
            </a:r>
            <a:endParaRPr lang="ar-SA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4636008" y="3496056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¶2 How do you live your culture now?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¶٢ كَيْفَ تَعِيشُ ثَقَافَتَكَ الآنَ؟</a:t>
            </a:r>
            <a:endParaRPr lang="ar-SA" sz="17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11091672" y="354177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1091672" y="35417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756648" y="4110228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…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995160" y="4110228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 بِالضَّرُورَةِ؛ «غَالِبًا» تَعْنِي …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4636008" y="4110228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“People often visit relatives at Eid.” — Does everyone?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1051560" y="4110228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غَالِبًا مَا يَزُورُ النَّاسُ أَقَارِبَهُمْ فِي العِيدِ. — هَلْ يَزُورُ كُلُّ النَّاسِ أَقَارِبَهُمْ؟</a:t>
            </a:r>
            <a:endParaRPr lang="ar-SA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11091672" y="415594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1091672" y="41559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3" name="Shape 50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738360" y="4724400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مِنْ وِجْهَةِ نَظَرِي …</a:t>
            </a:r>
            <a:endParaRPr lang="ar-SA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6995160" y="4724400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يُمْكِنُ إِنْكَارُ أَنَّ …</a:t>
            </a:r>
            <a:endParaRPr lang="ar-SA" sz="1600" dirty="0"/>
          </a:p>
        </p:txBody>
      </p:sp>
      <p:sp>
        <p:nvSpPr>
          <p:cNvPr id="56" name="Text 53"/>
          <p:cNvSpPr txBox="1"/>
          <p:nvPr/>
        </p:nvSpPr>
        <p:spPr>
          <a:xfrm>
            <a:off x="4636008" y="4724400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¶3 Your opinion on language and identity?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1051560" y="4724400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¶٣ مَا رَأْيُكَ فِي اللُّغَةِ وَالهُوِيَّةِ؟</a:t>
            </a:r>
            <a:endParaRPr lang="ar-SA" sz="17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756648" y="533857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Trap: ‏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الأَخُ يَصُومُ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6995160" y="533857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الأُخْتُ الصَّغِيرَةُ …</a:t>
            </a:r>
            <a:endParaRPr lang="ar-SA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4636008" y="5338572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“— Do you fast? — Yes, and my brother too; my little sister doesn’t.” — Who doesn’t?</a:t>
            </a:r>
            <a:endParaRPr lang="en-US" sz="1100" dirty="0"/>
          </a:p>
        </p:txBody>
      </p:sp>
      <p:sp>
        <p:nvSpPr>
          <p:cNvPr id="63" name="Text 60"/>
          <p:cNvSpPr txBox="1"/>
          <p:nvPr/>
        </p:nvSpPr>
        <p:spPr>
          <a:xfrm>
            <a:off x="1051560" y="5338572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— هَلْ تَصُومِينَ؟ — نَعَمْ، وَأَخِي يَصُومُ أَيْضًا، أَمَّا أُخْتِي الصَّغِيرَةُ فَلَا. — مَنْ لَا يَصُومُ؟</a:t>
            </a:r>
            <a:endParaRPr lang="ar-SA" sz="1200" dirty="0"/>
          </a:p>
        </p:txBody>
      </p:sp>
      <p:sp>
        <p:nvSpPr>
          <p:cNvPr id="64" name="Text 61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5" name="Text 6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Odd numbers come from D6-L09, even numbers from D6-L10. Core: a full sentence from the starter. Develop: add the “more” part. Stretch: link two answers with ‏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‏, ‏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 or ‏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‏. Swap after each question.</a:t>
            </a:r>
            <a:endParaRPr lang="en-US" sz="110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7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4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ROLE-PLAY CARD · PLANS FOR TASKS 1–2 ARE GIVEN — PLAN 3–5 YOURSELF</a:t>
            </a:r>
            <a:endParaRPr lang="en-US" sz="934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Listening card — the identity podcast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بِطَاقَةُ الاسْتِمَاعِ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D6 · Countries, Cultures and Celebrations · D6-W05 · Apply workshop (D6-L09 + D6-L10)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reads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← سَنَحْتَفِلُ … فِي …</a:t>
            </a:r>
            <a:endParaRPr lang="ar-SA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future detail.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«احْتَفَلْنَا بِرَأْسِ السَّنَةِ الهِجْرِيَّةِ فِي المَسْجِدِ، وَسَنَحْتَفِلُ هٰذِهِ السَّنَةَ فِي البَيْتِ.» — أَيْنَ الاحْتِفَالُ القَادِمُ؟</a:t>
            </a:r>
            <a:endParaRPr lang="ar-SA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لَا … الدَّلِيلُ: …</a:t>
            </a:r>
            <a:endParaRPr lang="ar-SA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Catch the hedge.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«غَالِبًا مَا يَزُورُ النَّاسُ أَقَارِبَهُمْ فِي العِيدِ، وَلٰكِنْ لَيْسَ دَائِمًا.» — هَلْ يَزُورُونَ دَائِمًا؟</a:t>
            </a:r>
            <a:endParaRPr lang="ar-SA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said it?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«قَالَتْ أُخْتِي إِنَّ الحِنَّاءَ تَقْلِيدٌ جَمِيلٌ، أَمَّا أَنَا فَلَا أُحِبُّهُ.» — مَنْ يُحِبُّ الحِنَّاءَ؟</a:t>
            </a:r>
            <a:endParaRPr lang="ar-SA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the tense signals.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«كُنَّا نَأْكُلُ المَنْسَفَ فِي العِيدِ.» — هَلْ مَا زَالُوا يَأْكُلُونَهُ؟</a:t>
            </a:r>
            <a:endParaRPr lang="ar-SA" sz="145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supported opinion.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وَأَنْتَ: بِمَاذَا تَعْتَزُّ؟ وَلِمَاذَا؟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Partner A reads each clip twice. Answer, then name the clue: the verb shape, the hedge or the speaker. Task ! is your view. Then swap.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6 · SHORT TALK · ONE MINUTE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My culture and identity — podcast clip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ثَقَافَتِي وَهُوِيَّتِي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D6 · Countries, Cultures and Celebrations · D6-W05 · Apply workshop (D6-L09 + D6-L10)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6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use both lessons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Record a one-minute clip in four parts, like the exam text: (1) a past celebration, (2) how you live your culture now (with a passive), (3) a supported opinion about language and identity, (4) a future aspiration. Use at least two hedges; your partner notes every tense and hedge they hear.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Think for 30 seconds: 2 key words from EACH lesson,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partner times it.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Partner: one thing that went well + one thing to improve.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— then the teacher invites two volunteers.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احْتَفَلْنَا بِ… · نَتَمَسَّكُ بِ… · أَطْمَحُ إِلَى أَنْ …</a:t>
            </a:r>
            <a:endParaRPr lang="ar-SA" sz="14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كُنَّا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 + present, a passive (‏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تُزَيَّنُ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‏) and a hedge.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يُمْكِنُ إِنْكَارُ 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وِجْهَةِ نَظَرِي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…‏ and 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عَلَى حَدِّ عِلْمِي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… then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· لِذٰلِكَ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… · so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my opinion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الخِتَامِ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finish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3 · STEP 7 · SENTENCE BUILDER ·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Build three correct sentences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 الجُمْلَةَ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D6 · Countries, Cultures and Celebrations · D6-W05 · Apply workshop (D6-L09 + D6-L10)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9180576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1 · start here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624828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2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069080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2011680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" y="2148840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51560" y="2121408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It cannot be denied that language is part of identity.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180576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35440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500616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يُمْكِنُ إِنْكَارُ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9180576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35440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500616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يُمْكِنُ إِنْكَارَ</a:t>
            </a:r>
            <a:endParaRPr lang="ar-SA" sz="1800" dirty="0"/>
          </a:p>
        </p:txBody>
      </p:sp>
      <p:sp>
        <p:nvSpPr>
          <p:cNvPr id="28" name="Shape 25"/>
          <p:cNvSpPr/>
          <p:nvPr/>
        </p:nvSpPr>
        <p:spPr>
          <a:xfrm>
            <a:off x="6624828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79692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944868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أَنَّ اللُّغَةَ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624828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79692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944868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أَنَّ اللُّغَةُ</a:t>
            </a:r>
            <a:endParaRPr lang="ar-SA" sz="1800" dirty="0"/>
          </a:p>
        </p:txBody>
      </p:sp>
      <p:sp>
        <p:nvSpPr>
          <p:cNvPr id="34" name="Shape 31"/>
          <p:cNvSpPr/>
          <p:nvPr/>
        </p:nvSpPr>
        <p:spPr>
          <a:xfrm>
            <a:off x="4069080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123944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4389120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جُزْءٌ مِنَ الهُوِيَّةِ.</a:t>
            </a:r>
            <a:endParaRPr lang="ar-SA" sz="1800" dirty="0"/>
          </a:p>
        </p:txBody>
      </p:sp>
      <p:sp>
        <p:nvSpPr>
          <p:cNvPr id="37" name="Shape 34"/>
          <p:cNvSpPr/>
          <p:nvPr/>
        </p:nvSpPr>
        <p:spPr>
          <a:xfrm>
            <a:off x="4069080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123944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4389120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جُزْءًا مِنَ الهُوِيَّةِ.</a:t>
            </a:r>
            <a:endParaRPr lang="ar-SA" sz="1800" dirty="0"/>
          </a:p>
        </p:txBody>
      </p:sp>
      <p:sp>
        <p:nvSpPr>
          <p:cNvPr id="40" name="Shape 37"/>
          <p:cNvSpPr/>
          <p:nvPr/>
        </p:nvSpPr>
        <p:spPr>
          <a:xfrm>
            <a:off x="457200" y="3392424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9436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3502152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We used to celebrate in the village.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9180576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235440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9500616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كُنَّا</a:t>
            </a:r>
            <a:endParaRPr lang="ar-SA" sz="1800" dirty="0"/>
          </a:p>
        </p:txBody>
      </p:sp>
      <p:sp>
        <p:nvSpPr>
          <p:cNvPr id="47" name="Shape 44"/>
          <p:cNvSpPr/>
          <p:nvPr/>
        </p:nvSpPr>
        <p:spPr>
          <a:xfrm>
            <a:off x="9180576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235440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9500616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كُنْتُمْ</a:t>
            </a:r>
            <a:endParaRPr lang="ar-SA" sz="1800" dirty="0"/>
          </a:p>
        </p:txBody>
      </p:sp>
      <p:sp>
        <p:nvSpPr>
          <p:cNvPr id="50" name="Shape 47"/>
          <p:cNvSpPr/>
          <p:nvPr/>
        </p:nvSpPr>
        <p:spPr>
          <a:xfrm>
            <a:off x="6624828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679692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6944868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نَحْتَفِلُ</a:t>
            </a:r>
            <a:endParaRPr lang="ar-SA" sz="1800" dirty="0"/>
          </a:p>
        </p:txBody>
      </p:sp>
      <p:sp>
        <p:nvSpPr>
          <p:cNvPr id="53" name="Shape 50"/>
          <p:cNvSpPr/>
          <p:nvPr/>
        </p:nvSpPr>
        <p:spPr>
          <a:xfrm>
            <a:off x="6624828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679692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6944868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احْتَفَلْنَا</a:t>
            </a:r>
            <a:endParaRPr lang="ar-SA" sz="1800" dirty="0"/>
          </a:p>
        </p:txBody>
      </p:sp>
      <p:sp>
        <p:nvSpPr>
          <p:cNvPr id="56" name="Shape 53"/>
          <p:cNvSpPr/>
          <p:nvPr/>
        </p:nvSpPr>
        <p:spPr>
          <a:xfrm>
            <a:off x="4069080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123944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4389120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القَرْيَةِ.</a:t>
            </a:r>
            <a:endParaRPr lang="ar-SA" sz="1800" dirty="0"/>
          </a:p>
        </p:txBody>
      </p:sp>
      <p:sp>
        <p:nvSpPr>
          <p:cNvPr id="59" name="Shape 56"/>
          <p:cNvSpPr/>
          <p:nvPr/>
        </p:nvSpPr>
        <p:spPr>
          <a:xfrm>
            <a:off x="4069080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123944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4389120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القَرْيَةُ.</a:t>
            </a:r>
            <a:endParaRPr lang="ar-SA" sz="1800" dirty="0"/>
          </a:p>
        </p:txBody>
      </p:sp>
      <p:sp>
        <p:nvSpPr>
          <p:cNvPr id="62" name="Shape 59"/>
          <p:cNvSpPr/>
          <p:nvPr/>
        </p:nvSpPr>
        <p:spPr>
          <a:xfrm>
            <a:off x="457200" y="4773168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594360" y="4910328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59436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65" name="Text 62"/>
          <p:cNvSpPr txBox="1"/>
          <p:nvPr/>
        </p:nvSpPr>
        <p:spPr>
          <a:xfrm>
            <a:off x="1051560" y="4882896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I take pride in my roots.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9180576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9235440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9500616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أَعْتَزُّ</a:t>
            </a:r>
            <a:endParaRPr lang="ar-SA" sz="1800" dirty="0"/>
          </a:p>
        </p:txBody>
      </p:sp>
      <p:sp>
        <p:nvSpPr>
          <p:cNvPr id="69" name="Shape 66"/>
          <p:cNvSpPr/>
          <p:nvPr/>
        </p:nvSpPr>
        <p:spPr>
          <a:xfrm>
            <a:off x="9180576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235440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9500616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أَعْتَزَّ</a:t>
            </a:r>
            <a:endParaRPr lang="ar-SA" sz="1800" dirty="0"/>
          </a:p>
        </p:txBody>
      </p:sp>
      <p:sp>
        <p:nvSpPr>
          <p:cNvPr id="72" name="Shape 69"/>
          <p:cNvSpPr/>
          <p:nvPr/>
        </p:nvSpPr>
        <p:spPr>
          <a:xfrm>
            <a:off x="6624828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679692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74" name="Text 71"/>
          <p:cNvSpPr txBox="1"/>
          <p:nvPr/>
        </p:nvSpPr>
        <p:spPr>
          <a:xfrm>
            <a:off x="6944868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</a:t>
            </a:r>
            <a:endParaRPr lang="ar-SA" sz="1800" dirty="0"/>
          </a:p>
        </p:txBody>
      </p:sp>
      <p:sp>
        <p:nvSpPr>
          <p:cNvPr id="75" name="Shape 72"/>
          <p:cNvSpPr/>
          <p:nvPr/>
        </p:nvSpPr>
        <p:spPr>
          <a:xfrm>
            <a:off x="6624828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6679692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7" name="Text 74"/>
          <p:cNvSpPr txBox="1"/>
          <p:nvPr/>
        </p:nvSpPr>
        <p:spPr>
          <a:xfrm>
            <a:off x="6944868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عَلَى</a:t>
            </a:r>
            <a:endParaRPr lang="ar-SA" sz="1800" dirty="0"/>
          </a:p>
        </p:txBody>
      </p:sp>
      <p:sp>
        <p:nvSpPr>
          <p:cNvPr id="78" name="Shape 75"/>
          <p:cNvSpPr/>
          <p:nvPr/>
        </p:nvSpPr>
        <p:spPr>
          <a:xfrm>
            <a:off x="4069080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123944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80" name="Text 77"/>
          <p:cNvSpPr txBox="1"/>
          <p:nvPr/>
        </p:nvSpPr>
        <p:spPr>
          <a:xfrm>
            <a:off x="4389120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جُذُورِي.</a:t>
            </a:r>
            <a:endParaRPr lang="ar-SA" sz="1800" dirty="0"/>
          </a:p>
        </p:txBody>
      </p:sp>
      <p:sp>
        <p:nvSpPr>
          <p:cNvPr id="81" name="Shape 78"/>
          <p:cNvSpPr/>
          <p:nvPr/>
        </p:nvSpPr>
        <p:spPr>
          <a:xfrm>
            <a:off x="4069080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123944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83" name="Text 80"/>
          <p:cNvSpPr txBox="1"/>
          <p:nvPr/>
        </p:nvSpPr>
        <p:spPr>
          <a:xfrm>
            <a:off x="4389120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جُذُورُي.</a:t>
            </a:r>
            <a:endParaRPr lang="ar-SA" sz="1800" dirty="0"/>
          </a:p>
        </p:txBody>
      </p:sp>
      <p:sp>
        <p:nvSpPr>
          <p:cNvPr id="84" name="Text 8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7 · CHECK YOUR SENTENCES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Sentence builder: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 الجُمْلَةَ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D6 · Countries, Cultures and Celebrations · D6-W05 · Apply workshop (D6-L09 + D6-L10)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47672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19019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It cannot be denied that language is part of identity.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2359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263347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إِنْكَارُ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is the subject (-u);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أَنَّ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+ -a; predicate -un.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1901952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يُمْكِنُ إِنْكَارُ أَنَّ اللُّغَةَ جُزْءٌ مِنَ الهُوِيَّةِ.</a:t>
            </a:r>
            <a:endParaRPr lang="ar-SA" sz="2800" dirty="0"/>
          </a:p>
        </p:txBody>
      </p:sp>
      <p:sp>
        <p:nvSpPr>
          <p:cNvPr id="22" name="Shape 19"/>
          <p:cNvSpPr/>
          <p:nvPr/>
        </p:nvSpPr>
        <p:spPr>
          <a:xfrm>
            <a:off x="457200" y="3291840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" y="3429000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We used to celebrate in the village.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143000" y="3840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" y="41148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to =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كُنَّا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+ present.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3383280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كُنَّا نَحْتَفِلُ فِي القَرْيَةِ.</a:t>
            </a:r>
            <a:endParaRPr lang="ar-SA" sz="2800" dirty="0"/>
          </a:p>
        </p:txBody>
      </p:sp>
      <p:sp>
        <p:nvSpPr>
          <p:cNvPr id="29" name="Shape 26"/>
          <p:cNvSpPr/>
          <p:nvPr/>
        </p:nvSpPr>
        <p:spPr>
          <a:xfrm>
            <a:off x="457200" y="4773168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0080" y="4910328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143000" y="4864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I take pride in my roots.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143000" y="53218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" y="559612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أَعْتَزُّ بِ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+ genitive.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4572000" y="4864608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أَعْتَزُّ بِ جُذُورِي.</a:t>
            </a:r>
            <a:endParaRPr lang="ar-SA" sz="2800" dirty="0"/>
          </a:p>
        </p:txBody>
      </p:sp>
      <p:sp>
        <p:nvSpPr>
          <p:cNvPr id="36" name="Text 3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8 · SPOT AND FIX · MISTAKES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Find the mistake, fix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D6 · Countries, Cultures and Celebrations · D6-W05 · Apply workshop (D6-L09 + D6-L10)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183112" y="2249424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183112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023360" y="1901952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أَعْتَزُّ ثَقَافَتِي.</a:t>
            </a:r>
            <a:endParaRPr lang="ar-SA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190195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Missing preposition.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183112" y="3694176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183112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023360" y="3346704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9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«كُنَّا نَحْتَفِلُ فِي القَرْيَةِ» ← يَحْتَفِلُونَ فِي القَرْيَةِ الآنَ.</a:t>
            </a:r>
            <a:endParaRPr lang="ar-SA" sz="29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3346704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7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كُنَّا</a:t>
            </a:r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+ present = ?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183112" y="5138928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183112" y="5138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023360" y="4791456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أَطْمَحُ أَنْ أُعَلِّمُ أَطْفَالِي.</a:t>
            </a:r>
            <a:endParaRPr lang="ar-SA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4791456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Two things to fix.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8 · CORRECTIONS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Spot and fix: corrections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D6 · Countries, Cultures and Celebrations · D6-W05 · Apply workshop (D6-L09 + D6-L10)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503920" y="190195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أَعْتَزُّ ثَقَافَتِي.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8641080" y="2459736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38160" y="1901952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3566160" y="1901952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أَعْتَزُّ بِثَقَافَتِي.</a:t>
            </a:r>
            <a:endParaRPr lang="ar-SA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1901952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50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أَعْتَزُّ بِ…</a:t>
            </a:r>
            <a:endParaRPr lang="ar-SA" sz="1450" dirty="0"/>
          </a:p>
        </p:txBody>
      </p:sp>
      <p:sp>
        <p:nvSpPr>
          <p:cNvPr id="21" name="Shape 18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503920" y="334670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«كُنَّا نَحْتَفِلُ فِي القَرْيَةِ» ← يَحْتَفِلُونَ فِي القَرْيَةِ الآنَ.</a:t>
            </a:r>
            <a:endParaRPr lang="ar-SA" sz="1800" dirty="0"/>
          </a:p>
        </p:txBody>
      </p:sp>
      <p:sp>
        <p:nvSpPr>
          <p:cNvPr id="23" name="Shape 20"/>
          <p:cNvSpPr/>
          <p:nvPr/>
        </p:nvSpPr>
        <p:spPr>
          <a:xfrm>
            <a:off x="8641080" y="3904488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38160" y="3346704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3566160" y="3346704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كَانُوا يَحْتَفِلُونَ فِي القَرْيَةِ فِي المَاضِي.</a:t>
            </a:r>
            <a:endParaRPr lang="ar-SA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3346704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 + present = past habit, not now.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8503920" y="4791456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أَطْمَحُ أَنْ أُعَلِّمُ أَطْفَالِي.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8641080" y="5349240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38160" y="4791456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3566160" y="4791456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أَطْمَحُ إِلَى أَنْ أُعَلِّمَ أَطْفَالِي.</a:t>
            </a:r>
            <a:endParaRPr lang="ar-SA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" y="4791456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أَطْمَحُ إِلَى أَنْ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 + -a.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WRITE YOUR TEXT · FRAMES IF YOU NEED THEM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writing frames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قَوَالِبُ الكِتَابَةِ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D6 · Countries, Cultures and Celebrations · D6-W05 · Apply workshop (D6-L09 + D6-L10)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بَعْضِ العَائِلَاتِ ______ ، وَلٰكِنْ لَيْسَ دَائِمًا.</a:t>
            </a:r>
            <a:endParaRPr lang="ar-SA" sz="165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some families …, but not always.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2468880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وِجْهَةِ نَظَرِي، ______ 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From my point of view, …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190488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543032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543032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8202168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العَامَ المَاضِيَ احْتَفَلْنَا بِ ______ فِي ______ .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6327648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¶1 Last year we celebrated … in …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8202168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كُنَّا ______ .</a:t>
            </a:r>
            <a:endParaRPr lang="ar-SA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6327648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¶1 We used to …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202168" y="3383280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الآنَ نَتَمَسَّكُ بِ ______ ، وَتُزَيَّنُ ______ .</a:t>
            </a:r>
            <a:endParaRPr lang="ar-SA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6327648" y="3383280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¶2 Now we hold on to …, and … are decorated.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202168" y="3950208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يُمْكِنُ إِنْكَارُ أَنَّ ______ .</a:t>
            </a:r>
            <a:endParaRPr lang="ar-SA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6327648" y="3950208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¶3 It cannot be denied that …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8202168" y="4517136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أَطْمَحُ إِلَى أَنْ ______ .</a:t>
            </a:r>
            <a:endParaRPr lang="ar-SA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6327648" y="4517136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¶4 I aspire to …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57200" y="5504688"/>
            <a:ext cx="1127455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640080" y="55412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WORD BANK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640080" y="5760720"/>
            <a:ext cx="10908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احْتَفَلْنَا · حَضَرْتُ  ·  كُنَّا نَحْتَفِلُ  ·  نَتَمَسَّكُ بِ… · نَحْرِصُ عَلَى  ·  تُزَيَّنُ · تُوَزَّعُ  ·  لَا يُمْكِنُ إِنْكَارُ أَنَّ  ·  مِنْ وِجْهَةِ نَظَرِي  ·  عَلَى حَدِّ عِلْمِي  ·  أَعْتَزُّ بِ… · أَطْمَحُ إِلَى أَنْ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24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10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WRITE YOUR TEXT · ABOUT 60–85 WORDS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text: my culture and identity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ثَقَافَتِي وَهُوِيَّتِي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D6 · Countries, Cultures and Celebrations · D6-W05 · Apply workshop (D6-L09 + D6-L10)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7784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38528"/>
            <a:ext cx="2061972" cy="292608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38528"/>
            <a:ext cx="20619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WRITING · DIRECTED TASK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3317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Write an exam-style text (about 60–85 words) in four paragraphs. ¶1 a past celebration (past verbs, one ‏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كُنَّا</a:t>
            </a:r>
            <a:pPr algn="l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 + present). ¶2 how you live your culture now (with a passive). ¶3 a supported opinion on language and identity (‏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يُمْكِنُ إِنْكَارُ أَنَّ … / مِنْ وِجْهَةِ نَظَرِي</a:t>
            </a:r>
            <a:pPr algn="l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…‏) with one hedge. ¶4 a future aspiration (‏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أَطْمَحُ إِلَى أَنْ</a:t>
            </a:r>
            <a:pPr algn="l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…‏).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331012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All the bullet points, in order.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384048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Language from D6-L09 AND D6-L10.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437083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Linking words: ‏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490118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One opinion with a reason.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543153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Buddy check, then fix one thing.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17920" y="1810512"/>
            <a:ext cx="551383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400800" y="19019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8412480" y="2231136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احْتَفَلْنَا بِ… فِي …</a:t>
            </a:r>
            <a:endParaRPr lang="ar-SA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2560320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celebrated … in …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412480" y="2889504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نَتَمَسَّكُ بِ… · تُزَيَّنُ …</a:t>
            </a:r>
            <a:endParaRPr lang="ar-SA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0" y="3218688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hold on to … · … are decorated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412480" y="3547872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يُمْكِنُ إِنْكَارُ أَنَّ …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0" y="3877056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cannot be denied that …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412480" y="4206240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أَعْتَزُّ بِ… · أَطْمَحُ إِلَى أَنْ …</a:t>
            </a:r>
            <a:endParaRPr lang="ar-SA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0" y="4535424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proud of … · I aspire to …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24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BUDDY CHECK · SWAP AND READ YOUR BUDDY’S TEXT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Buddy check: five points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رَاجِعْ مَعَ زَمِيلِكَ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D6 · Countries, Cultures and Celebrations · D6-W05 · Apply workshop (D6-L09 + D6-L10)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Line / example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455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565392" y="181051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Did the writer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882128" y="2267712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601968" y="2267712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EVERY bullet point?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300471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882128" y="300471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601968" y="300471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cover all four parts, each in the right tense?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741725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882128" y="3741725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601968" y="3741725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notice hedges and who said what?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478731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882128" y="4478731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601968" y="4478731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linking words (‏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‏)?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521573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882128" y="521573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601968" y="521573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more than one tense and give an opinion with a reason?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Give back: one thing that went well + one thing to improve. The writer fixes ONE thing straight away.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24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ROLE-PLAY CARD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Role-play card: compare with a strong answer</a:t>
            </a:r>
            <a:endParaRPr lang="en-US" sz="20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D6 · Countries, Cultures and Celebrations · D6-W05 · Apply workshop (D6-L09 + D6-L10)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البَيْتِ.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 home.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«احْتَفَلْنَا بِرَأْسِ السَّنَةِ الهِجْرِيَّةِ فِي المَسْجِدِ، وَسَنَحْتَفِلُ هٰذِهِ السَّنَةَ فِي البَيْتِ.» — أَيْنَ الاحْتِفَالُ القَادِمُ؟</a:t>
            </a:r>
            <a:endParaRPr lang="ar-SA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لَا؛ الدَّلِيلُ: «غَالِبًا» وَ«لَيْسَ دَائِمًا».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No; the evidence: “often” and “not always”.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«غَالِبًا مَا يَزُورُ النَّاسُ أَقَارِبَهُمْ فِي العِيدِ، وَلٰكِنْ لَيْسَ دَائِمًا.» — هَلْ يَزُورُونَ دَائِمًا؟</a:t>
            </a:r>
            <a:endParaRPr lang="ar-SA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أُخْتُهُ تُحِبُّهُ، أَمَّا المُتَكَلِّمُ فَلَا.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His sister likes it; the speaker does not.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«قَالَتْ أُخْتِي إِنَّ الحِنَّاءَ تَقْلِيدٌ جَمِيلٌ، أَمَّا أَنَا فَلَا أُحِبُّهُ.» — مَنْ يُحِبُّ الحِنَّاءَ؟</a:t>
            </a:r>
            <a:endParaRPr lang="ar-SA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نَعْرِفُ؛ «كُنَّا نَأْكُلُ» عَادَةٌ فِي المَاضِي فَقَطْ.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don’t know; “we used to eat” is a past habit only.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«كُنَّا نَأْكُلُ المَنْسَفَ فِي العِيدِ.» — هَلْ مَا زَالُوا يَأْكُلُونَهُ؟</a:t>
            </a:r>
            <a:endParaRPr lang="ar-SA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أَعْتَزُّ بِعَائِلَتِي وَلُغَتِي؛ لَا يُمْكِنُ إِنْكَارُ أَنَّهُمَا يَصْنَعَانِ هُوِيَّتِي.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proud of my family and my language; it cannot be denied that they make my identity.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وَأَنْتَ: بِمَاذَا تَعْتَزُّ؟ وَلِمَاذَا؟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Did you answer every task in a full sentence? Find one phrase from each lesson in the models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24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WRITE YOUR TEXT · A STRONG ANSWER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Writing: compare with a strong answer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D6 · Countries, Cultures and Celebrations · D6-W05 · Apply workshop (D6-L09 + D6-L10)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38528"/>
            <a:ext cx="108173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3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العَامَ المَاضِيَ احْتَفَلْنَا بِعِيدِ الأَضْحَى فِي بَيْتِ جَدِّي فِي بِرْمِنْغَهَام. كُنَّا نَأْكُلُ مَعًا، وَنَزُورُ الجِيرَانَ.</a:t>
            </a:r>
            <a:endParaRPr lang="ar-SA" sz="23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3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الآنَ نَتَمَسَّكُ بِعَادَاتِنَا؛ تُزَيَّنُ بُيُوتُنَا فِي العِيدِ، وَنَتَكَلَّمُ العَرَبِيَّةَ فِي البَيْتِ.</a:t>
            </a:r>
            <a:endParaRPr lang="ar-SA" sz="23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3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يُمْكِنُ إِنْكَارُ أَنَّ اللُّغَةَ جُزْءٌ مِنَ الهُوِيَّةِ. مِنْ وِجْهَةِ نَظَرِي، تَرْبِطُنَا العَرَبِيَّةُ بِأَجْدَادِنَا، وَلٰكِنَّ الهُوِيَّةَ تَخْتَلِفُ مِنْ شَخْصٍ إِلَى آخَرَ.</a:t>
            </a:r>
            <a:endParaRPr lang="ar-SA" sz="23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3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أَعْتَزُّ بِثَقَافَتِي، وَأَطْمَحُ إِلَى أَنْ أَزُورَ اليَمَنَ يَوْمًا مَا.</a:t>
            </a:r>
            <a:endParaRPr lang="ar-SA" sz="2300" dirty="0"/>
          </a:p>
        </p:txBody>
      </p:sp>
      <p:sp>
        <p:nvSpPr>
          <p:cNvPr id="17" name="Shape 14"/>
          <p:cNvSpPr/>
          <p:nvPr/>
        </p:nvSpPr>
        <p:spPr>
          <a:xfrm>
            <a:off x="457200" y="5166360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5202936"/>
            <a:ext cx="109087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“Last year we celebrated Eid al-Adha at my grandfather’s house in Birmingham. We used to eat together and visit the neighbours. / Now we hold on to our customs; our houses are decorated at Eid, and we speak Arabic at home. / It cannot be denied that language is part of identity. From my point of view, Arabic connects us to our ancestors, but identity differs from one person to another. / I am proud of my culture, and I aspire to visit Yemen one day.”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053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FIND IN THE MODEL: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697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D5FBF"/>
          </a:solidFill>
          <a:ln w="12700">
            <a:solidFill>
              <a:srgbClr val="1D5F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97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احْتَفَلْنَا بِعِيدِ الأَضْحَى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983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983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تُزَيَّنُ بُيُوتُنَا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269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69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يُمْكِنُ إِنْكَارُ أَنَّ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555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555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أَطْمَحُ إِلَى أَنْ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24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D6 · Countries, Cultures and Celebrations · D6-W05 · Apply workshop (D6-L09 + D6-L10)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questions from D6-L09 and D6-L10 in full sentences.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wrote a sentence for every bullet point.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language from BOTH lessons when I spoke and when I wrote.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buddy checked my text and I fixed one mistake.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more than one tense and gave opinions with reasons.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24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D6-W05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used two lessons together!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LESSON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D6-L11 · D6 Consolidation — Complete Review and Speaking Preparation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تَرْسِيخُ الوَحْدَةِ — مُرَاجَعَةٌ شَامِلَةٌ وَإِعْدَادُ التَّحَدُّثِ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keep using this week’s language — say it, then write 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D6-W05 · Apply Workshop — Identity Podcast, Then the Exam Text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2026-10-26T15:48:19Z</dcterms:created>
  <dcterms:modified xsi:type="dcterms:W3CDTF">2026-10-26T15:48:19Z</dcterms:modified>
</cp:coreProperties>
</file>