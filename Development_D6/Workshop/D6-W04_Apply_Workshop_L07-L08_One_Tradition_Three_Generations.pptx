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D6-L07 · Learn D6-L08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D6-L07 (D6 Grammar Consolidation — All Tenses Together) and D6-L08 (Reading — Countries, Culture and Celebration Texts).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D6-L07 and D6-L08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D6-L07? After D6-L08?” Take two answers in the chat for each lesson (one word or one sentence is enough). Then read objective 3 — today’s new situation that needs BOTH lessons. Students tick their route goals at the end of the lesson.
D6-L07 language: one text, the whole system: past (iḥtafalnā · kānat taḥtafilu) · present (naḥtafilu al-āna) · future (sa-naḥtafilu · lan natakhallā ʿan); plus ONE relative clause (alladhī / allatī), ONE comparative, ONE passive (tuzayyanu) and ONE formal connector (ʿilāwatan ʿalā dhālika) — each checked before joining it to the next
D6-L08 language: reading for implication: attitude in word choice (nābiḍun bi-l-ḥayāt vs muzdaḥimun wa-ṣākhib); what the tense signals (izdaharat qadīman = finished history · tazdaharu al-yawm = still true); tone (iʿjāb · ḥiyād · taḥayyuz); what the text leaves out; evidence (al-dalīlu kalimatu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D6-L07.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D6-L08.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D6-L07 and D6-L08. Teacher reads it once with a confident student; then pairs. Ask: “Which lines are from D6-L07? Which from D6-L08?” All tenses in one text (كَانَتْ تَخْبِزُ · تَخْبِزُ · سَأَتَعَلَّمُ · لَنْ نَتَخَلَّى), a relative clause (الَّذِي), a passive (يُحَضَّرُ), a comparative and a formal connector come from D6-L07; reading the tone and what the tense signals from D6-L08.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reading for attitude, evidence words and what the tense signals (D6-L08) and then producing every tense yourself (D6-L07). FADED SUPPORT: tasks 1–2 show the plan; students write their own plan for 3–5. To a girl Partner A says: هَلْ سَتَتَمَسَّكِينَ بِهِ؟ · مَا التَّقْلِيدُ الَّذِي كَانَتْ عَائِلَتُكِ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D6-L07 and D6-L08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D6-L07 and D6-L08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(49 words). CHECK YOURSELF (2 min). Find each bullet point in the model, and one phrase from D6-L07 and one from D6-L08.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D6-L07 + D6-L08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D6-W04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One Tradition, Three Generations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تَقْلِيدٌ وَاحِدٌ وَثَلَاثَةُ أَجْيَالٍ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join the whole tense system with reading for tone: they read two short texts about the same Eid market (one admiring, one critical), find the evidence words and what the tense signals, then tell and write the story of a family tradition across three generations — past habit, present, future and </a:t>
            </a:r>
            <a:pPr algn="l" indent="0" marL="0">
              <a:buNone/>
            </a:pPr>
            <a:r>
              <a:rPr lang="ar-SA" altLang="en-US" sz="1450" dirty="0">
                <a:solidFill>
                  <a:srgbClr val="C6D2E6"/>
                </a:solidFill>
                <a:latin typeface="Amiri" pitchFamily="2" charset="-78"/>
                <a:ea typeface="Amiri" pitchFamily="2" charset="-78"/>
                <a:cs typeface="Amiri" pitchFamily="2" charset="-78"/>
              </a:rPr>
              <a:t>لَنْ</a:t>
            </a:r>
            <a:pPr algn="l" indent="0" marL="0">
              <a:buNone/>
            </a:pPr>
            <a:r>
              <a:rPr lang="en-US" sz="1100" dirty="0">
                <a:solidFill>
                  <a:srgbClr val="C6D2E6"/>
                </a:solidFill>
                <a:latin typeface="Calibri" pitchFamily="34" charset="0"/>
                <a:cs typeface="Amiri" pitchFamily="2" charset="-78"/>
              </a:rPr>
              <a:t>, with one relative clause and one passive.</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D6-L07 + D6-L08</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D6-L07 and D6-L08.</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D6-L07 + D6-L08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D6-L07: D6 Grammar Consolidation — All Tenses Together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D6-L08: Reading — Countries, Culture and Celebration Texts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two texts, one Eid market · One tradition, the whole grammar system</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D6-L07 and D6-L08.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D6-L07</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D6-L07 · D6 Grammar Consolidation — All Tenses Together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 شَامِلَةٌ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comprehensive review</a:t>
            </a:r>
            <a:endParaRPr lang="en-US" sz="1350" dirty="0"/>
          </a:p>
          <a:p>
            <a:pPr indent="0" marL="0">
              <a:buNone/>
            </a:pPr>
            <a:r>
              <a:rPr lang="en-US" sz="1100" i="1" dirty="0">
                <a:solidFill>
                  <a:srgbClr val="5A6472"/>
                </a:solidFill>
                <a:latin typeface="Calibri" pitchFamily="34" charset="0"/>
                <a:cs typeface="Amiri" pitchFamily="2" charset="-78"/>
              </a:rPr>
              <a:t>mu-rā-ja-ʿa-tun shā-mi-la-tun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الزَّمَنُ الحَاضِرُ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present tense</a:t>
            </a:r>
            <a:endParaRPr lang="en-US" sz="1350" dirty="0"/>
          </a:p>
          <a:p>
            <a:pPr indent="0" marL="0">
              <a:buNone/>
            </a:pPr>
            <a:r>
              <a:rPr lang="en-US" sz="1100" i="1" dirty="0">
                <a:solidFill>
                  <a:srgbClr val="5A6472"/>
                </a:solidFill>
                <a:latin typeface="Calibri" pitchFamily="34" charset="0"/>
                <a:cs typeface="Amiri" pitchFamily="2" charset="-78"/>
              </a:rPr>
              <a:t>az-za-ma-nu al-ḥā-ḍi-ru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الاِسْمُ المَوْصُولُ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relative pronoun</a:t>
            </a:r>
            <a:endParaRPr lang="en-US" sz="1350" dirty="0"/>
          </a:p>
          <a:p>
            <a:pPr indent="0" marL="0">
              <a:buNone/>
            </a:pPr>
            <a:r>
              <a:rPr lang="en-US" sz="1100" i="1" dirty="0">
                <a:solidFill>
                  <a:srgbClr val="5A6472"/>
                </a:solidFill>
                <a:latin typeface="Calibri" pitchFamily="34" charset="0"/>
                <a:cs typeface="Amiri" pitchFamily="2" charset="-78"/>
              </a:rPr>
              <a:t>als-mu al-maw-ṣū-lu</a:t>
            </a:r>
            <a:endParaRPr lang="en-US" sz="1350" dirty="0"/>
          </a:p>
        </p:txBody>
      </p:sp>
      <p:sp>
        <p:nvSpPr>
          <p:cNvPr id="36" name="Text 33"/>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الَّذِي، الَّتِي، الَّذِينَ.</a:t>
            </a:r>
            <a:endParaRPr lang="ar-SA" sz="13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0" name="Shape 37"/>
          <p:cNvSpPr/>
          <p:nvPr/>
        </p:nvSpPr>
        <p:spPr>
          <a:xfrm>
            <a:off x="8604504" y="4279392"/>
            <a:ext cx="151790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1517904"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The أَفْعَل pattern.</a:t>
            </a:r>
            <a:endParaRPr lang="en-US" sz="8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 التَّفْضِيلِ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comparative form</a:t>
            </a:r>
            <a:endParaRPr lang="en-US" sz="1350" dirty="0"/>
          </a:p>
          <a:p>
            <a:pPr indent="0" marL="0">
              <a:buNone/>
            </a:pPr>
            <a:r>
              <a:rPr lang="en-US" sz="1100" i="1" dirty="0">
                <a:solidFill>
                  <a:srgbClr val="5A6472"/>
                </a:solidFill>
                <a:latin typeface="Calibri" pitchFamily="34" charset="0"/>
                <a:cs typeface="Amiri" pitchFamily="2" charset="-78"/>
              </a:rPr>
              <a:t>as-mu at-taf-ḍī-li</a:t>
            </a:r>
            <a:endParaRPr lang="en-US" sz="135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9" name="Shape 46"/>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From D3.</a:t>
            </a:r>
            <a:endParaRPr lang="en-US" sz="800" dirty="0"/>
          </a:p>
        </p:txBody>
      </p:sp>
      <p:sp>
        <p:nvSpPr>
          <p:cNvPr id="51" name="Shape 4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سَـ / سَوْفَ</a:t>
            </a:r>
            <a:endParaRPr lang="ar-SA" sz="3000" dirty="0"/>
          </a:p>
        </p:txBody>
      </p:sp>
      <p:sp>
        <p:nvSpPr>
          <p:cNvPr id="54" name="Text 5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a:t>
            </a:r>
            <a:endParaRPr lang="en-US" sz="1350" dirty="0"/>
          </a:p>
          <a:p>
            <a:pPr indent="0" marL="0">
              <a:buNone/>
            </a:pPr>
            <a:r>
              <a:rPr lang="en-US" sz="1100" i="1" dirty="0">
                <a:solidFill>
                  <a:srgbClr val="5A6472"/>
                </a:solidFill>
                <a:latin typeface="Calibri" pitchFamily="34" charset="0"/>
                <a:cs typeface="Amiri" pitchFamily="2" charset="-78"/>
              </a:rPr>
              <a:t>sa / saw-fa</a:t>
            </a:r>
            <a:endParaRPr lang="en-US" sz="135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0" name="Shape 5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الَّذِي / الَّتِي</a:t>
            </a:r>
            <a:endParaRPr lang="ar-SA" sz="3000" dirty="0"/>
          </a:p>
        </p:txBody>
      </p:sp>
      <p:sp>
        <p:nvSpPr>
          <p:cNvPr id="63" name="Text 6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 which (m. / f.)</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al-َ-dhī / al-َ-tī</a:t>
            </a:r>
            <a:endParaRPr lang="en-US" sz="1350" dirty="0"/>
          </a:p>
        </p:txBody>
      </p:sp>
      <p:sp>
        <p:nvSpPr>
          <p:cNvPr id="64" name="Shape 61"/>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pl.</a:t>
            </a:r>
            <a:endParaRPr lang="en-US" sz="700" dirty="0"/>
          </a:p>
        </p:txBody>
      </p:sp>
      <p:sp>
        <p:nvSpPr>
          <p:cNvPr id="66" name="Text 63"/>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الَّذِينَ</a:t>
            </a:r>
            <a:endParaRPr lang="ar-SA" sz="1350" dirty="0"/>
          </a:p>
        </p:txBody>
      </p:sp>
      <p:sp>
        <p:nvSpPr>
          <p:cNvPr id="67" name="Shape 64"/>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pl.</a:t>
            </a:r>
            <a:endParaRPr lang="en-US" sz="700" dirty="0"/>
          </a:p>
        </p:txBody>
      </p:sp>
      <p:sp>
        <p:nvSpPr>
          <p:cNvPr id="69" name="Text 66"/>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اللَّوَاتِي</a:t>
            </a:r>
            <a:endParaRPr lang="ar-SA" sz="13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D6-L08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D6-L08 · Reading — Countries, Culture and Celebration Texts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مَنْظُورٌ ثَقَافِيٌّ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perspective</a:t>
            </a:r>
            <a:endParaRPr lang="en-US" sz="1350" dirty="0"/>
          </a:p>
          <a:p>
            <a:pPr indent="0" marL="0">
              <a:buNone/>
            </a:pPr>
            <a:r>
              <a:rPr lang="en-US" sz="1100" i="1" dirty="0">
                <a:solidFill>
                  <a:srgbClr val="5A6472"/>
                </a:solidFill>
                <a:latin typeface="Calibri" pitchFamily="34" charset="0"/>
                <a:cs typeface="Amiri" pitchFamily="2" charset="-78"/>
              </a:rPr>
              <a:t>man-ẓū-run tha-qā-fiy-yun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نَبْرَةُ الكَاتِبِ</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writer's tone</a:t>
            </a:r>
            <a:endParaRPr lang="en-US" sz="1350" dirty="0"/>
          </a:p>
          <a:p>
            <a:pPr indent="0" marL="0">
              <a:buNone/>
            </a:pPr>
            <a:r>
              <a:rPr lang="en-US" sz="1100" i="1" dirty="0">
                <a:solidFill>
                  <a:srgbClr val="5A6472"/>
                </a:solidFill>
                <a:latin typeface="Calibri" pitchFamily="34" charset="0"/>
                <a:cs typeface="Amiri" pitchFamily="2" charset="-78"/>
              </a:rPr>
              <a:t>nab-ra-tu al-kā-ti-bi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تَحَيُّزٌ</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bias</a:t>
            </a:r>
            <a:endParaRPr lang="en-US" sz="1350" dirty="0"/>
          </a:p>
          <a:p>
            <a:pPr indent="0" marL="0">
              <a:buNone/>
            </a:pPr>
            <a:r>
              <a:rPr lang="en-US" sz="1100" i="1" dirty="0">
                <a:solidFill>
                  <a:srgbClr val="5A6472"/>
                </a:solidFill>
                <a:latin typeface="Calibri" pitchFamily="34" charset="0"/>
                <a:cs typeface="Amiri" pitchFamily="2" charset="-78"/>
              </a:rPr>
              <a:t>ta-ḥay-yu-zun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الفِكْرَةُ الرَّئِيسِيَّةُ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main idea</a:t>
            </a:r>
            <a:endParaRPr lang="en-US" sz="1350" dirty="0"/>
          </a:p>
          <a:p>
            <a:pPr indent="0" marL="0">
              <a:buNone/>
            </a:pPr>
            <a:r>
              <a:rPr lang="en-US" sz="1100" i="1" dirty="0">
                <a:solidFill>
                  <a:srgbClr val="5A6472"/>
                </a:solidFill>
                <a:latin typeface="Calibri" pitchFamily="34" charset="0"/>
                <a:cs typeface="Amiri" pitchFamily="2" charset="-78"/>
              </a:rPr>
              <a:t>al-fik-ra-tu ar-ra-ʾī-siy-ya-tu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IV · past</a:t>
            </a:r>
            <a:endParaRPr lang="en-US" sz="8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يُشِيرُ إِلَى</a:t>
            </a:r>
            <a:endParaRPr lang="ar-SA" sz="3000" dirty="0"/>
          </a:p>
        </p:txBody>
      </p:sp>
      <p:sp>
        <p:nvSpPr>
          <p:cNvPr id="51" name="Text 4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refers to</a:t>
            </a:r>
            <a:endParaRPr lang="en-US" sz="1350" dirty="0"/>
          </a:p>
          <a:p>
            <a:pPr indent="0" marL="0">
              <a:buNone/>
            </a:pPr>
            <a:r>
              <a:rPr lang="en-US" sz="1100" i="1" dirty="0">
                <a:solidFill>
                  <a:srgbClr val="5A6472"/>
                </a:solidFill>
                <a:latin typeface="Calibri" pitchFamily="34" charset="0"/>
                <a:cs typeface="Amiri" pitchFamily="2" charset="-78"/>
              </a:rPr>
              <a:t>yu-shī-ru i-lā</a:t>
            </a:r>
            <a:endParaRPr lang="en-US" sz="1350" dirty="0"/>
          </a:p>
        </p:txBody>
      </p:sp>
      <p:sp>
        <p:nvSpPr>
          <p:cNvPr id="52" name="Shape 4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4" name="Text 51"/>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أَشَارَ</a:t>
            </a:r>
            <a:endParaRPr lang="ar-SA" sz="1350" dirty="0"/>
          </a:p>
        </p:txBody>
      </p:sp>
      <p:sp>
        <p:nvSpPr>
          <p:cNvPr id="55" name="Shape 5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7" name="Text 5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تُشِيرُ</a:t>
            </a:r>
            <a:endParaRPr lang="ar-SA" sz="150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1" name="Shape 5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نَبْرَةٌ احْتِفَالِيَّةٌ</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celebratory tone</a:t>
            </a:r>
            <a:endParaRPr lang="en-US" sz="1350" dirty="0"/>
          </a:p>
          <a:p>
            <a:pPr indent="0" marL="0">
              <a:buNone/>
            </a:pPr>
            <a:r>
              <a:rPr lang="en-US" sz="1100" i="1" dirty="0">
                <a:solidFill>
                  <a:srgbClr val="5A6472"/>
                </a:solidFill>
                <a:latin typeface="Calibri" pitchFamily="34" charset="0"/>
                <a:cs typeface="Amiri" pitchFamily="2" charset="-78"/>
              </a:rPr>
              <a:t>nab-ra-tun aḥ-ti-fā-liy-ya-tun</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Admiring or critical?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نَابِضٌ بِالحَيَاةِ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مُزْدَحِمٌ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صَاخِبٌ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سَاحِرٌ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يُنْسَى</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مُرْهِقٌ</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غَالٍ جِدًّا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دَافِئٌ وَكَرِيمٌ</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Admiring words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Critical words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Admiring words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نَابِضٌ بِالحَيَاةِ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سَاحِرٌ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يُنْسَى</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دَافِئٌ وَكَرِيمٌ</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Critical words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مُزْدَحِمٌ</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صَاخِبٌ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مُرْهِقٌ</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غَالٍ جِدًّا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Grandmother’s tradition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تَقْلِيدُ جَدَّتِي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tradition do you love in your family?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التَّقْلِيدُ الَّذِي تُحِبُّهُ فِي عَائِلَتِكَ؟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Eid biscuits; my grandmother used to bake them with her own hands every year.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كَعْكُ العِيدِ؛ كَانَتْ جَدَّتِي تَخْبِزُهُ بِيَدَيْهَا كُلَّ سَنَةٍ.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now?</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وَالآنَ؟</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 my mother bakes them; they are prepared on the night before Eid, and they are tastier than shop biscuits.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الآنَ تَخْبِزُهُ أُمِّي، وَيُحَضَّرُ فِي لَيْلَةِ العِيدِ، وَهُوَ أَطْيَبُ مِنْ كَعْكِ المَحَلَّاتِ.</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in the future?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وَفِي المُسْتَقْبَلِ؟</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learn the recipe, and we will not give up this tradition; moreover, I will teach it to my children.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سَأَتَعَلَّمُ الوَصْفَةَ، وَلَنْ نَتَخَلَّى عَنْ هٰذَا التَّقْلِيدِ؛ عِلَاوَةً عَلَى ذٰلِكَ سَأُعَلِّمُهُ لِأَوْلَادِي.</a:t>
            </a:r>
            <a:endParaRPr lang="ar-SA" sz="17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56648" y="2267712"/>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كَانُوا يَسْكُنُونَ … وَكَانُوا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did your grandparents use to live?</a:t>
            </a:r>
            <a:endParaRPr lang="en-US" sz="1100" dirty="0"/>
          </a:p>
        </p:txBody>
      </p:sp>
      <p:sp>
        <p:nvSpPr>
          <p:cNvPr id="25" name="Text 22"/>
          <p:cNvSpPr txBox="1"/>
          <p:nvPr/>
        </p:nvSpPr>
        <p:spPr>
          <a:xfrm>
            <a:off x="1069848" y="2267712"/>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pPr algn="l" indent="0" marL="0">
              <a:buNone/>
            </a:pPr>
            <a:r>
              <a:rPr lang="ar-SA" altLang="en-US" sz="1450" dirty="0">
                <a:solidFill>
                  <a:srgbClr val="5A6472"/>
                </a:solidFill>
                <a:latin typeface="Amiri" pitchFamily="2" charset="-78"/>
                <a:ea typeface="Amiri" pitchFamily="2" charset="-78"/>
                <a:cs typeface="Amiri" pitchFamily="2" charset="-78"/>
              </a:rPr>
              <a:t>كَيْفَ كَانَ أَجْدَادُكَ يَعِيشُونَ؟</a:t>
            </a:r>
            <a:pPr algn="l" indent="0" marL="0">
              <a:buNone/>
            </a:pPr>
            <a:r>
              <a:rPr lang="en-US" sz="1100" dirty="0">
                <a:solidFill>
                  <a:srgbClr val="5A6472"/>
                </a:solidFill>
                <a:latin typeface="Calibri" pitchFamily="34" charset="0"/>
                <a:cs typeface="Amiri" pitchFamily="2" charset="-78"/>
              </a:rPr>
              <a:t>‏ (used to)</a:t>
            </a:r>
            <a:endParaRPr lang="en-US" sz="11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«آمِنٌ» وَ«يُنَاسِبُ»</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مَوْقِفُهُ إِيجَابِيٌّ؛ الدَّلِيلُ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calm, safe district, good for families.” — Attitude?</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«حَيٌّ هَادِئٌ وَآمِنٌ، يُنَاسِبُ العَائِلَاتِ.» — مَا مَوْقِفُ الكَاتِبِ؟</a:t>
            </a:r>
            <a:endParaRPr lang="ar-SA" sz="135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التَّقْلِيدُ الَّذِي أُحِبُّهُ هُوَ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tradition do you love?</a:t>
            </a:r>
            <a:endParaRPr lang="en-US" sz="1100" dirty="0"/>
          </a:p>
        </p:txBody>
      </p:sp>
      <p:sp>
        <p:nvSpPr>
          <p:cNvPr id="41" name="Text 38"/>
          <p:cNvSpPr txBox="1"/>
          <p:nvPr/>
        </p:nvSpPr>
        <p:spPr>
          <a:xfrm>
            <a:off x="1069848" y="3496056"/>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pPr algn="l" indent="0" marL="0">
              <a:buNone/>
            </a:pPr>
            <a:r>
              <a:rPr lang="ar-SA" altLang="en-US" sz="1450" dirty="0">
                <a:solidFill>
                  <a:srgbClr val="5A6472"/>
                </a:solidFill>
                <a:latin typeface="Amiri" pitchFamily="2" charset="-78"/>
                <a:ea typeface="Amiri" pitchFamily="2" charset="-78"/>
                <a:cs typeface="Amiri" pitchFamily="2" charset="-78"/>
              </a:rPr>
              <a:t>مَا التَّقْلِيدُ الَّذِي تُحِبُّهُ؟</a:t>
            </a:r>
            <a:pPr algn="l" indent="0" marL="0">
              <a:buNone/>
            </a:pPr>
            <a:r>
              <a:rPr lang="en-US" sz="1100" dirty="0">
                <a:solidFill>
                  <a:srgbClr val="5A6472"/>
                </a:solidFill>
                <a:latin typeface="Calibri" pitchFamily="34" charset="0"/>
                <a:cs typeface="Amiri" pitchFamily="2" charset="-78"/>
              </a:rPr>
              <a:t>‏ (relative clause)</a:t>
            </a:r>
            <a:endParaRPr lang="en-US" sz="11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«كَانَتْ» = المَاضِي</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نَعْرِفُ، لِأَنَّ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village was famous for pottery.” — Still famous?</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ea typeface="Amiri" pitchFamily="2" charset="-78"/>
                <a:cs typeface="Amiri" pitchFamily="2" charset="-78"/>
              </a:rPr>
              <a:t>«كَانَتِ القَرْيَةُ مَشْهُورَةً بِالفَخَّارِ.» — هَلْ مَا زَالَتْ مَشْهُورَةً؟</a:t>
            </a:r>
            <a:endParaRPr lang="ar-SA" sz="13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56648" y="4724400"/>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يُحَضَّرُ … / تُزَيَّنُ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prepared at home for occasions?</a:t>
            </a:r>
            <a:endParaRPr lang="en-US" sz="1100" dirty="0"/>
          </a:p>
        </p:txBody>
      </p:sp>
      <p:sp>
        <p:nvSpPr>
          <p:cNvPr id="57" name="Text 54"/>
          <p:cNvSpPr txBox="1"/>
          <p:nvPr/>
        </p:nvSpPr>
        <p:spPr>
          <a:xfrm>
            <a:off x="1069848" y="4724400"/>
            <a:ext cx="3383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pPr algn="l" indent="0" marL="0">
              <a:buNone/>
            </a:pPr>
            <a:r>
              <a:rPr lang="ar-SA" altLang="en-US" sz="1450" dirty="0">
                <a:solidFill>
                  <a:srgbClr val="5A6472"/>
                </a:solidFill>
                <a:latin typeface="Amiri" pitchFamily="2" charset="-78"/>
                <a:ea typeface="Amiri" pitchFamily="2" charset="-78"/>
                <a:cs typeface="Amiri" pitchFamily="2" charset="-78"/>
              </a:rPr>
              <a:t>مَاذَا يُحَضَّرُ فِي بَيْتِكُمْ فِي المُنَاسَبَاتِ؟</a:t>
            </a:r>
            <a:pPr algn="l" indent="0" marL="0">
              <a:buNone/>
            </a:pPr>
            <a:r>
              <a:rPr lang="en-US" sz="1100" dirty="0">
                <a:solidFill>
                  <a:srgbClr val="5A6472"/>
                </a:solidFill>
                <a:latin typeface="Calibri" pitchFamily="34" charset="0"/>
                <a:cs typeface="Amiri" pitchFamily="2" charset="-78"/>
              </a:rPr>
              <a:t>‏ (passive)</a:t>
            </a:r>
            <a:endParaRPr lang="en-US" sz="11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وَ«كُلَّ عَامٍ»</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لِأَنَّ الفِعْلَ مُضَارِعٌ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“Residents celebrate the festival every year.” — True today?</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lnSpc>
                <a:spcPct val="120000"/>
              </a:lnSpc>
              <a:buNone/>
            </a:pPr>
            <a:r>
              <a:rPr lang="ar-SA" altLang="en-US" sz="1250" b="1" dirty="0">
                <a:solidFill>
                  <a:srgbClr val="1B3B6F"/>
                </a:solidFill>
                <a:latin typeface="Amiri" pitchFamily="2" charset="-78"/>
                <a:ea typeface="Amiri" pitchFamily="2" charset="-78"/>
                <a:cs typeface="Amiri" pitchFamily="2" charset="-78"/>
              </a:rPr>
              <a:t>«يَحْتَفِلُ السُّكَّانُ بِالمِهْرَجَانِ كُلَّ عَامٍ.» — هَلْ هٰذَا صَحِيحٌ اليَوْمَ؟</a:t>
            </a:r>
            <a:endParaRPr lang="ar-SA" sz="125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D6-L07, even numbers from D6-L08.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Reading card — two texts, one Eid market</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نَصَّانِ عَنْ سُوقِ العِيدِ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مُعْجَبٌ · الدَّلِيلُ: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Attitude + the evidence words.</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النَّصُّ ١: «سُوقُ العِيدِ نَابِضٌ بِالحَيَاةِ، وَالأَضْوَاءُ سَاحِرَةٌ.» — مَا مَوْقِفُ الكَاتِبِ؟</a:t>
            </a:r>
            <a:endParaRPr lang="ar-SA" sz="13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 ← نَاقِدٌ · الدَّلِيلُ: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Same facts, different tone.</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النَّصُّ ٢: «السُّوقُ مُزْدَحِمٌ وَصَاخِبٌ، وَالأَسْعَارُ مُرْهِقَةٌ.» — وَهٰذَا الكَاتِبُ؟</a:t>
            </a:r>
            <a:endParaRPr lang="ar-SA" sz="13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the tense signal?</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«كَانَ السُّوقُ مَشْهُورًا بِالحَلْوَى.» — هَلْ مَا زَالَ مَشْهُورًا؟</a:t>
            </a:r>
            <a:endParaRPr lang="ar-SA" sz="155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past habit + a relative clause.</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التَّقْلِيدُ الَّذِي كَانَتْ عَائِلَتُكَ تَتَمَسَّكُ بِهِ؟</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 ‏</a:t>
            </a:r>
            <a:pPr algn="l" indent="0" marL="0">
              <a:buNone/>
            </a:pPr>
            <a:r>
              <a:rPr lang="ar-SA" altLang="en-US" sz="1450" dirty="0">
                <a:solidFill>
                  <a:srgbClr val="5A6472"/>
                </a:solidFill>
                <a:latin typeface="Amiri" pitchFamily="2" charset="-78"/>
                <a:ea typeface="Amiri" pitchFamily="2" charset="-78"/>
                <a:cs typeface="Amiri" pitchFamily="2" charset="-78"/>
              </a:rPr>
              <a:t>لَنْ</a:t>
            </a:r>
            <a:pPr algn="l" indent="0" marL="0">
              <a:buNone/>
            </a:pPr>
            <a:r>
              <a:rPr lang="en-US" sz="1100" dirty="0">
                <a:solidFill>
                  <a:srgbClr val="5A6472"/>
                </a:solidFill>
                <a:latin typeface="Calibri" pitchFamily="34" charset="0"/>
                <a:cs typeface="Amiri" pitchFamily="2" charset="-78"/>
              </a:rPr>
              <a:t>‏ + a formal connector.</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سَتَتَمَسَّكُ بِهِ فِي المُسْتَقْبَلِ؟</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Partner A reads the texts twice. Name the attitude and quote the evidence words; say what the tense tells you. Tasks 4 and ! are your tradition. Then swap.</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 tradition across three generations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تَقْلِيدٌ عَبْرَ الأَجْيَالِ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one family tradition across three generations: how it used to be (‏</a:t>
            </a:r>
            <a:pPr algn="l" indent="0" marL="0">
              <a:buNone/>
            </a:pPr>
            <a:r>
              <a:rPr lang="ar-SA" altLang="en-US" sz="1750" dirty="0">
                <a:solidFill>
                  <a:srgbClr val="1F2A37"/>
                </a:solidFill>
                <a:latin typeface="Amiri" pitchFamily="2" charset="-78"/>
                <a:ea typeface="Amiri" pitchFamily="2" charset="-78"/>
                <a:cs typeface="Amiri" pitchFamily="2" charset="-78"/>
              </a:rPr>
              <a:t>كَانَ / كَانَتْ</a:t>
            </a:r>
            <a:pPr algn="l" indent="0" marL="0">
              <a:buNone/>
            </a:pPr>
            <a:r>
              <a:rPr lang="en-US" sz="1350" dirty="0">
                <a:solidFill>
                  <a:srgbClr val="1F2A37"/>
                </a:solidFill>
                <a:latin typeface="Calibri" pitchFamily="34" charset="0"/>
                <a:cs typeface="Amiri" pitchFamily="2" charset="-78"/>
              </a:rPr>
              <a:t>‏ + present), how it is now (with a passive), and what will happen to it (a future and a ‏</a:t>
            </a:r>
            <a:pPr algn="l" indent="0" marL="0">
              <a:buNone/>
            </a:pPr>
            <a:r>
              <a:rPr lang="ar-SA" altLang="en-US" sz="1750" dirty="0">
                <a:solidFill>
                  <a:srgbClr val="1F2A37"/>
                </a:solidFill>
                <a:latin typeface="Amiri" pitchFamily="2" charset="-78"/>
                <a:ea typeface="Amiri" pitchFamily="2" charset="-78"/>
                <a:cs typeface="Amiri" pitchFamily="2" charset="-78"/>
              </a:rPr>
              <a:t>لَنْ</a:t>
            </a:r>
            <a:pPr algn="l" indent="0" marL="0">
              <a:buNone/>
            </a:pPr>
            <a:r>
              <a:rPr lang="en-US" sz="1350" dirty="0">
                <a:solidFill>
                  <a:srgbClr val="1F2A37"/>
                </a:solidFill>
                <a:latin typeface="Calibri" pitchFamily="34" charset="0"/>
                <a:cs typeface="Amiri" pitchFamily="2" charset="-78"/>
              </a:rPr>
              <a:t>‏ sentence). Add one relative clause, one comparative and one formal connector — and say it once admiringly, once critically.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كَانَتْ جَدَّتِي تَخْبِزُ … · الآنَ … · سَأَتَعَلَّمُ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passive (‏</a:t>
            </a:r>
            <a:pPr algn="l" indent="0" marL="0">
              <a:buNone/>
            </a:pPr>
            <a:r>
              <a:rPr lang="ar-SA" altLang="en-US" sz="1500" dirty="0">
                <a:solidFill>
                  <a:srgbClr val="1F2A37"/>
                </a:solidFill>
                <a:latin typeface="Amiri" pitchFamily="2" charset="-78"/>
                <a:ea typeface="Amiri" pitchFamily="2" charset="-78"/>
                <a:cs typeface="Amiri" pitchFamily="2" charset="-78"/>
              </a:rPr>
              <a:t>يُحَضَّرُ</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تُزَيَّنُ</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التَّقْلِيدُ الَّذِي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لَنْ نَتَخَلَّى عَنْ</a:t>
            </a:r>
            <a:pPr algn="l" indent="0" marL="0">
              <a:buNone/>
            </a:pPr>
            <a:r>
              <a:rPr lang="en-US" sz="1150" dirty="0">
                <a:solidFill>
                  <a:srgbClr val="1F2A37"/>
                </a:solidFill>
                <a:latin typeface="Calibri" pitchFamily="34" charset="0"/>
                <a:cs typeface="Amiri" pitchFamily="2" charset="-78"/>
              </a:rPr>
              <a:t> …‏, a comparative and ‏</a:t>
            </a:r>
            <a:pPr algn="l" indent="0" marL="0">
              <a:buNone/>
            </a:pPr>
            <a:r>
              <a:rPr lang="ar-SA" altLang="en-US" sz="1500" dirty="0">
                <a:solidFill>
                  <a:srgbClr val="1F2A37"/>
                </a:solidFill>
                <a:latin typeface="Amiri" pitchFamily="2" charset="-78"/>
                <a:ea typeface="Amiri" pitchFamily="2" charset="-78"/>
                <a:cs typeface="Amiri" pitchFamily="2" charset="-78"/>
              </a:rPr>
              <a:t>عِلَاوَةً عَلَى ذٰلِكَ</a:t>
            </a:r>
            <a:pPr algn="l" indent="0" marL="0">
              <a:buNone/>
            </a:pPr>
            <a:r>
              <a:rPr lang="en-US" sz="1150" dirty="0">
                <a:solidFill>
                  <a:srgbClr val="1F2A37"/>
                </a:solidFill>
                <a:latin typeface="Calibri" pitchFamily="34" charset="0"/>
                <a:cs typeface="Amiri" pitchFamily="2" charset="-78"/>
              </a:rPr>
              <a:t>‏; then switch the tone.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family that lives next to us used to celebrate with us.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العَائِلَةُ الَّتِي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العَائِلَةُ الَّذِي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تَسْكُنُ بِجَانِبِنَا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يَسْكُنُ بِجَانِبِنَا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كَانَتْ تَحْتَفِلُ مَعَنَا.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كَانَتْ احْتَفَلَتْ مَعَنَا.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writer’s tone is admiring.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نَبْرَةُ الكَاتِبِ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نَبْرَةَ الكَاتِبُ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إِعْجَابٌ.</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إِعْجَابًا.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Sweets are prepared the night before.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تُحَضَّرُ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تُحَضِّرُ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الحَلْوَى</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لِلْحَلْوَى</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اللَّيْلَةِ السَّابِقَةِ.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اللَّيْلَةُ السَّابِقَةُ.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family that lives next to us used to celebrate with us.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 → </a:t>
            </a:r>
            <a:pPr algn="l" indent="0" marL="0">
              <a:buNone/>
            </a:pPr>
            <a:r>
              <a:rPr lang="ar-SA" altLang="en-US" sz="1350" dirty="0">
                <a:solidFill>
                  <a:srgbClr val="5A6472"/>
                </a:solidFill>
                <a:latin typeface="Amiri" pitchFamily="2" charset="-78"/>
                <a:ea typeface="Amiri" pitchFamily="2" charset="-78"/>
                <a:cs typeface="Amiri" pitchFamily="2" charset="-78"/>
              </a:rPr>
              <a:t>الَّتِي</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تَسْكُنُ</a:t>
            </a:r>
            <a:pPr algn="l" indent="0" marL="0">
              <a:buNone/>
            </a:pPr>
            <a:r>
              <a:rPr lang="en-US" sz="1050" i="1" dirty="0">
                <a:solidFill>
                  <a:srgbClr val="5A6472"/>
                </a:solidFill>
                <a:latin typeface="Calibri" pitchFamily="34" charset="0"/>
                <a:cs typeface="Amiri" pitchFamily="2" charset="-78"/>
              </a:rPr>
              <a:t>; used to = </a:t>
            </a:r>
            <a:pPr algn="l" indent="0" marL="0">
              <a:buNone/>
            </a:pPr>
            <a:r>
              <a:rPr lang="ar-SA" altLang="en-US" sz="1350" dirty="0">
                <a:solidFill>
                  <a:srgbClr val="5A6472"/>
                </a:solidFill>
                <a:latin typeface="Amiri" pitchFamily="2" charset="-78"/>
                <a:ea typeface="Amiri" pitchFamily="2" charset="-78"/>
                <a:cs typeface="Amiri" pitchFamily="2" charset="-78"/>
              </a:rPr>
              <a:t>كَانَتْ</a:t>
            </a:r>
            <a:pPr algn="l" indent="0" marL="0">
              <a:buNone/>
            </a:pPr>
            <a:r>
              <a:rPr lang="en-US" sz="1050" i="1" dirty="0">
                <a:solidFill>
                  <a:srgbClr val="5A6472"/>
                </a:solidFill>
                <a:latin typeface="Calibri" pitchFamily="34" charset="0"/>
                <a:cs typeface="Amiri" pitchFamily="2" charset="-78"/>
              </a:rPr>
              <a:t> + present.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العَائِلَةُ الَّتِي تَسْكُنُ بِجَانِبِنَا كَانَتْ تَحْتَفِلُ مَعَنَا.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writer’s tone is admiring.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نَبْرَةٌ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فِيهَا</a:t>
            </a:r>
            <a:pPr algn="l" indent="0" marL="0">
              <a:buNone/>
            </a:pPr>
            <a:r>
              <a:rPr lang="en-US" sz="1050" i="1" dirty="0">
                <a:solidFill>
                  <a:srgbClr val="5A6472"/>
                </a:solidFill>
                <a:latin typeface="Calibri" pitchFamily="34" charset="0"/>
                <a:cs typeface="Amiri" pitchFamily="2" charset="-78"/>
              </a:rPr>
              <a:t>; subject </a:t>
            </a:r>
            <a:pPr algn="l" indent="0" marL="0">
              <a:buNone/>
            </a:pPr>
            <a:r>
              <a:rPr lang="ar-SA" altLang="en-US" sz="1350" dirty="0">
                <a:solidFill>
                  <a:srgbClr val="5A6472"/>
                </a:solidFill>
                <a:latin typeface="Amiri" pitchFamily="2" charset="-78"/>
                <a:ea typeface="Amiri" pitchFamily="2" charset="-78"/>
                <a:cs typeface="Amiri" pitchFamily="2" charset="-78"/>
              </a:rPr>
              <a:t>إِعْجَابٌ</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نَبْرَةُ الكَاتِبِ فِيهَا إِعْجَابٌ.</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Sweets are prepared the night before.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-a- vowel: </a:t>
            </a:r>
            <a:pPr algn="l" indent="0" marL="0">
              <a:buNone/>
            </a:pPr>
            <a:r>
              <a:rPr lang="ar-SA" altLang="en-US" sz="1350" dirty="0">
                <a:solidFill>
                  <a:srgbClr val="5A6472"/>
                </a:solidFill>
                <a:latin typeface="Amiri" pitchFamily="2" charset="-78"/>
                <a:ea typeface="Amiri" pitchFamily="2" charset="-78"/>
                <a:cs typeface="Amiri" pitchFamily="2" charset="-78"/>
              </a:rPr>
              <a:t>تُحَضَّرُ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تُحَضَّرُ الحَلْوَى فِي اللَّيْلَةِ السَّابِقَةِ.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كَانَ جَدِّي يَعْمَلَ فِي المَزْرَعَةِ.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كَانَ</a:t>
            </a:r>
            <a:pPr algn="l" indent="0" marL="0">
              <a:buNone/>
            </a:pPr>
            <a:r>
              <a:rPr lang="en-US" sz="1300" i="1" dirty="0">
                <a:solidFill>
                  <a:srgbClr val="5A6472"/>
                </a:solidFill>
                <a:latin typeface="Calibri" pitchFamily="34" charset="0"/>
                <a:cs typeface="Amiri" pitchFamily="2" charset="-78"/>
              </a:rPr>
              <a:t>, the verb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2950" b="1" dirty="0">
                <a:solidFill>
                  <a:srgbClr val="B83227"/>
                </a:solidFill>
                <a:latin typeface="Amiri" pitchFamily="2" charset="-78"/>
                <a:ea typeface="Amiri" pitchFamily="2" charset="-78"/>
                <a:cs typeface="Amiri" pitchFamily="2" charset="-78"/>
              </a:rPr>
              <a:t>«ازْدَهَرَتِ الصِّنَاعَةُ قَدِيمًا» ← الصِّنَاعَةُ مُزْدَهِرَةٌ اليَوْمَ.</a:t>
            </a:r>
            <a:endParaRPr lang="ar-SA" sz="295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tense.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الاحْتِفَالُ اليَوْمَ أَكْثَرُ أَصْغَرُ.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One comparative only.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كَانَ جَدِّي يَعْمَلَ فِي المَزْرَعَةِ.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 جَدِّي يَعْمَلُ فِي المَزْرَعَةِ.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 present indicative (-u).</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«ازْدَهَرَتِ الصِّنَاعَةُ قَدِيمًا» ← الصِّنَاعَةُ مُزْدَهِرَةٌ اليَوْمَ.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كَانَتْ مُزْدَهِرَةً فِي المَاضِي؛ النَّصُّ لَا يَذْكُرُ اليَوْمَ.</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Past verb + ‏</a:t>
            </a:r>
            <a:pPr algn="l" indent="0" marL="0">
              <a:buNone/>
            </a:pPr>
            <a:r>
              <a:rPr lang="ar-SA" altLang="en-US" sz="1500" b="1" dirty="0">
                <a:solidFill>
                  <a:srgbClr val="1B3B6F"/>
                </a:solidFill>
                <a:latin typeface="Amiri" pitchFamily="2" charset="-78"/>
                <a:ea typeface="Amiri" pitchFamily="2" charset="-78"/>
                <a:cs typeface="Amiri" pitchFamily="2" charset="-78"/>
              </a:rPr>
              <a:t>قَدِيمًا</a:t>
            </a:r>
            <a:pPr algn="l" indent="0" marL="0">
              <a:buNone/>
            </a:pPr>
            <a:r>
              <a:rPr lang="en-US" sz="1150" b="1" dirty="0">
                <a:solidFill>
                  <a:srgbClr val="1B3B6F"/>
                </a:solidFill>
                <a:latin typeface="Calibri" pitchFamily="34" charset="0"/>
                <a:cs typeface="Amiri" pitchFamily="2" charset="-78"/>
              </a:rPr>
              <a:t>‏ = finished history.</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الاحْتِفَالُ اليَوْمَ أَكْثَرُ أَصْغَرُ.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الاحْتِفَالُ اليَوْمَ أَصْغَرُ.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Never ‏</a:t>
            </a:r>
            <a:pPr algn="l" indent="0" marL="0">
              <a:buNone/>
            </a:pPr>
            <a:r>
              <a:rPr lang="ar-SA" altLang="en-US" sz="1500" b="1" dirty="0">
                <a:solidFill>
                  <a:srgbClr val="1B3B6F"/>
                </a:solidFill>
                <a:latin typeface="Amiri" pitchFamily="2" charset="-78"/>
                <a:ea typeface="Amiri" pitchFamily="2" charset="-78"/>
                <a:cs typeface="Amiri" pitchFamily="2" charset="-78"/>
              </a:rPr>
              <a:t>أَكْثَرُ</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أَفْعَلُ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أَطْيَبُ / أَجْمَلُ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tastier / more beautiful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عِلَاوَةً عَلَى ذٰلِكَ،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Moreover,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وَبِنَبْرَةٍ نَاقِدَةٍ: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in a critical tone: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التَّقْلِيدُ الَّذِي أُحِبُّهُ هُوَ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tradition I love is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جَدَّتِي / كَانَ جَدِّي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grandmother / grandfather used to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الآنَ ______ ، وَيُحَضَّرُ / تُحَضَّرُ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Now …, and … is prepared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سَوْفَ ______ ، وَلَنْ نَتَخَلَّى عَنْ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 and we will not give up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كَانَتْ تَخْبِزُ · كَانَ يَزُورُ  ·  الَّذِي · الَّتِي  ·  يُحَضَّرُ · تُزَيَّنُ  ·  سَأَتَعَلَّمُ · سَنُعَلِّمُ  ·  لَنْ نَتَخَلَّى عَنْ  ·  أَطْيَبُ مِنْ  ·  عِلَاوَةً عَلَى ذٰلِكَ  ·  نَابِضٌ · مُزْدَحِمٌ</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One tradition, the whole grammar system</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تَقْلِيدٌ وَاحِدٌ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paragraph (about 60–80 words) about a family tradition across three generations. Include and underline: • a past habit (‏</a:t>
            </a:r>
            <a:pPr algn="l" indent="0" marL="0">
              <a:buNone/>
            </a:pPr>
            <a:r>
              <a:rPr lang="ar-SA" altLang="en-US" sz="1450" b="1" dirty="0">
                <a:solidFill>
                  <a:srgbClr val="1F2A37"/>
                </a:solidFill>
                <a:latin typeface="Amiri" pitchFamily="2" charset="-78"/>
                <a:ea typeface="Amiri" pitchFamily="2" charset="-78"/>
                <a:cs typeface="Amiri" pitchFamily="2" charset="-78"/>
              </a:rPr>
              <a:t>كَانَ / كَانَتْ</a:t>
            </a:r>
            <a:pPr algn="l" indent="0" marL="0">
              <a:buNone/>
            </a:pPr>
            <a:r>
              <a:rPr lang="en-US" sz="1100" b="1" dirty="0">
                <a:solidFill>
                  <a:srgbClr val="1F2A37"/>
                </a:solidFill>
                <a:latin typeface="Calibri" pitchFamily="34" charset="0"/>
                <a:cs typeface="Amiri" pitchFamily="2" charset="-78"/>
              </a:rPr>
              <a:t>‏ + present) • a present-tense sentence • a future and a ‏</a:t>
            </a:r>
            <a:pPr algn="l" indent="0" marL="0">
              <a:buNone/>
            </a:pPr>
            <a:r>
              <a:rPr lang="ar-SA" altLang="en-US" sz="1450" b="1" dirty="0">
                <a:solidFill>
                  <a:srgbClr val="1F2A37"/>
                </a:solidFill>
                <a:latin typeface="Amiri" pitchFamily="2" charset="-78"/>
                <a:ea typeface="Amiri" pitchFamily="2" charset="-78"/>
                <a:cs typeface="Amiri" pitchFamily="2" charset="-78"/>
              </a:rPr>
              <a:t>لَنْ</a:t>
            </a:r>
            <a:pPr algn="l" indent="0" marL="0">
              <a:buNone/>
            </a:pPr>
            <a:r>
              <a:rPr lang="en-US" sz="1100" b="1" dirty="0">
                <a:solidFill>
                  <a:srgbClr val="1F2A37"/>
                </a:solidFill>
                <a:latin typeface="Calibri" pitchFamily="34" charset="0"/>
                <a:cs typeface="Amiri" pitchFamily="2" charset="-78"/>
              </a:rPr>
              <a:t>‏ sentence • ONE relative clause • ONE passive • ONE comparative • ONE formal connector. Then add one sentence that rewrites a fact in a critical tone.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D6-L07 AND D6-L08.</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جَدَّتِي تَخْبِزُ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grandmother used to bake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التَّقْلِيدُ الَّذِي … · العَادَةُ الَّتِي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tradition that … · the custom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يُحَضَّرُ … · تُزَيَّنُ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prepared · … is decorated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نَتَخَلَّى عَنْ … · عِلَاوَةً عَلَى ذٰلِكَ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will not give up … · moreover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accurately in one text?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tense for meaning and spot what the text leaves out?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الكَاتِبُ مُعْجَبٌ بِالسُّوقِ؛ الدَّلِيلُ: «نَابِضٌ بِالحَيَاةِ» وَ«سَاحِرَةٌ».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writer admires the market; the evidence: “full of life” and “magical”.</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النَّصُّ ١: «سُوقُ العِيدِ نَابِضٌ بِالحَيَاةِ، وَالأَضْوَاءُ سَاحِرَةٌ.» — مَا مَوْقِفُ الكَاتِبِ؟</a:t>
            </a:r>
            <a:endParaRPr lang="ar-SA" sz="13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الكَاتِبُ نَاقِدٌ؛ الدَّلِيلُ: «مُزْدَحِمٌ» وَ«صَاخِبٌ» وَ«مُرْهِقَةٌ».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writer is critical; the evidence: “crowded”, “noisy” and “exhausting”.</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النَّصُّ ٢: «السُّوقُ مُزْدَحِمٌ وَصَاخِبٌ، وَالأَسْعَارُ مُرْهِقَةٌ.» — وَهٰذَا الكَاتِبُ؟</a:t>
            </a:r>
            <a:endParaRPr lang="ar-SA" sz="13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نَعْرِفُ؛ «كَانَ» تَدُلُّ عَلَى المَاضِي، وَالنَّصُّ لَا يَذْكُرُ الحَاضِرَ.</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don’t know; “kāna” points to the past, and the text does not mention the present.</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«كَانَ السُّوقُ مَشْهُورًا بِالحَلْوَى.» — هَلْ مَا زَالَ مَشْهُورًا؟</a:t>
            </a:r>
            <a:endParaRPr lang="ar-SA" sz="15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التَّقْلِيدُ الَّذِي أُحِبُّهُ هُوَ زِيَارَةُ الأَقَارِبِ؛ كَانَ جَدِّي يَزُورُهُمْ كُلَّ عِيدٍ.</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tradition I love is visiting relatives; my grandfather used to visit them every Eid.</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التَّقْلِيدُ الَّذِي كَانَتْ عَائِلَتُكَ تَتَمَسَّكُ بِهِ؟</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لَنْ أَتَخَلَّى عَنْهُ؛ عِلَاوَةً عَلَى ذٰلِكَ، سَأُعَلِّمُهُ لِإِخْوَتِي الصِّغَارِ.</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will not give it up; moreover, I will teach it to my younger siblings.</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سَتَتَمَسَّكُ بِهِ فِي المُسْتَقْبَلِ؟</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التَّقْلِيدُ الَّذِي أُحِبُّهُ هُوَ كَعْكُ العِيدِ. كَانَتْ جَدَّتِي تَخْبِزُهُ بِيَدَيْهَا، وَكَانَ الجِيرَانُ يَأْتُونَ لِيُسَاعِدُوهَا. الآنَ تَخْبِزُهُ أُمِّي، وَيُحَضَّرُ فِي لَيْلَةِ العِيدِ، وَهُوَ أَطْيَبُ مِنْ كَعْكِ المَحَلَّاتِ. سَأَتَعَلَّمُ الوَصْفَةَ هٰذِهِ السَّنَةَ، وَلَنْ نَتَخَلَّى عَنْ هٰذَا التَّقْلِيدِ أَبَدًا؛ عِلَاوَةً عَلَى ذٰلِكَ، سَأُعَلِّمُهُ لِأَوْلَادِي. وَبِنَبْرَةٍ نَاقِدَةٍ: لَيْلَةُ الخَبْزِ مُرْهِقَةٌ، وَالمَطْبَخُ مُزْدَحِمٌ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tradition I love is Eid biscuits. My grandmother used to bake them with her own hands, and the neighbours used to come to help her. Now my mother bakes them; they are prepared on the night before Eid, and they are tastier than shop biscuits. I will learn the recipe this year, and we will never give up this tradition; moreover, I will teach it to my children. And in a critical tone: baking night is exhausting, and the kitchen is very crowded!”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التَّقْلِيدُ الَّذِي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جَدَّتِي تَخْبِزُهُ</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وَيُحَضَّرُ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 نَتَخَلَّى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D6-W04 · Apply workshop (D6-L07 + D6-L08)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D6-L07 and D6-L08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D6-W04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D6-L09 · Writing — Countries, Culture and Identity (Paper 4)</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الدُّوَلُ وَالثَّقَافَةُ وَالهُوِيَّةُ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D6-W04 · Apply Workshop — One Tradition, Three Generations</dc:title>
  <dc:subject>PptxGenJS Presentation</dc:subject>
  <dc:creator>Al Madina Online School · Arabic Department</dc:creator>
  <cp:lastModifiedBy>Al Madina Online School · Arabic Department</cp:lastModifiedBy>
  <cp:revision>1</cp:revision>
  <dcterms:created xsi:type="dcterms:W3CDTF">2026-10-26T15:48:18Z</dcterms:created>
  <dcterms:modified xsi:type="dcterms:W3CDTF">2026-10-26T15:48:18Z</dcterms:modified>
</cp:coreProperties>
</file>