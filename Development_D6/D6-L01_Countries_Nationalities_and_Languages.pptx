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D6 Countries, Cultures and Celebrations › D6-L01. The website lesson “Countries, Nationalities and Languages of the Arab World”: vocabulary, grammar rules and quiz, patterns, common mistakes, sorter, listening, reading, speaking prompts and model, writing task and model, differentiation, final check and the lesson mission. Picture match: website visual game “Countries, Nationalities and Languages of the Arab World”.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NEW UNIT (D6 · Countries, Cultures and Celebrations — the last Development unit). Core: 12 countries + their nationality for a boy and a girl (مَغْرِبِيٌّ / مَغْرِبِيَّةٌ). Develop: diptotes after a preposition (مِنْ لُبْنَانَ · فِي مِصْرَ) and languages used in two countries. Stretch: contrast fuṣḥā and the dialects and qualify a claim about diversity (website ~80-word task).
• Respectful framing: the region is multilingual and diverse (Amazigh, Kurdish, many dialects). Invite students to share their own family’s country and language(s).
• Grammar links: the nisba was met for nationalities in F1 / F2 (عَرَبِيٌّ · بِرِيطَانِيٌّ); diptotes are NEW at this level.
• TEACHER-WRITTEN ITEMS: one quiz distractor replaced (the diptote case-ending errors are kept on purpose) and English added to the patterns and speaking model; the website flag-based visual game is not reproduced.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home at the end of D5-L12. Questions 4–5 retrieve the nisba (F1 / F2) and the D5 past tense (هِيَ زَارَتْ … / زُرْتُ).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Country + -iyyun (he) / -iyyatun (she) = the nationality.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the -ī ending is the same in Urdu: عربی، پاکستانی، ہندوستانی — this IS the Arabic nisba. CAREFUL: Urdu لہجہ = accent / tone of voice; Arabic لَهْجَةٌ = a whole dialect (اللَّهْجَةُ المِصْرِيَّةُ).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Countries of the Mashriq and the Gulf (website vocabulary (1 of 3)). Hear → Say → See → Use. Transliteration is printed for Core students (cover it for Develop/Stretch).
Countries of the Mashriq and the Gulf. Each card shows the nationality: m. · f. · pl. Notice the diptotes (no tanwīn): مِصْرُ · لُبْنَانُ · قَطَرُ · عُمَانُ · فِلَسْطِينُ.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Countries of the Mashriq and the Gulf (website vocabulary (2 of 3)). Hear → Say → See → Use. Transliteration is printed for Core students (cover it for Develop/Stretch).
Countries of the Mashriq and the Gulf. Each card shows the nationality: m. · f. · pl. Notice the diptotes (no tanwīn): مِصْرُ · لُبْنَانُ · قَطَرُ · عُمَانُ · فِلَسْطِينُ.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Countries of the Mashriq and the Gulf (website vocabulary (3 of 3)). Hear → Say → See → Use. Transliteration is printed for Core students (cover it for Develop/Stretch).
Countries of the Mashriq and the Gulf. Each card shows the nationality: m. · f. · pl. Notice the diptotes (no tanwīn): مِصْرُ · لُبْنَانُ · قَطَرُ · عُمَانُ · فِلَسْطِينُ.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Countries of the Maghreb and the Horn (website vocabulary (1 of 2)). Hear → Say → See → Use. Transliteration is printed for Core students (cover it for Develop/Stretch).
Countries of the Maghreb and the Horn. Note: المَغْرِبُ → مَغْرِبِيٌّ, but the plural is مَغَارِبَةٌ.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Countries of the Maghreb and the Horn (website vocabulary (2 of 2)). Hear → Say → See → Use. Transliteration is printed for Core students (cover it for Develop/Stretch).
Countries of the Maghreb and the Horn. Note: المَغْرِبُ → مَغْرِبِيٌّ, but the plural is مَغَارِبَةٌ.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Languages and identity (website vocabulary (1 of 2)). Hear → Say → See → Use. Transliteration is printed for Core students (cover it for Develop/Stretch).
Languages and identity: say what is true — Arabic is shared, but it is not the only language of the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Languages and identity (website vocabulary (2 of 2)). Hear → Say → See → Use. Transliteration is printed for Core students (cover it for Develop/Stretch).
Languages and identity: say what is true — Arabic is shared, but it is not the only language of the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“Forming the nisba” (the ending carries a shadda on the yāʾ; a final tāʾ marbūṭa or article is dropped first). Website teaching point: “The nisba builds the nationality … the shadda is part of the ending, not an optional decoration.”
Website mistake: هِيَ طَالِبَةٌ مَغْرِبِيٌّ ✗ → مَغْرِبِيَّةٌ. Ask students for their own: أَنَا بِرِيطَانِيٌّ / بَاكِسْتَانِيَّةٌ / صُومَالِيٌّ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“Diptote country names” (no tanwīn; a ḍamma in the nominative and a fatḥa in both the accusative and the genitive), “Past for history, present for today” and “Describing language use accurately” (name co-official languages and qualify claims). Website teaching point: “Several country names are diptotes … writing مِصْرٍ is a visible error.”
Diptotes today: مِصْرُ · لُبْنَانُ · قَطَرُ · عُمَانُ · تُونُسُ · فِلَسْطِينُ.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“Three systems carry this lesson: forming the nationality, handling country names that refuse tanwīn, and choosing past or present according to whether you describe history or the present day.”
• Forming the nisba: The ending carries a shadda on the yāʾ. A final tāʾ marbūṭa or article is dropped first.
• Diptote country names: A diptote takes a ḍamma when nominative and a fatḥa in both the accusative and the genitive.
• Past for history, present for today: Use the past for what happened, and the present for what is currently true. Mixing them deliberately is what a strong cultural text does.
• Describing language use accurately: Arabic is not the only language of the region. Name co-official languages and qualify claims rather than generalising.
Website common error: Adding tanwīn to a diptote — writing مِنْ لُبْنَانٍ or زُرْتُ مِصْرًا. These names take a bare fatḥa in the genitive and accusative.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“Is the noun masculine or feminine? Add -iyy or -iyya. Is the country a diptote? Then no tanwīn after a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give the nationality (he / she) of one country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give the nationality (he / she) of one country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 and note each nationality (he / she).
Listen 1: just listen. Listen 2: note answers. Then chat the letters.
Support: after the second listening, show the read-along slide (Arabic + English, line by line) for Core students.
SCRIPT (read aloud):
أَنَا سَلْمَى، وَأَنَا مَغْرِبِيَّةٌ مِنْ مَدِينَةِ الرِّبَاطِ. فِي بَيْتِنَا نَتَحَدَّثُ العَرَبِيَّةَ وَالأَمَازِيغِيَّةَ، لِأَنَّ الأَمَازِيغِيَّةَ لُغَةٌ رَسْمِيَّةٌ فِي المَغْرِبِ. وَصَدِيقِي كَرِيمٌ عِرَاقِيٌّ مِنْ بَغْدَادَ، وَيَقُولُ إِنَّ الكُرْدِيَّةَ تُسْتَعْمَلُ إِلَى جَانِبِ العَرَبِيَّةِ فِي بِلَادِهِ. أَمَّا زَمِيلَتُنَا نُورُ فَهِيَ لُبْنَانِيَّةٌ، وَقَدْ جَاءَتْ مِنْ لُبْنَانَ قَبْلَ سَنَتَيْنِ. نَحْنُ نَكْتُبُ جَمِيعًا بِالفُصْحَى، وَلٰكِنَّنَا نَتَحَدَّثُ بِلَهَجَاتٍ مُخْتَلِفَةٍ، وَأَحْيَانًا لَا نَفْهَمُ بَعْضَنَا بِسُرْعَةٍ.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وَأَيُّ لُغَاتٍ تُسْتَعْمَلُ هُنَاكَ؟ (And which languages are used there?)
B: تُسْتَعْمَلُ العَرَبِيَّةُ وَالأَمَازِيغِيَّةُ، وَالأَمَازِيغِيَّةُ لُغَةٌ رَسْمِيَّةٌ أَيْضًا، وَلَيْسَ الأَمْرُ نَفْسَهُ فِي كُلِّ الدُّوَلِ. (Arabic and Amazigh are used, and Amazigh is an official language too — it is not the same in every country.)
Website prompts and model. Students may choose their family’s country. Check the nisba agreement and the diptotes. To a girl: اِخْتَارِي · تَحَدَّثِي.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Match ten countries to their nationalities and write five sentences with accurate nisba agreement. · Develop — Add a sentence about the languages used in two different countries. · Stretch — Contrast fuṣḥā and the dialects, and qualify one claim about regional diversity.
Website writing task (Stretch): Write about eighty words introducing one Arab country: its name, its capital, the nationality of its people, the languages used there, and one accurate statement about the region's diversity.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مَغْرِبِيٌّ / مَغْرِبِيَّةٌ / مَغَارِبَةٌ · زُرْتُ مِصْرَ · لَهْجَةِ المَغْرِبِ · الأَمَازِيغِيَّةُ لُغَةٌ رَسْمِيَّةٌ · نَكْتُبُ … بِالفُصْحَى … نَتَحَدَّثُ بِلَهَجَاتٍ · لَيْسَ صَحِيحًا أَنَّ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(D6-L02 · Cultural Customs — Traditions, Greetings and Social Norms) will spend class time USING this language, so students prepare it tonight — short, simple, easy to access (school guidance: “Simple, Short, Interesting, Relevant, Easy to access”). The five words come from the website D6-L02 vocabulary (customs and values).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Countries, Nationalities and Languages of the Arab World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دُوَلُ العَالَمِ العَرَبِيِّ وَجِنْسِيَّاتُهَا وَلُغَاتُهَا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the Arab countries, build the nationality (</a:t>
            </a:r>
            <a:pPr algn="l" indent="0" marL="0">
              <a:buNone/>
            </a:pPr>
            <a:r>
              <a:rPr lang="ar-SA" altLang="en-US" sz="1800" dirty="0">
                <a:solidFill>
                  <a:srgbClr val="C6D2E6"/>
                </a:solidFill>
                <a:latin typeface="Amiri" pitchFamily="2" charset="-78"/>
                <a:ea typeface="Amiri" pitchFamily="2" charset="-78"/>
                <a:cs typeface="Amiri" pitchFamily="2" charset="-78"/>
              </a:rPr>
              <a:t>مِصْرُ</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مِصْرِيٌّ</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مِصْرِيَّةٌ</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مِصْرِيُّونَ</a:t>
            </a:r>
            <a:pPr algn="l" indent="0" marL="0">
              <a:buNone/>
            </a:pPr>
            <a:r>
              <a:rPr lang="en-US" sz="1400" dirty="0">
                <a:solidFill>
                  <a:srgbClr val="C6D2E6"/>
                </a:solidFill>
                <a:latin typeface="Calibri" pitchFamily="34" charset="0"/>
                <a:cs typeface="Amiri" pitchFamily="2" charset="-78"/>
              </a:rPr>
              <a:t>), say “from Lebanon” without tanwīn (</a:t>
            </a:r>
            <a:pPr algn="l" indent="0" marL="0">
              <a:buNone/>
            </a:pPr>
            <a:r>
              <a:rPr lang="ar-SA" altLang="en-US" sz="1800" dirty="0">
                <a:solidFill>
                  <a:srgbClr val="C6D2E6"/>
                </a:solidFill>
                <a:latin typeface="Amiri" pitchFamily="2" charset="-78"/>
                <a:ea typeface="Amiri" pitchFamily="2" charset="-78"/>
                <a:cs typeface="Amiri" pitchFamily="2" charset="-78"/>
              </a:rPr>
              <a:t>مِنْ لُبْنَانَ</a:t>
            </a:r>
            <a:pPr algn="l" indent="0" marL="0">
              <a:buNone/>
            </a:pPr>
            <a:r>
              <a:rPr lang="en-US" sz="1400" dirty="0">
                <a:solidFill>
                  <a:srgbClr val="C6D2E6"/>
                </a:solidFill>
                <a:latin typeface="Calibri" pitchFamily="34" charset="0"/>
                <a:cs typeface="Amiri" pitchFamily="2" charset="-78"/>
              </a:rPr>
              <a:t>) and describe the region’s languages accurately — fuṣḥā, dialects, Amazigh, Kurdish.</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D6-L01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Nisba for nationality, diptote countries, accurate language facts.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countries by region, fix nisba / tanwīn slips, then meet three students.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D6-L02.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دَوْلَةٌ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country, state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language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جِنْسِيَّةٌ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nationality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identity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dialect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اللَّهَجَاتُ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countries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capitals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dialects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___ (I am Arab, 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عَرَبِيَّةٌ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عَرَبٌ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عَرَبِيٌّ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مِصْرَ قَبْلَ سَنَتَيْنِ.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زَارْتُ مِصْرَ قَبْلَ سَنَتَيْنِ.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أَزُورُ مِصْرَ قَبْلَ سَنَتَيْنِ.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دَوْلَةٌ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city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country, state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language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جِنْسِيَّةٌ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nationality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identity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dialect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اللَّهَجَاتُ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countries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capitals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dialects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(D5-L12).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___ (I am Arab, m.).</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عَرَبِيَّةٌ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عَرَبٌ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عَرَبِيٌّ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 / F2: nationality.</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 مِصْرَ قَبْلَ سَنَتَيْنِ.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زَارْتُ مِصْرَ قَبْلَ سَنَتَيْنِ.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أَزُورُ مِصْرَ قَبْلَ سَنَتَيْنِ.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 hollow verb + past marker.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Country + -iyyun (he) / -iyyatun (she) = the nationality.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مِصْرُ · </a:t>
            </a:r>
            <a:pPr rtl="1" algn="ctr" indent="0" marL="0">
              <a:buNone/>
            </a:pPr>
            <a:r>
              <a:rPr lang="ar-SA" altLang="en-US" sz="2350" b="1" dirty="0">
                <a:solidFill>
                  <a:srgbClr val="D6336C"/>
                </a:solidFill>
                <a:latin typeface="Amiri" pitchFamily="2" charset="-78"/>
                <a:ea typeface="Amiri" pitchFamily="2" charset="-78"/>
                <a:cs typeface="Amiri" pitchFamily="2" charset="-78"/>
              </a:rPr>
              <a:t>مِصْرِيٌّ</a:t>
            </a:r>
            <a:pPr rtl="1" algn="ctr" indent="0" marL="0">
              <a:buNone/>
            </a:pPr>
            <a:r>
              <a:rPr lang="ar-SA" altLang="en-US" sz="2350" b="1" dirty="0">
                <a:solidFill>
                  <a:srgbClr val="1B3B6F"/>
                </a:solidFill>
                <a:latin typeface="Amiri" pitchFamily="2" charset="-78"/>
                <a:cs typeface="Amiri" pitchFamily="2" charset="-78"/>
              </a:rPr>
              <a:t> · </a:t>
            </a:r>
            <a:pPr rtl="1" algn="ctr" indent="0" marL="0">
              <a:buNone/>
            </a:pPr>
            <a:r>
              <a:rPr lang="ar-SA" altLang="en-US" sz="2350" b="1" dirty="0">
                <a:solidFill>
                  <a:srgbClr val="0E7C86"/>
                </a:solidFill>
                <a:latin typeface="Amiri" pitchFamily="2" charset="-78"/>
                <a:ea typeface="Amiri" pitchFamily="2" charset="-78"/>
                <a:cs typeface="Amiri" pitchFamily="2" charset="-78"/>
              </a:rPr>
              <a:t>مِصْرِيَّةٌ</a:t>
            </a:r>
            <a:pPr rtl="1" algn="ctr" indent="0" marL="0">
              <a:buNone/>
            </a:pPr>
            <a:r>
              <a:rPr lang="ar-SA" altLang="en-US" sz="2350" b="1" dirty="0">
                <a:solidFill>
                  <a:srgbClr val="1B3B6F"/>
                </a:solidFill>
                <a:latin typeface="Amiri" pitchFamily="2" charset="-78"/>
                <a:cs typeface="Amiri" pitchFamily="2" charset="-78"/>
              </a:rPr>
              <a:t> · </a:t>
            </a:r>
            <a:pPr rtl="1" algn="ctr" indent="0" marL="0">
              <a:buNone/>
            </a:pPr>
            <a:r>
              <a:rPr lang="ar-SA" altLang="en-US" sz="2350" b="1" dirty="0">
                <a:solidFill>
                  <a:srgbClr val="1D5FBF"/>
                </a:solidFill>
                <a:latin typeface="Amiri" pitchFamily="2" charset="-78"/>
                <a:ea typeface="Amiri" pitchFamily="2" charset="-78"/>
                <a:cs typeface="Amiri" pitchFamily="2" charset="-78"/>
              </a:rPr>
              <a:t>مِصْرِيُّونَ</a:t>
            </a:r>
            <a:endParaRPr lang="ar-SA" sz="2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Arab League countries and their nationalities (m. / f. / pl.).</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nisba with </a:t>
            </a:r>
            <a:pPr algn="l" indent="0" marL="0">
              <a:buNone/>
            </a:pPr>
            <a:r>
              <a:rPr lang="ar-SA" altLang="en-US" sz="1700" dirty="0">
                <a:solidFill>
                  <a:srgbClr val="1F2A37"/>
                </a:solidFill>
                <a:latin typeface="Amiri" pitchFamily="2" charset="-78"/>
                <a:ea typeface="Amiri" pitchFamily="2" charset="-78"/>
                <a:cs typeface="Amiri" pitchFamily="2" charset="-78"/>
              </a:rPr>
              <a:t>ـِيٌّ / ـِيَّةٌ</a:t>
            </a:r>
            <a:pPr algn="l" indent="0" marL="0">
              <a:buNone/>
            </a:pPr>
            <a:r>
              <a:rPr lang="en-US" sz="1300" dirty="0">
                <a:solidFill>
                  <a:srgbClr val="1F2A37"/>
                </a:solidFill>
                <a:latin typeface="Calibri" pitchFamily="34" charset="0"/>
                <a:cs typeface="Amiri" pitchFamily="2" charset="-78"/>
              </a:rPr>
              <a:t> and make it agree.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diptote country names without tanwīn (</a:t>
            </a:r>
            <a:pPr algn="l" indent="0" marL="0">
              <a:buNone/>
            </a:pPr>
            <a:r>
              <a:rPr lang="ar-SA" altLang="en-US" sz="1700" dirty="0">
                <a:solidFill>
                  <a:srgbClr val="1F2A37"/>
                </a:solidFill>
                <a:latin typeface="Amiri" pitchFamily="2" charset="-78"/>
                <a:ea typeface="Amiri" pitchFamily="2" charset="-78"/>
                <a:cs typeface="Amiri" pitchFamily="2" charset="-78"/>
              </a:rPr>
              <a:t>مِنْ لُبْنَانَ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language use accurately and without generalising.</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12 Arab countries.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a nationality for a boy and a girl.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“from Lebanon / in Egypt” without tanwīn.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name languages used in two countries.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contrast fuṣḥā and the dialects.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qualify a claim about the region.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32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Countries of the Mashriq and the Gulf · 13</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Countries of the Maghreb and the Horn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Languages and identity · 10</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مِصْرُ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‎مصر‎ </a:t>
            </a:r>
            <a:pPr indent="0" marL="0">
              <a:buNone/>
            </a:pPr>
            <a:r>
              <a:rPr lang="en-US" sz="950" b="1" dirty="0">
                <a:solidFill>
                  <a:srgbClr val="2E8B57"/>
                </a:solidFill>
                <a:latin typeface="Calibri" pitchFamily="34" charset="0"/>
                <a:cs typeface="Amiri" pitchFamily="2" charset="-78"/>
              </a:rPr>
              <a:t> Miṣr · Egypt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عَرَبِيٌّ</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‎عربی‎ </a:t>
            </a:r>
            <a:pPr indent="0" marL="0">
              <a:buNone/>
            </a:pPr>
            <a:r>
              <a:rPr lang="en-US" sz="950" b="1" dirty="0">
                <a:solidFill>
                  <a:srgbClr val="2E8B57"/>
                </a:solidFill>
                <a:latin typeface="Calibri" pitchFamily="34" charset="0"/>
                <a:cs typeface="Amiri" pitchFamily="2" charset="-78"/>
              </a:rPr>
              <a:t> ʿarabī · Arab, Arabic (the same -ī ending!)</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جِنْسِيَّةٌ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‎شہریت / قومیت‎ </a:t>
            </a:r>
            <a:pPr indent="0" marL="0">
              <a:buNone/>
            </a:pPr>
            <a:r>
              <a:rPr lang="en-US" sz="950" b="1" dirty="0">
                <a:solidFill>
                  <a:srgbClr val="2E8B57"/>
                </a:solidFill>
                <a:latin typeface="Calibri" pitchFamily="34" charset="0"/>
                <a:cs typeface="Amiri" pitchFamily="2" charset="-78"/>
              </a:rPr>
              <a:t> qaumiyyat · nationality (Urdu uses the same -iyyat pattern)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عَاصِمَةٌ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‎دارالحکومت‎ </a:t>
            </a:r>
            <a:pPr indent="0" marL="0">
              <a:buNone/>
            </a:pPr>
            <a:r>
              <a:rPr lang="en-US" sz="950" b="1" dirty="0">
                <a:solidFill>
                  <a:srgbClr val="2E8B57"/>
                </a:solidFill>
                <a:latin typeface="Calibri" pitchFamily="34" charset="0"/>
                <a:cs typeface="Amiri" pitchFamily="2" charset="-78"/>
              </a:rPr>
              <a:t> dār-ul-ḥukūmat · capital city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لَهْجَةٌ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‎لہجہ‎ </a:t>
            </a:r>
            <a:pPr indent="0" marL="0">
              <a:buNone/>
            </a:pPr>
            <a:r>
              <a:rPr lang="en-US" sz="950" b="1" dirty="0">
                <a:solidFill>
                  <a:srgbClr val="2E8B57"/>
                </a:solidFill>
                <a:latin typeface="Calibri" pitchFamily="34" charset="0"/>
                <a:cs typeface="Amiri" pitchFamily="2" charset="-78"/>
              </a:rPr>
              <a:t> lahja · Urdu: accent, tone · Arabic: dialect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Countries of the Mashriq and the Gulf (1 of 3)</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المَمْلَكَةُ العَرَبِيَّةُ السُّعُودِيَّةُ</a:t>
            </a:r>
            <a:endParaRPr lang="ar-SA" sz="28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Saudi Arabia</a:t>
            </a:r>
            <a:endParaRPr lang="en-US" sz="1350" dirty="0"/>
          </a:p>
          <a:p>
            <a:pPr indent="0" marL="0">
              <a:buNone/>
            </a:pPr>
            <a:r>
              <a:rPr lang="en-US" sz="1100" i="1" dirty="0">
                <a:solidFill>
                  <a:srgbClr val="5A6472"/>
                </a:solidFill>
                <a:latin typeface="Calibri" pitchFamily="34" charset="0"/>
                <a:cs typeface="Amiri" pitchFamily="2" charset="-78"/>
              </a:rPr>
              <a:t>al-mam-la-ka-tu al-ʿa-ra-biy-ya-tu as-su-ʿū-diy-ya-tu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سُعُودِيُّونَ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سُعُودِيَّةٌ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سُعُودِيٌّ</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مِصْرُ</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Egypt</a:t>
            </a:r>
            <a:endParaRPr lang="en-US" sz="1350" dirty="0"/>
          </a:p>
          <a:p>
            <a:pPr indent="0" marL="0">
              <a:buNone/>
            </a:pPr>
            <a:r>
              <a:rPr lang="en-US" sz="1100" i="1" dirty="0">
                <a:solidFill>
                  <a:srgbClr val="5A6472"/>
                </a:solidFill>
                <a:latin typeface="Calibri" pitchFamily="34" charset="0"/>
                <a:cs typeface="Amiri" pitchFamily="2" charset="-78"/>
              </a:rPr>
              <a:t>miṣ-ru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مِصْرِيُّونَ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مِصْرِيَّةٌ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مِصْرِيٌّ</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العِرَاقُ</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Iraq</a:t>
            </a:r>
            <a:endParaRPr lang="en-US" sz="1350" dirty="0"/>
          </a:p>
          <a:p>
            <a:pPr indent="0" marL="0">
              <a:buNone/>
            </a:pPr>
            <a:r>
              <a:rPr lang="en-US" sz="1100" i="1" dirty="0">
                <a:solidFill>
                  <a:srgbClr val="5A6472"/>
                </a:solidFill>
                <a:latin typeface="Calibri" pitchFamily="34" charset="0"/>
                <a:cs typeface="Amiri" pitchFamily="2" charset="-78"/>
              </a:rPr>
              <a:t>al-ʿi-rā-qu</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عِرَاقِيُّونَ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عِرَاقِيَّةٌ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عِرَاقِيٌّ</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سُورِيَا</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Syria</a:t>
            </a:r>
            <a:endParaRPr lang="en-US" sz="1350" dirty="0"/>
          </a:p>
          <a:p>
            <a:pPr indent="0" marL="0">
              <a:buNone/>
            </a:pPr>
            <a:r>
              <a:rPr lang="en-US" sz="1100" i="1" dirty="0">
                <a:solidFill>
                  <a:srgbClr val="5A6472"/>
                </a:solidFill>
                <a:latin typeface="Calibri" pitchFamily="34" charset="0"/>
                <a:cs typeface="Amiri" pitchFamily="2" charset="-78"/>
              </a:rPr>
              <a:t>sū-ri-yā</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سُورِيُّونَ</a:t>
            </a:r>
            <a:endParaRPr lang="ar-SA" sz="150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1" name="Text 7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سُورِيَّةٌ</a:t>
            </a:r>
            <a:endParaRPr lang="ar-SA" sz="150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سُورِيٌّ</a:t>
            </a:r>
            <a:endParaRPr lang="ar-SA" sz="1500" dirty="0"/>
          </a:p>
        </p:txBody>
      </p:sp>
      <p:sp>
        <p:nvSpPr>
          <p:cNvPr id="85" name="Shape 8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4389120"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88" name="Shape 8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0" name="Shape 8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1" name="Text 8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2" name="Text 8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الأُرْدُنُّ</a:t>
            </a:r>
            <a:endParaRPr lang="ar-SA" sz="3000" dirty="0"/>
          </a:p>
        </p:txBody>
      </p:sp>
      <p:sp>
        <p:nvSpPr>
          <p:cNvPr id="93" name="Text 9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Jordan</a:t>
            </a:r>
            <a:endParaRPr lang="en-US" sz="1350" dirty="0"/>
          </a:p>
          <a:p>
            <a:pPr indent="0" marL="0">
              <a:buNone/>
            </a:pPr>
            <a:r>
              <a:rPr lang="en-US" sz="1100" i="1" dirty="0">
                <a:solidFill>
                  <a:srgbClr val="5A6472"/>
                </a:solidFill>
                <a:latin typeface="Calibri" pitchFamily="34" charset="0"/>
                <a:cs typeface="Amiri" pitchFamily="2" charset="-78"/>
              </a:rPr>
              <a:t>al-ur-dun-nu</a:t>
            </a:r>
            <a:endParaRPr lang="en-US" sz="1350" dirty="0"/>
          </a:p>
        </p:txBody>
      </p:sp>
      <p:sp>
        <p:nvSpPr>
          <p:cNvPr id="94" name="Shape 9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6" name="Text 93"/>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أُرْدُنِّيُّونَ</a:t>
            </a:r>
            <a:endParaRPr lang="ar-SA" sz="1500" dirty="0"/>
          </a:p>
        </p:txBody>
      </p:sp>
      <p:sp>
        <p:nvSpPr>
          <p:cNvPr id="97" name="Shape 9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9" name="Text 96"/>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أُرْدُنِّيَّةٌ</a:t>
            </a:r>
            <a:endParaRPr lang="ar-SA" sz="1500" dirty="0"/>
          </a:p>
        </p:txBody>
      </p:sp>
      <p:sp>
        <p:nvSpPr>
          <p:cNvPr id="100" name="Shape 9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2" name="Text 9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أُرْدُنِّيٌّ</a:t>
            </a:r>
            <a:endParaRPr lang="ar-SA" sz="150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Countries of the Mashriq and the Gulf (2 of 3)</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لُبْنَانُ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Lebanon</a:t>
            </a:r>
            <a:endParaRPr lang="en-US" sz="1350" dirty="0"/>
          </a:p>
          <a:p>
            <a:pPr indent="0" marL="0">
              <a:buNone/>
            </a:pPr>
            <a:r>
              <a:rPr lang="en-US" sz="1100" i="1" dirty="0">
                <a:solidFill>
                  <a:srgbClr val="5A6472"/>
                </a:solidFill>
                <a:latin typeface="Calibri" pitchFamily="34" charset="0"/>
                <a:cs typeface="Amiri" pitchFamily="2" charset="-78"/>
              </a:rPr>
              <a:t>lub-nā-nu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لُبْنَانِيُّونَ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لُبْنَانِيَّةٌ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لُبْنَانِيٌّ</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فِلَسْطِينُ</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Palestine</a:t>
            </a:r>
            <a:endParaRPr lang="en-US" sz="1350" dirty="0"/>
          </a:p>
          <a:p>
            <a:pPr indent="0" marL="0">
              <a:buNone/>
            </a:pPr>
            <a:r>
              <a:rPr lang="en-US" sz="1100" i="1" dirty="0">
                <a:solidFill>
                  <a:srgbClr val="5A6472"/>
                </a:solidFill>
                <a:latin typeface="Calibri" pitchFamily="34" charset="0"/>
                <a:cs typeface="Amiri" pitchFamily="2" charset="-78"/>
              </a:rPr>
              <a:t>fi-las-ṭī-nu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فِلَسْطِينِيُّونَ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فِلَسْطِينِيَّةٌ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فِلَسْطِينِيٌّ</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الكُوَيْتُ</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Kuwait</a:t>
            </a:r>
            <a:endParaRPr lang="en-US" sz="1350" dirty="0"/>
          </a:p>
          <a:p>
            <a:pPr indent="0" marL="0">
              <a:buNone/>
            </a:pPr>
            <a:r>
              <a:rPr lang="en-US" sz="1100" i="1" dirty="0">
                <a:solidFill>
                  <a:srgbClr val="5A6472"/>
                </a:solidFill>
                <a:latin typeface="Calibri" pitchFamily="34" charset="0"/>
                <a:cs typeface="Amiri" pitchFamily="2" charset="-78"/>
              </a:rPr>
              <a:t>al-ku-way-tu</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كُوَيْتِيُّونَ</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كُوَيْتِيَّةٌ</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كُوَيْتِيٌّ</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70" name="Shape 67"/>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الإِمَارَاتُ</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UAE</a:t>
            </a:r>
            <a:endParaRPr lang="en-US" sz="1350" dirty="0"/>
          </a:p>
          <a:p>
            <a:pPr indent="0" marL="0">
              <a:buNone/>
            </a:pPr>
            <a:r>
              <a:rPr lang="en-US" sz="1100" i="1" dirty="0">
                <a:solidFill>
                  <a:srgbClr val="5A6472"/>
                </a:solidFill>
                <a:latin typeface="Calibri" pitchFamily="34" charset="0"/>
                <a:cs typeface="Amiri" pitchFamily="2" charset="-78"/>
              </a:rPr>
              <a:t>al-i-mā-rā-tu</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إِمَارَاتِيُّونَ</a:t>
            </a:r>
            <a:endParaRPr lang="ar-SA" sz="150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1" name="Text 7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إِمَارَاتِيَّةٌ</a:t>
            </a:r>
            <a:endParaRPr lang="ar-SA" sz="150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إِمَارَاتِيٌّ</a:t>
            </a:r>
            <a:endParaRPr lang="ar-SA" sz="1500" dirty="0"/>
          </a:p>
        </p:txBody>
      </p:sp>
      <p:sp>
        <p:nvSpPr>
          <p:cNvPr id="85" name="Shape 8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4389120"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88" name="Shape 8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0" name="Text 8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قَطَرُ</a:t>
            </a:r>
            <a:endParaRPr lang="ar-SA" sz="3000" dirty="0"/>
          </a:p>
        </p:txBody>
      </p:sp>
      <p:sp>
        <p:nvSpPr>
          <p:cNvPr id="91" name="Text 8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Qatar</a:t>
            </a:r>
            <a:endParaRPr lang="en-US" sz="1350" dirty="0"/>
          </a:p>
          <a:p>
            <a:pPr indent="0" marL="0">
              <a:buNone/>
            </a:pPr>
            <a:r>
              <a:rPr lang="en-US" sz="1100" i="1" dirty="0">
                <a:solidFill>
                  <a:srgbClr val="5A6472"/>
                </a:solidFill>
                <a:latin typeface="Calibri" pitchFamily="34" charset="0"/>
                <a:cs typeface="Amiri" pitchFamily="2" charset="-78"/>
              </a:rPr>
              <a:t>qa-ṭa-ru</a:t>
            </a:r>
            <a:endParaRPr lang="en-US" sz="1350" dirty="0"/>
          </a:p>
        </p:txBody>
      </p:sp>
      <p:sp>
        <p:nvSpPr>
          <p:cNvPr id="92" name="Shape 8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4" name="Text 9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قَطَرِيُّونَ</a:t>
            </a:r>
            <a:endParaRPr lang="ar-SA" sz="1500" dirty="0"/>
          </a:p>
        </p:txBody>
      </p:sp>
      <p:sp>
        <p:nvSpPr>
          <p:cNvPr id="95" name="Shape 9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7" name="Text 9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قَطَرِيَّةٌ</a:t>
            </a:r>
            <a:endParaRPr lang="ar-SA" sz="1500" dirty="0"/>
          </a:p>
        </p:txBody>
      </p:sp>
      <p:sp>
        <p:nvSpPr>
          <p:cNvPr id="98" name="Shape 9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0" name="Text 9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قَطَرِيٌّ</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Countries of the Mashriq and the Gulf (3 of 3)</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البَحْرَيْنُ</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Bahrain</a:t>
            </a:r>
            <a:endParaRPr lang="en-US" sz="1350" dirty="0"/>
          </a:p>
          <a:p>
            <a:pPr indent="0" marL="0">
              <a:buNone/>
            </a:pPr>
            <a:r>
              <a:rPr lang="en-US" sz="1100" i="1" dirty="0">
                <a:solidFill>
                  <a:srgbClr val="5A6472"/>
                </a:solidFill>
                <a:latin typeface="Calibri" pitchFamily="34" charset="0"/>
                <a:cs typeface="Amiri" pitchFamily="2" charset="-78"/>
              </a:rPr>
              <a:t>al-baḥ-ray-nu</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بَحْرَيْنِيُّونَ</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بَحْرَيْنِيَّةٌ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بَحْرَيْنِيٌّ</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عُمَانُ</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Oman</a:t>
            </a:r>
            <a:endParaRPr lang="en-US" sz="1350" dirty="0"/>
          </a:p>
          <a:p>
            <a:pPr indent="0" marL="0">
              <a:buNone/>
            </a:pPr>
            <a:r>
              <a:rPr lang="en-US" sz="1100" i="1" dirty="0">
                <a:solidFill>
                  <a:srgbClr val="5A6472"/>
                </a:solidFill>
                <a:latin typeface="Calibri" pitchFamily="34" charset="0"/>
                <a:cs typeface="Amiri" pitchFamily="2" charset="-78"/>
              </a:rPr>
              <a:t>ʿu-mā-nu</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عُمَانِيُّونَ</a:t>
            </a:r>
            <a:endParaRPr lang="ar-SA" sz="150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عُمَانِيَّةٌ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عُمَانِيٌّ</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0" name="Shape 4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اليَمَنُ</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Yemen</a:t>
            </a:r>
            <a:endParaRPr lang="en-US" sz="1350" dirty="0"/>
          </a:p>
          <a:p>
            <a:pPr indent="0" marL="0">
              <a:buNone/>
            </a:pPr>
            <a:r>
              <a:rPr lang="en-US" sz="1100" i="1" dirty="0">
                <a:solidFill>
                  <a:srgbClr val="5A6472"/>
                </a:solidFill>
                <a:latin typeface="Calibri" pitchFamily="34" charset="0"/>
                <a:cs typeface="Amiri" pitchFamily="2" charset="-78"/>
              </a:rPr>
              <a:t>al-ya-ma-nu</a:t>
            </a:r>
            <a:endParaRPr lang="en-US" sz="1350" dirty="0"/>
          </a:p>
        </p:txBody>
      </p:sp>
      <p:sp>
        <p:nvSpPr>
          <p:cNvPr id="54" name="Shape 5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يَمَنِيُّونَ</a:t>
            </a:r>
            <a:endParaRPr lang="ar-SA" sz="1500" dirty="0"/>
          </a:p>
        </p:txBody>
      </p:sp>
      <p:sp>
        <p:nvSpPr>
          <p:cNvPr id="57" name="Shape 5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يَمَنِيَّةٌ</a:t>
            </a:r>
            <a:endParaRPr lang="ar-SA" sz="1500" dirty="0"/>
          </a:p>
        </p:txBody>
      </p:sp>
      <p:sp>
        <p:nvSpPr>
          <p:cNvPr id="60" name="Shape 5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يَمَنِيٌّ</a:t>
            </a:r>
            <a:endParaRPr lang="ar-SA" sz="15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Countries of the Maghreb and the Horn (1 of 2)</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لِيبِيَا</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Libya</a:t>
            </a:r>
            <a:endParaRPr lang="en-US" sz="1350" dirty="0"/>
          </a:p>
          <a:p>
            <a:pPr indent="0" marL="0">
              <a:buNone/>
            </a:pPr>
            <a:r>
              <a:rPr lang="en-US" sz="1100" i="1" dirty="0">
                <a:solidFill>
                  <a:srgbClr val="5A6472"/>
                </a:solidFill>
                <a:latin typeface="Calibri" pitchFamily="34" charset="0"/>
                <a:cs typeface="Amiri" pitchFamily="2" charset="-78"/>
              </a:rPr>
              <a:t>lī-bi-yā</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لِيبِيُّونَ</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لِيبِيَّةٌ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لِيبِيٌّ</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تُونُسُ</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Tunisia</a:t>
            </a:r>
            <a:endParaRPr lang="en-US" sz="1350" dirty="0"/>
          </a:p>
          <a:p>
            <a:pPr indent="0" marL="0">
              <a:buNone/>
            </a:pPr>
            <a:r>
              <a:rPr lang="en-US" sz="1100" i="1" dirty="0">
                <a:solidFill>
                  <a:srgbClr val="5A6472"/>
                </a:solidFill>
                <a:latin typeface="Calibri" pitchFamily="34" charset="0"/>
                <a:cs typeface="Amiri" pitchFamily="2" charset="-78"/>
              </a:rPr>
              <a:t>tū-nu-su</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تُونُسِيُّونَ</a:t>
            </a:r>
            <a:endParaRPr lang="ar-SA" sz="150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تُونُسِيَّةٌ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تُونُسِيٌّ</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0" name="Shape 4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الجَزَائِرُ</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Algeria</a:t>
            </a:r>
            <a:endParaRPr lang="en-US" sz="1350" dirty="0"/>
          </a:p>
          <a:p>
            <a:pPr indent="0" marL="0">
              <a:buNone/>
            </a:pPr>
            <a:r>
              <a:rPr lang="en-US" sz="1100" i="1" dirty="0">
                <a:solidFill>
                  <a:srgbClr val="5A6472"/>
                </a:solidFill>
                <a:latin typeface="Calibri" pitchFamily="34" charset="0"/>
                <a:cs typeface="Amiri" pitchFamily="2" charset="-78"/>
              </a:rPr>
              <a:t>al-ja-zā-ʾi-ru</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جَزَائِرِيُّونَ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جَزَائِرِيَّةٌ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جَزَائِرِيٌّ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Shape 6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المَغْرِبُ</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Morocco</a:t>
            </a:r>
            <a:endParaRPr lang="en-US" sz="1350" dirty="0"/>
          </a:p>
          <a:p>
            <a:pPr indent="0" marL="0">
              <a:buNone/>
            </a:pPr>
            <a:r>
              <a:rPr lang="en-US" sz="1100" i="1" dirty="0">
                <a:solidFill>
                  <a:srgbClr val="5A6472"/>
                </a:solidFill>
                <a:latin typeface="Calibri" pitchFamily="34" charset="0"/>
                <a:cs typeface="Amiri" pitchFamily="2" charset="-78"/>
              </a:rPr>
              <a:t>al-magh-ri-bu</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6" name="Text 7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مَغَارِبَةٌ</a:t>
            </a:r>
            <a:endParaRPr lang="ar-SA" sz="150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9" name="Text 7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مَغْرِبِيَّةٌ</a:t>
            </a:r>
            <a:endParaRPr lang="ar-SA" sz="150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2" name="Text 7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مَغْرِبِيٌّ</a:t>
            </a:r>
            <a:endParaRPr lang="ar-SA" sz="150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86" name="Shape 8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مُورِيتَانِيَا</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Mauritania</a:t>
            </a:r>
            <a:endParaRPr lang="en-US" sz="1350" dirty="0"/>
          </a:p>
          <a:p>
            <a:pPr indent="0" marL="0">
              <a:buNone/>
            </a:pPr>
            <a:r>
              <a:rPr lang="en-US" sz="1100" i="1" dirty="0">
                <a:solidFill>
                  <a:srgbClr val="5A6472"/>
                </a:solidFill>
                <a:latin typeface="Calibri" pitchFamily="34" charset="0"/>
                <a:cs typeface="Amiri" pitchFamily="2" charset="-78"/>
              </a:rPr>
              <a:t>mū-rī-tā-ni-yā</a:t>
            </a:r>
            <a:endParaRPr lang="en-US" sz="1350" dirty="0"/>
          </a:p>
        </p:txBody>
      </p:sp>
      <p:sp>
        <p:nvSpPr>
          <p:cNvPr id="90" name="Shape 8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2" name="Text 89"/>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مُورِيتَانِيُّونَ</a:t>
            </a:r>
            <a:endParaRPr lang="ar-SA" sz="1500" dirty="0"/>
          </a:p>
        </p:txBody>
      </p:sp>
      <p:sp>
        <p:nvSpPr>
          <p:cNvPr id="93" name="Shape 9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5" name="Text 9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مُورِيتَانِيَّةٌ</a:t>
            </a:r>
            <a:endParaRPr lang="ar-SA" sz="1500" dirty="0"/>
          </a:p>
        </p:txBody>
      </p:sp>
      <p:sp>
        <p:nvSpPr>
          <p:cNvPr id="96" name="Shape 9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8" name="Text 9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مُورِيتَانِيٌّ</a:t>
            </a:r>
            <a:endParaRPr lang="ar-SA" sz="150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Countries of the Maghreb and the Horn (2 of 2)</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السُّودَانُ</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Sudan</a:t>
            </a:r>
            <a:endParaRPr lang="en-US" sz="1350" dirty="0"/>
          </a:p>
          <a:p>
            <a:pPr indent="0" marL="0">
              <a:buNone/>
            </a:pPr>
            <a:r>
              <a:rPr lang="en-US" sz="1100" i="1" dirty="0">
                <a:solidFill>
                  <a:srgbClr val="5A6472"/>
                </a:solidFill>
                <a:latin typeface="Calibri" pitchFamily="34" charset="0"/>
                <a:cs typeface="Amiri" pitchFamily="2" charset="-78"/>
              </a:rPr>
              <a:t>as-sū-dā-nu</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سُودَانِيُّونَ</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سُودَانِيَّةٌ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سُودَانِيٌّ</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الصُّومَالُ</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Somalia</a:t>
            </a:r>
            <a:endParaRPr lang="en-US" sz="1350" dirty="0"/>
          </a:p>
          <a:p>
            <a:pPr indent="0" marL="0">
              <a:buNone/>
            </a:pPr>
            <a:r>
              <a:rPr lang="en-US" sz="1100" i="1" dirty="0">
                <a:solidFill>
                  <a:srgbClr val="5A6472"/>
                </a:solidFill>
                <a:latin typeface="Calibri" pitchFamily="34" charset="0"/>
                <a:cs typeface="Amiri" pitchFamily="2" charset="-78"/>
              </a:rPr>
              <a:t>aṣ-ṣū-mā-lu</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صُومَالِيُّونَ</a:t>
            </a:r>
            <a:endParaRPr lang="ar-SA" sz="150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صُومَالِيَّةٌ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صُومَالِيٌّ</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0" name="Shape 4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جِيبُوتِي</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Djibouti</a:t>
            </a:r>
            <a:endParaRPr lang="en-US" sz="1350" dirty="0"/>
          </a:p>
          <a:p>
            <a:pPr indent="0" marL="0">
              <a:buNone/>
            </a:pPr>
            <a:r>
              <a:rPr lang="en-US" sz="1100" i="1" dirty="0">
                <a:solidFill>
                  <a:srgbClr val="5A6472"/>
                </a:solidFill>
                <a:latin typeface="Calibri" pitchFamily="34" charset="0"/>
                <a:cs typeface="Amiri" pitchFamily="2" charset="-78"/>
              </a:rPr>
              <a:t>jī-bū-tī</a:t>
            </a:r>
            <a:endParaRPr lang="en-US" sz="1350" dirty="0"/>
          </a:p>
        </p:txBody>
      </p:sp>
      <p:sp>
        <p:nvSpPr>
          <p:cNvPr id="54" name="Shape 5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جِيبُوتِيُّونَ</a:t>
            </a:r>
            <a:endParaRPr lang="ar-SA" sz="1500" dirty="0"/>
          </a:p>
        </p:txBody>
      </p:sp>
      <p:sp>
        <p:nvSpPr>
          <p:cNvPr id="57" name="Shape 5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جِيبُوتِيَّةٌ</a:t>
            </a:r>
            <a:endParaRPr lang="ar-SA" sz="1500" dirty="0"/>
          </a:p>
        </p:txBody>
      </p:sp>
      <p:sp>
        <p:nvSpPr>
          <p:cNvPr id="60" name="Shape 5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جِيبُوتِيٌّ</a:t>
            </a:r>
            <a:endParaRPr lang="ar-SA" sz="1500" dirty="0"/>
          </a:p>
        </p:txBody>
      </p:sp>
      <p:sp>
        <p:nvSpPr>
          <p:cNvPr id="63" name="Shape 6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8211312"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66" name="Shape 63"/>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8" name="Text 6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جُزُرُ القَمَرِ</a:t>
            </a:r>
            <a:endParaRPr lang="ar-SA" sz="3000" dirty="0"/>
          </a:p>
        </p:txBody>
      </p:sp>
      <p:sp>
        <p:nvSpPr>
          <p:cNvPr id="69" name="Text 6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Comoros</a:t>
            </a:r>
            <a:endParaRPr lang="en-US" sz="1350" dirty="0"/>
          </a:p>
          <a:p>
            <a:pPr indent="0" marL="0">
              <a:buNone/>
            </a:pPr>
            <a:r>
              <a:rPr lang="en-US" sz="1100" i="1" dirty="0">
                <a:solidFill>
                  <a:srgbClr val="5A6472"/>
                </a:solidFill>
                <a:latin typeface="Calibri" pitchFamily="34" charset="0"/>
                <a:cs typeface="Amiri" pitchFamily="2" charset="-78"/>
              </a:rPr>
              <a:t>ju-zu-ru al-qa-ma-ri</a:t>
            </a:r>
            <a:endParaRPr lang="en-US" sz="1350" dirty="0"/>
          </a:p>
        </p:txBody>
      </p:sp>
      <p:sp>
        <p:nvSpPr>
          <p:cNvPr id="70" name="Shape 6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قَمَرِيُّونَ</a:t>
            </a:r>
            <a:endParaRPr lang="ar-SA" sz="1500" dirty="0"/>
          </a:p>
        </p:txBody>
      </p:sp>
      <p:sp>
        <p:nvSpPr>
          <p:cNvPr id="73" name="Shape 7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5" name="Text 7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قَمَرِيَّةٌ</a:t>
            </a:r>
            <a:endParaRPr lang="ar-SA" sz="1500" dirty="0"/>
          </a:p>
        </p:txBody>
      </p:sp>
      <p:sp>
        <p:nvSpPr>
          <p:cNvPr id="76" name="Shape 7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8" name="Text 75"/>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قَمَرِيٌّ</a:t>
            </a:r>
            <a:endParaRPr lang="ar-SA" sz="15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Languages and identity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العَرَبِيَّةُ الفُصْحَى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 Standard Arabic</a:t>
            </a:r>
            <a:endParaRPr lang="en-US" sz="1350" dirty="0"/>
          </a:p>
          <a:p>
            <a:pPr indent="0" marL="0">
              <a:buNone/>
            </a:pPr>
            <a:r>
              <a:rPr lang="en-US" sz="1100" i="1" dirty="0">
                <a:solidFill>
                  <a:srgbClr val="5A6472"/>
                </a:solidFill>
                <a:latin typeface="Calibri" pitchFamily="34" charset="0"/>
                <a:cs typeface="Amiri" pitchFamily="2" charset="-78"/>
              </a:rPr>
              <a:t>al-ʿa-ra-biy-ya-tu al-fuṣ-ḥā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shared written and formal register.</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اللَّهَجَاتُ</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dialects</a:t>
            </a:r>
            <a:endParaRPr lang="en-US" sz="1350" dirty="0"/>
          </a:p>
          <a:p>
            <a:pPr indent="0" marL="0">
              <a:buNone/>
            </a:pPr>
            <a:r>
              <a:rPr lang="en-US" sz="1100" i="1" dirty="0">
                <a:solidFill>
                  <a:srgbClr val="5A6472"/>
                </a:solidFill>
                <a:latin typeface="Calibri" pitchFamily="34" charset="0"/>
                <a:cs typeface="Amiri" pitchFamily="2" charset="-78"/>
              </a:rPr>
              <a:t>all-la-ha-jā-tu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Spoken varieties, which differ by region.</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الأَمَازِيغِيَّةُ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Amazigh (Berber)</a:t>
            </a:r>
            <a:endParaRPr lang="en-US" sz="1350" dirty="0"/>
          </a:p>
          <a:p>
            <a:pPr indent="0" marL="0">
              <a:buNone/>
            </a:pPr>
            <a:r>
              <a:rPr lang="en-US" sz="1100" i="1" dirty="0">
                <a:solidFill>
                  <a:srgbClr val="5A6472"/>
                </a:solidFill>
                <a:latin typeface="Calibri" pitchFamily="34" charset="0"/>
                <a:cs typeface="Amiri" pitchFamily="2" charset="-78"/>
              </a:rPr>
              <a:t>al-a-mā-zī-ghiy-ya-tu</a:t>
            </a:r>
            <a:endParaRPr lang="en-US" sz="1350" dirty="0"/>
          </a:p>
        </p:txBody>
      </p:sp>
      <p:sp>
        <p:nvSpPr>
          <p:cNvPr id="36" name="Text 33"/>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Official in Morocco and Algeria.</a:t>
            </a:r>
            <a:endParaRPr lang="en-US" sz="10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الكُرْدِيَّةُ</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Kurdish</a:t>
            </a:r>
            <a:endParaRPr lang="en-US" sz="1350" dirty="0"/>
          </a:p>
          <a:p>
            <a:pPr indent="0" marL="0">
              <a:buNone/>
            </a:pPr>
            <a:r>
              <a:rPr lang="en-US" sz="1100" i="1" dirty="0">
                <a:solidFill>
                  <a:srgbClr val="5A6472"/>
                </a:solidFill>
                <a:latin typeface="Calibri" pitchFamily="34" charset="0"/>
                <a:cs typeface="Amiri" pitchFamily="2" charset="-78"/>
              </a:rPr>
              <a:t>al-kur-diy-ya-tu</a:t>
            </a:r>
            <a:endParaRPr lang="en-US" sz="1350" dirty="0"/>
          </a:p>
        </p:txBody>
      </p:sp>
      <p:sp>
        <p:nvSpPr>
          <p:cNvPr id="42" name="Text 3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Official in Iraq alongside Arabic.</a:t>
            </a:r>
            <a:endParaRPr lang="en-US" sz="100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الهُوِيَّةُ العَرَبِيَّةُ</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 identity</a:t>
            </a:r>
            <a:endParaRPr lang="en-US" sz="1350" dirty="0"/>
          </a:p>
          <a:p>
            <a:pPr indent="0" marL="0">
              <a:buNone/>
            </a:pPr>
            <a:r>
              <a:rPr lang="en-US" sz="1100" i="1" dirty="0">
                <a:solidFill>
                  <a:srgbClr val="5A6472"/>
                </a:solidFill>
                <a:latin typeface="Calibri" pitchFamily="34" charset="0"/>
                <a:cs typeface="Amiri" pitchFamily="2" charset="-78"/>
              </a:rPr>
              <a:t>al-hu-wiy-ya-tu al-ʿa-ra-biy-ya-tu</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Languages and identity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 رَسْمِيَّةٌ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official language</a:t>
            </a:r>
            <a:endParaRPr lang="en-US" sz="1350" dirty="0"/>
          </a:p>
          <a:p>
            <a:pPr indent="0" marL="0">
              <a:buNone/>
            </a:pPr>
            <a:r>
              <a:rPr lang="en-US" sz="1100" i="1" dirty="0">
                <a:solidFill>
                  <a:srgbClr val="5A6472"/>
                </a:solidFill>
                <a:latin typeface="Calibri" pitchFamily="34" charset="0"/>
                <a:cs typeface="Amiri" pitchFamily="2" charset="-78"/>
              </a:rPr>
              <a:t>lu-gha-tun ras-miy-ya-tun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عَاصِمَةٌ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capital city</a:t>
            </a:r>
            <a:endParaRPr lang="en-US" sz="1350" dirty="0"/>
          </a:p>
          <a:p>
            <a:pPr indent="0" marL="0">
              <a:buNone/>
            </a:pPr>
            <a:r>
              <a:rPr lang="en-US" sz="1100" i="1" dirty="0">
                <a:solidFill>
                  <a:srgbClr val="5A6472"/>
                </a:solidFill>
                <a:latin typeface="Calibri" pitchFamily="34" charset="0"/>
                <a:cs typeface="Amiri" pitchFamily="2" charset="-78"/>
              </a:rPr>
              <a:t>ʿā-ṣi-ma-tun</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عَوَاصِمُ</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جِنْسِيَّةٌ</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nationality</a:t>
            </a:r>
            <a:endParaRPr lang="en-US" sz="1350" dirty="0"/>
          </a:p>
          <a:p>
            <a:pPr indent="0" marL="0">
              <a:buNone/>
            </a:pPr>
            <a:r>
              <a:rPr lang="en-US" sz="1100" i="1" dirty="0">
                <a:solidFill>
                  <a:srgbClr val="5A6472"/>
                </a:solidFill>
                <a:latin typeface="Calibri" pitchFamily="34" charset="0"/>
                <a:cs typeface="Amiri" pitchFamily="2" charset="-78"/>
              </a:rPr>
              <a:t>jin-siy-ya-tun</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نَشَأَ / يَنْشَأُ</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arose / arises</a:t>
            </a:r>
            <a:endParaRPr lang="en-US" sz="1350" dirty="0"/>
          </a:p>
          <a:p>
            <a:pPr indent="0" marL="0">
              <a:buNone/>
            </a:pPr>
            <a:r>
              <a:rPr lang="en-US" sz="1100" i="1" dirty="0">
                <a:solidFill>
                  <a:srgbClr val="5A6472"/>
                </a:solidFill>
                <a:latin typeface="Calibri" pitchFamily="34" charset="0"/>
                <a:cs typeface="Amiri" pitchFamily="2" charset="-78"/>
              </a:rPr>
              <a:t>na-sha-ʾa / yan-sha-ʾu</a:t>
            </a:r>
            <a:endParaRPr lang="en-US" sz="1350" dirty="0"/>
          </a:p>
        </p:txBody>
      </p:sp>
      <p:sp>
        <p:nvSpPr>
          <p:cNvPr id="42" name="Text 3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Used for civilisations and institutions.</a:t>
            </a:r>
            <a:endParaRPr lang="en-US" sz="100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46" name="Shape 4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VIII.</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اتَّسَعَ / يَتَّسِعُ</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expanded / expands</a:t>
            </a:r>
            <a:endParaRPr lang="en-US" sz="1350" dirty="0"/>
          </a:p>
          <a:p>
            <a:pPr indent="0" marL="0">
              <a:buNone/>
            </a:pPr>
            <a:r>
              <a:rPr lang="en-US" sz="1100" i="1" dirty="0">
                <a:solidFill>
                  <a:srgbClr val="5A6472"/>
                </a:solidFill>
                <a:latin typeface="Calibri" pitchFamily="34" charset="0"/>
                <a:cs typeface="Amiri" pitchFamily="2" charset="-78"/>
              </a:rPr>
              <a:t>at-ta-sa-ʿa / yat-ta-si-ʿu</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NISBA (WEBSITE RULE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country to nationality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النِّسْبَةُ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14432" y="1810512"/>
            <a:ext cx="1344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7" name="Text 14"/>
          <p:cNvSpPr txBox="1"/>
          <p:nvPr/>
        </p:nvSpPr>
        <p:spPr>
          <a:xfrm>
            <a:off x="79369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They</a:t>
            </a:r>
            <a:endParaRPr lang="en-US" sz="1100" dirty="0"/>
          </a:p>
        </p:txBody>
      </p:sp>
      <p:sp>
        <p:nvSpPr>
          <p:cNvPr id="18" name="Text 15"/>
          <p:cNvSpPr txBox="1"/>
          <p:nvPr/>
        </p:nvSpPr>
        <p:spPr>
          <a:xfrm>
            <a:off x="55595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a:t>
            </a:r>
            <a:endParaRPr lang="en-US" sz="1100" dirty="0"/>
          </a:p>
        </p:txBody>
      </p:sp>
      <p:sp>
        <p:nvSpPr>
          <p:cNvPr id="19" name="Text 16"/>
          <p:cNvSpPr txBox="1"/>
          <p:nvPr/>
        </p:nvSpPr>
        <p:spPr>
          <a:xfrm>
            <a:off x="318211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a:t>
            </a:r>
            <a:endParaRPr lang="en-US" sz="1100" dirty="0"/>
          </a:p>
        </p:txBody>
      </p:sp>
      <p:sp>
        <p:nvSpPr>
          <p:cNvPr id="20" name="Text 17"/>
          <p:cNvSpPr txBox="1"/>
          <p:nvPr/>
        </p:nvSpPr>
        <p:spPr>
          <a:xfrm>
            <a:off x="5303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Country</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10351008" y="2267712"/>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-iyy</a:t>
            </a:r>
            <a:endParaRPr lang="en-US" sz="1100" dirty="0"/>
          </a:p>
        </p:txBody>
      </p:sp>
      <p:sp>
        <p:nvSpPr>
          <p:cNvPr id="23" name="Text 20"/>
          <p:cNvSpPr txBox="1"/>
          <p:nvPr/>
        </p:nvSpPr>
        <p:spPr>
          <a:xfrm>
            <a:off x="795528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مِصْرِيُّونَ</a:t>
            </a:r>
            <a:endParaRPr lang="ar-SA" sz="2400" dirty="0"/>
          </a:p>
        </p:txBody>
      </p:sp>
      <p:sp>
        <p:nvSpPr>
          <p:cNvPr id="24" name="Text 21"/>
          <p:cNvSpPr txBox="1"/>
          <p:nvPr/>
        </p:nvSpPr>
        <p:spPr>
          <a:xfrm>
            <a:off x="557784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مِصْرِيَّةٌ</a:t>
            </a:r>
            <a:endParaRPr lang="ar-SA" sz="2400" dirty="0"/>
          </a:p>
        </p:txBody>
      </p:sp>
      <p:sp>
        <p:nvSpPr>
          <p:cNvPr id="25" name="Text 22"/>
          <p:cNvSpPr txBox="1"/>
          <p:nvPr/>
        </p:nvSpPr>
        <p:spPr>
          <a:xfrm>
            <a:off x="320040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مِصْرِيٌّ</a:t>
            </a:r>
            <a:endParaRPr lang="ar-SA" sz="2400" dirty="0"/>
          </a:p>
        </p:txBody>
      </p:sp>
      <p:sp>
        <p:nvSpPr>
          <p:cNvPr id="26" name="Text 23"/>
          <p:cNvSpPr txBox="1"/>
          <p:nvPr/>
        </p:nvSpPr>
        <p:spPr>
          <a:xfrm>
            <a:off x="548640" y="2267712"/>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مِصْرُ</a:t>
            </a:r>
            <a:endParaRPr lang="ar-SA" sz="24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10351008" y="300471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drop al-</a:t>
            </a:r>
            <a:endParaRPr lang="en-US" sz="1100" dirty="0"/>
          </a:p>
        </p:txBody>
      </p:sp>
      <p:sp>
        <p:nvSpPr>
          <p:cNvPr id="31" name="Text 28"/>
          <p:cNvSpPr txBox="1"/>
          <p:nvPr/>
        </p:nvSpPr>
        <p:spPr>
          <a:xfrm>
            <a:off x="795528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مَغَارِبَةٌ</a:t>
            </a:r>
            <a:endParaRPr lang="ar-SA" sz="2400" dirty="0"/>
          </a:p>
        </p:txBody>
      </p:sp>
      <p:sp>
        <p:nvSpPr>
          <p:cNvPr id="32" name="Text 29"/>
          <p:cNvSpPr txBox="1"/>
          <p:nvPr/>
        </p:nvSpPr>
        <p:spPr>
          <a:xfrm>
            <a:off x="557784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مَغْرِبِيَّةٌ</a:t>
            </a:r>
            <a:endParaRPr lang="ar-SA" sz="2400" dirty="0"/>
          </a:p>
        </p:txBody>
      </p:sp>
      <p:sp>
        <p:nvSpPr>
          <p:cNvPr id="33" name="Text 30"/>
          <p:cNvSpPr txBox="1"/>
          <p:nvPr/>
        </p:nvSpPr>
        <p:spPr>
          <a:xfrm>
            <a:off x="320040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مَغْرِبِيٌّ</a:t>
            </a:r>
            <a:endParaRPr lang="ar-SA" sz="2400" dirty="0"/>
          </a:p>
        </p:txBody>
      </p:sp>
      <p:sp>
        <p:nvSpPr>
          <p:cNvPr id="34" name="Text 31"/>
          <p:cNvSpPr txBox="1"/>
          <p:nvPr/>
        </p:nvSpPr>
        <p:spPr>
          <a:xfrm>
            <a:off x="548640" y="3004718"/>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المَغْرِبُ</a:t>
            </a:r>
            <a:endParaRPr lang="ar-SA" sz="24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10351008" y="3741725"/>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drop -iyya</a:t>
            </a:r>
            <a:endParaRPr lang="en-US" sz="1100" dirty="0"/>
          </a:p>
        </p:txBody>
      </p:sp>
      <p:sp>
        <p:nvSpPr>
          <p:cNvPr id="39" name="Text 36"/>
          <p:cNvSpPr txBox="1"/>
          <p:nvPr/>
        </p:nvSpPr>
        <p:spPr>
          <a:xfrm>
            <a:off x="795528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سُعُودِيُّونَ</a:t>
            </a:r>
            <a:endParaRPr lang="ar-SA" sz="2400" dirty="0"/>
          </a:p>
        </p:txBody>
      </p:sp>
      <p:sp>
        <p:nvSpPr>
          <p:cNvPr id="40" name="Text 37"/>
          <p:cNvSpPr txBox="1"/>
          <p:nvPr/>
        </p:nvSpPr>
        <p:spPr>
          <a:xfrm>
            <a:off x="557784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سُعُودِيَّةٌ</a:t>
            </a:r>
            <a:endParaRPr lang="ar-SA" sz="2400" dirty="0"/>
          </a:p>
        </p:txBody>
      </p:sp>
      <p:sp>
        <p:nvSpPr>
          <p:cNvPr id="41" name="Text 38"/>
          <p:cNvSpPr txBox="1"/>
          <p:nvPr/>
        </p:nvSpPr>
        <p:spPr>
          <a:xfrm>
            <a:off x="320040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سُعُودِيٌّ</a:t>
            </a:r>
            <a:endParaRPr lang="ar-SA" sz="2400" dirty="0"/>
          </a:p>
        </p:txBody>
      </p:sp>
      <p:sp>
        <p:nvSpPr>
          <p:cNvPr id="42" name="Text 39"/>
          <p:cNvSpPr txBox="1"/>
          <p:nvPr/>
        </p:nvSpPr>
        <p:spPr>
          <a:xfrm>
            <a:off x="548640" y="3741725"/>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السُّعُودِيَّةُ</a:t>
            </a:r>
            <a:endParaRPr lang="ar-SA" sz="2400" dirty="0"/>
          </a:p>
        </p:txBody>
      </p:sp>
      <p:sp>
        <p:nvSpPr>
          <p:cNvPr id="43" name="Shape 4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4" name="Text 41"/>
          <p:cNvSpPr txBox="1"/>
          <p:nvPr/>
        </p:nvSpPr>
        <p:spPr>
          <a:xfrm>
            <a:off x="10351008" y="4478731"/>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keep the shadda</a:t>
            </a:r>
            <a:endParaRPr lang="en-US" sz="1100" dirty="0"/>
          </a:p>
        </p:txBody>
      </p:sp>
      <p:sp>
        <p:nvSpPr>
          <p:cNvPr id="45" name="Text 42"/>
          <p:cNvSpPr txBox="1"/>
          <p:nvPr/>
        </p:nvSpPr>
        <p:spPr>
          <a:xfrm>
            <a:off x="795528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أُرْدُنِّيُّونَ</a:t>
            </a:r>
            <a:endParaRPr lang="ar-SA" sz="2400" dirty="0"/>
          </a:p>
        </p:txBody>
      </p:sp>
      <p:sp>
        <p:nvSpPr>
          <p:cNvPr id="46" name="Text 43"/>
          <p:cNvSpPr txBox="1"/>
          <p:nvPr/>
        </p:nvSpPr>
        <p:spPr>
          <a:xfrm>
            <a:off x="557784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أُرْدُنِّيَّةٌ</a:t>
            </a:r>
            <a:endParaRPr lang="ar-SA" sz="2400" dirty="0"/>
          </a:p>
        </p:txBody>
      </p:sp>
      <p:sp>
        <p:nvSpPr>
          <p:cNvPr id="47" name="Text 44"/>
          <p:cNvSpPr txBox="1"/>
          <p:nvPr/>
        </p:nvSpPr>
        <p:spPr>
          <a:xfrm>
            <a:off x="320040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أُرْدُنِّيٌّ</a:t>
            </a:r>
            <a:endParaRPr lang="ar-SA" sz="2400" dirty="0"/>
          </a:p>
        </p:txBody>
      </p:sp>
      <p:sp>
        <p:nvSpPr>
          <p:cNvPr id="48" name="Text 45"/>
          <p:cNvSpPr txBox="1"/>
          <p:nvPr/>
        </p:nvSpPr>
        <p:spPr>
          <a:xfrm>
            <a:off x="548640" y="4478731"/>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الأُرْدُنُّ</a:t>
            </a:r>
            <a:endParaRPr lang="ar-SA" sz="2400" dirty="0"/>
          </a:p>
        </p:txBody>
      </p:sp>
      <p:sp>
        <p:nvSpPr>
          <p:cNvPr id="49" name="Shape 4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0" name="Text 47"/>
          <p:cNvSpPr txBox="1"/>
          <p:nvPr/>
        </p:nvSpPr>
        <p:spPr>
          <a:xfrm>
            <a:off x="10351008" y="521573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-iyy</a:t>
            </a:r>
            <a:endParaRPr lang="en-US" sz="1100" dirty="0"/>
          </a:p>
        </p:txBody>
      </p:sp>
      <p:sp>
        <p:nvSpPr>
          <p:cNvPr id="51" name="Text 48"/>
          <p:cNvSpPr txBox="1"/>
          <p:nvPr/>
        </p:nvSpPr>
        <p:spPr>
          <a:xfrm>
            <a:off x="795528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لُبْنَانِيُّونَ</a:t>
            </a:r>
            <a:endParaRPr lang="ar-SA" sz="2400" dirty="0"/>
          </a:p>
        </p:txBody>
      </p:sp>
      <p:sp>
        <p:nvSpPr>
          <p:cNvPr id="52" name="Text 49"/>
          <p:cNvSpPr txBox="1"/>
          <p:nvPr/>
        </p:nvSpPr>
        <p:spPr>
          <a:xfrm>
            <a:off x="557784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لُبْنَانِيَّةٌ</a:t>
            </a:r>
            <a:endParaRPr lang="ar-SA" sz="2400" dirty="0"/>
          </a:p>
        </p:txBody>
      </p:sp>
      <p:sp>
        <p:nvSpPr>
          <p:cNvPr id="53" name="Text 50"/>
          <p:cNvSpPr txBox="1"/>
          <p:nvPr/>
        </p:nvSpPr>
        <p:spPr>
          <a:xfrm>
            <a:off x="320040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لُبْنَانِيٌّ</a:t>
            </a:r>
            <a:endParaRPr lang="ar-SA" sz="2400" dirty="0"/>
          </a:p>
        </p:txBody>
      </p:sp>
      <p:sp>
        <p:nvSpPr>
          <p:cNvPr id="54" name="Text 51"/>
          <p:cNvSpPr txBox="1"/>
          <p:nvPr/>
        </p:nvSpPr>
        <p:spPr>
          <a:xfrm>
            <a:off x="548640" y="5215738"/>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لُبْنَانُ</a:t>
            </a:r>
            <a:endParaRPr lang="ar-SA" sz="240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nisba is an adjective: it agrees — </a:t>
            </a:r>
            <a:pPr algn="l" indent="0" marL="0">
              <a:buNone/>
            </a:pPr>
            <a:r>
              <a:rPr lang="ar-SA" altLang="en-US" sz="1500" b="1" dirty="0">
                <a:solidFill>
                  <a:srgbClr val="1B3B6F"/>
                </a:solidFill>
                <a:latin typeface="Amiri" pitchFamily="2" charset="-78"/>
                <a:ea typeface="Amiri" pitchFamily="2" charset="-78"/>
                <a:cs typeface="Amiri" pitchFamily="2" charset="-78"/>
              </a:rPr>
              <a:t>طَالِبٌ جَزَائِرِيٌّ</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طَالِبَةٌ جَزَائِرِيَّةٌ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DIPTOTES, TENSE, ACCURACY (WEBSITE RULES 2–4)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 tanwīn — and no generalising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مَمْنُوعٌ مِنَ الصَّرْفِ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DIPTOTES · CORE</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مِنْ لُبْنَانَ · زُرْتُ مِصْرَ</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أَنَا مِنْ لُبْنَانَ، وَزُرْتُ مِصْرَ.</a:t>
            </a:r>
            <a:endParaRPr lang="ar-SA" sz="28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am from Lebanon, and I visited Egypt.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 tanwīn.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205740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2057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HISTORY vs TODAY · DEVELOP</a:t>
            </a:r>
            <a:endParaRPr lang="en-US" sz="850" dirty="0"/>
          </a:p>
        </p:txBody>
      </p:sp>
      <p:sp>
        <p:nvSpPr>
          <p:cNvPr id="26" name="Text 23"/>
          <p:cNvSpPr txBox="1"/>
          <p:nvPr/>
        </p:nvSpPr>
        <p:spPr>
          <a:xfrm>
            <a:off x="6516624" y="1874520"/>
            <a:ext cx="12588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نَشَأَتْ · تُعَدُّ</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نَشَأَتِ الحَضَارَةُ هُنَا، وَتُعَدُّ العَرَبِيَّةُ لُغَةً مُنْتَشِرَةً.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civilisation arose here, and Arabic is (now) a widespread language.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Past · present.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ACCURACY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إِلَى جَانِبِ العَرَبِيَّةِ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تُسْتَعْمَلُ الكُرْدِيَّةُ إِلَى جَانِبِ العَرَبِيَّةِ فِي العِرَاقِ.</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Kurdish is used alongside Arabic in Iraq.</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Name the others.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 diptote never takes tanwīn.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مِنْ لُبْنَانَ</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مِنْ لُبْنَانٍ</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The nisba, diptotes and describing a region</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50" b="1" dirty="0">
                <a:solidFill>
                  <a:srgbClr val="8A6D1E"/>
                </a:solidFill>
                <a:latin typeface="Amiri" pitchFamily="2" charset="-78"/>
                <a:ea typeface="Amiri" pitchFamily="2" charset="-78"/>
                <a:cs typeface="Amiri" pitchFamily="2" charset="-78"/>
              </a:rPr>
              <a:t>النِّسْبَةُ وَالمَمْنُوعُ مِنَ الصَّرْفِ وَوَصْفُ المِنْطَقَةِ</a:t>
            </a:r>
            <a:endParaRPr lang="ar-SA" sz="22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Forming the nisba</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country + </a:t>
            </a:r>
            <a:pPr algn="l" indent="0" marL="0">
              <a:buNone/>
            </a:pPr>
            <a:r>
              <a:rPr lang="ar-SA" altLang="en-US" sz="1350" dirty="0">
                <a:solidFill>
                  <a:srgbClr val="5A6472"/>
                </a:solidFill>
                <a:latin typeface="Amiri" pitchFamily="2" charset="-78"/>
                <a:ea typeface="Amiri" pitchFamily="2" charset="-78"/>
                <a:cs typeface="Amiri" pitchFamily="2" charset="-78"/>
              </a:rPr>
              <a:t>ـِيٌّ</a:t>
            </a:r>
            <a:pPr algn="l" indent="0" marL="0">
              <a:buNone/>
            </a:pPr>
            <a:r>
              <a:rPr lang="en-US" sz="1050"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ـِيَّةٌ</a:t>
            </a:r>
            <a:pPr algn="l" indent="0" marL="0">
              <a:buNone/>
            </a:pPr>
            <a:r>
              <a:rPr lang="en-US" sz="1050" dirty="0">
                <a:solidFill>
                  <a:srgbClr val="5A6472"/>
                </a:solidFill>
                <a:latin typeface="Calibri" pitchFamily="34" charset="0"/>
                <a:cs typeface="Amiri" pitchFamily="2" charset="-78"/>
              </a:rPr>
              <a:t> (f.)</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المَغْرِبُ · مَغْرِبِيٌّ · مَغْرِبِيَّةٌ   ·   السُّعُودِيَّةُ · سُعُودِيٌّ · سُعُودِيَّةٌ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Diptote country names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no tanwīn; fatḥa instead of kasra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أَنَا مِنْ لُبْنَانَ   ·   زُرْتُ مِصْرَ فِي الصَّيْفِ</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Past for history, present for today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past (nashaʾat) for history · present (tuʿaddu) for today</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950" b="1" dirty="0">
                <a:solidFill>
                  <a:srgbClr val="1F2A37"/>
                </a:solidFill>
                <a:latin typeface="Amiri" pitchFamily="2" charset="-78"/>
                <a:ea typeface="Amiri" pitchFamily="2" charset="-78"/>
                <a:cs typeface="Amiri" pitchFamily="2" charset="-78"/>
              </a:rPr>
              <a:t>نَشَأَتِ الحَضَارَةُ العَرَبِيَّةُ فِي هٰذِهِ المِنْطَقَةِ   ·   تُعَدُّ العَرَبِيَّةُ مِنْ أَكْثَرِ اللُّغَاتِ انْتِشَارًا</a:t>
            </a:r>
            <a:endParaRPr lang="ar-SA" sz="19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Describing language use accurately</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فِي بَعْضِ الدُّوَلِ / إِلَى جَانِبِ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الأَمَازِيغِيَّةُ لُغَةٌ رَسْمِيَّةٌ فِي المَغْرِبِ وَالجَزَائِرِ   ·   تُسْتَعْمَلُ الكُرْدِيَّةُ إِلَى جَانِبِ العَرَبِيَّةِ فِي العِرَاقِ</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masculine nationality for </a:t>
            </a:r>
            <a:pPr algn="l" indent="0" marL="0">
              <a:buNone/>
            </a:pPr>
            <a:r>
              <a:rPr lang="ar-SA" altLang="en-US" sz="1650" b="1" dirty="0">
                <a:solidFill>
                  <a:srgbClr val="1B3B6F"/>
                </a:solidFill>
                <a:latin typeface="Amiri" pitchFamily="2" charset="-78"/>
                <a:ea typeface="Amiri" pitchFamily="2" charset="-78"/>
                <a:cs typeface="Amiri" pitchFamily="2" charset="-78"/>
              </a:rPr>
              <a:t>المَغْرِب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مَغْرِبَةٌ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مَغْرِبِيَّةٌ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مَغْرِبِيٌّ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nationality for </a:t>
            </a:r>
            <a:pPr algn="l" indent="0" marL="0">
              <a:buNone/>
            </a:pPr>
            <a:r>
              <a:rPr lang="ar-SA" altLang="en-US" sz="1650" b="1" dirty="0">
                <a:solidFill>
                  <a:srgbClr val="1B3B6F"/>
                </a:solidFill>
                <a:latin typeface="Amiri" pitchFamily="2" charset="-78"/>
                <a:ea typeface="Amiri" pitchFamily="2" charset="-78"/>
                <a:cs typeface="Amiri" pitchFamily="2" charset="-78"/>
              </a:rPr>
              <a:t>تُونُس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تُونُسِيَّةٌ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تُونُسِيٌّ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تُونُسَةٌ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أَنَا مِنْ ___.</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لُبْنَانٍ</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لُبْنَانَ</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اللُّبْنَانِيِّ</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طَالِبَةٌ جَزَائِرِيَّةٌ.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طَالِبَةٌ جَزَائِرِيٌّ.</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طَالِبٌ جَزَائِرِيَّةٌ.</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masculine nationality for </a:t>
            </a:r>
            <a:pPr algn="l" indent="0" marL="0">
              <a:buNone/>
            </a:pPr>
            <a:r>
              <a:rPr lang="ar-SA" altLang="en-US" sz="1650" b="1" dirty="0">
                <a:solidFill>
                  <a:srgbClr val="1B3B6F"/>
                </a:solidFill>
                <a:latin typeface="Amiri" pitchFamily="2" charset="-78"/>
                <a:ea typeface="Amiri" pitchFamily="2" charset="-78"/>
                <a:cs typeface="Amiri" pitchFamily="2" charset="-78"/>
              </a:rPr>
              <a:t>المَغْرِب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مَغْرِبَةٌ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مَغْرِبِيَّةٌ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مَغْرِبِيٌّ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nisba ends in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with a shadda.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nationality for </a:t>
            </a:r>
            <a:pPr algn="l" indent="0" marL="0">
              <a:buNone/>
            </a:pPr>
            <a:r>
              <a:rPr lang="ar-SA" altLang="en-US" sz="1650" b="1" dirty="0">
                <a:solidFill>
                  <a:srgbClr val="1B3B6F"/>
                </a:solidFill>
                <a:latin typeface="Amiri" pitchFamily="2" charset="-78"/>
                <a:ea typeface="Amiri" pitchFamily="2" charset="-78"/>
                <a:cs typeface="Amiri" pitchFamily="2" charset="-78"/>
              </a:rPr>
              <a:t>تُونُس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تُونُسِيَّةٌ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تُونُسِيٌّ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تُونُسَةٌ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nisba adds tāʾ marbūṭa after the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ending.</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أَنَا مِنْ ___.</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لُبْنَانٍ</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لُبْنَانَ</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اللُّبْنَانِيِّ</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لُبْنَان</a:t>
            </a:r>
            <a:pPr algn="l" indent="0" marL="0">
              <a:buNone/>
            </a:pPr>
            <a:r>
              <a:rPr lang="en-US" sz="1050" i="1" dirty="0">
                <a:solidFill>
                  <a:srgbClr val="8A6D1E"/>
                </a:solidFill>
                <a:latin typeface="Calibri" pitchFamily="34" charset="0"/>
                <a:cs typeface="Amiri" pitchFamily="2" charset="-78"/>
              </a:rPr>
              <a:t> is a diptote, so the genitive takes a fatḥa and no tanwīn.</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طَالِبَةٌ جَزَائِرِيَّةٌ.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طَالِبَةٌ جَزَائِرِيٌّ.</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طَالِبٌ جَزَائِرِيَّةٌ.</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the noun and its nisba adjective are feminine.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introduce a country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Country</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المَغْرِبُ · عَاصِمَتُهُ الرِّبَاطُ</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Name + capital.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Nationality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مَغْرِبِيٌّ</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0E7C86"/>
                </a:solidFill>
                <a:latin typeface="Amiri" pitchFamily="2" charset="-78"/>
                <a:ea typeface="Amiri" pitchFamily="2" charset="-78"/>
                <a:cs typeface="Amiri" pitchFamily="2" charset="-78"/>
              </a:rPr>
              <a:t>مَغْرِبِيَّةٌ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 / she.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Languages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العَرَبِيَّةُ وَ</a:t>
            </a:r>
            <a:pPr rtl="1" algn="ctr" indent="0" marL="0">
              <a:buNone/>
            </a:pPr>
            <a:r>
              <a:rPr lang="ar-SA" altLang="en-US" sz="2550" b="1" dirty="0">
                <a:solidFill>
                  <a:srgbClr val="1D5FBF"/>
                </a:solidFill>
                <a:latin typeface="Amiri" pitchFamily="2" charset="-78"/>
                <a:ea typeface="Amiri" pitchFamily="2" charset="-78"/>
                <a:cs typeface="Amiri" pitchFamily="2" charset="-78"/>
              </a:rPr>
              <a:t>الأَمَازِيغِيَّةُ</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 only Arabic.</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Diptote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زُرْتُ </a:t>
            </a:r>
            <a:pPr rtl="1" algn="ctr" indent="0" marL="0">
              <a:buNone/>
            </a:pPr>
            <a:r>
              <a:rPr lang="ar-SA" altLang="en-US" sz="2800" b="1" dirty="0">
                <a:solidFill>
                  <a:srgbClr val="D6336C"/>
                </a:solidFill>
                <a:latin typeface="Amiri" pitchFamily="2" charset="-78"/>
                <a:ea typeface="Amiri" pitchFamily="2" charset="-78"/>
                <a:cs typeface="Amiri" pitchFamily="2" charset="-78"/>
              </a:rPr>
              <a:t>مِصْرَ</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tanwīn.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 / DIPTOTE</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OTHER LANGUAGE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مِنْ أَجْمَلِ الدُّوَلِ العَرَبِيَّةِ المَغْرِبُ، وَعَاصِمَتُهُ الرِّبَاطُ. وَالطَّالِبُ مِنْهُمْ </a:t>
            </a:r>
            <a:pPr rtl="1" algn="r" indent="0" marL="0">
              <a:lnSpc>
                <a:spcPct val="120000"/>
              </a:lnSpc>
              <a:buNone/>
            </a:pPr>
            <a:r>
              <a:rPr lang="ar-SA" altLang="en-US" sz="1500" b="1" dirty="0">
                <a:solidFill>
                  <a:srgbClr val="D6336C"/>
                </a:solidFill>
                <a:latin typeface="Amiri" pitchFamily="2" charset="-78"/>
                <a:ea typeface="Amiri" pitchFamily="2" charset="-78"/>
                <a:cs typeface="Amiri" pitchFamily="2" charset="-78"/>
              </a:rPr>
              <a:t>مَغْرِبِيٌّ</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وَالطَّالِبَةُ </a:t>
            </a:r>
            <a:pPr rtl="1" algn="r" indent="0" marL="0">
              <a:lnSpc>
                <a:spcPct val="120000"/>
              </a:lnSpc>
              <a:buNone/>
            </a:pPr>
            <a:r>
              <a:rPr lang="ar-SA" altLang="en-US" sz="1500" b="1" dirty="0">
                <a:solidFill>
                  <a:srgbClr val="0E7C86"/>
                </a:solidFill>
                <a:latin typeface="Amiri" pitchFamily="2" charset="-78"/>
                <a:ea typeface="Amiri" pitchFamily="2" charset="-78"/>
                <a:cs typeface="Amiri" pitchFamily="2" charset="-78"/>
              </a:rPr>
              <a:t>مَغْرِبِيَّةٌ</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تُسْتَعْمَلُ فِيهِ العَرَبِيَّةُ وَ</a:t>
            </a:r>
            <a:pPr rtl="1" algn="r" indent="0" marL="0">
              <a:lnSpc>
                <a:spcPct val="120000"/>
              </a:lnSpc>
              <a:buNone/>
            </a:pPr>
            <a:r>
              <a:rPr lang="ar-SA" altLang="en-US" sz="1500" b="1" dirty="0">
                <a:solidFill>
                  <a:srgbClr val="1D5FBF"/>
                </a:solidFill>
                <a:latin typeface="Amiri" pitchFamily="2" charset="-78"/>
                <a:ea typeface="Amiri" pitchFamily="2" charset="-78"/>
                <a:cs typeface="Amiri" pitchFamily="2" charset="-78"/>
              </a:rPr>
              <a:t>الأَمَازِيغِيَّةُ</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وَقَدْ زُرْتُ </a:t>
            </a:r>
            <a:pPr rtl="1" algn="r" indent="0" marL="0">
              <a:lnSpc>
                <a:spcPct val="120000"/>
              </a:lnSpc>
              <a:buNone/>
            </a:pPr>
            <a:r>
              <a:rPr lang="ar-SA" altLang="en-US" sz="1500" b="1" dirty="0">
                <a:solidFill>
                  <a:srgbClr val="D6336C"/>
                </a:solidFill>
                <a:latin typeface="Amiri" pitchFamily="2" charset="-78"/>
                <a:ea typeface="Amiri" pitchFamily="2" charset="-78"/>
                <a:cs typeface="Amiri" pitchFamily="2" charset="-78"/>
              </a:rPr>
              <a:t>مِصْرَ</a:t>
            </a:r>
            <a:pPr rtl="1" algn="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 أَيْضًا قَبْلَ سَنَتَيْنِ.</a:t>
            </a:r>
            <a:endParaRPr lang="ar-SA" sz="15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Morocco is one of the most beautiful Arab countries, and its capital is Rabat. A (male) student from there is Moroccan and a (female) student is Moroccan. Arabic and Amazigh are used there. I also visited Egypt two years ago.</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مِصْر ← مِصْرِيٌّ / مِصْرِيَّةٌ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Egypt → Egyptian (m.) / (f.)</a:t>
            </a:r>
            <a:endParaRPr lang="en-US" sz="1250" dirty="0"/>
          </a:p>
          <a:p>
            <a:pPr indent="0" marL="0">
              <a:buNone/>
            </a:pPr>
            <a:r>
              <a:rPr lang="en-US" sz="1050" i="1" dirty="0">
                <a:solidFill>
                  <a:srgbClr val="8A6D1E"/>
                </a:solidFill>
                <a:latin typeface="Calibri" pitchFamily="34" charset="0"/>
                <a:cs typeface="Amiri" pitchFamily="2" charset="-78"/>
              </a:rPr>
              <a:t>The nisba ending carries a shadda on the yāʾ.</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أَنَا مِنْ لُبْنَانَ</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from Lebanon</a:t>
            </a:r>
            <a:endParaRPr lang="en-US" sz="1250" dirty="0"/>
          </a:p>
          <a:p>
            <a:pPr indent="0" marL="0">
              <a:buNone/>
            </a:pPr>
            <a:r>
              <a:rPr lang="en-US" sz="1050" i="1" dirty="0">
                <a:solidFill>
                  <a:srgbClr val="8A6D1E"/>
                </a:solidFill>
                <a:latin typeface="Calibri" pitchFamily="34" charset="0"/>
                <a:cs typeface="Amiri" pitchFamily="2" charset="-78"/>
              </a:rPr>
              <a:t>A diptote takes a fatḥa in the genitive, with no tanwīn.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تُعَدُّ العَرَبِيَّةُ مِنْ أَكْثَرِ اللُّغَاتِ انْتِشَارًا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Arabic is considered one of the most widespread languages</a:t>
            </a:r>
            <a:endParaRPr lang="en-US" sz="1250" dirty="0"/>
          </a:p>
          <a:p>
            <a:pPr indent="0" marL="0">
              <a:buNone/>
            </a:pPr>
            <a:r>
              <a:rPr lang="en-US" sz="1050" i="1" dirty="0">
                <a:solidFill>
                  <a:srgbClr val="8A6D1E"/>
                </a:solidFill>
                <a:latin typeface="Calibri" pitchFamily="34" charset="0"/>
                <a:cs typeface="Amiri" pitchFamily="2" charset="-78"/>
              </a:rPr>
              <a:t>A present passive for a fact that is true now.</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العِرَاقُ</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الأُرْدُنُّ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قَطَرُ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تُونُسُ</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الجَزَائِرُ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المَغْرِبُ</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الصُّومَالُ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جِيبُوتِي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جُزُرُ القَمَرِ</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Mashriq and Gulf</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Maghreb</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Horn of Africa</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Mashriq and Gulf</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العِرَاقُ</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الأُرْدُنُّ</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قَطَرُ</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Maghreb</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تُونُسُ</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الجَزَائِرُ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المَغْرِبُ</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Horn of Africa</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الصُّومَالُ</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جِيبُوتِي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جُزُرُ القَمَرِ</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زُرْتُ ___ فِي الصَّيْفِ المَاضِي.</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مِصْرًا</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مِصْرٍ</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مِصْرَ</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describes history accurately?</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تَنْشَأُ الحَضَارَةُ العَرَبِيَّةُ فِي هٰذِهِ المِنْطَقَةِ.</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نَشَأَتِ الحَضَارَةُ العَرَبِيَّةُ فِي هٰذِهِ المِنْطَقَةِ.</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سَتَنْشَأُ الحَضَارَةُ العَرَبِيَّةُ فِي هٰذِهِ المِنْطَقَةِ.</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language is accurate?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العَرَبِيَّةُ هِيَ اللُّغَةُ الوَحِيدَةُ فِي كُلِّ الدُّوَلِ العَرَبِيَّةِ.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الأَمَازِيغِيَّةُ لُغَةٌ رَسْمِيَّةٌ فِي المَغْرِبِ وَالجَزَائِرِ.</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تُوجَدُ لَهَجَاتٌ فِي العَالَمِ العَرَبِيِّ.</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difference between </a:t>
            </a:r>
            <a:pPr algn="l" indent="0" marL="0">
              <a:buNone/>
            </a:pPr>
            <a:r>
              <a:rPr lang="ar-SA" altLang="en-US" sz="1650" b="1" dirty="0">
                <a:solidFill>
                  <a:srgbClr val="1B3B6F"/>
                </a:solidFill>
                <a:latin typeface="Amiri" pitchFamily="2" charset="-78"/>
                <a:ea typeface="Amiri" pitchFamily="2" charset="-78"/>
                <a:cs typeface="Amiri" pitchFamily="2" charset="-78"/>
              </a:rPr>
              <a:t>الفُصْحَى</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اللَّهَجَاتُ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two names for the same thing.</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الفُصْحَى</a:t>
            </a:r>
            <a:pPr algn="l" indent="0" marL="0">
              <a:buNone/>
            </a:pPr>
            <a:r>
              <a:rPr lang="en-US" sz="1250" dirty="0">
                <a:solidFill>
                  <a:srgbClr val="1F2A37"/>
                </a:solidFill>
                <a:latin typeface="Calibri" pitchFamily="34" charset="0"/>
                <a:cs typeface="Amiri" pitchFamily="2" charset="-78"/>
              </a:rPr>
              <a:t> is spoken only at home.</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الفُصْحَى</a:t>
            </a:r>
            <a:pPr algn="l" indent="0" marL="0">
              <a:buNone/>
            </a:pPr>
            <a:r>
              <a:rPr lang="en-US" sz="1250" dirty="0">
                <a:solidFill>
                  <a:srgbClr val="1F2A37"/>
                </a:solidFill>
                <a:latin typeface="Calibri" pitchFamily="34" charset="0"/>
                <a:cs typeface="Amiri" pitchFamily="2" charset="-78"/>
              </a:rPr>
              <a:t> is the shared formal register; the dialects are spoken and vary by region.</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زُرْتُ ___ فِي الصَّيْفِ المَاضِي.</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مِصْرًا</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مِصْرٍ</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مِصْرَ</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مِصْر</a:t>
            </a:r>
            <a:pPr algn="l" indent="0" marL="0">
              <a:buNone/>
            </a:pPr>
            <a:r>
              <a:rPr lang="en-US" sz="1050" i="1" dirty="0">
                <a:solidFill>
                  <a:srgbClr val="8A6D1E"/>
                </a:solidFill>
                <a:latin typeface="Calibri" pitchFamily="34" charset="0"/>
                <a:cs typeface="Amiri" pitchFamily="2" charset="-78"/>
              </a:rPr>
              <a:t> is a diptote; the accusative is a bare fatḥa.</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describes history accurately?</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تَنْشَأُ الحَضَارَةُ العَرَبِيَّةُ فِي هٰذِهِ المِنْطَقَةِ.</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نَشَأَتِ الحَضَارَةُ العَرَبِيَّةُ فِي هٰذِهِ المِنْطَقَةِ.</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سَتَنْشَأُ الحَضَارَةُ العَرَبِيَّةُ فِي هٰذِهِ المِنْطَقَةِ.</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completed historical event takes the past tense.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language is accurate?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العَرَبِيَّةُ هِيَ اللُّغَةُ الوَحِيدَةُ فِي كُلِّ الدُّوَلِ العَرَبِيَّةِ.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الأَمَازِيغِيَّةُ لُغَةٌ رَسْمِيَّةٌ فِي المَغْرِبِ وَالجَزَائِرِ.</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تُوجَدُ لَهَجَاتٌ فِي العَالَمِ العَرَبِيِّ.</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Amazigh is co-official in Morocco and Algeria; the region is multilingual.</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difference between </a:t>
            </a:r>
            <a:pPr algn="l" indent="0" marL="0">
              <a:buNone/>
            </a:pPr>
            <a:r>
              <a:rPr lang="ar-SA" altLang="en-US" sz="1650" b="1" dirty="0">
                <a:solidFill>
                  <a:srgbClr val="1B3B6F"/>
                </a:solidFill>
                <a:latin typeface="Amiri" pitchFamily="2" charset="-78"/>
                <a:ea typeface="Amiri" pitchFamily="2" charset="-78"/>
                <a:cs typeface="Amiri" pitchFamily="2" charset="-78"/>
              </a:rPr>
              <a:t>الفُصْحَى</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اللَّهَجَاتُ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two names for the same thing.</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الفُصْحَى</a:t>
            </a:r>
            <a:pPr algn="l" indent="0" marL="0">
              <a:buNone/>
            </a:pPr>
            <a:r>
              <a:rPr lang="en-US" sz="1250" dirty="0">
                <a:solidFill>
                  <a:srgbClr val="9AA1AB"/>
                </a:solidFill>
                <a:latin typeface="Calibri" pitchFamily="34" charset="0"/>
                <a:cs typeface="Amiri" pitchFamily="2" charset="-78"/>
              </a:rPr>
              <a:t> is spoken only at home.</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ar-SA" altLang="en-US" sz="1500" b="1" dirty="0">
                <a:solidFill>
                  <a:srgbClr val="1F2A37"/>
                </a:solidFill>
                <a:latin typeface="Amiri" pitchFamily="2" charset="-78"/>
                <a:ea typeface="Amiri" pitchFamily="2" charset="-78"/>
                <a:cs typeface="Amiri" pitchFamily="2" charset="-78"/>
              </a:rPr>
              <a:t>الفُصْحَى</a:t>
            </a:r>
            <a:pPr algn="l" indent="0" marL="0">
              <a:buNone/>
            </a:pPr>
            <a:r>
              <a:rPr lang="en-US" sz="1150" b="1" dirty="0">
                <a:solidFill>
                  <a:srgbClr val="1F2A37"/>
                </a:solidFill>
                <a:latin typeface="Calibri" pitchFamily="34" charset="0"/>
                <a:cs typeface="Amiri" pitchFamily="2" charset="-78"/>
              </a:rPr>
              <a:t> is the shared formal register; the dialects are spoken and vary by region.</a:t>
            </a:r>
            <a:endParaRPr lang="en-US" sz="11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الفُصْحَى</a:t>
            </a:r>
            <a:pPr algn="l" indent="0" marL="0">
              <a:buNone/>
            </a:pPr>
            <a:r>
              <a:rPr lang="en-US" sz="1050" i="1" dirty="0">
                <a:solidFill>
                  <a:srgbClr val="8A6D1E"/>
                </a:solidFill>
                <a:latin typeface="Calibri" pitchFamily="34" charset="0"/>
                <a:cs typeface="Amiri" pitchFamily="2" charset="-78"/>
              </a:rPr>
              <a:t> is used in writing and formal speech; dialects differ from place to place.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مِنْ لُبْنَانٍ.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Lubnān: tanwīn or not?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طَالِبَةٌ مَغْرِبِيٌّ.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girl: -iyy or -iyya?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العَرَبِيَّةُ هِيَ اللُّغَةُ الوَحِيدَةُ فِي المِنْطَقَةِ.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Arabic the only language?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مِنْ لُبْنَانٍ.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مِنْ لُبْنَانَ.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لُبْنَان</a:t>
            </a:r>
            <a:pPr algn="l" indent="0" marL="0">
              <a:buNone/>
            </a:pPr>
            <a:r>
              <a:rPr lang="en-US" sz="1150" b="1" dirty="0">
                <a:solidFill>
                  <a:srgbClr val="1B3B6F"/>
                </a:solidFill>
                <a:latin typeface="Calibri" pitchFamily="34" charset="0"/>
                <a:cs typeface="Amiri" pitchFamily="2" charset="-78"/>
              </a:rPr>
              <a:t> is a diptote and cannot take tanwīn.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طَالِبَةٌ مَغْرِبِيٌّ.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طَالِبَةٌ مَغْرِبِيَّةٌ.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nisba adjective must agree with its feminine noun.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العَرَبِيَّةُ هِيَ اللُّغَةُ الوَحِيدَةُ فِي المِنْطَقَةِ.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إِلَى جَانِبِ العَرَبِيَّةِ تُوجَدُ لُغَاتٌ أُخْرَى مِثْلُ الأَمَازِيغِيَّةِ وَالكُرْدِيَّةِ.</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region is multilingual, so the version on the left states something untrue.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Listening: introductions from across the region</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Salmā's nationality?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Moroccan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Iraqi</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Lebanese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are spoken in her home?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only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Kurdish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Amazigh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Karīm say about Iraq?</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Arabic is used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Amazigh is official there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Kurdish is used alongside Arabic</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Nūr arrive from Lebanon?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years ago</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month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year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say about writing and speaking?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all speak the same dialect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all write in fuṣḥā but speak different dialects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never use fuṣḥā</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Three people: Salma · Karim · Nur.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سَلْمَى، وَأَنَا مَغْرِبِيَّةٌ مِنْ مَدِينَةِ الرِّبَاطِ.</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Salma, and I am Moroccan, from the city of Rabat.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فِي بَيْتِنَا نَتَحَدَّثُ العَرَبِيَّةَ وَالأَمَازِيغِيَّةَ، لِأَنَّ الأَمَازِيغِيَّةَ لُغَةٌ رَسْمِيَّةٌ فِي المَغْرِبِ.</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home we speak Arabic and Amazigh, because Amazigh is an official language in Morocco.</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وَصَدِيقِي كَرِيمٌ عِرَاقِيٌّ مِنْ بَغْدَادَ، وَيَقُولُ إِنَّ الكُرْدِيَّةَ تُسْتَعْمَلُ إِلَى جَانِبِ العَرَبِيَّةِ فِي بِلَادِهِ.</a:t>
            </a:r>
            <a:endParaRPr lang="ar-SA" sz="16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friend Karim is Iraqi, from Baghdad, and he says Kurdish is used alongside Arabic in his country.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زَمِيلَتُنَا نُورُ فَهِيَ لُبْنَانِيَّةٌ، وَقَدْ جَاءَتْ مِنْ لُبْنَانَ قَبْلَ سَنَتَيْنِ.</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our classmate Nur, she is Lebanese, and she came from Lebanon two years ago.</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نَحْنُ نَكْتُبُ جَمِيعًا بِالفُصْحَى، وَلٰكِنَّنَا نَتَحَدَّثُ بِلَهَجَاتٍ مُخْتَلِفَةٍ، وَأَحْيَانًا لَا نَفْهَمُ بَعْضَنَا بِسُرْعَةٍ.</a:t>
            </a:r>
            <a:endParaRPr lang="ar-SA" sz="16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all write in Standard Arabic, but we speak different dialects, and sometimes we don’t understand each other quickly.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Salmā's nationality?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Moroccan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Iraqi</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Lebanese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أَنَا مَغْرِبِيَّةٌ مِنْ مَدِينَةِ الرِّبَاطِ.</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are spoken in her home?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only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and Kurdish</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 and Amazigh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نَتَحَدَّثُ العَرَبِيَّةَ وَالأَمَازِيغِيَّةَ.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Karīm say about Iraq?</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Arabic is used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Amazigh is official there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Kurdish is used alongside Arabic</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الكُرْدِيَّةَ تُسْتَعْمَلُ إِلَى جَانِبِ العَرَبِيَّةِ فِي بِلَادِهِ.</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Nūr arrive from Lebanon?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years ago</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Last month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year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جَاءَتْ مِنْ لُبْنَانَ قَبْلَ سَنَتَيْنِ.</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say about writing and speaking?</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all speak the same dialect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all write in fuṣḥā but speak different dialects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never use fuṣḥā</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نَكْتُبُ جَمِيعًا بِالفُصْحَى، وَلٰكِنَّنَا نَتَحَدَّثُ بِلَهَجَاتٍ مُخْتَلِفَةٍ.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Three people: Salma · Karim · Nur.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Speaking: introduce a country and its languages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اِخْتَرْ دَوْلَةً عَرَبِيَّةً. مَا عَاصِمَتُهَا؟ وَمَا جِنْسِيَّةُ أَهْلِهَا؟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لُغَاتٍ تُسْتَعْمَلُ هُنَاكَ إِلَى جَانِبِ العَرَبِيَّةِ؟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الفَرْقُ بَيْنَ الفُصْحَى وَاللَّهَجَاتِ؟</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D5FBF"/>
                </a:solidFill>
                <a:latin typeface="Amiri" pitchFamily="2" charset="-78"/>
                <a:ea typeface="Amiri" pitchFamily="2" charset="-78"/>
                <a:cs typeface="Amiri" pitchFamily="2" charset="-78"/>
              </a:rPr>
              <a:t>أَخْتَارُ ___ . عَاصِمَتُهَا ___ ، وَالطَّالِبُ مِنْهَا ___ .</a:t>
            </a:r>
            <a:endParaRPr lang="ar-SA" sz="12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تُسْتَعْمَلُ ___ إِلَى جَانِبِ العَرَبِيَّةِ فِي ___ .</a:t>
            </a:r>
            <a:endParaRPr lang="ar-SA" sz="14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نَكْتُبُ بِالفُصْحَى، وَلٰكِنْ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اِخْتَرْ دَوْلَةً عَرَبِيَّةً وَتَحَدَّثْ عَنْهَا.</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Choose an Arab country and talk about it.</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أَخْتَارُ المَغْرِبَ. عَاصِمَتُهُ الرِّبَاطُ، وَأَهْلُهُ مَغَارِبَةٌ، وَالوَاحِدُ مِنْهُمْ مَغْرِبِيٌّ.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choose Morocco. Its capital is Rabat, its people are Moroccans, and one of them is a Moroccan.</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Match ten countries to their nationalities and write five sentences with accurate nisba agreement.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country, its capital, its nationality (he / she) and one language.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sentence about the languages used in two different countries.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diptote after a preposition and the languages of two countries.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 80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Contrast fuṣḥā and the dialects, and qualify one claim about regional diversity.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country · capital · nationality · languages · a qualified statement about diversity.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زُرْتُ ______ قَبْلَ سَنَتَيْنِ.</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visited … two years ago.</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تُسْتَعْمَلُ ______ إِلَى جَانِبِ العَرَبِيَّةِ فِي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used alongside Arabic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نَكْتُبُ جَمِيعًا بِالفُصْحَى، وَلٰكِنَّنَا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all write in fuṣḥā, but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وَلَيْسَ صَحِيحًا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not true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أَخْتَارُ ______ ، وَعَاصِمَتُهَا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choose …; its capital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الطَّالِبُ مِنْهَا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(male) student from there is … (-iyyun)</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الطَّالِبَةُ مِنْهَا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(female) student from there is … (-iyyatun)</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اللُّغَةُ الرَّسْمِيَّةُ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official language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مِصْرُ · مِصْرِيٌّ  ·  المَغْرِبُ · مَغْرِبِيٌّ  ·  الأُرْدُنُّ · أُرْدُنِّيٌّ  ·  العِرَاقُ · عِرَاقِيٌّ  ·  عَاصِمَةٌ  ·  جِنْسِيَّةٌ  ·  لُغَةٌ رَسْمِيَّةٌ  ·  الفُصْحَى  ·  اللَّهَجَاتُ  ·  الأَمَازِيغِيَّةُ  ·  الكُرْدِيَّةُ  ·  إِلَى جَانِبِ</a:t>
            </a:r>
            <a:endParaRPr lang="ar-SA" sz="15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eighty words introducing one Arab country: its name, its capital, the nationality of its people, the languages used there, and one accurate statement about the region's diversity.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correctly formed nisba, matching the gender of its noun.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diptote country name used after a preposition, with no tanwīn.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naming a language other than Arabic.</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qualified statement about diversity rather than a generalisation.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أَجْمَلِ الدُّوَلِ العَرَبِيَّةِ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of the most beautiful Arab countries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لَاحَظْتُ أَنَّ اللَّهْجَةَ تَخْتَلِفُ كَثِيرًا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noticed that the dialect differs a lot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تُعَدُّ العَرَبِيَّةُ مِنْ أَكْثَرِ اللُّغَاتِ انْتِشَارًا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Arabic is one of the most widespread languages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لَيْسَ صَحِيحًا أَنَّ المِنْطَقَةَ ذَاتُ ثَقَافَةٍ وَاحِدَةٍ</a:t>
            </a:r>
            <a:endParaRPr lang="ar-SA" sz="17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not true that the region has a single culture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فَالتَّنَوُّعُ فِيهَا كَبِيرٌ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its diversity is great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مِنْ أَجْمَلِ الدُّوَلِ العَرَبِيَّةِ المَغْرِبُ، وَعَاصِمَتُهُ الرِّبَاطُ. وَأَهْلُهُ مَغَارِبَةٌ، وَالطَّالِبُ مِنْهُمْ مَغْرِبِيٌّ وَالطَّالِبَةُ مَغْرِبِيَّةٌ. تُسْتَعْمَلُ فِيهِ العَرَبِيَّةُ وَالأَمَازِيغِيَّةُ، وَالأَمَازِيغِيَّةُ لُغَةٌ رَسْمِيَّةٌ هُنَاكَ. وَقَدْ زُرْتُ مِصْرَ أَيْضًا قَبْلَ سَنَتَيْنِ، وَلَاحَظْتُ أَنَّ اللَّهْجَةَ تَخْتَلِفُ كَثِيرًا عَنْ لَهْجَةِ المَغْرِبِ. نَكْتُبُ جَمِيعًا بِالفُصْحَى، وَلٰكِنَّنَا نَتَحَدَّثُ بِلَهَجَاتٍ مُخْتَلِفَةٍ. وَلَيْسَ صَحِيحًا أَنَّ المِنْطَقَةَ ذَاتُ ثَقَافَةٍ وَاحِدَةٍ؛ فَالتَّنَوُّعُ فِيهَا كَبِيرٌ جِدًّا.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Morocco is one of the most beautiful Arab countries, and its capital is Rabat. Its people are Moroccans: a male student is Moroccan (maghribī) and a female student is Moroccan (maghribiyya). Arabic and Amazigh are used there, and Amazigh is an official language. I also visited Egypt two years ago and noticed that the dialect is very different from Morocco’s. We all write in fuṣḥā, but we speak different dialects. It is not true that the region has one single culture; its diversity is very great.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nisba for he and she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diptote after a verb or preposition (زُرْتُ مِصْرَ)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language other than Arabic</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qualified statement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nationality agrees: -iyyun (m.), -iyyatun (f.).</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 capital and a language.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diptotes have no tanwīn (</a:t>
            </a:r>
            <a:pPr algn="l" indent="0" marL="0">
              <a:buNone/>
            </a:pPr>
            <a:r>
              <a:rPr lang="ar-SA" altLang="en-US" sz="1700" dirty="0">
                <a:solidFill>
                  <a:srgbClr val="1F2A37"/>
                </a:solidFill>
                <a:latin typeface="Amiri" pitchFamily="2" charset="-78"/>
                <a:ea typeface="Amiri" pitchFamily="2" charset="-78"/>
                <a:cs typeface="Amiri" pitchFamily="2" charset="-78"/>
              </a:rPr>
              <a:t>مِنْ لُبْنَانَ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 language other than Arabic.</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contrasted fuṣḥā and dialects and avoided a generalisation.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nisba.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طَالِبَةٌ سُودَانِيَّةٌ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طَالِبَةٌ سُودَانِيٌّ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 سُودَانِيَّةٌ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سَافَرْنَا إِلَى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فِي الرَّبِيعِ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تُونُسٍ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تُونُسَ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تُونُسًا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الكُرْدِيَّةُ لُغَةٌ رَسْمِيَّةٌ فِي العِرَاقِ.</a:t>
            </a:r>
            <a:endParaRPr lang="ar-SA" sz="18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الكُرْدِيَّةُ لُغَةٌ رَسْمِيَّةٌ فِي المَغْرِبِ.</a:t>
            </a:r>
            <a:endParaRPr lang="ar-SA" sz="18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لَا تُوجَدُ لُغَاتٌ رَسْمِيَّةٌ غَيْرُ العَرَبِيَّةِ.</a:t>
            </a:r>
            <a:endParaRPr lang="ar-SA" sz="18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nisba.</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طَالِبَةٌ سُودَانِيَّةٌ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طَالِبَةٌ سُودَانِيٌّ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طَالِبٌ سُودَانِيَّةٌ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nisba adjective agrees with its feminine noun.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سَافَرْنَا إِلَى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فِي الرَّبِيعِ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تُونُسٍ</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تُونُسَ</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تُونُسًا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تُونُس</a:t>
            </a:r>
            <a:pPr algn="l" indent="0" marL="0">
              <a:buNone/>
            </a:pPr>
            <a:r>
              <a:rPr lang="en-US" sz="1050" i="1" dirty="0">
                <a:solidFill>
                  <a:srgbClr val="8A6D1E"/>
                </a:solidFill>
                <a:latin typeface="Calibri" pitchFamily="34" charset="0"/>
                <a:cs typeface="Amiri" pitchFamily="2" charset="-78"/>
              </a:rPr>
              <a:t> is a diptote, so the genitive is a bare fatḥa.</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2" charset="-78"/>
                <a:ea typeface="Amiri" pitchFamily="2" charset="-78"/>
                <a:cs typeface="Amiri" pitchFamily="2" charset="-78"/>
              </a:rPr>
              <a:t>الكُرْدِيَّةُ لُغَةٌ رَسْمِيَّةٌ فِي العِرَاقِ.</a:t>
            </a:r>
            <a:endParaRPr lang="ar-SA" sz="18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ea typeface="Amiri" pitchFamily="2" charset="-78"/>
                <a:cs typeface="Amiri" pitchFamily="2" charset="-78"/>
              </a:rPr>
              <a:t>الكُرْدِيَّةُ لُغَةٌ رَسْمِيَّةٌ فِي المَغْرِبِ.</a:t>
            </a:r>
            <a:endParaRPr lang="ar-SA" sz="18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ea typeface="Amiri" pitchFamily="2" charset="-78"/>
                <a:cs typeface="Amiri" pitchFamily="2" charset="-78"/>
              </a:rPr>
              <a:t>لَا تُوجَدُ لُغَاتٌ رَسْمِيَّةٌ غَيْرُ العَرَبِيَّةِ.</a:t>
            </a:r>
            <a:endParaRPr lang="ar-SA" sz="18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Kurdish is co-official in Iraq.</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Reading: one region, many languages</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50" dirty="0">
                <a:solidFill>
                  <a:srgbClr val="1F2A37"/>
                </a:solidFill>
                <a:latin typeface="Amiri" pitchFamily="2" charset="-78"/>
                <a:ea typeface="Amiri" pitchFamily="2" charset="-78"/>
                <a:cs typeface="Amiri" pitchFamily="2" charset="-78"/>
              </a:rPr>
              <a:t>تَضُمُّ جَامِعَةُ الدُّوَلِ العَرَبِيَّةِ اثْنَتَيْنِ وَعِشْرِينَ دَوْلَةً، تَمْتَدُّ مِنَ المُحِيطِ الأَطْلَسِيِّ غَرْبًا إِلَى الخَلِيجِ شَرْقًا. وَتُعَدُّ العَرَبِيَّةُ الفُصْحَى اللُّغَةَ المُشْتَرَكَةَ فِي الكِتَابَةِ وَالإِعْلَامِ وَالتَّعْلِيمِ. أَمَّا فِي الحَيَاةِ اليَوْمِيَّةِ فَيَتَحَدَّثُ النَّاسُ لَهَجَاتٍ مُخْتَلِفَةً تَخْتَلِفُ مِنْ بَلَدٍ إِلَى بَلَدٍ، وَأَحْيَانًا مِنْ مَدِينَةٍ إِلَى مَدِينَةٍ. وَإِلَى جَانِبِ العَرَبِيَّةِ تُوجَدُ لُغَاتٌ أُخْرَى: فَالأَمَازِيغِيَّةُ لُغَةٌ رَسْمِيَّةٌ فِي المَغْرِبِ وَالجَزَائِرِ، وَالكُرْدِيَّةُ لُغَةٌ رَسْمِيَّةٌ فِي العِرَاقِ. وَلَيْسَ صَحِيحًا أَنَّ المِنْطَقَةَ ذَاتُ ثَقَافَةٍ وَاحِدَةٍ؛ فَالتَّنَوُّعُ فِيهَا كَبِيرٌ.</a:t>
            </a:r>
            <a:endParaRPr lang="ar-SA" sz="23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تَضُمُّ</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includes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جَامِعَةُ الدُّوَلِ العَرَبِيَّةِ</a:t>
            </a:r>
            <a:endParaRPr lang="ar-SA" sz="155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Arab League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تَمْتَدُّ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stretch</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المُحِيطِ الأَطْلَسِيِّ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Atlantic Ocean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الخَلِيجِ</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Gulf</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المُشْتَرَكَةَ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shared, common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الإِعْلَامِ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media</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الحَيَاةِ اليَوْمِيَّةِ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daily life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تَخْتَلِفُ</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differ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ذَاتُ ثَقَافَةٍ وَاحِدَةٍ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 one culture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states are in the Arab League?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Twelve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Twenty-two</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Twenty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fuṣḥā used?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in poetry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at home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Writing, media and education</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dialects?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differ between countries and sometimes between cities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identical everywhere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no longer spoken</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Amazigh an official language?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Iraq and Syria</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Morocco and Algeria</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Egypt and Sudan</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text's closing point?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is not a single culture; its diversity is great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shares one culture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one language matters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states are in the Arab League?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Twelve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Twenty-two</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Twenty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تَضُمُّ … اثْنَتَيْنِ وَعِشْرِينَ دَوْلَةً.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fuṣḥā used?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in poetry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at home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Writing, media and education</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اللُّغَةَ المُشْتَرَكَةَ فِي الكِتَابَةِ وَالإِعْلَامِ وَالتَّعْلِيمِ.</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dialects?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differ between countries and sometimes between cities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identical everywhere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no longer spoken</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تَخْتَلِفُ مِنْ بَلَدٍ إِلَى بَلَدٍ، وَأَحْيَانًا مِنْ مَدِينَةٍ إِلَى مَدِينَةٍ.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Amazigh an official language?</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Iraq and Syria</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Morocco and Algeria</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Egypt and Sudan</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الأَمَازِيغِيَّةُ لُغَةٌ رَسْمِيَّةٌ فِي المَغْرِبِ وَالجَزَائِرِ.</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text's closing point?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region is not a single culture; its diversity is great</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region shares one culture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one language matters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وَلَيْسَ صَحِيحًا أَنَّ المِنْطَقَةَ ذَاتُ ثَقَافَةٍ وَاحِدَةٍ؛ فَالتَّنَوُّعُ فِيهَا كَبِيرٌ.</a:t>
            </a:r>
            <a:endParaRPr lang="ar-SA" sz="11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Arab World Mission — Countries, Nisba and Diptotes</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Nisba: which is the nationality for </a:t>
            </a:r>
            <a:pPr algn="l" indent="0" marL="0">
              <a:buNone/>
            </a:pPr>
            <a:r>
              <a:rPr lang="ar-SA" altLang="en-US" sz="1650" b="1" dirty="0">
                <a:solidFill>
                  <a:srgbClr val="1B3B6F"/>
                </a:solidFill>
                <a:latin typeface="Amiri" pitchFamily="2" charset="-78"/>
                <a:ea typeface="Amiri" pitchFamily="2" charset="-78"/>
                <a:cs typeface="Amiri" pitchFamily="2" charset="-78"/>
              </a:rPr>
              <a:t>العِرَاق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عِرَاقَةٌ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عِرَاقِيٌّ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عِرَاقِيُّونَ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Nisba: which is the feminine for </a:t>
            </a:r>
            <a:pPr algn="l" indent="0" marL="0">
              <a:buNone/>
            </a:pPr>
            <a:r>
              <a:rPr lang="ar-SA" altLang="en-US" sz="1650" b="1" dirty="0">
                <a:solidFill>
                  <a:srgbClr val="1B3B6F"/>
                </a:solidFill>
                <a:latin typeface="Amiri" pitchFamily="2" charset="-78"/>
                <a:ea typeface="Amiri" pitchFamily="2" charset="-78"/>
                <a:cs typeface="Amiri" pitchFamily="2" charset="-78"/>
              </a:rPr>
              <a:t>الأُرْدُنّ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أُرْدُنِّيَّةٌ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أُرْدُنِّيٌّ</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أُرْدُنَةٌ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Diptote: complete — </a:t>
            </a:r>
            <a:pPr algn="l" indent="0" marL="0">
              <a:buNone/>
            </a:pPr>
            <a:r>
              <a:rPr lang="ar-SA" altLang="en-US" sz="1650" b="1" dirty="0">
                <a:solidFill>
                  <a:srgbClr val="1B3B6F"/>
                </a:solidFill>
                <a:latin typeface="Amiri" pitchFamily="2" charset="-78"/>
                <a:ea typeface="Amiri" pitchFamily="2" charset="-78"/>
                <a:cs typeface="Amiri" pitchFamily="2" charset="-78"/>
              </a:rPr>
              <a:t>أَنَا مِنْ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قَطَرٍ</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قَطَرًا</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قَطَرَ</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capital of Morocco?</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الجَزَائِرُ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طَرَابُلُسُ</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الرِّبَاطُ</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country is in the Horn of Africa?</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الصُّومَالُ</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الكُوَيْتُ</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سُورِيَا</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Language: where is Amazigh official?</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العِرَاقُ وَسُورِيَا</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المَغْرِبُ وَالجَزَائِرُ</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قَطَرُ وَالبَحْرَيْنُ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Nisba: which is the nationality for </a:t>
            </a:r>
            <a:pPr algn="l" indent="0" marL="0">
              <a:buNone/>
            </a:pPr>
            <a:r>
              <a:rPr lang="ar-SA" altLang="en-US" sz="1650" b="1" dirty="0">
                <a:solidFill>
                  <a:srgbClr val="1B3B6F"/>
                </a:solidFill>
                <a:latin typeface="Amiri" pitchFamily="2" charset="-78"/>
                <a:ea typeface="Amiri" pitchFamily="2" charset="-78"/>
                <a:cs typeface="Amiri" pitchFamily="2" charset="-78"/>
              </a:rPr>
              <a:t>العِرَاق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عِرَاقَةٌ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عِرَاقِيٌّ</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عِرَاقِيُّونَ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singular nisba is </a:t>
            </a:r>
            <a:pPr algn="l" indent="0" marL="0">
              <a:buNone/>
            </a:pPr>
            <a:r>
              <a:rPr lang="ar-SA" altLang="en-US" sz="1350" dirty="0">
                <a:solidFill>
                  <a:srgbClr val="8A6D1E"/>
                </a:solidFill>
                <a:latin typeface="Amiri" pitchFamily="2" charset="-78"/>
                <a:ea typeface="Amiri" pitchFamily="2" charset="-78"/>
                <a:cs typeface="Amiri" pitchFamily="2" charset="-78"/>
              </a:rPr>
              <a:t>عِرَاقِيٌّ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Nisba: which is the feminine for </a:t>
            </a:r>
            <a:pPr algn="l" indent="0" marL="0">
              <a:buNone/>
            </a:pPr>
            <a:r>
              <a:rPr lang="ar-SA" altLang="en-US" sz="1650" b="1" dirty="0">
                <a:solidFill>
                  <a:srgbClr val="1B3B6F"/>
                </a:solidFill>
                <a:latin typeface="Amiri" pitchFamily="2" charset="-78"/>
                <a:ea typeface="Amiri" pitchFamily="2" charset="-78"/>
                <a:cs typeface="Amiri" pitchFamily="2" charset="-78"/>
              </a:rPr>
              <a:t>الأُرْدُنّ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أُرْدُنِّيَّةٌ</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أُرْدُنِّيٌّ</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أُرْدُنَةٌ</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 tāʾ marbūṭa after the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ending.</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Diptote: complete — </a:t>
            </a:r>
            <a:pPr algn="l" indent="0" marL="0">
              <a:buNone/>
            </a:pPr>
            <a:r>
              <a:rPr lang="ar-SA" altLang="en-US" sz="1650" b="1" dirty="0">
                <a:solidFill>
                  <a:srgbClr val="1B3B6F"/>
                </a:solidFill>
                <a:latin typeface="Amiri" pitchFamily="2" charset="-78"/>
                <a:ea typeface="Amiri" pitchFamily="2" charset="-78"/>
                <a:cs typeface="Amiri" pitchFamily="2" charset="-78"/>
              </a:rPr>
              <a:t>أَنَا مِنْ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قَطَرٍ</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قَطَرًا</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قَطَرَ</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قَطَر</a:t>
            </a:r>
            <a:pPr algn="l" indent="0" marL="0">
              <a:buNone/>
            </a:pPr>
            <a:r>
              <a:rPr lang="en-US" sz="1050" i="1" dirty="0">
                <a:solidFill>
                  <a:srgbClr val="8A6D1E"/>
                </a:solidFill>
                <a:latin typeface="Calibri" pitchFamily="34" charset="0"/>
                <a:cs typeface="Amiri" pitchFamily="2" charset="-78"/>
              </a:rPr>
              <a:t> is a diptote; the genitive is a bare fatḥa.</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capital of Morocco?</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الجَزَائِرُ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طَرَابُلُسُ</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الرِّبَاطُ</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الرِّبَاطُ</a:t>
            </a:r>
            <a:pPr algn="l" indent="0" marL="0">
              <a:buNone/>
            </a:pPr>
            <a:r>
              <a:rPr lang="en-US" sz="1050" i="1" dirty="0">
                <a:solidFill>
                  <a:srgbClr val="8A6D1E"/>
                </a:solidFill>
                <a:latin typeface="Calibri" pitchFamily="34" charset="0"/>
                <a:cs typeface="Amiri" pitchFamily="2" charset="-78"/>
              </a:rPr>
              <a:t> is the capital of Morocco.</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country is in the Horn of Africa?</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الصُّومَالُ</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الكُوَيْتُ</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سُورِيَا</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الصُّومَال</a:t>
            </a:r>
            <a:pPr algn="l" indent="0" marL="0">
              <a:buNone/>
            </a:pPr>
            <a:r>
              <a:rPr lang="en-US" sz="1050" i="1" dirty="0">
                <a:solidFill>
                  <a:srgbClr val="8A6D1E"/>
                </a:solidFill>
                <a:latin typeface="Calibri" pitchFamily="34" charset="0"/>
                <a:cs typeface="Amiri" pitchFamily="2" charset="-78"/>
              </a:rPr>
              <a:t> is in the Horn of Africa.</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Language: where is Amazigh official?</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العِرَاقُ وَسُورِيَا</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المَغْرِبُ وَالجَزَائِرُ</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قَطَرُ وَالبَحْرَيْنُ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Amazigh is co-official in Morocco and Algeria.</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D6-L02: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D6-L02 · Cultural Customs — Traditions, Greetings and Social Norms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عَادَةٌ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custom</a:t>
            </a:r>
            <a:pPr indent="0" marL="0">
              <a:buNone/>
            </a:pPr>
            <a:r>
              <a:rPr lang="ar-SA" sz="1000" i="1" dirty="0">
                <a:solidFill>
                  <a:srgbClr val="5A6472"/>
                </a:solidFill>
                <a:latin typeface="Calibri" pitchFamily="34" charset="0"/>
                <a:ea typeface="Amiri" pitchFamily="2" charset="-78"/>
                <a:cs typeface="Amiri" pitchFamily="2" charset="-78"/>
              </a:rPr>
              <a:t>  pl. عَادَاتٌ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تَقْلِيدٌ</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tradition</a:t>
            </a:r>
            <a:pPr indent="0" marL="0">
              <a:buNone/>
            </a:pPr>
            <a:r>
              <a:rPr lang="ar-SA" sz="1000" i="1" dirty="0">
                <a:solidFill>
                  <a:srgbClr val="5A6472"/>
                </a:solidFill>
                <a:latin typeface="Calibri" pitchFamily="34" charset="0"/>
                <a:ea typeface="Amiri" pitchFamily="2" charset="-78"/>
                <a:cs typeface="Amiri" pitchFamily="2" charset="-78"/>
              </a:rPr>
              <a:t>  pl. تَقَالِيدُ</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ضِيَافَةٌ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hospitality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احْتِرَامُ الكِبَارِ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respect for elders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يَحْتَفِلُ بِـ</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celebrates</a:t>
            </a:r>
            <a:pPr indent="0" marL="0">
              <a:buNone/>
            </a:pPr>
            <a:r>
              <a:rPr lang="ar-SA" sz="1000" i="1" dirty="0">
                <a:solidFill>
                  <a:srgbClr val="5A6472"/>
                </a:solidFill>
                <a:latin typeface="Calibri" pitchFamily="34" charset="0"/>
                <a:ea typeface="Amiri" pitchFamily="2" charset="-78"/>
                <a:cs typeface="Amiri" pitchFamily="2" charset="-78"/>
              </a:rPr>
              <a:t>  تَحْتَفِلُ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one custom in your family when a guest visits. What do you do?</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عِنْدَمَا يَزُورُنَا ضَيْفٌ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countries with their nationality (he / she); write five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profile of a country with a diptote and two languages.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 80 words with a qualified statement about diversity.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D6-L02 · Cultural Customs — Traditions, Greetings and Social Norms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العَادَاتُ الثَّقَافِيَّةُ — التَّقَالِيدُ وَالتَّحِيَّاتُ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country + -iyy (he) / -iyya (she) — no tanwīn on </a:t>
            </a:r>
            <a:pPr algn="l" indent="0" marL="0">
              <a:buNone/>
            </a:pPr>
            <a:r>
              <a:rPr lang="ar-SA" altLang="en-US" sz="1700" b="1" dirty="0">
                <a:solidFill>
                  <a:srgbClr val="FFFFFF"/>
                </a:solidFill>
                <a:latin typeface="Amiri" pitchFamily="2" charset="-78"/>
                <a:ea typeface="Amiri" pitchFamily="2" charset="-78"/>
                <a:cs typeface="Amiri" pitchFamily="2" charset="-78"/>
              </a:rPr>
              <a:t>مِصْرَ</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لُبْنَانَ</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قَطَرَ</a:t>
            </a:r>
            <a:pPr algn="l" indent="0" marL="0">
              <a:buNone/>
            </a:pPr>
            <a:r>
              <a:rPr lang="en-US" sz="1300" b="1" dirty="0">
                <a:solidFill>
                  <a:srgbClr val="FFFFFF"/>
                </a:solidFill>
                <a:latin typeface="Calibri" pitchFamily="34" charset="0"/>
                <a:cs typeface="Amiri" pitchFamily="2" charset="-78"/>
              </a:rPr>
              <a:t> — and Arabic is shared, but not the only language.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D6-L01 · Countries, Nationalities and Languages of the Arab World</dc:title>
  <dc:subject>PptxGenJS Presentation</dc:subject>
  <dc:creator>Al Madina Online School · Arabic Department</dc:creator>
  <cp:lastModifiedBy>Al Madina Online School · Arabic Department</cp:lastModifiedBy>
  <cp:revision>1</cp:revision>
  <dcterms:created xsi:type="dcterms:W3CDTF">2026-10-11T06:41:05Z</dcterms:created>
  <dcterms:modified xsi:type="dcterms:W3CDTF">2026-10-11T06:41:05Z</dcterms:modified>
</cp:coreProperties>
</file>