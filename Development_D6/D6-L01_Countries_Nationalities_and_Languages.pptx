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D6-L01. The website lesson “Countries, Nationalities and Languages of the Arab World”: vocabulary, grammar rules and quiz, patterns, common mistakes, sorter, listening, reading, speaking prompts and model, writing task and model, differentiation, final check and the lesson mission. Picture match: website visual game “Countries, Nationalities and Languages of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(D6 · Countries, Cultures and Celebrations — the last Development unit). Core: 12 countries + their nationality for a boy and a girl (مَغْرِبِيٌّ / مَغْرِبِيَّةٌ). Develop: diptotes after a preposition (مِنْ لُبْنَانَ · فِي مِصْرَ) and languages used in two countries. Stretch: contrast fuṣḥā and the dialects and qualify a claim about diversity (website ~80-word task).
• Respectful framing: the region is multilingual and diverse (Amazigh, Kurdish, many dialects). Invite students to share their own family’s country and language(s).
• Grammar links: the nisba was met for nationalities in F1 / F2 (عَرَبِيٌّ · بِرِيطَانِيٌّ); diptotes are NEW at this level.
• TEACHER-WRITTEN ITEMS: one quiz distractor replaced (the diptote case-ending errors are kept on purpose) and English added to the patterns and speaking model; the website flag-based visual game is not reproduced.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D5-L12. Questions 4–5 retrieve the nisba (F1 / F2) and the D5 past tense (هِيَ زَارَتْ … /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Country + -iyyun (he) / -iyyatun (she) = the nationality.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-ī ending is the same in Urdu: عربی، پاکستانی، ہندوستانی — this IS the Arabic nisba. CAREFUL: Urdu لہجہ = accent / tone of voice; Arabic لَهْجَةٌ = a whole dialect (اللَّهْجَةُ المِصْرِيَّةُ).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(1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(2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Mashriq and the Gulf (website vocabulary (3 of 3)). Hear → Say → See → Use. Transliteration is printed for Core students (cover it for Develop/Stretch).
Countries of the Mashriq and the Gulf. Each card shows the nationality: m. · f. · pl. Notice the diptotes (no tanwīn): مِصْرُ · لُبْنَانُ · قَطَرُ · عُمَانُ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Maghreb and the Horn (website vocabulary (1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Countries of the Maghreb and the Horn (website vocabulary (2 of 2)). Hear → Say → See → Use. Transliteration is printed for Core students (cover it for Develop/Stretch).
Countries of the Maghreb and the Horn. Note: المَغْرِبُ → مَغْرِبِيٌّ, but the plural is مَغَارِبَةٌ.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(1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Languages and identity (website vocabulary (2 of 2)). Hear → Say → See → Use. Transliteration is printed for Core students (cover it for Develop/Stretch).
Languages and identity: say what is true — Arabic is shared, but it is not the only language of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“Forming the nisba” (the ending carries a shadda on the yāʾ; a final tāʾ marbūṭa or article is dropped first). Website teaching point: “The nisba builds the nationality … the shadda is part of the ending, not an optional decoration.”
Website mistake: هِيَ طَالِبَةٌ مَغْرِبِيٌّ ✗ → مَغْرِبِيَّةٌ. Ask students for their own: أَنَا بِرِيطَانِيٌّ / بَاكِسْتَانِيَّةٌ / صُومَالِيٌّ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“Diptote country names” (no tanwīn; a ḍamma in the nominative and a fatḥa in both the accusative and the genitive), “Past for history, present for today” and “Describing language use accurately” (name co-official languages and qualify claims). Website teaching point: “Several country names are diptotes … writing مِصْرٍ is a visible error.”
Diptotes today: مِصْرُ · لُبْنَانُ · قَطَرُ · عُمَانُ · تُونُسُ · فِلَسْطِينُ.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systems carry this lesson: forming the nationality, handling country names that refuse tanwīn, and choosing past or present according to whether you describe history or the present day.”
• Forming the nisba: The ending carries a shadda on the yāʾ. A final tāʾ marbūṭa or article is dropped first.
• Diptote country names: A diptote takes a ḍamma when nominative and a fatḥa in both the accusative and the genitive.
• Past for history, present for today: Use the past for what happened, and the present for what is currently true. Mixing them deliberately is what a strong cultural text does.
• Describing language use accurately: Arabic is not the only language of the region. Name co-official languages and qualify claims rather than generalising.
Website common error: Adding tanwīn to a diptote — writing مِنْ لُبْنَانٍ or زُرْتُ مِصْرًا. These names take a bare fatḥa in the genitive and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“Is the noun masculine or feminine? Add -iyy or -iyya. Is the country a diptote? Then no tanwīn after a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nationality (he / she) of one country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each nationality (he / she).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وَأَيُّ لُغَاتٍ تُسْتَعْمَلُ هُنَاكَ؟ (And which languages are used there?)
B: تُسْتَعْمَلُ العَرَبِيَّةُ وَالأَمَازِيغِيَّةُ، وَالأَمَازِيغِيَّةُ لُغَةٌ رَسْمِيَّةٌ أَيْضًا، وَلَيْسَ الأَمْرُ نَفْسَهُ فِي كُلِّ الدُّوَلِ. (Arabic and Amazigh are used, and Amazigh is an official language too — it is not the same in every country.)
Website prompts and model. Students may choose their family’s country. Check the nisba agreement and the diptotes. To a girl: اِخْتَارِي · تَحَدَّثِي.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ten countries to their nationalities and write five sentences with accurate nisba agreement. · Develop — Add a sentence about the languages used in two different countries. · Stretch — Contrast fuṣḥā and the dialects, and qualify one claim about regional diversity.
Website writing task (Stretch):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مَغْرِبِيٌّ / مَغْرِبِيَّةٌ / مَغَارِبَةٌ · زُرْتُ مِصْرَ · لَهْجَةِ المَغْرِبِ · الأَمَازِيغِيَّةُ لُغَةٌ رَسْمِيَّةٌ · نَكْتُبُ … بِالفُصْحَى … نَتَحَدَّثُ بِلَهَجَاتٍ · لَيْسَ صَحِيحًا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(D6-L02 · Cultural Customs — Traditions, Greetings and Social Norms) will spend class time USING this language, so students prepare it tonight — short, simple, easy to access (school guidance: “Simple, Short, Interesting, Relevant, Easy to access”). The five words come from the website D6-L02 vocabulary (customs and values).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Countries, Nationalities and Languages of the Arab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دُوَلُ العَالَمِ العَرَبِيِّ وَجِنْسِيَّاتُهَا وَلُغَاتُهَا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the Arab countries, build the nationality (</a:t>
            </a:r>
            <a:pPr algn="l" indent="0" marL="0">
              <a:buNone/>
            </a:pPr>
            <a:r>
              <a:rPr lang="ar-SA" altLang="en-US" sz="1800" dirty="0">
                <a:solidFill>
                  <a:srgbClr val="C6D2E6"/>
                </a:solidFill>
                <a:latin typeface="Amiri" pitchFamily="34" charset="0"/>
                <a:ea typeface="Amiri" pitchFamily="34" charset="-122"/>
                <a:cs typeface="Amiri" pitchFamily="34" charset="-120"/>
              </a:rPr>
              <a:t>مِصْرُ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مِصْرِيٌّ</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مِصْرِيَّةٌ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مِصْرِيُّونَ</a:t>
            </a:r>
            <a:pPr algn="l" indent="0" marL="0">
              <a:buNone/>
            </a:pPr>
            <a:r>
              <a:rPr lang="en-US" sz="1400" dirty="0">
                <a:solidFill>
                  <a:srgbClr val="C6D2E6"/>
                </a:solidFill>
                <a:latin typeface="Calibri" pitchFamily="34" charset="0"/>
                <a:ea typeface="Calibri" pitchFamily="34" charset="-122"/>
                <a:cs typeface="Calibri" pitchFamily="34" charset="-120"/>
              </a:rPr>
              <a:t>), say “from Lebanon” without tanwīn (</a:t>
            </a:r>
            <a:pPr algn="l" indent="0" marL="0">
              <a:buNone/>
            </a:pPr>
            <a:r>
              <a:rPr lang="ar-SA" altLang="en-US" sz="1800" dirty="0">
                <a:solidFill>
                  <a:srgbClr val="C6D2E6"/>
                </a:solidFill>
                <a:latin typeface="Amiri" pitchFamily="34" charset="0"/>
                <a:ea typeface="Amiri" pitchFamily="34" charset="-122"/>
                <a:cs typeface="Amiri" pitchFamily="34" charset="-120"/>
              </a:rPr>
              <a:t>مِنْ لُبْنَانَ</a:t>
            </a:r>
            <a:pPr algn="l" indent="0" marL="0">
              <a:buNone/>
            </a:pPr>
            <a:r>
              <a:rPr lang="en-US" sz="1400" dirty="0">
                <a:solidFill>
                  <a:srgbClr val="C6D2E6"/>
                </a:solidFill>
                <a:latin typeface="Calibri" pitchFamily="34" charset="0"/>
                <a:ea typeface="Calibri" pitchFamily="34" charset="-122"/>
                <a:cs typeface="Calibri" pitchFamily="34" charset="-120"/>
              </a:rPr>
              <a:t>) and describe the region’s languages accurately — fuṣḥā, dialects, Amazigh, Kurdish.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D6-L01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Nisba for nationality, diptote countries, accurate language facts.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countries by region, fix nisba / tanwīn slips, then meet three students.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country, state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dialect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countries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capitals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dialects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___ (I am Arab, 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 مِصْرَ قَبْلَ سَنَتَيْنِ.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 مِصْرَ قَبْلَ سَنَتَيْنِ.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مِصْرَ قَبْلَ سَنَتَيْنِ.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city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country, state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identity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dialect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countries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capitals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dialects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___ (I am Arab, 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 / F2: nationality.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مِصْرَ قَبْلَ سَنَتَيْنِ.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 مِصْرَ قَبْلَ سَنَتَيْنِ.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 مِصْرَ قَبْلَ سَنَتَيْنِ.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 hollow verb + past marker.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Country + -iyyun (he) / -iyyatun (she) = the nationality.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مِصْرُ · </a:t>
            </a:r>
            <a:pPr rtl="1" algn="ctr" indent="0" marL="0">
              <a:buNone/>
            </a:pPr>
            <a:r>
              <a:rPr lang="ar-SA" altLang="en-US" sz="2350" b="1" dirty="0">
                <a:solidFill>
                  <a:srgbClr val="D6336C"/>
                </a:solidFill>
                <a:latin typeface="Amiri" pitchFamily="34" charset="0"/>
                <a:ea typeface="Amiri" pitchFamily="34" charset="-122"/>
                <a:cs typeface="Amiri" pitchFamily="34" charset="-120"/>
              </a:rPr>
              <a:t>مِصْرِيٌّ</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0E7C86"/>
                </a:solidFill>
                <a:latin typeface="Amiri" pitchFamily="34" charset="0"/>
                <a:ea typeface="Amiri" pitchFamily="34" charset="-122"/>
                <a:cs typeface="Amiri" pitchFamily="34" charset="-120"/>
              </a:rPr>
              <a:t>مِصْرِيَّةٌ</a:t>
            </a:r>
            <a:pPr rtl="1" algn="ctr" indent="0" marL="0">
              <a:buNone/>
            </a:pPr>
            <a:r>
              <a:rPr lang="ar-SA" altLang="en-US" sz="2350" b="1" dirty="0">
                <a:solidFill>
                  <a:srgbClr val="1B3B6F"/>
                </a:solidFill>
                <a:latin typeface="Amiri" pitchFamily="34" charset="0"/>
                <a:ea typeface="Amiri" pitchFamily="34" charset="-122"/>
                <a:cs typeface="Amiri" pitchFamily="34" charset="-120"/>
              </a:rPr>
              <a:t> · </a:t>
            </a:r>
            <a:pPr rtl="1" algn="ctr" indent="0" marL="0">
              <a:buNone/>
            </a:pPr>
            <a:r>
              <a:rPr lang="ar-SA" altLang="en-US" sz="2350" b="1" dirty="0">
                <a:solidFill>
                  <a:srgbClr val="1D5FBF"/>
                </a:solidFill>
                <a:latin typeface="Amiri" pitchFamily="34" charset="0"/>
                <a:ea typeface="Amiri" pitchFamily="34" charset="-122"/>
                <a:cs typeface="Amiri" pitchFamily="34" charset="-120"/>
              </a:rPr>
              <a:t>مِصْرِيُّونَ</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Arab League countries and their nationalities (m. / f. / pl.).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nisba with </a:t>
            </a:r>
            <a:pPr algn="l" indent="0" marL="0">
              <a:buNone/>
            </a:pPr>
            <a:r>
              <a:rPr lang="ar-SA" altLang="en-US" sz="1700" dirty="0">
                <a:solidFill>
                  <a:srgbClr val="1F2A37"/>
                </a:solidFill>
                <a:latin typeface="Amiri" pitchFamily="34" charset="0"/>
                <a:ea typeface="Amiri" pitchFamily="34" charset="-122"/>
                <a:cs typeface="Amiri" pitchFamily="34" charset="-120"/>
              </a:rPr>
              <a:t>ـِيٌّ / ـِيَّةٌ</a:t>
            </a:r>
            <a:pPr algn="l" indent="0" marL="0">
              <a:buNone/>
            </a:pPr>
            <a:r>
              <a:rPr lang="en-US" sz="1300" dirty="0">
                <a:solidFill>
                  <a:srgbClr val="1F2A37"/>
                </a:solidFill>
                <a:latin typeface="Calibri" pitchFamily="34" charset="0"/>
                <a:ea typeface="Calibri" pitchFamily="34" charset="-122"/>
                <a:cs typeface="Calibri" pitchFamily="34" charset="-120"/>
              </a:rPr>
              <a:t> and make it agree.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diptote country names without tanwīn (</a:t>
            </a:r>
            <a:pPr algn="l" indent="0" marL="0">
              <a:buNone/>
            </a:pPr>
            <a:r>
              <a:rPr lang="ar-SA" altLang="en-US" sz="1700" dirty="0">
                <a:solidFill>
                  <a:srgbClr val="1F2A37"/>
                </a:solidFill>
                <a:latin typeface="Amiri" pitchFamily="34" charset="0"/>
                <a:ea typeface="Amiri" pitchFamily="34" charset="-122"/>
                <a:cs typeface="Amiri" pitchFamily="34" charset="-120"/>
              </a:rPr>
              <a:t>مِنْ لُبْنَانَ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language use accurately and without generalising.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12 Arab countries.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nationality for a boy and a girl.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“from Lebanon / in Egypt” without tanwīn.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languages used in two countries.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contrast fuṣḥā and the dialects.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qualify a claim about the region.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Countries of the Mashriq and the Gulf · 13</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Countries of the Maghreb and the Horn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Languages and identity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‎مصر‎ </a:t>
            </a:r>
            <a:pPr indent="0" marL="0">
              <a:buNone/>
            </a:pPr>
            <a:r>
              <a:rPr lang="en-US" sz="950" b="1" dirty="0">
                <a:solidFill>
                  <a:srgbClr val="2E8B57"/>
                </a:solidFill>
                <a:latin typeface="Calibri" pitchFamily="34" charset="0"/>
                <a:ea typeface="Calibri" pitchFamily="34" charset="-122"/>
                <a:cs typeface="Calibri" pitchFamily="34" charset="-120"/>
              </a:rPr>
              <a:t> Miṣr · Egypt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عَرَبِيٌّ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‎عربی‎ </a:t>
            </a:r>
            <a:pPr indent="0" marL="0">
              <a:buNone/>
            </a:pPr>
            <a:r>
              <a:rPr lang="en-US" sz="950" b="1" dirty="0">
                <a:solidFill>
                  <a:srgbClr val="2E8B57"/>
                </a:solidFill>
                <a:latin typeface="Calibri" pitchFamily="34" charset="0"/>
                <a:ea typeface="Calibri" pitchFamily="34" charset="-122"/>
                <a:cs typeface="Calibri" pitchFamily="34" charset="-120"/>
              </a:rPr>
              <a:t> ʿarabī · Arab, Arabic (the same -ī ending!)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جِنْسِيَّةٌ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‎شہریت / قومیت‎ </a:t>
            </a:r>
            <a:pPr indent="0" marL="0">
              <a:buNone/>
            </a:pPr>
            <a:r>
              <a:rPr lang="en-US" sz="950" b="1" dirty="0">
                <a:solidFill>
                  <a:srgbClr val="2E8B57"/>
                </a:solidFill>
                <a:latin typeface="Calibri" pitchFamily="34" charset="0"/>
                <a:ea typeface="Calibri" pitchFamily="34" charset="-122"/>
                <a:cs typeface="Calibri" pitchFamily="34" charset="-120"/>
              </a:rPr>
              <a:t> qaumiyyat · nationality (Urdu uses the same -iyyat pattern)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عَاصِمَةٌ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‎دارالحکومت‎ </a:t>
            </a:r>
            <a:pPr indent="0" marL="0">
              <a:buNone/>
            </a:pPr>
            <a:r>
              <a:rPr lang="en-US" sz="950" b="1" dirty="0">
                <a:solidFill>
                  <a:srgbClr val="2E8B57"/>
                </a:solidFill>
                <a:latin typeface="Calibri" pitchFamily="34" charset="0"/>
                <a:ea typeface="Calibri" pitchFamily="34" charset="-122"/>
                <a:cs typeface="Calibri" pitchFamily="34" charset="-120"/>
              </a:rPr>
              <a:t> dār-ul-ḥukūmat · capital 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لَهْجَةٌ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‎لہجہ‎ </a:t>
            </a:r>
            <a:pPr indent="0" marL="0">
              <a:buNone/>
            </a:pPr>
            <a:r>
              <a:rPr lang="en-US" sz="950" b="1" dirty="0">
                <a:solidFill>
                  <a:srgbClr val="2E8B57"/>
                </a:solidFill>
                <a:latin typeface="Calibri" pitchFamily="34" charset="0"/>
                <a:ea typeface="Calibri" pitchFamily="34" charset="-122"/>
                <a:cs typeface="Calibri" pitchFamily="34" charset="-120"/>
              </a:rPr>
              <a:t> lahja · Urdu: accent, tone · Arabic: dialect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Countries of the Mashriq and the Gulf (1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المَمْلَكَةُ العَرَبِيَّةُ السُّعُودِيَّةُ</a:t>
            </a:r>
            <a:endParaRPr lang="ar-SA" sz="28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Saudi Arabia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al-mam-la-ka-tu al-ʿa-ra-biy-ya-tu as-su-ʿū-diy-ya-tu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سُعُودِيُّونَ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سُعُودِيَّةٌ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سُعُودِيٌّ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Egypt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miṣ-ru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العِرَاقُ</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Iraq</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al-ʿi-rā-qu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عِرَاقِيُّونَ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عِرَاقِيَّةٌ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عِرَاقِيٌّ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سُورِيَا</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Syria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sū-ri-yā</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سُورِيُّونَ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سُورِيَّةٌ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سُورِيٌّ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الأُرْدُنُّ</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Jordan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al-ur-dun-nu</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أُرْدُنِّيُّونَ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أُرْدُنِّيَّةٌ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أُرْدُنِّيٌّ</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Countries of the Mashriq and the Gulf (2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لُبْنَانُ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Lebanon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lub-nā-nu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لُبْنَانِيُّونَ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فِلَسْطِينُ</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Palestine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fi-las-ṭī-nu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فِلَسْطِينِيُّونَ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فِلَسْطِينِيَّةٌ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فِلَسْطِينِيٌّ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الكُوَيْتُ</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Kuwait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al-ku-way-tu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كُوَيْتِيُّونَ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كُوَيْتِيَّةٌ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كُوَيْتِيٌّ</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الإِمَارَاتُ</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UAE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al-i-mā-rā-tu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إِمَارَاتِيُّونَ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إِمَارَاتِيَّةٌ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إِمَارَاتِيٌّ</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قَطَرُ</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Qatar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qa-ṭa-ru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قَطَرِيُّونَ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قَطَرِيَّةٌ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قَطَرِيٌّ</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Countries of the Mashriq and the Gulf (3 of 3)</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البَحْرَيْنُ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Bahrain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al-baḥ-ray-nu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بَحْرَيْنِيُّونَ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بَحْرَيْنِيَّةٌ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بَحْرَيْنِيٌّ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عُمَانُ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Oman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ʿu-mā-nu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عُمَانِيُّونَ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عُمَانِيَّةٌ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عُمَانِيٌّ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اليَمَنُ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Yemen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al-ya-ma-nu</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يَمَنِيُّونَ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يَمَنِيَّةٌ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يَمَنِيٌّ</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Countries of the Maghreb and the Horn (1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لِيبِيَا</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Libya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lī-bi-yā</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تُونُسُ</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Tunisia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tū-nu-su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الجَزَائِرُ</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Algeria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al-ja-zā-ʾi-ru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جَزَائِرِيُّونَ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جَزَائِرِيَّةٌ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جَزَائِرِيٌّ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المَغْرِبُ</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Morocco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al-magh-ri-bu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مَغَارِبَةٌ</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مَغْرِبِيَّةٌ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مَغْرِبِيٌّ</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مُورِيتَانِيَا</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Mauritania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mū-rī-tā-ni-yā</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Countries of the Maghreb and the Horn (2 of 2)</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السُّودَانُ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as-sū-dā-nu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سُودَانِيُّونَ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سُودَانِيَّةٌ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سُودَانِيٌّ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الصُّومَالُ</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Somalia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aṣ-ṣū-mā-lu</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صُومَالِيُّونَ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صُومَالِيَّةٌ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صُومَالِيٌّ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0" name="Shape 4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جِيبُوتِي</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Djibouti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jī-bū-tī</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جِيبُوتِيُّونَ</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جِيبُوتِيَّةٌ</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6" name="Shape 6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جُزُرُ القَمَرِ</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Comoros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ju-zu-ru al-qa-ma-ri</a:t>
            </a:r>
            <a:endParaRPr lang="en-US" sz="1350" dirty="0"/>
          </a:p>
        </p:txBody>
      </p:sp>
      <p:sp>
        <p:nvSpPr>
          <p:cNvPr id="70" name="Shape 6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2" name="Text 6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قَمَرِيُّونَ</a:t>
            </a:r>
            <a:endParaRPr lang="ar-SA" sz="1500" dirty="0"/>
          </a:p>
        </p:txBody>
      </p:sp>
      <p:sp>
        <p:nvSpPr>
          <p:cNvPr id="73" name="Shape 7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5" name="Text 7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قَمَرِيَّةٌ</a:t>
            </a:r>
            <a:endParaRPr lang="ar-SA" sz="1500" dirty="0"/>
          </a:p>
        </p:txBody>
      </p:sp>
      <p:sp>
        <p:nvSpPr>
          <p:cNvPr id="76" name="Shape 7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8" name="Text 7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قَمَرِيٌّ</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Languages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العَرَبِيَّةُ الفُصْحَى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 Standard Arabic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al-ʿa-ra-biy-ya-tu al-fuṣ-ḥā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shared written and formal register.</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اللَّهَجَاتُ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dialects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all-la-ha-jā-tu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Spoken varieties, which differ by region.</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الأَمَازِيغِيَّةُ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Amazigh (Berber)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al-a-mā-zī-ghiy-ya-tu</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Morocco and Algeria.</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الكُرْدِيَّةُ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Kurdish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al-kur-diy-ya-tu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Iraq alongside Arabic.</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الهُوِيَّةُ العَرَبِيَّةُ</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 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al-hu-wiy-ya-tu al-ʿa-ra-biy-ya-tu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Languages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official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عَاصِمَةٌ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capital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ʿā-ṣi-ma-tun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نَشَأَ / يَنْشَأُ</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arose / arises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na-sha-ʾa / yan-sha-ʾu</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Used for civilisations and institutions.</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46" name="Shape 4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اتَّسَعَ / يَتَّسِعُ</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expanded / expands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at-ta-sa-ʿa / yat-ta-si-ʿu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NISBA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79369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a:t>
            </a:r>
            <a:endParaRPr lang="en-US" sz="1100" dirty="0"/>
          </a:p>
        </p:txBody>
      </p:sp>
      <p:sp>
        <p:nvSpPr>
          <p:cNvPr id="18" name="Text 15"/>
          <p:cNvSpPr txBox="1"/>
          <p:nvPr/>
        </p:nvSpPr>
        <p:spPr>
          <a:xfrm>
            <a:off x="5559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9" name="Text 16"/>
          <p:cNvSpPr txBox="1"/>
          <p:nvPr/>
        </p:nvSpPr>
        <p:spPr>
          <a:xfrm>
            <a:off x="3182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20" name="Text 17"/>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-iyy</a:t>
            </a:r>
            <a:endParaRPr lang="en-US" sz="1100" dirty="0"/>
          </a:p>
        </p:txBody>
      </p:sp>
      <p:sp>
        <p:nvSpPr>
          <p:cNvPr id="23" name="Text 20"/>
          <p:cNvSpPr txBox="1"/>
          <p:nvPr/>
        </p:nvSpPr>
        <p:spPr>
          <a:xfrm>
            <a:off x="79552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مِصْرِيُّونَ</a:t>
            </a:r>
            <a:endParaRPr lang="ar-SA" sz="2400" dirty="0"/>
          </a:p>
        </p:txBody>
      </p:sp>
      <p:sp>
        <p:nvSpPr>
          <p:cNvPr id="24" name="Text 21"/>
          <p:cNvSpPr txBox="1"/>
          <p:nvPr/>
        </p:nvSpPr>
        <p:spPr>
          <a:xfrm>
            <a:off x="55778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مِصْرِيَّةٌ</a:t>
            </a:r>
            <a:endParaRPr lang="ar-SA" sz="2400" dirty="0"/>
          </a:p>
        </p:txBody>
      </p:sp>
      <p:sp>
        <p:nvSpPr>
          <p:cNvPr id="25" name="Text 22"/>
          <p:cNvSpPr txBox="1"/>
          <p:nvPr/>
        </p:nvSpPr>
        <p:spPr>
          <a:xfrm>
            <a:off x="320040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مِصْرِيٌّ</a:t>
            </a:r>
            <a:endParaRPr lang="ar-SA" sz="2400" dirty="0"/>
          </a:p>
        </p:txBody>
      </p:sp>
      <p:sp>
        <p:nvSpPr>
          <p:cNvPr id="26" name="Text 23"/>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مِصْرُ</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al-</a:t>
            </a:r>
            <a:endParaRPr lang="en-US" sz="1100" dirty="0"/>
          </a:p>
        </p:txBody>
      </p:sp>
      <p:sp>
        <p:nvSpPr>
          <p:cNvPr id="31" name="Text 28"/>
          <p:cNvSpPr txBox="1"/>
          <p:nvPr/>
        </p:nvSpPr>
        <p:spPr>
          <a:xfrm>
            <a:off x="79552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مَغَارِبَةٌ</a:t>
            </a:r>
            <a:endParaRPr lang="ar-SA" sz="2400" dirty="0"/>
          </a:p>
        </p:txBody>
      </p:sp>
      <p:sp>
        <p:nvSpPr>
          <p:cNvPr id="32" name="Text 29"/>
          <p:cNvSpPr txBox="1"/>
          <p:nvPr/>
        </p:nvSpPr>
        <p:spPr>
          <a:xfrm>
            <a:off x="55778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مَغْرِبِيَّةٌ</a:t>
            </a:r>
            <a:endParaRPr lang="ar-SA" sz="2400" dirty="0"/>
          </a:p>
        </p:txBody>
      </p:sp>
      <p:sp>
        <p:nvSpPr>
          <p:cNvPr id="33" name="Text 30"/>
          <p:cNvSpPr txBox="1"/>
          <p:nvPr/>
        </p:nvSpPr>
        <p:spPr>
          <a:xfrm>
            <a:off x="320040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مَغْرِبِيٌّ</a:t>
            </a:r>
            <a:endParaRPr lang="ar-SA" sz="2400" dirty="0"/>
          </a:p>
        </p:txBody>
      </p:sp>
      <p:sp>
        <p:nvSpPr>
          <p:cNvPr id="34" name="Text 31"/>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المَغْرِبُ</a:t>
            </a:r>
            <a:endParaRPr lang="ar-SA" sz="24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drop -iyya</a:t>
            </a:r>
            <a:endParaRPr lang="en-US" sz="1100" dirty="0"/>
          </a:p>
        </p:txBody>
      </p:sp>
      <p:sp>
        <p:nvSpPr>
          <p:cNvPr id="39" name="Text 36"/>
          <p:cNvSpPr txBox="1"/>
          <p:nvPr/>
        </p:nvSpPr>
        <p:spPr>
          <a:xfrm>
            <a:off x="79552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سُعُودِيُّونَ</a:t>
            </a:r>
            <a:endParaRPr lang="ar-SA" sz="2400" dirty="0"/>
          </a:p>
        </p:txBody>
      </p:sp>
      <p:sp>
        <p:nvSpPr>
          <p:cNvPr id="40" name="Text 37"/>
          <p:cNvSpPr txBox="1"/>
          <p:nvPr/>
        </p:nvSpPr>
        <p:spPr>
          <a:xfrm>
            <a:off x="55778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سُعُودِيَّةٌ</a:t>
            </a:r>
            <a:endParaRPr lang="ar-SA" sz="2400" dirty="0"/>
          </a:p>
        </p:txBody>
      </p:sp>
      <p:sp>
        <p:nvSpPr>
          <p:cNvPr id="41" name="Text 38"/>
          <p:cNvSpPr txBox="1"/>
          <p:nvPr/>
        </p:nvSpPr>
        <p:spPr>
          <a:xfrm>
            <a:off x="320040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سُعُودِيٌّ</a:t>
            </a:r>
            <a:endParaRPr lang="ar-SA" sz="2400" dirty="0"/>
          </a:p>
        </p:txBody>
      </p:sp>
      <p:sp>
        <p:nvSpPr>
          <p:cNvPr id="42" name="Text 39"/>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السُّعُودِيَّةُ</a:t>
            </a:r>
            <a:endParaRPr lang="ar-SA" sz="24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keep the shadda</a:t>
            </a:r>
            <a:endParaRPr lang="en-US" sz="1100" dirty="0"/>
          </a:p>
        </p:txBody>
      </p:sp>
      <p:sp>
        <p:nvSpPr>
          <p:cNvPr id="45" name="Text 42"/>
          <p:cNvSpPr txBox="1"/>
          <p:nvPr/>
        </p:nvSpPr>
        <p:spPr>
          <a:xfrm>
            <a:off x="79552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أُرْدُنِّيُّونَ</a:t>
            </a:r>
            <a:endParaRPr lang="ar-SA" sz="2400" dirty="0"/>
          </a:p>
        </p:txBody>
      </p:sp>
      <p:sp>
        <p:nvSpPr>
          <p:cNvPr id="46" name="Text 43"/>
          <p:cNvSpPr txBox="1"/>
          <p:nvPr/>
        </p:nvSpPr>
        <p:spPr>
          <a:xfrm>
            <a:off x="55778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أُرْدُنِّيَّةٌ</a:t>
            </a:r>
            <a:endParaRPr lang="ar-SA" sz="2400" dirty="0"/>
          </a:p>
        </p:txBody>
      </p:sp>
      <p:sp>
        <p:nvSpPr>
          <p:cNvPr id="47" name="Text 44"/>
          <p:cNvSpPr txBox="1"/>
          <p:nvPr/>
        </p:nvSpPr>
        <p:spPr>
          <a:xfrm>
            <a:off x="320040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أُرْدُنِّيٌّ</a:t>
            </a:r>
            <a:endParaRPr lang="ar-SA" sz="2400" dirty="0"/>
          </a:p>
        </p:txBody>
      </p:sp>
      <p:sp>
        <p:nvSpPr>
          <p:cNvPr id="48" name="Text 4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الأُرْدُنُّ</a:t>
            </a:r>
            <a:endParaRPr lang="ar-SA" sz="24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-iyy</a:t>
            </a:r>
            <a:endParaRPr lang="en-US" sz="1100" dirty="0"/>
          </a:p>
        </p:txBody>
      </p:sp>
      <p:sp>
        <p:nvSpPr>
          <p:cNvPr id="51" name="Text 48"/>
          <p:cNvSpPr txBox="1"/>
          <p:nvPr/>
        </p:nvSpPr>
        <p:spPr>
          <a:xfrm>
            <a:off x="79552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لُبْنَانِيُّونَ</a:t>
            </a:r>
            <a:endParaRPr lang="ar-SA" sz="2400" dirty="0"/>
          </a:p>
        </p:txBody>
      </p:sp>
      <p:sp>
        <p:nvSpPr>
          <p:cNvPr id="52" name="Text 49"/>
          <p:cNvSpPr txBox="1"/>
          <p:nvPr/>
        </p:nvSpPr>
        <p:spPr>
          <a:xfrm>
            <a:off x="55778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لُبْنَانِيَّةٌ</a:t>
            </a:r>
            <a:endParaRPr lang="ar-SA" sz="2400" dirty="0"/>
          </a:p>
        </p:txBody>
      </p:sp>
      <p:sp>
        <p:nvSpPr>
          <p:cNvPr id="53" name="Text 50"/>
          <p:cNvSpPr txBox="1"/>
          <p:nvPr/>
        </p:nvSpPr>
        <p:spPr>
          <a:xfrm>
            <a:off x="320040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لُبْنَانِيٌّ</a:t>
            </a:r>
            <a:endParaRPr lang="ar-SA" sz="2400" dirty="0"/>
          </a:p>
        </p:txBody>
      </p:sp>
      <p:sp>
        <p:nvSpPr>
          <p:cNvPr id="54" name="Text 51"/>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لُبْنَانُ</a:t>
            </a:r>
            <a:endParaRPr lang="ar-SA" sz="24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nisba is an adjective: it agrees — </a:t>
            </a:r>
            <a:pPr algn="l" indent="0" marL="0">
              <a:buNone/>
            </a:pPr>
            <a:r>
              <a:rPr lang="ar-SA" altLang="en-US" sz="1500" b="1" dirty="0">
                <a:solidFill>
                  <a:srgbClr val="1B3B6F"/>
                </a:solidFill>
                <a:latin typeface="Amiri" pitchFamily="34" charset="0"/>
                <a:ea typeface="Amiri" pitchFamily="34" charset="-122"/>
                <a:cs typeface="Amiri" pitchFamily="34" charset="-120"/>
              </a:rPr>
              <a:t>طَالِبٌ جَزَائِرِيٌّ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طَالِبَةٌ جَزَائِرِيَّةٌ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DIPTOTES, TENSE, ACCURACY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 tanwīn — and no generalising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مَمْنُوعٌ مِنَ الصَّرْفِ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DIPTOTES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لُبْنَانَ · زُرْتُ مِصْرَ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أَنَا مِنْ لُبْنَانَ، وَزُرْتُ مِصْرَ.</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from Lebanon, and I visited Egypt.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tanwīn.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0574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057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HISTORY vs TODAY · DEVELOP</a:t>
            </a:r>
            <a:endParaRPr lang="en-US" sz="850" dirty="0"/>
          </a:p>
        </p:txBody>
      </p:sp>
      <p:sp>
        <p:nvSpPr>
          <p:cNvPr id="26" name="Text 23"/>
          <p:cNvSpPr txBox="1"/>
          <p:nvPr/>
        </p:nvSpPr>
        <p:spPr>
          <a:xfrm>
            <a:off x="6516624" y="1874520"/>
            <a:ext cx="12588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نَشَأَتْ · تُعَدُّ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نَشَأَتِ الحَضَارَةُ هُنَا، وَتُعَدُّ العَرَبِيَّةُ لُغَةً مُنْتَشِرَةً.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civilisation arose here, and Arabic is (now) a widespread language.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 present.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ACCURACY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إِلَى جَانِبِ العَرَبِيَّةِ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تُسْتَعْمَلُ الكُرْدِيَّةُ إِلَى جَانِبِ العَرَبِيَّةِ فِي العِرَاقِ.</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Kurdish is used alongside Arabic in Iraq.</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the others.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diptote never takes tanwīn.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لُبْنَانَ</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مِنْ لُبْنَانٍ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The nisba, diptotes and describing a region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34" charset="0"/>
                <a:ea typeface="Amiri" pitchFamily="34" charset="-122"/>
                <a:cs typeface="Amiri" pitchFamily="34" charset="-120"/>
              </a:rPr>
              <a:t>النِّسْبَةُ وَالمَمْنُوعُ مِنَ الصَّرْفِ وَوَصْفُ المِنْطَقَةِ</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country + </a:t>
            </a:r>
            <a:pPr algn="l" indent="0" marL="0">
              <a:buNone/>
            </a:pPr>
            <a:r>
              <a:rPr lang="ar-SA" altLang="en-US" sz="1350" dirty="0">
                <a:solidFill>
                  <a:srgbClr val="5A6472"/>
                </a:solidFill>
                <a:latin typeface="Amiri" pitchFamily="34" charset="0"/>
                <a:ea typeface="Amiri" pitchFamily="34" charset="-122"/>
                <a:cs typeface="Amiri" pitchFamily="34" charset="-120"/>
              </a:rPr>
              <a:t>ـِيٌّ</a:t>
            </a:r>
            <a:pPr algn="l" indent="0" marL="0">
              <a:buNone/>
            </a:pPr>
            <a:r>
              <a:rPr lang="en-US" sz="1050" dirty="0">
                <a:solidFill>
                  <a:srgbClr val="5A6472"/>
                </a:solidFill>
                <a:latin typeface="Calibri" pitchFamily="34" charset="0"/>
                <a:ea typeface="Calibri" pitchFamily="34" charset="-122"/>
                <a:cs typeface="Calibri" pitchFamily="34" charset="-120"/>
              </a:rPr>
              <a:t> (m.) / </a:t>
            </a:r>
            <a:pPr algn="l" indent="0" marL="0">
              <a:buNone/>
            </a:pPr>
            <a:r>
              <a:rPr lang="ar-SA" altLang="en-US" sz="1350" dirty="0">
                <a:solidFill>
                  <a:srgbClr val="5A6472"/>
                </a:solidFill>
                <a:latin typeface="Amiri" pitchFamily="34" charset="0"/>
                <a:ea typeface="Amiri" pitchFamily="34" charset="-122"/>
                <a:cs typeface="Amiri" pitchFamily="34" charset="-120"/>
              </a:rPr>
              <a:t>ـِيَّةٌ</a:t>
            </a:r>
            <a:pPr algn="l" indent="0" marL="0">
              <a:buNone/>
            </a:pPr>
            <a:r>
              <a:rPr lang="en-US" sz="1050" dirty="0">
                <a:solidFill>
                  <a:srgbClr val="5A6472"/>
                </a:solidFill>
                <a:latin typeface="Calibri" pitchFamily="34" charset="0"/>
                <a:ea typeface="Calibri" pitchFamily="34" charset="-122"/>
                <a:cs typeface="Calibri" pitchFamily="34" charset="-120"/>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(nashaʾat) for history · present (tuʿaddu) for today</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اللُّبْنَانِيِّ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 جَزَائِرِيَّةٌ.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nisba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nisba adds tāʾ marbūṭa after the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اللُّبْنَانِيِّ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لُبْنَان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fatḥa and no tanwīn.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طَالِبَةٌ جَزَائِرِيَّةٌ.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طَالِبَةٌ جَزَائِرِيٌّ.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 جَزَائِرِيَّةٌ.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the noun and its nisba adjective are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introduce a country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المَغْرِبُ · عَاصِمَتُهُ الرِّبَاطُ</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Name + capital.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Nationality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مَغْرِبِيٌّ</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0E7C86"/>
                </a:solidFill>
                <a:latin typeface="Amiri" pitchFamily="34" charset="0"/>
                <a:ea typeface="Amiri" pitchFamily="34" charset="-122"/>
                <a:cs typeface="Amiri" pitchFamily="34" charset="-120"/>
              </a:rPr>
              <a:t>مَغْرِبِيَّةٌ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Languages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العَرَبِيَّةُ وَ</a:t>
            </a:r>
            <a:pPr rtl="1" algn="ctr" indent="0" marL="0">
              <a:buNone/>
            </a:pPr>
            <a:r>
              <a:rPr lang="ar-SA" altLang="en-US" sz="2550" b="1" dirty="0">
                <a:solidFill>
                  <a:srgbClr val="1D5FBF"/>
                </a:solidFill>
                <a:latin typeface="Amiri" pitchFamily="34" charset="0"/>
                <a:ea typeface="Amiri" pitchFamily="34" charset="-122"/>
                <a:cs typeface="Amiri" pitchFamily="34" charset="-120"/>
              </a:rPr>
              <a:t>الأَمَازِيغِيَّةُ</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only Arabic.</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Diptote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زُرْتُ </a:t>
            </a:r>
            <a:pPr rtl="1" algn="ctr" indent="0" marL="0">
              <a:buNone/>
            </a:pPr>
            <a:r>
              <a:rPr lang="ar-SA" altLang="en-US" sz="2800" b="1" dirty="0">
                <a:solidFill>
                  <a:srgbClr val="D6336C"/>
                </a:solidFill>
                <a:latin typeface="Amiri" pitchFamily="34" charset="0"/>
                <a:ea typeface="Amiri" pitchFamily="34" charset="-122"/>
                <a:cs typeface="Amiri" pitchFamily="34" charset="-120"/>
              </a:rPr>
              <a:t>مِصْرَ</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tanwīn.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 / DIPTOTE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 LANGUAGE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مِنْ أَجْمَلِ الدُّوَلِ العَرَبِيَّةِ المَغْرِبُ، وَعَاصِمَتُهُ الرِّبَاطُ. وَالطَّالِبُ مِنْهُمْ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مَغْرِبِيٌّ</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وَالطَّالِبَةُ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مَغْرِبِيَّةٌ</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تُسْتَعْمَلُ فِيهِ العَرَبِيَّةُ وَ</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الأَمَازِيغِيَّةُ</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وَقَدْ زُرْتُ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مِصْرَ</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أَيْضًا قَبْلَ سَنَتَيْنِ.</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Morocco is one of the most beautiful Arab countries, and its capital is Rabat. A (male) student from there is Moroccan and a (female) student is Moroccan. Arabic and Amazigh are used there. I also visited Egypt two years ago.</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مِصْر ← مِصْرِيٌّ / مِصْرِيَّةٌ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Egypt → Egyptian (m.) / (f.)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nisba ending carries a shadda on the yāʾ.</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مِنْ لُبْنَانَ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from Lebanon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diptote takes a fatḥa in the genitive, with no tanwīn.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تُعَدُّ العَرَبِيَّةُ مِنْ أَكْثَرِ اللُّغَاتِ انْتِشَارًا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Arabic is considered one of the most widespread languages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present passive for a fact that is true now.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زُرْتُ ___ فِي الصَّيْفِ المَاضِي.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مِصْرًا</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history accurately?</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تَنْشَأُ الحَضَارَةُ العَرَبِيَّةُ فِي هٰذِهِ المِنْطَقَةِ.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نَشَأَتِ الحَضَارَةُ العَرَبِيَّةُ فِي هٰذِهِ المِنْطَقَةِ.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سَتَنْشَأُ الحَضَارَةُ العَرَبِيَّةُ فِي هٰذِهِ المِنْطَقَةِ.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هِيَ اللُّغَةُ الوَحِيدَةُ فِي كُلِّ الدُّوَلِ العَرَبِيَّةِ.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تُوجَدُ لَهَجَاتٌ فِي العَالَمِ العَرَبِيِّ.</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two names for the same thing.</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spoken only at home.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زُرْتُ ___ فِي الصَّيْفِ المَاضِي.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مِصْرًا</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مِصْر</a:t>
            </a:r>
            <a:pPr algn="l" indent="0" marL="0">
              <a:buNone/>
            </a:pPr>
            <a:r>
              <a:rPr lang="en-US" sz="1050" i="1" dirty="0">
                <a:solidFill>
                  <a:srgbClr val="8A6D1E"/>
                </a:solidFill>
                <a:latin typeface="Calibri" pitchFamily="34" charset="0"/>
                <a:ea typeface="Calibri" pitchFamily="34" charset="-122"/>
                <a:cs typeface="Calibri" pitchFamily="34" charset="-120"/>
              </a:rPr>
              <a:t> is a diptote; the accusative is a bare fatḥa.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history accurately?</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تَنْشَأُ الحَضَارَةُ العَرَبِيَّةُ فِي هٰذِهِ المِنْطَقَةِ.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نَشَأَتِ الحَضَارَةُ العَرَبِيَّةُ فِي هٰذِهِ المِنْطَقَةِ.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سَتَنْشَأُ الحَضَارَةُ العَرَبِيَّةُ فِي هٰذِهِ المِنْطَقَةِ.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completed historical event takes the past tense.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هِيَ اللُّغَةُ الوَحِيدَةُ فِي كُلِّ الدُّوَلِ العَرَبِيَّةِ.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تُوجَدُ لَهَجَاتٌ فِي العَالَمِ العَرَبِيِّ.</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Amazigh is co-official in Morocco and Algeria; the region is multilingual.</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two names for the same thing.</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الفُصْحَى</a:t>
            </a:r>
            <a:pPr algn="l" indent="0" marL="0">
              <a:buNone/>
            </a:pPr>
            <a:r>
              <a:rPr lang="en-US" sz="1250" dirty="0">
                <a:solidFill>
                  <a:srgbClr val="9AA1AB"/>
                </a:solidFill>
                <a:latin typeface="Calibri" pitchFamily="34" charset="0"/>
                <a:ea typeface="Calibri" pitchFamily="34" charset="-122"/>
                <a:cs typeface="Calibri" pitchFamily="34" charset="-120"/>
              </a:rPr>
              <a:t> is spoken only at home.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الفُصْحَى</a:t>
            </a:r>
            <a:pPr algn="l" indent="0" marL="0">
              <a:buNone/>
            </a:pPr>
            <a:r>
              <a:rPr lang="en-US" sz="1150" b="1"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1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الفُصْحَى</a:t>
            </a:r>
            <a:pPr algn="l" indent="0" marL="0">
              <a:buNone/>
            </a:pPr>
            <a:r>
              <a:rPr lang="en-US" sz="1050" i="1" dirty="0">
                <a:solidFill>
                  <a:srgbClr val="8A6D1E"/>
                </a:solidFill>
                <a:latin typeface="Calibri" pitchFamily="34" charset="0"/>
                <a:ea typeface="Calibri" pitchFamily="34" charset="-122"/>
                <a:cs typeface="Calibri" pitchFamily="34" charset="-120"/>
              </a:rPr>
              <a:t> is used in writing and formal speech; dialects differ from place to place.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Lubnān: tanwīn or not?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girl: -iyy or -iyya?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Arabic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لُبْنَان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people: Salma · Karim · Nur.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Salma,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Karim is Iraqi, from Baghdad, and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our classmate Nur, she is Lebanese, and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all write in Standard Arabic, but we speak different dialects, and sometimes we don’t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people: Salma · Karim · Nur.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Speaking: introduce a country and its languages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 دَوْلَةً عَرَبِيَّةً. مَا عَاصِمَتُهَا؟ وَمَا جِنْسِيَّةُ أَهْلِهَا؟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لُغَاتٍ تُسْتَعْمَلُ هُنَاكَ إِلَى جَانِبِ العَرَبِيَّةِ؟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الفُصْحَى وَاللَّهَجَاتِ؟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34" charset="0"/>
                <a:ea typeface="Amiri" pitchFamily="34" charset="-122"/>
                <a:cs typeface="Amiri" pitchFamily="34" charset="-120"/>
              </a:rPr>
              <a:t>أَخْتَارُ ___ . عَاصِمَتُهَا ___ ، وَالطَّالِبُ مِنْهَا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تُسْتَعْمَلُ ___ إِلَى جَانِبِ العَرَبِيَّةِ فِي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نَكْتُبُ بِالفُصْحَى، وَلٰكِنْ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اِخْتَرْ دَوْلَةً عَرَبِيَّةً وَتَحَدَّثْ عَنْهَا.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Choose an Arab country and talk about it.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أَخْتَارُ المَغْرِبَ. عَاصِمَتُهُ الرِّبَاطُ، وَأَهْلُهُ مَغَارِبَةٌ، وَالوَاحِدُ مِنْهُمْ مَغْرِبِيٌّ.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choose Morocco. Its capital is Rabat, its people are Moroccans, and one of them is a Moroccan.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country, its capital, its nationality (he / she) and one language.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diptote after a preposition and the languages of two countries.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country · capital · nationality · languages · a qualified statement about diversity.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______ قَبْلَ سَنَتَيْنِ.</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 two years ago.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نَكْتُبُ جَمِيعًا بِالفُصْحَى، وَلٰكِنَّنَا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all write in fuṣḥā, but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وَلَيْسَ صَحِيحًا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not true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أَخْتَارُ ______ ، وَعَاصِمَتُهَا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choose …; its capital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الطَّالِبُ مِنْهَا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(male) student from there is … (-iyyun)</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الطَّالِبَةُ مِنْهَا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(female) student from there is … (-iyyatun)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اللُّغَةُ الرَّسْمِيَّةُ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official language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مِصْرُ · مِصْرِيٌّ  ·  المَغْرِبُ · مَغْرِبِيٌّ  ·  الأُرْدُنُّ · أُرْدُنِّيٌّ  ·  العِرَاقُ · عِرَاقِيٌّ  ·  عَاصِمَةٌ  ·  جِنْسِيَّةٌ  ·  لُغَةٌ رَسْمِيَّةٌ  ·  الفُصْحَى  ·  اللَّهَجَاتُ  ·  الأَمَازِيغِيَّةُ  ·  الكُرْدِيَّةُ  ·  إِلَى جَانِبِ</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qualified statement about diversity rather than a generalisation.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أَجْمَلِ الدُّوَلِ العَرَبِيَّةِ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of the most beautiful Arab countries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لَاحَظْتُ أَنَّ اللَّهْجَةَ تَخْتَلِفُ كَثِيرًا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noticed that the dialect differs a lot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العَرَبِيَّةُ مِنْ أَكْثَرِ اللُّغَاتِ انْتِشَارًا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Arabic is one of the most widespread languages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لَيْسَ صَحِيحًا أَنَّ المِنْطَقَةَ ذَاتُ ثَقَافَةٍ وَاحِدَةٍ</a:t>
            </a:r>
            <a:endParaRPr lang="ar-SA" sz="17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not true that the region has a single culture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فَالتَّنَوُّعُ فِيهَا كَبِيرٌ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its diversity is great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Morocco is one of the most beautiful Arab countries, and its capital is Rabat. Its people are Moroccans: a male student is Moroccan (maghribī) and a female student is Moroccan (maghribiyya). Arabic and Amazigh are used there, and Amazigh is an official language. I also visited Egypt two years ago and noticed that the dialect is very different from Morocco’s. We all write in fuṣḥā, but we speak different dialects. It is not true that the region has one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nisba for he and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diptote after a verb or preposition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language other than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qualified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nationality agrees: -iyyun (m.), -iyyatun (f.).</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 capital and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diptotes have no tanwīn (</a:t>
            </a:r>
            <a:pPr algn="l" indent="0" marL="0">
              <a:buNone/>
            </a:pPr>
            <a:r>
              <a:rPr lang="ar-SA" altLang="en-US" sz="1700" dirty="0">
                <a:solidFill>
                  <a:srgbClr val="1F2A37"/>
                </a:solidFill>
                <a:latin typeface="Amiri" pitchFamily="34" charset="0"/>
                <a:ea typeface="Amiri" pitchFamily="34" charset="-122"/>
                <a:cs typeface="Amiri" pitchFamily="34" charset="-120"/>
              </a:rPr>
              <a:t>مِنْ لُبْنَانَ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 language other than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fuṣḥā and dialects and avoided a generalisation.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الرَّبِيعِ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المَغْرِبِ.</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 إِلَى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الرَّبِيعِ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تُونُسَ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تُونُس</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الكُرْدِيَّةُ لُغَةٌ رَسْمِيَّةٌ فِي المَغْرِبِ.</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Kurdish is co-official in Iraq.</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stretch</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المُشْتَرَكَةَ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shared, common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الإِعْلَامِ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media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ذَاتُ ثَقَافَةٍ وَاحِدَةٍ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one culture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Arab World Mission — Countries, Nisba and Diptotes</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العِرَاق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عِرَاقِيُّونَ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feminine for </a:t>
            </a:r>
            <a:pPr algn="l" indent="0" marL="0">
              <a:buNone/>
            </a:pPr>
            <a:r>
              <a:rPr lang="ar-SA" altLang="en-US" sz="1650" b="1" dirty="0">
                <a:solidFill>
                  <a:srgbClr val="1B3B6F"/>
                </a:solidFill>
                <a:latin typeface="Amiri" pitchFamily="34" charset="0"/>
                <a:ea typeface="Amiri" pitchFamily="34" charset="-122"/>
                <a:cs typeface="Amiri" pitchFamily="34" charset="-120"/>
              </a:rPr>
              <a:t>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أُرْدُنِّيَّةٌ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أُرْدُنَةٌ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capital of Morocco?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الجَزَائِرُ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طَرَابُلُسُ</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الرِّبَاطُ</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country is in the Horn of Africa?</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الصُّومَالُ</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الكُوَيْتُ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Language: where is Amazigh official?</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 وَسُورِيَا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 وَالجَزَائِرُ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 وَالبَحْرَيْنُ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العِرَاق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عِرَاقِيٌّ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عِرَاقِيُّونَ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singular nisba is </a:t>
            </a:r>
            <a:pPr algn="l" indent="0" marL="0">
              <a:buNone/>
            </a:pPr>
            <a:r>
              <a:rPr lang="ar-SA" altLang="en-US" sz="1350" dirty="0">
                <a:solidFill>
                  <a:srgbClr val="8A6D1E"/>
                </a:solidFill>
                <a:latin typeface="Amiri" pitchFamily="34" charset="0"/>
                <a:ea typeface="Amiri" pitchFamily="34" charset="-122"/>
                <a:cs typeface="Amiri" pitchFamily="34" charset="-120"/>
              </a:rPr>
              <a:t>عِرَاقِيٌّ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Nisba: which is the feminine for </a:t>
            </a:r>
            <a:pPr algn="l" indent="0" marL="0">
              <a:buNone/>
            </a:pPr>
            <a:r>
              <a:rPr lang="ar-SA" altLang="en-US" sz="1650" b="1" dirty="0">
                <a:solidFill>
                  <a:srgbClr val="1B3B6F"/>
                </a:solidFill>
                <a:latin typeface="Amiri" pitchFamily="34" charset="0"/>
                <a:ea typeface="Amiri" pitchFamily="34" charset="-122"/>
                <a:cs typeface="Amiri" pitchFamily="34" charset="-120"/>
              </a:rPr>
              <a:t>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أُرْدُنِّيَّةٌ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أُرْدُنِّيٌّ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أُرْدُنَةٌ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 tāʾ marbūṭa after the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قَطَرًا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قَطَرَ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قَطَر</a:t>
            </a:r>
            <a:pPr algn="l" indent="0" marL="0">
              <a:buNone/>
            </a:pPr>
            <a:r>
              <a:rPr lang="en-US" sz="1050" i="1" dirty="0">
                <a:solidFill>
                  <a:srgbClr val="8A6D1E"/>
                </a:solidFill>
                <a:latin typeface="Calibri" pitchFamily="34" charset="0"/>
                <a:ea typeface="Calibri" pitchFamily="34" charset="-122"/>
                <a:cs typeface="Calibri" pitchFamily="34" charset="-120"/>
              </a:rPr>
              <a:t> is a diptote; the genitive is a bare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capital of Morocco?</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الجَزَائِرُ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طَرَابُلُسُ</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الرِّبَاطُ</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الرِّبَاطُ</a:t>
            </a:r>
            <a:pPr algn="l" indent="0" marL="0">
              <a:buNone/>
            </a:pPr>
            <a:r>
              <a:rPr lang="en-US" sz="1050" i="1" dirty="0">
                <a:solidFill>
                  <a:srgbClr val="8A6D1E"/>
                </a:solidFill>
                <a:latin typeface="Calibri" pitchFamily="34" charset="0"/>
                <a:ea typeface="Calibri" pitchFamily="34" charset="-122"/>
                <a:cs typeface="Calibri" pitchFamily="34" charset="-120"/>
              </a:rPr>
              <a:t> is the capital of Morocco.</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country is in the Horn of Africa?</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الصُّومَالُ</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الكُوَيْتُ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الصُّومَال</a:t>
            </a:r>
            <a:pPr algn="l" indent="0" marL="0">
              <a:buNone/>
            </a:pPr>
            <a:r>
              <a:rPr lang="en-US" sz="1050" i="1" dirty="0">
                <a:solidFill>
                  <a:srgbClr val="8A6D1E"/>
                </a:solidFill>
                <a:latin typeface="Calibri" pitchFamily="34" charset="0"/>
                <a:ea typeface="Calibri" pitchFamily="34" charset="-122"/>
                <a:cs typeface="Calibri" pitchFamily="34" charset="-120"/>
              </a:rPr>
              <a:t> is in the Horn of Africa.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Language: where is Amazigh official?</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العِرَاقُ وَسُورِيَا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المَغْرِبُ وَالجَزَائِرُ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قَطَرُ وَالبَحْرَيْنُ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Amazigh is co-official in Morocco and Algeria.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D6-L02 · Cultural Customs — Traditions, Greetings and Social Norms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custom</a:t>
            </a:r>
            <a:pPr indent="0" marL="0">
              <a:buNone/>
            </a:pPr>
            <a:r>
              <a:rPr lang="en-US" sz="1000" i="1" dirty="0">
                <a:solidFill>
                  <a:srgbClr val="5A6472"/>
                </a:solidFill>
                <a:latin typeface="Calibri" pitchFamily="34" charset="0"/>
                <a:ea typeface="Calibri" pitchFamily="34" charset="-122"/>
                <a:cs typeface="Calibri" pitchFamily="34" charset="-120"/>
              </a:rPr>
              <a:t>  pl. عَادَاتٌ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تَقْلِيدٌ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tradition</a:t>
            </a:r>
            <a:pPr indent="0" marL="0">
              <a:buNone/>
            </a:pPr>
            <a:r>
              <a:rPr lang="en-US" sz="1000" i="1" dirty="0">
                <a:solidFill>
                  <a:srgbClr val="5A6472"/>
                </a:solidFill>
                <a:latin typeface="Calibri" pitchFamily="34" charset="0"/>
                <a:ea typeface="Calibri" pitchFamily="34" charset="-122"/>
                <a:cs typeface="Calibri" pitchFamily="34" charset="-120"/>
              </a:rPr>
              <a:t>  pl. تَقَالِيدُ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ضِيَافَةٌ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hospitality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احْتِرَامُ الكِبَارِ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respect for elders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يَحْتَفِلُ بِـ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celebrates</a:t>
            </a:r>
            <a:pPr indent="0" marL="0">
              <a:buNone/>
            </a:pPr>
            <a:r>
              <a:rPr lang="en-US" sz="1000" i="1" dirty="0">
                <a:solidFill>
                  <a:srgbClr val="5A6472"/>
                </a:solidFill>
                <a:latin typeface="Calibri" pitchFamily="34" charset="0"/>
                <a:ea typeface="Calibri" pitchFamily="34" charset="-122"/>
                <a:cs typeface="Calibri" pitchFamily="34" charset="-120"/>
              </a:rPr>
              <a:t>  تَحْتَفِلُ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custom in your family when a guest visits. What do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عِنْدَمَا يَزُورُنَا ضَيْفٌ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countries with their nationality (he / she);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profile of a country with a diptote and two languages.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80 words with a qualified statement about diversity.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D6-L02 · Cultural Customs — Traditions, Greetings and Social Norms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العَادَاتُ الثَّقَافِيَّةُ — التَّقَالِيدُ وَالتَّحِيَّاتُ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country + -iyy (he) / -iyya (she) — no tanwīn on </a:t>
            </a:r>
            <a:pPr algn="l" indent="0" marL="0">
              <a:buNone/>
            </a:pPr>
            <a:r>
              <a:rPr lang="ar-SA" altLang="en-US" sz="1700" b="1" dirty="0">
                <a:solidFill>
                  <a:srgbClr val="FFFFFF"/>
                </a:solidFill>
                <a:latin typeface="Amiri" pitchFamily="34" charset="0"/>
                <a:ea typeface="Amiri" pitchFamily="34" charset="-122"/>
                <a:cs typeface="Amiri" pitchFamily="34" charset="-120"/>
              </a:rPr>
              <a:t>مِصْرَ</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لُبْنَانَ</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قَطَرَ</a:t>
            </a:r>
            <a:pPr algn="l" indent="0" marL="0">
              <a:buNone/>
            </a:pPr>
            <a:r>
              <a:rPr lang="en-US" sz="1300" b="1" dirty="0">
                <a:solidFill>
                  <a:srgbClr val="FFFFFF"/>
                </a:solidFill>
                <a:latin typeface="Calibri" pitchFamily="34" charset="0"/>
                <a:ea typeface="Calibri" pitchFamily="34" charset="-122"/>
                <a:cs typeface="Calibri" pitchFamily="34" charset="-120"/>
              </a:rPr>
              <a:t> — and Arabic is shared, but not the only language.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D6-L01 · Countries, Nationalities and Languages of the Arab World</dc:title>
  <dc:subject>PptxGenJS Presentation</dc:subject>
  <dc:creator>Al Madina Online School · Arabic Department</dc:creator>
  <cp:lastModifiedBy>Al Madina Online School · Arabic Department</cp:lastModifiedBy>
  <cp:revision>1</cp:revision>
  <dcterms:created xsi:type="dcterms:W3CDTF">2026-10-03T10:18:57Z</dcterms:created>
  <dcterms:modified xsi:type="dcterms:W3CDTF">2026-10-03T10:18:57Z</dcterms:modified>
</cp:coreProperties>
</file>