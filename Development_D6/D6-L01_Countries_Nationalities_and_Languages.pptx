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(D6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D5-L12. Questions 4–5 retrieve the nisba (F1 / F2) and the D5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(D6-L02 · Cultural Customs — Traditions, Greetings and Social Norms) will spend class time USING this language, so students prepare it tonight — short, simple, easy to access (school guidance: “Simple, Short, Interesting, Relevant, Easy to access”). The five words come from the website D6-L02 vocabulary (customs and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Countries, Nationalities and Languages of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دُوَلُ العَالَمِ العَرَبِيِّ وَجِنْسِيَّاتُهَا وَلُغَاتُهَا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Arab countries, build the nationality (</a:t>
            </a:r>
            <a:pPr algn="l" indent="0" marL="0">
              <a:buNone/>
            </a:pPr>
            <a:r>
              <a:rPr lang="ar-SA" altLang="en-US" sz="1800" dirty="0">
                <a:solidFill>
                  <a:srgbClr val="C6D2E6"/>
                </a:solidFill>
                <a:latin typeface="Amiri" pitchFamily="2" charset="-78"/>
                <a:cs typeface="Amiri" pitchFamily="2" charset="-78"/>
              </a:rPr>
              <a:t>مِصْرُ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مِصْرِيٌّ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مِصْرِيَّةٌ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مِصْرِيُّونَ</a:t>
            </a:r>
            <a:pPr algn="l" indent="0" marL="0">
              <a:buNone/>
            </a:pPr>
            <a:r>
              <a:rPr lang="en-US" sz="1400" dirty="0">
                <a:solidFill>
                  <a:srgbClr val="C6D2E6"/>
                </a:solidFill>
                <a:latin typeface="Calibri" pitchFamily="34" charset="0"/>
                <a:cs typeface="Amiri" pitchFamily="2" charset="-78"/>
              </a:rPr>
              <a:t>), say “from Lebanon” without tanwīn (</a:t>
            </a:r>
            <a:pPr algn="l" indent="0" marL="0">
              <a:buNone/>
            </a:pPr>
            <a:r>
              <a:rPr lang="ar-SA" altLang="en-US" sz="1800" dirty="0">
                <a:solidFill>
                  <a:srgbClr val="C6D2E6"/>
                </a:solidFill>
                <a:latin typeface="Amiri" pitchFamily="2" charset="-78"/>
                <a:cs typeface="Amiri" pitchFamily="2" charset="-78"/>
              </a:rPr>
              <a:t>مِنْ لُبْنَانَ</a:t>
            </a:r>
            <a:pPr algn="l" indent="0" marL="0">
              <a:buNone/>
            </a:pPr>
            <a:r>
              <a:rPr lang="en-US" sz="1400" dirty="0">
                <a:solidFill>
                  <a:srgbClr val="C6D2E6"/>
                </a:solidFill>
                <a:latin typeface="Calibri" pitchFamily="34" charset="0"/>
                <a:cs typeface="Amiri" pitchFamily="2" charset="-78"/>
              </a:rPr>
              <a:t>) and describe the region’s languages accurately — fuṣḥā, dialects, Amazigh, Kurdish.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مِصْرُ · </a:t>
            </a:r>
            <a:pPr rtl="1" algn="ctr" indent="0" marL="0">
              <a:buNone/>
            </a:pPr>
            <a:r>
              <a:rPr lang="ar-SA" altLang="en-US" sz="2350" b="1" dirty="0">
                <a:solidFill>
                  <a:srgbClr val="D6336C"/>
                </a:solidFill>
                <a:latin typeface="Amiri" pitchFamily="2" charset="-78"/>
                <a:cs typeface="Amiri" pitchFamily="2" charset="-78"/>
              </a:rPr>
              <a:t>مِصْرِيٌّ</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0E7C86"/>
                </a:solidFill>
                <a:latin typeface="Amiri" pitchFamily="2" charset="-78"/>
                <a:cs typeface="Amiri" pitchFamily="2" charset="-78"/>
              </a:rPr>
              <a:t>مِصْرِيَّةٌ</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1D5FBF"/>
                </a:solidFill>
                <a:latin typeface="Amiri" pitchFamily="2" charset="-78"/>
                <a:cs typeface="Amiri" pitchFamily="2" charset="-78"/>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nisba with </a:t>
            </a:r>
            <a:pPr algn="l" indent="0" marL="0">
              <a:buNone/>
            </a:pPr>
            <a:r>
              <a:rPr lang="ar-SA" altLang="en-US" sz="1700" dirty="0">
                <a:solidFill>
                  <a:srgbClr val="1F2A37"/>
                </a:solidFill>
                <a:latin typeface="Amiri" pitchFamily="2" charset="-78"/>
                <a:cs typeface="Amiri" pitchFamily="2" charset="-78"/>
              </a:rPr>
              <a:t>ـِيٌّ / ـِيَّةٌ</a:t>
            </a:r>
            <a:pPr algn="l" indent="0" marL="0">
              <a:buNone/>
            </a:pPr>
            <a:r>
              <a:rPr lang="en-US" sz="1300" dirty="0">
                <a:solidFill>
                  <a:srgbClr val="1F2A37"/>
                </a:solidFill>
                <a:latin typeface="Calibri" pitchFamily="34" charset="0"/>
                <a:cs typeface="Amiri" pitchFamily="2" charset="-78"/>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diptote country names without tanwīn (</a:t>
            </a:r>
            <a:pPr algn="l" indent="0" marL="0">
              <a:buNone/>
            </a:pPr>
            <a:r>
              <a:rPr lang="ar-SA" altLang="en-US" sz="1700" dirty="0">
                <a:solidFill>
                  <a:srgbClr val="1F2A37"/>
                </a:solidFill>
                <a:latin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‎مصر‎ </a:t>
            </a:r>
            <a:pPr indent="0" marL="0">
              <a:buNone/>
            </a:pPr>
            <a:r>
              <a:rPr lang="en-US" sz="950" b="1" dirty="0">
                <a:solidFill>
                  <a:srgbClr val="2E8B57"/>
                </a:solidFill>
                <a:latin typeface="Calibri" pitchFamily="34" charset="0"/>
                <a:cs typeface="Amiri" pitchFamily="2" charset="-78"/>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‎عربی‎ </a:t>
            </a:r>
            <a:pPr indent="0" marL="0">
              <a:buNone/>
            </a:pPr>
            <a:r>
              <a:rPr lang="en-US" sz="950" b="1" dirty="0">
                <a:solidFill>
                  <a:srgbClr val="2E8B57"/>
                </a:solidFill>
                <a:latin typeface="Calibri" pitchFamily="34" charset="0"/>
                <a:cs typeface="Amiri" pitchFamily="2" charset="-78"/>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‎شہریت / قومیت‎ </a:t>
            </a:r>
            <a:pPr indent="0" marL="0">
              <a:buNone/>
            </a:pPr>
            <a:r>
              <a:rPr lang="en-US" sz="950" b="1" dirty="0">
                <a:solidFill>
                  <a:srgbClr val="2E8B57"/>
                </a:solidFill>
                <a:latin typeface="Calibri" pitchFamily="34" charset="0"/>
                <a:cs typeface="Amiri" pitchFamily="2" charset="-78"/>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‎دارالحکومت‎ </a:t>
            </a:r>
            <a:pPr indent="0" marL="0">
              <a:buNone/>
            </a:pPr>
            <a:r>
              <a:rPr lang="en-US" sz="950" b="1" dirty="0">
                <a:solidFill>
                  <a:srgbClr val="2E8B57"/>
                </a:solidFill>
                <a:latin typeface="Calibri" pitchFamily="34" charset="0"/>
                <a:cs typeface="Amiri" pitchFamily="2" charset="-78"/>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‎لہجہ‎ </a:t>
            </a:r>
            <a:pPr indent="0" marL="0">
              <a:buNone/>
            </a:pPr>
            <a:r>
              <a:rPr lang="en-US" sz="950" b="1" dirty="0">
                <a:solidFill>
                  <a:srgbClr val="2E8B57"/>
                </a:solidFill>
                <a:latin typeface="Calibri" pitchFamily="34" charset="0"/>
                <a:cs typeface="Amiri" pitchFamily="2" charset="-78"/>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Saudi Arabia</a:t>
            </a:r>
            <a:endParaRPr lang="en-US" sz="1350" dirty="0"/>
          </a:p>
          <a:p>
            <a:pPr indent="0" marL="0">
              <a:buNone/>
            </a:pPr>
            <a:r>
              <a:rPr lang="en-US" sz="1100" i="1" dirty="0">
                <a:solidFill>
                  <a:srgbClr val="5A6472"/>
                </a:solidFill>
                <a:latin typeface="Calibri" pitchFamily="34" charset="0"/>
                <a:cs typeface="Amiri" pitchFamily="2" charset="-78"/>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Egypt</a:t>
            </a:r>
            <a:endParaRPr lang="en-US" sz="1350" dirty="0"/>
          </a:p>
          <a:p>
            <a:pPr indent="0" marL="0">
              <a:buNone/>
            </a:pPr>
            <a:r>
              <a:rPr lang="en-US" sz="1100" i="1" dirty="0">
                <a:solidFill>
                  <a:srgbClr val="5A6472"/>
                </a:solidFill>
                <a:latin typeface="Calibri" pitchFamily="34" charset="0"/>
                <a:cs typeface="Amiri" pitchFamily="2" charset="-78"/>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Iraq</a:t>
            </a:r>
            <a:endParaRPr lang="en-US" sz="1350" dirty="0"/>
          </a:p>
          <a:p>
            <a:pPr indent="0" marL="0">
              <a:buNone/>
            </a:pPr>
            <a:r>
              <a:rPr lang="en-US" sz="1100" i="1" dirty="0">
                <a:solidFill>
                  <a:srgbClr val="5A6472"/>
                </a:solidFill>
                <a:latin typeface="Calibri" pitchFamily="34" charset="0"/>
                <a:cs typeface="Amiri" pitchFamily="2" charset="-78"/>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Syria</a:t>
            </a:r>
            <a:endParaRPr lang="en-US" sz="1350" dirty="0"/>
          </a:p>
          <a:p>
            <a:pPr indent="0" marL="0">
              <a:buNone/>
            </a:pPr>
            <a:r>
              <a:rPr lang="en-US" sz="1100" i="1" dirty="0">
                <a:solidFill>
                  <a:srgbClr val="5A6472"/>
                </a:solidFill>
                <a:latin typeface="Calibri" pitchFamily="34" charset="0"/>
                <a:cs typeface="Amiri" pitchFamily="2" charset="-78"/>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Jordan</a:t>
            </a:r>
            <a:endParaRPr lang="en-US" sz="1350" dirty="0"/>
          </a:p>
          <a:p>
            <a:pPr indent="0" marL="0">
              <a:buNone/>
            </a:pPr>
            <a:r>
              <a:rPr lang="en-US" sz="1100" i="1" dirty="0">
                <a:solidFill>
                  <a:srgbClr val="5A6472"/>
                </a:solidFill>
                <a:latin typeface="Calibri" pitchFamily="34" charset="0"/>
                <a:cs typeface="Amiri" pitchFamily="2" charset="-78"/>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Lebanon</a:t>
            </a:r>
            <a:endParaRPr lang="en-US" sz="1350" dirty="0"/>
          </a:p>
          <a:p>
            <a:pPr indent="0" marL="0">
              <a:buNone/>
            </a:pPr>
            <a:r>
              <a:rPr lang="en-US" sz="1100" i="1" dirty="0">
                <a:solidFill>
                  <a:srgbClr val="5A6472"/>
                </a:solidFill>
                <a:latin typeface="Calibri" pitchFamily="34" charset="0"/>
                <a:cs typeface="Amiri" pitchFamily="2" charset="-78"/>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Palestine</a:t>
            </a:r>
            <a:endParaRPr lang="en-US" sz="1350" dirty="0"/>
          </a:p>
          <a:p>
            <a:pPr indent="0" marL="0">
              <a:buNone/>
            </a:pPr>
            <a:r>
              <a:rPr lang="en-US" sz="1100" i="1" dirty="0">
                <a:solidFill>
                  <a:srgbClr val="5A6472"/>
                </a:solidFill>
                <a:latin typeface="Calibri" pitchFamily="34" charset="0"/>
                <a:cs typeface="Amiri" pitchFamily="2" charset="-78"/>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Kuwait</a:t>
            </a:r>
            <a:endParaRPr lang="en-US" sz="1350" dirty="0"/>
          </a:p>
          <a:p>
            <a:pPr indent="0" marL="0">
              <a:buNone/>
            </a:pPr>
            <a:r>
              <a:rPr lang="en-US" sz="1100" i="1" dirty="0">
                <a:solidFill>
                  <a:srgbClr val="5A6472"/>
                </a:solidFill>
                <a:latin typeface="Calibri" pitchFamily="34" charset="0"/>
                <a:cs typeface="Amiri" pitchFamily="2" charset="-78"/>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UAE</a:t>
            </a:r>
            <a:endParaRPr lang="en-US" sz="1350" dirty="0"/>
          </a:p>
          <a:p>
            <a:pPr indent="0" marL="0">
              <a:buNone/>
            </a:pPr>
            <a:r>
              <a:rPr lang="en-US" sz="1100" i="1" dirty="0">
                <a:solidFill>
                  <a:srgbClr val="5A6472"/>
                </a:solidFill>
                <a:latin typeface="Calibri" pitchFamily="34" charset="0"/>
                <a:cs typeface="Amiri" pitchFamily="2" charset="-78"/>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Qatar</a:t>
            </a:r>
            <a:endParaRPr lang="en-US" sz="1350" dirty="0"/>
          </a:p>
          <a:p>
            <a:pPr indent="0" marL="0">
              <a:buNone/>
            </a:pPr>
            <a:r>
              <a:rPr lang="en-US" sz="1100" i="1" dirty="0">
                <a:solidFill>
                  <a:srgbClr val="5A6472"/>
                </a:solidFill>
                <a:latin typeface="Calibri" pitchFamily="34" charset="0"/>
                <a:cs typeface="Amiri" pitchFamily="2" charset="-78"/>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Bahrain</a:t>
            </a:r>
            <a:endParaRPr lang="en-US" sz="1350" dirty="0"/>
          </a:p>
          <a:p>
            <a:pPr indent="0" marL="0">
              <a:buNone/>
            </a:pPr>
            <a:r>
              <a:rPr lang="en-US" sz="1100" i="1" dirty="0">
                <a:solidFill>
                  <a:srgbClr val="5A6472"/>
                </a:solidFill>
                <a:latin typeface="Calibri" pitchFamily="34" charset="0"/>
                <a:cs typeface="Amiri" pitchFamily="2" charset="-78"/>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Oman</a:t>
            </a:r>
            <a:endParaRPr lang="en-US" sz="1350" dirty="0"/>
          </a:p>
          <a:p>
            <a:pPr indent="0" marL="0">
              <a:buNone/>
            </a:pPr>
            <a:r>
              <a:rPr lang="en-US" sz="1100" i="1" dirty="0">
                <a:solidFill>
                  <a:srgbClr val="5A6472"/>
                </a:solidFill>
                <a:latin typeface="Calibri" pitchFamily="34" charset="0"/>
                <a:cs typeface="Amiri" pitchFamily="2" charset="-78"/>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Yemen</a:t>
            </a:r>
            <a:endParaRPr lang="en-US" sz="1350" dirty="0"/>
          </a:p>
          <a:p>
            <a:pPr indent="0" marL="0">
              <a:buNone/>
            </a:pPr>
            <a:r>
              <a:rPr lang="en-US" sz="1100" i="1" dirty="0">
                <a:solidFill>
                  <a:srgbClr val="5A6472"/>
                </a:solidFill>
                <a:latin typeface="Calibri" pitchFamily="34" charset="0"/>
                <a:cs typeface="Amiri" pitchFamily="2" charset="-78"/>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Libya</a:t>
            </a:r>
            <a:endParaRPr lang="en-US" sz="1350" dirty="0"/>
          </a:p>
          <a:p>
            <a:pPr indent="0" marL="0">
              <a:buNone/>
            </a:pPr>
            <a:r>
              <a:rPr lang="en-US" sz="1100" i="1" dirty="0">
                <a:solidFill>
                  <a:srgbClr val="5A6472"/>
                </a:solidFill>
                <a:latin typeface="Calibri" pitchFamily="34" charset="0"/>
                <a:cs typeface="Amiri" pitchFamily="2" charset="-78"/>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Tunisia</a:t>
            </a:r>
            <a:endParaRPr lang="en-US" sz="1350" dirty="0"/>
          </a:p>
          <a:p>
            <a:pPr indent="0" marL="0">
              <a:buNone/>
            </a:pPr>
            <a:r>
              <a:rPr lang="en-US" sz="1100" i="1" dirty="0">
                <a:solidFill>
                  <a:srgbClr val="5A6472"/>
                </a:solidFill>
                <a:latin typeface="Calibri" pitchFamily="34" charset="0"/>
                <a:cs typeface="Amiri" pitchFamily="2" charset="-78"/>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Algeria</a:t>
            </a:r>
            <a:endParaRPr lang="en-US" sz="1350" dirty="0"/>
          </a:p>
          <a:p>
            <a:pPr indent="0" marL="0">
              <a:buNone/>
            </a:pPr>
            <a:r>
              <a:rPr lang="en-US" sz="1100" i="1" dirty="0">
                <a:solidFill>
                  <a:srgbClr val="5A6472"/>
                </a:solidFill>
                <a:latin typeface="Calibri" pitchFamily="34" charset="0"/>
                <a:cs typeface="Amiri" pitchFamily="2" charset="-78"/>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Morocco</a:t>
            </a:r>
            <a:endParaRPr lang="en-US" sz="1350" dirty="0"/>
          </a:p>
          <a:p>
            <a:pPr indent="0" marL="0">
              <a:buNone/>
            </a:pPr>
            <a:r>
              <a:rPr lang="en-US" sz="1100" i="1" dirty="0">
                <a:solidFill>
                  <a:srgbClr val="5A6472"/>
                </a:solidFill>
                <a:latin typeface="Calibri" pitchFamily="34" charset="0"/>
                <a:cs typeface="Amiri" pitchFamily="2" charset="-78"/>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Mauritania</a:t>
            </a:r>
            <a:endParaRPr lang="en-US" sz="1350" dirty="0"/>
          </a:p>
          <a:p>
            <a:pPr indent="0" marL="0">
              <a:buNone/>
            </a:pPr>
            <a:r>
              <a:rPr lang="en-US" sz="1100" i="1" dirty="0">
                <a:solidFill>
                  <a:srgbClr val="5A6472"/>
                </a:solidFill>
                <a:latin typeface="Calibri" pitchFamily="34" charset="0"/>
                <a:cs typeface="Amiri" pitchFamily="2" charset="-78"/>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Sudan</a:t>
            </a:r>
            <a:endParaRPr lang="en-US" sz="1350" dirty="0"/>
          </a:p>
          <a:p>
            <a:pPr indent="0" marL="0">
              <a:buNone/>
            </a:pPr>
            <a:r>
              <a:rPr lang="en-US" sz="1100" i="1" dirty="0">
                <a:solidFill>
                  <a:srgbClr val="5A6472"/>
                </a:solidFill>
                <a:latin typeface="Calibri" pitchFamily="34" charset="0"/>
                <a:cs typeface="Amiri" pitchFamily="2" charset="-78"/>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Somalia</a:t>
            </a:r>
            <a:endParaRPr lang="en-US" sz="1350" dirty="0"/>
          </a:p>
          <a:p>
            <a:pPr indent="0" marL="0">
              <a:buNone/>
            </a:pPr>
            <a:r>
              <a:rPr lang="en-US" sz="1100" i="1" dirty="0">
                <a:solidFill>
                  <a:srgbClr val="5A6472"/>
                </a:solidFill>
                <a:latin typeface="Calibri" pitchFamily="34" charset="0"/>
                <a:cs typeface="Amiri" pitchFamily="2" charset="-78"/>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Djibouti</a:t>
            </a:r>
            <a:endParaRPr lang="en-US" sz="1350" dirty="0"/>
          </a:p>
          <a:p>
            <a:pPr indent="0" marL="0">
              <a:buNone/>
            </a:pPr>
            <a:r>
              <a:rPr lang="en-US" sz="1100" i="1" dirty="0">
                <a:solidFill>
                  <a:srgbClr val="5A6472"/>
                </a:solidFill>
                <a:latin typeface="Calibri" pitchFamily="34" charset="0"/>
                <a:cs typeface="Amiri" pitchFamily="2" charset="-78"/>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Comoros</a:t>
            </a:r>
            <a:endParaRPr lang="en-US" sz="1350" dirty="0"/>
          </a:p>
          <a:p>
            <a:pPr indent="0" marL="0">
              <a:buNone/>
            </a:pPr>
            <a:r>
              <a:rPr lang="en-US" sz="1100" i="1" dirty="0">
                <a:solidFill>
                  <a:srgbClr val="5A6472"/>
                </a:solidFill>
                <a:latin typeface="Calibri" pitchFamily="34" charset="0"/>
                <a:cs typeface="Amiri" pitchFamily="2" charset="-78"/>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Standard Arabic</a:t>
            </a:r>
            <a:endParaRPr lang="en-US" sz="1350" dirty="0"/>
          </a:p>
          <a:p>
            <a:pPr indent="0" marL="0">
              <a:buNone/>
            </a:pPr>
            <a:r>
              <a:rPr lang="en-US" sz="1100" i="1" dirty="0">
                <a:solidFill>
                  <a:srgbClr val="5A6472"/>
                </a:solidFill>
                <a:latin typeface="Calibri" pitchFamily="34" charset="0"/>
                <a:cs typeface="Amiri" pitchFamily="2" charset="-78"/>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dialects</a:t>
            </a:r>
            <a:endParaRPr lang="en-US" sz="1350" dirty="0"/>
          </a:p>
          <a:p>
            <a:pPr indent="0" marL="0">
              <a:buNone/>
            </a:pPr>
            <a:r>
              <a:rPr lang="en-US" sz="1100" i="1" dirty="0">
                <a:solidFill>
                  <a:srgbClr val="5A6472"/>
                </a:solidFill>
                <a:latin typeface="Calibri" pitchFamily="34" charset="0"/>
                <a:cs typeface="Amiri" pitchFamily="2" charset="-78"/>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Amazigh (Berber)</a:t>
            </a:r>
            <a:endParaRPr lang="en-US" sz="1350" dirty="0"/>
          </a:p>
          <a:p>
            <a:pPr indent="0" marL="0">
              <a:buNone/>
            </a:pPr>
            <a:r>
              <a:rPr lang="en-US" sz="1100" i="1" dirty="0">
                <a:solidFill>
                  <a:srgbClr val="5A6472"/>
                </a:solidFill>
                <a:latin typeface="Calibri" pitchFamily="34" charset="0"/>
                <a:cs typeface="Amiri" pitchFamily="2" charset="-78"/>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Kurdish</a:t>
            </a:r>
            <a:endParaRPr lang="en-US" sz="1350" dirty="0"/>
          </a:p>
          <a:p>
            <a:pPr indent="0" marL="0">
              <a:buNone/>
            </a:pPr>
            <a:r>
              <a:rPr lang="en-US" sz="1100" i="1" dirty="0">
                <a:solidFill>
                  <a:srgbClr val="5A6472"/>
                </a:solidFill>
                <a:latin typeface="Calibri" pitchFamily="34" charset="0"/>
                <a:cs typeface="Amiri" pitchFamily="2" charset="-78"/>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 identity</a:t>
            </a:r>
            <a:endParaRPr lang="en-US" sz="1350" dirty="0"/>
          </a:p>
          <a:p>
            <a:pPr indent="0" marL="0">
              <a:buNone/>
            </a:pPr>
            <a:r>
              <a:rPr lang="en-US" sz="1100" i="1" dirty="0">
                <a:solidFill>
                  <a:srgbClr val="5A6472"/>
                </a:solidFill>
                <a:latin typeface="Calibri" pitchFamily="34" charset="0"/>
                <a:cs typeface="Amiri" pitchFamily="2" charset="-78"/>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capital city</a:t>
            </a:r>
            <a:endParaRPr lang="en-US" sz="1350" dirty="0"/>
          </a:p>
          <a:p>
            <a:pPr indent="0" marL="0">
              <a:buNone/>
            </a:pPr>
            <a:r>
              <a:rPr lang="en-US" sz="1100" i="1" dirty="0">
                <a:solidFill>
                  <a:srgbClr val="5A6472"/>
                </a:solidFill>
                <a:latin typeface="Calibri" pitchFamily="34" charset="0"/>
                <a:cs typeface="Amiri" pitchFamily="2" charset="-78"/>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arose / arises</a:t>
            </a:r>
            <a:endParaRPr lang="en-US" sz="1350" dirty="0"/>
          </a:p>
          <a:p>
            <a:pPr indent="0" marL="0">
              <a:buNone/>
            </a:pPr>
            <a:r>
              <a:rPr lang="en-US" sz="1100" i="1" dirty="0">
                <a:solidFill>
                  <a:srgbClr val="5A6472"/>
                </a:solidFill>
                <a:latin typeface="Calibri" pitchFamily="34" charset="0"/>
                <a:cs typeface="Amiri" pitchFamily="2" charset="-78"/>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expanded / expands</a:t>
            </a:r>
            <a:endParaRPr lang="en-US" sz="1350" dirty="0"/>
          </a:p>
          <a:p>
            <a:pPr indent="0" marL="0">
              <a:buNone/>
            </a:pPr>
            <a:r>
              <a:rPr lang="en-US" sz="1100" i="1" dirty="0">
                <a:solidFill>
                  <a:srgbClr val="5A6472"/>
                </a:solidFill>
                <a:latin typeface="Calibri" pitchFamily="34" charset="0"/>
                <a:cs typeface="Amiri" pitchFamily="2" charset="-78"/>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is an adjective: it agrees — </a:t>
            </a:r>
            <a:pPr algn="l" indent="0" marL="0">
              <a:buNone/>
            </a:pPr>
            <a:r>
              <a:rPr lang="ar-SA" altLang="en-US" sz="1500" b="1" dirty="0">
                <a:solidFill>
                  <a:srgbClr val="1B3B6F"/>
                </a:solidFill>
                <a:latin typeface="Amiri" pitchFamily="2" charset="-78"/>
                <a:cs typeface="Amiri" pitchFamily="2" charset="-78"/>
              </a:rPr>
              <a:t>طَالِبٌ جَزَائِرِيٌّ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طَالِبَةٌ جَزَائِرِيَّةٌ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cs typeface="Amiri" pitchFamily="2" charset="-78"/>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country + </a:t>
            </a:r>
            <a:pPr algn="l" indent="0" marL="0">
              <a:buNone/>
            </a:pPr>
            <a:r>
              <a:rPr lang="ar-SA" altLang="en-US" sz="1350" dirty="0">
                <a:solidFill>
                  <a:srgbClr val="5A6472"/>
                </a:solidFill>
                <a:latin typeface="Amiri" pitchFamily="2" charset="-78"/>
                <a:cs typeface="Amiri" pitchFamily="2" charset="-78"/>
              </a:rPr>
              <a:t>ـِيٌّ</a:t>
            </a:r>
            <a:pPr algn="l" indent="0" marL="0">
              <a:buNone/>
            </a:pPr>
            <a:r>
              <a:rPr lang="en-US" sz="1050"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cs typeface="Amiri" pitchFamily="2" charset="-78"/>
              </a:rPr>
              <a:t>ـِيَّةٌ</a:t>
            </a:r>
            <a:pPr algn="l" indent="0" marL="0">
              <a:buNone/>
            </a:pPr>
            <a:r>
              <a:rPr lang="en-US" sz="1050" dirty="0">
                <a:solidFill>
                  <a:srgbClr val="5A6472"/>
                </a:solidFill>
                <a:latin typeface="Calibri" pitchFamily="34" charset="0"/>
                <a:cs typeface="Amiri" pitchFamily="2" charset="-78"/>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cs typeface="Amiri" pitchFamily="2" charset="-78"/>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adds tāʾ marbūṭa after the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لُبْنَان</a:t>
            </a:r>
            <a:pPr algn="l" indent="0" marL="0">
              <a:buNone/>
            </a:pPr>
            <a:r>
              <a:rPr lang="en-US" sz="1050" i="1" dirty="0">
                <a:solidFill>
                  <a:srgbClr val="8A6D1E"/>
                </a:solidFill>
                <a:latin typeface="Calibri" pitchFamily="34" charset="0"/>
                <a:cs typeface="Amiri" pitchFamily="2" charset="-78"/>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مَغْرِبِيٌّ</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cs typeface="Amiri" pitchFamily="2" charset="-78"/>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العَرَبِيَّةُ وَ</a:t>
            </a:r>
            <a:pPr rtl="1" algn="ctr" indent="0" marL="0">
              <a:buNone/>
            </a:pPr>
            <a:r>
              <a:rPr lang="ar-SA" altLang="en-US" sz="2550" b="1" dirty="0">
                <a:solidFill>
                  <a:srgbClr val="1D5FBF"/>
                </a:solidFill>
                <a:latin typeface="Amiri" pitchFamily="2" charset="-78"/>
                <a:cs typeface="Amiri" pitchFamily="2" charset="-78"/>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زُرْتُ </a:t>
            </a:r>
            <a:pPr rtl="1" algn="ctr" indent="0" marL="0">
              <a:buNone/>
            </a:pPr>
            <a:r>
              <a:rPr lang="ar-SA" altLang="en-US" sz="2800" b="1" dirty="0">
                <a:solidFill>
                  <a:srgbClr val="D6336C"/>
                </a:solidFill>
                <a:latin typeface="Amiri" pitchFamily="2" charset="-78"/>
                <a:cs typeface="Amiri" pitchFamily="2" charset="-78"/>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2" charset="-78"/>
                <a:cs typeface="Amiri" pitchFamily="2" charset="-78"/>
              </a:rPr>
              <a:t>مَغْرِبِيٌّ</a:t>
            </a:r>
            <a:pPr rtl="1" algn="r" indent="0" marL="0">
              <a:lnSpc>
                <a:spcPct val="120000"/>
              </a:lnSpc>
              <a:buNone/>
            </a:pPr>
            <a:r>
              <a:rPr lang="ar-SA" altLang="en-US" sz="1500" b="1" dirty="0">
                <a:solidFill>
                  <a:srgbClr val="1B3B6F"/>
                </a:solidFill>
                <a:latin typeface="Amiri" pitchFamily="2" charset="-78"/>
                <a:cs typeface="Amiri" pitchFamily="2" charset="-78"/>
              </a:rPr>
              <a:t> وَالطَّالِبَةُ </a:t>
            </a:r>
            <a:pPr rtl="1" algn="r" indent="0" marL="0">
              <a:lnSpc>
                <a:spcPct val="120000"/>
              </a:lnSpc>
              <a:buNone/>
            </a:pPr>
            <a:r>
              <a:rPr lang="ar-SA" altLang="en-US" sz="1500" b="1" dirty="0">
                <a:solidFill>
                  <a:srgbClr val="0E7C86"/>
                </a:solidFill>
                <a:latin typeface="Amiri" pitchFamily="2" charset="-78"/>
                <a:cs typeface="Amiri" pitchFamily="2" charset="-78"/>
              </a:rPr>
              <a:t>مَغْرِبِيَّةٌ</a:t>
            </a:r>
            <a:pPr rtl="1" algn="r" indent="0" marL="0">
              <a:lnSpc>
                <a:spcPct val="120000"/>
              </a:lnSpc>
              <a:buNone/>
            </a:pPr>
            <a:r>
              <a:rPr lang="ar-SA" altLang="en-US" sz="1500" b="1" dirty="0">
                <a:solidFill>
                  <a:srgbClr val="1B3B6F"/>
                </a:solidFill>
                <a:latin typeface="Amiri" pitchFamily="2" charset="-78"/>
                <a:cs typeface="Amiri" pitchFamily="2" charset="-78"/>
              </a:rPr>
              <a:t>. تُسْتَعْمَلُ فِيهِ العَرَبِيَّةُ وَ</a:t>
            </a:r>
            <a:pPr rtl="1" algn="r" indent="0" marL="0">
              <a:lnSpc>
                <a:spcPct val="120000"/>
              </a:lnSpc>
              <a:buNone/>
            </a:pPr>
            <a:r>
              <a:rPr lang="ar-SA" altLang="en-US" sz="1500" b="1" dirty="0">
                <a:solidFill>
                  <a:srgbClr val="1D5FBF"/>
                </a:solidFill>
                <a:latin typeface="Amiri" pitchFamily="2" charset="-78"/>
                <a:cs typeface="Amiri" pitchFamily="2" charset="-78"/>
              </a:rPr>
              <a:t>الأَمَازِيغِيَّةُ</a:t>
            </a:r>
            <a:pPr rtl="1" algn="r" indent="0" marL="0">
              <a:lnSpc>
                <a:spcPct val="120000"/>
              </a:lnSpc>
              <a:buNone/>
            </a:pPr>
            <a:r>
              <a:rPr lang="ar-SA" altLang="en-US" sz="1500" b="1" dirty="0">
                <a:solidFill>
                  <a:srgbClr val="1B3B6F"/>
                </a:solidFill>
                <a:latin typeface="Amiri" pitchFamily="2" charset="-78"/>
                <a:cs typeface="Amiri" pitchFamily="2" charset="-78"/>
              </a:rPr>
              <a:t>. وَقَدْ زُرْتُ </a:t>
            </a:r>
            <a:pPr rtl="1" algn="r" indent="0" marL="0">
              <a:lnSpc>
                <a:spcPct val="120000"/>
              </a:lnSpc>
              <a:buNone/>
            </a:pPr>
            <a:r>
              <a:rPr lang="ar-SA" altLang="en-US" sz="1500" b="1" dirty="0">
                <a:solidFill>
                  <a:srgbClr val="D6336C"/>
                </a:solidFill>
                <a:latin typeface="Amiri" pitchFamily="2" charset="-78"/>
                <a:cs typeface="Amiri" pitchFamily="2" charset="-78"/>
              </a:rPr>
              <a:t>مِصْرَ</a:t>
            </a:r>
            <a:pPr rtl="1" algn="r" indent="0" marL="0">
              <a:lnSpc>
                <a:spcPct val="120000"/>
              </a:lnSpc>
              <a:buNone/>
            </a:pPr>
            <a:r>
              <a:rPr lang="ar-SA" altLang="en-US" sz="1500" b="1" dirty="0">
                <a:solidFill>
                  <a:srgbClr val="1B3B6F"/>
                </a:solidFill>
                <a:latin typeface="Amiri" pitchFamily="2" charset="-78"/>
                <a:cs typeface="Amiri" pitchFamily="2" charset="-78"/>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Egypt → Egyptian (m.) / (f.)</a:t>
            </a:r>
            <a:endParaRPr lang="en-US" sz="1250" dirty="0"/>
          </a:p>
          <a:p>
            <a:pPr indent="0" marL="0">
              <a:buNone/>
            </a:pPr>
            <a:r>
              <a:rPr lang="en-US" sz="1050" i="1" dirty="0">
                <a:solidFill>
                  <a:srgbClr val="8A6D1E"/>
                </a:solidFill>
                <a:latin typeface="Calibri" pitchFamily="34" charset="0"/>
                <a:cs typeface="Amiri" pitchFamily="2" charset="-78"/>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from Lebanon</a:t>
            </a:r>
            <a:endParaRPr lang="en-US" sz="1250" dirty="0"/>
          </a:p>
          <a:p>
            <a:pPr indent="0" marL="0">
              <a:buNone/>
            </a:pPr>
            <a:r>
              <a:rPr lang="en-US" sz="1050" i="1" dirty="0">
                <a:solidFill>
                  <a:srgbClr val="8A6D1E"/>
                </a:solidFill>
                <a:latin typeface="Calibri" pitchFamily="34" charset="0"/>
                <a:cs typeface="Amiri" pitchFamily="2" charset="-78"/>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considered one of the most widespread languages</a:t>
            </a:r>
            <a:endParaRPr lang="en-US" sz="1250" dirty="0"/>
          </a:p>
          <a:p>
            <a:pPr indent="0" marL="0">
              <a:buNone/>
            </a:pPr>
            <a:r>
              <a:rPr lang="en-US" sz="1050" i="1" dirty="0">
                <a:solidFill>
                  <a:srgbClr val="8A6D1E"/>
                </a:solidFill>
                <a:latin typeface="Calibri" pitchFamily="34" charset="0"/>
                <a:cs typeface="Amiri" pitchFamily="2" charset="-78"/>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مِصْر</a:t>
            </a:r>
            <a:pPr algn="l" indent="0" marL="0">
              <a:buNone/>
            </a:pPr>
            <a:r>
              <a:rPr lang="en-US" sz="1050" i="1" dirty="0">
                <a:solidFill>
                  <a:srgbClr val="8A6D1E"/>
                </a:solidFill>
                <a:latin typeface="Calibri" pitchFamily="34" charset="0"/>
                <a:cs typeface="Amiri" pitchFamily="2" charset="-78"/>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الفُصْحَى</a:t>
            </a:r>
            <a:pPr algn="l" indent="0" marL="0">
              <a:buNone/>
            </a:pPr>
            <a:r>
              <a:rPr lang="en-US" sz="1250" dirty="0">
                <a:solidFill>
                  <a:srgbClr val="9AA1AB"/>
                </a:solidFill>
                <a:latin typeface="Calibri" pitchFamily="34" charset="0"/>
                <a:cs typeface="Amiri" pitchFamily="2" charset="-78"/>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الفُصْحَى</a:t>
            </a:r>
            <a:pPr algn="l" indent="0" marL="0">
              <a:buNone/>
            </a:pPr>
            <a:r>
              <a:rPr lang="en-US" sz="1150" b="1" dirty="0">
                <a:solidFill>
                  <a:srgbClr val="1F2A37"/>
                </a:solidFill>
                <a:latin typeface="Calibri" pitchFamily="34" charset="0"/>
                <a:cs typeface="Amiri" pitchFamily="2" charset="-78"/>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الفُصْحَى</a:t>
            </a:r>
            <a:pPr algn="l" indent="0" marL="0">
              <a:buNone/>
            </a:pPr>
            <a:r>
              <a:rPr lang="en-US" sz="1050" i="1" dirty="0">
                <a:solidFill>
                  <a:srgbClr val="8A6D1E"/>
                </a:solidFill>
                <a:latin typeface="Calibri" pitchFamily="34" charset="0"/>
                <a:cs typeface="Amiri" pitchFamily="2" charset="-78"/>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لُبْنَان</a:t>
            </a:r>
            <a:pPr algn="l" indent="0" marL="0">
              <a:buNone/>
            </a:pPr>
            <a:r>
              <a:rPr lang="en-US" sz="1150" b="1" dirty="0">
                <a:solidFill>
                  <a:srgbClr val="1B3B6F"/>
                </a:solidFill>
                <a:latin typeface="Calibri" pitchFamily="34" charset="0"/>
                <a:cs typeface="Amiri" pitchFamily="2" charset="-78"/>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اِخْتَرْ دَوْلَةً عَرَبِيَّةً. مَا عَاصِمَتُهَا؟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لُغَاتٍ تُسْتَعْمَلُ هُنَاكَ إِلَى جَانِبِ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الفُصْحَى وَاللَّهَجَاتِ؟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cs typeface="Amiri" pitchFamily="2" charset="-78"/>
              </a:rPr>
              <a:t>أَخْتَارُ ___ . عَاصِمَتُهَا ___ ، وَالطَّالِبُ مِنْهَا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تُسْتَعْمَلُ ___ إِلَى جَانِبِ العَرَبِيَّةِ فِي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نَكْتُبُ بِالفُصْحَى، وَلٰكِنْ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اِخْتَرْ دَوْلَةً عَرَبِيَّةً وَتَحَدَّثْ عَنْهَا.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Choose an Arab country and talk about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أَخْتَارُ المَغْرِبَ. عَاصِمَتُهُ الرِّبَاطُ، وَأَهْلُهُ مَغَارِبَةٌ، وَالوَاحِدُ مِنْهُمْ مَغْرِبِيٌّ.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choose Morocco. Its capital is Rabat, its people are Moroccans, and one of them is a Moroccan.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diptotes have no tanwīn (</a:t>
            </a:r>
            <a:pPr algn="l" indent="0" marL="0">
              <a:buNone/>
            </a:pPr>
            <a:r>
              <a:rPr lang="ar-SA" altLang="en-US" sz="1700" dirty="0">
                <a:solidFill>
                  <a:srgbClr val="1F2A37"/>
                </a:solidFill>
                <a:latin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تُونُس</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cs typeface="Amiri" pitchFamily="2" charset="-78"/>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nisba is </a:t>
            </a:r>
            <a:pPr algn="l" indent="0" marL="0">
              <a:buNone/>
            </a:pPr>
            <a:r>
              <a:rPr lang="ar-SA" altLang="en-US" sz="1350" dirty="0">
                <a:solidFill>
                  <a:srgbClr val="8A6D1E"/>
                </a:solidFill>
                <a:latin typeface="Amiri" pitchFamily="2" charset="-78"/>
                <a:cs typeface="Amiri" pitchFamily="2" charset="-78"/>
              </a:rPr>
              <a:t>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tāʾ marbūṭa after the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قَطَر</a:t>
            </a:r>
            <a:pPr algn="l" indent="0" marL="0">
              <a:buNone/>
            </a:pPr>
            <a:r>
              <a:rPr lang="en-US" sz="1050" i="1" dirty="0">
                <a:solidFill>
                  <a:srgbClr val="8A6D1E"/>
                </a:solidFill>
                <a:latin typeface="Calibri" pitchFamily="34" charset="0"/>
                <a:cs typeface="Amiri" pitchFamily="2" charset="-78"/>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الرِّبَاطُ</a:t>
            </a:r>
            <a:pPr algn="l" indent="0" marL="0">
              <a:buNone/>
            </a:pPr>
            <a:r>
              <a:rPr lang="en-US" sz="1050" i="1" dirty="0">
                <a:solidFill>
                  <a:srgbClr val="8A6D1E"/>
                </a:solidFill>
                <a:latin typeface="Calibri" pitchFamily="34" charset="0"/>
                <a:cs typeface="Amiri" pitchFamily="2" charset="-78"/>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الصُّومَال</a:t>
            </a:r>
            <a:pPr algn="l" indent="0" marL="0">
              <a:buNone/>
            </a:pPr>
            <a:r>
              <a:rPr lang="en-US" sz="1050" i="1" dirty="0">
                <a:solidFill>
                  <a:srgbClr val="8A6D1E"/>
                </a:solidFill>
                <a:latin typeface="Calibri" pitchFamily="34" charset="0"/>
                <a:cs typeface="Amiri" pitchFamily="2" charset="-78"/>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D6-L02 · Cultural Customs — Traditions, Greetings and Social Norms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custom</a:t>
            </a:r>
            <a:pPr indent="0" marL="0">
              <a:buNone/>
            </a:pPr>
            <a:r>
              <a:rPr lang="en-US" sz="1000" i="1" dirty="0">
                <a:solidFill>
                  <a:srgbClr val="5A6472"/>
                </a:solidFill>
                <a:latin typeface="Calibri" pitchFamily="34" charset="0"/>
                <a:cs typeface="Amiri" pitchFamily="2" charset="-78"/>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tradition</a:t>
            </a:r>
            <a:pPr indent="0" marL="0">
              <a:buNone/>
            </a:pPr>
            <a:r>
              <a:rPr lang="en-US" sz="1000" i="1" dirty="0">
                <a:solidFill>
                  <a:srgbClr val="5A6472"/>
                </a:solidFill>
                <a:latin typeface="Calibri" pitchFamily="34" charset="0"/>
                <a:cs typeface="Amiri" pitchFamily="2" charset="-78"/>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 for elders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celebrates</a:t>
            </a:r>
            <a:pPr indent="0" marL="0">
              <a:buNone/>
            </a:pPr>
            <a:r>
              <a:rPr lang="en-US" sz="1000" i="1" dirty="0">
                <a:solidFill>
                  <a:srgbClr val="5A6472"/>
                </a:solidFill>
                <a:latin typeface="Calibri" pitchFamily="34" charset="0"/>
                <a:cs typeface="Amiri" pitchFamily="2" charset="-78"/>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D6-L02 · Cultural Customs — Traditions, Greetings and Social Norms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العَادَاتُ الثَّقَافِيَّةُ — التَّقَالِيدُ وَالتَّحِيَّاتُ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country + -iyy (he) / -iyya (she) — no tanwīn on </a:t>
            </a:r>
            <a:pPr algn="l" indent="0" marL="0">
              <a:buNone/>
            </a:pPr>
            <a:r>
              <a:rPr lang="ar-SA" altLang="en-US" sz="1700" b="1" dirty="0">
                <a:solidFill>
                  <a:srgbClr val="FFFFFF"/>
                </a:solidFill>
                <a:latin typeface="Amiri" pitchFamily="2" charset="-78"/>
                <a:cs typeface="Amiri" pitchFamily="2" charset="-78"/>
              </a:rPr>
              <a:t>مِصْرَ</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لُبْنَانَ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قَطَرَ</a:t>
            </a:r>
            <a:pPr algn="l" indent="0" marL="0">
              <a:buNone/>
            </a:pPr>
            <a:r>
              <a:rPr lang="en-US" sz="1300" b="1" dirty="0">
                <a:solidFill>
                  <a:srgbClr val="FFFFFF"/>
                </a:solidFill>
                <a:latin typeface="Calibri" pitchFamily="34" charset="0"/>
                <a:cs typeface="Amiri" pitchFamily="2" charset="-78"/>
              </a:rPr>
              <a:t> — and Arabic is shared, but not the only language.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D6-L01 · Countries, Nationalities and Languages of the Arab World</dc:title>
  <dc:subject>PptxGenJS Presentation</dc:subject>
  <dc:creator>Al Madina Online School · Arabic Department</dc:creator>
  <cp:lastModifiedBy>Al Madina Online School · Arabic Department</cp:lastModifiedBy>
  <cp:revision>1</cp:revision>
  <dcterms:created xsi:type="dcterms:W3CDTF">2026-10-11T06:41:05Z</dcterms:created>
  <dcterms:modified xsi:type="dcterms:W3CDTF">2026-10-11T06:41:05Z</dcterms:modified>
</cp:coreProperties>
</file>