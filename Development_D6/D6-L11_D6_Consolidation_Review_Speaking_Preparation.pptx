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D6 Countries, Cultures and Celebrations › D6-L11. The website lesson “D6 Consolidation — Complete Review and Speaking Preparation”: vocabulary, grammar rules and quiz, patterns, common mistakes, sorter, listening, reading, speaking prompts and model, writing task and model, differentiation, final check and the lesson mission. Picture match: website visual game “D6 Consolidation — Complete Review and Speaking Preparation”.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answer four cultural questions aloud with the frames, each verb with its preposition. Develop: add a reason (لِأَنَّ) and one qualifier to every answer. Stretch: a full topic answer across three tenses with a supported opinion and no overgeneralisation — then the website ~80-word self-review.
• This is the speaking rehearsal for the D6-L12 assessment (topic conversation on ثَقَافَتِي وَهُوِيَّتِي). Run the checklist ALOUD: mirror the tense → fix the preposition → add a reason → qualify the claim.
• Fairness and adab: كُلُّ العَرَبِ / كُلُّ المُسْلِمِينَ … is inaccurate as well as unkind to real diversity. One extra second (فِي بَعْضِ البُلْدَانِ) keeps statements true. Collect each student’s “one priority” for L12.
• TEACHER-WRITTEN ITEMS: one English quiz option replaced with Arabic, the English-description mistake replaced with an Arabic tense slip, and English added to the patterns and speaking model; the website visual game repeats D6-L02 and is skipped.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D6-L10. Questions 4–5 retrieve D6-L10 (hedges · كَانَ + present).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Mirror the tense → fix the preposition → add a reason → qualify the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مثال، علم، عام are shared — عام in Urdu means “common, general”, the root of Arabic أُعَمِّمُ (I generalise). CAREFUL: Urdu عبارت = a passage of text; Arabic بِعِبَارَةٍ أُخْرَى = in other words (a phrase).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Speaking with control (website vocabulary (1 of 2)). Hear → Say → See → Use. Transliteration is printed for Core students (cover it for Develop/Stretch).
Speaking with control: phrases that buy time (دَعْنِي أُفَكِّرُ), extend (عَلَى سَبِيلِ المِثَالِ), rephrase (بِعِبَارَةٍ أُخْرَى) and repair (عَفْوًا، أَقْصِدُ) — all in Arabic, never in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Speaking with control (website vocabulary (2 of 2)). Hear → Say → See → Use. Transliteration is printed for Core students (cover it for Develop/Stretch).
Speaking with control: phrases that buy time (دَعْنِي أُفَكِّرُ), extend (عَلَى سَبِيلِ المِثَالِ), rephrase (بِعِبَارَةٍ أُخْرَى) and repair (عَفْوًا، أَقْصِدُ) — all in Arabic, never in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D6 spine to reuse (website vocabulary (1 of 2)). Hear → Say → See → Use. Transliteration is printed for Core students (cover it for Develop/Stretch).
FLEX: teach if time allows; otherwise these are on the website vocabulary tab for homework.
The D6 spine to reuse (FLEX — revision of L02–L09): every cultural verb with its fixed preposition, the cultural passives, and the opinion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D6 spine to reuse (website vocabulary (2 of 2)). Hear → Say → See → Use. Transliteration is printed for Core students (cover it for Develop/Stretch).
FLEX: teach if time allows; otherwise these are on the website vocabulary tab for homework.
The D6 spine to reuse (FLEX — revision of L02–L09): every cultural verb with its fixed preposition, the cultural passives, and the opinion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Qualifying in real time (website vocabulary (1 of 2)). Hear → Say → See → Use. Transliteration is printed for Core students (cover it for Develop/Stretch).
Qualifying in real time: each phrase keeps a cultural statement accurate. Build it INTO the sentence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Qualifying in real time (website vocabulary (2 of 2)). Hear → Say → See → Use. Transliteration is printed for Core students (cover it for Develop/Stretch).
Qualifying in real time: each phrase keeps a cultural statement accurate. Build it INTO the sentence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“Mirror the tense of the question” (past question → past answer) and “Cultural verb plus preposition” (say the verb and the preposition as one unit so the pair never comes apart under pressure).
Drill: teacher says the verb, class answers with the preposition — يَحْتَفِلُ → بِـ · يَنْتَمِي → إِلَى · يَتَكَيَّفُ → مَعَ · يَحْتَفِظُ → بِـ · يَعْتَزُّ → بِـ · يَطْمَحُ → إِلَى.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“Extend with a reason or an example” (a bare answer scores little; one extension turns it into a response) and “Qualify as you speak” (a qualifier keeps a cultural statement accurate and shows control of register).
Website teaching points: “Hedge while you speak, not afterwards.” · “One accurate cultural verb beats three careless ones — examiners hear the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“A checklist you can run while speaking: mirror the tense, fix the preposition, add a reason, qualify the claim.”
• Mirror the tense of the question: If the examiner asks with a past verb, answer with one. Switching to the present is the commonest avoidance pattern.
• Cultural verb plus preposition: Say the verb and the preposition as one unit so the pair never comes apart under pressure.
• Extend with a reason or an example: A bare answer scores little; one extension turns it into a response.
• Qualify as you speak: A qualifier keeps a cultural statement accurate and shows control of register.
Website common error: Overstating a cultural claim while speaking. Saying كُلُّ العَرَبِ is both inaccurate and avoidable; فِي بَعْضِ البُلْدَانِ costs one extra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listening (the candidate). Model the repair on purpose: start with the present passive تُزَيَّنُ, stop, and self-correct to the past زُيِّنَتْ with عَفْوًا، أَقْصِدُ. Students hear that a repair in Arabic is a strength, not a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build one full answer: one card from each column, in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build one full answer: one card from each column, in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 and note her time-buying, repair and qualifying phrases.
Listen 1: just listen. Listen 2: note answers. Then chat the letters.
Support: after the second listening, show the read-along slide (Arabic + English, line by line) for Core students.
SCRIPT (read aloud):
المُمْتَحِنُ: صِفْ مُنَاسَبَةً ثَقَافِيَّةً مَرَرْتَ بِهَا. الطَّالِبَةُ: دَعْنِي أُفَكِّرُ. فِي العَامِ المَاضِي حَضَرْتُ حَفْلًا فِي المَرْكَزِ الثَّقَافِيِّ، وَتُزَيَّنُ القَاعَةُ عَادَةً بِالأَعْلَامِ وَالفَوَانِيسِ. عَفْوًا، أَقْصِدُ أَنَّهَا زُيِّنَتْ فِي ذٰلِكَ اليَوْمِ. المُمْتَحِنُ: وَهَلْ يَحْتَفِلُ كُلُّ النَّاسِ بِالطَّرِيقَةِ نَفْسِهَا؟ الطَّالِبَةُ: عَلَى حَدِّ عِلْمِي لَا؛ فَفِي بَعْضِ البُلْدَانِ تَخْتَلِفُ العَادَاتُ، وَلَيْسَ دَائِمًا يَتَشَابَهُ الاحْتِفَالُ. المُمْتَحِنُ: وَمَا أَهَمِّيَّةُ اللُّغَةِ العَرَبِيَّةِ فِي حَيَاتِكِ؟ الطَّالِبَةُ: لَا يُمْكِنُ إِنْكَارُ أَنَّ اللُّغَةَ جُزْءٌ مِنَ الهُوِيَّةِ، وَأَعْتَزُّ بِهَا، وَسَأُوَاصِلُ تَعَلُّمَهَا.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وَهَلْ يَحْتَفِلُ الجَمِيعُ بِالطَّرِيقَةِ نَفْسِهَا؟ (And does everyone celebrate the same way?)
B: عَلَى حَدِّ عِلْمِي لَا؛ فَفِي بَعْضِ البُلْدَانِ تَخْتَلِفُ العَادَاتُ، وَلَا يُمْكِنُ إِنْكَارُ أَنَّ التَّنَوُّعَ ثَرْوَةٌ. (As far as I know, no — in some countries customs differ, and it cannot be denied that diversity is a richness.)
Website prompts and model: a full topic-conversation rehearsal. Pairs swap roles (examiner / candidate); the examiner ticks: tense mirrored · preposition · reason · qualifier. To a girl: تُرِيدِينَ · مَرَرْتِ · حَيَاتِكِ.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Answer four cultural questions aloud using the sentence frames, each with the right preposition. · Develop — Add a reason to each answer and one qualifier. · Stretch — Deliver a full topic answer across three tenses with a supported opinion and no overgeneralisation.
Website writing task (Stretch): Write about eighty words reviewing your own D6 progress. Say what you found difficult, what you practised, how you improved, and what you will focus on next.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كُنْتُ أُخْطِئُ · كُنْتُ أُعَمِّمُ · تَدَرَّبْتُ · صَارَا · نَحْتَفِلُ بِالعِيدِ · فِي بَعْضِ البُلْدَانِ · عَلَى حَدِّ عِلْمِي · عَلَى الرَّغْمِ مِنْ ذٰلِكَ · سَأُرَكِّزُ · أَطْمَحُ إِلَى أَنْ أَتَحَدَّثَ.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(D6-L12 · D6 Review and Unit Assessment) will spend class time USING this language, so students prepare it tonight — short, simple, easy to access (school guidance: “Simple, Short, Interesting, Relevant, Easy to access”). The five words prepare students for the D6-L12 assessment (its four parts and checking).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D6  ·  D6-L11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D6-L11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D6 Consolidation — Complete Review and Speaking Preparation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تَرْسِيخُ الوَحْدَةِ — مُرَاجَعَةٌ شَامِلَةٌ وَإِعْدَادُ التَّحَدُّثِ</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Hold a fluent topic conversation on culture and identity under pressure: mirror the tense of the question (</a:t>
            </a:r>
            <a:pPr algn="l" indent="0" marL="0">
              <a:buNone/>
            </a:pPr>
            <a:r>
              <a:rPr lang="ar-SA" altLang="en-US" sz="1800" dirty="0">
                <a:solidFill>
                  <a:srgbClr val="C6D2E6"/>
                </a:solidFill>
                <a:latin typeface="Amiri" pitchFamily="2" charset="-78"/>
                <a:cs typeface="Amiri" pitchFamily="2" charset="-78"/>
              </a:rPr>
              <a:t>مَرَرْتَ بِهَا</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حَضَرْتُ</a:t>
            </a:r>
            <a:pPr algn="l" indent="0" marL="0">
              <a:buNone/>
            </a:pPr>
            <a:r>
              <a:rPr lang="en-US" sz="1400" dirty="0">
                <a:solidFill>
                  <a:srgbClr val="C6D2E6"/>
                </a:solidFill>
                <a:latin typeface="Calibri" pitchFamily="34" charset="0"/>
                <a:cs typeface="Amiri" pitchFamily="2" charset="-78"/>
              </a:rPr>
              <a:t>), say verb + preposition as one unit (</a:t>
            </a:r>
            <a:pPr algn="l" indent="0" marL="0">
              <a:buNone/>
            </a:pPr>
            <a:r>
              <a:rPr lang="ar-SA" altLang="en-US" sz="1800" dirty="0">
                <a:solidFill>
                  <a:srgbClr val="C6D2E6"/>
                </a:solidFill>
                <a:latin typeface="Amiri" pitchFamily="2" charset="-78"/>
                <a:cs typeface="Amiri" pitchFamily="2" charset="-78"/>
              </a:rPr>
              <a:t>نَحْتَفِلُ بِـ</a:t>
            </a:r>
            <a:pPr algn="l" indent="0" marL="0">
              <a:buNone/>
            </a:pPr>
            <a:r>
              <a:rPr lang="en-US" sz="1400" dirty="0">
                <a:solidFill>
                  <a:srgbClr val="C6D2E6"/>
                </a:solidFill>
                <a:latin typeface="Calibri" pitchFamily="34" charset="0"/>
                <a:cs typeface="Amiri" pitchFamily="2" charset="-78"/>
              </a:rPr>
              <a:t>), add a reason (</a:t>
            </a:r>
            <a:pPr algn="l" indent="0" marL="0">
              <a:buNone/>
            </a:pPr>
            <a:r>
              <a:rPr lang="ar-SA" altLang="en-US" sz="1800" dirty="0">
                <a:solidFill>
                  <a:srgbClr val="C6D2E6"/>
                </a:solidFill>
                <a:latin typeface="Amiri" pitchFamily="2" charset="-78"/>
                <a:cs typeface="Amiri" pitchFamily="2" charset="-78"/>
              </a:rPr>
              <a:t>لِأَنَّ</a:t>
            </a:r>
            <a:pPr algn="l" indent="0" marL="0">
              <a:buNone/>
            </a:pPr>
            <a:r>
              <a:rPr lang="en-US" sz="1400" dirty="0">
                <a:solidFill>
                  <a:srgbClr val="C6D2E6"/>
                </a:solidFill>
                <a:latin typeface="Calibri" pitchFamily="34" charset="0"/>
                <a:cs typeface="Amiri" pitchFamily="2" charset="-78"/>
              </a:rPr>
              <a:t> …) — and qualify as you speak (</a:t>
            </a:r>
            <a:pPr algn="l" indent="0" marL="0">
              <a:buNone/>
            </a:pPr>
            <a:r>
              <a:rPr lang="ar-SA" altLang="en-US" sz="1800" dirty="0">
                <a:solidFill>
                  <a:srgbClr val="C6D2E6"/>
                </a:solidFill>
                <a:latin typeface="Amiri" pitchFamily="2" charset="-78"/>
                <a:cs typeface="Amiri" pitchFamily="2" charset="-78"/>
              </a:rPr>
              <a:t>فِي بَعْضِ البُلْدَانِ</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عَلَى حَدِّ عِلْمِي</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D6-L11 · Development D6 · Countries, Cultures and Celebrations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D6 › D6-L11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Mirror, fix, extend, qualify — while speaking.</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answer / extend / qualify, fix three slips, then hear a candidate.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D6-L12.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الطَّلَاقَةُ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accuracy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fluency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hesitation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عَلَى حَدِّ عِلْمِي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far as I know</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my opinion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example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لَا أُعَمِّمُ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do not know</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do not agree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do not generalise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speaker says </a:t>
            </a:r>
            <a:pPr algn="l" indent="0" marL="0">
              <a:buNone/>
            </a:pPr>
            <a:r>
              <a:rPr lang="ar-SA" altLang="en-US" sz="1650" b="1" dirty="0">
                <a:solidFill>
                  <a:srgbClr val="1B3B6F"/>
                </a:solidFill>
                <a:latin typeface="Amiri" pitchFamily="2" charset="-78"/>
                <a:cs typeface="Amiri" pitchFamily="2" charset="-78"/>
              </a:rPr>
              <a:t>فِي بَعْضِ العَائِلَاتِ</a:t>
            </a:r>
            <a:pPr algn="l" indent="0" marL="0">
              <a:buNone/>
            </a:pPr>
            <a:r>
              <a:rPr lang="en-US" sz="1250" b="1" dirty="0">
                <a:solidFill>
                  <a:srgbClr val="1B3B6F"/>
                </a:solidFill>
                <a:latin typeface="Calibri" pitchFamily="34" charset="0"/>
                <a:cs typeface="Amiri" pitchFamily="2" charset="-78"/>
              </a:rPr>
              <a:t>. Which option is wrong?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Some families do this.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varies between families.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 families do this.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كَانَتْ جَدَّتِي تُعِدُّ الحَلْوَى</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grandmother used to make the sweets.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grandmother made the sweets once.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grandmother will make the sweets.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الطَّلَاقَةُ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accuracy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fluency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hesitation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(D6-L10).</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عَلَى حَدِّ عِلْمِي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as far as I know</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my opinion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 example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(D6-L10).</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لَا أُعَمِّمُ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do not know</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do not agree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do not generalise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(D6-L10).</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speaker says </a:t>
            </a:r>
            <a:pPr algn="l" indent="0" marL="0">
              <a:buNone/>
            </a:pPr>
            <a:r>
              <a:rPr lang="ar-SA" altLang="en-US" sz="1650" b="1" dirty="0">
                <a:solidFill>
                  <a:srgbClr val="1B3B6F"/>
                </a:solidFill>
                <a:latin typeface="Amiri" pitchFamily="2" charset="-78"/>
                <a:cs typeface="Amiri" pitchFamily="2" charset="-78"/>
              </a:rPr>
              <a:t>فِي بَعْضِ العَائِلَاتِ</a:t>
            </a:r>
            <a:pPr algn="l" indent="0" marL="0">
              <a:buNone/>
            </a:pPr>
            <a:r>
              <a:rPr lang="en-US" sz="1250" b="1" dirty="0">
                <a:solidFill>
                  <a:srgbClr val="1B3B6F"/>
                </a:solidFill>
                <a:latin typeface="Calibri" pitchFamily="34" charset="0"/>
                <a:cs typeface="Amiri" pitchFamily="2" charset="-78"/>
              </a:rPr>
              <a:t>. Which option is wrong?</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Some families do this.</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varies between families.</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All families do this.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D6-L10: a hedge narrows the claim.</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كَانَتْ جَدَّتِي تُعِدُّ الحَلْوَى</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My grandmother used to make the sweets.</a:t>
            </a:r>
            <a:endParaRPr lang="en-US" sz="11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cs typeface="Amiri" pitchFamily="2" charset="-78"/>
              </a:rPr>
              <a:t>My grandmother made the sweets once.</a:t>
            </a:r>
            <a:endParaRPr lang="en-US" sz="12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My grandmother will make the sweets.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D6-L10: </a:t>
            </a:r>
            <a:pPr algn="l" indent="0" marL="0">
              <a:buNone/>
            </a:pPr>
            <a:r>
              <a:rPr lang="ar-SA" altLang="en-US" sz="1350" dirty="0">
                <a:solidFill>
                  <a:srgbClr val="8A6D1E"/>
                </a:solidFill>
                <a:latin typeface="Amiri" pitchFamily="2" charset="-78"/>
                <a:cs typeface="Amiri" pitchFamily="2" charset="-78"/>
              </a:rPr>
              <a:t>كَانَ</a:t>
            </a:r>
            <a:pPr algn="l" indent="0" marL="0">
              <a:buNone/>
            </a:pPr>
            <a:r>
              <a:rPr lang="en-US" sz="1050" i="1" dirty="0">
                <a:solidFill>
                  <a:srgbClr val="8A6D1E"/>
                </a:solidFill>
                <a:latin typeface="Calibri" pitchFamily="34" charset="0"/>
                <a:cs typeface="Amiri" pitchFamily="2" charset="-78"/>
              </a:rPr>
              <a:t> + present = past habit.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Mirror the tense → fix the preposition → add a reason → qualify the claim.</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2" charset="-78"/>
                <a:cs typeface="Amiri" pitchFamily="2" charset="-78"/>
              </a:rPr>
              <a:t>حَضَرْتُ</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cs typeface="Amiri" pitchFamily="2" charset="-78"/>
              </a:rPr>
              <a:t>نَحْتَفِلُ بِـ</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1D5FBF"/>
                </a:solidFill>
                <a:latin typeface="Amiri" pitchFamily="2" charset="-78"/>
                <a:cs typeface="Amiri" pitchFamily="2" charset="-78"/>
              </a:rPr>
              <a:t>لِأَنَّ</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0E7C86"/>
                </a:solidFill>
                <a:latin typeface="Amiri" pitchFamily="2" charset="-78"/>
                <a:cs typeface="Amiri" pitchFamily="2" charset="-78"/>
              </a:rPr>
              <a:t>فِي بَعْضِ البُلْدَانِ</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Sustain a topic conversation on culture and identity.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cultural verbs, three tenses and an opinion while speaking.</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Qualify a cultural claim in real time.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my own priority before the final assessment.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answer in the tense the question uses.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each cultural verb with its preposition.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add a reason or an example to every answer.</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qualify one claim (</a:t>
            </a:r>
            <a:pPr algn="l" indent="0" marL="0">
              <a:buNone/>
            </a:pPr>
            <a:r>
              <a:rPr lang="ar-SA" altLang="en-US" sz="1700" b="1" dirty="0">
                <a:solidFill>
                  <a:srgbClr val="C9780A"/>
                </a:solidFill>
                <a:latin typeface="Amiri" pitchFamily="2" charset="-78"/>
                <a:cs typeface="Amiri" pitchFamily="2" charset="-78"/>
              </a:rPr>
              <a:t>فِي بَعْضِ</a:t>
            </a:r>
            <a:pPr algn="l" indent="0" marL="0">
              <a:buNone/>
            </a:pPr>
            <a:r>
              <a:rPr lang="en-US" sz="1300" b="1" dirty="0">
                <a:solidFill>
                  <a:srgbClr val="C9780A"/>
                </a:solidFill>
                <a:latin typeface="Calibri" pitchFamily="34" charset="0"/>
                <a:cs typeface="Amiri" pitchFamily="2" charset="-78"/>
              </a:rPr>
              <a:t> …).</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give a full answer across three tenses with a supported opinion.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name my own priority for the assessment.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Speaking with control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The D6 spine to reuse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Qualifying in real time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تَقْيِيمٌ</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‎تقییم / قدر‎ </a:t>
            </a:r>
            <a:pPr indent="0" marL="0">
              <a:buNone/>
            </a:pPr>
            <a:r>
              <a:rPr lang="en-US" sz="950" b="1" dirty="0">
                <a:solidFill>
                  <a:srgbClr val="2E8B57"/>
                </a:solidFill>
                <a:latin typeface="Calibri" pitchFamily="34" charset="0"/>
                <a:cs typeface="Amiri" pitchFamily="2" charset="-78"/>
              </a:rPr>
              <a:t> qadr · assessment, evaluation (قِيمَةٌ = value)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مِثَالٌ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‎مثال‎ </a:t>
            </a:r>
            <a:pPr indent="0" marL="0">
              <a:buNone/>
            </a:pPr>
            <a:r>
              <a:rPr lang="en-US" sz="950" b="1" dirty="0">
                <a:solidFill>
                  <a:srgbClr val="2E8B57"/>
                </a:solidFill>
                <a:latin typeface="Calibri" pitchFamily="34" charset="0"/>
                <a:cs typeface="Amiri" pitchFamily="2" charset="-78"/>
              </a:rPr>
              <a:t> misāl · example (same word)</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عِلْمٌ</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‎علم‎ </a:t>
            </a:r>
            <a:pPr indent="0" marL="0">
              <a:buNone/>
            </a:pPr>
            <a:r>
              <a:rPr lang="en-US" sz="950" b="1" dirty="0">
                <a:solidFill>
                  <a:srgbClr val="2E8B57"/>
                </a:solidFill>
                <a:latin typeface="Calibri" pitchFamily="34" charset="0"/>
                <a:cs typeface="Amiri" pitchFamily="2" charset="-78"/>
              </a:rPr>
              <a:t> ʿilm · knowledge (عَلَى حَدِّ عِلْمِي = as far as I know)</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عِبَارَةٌ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‎عبارت‎ </a:t>
            </a:r>
            <a:pPr indent="0" marL="0">
              <a:buNone/>
            </a:pPr>
            <a:r>
              <a:rPr lang="en-US" sz="950" b="1" dirty="0">
                <a:solidFill>
                  <a:srgbClr val="2E8B57"/>
                </a:solidFill>
                <a:latin typeface="Calibri" pitchFamily="34" charset="0"/>
                <a:cs typeface="Amiri" pitchFamily="2" charset="-78"/>
              </a:rPr>
              <a:t> ʿibārat · Urdu: a written passage · Arabic: a phrase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عَامٌّ / تَعْمِيمٌ</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‎عام‎ </a:t>
            </a:r>
            <a:pPr indent="0" marL="0">
              <a:buNone/>
            </a:pPr>
            <a:r>
              <a:rPr lang="en-US" sz="950" b="1" dirty="0">
                <a:solidFill>
                  <a:srgbClr val="2E8B57"/>
                </a:solidFill>
                <a:latin typeface="Calibri" pitchFamily="34" charset="0"/>
                <a:cs typeface="Amiri" pitchFamily="2" charset="-78"/>
              </a:rPr>
              <a:t> ʿām · general (لَا أُعَمِّمُ = I do not generalise)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with control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مُرَاجَعَةٌ نِهَائِيَّةٌ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final review</a:t>
            </a:r>
            <a:endParaRPr lang="en-US" sz="1350" dirty="0"/>
          </a:p>
          <a:p>
            <a:pPr indent="0" marL="0">
              <a:buNone/>
            </a:pPr>
            <a:r>
              <a:rPr lang="en-US" sz="1100" i="1" dirty="0">
                <a:solidFill>
                  <a:srgbClr val="5A6472"/>
                </a:solidFill>
                <a:latin typeface="Calibri" pitchFamily="34" charset="0"/>
                <a:cs typeface="Amiri" pitchFamily="2" charset="-78"/>
              </a:rPr>
              <a:t>mu-rā-ja-ʿa-tun ni-hā-ʾiy-ya-tun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تَقْيِيمٌ ذَاتِيٌّ</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self-assessment</a:t>
            </a:r>
            <a:endParaRPr lang="en-US" sz="1350" dirty="0"/>
          </a:p>
          <a:p>
            <a:pPr indent="0" marL="0">
              <a:buNone/>
            </a:pPr>
            <a:r>
              <a:rPr lang="en-US" sz="1100" i="1" dirty="0">
                <a:solidFill>
                  <a:srgbClr val="5A6472"/>
                </a:solidFill>
                <a:latin typeface="Calibri" pitchFamily="34" charset="0"/>
                <a:cs typeface="Amiri" pitchFamily="2" charset="-78"/>
              </a:rPr>
              <a:t>taq-yī-mun dhā-tiy-yun</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تَقْيِيمَاتٌ ذَاتِيَّةٌ</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الطَّلَاقَةُ</a:t>
            </a:r>
            <a:endParaRPr lang="ar-SA" sz="3000" dirty="0"/>
          </a:p>
        </p:txBody>
      </p:sp>
      <p:sp>
        <p:nvSpPr>
          <p:cNvPr id="40" name="Text 3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fluency</a:t>
            </a:r>
            <a:endParaRPr lang="en-US" sz="1350" dirty="0"/>
          </a:p>
          <a:p>
            <a:pPr indent="0" marL="0">
              <a:buNone/>
            </a:pPr>
            <a:r>
              <a:rPr lang="en-US" sz="1100" i="1" dirty="0">
                <a:solidFill>
                  <a:srgbClr val="5A6472"/>
                </a:solidFill>
                <a:latin typeface="Calibri" pitchFamily="34" charset="0"/>
                <a:cs typeface="Amiri" pitchFamily="2" charset="-78"/>
              </a:rPr>
              <a:t>aṭ-ṭa-lā-qa-tu</a:t>
            </a:r>
            <a:endParaRPr lang="en-US" sz="135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الدِّقَّةُ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accuracy</a:t>
            </a:r>
            <a:endParaRPr lang="en-US" sz="1350" dirty="0"/>
          </a:p>
          <a:p>
            <a:pPr indent="0" marL="0">
              <a:buNone/>
            </a:pPr>
            <a:r>
              <a:rPr lang="en-US" sz="1100" i="1" dirty="0">
                <a:solidFill>
                  <a:srgbClr val="5A6472"/>
                </a:solidFill>
                <a:latin typeface="Calibri" pitchFamily="34" charset="0"/>
                <a:cs typeface="Amiri" pitchFamily="2" charset="-78"/>
              </a:rPr>
              <a:t>ad-diq-qa-tu</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with control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8604504" y="1938528"/>
            <a:ext cx="151790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51790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Buys time in Arabic.</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دَعْنِي أُفَكِّرُ</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let me think</a:t>
            </a:r>
            <a:endParaRPr lang="en-US" sz="1350" dirty="0"/>
          </a:p>
          <a:p>
            <a:pPr indent="0" marL="0">
              <a:buNone/>
            </a:pPr>
            <a:r>
              <a:rPr lang="en-US" sz="1100" i="1" dirty="0">
                <a:solidFill>
                  <a:srgbClr val="5A6472"/>
                </a:solidFill>
                <a:latin typeface="Calibri" pitchFamily="34" charset="0"/>
                <a:cs typeface="Amiri" pitchFamily="2" charset="-78"/>
              </a:rPr>
              <a:t>daʿ-nī u-fak-ki-ru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عَلَى سَبِيلِ المِثَالِ</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 example</a:t>
            </a:r>
            <a:endParaRPr lang="en-US" sz="1350" dirty="0"/>
          </a:p>
          <a:p>
            <a:pPr indent="0" marL="0">
              <a:buNone/>
            </a:pPr>
            <a:r>
              <a:rPr lang="en-US" sz="1100" i="1" dirty="0">
                <a:solidFill>
                  <a:srgbClr val="5A6472"/>
                </a:solidFill>
                <a:latin typeface="Calibri" pitchFamily="34" charset="0"/>
                <a:cs typeface="Amiri" pitchFamily="2" charset="-78"/>
              </a:rPr>
              <a:t>ʿa-lā sa-bī-li al-mi-thā-li</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بِعِبَارَةٍ أُخْرَى</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other words</a:t>
            </a:r>
            <a:endParaRPr lang="en-US" sz="1350" dirty="0"/>
          </a:p>
          <a:p>
            <a:pPr indent="0" marL="0">
              <a:buNone/>
            </a:pPr>
            <a:r>
              <a:rPr lang="en-US" sz="1100" i="1" dirty="0">
                <a:solidFill>
                  <a:srgbClr val="5A6472"/>
                </a:solidFill>
                <a:latin typeface="Calibri" pitchFamily="34" charset="0"/>
                <a:cs typeface="Amiri" pitchFamily="2" charset="-78"/>
              </a:rPr>
              <a:t>bi-ʿi-bā-ra-tin ukh-rā</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9" name="Shape 36"/>
          <p:cNvSpPr/>
          <p:nvPr/>
        </p:nvSpPr>
        <p:spPr>
          <a:xfrm>
            <a:off x="8604504" y="4279392"/>
            <a:ext cx="1269187"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 repair phrase.</a:t>
            </a:r>
            <a:endParaRPr lang="en-US" sz="800" dirty="0"/>
          </a:p>
        </p:txBody>
      </p:sp>
      <p:sp>
        <p:nvSpPr>
          <p:cNvPr id="41" name="Shape 3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عَفْوًا، أَقْصِدُ</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sorry, I mean</a:t>
            </a:r>
            <a:endParaRPr lang="en-US" sz="1350" dirty="0"/>
          </a:p>
          <a:p>
            <a:pPr indent="0" marL="0">
              <a:buNone/>
            </a:pPr>
            <a:r>
              <a:rPr lang="en-US" sz="1100" i="1" dirty="0">
                <a:solidFill>
                  <a:srgbClr val="5A6472"/>
                </a:solidFill>
                <a:latin typeface="Calibri" pitchFamily="34" charset="0"/>
                <a:cs typeface="Amiri" pitchFamily="2" charset="-78"/>
              </a:rPr>
              <a:t>ʿaf-wan, aq-ṣi-du</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D6 spine to reuse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20" name="Shape 17"/>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VIII · past</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يَحْتَفِلُ بِـ</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celebrates</a:t>
            </a:r>
            <a:endParaRPr lang="en-US" sz="1350" dirty="0"/>
          </a:p>
          <a:p>
            <a:pPr indent="0" marL="0">
              <a:buNone/>
            </a:pPr>
            <a:r>
              <a:rPr lang="en-US" sz="1100" i="1" dirty="0">
                <a:solidFill>
                  <a:srgbClr val="5A6472"/>
                </a:solidFill>
                <a:latin typeface="Calibri" pitchFamily="34" charset="0"/>
                <a:cs typeface="Amiri" pitchFamily="2" charset="-78"/>
              </a:rPr>
              <a:t>yaḥ-ta-fi-lu bi</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اِحْتَفَلَ</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أَحْتَفِلُ</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3" name="Shape 30"/>
          <p:cNvSpPr/>
          <p:nvPr/>
        </p:nvSpPr>
        <p:spPr>
          <a:xfrm>
            <a:off x="4782312" y="1938528"/>
            <a:ext cx="1331366"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Fixed with إِلَى.</a:t>
            </a:r>
            <a:endParaRPr lang="en-US" sz="800" dirty="0"/>
          </a:p>
        </p:txBody>
      </p:sp>
      <p:sp>
        <p:nvSpPr>
          <p:cNvPr id="35" name="Text 3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يَنْتَمِي إِلَى</a:t>
            </a:r>
            <a:endParaRPr lang="ar-SA" sz="3000" dirty="0"/>
          </a:p>
        </p:txBody>
      </p:sp>
      <p:sp>
        <p:nvSpPr>
          <p:cNvPr id="36" name="Text 3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belongs to</a:t>
            </a:r>
            <a:endParaRPr lang="en-US" sz="1350" dirty="0"/>
          </a:p>
          <a:p>
            <a:pPr indent="0" marL="0">
              <a:buNone/>
            </a:pPr>
            <a:r>
              <a:rPr lang="en-US" sz="1100" i="1" dirty="0">
                <a:solidFill>
                  <a:srgbClr val="5A6472"/>
                </a:solidFill>
                <a:latin typeface="Calibri" pitchFamily="34" charset="0"/>
                <a:cs typeface="Amiri" pitchFamily="2" charset="-78"/>
              </a:rPr>
              <a:t>yan-ta-mī i-lā</a:t>
            </a:r>
            <a:endParaRPr lang="en-US"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يَتَمَسَّكُ بِـ</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adheres to</a:t>
            </a:r>
            <a:endParaRPr lang="en-US" sz="1350" dirty="0"/>
          </a:p>
          <a:p>
            <a:pPr indent="0" marL="0">
              <a:buNone/>
            </a:pPr>
            <a:r>
              <a:rPr lang="en-US" sz="1100" i="1" dirty="0">
                <a:solidFill>
                  <a:srgbClr val="5A6472"/>
                </a:solidFill>
                <a:latin typeface="Calibri" pitchFamily="34" charset="0"/>
                <a:cs typeface="Amiri" pitchFamily="2" charset="-78"/>
              </a:rPr>
              <a:t>ya-ta-mas-sa-ku bi</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5" name="Shape 42"/>
          <p:cNvSpPr/>
          <p:nvPr/>
        </p:nvSpPr>
        <p:spPr>
          <a:xfrm>
            <a:off x="8604504" y="4279392"/>
            <a:ext cx="771754"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V · past</a:t>
            </a:r>
            <a:endParaRPr lang="en-US" sz="800" dirty="0"/>
          </a:p>
        </p:txBody>
      </p:sp>
      <p:sp>
        <p:nvSpPr>
          <p:cNvPr id="47" name="Text 4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يَتَكَيَّفُ مَعَ</a:t>
            </a:r>
            <a:endParaRPr lang="ar-SA" sz="3000" dirty="0"/>
          </a:p>
        </p:txBody>
      </p:sp>
      <p:sp>
        <p:nvSpPr>
          <p:cNvPr id="48" name="Text 4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adapts to</a:t>
            </a:r>
            <a:endParaRPr lang="en-US" sz="1350" dirty="0"/>
          </a:p>
          <a:p>
            <a:pPr indent="0" marL="0">
              <a:buNone/>
            </a:pPr>
            <a:r>
              <a:rPr lang="en-US" sz="1100" i="1" dirty="0">
                <a:solidFill>
                  <a:srgbClr val="5A6472"/>
                </a:solidFill>
                <a:latin typeface="Calibri" pitchFamily="34" charset="0"/>
                <a:cs typeface="Amiri" pitchFamily="2" charset="-78"/>
              </a:rPr>
              <a:t>ya-ta-kay-ya-fu ma-ʿa</a:t>
            </a:r>
            <a:endParaRPr lang="en-US" sz="1350" dirty="0"/>
          </a:p>
        </p:txBody>
      </p:sp>
      <p:sp>
        <p:nvSpPr>
          <p:cNvPr id="49" name="Shape 4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51" name="Text 4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تَكَيَّفَ</a:t>
            </a:r>
            <a:endParaRPr lang="ar-SA" sz="1350" dirty="0"/>
          </a:p>
        </p:txBody>
      </p:sp>
      <p:sp>
        <p:nvSpPr>
          <p:cNvPr id="52" name="Shape 4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4" name="Text 5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أَتَكَيَّفُ</a:t>
            </a:r>
            <a:endParaRPr lang="ar-SA" sz="15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D6 spine to reuse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يَحْتَفِظُ بِـ</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keeps</a:t>
            </a:r>
            <a:endParaRPr lang="en-US" sz="1350" dirty="0"/>
          </a:p>
          <a:p>
            <a:pPr indent="0" marL="0">
              <a:buNone/>
            </a:pPr>
            <a:r>
              <a:rPr lang="en-US" sz="1100" i="1" dirty="0">
                <a:solidFill>
                  <a:srgbClr val="5A6472"/>
                </a:solidFill>
                <a:latin typeface="Calibri" pitchFamily="34" charset="0"/>
                <a:cs typeface="Amiri" pitchFamily="2" charset="-78"/>
              </a:rPr>
              <a:t>yaḥ-ta-fi-ẓu bi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يُعَدُّ مِنْ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counted among</a:t>
            </a:r>
            <a:endParaRPr lang="en-US" sz="1350" dirty="0"/>
          </a:p>
          <a:p>
            <a:pPr indent="0" marL="0">
              <a:buNone/>
            </a:pPr>
            <a:r>
              <a:rPr lang="en-US" sz="1100" i="1" dirty="0">
                <a:solidFill>
                  <a:srgbClr val="5A6472"/>
                </a:solidFill>
                <a:latin typeface="Calibri" pitchFamily="34" charset="0"/>
                <a:cs typeface="Amiri" pitchFamily="2" charset="-78"/>
              </a:rPr>
              <a:t>yu-ʿad-du min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0" name="Shape 27"/>
          <p:cNvSpPr/>
          <p:nvPr/>
        </p:nvSpPr>
        <p:spPr>
          <a:xfrm>
            <a:off x="960120" y="1938528"/>
            <a:ext cx="1393546"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139354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Cultural passives.</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تُزَيَّنُ / تُتَبَادَلُ</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decorated / are exchanged</a:t>
            </a:r>
            <a:endParaRPr lang="en-US" sz="1350" dirty="0"/>
          </a:p>
          <a:p>
            <a:pPr indent="0" marL="0">
              <a:buNone/>
            </a:pPr>
            <a:r>
              <a:rPr lang="en-US" sz="1100" i="1" dirty="0">
                <a:solidFill>
                  <a:srgbClr val="5A6472"/>
                </a:solidFill>
                <a:latin typeface="Calibri" pitchFamily="34" charset="0"/>
                <a:cs typeface="Amiri" pitchFamily="2" charset="-78"/>
              </a:rPr>
              <a:t>tu-zay-ya-nu / tu-ta-bā-da-lu</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لَا يُمْكِنُ إِنْكَارُ أَنَّ</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cannot be denied that</a:t>
            </a:r>
            <a:endParaRPr lang="en-US" sz="1350" dirty="0"/>
          </a:p>
          <a:p>
            <a:pPr indent="0" marL="0">
              <a:buNone/>
            </a:pPr>
            <a:r>
              <a:rPr lang="en-US" sz="1100" i="1" dirty="0">
                <a:solidFill>
                  <a:srgbClr val="5A6472"/>
                </a:solidFill>
                <a:latin typeface="Calibri" pitchFamily="34" charset="0"/>
                <a:cs typeface="Amiri" pitchFamily="2" charset="-78"/>
              </a:rPr>
              <a:t>lā yum-ki-nu in-kā-ru an-na</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Qualifying in real time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 · sg</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فِي بَعْضِ البُلْدَانِ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some countries</a:t>
            </a:r>
            <a:endParaRPr lang="en-US" sz="1350" dirty="0"/>
          </a:p>
          <a:p>
            <a:pPr indent="0" marL="0">
              <a:buNone/>
            </a:pPr>
            <a:r>
              <a:rPr lang="en-US" sz="1100" i="1" dirty="0">
                <a:solidFill>
                  <a:srgbClr val="5A6472"/>
                </a:solidFill>
                <a:latin typeface="Calibri" pitchFamily="34" charset="0"/>
                <a:cs typeface="Amiri" pitchFamily="2" charset="-78"/>
              </a:rPr>
              <a:t>fī baʿ-ḍi al-bul-dā-ni</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بَلَدٌ</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 · sg</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فِي بَعْضِ العَائِلَاتِ</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some families</a:t>
            </a:r>
            <a:endParaRPr lang="en-US" sz="1350" dirty="0"/>
          </a:p>
          <a:p>
            <a:pPr indent="0" marL="0">
              <a:buNone/>
            </a:pPr>
            <a:r>
              <a:rPr lang="en-US" sz="1100" i="1" dirty="0">
                <a:solidFill>
                  <a:srgbClr val="5A6472"/>
                </a:solidFill>
                <a:latin typeface="Calibri" pitchFamily="34" charset="0"/>
                <a:cs typeface="Amiri" pitchFamily="2" charset="-78"/>
              </a:rPr>
              <a:t>fī baʿ-ḍi al-ʿā-ʾi-lā-ti</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36" name="Text 33"/>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عَائِلَةٌ</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40" name="Shape 3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أَحْيَانًا</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sometimes</a:t>
            </a:r>
            <a:endParaRPr lang="en-US" sz="1350" dirty="0"/>
          </a:p>
          <a:p>
            <a:pPr indent="0" marL="0">
              <a:buNone/>
            </a:pPr>
            <a:r>
              <a:rPr lang="en-US" sz="1100" i="1" dirty="0">
                <a:solidFill>
                  <a:srgbClr val="5A6472"/>
                </a:solidFill>
                <a:latin typeface="Calibri" pitchFamily="34" charset="0"/>
                <a:cs typeface="Amiri" pitchFamily="2" charset="-78"/>
              </a:rPr>
              <a:t>aḥ-yā-nan</a:t>
            </a:r>
            <a:endParaRPr lang="en-US"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7" name="Shape 4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9" name="Text 4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لَيْسَ دَائِمًا</a:t>
            </a:r>
            <a:endParaRPr lang="ar-SA" sz="3000" dirty="0"/>
          </a:p>
        </p:txBody>
      </p:sp>
      <p:sp>
        <p:nvSpPr>
          <p:cNvPr id="50" name="Text 4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not always</a:t>
            </a:r>
            <a:endParaRPr lang="en-US" sz="1350" dirty="0"/>
          </a:p>
          <a:p>
            <a:pPr indent="0" marL="0">
              <a:buNone/>
            </a:pPr>
            <a:r>
              <a:rPr lang="en-US" sz="1100" i="1" dirty="0">
                <a:solidFill>
                  <a:srgbClr val="5A6472"/>
                </a:solidFill>
                <a:latin typeface="Calibri" pitchFamily="34" charset="0"/>
                <a:cs typeface="Amiri" pitchFamily="2" charset="-78"/>
              </a:rPr>
              <a:t>lay-sa dā-ʾi-man</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Qualifying in real time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عَلَى حَدِّ عِلْمِي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far as I know</a:t>
            </a:r>
            <a:endParaRPr lang="en-US" sz="1350" dirty="0"/>
          </a:p>
          <a:p>
            <a:pPr indent="0" marL="0">
              <a:buNone/>
            </a:pPr>
            <a:r>
              <a:rPr lang="en-US" sz="1100" i="1" dirty="0">
                <a:solidFill>
                  <a:srgbClr val="5A6472"/>
                </a:solidFill>
                <a:latin typeface="Calibri" pitchFamily="34" charset="0"/>
                <a:cs typeface="Amiri" pitchFamily="2" charset="-78"/>
              </a:rPr>
              <a:t>ʿa-lā ḥad-di ʿil-mī</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يَخْتَلِفُ الأَمْرُ</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varies</a:t>
            </a:r>
            <a:endParaRPr lang="en-US" sz="1350" dirty="0"/>
          </a:p>
          <a:p>
            <a:pPr indent="0" marL="0">
              <a:buNone/>
            </a:pPr>
            <a:r>
              <a:rPr lang="en-US" sz="1100" i="1" dirty="0">
                <a:solidFill>
                  <a:srgbClr val="5A6472"/>
                </a:solidFill>
                <a:latin typeface="Calibri" pitchFamily="34" charset="0"/>
                <a:cs typeface="Amiri" pitchFamily="2" charset="-78"/>
              </a:rPr>
              <a:t>yakh-ta-li-fu al-am-ru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 وِجْهَةِ نَظَرِي</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from my point of view</a:t>
            </a:r>
            <a:endParaRPr lang="en-US" sz="1350" dirty="0"/>
          </a:p>
          <a:p>
            <a:pPr indent="0" marL="0">
              <a:buNone/>
            </a:pPr>
            <a:r>
              <a:rPr lang="en-US" sz="1100" i="1" dirty="0">
                <a:solidFill>
                  <a:srgbClr val="5A6472"/>
                </a:solidFill>
                <a:latin typeface="Calibri" pitchFamily="34" charset="0"/>
                <a:cs typeface="Amiri" pitchFamily="2" charset="-78"/>
              </a:rPr>
              <a:t>min wij-ha-ti na-ẓa-rī</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7" name="Shape 34"/>
          <p:cNvSpPr/>
          <p:nvPr/>
        </p:nvSpPr>
        <p:spPr>
          <a:xfrm>
            <a:off x="8604504" y="4279392"/>
            <a:ext cx="958291"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8604504"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II · I · he</a:t>
            </a:r>
            <a:endParaRPr lang="en-US" sz="8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لَا أُعَمِّمُ</a:t>
            </a:r>
            <a:endParaRPr lang="ar-SA" sz="3000" dirty="0"/>
          </a:p>
        </p:txBody>
      </p:sp>
      <p:sp>
        <p:nvSpPr>
          <p:cNvPr id="42" name="Text 3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do not generalise</a:t>
            </a:r>
            <a:endParaRPr lang="en-US" sz="1350" dirty="0"/>
          </a:p>
          <a:p>
            <a:pPr indent="0" marL="0">
              <a:buNone/>
            </a:pPr>
            <a:r>
              <a:rPr lang="en-US" sz="1100" i="1" dirty="0">
                <a:solidFill>
                  <a:srgbClr val="5A6472"/>
                </a:solidFill>
                <a:latin typeface="Calibri" pitchFamily="34" charset="0"/>
                <a:cs typeface="Amiri" pitchFamily="2" charset="-78"/>
              </a:rPr>
              <a:t>lā u-ʿam-mi-mu</a:t>
            </a:r>
            <a:endParaRPr lang="en-US" sz="1350" dirty="0"/>
          </a:p>
        </p:txBody>
      </p:sp>
      <p:sp>
        <p:nvSpPr>
          <p:cNvPr id="43" name="Shape 40"/>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45" name="Text 42"/>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لَا يُعَمِّمُ</a:t>
            </a:r>
            <a:endParaRPr lang="ar-SA" sz="1500" dirty="0"/>
          </a:p>
        </p:txBody>
      </p:sp>
      <p:sp>
        <p:nvSpPr>
          <p:cNvPr id="46" name="Shape 43"/>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8" name="Text 45"/>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لَا تُعَمِّمُ</a:t>
            </a:r>
            <a:endParaRPr lang="ar-SA" sz="15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20" b="1" spc="150" kern="0" dirty="0">
                <a:solidFill>
                  <a:srgbClr val="1B3B6F"/>
                </a:solidFill>
                <a:latin typeface="Calibri" pitchFamily="34" charset="0"/>
                <a:cs typeface="Amiri" pitchFamily="2" charset="-78"/>
              </a:rPr>
              <a:t>GRAMMAR FOCUS · PART 1 · MIRROR THE TENSE, KEEP THE PREPOSITION (WEBSITE RULES 1–2)</a:t>
            </a:r>
            <a:endParaRPr lang="en-US" sz="82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Answer the question that was asked</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أَجِبْ بِزَمَنِ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Check</a:t>
            </a:r>
            <a:endParaRPr lang="en-US" sz="1100" dirty="0"/>
          </a:p>
        </p:txBody>
      </p:sp>
      <p:sp>
        <p:nvSpPr>
          <p:cNvPr id="17" name="Text 14"/>
          <p:cNvSpPr txBox="1"/>
          <p:nvPr/>
        </p:nvSpPr>
        <p:spPr>
          <a:xfrm>
            <a:off x="3822192" y="1810512"/>
            <a:ext cx="5340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Candidate answers (website)</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Examiner asks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345168" y="2267712"/>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 past</a:t>
            </a:r>
            <a:endParaRPr lang="en-US" sz="1100" dirty="0"/>
          </a:p>
        </p:txBody>
      </p:sp>
      <p:sp>
        <p:nvSpPr>
          <p:cNvPr id="21" name="Text 18"/>
          <p:cNvSpPr txBox="1"/>
          <p:nvPr/>
        </p:nvSpPr>
        <p:spPr>
          <a:xfrm>
            <a:off x="3840480" y="2286000"/>
            <a:ext cx="53035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فِي العَامِ المَاضِي </a:t>
            </a:r>
            <a:pPr rtl="1" algn="ctr" indent="0" marL="0">
              <a:buNone/>
            </a:pPr>
            <a:r>
              <a:rPr lang="ar-SA" altLang="en-US" sz="2100" b="1" dirty="0">
                <a:solidFill>
                  <a:srgbClr val="0E7C86"/>
                </a:solidFill>
                <a:latin typeface="Amiri" pitchFamily="2" charset="-78"/>
                <a:cs typeface="Amiri" pitchFamily="2" charset="-78"/>
              </a:rPr>
              <a:t>حَضَرْتُ</a:t>
            </a:r>
            <a:pPr rtl="1" algn="ctr" indent="0" marL="0">
              <a:buNone/>
            </a:pPr>
            <a:r>
              <a:rPr lang="ar-SA" altLang="en-US" sz="2100" b="1" dirty="0">
                <a:solidFill>
                  <a:srgbClr val="1B3B6F"/>
                </a:solidFill>
                <a:latin typeface="Amiri" pitchFamily="2" charset="-78"/>
                <a:cs typeface="Amiri" pitchFamily="2" charset="-78"/>
              </a:rPr>
              <a:t> حَفْلًا فِي المَرْكَزِ.</a:t>
            </a:r>
            <a:endParaRPr lang="ar-SA" sz="2100" dirty="0"/>
          </a:p>
        </p:txBody>
      </p:sp>
      <p:sp>
        <p:nvSpPr>
          <p:cNvPr id="22" name="Text 19"/>
          <p:cNvSpPr txBox="1"/>
          <p:nvPr/>
        </p:nvSpPr>
        <p:spPr>
          <a:xfrm>
            <a:off x="3794760" y="2706624"/>
            <a:ext cx="5394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Last year I attended a party at the centre.</a:t>
            </a:r>
            <a:endParaRPr lang="en-US" sz="950" dirty="0"/>
          </a:p>
        </p:txBody>
      </p:sp>
      <p:sp>
        <p:nvSpPr>
          <p:cNvPr id="23" name="Text 20"/>
          <p:cNvSpPr txBox="1"/>
          <p:nvPr/>
        </p:nvSpPr>
        <p:spPr>
          <a:xfrm>
            <a:off x="548640" y="2267712"/>
            <a:ext cx="3108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صِفْ مُنَاسَبَةً </a:t>
            </a:r>
            <a:pPr rtl="1" algn="ctr" indent="0" marL="0">
              <a:buNone/>
            </a:pPr>
            <a:r>
              <a:rPr lang="ar-SA" altLang="en-US" sz="2000" b="1" dirty="0">
                <a:solidFill>
                  <a:srgbClr val="0E7C86"/>
                </a:solidFill>
                <a:latin typeface="Amiri" pitchFamily="2" charset="-78"/>
                <a:cs typeface="Amiri" pitchFamily="2" charset="-78"/>
              </a:rPr>
              <a:t>مَرَرْتَ</a:t>
            </a:r>
            <a:pPr rtl="1" algn="ctr" indent="0" marL="0">
              <a:buNone/>
            </a:pPr>
            <a:r>
              <a:rPr lang="ar-SA" altLang="en-US" sz="2000" b="1" dirty="0">
                <a:solidFill>
                  <a:srgbClr val="1B3B6F"/>
                </a:solidFill>
                <a:latin typeface="Amiri" pitchFamily="2" charset="-78"/>
                <a:cs typeface="Amiri" pitchFamily="2" charset="-78"/>
              </a:rPr>
              <a:t> بِهَا.</a:t>
            </a:r>
            <a:endParaRPr lang="ar-SA" sz="20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7" name="Text 24"/>
          <p:cNvSpPr txBox="1"/>
          <p:nvPr/>
        </p:nvSpPr>
        <p:spPr>
          <a:xfrm>
            <a:off x="9345168" y="3054096"/>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 + bi-</a:t>
            </a:r>
            <a:endParaRPr lang="en-US" sz="1100" dirty="0"/>
          </a:p>
        </p:txBody>
      </p:sp>
      <p:sp>
        <p:nvSpPr>
          <p:cNvPr id="28" name="Text 25"/>
          <p:cNvSpPr txBox="1"/>
          <p:nvPr/>
        </p:nvSpPr>
        <p:spPr>
          <a:xfrm>
            <a:off x="3840480" y="3072384"/>
            <a:ext cx="530352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cs typeface="Amiri" pitchFamily="2" charset="-78"/>
              </a:rPr>
              <a:t>نَحْتَفِلُ بِالعِيدِ</a:t>
            </a:r>
            <a:pPr rtl="1" algn="ctr" indent="0" marL="0">
              <a:buNone/>
            </a:pPr>
            <a:r>
              <a:rPr lang="ar-SA" altLang="en-US" sz="2100" b="1" dirty="0">
                <a:solidFill>
                  <a:srgbClr val="1B3B6F"/>
                </a:solidFill>
                <a:latin typeface="Amiri" pitchFamily="2" charset="-78"/>
                <a:cs typeface="Amiri" pitchFamily="2" charset="-78"/>
              </a:rPr>
              <a:t> كُلَّ سَنَةٍ مَعَ الجَالِيَةِ.</a:t>
            </a:r>
            <a:endParaRPr lang="ar-SA" sz="2100" dirty="0"/>
          </a:p>
        </p:txBody>
      </p:sp>
      <p:sp>
        <p:nvSpPr>
          <p:cNvPr id="29" name="Text 26"/>
          <p:cNvSpPr txBox="1"/>
          <p:nvPr/>
        </p:nvSpPr>
        <p:spPr>
          <a:xfrm>
            <a:off x="3794760" y="3493008"/>
            <a:ext cx="5394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celebrate Eid every year with the community.</a:t>
            </a:r>
            <a:endParaRPr lang="en-US" sz="950" dirty="0"/>
          </a:p>
        </p:txBody>
      </p:sp>
      <p:sp>
        <p:nvSpPr>
          <p:cNvPr id="30" name="Text 27"/>
          <p:cNvSpPr txBox="1"/>
          <p:nvPr/>
        </p:nvSpPr>
        <p:spPr>
          <a:xfrm>
            <a:off x="548640" y="3054096"/>
            <a:ext cx="3108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كَيْفَ </a:t>
            </a:r>
            <a:pPr rtl="1" algn="ctr" indent="0" marL="0">
              <a:buNone/>
            </a:pPr>
            <a:r>
              <a:rPr lang="ar-SA" altLang="en-US" sz="2000" b="1" dirty="0">
                <a:solidFill>
                  <a:srgbClr val="D6336C"/>
                </a:solidFill>
                <a:latin typeface="Amiri" pitchFamily="2" charset="-78"/>
                <a:cs typeface="Amiri" pitchFamily="2" charset="-78"/>
              </a:rPr>
              <a:t>تَحْتَفِلُونَ</a:t>
            </a:r>
            <a:pPr rtl="1" algn="ctr" indent="0" marL="0">
              <a:buNone/>
            </a:pPr>
            <a:r>
              <a:rPr lang="ar-SA" altLang="en-US" sz="2000" b="1" dirty="0">
                <a:solidFill>
                  <a:srgbClr val="1B3B6F"/>
                </a:solidFill>
                <a:latin typeface="Amiri" pitchFamily="2" charset="-78"/>
                <a:cs typeface="Amiri" pitchFamily="2" charset="-78"/>
              </a:rPr>
              <a:t> بِالعِيدِ؟</a:t>
            </a:r>
            <a:endParaRPr lang="ar-SA" sz="2000" dirty="0"/>
          </a:p>
        </p:txBody>
      </p:sp>
      <p:sp>
        <p:nvSpPr>
          <p:cNvPr id="31" name="Shape 28"/>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4" name="Text 31"/>
          <p:cNvSpPr txBox="1"/>
          <p:nvPr/>
        </p:nvSpPr>
        <p:spPr>
          <a:xfrm>
            <a:off x="9345168" y="3840480"/>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 + ilā</a:t>
            </a:r>
            <a:endParaRPr lang="en-US" sz="1100" dirty="0"/>
          </a:p>
        </p:txBody>
      </p:sp>
      <p:sp>
        <p:nvSpPr>
          <p:cNvPr id="35" name="Text 32"/>
          <p:cNvSpPr txBox="1"/>
          <p:nvPr/>
        </p:nvSpPr>
        <p:spPr>
          <a:xfrm>
            <a:off x="3840480" y="3858768"/>
            <a:ext cx="530352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cs typeface="Amiri" pitchFamily="2" charset="-78"/>
              </a:rPr>
              <a:t>أَنْتَمِي إِلَى</a:t>
            </a:r>
            <a:pPr rtl="1" algn="ctr" indent="0" marL="0">
              <a:buNone/>
            </a:pPr>
            <a:r>
              <a:rPr lang="ar-SA" altLang="en-US" sz="2100" b="1" dirty="0">
                <a:solidFill>
                  <a:srgbClr val="1B3B6F"/>
                </a:solidFill>
                <a:latin typeface="Amiri" pitchFamily="2" charset="-78"/>
                <a:cs typeface="Amiri" pitchFamily="2" charset="-78"/>
              </a:rPr>
              <a:t> ثَقَافَتَيْنِ.</a:t>
            </a:r>
            <a:endParaRPr lang="ar-SA" sz="2100" dirty="0"/>
          </a:p>
        </p:txBody>
      </p:sp>
      <p:sp>
        <p:nvSpPr>
          <p:cNvPr id="36" name="Text 33"/>
          <p:cNvSpPr txBox="1"/>
          <p:nvPr/>
        </p:nvSpPr>
        <p:spPr>
          <a:xfrm>
            <a:off x="3794760" y="4279392"/>
            <a:ext cx="5394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belong to two cultures.</a:t>
            </a:r>
            <a:endParaRPr lang="en-US" sz="950" dirty="0"/>
          </a:p>
        </p:txBody>
      </p:sp>
      <p:sp>
        <p:nvSpPr>
          <p:cNvPr id="37" name="Text 34"/>
          <p:cNvSpPr txBox="1"/>
          <p:nvPr/>
        </p:nvSpPr>
        <p:spPr>
          <a:xfrm>
            <a:off x="548640" y="3840480"/>
            <a:ext cx="3108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إِلَى أَيِّ ثَقَافَةٍ </a:t>
            </a:r>
            <a:pPr rtl="1" algn="ctr" indent="0" marL="0">
              <a:buNone/>
            </a:pPr>
            <a:r>
              <a:rPr lang="ar-SA" altLang="en-US" sz="2000" b="1" dirty="0">
                <a:solidFill>
                  <a:srgbClr val="D6336C"/>
                </a:solidFill>
                <a:latin typeface="Amiri" pitchFamily="2" charset="-78"/>
                <a:cs typeface="Amiri" pitchFamily="2" charset="-78"/>
              </a:rPr>
              <a:t>تَنْتَمِي</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38" name="Shape 35"/>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1" name="Text 38"/>
          <p:cNvSpPr txBox="1"/>
          <p:nvPr/>
        </p:nvSpPr>
        <p:spPr>
          <a:xfrm>
            <a:off x="9345168" y="4626864"/>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future → future</a:t>
            </a:r>
            <a:endParaRPr lang="en-US" sz="1100" dirty="0"/>
          </a:p>
        </p:txBody>
      </p:sp>
      <p:sp>
        <p:nvSpPr>
          <p:cNvPr id="42" name="Text 39"/>
          <p:cNvSpPr txBox="1"/>
          <p:nvPr/>
        </p:nvSpPr>
        <p:spPr>
          <a:xfrm>
            <a:off x="3840480" y="4645152"/>
            <a:ext cx="530352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cs typeface="Amiri" pitchFamily="2" charset="-78"/>
              </a:rPr>
              <a:t>سَأَزُورُ</a:t>
            </a:r>
            <a:pPr rtl="1" algn="ctr" indent="0" marL="0">
              <a:buNone/>
            </a:pPr>
            <a:r>
              <a:rPr lang="ar-SA" altLang="en-US" sz="2100" b="1" dirty="0">
                <a:solidFill>
                  <a:srgbClr val="1B3B6F"/>
                </a:solidFill>
                <a:latin typeface="Amiri" pitchFamily="2" charset="-78"/>
                <a:cs typeface="Amiri" pitchFamily="2" charset="-78"/>
              </a:rPr>
              <a:t> بَلَدَ أُسْرَتِي.</a:t>
            </a:r>
            <a:endParaRPr lang="ar-SA" sz="2100" dirty="0"/>
          </a:p>
        </p:txBody>
      </p:sp>
      <p:sp>
        <p:nvSpPr>
          <p:cNvPr id="43" name="Text 40"/>
          <p:cNvSpPr txBox="1"/>
          <p:nvPr/>
        </p:nvSpPr>
        <p:spPr>
          <a:xfrm>
            <a:off x="3794760" y="5065776"/>
            <a:ext cx="5394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will visit my family’s country.</a:t>
            </a:r>
            <a:endParaRPr lang="en-US" sz="950" dirty="0"/>
          </a:p>
        </p:txBody>
      </p:sp>
      <p:sp>
        <p:nvSpPr>
          <p:cNvPr id="44" name="Text 41"/>
          <p:cNvSpPr txBox="1"/>
          <p:nvPr/>
        </p:nvSpPr>
        <p:spPr>
          <a:xfrm>
            <a:off x="548640" y="4626864"/>
            <a:ext cx="3108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مَاذَا </a:t>
            </a:r>
            <a:pPr rtl="1" algn="ctr" indent="0" marL="0">
              <a:buNone/>
            </a:pPr>
            <a:r>
              <a:rPr lang="ar-SA" altLang="en-US" sz="2000" b="1" dirty="0">
                <a:solidFill>
                  <a:srgbClr val="1D5FBF"/>
                </a:solidFill>
                <a:latin typeface="Amiri" pitchFamily="2" charset="-78"/>
                <a:cs typeface="Amiri" pitchFamily="2" charset="-78"/>
              </a:rPr>
              <a:t>سَتَفْعَلُ</a:t>
            </a:r>
            <a:pPr rtl="1" algn="ctr" indent="0" marL="0">
              <a:buNone/>
            </a:pPr>
            <a:r>
              <a:rPr lang="ar-SA" altLang="en-US" sz="2000" b="1" dirty="0">
                <a:solidFill>
                  <a:srgbClr val="1B3B6F"/>
                </a:solidFill>
                <a:latin typeface="Amiri" pitchFamily="2" charset="-78"/>
                <a:cs typeface="Amiri" pitchFamily="2" charset="-78"/>
              </a:rPr>
              <a:t> فِي العَامِ القَادِمِ؟</a:t>
            </a:r>
            <a:endParaRPr lang="ar-SA" sz="20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Switching a past question into the present is the commonest avoidance pattern — examiners notice it.</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20" b="1" spc="150" kern="0" dirty="0">
                <a:solidFill>
                  <a:srgbClr val="1B3B6F"/>
                </a:solidFill>
                <a:latin typeface="Calibri" pitchFamily="34" charset="0"/>
                <a:cs typeface="Amiri" pitchFamily="2" charset="-78"/>
              </a:rPr>
              <a:t>GRAMMAR FOCUS · PART 2 · EXTEND AND QUALIFY (WEBSITE RULES 3–4) · DEVELOP / STRETCH</a:t>
            </a:r>
            <a:endParaRPr lang="en-US" sz="82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more clause, one more second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التَّوَسُّعُ وَالتَّحَفُّظُ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REASON · CORE</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لِأَنَّ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أَعْتَزُّ بِلُغَتِي لِأَنَّهَا تَرْبِطُنِي بِجُذُورِي.</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am proud of my language because it ties me to my roots.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Claim + reason.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EXAMPLE · DEVELOP</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عَلَى سَبِيلِ المِثَالِ</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عَلَى سَبِيلِ المِثَالِ، تُزَيَّنُ البُيُوتُ بِالفَوَانِيسِ.</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For example, houses are decorated with lanterns.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Make it concrete.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QUALIFY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عَلَى حَدِّ عِلْمِي</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عَلَى حَدِّ عِلْمِي تَخْتَلِفُ العَادَاتُ فِي بَعْضِ البُلْدَانِ.</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As far as I know, customs differ in some countries.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Never “all”.</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a claim about a whole population is inaccurate.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00" b="1" dirty="0">
                <a:solidFill>
                  <a:srgbClr val="1B3B6F"/>
                </a:solidFill>
                <a:latin typeface="Amiri" pitchFamily="2" charset="-78"/>
                <a:cs typeface="Amiri" pitchFamily="2" charset="-78"/>
              </a:rPr>
              <a:t>فِي بَعْضِ البُلْدَانِ يَحْتَفِلُ النَّاسُ بِهٰذِهِ الطَّرِيقَةِ.</a:t>
            </a:r>
            <a:endParaRPr lang="ar-SA" sz="1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cs typeface="Amiri" pitchFamily="2" charset="-78"/>
              </a:rPr>
              <a:t>كُلُّ العَرَبِ يَحْتَفِلُونَ بِالطَّرِيقَةِ نَفْسِهَا.</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The D6 system under speaking pressure</a:t>
            </a:r>
            <a:endParaRPr lang="en-US" sz="24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نِظَامُ الوَحْدَةِ تَحْتَ ضَغْطِ 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Mirror the tense of the question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past question → past answer</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صِفْ مُنَاسَبَةً مَرَرْتَ بِهَا — حَضَرْتُ حَفْلًا فِي المَرْكَزِ</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Cultural verb plus preposition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يَحْتَفِلُ بِـ · يَنْتَمِي إِلَى · يَتَكَيَّفُ مَعَ</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نَحْتَفِلُ بِالعِيدِ كُلَّ سَنَةٍ   ·   أَنْتَمِي إِلَى ثَقَافَتَيْنِ</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Extend with a reason or an example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claim + </a:t>
            </a:r>
            <a:pPr algn="l" indent="0" marL="0">
              <a:buNone/>
            </a:pPr>
            <a:r>
              <a:rPr lang="ar-SA" altLang="en-US" sz="1350" dirty="0">
                <a:solidFill>
                  <a:srgbClr val="5A6472"/>
                </a:solidFill>
                <a:latin typeface="Amiri" pitchFamily="2" charset="-78"/>
                <a:cs typeface="Amiri" pitchFamily="2" charset="-78"/>
              </a:rPr>
              <a:t>لِأَنَّ / عَلَى سَبِيلِ المِثَالِ</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أَعْتَزُّ بِلُغَتِي لِأَنَّهَا تَرْبِطُنِي بِجُذُورِي</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Qualify as you speak</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فِي بَعْضِ … / عَلَى حَدِّ عِلْمِي / لَيْسَ دَائِمًا</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فِي بَعْضِ العَائِلَاتِ تُوَزَّعُ العِيدِيَّةُ، وَلَيْسَ دَائِمًا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The examiner asks:</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algn="l" indent="0" marL="0">
              <a:buNone/>
            </a:pPr>
            <a:r>
              <a:rPr lang="ar-SA" altLang="en-US" sz="1800" b="1" dirty="0">
                <a:solidFill>
                  <a:srgbClr val="1F2A37"/>
                </a:solidFill>
                <a:latin typeface="Amiri" pitchFamily="2" charset="-78"/>
                <a:cs typeface="Amiri" pitchFamily="2" charset="-78"/>
              </a:rPr>
              <a:t>صِفْ مُنَاسَبَةً مَرَرْتَ بِهَا</a:t>
            </a:r>
            <a:pPr algn="l" indent="0" marL="0">
              <a:buNone/>
            </a:pPr>
            <a:r>
              <a:rPr lang="en-US" sz="1400" b="1" dirty="0">
                <a:solidFill>
                  <a:srgbClr val="1F2A37"/>
                </a:solidFill>
                <a:latin typeface="Calibri" pitchFamily="34" charset="0"/>
                <a:cs typeface="Amiri" pitchFamily="2" charset="-78"/>
              </a:rPr>
              <a:t>. Which answer is appropriate?</a:t>
            </a:r>
            <a:endParaRPr lang="en-US" sz="14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أَحْضُرُ حَفْلًا فِي المَرْكَزِ الثَّقَافِيِّ.</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سَأَحْضُرُ حَفْلًا فِي المَرْكَزِ الثَّقَافِيِّ.</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حَضَرْتُ حَفْلًا فِي المَرْكَزِ الثَّقَافِيِّ.</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نَحْتَفِلُ ___ العِيدِ كُلَّ سَنَةٍ.</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is extended rather than bare?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نَعَمْ.</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أَعْتَزُّ بِلُغَتِي لِأَنَّهَا تَرْبِطُنِي بِجُذُورِي.</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أَعْتَزُّ.</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appropriately qualified?</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بَعْضِ العَائِلَاتِ تُوَزَّعُ العِيدِيَّةُ.</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كُلُّ العَائِلَاتِ تُوَزِّعُ العِيدِيَّةَ.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أَحَدَ يُوَزِّعُ العِيدِيَّةَ.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The examiner asks:</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algn="l" indent="0" marL="0">
              <a:buNone/>
            </a:pPr>
            <a:r>
              <a:rPr lang="ar-SA" altLang="en-US" sz="1800" b="1" dirty="0">
                <a:solidFill>
                  <a:srgbClr val="1F2A37"/>
                </a:solidFill>
                <a:latin typeface="Amiri" pitchFamily="2" charset="-78"/>
                <a:cs typeface="Amiri" pitchFamily="2" charset="-78"/>
              </a:rPr>
              <a:t>صِفْ مُنَاسَبَةً مَرَرْتَ بِهَا</a:t>
            </a:r>
            <a:pPr algn="l" indent="0" marL="0">
              <a:buNone/>
            </a:pPr>
            <a:r>
              <a:rPr lang="en-US" sz="1400" b="1" dirty="0">
                <a:solidFill>
                  <a:srgbClr val="1F2A37"/>
                </a:solidFill>
                <a:latin typeface="Calibri" pitchFamily="34" charset="0"/>
                <a:cs typeface="Amiri" pitchFamily="2" charset="-78"/>
              </a:rPr>
              <a:t>. Which answer is appropriate?</a:t>
            </a:r>
            <a:endParaRPr lang="en-US" sz="14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أَحْضُرُ حَفْلًا فِي المَرْكَزِ الثَّقَافِيِّ.</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سَأَحْضُرُ حَفْلًا فِي المَرْكَزِ الثَّقَافِيِّ.</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حَضَرْتُ حَفْلًا فِي المَرْكَزِ الثَّقَافِيِّ.</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past question requires a past answer.</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نَحْتَفِلُ ___ العِيدِ كُلَّ سَنَةٍ.</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بِـ</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يَحْتَفِلُ</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is extended rather than bare?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نَعَمْ.</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أَعْتَزُّ بِلُغَتِي لِأَنَّهَا تَرْبِطُنِي بِجُذُورِي.</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أَعْتَزُّ.</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reason turns an answer into a response.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appropriately qualified?</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فِي بَعْضِ العَائِلَاتِ تُوَزَّعُ العِيدِيَّةُ.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كُلُّ العَائِلَاتِ تُوَزِّعُ العِيدِيَّةَ.</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لَا أَحَدَ يُوَزِّعُ العِيدِيَّةَ.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hedge reports what some families do.</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answer under pressure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Buy time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2" charset="-78"/>
                <a:cs typeface="Amiri" pitchFamily="2" charset="-78"/>
              </a:rPr>
              <a:t>دَعْنِي أُفَكِّرُ</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In Arabic.</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Mirror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cs typeface="Amiri" pitchFamily="2" charset="-78"/>
              </a:rPr>
              <a:t>حَضَرْتُ</a:t>
            </a:r>
            <a:pPr rtl="1" algn="ctr" indent="0" marL="0">
              <a:buNone/>
            </a:pPr>
            <a:r>
              <a:rPr lang="ar-SA" altLang="en-US" sz="2800" b="1" dirty="0">
                <a:solidFill>
                  <a:srgbClr val="1B3B6F"/>
                </a:solidFill>
                <a:latin typeface="Amiri" pitchFamily="2" charset="-78"/>
                <a:cs typeface="Amiri" pitchFamily="2" charset="-78"/>
              </a:rPr>
              <a:t> حَفْلًا</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Past question.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Repair</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2" charset="-78"/>
                <a:cs typeface="Amiri" pitchFamily="2" charset="-78"/>
              </a:rPr>
              <a:t>عَفْوًا، أَقْصِدُ</a:t>
            </a:r>
            <a:pPr rtl="1" algn="ctr" indent="0" marL="0">
              <a:buNone/>
            </a:pPr>
            <a:r>
              <a:rPr lang="ar-SA" altLang="en-US" sz="2800" b="1" dirty="0">
                <a:solidFill>
                  <a:srgbClr val="1B3B6F"/>
                </a:solidFill>
                <a:latin typeface="Amiri" pitchFamily="2" charset="-78"/>
                <a:cs typeface="Amiri" pitchFamily="2" charset="-78"/>
              </a:rPr>
              <a:t> زُيِّنَتْ</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Fix the tense.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Qualify</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cs typeface="Amiri" pitchFamily="2" charset="-78"/>
              </a:rPr>
              <a:t>عَلَى حَدِّ عِلْمِي</a:t>
            </a:r>
            <a:pPr rtl="1" algn="ctr" indent="0" marL="0">
              <a:buNone/>
            </a:pPr>
            <a:r>
              <a:rPr lang="ar-SA" altLang="en-US" sz="2800" b="1" dirty="0">
                <a:solidFill>
                  <a:srgbClr val="1B3B6F"/>
                </a:solidFill>
                <a:latin typeface="Amiri" pitchFamily="2" charset="-78"/>
                <a:cs typeface="Amiri" pitchFamily="2" charset="-78"/>
              </a:rPr>
              <a:t> لَا</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Not everyone.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TENSE</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TIME / REPAIR</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QUALIFIER</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D5FBF"/>
                </a:solidFill>
                <a:latin typeface="Amiri" pitchFamily="2" charset="-78"/>
                <a:cs typeface="Amiri" pitchFamily="2" charset="-78"/>
              </a:rPr>
              <a:t>دَعْنِي أُفَكِّرُ</a:t>
            </a:r>
            <a:pPr rtl="1" algn="r" indent="0" marL="0">
              <a:lnSpc>
                <a:spcPct val="120000"/>
              </a:lnSpc>
              <a:buNone/>
            </a:pPr>
            <a:r>
              <a:rPr lang="ar-SA" altLang="en-US" sz="1400" b="1" dirty="0">
                <a:solidFill>
                  <a:srgbClr val="1B3B6F"/>
                </a:solidFill>
                <a:latin typeface="Amiri" pitchFamily="2" charset="-78"/>
                <a:cs typeface="Amiri" pitchFamily="2" charset="-78"/>
              </a:rPr>
              <a:t>. فِي العَامِ المَاضِي </a:t>
            </a:r>
            <a:pPr rtl="1" algn="r" indent="0" marL="0">
              <a:lnSpc>
                <a:spcPct val="120000"/>
              </a:lnSpc>
              <a:buNone/>
            </a:pPr>
            <a:r>
              <a:rPr lang="ar-SA" altLang="en-US" sz="1400" b="1" dirty="0">
                <a:solidFill>
                  <a:srgbClr val="0E7C86"/>
                </a:solidFill>
                <a:latin typeface="Amiri" pitchFamily="2" charset="-78"/>
                <a:cs typeface="Amiri" pitchFamily="2" charset="-78"/>
              </a:rPr>
              <a:t>حَضَرْتُ</a:t>
            </a:r>
            <a:pPr rtl="1" algn="r" indent="0" marL="0">
              <a:lnSpc>
                <a:spcPct val="120000"/>
              </a:lnSpc>
              <a:buNone/>
            </a:pPr>
            <a:r>
              <a:rPr lang="ar-SA" altLang="en-US" sz="1400" b="1" dirty="0">
                <a:solidFill>
                  <a:srgbClr val="1B3B6F"/>
                </a:solidFill>
                <a:latin typeface="Amiri" pitchFamily="2" charset="-78"/>
                <a:cs typeface="Amiri" pitchFamily="2" charset="-78"/>
              </a:rPr>
              <a:t> حَفْلًا فِي المَرْكَزِ الثَّقَافِيِّ، وَتُزَيَّنُ القَاعَةُ … </a:t>
            </a:r>
            <a:pPr rtl="1" algn="r" indent="0" marL="0">
              <a:lnSpc>
                <a:spcPct val="120000"/>
              </a:lnSpc>
              <a:buNone/>
            </a:pPr>
            <a:r>
              <a:rPr lang="ar-SA" altLang="en-US" sz="1400" b="1" dirty="0">
                <a:solidFill>
                  <a:srgbClr val="1D5FBF"/>
                </a:solidFill>
                <a:latin typeface="Amiri" pitchFamily="2" charset="-78"/>
                <a:cs typeface="Amiri" pitchFamily="2" charset="-78"/>
              </a:rPr>
              <a:t>عَفْوًا، أَقْصِدُ</a:t>
            </a:r>
            <a:pPr rtl="1" algn="r" indent="0" marL="0">
              <a:lnSpc>
                <a:spcPct val="120000"/>
              </a:lnSpc>
              <a:buNone/>
            </a:pPr>
            <a:r>
              <a:rPr lang="ar-SA" altLang="en-US" sz="1400" b="1" dirty="0">
                <a:solidFill>
                  <a:srgbClr val="1B3B6F"/>
                </a:solidFill>
                <a:latin typeface="Amiri" pitchFamily="2" charset="-78"/>
                <a:cs typeface="Amiri" pitchFamily="2" charset="-78"/>
              </a:rPr>
              <a:t> أَنَّهَا </a:t>
            </a:r>
            <a:pPr rtl="1" algn="r" indent="0" marL="0">
              <a:lnSpc>
                <a:spcPct val="120000"/>
              </a:lnSpc>
              <a:buNone/>
            </a:pPr>
            <a:r>
              <a:rPr lang="ar-SA" altLang="en-US" sz="1400" b="1" dirty="0">
                <a:solidFill>
                  <a:srgbClr val="0E7C86"/>
                </a:solidFill>
                <a:latin typeface="Amiri" pitchFamily="2" charset="-78"/>
                <a:cs typeface="Amiri" pitchFamily="2" charset="-78"/>
              </a:rPr>
              <a:t>زُيِّنَتْ</a:t>
            </a:r>
            <a:pPr rtl="1" algn="r" indent="0" marL="0">
              <a:lnSpc>
                <a:spcPct val="120000"/>
              </a:lnSpc>
              <a:buNone/>
            </a:pPr>
            <a:r>
              <a:rPr lang="ar-SA" altLang="en-US" sz="1400" b="1" dirty="0">
                <a:solidFill>
                  <a:srgbClr val="1B3B6F"/>
                </a:solidFill>
                <a:latin typeface="Amiri" pitchFamily="2" charset="-78"/>
                <a:cs typeface="Amiri" pitchFamily="2" charset="-78"/>
              </a:rPr>
              <a:t> بِالفَوَانِيسِ. </a:t>
            </a:r>
            <a:pPr rtl="1" algn="r" indent="0" marL="0">
              <a:lnSpc>
                <a:spcPct val="120000"/>
              </a:lnSpc>
              <a:buNone/>
            </a:pPr>
            <a:r>
              <a:rPr lang="ar-SA" altLang="en-US" sz="1400" b="1" dirty="0">
                <a:solidFill>
                  <a:srgbClr val="D6336C"/>
                </a:solidFill>
                <a:latin typeface="Amiri" pitchFamily="2" charset="-78"/>
                <a:cs typeface="Amiri" pitchFamily="2" charset="-78"/>
              </a:rPr>
              <a:t>عَلَى حَدِّ عِلْمِي</a:t>
            </a:r>
            <a:pPr rtl="1" algn="r" indent="0" marL="0">
              <a:lnSpc>
                <a:spcPct val="120000"/>
              </a:lnSpc>
              <a:buNone/>
            </a:pPr>
            <a:r>
              <a:rPr lang="ar-SA" altLang="en-US" sz="1400" b="1" dirty="0">
                <a:solidFill>
                  <a:srgbClr val="1B3B6F"/>
                </a:solidFill>
                <a:latin typeface="Amiri" pitchFamily="2" charset="-78"/>
                <a:cs typeface="Amiri" pitchFamily="2" charset="-78"/>
              </a:rPr>
              <a:t> لَا يَحْتَفِلُ الجَمِيعُ بِالطَّرِيقَةِ نَفْسِهَا؛ </a:t>
            </a:r>
            <a:pPr rtl="1" algn="r" indent="0" marL="0">
              <a:lnSpc>
                <a:spcPct val="120000"/>
              </a:lnSpc>
              <a:buNone/>
            </a:pPr>
            <a:r>
              <a:rPr lang="ar-SA" altLang="en-US" sz="1400" b="1" dirty="0">
                <a:solidFill>
                  <a:srgbClr val="D6336C"/>
                </a:solidFill>
                <a:latin typeface="Amiri" pitchFamily="2" charset="-78"/>
                <a:cs typeface="Amiri" pitchFamily="2" charset="-78"/>
              </a:rPr>
              <a:t>فَفِي بَعْضِ البُلْدَانِ</a:t>
            </a:r>
            <a:pPr rtl="1" algn="r" indent="0" marL="0">
              <a:lnSpc>
                <a:spcPct val="120000"/>
              </a:lnSpc>
              <a:buNone/>
            </a:pPr>
            <a:r>
              <a:rPr lang="ar-SA" altLang="en-US" sz="1400" b="1" dirty="0">
                <a:solidFill>
                  <a:srgbClr val="1B3B6F"/>
                </a:solidFill>
                <a:latin typeface="Amiri" pitchFamily="2" charset="-78"/>
                <a:cs typeface="Amiri" pitchFamily="2" charset="-78"/>
              </a:rPr>
              <a:t> تَخْتَلِفُ العَادَاتُ.</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Let me think. Last year I attended a party at the cultural centre, and the hall is decorated … sorry, I mean it was decorated with lanterns. As far as I know, not everyone celebrates the same way; in some countries customs differ.</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نَحْتَفِلُ بِالعِيدِ كُلَّ سَنَةٍ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celebrate Eid every year</a:t>
            </a:r>
            <a:endParaRPr lang="en-US" sz="1250" dirty="0"/>
          </a:p>
          <a:p>
            <a:pPr indent="0" marL="0">
              <a:buNone/>
            </a:pPr>
            <a:r>
              <a:rPr lang="en-US" sz="1050" i="1" dirty="0">
                <a:solidFill>
                  <a:srgbClr val="8A6D1E"/>
                </a:solidFill>
                <a:latin typeface="Calibri" pitchFamily="34" charset="0"/>
                <a:cs typeface="Amiri" pitchFamily="2" charset="-78"/>
              </a:rPr>
              <a:t>Verb and preposition said as one unit.</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فِي بَعْضِ العَائِلَاتِ … وَلَيْسَ دَائِمًا</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in some families … and not always</a:t>
            </a:r>
            <a:endParaRPr lang="en-US" sz="1250" dirty="0"/>
          </a:p>
          <a:p>
            <a:pPr indent="0" marL="0">
              <a:buNone/>
            </a:pPr>
            <a:r>
              <a:rPr lang="en-US" sz="1050" i="1" dirty="0">
                <a:solidFill>
                  <a:srgbClr val="8A6D1E"/>
                </a:solidFill>
                <a:latin typeface="Calibri" pitchFamily="34" charset="0"/>
                <a:cs typeface="Amiri" pitchFamily="2" charset="-78"/>
              </a:rPr>
              <a:t>The claim stays accurate.</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أَعْتَزُّ بِلُغَتِي لِأَنَّهَا تَرْبِطُنِي بِجُذُورِي</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am proud of my language because it ties me to my roots</a:t>
            </a:r>
            <a:endParaRPr lang="en-US" sz="1250" dirty="0"/>
          </a:p>
          <a:p>
            <a:pPr indent="0" marL="0">
              <a:buNone/>
            </a:pPr>
            <a:r>
              <a:rPr lang="en-US" sz="1050" i="1" dirty="0">
                <a:solidFill>
                  <a:srgbClr val="8A6D1E"/>
                </a:solidFill>
                <a:latin typeface="Calibri" pitchFamily="34" charset="0"/>
                <a:cs typeface="Amiri" pitchFamily="2" charset="-78"/>
              </a:rPr>
              <a:t>Claim plus reason.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حَضَرْتُ حَفْلًا فِي المَرْكَزِ</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أَنْتَمِي إِلَى ثَقَافَتَيْنِ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نَحْتَفِلُ بِالعِيدِ كُلَّ سَنَةٍ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لِأَنَّهَا تَرْبِطُنِي بِجُذُورِي</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عَلَى سَبِيلِ المِثَالِ</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وَهٰذَا يُذَكِّرُنِي بِطُفُولَتِي</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بَعْضِ البُلْدَانِ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عَلَى حَدِّ عِلْمِي</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لَيْسَ دَائِمًا</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Answer the question</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Extend the answer</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Qualify the claim</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Answer the question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حَضَرْتُ حَفْلًا فِي المَرْكَزِ</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أَنْتَمِي إِلَى ثَقَافَتَيْنِ</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نَحْتَفِلُ بِالعِيدِ كُلَّ سَنَةٍ</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Extend the answer</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لِأَنَّهَا تَرْبِطُنِي بِجُذُورِي</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عَلَى سَبِيلِ المِثَالِ</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وَهٰذَا يُذَكِّرُنِي بِطُفُولَتِي</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Qualify the claim</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بَعْضِ البُلْدَانِ</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عَلَى حَدِّ عِلْمِي</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لَيْسَ دَائِمًا</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buys thinking time in Arabic?</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أَعْرِفُ</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شَيْءَ</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دَعْنِي أُفَكِّرُ</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أَنْتَمِي ___ ثَقَافَتَيْنِ.</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8" name="Text 45"/>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لَا يُمْكِنُ إِنْكَارُ أَنَّ ___ ثَرْوَةٌ.</a:t>
            </a:r>
            <a:endParaRPr lang="ar-SA" sz="150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التَّنَوُّعُ</a:t>
            </a:r>
            <a:endParaRPr lang="ar-SA" sz="20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التَّنَوُّعَ</a:t>
            </a:r>
            <a:endParaRPr lang="ar-SA" sz="20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التَّنَوُّعِ</a:t>
            </a:r>
            <a:endParaRPr lang="ar-SA" sz="20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1" name="Text 5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would score highest in a topic conversation?</a:t>
            </a:r>
            <a:endParaRPr lang="en-US" sz="125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cs typeface="Amiri" pitchFamily="2" charset="-78"/>
              </a:rPr>
              <a:t>حَضَرْتُ حَفْلًا.</a:t>
            </a:r>
            <a:endParaRPr lang="ar-SA" sz="150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cs typeface="Amiri" pitchFamily="2" charset="-78"/>
              </a:rPr>
              <a:t>نَعَمْ، أُحِبُّ الاحْتِفَالَ.</a:t>
            </a:r>
            <a:endParaRPr lang="ar-SA" sz="150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cs typeface="Amiri" pitchFamily="2" charset="-78"/>
              </a:rPr>
              <a:t>حَضَرْتُ حَفْلًا فِي الطُّفُولَةِ، وَنَحْتَفِلُ الآنَ مَعَ الجَالِيَةِ، وَسَأَزُورُ بَلَدَ أُسْرَتِي.</a:t>
            </a:r>
            <a:endParaRPr lang="ar-SA" sz="150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buys thinking time in Arabic?</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لَا أَعْرِفُ</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لَا شَيْءَ</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دَعْنِي أُفَكِّرُ</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short Arabic filler protects the fluency mark.</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أَنْتَمِي ___ ثَقَافَتَيْنِ.</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إِلَى</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مَعَ</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يَنْتَمِي</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2" name="Text 49"/>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لَا يُمْكِنُ إِنْكَارُ أَنَّ ___ ثَرْوَةٌ.</a:t>
            </a:r>
            <a:endParaRPr lang="ar-SA" sz="150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التَّنَوُّعُ</a:t>
            </a:r>
            <a:endParaRPr lang="ar-SA" sz="170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التَّنَوُّعَ</a:t>
            </a:r>
            <a:endParaRPr lang="ar-SA" sz="170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التَّنَوُّعِ</a:t>
            </a:r>
            <a:endParaRPr lang="ar-SA" sz="170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takes an accusative noun.</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7" name="Text 6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would score highest in a topic conversation?</a:t>
            </a:r>
            <a:endParaRPr lang="en-US" sz="125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2" charset="-78"/>
                <a:cs typeface="Amiri" pitchFamily="2" charset="-78"/>
              </a:rPr>
              <a:t>حَضَرْتُ حَفْلًا.</a:t>
            </a:r>
            <a:endParaRPr lang="ar-SA" sz="15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2" charset="-78"/>
                <a:cs typeface="Amiri" pitchFamily="2" charset="-78"/>
              </a:rPr>
              <a:t>نَعَمْ، أُحِبُّ الاحْتِفَالَ.</a:t>
            </a:r>
            <a:endParaRPr lang="ar-SA" sz="150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حَضَرْتُ حَفْلًا فِي الطُّفُولَةِ، وَنَحْتَفِلُ الآنَ مَعَ الجَالِيَةِ، وَسَأَزُورُ بَلَدَ أُسْرَتِي.</a:t>
            </a:r>
            <a:endParaRPr lang="ar-SA" sz="15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moves through three tenses with accurate forms.</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كُلُّ العَرَبِ يَحْتَفِلُونَ بِالطَّرِيقَةِ نَفْسِهَا.</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All, or some?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نَحْتَفِلُ العِيدَ.</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yaḥtafilu + which preposition?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فِي العَامِ المَاضِي أَحْضُرُ حَفْلًا فِي المَرْكَزِ.</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Last year → which tense?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كُلُّ العَرَبِ يَحْتَفِلُونَ بِالطَّرِيقَةِ نَفْسِهَا.</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200" b="1" dirty="0">
                <a:solidFill>
                  <a:srgbClr val="1E6B52"/>
                </a:solidFill>
                <a:latin typeface="Amiri" pitchFamily="2" charset="-78"/>
                <a:cs typeface="Amiri" pitchFamily="2" charset="-78"/>
              </a:rPr>
              <a:t>فِي بَعْضِ البُلْدَانِ يَحْتَفِلُ النَّاسُ بِهٰذِهِ الطَّرِيقَةِ.</a:t>
            </a:r>
            <a:endParaRPr lang="ar-SA" sz="22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claim about a whole population is inaccurate.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نَحْتَفِلُ العِيدَ.</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نَحْتَفِلُ بِالعِيدِ.</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yaḥtafilu requires bi-.</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cs typeface="Amiri" pitchFamily="2" charset="-78"/>
              </a:rPr>
              <a:t>فِي العَامِ المَاضِي أَحْضُرُ حَفْلًا فِي المَرْكَزِ.</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فِي العَامِ المَاضِي حَضَرْتُ حَفْلًا فِي المَرْكَزِ.</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past question needs a past answer.</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Listening: a candidate in the topic conversation</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student open?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time-buying phrase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silence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repeating the question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عَفْوًا، أَقْصِدُ</a:t>
            </a:r>
            <a:pPr algn="l" indent="0" marL="0">
              <a:buNone/>
            </a:pPr>
            <a:r>
              <a:rPr lang="en-US" sz="1250" b="1" dirty="0">
                <a:solidFill>
                  <a:srgbClr val="1B3B6F"/>
                </a:solidFill>
                <a:latin typeface="Calibri" pitchFamily="34" charset="0"/>
                <a:cs typeface="Amiri" pitchFamily="2" charset="-78"/>
              </a:rPr>
              <a:t> signal?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Disagreement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end of the answer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self-correction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she answer the question about everyone celebrating alike?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 everyone is the same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does not answer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as far as she knows; customs differ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opinion structure does she use?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يُمْكِنُ إِنْكَارُ أَنَّ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 المُمْكِنِ أَنْ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رُبَّمَا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she close?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ending abruptly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future commitment to keep learning</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question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Examiner and candidate — listen for her phrases.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المُمْتَحِنُ: صِفْ مُنَاسَبَةً ثَقَافِيَّةً مَرَرْتَ بِهَا. الطَّالِبَةُ: دَعْنِي أُفَكِّرُ.</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Examiner: Describe a cultural occasion you have experienced. Student: Let me think.</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فِي العَامِ المَاضِي حَضَرْتُ حَفْلًا فِي المَرْكَزِ الثَّقَافِيِّ، وَتُزَيَّنُ القَاعَةُ عَادَةً بِالأَعْلَامِ وَالفَوَانِيسِ. عَفْوًا، أَقْصِدُ أَنَّهَا زُيِّنَتْ فِي ذٰلِكَ اليَوْمِ.</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Last year I attended a party at the cultural centre, and the hall is usually decorated with flags and lanterns. Sorry, I mean it was decorated on that day.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المُمْتَحِنُ: وَهَلْ يَحْتَفِلُ كُلُّ النَّاسِ بِالطَّرِيقَةِ نَفْسِهَا؟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Examiner: And does everyone celebrate in the same way?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الطَّالِبَةُ: عَلَى حَدِّ عِلْمِي لَا؛ فَفِي بَعْضِ البُلْدَانِ تَخْتَلِفُ العَادَاتُ، وَلَيْسَ دَائِمًا يَتَشَابَهُ الاحْتِفَالُ.</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Student: As far as I know, no — in some countries customs differ, and the celebration is not always the same.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المُمْتَحِنُ: وَمَا أَهَمِّيَّةُ اللُّغَةِ العَرَبِيَّةِ فِي حَيَاتِكِ؟ الطَّالِبَةُ: لَا يُمْكِنُ إِنْكَارُ أَنَّ اللُّغَةَ جُزْءٌ مِنَ الهُوِيَّةِ، وَأَعْتَزُّ بِهَا، وَسَأُوَاصِلُ تَعَلُّمَهَا.</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Examiner: And how important is Arabic in your life? Student: It cannot be denied that language is part of identity; I am proud of it, and I will keep learning it.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student open?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With a time-buying phrase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silence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repeating the question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دَعْنِي أُفَكِّرُ</a:t>
            </a:r>
            <a:pPr algn="l" indent="0" marL="0">
              <a:buNone/>
            </a:pPr>
            <a:r>
              <a:rPr lang="en-US" sz="1050" i="1" dirty="0">
                <a:solidFill>
                  <a:srgbClr val="8A6D1E"/>
                </a:solidFill>
                <a:latin typeface="Calibri" pitchFamily="34" charset="0"/>
                <a:cs typeface="Amiri" pitchFamily="2" charset="-78"/>
              </a:rPr>
              <a:t> buys a moment in Arabic.</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عَفْوًا، أَقْصِدُ</a:t>
            </a:r>
            <a:pPr algn="l" indent="0" marL="0">
              <a:buNone/>
            </a:pPr>
            <a:r>
              <a:rPr lang="en-US" sz="1250" b="1" dirty="0">
                <a:solidFill>
                  <a:srgbClr val="1B3B6F"/>
                </a:solidFill>
                <a:latin typeface="Calibri" pitchFamily="34" charset="0"/>
                <a:cs typeface="Amiri" pitchFamily="2" charset="-78"/>
              </a:rPr>
              <a:t> signal?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Disagreement</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end of the answer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self-correction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corrects the general present to a specific past passive.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she answer the question about everyone celebrating alike?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Yes, everyone is the same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does not answer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No, as far as she knows; customs differ</a:t>
            </a:r>
            <a:endParaRPr lang="en-US" sz="12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عَلَى حَدِّ عِلْمِي لَا؛ فَفِي بَعْضِ البُلْدَانِ تَخْتَلِفُ العَادَاتُ.</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opinion structure does she use?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لَا يُمْكِنُ إِنْكَارُ أَنَّ</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 المُمْكِنِ أَنْ</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رُبَّمَا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لَا يُمْكِنُ إِنْكَارُ أَنَّ</a:t>
            </a:r>
            <a:pPr algn="l" indent="0" marL="0">
              <a:buNone/>
            </a:pPr>
            <a:r>
              <a:rPr lang="en-US" sz="1050" i="1" dirty="0">
                <a:solidFill>
                  <a:srgbClr val="8A6D1E"/>
                </a:solidFill>
                <a:latin typeface="Calibri" pitchFamily="34" charset="0"/>
                <a:cs typeface="Amiri" pitchFamily="2" charset="-78"/>
              </a:rPr>
              <a:t> introduces a strong supported claim.</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she close?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ending abruptly</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With a future commitment to keep learning</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a question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وَسَأُوَاصِلُ تَعَلُّمَهَا.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Examiner and candidate — listen for her phrases.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Speaking: full topic conversation rehearsal</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بَلَدًا عَرَبِيًّا تُرِيدُ زِيَارَتَهُ. وَلِمَاذَا؟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مُنَاسَبَةً ثَقَافِيَّةً أَوْ دِينِيَّةً مَرَرْتَ بِهَا.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أَهَمِّيَّةُ اللُّغَةِ العَرَبِيَّةِ فِي حَيَاتِكَ؟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أُرِيدُ أَنْ أَزُورَ ___ ، لِأَنَّ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F2A37"/>
                </a:solidFill>
                <a:latin typeface="Amiri" pitchFamily="2" charset="-78"/>
                <a:cs typeface="Amiri" pitchFamily="2" charset="-78"/>
              </a:rPr>
              <a:t>فِي العَامِ المَاضِي حَضَرْتُ ___ ، وَزُيِّنَ / زُيِّنَتْ ___ .</a:t>
            </a:r>
            <a:endParaRPr lang="ar-SA" sz="12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cs typeface="Amiri" pitchFamily="2" charset="-78"/>
              </a:rPr>
              <a:t>لَا يُمْكِنُ إِنْكَارُ أَنَّ ___ ، وَعَلَى حَدِّ عِلْمِي ___ .</a:t>
            </a:r>
            <a:endParaRPr lang="ar-SA" sz="13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صِفْ مُنَاسَبَةً ثَقَافِيَّةً مَرَرْتَ بِهَا.</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Describe a cultural occasion you have experienced.</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فِي العَامِ المَاضِي حَضَرْتُ حَفْلًا فِي المَرْكَزِ الثَّقَافِيِّ، وَزُيِّنَتِ القَاعَةُ بِالفَوَانِيسِ.</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Last year I attended a party at the cultural centre, and the hall was decorated with lanterns.</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Answer four cultural questions aloud using the sentence frames, each with the right preposition.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What was difficult, what you practised, and one target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reason to each answer and one qualifier.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كَانَ + present for an old habit and one cultural verb with its preposition.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 80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Deliver a full topic answer across three tenses with a supported opinion and no overgeneralisation.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your D6 self-review — difficulty, practice, progress, next focus, one qualifier.</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كُنْتُ أَقُولُ ______ بَدَلَ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used to say … instead of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cs typeface="Amiri" pitchFamily="2" charset="-78"/>
              </a:rPr>
              <a:t>عَلَى الرَّغْمِ مِنْ ذٰلِكَ مَا زِلْتُ أَحْتَاجُ إِلَى ______ .</a:t>
            </a:r>
            <a:endParaRPr lang="ar-SA" sz="15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Despite that, I still need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وَأَطْمَحُ إِلَى 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aspire to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عَلَى حَدِّ عِلْمِي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As far as I know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البِدَايَةِ كُنْتُ أُخْطِئُ فِي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At the beginning I used to make mistakes in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ثُمَّ تَدَرَّبْتُ عَلَى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Then I practised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وَالآنَ أَقُولُ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Now I say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وَفِي المُسْتَقْبَلِ سَأُرَكِّزُ عَلَى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future I will focus on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2" charset="-78"/>
                <a:cs typeface="Amiri" pitchFamily="2" charset="-78"/>
              </a:rPr>
              <a:t>كُنْتُ أُخْطِئُ  ·  حُرُوفُ الجَرِّ  ·  تَدَرَّبْتُ عَلَى  ·  وَحْدَةً وَاحِدَةً  ·  كُنْتُ أُعَمِّمُ  ·  فِي بَعْضِ البُلْدَانِ  ·  عَلَى حَدِّ عِلْمِي  ·  مَا زِلْتُ أَحْتَاجُ إِلَى  ·  سُرْعَةٌ فِي الرَّدِّ  ·  سَأُرَكِّزُ عَلَى  ·  أَطْمَحُ إِلَى  ·  دُونَ تَرَدُّدٍ</a:t>
            </a:r>
            <a:endParaRPr lang="ar-SA" sz="13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about eighty words reviewing your own D6 progress. Say what you found difficult, what you practised, how you improved, and what you will focus on next.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four past verbs with accurate suffixes.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a:t>
            </a:r>
            <a:pPr algn="l" indent="0" marL="0">
              <a:buNone/>
            </a:pPr>
            <a:r>
              <a:rPr lang="ar-SA" altLang="en-US" sz="1550" dirty="0">
                <a:solidFill>
                  <a:srgbClr val="1F2A37"/>
                </a:solidFill>
                <a:latin typeface="Amiri" pitchFamily="2" charset="-78"/>
                <a:cs typeface="Amiri" pitchFamily="2" charset="-78"/>
              </a:rPr>
              <a:t>كَانَ</a:t>
            </a:r>
            <a:pPr algn="l" indent="0" marL="0">
              <a:buNone/>
            </a:pPr>
            <a:r>
              <a:rPr lang="en-US" sz="1200" dirty="0">
                <a:solidFill>
                  <a:srgbClr val="1F2A37"/>
                </a:solidFill>
                <a:latin typeface="Calibri" pitchFamily="34" charset="0"/>
                <a:cs typeface="Amiri" pitchFamily="2" charset="-78"/>
              </a:rPr>
              <a:t> plus present construction for an old habit.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cultural verb with its correct preposition.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future focus and one qualifier.</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حَتَّى صَارَا وَحْدَةً وَاحِدَةً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until they became one unit</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رَاجَعْتُ نِقَاطَ ضَعْفِي بِصَرَاحَةٍ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reviewed my weak points honestly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زِلْتُ أَحْتَاجُ إِلَى سُرْعَةٍ أَكْبَرَ</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still need more speed</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سَأُرَكِّزُ عَلَى إِضَافَةِ سَبَبٍ فِي كُلِّ إِجَابَةٍ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focus on adding a reason to every answer</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أَنْ أَتَحَدَّثَ دُونَ تَرَدُّدٍ</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to speak without hesitation</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فِي البِدَايَةِ كُنْتُ أُخْطِئُ فِي حُرُوفِ الجَرِّ مَعَ الأَفْعَالِ الثَّقَافِيَّةِ، فَأَقُولُ نَحْتَفِلُ العِيدَ بَدَلَ نَحْتَفِلُ بِالعِيدِ. ثُمَّ تَدَرَّبْتُ عَلَى كُلِّ فِعْلٍ مَعَ حَرْفِ جَرِّهِ حَتَّى صَارَا وَحْدَةً وَاحِدَةً. وَكُنْتُ أُعَمِّمُ أَحْيَانًا، وَالآنَ أَقُولُ فِي بَعْضِ البُلْدَانِ أَوْ عَلَى حَدِّ عِلْمِي. عَلَى الرَّغْمِ مِنْ ذٰلِكَ مَا زِلْتُ أَحْتَاجُ إِلَى سُرْعَةٍ أَكْبَرَ فِي الرَّدِّ. وَفِي المُسْتَقْبَلِ سَأُرَكِّزُ عَلَى إِضَافَةِ سَبَبٍ فِي كُلِّ إِجَابَةٍ، وَأَطْمَحُ إِلَى أَنْ أَتَحَدَّثَ دُونَ تَرَدُّدٍ.</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At the beginning I used to make mistakes with prepositions after cultural verbs: I said “naḥtafilu al-ʿīda” instead of “naḥtafilu bil-ʿīd”. Then I practised each verb with its preposition until they became one unit. I also sometimes used to generalise, and now I say “in some countries” or “as far as I know”. Despite that, I still need more speed in replying. In the future I will focus on adding a reason to every answer, and I aspire to speak without hesitation.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كَانَ + present (old habit)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four past verbs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cultural verb + preposition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future focus and a qualifier</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in the tense the question used.</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cultural verb had its preposition.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a reason or an example to each answer.</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qualified at least one claim.</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my one priority for the assessment.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question is </a:t>
            </a:r>
            <a:pPr algn="l" indent="0" marL="0">
              <a:buNone/>
            </a:pPr>
            <a:r>
              <a:rPr lang="ar-SA" altLang="en-US" sz="1650" b="1" dirty="0">
                <a:solidFill>
                  <a:srgbClr val="1B3B6F"/>
                </a:solidFill>
                <a:latin typeface="Amiri" pitchFamily="2" charset="-78"/>
                <a:cs typeface="Amiri" pitchFamily="2" charset="-78"/>
              </a:rPr>
              <a:t>صِفْ مُنَاسَبَةً مَرَرْتَ بِهَا</a:t>
            </a:r>
            <a:pPr algn="l" indent="0" marL="0">
              <a:buNone/>
            </a:pPr>
            <a:r>
              <a:rPr lang="en-US" sz="1250" b="1" dirty="0">
                <a:solidFill>
                  <a:srgbClr val="1B3B6F"/>
                </a:solidFill>
                <a:latin typeface="Calibri" pitchFamily="34" charset="0"/>
                <a:cs typeface="Amiri" pitchFamily="2" charset="-78"/>
              </a:rPr>
              <a:t>. Which answer fits?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حَضَرْتُ حَفْلًا فِي المَرْكَزِ.</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أَحْضُرُ حَفْلًا فِي المَرْكَزِ.</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سَأَحْضُرُ حَفْلًا فِي المَرْكَزِ.</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نَحْتَفِلُ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المُنَاسَبَةِ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qualifies a claim?</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 حَدِّ عِلْمِي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بِالتَّأْكِيدِ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دَائِمًا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question is </a:t>
            </a:r>
            <a:pPr algn="l" indent="0" marL="0">
              <a:buNone/>
            </a:pPr>
            <a:r>
              <a:rPr lang="ar-SA" altLang="en-US" sz="1650" b="1" dirty="0">
                <a:solidFill>
                  <a:srgbClr val="1B3B6F"/>
                </a:solidFill>
                <a:latin typeface="Amiri" pitchFamily="2" charset="-78"/>
                <a:cs typeface="Amiri" pitchFamily="2" charset="-78"/>
              </a:rPr>
              <a:t>صِفْ مُنَاسَبَةً مَرَرْتَ بِهَا</a:t>
            </a:r>
            <a:pPr algn="l" indent="0" marL="0">
              <a:buNone/>
            </a:pPr>
            <a:r>
              <a:rPr lang="en-US" sz="1250" b="1" dirty="0">
                <a:solidFill>
                  <a:srgbClr val="1B3B6F"/>
                </a:solidFill>
                <a:latin typeface="Calibri" pitchFamily="34" charset="0"/>
                <a:cs typeface="Amiri" pitchFamily="2" charset="-78"/>
              </a:rPr>
              <a:t>. Which answer fits?</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حَضَرْتُ حَفْلًا فِي المَرْكَزِ.</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أَحْضُرُ حَفْلًا فِي المَرْكَزِ.</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سَأَحْضُرُ حَفْلًا فِي المَرْكَزِ.</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Mirror the tense of the question.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نَحْتَفِلُ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المُنَاسَبَةِ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عَلَى</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بِـ</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فِي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يَحْتَفِلُ</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qualifies a claim?</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عَلَى حَدِّ عِلْمِي</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بِالتَّأْكِيدِ</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دَائِمًا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عَلَى حَدِّ عِلْمِي</a:t>
            </a:r>
            <a:pPr algn="l" indent="0" marL="0">
              <a:buNone/>
            </a:pPr>
            <a:r>
              <a:rPr lang="en-US" sz="1050" i="1" dirty="0">
                <a:solidFill>
                  <a:srgbClr val="8A6D1E"/>
                </a:solidFill>
                <a:latin typeface="Calibri" pitchFamily="34" charset="0"/>
                <a:cs typeface="Amiri" pitchFamily="2" charset="-78"/>
              </a:rPr>
              <a:t> limits the claim to what you know.</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Reading: a candidate's self-review</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450" dirty="0">
                <a:solidFill>
                  <a:srgbClr val="1F2A37"/>
                </a:solidFill>
                <a:latin typeface="Amiri" pitchFamily="2" charset="-78"/>
                <a:cs typeface="Amiri" pitchFamily="2" charset="-78"/>
              </a:rPr>
              <a:t>قَبْلَ التَّقْيِيمِ النِّهَائِيِّ رَاجَعْتُ نِقَاطَ ضَعْفِي بِصَرَاحَةٍ. فِي البِدَايَةِ كُنْتُ أُخْطِئُ فِي حُرُوفِ الجَرِّ مَعَ الأَفْعَالِ الثَّقَافِيَّةِ، فَأَقُولُ نَحْتَفِلُ العِيدَ بَدَلَ نَحْتَفِلُ بِالعِيدِ. ثُمَّ تَدَرَّبْتُ عَلَى كُلِّ فِعْلٍ مَعَ حَرْفِ جَرِّهِ حَتَّى صَارَا وَحْدَةً وَاحِدَةً. وَكُنْتُ أُعَمِّمُ أَحْيَانًا فَأَقُولُ كُلُّ العَرَبِ، وَالآنَ أَقُولُ فِي بَعْضِ البُلْدَانِ أَوْ عَلَى حَدِّ عِلْمِي. عَلَى الرَّغْمِ مِنْ ذٰلِكَ مَا زِلْتُ أَحْتَاجُ إِلَى تَحْسِينِ سُرْعَتِي فِي الرَّدِّ. وَفِي المُسْتَقْبَلِ سَأُرَكِّزُ عَلَى إِضَافَةِ سَبَبٍ فِي كُلِّ إِجَابَةٍ، وَأَطْمَحُ إِلَى أَنْ أَتَحَدَّثَ دُونَ تَرَدُّدٍ.</a:t>
            </a:r>
            <a:endParaRPr lang="ar-SA" sz="24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التَّقْيِيمِ النِّهَائِيِّ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final assessment</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نِقَاطَ ضَعْفِي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weak points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بِصَرَاحَةٍ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honestly</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أُخْطِئُ</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make mistakes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بَدَلَ</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instead of</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حَتَّى صَارَا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until they became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أُعَمِّمُ</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generalise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مَا زِلْتُ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still</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سُرْعَتِي فِي الرَّدِّ</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speed in replying</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دُونَ تَرَدُّدٍ</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without hesitation</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the original weakness?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Vocabulary range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Prepositions with cultural verbs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Pronunciation</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was it fixed?</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Avoiding those verbs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Using English instead</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Practising each verb with its preposition as one unit</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replaced </a:t>
            </a:r>
            <a:pPr algn="l" indent="0" marL="0">
              <a:buNone/>
            </a:pPr>
            <a:r>
              <a:rPr lang="ar-SA" altLang="en-US" sz="1650" b="1" dirty="0">
                <a:solidFill>
                  <a:srgbClr val="1B3B6F"/>
                </a:solidFill>
                <a:latin typeface="Amiri" pitchFamily="2" charset="-78"/>
                <a:cs typeface="Amiri" pitchFamily="2" charset="-78"/>
              </a:rPr>
              <a:t>كُلُّ العَرَبِ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فِي بَعْضِ البُلْدَانِ</a:t>
            </a:r>
            <a:pPr algn="l" indent="0" marL="0">
              <a:buNone/>
            </a:pPr>
            <a:r>
              <a:rPr lang="en-US" sz="1250" dirty="0">
                <a:solidFill>
                  <a:srgbClr val="1F2A37"/>
                </a:solidFill>
                <a:latin typeface="Calibri" pitchFamily="34" charset="0"/>
                <a:cs typeface="Amiri" pitchFamily="2" charset="-78"/>
              </a:rPr>
              <a:t> or </a:t>
            </a:r>
            <a:pPr algn="l" indent="0" marL="0">
              <a:buNone/>
            </a:pPr>
            <a:r>
              <a:rPr lang="ar-SA" altLang="en-US" sz="1650" dirty="0">
                <a:solidFill>
                  <a:srgbClr val="1F2A37"/>
                </a:solidFill>
                <a:latin typeface="Amiri" pitchFamily="2" charset="-78"/>
                <a:cs typeface="Amiri" pitchFamily="2" charset="-78"/>
              </a:rPr>
              <a:t>عَلَى حَدِّ عِلْمِي</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2" charset="-78"/>
                <a:cs typeface="Amiri" pitchFamily="2" charset="-78"/>
              </a:rPr>
              <a:t>لَا أَحَدَ</a:t>
            </a:r>
            <a:endParaRPr lang="ar-SA" sz="220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2" charset="-78"/>
                <a:cs typeface="Amiri" pitchFamily="2" charset="-78"/>
              </a:rPr>
              <a:t>دَائِمًا</a:t>
            </a:r>
            <a:endParaRPr lang="ar-SA" sz="220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still needs improvement?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Grammar knowledge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Speed of response</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Vocabulary</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future focus?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Adding a reason to every answer</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Speaking more quietly</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Using longer words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the original weakness?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Vocabulary range</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Prepositions with cultural verbs</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Pronunciation</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كُنْتُ أُخْطِئُ فِي حُرُوفِ الجَرِّ مَعَ الأَفْعَالِ الثَّقَافِيَّةِ.</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was it fixed?</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Avoiding those verbs</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Using English instead</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Practising each verb with its preposition as one unit</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تَدَرَّبْتُ عَلَى كُلِّ فِعْلٍ مَعَ حَرْفِ جَرِّهِ حَتَّى صَارَا وَحْدَةً وَاحِدَةً.</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replaced </a:t>
            </a:r>
            <a:pPr algn="l" indent="0" marL="0">
              <a:buNone/>
            </a:pPr>
            <a:r>
              <a:rPr lang="ar-SA" altLang="en-US" sz="1650" b="1" dirty="0">
                <a:solidFill>
                  <a:srgbClr val="1B3B6F"/>
                </a:solidFill>
                <a:latin typeface="Amiri" pitchFamily="2" charset="-78"/>
                <a:cs typeface="Amiri" pitchFamily="2" charset="-78"/>
              </a:rPr>
              <a:t>كُلُّ العَرَبِ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cs typeface="Amiri" pitchFamily="2" charset="-78"/>
              </a:rPr>
              <a:t>فِي بَعْضِ البُلْدَانِ</a:t>
            </a:r>
            <a:pPr algn="l" indent="0" marL="0">
              <a:buNone/>
            </a:pPr>
            <a:r>
              <a:rPr lang="en-US" sz="1250" b="1" dirty="0">
                <a:solidFill>
                  <a:srgbClr val="1F2A37"/>
                </a:solidFill>
                <a:latin typeface="Calibri" pitchFamily="34" charset="0"/>
                <a:cs typeface="Amiri" pitchFamily="2" charset="-78"/>
              </a:rPr>
              <a:t> or </a:t>
            </a:r>
            <a:pPr algn="l" indent="0" marL="0">
              <a:buNone/>
            </a:pPr>
            <a:r>
              <a:rPr lang="ar-SA" altLang="en-US" sz="1650" b="1" dirty="0">
                <a:solidFill>
                  <a:srgbClr val="1F2A37"/>
                </a:solidFill>
                <a:latin typeface="Amiri" pitchFamily="2" charset="-78"/>
                <a:cs typeface="Amiri" pitchFamily="2" charset="-78"/>
              </a:rPr>
              <a:t>عَلَى حَدِّ عِلْمِي</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2" charset="-78"/>
                <a:cs typeface="Amiri" pitchFamily="2" charset="-78"/>
              </a:rPr>
              <a:t>لَا أَحَدَ</a:t>
            </a:r>
            <a:endParaRPr lang="ar-SA" sz="220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2" charset="-78"/>
                <a:cs typeface="Amiri" pitchFamily="2" charset="-78"/>
              </a:rPr>
              <a:t>دَائِمًا</a:t>
            </a:r>
            <a:endParaRPr lang="ar-SA" sz="220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الآنَ أَقُولُ فِي بَعْضِ البُلْدَانِ أَوْ عَلَى حَدِّ عِلْمِي.</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still needs improvement?</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Grammar knowledge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Speed of response</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Vocabulary</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مَا زِلْتُ أَحْتَاجُ إِلَى تَحْسِينِ سُرْعَتِي فِي الرَّدِّ.</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future focus?</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Adding a reason to every answer</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Speaking more quietly</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Using longer words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سَأُرَكِّزُ عَلَى إِضَافَةِ سَبَبٍ فِي كُلِّ إِجَابَةٍ.</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Final Consolidation Mission — Everything at Once</a:t>
            </a:r>
            <a:endParaRPr lang="en-US" sz="19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نَحْتَفِلُ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العِيدِ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أَنْتَمِي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ثَقَافَتَيْنِ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يَتَكَيَّفُ</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الحَيَاةِ الجَدِيدَةِ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Tense: the question uses </a:t>
            </a:r>
            <a:pPr algn="l" indent="0" marL="0">
              <a:buNone/>
            </a:pPr>
            <a:r>
              <a:rPr lang="ar-SA" altLang="en-US" sz="1650" b="1" dirty="0">
                <a:solidFill>
                  <a:srgbClr val="1B3B6F"/>
                </a:solidFill>
                <a:latin typeface="Amiri" pitchFamily="2" charset="-78"/>
                <a:cs typeface="Amiri" pitchFamily="2" charset="-78"/>
              </a:rPr>
              <a:t>مَرَرْتَ</a:t>
            </a:r>
            <a:pPr algn="l" indent="0" marL="0">
              <a:buNone/>
            </a:pPr>
            <a:r>
              <a:rPr lang="en-US" sz="1250" b="1" dirty="0">
                <a:solidFill>
                  <a:srgbClr val="1B3B6F"/>
                </a:solidFill>
                <a:latin typeface="Calibri" pitchFamily="34" charset="0"/>
                <a:cs typeface="Amiri" pitchFamily="2" charset="-78"/>
              </a:rPr>
              <a:t>. Which answer mirrors it?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أَحْضُرُ حَفْلًا</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سَأَحْضُرُ حَفْلًا</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حَضَرْتُ حَفْلًا</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Qualification: which is accurate?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فِي بَعْضِ البُلْدَانِ تَخْتَلِفُ العَادَاتُ.</a:t>
            </a:r>
            <a:endParaRPr lang="ar-SA" sz="180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كُلُّ العَرَبِ يَحْتَفِلُونَ بِالطَّرِيقَةِ نَفْسِهَا.</a:t>
            </a:r>
            <a:endParaRPr lang="ar-SA" sz="180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لَا أَحَدَ يَحْتَفِلُ.</a:t>
            </a:r>
            <a:endParaRPr lang="ar-SA" sz="180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Case: complete — </a:t>
            </a:r>
            <a:pPr algn="l" indent="0" marL="0">
              <a:buNone/>
            </a:pPr>
            <a:r>
              <a:rPr lang="ar-SA" altLang="en-US" sz="1650" b="1" dirty="0">
                <a:solidFill>
                  <a:srgbClr val="1B3B6F"/>
                </a:solidFill>
                <a:latin typeface="Amiri" pitchFamily="2" charset="-78"/>
                <a:cs typeface="Amiri" pitchFamily="2" charset="-78"/>
              </a:rPr>
              <a:t>لَا يُمْكِنُ إِنْكَارُ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ثَرْوَةٌ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التَّنَوُّعُ</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التَّنَوُّعَ</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التَّنَوُّعِ</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نَحْتَفِلُ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العِيدِ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بِـ</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يَحْتَفِلُ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أَنْتَمِي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ثَقَافَتَيْنِ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إِلَى</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مَعَ</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يَنْتَمِي</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يَتَكَيَّفُ</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الحَيَاةِ الجَدِيدَةِ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مَعَ</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يَتَكَيَّفُ</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مَعَ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Tense: the question uses </a:t>
            </a:r>
            <a:pPr algn="l" indent="0" marL="0">
              <a:buNone/>
            </a:pPr>
            <a:r>
              <a:rPr lang="ar-SA" altLang="en-US" sz="1650" b="1" dirty="0">
                <a:solidFill>
                  <a:srgbClr val="1B3B6F"/>
                </a:solidFill>
                <a:latin typeface="Amiri" pitchFamily="2" charset="-78"/>
                <a:cs typeface="Amiri" pitchFamily="2" charset="-78"/>
              </a:rPr>
              <a:t>مَرَرْتَ</a:t>
            </a:r>
            <a:pPr algn="l" indent="0" marL="0">
              <a:buNone/>
            </a:pPr>
            <a:r>
              <a:rPr lang="en-US" sz="1250" b="1" dirty="0">
                <a:solidFill>
                  <a:srgbClr val="1B3B6F"/>
                </a:solidFill>
                <a:latin typeface="Calibri" pitchFamily="34" charset="0"/>
                <a:cs typeface="Amiri" pitchFamily="2" charset="-78"/>
              </a:rPr>
              <a:t>. Which answer mirrors it?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أَحْضُرُ حَفْلًا</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سَأَحْضُرُ حَفْلًا</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حَضَرْتُ حَفْلًا</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past question needs a past answer.</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Qualification: which is accurate?</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فِي بَعْضِ البُلْدَانِ تَخْتَلِفُ العَادَاتُ.</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كُلُّ العَرَبِ يَحْتَفِلُونَ بِالطَّرِيقَةِ نَفْسِهَا.</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لَا أَحَدَ يَحْتَفِلُ.</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hedge reports variation accurately.</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Case: complete — </a:t>
            </a:r>
            <a:pPr algn="l" indent="0" marL="0">
              <a:buNone/>
            </a:pPr>
            <a:r>
              <a:rPr lang="ar-SA" altLang="en-US" sz="1650" b="1" dirty="0">
                <a:solidFill>
                  <a:srgbClr val="1B3B6F"/>
                </a:solidFill>
                <a:latin typeface="Amiri" pitchFamily="2" charset="-78"/>
                <a:cs typeface="Amiri" pitchFamily="2" charset="-78"/>
              </a:rPr>
              <a:t>لَا يُمْكِنُ إِنْكَارُ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ثَرْوَةٌ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التَّنَوُّعُ</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التَّنَوُّعَ</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التَّنَوُّعِ</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takes an accusative noun.</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D6-L12: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D6-L12 · D6 Review and Unit Assessment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تَقْيِيمٌ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assessment</a:t>
            </a:r>
            <a:pPr indent="0" marL="0">
              <a:buNone/>
            </a:pPr>
            <a:r>
              <a:rPr lang="en-US" sz="1000" i="1" dirty="0">
                <a:solidFill>
                  <a:srgbClr val="5A6472"/>
                </a:solidFill>
                <a:latin typeface="Calibri" pitchFamily="34" charset="0"/>
                <a:cs typeface="Amiri" pitchFamily="2" charset="-78"/>
              </a:rPr>
              <a:t>  pl. تَقْيِيمَاتٌ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فَهْمُ المَسْمُوعِ</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listening comprehension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فَهْمُ المَقْرُوءِ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reading comprehension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المُحَادَثَةُ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conversation</a:t>
            </a:r>
            <a:pPr indent="0" marL="0">
              <a:buNone/>
            </a:pPr>
            <a:r>
              <a:rPr lang="en-US" sz="1000" i="1" dirty="0">
                <a:solidFill>
                  <a:srgbClr val="5A6472"/>
                </a:solidFill>
                <a:latin typeface="Calibri" pitchFamily="34" charset="0"/>
                <a:cs typeface="Amiri" pitchFamily="2" charset="-78"/>
              </a:rPr>
              <a:t>  pl. المُحَادَثَاتُ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أُرَاجِعُ إِجَابَتِي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check my answer</a:t>
            </a:r>
            <a:pPr indent="0" marL="0">
              <a:buNone/>
            </a:pPr>
            <a:r>
              <a:rPr lang="en-US" sz="1000" i="1" dirty="0">
                <a:solidFill>
                  <a:srgbClr val="5A6472"/>
                </a:solidFill>
                <a:latin typeface="Calibri" pitchFamily="34" charset="0"/>
                <a:cs typeface="Amiri" pitchFamily="2" charset="-78"/>
              </a:rPr>
              <a:t>  تُرَاجِعُ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Prepare three answers for the speaking assessment — one past, one present, one future — each with a reason and one qualifier.</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حَضَرْتُ … لِأَنَّ … · نَحْتَفِلُ بِـ … · سَأَزُورُ … · عَلَى حَدِّ عِلْمِي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cultural verbs with their prepositions; answer the four topic questions aloud.</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Record a 60-second answer with a reason and a qualifier.</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an ≈ 80-word self-review of your D6 progress.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D6-L11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Cambria" pitchFamily="34" charset="0"/>
                <a:cs typeface="Amiri" pitchFamily="2" charset="-78"/>
              </a:rPr>
              <a:t>D6-L12 · D6 Review and Unit Assessment</a:t>
            </a:r>
            <a:endParaRPr lang="en-US" sz="24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المُرَاجَعَةُ وَتَقْيِيمُ الوَحْدَةِ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mirror the tense · verb + preposition as one unit · add </a:t>
            </a:r>
            <a:pPr algn="l" indent="0" marL="0">
              <a:buNone/>
            </a:pPr>
            <a:r>
              <a:rPr lang="ar-SA" altLang="en-US" sz="1700" b="1" dirty="0">
                <a:solidFill>
                  <a:srgbClr val="FFFFFF"/>
                </a:solidFill>
                <a:latin typeface="Amiri" pitchFamily="2" charset="-78"/>
                <a:cs typeface="Amiri" pitchFamily="2" charset="-78"/>
              </a:rPr>
              <a:t>لِأَنَّ</a:t>
            </a:r>
            <a:pPr algn="l" indent="0" marL="0">
              <a:buNone/>
            </a:pPr>
            <a:r>
              <a:rPr lang="en-US" sz="1300" b="1" dirty="0">
                <a:solidFill>
                  <a:srgbClr val="FFFFFF"/>
                </a:solidFill>
                <a:latin typeface="Calibri" pitchFamily="34" charset="0"/>
                <a:cs typeface="Amiri" pitchFamily="2" charset="-78"/>
              </a:rPr>
              <a:t> … · qualify with </a:t>
            </a:r>
            <a:pPr algn="l" indent="0" marL="0">
              <a:buNone/>
            </a:pPr>
            <a:r>
              <a:rPr lang="ar-SA" altLang="en-US" sz="1700" b="1" dirty="0">
                <a:solidFill>
                  <a:srgbClr val="FFFFFF"/>
                </a:solidFill>
                <a:latin typeface="Amiri" pitchFamily="2" charset="-78"/>
                <a:cs typeface="Amiri" pitchFamily="2" charset="-78"/>
              </a:rPr>
              <a:t>فِي بَعْضِ … / عَلَى حَدِّ عِلْمِي</a:t>
            </a:r>
            <a:pPr algn="l" indent="0" marL="0">
              <a:buNone/>
            </a:pPr>
            <a:r>
              <a:rPr lang="en-US" sz="1300" b="1" dirty="0">
                <a:solidFill>
                  <a:srgbClr val="FFFFFF"/>
                </a:solidFill>
                <a:latin typeface="Calibri" pitchFamily="34" charset="0"/>
                <a:cs typeface="Amiri" pitchFamily="2" charset="-78"/>
              </a:rPr>
              <a:t> — and repair in Arabic.</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D6-L11 · D6 Consolidation — Complete Review and Speaking Preparation</dc:title>
  <dc:subject>PptxGenJS Presentation</dc:subject>
  <dc:creator>Al Madina Online School · Arabic Department</dc:creator>
  <cp:lastModifiedBy>Al Madina Online School · Arabic Department</cp:lastModifiedBy>
  <cp:revision>1</cp:revision>
  <dcterms:created xsi:type="dcterms:W3CDTF">2026-10-11T06:41:12Z</dcterms:created>
  <dcterms:modified xsi:type="dcterms:W3CDTF">2026-10-11T06:41:12Z</dcterms:modified>
</cp:coreProperties>
</file>