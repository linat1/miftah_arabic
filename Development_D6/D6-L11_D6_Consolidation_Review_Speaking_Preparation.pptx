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D6-L11. The website lesson “D6 Consolidation — Complete Review and Speaking Preparation”: vocabulary, grammar rules and quiz, patterns, common mistakes, sorter, listening, reading, speaking prompts and model, writing task and model, differentiation, final check and the lesson mission. Picture match: website visual game “D6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D6-L12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D6-L10. Questions 4–5 retrieve D6-L10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(1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(2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D6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(D6-L12 · D6 Review and Unit Assessment) will spend class time USING this language, so students prepare it tonight — short, simple, easy to access (school guidance: “Simple, Short, Interesting, Relevant, Easy to access”). The five words prepare students for the D6-L12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D6 Consolidation — Complete Review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 مُرَاجَعَةٌ شَامِلَةٌ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Hold a fluent topic conversation on culture and identity under pressure: mirror the tense of the question (</a:t>
            </a:r>
            <a:pPr algn="l" indent="0" marL="0">
              <a:buNone/>
            </a:pPr>
            <a:r>
              <a:rPr lang="ar-SA" altLang="en-US" sz="1800" dirty="0">
                <a:solidFill>
                  <a:srgbClr val="C6D2E6"/>
                </a:solidFill>
                <a:latin typeface="Amiri" pitchFamily="2" charset="-78"/>
                <a:ea typeface="Amiri" pitchFamily="2" charset="-78"/>
                <a:cs typeface="Amiri" pitchFamily="2" charset="-78"/>
              </a:rPr>
              <a:t>مَرَرْتَ بِهَا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حَضَرْتُ</a:t>
            </a:r>
            <a:pPr algn="l" indent="0" marL="0">
              <a:buNone/>
            </a:pPr>
            <a:r>
              <a:rPr lang="en-US" sz="1400" dirty="0">
                <a:solidFill>
                  <a:srgbClr val="C6D2E6"/>
                </a:solidFill>
                <a:latin typeface="Calibri" pitchFamily="34" charset="0"/>
                <a:cs typeface="Amiri" pitchFamily="2" charset="-78"/>
              </a:rPr>
              <a:t>), say verb + preposition as one unit (</a:t>
            </a:r>
            <a:pPr algn="l" indent="0" marL="0">
              <a:buNone/>
            </a:pPr>
            <a:r>
              <a:rPr lang="ar-SA" altLang="en-US" sz="1800" dirty="0">
                <a:solidFill>
                  <a:srgbClr val="C6D2E6"/>
                </a:solidFill>
                <a:latin typeface="Amiri" pitchFamily="2" charset="-78"/>
                <a:ea typeface="Amiri" pitchFamily="2" charset="-78"/>
                <a:cs typeface="Amiri" pitchFamily="2" charset="-78"/>
              </a:rPr>
              <a:t>نَحْتَفِلُ بِـ</a:t>
            </a:r>
            <a:pPr algn="l" indent="0" marL="0">
              <a:buNone/>
            </a:pPr>
            <a:r>
              <a:rPr lang="en-US" sz="1400" dirty="0">
                <a:solidFill>
                  <a:srgbClr val="C6D2E6"/>
                </a:solidFill>
                <a:latin typeface="Calibri" pitchFamily="34" charset="0"/>
                <a:cs typeface="Amiri" pitchFamily="2" charset="-78"/>
              </a:rPr>
              <a:t>), add a reason (</a:t>
            </a:r>
            <a:pPr algn="l" indent="0" marL="0">
              <a:buNone/>
            </a:pPr>
            <a:r>
              <a:rPr lang="ar-SA" altLang="en-US" sz="1800" dirty="0">
                <a:solidFill>
                  <a:srgbClr val="C6D2E6"/>
                </a:solidFill>
                <a:latin typeface="Amiri" pitchFamily="2" charset="-78"/>
                <a:ea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 — and qualify as you speak (</a:t>
            </a:r>
            <a:pPr algn="l" indent="0" marL="0">
              <a:buNone/>
            </a:pPr>
            <a:r>
              <a:rPr lang="ar-SA" altLang="en-US" sz="1800" dirty="0">
                <a:solidFill>
                  <a:srgbClr val="C6D2E6"/>
                </a:solidFill>
                <a:latin typeface="Amiri" pitchFamily="2" charset="-78"/>
                <a:ea typeface="Amiri" pitchFamily="2" charset="-78"/>
                <a:cs typeface="Amiri" pitchFamily="2" charset="-78"/>
              </a:rPr>
              <a:t>فِي بَعْضِ البُلْدَانِ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عَلَى حَدِّ عِلْمِي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D6-L11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حَضَرْتُ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نَحْتَفِلُ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qualify one claim (</a:t>
            </a:r>
            <a:pPr algn="l" indent="0" marL="0">
              <a:buNone/>
            </a:pPr>
            <a:r>
              <a:rPr lang="ar-SA" altLang="en-US" sz="1700" b="1" dirty="0">
                <a:solidFill>
                  <a:srgbClr val="C9780A"/>
                </a:solidFill>
                <a:latin typeface="Amiri" pitchFamily="2" charset="-78"/>
                <a:ea typeface="Amiri" pitchFamily="2" charset="-78"/>
                <a:cs typeface="Amiri" pitchFamily="2" charset="-78"/>
              </a:rPr>
              <a:t>فِي بَعْضِ</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D6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‎تقییم / قدر‎ </a:t>
            </a:r>
            <a:pPr indent="0" marL="0">
              <a:buNone/>
            </a:pPr>
            <a:r>
              <a:rPr lang="ar-SA" sz="950" b="1" dirty="0">
                <a:solidFill>
                  <a:srgbClr val="2E8B57"/>
                </a:solidFill>
                <a:latin typeface="Calibri" pitchFamily="34" charset="0"/>
                <a:ea typeface="Amiri" pitchFamily="2" charset="-78"/>
                <a:cs typeface="Amiri" pitchFamily="2" charset="-78"/>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‎علم‎ </a:t>
            </a:r>
            <a:pPr indent="0" marL="0">
              <a:buNone/>
            </a:pPr>
            <a:r>
              <a:rPr lang="ar-SA" sz="950" b="1" dirty="0">
                <a:solidFill>
                  <a:srgbClr val="2E8B57"/>
                </a:solidFill>
                <a:latin typeface="Calibri" pitchFamily="34" charset="0"/>
                <a:ea typeface="Amiri" pitchFamily="2" charset="-78"/>
                <a:cs typeface="Amiri" pitchFamily="2" charset="-78"/>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‎عبارت‎ </a:t>
            </a:r>
            <a:pPr indent="0" marL="0">
              <a:buNone/>
            </a:pPr>
            <a:r>
              <a:rPr lang="en-US" sz="950" b="1" dirty="0">
                <a:solidFill>
                  <a:srgbClr val="2E8B57"/>
                </a:solidFill>
                <a:latin typeface="Calibri" pitchFamily="34" charset="0"/>
                <a:cs typeface="Amiri" pitchFamily="2" charset="-78"/>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‎عام‎ </a:t>
            </a:r>
            <a:pPr indent="0" marL="0">
              <a:buNone/>
            </a:pPr>
            <a:r>
              <a:rPr lang="ar-SA" sz="950" b="1" dirty="0">
                <a:solidFill>
                  <a:srgbClr val="2E8B57"/>
                </a:solidFill>
                <a:latin typeface="Calibri" pitchFamily="34" charset="0"/>
                <a:ea typeface="Amiri" pitchFamily="2" charset="-78"/>
                <a:cs typeface="Amiri" pitchFamily="2" charset="-78"/>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final review</a:t>
            </a:r>
            <a:endParaRPr lang="en-US" sz="1350" dirty="0"/>
          </a:p>
          <a:p>
            <a:pPr indent="0" marL="0">
              <a:buNone/>
            </a:pPr>
            <a:r>
              <a:rPr lang="en-US" sz="1100" i="1" dirty="0">
                <a:solidFill>
                  <a:srgbClr val="5A6472"/>
                </a:solidFill>
                <a:latin typeface="Calibri" pitchFamily="34" charset="0"/>
                <a:cs typeface="Amiri" pitchFamily="2" charset="-78"/>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self-assessment</a:t>
            </a:r>
            <a:endParaRPr lang="en-US" sz="1350" dirty="0"/>
          </a:p>
          <a:p>
            <a:pPr indent="0" marL="0">
              <a:buNone/>
            </a:pPr>
            <a:r>
              <a:rPr lang="en-US" sz="1100" i="1" dirty="0">
                <a:solidFill>
                  <a:srgbClr val="5A6472"/>
                </a:solidFill>
                <a:latin typeface="Calibri" pitchFamily="34" charset="0"/>
                <a:cs typeface="Amiri" pitchFamily="2" charset="-78"/>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spine to reuse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spine to reuse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 / are exchanged</a:t>
            </a:r>
            <a:endParaRPr lang="en-US" sz="1350" dirty="0"/>
          </a:p>
          <a:p>
            <a:pPr indent="0" marL="0">
              <a:buNone/>
            </a:pPr>
            <a:r>
              <a:rPr lang="en-US" sz="1100" i="1" dirty="0">
                <a:solidFill>
                  <a:srgbClr val="5A6472"/>
                </a:solidFill>
                <a:latin typeface="Calibri" pitchFamily="34" charset="0"/>
                <a:cs typeface="Amiri" pitchFamily="2" charset="-78"/>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far as I know</a:t>
            </a:r>
            <a:endParaRPr lang="en-US" sz="1350" dirty="0"/>
          </a:p>
          <a:p>
            <a:pPr indent="0" marL="0">
              <a:buNone/>
            </a:pPr>
            <a:r>
              <a:rPr lang="en-US" sz="1100" i="1" dirty="0">
                <a:solidFill>
                  <a:srgbClr val="5A6472"/>
                </a:solidFill>
                <a:latin typeface="Calibri" pitchFamily="34" charset="0"/>
                <a:cs typeface="Amiri" pitchFamily="2" charset="-78"/>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varies</a:t>
            </a:r>
            <a:endParaRPr lang="en-US" sz="1350" dirty="0"/>
          </a:p>
          <a:p>
            <a:pPr indent="0" marL="0">
              <a:buNone/>
            </a:pPr>
            <a:r>
              <a:rPr lang="en-US" sz="1100" i="1" dirty="0">
                <a:solidFill>
                  <a:srgbClr val="5A6472"/>
                </a:solidFill>
                <a:latin typeface="Calibri" pitchFamily="34" charset="0"/>
                <a:cs typeface="Amiri" pitchFamily="2" charset="-78"/>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generalise</a:t>
            </a:r>
            <a:endParaRPr lang="en-US" sz="1350" dirty="0"/>
          </a:p>
          <a:p>
            <a:pPr indent="0" marL="0">
              <a:buNone/>
            </a:pPr>
            <a:r>
              <a:rPr lang="en-US" sz="1100" i="1" dirty="0">
                <a:solidFill>
                  <a:srgbClr val="5A6472"/>
                </a:solidFill>
                <a:latin typeface="Calibri" pitchFamily="34" charset="0"/>
                <a:cs typeface="Amiri" pitchFamily="2" charset="-78"/>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العَامِ المَاضِي </a:t>
            </a:r>
            <a:pPr rtl="1" algn="ctr" indent="0" marL="0">
              <a:buNone/>
            </a:pPr>
            <a:r>
              <a:rPr lang="ar-SA" altLang="en-US" sz="2100" b="1" dirty="0">
                <a:solidFill>
                  <a:srgbClr val="0E7C86"/>
                </a:solidFill>
                <a:latin typeface="Amiri" pitchFamily="2" charset="-78"/>
                <a:ea typeface="Amiri" pitchFamily="2" charset="-78"/>
                <a:cs typeface="Amiri" pitchFamily="2" charset="-78"/>
              </a:rPr>
              <a:t>حَضَرْتُ</a:t>
            </a:r>
            <a:pPr rtl="1" algn="ctr" indent="0" marL="0">
              <a:buNone/>
            </a:pPr>
            <a:r>
              <a:rPr lang="ar-SA" altLang="en-US" sz="2100" b="1" dirty="0">
                <a:solidFill>
                  <a:srgbClr val="1B3B6F"/>
                </a:solidFill>
                <a:latin typeface="Amiri" pitchFamily="2" charset="-78"/>
                <a:ea typeface="Amiri" pitchFamily="2" charset="-78"/>
                <a:cs typeface="Amiri" pitchFamily="2" charset="-78"/>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مُنَاسَبَةً </a:t>
            </a:r>
            <a:pPr rtl="1" algn="ctr" indent="0" marL="0">
              <a:buNone/>
            </a:pPr>
            <a:r>
              <a:rPr lang="ar-SA" altLang="en-US" sz="2000" b="1" dirty="0">
                <a:solidFill>
                  <a:srgbClr val="0E7C86"/>
                </a:solidFill>
                <a:latin typeface="Amiri" pitchFamily="2" charset="-78"/>
                <a:ea typeface="Amiri" pitchFamily="2" charset="-78"/>
                <a:cs typeface="Amiri" pitchFamily="2" charset="-78"/>
              </a:rPr>
              <a:t>مَرَرْتَ</a:t>
            </a:r>
            <a:pPr rtl="1" algn="ctr" indent="0" marL="0">
              <a:buNone/>
            </a:pPr>
            <a:r>
              <a:rPr lang="ar-SA" altLang="en-US" sz="2000" b="1" dirty="0">
                <a:solidFill>
                  <a:srgbClr val="1B3B6F"/>
                </a:solidFill>
                <a:latin typeface="Amiri" pitchFamily="2" charset="-78"/>
                <a:ea typeface="Amiri" pitchFamily="2" charset="-78"/>
                <a:cs typeface="Amiri" pitchFamily="2" charset="-78"/>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نَحْتَفِلُ بِالعِيدِ</a:t>
            </a:r>
            <a:pPr rtl="1" algn="ctr" indent="0" marL="0">
              <a:buNone/>
            </a:pPr>
            <a:r>
              <a:rPr lang="ar-SA" altLang="en-US" sz="2100" b="1" dirty="0">
                <a:solidFill>
                  <a:srgbClr val="1B3B6F"/>
                </a:solidFill>
                <a:latin typeface="Amiri" pitchFamily="2" charset="-78"/>
                <a:ea typeface="Amiri" pitchFamily="2" charset="-78"/>
                <a:cs typeface="Amiri" pitchFamily="2" charset="-78"/>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كَيْفَ </a:t>
            </a:r>
            <a:pPr rtl="1" algn="ctr" indent="0" marL="0">
              <a:buNone/>
            </a:pPr>
            <a:r>
              <a:rPr lang="ar-SA" altLang="en-US" sz="2000" b="1" dirty="0">
                <a:solidFill>
                  <a:srgbClr val="D6336C"/>
                </a:solidFill>
                <a:latin typeface="Amiri" pitchFamily="2" charset="-78"/>
                <a:ea typeface="Amiri" pitchFamily="2" charset="-78"/>
                <a:cs typeface="Amiri" pitchFamily="2" charset="-78"/>
              </a:rPr>
              <a:t>تَحْتَفِلُونَ</a:t>
            </a:r>
            <a:pPr rtl="1" algn="ctr" indent="0" marL="0">
              <a:buNone/>
            </a:pPr>
            <a:r>
              <a:rPr lang="ar-SA" altLang="en-US" sz="2000" b="1" dirty="0">
                <a:solidFill>
                  <a:srgbClr val="1B3B6F"/>
                </a:solidFill>
                <a:latin typeface="Amiri" pitchFamily="2" charset="-78"/>
                <a:ea typeface="Amiri" pitchFamily="2" charset="-78"/>
                <a:cs typeface="Amiri" pitchFamily="2" charset="-78"/>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أَنْتَمِي إِلَى</a:t>
            </a:r>
            <a:pPr rtl="1" algn="ctr" indent="0" marL="0">
              <a:buNone/>
            </a:pPr>
            <a:r>
              <a:rPr lang="ar-SA" altLang="en-US" sz="2100" b="1" dirty="0">
                <a:solidFill>
                  <a:srgbClr val="1B3B6F"/>
                </a:solidFill>
                <a:latin typeface="Amiri" pitchFamily="2" charset="-78"/>
                <a:ea typeface="Amiri" pitchFamily="2" charset="-78"/>
                <a:cs typeface="Amiri" pitchFamily="2" charset="-78"/>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إِلَى أَيِّ ثَقَافَةٍ </a:t>
            </a:r>
            <a:pPr rtl="1" algn="ctr" indent="0" marL="0">
              <a:buNone/>
            </a:pPr>
            <a:r>
              <a:rPr lang="ar-SA" altLang="en-US" sz="2000" b="1" dirty="0">
                <a:solidFill>
                  <a:srgbClr val="D6336C"/>
                </a:solidFill>
                <a:latin typeface="Amiri" pitchFamily="2" charset="-78"/>
                <a:ea typeface="Amiri" pitchFamily="2" charset="-78"/>
                <a:cs typeface="Amiri" pitchFamily="2" charset="-78"/>
              </a:rPr>
              <a:t>تَنْتَمِي</a:t>
            </a:r>
            <a:pPr rtl="1" algn="ctr" indent="0" marL="0">
              <a:buNone/>
            </a:pPr>
            <a:r>
              <a:rPr lang="ar-SA" altLang="en-US" sz="2000" b="1" dirty="0">
                <a:solidFill>
                  <a:srgbClr val="1B3B6F"/>
                </a:solidFill>
                <a:latin typeface="Amiri" pitchFamily="2" charset="-78"/>
                <a:ea typeface="Amiri" pitchFamily="2" charset="-78"/>
                <a:cs typeface="Amiri" pitchFamily="2" charset="-78"/>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سَأَزُورُ</a:t>
            </a:r>
            <a:pPr rtl="1" algn="ctr" indent="0" marL="0">
              <a:buNone/>
            </a:pPr>
            <a:r>
              <a:rPr lang="ar-SA" altLang="en-US" sz="2100" b="1" dirty="0">
                <a:solidFill>
                  <a:srgbClr val="1B3B6F"/>
                </a:solidFill>
                <a:latin typeface="Amiri" pitchFamily="2" charset="-78"/>
                <a:ea typeface="Amiri" pitchFamily="2" charset="-78"/>
                <a:cs typeface="Amiri" pitchFamily="2" charset="-78"/>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a:t>
            </a:r>
            <a:pPr rtl="1" algn="ctr" indent="0" marL="0">
              <a:buNone/>
            </a:pPr>
            <a:r>
              <a:rPr lang="ar-SA" altLang="en-US" sz="2000" b="1" dirty="0">
                <a:solidFill>
                  <a:srgbClr val="1D5FBF"/>
                </a:solidFill>
                <a:latin typeface="Amiri" pitchFamily="2" charset="-78"/>
                <a:ea typeface="Amiri" pitchFamily="2" charset="-78"/>
                <a:cs typeface="Amiri" pitchFamily="2" charset="-78"/>
              </a:rPr>
              <a:t>سَتَفْعَلُ</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D6 system under speaking pressure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claim + </a:t>
            </a:r>
            <a:pPr algn="l" indent="0" marL="0">
              <a:buNone/>
            </a:pPr>
            <a:r>
              <a:rPr lang="ar-SA" altLang="en-US" sz="1350" dirty="0">
                <a:solidFill>
                  <a:srgbClr val="5A6472"/>
                </a:solidFill>
                <a:latin typeface="Amiri" pitchFamily="2" charset="-78"/>
                <a:ea typeface="Amiri" pitchFamily="2" charset="-78"/>
                <a:cs typeface="Amiri" pitchFamily="2" charset="-78"/>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ea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ea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حَضَرْتُ</a:t>
            </a:r>
            <a:pPr rtl="1" algn="ctr" indent="0" marL="0">
              <a:buNone/>
            </a:pPr>
            <a:r>
              <a:rPr lang="ar-SA" altLang="en-US" sz="2800" b="1" dirty="0">
                <a:solidFill>
                  <a:srgbClr val="1B3B6F"/>
                </a:solidFill>
                <a:latin typeface="Amiri" pitchFamily="2" charset="-78"/>
                <a:ea typeface="Amiri" pitchFamily="2" charset="-78"/>
                <a:cs typeface="Amiri" pitchFamily="2" charset="-78"/>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عَفْوًا، أَقْصِدُ</a:t>
            </a:r>
            <a:pPr rtl="1" algn="ctr" indent="0" marL="0">
              <a:buNone/>
            </a:pPr>
            <a:r>
              <a:rPr lang="ar-SA" altLang="en-US" sz="2800" b="1" dirty="0">
                <a:solidFill>
                  <a:srgbClr val="1B3B6F"/>
                </a:solidFill>
                <a:latin typeface="Amiri" pitchFamily="2" charset="-78"/>
                <a:ea typeface="Amiri" pitchFamily="2" charset="-78"/>
                <a:cs typeface="Amiri" pitchFamily="2" charset="-78"/>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عَلَى حَدِّ عِلْمِي</a:t>
            </a:r>
            <a:pPr rtl="1" algn="ctr" indent="0" marL="0">
              <a:buNone/>
            </a:pPr>
            <a:r>
              <a:rPr lang="ar-SA" altLang="en-US" sz="2800" b="1" dirty="0">
                <a:solidFill>
                  <a:srgbClr val="1B3B6F"/>
                </a:solidFill>
                <a:latin typeface="Amiri" pitchFamily="2" charset="-78"/>
                <a:ea typeface="Amiri" pitchFamily="2" charset="-78"/>
                <a:cs typeface="Amiri" pitchFamily="2" charset="-78"/>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دَعْنِي أُفَكِّرُ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العَامِ المَاضِي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حَضَرْتُ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حَفْلًا فِي المَرْكَزِ الثَّقَافِيِّ، وَتُزَيَّنُ القَاعَةُ …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عَفْوًا، أَقْصِدُ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أَنَّهَا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زُيِّنَتْ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بِالفَوَانِيسِ.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عَلَى حَدِّ عِلْمِي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لَا يَحْتَفِلُ الجَمِيعُ بِالطَّرِيقَةِ نَفْسِهَا؛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فَفِي بَعْضِ البُلْدَانِ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celebrate Eid every year</a:t>
            </a:r>
            <a:endParaRPr lang="en-US" sz="1250" dirty="0"/>
          </a:p>
          <a:p>
            <a:pPr indent="0" marL="0">
              <a:buNone/>
            </a:pPr>
            <a:r>
              <a:rPr lang="en-US" sz="1050" i="1" dirty="0">
                <a:solidFill>
                  <a:srgbClr val="8A6D1E"/>
                </a:solidFill>
                <a:latin typeface="Calibri" pitchFamily="34" charset="0"/>
                <a:cs typeface="Amiri" pitchFamily="2" charset="-78"/>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 and not always</a:t>
            </a:r>
            <a:endParaRPr lang="en-US" sz="1250" dirty="0"/>
          </a:p>
          <a:p>
            <a:pPr indent="0" marL="0">
              <a:buNone/>
            </a:pPr>
            <a:r>
              <a:rPr lang="en-US" sz="1050" i="1" dirty="0">
                <a:solidFill>
                  <a:srgbClr val="8A6D1E"/>
                </a:solidFill>
                <a:latin typeface="Calibri" pitchFamily="34" charset="0"/>
                <a:cs typeface="Amiri" pitchFamily="2" charset="-78"/>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proud of my language because it ties me to my roots</a:t>
            </a:r>
            <a:endParaRPr lang="en-US" sz="1250" dirty="0"/>
          </a:p>
          <a:p>
            <a:pPr indent="0" marL="0">
              <a:buNone/>
            </a:pPr>
            <a:r>
              <a:rPr lang="en-US" sz="1050" i="1" dirty="0">
                <a:solidFill>
                  <a:srgbClr val="8A6D1E"/>
                </a:solidFill>
                <a:latin typeface="Calibri" pitchFamily="34" charset="0"/>
                <a:cs typeface="Amiri" pitchFamily="2" charset="-78"/>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دَعْنِي أُفَكِّرُ</a:t>
            </a:r>
            <a:pPr algn="l" indent="0" marL="0">
              <a:buNone/>
            </a:pPr>
            <a:r>
              <a:rPr lang="en-US" sz="1050" i="1" dirty="0">
                <a:solidFill>
                  <a:srgbClr val="8A6D1E"/>
                </a:solidFill>
                <a:latin typeface="Calibri" pitchFamily="34" charset="0"/>
                <a:cs typeface="Amiri" pitchFamily="2" charset="-78"/>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يُمْكِنُ إِنْكَارُ أَنَّ</a:t>
            </a:r>
            <a:pPr algn="l" indent="0" marL="0">
              <a:buNone/>
            </a:pPr>
            <a:r>
              <a:rPr lang="en-US" sz="1050" i="1" dirty="0">
                <a:solidFill>
                  <a:srgbClr val="8A6D1E"/>
                </a:solidFill>
                <a:latin typeface="Calibri" pitchFamily="34" charset="0"/>
                <a:cs typeface="Amiri" pitchFamily="2" charset="-78"/>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بَلَدًا عَرَبِيًّا تُرِيدُ زِيَارَتَهُ.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مُنَاسَبَةً ثَقَافِيَّةً أَوْ دِينِيَّةً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أَهَمِّيَّةُ اللُّغَةِ العَرَبِيَّةِ فِي حَيَاتِكَ؟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أَنْ أَزُورَ ___ ،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فِي العَامِ المَاضِي حَضَرْتُ ___ ، وَزُيِّنَ / زُيِّنَتْ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لَا يُمْكِنُ إِنْكَارُ أَنَّ ___ ، وَعَلَى حَدِّ عِلْمِي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مُنَاسَبَةً ثَقَافِيَّةً مَرَرْتَ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cultural occasion you have experienced.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العَامِ المَاضِي حَضَرْتُ حَفْلًا فِي المَرْكَزِ الثَّقَافِيِّ، وَزُيِّنَتِ القَاعَةُ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Last year I attended a party at the cultural centre, and the hall was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D6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reviewing your own D6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حَدِّ عِلْمِي</a:t>
            </a:r>
            <a:pPr algn="l" indent="0" marL="0">
              <a:buNone/>
            </a:pPr>
            <a:r>
              <a:rPr lang="en-US" sz="1050" i="1" dirty="0">
                <a:solidFill>
                  <a:srgbClr val="8A6D1E"/>
                </a:solidFill>
                <a:latin typeface="Calibri" pitchFamily="34" charset="0"/>
                <a:cs typeface="Amiri" pitchFamily="2" charset="-78"/>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ea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 بَعْضِ البُلْدَانِ</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ea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فِي بَعْضِ البُلْدَانِ</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ea typeface="Amiri" pitchFamily="2" charset="-78"/>
                <a:cs typeface="Amiri" pitchFamily="2" charset="-78"/>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ea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ea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D6-L12 · D6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ar-SA" sz="1000" i="1" dirty="0">
                <a:solidFill>
                  <a:srgbClr val="5A6472"/>
                </a:solidFill>
                <a:latin typeface="Calibri" pitchFamily="34" charset="0"/>
                <a:ea typeface="Amiri" pitchFamily="2" charset="-78"/>
                <a:cs typeface="Amiri" pitchFamily="2" charset="-78"/>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 80-word self-review of your D6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D6-L12 · D6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mirror the tense · verb + preposition as one unit · add </a:t>
            </a:r>
            <a:pPr algn="l" indent="0" marL="0">
              <a:buNone/>
            </a:pPr>
            <a:r>
              <a:rPr lang="ar-SA" altLang="en-US" sz="1700" b="1" dirty="0">
                <a:solidFill>
                  <a:srgbClr val="FFFFFF"/>
                </a:solidFill>
                <a:latin typeface="Amiri" pitchFamily="2" charset="-78"/>
                <a:ea typeface="Amiri" pitchFamily="2" charset="-78"/>
                <a:cs typeface="Amiri" pitchFamily="2" charset="-78"/>
              </a:rPr>
              <a:t>لِأَنَّ</a:t>
            </a:r>
            <a:pPr algn="l" indent="0" marL="0">
              <a:buNone/>
            </a:pPr>
            <a:r>
              <a:rPr lang="en-US" sz="1300" b="1" dirty="0">
                <a:solidFill>
                  <a:srgbClr val="FFFFFF"/>
                </a:solidFill>
                <a:latin typeface="Calibri" pitchFamily="34" charset="0"/>
                <a:cs typeface="Amiri" pitchFamily="2" charset="-78"/>
              </a:rPr>
              <a:t> … · qualify with </a:t>
            </a:r>
            <a:pPr algn="l" indent="0" marL="0">
              <a:buNone/>
            </a:pPr>
            <a:r>
              <a:rPr lang="ar-SA" altLang="en-US" sz="1700" b="1" dirty="0">
                <a:solidFill>
                  <a:srgbClr val="FFFFFF"/>
                </a:solidFill>
                <a:latin typeface="Amiri" pitchFamily="2" charset="-78"/>
                <a:ea typeface="Amiri" pitchFamily="2" charset="-78"/>
                <a:cs typeface="Amiri" pitchFamily="2" charset="-78"/>
              </a:rPr>
              <a:t>فِي بَعْضِ … / عَلَى حَدِّ عِلْمِي</a:t>
            </a:r>
            <a:pPr algn="l" indent="0" marL="0">
              <a:buNone/>
            </a:pPr>
            <a:r>
              <a:rPr lang="en-US" sz="1300" b="1" dirty="0">
                <a:solidFill>
                  <a:srgbClr val="FFFFFF"/>
                </a:solidFill>
                <a:latin typeface="Calibri" pitchFamily="34" charset="0"/>
                <a:cs typeface="Amiri" pitchFamily="2" charset="-78"/>
              </a:rPr>
              <a:t> — and repair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D6-L11 · D6 Consolidation — Complete Review and Speaking Preparation</dc:title>
  <dc:subject>PptxGenJS Presentation</dc:subject>
  <dc:creator>Al Madina Online School · Arabic Department</dc:creator>
  <cp:lastModifiedBy>Al Madina Online School · Arabic Department</cp:lastModifiedBy>
  <cp:revision>1</cp:revision>
  <dcterms:created xsi:type="dcterms:W3CDTF">2026-10-11T06:41:12Z</dcterms:created>
  <dcterms:modified xsi:type="dcterms:W3CDTF">2026-10-11T06:41:12Z</dcterms:modified>
</cp:coreProperties>
</file>