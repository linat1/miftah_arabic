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D6-L11. The website lesson “D6 Consolidation — Complete Review and Speaking Preparation”: vocabulary, grammar rules and quiz, patterns, common mistakes, sorter, listening, reading, speaking prompts and model, writing task and model, differentiation, final check and the lesson mission. Picture match: website visual game “D6 Consolidation — Complete Review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answer four cultural questions aloud with the frames, each verb with its preposition. Develop: add a reason (لِأَنَّ) and one qualifier to every answer. Stretch: a full topic answer across three tenses with a supported opinion and no overgeneralisation — then the website ~80-word self-review.
• This is the speaking rehearsal for the D6-L12 assessment (topic conversation on ثَقَافَتِي وَهُوِيَّتِي). Run the checklist ALOUD: mirror the tense → fix the preposition → add a reason → qualify the claim.
• Fairness and adab: كُلُّ العَرَبِ / كُلُّ المُسْلِمِينَ … is inaccurate as well as unkind to real diversity. One extra second (فِي بَعْضِ البُلْدَانِ) keeps statements true. Collect each student’s “one priority” for L12.
• TEACHER-WRITTEN ITEMS: one English quiz option replaced with Arabic, the English-description mistake replaced with an Arabic tense slip, and English added to the patterns and speaking model; the website visual game repeats D6-L02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D6-L10. Questions 4–5 retrieve D6-L10 (hedges ·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Mirror the tense → fix the preposition → add a reason → qualify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علم، عام are shared — عام in Urdu means “common, general”, the root of Arabic أُعَمِّمُ (I generalise). CAREFUL: Urdu عبارت = a passage of text; Arabic بِعِبَارَةٍ أُخْرَى = in other words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(1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with control (website vocabulary (2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D6 spine to reuse (website vocabulary (1 of 2)). Hear → Say → See → Use. Transliteration is printed for Core students (cover it for Develop/Stretch).
FLEX: teach if time allows; otherwise these are on the website vocabulary tab for homework.
The D6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D6 spine to reuse (website vocabulary (2 of 2)). Hear → Say → See → Use. Transliteration is printed for Core students (cover it for Develop/Stretch).
FLEX: teach if time allows; otherwise these are on the website vocabulary tab for homework.
The D6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(1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(2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“Mirror the tense of the question” (past question → past answer) and “Cultural verb plus preposition” (say the verb and the preposition as one unit so the pair never comes apart under pressure).
Drill: teacher says the verb, class answers with the preposition — يَحْتَفِلُ → بِـ · يَنْتَمِي → إِلَى · يَتَكَيَّفُ → مَعَ · يَحْتَفِظُ → بِـ · يَعْتَزُّ → بِـ · يَطْمَحُ →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with a reason or an example” (a bare answer scores little; one extension turns it into a response) and “Qualify as you speak” (a qualifier keeps a cultural statement accurate and shows control of register).
Website teaching points: “Hedge while you speak, not afterwards.” · “One accurate cultural verb beats three careless ones — examiners hear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“A checklist you can run while speaking: mirror the tense, fix the preposition, add a reason, qualify the claim.”
• Mirror the tense of the question: If the examiner asks with a past verb, answer with one. Switching to the present is the commonest avoidance pattern.
• Cultural verb plus preposition: Say the verb and the preposition as one unit so the pair never comes apart under pressure.
• Extend with a reason or an example: A bare answer scores little; one extension turns it into a response.
• Qualify as you speak: A qualifier keeps a cultural statement accurate and shows control of register.
Website common error: Overstating a cultural claim while speaking. Saying كُلُّ العَرَبِ is both inaccurate and avoidable; فِي بَعْضِ البُلْدَانِ costs one extra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(the candidate). Model the repair on purpose: start with the present passive تُزَيَّنُ, stop, and self-correct to the past زُيِّنَتْ with عَفْوًا، أَقْصِدُ. Students hear that a repair in Arabic is a strength,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 and note her time-buying, repair and qualifying phrases.
Listen 1: just listen. Listen 2: note answers. Then chat the letters.
Support: after the second listening, show the read-along slide (Arabic + English, line by line) for Core students.
SCRIPT (read aloud):
المُمْتَحِنُ: صِفْ مُنَاسَبَةً ثَقَافِيَّةً مَرَرْتَ بِهَا. الطَّالِبَةُ: دَعْنِي أُفَكِّرُ. فِي العَامِ المَاضِي حَضَرْتُ حَفْلًا فِي المَرْكَزِ الثَّقَافِيِّ، وَتُزَيَّنُ القَاعَةُ عَادَةً بِالأَعْلَامِ وَالفَوَانِيسِ. عَفْوًا، أَقْصِدُ أَنَّهَا زُيِّنَتْ فِي ذٰلِكَ اليَوْمِ. المُمْتَحِنُ: وَهَلْ يَحْتَفِلُ كُلُّ النَّاسِ بِالطَّرِيقَةِ نَفْسِهَا؟ الطَّالِبَةُ: عَلَى حَدِّ عِلْمِي لَا؛ فَفِي بَعْضِ البُلْدَانِ تَخْتَلِفُ العَادَاتُ، وَلَيْسَ دَائِمًا يَتَشَابَهُ الاحْتِفَالُ. المُمْتَحِنُ: وَمَا أَهَمِّيَّةُ اللُّغَةِ العَرَبِيَّةِ فِي حَيَاتِكِ؟ الطَّالِبَةُ: لَا يُمْكِنُ إِنْكَارُ أَنَّ اللُّغَةَ جُزْءٌ مِنَ الهُوِيَّةِ، وَأَعْتَزُّ بِهَا، وَسَأُوَاصِلُ تَعَلُّمَهَا.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يَحْتَفِلُ الجَمِيعُ بِالطَّرِيقَةِ نَفْسِهَا؟ (And does everyone celebrate the same way?)
B: عَلَى حَدِّ عِلْمِي لَا؛ فَفِي بَعْضِ البُلْدَانِ تَخْتَلِفُ العَادَاتُ، وَلَا يُمْكِنُ إِنْكَارُ أَنَّ التَّنَوُّعَ ثَرْوَةٌ. (As far as I know, no — in some countries customs differ, and it cannot be denied that diversity is a richness.)
Website prompts and model: a full topic-conversation rehearsal. Pairs swap roles (examiner / candidate); the examiner ticks: tense mirrored · preposition · reason · qualifier. To a girl: تُرِيدِينَ · مَرَرْتِ · حَيَاتِكِ.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cultural questions aloud using the sentence frames, each with the right preposition. · Develop — Add a reason to each answer and one qualifier. · Stretch — Deliver a full topic answer across three tenses with a supported opinion and no overgeneralisation.
Website writing task (Stretch): Write about eighty words reviewing your own D6 progress. Say what you found difficult,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أُخْطِئُ · كُنْتُ أُعَمِّمُ · تَدَرَّبْتُ · صَارَا · نَحْتَفِلُ بِالعِيدِ · فِي بَعْضِ البُلْدَانِ · عَلَى حَدِّ عِلْمِي · عَلَى الرَّغْمِ مِنْ ذٰلِكَ · سَأُرَكِّزُ · أَطْمَحُ إِلَى أَنْ أَتَحَدَّثَ.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(D6-L12 · D6 Review and Unit Assessment) will spend class time USING this language, so students prepare it tonight — short, simple, easy to access (school guidance: “Simple, Short, Interesting, Relevant, Easy to access”). The five words prepare students for the D6-L12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D6  ·  D6-L11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D6-L11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D6 Consolidation — Complete Review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تَرْسِيخُ الوَحْدَةِ — مُرَاجَعَةٌ شَامِلَةٌ وَإِعْدَادُ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Hold a fluent topic conversation on culture and identity under pressure: mirror the tense of the question (</a:t>
            </a:r>
            <a:pPr algn="l" indent="0" marL="0">
              <a:buNone/>
            </a:pPr>
            <a:r>
              <a:rPr lang="ar-SA" altLang="en-US" sz="1800" dirty="0">
                <a:solidFill>
                  <a:srgbClr val="C6D2E6"/>
                </a:solidFill>
                <a:latin typeface="Amiri" pitchFamily="34" charset="0"/>
                <a:ea typeface="Amiri" pitchFamily="34" charset="-122"/>
                <a:cs typeface="Amiri" pitchFamily="34" charset="-120"/>
              </a:rPr>
              <a:t>مَرَرْتَ بِهَا</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حَضَرْتُ</a:t>
            </a:r>
            <a:pPr algn="l" indent="0" marL="0">
              <a:buNone/>
            </a:pPr>
            <a:r>
              <a:rPr lang="en-US" sz="1400" dirty="0">
                <a:solidFill>
                  <a:srgbClr val="C6D2E6"/>
                </a:solidFill>
                <a:latin typeface="Calibri" pitchFamily="34" charset="0"/>
                <a:ea typeface="Calibri" pitchFamily="34" charset="-122"/>
                <a:cs typeface="Calibri" pitchFamily="34" charset="-120"/>
              </a:rPr>
              <a:t>), say verb + preposition as one unit (</a:t>
            </a:r>
            <a:pPr algn="l" indent="0" marL="0">
              <a:buNone/>
            </a:pPr>
            <a:r>
              <a:rPr lang="ar-SA" altLang="en-US" sz="1800" dirty="0">
                <a:solidFill>
                  <a:srgbClr val="C6D2E6"/>
                </a:solidFill>
                <a:latin typeface="Amiri" pitchFamily="34" charset="0"/>
                <a:ea typeface="Amiri" pitchFamily="34" charset="-122"/>
                <a:cs typeface="Amiri" pitchFamily="34" charset="-120"/>
              </a:rPr>
              <a:t>نَحْتَفِلُ بِـ</a:t>
            </a:r>
            <a:pPr algn="l" indent="0" marL="0">
              <a:buNone/>
            </a:pPr>
            <a:r>
              <a:rPr lang="en-US" sz="1400" dirty="0">
                <a:solidFill>
                  <a:srgbClr val="C6D2E6"/>
                </a:solidFill>
                <a:latin typeface="Calibri" pitchFamily="34" charset="0"/>
                <a:ea typeface="Calibri" pitchFamily="34" charset="-122"/>
                <a:cs typeface="Calibri" pitchFamily="34" charset="-120"/>
              </a:rPr>
              <a:t>), add a reason (</a:t>
            </a:r>
            <a:pPr algn="l" indent="0" marL="0">
              <a:buNone/>
            </a:pPr>
            <a:r>
              <a:rPr lang="ar-SA" altLang="en-US" sz="1800" dirty="0">
                <a:solidFill>
                  <a:srgbClr val="C6D2E6"/>
                </a:solidFill>
                <a:latin typeface="Amiri" pitchFamily="34" charset="0"/>
                <a:ea typeface="Amiri" pitchFamily="34" charset="-122"/>
                <a:cs typeface="Amiri" pitchFamily="34" charset="-120"/>
              </a:rPr>
              <a:t>لِأَنَّ</a:t>
            </a:r>
            <a:pPr algn="l" indent="0" marL="0">
              <a:buNone/>
            </a:pPr>
            <a:r>
              <a:rPr lang="en-US" sz="1400" dirty="0">
                <a:solidFill>
                  <a:srgbClr val="C6D2E6"/>
                </a:solidFill>
                <a:latin typeface="Calibri" pitchFamily="34" charset="0"/>
                <a:ea typeface="Calibri" pitchFamily="34" charset="-122"/>
                <a:cs typeface="Calibri" pitchFamily="34" charset="-120"/>
              </a:rPr>
              <a:t> …) — and qualify as you speak (</a:t>
            </a:r>
            <a:pPr algn="l" indent="0" marL="0">
              <a:buNone/>
            </a:pPr>
            <a:r>
              <a:rPr lang="ar-SA" altLang="en-US" sz="1800" dirty="0">
                <a:solidFill>
                  <a:srgbClr val="C6D2E6"/>
                </a:solidFill>
                <a:latin typeface="Amiri" pitchFamily="34" charset="0"/>
                <a:ea typeface="Amiri" pitchFamily="34" charset="-122"/>
                <a:cs typeface="Amiri" pitchFamily="34" charset="-120"/>
              </a:rPr>
              <a:t>فِي بَعْضِ البُلْدَانِ</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عَلَى حَدِّ عِلْمِي</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D6-L11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D6 › D6-L11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Mirror, fix, extend, qualify — while speaking.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answer / extend / qualify, fix three slips, then hear a candidate.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D6-L12.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hesitation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حَدِّ عِلْمِي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far as I know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example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أُعَمِّمُ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know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agree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generalise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families do this.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varies between families.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 جَدَّتِي تُعِدُّ الحَلْوَى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used to make the sweets.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made the sweets once.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grandmother will make the sweets.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الطَّلَاقَةُ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accuracy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hesitation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عَلَى حَدِّ عِلْمِي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as far as I know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my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example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لَا أُعَمِّمُ</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 not know</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do not agree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do not generalise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(D6-L10).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speaker says </a:t>
            </a:r>
            <a:pPr algn="l" indent="0" marL="0">
              <a:buNone/>
            </a:pPr>
            <a:r>
              <a:rPr lang="ar-SA" altLang="en-US" sz="1650" b="1" dirty="0">
                <a:solidFill>
                  <a:srgbClr val="1B3B6F"/>
                </a:solidFill>
                <a:latin typeface="Amiri" pitchFamily="34" charset="0"/>
                <a:ea typeface="Amiri" pitchFamily="34" charset="-122"/>
                <a:cs typeface="Amiri" pitchFamily="34" charset="-120"/>
              </a:rPr>
              <a:t>فِي بَعْضِ العَائِلَاتِ</a:t>
            </a:r>
            <a:pPr algn="l" indent="0" marL="0">
              <a:buNone/>
            </a:pPr>
            <a:r>
              <a:rPr lang="en-US" sz="1250" b="1" dirty="0">
                <a:solidFill>
                  <a:srgbClr val="1B3B6F"/>
                </a:solidFill>
                <a:latin typeface="Calibri" pitchFamily="34" charset="0"/>
                <a:ea typeface="Calibri" pitchFamily="34" charset="-122"/>
                <a:cs typeface="Calibri" pitchFamily="34" charset="-120"/>
              </a:rPr>
              <a:t>. Which option is wrong?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Some families do this.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varies between families.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All families do this.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D6-L10: a hedge narrows the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 جَدَّتِي تُعِدُّ الحَلْوَى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My grandmother used to make the sweets.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My grandmother made the sweets once.</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grandmother will make the sweets.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D6-L10: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 present = past habit.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Mirror the tense → fix the preposition → add a reason → qualify the claim.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حَضَرْتُ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نَحْتَفِلُ 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فِي بَعْضِ البُلْدَانِ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Sustain a topic conversation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cultural verbs, three tenses and an opinion while speaking.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Qualify a cultural claim in real time.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my own priority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answer in the tense the question uses.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each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add a reason or an example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qualify one claim (</a:t>
            </a:r>
            <a:pPr algn="l" indent="0" marL="0">
              <a:buNone/>
            </a:pPr>
            <a:r>
              <a:rPr lang="ar-SA" altLang="en-US" sz="1700" b="1" dirty="0">
                <a:solidFill>
                  <a:srgbClr val="C9780A"/>
                </a:solidFill>
                <a:latin typeface="Amiri" pitchFamily="34" charset="0"/>
                <a:ea typeface="Amiri" pitchFamily="34" charset="-122"/>
                <a:cs typeface="Amiri" pitchFamily="34" charset="-120"/>
              </a:rPr>
              <a:t>فِي بَعْضِ</a:t>
            </a:r>
            <a:pPr algn="l" indent="0" marL="0">
              <a:buNone/>
            </a:pPr>
            <a:r>
              <a:rPr lang="en-US" sz="1300" b="1" dirty="0">
                <a:solidFill>
                  <a:srgbClr val="C9780A"/>
                </a:solidFill>
                <a:latin typeface="Calibri" pitchFamily="34" charset="0"/>
                <a:ea typeface="Calibri" pitchFamily="34" charset="-122"/>
                <a:cs typeface="Calibri" pitchFamily="34" charset="-120"/>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give a full answer across three tenses with a supported opinion.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name my own priority for the assessment.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Speaking with control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D6 spine to reuse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Qualifying in real time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تَقْيِيمٌ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‎تقییم / قدر‎ </a:t>
            </a:r>
            <a:pPr indent="0" marL="0">
              <a:buNone/>
            </a:pPr>
            <a:r>
              <a:rPr lang="en-US" sz="950" b="1" dirty="0">
                <a:solidFill>
                  <a:srgbClr val="2E8B57"/>
                </a:solidFill>
                <a:latin typeface="Calibri" pitchFamily="34" charset="0"/>
                <a:ea typeface="Calibri" pitchFamily="34" charset="-122"/>
                <a:cs typeface="Calibri" pitchFamily="34" charset="-120"/>
              </a:rPr>
              <a:t> qadr · assessment, evaluation (قِيمَةٌ = value)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‎علم‎ </a:t>
            </a:r>
            <a:pPr indent="0" marL="0">
              <a:buNone/>
            </a:pPr>
            <a:r>
              <a:rPr lang="en-US" sz="950" b="1" dirty="0">
                <a:solidFill>
                  <a:srgbClr val="2E8B57"/>
                </a:solidFill>
                <a:latin typeface="Calibri" pitchFamily="34" charset="0"/>
                <a:ea typeface="Calibri" pitchFamily="34" charset="-122"/>
                <a:cs typeface="Calibri" pitchFamily="34" charset="-120"/>
              </a:rPr>
              <a:t> ʿilm · knowledge (عَلَى حَدِّ عِلْمِي = as far as I know)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عِبَارَةٌ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‎عبارت‎ </a:t>
            </a:r>
            <a:pPr indent="0" marL="0">
              <a:buNone/>
            </a:pPr>
            <a:r>
              <a:rPr lang="en-US" sz="950" b="1" dirty="0">
                <a:solidFill>
                  <a:srgbClr val="2E8B57"/>
                </a:solidFill>
                <a:latin typeface="Calibri" pitchFamily="34" charset="0"/>
                <a:ea typeface="Calibri" pitchFamily="34" charset="-122"/>
                <a:cs typeface="Calibri" pitchFamily="34" charset="-120"/>
              </a:rPr>
              <a:t> ʿibārat · Urdu: a written passage · Arabic: a phrase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عَامٌّ / تَعْمِيمٌ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‎عام‎ </a:t>
            </a:r>
            <a:pPr indent="0" marL="0">
              <a:buNone/>
            </a:pPr>
            <a:r>
              <a:rPr lang="en-US" sz="950" b="1" dirty="0">
                <a:solidFill>
                  <a:srgbClr val="2E8B57"/>
                </a:solidFill>
                <a:latin typeface="Calibri" pitchFamily="34" charset="0"/>
                <a:ea typeface="Calibri" pitchFamily="34" charset="-122"/>
                <a:cs typeface="Calibri" pitchFamily="34" charset="-120"/>
              </a:rPr>
              <a:t> ʿām · general (لَا أُعَمِّمُ = I do not generalise)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with control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مُرَاجَعَةٌ نِهَائِيَّةٌ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final review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mu-rā-ja-ʿa-tun ni-hā-ʾiy-ya-tun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تَقْيِيمٌ ذَاتِيٌّ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self-assessment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taq-yī-mun dhā-tiy-yun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تَقْيِيمَاتٌ ذَاتِيَّةٌ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with control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Buys time in Arabic.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دَعْنِي أُفَكِّرُ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let me think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daʿ-nī u-fak-ki-ru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بِعِبَارَةٍ أُخْرَى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other words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bi-ʿi-bā-ra-tin ukh-rā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 repair 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عَفْوًا، أَقْصِدُ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sorry, I mean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ʿaf-wan, aq-ṣi-du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D6 spine to reuse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VIII · past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يَحْتَفِلُ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celebrates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yaḥ-ta-fi-lu bi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اِحْتَفَلَ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أَحْتَفِلُ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Shape 3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إِلَى.</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يَنْتَمِي إِلَى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belongs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yan-ta-mī i-lā</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يَتَمَسَّكُ بِـ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adheres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ya-ta-mas-sa-ku bi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 · past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يَتَكَيَّفُ مَعَ</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ya-ta-kay-ya-fu ma-ʿa</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تَكَيَّفَ</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أَتَكَيَّفُ</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D6 spine to reuse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يَحْتَفِظُ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keeps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yaḥ-ta-fi-ẓu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يُعَدُّ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counted among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yu-ʿad-du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Cultural passives.</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تُزَيَّنُ / تُتَبَادَلُ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decorated / are exchanged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tu-zay-ya-nu / tu-ta-bā-da-lu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Qualifying in real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البُلْدَانِ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countries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al-bul-dā-ni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بَلَدٌ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بَعْضِ العَائِلَاتِ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some families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baʿ-ḍi al-ʿā-ʾi-lā-ti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عَائِلَةٌ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أَحْيَانًا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sometimes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aḥ-yā-nan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لَيْسَ دَائِمًا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 always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lay-sa dā-ʾi-man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Qualifying in real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حَدِّ عِلْمِي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far as I know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ḥad-di ʿil-mī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يَخْتَلِفُ الأَمْرُ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varies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yakh-ta-li-fu al-am-ru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وِجْهَةِ نَظَرِي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from my point of view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wij-ha-ti na-ẓa-rī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Shape 3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II · I · he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أُعَمِّمُ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generalise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u-ʿam-mi-mu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 يُعَمِّمُ</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لَا تُعَمِّمُ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1 · MIRROR THE TENSE, KEEP THE PREPOSITION (WEBSITE RULES 1–2)</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Answer the question that was asked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أَجِبْ بِزَمَنِ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Candidate answers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Examiner asks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 past</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فِي العَامِ المَاضِي </a:t>
            </a:r>
            <a:pPr rtl="1" algn="ctr" indent="0" marL="0">
              <a:buNone/>
            </a:pPr>
            <a:r>
              <a:rPr lang="ar-SA" altLang="en-US" sz="2100" b="1" dirty="0">
                <a:solidFill>
                  <a:srgbClr val="0E7C86"/>
                </a:solidFill>
                <a:latin typeface="Amiri" pitchFamily="34" charset="0"/>
                <a:ea typeface="Amiri" pitchFamily="34" charset="-122"/>
                <a:cs typeface="Amiri" pitchFamily="34" charset="-120"/>
              </a:rPr>
              <a:t>حَضَرْتُ</a:t>
            </a:r>
            <a:pPr rtl="1" algn="ctr" indent="0" marL="0">
              <a:buNone/>
            </a:pPr>
            <a:r>
              <a:rPr lang="ar-SA" altLang="en-US" sz="2100" b="1" dirty="0">
                <a:solidFill>
                  <a:srgbClr val="1B3B6F"/>
                </a:solidFill>
                <a:latin typeface="Amiri" pitchFamily="34" charset="0"/>
                <a:ea typeface="Amiri" pitchFamily="34" charset="-122"/>
                <a:cs typeface="Amiri" pitchFamily="34" charset="-120"/>
              </a:rPr>
              <a:t> حَفْلًا فِي المَرْكَزِ.</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Last year I attended a party at the centre.</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مُنَاسَبَةً </a:t>
            </a:r>
            <a:pPr rtl="1" algn="ctr" indent="0" marL="0">
              <a:buNone/>
            </a:pPr>
            <a:r>
              <a:rPr lang="ar-SA" altLang="en-US" sz="2000" b="1" dirty="0">
                <a:solidFill>
                  <a:srgbClr val="0E7C86"/>
                </a:solidFill>
                <a:latin typeface="Amiri" pitchFamily="34" charset="0"/>
                <a:ea typeface="Amiri" pitchFamily="34" charset="-122"/>
                <a:cs typeface="Amiri" pitchFamily="34" charset="-120"/>
              </a:rPr>
              <a:t>مَرَرْتَ</a:t>
            </a:r>
            <a:pPr rtl="1" algn="ctr" indent="0" marL="0">
              <a:buNone/>
            </a:pPr>
            <a:r>
              <a:rPr lang="ar-SA" altLang="en-US" sz="2000" b="1" dirty="0">
                <a:solidFill>
                  <a:srgbClr val="1B3B6F"/>
                </a:solidFill>
                <a:latin typeface="Amiri" pitchFamily="34" charset="0"/>
                <a:ea typeface="Amiri" pitchFamily="34" charset="-122"/>
                <a:cs typeface="Amiri" pitchFamily="34" charset="-120"/>
              </a:rPr>
              <a:t> بِهَا.</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bi-</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نَحْتَفِلُ بِالعِيدِ</a:t>
            </a:r>
            <a:pPr rtl="1" algn="ctr" indent="0" marL="0">
              <a:buNone/>
            </a:pPr>
            <a:r>
              <a:rPr lang="ar-SA" altLang="en-US" sz="2100" b="1" dirty="0">
                <a:solidFill>
                  <a:srgbClr val="1B3B6F"/>
                </a:solidFill>
                <a:latin typeface="Amiri" pitchFamily="34" charset="0"/>
                <a:ea typeface="Amiri" pitchFamily="34" charset="-122"/>
                <a:cs typeface="Amiri" pitchFamily="34" charset="-120"/>
              </a:rPr>
              <a:t> كُلَّ سَنَةٍ مَعَ الجَالِيَةِ.</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celebrate Eid every year with the community.</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كَيْفَ </a:t>
            </a:r>
            <a:pPr rtl="1" algn="ctr" indent="0" marL="0">
              <a:buNone/>
            </a:pPr>
            <a:r>
              <a:rPr lang="ar-SA" altLang="en-US" sz="2000" b="1" dirty="0">
                <a:solidFill>
                  <a:srgbClr val="D6336C"/>
                </a:solidFill>
                <a:latin typeface="Amiri" pitchFamily="34" charset="0"/>
                <a:ea typeface="Amiri" pitchFamily="34" charset="-122"/>
                <a:cs typeface="Amiri" pitchFamily="34" charset="-120"/>
              </a:rPr>
              <a:t>تَحْتَفِلُونَ</a:t>
            </a:r>
            <a:pPr rtl="1" algn="ctr" indent="0" marL="0">
              <a:buNone/>
            </a:pPr>
            <a:r>
              <a:rPr lang="ar-SA" altLang="en-US" sz="2000" b="1" dirty="0">
                <a:solidFill>
                  <a:srgbClr val="1B3B6F"/>
                </a:solidFill>
                <a:latin typeface="Amiri" pitchFamily="34" charset="0"/>
                <a:ea typeface="Amiri" pitchFamily="34" charset="-122"/>
                <a:cs typeface="Amiri" pitchFamily="34" charset="-120"/>
              </a:rPr>
              <a:t> بِالعِيدِ؟</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present + ilā</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أَنْتَمِي 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ثَقَافَتَيْنِ.</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belong to two cultures.</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إِلَى أَيِّ ثَقَافَةٍ </a:t>
            </a:r>
            <a:pPr rtl="1" algn="ctr" indent="0" marL="0">
              <a:buNone/>
            </a:pPr>
            <a:r>
              <a:rPr lang="ar-SA" altLang="en-US" sz="2000" b="1" dirty="0">
                <a:solidFill>
                  <a:srgbClr val="D6336C"/>
                </a:solidFill>
                <a:latin typeface="Amiri" pitchFamily="34" charset="0"/>
                <a:ea typeface="Amiri" pitchFamily="34" charset="-122"/>
                <a:cs typeface="Amiri" pitchFamily="34" charset="-120"/>
              </a:rPr>
              <a:t>تَنْتَمِي</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 future</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سَأَزُورُ</a:t>
            </a:r>
            <a:pPr rtl="1" algn="ctr" indent="0" marL="0">
              <a:buNone/>
            </a:pPr>
            <a:r>
              <a:rPr lang="ar-SA" altLang="en-US" sz="2100" b="1" dirty="0">
                <a:solidFill>
                  <a:srgbClr val="1B3B6F"/>
                </a:solidFill>
                <a:latin typeface="Amiri" pitchFamily="34" charset="0"/>
                <a:ea typeface="Amiri" pitchFamily="34" charset="-122"/>
                <a:cs typeface="Amiri" pitchFamily="34" charset="-120"/>
              </a:rPr>
              <a:t> بَلَدَ أُسْرَتِي.</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will visit my family’s country.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مَاذَا </a:t>
            </a:r>
            <a:pPr rtl="1" algn="ctr" indent="0" marL="0">
              <a:buNone/>
            </a:pPr>
            <a:r>
              <a:rPr lang="ar-SA" altLang="en-US" sz="2000" b="1" dirty="0">
                <a:solidFill>
                  <a:srgbClr val="1D5FBF"/>
                </a:solidFill>
                <a:latin typeface="Amiri" pitchFamily="34" charset="0"/>
                <a:ea typeface="Amiri" pitchFamily="34" charset="-122"/>
                <a:cs typeface="Amiri" pitchFamily="34" charset="-120"/>
              </a:rPr>
              <a:t>سَتَفْعَلُ</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العَامِ القَادِمِ؟</a:t>
            </a:r>
            <a:endParaRPr lang="ar-SA" sz="20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Switching a past question into the present is the commonest avoidance pattern — examiners notice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ea typeface="Calibri" pitchFamily="34" charset="-122"/>
                <a:cs typeface="Calibri" pitchFamily="34" charset="-120"/>
              </a:rPr>
              <a:t>GRAMMAR FOCUS · PART 2 · EXTEND AND QUALIFY (WEBSITE RULES 3–4)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more clause, one more second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التَّوَسُّعُ وَالتَّحَفُّظُ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REASON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أَعْتَزُّ بِلُغَتِي لِأَنَّهَا تَرْبِطُنِي بِجُذُورِي.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am proud of my language because it ties me to my roots.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Claim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EXAMPLE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سَبِيلِ المِثَالِ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سَبِيلِ المِثَالِ، تُزَيَّنُ البُيُوتُ بِالفَوَانِيسِ.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For example, houses are decorated with lanterns.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Make it concrete.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QUALIFY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عَلَى حَدِّ عِلْمِي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عَلَى حَدِّ عِلْمِي تَخْتَلِفُ العَادَاتُ فِي بَعْضِ البُلْدَانِ.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As far as I know, customs differ in some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Never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 claim about a whole population is inaccurate.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بَعْضِ البُلْدَانِ يَحْتَفِلُ النَّاسُ بِهٰذِهِ الطَّرِيقَةِ.</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كُلُّ العَرَبِ يَحْتَفِلُونَ بِالطَّرِيقَةِ نَفْسِهَا.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 D6 system under speaking pressure</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الوَحْدَةِ تَحْتَ ضَغْطِ 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Mirror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صِفْ مُنَاسَبَةً مَرَرْتَ بِهَا — حَضَرْتُ حَفْلًا فِي المَرْكَزِ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Cultural verb plus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يَحْتَفِلُ بِـ · يَنْتَمِي إِلَى · يَتَكَيَّفُ 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Extend with a reason or an example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claim + </a:t>
            </a:r>
            <a:pPr algn="l" indent="0" marL="0">
              <a:buNone/>
            </a:pPr>
            <a:r>
              <a:rPr lang="ar-SA" altLang="en-US" sz="1350" dirty="0">
                <a:solidFill>
                  <a:srgbClr val="5A6472"/>
                </a:solidFill>
                <a:latin typeface="Amiri" pitchFamily="34" charset="0"/>
                <a:ea typeface="Amiri" pitchFamily="34" charset="-122"/>
                <a:cs typeface="Amiri" pitchFamily="34" charset="-120"/>
              </a:rPr>
              <a:t>لِأَنَّ / عَلَى سَبِيلِ المِثَالِ</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أَعْتَزُّ بِلُغَتِي لِأَنَّهَا تَرْبِطُنِي بِجُذُورِي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Qualify as you speak</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فِي بَعْضِ … / عَلَى حَدِّ عِلْمِي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بَعْضِ العَائِلَاتِ تُوَزَّعُ العِيدِيَّةُ، وَلَيْسَ دَائِمًا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34" charset="0"/>
                <a:ea typeface="Amiri" pitchFamily="34" charset="-122"/>
                <a:cs typeface="Amiri" pitchFamily="34" charset="-120"/>
              </a:rPr>
              <a:t>صِفْ مُنَاسَبَةً مَرَرْتَ بِهَا</a:t>
            </a:r>
            <a:pPr algn="l" indent="0" marL="0">
              <a:buNone/>
            </a:pPr>
            <a:r>
              <a:rPr lang="en-US" sz="1400" b="1" dirty="0">
                <a:solidFill>
                  <a:srgbClr val="1F2A37"/>
                </a:solidFill>
                <a:latin typeface="Calibri" pitchFamily="34" charset="0"/>
                <a:ea typeface="Calibri" pitchFamily="34" charset="-122"/>
                <a:cs typeface="Calibri" pitchFamily="34" charset="-120"/>
              </a:rPr>
              <a:t>. Which answer is appropriate?</a:t>
            </a:r>
            <a:endParaRPr lang="en-US"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 فِي المَرْكَزِ الثَّقَافِيِّ.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 فِي المَرْكَزِ الثَّقَافِيِّ.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 فِي المَرْكَزِ الثَّقَافِيِّ.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نَحْتَفِلُ ___ العِيدِ كُلَّ سَنَةٍ.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extended rather than bare?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أَعْتَزُّ بِلُغَتِي لِأَنَّهَا تَرْبِطُنِي بِجُذُورِي.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أَعْتَزُّ.</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appropriately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بَعْضِ العَائِلَاتِ تُوَزَّعُ العِيدِيَّةُ.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كُلُّ العَائِلَاتِ تُوَزِّعُ العِيدِيَّةَ.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أَحَدَ يُوَزِّعُ العِيدِيَّةَ.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34" charset="0"/>
                <a:ea typeface="Amiri" pitchFamily="34" charset="-122"/>
                <a:cs typeface="Amiri" pitchFamily="34" charset="-120"/>
              </a:rPr>
              <a:t>صِفْ مُنَاسَبَةً مَرَرْتَ بِهَا</a:t>
            </a:r>
            <a:pPr algn="l" indent="0" marL="0">
              <a:buNone/>
            </a:pPr>
            <a:r>
              <a:rPr lang="en-US" sz="1400" b="1" dirty="0">
                <a:solidFill>
                  <a:srgbClr val="1F2A37"/>
                </a:solidFill>
                <a:latin typeface="Calibri" pitchFamily="34" charset="0"/>
                <a:ea typeface="Calibri" pitchFamily="34" charset="-122"/>
                <a:cs typeface="Calibri" pitchFamily="34" charset="-120"/>
              </a:rPr>
              <a:t>. Which answer is appropriate?</a:t>
            </a:r>
            <a:endParaRPr lang="en-US"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حَفْلًا فِي المَرْكَزِ الثَّقَافِيِّ.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سَأَحْضُرُ حَفْلًا فِي المَرْكَزِ الثَّقَافِيِّ.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حَفْلًا فِي المَرْكَزِ الثَّقَافِيِّ.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requires a past answer.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نَحْتَفِلُ ___ العِيدِ كُلَّ سَنَةٍ.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is extended rather than bare?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أَعْتَزُّ بِلُغَتِي لِأَنَّهَا تَرْبِطُنِي بِجُذُورِي.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أَعْتَزُّ.</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reason turns an answer into a response.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is appropriately qualified?</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العَائِلَاتِ تُوَزَّعُ العِيدِيَّةُ.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العَائِلَاتِ تُوَزِّعُ العِيدِيَّةَ.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أَحَدَ يُوَزِّعُ العِيدِيَّةَ.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what some families do.</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دَعْنِي أُفَكِّرُ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 Arabic.</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حَضَرْتُ</a:t>
            </a:r>
            <a:pPr rtl="1" algn="ctr" indent="0" marL="0">
              <a:buNone/>
            </a:pPr>
            <a:r>
              <a:rPr lang="ar-SA" altLang="en-US" sz="2800" b="1" dirty="0">
                <a:solidFill>
                  <a:srgbClr val="1B3B6F"/>
                </a:solidFill>
                <a:latin typeface="Amiri" pitchFamily="34" charset="0"/>
                <a:ea typeface="Amiri" pitchFamily="34" charset="-122"/>
                <a:cs typeface="Amiri" pitchFamily="34" charset="-120"/>
              </a:rPr>
              <a:t> حَفْلًا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question.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Repair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عَفْوًا، أَقْصِدُ</a:t>
            </a:r>
            <a:pPr rtl="1" algn="ctr" indent="0" marL="0">
              <a:buNone/>
            </a:pPr>
            <a:r>
              <a:rPr lang="ar-SA" altLang="en-US" sz="2800" b="1" dirty="0">
                <a:solidFill>
                  <a:srgbClr val="1B3B6F"/>
                </a:solidFill>
                <a:latin typeface="Amiri" pitchFamily="34" charset="0"/>
                <a:ea typeface="Amiri" pitchFamily="34" charset="-122"/>
                <a:cs typeface="Amiri" pitchFamily="34" charset="-120"/>
              </a:rPr>
              <a:t> زُيِّنَتْ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Fix the tense.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Qualify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عَلَى حَدِّ عِلْمِي</a:t>
            </a:r>
            <a:pPr rtl="1" algn="ctr" indent="0" marL="0">
              <a:buNone/>
            </a:pPr>
            <a:r>
              <a:rPr lang="ar-SA" altLang="en-US" sz="2800" b="1" dirty="0">
                <a:solidFill>
                  <a:srgbClr val="1B3B6F"/>
                </a:solidFill>
                <a:latin typeface="Amiri" pitchFamily="34" charset="0"/>
                <a:ea typeface="Amiri" pitchFamily="34" charset="-122"/>
                <a:cs typeface="Amiri" pitchFamily="34" charset="-120"/>
              </a:rPr>
              <a:t> 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everyone.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TENSE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 / REPAIR</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QUALIFIER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دَعْنِي أُفَكِّرُ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العَامِ المَاضِي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حَضَرْتُ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حَفْلًا فِي المَرْكَزِ الثَّقَافِيِّ، وَتُزَيَّنُ القَاعَةُ …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عَفْوًا، أَقْصِدُ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أَنَّهَا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زُيِّنَتْ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بِالفَوَانِيسِ.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عَلَى حَدِّ عِلْمِي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لَا يَحْتَفِلُ الجَمِيعُ بِالطَّرِيقَةِ نَفْسِهَا؛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فَفِي بَعْضِ البُلْدَانِ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تَخْتَلِفُ العَادَاتُ.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Let me think. Last year I attended a party at the cultural centre, and the hall is decorated … sorry, I mean it was decorated with lanterns. As far as I know, not everyone celebrates the same way; in some countries customs differ.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نَحْتَفِلُ بِالعِيدِ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celebrate Eid every year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Verb and preposition said as one unit.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فِي بَعْضِ العَائِلَاتِ … وَلَيْسَ دَائِمًا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in some families … and not always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claim stays accurate.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أَعْتَزُّ بِلُغَتِي لِأَنَّهَا تَرْبِطُنِي بِجُذُورِي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proud of my language because it ties me to my roots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Claim plus reason.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حَضَرْتُ حَفْلًا فِي المَرْكَزِ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بِالعِيدِ كُلَّ سَنَةٍ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تَرْبِطُنِي بِجُذُورِي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وَهٰذَا يُذَكِّرُنِي بِطُفُولَتِي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بَعْضِ البُلْدَانِ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حَدِّ عِلْمِي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دَائِمًا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the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Qualify the claim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Answer the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حَضَرْتُ حَفْلًا فِي المَرْكَزِ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أَنْتَمِي إِلَى ثَقَافَتَيْنِ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نَحْتَفِلُ بِالعِيدِ كُلَّ سَنَةٍ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لِأَنَّهَا تَرْبِطُنِي بِجُذُورِي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وَهٰذَا يُذَكِّرُنِي بِطُفُولَتِي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Qualify the claim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بَعْضِ البُلْدَانِ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عَلَى حَدِّ عِلْمِي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لَيْسَ دَائِمًا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يُمْكِنُ إِنْكَارُ أَنَّ ___ ثَرْوَةٌ.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would score highest in a topic conversation?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حَضَرْتُ حَفْلًا.</a:t>
            </a:r>
            <a:endParaRPr lang="ar-SA" sz="15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نَعَمْ، أُحِبُّ الاحْتِفَالَ.</a:t>
            </a:r>
            <a:endParaRPr lang="ar-SA" sz="15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34" charset="0"/>
                <a:ea typeface="Amiri" pitchFamily="34" charset="-122"/>
                <a:cs typeface="Amiri" pitchFamily="34" charset="-120"/>
              </a:rPr>
              <a:t>حَضَرْتُ حَفْلًا فِي الطُّفُولَةِ، وَنَحْتَفِلُ الآنَ مَعَ الجَالِيَةِ، وَسَأَزُورُ بَلَدَ أُسْرَتِي.</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short Arabic filler protects the fluency mark.</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أَنْتَمِي ___ ثَقَافَتَيْنِ.</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لَا يُمْكِنُ إِنْكَارُ أَنَّ ___ ثَرْوَةٌ.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التَّنَوُّعَ</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would score highest in a topic conversation?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حَضَرْتُ حَفْلًا.</a:t>
            </a:r>
            <a:endParaRPr lang="ar-SA" sz="15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34" charset="0"/>
                <a:ea typeface="Amiri" pitchFamily="34" charset="-122"/>
                <a:cs typeface="Amiri" pitchFamily="34" charset="-120"/>
              </a:rPr>
              <a:t>نَعَمْ، أُحِبُّ الاحْتِفَالَ.</a:t>
            </a:r>
            <a:endParaRPr lang="ar-SA" sz="15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حَضَرْتُ حَفْلًا فِي الطُّفُولَةِ، وَنَحْتَفِلُ الآنَ مَعَ الجَالِيَةِ، وَسَأَزُورُ بَلَدَ أُسْرَتِي.</a:t>
            </a:r>
            <a:endParaRPr lang="ar-SA" sz="15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moves through three tenses with accurate forms.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كُلُّ العَرَبِ يَحْتَفِلُونَ بِالطَّرِيقَةِ نَفْسِهَا.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All, or some?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نَحْتَفِلُ العِيدَ.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yaḥtafilu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العَامِ المَاضِي أَحْضُرُ حَفْلًا فِي المَرْكَزِ.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Last year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34" charset="0"/>
                <a:ea typeface="Amiri" pitchFamily="34" charset="-122"/>
                <a:cs typeface="Amiri" pitchFamily="34" charset="-120"/>
              </a:rPr>
              <a:t>فِي بَعْضِ البُلْدَانِ يَحْتَفِلُ النَّاسُ بِهٰذِهِ الطَّرِيقَةِ.</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claim about a whole population is inaccurate.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نَحْتَفِلُ العِيدَ.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نَحْتَفِلُ بِالعِيدِ.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yaḥtafilu requires bi-.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فِي العَامِ المَاضِي أَحْضُرُ حَفْلًا فِي المَرْكَزِ.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العَامِ المَاضِي حَضَرْتُ حَفْلًا فِي المَرْكَزِ.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question needs a past answer.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Listening: a candidate in the topic conversation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Disagreement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end of the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answer the question about everyone celebrating alike?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everyone is the same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does not answer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 far as she knows; customs differ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opinion structure does she 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يُمْكِنُ إِنْكَارُ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المُمْكِنِ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رُبَّمَا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ending abruptly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future commitment to keep learning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Examiner and candidate — listen for her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صِفْ مُنَاسَبَةً ثَقَافِيَّةً مَرَرْتَ بِهَا. الطَّالِبَةُ: دَعْنِي أُفَكِّرُ.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Describe a cultural occasion you have experienced. Student: Let me think.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العَامِ المَاضِي حَضَرْتُ حَفْلًا فِي المَرْكَزِ الثَّقَافِيِّ، وَتُزَيَّنُ القَاعَةُ عَادَةً بِالأَعْلَامِ وَالفَوَانِيسِ. عَفْوًا، أَقْصِدُ أَنَّهَا زُيِّنَتْ فِي ذٰلِكَ اليَوْمِ.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year I attended a party at the cultural centre, and the hall is usually decorated with flags and lanterns. Sorry, I mean it was decorated on that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المُمْتَحِنُ: وَهَلْ يَحْتَفِلُ كُلُّ النَّاسِ بِالطَّرِيقَةِ نَفْسِهَا؟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does everyone celebrate in the same 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الطَّالِبَةُ: عَلَى حَدِّ عِلْمِي لَا؛ فَفِي بَعْضِ البُلْدَانِ تَخْتَلِفُ العَادَاتُ، وَلَيْسَ دَائِمًا يَتَشَابَهُ الاحْتِفَالُ.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 As far as I know, no — in some countries customs differ, and the celebration is not always the same.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المُمْتَحِنُ: وَمَا أَهَمِّيَّةُ اللُّغَةِ العَرَبِيَّةِ فِي حَيَاتِكِ؟ الطَّالِبَةُ: لَا يُمْكِنُ إِنْكَارُ أَنَّ اللُّغَةَ جُزْءٌ مِنَ الهُوِيَّةِ، وَأَعْتَزُّ بِهَا، وَسَأُوَاصِلُ تَعَلُّمَهَا.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Examiner: And how important is Arabic in your life? Student: It cannot be denied that language is part of identity; I am proud of it, and I will keep learning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student open?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دَعْنِي أُفَكِّرُ</a:t>
            </a:r>
            <a:pPr algn="l" indent="0" marL="0">
              <a:buNone/>
            </a:pPr>
            <a:r>
              <a:rPr lang="en-US" sz="1050" i="1" dirty="0">
                <a:solidFill>
                  <a:srgbClr val="8A6D1E"/>
                </a:solidFill>
                <a:latin typeface="Calibri" pitchFamily="34" charset="0"/>
                <a:ea typeface="Calibri" pitchFamily="34" charset="-122"/>
                <a:cs typeface="Calibri" pitchFamily="34" charset="-120"/>
              </a:rPr>
              <a:t> buys a moment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عَفْوًا، أَقْصِدُ</a:t>
            </a:r>
            <a:pPr algn="l" indent="0" marL="0">
              <a:buNone/>
            </a:pPr>
            <a:r>
              <a:rPr lang="en-US" sz="1250" b="1" dirty="0">
                <a:solidFill>
                  <a:srgbClr val="1B3B6F"/>
                </a:solidFill>
                <a:latin typeface="Calibri" pitchFamily="34" charset="0"/>
                <a:ea typeface="Calibri" pitchFamily="34" charset="-122"/>
                <a:cs typeface="Calibri" pitchFamily="34" charset="-120"/>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Disagreement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end of the answer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self-correction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corrects the general present to a specific past passive.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answer the question about everyone celebrating alike?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everyone is the same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does not answer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No, as far as she knows; customs differ</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حَدِّ عِلْمِي لَا؛ فَفِي بَعْضِ البُلْدَانِ تَخْتَلِفُ العَادَاتُ.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opinion structure does she 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يُمْكِنُ إِنْكَارُ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المُمْكِنِ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رُبَّمَا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لَا يُمْكِنُ إِنْكَارُ أَنَّ</a:t>
            </a:r>
            <a:pPr algn="l" indent="0" marL="0">
              <a:buNone/>
            </a:pPr>
            <a:r>
              <a:rPr lang="en-US" sz="1050" i="1" dirty="0">
                <a:solidFill>
                  <a:srgbClr val="8A6D1E"/>
                </a:solidFill>
                <a:latin typeface="Calibri" pitchFamily="34" charset="0"/>
                <a:ea typeface="Calibri" pitchFamily="34" charset="-122"/>
                <a:cs typeface="Calibri" pitchFamily="34" charset="-120"/>
              </a:rPr>
              <a:t> introduces a strong supported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ending abruptly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With a future commitment to keep learning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وَسَأُوَاصِلُ تَعَلُّمَهَا.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4.</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Examiner and candidate — listen for her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Speaking: full topic conversation rehearsal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بَلَدًا عَرَبِيًّا تُرِيدُ زِيَارَتَهُ. وَلِمَاذَا؟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مُنَاسَبَةً ثَقَافِيَّةً أَوْ دِينِيَّةً مَرَرْتَ 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أَهَمِّيَّةُ اللُّغَةِ العَرَبِيَّةِ فِي حَيَاتِكَ؟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أُرِيدُ أَنْ أَزُورَ ___ ،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فِي العَامِ المَاضِي حَضَرْتُ ___ ، وَزُيِّنَ / زُيِّنَتْ ___ .</a:t>
            </a:r>
            <a:endParaRPr lang="ar-SA" sz="12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لَا يُمْكِنُ إِنْكَارُ أَنَّ ___ ، وَعَلَى حَدِّ عِلْمِي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مُنَاسَبَةً ثَقَافِيَّةً مَرَرْتَ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 cultural occasion you have experienced.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العَامِ المَاضِي حَضَرْتُ حَفْلًا فِي المَرْكَزِ الثَّقَافِيِّ، وَزُيِّنَتِ القَاعَةُ بِالفَوَانِيسِ.</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Last year I attended a party at the cultural centre, and the hall was decorated with lanterns.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Answer four cultural questions aloud using the sentence frames, each with the right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What was difficult, what you practised, and one target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reason to each answer and one qualifier.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كَانَ + present for an old habit and one cultural verb with its preposition.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Deliver a full topic answer across three tenses with a supported opinion and no overgeneralisation.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your D6 self-review — difficulty, practice, progress, next focus, one qualifier.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أَقُولُ ______ بَدَلَ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used to say …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عَلَى الرَّغْمِ مِنْ ذٰلِكَ مَا زِلْتُ أَحْتَاجُ إِلَى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Despite that, I still need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وَأَطْمَحُ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aspire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حَدِّ عِلْمِي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far as I know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 كُنْتُ أُخْطِئُ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beginning I used to make mistakes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تَدَرَّبْتُ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I practised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وَالآنَ أَقُولُ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Now I say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وَفِي المُسْتَقْبَلِ سَأُرَكِّزُ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focus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34" charset="0"/>
                <a:ea typeface="Amiri" pitchFamily="34" charset="-122"/>
                <a:cs typeface="Amiri" pitchFamily="34" charset="-120"/>
              </a:rPr>
              <a:t>كُنْتُ أُخْطِئُ  ·  حُرُوفُ الجَرِّ  ·  تَدَرَّبْتُ عَلَى  ·  وَحْدَةً وَاحِدَةً  ·  كُنْتُ أُعَمِّمُ  ·  فِي بَعْضِ البُلْدَانِ  ·  عَلَى حَدِّ عِلْمِي  ·  مَا زِلْتُ أَحْتَاجُ إِلَى  ·  سُرْعَةٌ فِي الرَّدِّ  ·  سَأُرَكِّزُ عَلَى  ·  أَطْمَحُ إِلَى  ·  دُونَ تَرَدُّدٍ</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about eighty words reviewing your own D6 progress. Say what you found difficult,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present construction for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cultural verb with its correct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future focus and one qualifier.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صَارَا وَحْدَةً وَاحِدَةً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until they became one unit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رَاجَعْتُ نِقَاطَ ضَعْفِي بِصَرَاحَةٍ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reviewed my weak points honestly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زِلْتُ أَحْتَاجُ إِلَى سُرْعَةٍ أَكْبَرَ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still need more speed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سَأُرَكِّزُ عَلَى إِضَافَةِ سَبَبٍ فِي كُلِّ إِجَابَةٍ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focus on adding a reason to every answer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 أَتَحَدَّثَ دُونَ تَرَدُّدٍ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 speak without hesitation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وَالآنَ أَقُولُ فِي بَعْضِ البُلْدَانِ أَوْ عَلَى حَدِّ عِلْمِي. عَلَى الرَّغْمِ مِنْ ذٰلِكَ مَا زِلْتُ أَحْتَاجُ إِلَى سُرْعَةٍ أَكْبَرَ فِي الرَّدِّ. وَفِي المُسْتَقْبَلِ سَأُرَكِّزُ عَلَى إِضَافَةِ سَبَبٍ فِي كُلِّ إِجَابَةٍ، وَأَطْمَحُ إِلَى أَنْ أَتَحَدَّثَ دُونَ تَرَدُّدٍ.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At the beginning I used to make mistakes with prepositions after cultural verbs: I said “naḥtafilu al-ʿīda” instead of “naḥtafilu bil-ʿīd”. Then I practised each verb with its preposition until they became one unit. I also sometimes used to generalise, and now I say “in some countries” or “as far as I know”. Despite that, I still need more speed in replying. In the future I will focus on adding a reason to every answer, and I aspire to speak without hesitation.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كَانَ + present (old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cultural verb +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focus and a qualifier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answered in the tense the question used.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cultural verb had its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reason or an example to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qualified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my one priority for the assessment.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صِفْ مُنَاسَبَةً مَرَرْتَ بِهَا</a:t>
            </a:r>
            <a:pPr algn="l" indent="0" marL="0">
              <a:buNone/>
            </a:pPr>
            <a:r>
              <a:rPr lang="en-US" sz="1250" b="1" dirty="0">
                <a:solidFill>
                  <a:srgbClr val="1B3B6F"/>
                </a:solidFill>
                <a:latin typeface="Calibri" pitchFamily="34" charset="0"/>
                <a:ea typeface="Calibri" pitchFamily="34" charset="-122"/>
                <a:cs typeface="Calibri" pitchFamily="34" charset="-120"/>
              </a:rPr>
              <a:t>. Which answer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 فِي المَرْكَزِ.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 فِي المَرْكَزِ.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 فِي المَرْكَزِ.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المُنَاسَبَةِ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qualifies a claim?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حَدِّ عِلْمِي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بِالتَّأْكِيدِ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دَائِمًا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The question is </a:t>
            </a:r>
            <a:pPr algn="l" indent="0" marL="0">
              <a:buNone/>
            </a:pPr>
            <a:r>
              <a:rPr lang="ar-SA" altLang="en-US" sz="1650" b="1" dirty="0">
                <a:solidFill>
                  <a:srgbClr val="1B3B6F"/>
                </a:solidFill>
                <a:latin typeface="Amiri" pitchFamily="34" charset="0"/>
                <a:ea typeface="Amiri" pitchFamily="34" charset="-122"/>
                <a:cs typeface="Amiri" pitchFamily="34" charset="-120"/>
              </a:rPr>
              <a:t>صِفْ مُنَاسَبَةً مَرَرْتَ بِهَا</a:t>
            </a:r>
            <a:pPr algn="l" indent="0" marL="0">
              <a:buNone/>
            </a:pPr>
            <a:r>
              <a:rPr lang="en-US" sz="1250" b="1" dirty="0">
                <a:solidFill>
                  <a:srgbClr val="1B3B6F"/>
                </a:solidFill>
                <a:latin typeface="Calibri" pitchFamily="34" charset="0"/>
                <a:ea typeface="Calibri" pitchFamily="34" charset="-122"/>
                <a:cs typeface="Calibri" pitchFamily="34" charset="-120"/>
              </a:rPr>
              <a:t>. Which answer fits?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حَضَرْتُ حَفْلًا فِي المَرْكَزِ.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أَحْضُرُ حَفْلًا فِي المَرْكَزِ.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سَأَحْضُرُ حَفْلًا فِي المَرْكَزِ.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المُنَاسَبَةِ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qualifies a claim?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 حَدِّ عِلْمِي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بِالتَّأْكِيدِ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دَائِمًا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 حَدِّ عِلْمِي</a:t>
            </a:r>
            <a:pPr algn="l" indent="0" marL="0">
              <a:buNone/>
            </a:pPr>
            <a:r>
              <a:rPr lang="en-US" sz="1050" i="1" dirty="0">
                <a:solidFill>
                  <a:srgbClr val="8A6D1E"/>
                </a:solidFill>
                <a:latin typeface="Calibri" pitchFamily="34" charset="0"/>
                <a:ea typeface="Calibri" pitchFamily="34" charset="-122"/>
                <a:cs typeface="Calibri" pitchFamily="34" charset="-120"/>
              </a:rPr>
              <a:t> limits the claim to what you know.</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Reading: a candidate's self-review</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قَبْلَ التَّقْيِيمِ النِّهَائِيِّ رَاجَعْتُ نِقَاطَ ضَعْفِي بِصَرَاحَةٍ. 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فَأَقُولُ كُلُّ العَرَبِ، وَالآنَ أَقُولُ فِي بَعْضِ البُلْدَانِ أَوْ عَلَى حَدِّ عِلْمِي. عَلَى الرَّغْمِ مِنْ ذٰلِكَ مَا زِلْتُ أَحْتَاجُ إِلَى تَحْسِينِ سُرْعَتِي فِي الرَّدِّ. وَفِي المُسْتَقْبَلِ سَأُرَكِّزُ عَلَى إِضَافَةِ سَبَبٍ فِي كُلِّ إِجَابَةٍ، وَأَطْمَحُ إِلَى أَنْ أَتَحَدَّثَ دُونَ تَرَدُّدٍ.</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التَّقْيِيمِ النِّهَائِيِّ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final assessment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بِصَرَاحَةٍ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honestly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أُخْطِئُ</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make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بَدَلَ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instead of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حَتَّى صَارَا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until they became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أُعَمِّمُ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generalise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زِلْتُ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still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سُرْعَتِي فِي الرَّدِّ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my speed in replying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تَرَدُّدٍ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hesitation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 range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Prepositions with cultural verbs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Pronunciation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it fixed?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those verbs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English instead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Practising each verb with its preposition as one unit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replaced </a:t>
            </a:r>
            <a:pPr algn="l" indent="0" marL="0">
              <a:buNone/>
            </a:pPr>
            <a:r>
              <a:rPr lang="ar-SA" altLang="en-US" sz="1650" b="1" dirty="0">
                <a:solidFill>
                  <a:srgbClr val="1B3B6F"/>
                </a:solidFill>
                <a:latin typeface="Amiri" pitchFamily="34" charset="0"/>
                <a:ea typeface="Amiri" pitchFamily="34" charset="-122"/>
                <a:cs typeface="Amiri" pitchFamily="34" charset="-120"/>
              </a:rPr>
              <a:t>كُلُّ العَرَبِ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34" charset="0"/>
                <a:ea typeface="Amiri" pitchFamily="34" charset="-122"/>
                <a:cs typeface="Amiri" pitchFamily="34" charset="-120"/>
              </a:rPr>
              <a:t>فِي بَعْضِ البُلْدَانِ</a:t>
            </a:r>
            <a:pPr algn="l" indent="0" marL="0">
              <a:buNone/>
            </a:pPr>
            <a:r>
              <a:rPr lang="en-US" sz="1250" dirty="0">
                <a:solidFill>
                  <a:srgbClr val="1F2A37"/>
                </a:solidFill>
                <a:latin typeface="Calibri" pitchFamily="34" charset="0"/>
                <a:ea typeface="Calibri" pitchFamily="34" charset="-122"/>
                <a:cs typeface="Calibri" pitchFamily="34" charset="-120"/>
              </a:rPr>
              <a:t> or </a:t>
            </a:r>
            <a:pPr algn="l" indent="0" marL="0">
              <a:buNone/>
            </a:pPr>
            <a:r>
              <a:rPr lang="ar-SA" altLang="en-US" sz="1650" dirty="0">
                <a:solidFill>
                  <a:srgbClr val="1F2A37"/>
                </a:solidFill>
                <a:latin typeface="Amiri" pitchFamily="34" charset="0"/>
                <a:ea typeface="Amiri" pitchFamily="34" charset="-122"/>
                <a:cs typeface="Amiri" pitchFamily="34" charset="-120"/>
              </a:rPr>
              <a:t>عَلَى حَدِّ عِلْمِي</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لَا أَحَدَ</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34" charset="0"/>
                <a:ea typeface="Amiri" pitchFamily="34" charset="-122"/>
                <a:cs typeface="Amiri" pitchFamily="34" charset="-120"/>
              </a:rPr>
              <a:t>دَائِمًا</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needs improvement?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Grammar knowledge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Speed of response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Speaking more quietly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 range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Prepositions with cultural verbs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Pronunciation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أُخْطِئُ فِي حُرُوفِ الجَرِّ مَعَ الأَفْعَالِ الثَّقَافِيَّةِ.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was it fixed?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those verbs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English instead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Practising each verb with its preposition as one unit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تَدَرَّبْتُ عَلَى كُلِّ فِعْلٍ مَعَ حَرْفِ جَرِّهِ حَتَّى صَارَا وَحْدَةً وَاحِدَةً.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replaced </a:t>
            </a:r>
            <a:pPr algn="l" indent="0" marL="0">
              <a:buNone/>
            </a:pPr>
            <a:r>
              <a:rPr lang="ar-SA" altLang="en-US" sz="1650" b="1" dirty="0">
                <a:solidFill>
                  <a:srgbClr val="1B3B6F"/>
                </a:solidFill>
                <a:latin typeface="Amiri" pitchFamily="34" charset="0"/>
                <a:ea typeface="Amiri" pitchFamily="34" charset="-122"/>
                <a:cs typeface="Amiri" pitchFamily="34" charset="-120"/>
              </a:rPr>
              <a:t>كُلُّ العَرَبِ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34" charset="0"/>
                <a:ea typeface="Amiri" pitchFamily="34" charset="-122"/>
                <a:cs typeface="Amiri" pitchFamily="34" charset="-120"/>
              </a:rPr>
              <a:t>فِي بَعْضِ البُلْدَانِ</a:t>
            </a:r>
            <a:pPr algn="l" indent="0" marL="0">
              <a:buNone/>
            </a:pPr>
            <a:r>
              <a:rPr lang="en-US" sz="1250" b="1" dirty="0">
                <a:solidFill>
                  <a:srgbClr val="1F2A37"/>
                </a:solidFill>
                <a:latin typeface="Calibri" pitchFamily="34" charset="0"/>
                <a:ea typeface="Calibri" pitchFamily="34" charset="-122"/>
                <a:cs typeface="Calibri" pitchFamily="34" charset="-120"/>
              </a:rPr>
              <a:t> or </a:t>
            </a:r>
            <a:pPr algn="l" indent="0" marL="0">
              <a:buNone/>
            </a:pPr>
            <a:r>
              <a:rPr lang="ar-SA" altLang="en-US" sz="1650" b="1" dirty="0">
                <a:solidFill>
                  <a:srgbClr val="1F2A37"/>
                </a:solidFill>
                <a:latin typeface="Amiri" pitchFamily="34" charset="0"/>
                <a:ea typeface="Amiri" pitchFamily="34" charset="-122"/>
                <a:cs typeface="Amiri" pitchFamily="34" charset="-120"/>
              </a:rPr>
              <a:t>عَلَى حَدِّ عِلْمِي</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لَا أَحَدَ</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34" charset="0"/>
                <a:ea typeface="Amiri" pitchFamily="34" charset="-122"/>
                <a:cs typeface="Amiri" pitchFamily="34" charset="-120"/>
              </a:rPr>
              <a:t>دَائِمًا</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الآنَ أَقُولُ فِي بَعْضِ البُلْدَانِ أَوْ عَلَى حَدِّ عِلْمِي.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still needs improvement?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Grammar knowledge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Speed of response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مَا زِلْتُ أَحْتَاجُ إِلَى تَحْسِينِ سُرْعَتِي فِي الرَّدِّ.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Speaking more quietly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Final Consolidation Mission — Everything at Once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the question uses </a:t>
            </a:r>
            <a:pPr algn="l" indent="0" marL="0">
              <a:buNone/>
            </a:pPr>
            <a:r>
              <a:rPr lang="ar-SA" altLang="en-US" sz="1650" b="1" dirty="0">
                <a:solidFill>
                  <a:srgbClr val="1B3B6F"/>
                </a:solidFill>
                <a:latin typeface="Amiri" pitchFamily="34" charset="0"/>
                <a:ea typeface="Amiri" pitchFamily="34" charset="-122"/>
                <a:cs typeface="Amiri" pitchFamily="34" charset="-120"/>
              </a:rPr>
              <a:t>مَرَرْتَ</a:t>
            </a:r>
            <a:pPr algn="l" indent="0" marL="0">
              <a:buNone/>
            </a:pPr>
            <a:r>
              <a:rPr lang="en-US" sz="1250" b="1" dirty="0">
                <a:solidFill>
                  <a:srgbClr val="1B3B6F"/>
                </a:solidFill>
                <a:latin typeface="Calibri" pitchFamily="34" charset="0"/>
                <a:ea typeface="Calibri" pitchFamily="34" charset="-122"/>
                <a:cs typeface="Calibri" pitchFamily="34" charset="-120"/>
              </a:rPr>
              <a:t>. Which answer mirrors it?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أَحْضُرُ حَفْلًا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سَأَحْضُرُ حَفْلًا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حَضَرْتُ حَفْلًا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Qualification: which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فِي بَعْضِ البُلْدَانِ تَخْتَلِفُ العَادَاتُ.</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العَرَبِ يَحْتَفِلُونَ بِالطَّرِيقَةِ نَفْسِهَا.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لَا أَحَدَ يَحْتَفِلُ.</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التَّنَوُّعِ</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نَحْتَفِلُ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العِيدِ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يَحْتَفِلُ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أَنْتَمِي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ثَقَافَتَيْنِ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يَنْتَمِي</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يَتَكَيَّفُ</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الحَيَاةِ 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يَتَكَيَّفُ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the question uses </a:t>
            </a:r>
            <a:pPr algn="l" indent="0" marL="0">
              <a:buNone/>
            </a:pPr>
            <a:r>
              <a:rPr lang="ar-SA" altLang="en-US" sz="1650" b="1" dirty="0">
                <a:solidFill>
                  <a:srgbClr val="1B3B6F"/>
                </a:solidFill>
                <a:latin typeface="Amiri" pitchFamily="34" charset="0"/>
                <a:ea typeface="Amiri" pitchFamily="34" charset="-122"/>
                <a:cs typeface="Amiri" pitchFamily="34" charset="-120"/>
              </a:rPr>
              <a:t>مَرَرْتَ</a:t>
            </a:r>
            <a:pPr algn="l" indent="0" marL="0">
              <a:buNone/>
            </a:pPr>
            <a:r>
              <a:rPr lang="en-US" sz="1250" b="1" dirty="0">
                <a:solidFill>
                  <a:srgbClr val="1B3B6F"/>
                </a:solidFill>
                <a:latin typeface="Calibri" pitchFamily="34" charset="0"/>
                <a:ea typeface="Calibri" pitchFamily="34" charset="-122"/>
                <a:cs typeface="Calibri" pitchFamily="34" charset="-120"/>
              </a:rPr>
              <a:t>. Which answer mirrors it?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أَحْضُرُ حَفْلًا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سَأَحْضُرُ حَفْلًا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حَضَرْتُ حَفْلًا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past question needs a past answer.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Qualification: which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بَعْضِ البُلْدَانِ تَخْتَلِفُ العَادَاتُ.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كُلُّ العَرَبِ يَحْتَفِلُونَ بِالطَّرِيقَةِ نَفْسِهَا.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أَحَدَ 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hedge reports variation accurately.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لَا يُمْكِنُ إِنْكَارُ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التَّنَوُّعَ</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التَّنَوُّعِ</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noun.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D6-L11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D6-L12: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D6 · Countries, Cultures and Celebrations · D6-L11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D6-L12 · D6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comprehension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conversation</a:t>
            </a:r>
            <a:pPr indent="0" marL="0">
              <a:buNone/>
            </a:pPr>
            <a:r>
              <a:rPr lang="en-US" sz="1000" i="1" dirty="0">
                <a:solidFill>
                  <a:srgbClr val="5A6472"/>
                </a:solidFill>
                <a:latin typeface="Calibri" pitchFamily="34" charset="0"/>
                <a:ea typeface="Calibri" pitchFamily="34" charset="-122"/>
                <a:cs typeface="Calibri" pitchFamily="34" charset="-120"/>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check my answer</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Prepare three answers for the speaking assessment — one past, one present, one future — each with a reason and one qualifier.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حَضَرْتُ … لِأَنَّ … · نَحْتَفِلُ بِـ … · سَأَزُورُ … · عَلَى حَدِّ عِلْمِي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cultural verbs with their prepositions; answer the four topic questions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 60-second answer with a reason and a qualifier.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an ≈ 80-word self-review of your D6 progress.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D6-L11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D6-L12 · D6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mirror the tense · verb + preposition as one unit · add </a:t>
            </a:r>
            <a:pPr algn="l" indent="0" marL="0">
              <a:buNone/>
            </a:pPr>
            <a:r>
              <a:rPr lang="ar-SA" altLang="en-US" sz="1700" b="1" dirty="0">
                <a:solidFill>
                  <a:srgbClr val="FFFFFF"/>
                </a:solidFill>
                <a:latin typeface="Amiri" pitchFamily="34" charset="0"/>
                <a:ea typeface="Amiri" pitchFamily="34" charset="-122"/>
                <a:cs typeface="Amiri" pitchFamily="34" charset="-120"/>
              </a:rPr>
              <a:t>لِأَنَّ</a:t>
            </a:r>
            <a:pPr algn="l" indent="0" marL="0">
              <a:buNone/>
            </a:pPr>
            <a:r>
              <a:rPr lang="en-US" sz="1300" b="1" dirty="0">
                <a:solidFill>
                  <a:srgbClr val="FFFFFF"/>
                </a:solidFill>
                <a:latin typeface="Calibri" pitchFamily="34" charset="0"/>
                <a:ea typeface="Calibri" pitchFamily="34" charset="-122"/>
                <a:cs typeface="Calibri" pitchFamily="34" charset="-120"/>
              </a:rPr>
              <a:t> … · qualify with </a:t>
            </a:r>
            <a:pPr algn="l" indent="0" marL="0">
              <a:buNone/>
            </a:pPr>
            <a:r>
              <a:rPr lang="ar-SA" altLang="en-US" sz="1700" b="1" dirty="0">
                <a:solidFill>
                  <a:srgbClr val="FFFFFF"/>
                </a:solidFill>
                <a:latin typeface="Amiri" pitchFamily="34" charset="0"/>
                <a:ea typeface="Amiri" pitchFamily="34" charset="-122"/>
                <a:cs typeface="Amiri" pitchFamily="34" charset="-120"/>
              </a:rPr>
              <a:t>فِي بَعْضِ … / عَلَى حَدِّ عِلْمِي</a:t>
            </a:r>
            <a:pPr algn="l" indent="0" marL="0">
              <a:buNone/>
            </a:pPr>
            <a:r>
              <a:rPr lang="en-US" sz="1300" b="1" dirty="0">
                <a:solidFill>
                  <a:srgbClr val="FFFFFF"/>
                </a:solidFill>
                <a:latin typeface="Calibri" pitchFamily="34" charset="0"/>
                <a:ea typeface="Calibri" pitchFamily="34" charset="-122"/>
                <a:cs typeface="Calibri" pitchFamily="34" charset="-120"/>
              </a:rPr>
              <a:t> — and repair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D6-L11 · D6 Consolidation — Complete Review and Speaking Preparation</dc:title>
  <dc:subject>PptxGenJS Presentation</dc:subject>
  <dc:creator>Al Madina Online School · Arabic Department</dc:creator>
  <cp:lastModifiedBy>Al Madina Online School · Arabic Department</cp:lastModifiedBy>
  <cp:revision>1</cp:revision>
  <dcterms:created xsi:type="dcterms:W3CDTF">2026-10-03T10:43:04Z</dcterms:created>
  <dcterms:modified xsi:type="dcterms:W3CDTF">2026-10-03T10:43:04Z</dcterms:modified>
</cp:coreProperties>
</file>