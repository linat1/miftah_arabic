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D6-L06. The website lesson “Arabic Around the World — The Language's Global Reach”: vocabulary, grammar rules and quiz, patterns, common mistakes, sorter, listening, reading, speaking prompts and model, writing task and model, differentiation, final check and the lesson mission. Picture match: website visual game “Arabic Around the World — The Language's Global Reach”.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on Arabic’s status with تُعَدُّ مِنْ / يَبْلُغُ and two loanwords. Develop: add an accurate number phrase (مَلَايِينُ · أَرْبَعُمِئَةِ مِلْيُونِ مُتَحَدِّثٍ) and يُمَثِّلُ + object. Stretch: the website 80–90-word argument with يُثْرِي / يُوَسِّعُ and a qualified historical claim.
• Motivation lesson: our students learn Arabic first as لُغَةُ القُرْآنِ الكَرِيمِ — this lesson adds the global, academic and professional reasons. Ask: “What does Arabic open for YOU?”
• Accuracy (website): say a word REACHED another language; do not claim an exact route unless checked. Fun extension: English / Urdu words from Arabic (algebra, sugar, coffee, cotton, zero · کتاب، قلم، دنیا).
• TEACHER-WRITTEN ITEMS: the connector عِلَاوَةً shown as عَلَاوَةً, one mixed-script website mistake replaced, and English added to the patterns and speaking model; the website visual game repeats D6-L01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D6-L05. Question 4 retrieves the D6-L05 comparative; question 5 retrieves D4 statistical language.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counted among the most widespread languages — and it widens your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thousands of Urdu words come from Arabic — Urdu is living proof of today’s lesson. CAREFUL: Urdu قہوہ = green / herbal tea, Arabic قَهْوَةٌ = coffee; Urdu لغت = a dictionary, Arabic لُغَةٌ = a language (a dictionary is قَامُوسٌ / مُعْجَمٌ).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(1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Status and statistics (website vocabulary (2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(1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Words that travelled (website vocabulary (2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(1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Why it is worth learning (website vocabulary (2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“يُعَدُّ مِنْ” (a passive verb placing something within a group; the following noun is genitive) and “Numbers with مِلْيُون” (مِلْيُون behaves as the counted noun and is followed by a singular genitive).
Website mistake: أَرْبَعُمِئَةِ مِلْيُونَ مُتَحَدِّثُونَ ✗ → مِلْيُونِ مُتَحَدِّثٍ. Islamic link: إِنَّا أَنْزَلْنَاهُ قُرْآنًا عَرَبِيًّا (Yūsuf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“يُمَثِّلُ with a direct object” and “يُثْرِي and يُوَسِّعُ” (both take direct objects; do not add a preposition). Website common error: adding a preposition after يُمَثِّلُ، يُثْرِي or يُوَسِّعُ.
Website teaching point (qualifying): “Say that a word reached another language; avoid claiming an exact path unless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formal verbs, one number pattern and two Form II/IV verbs that take direct objects. Watch the case on every counted noun.”
• يُعَدُّ مِنْ: A passive verb placing something within a group. The following noun is genitive.
• Numbers with مِلْيُون: مِلْيُون behaves as the counted noun and is followed by a singular genitive.
• يُمَثِّلُ with a direct object: Form II takes a direct object with no preposition.
• يُثْرِي and يُوَسِّعُ: Both take direct objects. Do not add a preposition after them.
Website common error: Adding a preposition after يُمَثِّلُ، يُثْرِي or يُوَسِّعُ. All three take a direct object, so the noun that follows is accusative with no preposition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“Status verb + min; figure with yablughu; argument verb + direct object, no preposition.” Then add a personal reason: وَهِيَ لُغَةُ القُرْآنِ الكَرِيمِ.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list the loanwords you hear.
Listen 1: just listen. Listen 2: note answers. Then chat the letters.
Support: after the second listening, show the read-along slide (Arabic + English, line by line) for Core students.
SCRIPT (read aloud):
تُعَدُّ العَرَبِيَّةُ مِنْ أَكْثَرِ اللُّغَاتِ انْتِشَارًا فِي العَالَمِ، وَهِيَ إِحْدَى لُغَاتِ الأُمَمِ المُتَّحِدَةِ الرَّسْمِيَّةِ. وَيَبْلُغُ عَدَدُ المُتَحَدِّثِينَ بِهَا مَلَايِينَ كَثِيرَةً فِي قَارَّاتٍ مُخْتَلِفَةٍ. اخْتَرْتُ دِرَاسَتَهَا لِأَنَّهَا تَفْتَحُ أَبْوَابًا فِي التَّرْجَمَةِ وَالدِّبْلُومَاسِيَّةِ وَالتِّجَارَةِ. وَقَدْ فَاجَأَنِي أَنَّ كَلِمَاتٍ كَثِيرَةً وَصَلَتْ مِنَ العَرَبِيَّةِ إِلَى لُغَاتٍ أُخْرَى، مِثْلَ الجَبْرِ وَالكِيمْيَاءِ وَالقَهْوَةِ وَالسُّكَّرِ وَالصِّفْرِ. تُثْرِي اللُّغَةُ تَفْكِيرِي، وَتُوَسِّعُ آفَاقِي، وَتُمَثِّلُ جِسْرًا بَيْنِي وَبَيْنَ ثَقَافَاتٍ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تَتَعَلَّمُهَا أَنْتَ؟ (And why do you learn it?)
B: لِأَنَّهَا تُوَسِّعُ آفَاقِي وَتَفْتَحُ أَبْوَابًا فِي التَّرْجَمَةِ، وَقَدْ وَصَلَتْ كَلِمَاتٌ مِثْلُ الجَبْرِ وَالقَهْوَةِ إِلَى لُغَاتٍ أُخْرَى. (Because it broadens my horizons and opens doors in translation — and words like algebra and coffee reached other languages.)
Website prompts and model (order adjusted: status → loanwords → personal argument). Every student has a real reason — the Qur’an, family, travel, a future career. To a girl: تَتَعَلَّمِينَ · اِذْكُرِي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about Arabic's status using the statistical verbs. · Develop — Add two loanwords and an accurate number phrase. · Stretch — Argue the professional value with direct objects and qualify one historical claim.
Website writing task (Stretch): Write eighty to ninety words on Arabic's global reach and why it is worth learning. Use two statistical verbs, name at least two words that travelled into other languages, and close with an argument using يُثْرِي or يُوَسِّعُ.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تُعَدُّ … مِنْ أَكْثَرِ اللُّغَاتِ · إِحْدَى لُغَاتِ الأُمَمِ المُتَّحِدَةِ · يَبْلُغُ عَدَدُ … مَلَايِينَ · الجَبْرِ وَالكِيمْيَاءِ وَالقَهْوَةِ وَالسُّكَّرِ · لَيْسَ الطَّرِيقُ وَاضِحًا تَمَامًا · تُثْرِي تَفْكِيرِي وَتُوَسِّعُ آفَاقِي · تُمَثِّلُ قِيمَةً مِهْنِيَّةً.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(D6-L07 · D6 Grammar Consolidation — All Tenses Together) will spend class time USING this language, so students prepare it tonight — short, simple, easy to access (school guidance: “Simple, Short, Interesting, Relevant, Easy to access”). The five words come from the website D6-L07 vocabulary (grammar consolidation: all tenses together).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Arabic Around the World — The Language’s Global Reach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العَرَبِيَّةُ حَوْلَ العَالَمِ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for Arabic like an expert: its status (</a:t>
            </a:r>
            <a:pPr algn="l" indent="0" marL="0">
              <a:buNone/>
            </a:pPr>
            <a:r>
              <a:rPr lang="ar-SA" altLang="en-US" sz="1800" dirty="0">
                <a:solidFill>
                  <a:srgbClr val="C6D2E6"/>
                </a:solidFill>
                <a:latin typeface="Amiri" pitchFamily="2" charset="-78"/>
                <a:cs typeface="Amiri" pitchFamily="2" charset="-78"/>
              </a:rPr>
              <a:t>تُعَدُّ مِنْ أَكْثَرِ اللُّغَاتِ انْتِشَارًا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إِحْدَى لُغَاتِ الأُمَمِ المُتَّحِدَةِ</a:t>
            </a:r>
            <a:pPr algn="l" indent="0" marL="0">
              <a:buNone/>
            </a:pPr>
            <a:r>
              <a:rPr lang="en-US" sz="1400" dirty="0">
                <a:solidFill>
                  <a:srgbClr val="C6D2E6"/>
                </a:solidFill>
                <a:latin typeface="Calibri" pitchFamily="34" charset="0"/>
                <a:cs typeface="Amiri" pitchFamily="2" charset="-78"/>
              </a:rPr>
              <a:t>), its numbers (</a:t>
            </a:r>
            <a:pPr algn="l" indent="0" marL="0">
              <a:buNone/>
            </a:pPr>
            <a:r>
              <a:rPr lang="ar-SA" altLang="en-US" sz="1800" dirty="0">
                <a:solidFill>
                  <a:srgbClr val="C6D2E6"/>
                </a:solidFill>
                <a:latin typeface="Amiri" pitchFamily="2" charset="-78"/>
                <a:cs typeface="Amiri" pitchFamily="2" charset="-78"/>
              </a:rPr>
              <a:t>مَلَايِينُ المُتَحَدِّثِينَ</a:t>
            </a:r>
            <a:pPr algn="l" indent="0" marL="0">
              <a:buNone/>
            </a:pPr>
            <a:r>
              <a:rPr lang="en-US" sz="1400" dirty="0">
                <a:solidFill>
                  <a:srgbClr val="C6D2E6"/>
                </a:solidFill>
                <a:latin typeface="Calibri" pitchFamily="34" charset="0"/>
                <a:cs typeface="Amiri" pitchFamily="2" charset="-78"/>
              </a:rPr>
              <a:t>), the words it gave the world (</a:t>
            </a:r>
            <a:pPr algn="l" indent="0" marL="0">
              <a:buNone/>
            </a:pPr>
            <a:r>
              <a:rPr lang="ar-SA" altLang="en-US" sz="1800" dirty="0">
                <a:solidFill>
                  <a:srgbClr val="C6D2E6"/>
                </a:solidFill>
                <a:latin typeface="Amiri" pitchFamily="2" charset="-78"/>
                <a:cs typeface="Amiri" pitchFamily="2" charset="-78"/>
              </a:rPr>
              <a:t>الجَبْرُ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سُكَّرٌ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صِفْرٌ</a:t>
            </a:r>
            <a:pPr algn="l" indent="0" marL="0">
              <a:buNone/>
            </a:pPr>
            <a:r>
              <a:rPr lang="en-US" sz="1400" dirty="0">
                <a:solidFill>
                  <a:srgbClr val="C6D2E6"/>
                </a:solidFill>
                <a:latin typeface="Calibri" pitchFamily="34" charset="0"/>
                <a:cs typeface="Amiri" pitchFamily="2" charset="-78"/>
              </a:rPr>
              <a:t>) and what it does for you (</a:t>
            </a:r>
            <a:pPr algn="l" indent="0" marL="0">
              <a:buNone/>
            </a:pPr>
            <a:r>
              <a:rPr lang="ar-SA" altLang="en-US" sz="1800" dirty="0">
                <a:solidFill>
                  <a:srgbClr val="C6D2E6"/>
                </a:solidFill>
                <a:latin typeface="Amiri" pitchFamily="2" charset="-78"/>
                <a:cs typeface="Amiri" pitchFamily="2" charset="-78"/>
              </a:rPr>
              <a:t>تُثْرِي تَفْكِيرِي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تُوَسِّعُ آفَاقِي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D6-L06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Statistical verbs, million + genitive, direct-object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statistics / loanwords / argument verbs, fix slips, then why one student chose Arabic.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translator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loanwords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key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represents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reaches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enriches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أَكْثَرُ أَكْبَرُ مِنْ مَدِينَتِي.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الأَكْبَرُ مِنْ مَدِينَتِي.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أَكْبَرُ مِنْ مَدِينَتِي.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بِنِسْبَةِ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نِسْبَةِ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translator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speaker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loanwords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key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represents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reaches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enriches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أَكْثَرُ أَكْبَرُ مِنْ مَدِينَتِي.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الأَكْبَرُ مِنْ مَدِينَتِي.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لَنْدَنُ أَكْبَرُ مِنْ مَدِينَتِي.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بِنِسْبَةِ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نِسْبَةِ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 / L10: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counted among the most widespread languages — and it widens your horizons.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تُعَدُّ</a:t>
            </a:r>
            <a:pPr rtl="1" algn="ctr" indent="0" marL="0">
              <a:lnSpc>
                <a:spcPct val="120000"/>
              </a:lnSpc>
              <a:buNone/>
            </a:pPr>
            <a:r>
              <a:rPr lang="ar-SA" altLang="en-US" sz="1950" b="1" dirty="0">
                <a:solidFill>
                  <a:srgbClr val="1B3B6F"/>
                </a:solidFill>
                <a:latin typeface="Amiri" pitchFamily="2" charset="-78"/>
                <a:cs typeface="Amiri" pitchFamily="2" charset="-78"/>
              </a:rPr>
              <a:t> العَرَبِيَّةُ </a:t>
            </a:r>
            <a:pPr rtl="1" algn="ctr" indent="0" marL="0">
              <a:lnSpc>
                <a:spcPct val="120000"/>
              </a:lnSpc>
              <a:buNone/>
            </a:pPr>
            <a:r>
              <a:rPr lang="ar-SA" altLang="en-US" sz="1950" b="1" dirty="0">
                <a:solidFill>
                  <a:srgbClr val="0E7C86"/>
                </a:solidFill>
                <a:latin typeface="Amiri" pitchFamily="2" charset="-78"/>
                <a:cs typeface="Amiri" pitchFamily="2" charset="-78"/>
              </a:rPr>
              <a:t>مِنْ</a:t>
            </a:r>
            <a:pPr rtl="1" algn="ctr" indent="0" marL="0">
              <a:lnSpc>
                <a:spcPct val="120000"/>
              </a:lnSpc>
              <a:buNone/>
            </a:pPr>
            <a:r>
              <a:rPr lang="ar-SA" altLang="en-US" sz="1950" b="1" dirty="0">
                <a:solidFill>
                  <a:srgbClr val="1B3B6F"/>
                </a:solidFill>
                <a:latin typeface="Amiri" pitchFamily="2" charset="-78"/>
                <a:cs typeface="Amiri" pitchFamily="2" charset="-78"/>
              </a:rPr>
              <a:t> أَكْثَرِ اللُّغَاتِ انْتِشَارًا · </a:t>
            </a:r>
            <a:pPr rtl="1" algn="ctr" indent="0" marL="0">
              <a:lnSpc>
                <a:spcPct val="120000"/>
              </a:lnSpc>
              <a:buNone/>
            </a:pPr>
            <a:r>
              <a:rPr lang="ar-SA" altLang="en-US" sz="1950" b="1" dirty="0">
                <a:solidFill>
                  <a:srgbClr val="D6336C"/>
                </a:solidFill>
                <a:latin typeface="Amiri" pitchFamily="2" charset="-78"/>
                <a:cs typeface="Amiri" pitchFamily="2" charset="-78"/>
              </a:rPr>
              <a:t>تُوَسِّعُ</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cs typeface="Amiri" pitchFamily="2" charset="-78"/>
              </a:rPr>
              <a:t>آفَاقَنَا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Arabic’s status with </a:t>
            </a:r>
            <a:pPr algn="l" indent="0" marL="0">
              <a:buNone/>
            </a:pPr>
            <a:r>
              <a:rPr lang="ar-SA" altLang="en-US" sz="1700" dirty="0">
                <a:solidFill>
                  <a:srgbClr val="1F2A37"/>
                </a:solidFill>
                <a:latin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يَبْلُغُ</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يُمَثِّلُ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large numbers with </a:t>
            </a:r>
            <a:pPr algn="l" indent="0" marL="0">
              <a:buNone/>
            </a:pPr>
            <a:r>
              <a:rPr lang="ar-SA" altLang="en-US" sz="1700" dirty="0">
                <a:solidFill>
                  <a:srgbClr val="1F2A37"/>
                </a:solidFill>
                <a:latin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 singular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يُثْرِي / يُوَسِّعُ / يُمَثِّلُ</a:t>
            </a:r>
            <a:pPr algn="l" indent="0" marL="0">
              <a:buNone/>
            </a:pPr>
            <a:r>
              <a:rPr lang="en-US" sz="1300" dirty="0">
                <a:solidFill>
                  <a:srgbClr val="1F2A37"/>
                </a:solidFill>
                <a:latin typeface="Calibri" pitchFamily="34" charset="0"/>
                <a:cs typeface="Amiri" pitchFamily="2" charset="-78"/>
              </a:rPr>
              <a:t> with a direct object (no preposition).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words that travelled from Arabic and qualify historical claims.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Arabic’s status with </a:t>
            </a:r>
            <a:pPr algn="l" indent="0" marL="0">
              <a:buNone/>
            </a:pPr>
            <a:r>
              <a:rPr lang="ar-SA" altLang="en-US" sz="1700" b="1" dirty="0">
                <a:solidFill>
                  <a:srgbClr val="2E8B57"/>
                </a:solidFill>
                <a:latin typeface="Amiri" pitchFamily="2" charset="-78"/>
                <a:cs typeface="Amiri" pitchFamily="2" charset="-78"/>
              </a:rPr>
              <a:t>تُعَدُّ مِنْ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two words that came from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large number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يُمَثِّلُ</a:t>
            </a:r>
            <a:pPr algn="l" indent="0" marL="0">
              <a:buNone/>
            </a:pPr>
            <a:r>
              <a:rPr lang="en-US" sz="1300" b="1" dirty="0">
                <a:solidFill>
                  <a:srgbClr val="C9780A"/>
                </a:solidFill>
                <a:latin typeface="Calibri" pitchFamily="34" charset="0"/>
                <a:cs typeface="Amiri" pitchFamily="2" charset="-78"/>
              </a:rPr>
              <a:t> +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argue why Arabic is worth learning.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historical claim.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Status and statistics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Words that travelled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Why it is worth learning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كِتَابٌ · قَلَمٌ · دُنْيَا</a:t>
            </a:r>
            <a:endParaRPr lang="ar-SA" sz="16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‎کتاب · قلم · دنیا‎ </a:t>
            </a:r>
            <a:pPr indent="0" marL="0">
              <a:buNone/>
            </a:pPr>
            <a:r>
              <a:rPr lang="en-US" sz="950" b="1" dirty="0">
                <a:solidFill>
                  <a:srgbClr val="2E8B57"/>
                </a:solidFill>
                <a:latin typeface="Calibri" pitchFamily="34" charset="0"/>
                <a:cs typeface="Amiri" pitchFamily="2" charset="-78"/>
              </a:rPr>
              <a:t> kitāb · qalam · dunyā · book · pen · world — Arabic words in Urdu</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سُكَّرٌ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shakkar · sugar (English sugar via Arabic)</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قَهْوَةٌ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Urdu: green tea · Arabic: coffee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تَرْجَمَةٌ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‎ترجمہ‎ </a:t>
            </a:r>
            <a:pPr indent="0" marL="0">
              <a:buNone/>
            </a:pPr>
            <a:r>
              <a:rPr lang="en-US" sz="950" b="1" dirty="0">
                <a:solidFill>
                  <a:srgbClr val="2E8B57"/>
                </a:solidFill>
                <a:latin typeface="Calibri" pitchFamily="34" charset="0"/>
                <a:cs typeface="Amiri" pitchFamily="2" charset="-78"/>
              </a:rPr>
              <a:t> tarjuma · translation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لُغَةٌ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‎لغت‎ </a:t>
            </a:r>
            <a:pPr indent="0" marL="0">
              <a:buNone/>
            </a:pPr>
            <a:r>
              <a:rPr lang="en-US" sz="950" b="1" dirty="0">
                <a:solidFill>
                  <a:srgbClr val="2E8B57"/>
                </a:solidFill>
                <a:latin typeface="Calibri" pitchFamily="34" charset="0"/>
                <a:cs typeface="Amiri" pitchFamily="2" charset="-78"/>
              </a:rPr>
              <a:t> lughat · Urdu: a dictionary · Arabic: a language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الأُمَمِ المُتَّحِدَةِ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United Nations language</a:t>
            </a:r>
            <a:endParaRPr lang="en-US" sz="1350" dirty="0"/>
          </a:p>
          <a:p>
            <a:pPr indent="0" marL="0">
              <a:buNone/>
            </a:pPr>
            <a:r>
              <a:rPr lang="en-US" sz="1100" i="1" dirty="0">
                <a:solidFill>
                  <a:srgbClr val="5A6472"/>
                </a:solidFill>
                <a:latin typeface="Calibri" pitchFamily="34" charset="0"/>
                <a:cs typeface="Amiri" pitchFamily="2" charset="-78"/>
              </a:rPr>
              <a:t>lu-gha-tu al-u-ma-mi al-mut-ta-ḥi-da-ti</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Arabic is one of the six.</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مُتَحَدِّثٌ / مُتَحَدِّثُونَ</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speaker / speakers</a:t>
            </a:r>
            <a:endParaRPr lang="en-US" sz="1350" dirty="0"/>
          </a:p>
          <a:p>
            <a:pPr indent="0" marL="0">
              <a:buNone/>
            </a:pPr>
            <a:r>
              <a:rPr lang="en-US" sz="1100" i="1" dirty="0">
                <a:solidFill>
                  <a:srgbClr val="5A6472"/>
                </a:solidFill>
                <a:latin typeface="Calibri" pitchFamily="34" charset="0"/>
                <a:cs typeface="Amiri" pitchFamily="2" charset="-78"/>
              </a:rPr>
              <a:t>mu-ta-ḥad-di-thun / mu-ta-ḥad-di-thū-na</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أَرْبَعُمِئَةِ مِلْيُونٍ</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four hundred million</a:t>
            </a:r>
            <a:endParaRPr lang="en-US" sz="1350" dirty="0"/>
          </a:p>
          <a:p>
            <a:pPr indent="0" marL="0">
              <a:buNone/>
            </a:pPr>
            <a:r>
              <a:rPr lang="en-US" sz="1100" i="1" dirty="0">
                <a:solidFill>
                  <a:srgbClr val="5A6472"/>
                </a:solidFill>
                <a:latin typeface="Calibri" pitchFamily="34" charset="0"/>
                <a:cs typeface="Amiri" pitchFamily="2" charset="-78"/>
              </a:rPr>
              <a:t>ar-ba-ʿu-mi-ʾa-ti mil-yū-nin</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مِئَة</a:t>
            </a:r>
            <a:pPr algn="l" indent="0" marL="0">
              <a:buNone/>
            </a:pPr>
            <a:r>
              <a:rPr lang="en-US" sz="1000" i="1" dirty="0">
                <a:solidFill>
                  <a:srgbClr val="8A6D1E"/>
                </a:solidFill>
                <a:latin typeface="Calibri" pitchFamily="34" charset="0"/>
                <a:cs typeface="Amiri" pitchFamily="2" charset="-78"/>
              </a:rPr>
              <a:t> joins the number in an iḍāfa.</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مِنْ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genitive plural.</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reaches (a figure)</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direct object.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الانْتِشَارُ</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spread, reach</a:t>
            </a:r>
            <a:endParaRPr lang="en-US" sz="1350" dirty="0"/>
          </a:p>
          <a:p>
            <a:pPr indent="0" marL="0">
              <a:buNone/>
            </a:pPr>
            <a:r>
              <a:rPr lang="en-US" sz="1100" i="1" dirty="0">
                <a:solidFill>
                  <a:srgbClr val="5A6472"/>
                </a:solidFill>
                <a:latin typeface="Calibri" pitchFamily="34" charset="0"/>
                <a:cs typeface="Amiri" pitchFamily="2" charset="-78"/>
              </a:rPr>
              <a:t>aln-ti-shā-ru</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أَهَمِّيَّةٌ اسْتِرَاتِيجِيَّةٌ</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strategic importance</a:t>
            </a:r>
            <a:endParaRPr lang="en-US" sz="1350" dirty="0"/>
          </a:p>
          <a:p>
            <a:pPr indent="0" marL="0">
              <a:buNone/>
            </a:pPr>
            <a:r>
              <a:rPr lang="en-US" sz="1100" i="1" dirty="0">
                <a:solidFill>
                  <a:srgbClr val="5A6472"/>
                </a:solidFill>
                <a:latin typeface="Calibri" pitchFamily="34" charset="0"/>
                <a:cs typeface="Amiri" pitchFamily="2" charset="-78"/>
              </a:rPr>
              <a:t>a-ham-miy-ya-tun as-ti-rā-tī-jiy-ya-tun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القُرْآنِ الكَرِيمِ</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 of the Qur'an</a:t>
            </a:r>
            <a:endParaRPr lang="en-US" sz="1350" dirty="0"/>
          </a:p>
          <a:p>
            <a:pPr indent="0" marL="0">
              <a:buNone/>
            </a:pPr>
            <a:r>
              <a:rPr lang="en-US" sz="1100" i="1" dirty="0">
                <a:solidFill>
                  <a:srgbClr val="5A6472"/>
                </a:solidFill>
                <a:latin typeface="Calibri" pitchFamily="34" charset="0"/>
                <a:cs typeface="Amiri" pitchFamily="2" charset="-78"/>
              </a:rPr>
              <a:t>lu-gha-tu al-qur-ʾā-ni al-ka-rī-mi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الجَبْرُ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algebra</a:t>
            </a:r>
            <a:endParaRPr lang="en-US" sz="1350" dirty="0"/>
          </a:p>
          <a:p>
            <a:pPr indent="0" marL="0">
              <a:buNone/>
            </a:pPr>
            <a:r>
              <a:rPr lang="en-US" sz="1100" i="1" dirty="0">
                <a:solidFill>
                  <a:srgbClr val="5A6472"/>
                </a:solidFill>
                <a:latin typeface="Calibri" pitchFamily="34" charset="0"/>
                <a:cs typeface="Amiri" pitchFamily="2" charset="-78"/>
              </a:rPr>
              <a:t>al-jab-ru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The mathematical term entered European languages from this word.</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الكِيمْيَاءُ</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chemistry</a:t>
            </a:r>
            <a:endParaRPr lang="en-US" sz="1350" dirty="0"/>
          </a:p>
          <a:p>
            <a:pPr indent="0" marL="0">
              <a:buNone/>
            </a:pPr>
            <a:r>
              <a:rPr lang="en-US" sz="1100" i="1" dirty="0">
                <a:solidFill>
                  <a:srgbClr val="5A6472"/>
                </a:solidFill>
                <a:latin typeface="Calibri" pitchFamily="34" charset="0"/>
                <a:cs typeface="Amiri" pitchFamily="2" charset="-78"/>
              </a:rPr>
              <a:t>al-kīm-yā-ʾu</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قَهْوَةٌ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travelled with the drink.</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سُكَّرٌ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sugar</a:t>
            </a:r>
            <a:endParaRPr lang="en-US" sz="1350" dirty="0"/>
          </a:p>
          <a:p>
            <a:pPr indent="0" marL="0">
              <a:buNone/>
            </a:pPr>
            <a:r>
              <a:rPr lang="en-US" sz="1100" i="1" dirty="0">
                <a:solidFill>
                  <a:srgbClr val="5A6472"/>
                </a:solidFill>
                <a:latin typeface="Calibri" pitchFamily="34" charset="0"/>
                <a:cs typeface="Amiri" pitchFamily="2" charset="-78"/>
              </a:rPr>
              <a:t>suk-ka-run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صِفْرٌ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zero</a:t>
            </a:r>
            <a:endParaRPr lang="en-US" sz="1350" dirty="0"/>
          </a:p>
          <a:p>
            <a:pPr indent="0" marL="0">
              <a:buNone/>
            </a:pPr>
            <a:r>
              <a:rPr lang="en-US" sz="1100" i="1" dirty="0">
                <a:solidFill>
                  <a:srgbClr val="5A6472"/>
                </a:solidFill>
                <a:latin typeface="Calibri" pitchFamily="34" charset="0"/>
                <a:cs typeface="Amiri" pitchFamily="2" charset="-78"/>
              </a:rPr>
              <a:t>ṣif-run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concept and the word spread together.</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قُطْنٌ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cotton</a:t>
            </a:r>
            <a:endParaRPr lang="en-US" sz="1350" dirty="0"/>
          </a:p>
          <a:p>
            <a:pPr indent="0" marL="0">
              <a:buNone/>
            </a:pPr>
            <a:r>
              <a:rPr lang="en-US" sz="1100" i="1" dirty="0">
                <a:solidFill>
                  <a:srgbClr val="5A6472"/>
                </a:solidFill>
                <a:latin typeface="Calibri" pitchFamily="34" charset="0"/>
                <a:cs typeface="Amiri" pitchFamily="2" charset="-78"/>
              </a:rPr>
              <a:t>quṭ-nun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كَلِمَاتٌ مُسْتَعَارَةٌ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loanwords</a:t>
            </a:r>
            <a:endParaRPr lang="en-US" sz="1350" dirty="0"/>
          </a:p>
          <a:p>
            <a:pPr indent="0" marL="0">
              <a:buNone/>
            </a:pPr>
            <a:r>
              <a:rPr lang="en-US" sz="1100" i="1" dirty="0">
                <a:solidFill>
                  <a:srgbClr val="5A6472"/>
                </a:solidFill>
                <a:latin typeface="Calibri" pitchFamily="34" charset="0"/>
                <a:cs typeface="Amiri" pitchFamily="2" charset="-78"/>
              </a:rPr>
              <a:t>ka-li-mā-tun mus-ta-ʿā-ra-tun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التَّأْثِيرُ اللُّغَوِيُّ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influence</a:t>
            </a:r>
            <a:endParaRPr lang="en-US" sz="1350" dirty="0"/>
          </a:p>
          <a:p>
            <a:pPr indent="0" marL="0">
              <a:buNone/>
            </a:pPr>
            <a:r>
              <a:rPr lang="en-US" sz="1100" i="1" dirty="0">
                <a:solidFill>
                  <a:srgbClr val="5A6472"/>
                </a:solidFill>
                <a:latin typeface="Calibri" pitchFamily="34" charset="0"/>
                <a:cs typeface="Amiri" pitchFamily="2" charset="-78"/>
              </a:rPr>
              <a:t>at-taʾ-thī-ru all-lu-gha-wiy-yu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أَصْلٌ عَرَبِيٌّ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origin</a:t>
            </a:r>
            <a:endParaRPr lang="en-US" sz="1350" dirty="0"/>
          </a:p>
          <a:p>
            <a:pPr indent="0" marL="0">
              <a:buNone/>
            </a:pPr>
            <a:r>
              <a:rPr lang="en-US" sz="1100" i="1" dirty="0">
                <a:solidFill>
                  <a:srgbClr val="5A6472"/>
                </a:solidFill>
                <a:latin typeface="Calibri" pitchFamily="34" charset="0"/>
                <a:cs typeface="Amiri" pitchFamily="2" charset="-78"/>
              </a:rPr>
              <a:t>aṣ-lun ʿa-ra-biy-yun</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يُثْرِي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enriches</a:t>
            </a:r>
            <a:endParaRPr lang="en-US" sz="1350" dirty="0"/>
          </a:p>
          <a:p>
            <a:pPr indent="0" marL="0">
              <a:buNone/>
            </a:pPr>
            <a:r>
              <a:rPr lang="en-US" sz="1100" i="1" dirty="0">
                <a:solidFill>
                  <a:srgbClr val="5A6472"/>
                </a:solidFill>
                <a:latin typeface="Calibri" pitchFamily="34" charset="0"/>
                <a:cs typeface="Amiri" pitchFamily="2" charset="-78"/>
              </a:rPr>
              <a:t>yuth-rī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IV; takes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يُوَسِّعُ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broadens</a:t>
            </a:r>
            <a:endParaRPr lang="en-US" sz="1350" dirty="0"/>
          </a:p>
          <a:p>
            <a:pPr indent="0" marL="0">
              <a:buNone/>
            </a:pPr>
            <a:r>
              <a:rPr lang="en-US" sz="1100" i="1" dirty="0">
                <a:solidFill>
                  <a:srgbClr val="5A6472"/>
                </a:solidFill>
                <a:latin typeface="Calibri" pitchFamily="34" charset="0"/>
                <a:cs typeface="Amiri" pitchFamily="2" charset="-78"/>
              </a:rPr>
              <a:t>yu-was-si-ʿu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يَفْتَحُ أَبْوَابًا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opens doors</a:t>
            </a:r>
            <a:endParaRPr lang="en-US" sz="1350" dirty="0"/>
          </a:p>
          <a:p>
            <a:pPr indent="0" marL="0">
              <a:buNone/>
            </a:pPr>
            <a:r>
              <a:rPr lang="en-US" sz="1100" i="1" dirty="0">
                <a:solidFill>
                  <a:srgbClr val="5A6472"/>
                </a:solidFill>
                <a:latin typeface="Calibri" pitchFamily="34" charset="0"/>
                <a:cs typeface="Amiri" pitchFamily="2" charset="-78"/>
              </a:rPr>
              <a:t>yaf-ta-ḥu ab-wā-ban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object is accusative.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قِيمَةٌ مِهْنِيَّةٌ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professional value</a:t>
            </a:r>
            <a:endParaRPr lang="en-US" sz="1350" dirty="0"/>
          </a:p>
          <a:p>
            <a:pPr indent="0" marL="0">
              <a:buNone/>
            </a:pPr>
            <a:r>
              <a:rPr lang="en-US" sz="1100" i="1" dirty="0">
                <a:solidFill>
                  <a:srgbClr val="5A6472"/>
                </a:solidFill>
                <a:latin typeface="Calibri" pitchFamily="34" charset="0"/>
                <a:cs typeface="Amiri" pitchFamily="2" charset="-78"/>
              </a:rPr>
              <a:t>qī-ma-tun mih-niy-ya-tun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فُرَصٌ اقْتِصَادِيَّةٌ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economic opportunities</a:t>
            </a:r>
            <a:endParaRPr lang="en-US" sz="1350" dirty="0"/>
          </a:p>
          <a:p>
            <a:pPr indent="0" marL="0">
              <a:buNone/>
            </a:pPr>
            <a:r>
              <a:rPr lang="en-US" sz="1100" i="1" dirty="0">
                <a:solidFill>
                  <a:srgbClr val="5A6472"/>
                </a:solidFill>
                <a:latin typeface="Calibri" pitchFamily="34" charset="0"/>
                <a:cs typeface="Amiri" pitchFamily="2" charset="-78"/>
              </a:rPr>
              <a:t>fu-ra-ṣun aq-ti-ṣā-diy-ya-tun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الدِّبْلُومَاسِيَّةُ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diplomacy</a:t>
            </a:r>
            <a:endParaRPr lang="en-US" sz="1350" dirty="0"/>
          </a:p>
          <a:p>
            <a:pPr indent="0" marL="0">
              <a:buNone/>
            </a:pPr>
            <a:r>
              <a:rPr lang="en-US" sz="1100" i="1" dirty="0">
                <a:solidFill>
                  <a:srgbClr val="5A6472"/>
                </a:solidFill>
                <a:latin typeface="Calibri" pitchFamily="34" charset="0"/>
                <a:cs typeface="Amiri" pitchFamily="2" charset="-78"/>
              </a:rPr>
              <a:t>ad-dib-lū-mā-siy-ya-tu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Shape 27"/>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translation</a:t>
            </a:r>
            <a:endParaRPr lang="en-US" sz="1350" dirty="0"/>
          </a:p>
          <a:p>
            <a:pPr indent="0" marL="0">
              <a:buNone/>
            </a:pPr>
            <a:r>
              <a:rPr lang="en-US" sz="1100" i="1" dirty="0">
                <a:solidFill>
                  <a:srgbClr val="5A6472"/>
                </a:solidFill>
                <a:latin typeface="Calibri" pitchFamily="34" charset="0"/>
                <a:cs typeface="Amiri" pitchFamily="2" charset="-78"/>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a:t>
            </a:r>
            <a:endParaRPr lang="en-US" sz="1350" dirty="0"/>
          </a:p>
          <a:p>
            <a:pPr indent="0" marL="0">
              <a:buNone/>
            </a:pPr>
            <a:r>
              <a:rPr lang="en-US" sz="1100" i="1" dirty="0">
                <a:solidFill>
                  <a:srgbClr val="5A6472"/>
                </a:solidFill>
                <a:latin typeface="Calibri" pitchFamily="34" charset="0"/>
                <a:cs typeface="Amiri" pitchFamily="2" charset="-78"/>
              </a:rPr>
              <a:t>at-ta-wā-ṣu-lu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STATISTICAL LANGUAGE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المَكَانَةُ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genitive plural</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تُعَدُّ العَرَبِيَّةُ </a:t>
            </a:r>
            <a:pPr rtl="1" algn="ctr" indent="0" marL="0">
              <a:buNone/>
            </a:pPr>
            <a:r>
              <a:rPr lang="ar-SA" altLang="en-US" sz="1950" b="1" dirty="0">
                <a:solidFill>
                  <a:srgbClr val="0E7C86"/>
                </a:solidFill>
                <a:latin typeface="Amiri" pitchFamily="2" charset="-78"/>
                <a:cs typeface="Amiri" pitchFamily="2" charset="-78"/>
              </a:rPr>
              <a:t>مِنْ</a:t>
            </a:r>
            <a:pPr rtl="1" algn="ctr" indent="0" marL="0">
              <a:buNone/>
            </a:pPr>
            <a:r>
              <a:rPr lang="ar-SA" altLang="en-US" sz="1950" b="1" dirty="0">
                <a:solidFill>
                  <a:srgbClr val="1B3B6F"/>
                </a:solidFill>
                <a:latin typeface="Amiri" pitchFamily="2" charset="-78"/>
                <a:cs typeface="Amiri" pitchFamily="2" charset="-78"/>
              </a:rPr>
              <a:t> أَكْثَرِ اللُّغَاتِ انْتِشَارًا.</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Arabic is among the most widespread languages.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يُعَدُّ </a:t>
            </a:r>
            <a:pPr rtl="1" algn="ctr" indent="0" marL="0">
              <a:buNone/>
            </a:pPr>
            <a:r>
              <a:rPr lang="ar-SA" altLang="en-US" sz="2200" b="1" dirty="0">
                <a:solidFill>
                  <a:srgbClr val="0E7C86"/>
                </a:solidFill>
                <a:latin typeface="Amiri" pitchFamily="2" charset="-78"/>
                <a:cs typeface="Amiri" pitchFamily="2" charset="-78"/>
              </a:rPr>
              <a:t>مِنْ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(f.)</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هِيَ </a:t>
            </a:r>
            <a:pPr rtl="1" algn="ctr" indent="0" marL="0">
              <a:buNone/>
            </a:pPr>
            <a:r>
              <a:rPr lang="ar-SA" altLang="en-US" sz="1950" b="1" dirty="0">
                <a:solidFill>
                  <a:srgbClr val="D6336C"/>
                </a:solidFill>
                <a:latin typeface="Amiri" pitchFamily="2" charset="-78"/>
                <a:cs typeface="Amiri" pitchFamily="2" charset="-78"/>
              </a:rPr>
              <a:t>إِحْدَى</a:t>
            </a:r>
            <a:pPr rtl="1" algn="ctr" indent="0" marL="0">
              <a:buNone/>
            </a:pPr>
            <a:r>
              <a:rPr lang="ar-SA" altLang="en-US" sz="1950" b="1" dirty="0">
                <a:solidFill>
                  <a:srgbClr val="1B3B6F"/>
                </a:solidFill>
                <a:latin typeface="Amiri" pitchFamily="2" charset="-78"/>
                <a:cs typeface="Amiri" pitchFamily="2" charset="-78"/>
              </a:rPr>
              <a:t> لُغَاتِ الأُمَمِ المُتَّحِدَةِ.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one of the UN languages.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إِحْدَى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figure</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يَبْلُغُ عَدَدُ المُتَحَدِّثِينَ مَلَايِينَ كَثِيرَةً.</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Speakers number many millions.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يَبْلُغُ</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genitive</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أَرْبَعُمِئَةِ </a:t>
            </a:r>
            <a:pPr rtl="1" algn="ctr" indent="0" marL="0">
              <a:buNone/>
            </a:pPr>
            <a:r>
              <a:rPr lang="ar-SA" altLang="en-US" sz="1950" b="1" dirty="0">
                <a:solidFill>
                  <a:srgbClr val="1D5FBF"/>
                </a:solidFill>
                <a:latin typeface="Amiri" pitchFamily="2" charset="-78"/>
                <a:cs typeface="Amiri" pitchFamily="2" charset="-78"/>
              </a:rPr>
              <a:t>مِلْيُونِ مُتَحَدِّثٍ</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 hundred million speakers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مِلْيُونِ مُتَحَدِّثٍ</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مِنْ </a:t>
            </a:r>
            <a:pPr rtl="1" algn="ctr" indent="0" marL="0">
              <a:buNone/>
            </a:pPr>
            <a:r>
              <a:rPr lang="ar-SA" altLang="en-US" sz="1950" b="1" dirty="0">
                <a:solidFill>
                  <a:srgbClr val="0E7C86"/>
                </a:solidFill>
                <a:latin typeface="Amiri" pitchFamily="2" charset="-78"/>
                <a:cs typeface="Amiri" pitchFamily="2" charset="-78"/>
              </a:rPr>
              <a:t>أَقْدَمِ</a:t>
            </a:r>
            <a:pPr rtl="1" algn="ctr" indent="0" marL="0">
              <a:buNone/>
            </a:pPr>
            <a:r>
              <a:rPr lang="ar-SA" altLang="en-US" sz="1950" b="1" dirty="0">
                <a:solidFill>
                  <a:srgbClr val="1B3B6F"/>
                </a:solidFill>
                <a:latin typeface="Amiri" pitchFamily="2" charset="-78"/>
                <a:cs typeface="Amiri" pitchFamily="2" charset="-78"/>
              </a:rPr>
              <a:t> اللُّغَاتِ الحَيَّةِ</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of the oldest living languages</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أَقْدَمِ</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“Formal statistics have their own verbs.”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DIRECT-OBJECT VERBS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preposition after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REPRESENTS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تُمَثِّلُ جِسْرًا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تُمَثِّلُ العَرَبِيَّةُ جِسْرًا بَيْنَ الثَّقَافَاتِ.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Arabic represents a bridge between cultures.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bi-.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ENRICHES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تُثْرِي تَفْكِيرَنَا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تُثْرِي اللُّغَةُ تَفْكِيرَنَا.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Language enriches our thinking.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BROADENS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يُوَسِّعُ · يَفْتَحُ أَبْوَابًا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يُوَسِّعُ تَعَلُّمُ اللُّغَاتِ آفَاقَنَا.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Learning languages broadens our horizons.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yumaththilu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تُمَثِّلُ جِسْرًا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تُمَثِّلُ بِجِسْرٍ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Statistical language and the direct object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الإِحْصَاءِ وَالمَفْعُولُ بِهِ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cs typeface="Amiri" pitchFamily="2" charset="-78"/>
              </a:rPr>
              <a:t>يُعَدُّ مِنْ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يُعَدُّ</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تُعَدُّ العَرَبِيَّةُ مِنْ أَكْثَرِ اللُّغَاتِ انْتِشَارًا   ·   يُعَدُّ الخَطُّ العَرَبِيُّ مِنْ أَجْمَلِ الفُنُونِ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Numbers with </a:t>
            </a:r>
            <a:pPr algn="l" indent="0" marL="0">
              <a:buNone/>
            </a:pPr>
            <a:r>
              <a:rPr lang="ar-SA" altLang="en-US" sz="1650" b="1" dirty="0">
                <a:solidFill>
                  <a:srgbClr val="1B3B6F"/>
                </a:solidFill>
                <a:latin typeface="Amiri" pitchFamily="2" charset="-78"/>
                <a:cs typeface="Amiri" pitchFamily="2" charset="-78"/>
              </a:rPr>
              <a:t>مِلْيُون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number + </a:t>
            </a:r>
            <a:pPr algn="l" indent="0" marL="0">
              <a:buNone/>
            </a:pPr>
            <a:r>
              <a:rPr lang="ar-SA" altLang="en-US" sz="1350" dirty="0">
                <a:solidFill>
                  <a:srgbClr val="5A6472"/>
                </a:solidFill>
                <a:latin typeface="Amiri" pitchFamily="2" charset="-78"/>
                <a:cs typeface="Amiri" pitchFamily="2" charset="-78"/>
              </a:rPr>
              <a:t>مِلْيُونِ</a:t>
            </a:r>
            <a:pPr algn="l" indent="0" marL="0">
              <a:buNone/>
            </a:pPr>
            <a:r>
              <a:rPr lang="en-US" sz="1050" dirty="0">
                <a:solidFill>
                  <a:srgbClr val="5A6472"/>
                </a:solidFill>
                <a:latin typeface="Calibri" pitchFamily="34" charset="0"/>
                <a:cs typeface="Amiri" pitchFamily="2" charset="-78"/>
              </a:rPr>
              <a:t> + singular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أَرْبَعُمِئَةِ مِلْيُونِ مُتَحَدِّثٍ   ·   يَبْلُغُ عَدَدُ المُتَحَدِّثِينَ مَلَايِينَ كَثِيرَةً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يُمَثِّلُ</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تُمَثِّلُ العَرَبِيَّةُ جِسْرًا بَيْنَ الثَّقَافَاتِ   ·   يُمَثِّلُ ذٰلِكَ نِسْبَةً كَبِيرَةً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يُوَسِّعُ</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يُثْرِي / يُوَسِّعُ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تُثْرِي اللُّغَةُ تَفْكِيرَنَا   ·   يُوَسِّعُ تَعَلُّمُ اللُّغَاتِ آفَاقَنَا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العَرَبِيَّةُ جِسْرًا بَيْنَ الثَّقَافَاتِ.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العَرَبِيَّةُ بِجِسْرٍ بَيْنَ الثَّقَافَاتِ.</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تُمَثِّلُ العَرَبِيَّةُ جِسْرٌ بَيْنَ الثَّقَافَاتِ.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الجَوَابُ</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إِحْدَى لُغَاتِ الأُمَمِ المُتَّحِدَةِ.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اللُّغَةُ الرَّسْمِيَّةُ الوَحِيدَةُ فِي العَالَمِ.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لَا تُسْتَعْمَلُ فِي المُنَظَّمَاتِ الدَّوْلِيَّةِ.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a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تُمَثِّلُ العَرَبِيَّةُ جِسْرًا بَيْنَ الثَّقَافَاتِ.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تُمَثِّلُ العَرَبِيَّةُ بِجِسْرٍ بَيْنَ الثَّقَافَاتِ.</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تُمَثِّلُ العَرَبِيَّةُ جِسْرٌ بَيْنَ الثَّقَافَاتِ.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الجَبَلُ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الجَبْرُ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الجَوَابُ</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behind the English word.</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العَرَبِيَّةُ إِحْدَى لُغَاتِ الأُمَمِ المُتَّحِدَةِ.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العَرَبِيَّةُ اللُّغَةُ الرَّسْمِيَّةُ الوَحِيدَةُ فِي العَالَمِ.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العَرَبِيَّةُ لَا تُسْتَعْمَلُ فِي المُنَظَّمَاتِ الدَّوْلِيَّةِ.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is one of the six official UN languages.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argue for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cs typeface="Amiri" pitchFamily="2" charset="-78"/>
              </a:rPr>
              <a:t>تُعَدُّ</a:t>
            </a:r>
            <a:pPr rtl="1" algn="ctr" indent="0" marL="0">
              <a:lnSpc>
                <a:spcPct val="120000"/>
              </a:lnSpc>
              <a:buNone/>
            </a:pPr>
            <a:r>
              <a:rPr lang="ar-SA" altLang="en-US" sz="1850" b="1" dirty="0">
                <a:solidFill>
                  <a:srgbClr val="1B3B6F"/>
                </a:solidFill>
                <a:latin typeface="Amiri" pitchFamily="2" charset="-78"/>
                <a:cs typeface="Amiri" pitchFamily="2" charset="-78"/>
              </a:rPr>
              <a:t> العَرَبِيَّةُ </a:t>
            </a:r>
            <a:pPr rtl="1" algn="ctr" indent="0" marL="0">
              <a:lnSpc>
                <a:spcPct val="120000"/>
              </a:lnSpc>
              <a:buNone/>
            </a:pPr>
            <a:r>
              <a:rPr lang="ar-SA" altLang="en-US" sz="1850" b="1" dirty="0">
                <a:solidFill>
                  <a:srgbClr val="0E7C86"/>
                </a:solidFill>
                <a:latin typeface="Amiri" pitchFamily="2" charset="-78"/>
                <a:cs typeface="Amiri" pitchFamily="2" charset="-78"/>
              </a:rPr>
              <a:t>مِنْ</a:t>
            </a:r>
            <a:pPr rtl="1" algn="ctr" indent="0" marL="0">
              <a:lnSpc>
                <a:spcPct val="120000"/>
              </a:lnSpc>
              <a:buNone/>
            </a:pPr>
            <a:r>
              <a:rPr lang="ar-SA" altLang="en-US" sz="1850" b="1" dirty="0">
                <a:solidFill>
                  <a:srgbClr val="1B3B6F"/>
                </a:solidFill>
                <a:latin typeface="Amiri" pitchFamily="2" charset="-78"/>
                <a:cs typeface="Amiri" pitchFamily="2" charset="-78"/>
              </a:rPr>
              <a:t> أَكْثَرِ اللُّغَاتِ</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Counted among.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يَبْلُغُ عَدَدُ المُتَحَدِّثِينَ </a:t>
            </a:r>
            <a:pPr rtl="1" algn="ctr" indent="0" marL="0">
              <a:lnSpc>
                <a:spcPct val="120000"/>
              </a:lnSpc>
              <a:buNone/>
            </a:pPr>
            <a:r>
              <a:rPr lang="ar-SA" altLang="en-US" sz="1900" b="1" dirty="0">
                <a:solidFill>
                  <a:srgbClr val="1D5FBF"/>
                </a:solidFill>
                <a:latin typeface="Amiri" pitchFamily="2" charset="-78"/>
                <a:cs typeface="Amiri" pitchFamily="2" charset="-78"/>
              </a:rPr>
              <a:t>مَلَايِينَ</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figure.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Loanwords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الجَبْرُ · القَهْوَةُ · السُّكَّرُ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Words that travelled.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Argument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تُوَسِّعُ</a:t>
            </a:r>
            <a:pPr rtl="1" algn="ctr" indent="0" marL="0">
              <a:buNone/>
            </a:pPr>
            <a:r>
              <a:rPr lang="ar-SA" altLang="en-US" sz="2800" b="1" dirty="0">
                <a:solidFill>
                  <a:srgbClr val="1B3B6F"/>
                </a:solidFill>
                <a:latin typeface="Amiri" pitchFamily="2" charset="-78"/>
                <a:cs typeface="Amiri" pitchFamily="2" charset="-78"/>
              </a:rPr>
              <a:t> آفَاقِي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Direct object.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STATUS</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FIGURE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ARGUMENT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cs typeface="Amiri" pitchFamily="2" charset="-78"/>
              </a:rPr>
              <a:t> أَكْثَرِ اللُّغَاتِ انْتِشَارًا فِي العَالَمِ، وَهِيَ إِحْدَى لُغَاتِ الأُمَمِ المُتَّحِدَةِ الرَّسْمِيَّةِ. وَيَبْلُغُ عَدَدُ المُتَحَدِّثِينَ بِهَا </a:t>
            </a:r>
            <a:pPr rtl="1" algn="r" indent="0" marL="0">
              <a:lnSpc>
                <a:spcPct val="120000"/>
              </a:lnSpc>
              <a:buNone/>
            </a:pPr>
            <a:r>
              <a:rPr lang="ar-SA" altLang="en-US" sz="1400" b="1" dirty="0">
                <a:solidFill>
                  <a:srgbClr val="1D5FBF"/>
                </a:solidFill>
                <a:latin typeface="Amiri" pitchFamily="2" charset="-78"/>
                <a:cs typeface="Amiri" pitchFamily="2" charset="-78"/>
              </a:rPr>
              <a:t>مَلَايِينَ كَثِيرَةً</a:t>
            </a:r>
            <a:pPr rtl="1" algn="r" indent="0" marL="0">
              <a:lnSpc>
                <a:spcPct val="120000"/>
              </a:lnSpc>
              <a:buNone/>
            </a:pPr>
            <a:r>
              <a:rPr lang="ar-SA" altLang="en-US" sz="1400" b="1" dirty="0">
                <a:solidFill>
                  <a:srgbClr val="1B3B6F"/>
                </a:solidFill>
                <a:latin typeface="Amiri" pitchFamily="2" charset="-78"/>
                <a:cs typeface="Amiri" pitchFamily="2" charset="-78"/>
              </a:rPr>
              <a:t>. أَتَعَلَّمُ العَرَبِيَّةَ لِأَنَّهَا </a:t>
            </a:r>
            <a:pPr rtl="1" algn="r" indent="0" marL="0">
              <a:lnSpc>
                <a:spcPct val="120000"/>
              </a:lnSpc>
              <a:buNone/>
            </a:pPr>
            <a:r>
              <a:rPr lang="ar-SA" altLang="en-US" sz="1400" b="1" dirty="0">
                <a:solidFill>
                  <a:srgbClr val="D6336C"/>
                </a:solidFill>
                <a:latin typeface="Amiri" pitchFamily="2" charset="-78"/>
                <a:cs typeface="Amiri" pitchFamily="2" charset="-78"/>
              </a:rPr>
              <a:t>تُثْرِي</a:t>
            </a:r>
            <a:pPr rtl="1" algn="r" indent="0" marL="0">
              <a:lnSpc>
                <a:spcPct val="120000"/>
              </a:lnSpc>
              <a:buNone/>
            </a:pPr>
            <a:r>
              <a:rPr lang="ar-SA" altLang="en-US" sz="1400" b="1" dirty="0">
                <a:solidFill>
                  <a:srgbClr val="1B3B6F"/>
                </a:solidFill>
                <a:latin typeface="Amiri" pitchFamily="2" charset="-78"/>
                <a:cs typeface="Amiri" pitchFamily="2" charset="-78"/>
              </a:rPr>
              <a:t> تَفْكِيرِي وَ</a:t>
            </a:r>
            <a:pPr rtl="1" algn="r" indent="0" marL="0">
              <a:lnSpc>
                <a:spcPct val="120000"/>
              </a:lnSpc>
              <a:buNone/>
            </a:pPr>
            <a:r>
              <a:rPr lang="ar-SA" altLang="en-US" sz="1400" b="1" dirty="0">
                <a:solidFill>
                  <a:srgbClr val="D6336C"/>
                </a:solidFill>
                <a:latin typeface="Amiri" pitchFamily="2" charset="-78"/>
                <a:cs typeface="Amiri" pitchFamily="2" charset="-78"/>
              </a:rPr>
              <a:t>تُوَسِّعُ</a:t>
            </a:r>
            <a:pPr rtl="1" algn="r" indent="0" marL="0">
              <a:lnSpc>
                <a:spcPct val="120000"/>
              </a:lnSpc>
              <a:buNone/>
            </a:pPr>
            <a:r>
              <a:rPr lang="ar-SA" altLang="en-US" sz="1400" b="1" dirty="0">
                <a:solidFill>
                  <a:srgbClr val="1B3B6F"/>
                </a:solidFill>
                <a:latin typeface="Amiri" pitchFamily="2" charset="-78"/>
                <a:cs typeface="Amiri" pitchFamily="2" charset="-78"/>
              </a:rPr>
              <a:t> آفَاقِي.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Arabic is among the most widespread languages in the world, and it is one of the official UN languages. The number of its speakers reaches many millions. I learn Arabic because it enriches my thinking and broadens my horizons.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تُعَدُّ العَرَبِيَّةُ مِنْ أَكْثَرِ اللُّغَاتِ انْتِشَارًا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among the most widespread languages</a:t>
            </a:r>
            <a:endParaRPr lang="en-US" sz="1250" dirty="0"/>
          </a:p>
          <a:p>
            <a:pPr indent="0" marL="0">
              <a:buNone/>
            </a:pPr>
            <a:r>
              <a:rPr lang="en-US" sz="1050" i="1" dirty="0">
                <a:solidFill>
                  <a:srgbClr val="8A6D1E"/>
                </a:solidFill>
                <a:latin typeface="Calibri" pitchFamily="34" charset="0"/>
                <a:cs typeface="Amiri" pitchFamily="2" charset="-78"/>
              </a:rPr>
              <a:t>مِنْ plus a genitive plural, then an accusative specifier.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أَرْبَعُمِئَةِ مِلْيُونِ مُتَحَدِّثٍ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four hundred million speakers</a:t>
            </a:r>
            <a:endParaRPr lang="en-US" sz="1250" dirty="0"/>
          </a:p>
          <a:p>
            <a:pPr indent="0" marL="0">
              <a:buNone/>
            </a:pPr>
            <a:r>
              <a:rPr lang="en-US" sz="1050" i="1" dirty="0">
                <a:solidFill>
                  <a:srgbClr val="8A6D1E"/>
                </a:solidFill>
                <a:latin typeface="Calibri" pitchFamily="34" charset="0"/>
                <a:cs typeface="Amiri" pitchFamily="2" charset="-78"/>
              </a:rPr>
              <a:t>مِلْيُون is followed by a singular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يُوَسِّعُ آفَاقَنَا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broadens our horizons</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يَبْلُغُ</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يُمَثِّلُ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يُثْرِي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 أَبْوَابًا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مِنْ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يَبْلُغُ</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يُمَثِّلُ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الجَبْرُ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سُكَّرٌ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يُثْرِي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 أَبْوَابًا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سُكَّرٌ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يُوَسِّعُ تَعَلُّمُ اللُّغَاتِ 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بِآفَاقِنَا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عَدَدَ المُتَحَدِّثِينَ بِالعَرَبِيَّةِ مَلَايِينُ كَثِيرَةٌ.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عَدَدُ المُتَحَدِّثِينَ مَلَايِينُ كَثِيرَةٍ.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يَبْلُغُ عَدَدُ المُتَحَدِّثِينَ بِالعَرَبِيَّةِ مَلَايِينَ كَثِيرَةً.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أَرْبَعُمِئَةِ مِلْيُونِ مُتَحَدِّثٍ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is genitive in the iḍāfa and is followed by a singular genitive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سُكَّرٌ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is the source of the English word.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يُوَسِّعُ تَعَلُّمُ اللُّغَاتِ 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آفَاقُنَا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آفَاقَنَا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بِآفَاقِنَا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يَبْلُغُ عَدَدَ المُتَحَدِّثِينَ بِالعَرَبِيَّةِ مَلَايِينُ كَثِيرَةٌ.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يَبْلُغُ عَدَدُ المُتَحَدِّثِينَ مَلَايِينُ كَثِيرَةٍ.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يَبْلُغُ عَدَدُ المُتَحَدِّثِينَ بِالعَرَبِيَّةِ مَلَايِينَ كَثِيرَةً.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عَدَدُ</a:t>
            </a:r>
            <a:pPr algn="l" indent="0" marL="0">
              <a:buNone/>
            </a:pPr>
            <a:r>
              <a:rPr lang="en-US" sz="1050" i="1" dirty="0">
                <a:solidFill>
                  <a:srgbClr val="8A6D1E"/>
                </a:solidFill>
                <a:latin typeface="Calibri" pitchFamily="34" charset="0"/>
                <a:cs typeface="Amiri" pitchFamily="2" charset="-78"/>
              </a:rPr>
              <a:t> is the nominative subject and </a:t>
            </a:r>
            <a:pPr algn="l" indent="0" marL="0">
              <a:buNone/>
            </a:pPr>
            <a:r>
              <a:rPr lang="ar-SA" altLang="en-US" sz="1350" dirty="0">
                <a:solidFill>
                  <a:srgbClr val="8A6D1E"/>
                </a:solidFill>
                <a:latin typeface="Amiri" pitchFamily="2" charset="-78"/>
                <a:cs typeface="Amiri" pitchFamily="2" charset="-78"/>
              </a:rPr>
              <a:t>مَلَايِينَ</a:t>
            </a:r>
            <a:pPr algn="l" indent="0" marL="0">
              <a:buNone/>
            </a:pPr>
            <a:r>
              <a:rPr lang="en-US" sz="1050" i="1" dirty="0">
                <a:solidFill>
                  <a:srgbClr val="8A6D1E"/>
                </a:solidFill>
                <a:latin typeface="Calibri" pitchFamily="34" charset="0"/>
                <a:cs typeface="Amiri" pitchFamily="2" charset="-78"/>
              </a:rPr>
              <a:t> is the accusative complement.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تُمَثِّلُ العَرَبِيَّةُ بِجِسْرٍ بَيْنَ الثَّقَافَاتِ.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yumaththilu +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أَرْبَعُمِئَةِ مِلْيُونَ مُتَحَدِّثُونَ.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milyūn: singular or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يُوَسِّعُ تَعَلُّمُ اللُّغَاتِ بِآفَاقِنَا.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yuwassiʿu: object in -a or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تُمَثِّلُ العَرَبِيَّةُ بِجِسْرٍ بَيْنَ الثَّقَافَاتِ.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تُمَثِّلُ العَرَبِيَّةُ جِسْرًا بَيْنَ الثَّقَافَاتِ.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yumaththilu takes a direct object, not a preposition.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أَرْبَعُمِئَةِ مِلْيُونَ مُتَحَدِّثُونَ.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أَرْبَعُمِئَةِ مِلْيُونِ مُتَحَدِّثٍ.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milyūn: a singular genitive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يُوَسِّعُ تَعَلُّمُ اللُّغَاتِ بِآفَاقِنَا.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يُوَسِّعُ تَعَلُّمُ اللُّغَاتِ آفَاقَنَا.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yuwassiʿu takes a direct object (-a),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why one student chose Arabic</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widespread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rarely used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only official world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with no official status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the official UN languages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only option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easiest language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doors in translation, diplomacy and trade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words reached other languages from Arabic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has no written 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 studies 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to new cultures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formality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تُعَدُّ العَرَبِيَّةُ مِنْ أَكْثَرِ اللُّغَاتِ انْتِشَارًا فِي العَالَمِ، وَهِيَ إِحْدَى لُغَاتِ الأُمَمِ المُتَّحِدَةِ الرَّسْمِيَّةِ.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among the most widespread languages in the world, and it is one of the official UN languages.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وَيَبْلُغُ عَدَدُ المُتَحَدِّثِينَ بِهَا مَلَايِينَ كَثِيرَةً فِي قَارَّاتٍ مُخْتَلِفَةٍ.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speakers number many millions on different continents.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اخْتَرْتُ دِرَاسَتَهَا لِأَنَّهَا تَفْتَحُ أَبْوَابًا فِي التَّرْجَمَةِ وَالدِّبْلُومَاسِيَّةِ وَالتِّجَارَةِ.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chose to study it because it opens doors in translation, diplomacy and trade.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وَقَدْ فَاجَأَنِي أَنَّ كَلِمَاتٍ كَثِيرَةً وَصَلَتْ مِنَ العَرَبِيَّةِ إِلَى لُغَاتٍ أُخْرَى، مِثْلَ الجَبْرِ وَالكِيمْيَاءِ وَالقَهْوَةِ وَالسُّكَّرِ وَالصِّفْرِ.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surprised me that many words reached other languages from Arabic, like algebra, chemistry, coffee, sugar and zero.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تُثْرِي اللُّغَةُ تَفْكِيرِي، وَتُوَسِّعُ آفَاقِي، وَتُمَثِّلُ جِسْرًا بَيْنِي وَبَيْنَ ثَقَافَاتٍ جَدِيدَةٍ.</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language enriches my thinking, broadens my horizons, and represents a bridge between me and new cultures.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most widespread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rarely used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العَرَبِيَّةُ مِنْ أَكْثَرِ اللُّغَاتِ انْتِشَارًا.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only official world language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with no official status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of the official UN languages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وَهِيَ إِحْدَى لُغَاتِ الأُمَمِ المُتَّحِدَةِ الرَّسْمِيَّةِ.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only option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easiest language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opens doors in translation, diplomacy and trade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لِأَنَّهَا تَفْتَحُ أَبْوَابًا فِي التَّرْجَمَةِ وَالدِّبْلُومَاسِيَّةِ وَالتِّجَارَةِ.</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words reached other languages from Arabic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has no written form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 studies 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 كَلِمَاتٍ كَثِيرَةً وَصَلَتْ مِنَ العَرَبِيَّةِ إِلَى لُغَاتٍ أُخْرَى.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bridge to new cultures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formality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وَتُمَثِّلُ جِسْرًا بَيْنِي وَبَيْنَ ثَقَافَاتٍ جَدِيدَةٍ.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argue for learning Arabic</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مَكَانَةُ العَرَبِيَّةِ فِي العَالَمِ؟ اِسْتَعْمِلْ يُعَدُّ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كَلِمَتَيْنِ وَصَلَتَا مِنَ العَرَبِيَّةِ إِلَى لُغَاتٍ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تَتَعَلَّمُ العَرَبِيَّةَ؟ اِسْتَعْمِلْ يُثْرِي أَوْ يُوَسِّعُ.</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تُعَدُّ العَرَبِيَّةُ مِنْ ___ ، وَهِيَ إِحْدَى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وَصَلَتْ كَلِمَاتٌ مِثْلُ ___ وَ ___ إِلَى لُغَاتٍ أُخْرَى.</a:t>
            </a:r>
            <a:endParaRPr lang="ar-SA" sz="13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أَتَعَلَّمُ العَرَبِيَّةَ لِأَنَّهَا تُوَسِّعُ ___ وَ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مَكَانَةُ العَرَبِيَّةِ فِي العَالَمِ؟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Arabic’s standing in the world?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تُعَدُّ مِنْ أَكْثَرِ اللُّغَاتِ انْتِشَارًا، وَهِيَ إِحْدَى لُغَاتِ الأُمَمِ المُتَّحِدَةِ.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It is among the most widespread languages, and it is one of the UN languages.</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about Arabic's status using the statistical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Arabic’s status with تُعَدُّ مِنْ / يَبْلُغُ + two loanwords.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loanwords and an accurate number phrase.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accurate number phrase and يُمَثِّلُ + object.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Argue the professional value with direct objects and qualify one historical claim.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statistical verbs · two loanwords · an argument with يُثْرِي / يُوَسِّعُ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تُمَثِّلُ العَرَبِيَّةُ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represents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أَتَعَلَّمُ العَرَبِيَّةَ لِأَنَّهَا تُثْرِي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Arabic because it enriches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تَفْتَحُ أَبْوَابًا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opens doors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الطَّرِيقُ وَاضِحًا تَمَامًا، وَلٰكِنَّ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route is not entirely clear, but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تُعَدُّ العَرَبِيَّةُ مِنْ أَكْثَرِ اللُّغَاتِ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is among the most … languages.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إِحْدَى لُغَاتِ الأُمَمِ المُتَّحِدَةِ.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one of the UN languages.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يَبْلُغُ عَدَدُ المُتَحَدِّثِينَ بِهَا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speakers number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وَصَلَتْ كَلِمَاتٌ مِثْلُ ______ إِلَى لُغَاتٍ أُخْرَى.</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Words like … reached other languages.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تُعَدُّ مِنْ  ·  إِحْدَى  ·  يَبْلُغُ  ·  مَلَايِينَ  ·  مِلْيُونِ مُتَحَدِّثٍ  ·  تُمَثِّلُ  ·  تُثْرِي  ·  تُوَسِّعُ آفَاقِي  ·  تَفْتَحُ أَبْوَابًا  ·  الجَبْرُ · السُّكَّرُ · الصِّفْرُ  ·  لُغَةُ القُرْآنِ الكَرِيمِ  ·  التَّرْجَمَةُ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Arabic's global reach and why it is worth learning. Use two statistical verbs, name at least two words that travelled into other languages, and close with an argument using </a:t>
            </a:r>
            <a:pPr algn="l" indent="0" marL="0">
              <a:buNone/>
            </a:pPr>
            <a:r>
              <a:rPr lang="ar-SA" altLang="en-US" sz="1750" b="1" dirty="0">
                <a:solidFill>
                  <a:srgbClr val="1F2A37"/>
                </a:solidFill>
                <a:latin typeface="Amiri" pitchFamily="2" charset="-78"/>
                <a:cs typeface="Amiri" pitchFamily="2" charset="-78"/>
              </a:rPr>
              <a:t>يُثْرِي</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cs typeface="Amiri" pitchFamily="2" charset="-78"/>
              </a:rPr>
              <a:t>يُوَسِّعُ</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cs typeface="Amiri" pitchFamily="2" charset="-78"/>
              </a:rPr>
              <a:t>يُعَدُّ مِنْ</a:t>
            </a:r>
            <a:pPr algn="l" indent="0" marL="0">
              <a:buNone/>
            </a:pPr>
            <a:r>
              <a:rPr lang="en-US" sz="1200" dirty="0">
                <a:solidFill>
                  <a:srgbClr val="1F2A37"/>
                </a:solidFill>
                <a:latin typeface="Calibri" pitchFamily="34" charset="0"/>
                <a:cs typeface="Amiri" pitchFamily="2" charset="-78"/>
              </a:rPr>
              <a:t> and a genitive plural.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accurate number phrase with </a:t>
            </a:r>
            <a:pPr algn="l" indent="0" marL="0">
              <a:buNone/>
            </a:pPr>
            <a:r>
              <a:rPr lang="ar-SA" altLang="en-US" sz="1550" dirty="0">
                <a:solidFill>
                  <a:srgbClr val="1F2A37"/>
                </a:solidFill>
                <a:latin typeface="Amiri" pitchFamily="2" charset="-78"/>
                <a:cs typeface="Amiri" pitchFamily="2" charset="-78"/>
              </a:rPr>
              <a:t>مِلْيُون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words of Arabic origin, named accurately.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argument verb with a direct object and no preposition.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أَقْدَمِ اللُّغَاتِ الحَيَّةِ وَأَوْسَعِهَا انْتِشَارًا</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oldest and most widespread living languages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عَبْرَ التِّجَارَةِ وَالتَّرْجَمَةِ وَالعُلُومِ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trade, translation and the sciences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انْتَقَلَ مَعَ نِظَامِ الأَرْقَامِ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moved with the number system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التَّأْثِيرَ اللُّغَوِيَّ ثَابِتٌ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linguistic influence is certain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قِيمَةً مِهْنِيَّةً فِي التَّرْجَمَةِ وَالدِّبْلُومَاسِيَّةِ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professional value in translation and diplomacy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cs typeface="Amiri" pitchFamily="2" charset="-78"/>
              </a:rPr>
              <a:t>تُعَدُّ العَرَبِيَّةُ مِنْ أَكْثَرِ اللُّغَاتِ انْتِشَارًا فِي العَالَمِ، وَهِيَ إِحْدَى لُغَاتِ الأُمَمِ المُتَّحِدَةِ الرَّسْمِيَّةِ. وَيَبْلُغُ عَدَدُ المُتَحَدِّثِينَ بِهَا مَلَايِينَ كَثِيرَةً فِي قَارَّاتٍ مُخْتَلِفَةٍ. وَقَدِ انْتَقَلَتْ كَلِمَاتٌ عَرَبِيَّةٌ إِلَى لُغَاتٍ أُخْرَى عَبْرَ التِّجَارَةِ وَالتَّرْجَمَةِ، مِثْلَ الجَبْرِ وَالكِيمْيَاءِ وَالقَهْوَةِ وَالسُّكَّرِ. وَلَيْسَ الطَّرِيقُ وَاضِحًا تَمَامًا فِي كُلِّ حَالَةٍ، وَلٰكِنَّ التَّأْثِيرَ ثَابِتٌ. أَتَعَلَّمُ العَرَبِيَّةَ لِأَنَّهَا تُثْرِي تَفْكِيرِي وَتُوَسِّعُ آفَاقِي، وَتُمَثِّلُ قِيمَةً مِهْنِيَّةً فِي التَّرْجَمَةِ وَالدِّبْلُومَاسِيَّةِ.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Arabic is among the most widespread languages in the world, and it is one of the official UN languages. Its speakers number many millions on different continents. Arabic words reached other languages through trade and translation, such as algebra, chemistry, coffee and sugar. The route is not entirely clear in every case, but the influence is certain. I learn Arabic because it enriches my thinking and broadens my horizons, and it has professional value in translation and diplomacy.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تُعَدُّ مِنْ + genitive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figure with يَبْلُغُ</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loanwords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تُثْرِي / تُوَسِّعُ + direct object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with a genitive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two loanwords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my noun is singular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a:t>
            </a:r>
            <a:pPr algn="l" indent="0" marL="0">
              <a:buNone/>
            </a:pPr>
            <a:r>
              <a:rPr lang="ar-SA" altLang="en-US" sz="1700" dirty="0">
                <a:solidFill>
                  <a:srgbClr val="1F2A37"/>
                </a:solidFill>
                <a:latin typeface="Amiri" pitchFamily="2" charset="-78"/>
                <a:cs typeface="Amiri" pitchFamily="2" charset="-78"/>
              </a:rPr>
              <a:t>يُمَثِّلُ / يُثْرِي / يُوَسِّعُ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 historical claim.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أَلْقَى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الجَوَابُ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تَفْكِيرَنَا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تَفْكِيرُنَا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بِتَفْكِيرِنَا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with a genitive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أَلْقَى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الجَبْرُ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الجَوَابُ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a:t>
            </a:r>
            <a:pPr algn="l" indent="0" marL="0">
              <a:buNone/>
            </a:pPr>
            <a:r>
              <a:rPr lang="ar-SA" altLang="en-US" sz="1350" dirty="0">
                <a:solidFill>
                  <a:srgbClr val="8A6D1E"/>
                </a:solidFill>
                <a:latin typeface="Amiri" pitchFamily="2" charset="-78"/>
                <a:cs typeface="Amiri" pitchFamily="2" charset="-78"/>
              </a:rPr>
              <a:t>أَلْقَى</a:t>
            </a:r>
            <a:pPr algn="l" indent="0" marL="0">
              <a:buNone/>
            </a:pPr>
            <a:r>
              <a:rPr lang="en-US" sz="1050" i="1" dirty="0">
                <a:solidFill>
                  <a:srgbClr val="8A6D1E"/>
                </a:solidFill>
                <a:latin typeface="Calibri" pitchFamily="34" charset="0"/>
                <a:cs typeface="Amiri" pitchFamily="2" charset="-78"/>
              </a:rPr>
              <a:t> means “he threw”.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تَفْكِيرَنَا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تَفْكِيرُنَا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بِتَفْكِيرِنَا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يُثْرِي</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language that travelled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تُعَدُّ العَرَبِيَّةُ مِنْ أَقْدَمِ اللُّغَاتِ الحَيَّةِ وَأَوْسَعِهَا انْتِشَارًا، وَتُسْتَعْمَلُ لُغَةً رَسْمِيَّةً فِي دُوَلٍ كَثِيرَةٍ. وَقَدِ انْتَقَلَتْ كَلِمَاتٌ عَرَبِيَّةٌ إِلَى لُغَاتٍ أُخْرَى عَبْرَ التِّجَارَةِ وَالتَّرْجَمَةِ وَالعُلُومِ، فَوَصَلَتْ كَلِمَاتٌ مِثْلُ الجَبْرِ وَالكِيمْيَاءِ إِلَى الأُورُوبِّيَّةِ عَنْ طَرِيقِ التَّرْجَمَاتِ العِلْمِيَّةِ، وَوَصَلَتِ القَهْوَةُ وَالسُّكَّرُ وَالقُطْنُ مَعَ التِّجَارَةِ. وَيُشَارُ إِلَى أَنَّ الصِّفْرَ انْتَقَلَ مَعَ نِظَامِ الأَرْقَامِ الَّذِي غَيَّرَ الحِسَابَ. عَلَاوَةً عَلَى ذٰلِكَ تُمَثِّلُ العَرَبِيَّةُ اليَوْمَ قِيمَةً مِهْنِيَّةً فِي التَّرْجَمَةِ وَالدِّبْلُومَاسِيَّةِ. وَلَيْسَ الطَّرِيقُ الَّذِي سَلَكَتْهُ كُلُّ كَلِمَةٍ وَاضِحًا تَمَامًا، وَلٰكِنَّ التَّأْثِيرَ اللُّغَوِيَّ ثَابِتٌ.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أَقْدَمِ اللُّغَاتِ الحَيَّةِ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oldest living languages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أَوْسَعِهَا انْتِشَارًا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widespread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عَبْرَ التِّجَارَةِ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through trade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التَّرْجَمَاتِ العِلْمِيَّةِ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translations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القُطْنُ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cotton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نِظَامِ الأَرْقَامِ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number system</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غَيَّرَ الحِسَابَ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changed calculation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قِيمَةً مِهْنِيَّةً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professional value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سَلَكَتْهُ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followed (a route)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ثَابِتٌ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established, certain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no longer spoken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oldest living and most widespread languages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region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warfare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poetry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Trade, translation and the sciences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الجَبْر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الكِيمْيَاء</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القَهْوَة</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السُّكَّر</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القُطْن</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moved with the number system that changed calculation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came from Latin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route of every word is not entirely clear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route is fully documented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influence can be shown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no longer spoken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oldest living and most widespread languages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region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العَرَبِيَّةُ مِنْ أَقْدَمِ اللُّغَاتِ الحَيَّةِ وَأَوْسَعِهَا انْتِشَارًا.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warfare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poetry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Trade, translation and the sciences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عَبْرَ التِّجَارَةِ وَالتَّرْجَمَةِ وَالعُلُومِ.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الجَبْر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الكِيمْيَاء</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القَهْوَة</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السُّكَّر</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القُطْن</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فَوَصَلَتْ كَلِمَاتٌ مِثْلُ الجَبْرِ وَالكِيمْيَاءِ … عَنْ طَرِيقِ التَّرْجَمَاتِ العِلْمِيَّةِ.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moved with the number system that changed calculation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came from Latin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يُشَارُ إِلَى أَنَّ الصِّفْرَ انْتَقَلَ مَعَ نِظَامِ الأَرْقَامِ.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exact route of every word is not entirely clear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route is fully documented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influence can be shown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cs typeface="Amiri" pitchFamily="2" charset="-78"/>
              </a:rPr>
              <a:t>وَلَيْسَ الطَّرِيقُ الَّذِي سَلَكَتْهُ كُلُّ كَلِمَةٍ وَاضِحًا تَمَامًا، وَلٰكِنَّ التَّأْثِيرَ اللُّغَوِيَّ ثَابِتٌ.</a:t>
            </a:r>
            <a:endParaRPr lang="ar-SA" sz="9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Global Arabic Mission — Statistics, Origins and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أَرْبَعُمِئَةُ مِلْيُونٍ مُتَحَدِّثِينَ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أَلْقَى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الجَبْرُ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صِفْرٌ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سُكَّرٌ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آفَاقُنَا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لِآفَاقِنَا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لُغَةٌ رَسْمِيَّةٌ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كَلِمَاتٌ مُسْتَعَارَةٌ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أَهَمِّيَّةٌ اسْتِرَاتِيجِيَّةٌ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أَرْبَعُمِئَةِ مِلْيُونِ مُتَحَدِّثٍ</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أَرْبَعُمِئَةُ مِلْيُونٍ مُتَحَدِّثِينَ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takes a singular genitive noun.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أَلْقَى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الجَبَلُ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الجَبْرُ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صِفْرٌ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سُكَّرٌ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travelled with the trade in 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آفَاقَنَا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آفَاقُنَا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لِآفَاقِنَا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لُغَةٌ رَسْمِيَّةٌ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كَلِمَاتٌ مُسْتَعَارَةٌ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أَهَمِّيَّةٌ اسْتِرَاتِيجِيَّةٌ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كَلِمَاتٌ مُسْتَعَارَةٌ</a:t>
            </a:r>
            <a:pPr algn="l" indent="0" marL="0">
              <a:buNone/>
            </a:pPr>
            <a:r>
              <a:rPr lang="en-US" sz="1050" i="1" dirty="0">
                <a:solidFill>
                  <a:srgbClr val="8A6D1E"/>
                </a:solidFill>
                <a:latin typeface="Calibri" pitchFamily="34" charset="0"/>
                <a:cs typeface="Amiri" pitchFamily="2" charset="-78"/>
              </a:rPr>
              <a:t> are loanwords.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D6-L07 · D6 Grammar Consolidation — All Tenses Together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comprehensive review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الاِسْمُ المَوْصُولُ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relative pronoun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algn="l" indent="0" marL="0">
              <a:buNone/>
            </a:pPr>
            <a:r>
              <a:rPr lang="ar-SA" altLang="en-US" sz="2600" b="1" dirty="0">
                <a:solidFill>
                  <a:srgbClr val="1B3B6F"/>
                </a:solidFill>
                <a:latin typeface="Amiri" pitchFamily="2" charset="-78"/>
                <a:cs typeface="Amiri" pitchFamily="2" charset="-78"/>
              </a:rPr>
              <a:t>لَنْ</a:t>
            </a:r>
            <a:pPr algn="l" indent="0" marL="0">
              <a:buNone/>
            </a:pPr>
            <a:r>
              <a:rPr lang="en-US" sz="2000" b="1" dirty="0">
                <a:solidFill>
                  <a:srgbClr val="1B3B6F"/>
                </a:solidFill>
                <a:latin typeface="Calibri" pitchFamily="34" charset="0"/>
                <a:cs typeface="Amiri" pitchFamily="2" charset="-78"/>
              </a:rPr>
              <a:t> + verb</a:t>
            </a:r>
            <a:endParaRPr lang="en-US"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not</a:t>
            </a:r>
            <a:pPr indent="0" marL="0">
              <a:buNone/>
            </a:pPr>
            <a:r>
              <a:rPr lang="en-US" sz="1000" i="1" dirty="0">
                <a:solidFill>
                  <a:srgbClr val="5A6472"/>
                </a:solidFill>
                <a:latin typeface="Calibri" pitchFamily="34" charset="0"/>
                <a:cs typeface="Amiri" pitchFamily="2" charset="-78"/>
              </a:rPr>
              <a:t>  لَنْ أَنْسَى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شَرِيطَةَ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provided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إِتْقَانٌ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mastery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sentence about yourself in the past, one in the present and one in the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كُنْتُ … · أَنَا الآنَ … ·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words on Arabic’s reach;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a number phrase and </a:t>
            </a:r>
            <a:pPr algn="l" indent="0" marL="0">
              <a:buNone/>
            </a:pPr>
            <a:r>
              <a:rPr lang="ar-SA" altLang="en-US" sz="1550" dirty="0">
                <a:solidFill>
                  <a:srgbClr val="1F2A37"/>
                </a:solidFill>
                <a:latin typeface="Amiri" pitchFamily="2" charset="-78"/>
                <a:cs typeface="Amiri" pitchFamily="2" charset="-78"/>
              </a:rPr>
              <a:t>يُمَثِّلُ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argument for learning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D6-L07 · D6 Grammar Consolidation — All Tenses Together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القَوَاعِدِ — جَمِيعُ الأَزْمِنَةِ مَعًا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تُعَدُّ مِنْ</a:t>
            </a:r>
            <a:pPr algn="l" indent="0" marL="0">
              <a:buNone/>
            </a:pPr>
            <a:r>
              <a:rPr lang="en-US" sz="1300" b="1" dirty="0">
                <a:solidFill>
                  <a:srgbClr val="FFFFFF"/>
                </a:solidFill>
                <a:latin typeface="Calibri" pitchFamily="34" charset="0"/>
                <a:cs typeface="Amiri" pitchFamily="2" charset="-78"/>
              </a:rPr>
              <a:t> + genitive plural · </a:t>
            </a:r>
            <a:pPr algn="l" indent="0" marL="0">
              <a:buNone/>
            </a:pPr>
            <a:r>
              <a:rPr lang="ar-SA" altLang="en-US" sz="1700" b="1" dirty="0">
                <a:solidFill>
                  <a:srgbClr val="FFFFFF"/>
                </a:solidFill>
                <a:latin typeface="Amiri" pitchFamily="2" charset="-78"/>
                <a:cs typeface="Amiri" pitchFamily="2" charset="-78"/>
              </a:rPr>
              <a:t>مِلْيُونِ</a:t>
            </a:r>
            <a:pPr algn="l" indent="0" marL="0">
              <a:buNone/>
            </a:pPr>
            <a:r>
              <a:rPr lang="en-US" sz="1300" b="1" dirty="0">
                <a:solidFill>
                  <a:srgbClr val="FFFFFF"/>
                </a:solidFill>
                <a:latin typeface="Calibri" pitchFamily="34" charset="0"/>
                <a:cs typeface="Amiri" pitchFamily="2" charset="-78"/>
              </a:rPr>
              <a:t> + singular genitive · </a:t>
            </a:r>
            <a:pPr algn="l" indent="0" marL="0">
              <a:buNone/>
            </a:pPr>
            <a:r>
              <a:rPr lang="ar-SA" altLang="en-US" sz="1700" b="1" dirty="0">
                <a:solidFill>
                  <a:srgbClr val="FFFFFF"/>
                </a:solidFill>
                <a:latin typeface="Amiri" pitchFamily="2" charset="-78"/>
                <a:cs typeface="Amiri" pitchFamily="2" charset="-78"/>
              </a:rPr>
              <a:t>يُمَثِّلُ / يُثْرِي / يُوَسِّعُ</a:t>
            </a:r>
            <a:pPr algn="l" indent="0" marL="0">
              <a:buNone/>
            </a:pPr>
            <a:r>
              <a:rPr lang="en-US" sz="1300" b="1" dirty="0">
                <a:solidFill>
                  <a:srgbClr val="FFFFFF"/>
                </a:solidFill>
                <a:latin typeface="Calibri" pitchFamily="34" charset="0"/>
                <a:cs typeface="Amiri" pitchFamily="2" charset="-78"/>
              </a:rPr>
              <a:t> + direct object — and qualify what you can’t prove.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D6-L06 · Arabic Around the World — The Language’s Global Reach</dc:title>
  <dc:subject>PptxGenJS Presentation</dc:subject>
  <dc:creator>Al Madina Online School · Arabic Department</dc:creator>
  <cp:lastModifiedBy>Al Madina Online School · Arabic Department</cp:lastModifiedBy>
  <cp:revision>1</cp:revision>
  <dcterms:created xsi:type="dcterms:W3CDTF">2026-10-11T06:41:09Z</dcterms:created>
  <dcterms:modified xsi:type="dcterms:W3CDTF">2026-10-11T06:41:09Z</dcterms:modified>
</cp:coreProperties>
</file>