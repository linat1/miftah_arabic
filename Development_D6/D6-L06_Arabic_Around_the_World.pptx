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D6 Countries, Cultures and Celebrations › D6-L06. The website lesson “Arabic Around the World — The Language's Global Reach”: vocabulary, grammar rules and quiz, patterns, common mistakes, sorter, listening, reading, speaking prompts and model, writing task and model, differentiation, final check and the lesson mission. Picture match: website visual game “Arabic Around the World — The Language's Global Reach”.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sentences on Arabic’s status with تُعَدُّ مِنْ / يَبْلُغُ and two loanwords. Develop: add an accurate number phrase (مَلَايِينُ · أَرْبَعُمِئَةِ مِلْيُونِ مُتَحَدِّثٍ) and يُمَثِّلُ + object. Stretch: the website 80–90-word argument with يُثْرِي / يُوَسِّعُ and a qualified historical claim.
• Motivation lesson: our students learn Arabic first as لُغَةُ القُرْآنِ الكَرِيمِ — this lesson adds the global, academic and professional reasons. Ask: “What does Arabic open for YOU?”
• Accuracy (website): say a word REACHED another language; do not claim an exact route unless checked. Fun extension: English / Urdu words from Arabic (algebra, sugar, coffee, cotton, zero · کتاب، قلم، دنیا).
• TEACHER-WRITTEN ITEMS: the connector عِلَاوَةً shown as عَلَاوَةً, one mixed-script website mistake replaced, and English added to the patterns and speaking model; the website visual game repeats D6-L01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D6-L05. Question 4 retrieves the D6-L05 comparative; question 5 retrieves D4 statistical language.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Arabic: counted among the most widespread languages — and it widens your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thousands of Urdu words come from Arabic — Urdu is living proof of today’s lesson. CAREFUL: Urdu قہوہ = green / herbal tea, Arabic قَهْوَةٌ = coffee; Urdu لغت = a dictionary, Arabic لُغَةٌ = a language (a dictionary is قَامُوسٌ / مُعْجَمٌ).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Status and statistics (website vocabulary (1 of 2)). Hear → Say → See → Use. Transliteration is printed for Core students (cover it for Develop/Stretch).
Status and statistics: three verbs carry almost every statistical sentence — يُعَدُّ مِنْ (is counted among) · يَبْلُغُ (reaches) · يُمَثِّلُ (represents).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Status and statistics (website vocabulary (2 of 2)). Hear → Say → See → Use. Transliteration is printed for Core students (cover it for Develop/Stretch).
Status and statistics: three verbs carry almost every statistical sentence — يُعَدُّ مِنْ (is counted among) · يَبْلُغُ (reaches) · يُمَثِّلُ (represents).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Words that travelled (website vocabulary (1 of 2)). Hear → Say → See → Use. Transliteration is printed for Core students (cover it for Develop/Stretch).
Words that travelled: say a word REACHED another language (وَصَلَتْ إِلَى) — the exact route is not always 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Words that travelled (website vocabulary (2 of 2)). Hear → Say → See → Use. Transliteration is printed for Core students (cover it for Develop/Stretch).
Words that travelled: say a word REACHED another language (وَصَلَتْ إِلَى) — the exact route is not always 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Why it is worth learning (website vocabulary (1 of 2)). Hear → Say → See → Use. Transliteration is printed for Core students (cover it for Develop/Stretch).
Why it is worth learning: يُثْرِي · يُوَسِّعُ · يَفْتَحُ take a DIRECT object (no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Why it is worth learning (website vocabulary (2 of 2)). Hear → Say → See → Use. Transliteration is printed for Core students (cover it for Develop/Stretch).
Why it is worth learning: يُثْرِي · يُوَسِّعُ · يَفْتَحُ take a DIRECT object (no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“يُعَدُّ مِنْ” (a passive verb placing something within a group; the following noun is genitive) and “Numbers with مِلْيُون” (مِلْيُون behaves as the counted noun and is followed by a singular genitive).
Website mistake: أَرْبَعُمِئَةِ مِلْيُونَ مُتَحَدِّثُونَ ✗ → مِلْيُونِ مُتَحَدِّثٍ. Islamic link: إِنَّا أَنْزَلْنَاهُ قُرْآنًا عَرَبِيًّا (Yūsuf 12:2).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“يُمَثِّلُ with a direct object” and “يُثْرِي and يُوَسِّعُ” (both take direct objects; do not add a preposition). Website common error: adding a preposition after يُمَثِّلُ، يُثْرِي or يُوَسِّعُ.
Website teaching point (qualifying): “Say that a word reached another language; avoid claiming an exact path unless you have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“Three formal verbs, one number pattern and two Form II/IV verbs that take direct objects. Watch the case on every counted noun.”
• يُعَدُّ مِنْ: A passive verb placing something within a group. The following noun is genitive.
• Numbers with مِلْيُون: مِلْيُون behaves as the counted noun and is followed by a singular genitive.
• يُمَثِّلُ with a direct object: Form II takes a direct object with no preposition.
• يُثْرِي and يُوَسِّعُ: Both take direct objects. Do not add a preposition after them.
Website common error: Adding a preposition after يُمَثِّلُ، يُثْرِي or يُوَسِّعُ. All three take a direct object, so the noun that follows is accusative with no preposition in front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from the website writing model. Think aloud: “Status verb + min; figure with yablughu; argument verb + direct object, no preposition.” Then add a personal reason: وَهِيَ لُغَةُ القُرْآنِ الكَرِيمِ.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use one item from each column in a sentence about why YOU learn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use one item from each column in a sentence about why YOU learn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 and list the loanwords you hear.
Listen 1: just listen. Listen 2: note answers. Then chat the letters.
Support: after the second listening, show the read-along slide (Arabic + English, line by line) for Core students.
SCRIPT (read aloud):
تُعَدُّ العَرَبِيَّةُ مِنْ أَكْثَرِ اللُّغَاتِ انْتِشَارًا فِي العَالَمِ، وَهِيَ إِحْدَى لُغَاتِ الأُمَمِ المُتَّحِدَةِ الرَّسْمِيَّةِ. وَيَبْلُغُ عَدَدُ المُتَحَدِّثِينَ بِهَا مَلَايِينَ كَثِيرَةً فِي قَارَّاتٍ مُخْتَلِفَةٍ. اخْتَرْتُ دِرَاسَتَهَا لِأَنَّهَا تَفْتَحُ أَبْوَابًا فِي التَّرْجَمَةِ وَالدِّبْلُومَاسِيَّةِ وَالتِّجَارَةِ. وَقَدْ فَاجَأَنِي أَنَّ كَلِمَاتٍ كَثِيرَةً وَصَلَتْ مِنَ العَرَبِيَّةِ إِلَى لُغَاتٍ أُخْرَى، مِثْلَ الجَبْرِ وَالكِيمْيَاءِ وَالقَهْوَةِ وَالسُّكَّرِ وَالصِّفْرِ. تُثْرِي اللُّغَةُ تَفْكِيرِي، وَتُوَسِّعُ آفَاقِي، وَتُمَثِّلُ جِسْرًا بَيْنِي وَبَيْنَ ثَقَافَاتٍ جَدِيدَةٍ.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وَلِمَاذَا تَتَعَلَّمُهَا أَنْتَ؟ (And why do you learn it?)
B: لِأَنَّهَا تُوَسِّعُ آفَاقِي وَتَفْتَحُ أَبْوَابًا فِي التَّرْجَمَةِ، وَقَدْ وَصَلَتْ كَلِمَاتٌ مِثْلُ الجَبْرِ وَالقَهْوَةِ إِلَى لُغَاتٍ أُخْرَى. (Because it broadens my horizons and opens doors in translation — and words like algebra and coffee reached other languages.)
Website prompts and model (order adjusted: status → loanwords → personal argument). Every student has a real reason — the Qur’an, family, travel, a future career. To a girl: تَتَعَلَّمِينَ · اِذْكُرِي ·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sentences about Arabic's status using the statistical verbs. · Develop — Add two loanwords and an accurate number phrase. · Stretch — Argue the professional value with direct objects and qualify one historical claim.
Website writing task (Stretch): Write eighty to ninety words on Arabic's global reach and why it is worth learning. Use two statistical verbs, name at least two words that travelled into other languages, and close with an argument using يُثْرِي or يُوَسِّعُ.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تُعَدُّ … مِنْ أَكْثَرِ اللُّغَاتِ · إِحْدَى لُغَاتِ الأُمَمِ المُتَّحِدَةِ · يَبْلُغُ عَدَدُ … مَلَايِينَ · الجَبْرِ وَالكِيمْيَاءِ وَالقَهْوَةِ وَالسُّكَّرِ · لَيْسَ الطَّرِيقُ وَاضِحًا تَمَامًا · تُثْرِي تَفْكِيرِي وَتُوَسِّعُ آفَاقِي · تُمَثِّلُ قِيمَةً مِهْنِيَّةً.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(D6-L07 · D6 Grammar Consolidation — All Tenses Together) will spend class time USING this language, so students prepare it tonight — short, simple, easy to access (school guidance: “Simple, Short, Interesting, Relevant, Easy to access”). The five words come from the website D6-L07 vocabulary (grammar consolidation: all tenses together).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Arabic Around the World — The Language’s Global Reach</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العَرَبِيَّةُ حَوْلَ العَالَمِ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Argue for Arabic like an expert: its status (</a:t>
            </a:r>
            <a:pPr algn="l" indent="0" marL="0">
              <a:buNone/>
            </a:pPr>
            <a:r>
              <a:rPr lang="ar-SA" altLang="en-US" sz="1800" dirty="0">
                <a:solidFill>
                  <a:srgbClr val="C6D2E6"/>
                </a:solidFill>
                <a:latin typeface="Amiri" pitchFamily="2" charset="-78"/>
                <a:ea typeface="Amiri" pitchFamily="2" charset="-78"/>
                <a:cs typeface="Amiri" pitchFamily="2" charset="-78"/>
              </a:rPr>
              <a:t>تُعَدُّ مِنْ أَكْثَرِ اللُّغَاتِ انْتِشَارًا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إِحْدَى لُغَاتِ الأُمَمِ المُتَّحِدَةِ</a:t>
            </a:r>
            <a:pPr algn="l" indent="0" marL="0">
              <a:buNone/>
            </a:pPr>
            <a:r>
              <a:rPr lang="en-US" sz="1400" dirty="0">
                <a:solidFill>
                  <a:srgbClr val="C6D2E6"/>
                </a:solidFill>
                <a:latin typeface="Calibri" pitchFamily="34" charset="0"/>
                <a:cs typeface="Amiri" pitchFamily="2" charset="-78"/>
              </a:rPr>
              <a:t>), its numbers (</a:t>
            </a:r>
            <a:pPr algn="l" indent="0" marL="0">
              <a:buNone/>
            </a:pPr>
            <a:r>
              <a:rPr lang="ar-SA" altLang="en-US" sz="1800" dirty="0">
                <a:solidFill>
                  <a:srgbClr val="C6D2E6"/>
                </a:solidFill>
                <a:latin typeface="Amiri" pitchFamily="2" charset="-78"/>
                <a:ea typeface="Amiri" pitchFamily="2" charset="-78"/>
                <a:cs typeface="Amiri" pitchFamily="2" charset="-78"/>
              </a:rPr>
              <a:t>مَلَايِينُ المُتَحَدِّثِينَ</a:t>
            </a:r>
            <a:pPr algn="l" indent="0" marL="0">
              <a:buNone/>
            </a:pPr>
            <a:r>
              <a:rPr lang="en-US" sz="1400" dirty="0">
                <a:solidFill>
                  <a:srgbClr val="C6D2E6"/>
                </a:solidFill>
                <a:latin typeface="Calibri" pitchFamily="34" charset="0"/>
                <a:cs typeface="Amiri" pitchFamily="2" charset="-78"/>
              </a:rPr>
              <a:t>), the words it gave the world (</a:t>
            </a:r>
            <a:pPr algn="l" indent="0" marL="0">
              <a:buNone/>
            </a:pPr>
            <a:r>
              <a:rPr lang="ar-SA" altLang="en-US" sz="1800" dirty="0">
                <a:solidFill>
                  <a:srgbClr val="C6D2E6"/>
                </a:solidFill>
                <a:latin typeface="Amiri" pitchFamily="2" charset="-78"/>
                <a:ea typeface="Amiri" pitchFamily="2" charset="-78"/>
                <a:cs typeface="Amiri" pitchFamily="2" charset="-78"/>
              </a:rPr>
              <a:t>الجَبْرُ</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سُكَّرٌ</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صِفْرٌ</a:t>
            </a:r>
            <a:pPr algn="l" indent="0" marL="0">
              <a:buNone/>
            </a:pPr>
            <a:r>
              <a:rPr lang="en-US" sz="1400" dirty="0">
                <a:solidFill>
                  <a:srgbClr val="C6D2E6"/>
                </a:solidFill>
                <a:latin typeface="Calibri" pitchFamily="34" charset="0"/>
                <a:cs typeface="Amiri" pitchFamily="2" charset="-78"/>
              </a:rPr>
              <a:t>) and what it does for you (</a:t>
            </a:r>
            <a:pPr algn="l" indent="0" marL="0">
              <a:buNone/>
            </a:pPr>
            <a:r>
              <a:rPr lang="ar-SA" altLang="en-US" sz="1800" dirty="0">
                <a:solidFill>
                  <a:srgbClr val="C6D2E6"/>
                </a:solidFill>
                <a:latin typeface="Amiri" pitchFamily="2" charset="-78"/>
                <a:ea typeface="Amiri" pitchFamily="2" charset="-78"/>
                <a:cs typeface="Amiri" pitchFamily="2" charset="-78"/>
              </a:rPr>
              <a:t>تُثْرِي تَفْكِيرِي</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تُوَسِّعُ آفَاقِي</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D6-L06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Statistical verbs, million + genitive, direct-object verbs.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statistics / loanwords / argument verbs, fix slips, then why one student chose Arabic.</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D6-L07.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مُتَحَدِّثٌ</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translator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speaker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language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كَلِمَاتٌ مُسْتَعَارَةٌ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loanwords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key words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new words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يُثْرِي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represents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reaches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enriches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لَنْدَنُ أَكْثَرُ أَكْبَرُ مِنْ مَدِينَتِي.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لَنْدَنُ الأَكْبَرُ مِنْ مَدِينَتِي.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لَنْدَنُ أَكْبَرُ مِنْ مَدِينَتِي.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انْخَفَضَ الاسْتِهْلَاكُ</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١٨٪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بِنِسْبَةِ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نِسْبَةِ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نِسْبَةُ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مُتَحَدِّثٌ</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translator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speaker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language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كَلِمَاتٌ مُسْتَعَارَةٌ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loanwords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key words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new words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يُثْرِي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represents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reaches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enriches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(D6-L05).</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لَنْدَنُ أَكْثَرُ أَكْبَرُ مِنْ مَدِينَتِي.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لَنْدَنُ الأَكْبَرُ مِنْ مَدِينَتِي.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لَنْدَنُ أَكْبَرُ مِنْ مَدِينَتِي.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D6-L05.</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انْخَفَضَ الاسْتِهْلَاكُ</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١٨٪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بِنِسْبَةِ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نِسْبَةِ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نِسْبَةُ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D4-L08 / L10: statistics.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Arabic: counted among the most widespread languages — and it widens your horizons.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تُعَدُّ</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العَرَبِيَّةُ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مِنْ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أَكْثَرِ اللُّغَاتِ انْتِشَارًا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تُوَسِّعُ</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آفَاقَنَا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Arabic’s status with </a:t>
            </a:r>
            <a:pPr algn="l" indent="0" marL="0">
              <a:buNone/>
            </a:pPr>
            <a:r>
              <a:rPr lang="ar-SA" altLang="en-US" sz="1700" dirty="0">
                <a:solidFill>
                  <a:srgbClr val="1F2A37"/>
                </a:solidFill>
                <a:latin typeface="Amiri" pitchFamily="2" charset="-78"/>
                <a:ea typeface="Amiri" pitchFamily="2" charset="-78"/>
                <a:cs typeface="Amiri" pitchFamily="2" charset="-78"/>
              </a:rPr>
              <a:t>تُعَدُّ مِنْ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يَبْلُغُ</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يُمَثِّلُ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large numbers with </a:t>
            </a:r>
            <a:pPr algn="l" indent="0" marL="0">
              <a:buNone/>
            </a:pPr>
            <a:r>
              <a:rPr lang="ar-SA" altLang="en-US" sz="1700" dirty="0">
                <a:solidFill>
                  <a:srgbClr val="1F2A37"/>
                </a:solidFill>
                <a:latin typeface="Amiri" pitchFamily="2" charset="-78"/>
                <a:ea typeface="Amiri" pitchFamily="2" charset="-78"/>
                <a:cs typeface="Amiri" pitchFamily="2" charset="-78"/>
              </a:rPr>
              <a:t>مِلْيُونِ</a:t>
            </a:r>
            <a:pPr algn="l" indent="0" marL="0">
              <a:buNone/>
            </a:pPr>
            <a:r>
              <a:rPr lang="en-US" sz="1300" dirty="0">
                <a:solidFill>
                  <a:srgbClr val="1F2A37"/>
                </a:solidFill>
                <a:latin typeface="Calibri" pitchFamily="34" charset="0"/>
                <a:cs typeface="Amiri" pitchFamily="2" charset="-78"/>
              </a:rPr>
              <a:t> + singular genitive.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يُثْرِي / يُوَسِّعُ / يُمَثِّلُ</a:t>
            </a:r>
            <a:pPr algn="l" indent="0" marL="0">
              <a:buNone/>
            </a:pPr>
            <a:r>
              <a:rPr lang="en-US" sz="1300" dirty="0">
                <a:solidFill>
                  <a:srgbClr val="1F2A37"/>
                </a:solidFill>
                <a:latin typeface="Calibri" pitchFamily="34" charset="0"/>
                <a:cs typeface="Amiri" pitchFamily="2" charset="-78"/>
              </a:rPr>
              <a:t> with a direct object (no preposition).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words that travelled from Arabic and qualify historical claims.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Arabic’s status with </a:t>
            </a:r>
            <a:pPr algn="l" indent="0" marL="0">
              <a:buNone/>
            </a:pPr>
            <a:r>
              <a:rPr lang="ar-SA" altLang="en-US" sz="1700" b="1" dirty="0">
                <a:solidFill>
                  <a:srgbClr val="2E8B57"/>
                </a:solidFill>
                <a:latin typeface="Amiri" pitchFamily="2" charset="-78"/>
                <a:ea typeface="Amiri" pitchFamily="2" charset="-78"/>
                <a:cs typeface="Amiri" pitchFamily="2" charset="-78"/>
              </a:rPr>
              <a:t>تُعَدُّ مِنْ</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two words that came from Arabic.</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a large number accurately.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ea typeface="Amiri" pitchFamily="2" charset="-78"/>
                <a:cs typeface="Amiri" pitchFamily="2" charset="-78"/>
              </a:rPr>
              <a:t>يُمَثِّلُ</a:t>
            </a:r>
            <a:pPr algn="l" indent="0" marL="0">
              <a:buNone/>
            </a:pPr>
            <a:r>
              <a:rPr lang="en-US" sz="1300" b="1" dirty="0">
                <a:solidFill>
                  <a:srgbClr val="C9780A"/>
                </a:solidFill>
                <a:latin typeface="Calibri" pitchFamily="34" charset="0"/>
                <a:cs typeface="Amiri" pitchFamily="2" charset="-78"/>
              </a:rPr>
              <a:t> + object.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argue why Arabic is worth learning.</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qualify a historical claim.</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Status and statistics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Words that travelled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Why it is worth learning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كِتَابٌ · قَلَمٌ · دُنْيَا</a:t>
            </a:r>
            <a:endParaRPr lang="ar-SA" sz="16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‎کتاب · قلم · دنیا‎ </a:t>
            </a:r>
            <a:pPr indent="0" marL="0">
              <a:buNone/>
            </a:pPr>
            <a:r>
              <a:rPr lang="en-US" sz="950" b="1" dirty="0">
                <a:solidFill>
                  <a:srgbClr val="2E8B57"/>
                </a:solidFill>
                <a:latin typeface="Calibri" pitchFamily="34" charset="0"/>
                <a:cs typeface="Amiri" pitchFamily="2" charset="-78"/>
              </a:rPr>
              <a:t> kitāb · qalam · dunyā · book · pen · world — Arabic words in Urdu</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سُكَّرٌ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‎شکر‎ </a:t>
            </a:r>
            <a:pPr indent="0" marL="0">
              <a:buNone/>
            </a:pPr>
            <a:r>
              <a:rPr lang="en-US" sz="950" b="1" dirty="0">
                <a:solidFill>
                  <a:srgbClr val="2E8B57"/>
                </a:solidFill>
                <a:latin typeface="Calibri" pitchFamily="34" charset="0"/>
                <a:cs typeface="Amiri" pitchFamily="2" charset="-78"/>
              </a:rPr>
              <a:t> shakkar · sugar (English sugar via Arabic)</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قَهْوَةٌ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‎قہوہ‎ </a:t>
            </a:r>
            <a:pPr indent="0" marL="0">
              <a:buNone/>
            </a:pPr>
            <a:r>
              <a:rPr lang="en-US" sz="950" b="1" dirty="0">
                <a:solidFill>
                  <a:srgbClr val="2E8B57"/>
                </a:solidFill>
                <a:latin typeface="Calibri" pitchFamily="34" charset="0"/>
                <a:cs typeface="Amiri" pitchFamily="2" charset="-78"/>
              </a:rPr>
              <a:t> qahwa · Urdu: green tea · Arabic: coffee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تَرْجَمَةٌ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‎ترجمہ‎ </a:t>
            </a:r>
            <a:pPr indent="0" marL="0">
              <a:buNone/>
            </a:pPr>
            <a:r>
              <a:rPr lang="en-US" sz="950" b="1" dirty="0">
                <a:solidFill>
                  <a:srgbClr val="2E8B57"/>
                </a:solidFill>
                <a:latin typeface="Calibri" pitchFamily="34" charset="0"/>
                <a:cs typeface="Amiri" pitchFamily="2" charset="-78"/>
              </a:rPr>
              <a:t> tarjuma · translation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لُغَةٌ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‎لغت‎ </a:t>
            </a:r>
            <a:pPr indent="0" marL="0">
              <a:buNone/>
            </a:pPr>
            <a:r>
              <a:rPr lang="en-US" sz="950" b="1" dirty="0">
                <a:solidFill>
                  <a:srgbClr val="2E8B57"/>
                </a:solidFill>
                <a:latin typeface="Calibri" pitchFamily="34" charset="0"/>
                <a:cs typeface="Amiri" pitchFamily="2" charset="-78"/>
              </a:rPr>
              <a:t> lughat · Urdu: a dictionary · Arabic: a language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Status and statistics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رَسْمِيَّةٌ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official language</a:t>
            </a:r>
            <a:endParaRPr lang="en-US" sz="1350" dirty="0"/>
          </a:p>
          <a:p>
            <a:pPr indent="0" marL="0">
              <a:buNone/>
            </a:pPr>
            <a:r>
              <a:rPr lang="en-US" sz="1100" i="1" dirty="0">
                <a:solidFill>
                  <a:srgbClr val="5A6472"/>
                </a:solidFill>
                <a:latin typeface="Calibri" pitchFamily="34" charset="0"/>
                <a:cs typeface="Amiri" pitchFamily="2" charset="-78"/>
              </a:rPr>
              <a:t>lu-gha-tun ras-miy-ya-tun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الأُمَمِ المُتَّحِدَةِ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United Nations language</a:t>
            </a:r>
            <a:endParaRPr lang="en-US" sz="1350" dirty="0"/>
          </a:p>
          <a:p>
            <a:pPr indent="0" marL="0">
              <a:buNone/>
            </a:pPr>
            <a:r>
              <a:rPr lang="en-US" sz="1100" i="1" dirty="0">
                <a:solidFill>
                  <a:srgbClr val="5A6472"/>
                </a:solidFill>
                <a:latin typeface="Calibri" pitchFamily="34" charset="0"/>
                <a:cs typeface="Amiri" pitchFamily="2" charset="-78"/>
              </a:rPr>
              <a:t>lu-gha-tu al-u-ma-mi al-mut-ta-ḥi-da-ti</a:t>
            </a:r>
            <a:endParaRPr lang="en-US" sz="1350" dirty="0"/>
          </a:p>
        </p:txBody>
      </p:sp>
      <p:sp>
        <p:nvSpPr>
          <p:cNvPr id="29" name="Text 26"/>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Arabic is one of the six.</a:t>
            </a:r>
            <a:endParaRPr lang="en-US" sz="100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3" name="Shape 3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مُتَحَدِّثٌ / مُتَحَدِّثُونَ</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speaker / speakers</a:t>
            </a:r>
            <a:endParaRPr lang="en-US" sz="1350" dirty="0"/>
          </a:p>
          <a:p>
            <a:pPr indent="0" marL="0">
              <a:buNone/>
            </a:pPr>
            <a:r>
              <a:rPr lang="en-US" sz="1100" i="1" dirty="0">
                <a:solidFill>
                  <a:srgbClr val="5A6472"/>
                </a:solidFill>
                <a:latin typeface="Calibri" pitchFamily="34" charset="0"/>
                <a:cs typeface="Amiri" pitchFamily="2" charset="-78"/>
              </a:rPr>
              <a:t>mu-ta-ḥad-di-thun / mu-ta-ḥad-di-thū-na</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أَرْبَعُمِئَةِ مِلْيُونٍ</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four hundred million</a:t>
            </a:r>
            <a:endParaRPr lang="en-US" sz="1350" dirty="0"/>
          </a:p>
          <a:p>
            <a:pPr indent="0" marL="0">
              <a:buNone/>
            </a:pPr>
            <a:r>
              <a:rPr lang="en-US" sz="1100" i="1" dirty="0">
                <a:solidFill>
                  <a:srgbClr val="5A6472"/>
                </a:solidFill>
                <a:latin typeface="Calibri" pitchFamily="34" charset="0"/>
                <a:cs typeface="Amiri" pitchFamily="2" charset="-78"/>
              </a:rPr>
              <a:t>ar-ba-ʿu-mi-ʾa-ti mil-yū-nin</a:t>
            </a:r>
            <a:endParaRPr lang="en-US" sz="1350" dirty="0"/>
          </a:p>
        </p:txBody>
      </p:sp>
      <p:sp>
        <p:nvSpPr>
          <p:cNvPr id="42" name="Text 3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مِئَة</a:t>
            </a:r>
            <a:pPr algn="l" indent="0" marL="0">
              <a:buNone/>
            </a:pPr>
            <a:r>
              <a:rPr lang="en-US" sz="1000" i="1" dirty="0">
                <a:solidFill>
                  <a:srgbClr val="8A6D1E"/>
                </a:solidFill>
                <a:latin typeface="Calibri" pitchFamily="34" charset="0"/>
                <a:cs typeface="Amiri" pitchFamily="2" charset="-78"/>
              </a:rPr>
              <a:t> joins the number in an iḍāfa.</a:t>
            </a:r>
            <a:endParaRPr lang="en-US" sz="100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يُعَدُّ مِنْ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counted among</a:t>
            </a:r>
            <a:endParaRPr lang="en-US" sz="1350" dirty="0"/>
          </a:p>
          <a:p>
            <a:pPr indent="0" marL="0">
              <a:buNone/>
            </a:pPr>
            <a:r>
              <a:rPr lang="en-US" sz="1100" i="1" dirty="0">
                <a:solidFill>
                  <a:srgbClr val="5A6472"/>
                </a:solidFill>
                <a:latin typeface="Calibri" pitchFamily="34" charset="0"/>
                <a:cs typeface="Amiri" pitchFamily="2" charset="-78"/>
              </a:rPr>
              <a:t>yu-ʿad-du min</a:t>
            </a:r>
            <a:endParaRPr lang="en-US" sz="1350" dirty="0"/>
          </a:p>
        </p:txBody>
      </p:sp>
      <p:sp>
        <p:nvSpPr>
          <p:cNvPr id="50" name="Text 47"/>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Followed by a genitive plural.</a:t>
            </a:r>
            <a:endParaRPr lang="en-US" sz="10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Status and statistics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يَبْلُغُ</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reaches (a figure)</a:t>
            </a:r>
            <a:endParaRPr lang="en-US" sz="1350" dirty="0"/>
          </a:p>
          <a:p>
            <a:pPr indent="0" marL="0">
              <a:buNone/>
            </a:pPr>
            <a:r>
              <a:rPr lang="en-US" sz="1100" i="1" dirty="0">
                <a:solidFill>
                  <a:srgbClr val="5A6472"/>
                </a:solidFill>
                <a:latin typeface="Calibri" pitchFamily="34" charset="0"/>
                <a:cs typeface="Amiri" pitchFamily="2" charset="-78"/>
              </a:rPr>
              <a:t>yab-lu-ghu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يُمَثِّلُ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represents</a:t>
            </a:r>
            <a:endParaRPr lang="en-US" sz="1350" dirty="0"/>
          </a:p>
          <a:p>
            <a:pPr indent="0" marL="0">
              <a:buNone/>
            </a:pPr>
            <a:r>
              <a:rPr lang="en-US" sz="1100" i="1" dirty="0">
                <a:solidFill>
                  <a:srgbClr val="5A6472"/>
                </a:solidFill>
                <a:latin typeface="Calibri" pitchFamily="34" charset="0"/>
                <a:cs typeface="Amiri" pitchFamily="2" charset="-78"/>
              </a:rPr>
              <a:t>yu-math-thi-lu</a:t>
            </a:r>
            <a:endParaRPr lang="en-US" sz="1350" dirty="0"/>
          </a:p>
        </p:txBody>
      </p:sp>
      <p:sp>
        <p:nvSpPr>
          <p:cNvPr id="29" name="Text 26"/>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with a direct object.</a:t>
            </a:r>
            <a:endParaRPr lang="en-US" sz="100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Text 3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الانْتِشَارُ</a:t>
            </a:r>
            <a:endParaRPr lang="ar-SA" sz="3000" dirty="0"/>
          </a:p>
        </p:txBody>
      </p:sp>
      <p:sp>
        <p:nvSpPr>
          <p:cNvPr id="34" name="Text 3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spread, reach</a:t>
            </a:r>
            <a:endParaRPr lang="en-US" sz="1350" dirty="0"/>
          </a:p>
          <a:p>
            <a:pPr indent="0" marL="0">
              <a:buNone/>
            </a:pPr>
            <a:r>
              <a:rPr lang="en-US" sz="1100" i="1" dirty="0">
                <a:solidFill>
                  <a:srgbClr val="5A6472"/>
                </a:solidFill>
                <a:latin typeface="Calibri" pitchFamily="34" charset="0"/>
                <a:cs typeface="Amiri" pitchFamily="2" charset="-78"/>
              </a:rPr>
              <a:t>aln-ti-shā-ru</a:t>
            </a:r>
            <a:endParaRPr lang="en-US" sz="135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8" name="Text 3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أَهَمِّيَّةٌ اسْتِرَاتِيجِيَّةٌ</a:t>
            </a:r>
            <a:endParaRPr lang="ar-SA" sz="3000" dirty="0"/>
          </a:p>
        </p:txBody>
      </p:sp>
      <p:sp>
        <p:nvSpPr>
          <p:cNvPr id="39" name="Text 3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strategic importance</a:t>
            </a:r>
            <a:endParaRPr lang="en-US" sz="1350" dirty="0"/>
          </a:p>
          <a:p>
            <a:pPr indent="0" marL="0">
              <a:buNone/>
            </a:pPr>
            <a:r>
              <a:rPr lang="en-US" sz="1100" i="1" dirty="0">
                <a:solidFill>
                  <a:srgbClr val="5A6472"/>
                </a:solidFill>
                <a:latin typeface="Calibri" pitchFamily="34" charset="0"/>
                <a:cs typeface="Amiri" pitchFamily="2" charset="-78"/>
              </a:rPr>
              <a:t>a-ham-miy-ya-tun as-ti-rā-tī-jiy-ya-tun</a:t>
            </a:r>
            <a:endParaRPr lang="en-US" sz="1350" dirty="0"/>
          </a:p>
        </p:txBody>
      </p:sp>
      <p:sp>
        <p:nvSpPr>
          <p:cNvPr id="40" name="Shape 3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389120"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3" name="Shape 4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القُرْآنِ الكَرِيمِ</a:t>
            </a:r>
            <a:endParaRPr lang="ar-SA" sz="3000" dirty="0"/>
          </a:p>
        </p:txBody>
      </p:sp>
      <p:sp>
        <p:nvSpPr>
          <p:cNvPr id="46" name="Text 4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language of the Qur'an</a:t>
            </a:r>
            <a:endParaRPr lang="en-US" sz="1350" dirty="0"/>
          </a:p>
          <a:p>
            <a:pPr indent="0" marL="0">
              <a:buNone/>
            </a:pPr>
            <a:r>
              <a:rPr lang="en-US" sz="1100" i="1" dirty="0">
                <a:solidFill>
                  <a:srgbClr val="5A6472"/>
                </a:solidFill>
                <a:latin typeface="Calibri" pitchFamily="34" charset="0"/>
                <a:cs typeface="Amiri" pitchFamily="2" charset="-78"/>
              </a:rPr>
              <a:t>lu-gha-tu al-qur-ʾā-ni al-ka-rī-mi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Words that travelled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الجَبْرُ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algebra</a:t>
            </a:r>
            <a:endParaRPr lang="en-US" sz="1350" dirty="0"/>
          </a:p>
          <a:p>
            <a:pPr indent="0" marL="0">
              <a:buNone/>
            </a:pPr>
            <a:r>
              <a:rPr lang="en-US" sz="1100" i="1" dirty="0">
                <a:solidFill>
                  <a:srgbClr val="5A6472"/>
                </a:solidFill>
                <a:latin typeface="Calibri" pitchFamily="34" charset="0"/>
                <a:cs typeface="Amiri" pitchFamily="2" charset="-78"/>
              </a:rPr>
              <a:t>al-jab-ru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cs typeface="Amiri" pitchFamily="2" charset="-78"/>
              </a:rPr>
              <a:t>The mathematical term entered European languages from this word.</a:t>
            </a:r>
            <a:endParaRPr lang="en-US" sz="9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الكِيمْيَاءُ</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chemistry</a:t>
            </a:r>
            <a:endParaRPr lang="en-US" sz="1350" dirty="0"/>
          </a:p>
          <a:p>
            <a:pPr indent="0" marL="0">
              <a:buNone/>
            </a:pPr>
            <a:r>
              <a:rPr lang="en-US" sz="1100" i="1" dirty="0">
                <a:solidFill>
                  <a:srgbClr val="5A6472"/>
                </a:solidFill>
                <a:latin typeface="Calibri" pitchFamily="34" charset="0"/>
                <a:cs typeface="Amiri" pitchFamily="2" charset="-78"/>
              </a:rPr>
              <a:t>al-kīm-yā-ʾu</a:t>
            </a:r>
            <a:endParaRPr lang="en-US" sz="1350" dirty="0"/>
          </a:p>
        </p:txBody>
      </p:sp>
      <p:sp>
        <p:nvSpPr>
          <p:cNvPr id="28" name="Shape 2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566928"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1" name="Text 2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قَهْوَةٌ</a:t>
            </a:r>
            <a:endParaRPr lang="ar-SA" sz="3000" dirty="0"/>
          </a:p>
        </p:txBody>
      </p:sp>
      <p:sp>
        <p:nvSpPr>
          <p:cNvPr id="32" name="Text 2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coffee</a:t>
            </a:r>
            <a:endParaRPr lang="en-US" sz="1350" dirty="0"/>
          </a:p>
          <a:p>
            <a:pPr indent="0" marL="0">
              <a:buNone/>
            </a:pPr>
            <a:r>
              <a:rPr lang="en-US" sz="1100" i="1" dirty="0">
                <a:solidFill>
                  <a:srgbClr val="5A6472"/>
                </a:solidFill>
                <a:latin typeface="Calibri" pitchFamily="34" charset="0"/>
                <a:cs typeface="Amiri" pitchFamily="2" charset="-78"/>
              </a:rPr>
              <a:t>qah-wa-tun</a:t>
            </a:r>
            <a:endParaRPr lang="en-US" sz="1350" dirty="0"/>
          </a:p>
        </p:txBody>
      </p:sp>
      <p:sp>
        <p:nvSpPr>
          <p:cNvPr id="33" name="Text 30"/>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word travelled with the drink.</a:t>
            </a:r>
            <a:endParaRPr lang="en-US" sz="100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سُكَّرٌ</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sugar</a:t>
            </a:r>
            <a:endParaRPr lang="en-US" sz="1350" dirty="0"/>
          </a:p>
          <a:p>
            <a:pPr indent="0" marL="0">
              <a:buNone/>
            </a:pPr>
            <a:r>
              <a:rPr lang="en-US" sz="1100" i="1" dirty="0">
                <a:solidFill>
                  <a:srgbClr val="5A6472"/>
                </a:solidFill>
                <a:latin typeface="Calibri" pitchFamily="34" charset="0"/>
                <a:cs typeface="Amiri" pitchFamily="2" charset="-78"/>
              </a:rPr>
              <a:t>suk-ka-run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صِفْرٌ</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zero</a:t>
            </a:r>
            <a:endParaRPr lang="en-US" sz="1350" dirty="0"/>
          </a:p>
          <a:p>
            <a:pPr indent="0" marL="0">
              <a:buNone/>
            </a:pPr>
            <a:r>
              <a:rPr lang="en-US" sz="1100" i="1" dirty="0">
                <a:solidFill>
                  <a:srgbClr val="5A6472"/>
                </a:solidFill>
                <a:latin typeface="Calibri" pitchFamily="34" charset="0"/>
                <a:cs typeface="Amiri" pitchFamily="2" charset="-78"/>
              </a:rPr>
              <a:t>ṣif-run</a:t>
            </a:r>
            <a:endParaRPr lang="en-US" sz="1350" dirty="0"/>
          </a:p>
        </p:txBody>
      </p:sp>
      <p:sp>
        <p:nvSpPr>
          <p:cNvPr id="48" name="Text 4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concept and the word spread together.</a:t>
            </a:r>
            <a:endParaRPr lang="en-US" sz="10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Words that travelled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قُطْنٌ</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cotton</a:t>
            </a:r>
            <a:endParaRPr lang="en-US" sz="1350" dirty="0"/>
          </a:p>
          <a:p>
            <a:pPr indent="0" marL="0">
              <a:buNone/>
            </a:pPr>
            <a:r>
              <a:rPr lang="en-US" sz="1100" i="1" dirty="0">
                <a:solidFill>
                  <a:srgbClr val="5A6472"/>
                </a:solidFill>
                <a:latin typeface="Calibri" pitchFamily="34" charset="0"/>
                <a:cs typeface="Amiri" pitchFamily="2" charset="-78"/>
              </a:rPr>
              <a:t>quṭ-nun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كَلِمَاتٌ مُسْتَعَارَةٌ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loanwords</a:t>
            </a:r>
            <a:endParaRPr lang="en-US" sz="1350" dirty="0"/>
          </a:p>
          <a:p>
            <a:pPr indent="0" marL="0">
              <a:buNone/>
            </a:pPr>
            <a:r>
              <a:rPr lang="en-US" sz="1100" i="1" dirty="0">
                <a:solidFill>
                  <a:srgbClr val="5A6472"/>
                </a:solidFill>
                <a:latin typeface="Calibri" pitchFamily="34" charset="0"/>
                <a:cs typeface="Amiri" pitchFamily="2" charset="-78"/>
              </a:rPr>
              <a:t>ka-li-mā-tun mus-ta-ʿā-ra-tun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التَّأْثِيرُ اللُّغَوِيُّ</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linguistic influence</a:t>
            </a:r>
            <a:endParaRPr lang="en-US" sz="1350" dirty="0"/>
          </a:p>
          <a:p>
            <a:pPr indent="0" marL="0">
              <a:buNone/>
            </a:pPr>
            <a:r>
              <a:rPr lang="en-US" sz="1100" i="1" dirty="0">
                <a:solidFill>
                  <a:srgbClr val="5A6472"/>
                </a:solidFill>
                <a:latin typeface="Calibri" pitchFamily="34" charset="0"/>
                <a:cs typeface="Amiri" pitchFamily="2" charset="-78"/>
              </a:rPr>
              <a:t>at-taʾ-thī-ru all-lu-gha-wiy-yu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أَصْلٌ عَرَبِيٌّ</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Arabic origin</a:t>
            </a:r>
            <a:endParaRPr lang="en-US" sz="1350" dirty="0"/>
          </a:p>
          <a:p>
            <a:pPr indent="0" marL="0">
              <a:buNone/>
            </a:pPr>
            <a:r>
              <a:rPr lang="en-US" sz="1100" i="1" dirty="0">
                <a:solidFill>
                  <a:srgbClr val="5A6472"/>
                </a:solidFill>
                <a:latin typeface="Calibri" pitchFamily="34" charset="0"/>
                <a:cs typeface="Amiri" pitchFamily="2" charset="-78"/>
              </a:rPr>
              <a:t>aṣ-lun ʿa-ra-biy-yun</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it is worth learning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يُثْرِي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enriches</a:t>
            </a:r>
            <a:endParaRPr lang="en-US" sz="1350" dirty="0"/>
          </a:p>
          <a:p>
            <a:pPr indent="0" marL="0">
              <a:buNone/>
            </a:pPr>
            <a:r>
              <a:rPr lang="en-US" sz="1100" i="1" dirty="0">
                <a:solidFill>
                  <a:srgbClr val="5A6472"/>
                </a:solidFill>
                <a:latin typeface="Calibri" pitchFamily="34" charset="0"/>
                <a:cs typeface="Amiri" pitchFamily="2" charset="-78"/>
              </a:rPr>
              <a:t>yuth-rī</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IV; takes a direct object.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يُوَسِّعُ</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broadens</a:t>
            </a:r>
            <a:endParaRPr lang="en-US" sz="1350" dirty="0"/>
          </a:p>
          <a:p>
            <a:pPr indent="0" marL="0">
              <a:buNone/>
            </a:pPr>
            <a:r>
              <a:rPr lang="en-US" sz="1100" i="1" dirty="0">
                <a:solidFill>
                  <a:srgbClr val="5A6472"/>
                </a:solidFill>
                <a:latin typeface="Calibri" pitchFamily="34" charset="0"/>
                <a:cs typeface="Amiri" pitchFamily="2" charset="-78"/>
              </a:rPr>
              <a:t>yu-was-si-ʿu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takes a direct object.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يَفْتَحُ أَبْوَابًا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opens doors</a:t>
            </a:r>
            <a:endParaRPr lang="en-US" sz="1350" dirty="0"/>
          </a:p>
          <a:p>
            <a:pPr indent="0" marL="0">
              <a:buNone/>
            </a:pPr>
            <a:r>
              <a:rPr lang="en-US" sz="1100" i="1" dirty="0">
                <a:solidFill>
                  <a:srgbClr val="5A6472"/>
                </a:solidFill>
                <a:latin typeface="Calibri" pitchFamily="34" charset="0"/>
                <a:cs typeface="Amiri" pitchFamily="2" charset="-78"/>
              </a:rPr>
              <a:t>yaf-ta-ḥu ab-wā-ban</a:t>
            </a:r>
            <a:endParaRPr lang="en-US" sz="1350" dirty="0"/>
          </a:p>
        </p:txBody>
      </p:sp>
      <p:sp>
        <p:nvSpPr>
          <p:cNvPr id="36" name="Text 33"/>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object is accusative.</a:t>
            </a:r>
            <a:endParaRPr lang="en-US" sz="10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قِيمَةٌ مِهْنِيَّةٌ</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professional value</a:t>
            </a:r>
            <a:endParaRPr lang="en-US" sz="1350" dirty="0"/>
          </a:p>
          <a:p>
            <a:pPr indent="0" marL="0">
              <a:buNone/>
            </a:pPr>
            <a:r>
              <a:rPr lang="en-US" sz="1100" i="1" dirty="0">
                <a:solidFill>
                  <a:srgbClr val="5A6472"/>
                </a:solidFill>
                <a:latin typeface="Calibri" pitchFamily="34" charset="0"/>
                <a:cs typeface="Amiri" pitchFamily="2" charset="-78"/>
              </a:rPr>
              <a:t>qī-ma-tun mih-niy-ya-tun</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it is worth learning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فُرَصٌ اقْتِصَادِيَّةٌ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economic opportunities</a:t>
            </a:r>
            <a:endParaRPr lang="en-US" sz="1350" dirty="0"/>
          </a:p>
          <a:p>
            <a:pPr indent="0" marL="0">
              <a:buNone/>
            </a:pPr>
            <a:r>
              <a:rPr lang="en-US" sz="1100" i="1" dirty="0">
                <a:solidFill>
                  <a:srgbClr val="5A6472"/>
                </a:solidFill>
                <a:latin typeface="Calibri" pitchFamily="34" charset="0"/>
                <a:cs typeface="Amiri" pitchFamily="2" charset="-78"/>
              </a:rPr>
              <a:t>fu-ra-ṣun aq-ti-ṣā-diy-ya-tun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3" name="Shape 2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الدِّبْلُومَاسِيَّةُ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diplomacy</a:t>
            </a:r>
            <a:endParaRPr lang="en-US" sz="1350" dirty="0"/>
          </a:p>
          <a:p>
            <a:pPr indent="0" marL="0">
              <a:buNone/>
            </a:pPr>
            <a:r>
              <a:rPr lang="en-US" sz="1100" i="1" dirty="0">
                <a:solidFill>
                  <a:srgbClr val="5A6472"/>
                </a:solidFill>
                <a:latin typeface="Calibri" pitchFamily="34" charset="0"/>
                <a:cs typeface="Amiri" pitchFamily="2" charset="-78"/>
              </a:rPr>
              <a:t>ad-dib-lū-mā-siy-ya-tu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0" name="Shape 27"/>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التَّرْجَمَةُ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translation</a:t>
            </a:r>
            <a:endParaRPr lang="en-US" sz="1350" dirty="0"/>
          </a:p>
          <a:p>
            <a:pPr indent="0" marL="0">
              <a:buNone/>
            </a:pPr>
            <a:r>
              <a:rPr lang="en-US" sz="1100" i="1" dirty="0">
                <a:solidFill>
                  <a:srgbClr val="5A6472"/>
                </a:solidFill>
                <a:latin typeface="Calibri" pitchFamily="34" charset="0"/>
                <a:cs typeface="Amiri" pitchFamily="2" charset="-78"/>
              </a:rPr>
              <a:t>at-tar-ja-ma-tu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التَّوَاصُلُ</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a:t>
            </a:r>
            <a:endParaRPr lang="en-US" sz="1350" dirty="0"/>
          </a:p>
          <a:p>
            <a:pPr indent="0" marL="0">
              <a:buNone/>
            </a:pPr>
            <a:r>
              <a:rPr lang="en-US" sz="1100" i="1" dirty="0">
                <a:solidFill>
                  <a:srgbClr val="5A6472"/>
                </a:solidFill>
                <a:latin typeface="Calibri" pitchFamily="34" charset="0"/>
                <a:cs typeface="Amiri" pitchFamily="2" charset="-78"/>
              </a:rPr>
              <a:t>at-ta-wā-ṣu-lu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STATISTICAL LANGUAGE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Status and numbers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المَكَانَةُ وَالأَرْقَامُ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 + genitive plural</a:t>
            </a:r>
            <a:endParaRPr lang="en-US" sz="1100" dirty="0"/>
          </a:p>
        </p:txBody>
      </p:sp>
      <p:sp>
        <p:nvSpPr>
          <p:cNvPr id="21" name="Text 18"/>
          <p:cNvSpPr txBox="1"/>
          <p:nvPr/>
        </p:nvSpPr>
        <p:spPr>
          <a:xfrm>
            <a:off x="3291840" y="2286000"/>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تُعَدُّ العَرَبِيَّةُ </a:t>
            </a:r>
            <a:pPr rtl="1" algn="ctr" indent="0" marL="0">
              <a:buNone/>
            </a:pPr>
            <a:r>
              <a:rPr lang="ar-SA" altLang="en-US" sz="1950" b="1" dirty="0">
                <a:solidFill>
                  <a:srgbClr val="0E7C86"/>
                </a:solidFill>
                <a:latin typeface="Amiri" pitchFamily="2" charset="-78"/>
                <a:ea typeface="Amiri" pitchFamily="2" charset="-78"/>
                <a:cs typeface="Amiri" pitchFamily="2" charset="-78"/>
              </a:rPr>
              <a:t>مِنْ</a:t>
            </a:r>
            <a:pPr rtl="1" algn="ctr" indent="0" marL="0">
              <a:buNone/>
            </a:pPr>
            <a:r>
              <a:rPr lang="ar-SA" altLang="en-US" sz="1950" b="1" dirty="0">
                <a:solidFill>
                  <a:srgbClr val="1B3B6F"/>
                </a:solidFill>
                <a:latin typeface="Amiri" pitchFamily="2" charset="-78"/>
                <a:ea typeface="Amiri" pitchFamily="2" charset="-78"/>
                <a:cs typeface="Amiri" pitchFamily="2" charset="-78"/>
              </a:rPr>
              <a:t> أَكْثَرِ اللُّغَاتِ انْتِشَارًا.</a:t>
            </a:r>
            <a:endParaRPr lang="ar-SA" sz="1950" dirty="0"/>
          </a:p>
        </p:txBody>
      </p:sp>
      <p:sp>
        <p:nvSpPr>
          <p:cNvPr id="22" name="Text 19"/>
          <p:cNvSpPr txBox="1"/>
          <p:nvPr/>
        </p:nvSpPr>
        <p:spPr>
          <a:xfrm>
            <a:off x="3246120" y="267699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Arabic is among the most widespread languages.</a:t>
            </a:r>
            <a:endParaRPr lang="en-US" sz="950" dirty="0"/>
          </a:p>
        </p:txBody>
      </p:sp>
      <p:sp>
        <p:nvSpPr>
          <p:cNvPr id="23" name="Text 20"/>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يُعَدُّ </a:t>
            </a:r>
            <a:pPr rtl="1" algn="ctr" indent="0" marL="0">
              <a:buNone/>
            </a:pPr>
            <a:r>
              <a:rPr lang="ar-SA" altLang="en-US" sz="2200" b="1" dirty="0">
                <a:solidFill>
                  <a:srgbClr val="0E7C86"/>
                </a:solidFill>
                <a:latin typeface="Amiri" pitchFamily="2" charset="-78"/>
                <a:ea typeface="Amiri" pitchFamily="2" charset="-78"/>
                <a:cs typeface="Amiri" pitchFamily="2" charset="-78"/>
              </a:rPr>
              <a:t>مِنْ</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of (f.)</a:t>
            </a:r>
            <a:endParaRPr lang="en-US" sz="1100" dirty="0"/>
          </a:p>
        </p:txBody>
      </p:sp>
      <p:sp>
        <p:nvSpPr>
          <p:cNvPr id="28" name="Text 25"/>
          <p:cNvSpPr txBox="1"/>
          <p:nvPr/>
        </p:nvSpPr>
        <p:spPr>
          <a:xfrm>
            <a:off x="3291840" y="302300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هِيَ </a:t>
            </a:r>
            <a:pPr rtl="1" algn="ctr" indent="0" marL="0">
              <a:buNone/>
            </a:pPr>
            <a:r>
              <a:rPr lang="ar-SA" altLang="en-US" sz="1950" b="1" dirty="0">
                <a:solidFill>
                  <a:srgbClr val="D6336C"/>
                </a:solidFill>
                <a:latin typeface="Amiri" pitchFamily="2" charset="-78"/>
                <a:ea typeface="Amiri" pitchFamily="2" charset="-78"/>
                <a:cs typeface="Amiri" pitchFamily="2" charset="-78"/>
              </a:rPr>
              <a:t>إِحْدَى</a:t>
            </a:r>
            <a:pPr rtl="1" algn="ctr" indent="0" marL="0">
              <a:buNone/>
            </a:pPr>
            <a:r>
              <a:rPr lang="ar-SA" altLang="en-US" sz="1950" b="1" dirty="0">
                <a:solidFill>
                  <a:srgbClr val="1B3B6F"/>
                </a:solidFill>
                <a:latin typeface="Amiri" pitchFamily="2" charset="-78"/>
                <a:ea typeface="Amiri" pitchFamily="2" charset="-78"/>
                <a:cs typeface="Amiri" pitchFamily="2" charset="-78"/>
              </a:rPr>
              <a:t> لُغَاتِ الأُمَمِ المُتَّحِدَةِ.</a:t>
            </a:r>
            <a:endParaRPr lang="ar-SA" sz="1950" dirty="0"/>
          </a:p>
        </p:txBody>
      </p:sp>
      <p:sp>
        <p:nvSpPr>
          <p:cNvPr id="29" name="Text 26"/>
          <p:cNvSpPr txBox="1"/>
          <p:nvPr/>
        </p:nvSpPr>
        <p:spPr>
          <a:xfrm>
            <a:off x="3246120" y="3414004"/>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is one of the UN languages.</a:t>
            </a:r>
            <a:endParaRPr lang="en-US" sz="950" dirty="0"/>
          </a:p>
        </p:txBody>
      </p:sp>
      <p:sp>
        <p:nvSpPr>
          <p:cNvPr id="30" name="Text 27"/>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إِحْدَى</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figure</a:t>
            </a:r>
            <a:endParaRPr lang="en-US" sz="1100" dirty="0"/>
          </a:p>
        </p:txBody>
      </p:sp>
      <p:sp>
        <p:nvSpPr>
          <p:cNvPr id="35" name="Text 32"/>
          <p:cNvSpPr txBox="1"/>
          <p:nvPr/>
        </p:nvSpPr>
        <p:spPr>
          <a:xfrm>
            <a:off x="3291840" y="3760013"/>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يَبْلُغُ عَدَدُ المُتَحَدِّثِينَ مَلَايِينَ كَثِيرَةً.</a:t>
            </a:r>
            <a:endParaRPr lang="ar-SA" sz="1950" dirty="0"/>
          </a:p>
        </p:txBody>
      </p:sp>
      <p:sp>
        <p:nvSpPr>
          <p:cNvPr id="36" name="Text 33"/>
          <p:cNvSpPr txBox="1"/>
          <p:nvPr/>
        </p:nvSpPr>
        <p:spPr>
          <a:xfrm>
            <a:off x="3246120" y="4151010"/>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Speakers number many millions.</a:t>
            </a:r>
            <a:endParaRPr lang="en-US" sz="950" dirty="0"/>
          </a:p>
        </p:txBody>
      </p:sp>
      <p:sp>
        <p:nvSpPr>
          <p:cNvPr id="37" name="Text 34"/>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يَبْلُغُ</a:t>
            </a:r>
            <a:endParaRPr lang="ar-SA" sz="22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singular genitive</a:t>
            </a:r>
            <a:endParaRPr lang="en-US" sz="1100" dirty="0"/>
          </a:p>
        </p:txBody>
      </p:sp>
      <p:sp>
        <p:nvSpPr>
          <p:cNvPr id="40" name="Text 37"/>
          <p:cNvSpPr txBox="1"/>
          <p:nvPr/>
        </p:nvSpPr>
        <p:spPr>
          <a:xfrm>
            <a:off x="3291840" y="4497019"/>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أَرْبَعُمِئَةِ </a:t>
            </a:r>
            <a:pPr rtl="1" algn="ctr" indent="0" marL="0">
              <a:buNone/>
            </a:pPr>
            <a:r>
              <a:rPr lang="ar-SA" altLang="en-US" sz="1950" b="1" dirty="0">
                <a:solidFill>
                  <a:srgbClr val="1D5FBF"/>
                </a:solidFill>
                <a:latin typeface="Amiri" pitchFamily="2" charset="-78"/>
                <a:ea typeface="Amiri" pitchFamily="2" charset="-78"/>
                <a:cs typeface="Amiri" pitchFamily="2" charset="-78"/>
              </a:rPr>
              <a:t>مِلْيُونِ مُتَحَدِّثٍ</a:t>
            </a:r>
            <a:endParaRPr lang="ar-SA" sz="1950" dirty="0"/>
          </a:p>
        </p:txBody>
      </p:sp>
      <p:sp>
        <p:nvSpPr>
          <p:cNvPr id="41" name="Text 38"/>
          <p:cNvSpPr txBox="1"/>
          <p:nvPr/>
        </p:nvSpPr>
        <p:spPr>
          <a:xfrm>
            <a:off x="3246120" y="488801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four hundred million speakers</a:t>
            </a:r>
            <a:endParaRPr lang="en-US" sz="950" dirty="0"/>
          </a:p>
        </p:txBody>
      </p:sp>
      <p:sp>
        <p:nvSpPr>
          <p:cNvPr id="42" name="Text 39"/>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مِلْيُونِ مُتَحَدِّثٍ</a:t>
            </a:r>
            <a:endParaRPr lang="ar-SA" sz="220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superlative</a:t>
            </a:r>
            <a:endParaRPr lang="en-US" sz="1100" dirty="0"/>
          </a:p>
        </p:txBody>
      </p:sp>
      <p:sp>
        <p:nvSpPr>
          <p:cNvPr id="45" name="Text 42"/>
          <p:cNvSpPr txBox="1"/>
          <p:nvPr/>
        </p:nvSpPr>
        <p:spPr>
          <a:xfrm>
            <a:off x="3291840" y="523402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مِنْ </a:t>
            </a:r>
            <a:pPr rtl="1" algn="ctr" indent="0" marL="0">
              <a:buNone/>
            </a:pPr>
            <a:r>
              <a:rPr lang="ar-SA" altLang="en-US" sz="1950" b="1" dirty="0">
                <a:solidFill>
                  <a:srgbClr val="0E7C86"/>
                </a:solidFill>
                <a:latin typeface="Amiri" pitchFamily="2" charset="-78"/>
                <a:ea typeface="Amiri" pitchFamily="2" charset="-78"/>
                <a:cs typeface="Amiri" pitchFamily="2" charset="-78"/>
              </a:rPr>
              <a:t>أَقْدَمِ</a:t>
            </a:r>
            <a:pPr rtl="1" algn="ctr" indent="0" marL="0">
              <a:buNone/>
            </a:pPr>
            <a:r>
              <a:rPr lang="ar-SA" altLang="en-US" sz="1950" b="1" dirty="0">
                <a:solidFill>
                  <a:srgbClr val="1B3B6F"/>
                </a:solidFill>
                <a:latin typeface="Amiri" pitchFamily="2" charset="-78"/>
                <a:ea typeface="Amiri" pitchFamily="2" charset="-78"/>
                <a:cs typeface="Amiri" pitchFamily="2" charset="-78"/>
              </a:rPr>
              <a:t> اللُّغَاتِ الحَيَّةِ</a:t>
            </a:r>
            <a:endParaRPr lang="ar-SA" sz="1950" dirty="0"/>
          </a:p>
        </p:txBody>
      </p:sp>
      <p:sp>
        <p:nvSpPr>
          <p:cNvPr id="46" name="Text 43"/>
          <p:cNvSpPr txBox="1"/>
          <p:nvPr/>
        </p:nvSpPr>
        <p:spPr>
          <a:xfrm>
            <a:off x="3246120" y="5625023"/>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one of the oldest living languages</a:t>
            </a:r>
            <a:endParaRPr lang="en-US" sz="950" dirty="0"/>
          </a:p>
        </p:txBody>
      </p:sp>
      <p:sp>
        <p:nvSpPr>
          <p:cNvPr id="47" name="Text 44"/>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 أَقْدَمِ</a:t>
            </a:r>
            <a:endParaRPr lang="ar-SA" sz="2200" dirty="0"/>
          </a:p>
        </p:txBody>
      </p:sp>
      <p:sp>
        <p:nvSpPr>
          <p:cNvPr id="48" name="Shape 45"/>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“Formal statistics have their own verbs.”</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cs typeface="Amiri" pitchFamily="2" charset="-78"/>
              </a:rPr>
              <a:t>GRAMMAR FOCUS · PART 2 · DIRECT-OBJECT VERBS (WEBSITE RULES 3–4) · DEVELOP / STRETCH</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 preposition after these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المَفْعُولُ 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REPRESENTS · DEVELOP</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تُمَثِّلُ جِسْرًا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تُمَثِّلُ العَرَبِيَّةُ جِسْرًا بَيْنَ الثَّقَافَاتِ.</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Arabic represents a bridge between cultures.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bi-.</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ENRICHES · CORE</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تُثْرِي تَفْكِيرَنَا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تُثْرِي اللُّغَةُ تَفْكِيرَنَا.</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Language enriches our thinking.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Object in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BROADENS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يُوَسِّعُ · يَفْتَحُ أَبْوَابًا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يُوَسِّعُ تَعَلُّمُ اللُّغَاتِ آفَاقَنَا.</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Learning languages broadens our horizons.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Object in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yumaththilu takes a direct object.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تُمَثِّلُ جِسْرًا</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تُمَثِّلُ بِجِسْرٍ</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Statistical language and the direct object</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الإِحْصَاءِ وَالمَفْعُولُ بِهِ</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t>
            </a:r>
            <a:pPr algn="l" indent="0" marL="0">
              <a:buNone/>
            </a:pPr>
            <a:r>
              <a:rPr lang="ar-SA" altLang="en-US" sz="1650" b="1" dirty="0">
                <a:solidFill>
                  <a:srgbClr val="1B3B6F"/>
                </a:solidFill>
                <a:latin typeface="Amiri" pitchFamily="2" charset="-78"/>
                <a:ea typeface="Amiri" pitchFamily="2" charset="-78"/>
                <a:cs typeface="Amiri" pitchFamily="2" charset="-78"/>
              </a:rPr>
              <a:t>يُعَدُّ مِنْ</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يُعَدُّ</a:t>
            </a:r>
            <a:pPr algn="l" indent="0" marL="0">
              <a:buNone/>
            </a:pPr>
            <a:r>
              <a:rPr lang="en-US" sz="1050"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dirty="0">
                <a:solidFill>
                  <a:srgbClr val="5A6472"/>
                </a:solidFill>
                <a:latin typeface="Calibri" pitchFamily="34" charset="0"/>
                <a:cs typeface="Amiri" pitchFamily="2" charset="-78"/>
              </a:rPr>
              <a:t> + genitive plural</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تُعَدُّ العَرَبِيَّةُ مِنْ أَكْثَرِ اللُّغَاتِ انْتِشَارًا   ·   يُعَدُّ الخَطُّ العَرَبِيُّ مِنْ أَجْمَلِ الفُنُونِ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Numbers with </a:t>
            </a:r>
            <a:pPr algn="l" indent="0" marL="0">
              <a:buNone/>
            </a:pPr>
            <a:r>
              <a:rPr lang="ar-SA" altLang="en-US" sz="1650" b="1" dirty="0">
                <a:solidFill>
                  <a:srgbClr val="1B3B6F"/>
                </a:solidFill>
                <a:latin typeface="Amiri" pitchFamily="2" charset="-78"/>
                <a:ea typeface="Amiri" pitchFamily="2" charset="-78"/>
                <a:cs typeface="Amiri" pitchFamily="2" charset="-78"/>
              </a:rPr>
              <a:t>مِلْيُون</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number + </a:t>
            </a:r>
            <a:pPr algn="l" indent="0" marL="0">
              <a:buNone/>
            </a:pPr>
            <a:r>
              <a:rPr lang="ar-SA" altLang="en-US" sz="1350" dirty="0">
                <a:solidFill>
                  <a:srgbClr val="5A6472"/>
                </a:solidFill>
                <a:latin typeface="Amiri" pitchFamily="2" charset="-78"/>
                <a:ea typeface="Amiri" pitchFamily="2" charset="-78"/>
                <a:cs typeface="Amiri" pitchFamily="2" charset="-78"/>
              </a:rPr>
              <a:t>مِلْيُونِ</a:t>
            </a:r>
            <a:pPr algn="l" indent="0" marL="0">
              <a:buNone/>
            </a:pPr>
            <a:r>
              <a:rPr lang="en-US" sz="1050" dirty="0">
                <a:solidFill>
                  <a:srgbClr val="5A6472"/>
                </a:solidFill>
                <a:latin typeface="Calibri" pitchFamily="34" charset="0"/>
                <a:cs typeface="Amiri" pitchFamily="2" charset="-78"/>
              </a:rPr>
              <a:t> + singular genitive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أَرْبَعُمِئَةِ مِلْيُونِ مُتَحَدِّثٍ   ·   يَبْلُغُ عَدَدُ المُتَحَدِّثِينَ مَلَايِينَ كَثِيرَةً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t>
            </a:r>
            <a:pPr algn="l" indent="0" marL="0">
              <a:buNone/>
            </a:pPr>
            <a:r>
              <a:rPr lang="ar-SA" altLang="en-US" sz="1650" b="1" dirty="0">
                <a:solidFill>
                  <a:srgbClr val="1B3B6F"/>
                </a:solidFill>
                <a:latin typeface="Amiri" pitchFamily="2" charset="-78"/>
                <a:ea typeface="Amiri" pitchFamily="2" charset="-78"/>
                <a:cs typeface="Amiri" pitchFamily="2" charset="-78"/>
              </a:rPr>
              <a:t>يُمَثِّلُ</a:t>
            </a:r>
            <a:pPr algn="l" indent="0" marL="0">
              <a:buNone/>
            </a:pPr>
            <a:r>
              <a:rPr lang="en-US" sz="1250" b="1" dirty="0">
                <a:solidFill>
                  <a:srgbClr val="1B3B6F"/>
                </a:solidFill>
                <a:latin typeface="Calibri" pitchFamily="34" charset="0"/>
                <a:cs typeface="Amiri" pitchFamily="2" charset="-78"/>
              </a:rPr>
              <a:t> with a direct object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يُمَثِّلُ</a:t>
            </a:r>
            <a:pPr algn="l" indent="0" marL="0">
              <a:buNone/>
            </a:pPr>
            <a:r>
              <a:rPr lang="en-US" sz="1050" dirty="0">
                <a:solidFill>
                  <a:srgbClr val="5A6472"/>
                </a:solidFill>
                <a:latin typeface="Calibri" pitchFamily="34" charset="0"/>
                <a:cs typeface="Amiri" pitchFamily="2" charset="-78"/>
              </a:rPr>
              <a:t> + accusative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تُمَثِّلُ العَرَبِيَّةُ جِسْرًا بَيْنَ الثَّقَافَاتِ   ·   يُمَثِّلُ ذٰلِكَ نِسْبَةً كَبِيرَةً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t>
            </a:r>
            <a:pPr algn="l" indent="0" marL="0">
              <a:buNone/>
            </a:pPr>
            <a:r>
              <a:rPr lang="ar-SA" altLang="en-US" sz="1650" b="1" dirty="0">
                <a:solidFill>
                  <a:srgbClr val="1B3B6F"/>
                </a:solidFill>
                <a:latin typeface="Amiri" pitchFamily="2" charset="-78"/>
                <a:ea typeface="Amiri" pitchFamily="2" charset="-78"/>
                <a:cs typeface="Amiri" pitchFamily="2" charset="-78"/>
              </a:rPr>
              <a:t>يُثْرِي</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يُوَسِّعُ</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يُثْرِي / يُوَسِّعُ</a:t>
            </a:r>
            <a:pPr algn="l" indent="0" marL="0">
              <a:buNone/>
            </a:pPr>
            <a:r>
              <a:rPr lang="en-US" sz="1050" dirty="0">
                <a:solidFill>
                  <a:srgbClr val="5A6472"/>
                </a:solidFill>
                <a:latin typeface="Calibri" pitchFamily="34" charset="0"/>
                <a:cs typeface="Amiri" pitchFamily="2" charset="-78"/>
              </a:rPr>
              <a:t> + accusative</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تُثْرِي اللُّغَةُ تَفْكِيرَنَا   ·   يُوَسِّعُ تَعَلُّمُ اللُّغَاتِ آفَاقَنَا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تُعَدُّ العَرَبِيَّةُ ___ أَكْثَرِ اللُّغَاتِ انْتِشَارًا.</a:t>
            </a:r>
            <a:endParaRPr lang="ar-SA" sz="14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يُمَثِّلُ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تُمَثِّلُ العَرَبِيَّةُ جِسْرًا بَيْنَ الثَّقَافَاتِ.</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تُمَثِّلُ العَرَبِيَّةُ بِجِسْرٍ بَيْنَ الثَّقَافَاتِ.</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تُمَثِّلُ العَرَبِيَّةُ جِسْرٌ بَيْنَ الثَّقَافَاتِ.</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gave English “algebra”?</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الجَبَلُ</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الجَبْرُ</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الجَوَابُ</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Arabic's status is accurate?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العَرَبِيَّةُ إِحْدَى لُغَاتِ الأُمَمِ المُتَّحِدَةِ.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العَرَبِيَّةُ اللُّغَةُ الرَّسْمِيَّةُ الوَحِيدَةُ فِي العَالَمِ.</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العَرَبِيَّةُ لَا تُسْتَعْمَلُ فِي المُنَظَّمَاتِ الدَّوْلِيَّةِ.</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تُعَدُّ العَرَبِيَّةُ ___ أَكْثَرِ اللُّغَاتِ انْتِشَارًا.</a:t>
            </a:r>
            <a:endParaRPr lang="ar-SA" sz="14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يُعَدُّ</a:t>
            </a:r>
            <a:pPr algn="l" indent="0" marL="0">
              <a:buNone/>
            </a:pPr>
            <a:r>
              <a:rPr lang="en-US" sz="1050" i="1" dirty="0">
                <a:solidFill>
                  <a:srgbClr val="8A6D1E"/>
                </a:solidFill>
                <a:latin typeface="Calibri" pitchFamily="34" charset="0"/>
                <a:cs typeface="Amiri" pitchFamily="2" charset="-78"/>
              </a:rPr>
              <a:t> is followed by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and a genitive plural.</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يُمَثِّلُ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تُمَثِّلُ العَرَبِيَّةُ جِسْرًا بَيْنَ الثَّقَافَاتِ.</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تُمَثِّلُ العَرَبِيَّةُ بِجِسْرٍ بَيْنَ الثَّقَافَاتِ.</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تُمَثِّلُ العَرَبِيَّةُ جِسْرٌ بَيْنَ الثَّقَافَاتِ.</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يُمَثِّلُ</a:t>
            </a:r>
            <a:pPr algn="l" indent="0" marL="0">
              <a:buNone/>
            </a:pPr>
            <a:r>
              <a:rPr lang="en-US" sz="1050" i="1" dirty="0">
                <a:solidFill>
                  <a:srgbClr val="8A6D1E"/>
                </a:solidFill>
                <a:latin typeface="Calibri" pitchFamily="34" charset="0"/>
                <a:cs typeface="Amiri" pitchFamily="2" charset="-78"/>
              </a:rPr>
              <a:t> takes a direct object in the accusative.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gave English “algebra”?</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الجَبَلُ</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الجَبْرُ</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الجَوَابُ</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الجَبْر</a:t>
            </a:r>
            <a:pPr algn="l" indent="0" marL="0">
              <a:buNone/>
            </a:pPr>
            <a:r>
              <a:rPr lang="en-US" sz="1050" i="1" dirty="0">
                <a:solidFill>
                  <a:srgbClr val="8A6D1E"/>
                </a:solidFill>
                <a:latin typeface="Calibri" pitchFamily="34" charset="0"/>
                <a:cs typeface="Amiri" pitchFamily="2" charset="-78"/>
              </a:rPr>
              <a:t> is the mathematical term behind the English word.</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Arabic's status is accurate?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العَرَبِيَّةُ إِحْدَى لُغَاتِ الأُمَمِ المُتَّحِدَةِ.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العَرَبِيَّةُ اللُّغَةُ الرَّسْمِيَّةُ الوَحِيدَةُ فِي العَالَمِ.</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العَرَبِيَّةُ لَا تُسْتَعْمَلُ فِي المُنَظَّمَاتِ الدَّوْلِيَّةِ.</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Arabic is one of the six official UN languages.</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argue for Arabic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Status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0E7C86"/>
                </a:solidFill>
                <a:latin typeface="Amiri" pitchFamily="2" charset="-78"/>
                <a:ea typeface="Amiri" pitchFamily="2" charset="-78"/>
                <a:cs typeface="Amiri" pitchFamily="2" charset="-78"/>
              </a:rPr>
              <a:t>تُعَدُّ</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العَرَبِيَّةُ </a:t>
            </a:r>
            <a:pPr rtl="1" algn="ctr" indent="0" marL="0">
              <a:lnSpc>
                <a:spcPct val="120000"/>
              </a:lnSpc>
              <a:buNone/>
            </a:pPr>
            <a:r>
              <a:rPr lang="ar-SA" altLang="en-US" sz="1850" b="1" dirty="0">
                <a:solidFill>
                  <a:srgbClr val="0E7C86"/>
                </a:solidFill>
                <a:latin typeface="Amiri" pitchFamily="2" charset="-78"/>
                <a:ea typeface="Amiri" pitchFamily="2" charset="-78"/>
                <a:cs typeface="Amiri" pitchFamily="2" charset="-78"/>
              </a:rPr>
              <a:t>مِنْ</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أَكْثَرِ اللُّغَاتِ</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Counted among.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Number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يَبْلُغُ عَدَدُ المُتَحَدِّثِينَ </a:t>
            </a:r>
            <a:pPr rtl="1" algn="ctr" indent="0" marL="0">
              <a:lnSpc>
                <a:spcPct val="120000"/>
              </a:lnSpc>
              <a:buNone/>
            </a:pPr>
            <a:r>
              <a:rPr lang="ar-SA" altLang="en-US" sz="1900" b="1" dirty="0">
                <a:solidFill>
                  <a:srgbClr val="1D5FBF"/>
                </a:solidFill>
                <a:latin typeface="Amiri" pitchFamily="2" charset="-78"/>
                <a:ea typeface="Amiri" pitchFamily="2" charset="-78"/>
                <a:cs typeface="Amiri" pitchFamily="2" charset="-78"/>
              </a:rPr>
              <a:t>مَلَايِينَ</a:t>
            </a:r>
            <a:endParaRPr lang="ar-SA" sz="19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figure.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Loanwords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الجَبْرُ · القَهْوَةُ · السُّكَّرُ</a:t>
            </a:r>
            <a:endParaRPr lang="ar-SA" sz="22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Words that travelled.</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Argument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تُوَسِّعُ</a:t>
            </a:r>
            <a:pPr rtl="1" algn="ctr" indent="0" marL="0">
              <a:buNone/>
            </a:pPr>
            <a:r>
              <a:rPr lang="ar-SA" altLang="en-US" sz="2800" b="1" dirty="0">
                <a:solidFill>
                  <a:srgbClr val="1B3B6F"/>
                </a:solidFill>
                <a:latin typeface="Amiri" pitchFamily="2" charset="-78"/>
                <a:ea typeface="Amiri" pitchFamily="2" charset="-78"/>
                <a:cs typeface="Amiri" pitchFamily="2" charset="-78"/>
              </a:rPr>
              <a:t> آفَاقِي</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Direct object.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STATUS</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FIGURE</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ARGUMENT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تُعَدُّ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العَرَبِيَّةُ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أَكْثَرِ اللُّغَاتِ انْتِشَارًا فِي العَالَمِ، وَهِيَ إِحْدَى لُغَاتِ الأُمَمِ المُتَّحِدَةِ الرَّسْمِيَّةِ. وَيَبْلُغُ عَدَدُ المُتَحَدِّثِينَ بِهَا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مَلَايِينَ كَثِيرَةً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أَتَعَلَّمُ العَرَبِيَّةَ لِأَنَّهَا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تُثْرِي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تَفْكِيرِي وَ</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تُوَسِّعُ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آفَاقِي.</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Arabic is among the most widespread languages in the world, and it is one of the official UN languages. The number of its speakers reaches many millions. I learn Arabic because it enriches my thinking and broadens my horizons.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تُعَدُّ العَرَبِيَّةُ مِنْ أَكْثَرِ اللُّغَاتِ انْتِشَارًا</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Arabic is among the most widespread languages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مِنْ plus a genitive plural, then an accusative specifier.</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أَرْبَعُمِئَةِ مِلْيُونِ مُتَحَدِّثٍ</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four hundred million speakers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مِلْيُون is followed by a singular genitive.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يُوَسِّعُ آفَاقَنَا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broadens our horizons</a:t>
            </a:r>
            <a:endParaRPr lang="en-US" sz="1250" dirty="0"/>
          </a:p>
          <a:p>
            <a:pPr indent="0" marL="0">
              <a:buNone/>
            </a:pPr>
            <a:r>
              <a:rPr lang="en-US" sz="1050" i="1" dirty="0">
                <a:solidFill>
                  <a:srgbClr val="8A6D1E"/>
                </a:solidFill>
                <a:latin typeface="Calibri" pitchFamily="34" charset="0"/>
                <a:cs typeface="Amiri" pitchFamily="2" charset="-78"/>
              </a:rPr>
              <a:t>A direct object with no preposition.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يُعَدُّ مِنْ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يَبْلُغُ</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يُمَثِّلُ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الجَبْرُ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سُكَّرٌ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يُثْرِي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يُوَسِّعُ</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يَفْتَحُ أَبْوَابًا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Statistical verb</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Word that travelled</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Argument verb</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Statistical verb</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يُعَدُّ مِنْ</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يَبْلُغُ</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يُمَثِّلُ</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Word that travelled</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الجَبْرُ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سُكَّرٌ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Argument verb</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يُثْرِي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يُوَسِّعُ</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يَفْتَحُ أَبْوَابًا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number phrase.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أَرْبَعُمِئَةِ مِلْيُونَ مُتَحَدِّثُونَ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أَرْبَعُمِئَةُ مِلْيُونٍ مُتَحَدِّثِينَ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أَرْبَعُمِئَةِ مِلْيُونِ مُتَحَدِّثٍ</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travelled into other languages as “sugar”?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صِفْرٌ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سُكَّرٌ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يُوَسِّعُ تَعَلُّمُ اللُّغَاتِ ___.</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آفَاقُنَا</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آفَاقَنَا</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بِآفَاقِنَا</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formal opening for a statistic.</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يَبْلُغُ عَدَدَ المُتَحَدِّثِينَ بِالعَرَبِيَّةِ مَلَايِينُ كَثِيرَةٌ.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يَبْلُغُ عَدَدُ المُتَحَدِّثِينَ مَلَايِينُ كَثِيرَةٍ.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يَبْلُغُ عَدَدُ المُتَحَدِّثِينَ بِالعَرَبِيَّةِ مَلَايِينَ كَثِيرَةً.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number phrase.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أَرْبَعُمِئَةِ مِلْيُونَ مُتَحَدِّثُونَ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أَرْبَعُمِئَةُ مِلْيُونٍ مُتَحَدِّثِينَ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أَرْبَعُمِئَةِ مِلْيُونِ مُتَحَدِّثٍ</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مِلْيُون</a:t>
            </a:r>
            <a:pPr algn="l" indent="0" marL="0">
              <a:buNone/>
            </a:pPr>
            <a:r>
              <a:rPr lang="en-US" sz="1050" i="1" dirty="0">
                <a:solidFill>
                  <a:srgbClr val="8A6D1E"/>
                </a:solidFill>
                <a:latin typeface="Calibri" pitchFamily="34" charset="0"/>
                <a:cs typeface="Amiri" pitchFamily="2" charset="-78"/>
              </a:rPr>
              <a:t> is genitive in the iḍāfa and is followed by a singular genitive noun.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travelled into other languages as “sugar”?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صِفْرٌ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سُكَّرٌ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قُطْنٌ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سُكَّرٌ</a:t>
            </a:r>
            <a:pPr algn="l" indent="0" marL="0">
              <a:buNone/>
            </a:pPr>
            <a:r>
              <a:rPr lang="en-US" sz="1050" i="1" dirty="0">
                <a:solidFill>
                  <a:srgbClr val="8A6D1E"/>
                </a:solidFill>
                <a:latin typeface="Calibri" pitchFamily="34" charset="0"/>
                <a:cs typeface="Amiri" pitchFamily="2" charset="-78"/>
              </a:rPr>
              <a:t> is the source of the English word.</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يُوَسِّعُ تَعَلُّمُ اللُّغَاتِ ___.</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آفَاقُنَا</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آفَاقَنَا</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بِآفَاقِنَا</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يُوَسِّعُ</a:t>
            </a:r>
            <a:pPr algn="l" indent="0" marL="0">
              <a:buNone/>
            </a:pPr>
            <a:r>
              <a:rPr lang="en-US" sz="1050" i="1" dirty="0">
                <a:solidFill>
                  <a:srgbClr val="8A6D1E"/>
                </a:solidFill>
                <a:latin typeface="Calibri" pitchFamily="34" charset="0"/>
                <a:cs typeface="Amiri" pitchFamily="2" charset="-78"/>
              </a:rPr>
              <a:t> takes a direct object in the accusative.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formal opening for a statistic.</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يَبْلُغُ عَدَدَ المُتَحَدِّثِينَ بِالعَرَبِيَّةِ مَلَايِينُ كَثِيرَةٌ.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يَبْلُغُ عَدَدُ المُتَحَدِّثِينَ مَلَايِينُ كَثِيرَةٍ.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يَبْلُغُ عَدَدُ المُتَحَدِّثِينَ بِالعَرَبِيَّةِ مَلَايِينَ كَثِيرَةً.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عَدَدُ</a:t>
            </a:r>
            <a:pPr algn="l" indent="0" marL="0">
              <a:buNone/>
            </a:pPr>
            <a:r>
              <a:rPr lang="en-US" sz="1050" i="1" dirty="0">
                <a:solidFill>
                  <a:srgbClr val="8A6D1E"/>
                </a:solidFill>
                <a:latin typeface="Calibri" pitchFamily="34" charset="0"/>
                <a:cs typeface="Amiri" pitchFamily="2" charset="-78"/>
              </a:rPr>
              <a:t> is the nominative subject and </a:t>
            </a:r>
            <a:pPr algn="l" indent="0" marL="0">
              <a:buNone/>
            </a:pPr>
            <a:r>
              <a:rPr lang="ar-SA" altLang="en-US" sz="1350" dirty="0">
                <a:solidFill>
                  <a:srgbClr val="8A6D1E"/>
                </a:solidFill>
                <a:latin typeface="Amiri" pitchFamily="2" charset="-78"/>
                <a:ea typeface="Amiri" pitchFamily="2" charset="-78"/>
                <a:cs typeface="Amiri" pitchFamily="2" charset="-78"/>
              </a:rPr>
              <a:t>مَلَايِينَ</a:t>
            </a:r>
            <a:pPr algn="l" indent="0" marL="0">
              <a:buNone/>
            </a:pPr>
            <a:r>
              <a:rPr lang="en-US" sz="1050" i="1" dirty="0">
                <a:solidFill>
                  <a:srgbClr val="8A6D1E"/>
                </a:solidFill>
                <a:latin typeface="Calibri" pitchFamily="34" charset="0"/>
                <a:cs typeface="Amiri" pitchFamily="2" charset="-78"/>
              </a:rPr>
              <a:t> is the accusative complement.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تُمَثِّلُ العَرَبِيَّةُ بِجِسْرٍ بَيْنَ الثَّقَافَاتِ.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yumaththilu +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أَرْبَعُمِئَةِ مِلْيُونَ مُتَحَدِّثُونَ.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milyūn: singular or plural?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يُوَسِّعُ تَعَلُّمُ اللُّغَاتِ بِآفَاقِنَا.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yuwassiʿu: object in -a or -u?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تُمَثِّلُ العَرَبِيَّةُ بِجِسْرٍ بَيْنَ الثَّقَافَاتِ.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تُمَثِّلُ العَرَبِيَّةُ جِسْرًا بَيْنَ الثَّقَافَاتِ.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yumaththilu takes a direct object, not a preposition.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أَرْبَعُمِئَةِ مِلْيُونَ مُتَحَدِّثُونَ.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أَرْبَعُمِئَةِ مِلْيُونِ مُتَحَدِّثٍ.</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milyūn: a singular genitive noun.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يُوَسِّعُ تَعَلُّمُ اللُّغَاتِ بِآفَاقِنَا.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يُوَسِّعُ تَعَلُّمُ اللُّغَاتِ آفَاقَنَا.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yuwassiʿu takes a direct object (-a), no preposition.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Listening: why one student chose Arabic</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Arabic described at the start?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Among the most widespread languages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rarely used language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language of one country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international status is mentioned?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only official world language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language with no official status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of the official UN languages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speaker choose to study 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the only option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easiest language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opens doors in translation, diplomacy and trade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surprised the speaker?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 words reached other languages from Arabic</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has no written form</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Nobody studies Arabic</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Arabic represents?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barrier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bridge to new cultures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formality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Status → reasons → loanwords.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تُعَدُّ العَرَبِيَّةُ مِنْ أَكْثَرِ اللُّغَاتِ انْتِشَارًا فِي العَالَمِ، وَهِيَ إِحْدَى لُغَاتِ الأُمَمِ المُتَّحِدَةِ الرَّسْمِيَّةِ.</a:t>
            </a:r>
            <a:endParaRPr lang="ar-SA" sz="16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is among the most widespread languages in the world, and it is one of the official UN languages.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وَيَبْلُغُ عَدَدُ المُتَحَدِّثِينَ بِهَا مَلَايِينَ كَثِيرَةً فِي قَارَّاتٍ مُخْتَلِفَةٍ.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speakers number many millions on different continents.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اخْتَرْتُ دِرَاسَتَهَا لِأَنَّهَا تَفْتَحُ أَبْوَابًا فِي التَّرْجَمَةِ وَالدِّبْلُومَاسِيَّةِ وَالتِّجَارَةِ.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chose to study it because it opens doors in translation, diplomacy and trade.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وَقَدْ فَاجَأَنِي أَنَّ كَلِمَاتٍ كَثِيرَةً وَصَلَتْ مِنَ العَرَبِيَّةِ إِلَى لُغَاتٍ أُخْرَى، مِثْلَ الجَبْرِ وَالكِيمْيَاءِ وَالقَهْوَةِ وَالسُّكَّرِ وَالصِّفْرِ.</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surprised me that many words reached other languages from Arabic, like algebra, chemistry, coffee, sugar and zero.</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تُثْرِي اللُّغَةُ تَفْكِيرِي، وَتُوَسِّعُ آفَاقِي، وَتُمَثِّلُ جِسْرًا بَيْنِي وَبَيْنَ ثَقَافَاتٍ جَدِيدَةٍ.</a:t>
            </a:r>
            <a:endParaRPr lang="ar-SA" sz="19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language enriches my thinking, broadens my horizons, and represents a bridge between me and new cultures.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Arabic described at the start?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Among the most widespread languages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rarely used language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language of one country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تُعَدُّ العَرَبِيَّةُ مِنْ أَكْثَرِ اللُّغَاتِ انْتِشَارًا.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international status is mentioned?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only official world language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language with no official status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of the official UN languages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وَهِيَ إِحْدَى لُغَاتِ الأُمَمِ المُتَّحِدَةِ الرَّسْمِيَّةِ.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speaker choose to study it?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the only option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easiest language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opens doors in translation, diplomacy and trade</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لِأَنَّهَا تَفْتَحُ أَبْوَابًا فِي التَّرْجَمَةِ وَالدِّبْلُومَاسِيَّةِ وَالتِّجَارَةِ.</a:t>
            </a:r>
            <a:endParaRPr lang="ar-SA" sz="130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surprised the speaker?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Many words reached other languages from Arabic</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has no written form</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Nobody studies Arabic</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 كَلِمَاتٍ كَثِيرَةً وَصَلَتْ مِنَ العَرَبِيَّةِ إِلَى لُغَاتٍ أُخْرَى.</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Arabic represents?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barrier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bridge to new cultures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formality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وَتُمَثِّلُ جِسْرًا بَيْنِي وَبَيْنَ ثَقَافَاتٍ جَدِيدَةٍ.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Status → reasons → loanwords.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Speaking: argue for learning Arabic</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مَكَانَةُ العَرَبِيَّةِ فِي العَالَمِ؟ اِسْتَعْمِلْ يُعَدُّ مِنْ.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اِذْكُرْ كَلِمَتَيْنِ وَصَلَتَا مِنَ العَرَبِيَّةِ إِلَى لُغَاتٍ أُخْرَى.</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لِمَاذَا تَتَعَلَّمُ العَرَبِيَّةَ؟ اِسْتَعْمِلْ يُثْرِي أَوْ يُوَسِّعُ.</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D5FBF"/>
                </a:solidFill>
                <a:latin typeface="Amiri" pitchFamily="2" charset="-78"/>
                <a:ea typeface="Amiri" pitchFamily="2" charset="-78"/>
                <a:cs typeface="Amiri" pitchFamily="2" charset="-78"/>
              </a:rPr>
              <a:t>تُعَدُّ العَرَبِيَّةُ مِنْ ___ ، وَهِيَ إِحْدَى ___ .</a:t>
            </a:r>
            <a:endParaRPr lang="ar-SA" sz="15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وَصَلَتْ كَلِمَاتٌ مِثْلُ ___ وَ ___ إِلَى لُغَاتٍ أُخْرَى.</a:t>
            </a:r>
            <a:endParaRPr lang="ar-SA" sz="13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أَتَعَلَّمُ العَرَبِيَّةَ لِأَنَّهَا تُوَسِّعُ ___ وَ ___ .</a:t>
            </a:r>
            <a:endParaRPr lang="ar-SA" sz="14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مَكَانَةُ العَرَبِيَّةِ فِي العَالَمِ؟</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Arabic’s standing in the world?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تُعَدُّ مِنْ أَكْثَرِ اللُّغَاتِ انْتِشَارًا، وَهِيَ إِحْدَى لُغَاتِ الأُمَمِ المُتَّحِدَةِ.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It is among the most widespread languages, and it is one of the UN languages.</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about Arabic's status using the statistical verbs.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Arabic’s status with تُعَدُّ مِنْ / يَبْلُغُ + two loanwords.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loanwords and an accurate number phrase.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Add an accurate number phrase and يُمَثِّلُ + object.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Argue the professional value with direct objects and qualify one historical claim.</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task: two statistical verbs · two loanwords · an argument with يُثْرِي / يُوَسِّعُ · a qualification.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تُمَثِّلُ العَرَبِيَّةُ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Arabic represents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أَتَعَلَّمُ العَرَبِيَّةَ لِأَنَّهَا تُثْرِي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learn Arabic because it enriches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تَفْتَحُ أَبْوَابًا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opens doors in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الطَّرِيقُ وَاضِحًا تَمَامًا، وَلٰكِنَّ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route is not entirely clear, but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تُعَدُّ العَرَبِيَّةُ مِنْ أَكْثَرِ اللُّغَاتِ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Arabic is among the most … languages.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إِحْدَى لُغَاتِ الأُمَمِ المُتَّحِدَةِ.</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one of the UN languages.</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يَبْلُغُ عَدَدُ المُتَحَدِّثِينَ بِهَا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Its speakers number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وَصَلَتْ كَلِمَاتٌ مِثْلُ ______ إِلَى لُغَاتٍ أُخْرَى.</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Words like … reached other languages.</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تُعَدُّ مِنْ  ·  إِحْدَى  ·  يَبْلُغُ  ·  مَلَايِينَ  ·  مِلْيُونِ مُتَحَدِّثٍ  ·  تُمَثِّلُ  ·  تُثْرِي  ·  تُوَسِّعُ آفَاقِي  ·  تَفْتَحُ أَبْوَابًا  ·  الجَبْرُ · السُّكَّرُ · الصِّفْرُ  ·  لُغَةُ القُرْآنِ الكَرِيمِ  ·  التَّرْجَمَةُ</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on Arabic's global reach and why it is worth learning. Use two statistical verbs, name at least two words that travelled into other languages, and close with an argument using </a:t>
            </a:r>
            <a:pPr algn="l" indent="0" marL="0">
              <a:buNone/>
            </a:pPr>
            <a:r>
              <a:rPr lang="ar-SA" altLang="en-US" sz="1750" b="1" dirty="0">
                <a:solidFill>
                  <a:srgbClr val="1F2A37"/>
                </a:solidFill>
                <a:latin typeface="Amiri" pitchFamily="2" charset="-78"/>
                <a:ea typeface="Amiri" pitchFamily="2" charset="-78"/>
                <a:cs typeface="Amiri" pitchFamily="2" charset="-78"/>
              </a:rPr>
              <a:t>يُثْرِي</a:t>
            </a:r>
            <a:pPr algn="l" indent="0" marL="0">
              <a:buNone/>
            </a:pPr>
            <a:r>
              <a:rPr lang="en-US" sz="1350" b="1" dirty="0">
                <a:solidFill>
                  <a:srgbClr val="1F2A37"/>
                </a:solidFill>
                <a:latin typeface="Calibri" pitchFamily="34" charset="0"/>
                <a:cs typeface="Amiri" pitchFamily="2" charset="-78"/>
              </a:rPr>
              <a:t> or </a:t>
            </a:r>
            <a:pPr algn="l" indent="0" marL="0">
              <a:buNone/>
            </a:pPr>
            <a:r>
              <a:rPr lang="ar-SA" altLang="en-US" sz="1750" b="1" dirty="0">
                <a:solidFill>
                  <a:srgbClr val="1F2A37"/>
                </a:solidFill>
                <a:latin typeface="Amiri" pitchFamily="2" charset="-78"/>
                <a:ea typeface="Amiri" pitchFamily="2" charset="-78"/>
                <a:cs typeface="Amiri" pitchFamily="2" charset="-78"/>
              </a:rPr>
              <a:t>يُوَسِّعُ</a:t>
            </a:r>
            <a:pPr algn="l" indent="0" marL="0">
              <a:buNone/>
            </a:pPr>
            <a:r>
              <a:rPr lang="en-US" sz="1350" b="1" dirty="0">
                <a:solidFill>
                  <a:srgbClr val="1F2A37"/>
                </a:solidFill>
                <a:latin typeface="Calibri" pitchFamily="34" charset="0"/>
                <a:cs typeface="Amiri" pitchFamily="2" charset="-78"/>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with </a:t>
            </a:r>
            <a:pPr algn="l" indent="0" marL="0">
              <a:buNone/>
            </a:pPr>
            <a:r>
              <a:rPr lang="ar-SA" altLang="en-US" sz="1550" dirty="0">
                <a:solidFill>
                  <a:srgbClr val="1F2A37"/>
                </a:solidFill>
                <a:latin typeface="Amiri" pitchFamily="2" charset="-78"/>
                <a:ea typeface="Amiri" pitchFamily="2" charset="-78"/>
                <a:cs typeface="Amiri" pitchFamily="2" charset="-78"/>
              </a:rPr>
              <a:t>يُعَدُّ مِنْ</a:t>
            </a:r>
            <a:pPr algn="l" indent="0" marL="0">
              <a:buNone/>
            </a:pPr>
            <a:r>
              <a:rPr lang="en-US" sz="1200" dirty="0">
                <a:solidFill>
                  <a:srgbClr val="1F2A37"/>
                </a:solidFill>
                <a:latin typeface="Calibri" pitchFamily="34" charset="0"/>
                <a:cs typeface="Amiri" pitchFamily="2" charset="-78"/>
              </a:rPr>
              <a:t> and a genitive plural.</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accurate number phrase with </a:t>
            </a:r>
            <a:pPr algn="l" indent="0" marL="0">
              <a:buNone/>
            </a:pPr>
            <a:r>
              <a:rPr lang="ar-SA" altLang="en-US" sz="1550" dirty="0">
                <a:solidFill>
                  <a:srgbClr val="1F2A37"/>
                </a:solidFill>
                <a:latin typeface="Amiri" pitchFamily="2" charset="-78"/>
                <a:ea typeface="Amiri" pitchFamily="2" charset="-78"/>
                <a:cs typeface="Amiri" pitchFamily="2" charset="-78"/>
              </a:rPr>
              <a:t>مِلْيُون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words of Arabic origin, named accurately.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argument verb with a direct object and no preposition.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مِنْ أَقْدَمِ اللُّغَاتِ الحَيَّةِ وَأَوْسَعِهَا انْتِشَارًا</a:t>
            </a:r>
            <a:endParaRPr lang="ar-SA" sz="17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among the oldest and most widespread living languages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عَبْرَ التِّجَارَةِ وَالتَّرْجَمَةِ وَالعُلُومِ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through trade, translation and the sciences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انْتَقَلَ مَعَ نِظَامِ الأَرْقَامِ</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moved with the number system</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 التَّأْثِيرَ اللُّغَوِيَّ ثَابِتٌ</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the linguistic influence is certain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قِيمَةً مِهْنِيَّةً فِي التَّرْجَمَةِ وَالدِّبْلُومَاسِيَّةِ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professional value in translation and diplomacy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تُعَدُّ العَرَبِيَّةُ مِنْ أَكْثَرِ اللُّغَاتِ انْتِشَارًا فِي العَالَمِ، وَهِيَ إِحْدَى لُغَاتِ الأُمَمِ المُتَّحِدَةِ الرَّسْمِيَّةِ. وَيَبْلُغُ عَدَدُ المُتَحَدِّثِينَ بِهَا مَلَايِينَ كَثِيرَةً فِي قَارَّاتٍ مُخْتَلِفَةٍ. وَقَدِ انْتَقَلَتْ كَلِمَاتٌ عَرَبِيَّةٌ إِلَى لُغَاتٍ أُخْرَى عَبْرَ التِّجَارَةِ وَالتَّرْجَمَةِ، مِثْلَ الجَبْرِ وَالكِيمْيَاءِ وَالقَهْوَةِ وَالسُّكَّرِ. وَلَيْسَ الطَّرِيقُ وَاضِحًا تَمَامًا فِي كُلِّ حَالَةٍ، وَلٰكِنَّ التَّأْثِيرَ ثَابِتٌ. أَتَعَلَّمُ العَرَبِيَّةَ لِأَنَّهَا تُثْرِي تَفْكِيرِي وَتُوَسِّعُ آفَاقِي، وَتُمَثِّلُ قِيمَةً مِهْنِيَّةً فِي التَّرْجَمَةِ وَالدِّبْلُومَاسِيَّةِ.</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Arabic is among the most widespread languages in the world, and it is one of the official UN languages. Its speakers number many millions on different continents. Arabic words reached other languages through trade and translation, such as algebra, chemistry, coffee and sugar. The route is not entirely clear in every case, but the influence is certain. I learn Arabic because it enriches my thinking and broadens my horizons, and it has professional value in translation and diplomacy.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تُعَدُّ مِنْ + genitive plural</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figure with يَبْلُغُ</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loanwords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تُثْرِي / تُوَسِّعُ + direct object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تُعَدُّ مِنْ</a:t>
            </a:r>
            <a:pPr algn="l" indent="0" marL="0">
              <a:buNone/>
            </a:pPr>
            <a:r>
              <a:rPr lang="en-US" sz="1300" dirty="0">
                <a:solidFill>
                  <a:srgbClr val="1F2A37"/>
                </a:solidFill>
                <a:latin typeface="Calibri" pitchFamily="34" charset="0"/>
                <a:cs typeface="Amiri" pitchFamily="2" charset="-78"/>
              </a:rPr>
              <a:t> with a genitive plural.</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two loanwords accurately.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مِلْيُونِ</a:t>
            </a:r>
            <a:pPr algn="l" indent="0" marL="0">
              <a:buNone/>
            </a:pPr>
            <a:r>
              <a:rPr lang="en-US" sz="1300" dirty="0">
                <a:solidFill>
                  <a:srgbClr val="1F2A37"/>
                </a:solidFill>
                <a:latin typeface="Calibri" pitchFamily="34" charset="0"/>
                <a:cs typeface="Amiri" pitchFamily="2" charset="-78"/>
              </a:rPr>
              <a:t> my noun is singular genitive.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preposition after </a:t>
            </a:r>
            <a:pPr algn="l" indent="0" marL="0">
              <a:buNone/>
            </a:pPr>
            <a:r>
              <a:rPr lang="ar-SA" altLang="en-US" sz="1700" dirty="0">
                <a:solidFill>
                  <a:srgbClr val="1F2A37"/>
                </a:solidFill>
                <a:latin typeface="Amiri" pitchFamily="2" charset="-78"/>
                <a:ea typeface="Amiri" pitchFamily="2" charset="-78"/>
                <a:cs typeface="Amiri" pitchFamily="2" charset="-78"/>
              </a:rPr>
              <a:t>يُمَثِّلُ / يُثْرِي / يُوَسِّعُ</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qualified a historical claim.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تُعَدُّ العَرَبِيَّةُ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أَقْدَمِ اللُّغَاتِ الحَيَّةِ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gave English “algebra”?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أَلْقَى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الجَبْرُ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الجَوَابُ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تُثْرِي اللُّغَةُ</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تَفْكِيرَنَا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تَفْكِيرُنَا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بِتَفْكِيرِنَا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تُعَدُّ العَرَبِيَّةُ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أَقْدَمِ اللُّغَاتِ الحَيَّةِ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يُعَدُّ</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with a genitive plural.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gave English “algebra”?</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أَلْقَى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الجَبْرُ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الجَوَابُ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الجَبْر</a:t>
            </a:r>
            <a:pPr algn="l" indent="0" marL="0">
              <a:buNone/>
            </a:pPr>
            <a:r>
              <a:rPr lang="en-US" sz="1050" i="1" dirty="0">
                <a:solidFill>
                  <a:srgbClr val="8A6D1E"/>
                </a:solidFill>
                <a:latin typeface="Calibri" pitchFamily="34" charset="0"/>
                <a:cs typeface="Amiri" pitchFamily="2" charset="-78"/>
              </a:rPr>
              <a:t> is the mathematical term; </a:t>
            </a:r>
            <a:pPr algn="l" indent="0" marL="0">
              <a:buNone/>
            </a:pPr>
            <a:r>
              <a:rPr lang="ar-SA" altLang="en-US" sz="1350" dirty="0">
                <a:solidFill>
                  <a:srgbClr val="8A6D1E"/>
                </a:solidFill>
                <a:latin typeface="Amiri" pitchFamily="2" charset="-78"/>
                <a:ea typeface="Amiri" pitchFamily="2" charset="-78"/>
                <a:cs typeface="Amiri" pitchFamily="2" charset="-78"/>
              </a:rPr>
              <a:t>أَلْقَى</a:t>
            </a:r>
            <a:pPr algn="l" indent="0" marL="0">
              <a:buNone/>
            </a:pPr>
            <a:r>
              <a:rPr lang="en-US" sz="1050" i="1" dirty="0">
                <a:solidFill>
                  <a:srgbClr val="8A6D1E"/>
                </a:solidFill>
                <a:latin typeface="Calibri" pitchFamily="34" charset="0"/>
                <a:cs typeface="Amiri" pitchFamily="2" charset="-78"/>
              </a:rPr>
              <a:t> means “he threw”.</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تُثْرِي اللُّغَةُ</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تَفْكِيرَنَا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تَفْكِيرُنَا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بِتَفْكِيرِنَا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يُثْرِي</a:t>
            </a:r>
            <a:pPr algn="l" indent="0" marL="0">
              <a:buNone/>
            </a:pPr>
            <a:r>
              <a:rPr lang="en-US" sz="1050" i="1" dirty="0">
                <a:solidFill>
                  <a:srgbClr val="8A6D1E"/>
                </a:solidFill>
                <a:latin typeface="Calibri" pitchFamily="34" charset="0"/>
                <a:cs typeface="Amiri" pitchFamily="2" charset="-78"/>
              </a:rPr>
              <a:t> takes a direct object in the accusative.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language that travelled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تُعَدُّ العَرَبِيَّةُ مِنْ أَقْدَمِ اللُّغَاتِ الحَيَّةِ وَأَوْسَعِهَا انْتِشَارًا، وَتُسْتَعْمَلُ لُغَةً رَسْمِيَّةً فِي دُوَلٍ كَثِيرَةٍ. وَقَدِ انْتَقَلَتْ كَلِمَاتٌ عَرَبِيَّةٌ إِلَى لُغَاتٍ أُخْرَى عَبْرَ التِّجَارَةِ وَالتَّرْجَمَةِ وَالعُلُومِ، فَوَصَلَتْ كَلِمَاتٌ مِثْلُ الجَبْرِ وَالكِيمْيَاءِ إِلَى الأُورُوبِّيَّةِ عَنْ طَرِيقِ التَّرْجَمَاتِ العِلْمِيَّةِ، وَوَصَلَتِ القَهْوَةُ وَالسُّكَّرُ وَالقُطْنُ مَعَ التِّجَارَةِ. وَيُشَارُ إِلَى أَنَّ الصِّفْرَ انْتَقَلَ مَعَ نِظَامِ الأَرْقَامِ الَّذِي غَيَّرَ الحِسَابَ. عَلَاوَةً عَلَى ذٰلِكَ تُمَثِّلُ العَرَبِيَّةُ اليَوْمَ قِيمَةً مِهْنِيَّةً فِي التَّرْجَمَةِ وَالدِّبْلُومَاسِيَّةِ. وَلَيْسَ الطَّرِيقُ الَّذِي سَلَكَتْهُ كُلُّ كَلِمَةٍ وَاضِحًا تَمَامًا، وَلٰكِنَّ التَّأْثِيرَ اللُّغَوِيَّ ثَابِتٌ.</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أَقْدَمِ اللُّغَاتِ الحَيَّةِ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oldest living languages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أَوْسَعِهَا انْتِشَارًا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most widespread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عَبْرَ التِّجَارَةِ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through trade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التَّرْجَمَاتِ العِلْمِيَّةِ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scientific translations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القُطْنُ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cotton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نِظَامِ الأَرْقَامِ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number system</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غَيَّرَ الحِسَابَ</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changed calculation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قِيمَةً مِهْنِيَّةً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professional value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سَلَكَتْهُ</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followed (a route)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ثَابِتٌ</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established, certain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Arabic described?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language no longer spoken</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Among the oldest living and most widespread languages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language of one region only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Through what did Arabic words move into other languages?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warfare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poetry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Trade, translation and the sciences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words are linked to scientific translation?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الجَبْر</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الكِيمْيَاء</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القَهْوَة</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السُّكَّر</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القُطْن</a:t>
            </a:r>
            <a:pPr algn="l" indent="0" marL="0">
              <a:buNone/>
            </a:pPr>
            <a:r>
              <a:rPr lang="en-US" sz="1250" dirty="0">
                <a:solidFill>
                  <a:srgbClr val="1F2A37"/>
                </a:solidFill>
                <a:latin typeface="Calibri" pitchFamily="34" charset="0"/>
                <a:cs typeface="Amiri" pitchFamily="2" charset="-78"/>
              </a:rPr>
              <a:t> only</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a:t>
            </a:r>
            <a:pPr algn="l" indent="0" marL="0">
              <a:buNone/>
            </a:pPr>
            <a:r>
              <a:rPr lang="ar-SA" altLang="en-US" sz="1650" b="1" dirty="0">
                <a:solidFill>
                  <a:srgbClr val="1B3B6F"/>
                </a:solidFill>
                <a:latin typeface="Amiri" pitchFamily="2" charset="-78"/>
                <a:ea typeface="Amiri" pitchFamily="2" charset="-78"/>
                <a:cs typeface="Amiri" pitchFamily="2" charset="-78"/>
              </a:rPr>
              <a:t>صِفْر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never adopted</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moved with the number system that changed calculation</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came from Latin</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text qualify its claims?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exact route of every word is not entirely clear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route is fully documented</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influence can be shown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Arabic described?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language no longer spoken</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Among the oldest living and most widespread languages</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language of one region only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تُعَدُّ العَرَبِيَّةُ مِنْ أَقْدَمِ اللُّغَاتِ الحَيَّةِ وَأَوْسَعِهَا انْتِشَارًا.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Through what did Arabic words move into other languages?</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warfare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poetry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Trade, translation and the sciences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عَبْرَ التِّجَارَةِ وَالتَّرْجَمَةِ وَالعُلُومِ.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words are linked to scientific translation?</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الجَبْر</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الكِيمْيَاء</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القَهْوَة</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السُّكَّر</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القُطْن</a:t>
            </a:r>
            <a:pPr algn="l" indent="0" marL="0">
              <a:buNone/>
            </a:pPr>
            <a:r>
              <a:rPr lang="en-US" sz="1250" dirty="0">
                <a:solidFill>
                  <a:srgbClr val="9AA1AB"/>
                </a:solidFill>
                <a:latin typeface="Calibri" pitchFamily="34" charset="0"/>
                <a:cs typeface="Amiri" pitchFamily="2" charset="-78"/>
              </a:rPr>
              <a:t> only</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ea typeface="Amiri" pitchFamily="2" charset="-78"/>
                <a:cs typeface="Amiri" pitchFamily="2" charset="-78"/>
              </a:rPr>
              <a:t>فَوَصَلَتْ كَلِمَاتٌ مِثْلُ الجَبْرِ وَالكِيمْيَاءِ … عَنْ طَرِيقِ التَّرْجَمَاتِ العِلْمِيَّةِ.</a:t>
            </a:r>
            <a:endParaRPr lang="ar-SA" sz="11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a:t>
            </a:r>
            <a:pPr algn="l" indent="0" marL="0">
              <a:buNone/>
            </a:pPr>
            <a:r>
              <a:rPr lang="ar-SA" altLang="en-US" sz="1650" b="1" dirty="0">
                <a:solidFill>
                  <a:srgbClr val="1B3B6F"/>
                </a:solidFill>
                <a:latin typeface="Amiri" pitchFamily="2" charset="-78"/>
                <a:ea typeface="Amiri" pitchFamily="2" charset="-78"/>
                <a:cs typeface="Amiri" pitchFamily="2" charset="-78"/>
              </a:rPr>
              <a:t>صِفْر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never adopted</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moved with the number system that changed calculation</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came from Latin</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يُشَارُ إِلَى أَنَّ الصِّفْرَ انْتَقَلَ مَعَ نِظَامِ الأَرْقَامِ.</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text qualify its claims?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exact route of every word is not entirely clear</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route is fully documented</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influence can be shown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950" dirty="0">
                <a:solidFill>
                  <a:srgbClr val="8A6D1E"/>
                </a:solidFill>
                <a:latin typeface="Amiri" pitchFamily="2" charset="-78"/>
                <a:ea typeface="Amiri" pitchFamily="2" charset="-78"/>
                <a:cs typeface="Amiri" pitchFamily="2" charset="-78"/>
              </a:rPr>
              <a:t>وَلَيْسَ الطَّرِيقُ الَّذِي سَلَكَتْهُ كُلُّ كَلِمَةٍ وَاضِحًا تَمَامًا، وَلٰكِنَّ التَّأْثِيرَ اللُّغَوِيَّ ثَابِتٌ.</a:t>
            </a:r>
            <a:endParaRPr lang="ar-SA" sz="9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Global Arabic Mission — Statistics, Origins and Argument</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تُعَدُّ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أَكْثَرِ اللُّغَاتِ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which phrase is accurate?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أَرْبَعُمِئَةِ مِلْيُونِ مُتَحَدِّثٍ</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أَرْبَعُمِئَةِ مِلْيُونَ مُتَحَدِّثُونَ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أَرْبَعُمِئَةُ مِلْيُونٍ مُتَحَدِّثِينَ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Origin: which word gave “algebra”?</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أَلْقَى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الجَبَلُ</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الجَبْرُ</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Origin: which word gave “sugar”?</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صِفْرٌ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سُكَّرٌ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ea typeface="Amiri" pitchFamily="2" charset="-78"/>
                <a:cs typeface="Amiri" pitchFamily="2" charset="-78"/>
              </a:rPr>
              <a:t>يُوَسِّعُ تَعَلُّمُ اللُّغَاتِ</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آفَاقَنَا</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آفَاقُنَا</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لِآفَاقِنَا</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“loanwords”?</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لُغَةٌ رَسْمِيَّةٌ</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كَلِمَاتٌ مُسْتَعَارَةٌ</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أَهَمِّيَّةٌ اسْتِرَاتِيجِيَّةٌ</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تُعَدُّ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أَكْثَرِ اللُّغَاتِ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يُعَدُّ</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which phrase is accurate?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أَرْبَعُمِئَةِ مِلْيُونِ مُتَحَدِّثٍ</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أَرْبَعُمِئَةِ مِلْيُونَ مُتَحَدِّثُونَ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أَرْبَعُمِئَةُ مِلْيُونٍ مُتَحَدِّثِينَ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مِلْيُون</a:t>
            </a:r>
            <a:pPr algn="l" indent="0" marL="0">
              <a:buNone/>
            </a:pPr>
            <a:r>
              <a:rPr lang="en-US" sz="1050" i="1" dirty="0">
                <a:solidFill>
                  <a:srgbClr val="8A6D1E"/>
                </a:solidFill>
                <a:latin typeface="Calibri" pitchFamily="34" charset="0"/>
                <a:cs typeface="Amiri" pitchFamily="2" charset="-78"/>
              </a:rPr>
              <a:t> takes a singular genitive noun.</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Origin: which word gave “algebra”?</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أَلْقَى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الجَبَلُ</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الجَبْرُ</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الجَبْر</a:t>
            </a:r>
            <a:pPr algn="l" indent="0" marL="0">
              <a:buNone/>
            </a:pPr>
            <a:r>
              <a:rPr lang="en-US" sz="1050" i="1" dirty="0">
                <a:solidFill>
                  <a:srgbClr val="8A6D1E"/>
                </a:solidFill>
                <a:latin typeface="Calibri" pitchFamily="34" charset="0"/>
                <a:cs typeface="Amiri" pitchFamily="2" charset="-78"/>
              </a:rPr>
              <a:t> is the mathematical term.</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Origin: which word gave “sugar”?</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صِفْرٌ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قُطْنٌ</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سُكَّرٌ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سُكَّرٌ</a:t>
            </a:r>
            <a:pPr algn="l" indent="0" marL="0">
              <a:buNone/>
            </a:pPr>
            <a:r>
              <a:rPr lang="en-US" sz="1050" i="1" dirty="0">
                <a:solidFill>
                  <a:srgbClr val="8A6D1E"/>
                </a:solidFill>
                <a:latin typeface="Calibri" pitchFamily="34" charset="0"/>
                <a:cs typeface="Amiri" pitchFamily="2" charset="-78"/>
              </a:rPr>
              <a:t> travelled with the trade in it.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ea typeface="Amiri" pitchFamily="2" charset="-78"/>
                <a:cs typeface="Amiri" pitchFamily="2" charset="-78"/>
              </a:rPr>
              <a:t>يُوَسِّعُ تَعَلُّمُ اللُّغَاتِ</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آفَاقَنَا</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آفَاقُنَا</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لِآفَاقِنَا</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يُوَسِّعُ</a:t>
            </a:r>
            <a:pPr algn="l" indent="0" marL="0">
              <a:buNone/>
            </a:pPr>
            <a:r>
              <a:rPr lang="en-US" sz="1050" i="1" dirty="0">
                <a:solidFill>
                  <a:srgbClr val="8A6D1E"/>
                </a:solidFill>
                <a:latin typeface="Calibri" pitchFamily="34" charset="0"/>
                <a:cs typeface="Amiri" pitchFamily="2" charset="-78"/>
              </a:rPr>
              <a:t> takes a direct accusative object.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“loanwords”?</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لُغَةٌ رَسْمِيَّةٌ</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كَلِمَاتٌ مُسْتَعَارَةٌ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أَهَمِّيَّةٌ اسْتِرَاتِيجِيَّةٌ</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كَلِمَاتٌ مُسْتَعَارَةٌ</a:t>
            </a:r>
            <a:pPr algn="l" indent="0" marL="0">
              <a:buNone/>
            </a:pPr>
            <a:r>
              <a:rPr lang="en-US" sz="1050" i="1" dirty="0">
                <a:solidFill>
                  <a:srgbClr val="8A6D1E"/>
                </a:solidFill>
                <a:latin typeface="Calibri" pitchFamily="34" charset="0"/>
                <a:cs typeface="Amiri" pitchFamily="2" charset="-78"/>
              </a:rPr>
              <a:t> are loanwords.</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D6-L07 · D6 Grammar Consolidation — All Tenses Together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مُرَاجَعَةٌ شَامِلَةٌ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comprehensive review</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الاِسْمُ المَوْصُولُ</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relative pronoun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algn="l" indent="0" marL="0">
              <a:buNone/>
            </a:pPr>
            <a:r>
              <a:rPr lang="ar-SA" altLang="en-US" sz="2600" b="1" dirty="0">
                <a:solidFill>
                  <a:srgbClr val="1B3B6F"/>
                </a:solidFill>
                <a:latin typeface="Amiri" pitchFamily="2" charset="-78"/>
                <a:ea typeface="Amiri" pitchFamily="2" charset="-78"/>
                <a:cs typeface="Amiri" pitchFamily="2" charset="-78"/>
              </a:rPr>
              <a:t>لَنْ</a:t>
            </a:r>
            <a:pPr algn="l" indent="0" marL="0">
              <a:buNone/>
            </a:pPr>
            <a:r>
              <a:rPr lang="en-US" sz="2000" b="1" dirty="0">
                <a:solidFill>
                  <a:srgbClr val="1B3B6F"/>
                </a:solidFill>
                <a:latin typeface="Calibri" pitchFamily="34" charset="0"/>
                <a:cs typeface="Amiri" pitchFamily="2" charset="-78"/>
              </a:rPr>
              <a:t> + verb</a:t>
            </a:r>
            <a:endParaRPr lang="en-US"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will not</a:t>
            </a:r>
            <a:pPr indent="0" marL="0">
              <a:buNone/>
            </a:pPr>
            <a:r>
              <a:rPr lang="ar-SA" sz="1000" i="1" dirty="0">
                <a:solidFill>
                  <a:srgbClr val="5A6472"/>
                </a:solidFill>
                <a:latin typeface="Amiri" pitchFamily="2" charset="-78"/>
                <a:ea typeface="Amiri" pitchFamily="2" charset="-78"/>
                <a:cs typeface="Amiri" pitchFamily="2" charset="-78"/>
              </a:rPr>
              <a:t>  لَنْ أَنْسَى</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شَرِيطَةَ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provided that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إِتْقَانٌ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mastery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sentence about yourself in the past, one in the present and one in the future.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كُنْتُ … · أَنَا الآنَ … · سَـ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words on Arabic’s reach; write five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paragraph with a number phrase and </a:t>
            </a:r>
            <a:pPr algn="l" indent="0" marL="0">
              <a:buNone/>
            </a:pPr>
            <a:r>
              <a:rPr lang="ar-SA" altLang="en-US" sz="1550" dirty="0">
                <a:solidFill>
                  <a:srgbClr val="1F2A37"/>
                </a:solidFill>
                <a:latin typeface="Amiri" pitchFamily="2" charset="-78"/>
                <a:ea typeface="Amiri" pitchFamily="2" charset="-78"/>
                <a:cs typeface="Amiri" pitchFamily="2" charset="-78"/>
              </a:rPr>
              <a:t>يُمَثِّلُ</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argument for learning Arabic.</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D6-L07 · D6 Grammar Consolidation — All Tenses Together</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القَوَاعِدِ — جَمِيعُ الأَزْمِنَةِ مَعًا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تُعَدُّ مِنْ</a:t>
            </a:r>
            <a:pPr algn="l" indent="0" marL="0">
              <a:buNone/>
            </a:pPr>
            <a:r>
              <a:rPr lang="en-US" sz="1300" b="1" dirty="0">
                <a:solidFill>
                  <a:srgbClr val="FFFFFF"/>
                </a:solidFill>
                <a:latin typeface="Calibri" pitchFamily="34" charset="0"/>
                <a:cs typeface="Amiri" pitchFamily="2" charset="-78"/>
              </a:rPr>
              <a:t> + genitive plural · </a:t>
            </a:r>
            <a:pPr algn="l" indent="0" marL="0">
              <a:buNone/>
            </a:pPr>
            <a:r>
              <a:rPr lang="ar-SA" altLang="en-US" sz="1700" b="1" dirty="0">
                <a:solidFill>
                  <a:srgbClr val="FFFFFF"/>
                </a:solidFill>
                <a:latin typeface="Amiri" pitchFamily="2" charset="-78"/>
                <a:ea typeface="Amiri" pitchFamily="2" charset="-78"/>
                <a:cs typeface="Amiri" pitchFamily="2" charset="-78"/>
              </a:rPr>
              <a:t>مِلْيُونِ</a:t>
            </a:r>
            <a:pPr algn="l" indent="0" marL="0">
              <a:buNone/>
            </a:pPr>
            <a:r>
              <a:rPr lang="en-US" sz="1300" b="1" dirty="0">
                <a:solidFill>
                  <a:srgbClr val="FFFFFF"/>
                </a:solidFill>
                <a:latin typeface="Calibri" pitchFamily="34" charset="0"/>
                <a:cs typeface="Amiri" pitchFamily="2" charset="-78"/>
              </a:rPr>
              <a:t> + singular genitive · </a:t>
            </a:r>
            <a:pPr algn="l" indent="0" marL="0">
              <a:buNone/>
            </a:pPr>
            <a:r>
              <a:rPr lang="ar-SA" altLang="en-US" sz="1700" b="1" dirty="0">
                <a:solidFill>
                  <a:srgbClr val="FFFFFF"/>
                </a:solidFill>
                <a:latin typeface="Amiri" pitchFamily="2" charset="-78"/>
                <a:ea typeface="Amiri" pitchFamily="2" charset="-78"/>
                <a:cs typeface="Amiri" pitchFamily="2" charset="-78"/>
              </a:rPr>
              <a:t>يُمَثِّلُ / يُثْرِي / يُوَسِّعُ</a:t>
            </a:r>
            <a:pPr algn="l" indent="0" marL="0">
              <a:buNone/>
            </a:pPr>
            <a:r>
              <a:rPr lang="en-US" sz="1300" b="1" dirty="0">
                <a:solidFill>
                  <a:srgbClr val="FFFFFF"/>
                </a:solidFill>
                <a:latin typeface="Calibri" pitchFamily="34" charset="0"/>
                <a:cs typeface="Amiri" pitchFamily="2" charset="-78"/>
              </a:rPr>
              <a:t> + direct object — and qualify what you can’t prove.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D6-L06 · Arabic Around the World — The Language’s Global Reach</dc:title>
  <dc:subject>PptxGenJS Presentation</dc:subject>
  <dc:creator>Al Madina Online School · Arabic Department</dc:creator>
  <cp:lastModifiedBy>Al Madina Online School · Arabic Department</cp:lastModifiedBy>
  <cp:revision>1</cp:revision>
  <dcterms:created xsi:type="dcterms:W3CDTF">2026-10-11T06:41:09Z</dcterms:created>
  <dcterms:modified xsi:type="dcterms:W3CDTF">2026-10-11T06:41:09Z</dcterms:modified>
</cp:coreProperties>
</file>