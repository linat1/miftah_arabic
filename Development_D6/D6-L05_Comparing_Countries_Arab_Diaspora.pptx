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D6-L05. The website lesson “Comparing Countries — Global Connections and the Arab Diaspora”: vocabulary, grammar rules and quiz, patterns, common mistakes, sorter, listening, reading, speaking prompts and model, writing task and model, differentiation, final check and the lesson mission. Picture match: website visual game “Comparing Countries — Global Connections and the Arab Diaspora”.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four diaspora verbs with their prepositions in six sentences about yourself / your family. Develop: one comparative of each type (أَصْغَرُ مِنْ · أَكْثَرُ هُدُوءًا مِنْ) and a contrast with بَيْنَمَا. Stretch: the website 80–90-word comparison closing with a balanced statement on dual identity.
• This topic IS many of our students’ lives (second generation in the UK, families from Pakistan, Somalia, Morocco, Egypt, Iraq …). Invite real examples, but never require anyone to share family history; a fictional family is always acceptable.
• Sensitivity: مُهَاجِرٌ (migrant) and لَاجِئٌ (refugee) are NOT synonyms (website). Speak about refugees with care — some students or families may have this experience.
• TEACHER-WRITTEN ITEMS: English added to the patterns and speaking model; the website flag-based visual game repeats D6-L01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D6-L04. Questions 4–5 retrieve the D6 verb + preposition habit (D6-L04 · D6-L02).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verbs tell a diaspora story: belong · adapt · keep ·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مہاجر، ہجرت، وطن are shared (and الهِجْرَةُ النَّبَوِيَّةُ is the first Muslim migration). CAREFUL: Urdu غربت = poverty; Arabic غُرْبَةٌ = being a stranger far from home (the poor are فُقَرَاءُ).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communities (website vocabulary (1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communities (website vocabulary (2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Belonging and identity (website vocabulary (1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Belonging and identity (website vocabulary (2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and comparison (website vocabulary (1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Verbs and comparison (website vocabulary (2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“The four diaspora verbs” (each preposition is fixed and takes the genitive; يُوَازِنُ بَيْنَ is followed by two things joined with وَ). Website teaching point: “Four verbs, four prepositions … the whole arc of diaspora experience: where you belong, how you adjust, what you keep and how you hold both sides at once.”
Website mistakes: أَنْتَمِي مَعَ ✗ · تَحْتَفِظُ الأُسَرُ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“The synthetic comparative” (أَفْعَل + مِنْ + genitive; invariable, no article), “The analytical comparative” (أَكْثَرُ / أَقَلُّ + accusative noun + مِنْ, when there is no أَفْعَل form) and “Contrast and balance”. Website teaching point: “Do not double the comparative.”
Useful pairs: أَكْبَرُ / أَصْغَرُ · أَحَرُّ / أَبْرَدُ · أَكْثَرُ تَنَوُّعًا · أَقَلُّ ازْدِحَامًا.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“Four verbs each with a fixed preposition, and two comparison systems that must not be mixed. Choose one comparative form and keep the noun after مِنْ genitive.”
• The four diaspora verbs: Each preposition is fixed and takes the genitive. يُوَازِنُ بَيْنَ is followed by two things joined with وَ.
• The synthetic comparative: The أَفْعَل form is invariable and never takes the article in this structure.
• The analytical comparative: Use this when there is no أَفْعَل form available. The noun between is accusative.
• Contrast and balance: بَيْنَمَا joins two contrasting clauses; the balanced pair holds two sides of one idea together.
Website common error: Combining both comparative systems — أَكْثَرُ أَكْبَرُ مِنْ. Choose either the أَفْعَل form or أَكْثَرُ with an accusative noun, never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 I have an aFʿAL word (akbar, aṣghar)? If not, aktharu + noun in -an.” Offer students their own family’s cities (Lahore, Mogadishu, Casablanca, Cairo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note each diaspora verb with its preposition.
Listen 1: just listen. Listen 2: note answers. Then chat the letters.
Support: after the second listening, show the read-along slide (Arabic + English, line by line) for Core students.
SCRIPT (read aloud):
أَنَا مِنَ الجِيلِ الثَّانِي فِي الجَالِيَةِ العَرَبِيَّةِ هُنَا. وُلِدْتُ فِي هٰذِهِ المَدِينَةِ، وَلٰكِنَّ أُسْرَتِي جَاءَتْ مِنَ المَغْرِبِ قَبْلَ ثَلَاثِينَ سَنَةً. أَنْتَمِي إِلَى ثَقَافَتَيْنِ، وَأُوَازِنُ بَيْنَهُمَا كُلَّ يَوْمٍ. فِي البَيْتِ نَتَحَدَّثُ العَرَبِيَّةَ، بَيْنَمَا أَدْرُسُ وَأَعْمَلُ بِالإِنْجِلِيزِيَّةِ. تَحْتَفِظُ أُمِّي بِعَادَاتِهَا وَبِمَطْبَخِهَا، وَقَدْ تَكَيَّفَتْ مَعَ الحَيَاةِ هُنَا بِسُرْعَةٍ. أَحْيَانًا أَشْعُرُ بِالحَنِينِ إِلَى بَلَدِ أُسْرَتِي، وَمِنْ نَاحِيَةٍ أُخْرَى أُحِبُّ حَيَاتِي هُنَا كَثِيرًا. لَيْسَتِ الهُوِيَّةُ المُزْدَوَجَةُ مُشْكِلَةً؛ هِيَ ثَرْوَةٌ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تَصِفُ الهُوِيَّةَ المُزْدَوَجَةَ؟ (And how do you describe dual identity?)
B: أَنْتَمِي إِلَى ثَقَافَتَيْنِ وَأُوَازِنُ بَيْنَهُمَا. مِنْ نَاحِيَةٍ أَشْعُرُ بِالحَنِينِ، وَمِنْ نَاحِيَةٍ أُخْرَى أُحِبُّ حَيَاتِي هُنَا. (I belong to two cultures and balance between them. On one hand I feel nostalgia; on the other, I love my life here.)
Website prompts and model. Students may compare their UK city with their family’s city (Arab or not). To a girl: قَارِنِي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using the four verbs with their correct prepositions. · Develop — Add one comparative of each type and a contrast with بَيْنَمَا. · Stretch — Close with a balanced statement on dual identity that avoids reducing it to a single story.
Website writing task (Stretch): Write eighty to ninety words comparing life in two countries, drawing on the diaspora vocabulary. Use at least three of the four verbs with their prepositions, both comparative systems, and a balanced statement about dual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أَنْتَمِي إِلَى · أُوَازِنُ بَيْنَهُمَا · تَحْتَفِظُ … بِعَادَاتِهَا · تَكَيَّفَتْ مَعَ · بَيْنَمَا · أَصْغَرُ مِنَ القَاهِرَةِ · أَكْثَرُ هُدُوءًا مِنْهَا · مِنْ نَاحِيَةٍ … وَمِنْ نَاحِيَةٍ أُخْرَى · لَا تُوجَدُ قِصَّةٌ وَاحِدَةٌ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(D6-L06 · Arabic Around the World — The Language’s Global Reach) will spend class time USING this language, so students prepare it tonight — short, simple, easy to access (school guidance: “Simple, Short, Interesting, Relevant, Easy to access”). The five words come from the website D6-L06 vocabulary (Arabic’s global reach).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Comparing Countries — Global Connections and the Arab Diaspora</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2" charset="-78"/>
                <a:cs typeface="Amiri" pitchFamily="2" charset="-78"/>
              </a:rPr>
              <a:t>مُقَارَنَةُ الدُّوَلِ — الرَّوَابِطُ العَالَمِيَّةُ وَالجَالِيَةُ العَرَبِيَّةُ</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Talk about belonging to two places: where you belong (</a:t>
            </a:r>
            <a:pPr algn="l" indent="0" marL="0">
              <a:buNone/>
            </a:pPr>
            <a:r>
              <a:rPr lang="ar-SA" altLang="en-US" sz="1800" dirty="0">
                <a:solidFill>
                  <a:srgbClr val="C6D2E6"/>
                </a:solidFill>
                <a:latin typeface="Amiri" pitchFamily="2" charset="-78"/>
                <a:cs typeface="Amiri" pitchFamily="2" charset="-78"/>
              </a:rPr>
              <a:t>أَنْتَمِي إِلَى</a:t>
            </a:r>
            <a:pPr algn="l" indent="0" marL="0">
              <a:buNone/>
            </a:pPr>
            <a:r>
              <a:rPr lang="en-US" sz="1400" dirty="0">
                <a:solidFill>
                  <a:srgbClr val="C6D2E6"/>
                </a:solidFill>
                <a:latin typeface="Calibri" pitchFamily="34" charset="0"/>
                <a:cs typeface="Amiri" pitchFamily="2" charset="-78"/>
              </a:rPr>
              <a:t>), how you adapt (</a:t>
            </a:r>
            <a:pPr algn="l" indent="0" marL="0">
              <a:buNone/>
            </a:pPr>
            <a:r>
              <a:rPr lang="ar-SA" altLang="en-US" sz="1800" dirty="0">
                <a:solidFill>
                  <a:srgbClr val="C6D2E6"/>
                </a:solidFill>
                <a:latin typeface="Amiri" pitchFamily="2" charset="-78"/>
                <a:cs typeface="Amiri" pitchFamily="2" charset="-78"/>
              </a:rPr>
              <a:t>أَتَكَيَّفُ مَعَ</a:t>
            </a:r>
            <a:pPr algn="l" indent="0" marL="0">
              <a:buNone/>
            </a:pPr>
            <a:r>
              <a:rPr lang="en-US" sz="1400" dirty="0">
                <a:solidFill>
                  <a:srgbClr val="C6D2E6"/>
                </a:solidFill>
                <a:latin typeface="Calibri" pitchFamily="34" charset="0"/>
                <a:cs typeface="Amiri" pitchFamily="2" charset="-78"/>
              </a:rPr>
              <a:t>), what you keep (</a:t>
            </a:r>
            <a:pPr algn="l" indent="0" marL="0">
              <a:buNone/>
            </a:pPr>
            <a:r>
              <a:rPr lang="ar-SA" altLang="en-US" sz="1800" dirty="0">
                <a:solidFill>
                  <a:srgbClr val="C6D2E6"/>
                </a:solidFill>
                <a:latin typeface="Amiri" pitchFamily="2" charset="-78"/>
                <a:cs typeface="Amiri" pitchFamily="2" charset="-78"/>
              </a:rPr>
              <a:t>أَحْتَفِظُ بِـ</a:t>
            </a:r>
            <a:pPr algn="l" indent="0" marL="0">
              <a:buNone/>
            </a:pPr>
            <a:r>
              <a:rPr lang="en-US" sz="1400" dirty="0">
                <a:solidFill>
                  <a:srgbClr val="C6D2E6"/>
                </a:solidFill>
                <a:latin typeface="Calibri" pitchFamily="34" charset="0"/>
                <a:cs typeface="Amiri" pitchFamily="2" charset="-78"/>
              </a:rPr>
              <a:t>), how you balance (</a:t>
            </a:r>
            <a:pPr algn="l" indent="0" marL="0">
              <a:buNone/>
            </a:pPr>
            <a:r>
              <a:rPr lang="ar-SA" altLang="en-US" sz="1800" dirty="0">
                <a:solidFill>
                  <a:srgbClr val="C6D2E6"/>
                </a:solidFill>
                <a:latin typeface="Amiri" pitchFamily="2" charset="-78"/>
                <a:cs typeface="Amiri" pitchFamily="2" charset="-78"/>
              </a:rPr>
              <a:t>أُوَازِنُ بَيْنَ</a:t>
            </a:r>
            <a:pPr algn="l" indent="0" marL="0">
              <a:buNone/>
            </a:pPr>
            <a:r>
              <a:rPr lang="en-US" sz="1400" dirty="0">
                <a:solidFill>
                  <a:srgbClr val="C6D2E6"/>
                </a:solidFill>
                <a:latin typeface="Calibri" pitchFamily="34" charset="0"/>
                <a:cs typeface="Amiri" pitchFamily="2" charset="-78"/>
              </a:rPr>
              <a:t>) — and compare two cities with ONE comparative at a time (</a:t>
            </a:r>
            <a:pPr algn="l" indent="0" marL="0">
              <a:buNone/>
            </a:pPr>
            <a:r>
              <a:rPr lang="ar-SA" altLang="en-US" sz="1800" dirty="0">
                <a:solidFill>
                  <a:srgbClr val="C6D2E6"/>
                </a:solidFill>
                <a:latin typeface="Amiri" pitchFamily="2" charset="-78"/>
                <a:cs typeface="Amiri" pitchFamily="2" charset="-78"/>
              </a:rPr>
              <a:t>أَكْبَرُ مِنْ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أَكْثَرُ هُدُوءًا مِنْ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D6-L05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verbs + prepositions; two comparatives, never mixed.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preposition, fix the double comparative, then a second-generation voice.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جَالِيَةٌ عَرَبِيَّةٌ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Arab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Arab community abroad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 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الجِيلُ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generation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country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language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جُذُورٌ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branches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borders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يَتَسَامَحُ المُجْتَمَعُ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تَتَمَسَّكُ الأُسْرَةُ بِتَقَالِيدِهَا.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تَتَمَسَّكُ الأُسْرَةُ عَلَى تَقَالِيدِهَا.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تَتَمَسَّكُ الأُسْرَةُ تَقَالِيدَهَا.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جَالِيَةٌ عَرَبِيَّةٌ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Arab country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Arab community abroad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 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الجِيلُ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 generation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 country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 language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جُذُورٌ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branches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borders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roots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يَتَسَامَحُ المُجْتَمَعُ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D6-L04.</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تَتَمَسَّكُ الأُسْرَةُ بِتَقَالِيدِهَا.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تَتَمَسَّكُ الأُسْرَةُ عَلَى تَقَالِيدِهَا.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تَتَمَسَّكُ الأُسْرَةُ تَقَالِيدَهَا.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Four verbs tell a diaspora story: belong · adapt · keep · balance.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أَنْتَمِي </a:t>
            </a:r>
            <a:pPr rtl="1" algn="ctr" indent="0" marL="0">
              <a:lnSpc>
                <a:spcPct val="120000"/>
              </a:lnSpc>
              <a:buNone/>
            </a:pPr>
            <a:r>
              <a:rPr lang="ar-SA" altLang="en-US" sz="1950" b="1" dirty="0">
                <a:solidFill>
                  <a:srgbClr val="0E7C86"/>
                </a:solidFill>
                <a:latin typeface="Amiri" pitchFamily="2" charset="-78"/>
                <a:cs typeface="Amiri" pitchFamily="2" charset="-78"/>
              </a:rPr>
              <a:t>إِلَى</a:t>
            </a:r>
            <a:pPr rtl="1" algn="ctr" indent="0" marL="0">
              <a:lnSpc>
                <a:spcPct val="120000"/>
              </a:lnSpc>
              <a:buNone/>
            </a:pPr>
            <a:r>
              <a:rPr lang="ar-SA" altLang="en-US" sz="1950" b="1" dirty="0">
                <a:solidFill>
                  <a:srgbClr val="1B3B6F"/>
                </a:solidFill>
                <a:latin typeface="Amiri" pitchFamily="2" charset="-78"/>
                <a:cs typeface="Amiri" pitchFamily="2" charset="-78"/>
              </a:rPr>
              <a:t> · أَتَكَيَّفُ </a:t>
            </a:r>
            <a:pPr rtl="1" algn="ctr" indent="0" marL="0">
              <a:lnSpc>
                <a:spcPct val="120000"/>
              </a:lnSpc>
              <a:buNone/>
            </a:pPr>
            <a:r>
              <a:rPr lang="ar-SA" altLang="en-US" sz="1950" b="1" dirty="0">
                <a:solidFill>
                  <a:srgbClr val="D6336C"/>
                </a:solidFill>
                <a:latin typeface="Amiri" pitchFamily="2" charset="-78"/>
                <a:cs typeface="Amiri" pitchFamily="2" charset="-78"/>
              </a:rPr>
              <a:t>مَعَ</a:t>
            </a:r>
            <a:pPr rtl="1" algn="ctr" indent="0" marL="0">
              <a:lnSpc>
                <a:spcPct val="120000"/>
              </a:lnSpc>
              <a:buNone/>
            </a:pPr>
            <a:r>
              <a:rPr lang="ar-SA" altLang="en-US" sz="1950" b="1" dirty="0">
                <a:solidFill>
                  <a:srgbClr val="1B3B6F"/>
                </a:solidFill>
                <a:latin typeface="Amiri" pitchFamily="2" charset="-78"/>
                <a:cs typeface="Amiri" pitchFamily="2" charset="-78"/>
              </a:rPr>
              <a:t> · أَحْتَفِظُ </a:t>
            </a:r>
            <a:pPr rtl="1" algn="ctr" indent="0" marL="0">
              <a:lnSpc>
                <a:spcPct val="120000"/>
              </a:lnSpc>
              <a:buNone/>
            </a:pPr>
            <a:r>
              <a:rPr lang="ar-SA" altLang="en-US" sz="1950" b="1" dirty="0">
                <a:solidFill>
                  <a:srgbClr val="1D5FBF"/>
                </a:solidFill>
                <a:latin typeface="Amiri" pitchFamily="2" charset="-78"/>
                <a:cs typeface="Amiri" pitchFamily="2" charset="-78"/>
              </a:rPr>
              <a:t>بِـ</a:t>
            </a:r>
            <a:pPr rtl="1" algn="ctr" indent="0" marL="0">
              <a:lnSpc>
                <a:spcPct val="120000"/>
              </a:lnSpc>
              <a:buNone/>
            </a:pPr>
            <a:r>
              <a:rPr lang="ar-SA" altLang="en-US" sz="1950" b="1" dirty="0">
                <a:solidFill>
                  <a:srgbClr val="1B3B6F"/>
                </a:solidFill>
                <a:latin typeface="Amiri" pitchFamily="2" charset="-78"/>
                <a:cs typeface="Amiri" pitchFamily="2" charset="-78"/>
              </a:rPr>
              <a:t> · أُوَازِنُ </a:t>
            </a:r>
            <a:pPr rtl="1" algn="ctr" indent="0" marL="0">
              <a:lnSpc>
                <a:spcPct val="120000"/>
              </a:lnSpc>
              <a:buNone/>
            </a:pPr>
            <a:r>
              <a:rPr lang="ar-SA" altLang="en-US" sz="1950" b="1" dirty="0">
                <a:solidFill>
                  <a:srgbClr val="0E7C86"/>
                </a:solidFill>
                <a:latin typeface="Amiri" pitchFamily="2" charset="-78"/>
                <a:cs typeface="Amiri" pitchFamily="2" charset="-78"/>
              </a:rPr>
              <a:t>بَيْنَ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يَنْتَمِي إِلَى</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يَتَكَيَّفُ مَعَ</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يَحْتَفِظُ بِـ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يُوَازِنُ بَيْنَ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with </a:t>
            </a:r>
            <a:pPr algn="l" indent="0" marL="0">
              <a:buNone/>
            </a:pPr>
            <a:r>
              <a:rPr lang="ar-SA" altLang="en-US" sz="1700" dirty="0">
                <a:solidFill>
                  <a:srgbClr val="1F2A37"/>
                </a:solidFill>
                <a:latin typeface="Amiri" pitchFamily="2" charset="-78"/>
                <a:cs typeface="Amiri" pitchFamily="2" charset="-78"/>
              </a:rPr>
              <a:t>أَفْعَلُ مِنْ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cs typeface="Amiri" pitchFamily="2" charset="-78"/>
              </a:rPr>
              <a:t>أَكْبَرُ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with </a:t>
            </a:r>
            <a:pPr algn="l" indent="0" marL="0">
              <a:buNone/>
            </a:pPr>
            <a:r>
              <a:rPr lang="ar-SA" altLang="en-US" sz="1700" dirty="0">
                <a:solidFill>
                  <a:srgbClr val="1F2A37"/>
                </a:solidFill>
                <a:latin typeface="Amiri" pitchFamily="2" charset="-78"/>
                <a:cs typeface="Amiri" pitchFamily="2" charset="-78"/>
              </a:rPr>
              <a:t>أَكْثَرُ / أَقَلُّ</a:t>
            </a:r>
            <a:pPr algn="l" indent="0" marL="0">
              <a:buNone/>
            </a:pPr>
            <a:r>
              <a:rPr lang="en-US" sz="1300" dirty="0">
                <a:solidFill>
                  <a:srgbClr val="1F2A37"/>
                </a:solidFill>
                <a:latin typeface="Calibri" pitchFamily="34" charset="0"/>
                <a:cs typeface="Amiri" pitchFamily="2" charset="-78"/>
              </a:rPr>
              <a:t> + accusative noun + </a:t>
            </a:r>
            <a:pPr algn="l" indent="0" marL="0">
              <a:buNone/>
            </a:pPr>
            <a:r>
              <a:rPr lang="ar-SA" altLang="en-US" sz="1700" dirty="0">
                <a:solidFill>
                  <a:srgbClr val="1F2A37"/>
                </a:solidFill>
                <a:latin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dual identity in a balanced, non-simplified way.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I and my family belong.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four verbs with their prepositions.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cities with </a:t>
            </a:r>
            <a:pPr algn="l" indent="0" marL="0">
              <a:buNone/>
            </a:pPr>
            <a:r>
              <a:rPr lang="ar-SA" altLang="en-US" sz="1700" b="1" dirty="0">
                <a:solidFill>
                  <a:srgbClr val="C9780A"/>
                </a:solidFill>
                <a:latin typeface="Amiri" pitchFamily="2" charset="-78"/>
                <a:cs typeface="Amiri" pitchFamily="2" charset="-78"/>
              </a:rPr>
              <a:t>أَكْبَرُ مِنْ / أَكْثَرُ … 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home and school with </a:t>
            </a:r>
            <a:pPr algn="l" indent="0" marL="0">
              <a:buNone/>
            </a:pPr>
            <a:r>
              <a:rPr lang="ar-SA" altLang="en-US" sz="1700" b="1" dirty="0">
                <a:solidFill>
                  <a:srgbClr val="C9780A"/>
                </a:solidFill>
                <a:latin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dual identity in a balanced way.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t>
            </a:r>
            <a:pPr algn="l" indent="0" marL="0">
              <a:buNone/>
            </a:pPr>
            <a:r>
              <a:rPr lang="ar-SA" altLang="en-US" sz="1700" b="1" dirty="0">
                <a:solidFill>
                  <a:srgbClr val="B83227"/>
                </a:solidFill>
                <a:latin typeface="Amiri" pitchFamily="2" charset="-78"/>
                <a:cs typeface="Amiri" pitchFamily="2" charset="-78"/>
              </a:rPr>
              <a:t>مُهَاجِرٌ</a:t>
            </a:r>
            <a:pPr algn="l" indent="0" marL="0">
              <a:buNone/>
            </a:pPr>
            <a:r>
              <a:rPr lang="en-US" sz="1300" b="1" dirty="0">
                <a:solidFill>
                  <a:srgbClr val="B83227"/>
                </a:solidFill>
                <a:latin typeface="Calibri" pitchFamily="34" charset="0"/>
                <a:cs typeface="Amiri" pitchFamily="2" charset="-78"/>
              </a:rPr>
              <a:t> vs </a:t>
            </a:r>
            <a:pPr algn="l" indent="0" marL="0">
              <a:buNone/>
            </a:pPr>
            <a:r>
              <a:rPr lang="ar-SA" altLang="en-US" sz="1700" b="1" dirty="0">
                <a:solidFill>
                  <a:srgbClr val="B83227"/>
                </a:solidFill>
                <a:latin typeface="Amiri" pitchFamily="2" charset="-78"/>
                <a:cs typeface="Amiri" pitchFamily="2" charset="-78"/>
              </a:rPr>
              <a:t>لَاجِئٌ</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People and communities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Belonging and identity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Verbs and comparison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مُهَاجِرٌ / هِجْرَةٌ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‎مہاجر / ہجرت‎ </a:t>
            </a:r>
            <a:pPr indent="0" marL="0">
              <a:buNone/>
            </a:pPr>
            <a:r>
              <a:rPr lang="en-US" sz="950" b="1" dirty="0">
                <a:solidFill>
                  <a:srgbClr val="2E8B57"/>
                </a:solidFill>
                <a:latin typeface="Calibri" pitchFamily="34" charset="0"/>
                <a:cs typeface="Amiri" pitchFamily="2" charset="-78"/>
              </a:rPr>
              <a:t> muhājir / hijrat · migrant / migration (also the Prophet’s Hijra)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وَطَنٌ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‎وطن‎ </a:t>
            </a:r>
            <a:pPr indent="0" marL="0">
              <a:buNone/>
            </a:pPr>
            <a:r>
              <a:rPr lang="en-US" sz="950" b="1" dirty="0">
                <a:solidFill>
                  <a:srgbClr val="2E8B57"/>
                </a:solidFill>
                <a:latin typeface="Calibri" pitchFamily="34" charset="0"/>
                <a:cs typeface="Amiri" pitchFamily="2" charset="-78"/>
              </a:rPr>
              <a:t> waṭan · homeland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غُرْبَةٌ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‎غربت / پردیس‎ </a:t>
            </a:r>
            <a:pPr indent="0" marL="0">
              <a:buNone/>
            </a:pPr>
            <a:r>
              <a:rPr lang="en-US" sz="950" b="1" dirty="0">
                <a:solidFill>
                  <a:srgbClr val="2E8B57"/>
                </a:solidFill>
                <a:latin typeface="Calibri" pitchFamily="34" charset="0"/>
                <a:cs typeface="Amiri" pitchFamily="2" charset="-78"/>
              </a:rPr>
              <a:t> pardēs · Urdu غربت: poverty · Arabic غُرْبَةٌ: being far from home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حَنِينٌ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‎یاد / تڑپ‎ </a:t>
            </a:r>
            <a:pPr indent="0" marL="0">
              <a:buNone/>
            </a:pPr>
            <a:r>
              <a:rPr lang="en-US" sz="950" b="1" dirty="0">
                <a:solidFill>
                  <a:srgbClr val="2E8B57"/>
                </a:solidFill>
                <a:latin typeface="Calibri" pitchFamily="34" charset="0"/>
                <a:cs typeface="Amiri" pitchFamily="2" charset="-78"/>
              </a:rPr>
              <a:t> yād · longing, nostalgia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جِنْسِيَّةٌ مُزْدَوَجَةٌ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‎دوہری شہریت‎ </a:t>
            </a:r>
            <a:pPr indent="0" marL="0">
              <a:buNone/>
            </a:pPr>
            <a:r>
              <a:rPr lang="en-US" sz="950" b="1" dirty="0">
                <a:solidFill>
                  <a:srgbClr val="2E8B57"/>
                </a:solidFill>
                <a:latin typeface="Calibri" pitchFamily="34" charset="0"/>
                <a:cs typeface="Amiri" pitchFamily="2" charset="-78"/>
              </a:rPr>
              <a:t> dohrī shahriyat · dual nationality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communities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جَالِيَةٌ 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Arab community abroad</a:t>
            </a:r>
            <a:endParaRPr lang="en-US" sz="1350" dirty="0"/>
          </a:p>
          <a:p>
            <a:pPr indent="0" marL="0">
              <a:buNone/>
            </a:pPr>
            <a:r>
              <a:rPr lang="en-US" sz="1100" i="1" dirty="0">
                <a:solidFill>
                  <a:srgbClr val="5A6472"/>
                </a:solidFill>
                <a:latin typeface="Calibri" pitchFamily="34" charset="0"/>
                <a:cs typeface="Amiri" pitchFamily="2" charset="-78"/>
              </a:rPr>
              <a:t>jā-li-ya-tun ʿa-ra-biy-ya-tun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جَالِيَاتٌ عَرَبِيَّةٌ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مُهَاجِرٌ / مُهَاجِرَةٌ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migrant (m. / f.)</a:t>
            </a:r>
            <a:endParaRPr lang="en-US" sz="1350" dirty="0"/>
          </a:p>
          <a:p>
            <a:pPr indent="0" marL="0">
              <a:buNone/>
            </a:pPr>
            <a:r>
              <a:rPr lang="en-US" sz="1100" i="1" dirty="0">
                <a:solidFill>
                  <a:srgbClr val="5A6472"/>
                </a:solidFill>
                <a:latin typeface="Calibri" pitchFamily="34" charset="0"/>
                <a:cs typeface="Amiri" pitchFamily="2" charset="-78"/>
              </a:rPr>
              <a:t>mu-hā-ji-run / mu-hā-ji-ra-tun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مُهَاجِرُونَ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لَاجِئٌ / لَاجِئَةٌ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refugee (m. / f.)</a:t>
            </a:r>
            <a:endParaRPr lang="en-US" sz="1350" dirty="0"/>
          </a:p>
          <a:p>
            <a:pPr indent="0" marL="0">
              <a:buNone/>
            </a:pPr>
            <a:r>
              <a:rPr lang="en-US" sz="1100" i="1" dirty="0">
                <a:solidFill>
                  <a:srgbClr val="5A6472"/>
                </a:solidFill>
                <a:latin typeface="Calibri" pitchFamily="34" charset="0"/>
                <a:cs typeface="Amiri" pitchFamily="2" charset="-78"/>
              </a:rPr>
              <a:t>lā-ji-ʾun / lā-ji-ʾa-tun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لَاجِئُونَ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مُوَاطِنٌ / مُوَاطِنَةٌ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citizen (m. / f.)</a:t>
            </a:r>
            <a:endParaRPr lang="en-US" sz="1350" dirty="0"/>
          </a:p>
          <a:p>
            <a:pPr indent="0" marL="0">
              <a:buNone/>
            </a:pPr>
            <a:r>
              <a:rPr lang="en-US" sz="1100" i="1" dirty="0">
                <a:solidFill>
                  <a:srgbClr val="5A6472"/>
                </a:solidFill>
                <a:latin typeface="Calibri" pitchFamily="34" charset="0"/>
                <a:cs typeface="Amiri" pitchFamily="2" charset="-78"/>
              </a:rPr>
              <a:t>mu-wā-ṭi-nun / mu-wā-ṭi-na-tun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مُوَاطِنُونَ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communities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الشَّتَاتُ</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diaspora</a:t>
            </a:r>
            <a:endParaRPr lang="en-US" sz="1350" dirty="0"/>
          </a:p>
          <a:p>
            <a:pPr indent="0" marL="0">
              <a:buNone/>
            </a:pPr>
            <a:r>
              <a:rPr lang="en-US" sz="1100" i="1" dirty="0">
                <a:solidFill>
                  <a:srgbClr val="5A6472"/>
                </a:solidFill>
                <a:latin typeface="Calibri" pitchFamily="34" charset="0"/>
                <a:cs typeface="Amiri" pitchFamily="2" charset="-78"/>
              </a:rPr>
              <a:t>ash-sha-tā-tu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فِي الشَّتَاتِ</a:t>
            </a:r>
            <a:pPr algn="l" indent="0" marL="0">
              <a:buNone/>
            </a:pPr>
            <a:r>
              <a:rPr lang="en-US" sz="1000" i="1" dirty="0">
                <a:solidFill>
                  <a:srgbClr val="8A6D1E"/>
                </a:solidFill>
                <a:latin typeface="Calibri" pitchFamily="34" charset="0"/>
                <a:cs typeface="Amiri" pitchFamily="2" charset="-78"/>
              </a:rPr>
              <a:t> — in the diaspora.</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4" name="Shape 2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الجِيلُ الثَّانِي</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second generation</a:t>
            </a:r>
            <a:endParaRPr lang="en-US" sz="1350" dirty="0"/>
          </a:p>
          <a:p>
            <a:pPr indent="0" marL="0">
              <a:buNone/>
            </a:pPr>
            <a:r>
              <a:rPr lang="en-US" sz="1100" i="1" dirty="0">
                <a:solidFill>
                  <a:srgbClr val="5A6472"/>
                </a:solidFill>
                <a:latin typeface="Calibri" pitchFamily="34" charset="0"/>
                <a:cs typeface="Amiri" pitchFamily="2" charset="-78"/>
              </a:rPr>
              <a:t>al-jī-lu ath-thā-nī</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مُجْتَمَعٌ مُتَعَدِّدُ الثَّقَافَاتِ</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multicultural society</a:t>
            </a:r>
            <a:endParaRPr lang="en-US" sz="1350" dirty="0"/>
          </a:p>
          <a:p>
            <a:pPr indent="0" marL="0">
              <a:buNone/>
            </a:pPr>
            <a:r>
              <a:rPr lang="en-US" sz="1100" i="1" dirty="0">
                <a:solidFill>
                  <a:srgbClr val="5A6472"/>
                </a:solidFill>
                <a:latin typeface="Calibri" pitchFamily="34" charset="0"/>
                <a:cs typeface="Amiri" pitchFamily="2" charset="-78"/>
              </a:rPr>
              <a:t>muj-ta-ma-ʿun mu-ta-ʿad-di-du ath-tha-qā-fā-ti</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مُزْدَوَجُ الجِنْسِيَّةِ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 dual nationality</a:t>
            </a:r>
            <a:endParaRPr lang="en-US" sz="1350" dirty="0"/>
          </a:p>
          <a:p>
            <a:pPr indent="0" marL="0">
              <a:buNone/>
            </a:pPr>
            <a:r>
              <a:rPr lang="en-US" sz="1100" i="1" dirty="0">
                <a:solidFill>
                  <a:srgbClr val="5A6472"/>
                </a:solidFill>
                <a:latin typeface="Calibri" pitchFamily="34" charset="0"/>
                <a:cs typeface="Amiri" pitchFamily="2" charset="-78"/>
              </a:rPr>
              <a:t>muz-da-wa-ju al-jin-siy-ya-ti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Belonging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الانْتِمَاءُ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belonging</a:t>
            </a:r>
            <a:endParaRPr lang="en-US" sz="1350" dirty="0"/>
          </a:p>
          <a:p>
            <a:pPr indent="0" marL="0">
              <a:buNone/>
            </a:pPr>
            <a:r>
              <a:rPr lang="en-US" sz="1100" i="1" dirty="0">
                <a:solidFill>
                  <a:srgbClr val="5A6472"/>
                </a:solidFill>
                <a:latin typeface="Calibri" pitchFamily="34" charset="0"/>
                <a:cs typeface="Amiri" pitchFamily="2" charset="-78"/>
              </a:rPr>
              <a:t>aln-ti-mā-ʾu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هُوِيَّةٌ مُزْدَوَجَةٌ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dual identity</a:t>
            </a:r>
            <a:endParaRPr lang="en-US" sz="1350" dirty="0"/>
          </a:p>
          <a:p>
            <a:pPr indent="0" marL="0">
              <a:buNone/>
            </a:pPr>
            <a:r>
              <a:rPr lang="en-US" sz="1100" i="1" dirty="0">
                <a:solidFill>
                  <a:srgbClr val="5A6472"/>
                </a:solidFill>
                <a:latin typeface="Calibri" pitchFamily="34" charset="0"/>
                <a:cs typeface="Amiri" pitchFamily="2" charset="-78"/>
              </a:rPr>
              <a:t>hu-wiy-ya-tun muz-da-wa-ja-tun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Shape 31"/>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of جِذْرٌ.</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جُذُورٌ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roots</a:t>
            </a:r>
            <a:endParaRPr lang="en-US" sz="1350" dirty="0"/>
          </a:p>
          <a:p>
            <a:pPr indent="0" marL="0">
              <a:buNone/>
            </a:pPr>
            <a:r>
              <a:rPr lang="en-US" sz="1100" i="1" dirty="0">
                <a:solidFill>
                  <a:srgbClr val="5A6472"/>
                </a:solidFill>
                <a:latin typeface="Calibri" pitchFamily="34" charset="0"/>
                <a:cs typeface="Amiri" pitchFamily="2" charset="-78"/>
              </a:rPr>
              <a:t>ju-dhū-run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1" name="Shape 3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إِرْثٌ ثَقَافِيٌّ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heritage</a:t>
            </a:r>
            <a:endParaRPr lang="en-US" sz="1350" dirty="0"/>
          </a:p>
          <a:p>
            <a:pPr indent="0" marL="0">
              <a:buNone/>
            </a:pPr>
            <a:r>
              <a:rPr lang="en-US" sz="1100" i="1" dirty="0">
                <a:solidFill>
                  <a:srgbClr val="5A6472"/>
                </a:solidFill>
                <a:latin typeface="Calibri" pitchFamily="34" charset="0"/>
                <a:cs typeface="Amiri" pitchFamily="2" charset="-78"/>
              </a:rPr>
              <a:t>ir-thun tha-qā-fiy-yun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حَنِينٌ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nostalgia, longing</a:t>
            </a:r>
            <a:endParaRPr lang="en-US" sz="1350" dirty="0"/>
          </a:p>
          <a:p>
            <a:pPr indent="0" marL="0">
              <a:buNone/>
            </a:pPr>
            <a:r>
              <a:rPr lang="en-US" sz="1100" i="1" dirty="0">
                <a:solidFill>
                  <a:srgbClr val="5A6472"/>
                </a:solidFill>
                <a:latin typeface="Calibri" pitchFamily="34" charset="0"/>
                <a:cs typeface="Amiri" pitchFamily="2" charset="-78"/>
              </a:rPr>
              <a:t>ḥa-nī-nun</a:t>
            </a:r>
            <a:endParaRPr lang="en-US" sz="1350" dirty="0"/>
          </a:p>
        </p:txBody>
      </p:sp>
      <p:sp>
        <p:nvSpPr>
          <p:cNvPr id="52" name="Text 4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Masculine; </a:t>
            </a:r>
            <a:pPr algn="l" indent="0" marL="0">
              <a:buNone/>
            </a:pPr>
            <a:r>
              <a:rPr lang="ar-SA" altLang="en-US" sz="1300" dirty="0">
                <a:solidFill>
                  <a:srgbClr val="8A6D1E"/>
                </a:solidFill>
                <a:latin typeface="Amiri" pitchFamily="2" charset="-78"/>
                <a:cs typeface="Amiri" pitchFamily="2" charset="-78"/>
              </a:rPr>
              <a:t>حَنِينٌ إِلَى الوَطَنِ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Belonging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غُرْبَةٌ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being far from home</a:t>
            </a:r>
            <a:endParaRPr lang="en-US" sz="1350" dirty="0"/>
          </a:p>
          <a:p>
            <a:pPr indent="0" marL="0">
              <a:buNone/>
            </a:pPr>
            <a:r>
              <a:rPr lang="en-US" sz="1100" i="1" dirty="0">
                <a:solidFill>
                  <a:srgbClr val="5A6472"/>
                </a:solidFill>
                <a:latin typeface="Calibri" pitchFamily="34" charset="0"/>
                <a:cs typeface="Amiri" pitchFamily="2" charset="-78"/>
              </a:rPr>
              <a:t>ghur-ba-tun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the feeling of living away.</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الحِفَاظُ عَلَى الهُوِيَّةِ</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preserving identity</a:t>
            </a:r>
            <a:endParaRPr lang="en-US" sz="1350" dirty="0"/>
          </a:p>
          <a:p>
            <a:pPr indent="0" marL="0">
              <a:buNone/>
            </a:pPr>
            <a:r>
              <a:rPr lang="en-US" sz="1100" i="1" dirty="0">
                <a:solidFill>
                  <a:srgbClr val="5A6472"/>
                </a:solidFill>
                <a:latin typeface="Calibri" pitchFamily="34" charset="0"/>
                <a:cs typeface="Amiri" pitchFamily="2" charset="-78"/>
              </a:rPr>
              <a:t>al-ḥi-fā-ẓu ʿa-lā al-hu-wiy-ya-ti</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انْصِهَارٌ ثَقَافِيٌّ</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assimilation</a:t>
            </a:r>
            <a:endParaRPr lang="en-US" sz="1350" dirty="0"/>
          </a:p>
          <a:p>
            <a:pPr indent="0" marL="0">
              <a:buNone/>
            </a:pPr>
            <a:r>
              <a:rPr lang="en-US" sz="1100" i="1" dirty="0">
                <a:solidFill>
                  <a:srgbClr val="5A6472"/>
                </a:solidFill>
                <a:latin typeface="Calibri" pitchFamily="34" charset="0"/>
                <a:cs typeface="Amiri" pitchFamily="2" charset="-78"/>
              </a:rPr>
              <a:t>an-ṣi-hā-run tha-qā-fiy-yun</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أَوْطَانٌ.</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وَطَنٌ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homeland</a:t>
            </a:r>
            <a:endParaRPr lang="en-US" sz="1350" dirty="0"/>
          </a:p>
          <a:p>
            <a:pPr indent="0" marL="0">
              <a:buNone/>
            </a:pPr>
            <a:r>
              <a:rPr lang="en-US" sz="1100" i="1" dirty="0">
                <a:solidFill>
                  <a:srgbClr val="5A6472"/>
                </a:solidFill>
                <a:latin typeface="Calibri" pitchFamily="34" charset="0"/>
                <a:cs typeface="Amiri" pitchFamily="2" charset="-78"/>
              </a:rPr>
              <a:t>wa-ṭa-nun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يَنْتَمِي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اِنْتَمَى</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أَنْتَمِي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Shape 30"/>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يَتَكَيَّفُ مَعَ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تَكَيَّفَ</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أَتَكَيَّفُ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يَحْتَفِظُ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retains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اِحْتَفَظَ</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أَحْتَفِظُ</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3" name="Shape 6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يُوَازِنُ بَيْنَ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balances between</a:t>
            </a:r>
            <a:endParaRPr lang="en-US" sz="1350" dirty="0"/>
          </a:p>
          <a:p>
            <a:pPr indent="0" marL="0">
              <a:buNone/>
            </a:pPr>
            <a:r>
              <a:rPr lang="en-US" sz="1100" i="1" dirty="0">
                <a:solidFill>
                  <a:srgbClr val="5A6472"/>
                </a:solidFill>
                <a:latin typeface="Calibri" pitchFamily="34" charset="0"/>
                <a:cs typeface="Amiri" pitchFamily="2" charset="-78"/>
              </a:rPr>
              <a:t>yu-wā-zi-nu bay-na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وَازَنَ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أُوَازِنُ</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يَشْعُرُ بِـ</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feels</a:t>
            </a:r>
            <a:endParaRPr lang="en-US" sz="1350" dirty="0"/>
          </a:p>
          <a:p>
            <a:pPr indent="0" marL="0">
              <a:buNone/>
            </a:pPr>
            <a:r>
              <a:rPr lang="en-US" sz="1100" i="1" dirty="0">
                <a:solidFill>
                  <a:srgbClr val="5A6472"/>
                </a:solidFill>
                <a:latin typeface="Calibri" pitchFamily="34" charset="0"/>
                <a:cs typeface="Amiri" pitchFamily="2" charset="-78"/>
              </a:rPr>
              <a:t>yash-ʿu-ru bi</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شَعَرَ</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أَشْعُرُ</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and comparison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 أَقَلُّ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less than</a:t>
            </a:r>
            <a:endParaRPr lang="en-US" sz="1350" dirty="0"/>
          </a:p>
          <a:p>
            <a:pPr indent="0" marL="0">
              <a:buNone/>
            </a:pPr>
            <a:r>
              <a:rPr lang="en-US" sz="1100" i="1" dirty="0">
                <a:solidFill>
                  <a:srgbClr val="5A6472"/>
                </a:solidFill>
                <a:latin typeface="Calibri" pitchFamily="34" charset="0"/>
                <a:cs typeface="Amiri" pitchFamily="2" charset="-78"/>
              </a:rPr>
              <a:t>ak-tha-ru / a-qal-lu min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analytical comparative.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أَكْبَرُ مِنْ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bigger than</a:t>
            </a:r>
            <a:endParaRPr lang="en-US" sz="1350" dirty="0"/>
          </a:p>
          <a:p>
            <a:pPr indent="0" marL="0">
              <a:buNone/>
            </a:pPr>
            <a:r>
              <a:rPr lang="en-US" sz="1100" i="1" dirty="0">
                <a:solidFill>
                  <a:srgbClr val="5A6472"/>
                </a:solidFill>
                <a:latin typeface="Calibri" pitchFamily="34" charset="0"/>
                <a:cs typeface="Amiri" pitchFamily="2" charset="-78"/>
              </a:rPr>
              <a:t>ak-ba-ru min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synthetic </a:t>
            </a:r>
            <a:pPr algn="l" indent="0" marL="0">
              <a:buNone/>
            </a:pPr>
            <a:r>
              <a:rPr lang="ar-SA" altLang="en-US" sz="1300" dirty="0">
                <a:solidFill>
                  <a:srgbClr val="8A6D1E"/>
                </a:solidFill>
                <a:latin typeface="Amiri" pitchFamily="2" charset="-78"/>
                <a:cs typeface="Amiri" pitchFamily="2" charset="-78"/>
              </a:rPr>
              <a:t>أَفْعَل</a:t>
            </a:r>
            <a:pPr algn="l" indent="0" marL="0">
              <a:buNone/>
            </a:pPr>
            <a:r>
              <a:rPr lang="en-US" sz="1000" i="1" dirty="0">
                <a:solidFill>
                  <a:srgbClr val="8A6D1E"/>
                </a:solidFill>
                <a:latin typeface="Calibri" pitchFamily="34" charset="0"/>
                <a:cs typeface="Amiri" pitchFamily="2" charset="-78"/>
              </a:rPr>
              <a:t> form.</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Joins two contrasting clauses.</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نَاحِيَةٍ أُخْرَى</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FOUR DIASPORA VERBS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 adapt, keep,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أَنْتَمِي · أَتَكَيَّفُ · أَحْتَفِظُ · أُوَازِنُ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belongs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أَنْتَمِي </a:t>
            </a:r>
            <a:pPr rtl="1" algn="ctr" indent="0" marL="0">
              <a:buNone/>
            </a:pPr>
            <a:r>
              <a:rPr lang="ar-SA" altLang="en-US" sz="1950" b="1" dirty="0">
                <a:solidFill>
                  <a:srgbClr val="0E7C86"/>
                </a:solidFill>
                <a:latin typeface="Amiri" pitchFamily="2" charset="-78"/>
                <a:cs typeface="Amiri" pitchFamily="2" charset="-78"/>
              </a:rPr>
              <a:t>إِلَى</a:t>
            </a:r>
            <a:pPr rtl="1" algn="ctr" indent="0" marL="0">
              <a:buNone/>
            </a:pPr>
            <a:r>
              <a:rPr lang="ar-SA" altLang="en-US" sz="1950" b="1" dirty="0">
                <a:solidFill>
                  <a:srgbClr val="1B3B6F"/>
                </a:solidFill>
                <a:latin typeface="Amiri" pitchFamily="2" charset="-78"/>
                <a:cs typeface="Amiri" pitchFamily="2" charset="-78"/>
              </a:rPr>
              <a:t> ثَقَافَتَيْنِ.</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belong to two cultures.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يَنْتَمِي </a:t>
            </a:r>
            <a:pPr rtl="1" algn="ctr" indent="0" marL="0">
              <a:buNone/>
            </a:pPr>
            <a:r>
              <a:rPr lang="ar-SA" altLang="en-US" sz="2200" b="1" dirty="0">
                <a:solidFill>
                  <a:srgbClr val="0E7C86"/>
                </a:solidFill>
                <a:latin typeface="Amiri" pitchFamily="2" charset="-78"/>
                <a:cs typeface="Amiri" pitchFamily="2" charset="-78"/>
              </a:rPr>
              <a:t>إِلَى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adapts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تَكَيَّفَتْ أُمِّي </a:t>
            </a:r>
            <a:pPr rtl="1" algn="ctr" indent="0" marL="0">
              <a:buNone/>
            </a:pPr>
            <a:r>
              <a:rPr lang="ar-SA" altLang="en-US" sz="1950" b="1" dirty="0">
                <a:solidFill>
                  <a:srgbClr val="D6336C"/>
                </a:solidFill>
                <a:latin typeface="Amiri" pitchFamily="2" charset="-78"/>
                <a:cs typeface="Amiri" pitchFamily="2" charset="-78"/>
              </a:rPr>
              <a:t>مَعَ</a:t>
            </a:r>
            <a:pPr rtl="1" algn="ctr" indent="0" marL="0">
              <a:buNone/>
            </a:pPr>
            <a:r>
              <a:rPr lang="ar-SA" altLang="en-US" sz="1950" b="1" dirty="0">
                <a:solidFill>
                  <a:srgbClr val="1B3B6F"/>
                </a:solidFill>
                <a:latin typeface="Amiri" pitchFamily="2" charset="-78"/>
                <a:cs typeface="Amiri" pitchFamily="2" charset="-78"/>
              </a:rPr>
              <a:t> الحَيَاةِ هُنَا بِسُرْعَةٍ.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mother adapted to life here quickly.</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يَتَكَيَّفُ </a:t>
            </a:r>
            <a:pPr rtl="1" algn="ctr" indent="0" marL="0">
              <a:buNone/>
            </a:pPr>
            <a:r>
              <a:rPr lang="ar-SA" altLang="en-US" sz="2200" b="1" dirty="0">
                <a:solidFill>
                  <a:srgbClr val="D6336C"/>
                </a:solidFill>
                <a:latin typeface="Amiri" pitchFamily="2" charset="-78"/>
                <a:cs typeface="Amiri" pitchFamily="2" charset="-78"/>
              </a:rPr>
              <a:t>مَعَ</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تَحْتَفِظُ الأُسَرُ </a:t>
            </a:r>
            <a:pPr rtl="1" algn="ctr" indent="0" marL="0">
              <a:buNone/>
            </a:pPr>
            <a:r>
              <a:rPr lang="ar-SA" altLang="en-US" sz="1950" b="1" dirty="0">
                <a:solidFill>
                  <a:srgbClr val="1D5FBF"/>
                </a:solidFill>
                <a:latin typeface="Amiri" pitchFamily="2" charset="-78"/>
                <a:cs typeface="Amiri" pitchFamily="2" charset="-78"/>
              </a:rPr>
              <a:t>بِلُغَتِهَا</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Families keep their language.</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يَحْتَفِظُ </a:t>
            </a:r>
            <a:pPr rtl="1" algn="ctr" indent="0" marL="0">
              <a:buNone/>
            </a:pPr>
            <a:r>
              <a:rPr lang="ar-SA" altLang="en-US" sz="2200" b="1" dirty="0">
                <a:solidFill>
                  <a:srgbClr val="1D5FBF"/>
                </a:solidFill>
                <a:latin typeface="Amiri" pitchFamily="2" charset="-78"/>
                <a:cs typeface="Amiri" pitchFamily="2" charset="-78"/>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balances</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أُوَازِنُ </a:t>
            </a:r>
            <a:pPr rtl="1" algn="ctr" indent="0" marL="0">
              <a:buNone/>
            </a:pPr>
            <a:r>
              <a:rPr lang="ar-SA" altLang="en-US" sz="1950" b="1" dirty="0">
                <a:solidFill>
                  <a:srgbClr val="0E7C86"/>
                </a:solidFill>
                <a:latin typeface="Amiri" pitchFamily="2" charset="-78"/>
                <a:cs typeface="Amiri" pitchFamily="2" charset="-78"/>
              </a:rPr>
              <a:t>بَيْنَ</a:t>
            </a:r>
            <a:pPr rtl="1" algn="ctr" indent="0" marL="0">
              <a:buNone/>
            </a:pPr>
            <a:r>
              <a:rPr lang="ar-SA" altLang="en-US" sz="1950" b="1" dirty="0">
                <a:solidFill>
                  <a:srgbClr val="1B3B6F"/>
                </a:solidFill>
                <a:latin typeface="Amiri" pitchFamily="2" charset="-78"/>
                <a:cs typeface="Amiri" pitchFamily="2" charset="-78"/>
              </a:rPr>
              <a:t> اللُّغَتَيْنِ وَالعَادَتَيْنِ.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balance between the two languages and customs.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يُوَازِنُ </a:t>
            </a:r>
            <a:pPr rtl="1" algn="ctr" indent="0" marL="0">
              <a:buNone/>
            </a:pPr>
            <a:r>
              <a:rPr lang="ar-SA" altLang="en-US" sz="2200" b="1" dirty="0">
                <a:solidFill>
                  <a:srgbClr val="0E7C86"/>
                </a:solidFill>
                <a:latin typeface="Amiri" pitchFamily="2" charset="-78"/>
                <a:cs typeface="Amiri" pitchFamily="2" charset="-78"/>
              </a:rPr>
              <a:t>بَيْنَ</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feels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أَحْيَانًا أَشْعُرُ </a:t>
            </a:r>
            <a:pPr rtl="1" algn="ctr" indent="0" marL="0">
              <a:buNone/>
            </a:pPr>
            <a:r>
              <a:rPr lang="ar-SA" altLang="en-US" sz="1950" b="1" dirty="0">
                <a:solidFill>
                  <a:srgbClr val="1D5FBF"/>
                </a:solidFill>
                <a:latin typeface="Amiri" pitchFamily="2" charset="-78"/>
                <a:cs typeface="Amiri" pitchFamily="2" charset="-78"/>
              </a:rPr>
              <a:t>بِالحَنِينِ</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Sometimes I feel nostalgia.</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يَشْعُرُ </a:t>
            </a:r>
            <a:pPr rtl="1" algn="ctr" indent="0" marL="0">
              <a:buNone/>
            </a:pPr>
            <a:r>
              <a:rPr lang="ar-SA" altLang="en-US" sz="2200" b="1" dirty="0">
                <a:solidFill>
                  <a:srgbClr val="1D5FBF"/>
                </a:solidFill>
                <a:latin typeface="Amiri" pitchFamily="2" charset="-78"/>
                <a:cs typeface="Amiri" pitchFamily="2" charset="-78"/>
              </a:rPr>
              <a:t>بِـ</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preposition the noun is genitive: </a:t>
            </a:r>
            <a:pPr algn="l" indent="0" marL="0">
              <a:buNone/>
            </a:pPr>
            <a:r>
              <a:rPr lang="ar-SA" altLang="en-US" sz="1500" b="1" dirty="0">
                <a:solidFill>
                  <a:srgbClr val="1B3B6F"/>
                </a:solidFill>
                <a:latin typeface="Amiri" pitchFamily="2" charset="-78"/>
                <a:cs typeface="Amiri" pitchFamily="2" charset="-78"/>
              </a:rPr>
              <a:t>إِلَى ثَقَافَتَيْنِ</a:t>
            </a:r>
            <a:pPr algn="l" indent="0" marL="0">
              <a:buNone/>
            </a:pPr>
            <a:r>
              <a:rPr lang="en-US" sz="1150" b="1" dirty="0">
                <a:solidFill>
                  <a:srgbClr val="1B3B6F"/>
                </a:solidFill>
                <a:latin typeface="Calibri" pitchFamily="34" charset="0"/>
                <a:cs typeface="Amiri" pitchFamily="2" charset="-78"/>
              </a:rPr>
              <a:t> (dual) · </a:t>
            </a:r>
            <a:pPr algn="l" indent="0" marL="0">
              <a:buNone/>
            </a:pPr>
            <a:r>
              <a:rPr lang="ar-SA" altLang="en-US" sz="1500" b="1" dirty="0">
                <a:solidFill>
                  <a:srgbClr val="1B3B6F"/>
                </a:solidFill>
                <a:latin typeface="Amiri" pitchFamily="2" charset="-78"/>
                <a:cs typeface="Amiri" pitchFamily="2" charset="-78"/>
              </a:rPr>
              <a:t>بِلُغَتِهَا</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مَعَ الحَيَاةِ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TWO WAYS TO COMPARE — NEVER BOTH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Bigger than — or more peaceful than?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aFʿAL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أَكْبَرُ مِنْ · أَصْغَرُ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لَنْدَنُ أَكْبَرُ مِنْ مَدِينَتِي.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London is bigger than my city.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word: akbar.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aktharu + NOUN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أَكْثَرُ هُدُوءًا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مَدِينَتُنَا أَكْثَرُ هُدُوءًا مِنَ القَاهِرَةِ.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Our city is calmer than Cairo.</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Noun in -an.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cs typeface="Amiri" pitchFamily="2" charset="-78"/>
              </a:rPr>
              <a:t>مِنْ نَاحِيَةٍ … وَمِنْ نَاحِيَةٍ أُخْرَى</a:t>
            </a:r>
            <a:endParaRPr lang="ar-SA" sz="14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مِنْ نَاحِيَةٍ أَشْعُرُ بِالحَنِينِ، وَمِنْ نَاحِيَةٍ أُخْرَى أُحِبُّ حَيَاتِي هُنَا.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I feel nostalgia; on the other, I love my life here.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sides.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only one comparative at a time.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أَكْبَرُ مِنْ غَيْرِهِ</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أَكْثَرُ أَكْبَرُ مِنْ غَيْرِهِ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Belonging, adaptation and comparison</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الانْتِمَاءُ وَالتَّكَيُّفُ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four diaspora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يَنْتَمِي إِلَى · يَتَكَيَّفُ مَعَ · يَحْتَفِظُ بِـ · يُوَازِنُ بَيْنَ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أَنْتَمِي إِلَى ثَقَافَتَيْنِ   ·   تُوَازِنُ بَيْنَ اللُّغَتَيْنِ وَالعَادَتَيْنِ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synthetic comparative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أَفْعَل</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cs typeface="Amiri" pitchFamily="2" charset="-78"/>
              </a:rPr>
              <a:t>مِنْ</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لَنْدَنُ أَكْبَرُ مِنْ مَدِينَتِي   ·   الطَّقْسُ هُنَاكَ أَحَرُّ مِنْ هُنَا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The analytical comparative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أَكْثَرُ / أَقَلُّ</a:t>
            </a:r>
            <a:pPr algn="l" indent="0" marL="0">
              <a:buNone/>
            </a:pPr>
            <a:r>
              <a:rPr lang="en-US" sz="1050" dirty="0">
                <a:solidFill>
                  <a:srgbClr val="5A6472"/>
                </a:solidFill>
                <a:latin typeface="Calibri" pitchFamily="34" charset="0"/>
                <a:cs typeface="Amiri" pitchFamily="2" charset="-78"/>
              </a:rPr>
              <a:t> + accusative noun + </a:t>
            </a:r>
            <a:pPr algn="l" indent="0" marL="0">
              <a:buNone/>
            </a:pPr>
            <a:r>
              <a:rPr lang="ar-SA" altLang="en-US" sz="1350" dirty="0">
                <a:solidFill>
                  <a:srgbClr val="5A6472"/>
                </a:solidFill>
                <a:latin typeface="Amiri" pitchFamily="2" charset="-78"/>
                <a:cs typeface="Amiri" pitchFamily="2" charset="-78"/>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هٰذَا الحَيُّ أَكْثَرُ تَنَوُّعًا مِنْ غَيْرِهِ   ·   المَدِينَةُ أَقَلُّ هُدُوءًا مِنَ القَرْيَةِ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Contrast and balance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بَيْنَمَا · مِنْ نَاحِيَةٍ … وَمِنْ نَاحِيَةٍ أُخْرَى</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أَتَحَدَّثُ العَرَبِيَّةَ فِي البَيْتِ، بَيْنَمَا أَدْرُسُ بِالإِنْجِلِيزِيَّةِ   ·   مِنْ نَاحِيَةٍ أَشْعُرُ بِالحَنِينِ، وَمِنْ نَاحِيَةٍ أُخْرَى أُحِبُّ حَيَاتِي هُنَا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أَنْتَمِي ___ ثَقَافَتَيْنِ.</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تَحْتَفِظُ الأُسَرُ ___ لُغَتِهَا.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أَكْثَرُ أَكْبَرُ مِنْ مَدِينَتِي.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أَكْبَرُ مِنْ مَدِينَتِي.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لَنْدَنُ الأَكْبَرُ مِنْ مَدِينَتِي.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analytical comparative.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الحَيُّ أَكْثَرُ تَنَوُّعًا مِنْ غَيْرِهِ.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الحَيُّ أَكْثَرُ تَنَوُّعٌ مِنْ غَيْرِهِ.</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الحَيُّ أَكْثَرُ مُتَنَوِّعٌ مِنْ غَيْرِهِ.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أَنْتَمِي ___ ثَقَافَتَيْنِ.</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تَحْتَفِظُ الأُسَرُ ___ لُغَتِهَا.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لَنْدَنُ أَكْثَرُ أَكْبَرُ مِنْ مَدِينَتِي.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لَنْدَنُ أَكْبَرُ مِنْ مَدِينَتِي.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لَنْدَنُ الأَكْبَرُ مِنْ مَدِينَتِي.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one comparative form; </a:t>
            </a:r>
            <a:pPr algn="l" indent="0" marL="0">
              <a:buNone/>
            </a:pPr>
            <a:r>
              <a:rPr lang="ar-SA" altLang="en-US" sz="1350" dirty="0">
                <a:solidFill>
                  <a:srgbClr val="8A6D1E"/>
                </a:solidFill>
                <a:latin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takes no article in this structure.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analytical comparative.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الحَيُّ أَكْثَرُ تَنَوُّعًا مِنْ غَيْرِهِ.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الحَيُّ أَكْثَرُ تَنَوُّعٌ مِنْ غَيْرِهِ.</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الحَيُّ أَكْثَرُ مُتَنَوِّعٌ مِنْ غَيْرِهِ.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between </a:t>
            </a:r>
            <a:pPr algn="l" indent="0" marL="0">
              <a:buNone/>
            </a:pPr>
            <a:r>
              <a:rPr lang="ar-SA" altLang="en-US" sz="1350" dirty="0">
                <a:solidFill>
                  <a:srgbClr val="8A6D1E"/>
                </a:solidFill>
                <a:latin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is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describe living between two places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Belong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أَنْتَمِي </a:t>
            </a:r>
            <a:pPr rtl="1" algn="ctr" indent="0" marL="0">
              <a:buNone/>
            </a:pPr>
            <a:r>
              <a:rPr lang="ar-SA" altLang="en-US" sz="2800" b="1" dirty="0">
                <a:solidFill>
                  <a:srgbClr val="0E7C86"/>
                </a:solidFill>
                <a:latin typeface="Amiri" pitchFamily="2" charset="-78"/>
                <a:cs typeface="Amiri" pitchFamily="2" charset="-78"/>
              </a:rPr>
              <a:t>إِلَى</a:t>
            </a:r>
            <a:pPr rtl="1" algn="ctr" indent="0" marL="0">
              <a:buNone/>
            </a:pPr>
            <a:r>
              <a:rPr lang="ar-SA" altLang="en-US" sz="2800" b="1" dirty="0">
                <a:solidFill>
                  <a:srgbClr val="1B3B6F"/>
                </a:solidFill>
                <a:latin typeface="Amiri" pitchFamily="2" charset="-78"/>
                <a:cs typeface="Amiri" pitchFamily="2" charset="-78"/>
              </a:rPr>
              <a:t> ثَقَافَتَيْنِ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intamā +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نَتَحَدَّثُ العَرَبِيَّةَ، </a:t>
            </a:r>
            <a:pPr rtl="1" algn="ctr" indent="0" marL="0">
              <a:lnSpc>
                <a:spcPct val="120000"/>
              </a:lnSpc>
              <a:buNone/>
            </a:pPr>
            <a:r>
              <a:rPr lang="ar-SA" altLang="en-US" sz="1750" b="1" dirty="0">
                <a:solidFill>
                  <a:srgbClr val="1D5FBF"/>
                </a:solidFill>
                <a:latin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cs typeface="Amiri" pitchFamily="2" charset="-78"/>
              </a:rPr>
              <a:t> أَدْرُسُ بِالإِنْجِلِيزِيَّةِ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Home vs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أَصْغَرُ مِنْ · </a:t>
            </a:r>
            <a:pPr rtl="1" algn="ctr" indent="0" marL="0">
              <a:buNone/>
            </a:pPr>
            <a:r>
              <a:rPr lang="ar-SA" altLang="en-US" sz="2100" b="1" dirty="0">
                <a:solidFill>
                  <a:srgbClr val="D6336C"/>
                </a:solidFill>
                <a:latin typeface="Amiri" pitchFamily="2" charset="-78"/>
                <a:cs typeface="Amiri" pitchFamily="2" charset="-78"/>
              </a:rPr>
              <a:t>أَكْثَرُ هُدُوءًا</a:t>
            </a:r>
            <a:pPr rtl="1" algn="ctr" indent="0" marL="0">
              <a:buNone/>
            </a:pPr>
            <a:r>
              <a:rPr lang="ar-SA" altLang="en-US" sz="2100" b="1" dirty="0">
                <a:solidFill>
                  <a:srgbClr val="1B3B6F"/>
                </a:solidFill>
                <a:latin typeface="Amiri" pitchFamily="2" charset="-78"/>
                <a:cs typeface="Amiri" pitchFamily="2" charset="-78"/>
              </a:rPr>
              <a:t> مِنْ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at a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feelings.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COMPARATIVE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أَنَا مِنَ الجِيلِ الثَّانِي فِي الجَالِيَةِ العَرَبِيَّةِ. أَنْتَمِي </a:t>
            </a:r>
            <a:pPr rtl="1" algn="r" indent="0" marL="0">
              <a:lnSpc>
                <a:spcPct val="120000"/>
              </a:lnSpc>
              <a:buNone/>
            </a:pPr>
            <a:r>
              <a:rPr lang="ar-SA" altLang="en-US" sz="1400" b="1" dirty="0">
                <a:solidFill>
                  <a:srgbClr val="0E7C86"/>
                </a:solidFill>
                <a:latin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cs typeface="Amiri" pitchFamily="2" charset="-78"/>
              </a:rPr>
              <a:t> ثَقَافَتَيْنِ، وَأُوَازِنُ </a:t>
            </a:r>
            <a:pPr rtl="1" algn="r" indent="0" marL="0">
              <a:lnSpc>
                <a:spcPct val="120000"/>
              </a:lnSpc>
              <a:buNone/>
            </a:pPr>
            <a:r>
              <a:rPr lang="ar-SA" altLang="en-US" sz="1400" b="1" dirty="0">
                <a:solidFill>
                  <a:srgbClr val="0E7C86"/>
                </a:solidFill>
                <a:latin typeface="Amiri" pitchFamily="2" charset="-78"/>
                <a:cs typeface="Amiri" pitchFamily="2" charset="-78"/>
              </a:rPr>
              <a:t>بَيْنَهُمَا</a:t>
            </a:r>
            <a:pPr rtl="1" algn="r" indent="0" marL="0">
              <a:lnSpc>
                <a:spcPct val="120000"/>
              </a:lnSpc>
              <a:buNone/>
            </a:pPr>
            <a:r>
              <a:rPr lang="ar-SA" altLang="en-US" sz="1400" b="1" dirty="0">
                <a:solidFill>
                  <a:srgbClr val="1B3B6F"/>
                </a:solidFill>
                <a:latin typeface="Amiri" pitchFamily="2" charset="-78"/>
                <a:cs typeface="Amiri" pitchFamily="2" charset="-78"/>
              </a:rPr>
              <a:t> كُلَّ يَوْمٍ. فِي البَيْتِ نَتَحَدَّثُ العَرَبِيَّةَ، </a:t>
            </a:r>
            <a:pPr rtl="1" algn="r" indent="0" marL="0">
              <a:lnSpc>
                <a:spcPct val="120000"/>
              </a:lnSpc>
              <a:buNone/>
            </a:pPr>
            <a:r>
              <a:rPr lang="ar-SA" altLang="en-US" sz="1400" b="1" dirty="0">
                <a:solidFill>
                  <a:srgbClr val="1D5FBF"/>
                </a:solidFill>
                <a:latin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cs typeface="Amiri" pitchFamily="2" charset="-78"/>
              </a:rPr>
              <a:t> أَدْرُسُ بِالإِنْجِلِيزِيَّةِ. مَدِينَتُنَا </a:t>
            </a:r>
            <a:pPr rtl="1" algn="r" indent="0" marL="0">
              <a:lnSpc>
                <a:spcPct val="120000"/>
              </a:lnSpc>
              <a:buNone/>
            </a:pPr>
            <a:r>
              <a:rPr lang="ar-SA" altLang="en-US" sz="1400" b="1" dirty="0">
                <a:solidFill>
                  <a:srgbClr val="D6336C"/>
                </a:solidFill>
                <a:latin typeface="Amiri" pitchFamily="2" charset="-78"/>
                <a:cs typeface="Amiri" pitchFamily="2" charset="-78"/>
              </a:rPr>
              <a:t>أَصْغَرُ مِنَ</a:t>
            </a:r>
            <a:pPr rtl="1" algn="r" indent="0" marL="0">
              <a:lnSpc>
                <a:spcPct val="120000"/>
              </a:lnSpc>
              <a:buNone/>
            </a:pPr>
            <a:r>
              <a:rPr lang="ar-SA" altLang="en-US" sz="1400" b="1" dirty="0">
                <a:solidFill>
                  <a:srgbClr val="1B3B6F"/>
                </a:solidFill>
                <a:latin typeface="Amiri" pitchFamily="2" charset="-78"/>
                <a:cs typeface="Amiri" pitchFamily="2" charset="-78"/>
              </a:rPr>
              <a:t> القَاهِرَةِ، وَلٰكِنَّهَا </a:t>
            </a:r>
            <a:pPr rtl="1" algn="r" indent="0" marL="0">
              <a:lnSpc>
                <a:spcPct val="120000"/>
              </a:lnSpc>
              <a:buNone/>
            </a:pPr>
            <a:r>
              <a:rPr lang="ar-SA" altLang="en-US" sz="1400" b="1" dirty="0">
                <a:solidFill>
                  <a:srgbClr val="D6336C"/>
                </a:solidFill>
                <a:latin typeface="Amiri" pitchFamily="2" charset="-78"/>
                <a:cs typeface="Amiri" pitchFamily="2" charset="-78"/>
              </a:rPr>
              <a:t>أَكْثَرُ هُدُوءًا</a:t>
            </a:r>
            <a:pPr rtl="1" algn="r" indent="0" marL="0">
              <a:lnSpc>
                <a:spcPct val="120000"/>
              </a:lnSpc>
              <a:buNone/>
            </a:pPr>
            <a:r>
              <a:rPr lang="ar-SA" altLang="en-US" sz="1400" b="1" dirty="0">
                <a:solidFill>
                  <a:srgbClr val="1B3B6F"/>
                </a:solidFill>
                <a:latin typeface="Amiri" pitchFamily="2" charset="-78"/>
                <a:cs typeface="Amiri" pitchFamily="2" charset="-78"/>
              </a:rPr>
              <a:t> مِنْهَا.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am from the second generation of the Arab community. I belong to two cultures and balance between them every day. At home we speak Arabic, whereas I study in English. Our city is smaller than Cairo, but it is calmer.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أَنْتَمِي إِلَى ثَقَافَتَيْنِ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belong to two cultures</a:t>
            </a:r>
            <a:endParaRPr lang="en-US" sz="1250" dirty="0"/>
          </a:p>
          <a:p>
            <a:pPr indent="0" marL="0">
              <a:buNone/>
            </a:pPr>
            <a:r>
              <a:rPr lang="en-US" sz="1050" i="1" dirty="0">
                <a:solidFill>
                  <a:srgbClr val="8A6D1E"/>
                </a:solidFill>
                <a:latin typeface="Calibri" pitchFamily="34" charset="0"/>
                <a:cs typeface="Amiri" pitchFamily="2" charset="-78"/>
              </a:rPr>
              <a:t>إِلَى is fixed with يَنْتَمِي; ثَقَافَتَيْنِ is the dual.</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لَنْدَنُ أَكْبَرُ مِنْ مَدِينَتِي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London is bigger than my city</a:t>
            </a:r>
            <a:endParaRPr lang="en-US" sz="1250" dirty="0"/>
          </a:p>
          <a:p>
            <a:pPr indent="0" marL="0">
              <a:buNone/>
            </a:pPr>
            <a:r>
              <a:rPr lang="en-US" sz="1050" i="1" dirty="0">
                <a:solidFill>
                  <a:srgbClr val="8A6D1E"/>
                </a:solidFill>
                <a:latin typeface="Calibri" pitchFamily="34" charset="0"/>
                <a:cs typeface="Amiri" pitchFamily="2" charset="-78"/>
              </a:rPr>
              <a:t>One comparative form, and a genitive after مِنْ.</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أَكْثَرُ تَنَوُّعًا مِنْ غَيْرِهِ</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more diverse than others</a:t>
            </a:r>
            <a:endParaRPr lang="en-US" sz="1250" dirty="0"/>
          </a:p>
          <a:p>
            <a:pPr indent="0" marL="0">
              <a:buNone/>
            </a:pPr>
            <a:r>
              <a:rPr lang="en-US" sz="1050" i="1" dirty="0">
                <a:solidFill>
                  <a:srgbClr val="8A6D1E"/>
                </a:solidFill>
                <a:latin typeface="Calibri" pitchFamily="34" charset="0"/>
                <a:cs typeface="Amiri" pitchFamily="2" charset="-78"/>
              </a:rPr>
              <a:t>The noun between أَكْثَرُ and مِنْ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يُوَازِنُ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يَتَكَيَّفُ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يَتَعَامَلُ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يَتَفَاعَلُ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يَحْتَفِظُ</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يَشْعُرُ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يَتَمَسَّكُ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إِلَى / بَيْنَ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مَعَ</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بِـ</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إِلَى / بَيْنَ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يَنْتَمِي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يُوَازِنُ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مَعَ</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يَتَكَيَّفُ</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يَتَعَامَلُ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يَتَفَاعَلُ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بِـ</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يَحْتَفِظُ</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يَشْعُرُ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يَتَمَسَّكُ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تَتَكَيَّفُ الجَالِيَاتُ ___ الحَيَاةِ الجَدِيدَةِ.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يُوَازِنُ الشَّابُّ ___ ثَقَافَتَيْهِ.</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cs typeface="Amiri" pitchFamily="2" charset="-78"/>
              </a:rPr>
              <a:t>مُهَاجِرٌ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لَاجِئٌ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exactly the same thing.</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migrant moved to live elsewhere; a refugee left because of danger.</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refugee is someone on holiday.</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description of dual identity.</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الهُوِيَّةُ المُزْدَوَجَةُ مُشْكِلَةٌ دَائِمًا.</a:t>
            </a:r>
            <a:endParaRPr lang="ar-SA" sz="18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لَا يُمْكِنُ أَنْ يَنْتَمِيَ الإِنْسَانُ إِلَى ثَقَافَتَيْنِ.</a:t>
            </a:r>
            <a:endParaRPr lang="ar-SA" sz="18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مِنْ نَاحِيَةٍ أَشْعُرُ بِالحَنِينِ، وَمِنْ نَاحِيَةٍ أُخْرَى أُحِبُّ حَيَاتِي هُنَا.</a:t>
            </a:r>
            <a:endParaRPr lang="ar-SA" sz="18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تَتَكَيَّفُ الجَالِيَاتُ ___ الحَيَاةِ الجَدِيدَةِ.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يُوَازِنُ الشَّابُّ ___ ثَقَافَتَيْهِ.</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يُوَازِنُ</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cs typeface="Amiri" pitchFamily="2" charset="-78"/>
              </a:rPr>
              <a:t>مُهَاجِرٌ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لَاجِئٌ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exactly the same thing.</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migrant moved to live elsewhere; a refugee left because of danger.</a:t>
            </a:r>
            <a:endParaRPr lang="en-US" sz="11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refugee is someone on holiday.</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two words describe different situations and should not be swapped.</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description of dual identity.</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الهُوِيَّةُ المُزْدَوَجَةُ مُشْكِلَةٌ دَائِمًا.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يُمْكِنُ أَنْ يَنْتَمِيَ الإِنْسَانُ إِلَى ثَقَافَتَيْنِ.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نَاحِيَةٍ أَشْعُرُ بِالحَنِينِ، وَمِنْ نَاحِيَةٍ أُخْرَى أُحِبُّ حَيَاتِي هُنَا.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balanced pair holds both feelings together rather than treating one as a problem.</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أَنْتَمِي مَعَ ثَقَافَتَيْنِ.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intamā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الحَيُّ أَكْثَرُ أَكْبَرُ مِنْ غَيْرِهِ.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comparatives? Choose one!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تَحْتَفِظُ الأُسَرُ عَلَى لُغَتِهَا.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iḥtafaẓa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أَنْتَمِي مَعَ ثَقَافَتَيْنِ.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أَنْتَمِي إِلَى ثَقَافَتَيْنِ.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يَنْتَمِي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الحَيُّ أَكْثَرُ أَكْبَرُ مِنْ غَيْرِهِ.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هٰذَا الحَيُّ أَكْبَرُ مِنْ غَيْرِهِ.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one comparative structure may be used at a time.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تَحْتَفِظُ الأُسَرُ عَلَى لُغَتِهَا.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تَحْتَفِظُ الأُسَرُ بِلُغَتِهَا.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يَحْتَفِظُ</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growing up between two places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generation does the speaker belong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generation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generation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recent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family arrive?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years ago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Thirty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is used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equally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mother keep?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customs and her cooking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her language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from before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dual identity?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permanent difficulty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 problem, but a richness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Something to be chosen between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One speaker, two places.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أَنَا مِنَ الجِيلِ الثَّانِي فِي الجَالِيَةِ العَرَبِيَّةِ هُنَا. وُلِدْتُ فِي هٰذِهِ المَدِينَةِ، وَلٰكِنَّ أُسْرَتِي جَاءَتْ مِنَ المَغْرِبِ قَبْلَ ثَلَاثِينَ سَنَةً.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the second generation of the Arab community here. I was born in this city, but my family came from Morocco thirty years ago.</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أَنْتَمِي إِلَى ثَقَافَتَيْنِ، وَأُوَازِنُ بَيْنَهُمَا كُلَّ يَوْمٍ. فِي البَيْتِ نَتَحَدَّثُ العَرَبِيَّةَ، بَيْنَمَا أَدْرُسُ وَأَعْمَلُ بِالإِنْجِلِيزِيَّةِ.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belong to two cultures and balance between them every day. At home we speak Arabic, whereas I study and work in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تَحْتَفِظُ أُمِّي بِعَادَاتِهَا وَبِمَطْبَخِهَا، وَقَدْ تَكَيَّفَتْ مَعَ الحَيَاةِ هُنَا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mother keeps her customs and her cooking, and she adapted to life here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أَحْيَانًا أَشْعُرُ بِالحَنِينِ إِلَى بَلَدِ أُسْرَتِي، وَمِنْ نَاحِيَةٍ أُخْرَى أُحِبُّ حَيَاتِي هُنَا كَثِيرًا.</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I feel longing for my family’s country, and on the other hand I love my life here very much.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لَيْسَتِ الهُوِيَّةُ المُزْدَوَجَةُ مُشْكِلَةً؛ هِيَ ثَرْوَةٌ فِي رَأْيِي.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Dual identity is not a problem — in my opinion it is a richness.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generation does the speaker belong to?</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 generation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generation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recent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أَنَا مِنَ الجِيلِ الثَّانِي فِي الجَالِيَةِ العَرَبِيَّةِ.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family arrive?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years ago</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Thirty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جَاءَتْ مِنَ المَغْرِبِ قَبْلَ ثَلَاثِينَ سَنَةً.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is used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equally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البَيْتِ نَتَحَدَّثُ العَرَبِيَّةَ، بَيْنَمَا أَدْرُسُ … بِالإِنْجِلِيزِيَّةِ.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mother keep?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customs and her cooking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her language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from before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تَحْتَفِظُ أُمِّي بِعَادَاتِهَا وَبِمَطْبَخِهَا.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dual identity?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permanent difficulty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a problem, but a richness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Something to be chosen between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لَيْسَتِ الهُوِيَّةُ المُزْدَوَجَةُ مُشْكِلَةً؛ هِيَ ثَرْوَةٌ فِي رَأْيِي.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One speaker, two places.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comparing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مَدِينَتِكَ وَمَدِينَةٍ عَرَبِيَّةٍ. اِسْتَعْمِلْ أَفْعَل وَأَكْثَرُ مِنْ.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تَحْتَفِظُ بِهِ الأُسَرُ عِنْدَمَا تَنْتَقِلُ إِلَى بَلَدٍ جَدِيدٍ؟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تَصِفُ الهُوِيَّةَ المُزْدَوَجَةَ دُونَ تَبْسِيطٍ؟</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cs typeface="Amiri" pitchFamily="2" charset="-78"/>
              </a:rPr>
              <a:t>مَدِينَتِي ___ مِنْ ___ ، وَلٰكِنَّهَا أَكْثَرُ ___ مِنْهَا.</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تَحْتَفِظُ الأُسَرُ بِـ ___ ، وَتَتَكَيَّفُ مَعَ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نَاحِيَةٍ ___ ، وَمِنْ نَاحِيَةٍ أُخْرَى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قَارِنْ بَيْنَ مَدِينَتِكَ وَمَدِينَةٍ عَرَبِيَّةٍ.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Compare your city with an Arab city.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مَدِينَتِي أَصْغَرُ مِنَ القَاهِرَةِ، وَلٰكِنَّهَا أَكْثَرُ هُدُوءًا مِنْهَا.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city is smaller than Cairo, but it is calmer.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using the four verbs with their correct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four diaspora verbs with their prepositions, about you or a family.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 comparative of each type and a contrast with </a:t>
            </a:r>
            <a:pPr algn="l" indent="0" marL="0">
              <a:buNone/>
            </a:pPr>
            <a:r>
              <a:rPr lang="ar-SA" altLang="en-US" sz="1800" b="1" dirty="0">
                <a:solidFill>
                  <a:srgbClr val="1F2A37"/>
                </a:solidFill>
                <a:latin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one comparative of each type and a contrast with بَيْنَمَا.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balanced statement on dual identity that avoids reducing it to a single story.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three verbs · two comparatives · بَيْنَمَا · a balanced statement on dual identity.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فِي البَيْتِ نَتَحَدَّثُ ______ ، بَيْنَمَا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home we speak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مَدِينَتِي أَكْبَرُ / أَصْغَرُ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city is bigger / smaller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أَكْثَرُ هُدُوءًا / تَنَوُّعًا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calmer / more diverse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نَاحِيَةٍ ______ ، وَمِنْ نَاحِيَةٍ أُخْرَى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 on the other hand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جَاءَتْ أُسْرَتِي مِنْ ______ قَبْلَ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family came from … years ago.</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أَنْتَمِي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belong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نَحْتَفِظُ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keep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تَكَيَّفَتْ أُمِّي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adapted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أَنْتَمِي إِلَى  ·  أَتَكَيَّفُ مَعَ  ·  أَحْتَفِظُ بِـ  ·  أُوَازِنُ بَيْنَ  ·  أَشْعُرُ بِالحَنِينِ  ·  الجِيلُ الثَّانِي  ·  هُوِيَّةٌ مُزْدَوَجَةٌ  ·  أَكْبَرُ مِنْ  ·  أَصْغَرُ مِنْ  ·  أَكْثَرُ … مِنْ  ·  بَيْنَمَا  ·  مِنْ نَاحِيَةٍ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comparing life in two countries, drawing on the diaspora vocabulary. Use at least three of the four verbs with their prepositions, both comparative systems, and a balanced statement about dual identity.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diaspora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synthetic comparative and one analytical comparative, kept separate.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with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statement using </a:t>
            </a:r>
            <a:pPr algn="l" indent="0" marL="0">
              <a:buNone/>
            </a:pPr>
            <a:r>
              <a:rPr lang="ar-SA" altLang="en-US" sz="1550" dirty="0">
                <a:solidFill>
                  <a:srgbClr val="1F2A37"/>
                </a:solidFill>
                <a:latin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وُلِدْتُ فِي هٰذِهِ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born in this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لَيْسَتِ الهُوِيَّةُ المُزْدَوَجَةُ مُشْكِلَةً؛ هِيَ ثَرْوَةٌ</a:t>
            </a:r>
            <a:endParaRPr lang="ar-SA" sz="17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dual identity is not a problem — it is a richness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وَالكَلِمَتَانِ لَيْسَتَا مُتَرَادِفَتَيْنِ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the two words are not synonyms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فَلَا تُوجَدُ قِصَّةٌ وَاحِدَةٌ تَصِفُ الجَمِيعَ</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no single story describes everyone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تَجَارِبُ النَّاسِ مُخْتَلِفَةٌ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people’s experiences differ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cs typeface="Amiri" pitchFamily="2" charset="-78"/>
              </a:rPr>
              <a:t>تَعِيشُ أُسْرَتِي هُنَا مُنْذُ سَنَوَاتٍ طَوِيلَةٍ، وَأَنَا مِنَ الجِيلِ الثَّانِي فِي الجَالِيَةِ العَرَبِيَّةِ. أَنْتَمِي إِلَى ثَقَافَتَيْنِ، وَأُوَازِنُ بَيْنَهُمَا كُلَّ يَوْمٍ. فِي البَيْتِ نَتَحَدَّثُ العَرَبِيَّةَ، بَيْنَمَا أَدْرُسُ بِالإِنْجِلِيزِيَّةِ. تَحْتَفِظُ أُمِّي بِعَادَاتِهَا، وَقَدْ تَكَيَّفَتْ مَعَ الحَيَاةِ هُنَا بِسُرْعَةٍ. مَدِينَتُنَا أَصْغَرُ مِنَ القَاهِرَةِ، وَلٰكِنَّهَا أَكْثَرُ هُدُوءًا مِنْهَا. مِنْ نَاحِيَةٍ أَشْعُرُ بِالحَنِينِ إِلَى بَلَدِ أُسْرَتِي، وَمِنْ نَاحِيَةٍ أُخْرَى أُحِبُّ حَيَاتِي هُنَا. وَتَجَارِبُ النَّاسِ مُخْتَلِفَةٌ، فَلَا تُوجَدُ قِصَّةٌ وَاحِدَةٌ تَصِفُ الجَمِيعَ.</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has lived here for many years, and I am from the second generation of the Arab community. I belong to two cultures and balance between them every day. At home we speak Arabic, whereas I study in English. My mother keeps her customs, and she adapted to life here quickly. Our city is smaller than Cairo, but it is calmer. On one hand I feel longing for my family’s country; on the other, I love my life here. People’s experiences differ, so no single story describes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diaspora verbs +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أَصْغَرُ مِنْ and أَكْثَرُ هُدُوءًا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balanced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diaspora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comparative at a time.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cs typeface="Amiri" pitchFamily="2" charset="-78"/>
              </a:rPr>
              <a:t>أَكْثَرُ</a:t>
            </a:r>
            <a:pPr algn="l" indent="0" marL="0">
              <a:buNone/>
            </a:pPr>
            <a:r>
              <a:rPr lang="en-US" sz="1300" dirty="0">
                <a:solidFill>
                  <a:srgbClr val="1F2A37"/>
                </a:solidFill>
                <a:latin typeface="Calibri" pitchFamily="34" charset="0"/>
                <a:cs typeface="Amiri" pitchFamily="2" charset="-78"/>
              </a:rPr>
              <a:t> my noun ends in -an (</a:t>
            </a:r>
            <a:pPr algn="l" indent="0" marL="0">
              <a:buNone/>
            </a:pPr>
            <a:r>
              <a:rPr lang="ar-SA" altLang="en-US" sz="1700" dirty="0">
                <a:solidFill>
                  <a:srgbClr val="1F2A37"/>
                </a:solidFill>
                <a:latin typeface="Amiri" pitchFamily="2" charset="-78"/>
                <a:cs typeface="Amiri" pitchFamily="2" charset="-78"/>
              </a:rPr>
              <a:t>هُدُوءًا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view of dual identity is balanced, not simplified.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يَتَكَيَّفُ المُهَاجِرُ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مُجْتَمَعِهِ الجَدِيدِ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 أَكْثَرُ أَكْبَرُ مِنْ مَدِينَتِي.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 أَكْبَرُ مِنْ مَدِينَتِي.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القَاهِرَةُ أَكْبَرُ عَنْ مَدِينَتِي.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of words means different things?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مُهَاجِرٌ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لَاجِئٌ</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وَطَنٌ</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بَلَدٌ</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جُذُورٌ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أُصُولٌ</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يَتَكَيَّفُ المُهَاجِرُ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مُجْتَمَعِهِ الجَدِيدِ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القَاهِرَةُ أَكْثَرُ أَكْبَرُ مِنْ مَدِينَتِي.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القَاهِرَةُ أَكْبَرُ مِنْ مَدِينَتِي.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القَاهِرَةُ أَكْبَرُ عَنْ مَدِينَتِي.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comparative form,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the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of words means different things?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مُهَاجِرٌ</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لَاجِئٌ</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وَطَنٌ</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بَلَدٌ</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جُذُورٌ</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cs typeface="Amiri" pitchFamily="2" charset="-78"/>
              </a:rPr>
              <a:t>أُصُولٌ</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migrant and a refugee are in different situations.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communities, not one story</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تَعِيشُ جَالِيَاتٌ عَرَبِيَّةٌ فِي بُلْدَانٍ كَثِيرَةٍ حَوْلَ العَالَمِ. وَقَدْ وَصَلَ بَعْضُ النَّاسِ مُهَاجِرِينَ بَحْثًا عَنْ عَمَلٍ أَوْ دِرَاسَةٍ، بَيْنَمَا وَصَلَ آخَرُونَ لَاجِئِينَ هَرَبًا مِنَ الحَرْبِ؛ وَالكَلِمَتَانِ لَيْسَتَا مُتَرَادِفَتَيْنِ. يَحْتَفِظُ كَثِيرٌ مِنَ الأُسَرِ بِلُغَتِهِمْ وَإِرْثِهِمُ الثَّقَافِيِّ، وَفِي الوَقْتِ نَفْسِهِ يَتَكَيَّفُونَ مَعَ مُجْتَمَعَاتٍ جَدِيدَةٍ. أَمَّا الجِيلُ الثَّانِي فَيَنْتَمِي إِلَى ثَقَافَتَيْنِ، وَيُوَازِنُ بَيْنَهُمَا فِي حَيَاتِهِ اليَوْمِيَّةِ. مِنْ نَاحِيَةٍ يَشْعُرُ بَعْضُهُمْ بِالحَنِينِ وَالغُرْبَةِ، وَمِنْ نَاحِيَةٍ أُخْرَى يَرَوْنَ فِي الهُوِيَّةِ المُزْدَوَجَةِ ثَرْوَةً. وَتَجَارِبُ النَّاسِ مُخْتَلِفَةٌ، فَلَا تُوجَدُ قِصَّةٌ وَاحِدَةٌ تَصِفُ الجَمِيعَ.</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تَعِيشُ</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بَحْثًا عَنْ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looking for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هَرَبًا مِنَ الحَرْبِ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fleeing war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مُتَرَادِفَتَيْنِ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synonyms (dual)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إِرْثِهِمُ الثَّقَافِيِّ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cultural heritage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الوَقْتِ نَفْسِهِ</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the same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مُجْتَمَعَاتٍ جَدِيدَةٍ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 societies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الغُرْبَةِ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being far 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ثَرْوَةً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richness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تَصِفُ الجَمِيعَ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describes everyone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some people arrive?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 holidays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Seeking work or study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sport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the two words?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 is used now</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not synonyms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keep?</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language and cultural heritage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their passports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second generation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Rejects one culture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Belongs to two cultures and balances between them</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Lives entirely apart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Experiences differ; no single story describes everyone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has the same experience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generation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some people arrive?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 holidays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Seeking work or study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sport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وَصَلَ بَعْضُ النَّاسِ مُهَاجِرِينَ بَحْثًا عَنْ عَمَلٍ أَوْ دِرَاسَةٍ.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the two words?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 is used now</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not synonyms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وَالكَلِمَتَانِ لَيْسَتَا مُتَرَادِفَتَيْنِ.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keep?</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Their language and cultural heritage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their passports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يَحْتَفِظُ كَثِيرٌ مِنَ الأُسَرِ بِلُغَتِهِمْ وَإِرْثِهِمُ الثَّقَافِيِّ.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second generation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Rejects one culture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Belongs to two cultures and balances between them</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Lives entirely apart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يَنْتَمِي إِلَى ثَقَافَتَيْنِ، وَيُوَازِنُ بَيْنَهُمَا.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Experiences differ; no single story describes everyone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has the same experience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generation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فَلَا تُوجَدُ قِصَّةٌ وَاحِدَةٌ تَصِفُ الجَمِيعَ.</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Diaspora Mission — Prepositions, Comparison and Nuance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يُوَازِنُ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لُغَتِهَا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“nostalgia”?</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غُرْبَةٌ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انْتِمَاءٌ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حَنِينٌ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“roots”?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جُذُورٌ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أَوْطَانٌ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جَالِيَاتٌ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أَكْثَرُ أَكْبَرُ مِنْ مَدِينَتِي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أَكْبَرُ مِنْ مَدِينَتِي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الأَكْبَرُ مِنْ مَدِينَتِي</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يُوَازِنُ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يُوَازِنُ</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لُغَتِهَا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“nostalgia”?</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غُرْبَةٌ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انْتِمَاءٌ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حَنِينٌ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حَنِينٌ</a:t>
            </a:r>
            <a:pPr algn="l" indent="0" marL="0">
              <a:buNone/>
            </a:pPr>
            <a:r>
              <a:rPr lang="en-US" sz="1050" i="1" dirty="0">
                <a:solidFill>
                  <a:srgbClr val="8A6D1E"/>
                </a:solidFill>
                <a:latin typeface="Calibri" pitchFamily="34" charset="0"/>
                <a:cs typeface="Amiri" pitchFamily="2" charset="-78"/>
              </a:rPr>
              <a:t> is longing for a place or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“roots”?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جُذُورٌ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أَوْطَانٌ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جَالِيَاتٌ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جُذُورٌ</a:t>
            </a:r>
            <a:pPr algn="l" indent="0" marL="0">
              <a:buNone/>
            </a:pPr>
            <a:r>
              <a:rPr lang="en-US" sz="1050" i="1" dirty="0">
                <a:solidFill>
                  <a:srgbClr val="8A6D1E"/>
                </a:solidFill>
                <a:latin typeface="Calibri" pitchFamily="34" charset="0"/>
                <a:cs typeface="Amiri" pitchFamily="2" charset="-78"/>
              </a:rPr>
              <a:t> are roots.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أَكْثَرُ أَكْبَرُ مِنْ مَدِينَتِي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أَكْبَرُ مِنْ مَدِينَتِي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الأَكْبَرُ مِنْ مَدِينَتِي</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one comparative form with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D6-L06 · Arabic Around the World — The Language’s Global Reach</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لُغَةُ الأُمَمِ المُتَّحِدَةِ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UN language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مُتَحَدِّثٌ</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speaker</a:t>
            </a:r>
            <a:pPr indent="0" marL="0">
              <a:buNone/>
            </a:pPr>
            <a:r>
              <a:rPr lang="en-US" sz="1000" i="1" dirty="0">
                <a:solidFill>
                  <a:srgbClr val="5A6472"/>
                </a:solidFill>
                <a:latin typeface="Calibri" pitchFamily="34" charset="0"/>
                <a:cs typeface="Amiri" pitchFamily="2" charset="-78"/>
              </a:rPr>
              <a:t>  pl. مُتَحَدِّثُونَ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الانْتِشَارُ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spread, reach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كَلِمَاتٌ مُسْتَعَارَةٌ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loanwords</a:t>
            </a:r>
            <a:pPr indent="0" marL="0">
              <a:buNone/>
            </a:pPr>
            <a:r>
              <a:rPr lang="en-US" sz="1000" i="1" dirty="0">
                <a:solidFill>
                  <a:srgbClr val="5A6472"/>
                </a:solidFill>
                <a:latin typeface="Calibri" pitchFamily="34" charset="0"/>
                <a:cs typeface="Amiri" pitchFamily="2" charset="-78"/>
              </a:rPr>
              <a:t>  sing. كَلِمَةٌ مُسْتَعَارَةٌ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يُثْرِي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enriches</a:t>
            </a:r>
            <a:pPr indent="0" marL="0">
              <a:buNone/>
            </a:pPr>
            <a:r>
              <a:rPr lang="en-US" sz="1000" i="1" dirty="0">
                <a:solidFill>
                  <a:srgbClr val="5A6472"/>
                </a:solidFill>
                <a:latin typeface="Calibri" pitchFamily="34" charset="0"/>
                <a:cs typeface="Amiri" pitchFamily="2" charset="-78"/>
              </a:rPr>
              <a:t>  أَثْرَى past</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know any English (or Urdu) words that come from Arabic? List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مِنَ الكَلِمَاتِ ذَاتِ الأَصْلِ العَرَبِيِّ: … · … ·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four verbs with their prepositions; write six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comparison of two cities with both comparatives.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statement on dual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D6-L06 · Arabic Around the World — The Language’s Global Reach</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العَرَبِيَّةُ حَوْلَ العَالَمِ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أَنْتَمِي إِلَى</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أَتَكَيَّفُ مَعَ</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أَحْتَفِظُ بِـ</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أُوَازِنُ بَيْنَ</a:t>
            </a:r>
            <a:pPr algn="l" indent="0" marL="0">
              <a:buNone/>
            </a:pPr>
            <a:r>
              <a:rPr lang="en-US" sz="1300" b="1" dirty="0">
                <a:solidFill>
                  <a:srgbClr val="FFFFFF"/>
                </a:solidFill>
                <a:latin typeface="Calibri" pitchFamily="34" charset="0"/>
                <a:cs typeface="Amiri" pitchFamily="2" charset="-78"/>
              </a:rPr>
              <a:t> — and ONE comparative: </a:t>
            </a:r>
            <a:pPr algn="l" indent="0" marL="0">
              <a:buNone/>
            </a:pPr>
            <a:r>
              <a:rPr lang="ar-SA" altLang="en-US" sz="1700" b="1" dirty="0">
                <a:solidFill>
                  <a:srgbClr val="FFFFFF"/>
                </a:solidFill>
                <a:latin typeface="Amiri" pitchFamily="2" charset="-78"/>
                <a:cs typeface="Amiri" pitchFamily="2" charset="-78"/>
              </a:rPr>
              <a:t>أَكْبَرُ مِنْ</a:t>
            </a:r>
            <a:pPr algn="l" indent="0" marL="0">
              <a:buNone/>
            </a:pPr>
            <a:r>
              <a:rPr lang="en-US" sz="1300" b="1" dirty="0">
                <a:solidFill>
                  <a:srgbClr val="FFFFFF"/>
                </a:solidFill>
                <a:latin typeface="Calibri" pitchFamily="34" charset="0"/>
                <a:cs typeface="Amiri" pitchFamily="2" charset="-78"/>
              </a:rPr>
              <a:t> or </a:t>
            </a:r>
            <a:pPr algn="l" indent="0" marL="0">
              <a:buNone/>
            </a:pPr>
            <a:r>
              <a:rPr lang="ar-SA" altLang="en-US" sz="1700" b="1" dirty="0">
                <a:solidFill>
                  <a:srgbClr val="FFFFFF"/>
                </a:solidFill>
                <a:latin typeface="Amiri" pitchFamily="2" charset="-78"/>
                <a:cs typeface="Amiri" pitchFamily="2" charset="-78"/>
              </a:rPr>
              <a:t>أَكْثَرُ هُدُوءًا مِنْ</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D6-L05 · Comparing Countries — Global Connections and the Arab Diaspora</dc:title>
  <dc:subject>PptxGenJS Presentation</dc:subject>
  <dc:creator>Al Madina Online School · Arabic Department</dc:creator>
  <cp:lastModifiedBy>Al Madina Online School · Arabic Department</cp:lastModifiedBy>
  <cp:revision>1</cp:revision>
  <dcterms:created xsi:type="dcterms:W3CDTF">2026-10-11T06:41:08Z</dcterms:created>
  <dcterms:modified xsi:type="dcterms:W3CDTF">2026-10-11T06:41:08Z</dcterms:modified>
</cp:coreProperties>
</file>